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9"/>
  </p:notesMasterIdLst>
  <p:sldIdLst>
    <p:sldId id="917" r:id="rId4"/>
    <p:sldId id="1022" r:id="rId5"/>
    <p:sldId id="2091" r:id="rId6"/>
    <p:sldId id="1278" r:id="rId7"/>
    <p:sldId id="1287" r:id="rId8"/>
    <p:sldId id="1957" r:id="rId10"/>
    <p:sldId id="1946" r:id="rId11"/>
    <p:sldId id="2089" r:id="rId12"/>
    <p:sldId id="1936" r:id="rId13"/>
    <p:sldId id="1937" r:id="rId14"/>
    <p:sldId id="1938" r:id="rId15"/>
    <p:sldId id="1939" r:id="rId16"/>
    <p:sldId id="1940" r:id="rId17"/>
    <p:sldId id="1941" r:id="rId18"/>
    <p:sldId id="1942" r:id="rId19"/>
    <p:sldId id="1943" r:id="rId20"/>
    <p:sldId id="1944" r:id="rId21"/>
    <p:sldId id="1945" r:id="rId22"/>
    <p:sldId id="1958" r:id="rId23"/>
    <p:sldId id="1959" r:id="rId24"/>
    <p:sldId id="1960" r:id="rId25"/>
    <p:sldId id="1608" r:id="rId26"/>
    <p:sldId id="1947" r:id="rId27"/>
    <p:sldId id="1603" r:id="rId28"/>
    <p:sldId id="1962" r:id="rId29"/>
    <p:sldId id="1948" r:id="rId30"/>
    <p:sldId id="1606" r:id="rId31"/>
    <p:sldId id="1949" r:id="rId32"/>
    <p:sldId id="1724" r:id="rId33"/>
    <p:sldId id="1604" r:id="rId34"/>
    <p:sldId id="1605" r:id="rId35"/>
    <p:sldId id="1950" r:id="rId36"/>
    <p:sldId id="1601" r:id="rId37"/>
    <p:sldId id="1725" r:id="rId38"/>
    <p:sldId id="1175" r:id="rId39"/>
    <p:sldId id="1726" r:id="rId40"/>
    <p:sldId id="1832" r:id="rId41"/>
    <p:sldId id="1177" r:id="rId42"/>
    <p:sldId id="1179" r:id="rId43"/>
    <p:sldId id="2092" r:id="rId44"/>
    <p:sldId id="1180" r:id="rId45"/>
    <p:sldId id="1181" r:id="rId46"/>
    <p:sldId id="1951" r:id="rId47"/>
    <p:sldId id="1183" r:id="rId48"/>
    <p:sldId id="1184" r:id="rId49"/>
    <p:sldId id="1185" r:id="rId50"/>
    <p:sldId id="1186" r:id="rId51"/>
    <p:sldId id="1187" r:id="rId52"/>
    <p:sldId id="1954" r:id="rId53"/>
    <p:sldId id="1190" r:id="rId54"/>
    <p:sldId id="1189" r:id="rId55"/>
    <p:sldId id="1952" r:id="rId56"/>
    <p:sldId id="2093" r:id="rId57"/>
    <p:sldId id="1191" r:id="rId58"/>
    <p:sldId id="1192" r:id="rId59"/>
    <p:sldId id="1193" r:id="rId60"/>
    <p:sldId id="1194" r:id="rId61"/>
    <p:sldId id="1195" r:id="rId62"/>
    <p:sldId id="1196" r:id="rId63"/>
    <p:sldId id="1197" r:id="rId64"/>
    <p:sldId id="1198" r:id="rId65"/>
    <p:sldId id="1202" r:id="rId66"/>
    <p:sldId id="1203" r:id="rId67"/>
    <p:sldId id="1199" r:id="rId68"/>
    <p:sldId id="1200" r:id="rId69"/>
    <p:sldId id="1201" r:id="rId70"/>
    <p:sldId id="1204" r:id="rId71"/>
    <p:sldId id="1205" r:id="rId72"/>
    <p:sldId id="1206" r:id="rId73"/>
    <p:sldId id="1207" r:id="rId74"/>
    <p:sldId id="1208" r:id="rId75"/>
    <p:sldId id="1209" r:id="rId76"/>
    <p:sldId id="1210" r:id="rId77"/>
    <p:sldId id="1211" r:id="rId78"/>
    <p:sldId id="1212" r:id="rId79"/>
    <p:sldId id="1214" r:id="rId80"/>
    <p:sldId id="1215" r:id="rId81"/>
    <p:sldId id="1407" r:id="rId82"/>
    <p:sldId id="1216" r:id="rId83"/>
    <p:sldId id="1217" r:id="rId84"/>
    <p:sldId id="1218" r:id="rId85"/>
    <p:sldId id="1219" r:id="rId86"/>
    <p:sldId id="1220" r:id="rId87"/>
    <p:sldId id="1221" r:id="rId88"/>
    <p:sldId id="1222" r:id="rId89"/>
    <p:sldId id="1223" r:id="rId90"/>
    <p:sldId id="1224" r:id="rId91"/>
    <p:sldId id="1225" r:id="rId92"/>
    <p:sldId id="1226" r:id="rId93"/>
    <p:sldId id="1291" r:id="rId94"/>
    <p:sldId id="1228" r:id="rId95"/>
    <p:sldId id="1229" r:id="rId96"/>
    <p:sldId id="1230" r:id="rId97"/>
    <p:sldId id="1231" r:id="rId98"/>
    <p:sldId id="1232" r:id="rId99"/>
    <p:sldId id="1233" r:id="rId100"/>
    <p:sldId id="1234" r:id="rId101"/>
    <p:sldId id="1235" r:id="rId102"/>
    <p:sldId id="1236" r:id="rId103"/>
    <p:sldId id="1238" r:id="rId104"/>
    <p:sldId id="1239" r:id="rId105"/>
    <p:sldId id="1240" r:id="rId106"/>
    <p:sldId id="1241" r:id="rId107"/>
    <p:sldId id="1242" r:id="rId108"/>
    <p:sldId id="1243" r:id="rId109"/>
    <p:sldId id="1408" r:id="rId110"/>
    <p:sldId id="1244" r:id="rId111"/>
    <p:sldId id="1245" r:id="rId112"/>
    <p:sldId id="1246" r:id="rId113"/>
    <p:sldId id="1247" r:id="rId114"/>
    <p:sldId id="1248" r:id="rId115"/>
    <p:sldId id="1249" r:id="rId116"/>
    <p:sldId id="1250" r:id="rId117"/>
    <p:sldId id="1251" r:id="rId118"/>
    <p:sldId id="1252" r:id="rId119"/>
    <p:sldId id="1253" r:id="rId120"/>
    <p:sldId id="1254" r:id="rId121"/>
    <p:sldId id="1255" r:id="rId122"/>
    <p:sldId id="1256" r:id="rId123"/>
    <p:sldId id="1257" r:id="rId124"/>
    <p:sldId id="1258" r:id="rId125"/>
    <p:sldId id="1468" r:id="rId126"/>
    <p:sldId id="1259" r:id="rId127"/>
    <p:sldId id="1260" r:id="rId128"/>
    <p:sldId id="1261" r:id="rId129"/>
    <p:sldId id="1262" r:id="rId130"/>
    <p:sldId id="1263" r:id="rId131"/>
    <p:sldId id="1264" r:id="rId132"/>
    <p:sldId id="1265" r:id="rId133"/>
    <p:sldId id="1266" r:id="rId134"/>
    <p:sldId id="1267" r:id="rId135"/>
    <p:sldId id="1268" r:id="rId136"/>
    <p:sldId id="1269" r:id="rId137"/>
    <p:sldId id="1270" r:id="rId138"/>
    <p:sldId id="1271" r:id="rId139"/>
    <p:sldId id="1272" r:id="rId140"/>
    <p:sldId id="1273" r:id="rId141"/>
    <p:sldId id="1274" r:id="rId142"/>
    <p:sldId id="1275" r:id="rId143"/>
  </p:sldIdLst>
  <p:sldSz cx="9144000" cy="6858000" type="screen4x3"/>
  <p:notesSz cx="6781800" cy="9926320"/>
  <p:custDataLst>
    <p:tags r:id="rId147"/>
  </p:custDataLst>
  <p:defaultTextStyle>
    <a:defPPr>
      <a:defRPr lang="zh-CN"/>
    </a:defPPr>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9pPr>
  </p:defaultTextStyle>
  <p:extLst>
    <p:ext uri="{EFAFB233-063F-42B5-8137-9DF3F51BA10A}">
      <p15:sldGuideLst xmlns:p15="http://schemas.microsoft.com/office/powerpoint/2012/main">
        <p15:guide id="1" orient="horz" pos="479" userDrawn="1">
          <p15:clr>
            <a:srgbClr val="A4A3A4"/>
          </p15:clr>
        </p15:guide>
        <p15:guide id="2" pos="37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FF3300"/>
    <a:srgbClr val="3402C2"/>
    <a:srgbClr val="006600"/>
    <a:srgbClr val="000099"/>
    <a:srgbClr val="CC0000"/>
    <a:srgbClr val="FFFFCC"/>
    <a:srgbClr val="A50021"/>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757" autoAdjust="0"/>
  </p:normalViewPr>
  <p:slideViewPr>
    <p:cSldViewPr snapToGrid="0" showGuides="1">
      <p:cViewPr varScale="1">
        <p:scale>
          <a:sx n="69" d="100"/>
          <a:sy n="69" d="100"/>
        </p:scale>
        <p:origin x="762" y="60"/>
      </p:cViewPr>
      <p:guideLst>
        <p:guide orient="horz" pos="479"/>
        <p:guide pos="376"/>
      </p:guideLst>
    </p:cSldViewPr>
  </p:slideViewPr>
  <p:notesTextViewPr>
    <p:cViewPr>
      <p:scale>
        <a:sx n="1" d="1"/>
        <a:sy n="1" d="1"/>
      </p:scale>
      <p:origin x="0" y="0"/>
    </p:cViewPr>
  </p:notesTextViewPr>
  <p:gridSpacing cx="72005" cy="72005"/>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notesMaster" Target="notesMasters/notesMaster1.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5.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4.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3.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7" Type="http://schemas.openxmlformats.org/officeDocument/2006/relationships/tags" Target="tags/tag1.xml"/><Relationship Id="rId146" Type="http://schemas.openxmlformats.org/officeDocument/2006/relationships/tableStyles" Target="tableStyles.xml"/><Relationship Id="rId145" Type="http://schemas.openxmlformats.org/officeDocument/2006/relationships/viewProps" Target="viewProps.xml"/><Relationship Id="rId144" Type="http://schemas.openxmlformats.org/officeDocument/2006/relationships/presProps" Target="presProps.xml"/><Relationship Id="rId143" Type="http://schemas.openxmlformats.org/officeDocument/2006/relationships/slide" Target="slides/slide139.xml"/><Relationship Id="rId142" Type="http://schemas.openxmlformats.org/officeDocument/2006/relationships/slide" Target="slides/slide138.xml"/><Relationship Id="rId141" Type="http://schemas.openxmlformats.org/officeDocument/2006/relationships/slide" Target="slides/slide137.xml"/><Relationship Id="rId140" Type="http://schemas.openxmlformats.org/officeDocument/2006/relationships/slide" Target="slides/slide136.xml"/><Relationship Id="rId14" Type="http://schemas.openxmlformats.org/officeDocument/2006/relationships/slide" Target="slides/slide10.xml"/><Relationship Id="rId139" Type="http://schemas.openxmlformats.org/officeDocument/2006/relationships/slide" Target="slides/slide135.xml"/><Relationship Id="rId138" Type="http://schemas.openxmlformats.org/officeDocument/2006/relationships/slide" Target="slides/slide134.xml"/><Relationship Id="rId137" Type="http://schemas.openxmlformats.org/officeDocument/2006/relationships/slide" Target="slides/slide133.xml"/><Relationship Id="rId136" Type="http://schemas.openxmlformats.org/officeDocument/2006/relationships/slide" Target="slides/slide132.xml"/><Relationship Id="rId135" Type="http://schemas.openxmlformats.org/officeDocument/2006/relationships/slide" Target="slides/slide131.xml"/><Relationship Id="rId134" Type="http://schemas.openxmlformats.org/officeDocument/2006/relationships/slide" Target="slides/slide130.xml"/><Relationship Id="rId133" Type="http://schemas.openxmlformats.org/officeDocument/2006/relationships/slide" Target="slides/slide129.xml"/><Relationship Id="rId132" Type="http://schemas.openxmlformats.org/officeDocument/2006/relationships/slide" Target="slides/slide128.xml"/><Relationship Id="rId131" Type="http://schemas.openxmlformats.org/officeDocument/2006/relationships/slide" Target="slides/slide127.xml"/><Relationship Id="rId130" Type="http://schemas.openxmlformats.org/officeDocument/2006/relationships/slide" Target="slides/slide126.xml"/><Relationship Id="rId13" Type="http://schemas.openxmlformats.org/officeDocument/2006/relationships/slide" Target="slides/slide9.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125" Type="http://schemas.openxmlformats.org/officeDocument/2006/relationships/slide" Target="slides/slide121.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8.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7.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20.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20.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3.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8.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9.e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41.wmf"/><Relationship Id="rId1" Type="http://schemas.openxmlformats.org/officeDocument/2006/relationships/image" Target="../media/image40.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44.w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46.wmf"/><Relationship Id="rId1" Type="http://schemas.openxmlformats.org/officeDocument/2006/relationships/image" Target="../media/image45.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47.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49.wmf"/><Relationship Id="rId1" Type="http://schemas.openxmlformats.org/officeDocument/2006/relationships/image" Target="../media/image4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p:cNvSpPr>
          <p:nvPr>
            <p:ph type="hdr" sz="quarter"/>
          </p:nvPr>
        </p:nvSpPr>
        <p:spPr>
          <a:xfrm>
            <a:off x="0" y="0"/>
            <a:ext cx="2938463" cy="496888"/>
          </a:xfrm>
          <a:prstGeom prst="rect">
            <a:avLst/>
          </a:prstGeom>
          <a:noFill/>
          <a:ln w="9525">
            <a:noFill/>
          </a:ln>
        </p:spPr>
        <p:txBody>
          <a:bodyPr/>
          <a:lstStyle/>
          <a:p>
            <a:pPr lvl="0" eaLnBrk="1" fontAlgn="base" hangingPunct="1"/>
            <a:endParaRPr lang="en-US" altLang="x-none" sz="1200" b="0" strike="noStrike" noProof="1">
              <a:latin typeface="Times New Roman" panose="02020603050405020304" pitchFamily="2" charset="0"/>
            </a:endParaRPr>
          </a:p>
        </p:txBody>
      </p:sp>
      <p:sp>
        <p:nvSpPr>
          <p:cNvPr id="3075" name="Rectangle 3"/>
          <p:cNvSpPr>
            <a:spLocks noGrp="1"/>
          </p:cNvSpPr>
          <p:nvPr>
            <p:ph type="dt" idx="1"/>
          </p:nvPr>
        </p:nvSpPr>
        <p:spPr>
          <a:xfrm>
            <a:off x="3843338" y="0"/>
            <a:ext cx="2938463" cy="496888"/>
          </a:xfrm>
          <a:prstGeom prst="rect">
            <a:avLst/>
          </a:prstGeom>
          <a:noFill/>
          <a:ln w="9525">
            <a:noFill/>
          </a:ln>
        </p:spPr>
        <p:txBody>
          <a:bodyPr/>
          <a:lstStyle/>
          <a:p>
            <a:pPr lvl="0" algn="r" eaLnBrk="1" fontAlgn="base" hangingPunct="1"/>
            <a:endParaRPr lang="en-US" altLang="x-none" sz="1200" b="0" strike="noStrike" noProof="1">
              <a:latin typeface="Times New Roman" panose="02020603050405020304" pitchFamily="2" charset="0"/>
            </a:endParaRPr>
          </a:p>
        </p:txBody>
      </p:sp>
      <p:sp>
        <p:nvSpPr>
          <p:cNvPr id="3076" name="Rectangle 4"/>
          <p:cNvSpPr>
            <a:spLocks noGrp="1" noRot="1" noChangeAspect="1"/>
          </p:cNvSpPr>
          <p:nvPr>
            <p:ph type="sldImg"/>
          </p:nvPr>
        </p:nvSpPr>
        <p:spPr>
          <a:xfrm>
            <a:off x="909638" y="744538"/>
            <a:ext cx="4964112" cy="3722687"/>
          </a:xfrm>
          <a:prstGeom prst="rect">
            <a:avLst/>
          </a:prstGeom>
          <a:noFill/>
          <a:ln w="9525">
            <a:noFill/>
          </a:ln>
        </p:spPr>
      </p:sp>
      <p:sp>
        <p:nvSpPr>
          <p:cNvPr id="3077" name="Rectangle 5"/>
          <p:cNvSpPr>
            <a:spLocks noGrp="1"/>
          </p:cNvSpPr>
          <p:nvPr>
            <p:ph type="body" sz="quarter"/>
          </p:nvPr>
        </p:nvSpPr>
        <p:spPr>
          <a:xfrm>
            <a:off x="904875" y="4714875"/>
            <a:ext cx="4972050" cy="4467225"/>
          </a:xfrm>
          <a:prstGeom prst="rect">
            <a:avLst/>
          </a:prstGeom>
          <a:noFill/>
          <a:ln w="9525">
            <a:noFill/>
          </a:ln>
        </p:spPr>
        <p:txBody>
          <a:bodyPr anchor="t"/>
          <a:lstStyle/>
          <a:p>
            <a:pPr lvl="0" indent="0"/>
            <a:r>
              <a:rPr lang="zh-CN" altLang="en-US" dirty="0"/>
              <a:t>单击此处编辑母版文本样式</a:t>
            </a:r>
            <a:endParaRPr lang="zh-CN" altLang="en-US" dirty="0"/>
          </a:p>
          <a:p>
            <a:pPr lvl="1" indent="0"/>
            <a:r>
              <a:rPr lang="zh-CN" altLang="en-US" dirty="0"/>
              <a:t>第二级</a:t>
            </a:r>
            <a:endParaRPr lang="zh-CN" altLang="en-US" dirty="0"/>
          </a:p>
          <a:p>
            <a:pPr lvl="2" indent="0"/>
            <a:r>
              <a:rPr lang="zh-CN" altLang="en-US" dirty="0"/>
              <a:t>第三级</a:t>
            </a:r>
            <a:endParaRPr lang="zh-CN" altLang="en-US" dirty="0"/>
          </a:p>
          <a:p>
            <a:pPr lvl="3" indent="0"/>
            <a:r>
              <a:rPr lang="zh-CN" altLang="en-US" dirty="0"/>
              <a:t>第四级</a:t>
            </a:r>
            <a:endParaRPr lang="zh-CN" altLang="en-US" dirty="0"/>
          </a:p>
          <a:p>
            <a:pPr lvl="4" indent="0"/>
            <a:r>
              <a:rPr lang="zh-CN" altLang="en-US" dirty="0"/>
              <a:t>第五级</a:t>
            </a:r>
            <a:endParaRPr lang="zh-CN" altLang="en-US" dirty="0"/>
          </a:p>
        </p:txBody>
      </p:sp>
      <p:sp>
        <p:nvSpPr>
          <p:cNvPr id="3078" name="Rectangle 6"/>
          <p:cNvSpPr>
            <a:spLocks noGrp="1"/>
          </p:cNvSpPr>
          <p:nvPr>
            <p:ph type="ftr" sz="quarter" idx="4"/>
          </p:nvPr>
        </p:nvSpPr>
        <p:spPr>
          <a:xfrm>
            <a:off x="0" y="9429750"/>
            <a:ext cx="2938463" cy="496888"/>
          </a:xfrm>
          <a:prstGeom prst="rect">
            <a:avLst/>
          </a:prstGeom>
          <a:noFill/>
          <a:ln w="9525">
            <a:noFill/>
          </a:ln>
        </p:spPr>
        <p:txBody>
          <a:bodyPr anchor="b"/>
          <a:lstStyle/>
          <a:p>
            <a:pPr lvl="0" eaLnBrk="1" fontAlgn="base" hangingPunct="1"/>
            <a:endParaRPr lang="en-US" altLang="x-none" sz="1200" b="0" strike="noStrike" noProof="1">
              <a:latin typeface="Times New Roman" panose="02020603050405020304" pitchFamily="2" charset="0"/>
            </a:endParaRPr>
          </a:p>
        </p:txBody>
      </p:sp>
      <p:sp>
        <p:nvSpPr>
          <p:cNvPr id="3079" name="Rectangle 7"/>
          <p:cNvSpPr>
            <a:spLocks noGrp="1"/>
          </p:cNvSpPr>
          <p:nvPr>
            <p:ph type="sldNum" sz="quarter" idx="5"/>
          </p:nvPr>
        </p:nvSpPr>
        <p:spPr>
          <a:xfrm>
            <a:off x="3843338" y="9429750"/>
            <a:ext cx="2938463" cy="496888"/>
          </a:xfrm>
          <a:prstGeom prst="rect">
            <a:avLst/>
          </a:prstGeom>
          <a:noFill/>
          <a:ln w="9525">
            <a:noFill/>
          </a:ln>
        </p:spPr>
        <p:txBody>
          <a:bodyPr anchor="b"/>
          <a:lstStyle/>
          <a:p>
            <a:pPr lvl="0" algn="r" eaLnBrk="1" fontAlgn="base" hangingPunct="1"/>
            <a:fld id="{9A0DB2DC-4C9A-4742-B13C-FB6460FD3503}" type="slidenum">
              <a:rPr lang="en-US" altLang="x-none" sz="1200" b="0" strike="noStrike" noProof="1" dirty="0">
                <a:latin typeface="Times New Roman" panose="02020603050405020304" pitchFamily="2" charset="0"/>
                <a:ea typeface="宋体" panose="02010600030101010101" pitchFamily="2" charset="-122"/>
                <a:cs typeface="+mn-ea"/>
              </a:rPr>
            </a:fld>
            <a:endParaRPr lang="en-US" altLang="x-none" sz="1200" b="0" strike="noStrike" noProof="1">
              <a:latin typeface="Times New Roman" panose="02020603050405020304" pitchFamily="2" charset="0"/>
            </a:endParaRPr>
          </a:p>
        </p:txBody>
      </p:sp>
    </p:spTree>
  </p:cSld>
  <p:clrMap bg1="lt1" tx1="dk1" bg2="lt2" tx2="dk2" accent1="accent1" accent2="accent2" accent3="accent3" accent4="accent4" accent5="accent5" accent6="accent6" hlink="hlink" folHlink="folHlink"/>
  <p:hf sldNum="0" hdr="0" ftr="0" dt="0"/>
  <p:notesStyle>
    <a:lvl1pPr marL="0" lvl="0"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1pPr>
    <a:lvl2pPr marL="457200" lvl="1"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2pPr>
    <a:lvl3pPr marL="914400" lvl="2"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3pPr>
    <a:lvl4pPr marL="1371600" lvl="3"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4pPr>
    <a:lvl5pPr marL="1828800" lvl="4"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5pPr>
    <a:lvl6pPr marL="2286000" lvl="5"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6pPr>
    <a:lvl7pPr marL="2743200" lvl="6"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7pPr>
    <a:lvl8pPr marL="3200400" lvl="7"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8pPr>
    <a:lvl9pPr marL="3657600" lvl="8"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p:sp>
      <p:sp>
        <p:nvSpPr>
          <p:cNvPr id="9219" name="备注占位符 2"/>
          <p:cNvSpPr>
            <a:spLocks noGrp="1"/>
          </p:cNvSpPr>
          <p:nvPr>
            <p:ph type="body"/>
          </p:nvPr>
        </p:nvSpPr>
        <p:spPr/>
        <p:txBody>
          <a:bodyPr wrap="square" anchor="t"/>
          <a:lstStyle/>
          <a:p>
            <a:pPr lvl="0" indent="0"/>
            <a:r>
              <a:rPr lang="zh-CN" altLang="en-US" dirty="0">
                <a:latin typeface="楷体" panose="02010609060101010101" pitchFamily="1" charset="-122"/>
                <a:ea typeface="楷体" panose="02010609060101010101" pitchFamily="1" charset="-122"/>
              </a:rPr>
              <a:t>尽管</a:t>
            </a:r>
            <a:r>
              <a:rPr lang="en-US" altLang="x-none" dirty="0">
                <a:latin typeface="楷体" panose="02010609060101010101" pitchFamily="1" charset="-122"/>
                <a:ea typeface="楷体" panose="02010609060101010101" pitchFamily="1" charset="-122"/>
              </a:rPr>
              <a:t>DBMS</a:t>
            </a:r>
            <a:r>
              <a:rPr lang="zh-CN" altLang="en-US" dirty="0">
                <a:latin typeface="楷体" panose="02010609060101010101" pitchFamily="1" charset="-122"/>
                <a:ea typeface="楷体" panose="02010609060101010101" pitchFamily="1" charset="-122"/>
              </a:rPr>
              <a:t>实现了这</a:t>
            </a:r>
            <a:r>
              <a:rPr lang="en-US" altLang="x-none" dirty="0">
                <a:latin typeface="楷体" panose="02010609060101010101" pitchFamily="1" charset="-122"/>
                <a:ea typeface="楷体" panose="02010609060101010101" pitchFamily="1" charset="-122"/>
              </a:rPr>
              <a:t>4</a:t>
            </a:r>
            <a:r>
              <a:rPr lang="zh-CN" altLang="en-US" dirty="0">
                <a:latin typeface="楷体" panose="02010609060101010101" pitchFamily="1" charset="-122"/>
                <a:ea typeface="楷体" panose="02010609060101010101" pitchFamily="1" charset="-122"/>
              </a:rPr>
              <a:t>个功能，有些功能的使用基本上不用用户操心，如并发控制功能，但大部分情况下，</a:t>
            </a:r>
            <a:r>
              <a:rPr lang="zh-CN" altLang="en-US" u="sng" dirty="0">
                <a:solidFill>
                  <a:srgbClr val="000099"/>
                </a:solidFill>
                <a:latin typeface="楷体" panose="02010609060101010101" pitchFamily="1" charset="-122"/>
                <a:ea typeface="楷体" panose="02010609060101010101" pitchFamily="1" charset="-122"/>
              </a:rPr>
              <a:t>为发挥</a:t>
            </a:r>
            <a:r>
              <a:rPr lang="en-US" altLang="x-none" u="sng" dirty="0">
                <a:solidFill>
                  <a:srgbClr val="000099"/>
                </a:solidFill>
                <a:latin typeface="楷体" panose="02010609060101010101" pitchFamily="1" charset="-122"/>
                <a:ea typeface="楷体" panose="02010609060101010101" pitchFamily="1" charset="-122"/>
              </a:rPr>
              <a:t>DBMS</a:t>
            </a:r>
            <a:r>
              <a:rPr lang="zh-CN" altLang="en-US" u="sng" dirty="0">
                <a:solidFill>
                  <a:srgbClr val="000099"/>
                </a:solidFill>
                <a:latin typeface="楷体" panose="02010609060101010101" pitchFamily="1" charset="-122"/>
                <a:ea typeface="楷体" panose="02010609060101010101" pitchFamily="1" charset="-122"/>
              </a:rPr>
              <a:t>对数据库的保护作用，需要用户进行某些定义和参与工作。</a:t>
            </a:r>
            <a:endParaRPr lang="zh-CN" altLang="en-US" u="sng" dirty="0">
              <a:solidFill>
                <a:srgbClr val="000099"/>
              </a:solidFill>
              <a:latin typeface="宋体" panose="02010600030101010101" pitchFamily="2" charset="-122"/>
            </a:endParaRPr>
          </a:p>
          <a:p>
            <a:pPr lvl="0" indent="0"/>
            <a:endParaRPr lang="zh-CN" altLang="en-US" dirty="0"/>
          </a:p>
        </p:txBody>
      </p:sp>
      <p:sp>
        <p:nvSpPr>
          <p:cNvPr id="9220"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p:sp>
      <p:sp>
        <p:nvSpPr>
          <p:cNvPr id="24579" name="备注占位符 2"/>
          <p:cNvSpPr>
            <a:spLocks noGrp="1"/>
          </p:cNvSpPr>
          <p:nvPr>
            <p:ph type="body"/>
          </p:nvPr>
        </p:nvSpPr>
        <p:spPr/>
        <p:txBody>
          <a:bodyPr wrap="square" anchor="t"/>
          <a:lstStyle/>
          <a:p>
            <a:pPr lvl="0" indent="0"/>
            <a:r>
              <a:rPr lang="en-US" altLang="x-none" dirty="0"/>
              <a:t>SQL Server</a:t>
            </a:r>
            <a:r>
              <a:rPr lang="zh-CN" altLang="en-US" dirty="0"/>
              <a:t>构建于某个操作系统之上，各自有其安全体系。操作系统的用户只有成为</a:t>
            </a:r>
            <a:r>
              <a:rPr lang="en-US" altLang="x-none" dirty="0"/>
              <a:t>SQL Server</a:t>
            </a:r>
            <a:r>
              <a:rPr lang="zh-CN" altLang="en-US" dirty="0"/>
              <a:t>的登陆用户后，才能访问</a:t>
            </a:r>
            <a:r>
              <a:rPr lang="en-US" altLang="x-none" dirty="0"/>
              <a:t>SQL Server.</a:t>
            </a:r>
            <a:endParaRPr lang="en-US" altLang="x-none" dirty="0"/>
          </a:p>
          <a:p>
            <a:pPr lvl="0" indent="0"/>
            <a:r>
              <a:rPr lang="zh-CN" altLang="en-US" dirty="0"/>
              <a:t>三层门</a:t>
            </a:r>
            <a:endParaRPr lang="zh-CN" altLang="en-US" dirty="0"/>
          </a:p>
        </p:txBody>
      </p:sp>
      <p:sp>
        <p:nvSpPr>
          <p:cNvPr id="24580"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9698" name="幻灯片图像占位符 1"/>
          <p:cNvSpPr>
            <a:spLocks noGrp="1" noRot="1" noChangeAspect="1" noTextEdit="1"/>
          </p:cNvSpPr>
          <p:nvPr>
            <p:ph type="sldImg"/>
          </p:nvPr>
        </p:nvSpPr>
        <p:spPr/>
      </p:sp>
      <p:sp>
        <p:nvSpPr>
          <p:cNvPr id="29699" name="备注占位符 2"/>
          <p:cNvSpPr>
            <a:spLocks noGrp="1"/>
          </p:cNvSpPr>
          <p:nvPr>
            <p:ph type="body"/>
          </p:nvPr>
        </p:nvSpPr>
        <p:spPr/>
        <p:txBody>
          <a:bodyPr wrap="square" anchor="t"/>
          <a:lstStyle/>
          <a:p>
            <a:pPr lvl="0" indent="0"/>
            <a:r>
              <a:rPr lang="zh-CN" altLang="en-US" dirty="0"/>
              <a:t>（</a:t>
            </a:r>
            <a:r>
              <a:rPr lang="en-US" altLang="x-none" dirty="0"/>
              <a:t>1</a:t>
            </a:r>
            <a:r>
              <a:rPr lang="zh-CN" altLang="en-US" dirty="0"/>
              <a:t>）</a:t>
            </a:r>
            <a:r>
              <a:rPr lang="en-US" altLang="x-none" dirty="0"/>
              <a:t>SQL Server</a:t>
            </a:r>
            <a:r>
              <a:rPr lang="zh-CN" altLang="en-US" dirty="0"/>
              <a:t>设定的默认数据库用户。</a:t>
            </a:r>
            <a:r>
              <a:rPr lang="en-US" altLang="x-none" dirty="0"/>
              <a:t>SQL Server</a:t>
            </a:r>
            <a:r>
              <a:rPr lang="zh-CN" altLang="en-US" dirty="0"/>
              <a:t>在安装时，自动创建了一个默认的数据库用户，即</a:t>
            </a:r>
            <a:r>
              <a:rPr lang="en-US" altLang="x-none" dirty="0"/>
              <a:t>guest</a:t>
            </a:r>
            <a:r>
              <a:rPr lang="zh-CN" altLang="en-US" dirty="0"/>
              <a:t>。一个登陆用户在被设定为某个数据库的用户之前，可用</a:t>
            </a:r>
            <a:r>
              <a:rPr lang="en-US" altLang="x-none" dirty="0"/>
              <a:t>guest</a:t>
            </a:r>
            <a:r>
              <a:rPr lang="zh-CN" altLang="en-US" dirty="0"/>
              <a:t>身份访问该数据库，只不过其权限非常有限。</a:t>
            </a:r>
            <a:endParaRPr lang="zh-CN" altLang="en-US" dirty="0"/>
          </a:p>
        </p:txBody>
      </p:sp>
      <p:sp>
        <p:nvSpPr>
          <p:cNvPr id="29700"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p:sp>
      <p:sp>
        <p:nvSpPr>
          <p:cNvPr id="24579" name="备注占位符 2"/>
          <p:cNvSpPr>
            <a:spLocks noGrp="1"/>
          </p:cNvSpPr>
          <p:nvPr>
            <p:ph type="body"/>
          </p:nvPr>
        </p:nvSpPr>
        <p:spPr/>
        <p:txBody>
          <a:bodyPr wrap="square" anchor="t"/>
          <a:lstStyle/>
          <a:p>
            <a:pPr lvl="0" indent="0"/>
            <a:r>
              <a:rPr lang="en-US" altLang="x-none" dirty="0"/>
              <a:t>SQL Server</a:t>
            </a:r>
            <a:r>
              <a:rPr lang="zh-CN" altLang="en-US" dirty="0"/>
              <a:t>构建于某个操作系统之上，各自有其安全体系。操作系统的用户只有成为</a:t>
            </a:r>
            <a:r>
              <a:rPr lang="en-US" altLang="x-none" dirty="0"/>
              <a:t>SQL Server</a:t>
            </a:r>
            <a:r>
              <a:rPr lang="zh-CN" altLang="en-US" dirty="0"/>
              <a:t>的登陆用户后，才能访问</a:t>
            </a:r>
            <a:r>
              <a:rPr lang="en-US" altLang="x-none" dirty="0"/>
              <a:t>SQL Server.</a:t>
            </a:r>
            <a:endParaRPr lang="en-US" altLang="x-none" dirty="0"/>
          </a:p>
          <a:p>
            <a:pPr lvl="0" indent="0"/>
            <a:r>
              <a:rPr lang="zh-CN" altLang="en-US" dirty="0"/>
              <a:t>三层门</a:t>
            </a:r>
            <a:endParaRPr lang="zh-CN" altLang="en-US" dirty="0"/>
          </a:p>
        </p:txBody>
      </p:sp>
      <p:sp>
        <p:nvSpPr>
          <p:cNvPr id="24580"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98306" name="幻灯片图像占位符 1"/>
          <p:cNvSpPr>
            <a:spLocks noGrp="1" noRot="1" noChangeAspect="1" noTextEdit="1"/>
          </p:cNvSpPr>
          <p:nvPr>
            <p:ph type="sldImg"/>
          </p:nvPr>
        </p:nvSpPr>
        <p:spPr/>
      </p:sp>
      <p:sp>
        <p:nvSpPr>
          <p:cNvPr id="98307" name="备注占位符 2"/>
          <p:cNvSpPr>
            <a:spLocks noGrp="1"/>
          </p:cNvSpPr>
          <p:nvPr>
            <p:ph type="body"/>
          </p:nvPr>
        </p:nvSpPr>
        <p:spPr/>
        <p:txBody>
          <a:bodyPr wrap="square" anchor="t"/>
          <a:lstStyle/>
          <a:p>
            <a:pPr lvl="0" indent="0"/>
            <a:r>
              <a:rPr lang="zh-CN" altLang="en-US" dirty="0"/>
              <a:t>并发控制原则：既要将各事务的操作交错执行，以充分利用系统资源，又要避免各事务的数据访问冲突。</a:t>
            </a:r>
            <a:endParaRPr lang="zh-CN" altLang="en-US" dirty="0"/>
          </a:p>
        </p:txBody>
      </p:sp>
      <p:sp>
        <p:nvSpPr>
          <p:cNvPr id="98308"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996950"/>
            <a:ext cx="4032504" cy="5129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996950"/>
            <a:ext cx="4032504" cy="5129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44463"/>
            <a:ext cx="2057400" cy="59817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144463"/>
            <a:ext cx="6052930" cy="59817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996950"/>
            <a:ext cx="4032504" cy="5129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996950"/>
            <a:ext cx="4032504" cy="5129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44463"/>
            <a:ext cx="2057400" cy="59817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144463"/>
            <a:ext cx="6052930" cy="59817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CECFF"/>
            </a:gs>
          </a:gsLst>
          <a:lin ang="5400000" scaled="1"/>
          <a:tileRect/>
        </a:gradFill>
        <a:effectLst/>
      </p:bgPr>
    </p:bg>
    <p:spTree>
      <p:nvGrpSpPr>
        <p:cNvPr id="1" name=""/>
        <p:cNvGrpSpPr/>
        <p:nvPr/>
      </p:nvGrpSpPr>
      <p:grpSpPr>
        <a:xfrm>
          <a:off x="0" y="0"/>
          <a:ext cx="0" cy="0"/>
          <a:chOff x="0" y="0"/>
          <a:chExt cx="0" cy="0"/>
        </a:xfrm>
      </p:grpSpPr>
      <p:sp>
        <p:nvSpPr>
          <p:cNvPr id="1026" name="Rectangle 9"/>
          <p:cNvSpPr/>
          <p:nvPr userDrawn="1"/>
        </p:nvSpPr>
        <p:spPr>
          <a:xfrm>
            <a:off x="-12700" y="6489700"/>
            <a:ext cx="9156700" cy="368300"/>
          </a:xfrm>
          <a:prstGeom prst="rect">
            <a:avLst/>
          </a:prstGeom>
          <a:solidFill>
            <a:schemeClr val="accent2">
              <a:alpha val="81000"/>
            </a:schemeClr>
          </a:solidFill>
          <a:ln w="9525" cap="flat" cmpd="sng">
            <a:solidFill>
              <a:schemeClr val="tx1"/>
            </a:solidFill>
            <a:prstDash val="solid"/>
            <a:miter/>
            <a:headEnd type="none" w="med" len="med"/>
            <a:tailEnd type="none" w="med" len="med"/>
          </a:ln>
        </p:spPr>
        <p:txBody>
          <a:bodyPr wrap="none" anchor="ctr"/>
          <a:lstStyle/>
          <a:p>
            <a:pPr lvl="0" indent="0">
              <a:lnSpc>
                <a:spcPct val="135000"/>
              </a:lnSpc>
              <a:buChar char="•"/>
            </a:pPr>
            <a:endParaRPr lang="zh-CN" altLang="en-US" dirty="0">
              <a:latin typeface="Arial" panose="020B0604020202020204" pitchFamily="34" charset="0"/>
              <a:ea typeface="宋体" panose="02010600030101010101" pitchFamily="2" charset="-122"/>
            </a:endParaRPr>
          </a:p>
        </p:txBody>
      </p:sp>
      <p:sp>
        <p:nvSpPr>
          <p:cNvPr id="1028" name="Rectangle 10"/>
          <p:cNvSpPr/>
          <p:nvPr userDrawn="1"/>
        </p:nvSpPr>
        <p:spPr>
          <a:xfrm>
            <a:off x="282575" y="774700"/>
            <a:ext cx="8582025" cy="50800"/>
          </a:xfrm>
          <a:prstGeom prst="rect">
            <a:avLst/>
          </a:prstGeom>
          <a:gradFill rotWithShape="1">
            <a:gsLst>
              <a:gs pos="0">
                <a:srgbClr val="FFFF00"/>
              </a:gs>
              <a:gs pos="50000">
                <a:srgbClr val="FF0066"/>
              </a:gs>
              <a:gs pos="100000">
                <a:srgbClr val="FFFF00"/>
              </a:gs>
            </a:gsLst>
            <a:lin ang="0" scaled="1"/>
            <a:tileRect/>
          </a:gradFill>
          <a:ln w="9525">
            <a:noFill/>
          </a:ln>
        </p:spPr>
        <p:txBody>
          <a:bodyPr wrap="none" anchor="ctr"/>
          <a:lstStyle/>
          <a:p>
            <a:pPr lvl="0" indent="0">
              <a:lnSpc>
                <a:spcPct val="135000"/>
              </a:lnSpc>
              <a:buChar char="•"/>
            </a:pPr>
            <a:endParaRPr lang="zh-CN" altLang="en-US" dirty="0">
              <a:latin typeface="Arial" panose="020B0604020202020204" pitchFamily="34" charset="0"/>
              <a:ea typeface="宋体" panose="02010600030101010101" pitchFamily="2" charset="-122"/>
            </a:endParaRPr>
          </a:p>
        </p:txBody>
      </p:sp>
      <p:sp>
        <p:nvSpPr>
          <p:cNvPr id="1029" name="Rectangle 11"/>
          <p:cNvSpPr/>
          <p:nvPr userDrawn="1"/>
        </p:nvSpPr>
        <p:spPr>
          <a:xfrm>
            <a:off x="8178800" y="6511925"/>
            <a:ext cx="889000" cy="269875"/>
          </a:xfrm>
          <a:prstGeom prst="rect">
            <a:avLst/>
          </a:prstGeom>
          <a:noFill/>
          <a:ln w="9525">
            <a:noFill/>
          </a:ln>
        </p:spPr>
        <p:txBody>
          <a:bodyPr anchor="t"/>
          <a:lstStyle/>
          <a:p>
            <a:pPr lvl="0" indent="0" algn="r"/>
            <a:fld id="{9A0DB2DC-4C9A-4742-B13C-FB6460FD3503}" type="slidenum">
              <a:rPr lang="en-US" altLang="x-none" sz="1400" b="0" dirty="0">
                <a:solidFill>
                  <a:schemeClr val="bg1"/>
                </a:solidFill>
                <a:latin typeface="Arial" panose="020B0604020202020204" pitchFamily="34" charset="0"/>
                <a:ea typeface="楷体_GB2312"/>
              </a:rPr>
            </a:fld>
            <a:endParaRPr lang="en-US" altLang="x-none" sz="1400" b="0" dirty="0">
              <a:solidFill>
                <a:schemeClr val="bg1"/>
              </a:solidFill>
              <a:latin typeface="Arial" panose="020B0604020202020204" pitchFamily="34" charset="0"/>
              <a:ea typeface="楷体_GB2312"/>
            </a:endParaRPr>
          </a:p>
        </p:txBody>
      </p:sp>
      <p:sp>
        <p:nvSpPr>
          <p:cNvPr id="1030" name="Rectangle 14"/>
          <p:cNvSpPr>
            <a:spLocks noGrp="1"/>
          </p:cNvSpPr>
          <p:nvPr>
            <p:ph type="body"/>
          </p:nvPr>
        </p:nvSpPr>
        <p:spPr>
          <a:xfrm>
            <a:off x="457200" y="996950"/>
            <a:ext cx="8229600" cy="5129213"/>
          </a:xfrm>
          <a:prstGeom prst="rect">
            <a:avLst/>
          </a:prstGeom>
          <a:noFill/>
          <a:ln w="9525">
            <a:noFill/>
          </a:ln>
        </p:spPr>
        <p:txBody>
          <a:bodyPr anchor="t"/>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1031" name="Rectangle 15"/>
          <p:cNvSpPr>
            <a:spLocks noGrp="1"/>
          </p:cNvSpPr>
          <p:nvPr>
            <p:ph type="title"/>
          </p:nvPr>
        </p:nvSpPr>
        <p:spPr>
          <a:xfrm>
            <a:off x="457200" y="144463"/>
            <a:ext cx="8229600" cy="577850"/>
          </a:xfrm>
          <a:prstGeom prst="rect">
            <a:avLst/>
          </a:prstGeom>
          <a:noFill/>
          <a:ln w="9525">
            <a:noFill/>
          </a:ln>
        </p:spPr>
        <p:txBody>
          <a:bodyPr anchor="ctr"/>
          <a:lstStyle/>
          <a:p>
            <a:pPr lvl="0" indent="0"/>
            <a:r>
              <a:rPr lang="zh-CN" altLang="en-US"/>
              <a:t>单击此处编辑母版标题样式</a:t>
            </a:r>
            <a:endParaRPr lang="zh-CN" altLang="en-US"/>
          </a:p>
        </p:txBody>
      </p:sp>
      <p:sp>
        <p:nvSpPr>
          <p:cNvPr id="1027" name="Rectangle 6"/>
          <p:cNvSpPr>
            <a:spLocks noChangeArrowheads="1"/>
          </p:cNvSpPr>
          <p:nvPr userDrawn="1"/>
        </p:nvSpPr>
        <p:spPr bwMode="auto">
          <a:xfrm>
            <a:off x="2463800" y="6472238"/>
            <a:ext cx="4240213" cy="386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1600" b="1" i="0" u="none" strike="noStrike" kern="1200" cap="none" spc="0" normalizeH="0" baseline="0" noProof="0" dirty="0" smtClean="0">
                <a:ln>
                  <a:noFill/>
                </a:ln>
                <a:solidFill>
                  <a:schemeClr val="bg1"/>
                </a:solidFill>
                <a:effectLst/>
                <a:uLnTx/>
                <a:uFillTx/>
                <a:latin typeface="Arial" panose="020B0604020202020204" pitchFamily="34" charset="0"/>
                <a:ea typeface="宋体" panose="02010600030101010101" pitchFamily="2" charset="-122"/>
                <a:cs typeface="+mn-cs"/>
              </a:rPr>
              <a:t>2025~2026</a:t>
            </a:r>
            <a:r>
              <a:rPr kumimoji="0" lang="zh-CN" altLang="en-US" sz="1600" b="1" i="0" u="none" strike="noStrike" kern="1200" cap="none" spc="0" normalizeH="0" baseline="0" noProof="0" dirty="0" smtClean="0">
                <a:ln>
                  <a:noFill/>
                </a:ln>
                <a:solidFill>
                  <a:schemeClr val="bg1"/>
                </a:solidFill>
                <a:effectLst/>
                <a:uLnTx/>
                <a:uFillTx/>
                <a:latin typeface="Arial" panose="020B0604020202020204" pitchFamily="34" charset="0"/>
                <a:ea typeface="宋体" panose="02010600030101010101" pitchFamily="2" charset="-122"/>
                <a:cs typeface="+mn-cs"/>
              </a:rPr>
              <a:t>年度第</a:t>
            </a:r>
            <a:r>
              <a:rPr kumimoji="0" lang="en-US" altLang="zh-CN" sz="1600" b="1" i="0" u="none" strike="noStrike" kern="1200" cap="none" spc="0" normalizeH="0" baseline="0" noProof="0" dirty="0" smtClean="0">
                <a:ln>
                  <a:noFill/>
                </a:ln>
                <a:solidFill>
                  <a:schemeClr val="bg1"/>
                </a:solidFill>
                <a:effectLst/>
                <a:uLnTx/>
                <a:uFillTx/>
                <a:latin typeface="Arial" panose="020B0604020202020204" pitchFamily="34" charset="0"/>
                <a:ea typeface="宋体" panose="02010600030101010101" pitchFamily="2" charset="-122"/>
                <a:cs typeface="+mn-cs"/>
              </a:rPr>
              <a:t>2</a:t>
            </a:r>
            <a:r>
              <a:rPr kumimoji="0" lang="zh-CN" altLang="en-US" sz="1600" b="1" i="0" u="none" strike="noStrike" kern="1200" cap="none" spc="0" normalizeH="0" baseline="0" noProof="0" dirty="0" smtClean="0">
                <a:ln>
                  <a:noFill/>
                </a:ln>
                <a:solidFill>
                  <a:schemeClr val="bg1"/>
                </a:solidFill>
                <a:effectLst/>
                <a:uLnTx/>
                <a:uFillTx/>
                <a:latin typeface="Arial" panose="020B0604020202020204" pitchFamily="34" charset="0"/>
                <a:ea typeface="宋体" panose="02010600030101010101" pitchFamily="2" charset="-122"/>
                <a:cs typeface="+mn-cs"/>
              </a:rPr>
              <a:t>学期</a:t>
            </a:r>
            <a:endParaRPr kumimoji="0" lang="zh-CN" altLang="en-US" sz="1600" b="1" i="0" u="none" strike="noStrike" kern="1200" cap="none" spc="0" normalizeH="0" baseline="0" noProof="0" dirty="0" smtClean="0">
              <a:ln>
                <a:noFill/>
              </a:ln>
              <a:solidFill>
                <a:schemeClr val="bg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sldNum="0" hdr="0" ftr="0" dt="0"/>
  <p:txStyles>
    <p:titleStyle>
      <a:lvl1pPr marL="0" lvl="0" indent="0" algn="l" defTabSz="914400" eaLnBrk="0" fontAlgn="base" latinLnBrk="0" hangingPunct="0">
        <a:lnSpc>
          <a:spcPct val="100000"/>
        </a:lnSpc>
        <a:spcBef>
          <a:spcPct val="0"/>
        </a:spcBef>
        <a:spcAft>
          <a:spcPct val="0"/>
        </a:spcAft>
        <a:buClr>
          <a:srgbClr val="000000"/>
        </a:buClr>
        <a:buNone/>
        <a:defRPr sz="3200" b="1" i="0" u="none" kern="1200" baseline="0">
          <a:solidFill>
            <a:srgbClr val="3333CC"/>
          </a:solidFill>
          <a:latin typeface="+mj-lt"/>
          <a:ea typeface="+mj-ea"/>
          <a:cs typeface="+mj-cs"/>
        </a:defRPr>
      </a:lvl1pPr>
    </p:titleStyle>
    <p:body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2000" b="1" i="0" u="none" kern="1200" baseline="0">
          <a:solidFill>
            <a:schemeClr val="tx1"/>
          </a:solidFill>
          <a:latin typeface="+mn-lt"/>
          <a:ea typeface="+mn-ea"/>
          <a:cs typeface="+mn-cs"/>
        </a:defRPr>
      </a:lvl1pPr>
      <a:lvl2pPr marL="742950" lvl="1" indent="-285750" algn="l" defTabSz="91440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l"/>
        <a:defRPr sz="2800" b="1" i="0" u="none" kern="1200" baseline="0">
          <a:solidFill>
            <a:schemeClr val="tx1"/>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Clr>
          <a:schemeClr val="accent2"/>
        </a:buClr>
        <a:buSzPct val="60000"/>
        <a:buFont typeface="Wingdings" panose="05000000000000000000" pitchFamily="2" charset="2"/>
        <a:buChar char="l"/>
        <a:defRPr sz="1600" b="1" i="0"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9pPr>
    </p:bodyStyle>
    <p:otherStyle>
      <a:lvl1pPr marL="0" lvl="0" indent="0" algn="l" defTabSz="91440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CECFF"/>
            </a:gs>
          </a:gsLst>
          <a:lin ang="5400000" scaled="1"/>
          <a:tileRect/>
        </a:gradFill>
        <a:effectLst/>
      </p:bgPr>
    </p:bg>
    <p:spTree>
      <p:nvGrpSpPr>
        <p:cNvPr id="1" name=""/>
        <p:cNvGrpSpPr/>
        <p:nvPr/>
      </p:nvGrpSpPr>
      <p:grpSpPr>
        <a:xfrm>
          <a:off x="0" y="0"/>
          <a:ext cx="0" cy="0"/>
          <a:chOff x="0" y="0"/>
          <a:chExt cx="0" cy="0"/>
        </a:xfrm>
      </p:grpSpPr>
      <p:sp>
        <p:nvSpPr>
          <p:cNvPr id="2050" name="Rectangle 2"/>
          <p:cNvSpPr/>
          <p:nvPr userDrawn="1"/>
        </p:nvSpPr>
        <p:spPr>
          <a:xfrm>
            <a:off x="-12700" y="6489700"/>
            <a:ext cx="9156700" cy="368300"/>
          </a:xfrm>
          <a:prstGeom prst="rect">
            <a:avLst/>
          </a:prstGeom>
          <a:solidFill>
            <a:schemeClr val="accent2">
              <a:alpha val="81000"/>
            </a:schemeClr>
          </a:solidFill>
          <a:ln w="9525" cap="flat" cmpd="sng">
            <a:solidFill>
              <a:schemeClr val="tx1"/>
            </a:solidFill>
            <a:prstDash val="solid"/>
            <a:miter/>
            <a:headEnd type="none" w="med" len="med"/>
            <a:tailEnd type="none" w="med" len="med"/>
          </a:ln>
        </p:spPr>
        <p:txBody>
          <a:bodyPr wrap="none" anchor="ctr"/>
          <a:lstStyle/>
          <a:p>
            <a:pPr lvl="0" indent="0">
              <a:lnSpc>
                <a:spcPct val="135000"/>
              </a:lnSpc>
              <a:buChar char="•"/>
            </a:pPr>
            <a:endParaRPr lang="zh-CN" altLang="en-US" dirty="0">
              <a:latin typeface="Arial" panose="020B0604020202020204" pitchFamily="34" charset="0"/>
              <a:ea typeface="宋体" panose="02010600030101010101" pitchFamily="2" charset="-122"/>
            </a:endParaRPr>
          </a:p>
        </p:txBody>
      </p:sp>
      <p:sp>
        <p:nvSpPr>
          <p:cNvPr id="2052" name="Rectangle 4"/>
          <p:cNvSpPr/>
          <p:nvPr userDrawn="1"/>
        </p:nvSpPr>
        <p:spPr>
          <a:xfrm>
            <a:off x="282575" y="774700"/>
            <a:ext cx="8582025" cy="50800"/>
          </a:xfrm>
          <a:prstGeom prst="rect">
            <a:avLst/>
          </a:prstGeom>
          <a:gradFill rotWithShape="1">
            <a:gsLst>
              <a:gs pos="0">
                <a:srgbClr val="FFFF00"/>
              </a:gs>
              <a:gs pos="50000">
                <a:srgbClr val="FF0066"/>
              </a:gs>
              <a:gs pos="100000">
                <a:srgbClr val="FFFF00"/>
              </a:gs>
            </a:gsLst>
            <a:lin ang="0" scaled="1"/>
            <a:tileRect/>
          </a:gradFill>
          <a:ln w="9525">
            <a:noFill/>
          </a:ln>
        </p:spPr>
        <p:txBody>
          <a:bodyPr wrap="none" anchor="ctr"/>
          <a:lstStyle/>
          <a:p>
            <a:pPr lvl="0" indent="0">
              <a:lnSpc>
                <a:spcPct val="135000"/>
              </a:lnSpc>
              <a:buChar char="•"/>
            </a:pPr>
            <a:endParaRPr lang="zh-CN" altLang="en-US" dirty="0">
              <a:latin typeface="Arial" panose="020B0604020202020204" pitchFamily="34" charset="0"/>
              <a:ea typeface="宋体" panose="02010600030101010101" pitchFamily="2" charset="-122"/>
            </a:endParaRPr>
          </a:p>
        </p:txBody>
      </p:sp>
      <p:sp>
        <p:nvSpPr>
          <p:cNvPr id="2053" name="Rectangle 5"/>
          <p:cNvSpPr/>
          <p:nvPr userDrawn="1"/>
        </p:nvSpPr>
        <p:spPr>
          <a:xfrm>
            <a:off x="8178800" y="6511925"/>
            <a:ext cx="889000" cy="269875"/>
          </a:xfrm>
          <a:prstGeom prst="rect">
            <a:avLst/>
          </a:prstGeom>
          <a:noFill/>
          <a:ln w="9525">
            <a:noFill/>
          </a:ln>
        </p:spPr>
        <p:txBody>
          <a:bodyPr anchor="t"/>
          <a:lstStyle/>
          <a:p>
            <a:pPr lvl="0" indent="0" algn="r"/>
            <a:fld id="{9A0DB2DC-4C9A-4742-B13C-FB6460FD3503}" type="slidenum">
              <a:rPr lang="en-US" altLang="x-none" sz="1400" b="0" dirty="0">
                <a:solidFill>
                  <a:schemeClr val="bg1"/>
                </a:solidFill>
                <a:latin typeface="Arial" panose="020B0604020202020204" pitchFamily="34" charset="0"/>
                <a:ea typeface="楷体_GB2312"/>
              </a:rPr>
            </a:fld>
            <a:endParaRPr lang="en-US" altLang="x-none" sz="1400" b="0" dirty="0">
              <a:solidFill>
                <a:schemeClr val="bg1"/>
              </a:solidFill>
              <a:latin typeface="Arial" panose="020B0604020202020204" pitchFamily="34" charset="0"/>
              <a:ea typeface="楷体_GB2312"/>
            </a:endParaRPr>
          </a:p>
        </p:txBody>
      </p:sp>
      <p:sp>
        <p:nvSpPr>
          <p:cNvPr id="2054" name="Rectangle 6"/>
          <p:cNvSpPr/>
          <p:nvPr userDrawn="1"/>
        </p:nvSpPr>
        <p:spPr>
          <a:xfrm>
            <a:off x="309563" y="174625"/>
            <a:ext cx="7237412" cy="560388"/>
          </a:xfrm>
          <a:prstGeom prst="rect">
            <a:avLst/>
          </a:prstGeom>
          <a:noFill/>
          <a:ln w="9525">
            <a:noFill/>
          </a:ln>
        </p:spPr>
        <p:txBody>
          <a:bodyPr anchor="t"/>
          <a:lstStyle/>
          <a:p>
            <a:pPr lvl="0" indent="0"/>
            <a:r>
              <a:rPr lang="en-US" altLang="x-none" sz="2800" dirty="0">
                <a:solidFill>
                  <a:srgbClr val="FF0000"/>
                </a:solidFill>
                <a:latin typeface="Times New Roman" panose="02020603050405020304" pitchFamily="2" charset="0"/>
                <a:ea typeface="宋体" panose="02010600030101010101" pitchFamily="2" charset="-122"/>
              </a:rPr>
              <a:t>Principle and Design of Database</a:t>
            </a:r>
            <a:endParaRPr lang="en-US" altLang="x-none" sz="2000" dirty="0">
              <a:solidFill>
                <a:srgbClr val="FF0000"/>
              </a:solidFill>
              <a:latin typeface="Times New Roman" panose="02020603050405020304" pitchFamily="2" charset="0"/>
              <a:ea typeface="宋体" panose="02010600030101010101" pitchFamily="2" charset="-122"/>
            </a:endParaRPr>
          </a:p>
          <a:p>
            <a:pPr lvl="0" indent="0"/>
            <a:endParaRPr lang="en-US" altLang="x-none" sz="2800" dirty="0">
              <a:solidFill>
                <a:srgbClr val="FF3300"/>
              </a:solidFill>
              <a:latin typeface="黑体" panose="02010609060101010101" pitchFamily="1" charset="-122"/>
              <a:ea typeface="黑体" panose="02010609060101010101" pitchFamily="1" charset="-122"/>
            </a:endParaRPr>
          </a:p>
        </p:txBody>
      </p:sp>
      <p:sp>
        <p:nvSpPr>
          <p:cNvPr id="2055" name="Rectangle 14"/>
          <p:cNvSpPr>
            <a:spLocks noGrp="1"/>
          </p:cNvSpPr>
          <p:nvPr>
            <p:ph type="body"/>
          </p:nvPr>
        </p:nvSpPr>
        <p:spPr>
          <a:xfrm>
            <a:off x="457200" y="996950"/>
            <a:ext cx="8229600" cy="5129213"/>
          </a:xfrm>
          <a:prstGeom prst="rect">
            <a:avLst/>
          </a:prstGeom>
          <a:noFill/>
          <a:ln w="9525">
            <a:noFill/>
          </a:ln>
        </p:spPr>
        <p:txBody>
          <a:bodyPr anchor="t"/>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2056" name="Rectangle 15"/>
          <p:cNvSpPr>
            <a:spLocks noGrp="1"/>
          </p:cNvSpPr>
          <p:nvPr>
            <p:ph type="title"/>
          </p:nvPr>
        </p:nvSpPr>
        <p:spPr>
          <a:xfrm>
            <a:off x="457200" y="144463"/>
            <a:ext cx="8229600" cy="577850"/>
          </a:xfrm>
          <a:prstGeom prst="rect">
            <a:avLst/>
          </a:prstGeom>
          <a:noFill/>
          <a:ln w="9525">
            <a:noFill/>
          </a:ln>
        </p:spPr>
        <p:txBody>
          <a:bodyPr anchor="ctr"/>
          <a:lstStyle/>
          <a:p>
            <a:pPr lvl="0" indent="0"/>
            <a:r>
              <a:rPr lang="zh-CN" altLang="en-US"/>
              <a:t>单击此处编辑母版标题样式</a:t>
            </a:r>
            <a:endParaRPr lang="zh-CN" altLang="en-US"/>
          </a:p>
        </p:txBody>
      </p:sp>
      <p:sp>
        <p:nvSpPr>
          <p:cNvPr id="1027" name="Rectangle 6"/>
          <p:cNvSpPr>
            <a:spLocks noChangeArrowheads="1"/>
          </p:cNvSpPr>
          <p:nvPr userDrawn="1"/>
        </p:nvSpPr>
        <p:spPr bwMode="auto">
          <a:xfrm>
            <a:off x="2463800" y="6472238"/>
            <a:ext cx="4240213" cy="386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1600" b="1" i="0" u="none" strike="noStrike" kern="1200" cap="none" spc="0" normalizeH="0" baseline="0" noProof="0" dirty="0" smtClean="0">
                <a:ln>
                  <a:noFill/>
                </a:ln>
                <a:solidFill>
                  <a:schemeClr val="bg1"/>
                </a:solidFill>
                <a:effectLst/>
                <a:uLnTx/>
                <a:uFillTx/>
                <a:latin typeface="Arial" panose="020B0604020202020204" pitchFamily="34" charset="0"/>
                <a:ea typeface="宋体" panose="02010600030101010101" pitchFamily="2" charset="-122"/>
                <a:cs typeface="+mn-cs"/>
              </a:rPr>
              <a:t>2025~2026</a:t>
            </a:r>
            <a:r>
              <a:rPr kumimoji="0" lang="zh-CN" altLang="en-US" sz="1600" b="1" i="0" u="none" strike="noStrike" kern="1200" cap="none" spc="0" normalizeH="0" baseline="0" noProof="0" dirty="0" smtClean="0">
                <a:ln>
                  <a:noFill/>
                </a:ln>
                <a:solidFill>
                  <a:schemeClr val="bg1"/>
                </a:solidFill>
                <a:effectLst/>
                <a:uLnTx/>
                <a:uFillTx/>
                <a:latin typeface="Arial" panose="020B0604020202020204" pitchFamily="34" charset="0"/>
                <a:ea typeface="宋体" panose="02010600030101010101" pitchFamily="2" charset="-122"/>
                <a:cs typeface="+mn-cs"/>
              </a:rPr>
              <a:t>年度第</a:t>
            </a:r>
            <a:r>
              <a:rPr kumimoji="0" lang="en-US" altLang="zh-CN" sz="1600" b="1" i="0" u="none" strike="noStrike" kern="1200" cap="none" spc="0" normalizeH="0" baseline="0" noProof="0" dirty="0" smtClean="0">
                <a:ln>
                  <a:noFill/>
                </a:ln>
                <a:solidFill>
                  <a:schemeClr val="bg1"/>
                </a:solidFill>
                <a:effectLst/>
                <a:uLnTx/>
                <a:uFillTx/>
                <a:latin typeface="Arial" panose="020B0604020202020204" pitchFamily="34" charset="0"/>
                <a:ea typeface="宋体" panose="02010600030101010101" pitchFamily="2" charset="-122"/>
                <a:cs typeface="+mn-cs"/>
              </a:rPr>
              <a:t>2</a:t>
            </a:r>
            <a:r>
              <a:rPr kumimoji="0" lang="zh-CN" altLang="en-US" sz="1600" b="1" i="0" u="none" strike="noStrike" kern="1200" cap="none" spc="0" normalizeH="0" baseline="0" noProof="0" dirty="0" smtClean="0">
                <a:ln>
                  <a:noFill/>
                </a:ln>
                <a:solidFill>
                  <a:schemeClr val="bg1"/>
                </a:solidFill>
                <a:effectLst/>
                <a:uLnTx/>
                <a:uFillTx/>
                <a:latin typeface="Arial" panose="020B0604020202020204" pitchFamily="34" charset="0"/>
                <a:ea typeface="宋体" panose="02010600030101010101" pitchFamily="2" charset="-122"/>
                <a:cs typeface="+mn-cs"/>
              </a:rPr>
              <a:t>学期</a:t>
            </a:r>
            <a:endParaRPr kumimoji="0" lang="zh-CN" altLang="en-US" sz="1600" b="1" i="0" u="none" strike="noStrike" kern="1200" cap="none" spc="0" normalizeH="0" baseline="0" noProof="0" dirty="0" smtClean="0">
              <a:ln>
                <a:noFill/>
              </a:ln>
              <a:solidFill>
                <a:schemeClr val="bg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hf sldNum="0" hdr="0" ftr="0" dt="0"/>
  <p:txStyles>
    <p:titleStyle>
      <a:lvl1pPr marL="0" lvl="0" indent="0" algn="l" defTabSz="914400" eaLnBrk="0" fontAlgn="base" latinLnBrk="0" hangingPunct="0">
        <a:lnSpc>
          <a:spcPct val="100000"/>
        </a:lnSpc>
        <a:spcBef>
          <a:spcPct val="0"/>
        </a:spcBef>
        <a:spcAft>
          <a:spcPct val="0"/>
        </a:spcAft>
        <a:buClr>
          <a:srgbClr val="000000"/>
        </a:buClr>
        <a:buNone/>
        <a:defRPr sz="3200" b="1" i="0" u="none" kern="1200" baseline="0">
          <a:solidFill>
            <a:srgbClr val="3333CC"/>
          </a:solidFill>
          <a:latin typeface="+mj-lt"/>
          <a:ea typeface="+mj-ea"/>
          <a:cs typeface="+mj-cs"/>
        </a:defRPr>
      </a:lvl1pPr>
    </p:titleStyle>
    <p:body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2000" b="1" i="0" u="none" kern="1200" baseline="0">
          <a:solidFill>
            <a:schemeClr val="tx1"/>
          </a:solidFill>
          <a:latin typeface="+mn-lt"/>
          <a:ea typeface="+mn-ea"/>
          <a:cs typeface="+mn-cs"/>
        </a:defRPr>
      </a:lvl1pPr>
      <a:lvl2pPr marL="742950" lvl="1" indent="-285750" algn="l" defTabSz="91440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l"/>
        <a:defRPr sz="2800" b="1" i="0" u="none" kern="1200" baseline="0">
          <a:solidFill>
            <a:schemeClr val="tx1"/>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Clr>
          <a:schemeClr val="accent2"/>
        </a:buClr>
        <a:buSzPct val="60000"/>
        <a:buFont typeface="Wingdings" panose="05000000000000000000" pitchFamily="2" charset="2"/>
        <a:buChar char="l"/>
        <a:defRPr sz="1600" b="1" i="0"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9pPr>
    </p:bodyStyle>
    <p:otherStyle>
      <a:lvl1pPr marL="0" lvl="0" indent="0" algn="l" defTabSz="91440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w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8.wmf"/><Relationship Id="rId1" Type="http://schemas.openxmlformats.org/officeDocument/2006/relationships/oleObject" Target="../embeddings/oleObject1.bin"/></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7.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2.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8.wmf"/><Relationship Id="rId1" Type="http://schemas.openxmlformats.org/officeDocument/2006/relationships/oleObject" Target="../embeddings/oleObject2.bin"/></Relationships>
</file>

<file path=ppt/slides/_rels/slide38.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18.wmf"/><Relationship Id="rId1" Type="http://schemas.openxmlformats.org/officeDocument/2006/relationships/oleObject" Target="../embeddings/oleObject3.bin"/></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7.xml"/><Relationship Id="rId2" Type="http://schemas.openxmlformats.org/officeDocument/2006/relationships/image" Target="../media/image19.wmf"/><Relationship Id="rId1" Type="http://schemas.openxmlformats.org/officeDocument/2006/relationships/oleObject" Target="../embeddings/oleObject4.bin"/></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7.xml"/><Relationship Id="rId4" Type="http://schemas.openxmlformats.org/officeDocument/2006/relationships/image" Target="../media/image21.wmf"/><Relationship Id="rId3" Type="http://schemas.openxmlformats.org/officeDocument/2006/relationships/oleObject" Target="../embeddings/oleObject6.bin"/><Relationship Id="rId2" Type="http://schemas.openxmlformats.org/officeDocument/2006/relationships/image" Target="../media/image20.wmf"/><Relationship Id="rId1" Type="http://schemas.openxmlformats.org/officeDocument/2006/relationships/oleObject" Target="../embeddings/oleObject5.bin"/></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6" Type="http://schemas.openxmlformats.org/officeDocument/2006/relationships/vmlDrawing" Target="../drawings/vmlDrawing6.vml"/><Relationship Id="rId5" Type="http://schemas.openxmlformats.org/officeDocument/2006/relationships/slideLayout" Target="../slideLayouts/slideLayout7.xml"/><Relationship Id="rId4" Type="http://schemas.openxmlformats.org/officeDocument/2006/relationships/image" Target="../media/image21.wmf"/><Relationship Id="rId3" Type="http://schemas.openxmlformats.org/officeDocument/2006/relationships/oleObject" Target="../embeddings/oleObject8.bin"/><Relationship Id="rId2" Type="http://schemas.openxmlformats.org/officeDocument/2006/relationships/image" Target="../media/image20.wmf"/><Relationship Id="rId1" Type="http://schemas.openxmlformats.org/officeDocument/2006/relationships/oleObject" Target="../embeddings/oleObject7.bin"/></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7.xml"/><Relationship Id="rId2" Type="http://schemas.openxmlformats.org/officeDocument/2006/relationships/image" Target="../media/image24.wmf"/><Relationship Id="rId1" Type="http://schemas.openxmlformats.org/officeDocument/2006/relationships/oleObject" Target="../embeddings/oleObject9.bin"/></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7.xml"/><Relationship Id="rId2" Type="http://schemas.openxmlformats.org/officeDocument/2006/relationships/image" Target="../media/image25.wmf"/><Relationship Id="rId1" Type="http://schemas.openxmlformats.org/officeDocument/2006/relationships/oleObject" Target="../embeddings/oleObject10.bin"/></Relationships>
</file>

<file path=ppt/slides/_rels/slide67.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7.xml"/><Relationship Id="rId2" Type="http://schemas.openxmlformats.org/officeDocument/2006/relationships/image" Target="../media/image26.wmf"/><Relationship Id="rId1" Type="http://schemas.openxmlformats.org/officeDocument/2006/relationships/oleObject" Target="../embeddings/oleObject11.bin"/></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7.xml"/><Relationship Id="rId2" Type="http://schemas.openxmlformats.org/officeDocument/2006/relationships/image" Target="../media/image27.wmf"/><Relationship Id="rId1" Type="http://schemas.openxmlformats.org/officeDocument/2006/relationships/oleObject" Target="../embeddings/oleObject12.bin"/></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7.xml"/><Relationship Id="rId2" Type="http://schemas.openxmlformats.org/officeDocument/2006/relationships/image" Target="../media/image28.wmf"/><Relationship Id="rId1" Type="http://schemas.openxmlformats.org/officeDocument/2006/relationships/oleObject" Target="../embeddings/oleObject13.bin"/></Relationships>
</file>

<file path=ppt/slides/_rels/slide72.xml.rels><?xml version="1.0" encoding="UTF-8" standalone="yes"?>
<Relationships xmlns="http://schemas.openxmlformats.org/package/2006/relationships"><Relationship Id="rId8" Type="http://schemas.openxmlformats.org/officeDocument/2006/relationships/vmlDrawing" Target="../drawings/vmlDrawing12.vml"/><Relationship Id="rId7" Type="http://schemas.openxmlformats.org/officeDocument/2006/relationships/slideLayout" Target="../slideLayouts/slideLayout7.xml"/><Relationship Id="rId6" Type="http://schemas.openxmlformats.org/officeDocument/2006/relationships/image" Target="../media/image31.wmf"/><Relationship Id="rId5" Type="http://schemas.openxmlformats.org/officeDocument/2006/relationships/oleObject" Target="../embeddings/oleObject16.bin"/><Relationship Id="rId4" Type="http://schemas.openxmlformats.org/officeDocument/2006/relationships/image" Target="../media/image30.wmf"/><Relationship Id="rId3" Type="http://schemas.openxmlformats.org/officeDocument/2006/relationships/oleObject" Target="../embeddings/oleObject15.bin"/><Relationship Id="rId2" Type="http://schemas.openxmlformats.org/officeDocument/2006/relationships/image" Target="../media/image29.wmf"/><Relationship Id="rId1" Type="http://schemas.openxmlformats.org/officeDocument/2006/relationships/oleObject" Target="../embeddings/oleObject14.bin"/></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7.xml"/><Relationship Id="rId2" Type="http://schemas.openxmlformats.org/officeDocument/2006/relationships/image" Target="../media/image32.wmf"/><Relationship Id="rId1" Type="http://schemas.openxmlformats.org/officeDocument/2006/relationships/oleObject" Target="../embeddings/oleObject17.bin"/></Relationships>
</file>

<file path=ppt/slides/_rels/slide75.xml.rels><?xml version="1.0" encoding="UTF-8" standalone="yes"?>
<Relationships xmlns="http://schemas.openxmlformats.org/package/2006/relationships"><Relationship Id="rId6" Type="http://schemas.openxmlformats.org/officeDocument/2006/relationships/vmlDrawing" Target="../drawings/vmlDrawing14.vml"/><Relationship Id="rId5" Type="http://schemas.openxmlformats.org/officeDocument/2006/relationships/slideLayout" Target="../slideLayouts/slideLayout7.xml"/><Relationship Id="rId4" Type="http://schemas.openxmlformats.org/officeDocument/2006/relationships/image" Target="../media/image34.wmf"/><Relationship Id="rId3" Type="http://schemas.openxmlformats.org/officeDocument/2006/relationships/oleObject" Target="../embeddings/oleObject19.bin"/><Relationship Id="rId2" Type="http://schemas.openxmlformats.org/officeDocument/2006/relationships/image" Target="../media/image33.wmf"/><Relationship Id="rId1" Type="http://schemas.openxmlformats.org/officeDocument/2006/relationships/oleObject" Target="../embeddings/oleObject18.bin"/></Relationships>
</file>

<file path=ppt/slides/_rels/slide76.xml.rels><?xml version="1.0" encoding="UTF-8" standalone="yes"?>
<Relationships xmlns="http://schemas.openxmlformats.org/package/2006/relationships"><Relationship Id="rId4" Type="http://schemas.openxmlformats.org/officeDocument/2006/relationships/vmlDrawing" Target="../drawings/vmlDrawing15.vml"/><Relationship Id="rId3" Type="http://schemas.openxmlformats.org/officeDocument/2006/relationships/slideLayout" Target="../slideLayouts/slideLayout7.xml"/><Relationship Id="rId2" Type="http://schemas.openxmlformats.org/officeDocument/2006/relationships/image" Target="../media/image35.wmf"/><Relationship Id="rId1" Type="http://schemas.openxmlformats.org/officeDocument/2006/relationships/oleObject" Target="../embeddings/oleObject20.bin"/></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4" Type="http://schemas.openxmlformats.org/officeDocument/2006/relationships/vmlDrawing" Target="../drawings/vmlDrawing16.vml"/><Relationship Id="rId3" Type="http://schemas.openxmlformats.org/officeDocument/2006/relationships/slideLayout" Target="../slideLayouts/slideLayout7.xml"/><Relationship Id="rId2" Type="http://schemas.openxmlformats.org/officeDocument/2006/relationships/image" Target="../media/image36.wmf"/><Relationship Id="rId1" Type="http://schemas.openxmlformats.org/officeDocument/2006/relationships/oleObject" Target="../embeddings/oleObject21.bin"/></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4" Type="http://schemas.openxmlformats.org/officeDocument/2006/relationships/vmlDrawing" Target="../drawings/vmlDrawing17.vml"/><Relationship Id="rId3" Type="http://schemas.openxmlformats.org/officeDocument/2006/relationships/slideLayout" Target="../slideLayouts/slideLayout7.xml"/><Relationship Id="rId2" Type="http://schemas.openxmlformats.org/officeDocument/2006/relationships/image" Target="../media/image37.wmf"/><Relationship Id="rId1" Type="http://schemas.openxmlformats.org/officeDocument/2006/relationships/oleObject" Target="../embeddings/oleObject22.bin"/></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4" Type="http://schemas.openxmlformats.org/officeDocument/2006/relationships/vmlDrawing" Target="../drawings/vmlDrawing18.vml"/><Relationship Id="rId3" Type="http://schemas.openxmlformats.org/officeDocument/2006/relationships/slideLayout" Target="../slideLayouts/slideLayout7.xml"/><Relationship Id="rId2" Type="http://schemas.openxmlformats.org/officeDocument/2006/relationships/image" Target="../media/image38.emf"/><Relationship Id="rId1" Type="http://schemas.openxmlformats.org/officeDocument/2006/relationships/oleObject" Target="../embeddings/oleObject23.bin"/></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4" Type="http://schemas.openxmlformats.org/officeDocument/2006/relationships/vmlDrawing" Target="../drawings/vmlDrawing19.vml"/><Relationship Id="rId3" Type="http://schemas.openxmlformats.org/officeDocument/2006/relationships/slideLayout" Target="../slideLayouts/slideLayout7.xml"/><Relationship Id="rId2" Type="http://schemas.openxmlformats.org/officeDocument/2006/relationships/image" Target="../media/image39.emf"/><Relationship Id="rId1" Type="http://schemas.openxmlformats.org/officeDocument/2006/relationships/oleObject" Target="../embeddings/oleObject24.bin"/></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6" Type="http://schemas.openxmlformats.org/officeDocument/2006/relationships/vmlDrawing" Target="../drawings/vmlDrawing20.vml"/><Relationship Id="rId5" Type="http://schemas.openxmlformats.org/officeDocument/2006/relationships/slideLayout" Target="../slideLayouts/slideLayout7.xml"/><Relationship Id="rId4" Type="http://schemas.openxmlformats.org/officeDocument/2006/relationships/image" Target="../media/image41.wmf"/><Relationship Id="rId3" Type="http://schemas.openxmlformats.org/officeDocument/2006/relationships/oleObject" Target="../embeddings/oleObject26.bin"/><Relationship Id="rId2" Type="http://schemas.openxmlformats.org/officeDocument/2006/relationships/image" Target="../media/image40.wmf"/><Relationship Id="rId1" Type="http://schemas.openxmlformats.org/officeDocument/2006/relationships/oleObject" Target="../embeddings/oleObject25.bin"/></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4" Type="http://schemas.openxmlformats.org/officeDocument/2006/relationships/vmlDrawing" Target="../drawings/vmlDrawing21.vml"/><Relationship Id="rId3" Type="http://schemas.openxmlformats.org/officeDocument/2006/relationships/slideLayout" Target="../slideLayouts/slideLayout7.xml"/><Relationship Id="rId2" Type="http://schemas.openxmlformats.org/officeDocument/2006/relationships/image" Target="../media/image42.wmf"/><Relationship Id="rId1" Type="http://schemas.openxmlformats.org/officeDocument/2006/relationships/oleObject" Target="../embeddings/oleObject27.bin"/></Relationships>
</file>

<file path=ppt/slides/_rels/slide112.xml.rels><?xml version="1.0" encoding="UTF-8" standalone="yes"?>
<Relationships xmlns="http://schemas.openxmlformats.org/package/2006/relationships"><Relationship Id="rId4" Type="http://schemas.openxmlformats.org/officeDocument/2006/relationships/vmlDrawing" Target="../drawings/vmlDrawing22.vml"/><Relationship Id="rId3" Type="http://schemas.openxmlformats.org/officeDocument/2006/relationships/slideLayout" Target="../slideLayouts/slideLayout7.xml"/><Relationship Id="rId2" Type="http://schemas.openxmlformats.org/officeDocument/2006/relationships/image" Target="../media/image43.wmf"/><Relationship Id="rId1" Type="http://schemas.openxmlformats.org/officeDocument/2006/relationships/oleObject" Target="../embeddings/oleObject28.bin"/></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4" Type="http://schemas.openxmlformats.org/officeDocument/2006/relationships/vmlDrawing" Target="../drawings/vmlDrawing23.vml"/><Relationship Id="rId3" Type="http://schemas.openxmlformats.org/officeDocument/2006/relationships/slideLayout" Target="../slideLayouts/slideLayout7.xml"/><Relationship Id="rId2" Type="http://schemas.openxmlformats.org/officeDocument/2006/relationships/image" Target="../media/image44.wmf"/><Relationship Id="rId1" Type="http://schemas.openxmlformats.org/officeDocument/2006/relationships/oleObject" Target="../embeddings/oleObject29.bin"/></Relationships>
</file>

<file path=ppt/slides/_rels/slide116.xml.rels><?xml version="1.0" encoding="UTF-8" standalone="yes"?>
<Relationships xmlns="http://schemas.openxmlformats.org/package/2006/relationships"><Relationship Id="rId6" Type="http://schemas.openxmlformats.org/officeDocument/2006/relationships/vmlDrawing" Target="../drawings/vmlDrawing24.vml"/><Relationship Id="rId5" Type="http://schemas.openxmlformats.org/officeDocument/2006/relationships/slideLayout" Target="../slideLayouts/slideLayout7.xml"/><Relationship Id="rId4" Type="http://schemas.openxmlformats.org/officeDocument/2006/relationships/image" Target="../media/image46.wmf"/><Relationship Id="rId3" Type="http://schemas.openxmlformats.org/officeDocument/2006/relationships/oleObject" Target="../embeddings/oleObject31.bin"/><Relationship Id="rId2" Type="http://schemas.openxmlformats.org/officeDocument/2006/relationships/image" Target="../media/image45.wmf"/><Relationship Id="rId1" Type="http://schemas.openxmlformats.org/officeDocument/2006/relationships/oleObject" Target="../embeddings/oleObject30.bin"/></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4" Type="http://schemas.openxmlformats.org/officeDocument/2006/relationships/vmlDrawing" Target="../drawings/vmlDrawing25.vml"/><Relationship Id="rId3" Type="http://schemas.openxmlformats.org/officeDocument/2006/relationships/slideLayout" Target="../slideLayouts/slideLayout7.xml"/><Relationship Id="rId2" Type="http://schemas.openxmlformats.org/officeDocument/2006/relationships/image" Target="../media/image47.wmf"/><Relationship Id="rId1" Type="http://schemas.openxmlformats.org/officeDocument/2006/relationships/oleObject" Target="../embeddings/oleObject32.bin"/></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6" Type="http://schemas.openxmlformats.org/officeDocument/2006/relationships/vmlDrawing" Target="../drawings/vmlDrawing26.vml"/><Relationship Id="rId5" Type="http://schemas.openxmlformats.org/officeDocument/2006/relationships/slideLayout" Target="../slideLayouts/slideLayout7.xml"/><Relationship Id="rId4" Type="http://schemas.openxmlformats.org/officeDocument/2006/relationships/image" Target="../media/image49.wmf"/><Relationship Id="rId3" Type="http://schemas.openxmlformats.org/officeDocument/2006/relationships/oleObject" Target="../embeddings/oleObject34.bin"/><Relationship Id="rId2" Type="http://schemas.openxmlformats.org/officeDocument/2006/relationships/image" Target="../media/image48.wmf"/><Relationship Id="rId1" Type="http://schemas.openxmlformats.org/officeDocument/2006/relationships/oleObject" Target="../embeddings/oleObject33.bin"/></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AutoShape 51"/>
          <p:cNvSpPr/>
          <p:nvPr/>
        </p:nvSpPr>
        <p:spPr>
          <a:xfrm>
            <a:off x="1481138" y="1495425"/>
            <a:ext cx="6502400" cy="928688"/>
          </a:xfrm>
          <a:prstGeom prst="roundRect">
            <a:avLst>
              <a:gd name="adj" fmla="val 50000"/>
            </a:avLst>
          </a:prstGeom>
          <a:solidFill>
            <a:srgbClr val="99CCFF"/>
          </a:solidFill>
          <a:ln w="28575" cap="flat" cmpd="sng">
            <a:solidFill>
              <a:srgbClr val="C0C0C0"/>
            </a:solidFill>
            <a:prstDash val="solid"/>
            <a:round/>
            <a:headEnd type="none" w="med" len="med"/>
            <a:tailEnd type="none" w="med" len="med"/>
          </a:ln>
        </p:spPr>
        <p:txBody>
          <a:bodyPr anchor="ctr"/>
          <a:lstStyle/>
          <a:p>
            <a:pPr lvl="0" indent="0" algn="ctr" eaLnBrk="0" hangingPunct="0">
              <a:lnSpc>
                <a:spcPct val="125000"/>
              </a:lnSpc>
              <a:spcBef>
                <a:spcPct val="50000"/>
              </a:spcBef>
            </a:pPr>
            <a:r>
              <a:rPr lang="zh-CN" altLang="en-US" sz="3200" dirty="0">
                <a:latin typeface="Times New Roman" panose="02020603050405020304" pitchFamily="2" charset="0"/>
                <a:ea typeface="楷体_GB2312"/>
              </a:rPr>
              <a:t>第五章：数据库的保护</a:t>
            </a:r>
            <a:endParaRPr lang="en-US" altLang="x-none" sz="3200" dirty="0">
              <a:latin typeface="Times New Roman" panose="02020603050405020304" pitchFamily="2" charset="0"/>
              <a:ea typeface="楷体_GB2312"/>
            </a:endParaRPr>
          </a:p>
        </p:txBody>
      </p:sp>
      <p:sp>
        <p:nvSpPr>
          <p:cNvPr id="5122" name="Rectangle 7"/>
          <p:cNvSpPr>
            <a:spLocks noGrp="1"/>
          </p:cNvSpPr>
          <p:nvPr>
            <p:ph type="body"/>
          </p:nvPr>
        </p:nvSpPr>
        <p:spPr>
          <a:xfrm>
            <a:off x="1538288" y="3473450"/>
            <a:ext cx="6429375" cy="1919288"/>
          </a:xfrm>
        </p:spPr>
        <p:txBody>
          <a:bodyPr wrap="square" lIns="0" tIns="0" rIns="0" bIns="0" anchor="t"/>
          <a:lstStyle/>
          <a:p>
            <a:pPr marL="342900" lvl="1" indent="-342900">
              <a:lnSpc>
                <a:spcPct val="110000"/>
              </a:lnSpc>
              <a:spcBef>
                <a:spcPts val="300"/>
              </a:spcBef>
              <a:buClr>
                <a:srgbClr val="0033CC"/>
              </a:buClr>
            </a:pPr>
            <a:r>
              <a:rPr lang="zh-CN" altLang="en-US" sz="2400"/>
              <a:t>数据库保护概况</a:t>
            </a:r>
            <a:endParaRPr lang="zh-CN" altLang="en-US" sz="2400"/>
          </a:p>
          <a:p>
            <a:pPr marL="342900" lvl="1" indent="-342900">
              <a:lnSpc>
                <a:spcPct val="110000"/>
              </a:lnSpc>
              <a:spcBef>
                <a:spcPts val="300"/>
              </a:spcBef>
              <a:buClr>
                <a:srgbClr val="0033CC"/>
              </a:buClr>
            </a:pPr>
            <a:r>
              <a:rPr lang="zh-CN" altLang="en-US" sz="2400"/>
              <a:t>数据库安全性</a:t>
            </a:r>
            <a:endParaRPr lang="zh-CN" altLang="en-US" sz="2400"/>
          </a:p>
          <a:p>
            <a:pPr marL="342900" lvl="1" indent="-342900">
              <a:lnSpc>
                <a:spcPct val="110000"/>
              </a:lnSpc>
              <a:spcBef>
                <a:spcPts val="300"/>
              </a:spcBef>
              <a:buClr>
                <a:srgbClr val="0033CC"/>
              </a:buClr>
            </a:pPr>
            <a:r>
              <a:rPr lang="zh-CN" altLang="en-US" sz="2400"/>
              <a:t>数据库完整性</a:t>
            </a:r>
            <a:endParaRPr lang="zh-CN" altLang="en-US" sz="2400"/>
          </a:p>
          <a:p>
            <a:pPr marL="342900" lvl="1" indent="-342900">
              <a:lnSpc>
                <a:spcPct val="110000"/>
              </a:lnSpc>
              <a:spcBef>
                <a:spcPts val="300"/>
              </a:spcBef>
              <a:buClr>
                <a:srgbClr val="0033CC"/>
              </a:buClr>
            </a:pPr>
            <a:r>
              <a:rPr lang="zh-CN" altLang="en-US" sz="2400"/>
              <a:t>故障恢复</a:t>
            </a:r>
            <a:endParaRPr lang="zh-CN" altLang="en-US" sz="2400"/>
          </a:p>
          <a:p>
            <a:pPr marL="342900" lvl="1" indent="-342900">
              <a:lnSpc>
                <a:spcPct val="110000"/>
              </a:lnSpc>
              <a:spcBef>
                <a:spcPts val="300"/>
              </a:spcBef>
              <a:buClr>
                <a:srgbClr val="0033CC"/>
              </a:buClr>
            </a:pPr>
            <a:r>
              <a:rPr lang="zh-CN" altLang="en-US" sz="2400">
                <a:latin typeface="宋体" panose="02010600030101010101" pitchFamily="2" charset="-122"/>
              </a:rPr>
              <a:t>并发控制</a:t>
            </a:r>
            <a:endParaRPr lang="zh-CN" altLang="en-US" sz="2400">
              <a:latin typeface="宋体" panose="02010600030101010101" pitchFamily="2" charset="-122"/>
            </a:endParaRPr>
          </a:p>
          <a:p>
            <a:pPr marL="342900" lvl="1" indent="-342900">
              <a:buClrTx/>
              <a:buNone/>
            </a:pPr>
            <a:endParaRPr lang="zh-CN" altLang="en-US" sz="2200">
              <a:latin typeface="楷体" panose="02010609060101010101" pitchFamily="1" charset="-122"/>
              <a:ea typeface="楷体" panose="02010609060101010101" pitchFamily="1" charset="-122"/>
            </a:endParaRPr>
          </a:p>
        </p:txBody>
      </p:sp>
      <p:sp>
        <p:nvSpPr>
          <p:cNvPr id="5123" name="Rectangle 8"/>
          <p:cNvSpPr/>
          <p:nvPr/>
        </p:nvSpPr>
        <p:spPr>
          <a:xfrm>
            <a:off x="1393825" y="3336925"/>
            <a:ext cx="6996113" cy="2413000"/>
          </a:xfrm>
          <a:prstGeom prst="rect">
            <a:avLst/>
          </a:prstGeom>
          <a:noFill/>
          <a:ln w="9525" cap="flat" cmpd="sng">
            <a:solidFill>
              <a:srgbClr val="0000FF"/>
            </a:solidFill>
            <a:prstDash val="solid"/>
            <a:miter/>
            <a:headEnd type="none" w="med" len="med"/>
            <a:tailEnd type="none" w="med" len="med"/>
          </a:ln>
          <a:effectLst>
            <a:prstShdw prst="shdw17" dist="17961" dir="2699999">
              <a:srgbClr val="000099"/>
            </a:prstShdw>
          </a:effectLst>
        </p:spPr>
        <p:txBody>
          <a:bodyPr anchor="ctr">
            <a:spAutoFit/>
          </a:bodyPr>
          <a:lstStyle/>
          <a:p>
            <a:pPr lvl="0" indent="0">
              <a:lnSpc>
                <a:spcPct val="135000"/>
              </a:lnSpc>
              <a:buChar char="•"/>
            </a:pPr>
            <a:endParaRPr lang="zh-CN" altLang="en-US" dirty="0">
              <a:latin typeface="Arial" panose="020B0604020202020204" pitchFamily="34" charset="0"/>
              <a:ea typeface="宋体" panose="02010600030101010101" pitchFamily="2" charset="-122"/>
            </a:endParaRPr>
          </a:p>
        </p:txBody>
      </p:sp>
      <p:pic>
        <p:nvPicPr>
          <p:cNvPr id="5124" name="Picture 6" descr="j0233174"/>
          <p:cNvPicPr>
            <a:picLocks noChangeAspect="1"/>
          </p:cNvPicPr>
          <p:nvPr/>
        </p:nvPicPr>
        <p:blipFill>
          <a:blip r:embed="rId1"/>
          <a:stretch>
            <a:fillRect/>
          </a:stretch>
        </p:blipFill>
        <p:spPr>
          <a:xfrm>
            <a:off x="242888" y="4156075"/>
            <a:ext cx="1460500" cy="1882775"/>
          </a:xfrm>
          <a:prstGeom prst="rect">
            <a:avLst/>
          </a:prstGeom>
          <a:noFill/>
          <a:ln w="9525">
            <a:noFill/>
          </a:ln>
        </p:spPr>
      </p:pic>
      <p:sp>
        <p:nvSpPr>
          <p:cNvPr id="5125" name="Text Box 10"/>
          <p:cNvSpPr txBox="1"/>
          <p:nvPr/>
        </p:nvSpPr>
        <p:spPr>
          <a:xfrm>
            <a:off x="1400175" y="2560638"/>
            <a:ext cx="4348163" cy="681037"/>
          </a:xfrm>
          <a:prstGeom prst="rect">
            <a:avLst/>
          </a:prstGeom>
          <a:noFill/>
          <a:ln w="9525">
            <a:noFill/>
          </a:ln>
        </p:spPr>
        <p:txBody>
          <a:bodyPr anchor="t">
            <a:spAutoFit/>
          </a:bodyPr>
          <a:lstStyle/>
          <a:p>
            <a:pPr lvl="0" indent="0">
              <a:lnSpc>
                <a:spcPct val="135000"/>
              </a:lnSpc>
              <a:spcBef>
                <a:spcPct val="50000"/>
              </a:spcBef>
            </a:pPr>
            <a:r>
              <a:rPr lang="zh-CN" altLang="en-US" sz="3200" dirty="0">
                <a:latin typeface="Times New Roman" panose="02020603050405020304" pitchFamily="2" charset="0"/>
                <a:ea typeface="方正舒体" panose="02010601030101010101" pitchFamily="2" charset="-122"/>
              </a:rPr>
              <a:t>学习目的和要求</a:t>
            </a:r>
            <a:endParaRPr lang="zh-CN" altLang="en-US" sz="3200" dirty="0">
              <a:latin typeface="Times New Roman" panose="02020603050405020304" pitchFamily="2" charset="0"/>
              <a:ea typeface="方正舒体" panose="02010601030101010101" pitchFamily="2" charset="-122"/>
            </a:endParaRPr>
          </a:p>
        </p:txBody>
      </p:sp>
    </p:spTree>
  </p:cSld>
  <p:clrMapOvr>
    <a:masterClrMapping/>
  </p:clrMapOvr>
  <p:transition advTm="54672"/>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p:cNvSpPr/>
          <p:nvPr/>
        </p:nvSpPr>
        <p:spPr>
          <a:xfrm>
            <a:off x="457200" y="68263"/>
            <a:ext cx="8229600" cy="692150"/>
          </a:xfrm>
          <a:prstGeom prst="rect">
            <a:avLst/>
          </a:prstGeom>
          <a:noFill/>
          <a:ln w="9525">
            <a:noFill/>
          </a:ln>
        </p:spPr>
        <p:txBody>
          <a:bodyPr anchor="ctr"/>
          <a:lstStyle/>
          <a:p>
            <a:pPr lvl="0" indent="0"/>
            <a:r>
              <a:rPr lang="zh-CN" altLang="en-US" sz="3200" dirty="0">
                <a:solidFill>
                  <a:srgbClr val="FF0000"/>
                </a:solidFill>
                <a:latin typeface="Arial" panose="020B0604020202020204" pitchFamily="34" charset="0"/>
                <a:ea typeface="黑体" panose="02010609060101010101" pitchFamily="1" charset="-122"/>
              </a:rPr>
              <a:t>一、数据库保护概况</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6146" name="Rectangle 2"/>
          <p:cNvSpPr txBox="1"/>
          <p:nvPr/>
        </p:nvSpPr>
        <p:spPr>
          <a:xfrm>
            <a:off x="609600" y="871538"/>
            <a:ext cx="5689600" cy="576262"/>
          </a:xfrm>
          <a:prstGeom prst="rect">
            <a:avLst/>
          </a:prstGeom>
          <a:noFill/>
          <a:ln w="9525">
            <a:noFill/>
          </a:ln>
        </p:spPr>
        <p:txBody>
          <a:bodyPr anchor="t"/>
          <a:lstStyle/>
          <a:p>
            <a:pPr marL="609600" lvl="0" indent="-609600"/>
            <a:r>
              <a:rPr lang="en-US" altLang="x-none" sz="2800" dirty="0">
                <a:solidFill>
                  <a:srgbClr val="0033CC"/>
                </a:solidFill>
                <a:latin typeface="黑体" panose="02010609060101010101" pitchFamily="1" charset="-122"/>
                <a:ea typeface="黑体" panose="02010609060101010101" pitchFamily="1" charset="-122"/>
              </a:rPr>
              <a:t>1.</a:t>
            </a:r>
            <a:r>
              <a:rPr lang="zh-CN" altLang="en-US" sz="2800" dirty="0">
                <a:solidFill>
                  <a:srgbClr val="0033CC"/>
                </a:solidFill>
                <a:latin typeface="黑体" panose="02010609060101010101" pitchFamily="1" charset="-122"/>
                <a:ea typeface="黑体" panose="02010609060101010101" pitchFamily="1" charset="-122"/>
              </a:rPr>
              <a:t>数据库破坏类型</a:t>
            </a:r>
            <a:endParaRPr lang="zh-CN" altLang="en-US" sz="2800" dirty="0">
              <a:solidFill>
                <a:srgbClr val="0033CC"/>
              </a:solidFill>
              <a:latin typeface="黑体" panose="02010609060101010101" pitchFamily="1" charset="-122"/>
              <a:ea typeface="黑体" panose="02010609060101010101" pitchFamily="1" charset="-122"/>
            </a:endParaRPr>
          </a:p>
        </p:txBody>
      </p:sp>
      <p:grpSp>
        <p:nvGrpSpPr>
          <p:cNvPr id="18" name="组合 17"/>
          <p:cNvGrpSpPr/>
          <p:nvPr/>
        </p:nvGrpSpPr>
        <p:grpSpPr>
          <a:xfrm>
            <a:off x="506730" y="2417445"/>
            <a:ext cx="8357870" cy="3538855"/>
            <a:chOff x="6830" y="4072"/>
            <a:chExt cx="9118" cy="3451"/>
          </a:xfrm>
        </p:grpSpPr>
        <p:sp>
          <p:nvSpPr>
            <p:cNvPr id="6" name="流程图: 磁盘 5"/>
            <p:cNvSpPr/>
            <p:nvPr/>
          </p:nvSpPr>
          <p:spPr>
            <a:xfrm>
              <a:off x="10238" y="5056"/>
              <a:ext cx="1641" cy="917"/>
            </a:xfrm>
            <a:prstGeom prst="flowChartMagneticDisk">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a:solidFill>
                    <a:srgbClr val="0033CC"/>
                  </a:solidFill>
                </a:rPr>
                <a:t>数据库</a:t>
              </a:r>
              <a:endParaRPr lang="zh-CN" altLang="en-US" sz="2400">
                <a:solidFill>
                  <a:srgbClr val="0033CC"/>
                </a:solidFill>
              </a:endParaRPr>
            </a:p>
          </p:txBody>
        </p:sp>
        <p:sp>
          <p:nvSpPr>
            <p:cNvPr id="7" name="椭圆 6"/>
            <p:cNvSpPr/>
            <p:nvPr/>
          </p:nvSpPr>
          <p:spPr>
            <a:xfrm>
              <a:off x="9697" y="4350"/>
              <a:ext cx="2614" cy="2224"/>
            </a:xfrm>
            <a:prstGeom prst="ellipse">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0"/>
            </a:p>
          </p:txBody>
        </p:sp>
        <p:sp>
          <p:nvSpPr>
            <p:cNvPr id="8" name="矩形 7"/>
            <p:cNvSpPr/>
            <p:nvPr/>
          </p:nvSpPr>
          <p:spPr>
            <a:xfrm>
              <a:off x="10323" y="4072"/>
              <a:ext cx="1305" cy="5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lIns="0" rIns="0" rtlCol="0" anchor="ctr"/>
            <a:p>
              <a:pPr algn="ctr"/>
              <a:r>
                <a:rPr lang="zh-CN" altLang="en-US" sz="2000">
                  <a:solidFill>
                    <a:srgbClr val="C00000"/>
                  </a:solidFill>
                </a:rPr>
                <a:t>无意损坏</a:t>
              </a:r>
              <a:endParaRPr lang="zh-CN" altLang="en-US" sz="2000">
                <a:solidFill>
                  <a:srgbClr val="C00000"/>
                </a:solidFill>
              </a:endParaRPr>
            </a:p>
          </p:txBody>
        </p:sp>
        <p:sp>
          <p:nvSpPr>
            <p:cNvPr id="9" name="矩形 8"/>
            <p:cNvSpPr/>
            <p:nvPr/>
          </p:nvSpPr>
          <p:spPr>
            <a:xfrm>
              <a:off x="12266" y="4689"/>
              <a:ext cx="1305" cy="5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lIns="0" rIns="0" rtlCol="0" anchor="ctr"/>
            <a:p>
              <a:pPr algn="ctr"/>
              <a:r>
                <a:rPr lang="zh-CN" altLang="en-US" sz="2000">
                  <a:solidFill>
                    <a:srgbClr val="C00000"/>
                  </a:solidFill>
                </a:rPr>
                <a:t>物理损坏</a:t>
              </a:r>
              <a:endParaRPr lang="zh-CN" altLang="en-US" sz="2000">
                <a:solidFill>
                  <a:srgbClr val="C00000"/>
                </a:solidFill>
              </a:endParaRPr>
            </a:p>
          </p:txBody>
        </p:sp>
        <p:sp>
          <p:nvSpPr>
            <p:cNvPr id="10" name="Text Box 8"/>
            <p:cNvSpPr txBox="1"/>
            <p:nvPr/>
          </p:nvSpPr>
          <p:spPr>
            <a:xfrm>
              <a:off x="13371" y="4689"/>
              <a:ext cx="2577" cy="449"/>
            </a:xfrm>
            <a:prstGeom prst="rect">
              <a:avLst/>
            </a:prstGeom>
            <a:noFill/>
            <a:ln w="9525">
              <a:noFill/>
            </a:ln>
          </p:spPr>
          <p:txBody>
            <a:bodyPr wrap="square" anchor="t">
              <a:spAutoFit/>
            </a:bodyPr>
            <a:p>
              <a:pPr lvl="0" indent="0" algn="ctr">
                <a:lnSpc>
                  <a:spcPct val="120000"/>
                </a:lnSpc>
                <a:spcBef>
                  <a:spcPct val="50000"/>
                </a:spcBef>
              </a:pPr>
              <a:r>
                <a:rPr lang="zh-CN" altLang="en-US" sz="2000" dirty="0">
                  <a:latin typeface="宋体" panose="02010600030101010101" pitchFamily="2" charset="-122"/>
                  <a:ea typeface="宋体" panose="02010600030101010101" pitchFamily="2" charset="-122"/>
                </a:rPr>
                <a:t>火灾、水灾等</a:t>
              </a:r>
              <a:endParaRPr lang="zh-CN" altLang="en-US" sz="2000" dirty="0">
                <a:latin typeface="宋体" panose="02010600030101010101" pitchFamily="2" charset="-122"/>
                <a:ea typeface="宋体" panose="02010600030101010101" pitchFamily="2" charset="-122"/>
              </a:endParaRPr>
            </a:p>
          </p:txBody>
        </p:sp>
        <p:sp>
          <p:nvSpPr>
            <p:cNvPr id="11" name="矩形 10"/>
            <p:cNvSpPr/>
            <p:nvPr/>
          </p:nvSpPr>
          <p:spPr>
            <a:xfrm>
              <a:off x="12266" y="5668"/>
              <a:ext cx="1305" cy="5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lIns="0" rIns="0" rtlCol="0" anchor="ctr"/>
            <a:p>
              <a:pPr algn="ctr"/>
              <a:r>
                <a:rPr lang="zh-CN" altLang="en-US" sz="2000">
                  <a:solidFill>
                    <a:srgbClr val="C00000"/>
                  </a:solidFill>
                </a:rPr>
                <a:t>非法访问</a:t>
              </a:r>
              <a:endParaRPr lang="zh-CN" altLang="en-US" sz="2000">
                <a:solidFill>
                  <a:srgbClr val="C00000"/>
                </a:solidFill>
              </a:endParaRPr>
            </a:p>
          </p:txBody>
        </p:sp>
        <p:sp>
          <p:nvSpPr>
            <p:cNvPr id="12" name="Text Box 8"/>
            <p:cNvSpPr txBox="1"/>
            <p:nvPr/>
          </p:nvSpPr>
          <p:spPr>
            <a:xfrm>
              <a:off x="13571" y="5560"/>
              <a:ext cx="1046" cy="449"/>
            </a:xfrm>
            <a:prstGeom prst="rect">
              <a:avLst/>
            </a:prstGeom>
            <a:noFill/>
            <a:ln w="9525">
              <a:noFill/>
            </a:ln>
          </p:spPr>
          <p:txBody>
            <a:bodyPr wrap="square" anchor="t">
              <a:spAutoFit/>
            </a:bodyPr>
            <a:p>
              <a:pPr lvl="0" indent="0" algn="ctr">
                <a:lnSpc>
                  <a:spcPct val="120000"/>
                </a:lnSpc>
                <a:spcBef>
                  <a:spcPct val="50000"/>
                </a:spcBef>
              </a:pPr>
              <a:r>
                <a:rPr lang="zh-CN" altLang="en-US" sz="2000" dirty="0">
                  <a:latin typeface="宋体" panose="02010600030101010101" pitchFamily="2" charset="-122"/>
                  <a:ea typeface="宋体" panose="02010600030101010101" pitchFamily="2" charset="-122"/>
                </a:rPr>
                <a:t>黑客</a:t>
              </a:r>
              <a:endParaRPr lang="zh-CN" altLang="en-US" sz="2000" dirty="0">
                <a:latin typeface="宋体" panose="02010600030101010101" pitchFamily="2" charset="-122"/>
                <a:ea typeface="宋体" panose="02010600030101010101" pitchFamily="2" charset="-122"/>
              </a:endParaRPr>
            </a:p>
          </p:txBody>
        </p:sp>
        <p:sp>
          <p:nvSpPr>
            <p:cNvPr id="13" name="矩形 12"/>
            <p:cNvSpPr/>
            <p:nvPr/>
          </p:nvSpPr>
          <p:spPr>
            <a:xfrm>
              <a:off x="10352" y="6574"/>
              <a:ext cx="1305" cy="5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lIns="0" rIns="0" rtlCol="0" anchor="ctr"/>
            <a:p>
              <a:pPr algn="ctr"/>
              <a:r>
                <a:rPr lang="zh-CN" altLang="en-US" sz="2000">
                  <a:solidFill>
                    <a:srgbClr val="C00000"/>
                  </a:solidFill>
                </a:rPr>
                <a:t>非法访问</a:t>
              </a:r>
              <a:endParaRPr lang="zh-CN" altLang="en-US" sz="2000">
                <a:solidFill>
                  <a:srgbClr val="C00000"/>
                </a:solidFill>
              </a:endParaRPr>
            </a:p>
          </p:txBody>
        </p:sp>
        <p:sp>
          <p:nvSpPr>
            <p:cNvPr id="14" name="Text Box 8"/>
            <p:cNvSpPr txBox="1"/>
            <p:nvPr/>
          </p:nvSpPr>
          <p:spPr>
            <a:xfrm>
              <a:off x="10082" y="7074"/>
              <a:ext cx="2087" cy="449"/>
            </a:xfrm>
            <a:prstGeom prst="rect">
              <a:avLst/>
            </a:prstGeom>
            <a:noFill/>
            <a:ln w="9525">
              <a:noFill/>
            </a:ln>
          </p:spPr>
          <p:txBody>
            <a:bodyPr wrap="square" anchor="t">
              <a:spAutoFit/>
            </a:bodyPr>
            <a:p>
              <a:pPr lvl="0" indent="0" algn="ctr">
                <a:lnSpc>
                  <a:spcPct val="120000"/>
                </a:lnSpc>
                <a:spcBef>
                  <a:spcPct val="50000"/>
                </a:spcBef>
              </a:pPr>
              <a:r>
                <a:rPr lang="zh-CN" altLang="en-US" sz="2000" dirty="0">
                  <a:latin typeface="宋体" panose="02010600030101010101" pitchFamily="2" charset="-122"/>
                  <a:ea typeface="宋体" panose="02010600030101010101" pitchFamily="2" charset="-122"/>
                </a:rPr>
                <a:t>蓄意破坏者</a:t>
              </a:r>
              <a:endParaRPr lang="zh-CN" altLang="en-US" sz="2000" dirty="0">
                <a:latin typeface="宋体" panose="02010600030101010101" pitchFamily="2" charset="-122"/>
                <a:ea typeface="宋体" panose="02010600030101010101" pitchFamily="2" charset="-122"/>
              </a:endParaRPr>
            </a:p>
          </p:txBody>
        </p:sp>
        <p:sp>
          <p:nvSpPr>
            <p:cNvPr id="15" name="矩形 14"/>
            <p:cNvSpPr/>
            <p:nvPr/>
          </p:nvSpPr>
          <p:spPr>
            <a:xfrm>
              <a:off x="8432" y="5858"/>
              <a:ext cx="1305" cy="5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lIns="0" rIns="0" rtlCol="0" anchor="ctr"/>
            <a:p>
              <a:pPr algn="ctr"/>
              <a:r>
                <a:rPr lang="zh-CN" altLang="en-US" sz="2000">
                  <a:solidFill>
                    <a:srgbClr val="C00000"/>
                  </a:solidFill>
                </a:rPr>
                <a:t>数据复制</a:t>
              </a:r>
              <a:endParaRPr lang="zh-CN" altLang="en-US" sz="2000">
                <a:solidFill>
                  <a:srgbClr val="C00000"/>
                </a:solidFill>
              </a:endParaRPr>
            </a:p>
          </p:txBody>
        </p:sp>
        <p:sp>
          <p:nvSpPr>
            <p:cNvPr id="16" name="Text Box 8"/>
            <p:cNvSpPr txBox="1"/>
            <p:nvPr/>
          </p:nvSpPr>
          <p:spPr>
            <a:xfrm>
              <a:off x="6830" y="5845"/>
              <a:ext cx="1717" cy="449"/>
            </a:xfrm>
            <a:prstGeom prst="rect">
              <a:avLst/>
            </a:prstGeom>
            <a:noFill/>
            <a:ln w="9525">
              <a:noFill/>
            </a:ln>
          </p:spPr>
          <p:txBody>
            <a:bodyPr wrap="square" anchor="t">
              <a:spAutoFit/>
            </a:bodyPr>
            <a:p>
              <a:pPr lvl="0" indent="0" algn="ctr">
                <a:lnSpc>
                  <a:spcPct val="120000"/>
                </a:lnSpc>
                <a:spcBef>
                  <a:spcPct val="50000"/>
                </a:spcBef>
              </a:pPr>
              <a:r>
                <a:rPr lang="zh-CN" altLang="en-US" sz="2000" dirty="0">
                  <a:latin typeface="宋体" panose="02010600030101010101" pitchFamily="2" charset="-122"/>
                  <a:ea typeface="宋体" panose="02010600030101010101" pitchFamily="2" charset="-122"/>
                </a:rPr>
                <a:t>工业间谍</a:t>
              </a:r>
              <a:endParaRPr lang="zh-CN" altLang="en-US" sz="2000" dirty="0">
                <a:latin typeface="宋体" panose="02010600030101010101" pitchFamily="2" charset="-122"/>
                <a:ea typeface="宋体" panose="02010600030101010101" pitchFamily="2" charset="-122"/>
              </a:endParaRPr>
            </a:p>
          </p:txBody>
        </p:sp>
        <p:sp>
          <p:nvSpPr>
            <p:cNvPr id="17" name="矩形 16"/>
            <p:cNvSpPr/>
            <p:nvPr/>
          </p:nvSpPr>
          <p:spPr>
            <a:xfrm>
              <a:off x="8903" y="4650"/>
              <a:ext cx="834" cy="5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lIns="0" rIns="0" rtlCol="0" anchor="ctr"/>
            <a:p>
              <a:pPr algn="ctr"/>
              <a:r>
                <a:rPr lang="zh-CN" altLang="en-US" sz="2000">
                  <a:solidFill>
                    <a:srgbClr val="C00000"/>
                  </a:solidFill>
                </a:rPr>
                <a:t>天窗</a:t>
              </a:r>
              <a:endParaRPr lang="zh-CN" altLang="en-US" sz="2000">
                <a:solidFill>
                  <a:srgbClr val="C00000"/>
                </a:solidFill>
              </a:endParaRPr>
            </a:p>
          </p:txBody>
        </p:sp>
        <p:sp>
          <p:nvSpPr>
            <p:cNvPr id="19" name="Text Box 8"/>
            <p:cNvSpPr txBox="1"/>
            <p:nvPr/>
          </p:nvSpPr>
          <p:spPr>
            <a:xfrm>
              <a:off x="7068" y="4572"/>
              <a:ext cx="1927" cy="689"/>
            </a:xfrm>
            <a:prstGeom prst="rect">
              <a:avLst/>
            </a:prstGeom>
            <a:noFill/>
            <a:ln w="9525">
              <a:noFill/>
            </a:ln>
          </p:spPr>
          <p:txBody>
            <a:bodyPr wrap="square" anchor="t">
              <a:spAutoFit/>
            </a:bodyPr>
            <a:p>
              <a:pPr lvl="0" indent="0" algn="l">
                <a:lnSpc>
                  <a:spcPct val="100000"/>
                </a:lnSpc>
                <a:spcBef>
                  <a:spcPct val="50000"/>
                </a:spcBef>
              </a:pPr>
              <a:r>
                <a:rPr lang="zh-CN" altLang="en-US" sz="2000" dirty="0">
                  <a:latin typeface="宋体" panose="02010600030101010101" pitchFamily="2" charset="-122"/>
                  <a:ea typeface="宋体" panose="02010600030101010101" pitchFamily="2" charset="-122"/>
                </a:rPr>
                <a:t>心怀不满的专业人员</a:t>
              </a:r>
              <a:endParaRPr lang="zh-CN" altLang="en-US" sz="2000" dirty="0">
                <a:latin typeface="宋体" panose="02010600030101010101" pitchFamily="2" charset="-122"/>
                <a:ea typeface="宋体" panose="02010600030101010101" pitchFamily="2" charset="-122"/>
              </a:endParaRPr>
            </a:p>
          </p:txBody>
        </p:sp>
      </p:grpSp>
      <p:sp>
        <p:nvSpPr>
          <p:cNvPr id="20" name="文本框 19"/>
          <p:cNvSpPr txBox="1"/>
          <p:nvPr/>
        </p:nvSpPr>
        <p:spPr>
          <a:xfrm>
            <a:off x="457200" y="1432560"/>
            <a:ext cx="8228965" cy="937260"/>
          </a:xfrm>
          <a:prstGeom prst="rect">
            <a:avLst/>
          </a:prstGeom>
          <a:noFill/>
        </p:spPr>
        <p:txBody>
          <a:bodyPr wrap="square" rtlCol="0" anchor="t">
            <a:spAutoFit/>
          </a:bodyPr>
          <a:p>
            <a:pPr>
              <a:lnSpc>
                <a:spcPct val="125000"/>
              </a:lnSpc>
              <a:spcBef>
                <a:spcPts val="0"/>
              </a:spcBef>
              <a:spcAft>
                <a:spcPts val="0"/>
              </a:spcAft>
            </a:pPr>
            <a:r>
              <a:rPr lang="en-US" altLang="zh-CN" sz="2200" dirty="0">
                <a:solidFill>
                  <a:srgbClr val="FF0000"/>
                </a:solidFill>
                <a:latin typeface="华文中宋" panose="02010600040101010101" charset="-122"/>
                <a:ea typeface="华文中宋" panose="02010600040101010101" charset="-122"/>
                <a:cs typeface="+mn-ea"/>
              </a:rPr>
              <a:t>      </a:t>
            </a:r>
            <a:r>
              <a:rPr lang="zh-CN" altLang="en-US" sz="2200" dirty="0">
                <a:solidFill>
                  <a:schemeClr val="tx1"/>
                </a:solidFill>
                <a:latin typeface="宋体" panose="02010600030101010101" pitchFamily="2" charset="-122"/>
                <a:cs typeface="+mn-ea"/>
              </a:rPr>
              <a:t>数据库系统的安全保护措施是否有效是数据库系统主要的性能指标之一。</a:t>
            </a:r>
            <a:endParaRPr lang="zh-CN" altLang="en-US" sz="2200" dirty="0">
              <a:solidFill>
                <a:schemeClr val="tx1"/>
              </a:solidFill>
              <a:latin typeface="宋体" panose="02010600030101010101" pitchFamily="2" charset="-122"/>
              <a:cs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p:cNvSpPr/>
          <p:nvPr/>
        </p:nvSpPr>
        <p:spPr>
          <a:xfrm>
            <a:off x="457200" y="68263"/>
            <a:ext cx="8229600" cy="692150"/>
          </a:xfrm>
          <a:prstGeom prst="rect">
            <a:avLst/>
          </a:prstGeom>
          <a:noFill/>
          <a:ln w="9525">
            <a:noFill/>
          </a:ln>
        </p:spPr>
        <p:txBody>
          <a:bodyPr anchor="ctr"/>
          <a:lstStyle/>
          <a:p>
            <a:pPr lvl="0" indent="0"/>
            <a:r>
              <a:rPr lang="zh-CN" altLang="en-US" sz="3200" dirty="0">
                <a:solidFill>
                  <a:srgbClr val="FF0000"/>
                </a:solidFill>
                <a:latin typeface="Arial" panose="020B0604020202020204" pitchFamily="34" charset="0"/>
                <a:ea typeface="黑体" panose="02010609060101010101" pitchFamily="1" charset="-122"/>
              </a:rPr>
              <a:t>一、数据库保护概况</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6146" name="Rectangle 2"/>
          <p:cNvSpPr txBox="1"/>
          <p:nvPr/>
        </p:nvSpPr>
        <p:spPr>
          <a:xfrm>
            <a:off x="609600" y="871538"/>
            <a:ext cx="5689600" cy="576262"/>
          </a:xfrm>
          <a:prstGeom prst="rect">
            <a:avLst/>
          </a:prstGeom>
          <a:noFill/>
          <a:ln w="9525">
            <a:noFill/>
          </a:ln>
        </p:spPr>
        <p:txBody>
          <a:bodyPr anchor="t"/>
          <a:lstStyle/>
          <a:p>
            <a:pPr marL="609600" lvl="0" indent="-609600"/>
            <a:r>
              <a:rPr lang="en-US" altLang="x-none" sz="2800" dirty="0">
                <a:solidFill>
                  <a:srgbClr val="0033CC"/>
                </a:solidFill>
                <a:latin typeface="黑体" panose="02010609060101010101" pitchFamily="1" charset="-122"/>
                <a:ea typeface="黑体" panose="02010609060101010101" pitchFamily="1" charset="-122"/>
              </a:rPr>
              <a:t>1.</a:t>
            </a:r>
            <a:r>
              <a:rPr lang="zh-CN" altLang="en-US" sz="2800" dirty="0">
                <a:solidFill>
                  <a:srgbClr val="0033CC"/>
                </a:solidFill>
                <a:latin typeface="黑体" panose="02010609060101010101" pitchFamily="1" charset="-122"/>
                <a:ea typeface="黑体" panose="02010609060101010101" pitchFamily="1" charset="-122"/>
              </a:rPr>
              <a:t>数据库破坏类型</a:t>
            </a:r>
            <a:endParaRPr lang="zh-CN" altLang="en-US" sz="2800" dirty="0">
              <a:solidFill>
                <a:srgbClr val="0033CC"/>
              </a:solidFill>
              <a:latin typeface="黑体" panose="02010609060101010101" pitchFamily="1" charset="-122"/>
              <a:ea typeface="黑体" panose="02010609060101010101" pitchFamily="1" charset="-122"/>
            </a:endParaRPr>
          </a:p>
        </p:txBody>
      </p:sp>
      <p:grpSp>
        <p:nvGrpSpPr>
          <p:cNvPr id="6148" name="组合 9"/>
          <p:cNvGrpSpPr/>
          <p:nvPr/>
        </p:nvGrpSpPr>
        <p:grpSpPr>
          <a:xfrm>
            <a:off x="533400" y="1435100"/>
            <a:ext cx="8229600" cy="850900"/>
            <a:chOff x="0" y="0"/>
            <a:chExt cx="8229600" cy="891547"/>
          </a:xfrm>
        </p:grpSpPr>
        <p:sp>
          <p:nvSpPr>
            <p:cNvPr id="6149" name="AutoShape 2"/>
            <p:cNvSpPr/>
            <p:nvPr/>
          </p:nvSpPr>
          <p:spPr>
            <a:xfrm>
              <a:off x="314325" y="49900"/>
              <a:ext cx="7823200" cy="841647"/>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lstStyle/>
            <a:p>
              <a:pPr lvl="0" eaLnBrk="1" fontAlgn="base" hangingPunct="1">
                <a:lnSpc>
                  <a:spcPct val="135000"/>
                </a:lnSpc>
                <a:buChar char="•"/>
              </a:pPr>
              <a:endParaRPr lang="zh-CN" altLang="en-US"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sp>
          <p:nvSpPr>
            <p:cNvPr id="2" name="Text Box 3"/>
            <p:cNvSpPr txBox="1"/>
            <p:nvPr/>
          </p:nvSpPr>
          <p:spPr>
            <a:xfrm>
              <a:off x="0" y="0"/>
              <a:ext cx="8229600" cy="871587"/>
            </a:xfrm>
            <a:prstGeom prst="rect">
              <a:avLst/>
            </a:prstGeom>
            <a:noFill/>
            <a:ln w="9525">
              <a:noFill/>
            </a:ln>
          </p:spPr>
          <p:txBody>
            <a:bodyPr anchor="t">
              <a:spAutoFit/>
            </a:bodyPr>
            <a:lstStyle/>
            <a:p>
              <a:pPr marL="1066800" lvl="1" indent="-609600">
                <a:lnSpc>
                  <a:spcPct val="110000"/>
                </a:lnSpc>
                <a:buSzPct val="80000"/>
              </a:pPr>
              <a:r>
                <a:rPr lang="zh-CN" altLang="en-US" sz="2400" u="sng" dirty="0">
                  <a:solidFill>
                    <a:srgbClr val="FF3300"/>
                  </a:solidFill>
                  <a:latin typeface="宋体" panose="02010600030101010101" pitchFamily="2" charset="-122"/>
                  <a:ea typeface="宋体" panose="02010600030101010101" pitchFamily="2" charset="-122"/>
                </a:rPr>
                <a:t>非法用户：</a:t>
              </a:r>
              <a:r>
                <a:rPr lang="zh-CN" altLang="en-US" sz="2200" dirty="0">
                  <a:latin typeface="华文楷体" panose="02010600040101010101" pitchFamily="2" charset="-122"/>
                  <a:ea typeface="华文楷体" panose="02010600040101010101" pitchFamily="2" charset="-122"/>
                </a:rPr>
                <a:t>未经授权而恶意访问、修改甚至破坏数据库的用</a:t>
              </a:r>
              <a:endParaRPr lang="en-US" altLang="x-none" sz="2200" dirty="0">
                <a:latin typeface="华文楷体" panose="02010600040101010101" pitchFamily="2" charset="-122"/>
                <a:ea typeface="华文楷体" panose="02010600040101010101" pitchFamily="2" charset="-122"/>
              </a:endParaRPr>
            </a:p>
            <a:p>
              <a:pPr marL="1066800" lvl="1" indent="-609600">
                <a:lnSpc>
                  <a:spcPct val="110000"/>
                </a:lnSpc>
                <a:buSzPct val="80000"/>
              </a:pPr>
              <a:r>
                <a:rPr lang="zh-CN" altLang="en-US" sz="2200" dirty="0">
                  <a:latin typeface="华文楷体" panose="02010600040101010101" pitchFamily="2" charset="-122"/>
                  <a:ea typeface="华文楷体" panose="02010600040101010101" pitchFamily="2" charset="-122"/>
                </a:rPr>
                <a:t>户，包括越权访问的用户。</a:t>
              </a:r>
              <a:endParaRPr lang="en-US" altLang="x-none" sz="2200" dirty="0">
                <a:latin typeface="华文楷体" panose="02010600040101010101" pitchFamily="2" charset="-122"/>
                <a:ea typeface="华文楷体" panose="02010600040101010101" pitchFamily="2" charset="-122"/>
              </a:endParaRPr>
            </a:p>
          </p:txBody>
        </p:sp>
      </p:grpSp>
      <p:grpSp>
        <p:nvGrpSpPr>
          <p:cNvPr id="6151" name="组合 12"/>
          <p:cNvGrpSpPr/>
          <p:nvPr/>
        </p:nvGrpSpPr>
        <p:grpSpPr>
          <a:xfrm>
            <a:off x="609600" y="2403475"/>
            <a:ext cx="8229600" cy="1681163"/>
            <a:chOff x="0" y="0"/>
            <a:chExt cx="8229600" cy="1680209"/>
          </a:xfrm>
        </p:grpSpPr>
        <p:sp>
          <p:nvSpPr>
            <p:cNvPr id="3" name="Text Box 3"/>
            <p:cNvSpPr txBox="1"/>
            <p:nvPr/>
          </p:nvSpPr>
          <p:spPr>
            <a:xfrm>
              <a:off x="0" y="44425"/>
              <a:ext cx="8229600" cy="1615158"/>
            </a:xfrm>
            <a:prstGeom prst="rect">
              <a:avLst/>
            </a:prstGeom>
            <a:noFill/>
            <a:ln w="9525">
              <a:noFill/>
            </a:ln>
          </p:spPr>
          <p:txBody>
            <a:bodyPr anchor="t">
              <a:spAutoFit/>
            </a:bodyPr>
            <a:lstStyle/>
            <a:p>
              <a:pPr marL="1066800" lvl="1" indent="-609600">
                <a:lnSpc>
                  <a:spcPct val="110000"/>
                </a:lnSpc>
                <a:buSzPct val="80000"/>
              </a:pPr>
              <a:r>
                <a:rPr lang="zh-CN" altLang="en-US" sz="2400" u="sng" dirty="0">
                  <a:solidFill>
                    <a:srgbClr val="FF3300"/>
                  </a:solidFill>
                  <a:latin typeface="宋体" panose="02010600030101010101" pitchFamily="2" charset="-122"/>
                  <a:ea typeface="宋体" panose="02010600030101010101" pitchFamily="2" charset="-122"/>
                </a:rPr>
                <a:t>各种故障：</a:t>
              </a:r>
              <a:r>
                <a:rPr lang="zh-CN" altLang="en-US" sz="2200" dirty="0">
                  <a:latin typeface="华文楷体" panose="02010600040101010101" pitchFamily="2" charset="-122"/>
                  <a:ea typeface="华文楷体" panose="02010600040101010101" pitchFamily="2" charset="-122"/>
                </a:rPr>
                <a:t>各种硬件故障、软件系统与应用软件的错误、用</a:t>
              </a:r>
              <a:endParaRPr lang="en-US" altLang="x-none" sz="2200" dirty="0">
                <a:latin typeface="华文楷体" panose="02010600040101010101" pitchFamily="2" charset="-122"/>
                <a:ea typeface="华文楷体" panose="02010600040101010101" pitchFamily="2" charset="-122"/>
              </a:endParaRPr>
            </a:p>
            <a:p>
              <a:pPr marL="1066800" lvl="1" indent="-609600">
                <a:lnSpc>
                  <a:spcPct val="110000"/>
                </a:lnSpc>
                <a:buSzPct val="80000"/>
              </a:pPr>
              <a:r>
                <a:rPr lang="zh-CN" altLang="en-US" sz="2200" dirty="0">
                  <a:latin typeface="华文楷体" panose="02010600040101010101" pitchFamily="2" charset="-122"/>
                  <a:ea typeface="华文楷体" panose="02010600040101010101" pitchFamily="2" charset="-122"/>
                </a:rPr>
                <a:t>户失误等不可避免，这些故障轻的会导致运行事务的非正常</a:t>
              </a:r>
              <a:endParaRPr lang="en-US" altLang="x-none" sz="2200" dirty="0">
                <a:latin typeface="华文楷体" panose="02010600040101010101" pitchFamily="2" charset="-122"/>
                <a:ea typeface="华文楷体" panose="02010600040101010101" pitchFamily="2" charset="-122"/>
              </a:endParaRPr>
            </a:p>
            <a:p>
              <a:pPr marL="1066800" lvl="1" indent="-609600">
                <a:lnSpc>
                  <a:spcPct val="110000"/>
                </a:lnSpc>
                <a:buSzPct val="80000"/>
              </a:pPr>
              <a:r>
                <a:rPr lang="zh-CN" altLang="en-US" sz="2200" dirty="0">
                  <a:latin typeface="华文楷体" panose="02010600040101010101" pitchFamily="2" charset="-122"/>
                  <a:ea typeface="华文楷体" panose="02010600040101010101" pitchFamily="2" charset="-122"/>
                </a:rPr>
                <a:t>结束，影响数据的正确性，严重的会破坏数据库，使数据库</a:t>
              </a:r>
              <a:endParaRPr lang="en-US" altLang="x-none" sz="2200" dirty="0">
                <a:latin typeface="华文楷体" panose="02010600040101010101" pitchFamily="2" charset="-122"/>
                <a:ea typeface="华文楷体" panose="02010600040101010101" pitchFamily="2" charset="-122"/>
              </a:endParaRPr>
            </a:p>
            <a:p>
              <a:pPr marL="1066800" lvl="1" indent="-609600">
                <a:lnSpc>
                  <a:spcPct val="110000"/>
                </a:lnSpc>
                <a:buSzPct val="80000"/>
              </a:pPr>
              <a:r>
                <a:rPr lang="zh-CN" altLang="en-US" sz="2200" dirty="0">
                  <a:latin typeface="华文楷体" panose="02010600040101010101" pitchFamily="2" charset="-122"/>
                  <a:ea typeface="华文楷体" panose="02010600040101010101" pitchFamily="2" charset="-122"/>
                </a:rPr>
                <a:t>中的数据部分或全部丢失。</a:t>
              </a:r>
              <a:endParaRPr lang="de-DE" altLang="en-US" sz="2200" dirty="0">
                <a:latin typeface="华文楷体" panose="02010600040101010101" pitchFamily="2" charset="-122"/>
                <a:ea typeface="华文楷体" panose="02010600040101010101" pitchFamily="2" charset="-122"/>
              </a:endParaRPr>
            </a:p>
          </p:txBody>
        </p:sp>
        <p:sp>
          <p:nvSpPr>
            <p:cNvPr id="6153" name="AutoShape 2"/>
            <p:cNvSpPr/>
            <p:nvPr/>
          </p:nvSpPr>
          <p:spPr>
            <a:xfrm>
              <a:off x="250825" y="0"/>
              <a:ext cx="7823200" cy="1680209"/>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lstStyle/>
            <a:p>
              <a:pPr lvl="0" eaLnBrk="1" fontAlgn="base" hangingPunct="1">
                <a:lnSpc>
                  <a:spcPct val="135000"/>
                </a:lnSpc>
                <a:buChar char="•"/>
              </a:pPr>
              <a:endParaRPr lang="zh-CN" altLang="en-US"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grpSp>
      <p:grpSp>
        <p:nvGrpSpPr>
          <p:cNvPr id="6154" name="组合 18"/>
          <p:cNvGrpSpPr/>
          <p:nvPr/>
        </p:nvGrpSpPr>
        <p:grpSpPr>
          <a:xfrm>
            <a:off x="563563" y="4164013"/>
            <a:ext cx="8229600" cy="987425"/>
            <a:chOff x="0" y="0"/>
            <a:chExt cx="8229600" cy="987426"/>
          </a:xfrm>
        </p:grpSpPr>
        <p:sp>
          <p:nvSpPr>
            <p:cNvPr id="6155" name="AutoShape 2"/>
            <p:cNvSpPr/>
            <p:nvPr/>
          </p:nvSpPr>
          <p:spPr>
            <a:xfrm>
              <a:off x="300037" y="49212"/>
              <a:ext cx="7823200" cy="938214"/>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lstStyle/>
            <a:p>
              <a:pPr lvl="0" eaLnBrk="1" fontAlgn="base" hangingPunct="1">
                <a:lnSpc>
                  <a:spcPct val="135000"/>
                </a:lnSpc>
                <a:buChar char="•"/>
              </a:pPr>
              <a:endParaRPr lang="zh-CN" altLang="en-US"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sp>
          <p:nvSpPr>
            <p:cNvPr id="4" name="Text Box 3"/>
            <p:cNvSpPr txBox="1"/>
            <p:nvPr/>
          </p:nvSpPr>
          <p:spPr>
            <a:xfrm>
              <a:off x="0" y="0"/>
              <a:ext cx="8229600" cy="868681"/>
            </a:xfrm>
            <a:prstGeom prst="rect">
              <a:avLst/>
            </a:prstGeom>
            <a:noFill/>
            <a:ln w="9525">
              <a:noFill/>
            </a:ln>
          </p:spPr>
          <p:txBody>
            <a:bodyPr anchor="t">
              <a:spAutoFit/>
            </a:bodyPr>
            <a:lstStyle/>
            <a:p>
              <a:pPr marL="1066800" lvl="1" indent="-609600">
                <a:lnSpc>
                  <a:spcPct val="110000"/>
                </a:lnSpc>
                <a:buSzPct val="80000"/>
              </a:pPr>
              <a:r>
                <a:rPr lang="zh-CN" altLang="en-US" sz="2400" u="sng" dirty="0">
                  <a:solidFill>
                    <a:srgbClr val="FF3300"/>
                  </a:solidFill>
                  <a:latin typeface="宋体" panose="02010600030101010101" pitchFamily="2" charset="-122"/>
                  <a:ea typeface="宋体" panose="02010600030101010101" pitchFamily="2" charset="-122"/>
                </a:rPr>
                <a:t>非法数据：</a:t>
              </a:r>
              <a:r>
                <a:rPr lang="zh-CN" altLang="en-US" sz="2200" dirty="0">
                  <a:latin typeface="华文楷体" panose="02010600040101010101" pitchFamily="2" charset="-122"/>
                  <a:ea typeface="华文楷体" panose="02010600040101010101" pitchFamily="2" charset="-122"/>
                </a:rPr>
                <a:t>指那些不符合规定或不符合语义要求的无效数据，</a:t>
              </a:r>
              <a:endParaRPr lang="zh-CN" altLang="en-US" sz="2200" dirty="0">
                <a:latin typeface="华文楷体" panose="02010600040101010101" pitchFamily="2" charset="-122"/>
                <a:ea typeface="华文楷体" panose="02010600040101010101" pitchFamily="2" charset="-122"/>
              </a:endParaRPr>
            </a:p>
            <a:p>
              <a:pPr marL="1066800" lvl="1" indent="-609600">
                <a:lnSpc>
                  <a:spcPct val="110000"/>
                </a:lnSpc>
                <a:buSzPct val="80000"/>
              </a:pPr>
              <a:r>
                <a:rPr lang="zh-CN" altLang="en-US" sz="2200" dirty="0">
                  <a:latin typeface="华文楷体" panose="02010600040101010101" pitchFamily="2" charset="-122"/>
                  <a:ea typeface="华文楷体" panose="02010600040101010101" pitchFamily="2" charset="-122"/>
                </a:rPr>
                <a:t>一般由用户的误操作产生。</a:t>
              </a:r>
              <a:endParaRPr lang="en-US" altLang="x-none" sz="2200" dirty="0">
                <a:latin typeface="华文楷体" panose="02010600040101010101" pitchFamily="2" charset="-122"/>
                <a:ea typeface="华文楷体" panose="02010600040101010101" pitchFamily="2" charset="-122"/>
              </a:endParaRPr>
            </a:p>
          </p:txBody>
        </p:sp>
      </p:grpSp>
      <p:grpSp>
        <p:nvGrpSpPr>
          <p:cNvPr id="6157" name="组合 21"/>
          <p:cNvGrpSpPr/>
          <p:nvPr/>
        </p:nvGrpSpPr>
        <p:grpSpPr>
          <a:xfrm>
            <a:off x="593725" y="5210175"/>
            <a:ext cx="8229600" cy="927100"/>
            <a:chOff x="0" y="0"/>
            <a:chExt cx="8229600" cy="987426"/>
          </a:xfrm>
        </p:grpSpPr>
        <p:sp>
          <p:nvSpPr>
            <p:cNvPr id="6158" name="AutoShape 2"/>
            <p:cNvSpPr/>
            <p:nvPr/>
          </p:nvSpPr>
          <p:spPr>
            <a:xfrm>
              <a:off x="300038" y="49034"/>
              <a:ext cx="7823200" cy="938392"/>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lstStyle/>
            <a:p>
              <a:pPr lvl="0" eaLnBrk="1" fontAlgn="base" hangingPunct="1">
                <a:lnSpc>
                  <a:spcPct val="135000"/>
                </a:lnSpc>
                <a:buChar char="•"/>
              </a:pPr>
              <a:endParaRPr lang="zh-CN" altLang="en-US"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sp>
          <p:nvSpPr>
            <p:cNvPr id="5" name="Text Box 3"/>
            <p:cNvSpPr txBox="1"/>
            <p:nvPr/>
          </p:nvSpPr>
          <p:spPr>
            <a:xfrm>
              <a:off x="0" y="0"/>
              <a:ext cx="8229600" cy="865689"/>
            </a:xfrm>
            <a:prstGeom prst="rect">
              <a:avLst/>
            </a:prstGeom>
            <a:noFill/>
            <a:ln w="9525">
              <a:noFill/>
            </a:ln>
          </p:spPr>
          <p:txBody>
            <a:bodyPr anchor="t">
              <a:spAutoFit/>
            </a:bodyPr>
            <a:lstStyle/>
            <a:p>
              <a:pPr marL="1066800" lvl="1" indent="-609600">
                <a:lnSpc>
                  <a:spcPct val="110000"/>
                </a:lnSpc>
                <a:buSzPct val="80000"/>
              </a:pPr>
              <a:r>
                <a:rPr lang="zh-CN" altLang="en-US" sz="2400" u="sng" dirty="0">
                  <a:solidFill>
                    <a:srgbClr val="FF3300"/>
                  </a:solidFill>
                  <a:latin typeface="宋体" panose="02010600030101010101" pitchFamily="2" charset="-122"/>
                  <a:ea typeface="宋体" panose="02010600030101010101" pitchFamily="2" charset="-122"/>
                </a:rPr>
                <a:t>多用户并发访问：</a:t>
              </a:r>
              <a:r>
                <a:rPr lang="zh-CN" altLang="en-US" sz="2200" dirty="0">
                  <a:latin typeface="华文楷体" panose="02010600040101010101" pitchFamily="2" charset="-122"/>
                  <a:ea typeface="华文楷体" panose="02010600040101010101" pitchFamily="2" charset="-122"/>
                </a:rPr>
                <a:t>多个用户同时存取同一个数据而产生冲突</a:t>
              </a:r>
              <a:endParaRPr lang="en-US" altLang="x-none" sz="2200" dirty="0">
                <a:latin typeface="华文楷体" panose="02010600040101010101" pitchFamily="2" charset="-122"/>
                <a:ea typeface="华文楷体" panose="02010600040101010101" pitchFamily="2" charset="-122"/>
              </a:endParaRPr>
            </a:p>
            <a:p>
              <a:pPr marL="1066800" lvl="1" indent="-609600">
                <a:lnSpc>
                  <a:spcPct val="110000"/>
                </a:lnSpc>
                <a:buSzPct val="80000"/>
              </a:pPr>
              <a:r>
                <a:rPr lang="zh-CN" altLang="en-US" sz="2200" dirty="0">
                  <a:latin typeface="华文楷体" panose="02010600040101010101" pitchFamily="2" charset="-122"/>
                  <a:ea typeface="华文楷体" panose="02010600040101010101" pitchFamily="2" charset="-122"/>
                </a:rPr>
                <a:t>的情况。</a:t>
              </a:r>
              <a:endParaRPr lang="en-US" altLang="x-none" sz="2200" dirty="0">
                <a:latin typeface="华文楷体" panose="02010600040101010101" pitchFamily="2" charset="-122"/>
                <a:ea typeface="华文楷体" panose="0201060004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148"/>
                                        </p:tgtEl>
                                        <p:attrNameLst>
                                          <p:attrName>style.visibility</p:attrName>
                                        </p:attrNameLst>
                                      </p:cBhvr>
                                      <p:to>
                                        <p:strVal val="visible"/>
                                      </p:to>
                                    </p:set>
                                    <p:anim calcmode="lin" valueType="num">
                                      <p:cBhvr>
                                        <p:cTn id="7" dur="500" fill="hold"/>
                                        <p:tgtEl>
                                          <p:spTgt spid="6148"/>
                                        </p:tgtEl>
                                        <p:attrNameLst>
                                          <p:attrName>ppt_x</p:attrName>
                                        </p:attrNameLst>
                                      </p:cBhvr>
                                      <p:tavLst>
                                        <p:tav tm="0">
                                          <p:val>
                                            <p:strVal val="#ppt_x"/>
                                          </p:val>
                                        </p:tav>
                                        <p:tav tm="100000">
                                          <p:val>
                                            <p:strVal val="#ppt_x"/>
                                          </p:val>
                                        </p:tav>
                                      </p:tavLst>
                                    </p:anim>
                                    <p:anim calcmode="lin" valueType="num">
                                      <p:cBhvr>
                                        <p:cTn id="8" dur="500" fill="hold"/>
                                        <p:tgtEl>
                                          <p:spTgt spid="614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151"/>
                                        </p:tgtEl>
                                        <p:attrNameLst>
                                          <p:attrName>style.visibility</p:attrName>
                                        </p:attrNameLst>
                                      </p:cBhvr>
                                      <p:to>
                                        <p:strVal val="visible"/>
                                      </p:to>
                                    </p:set>
                                    <p:anim calcmode="lin" valueType="num">
                                      <p:cBhvr>
                                        <p:cTn id="13" dur="500" fill="hold"/>
                                        <p:tgtEl>
                                          <p:spTgt spid="6151"/>
                                        </p:tgtEl>
                                        <p:attrNameLst>
                                          <p:attrName>ppt_x</p:attrName>
                                        </p:attrNameLst>
                                      </p:cBhvr>
                                      <p:tavLst>
                                        <p:tav tm="0">
                                          <p:val>
                                            <p:strVal val="#ppt_x"/>
                                          </p:val>
                                        </p:tav>
                                        <p:tav tm="100000">
                                          <p:val>
                                            <p:strVal val="#ppt_x"/>
                                          </p:val>
                                        </p:tav>
                                      </p:tavLst>
                                    </p:anim>
                                    <p:anim calcmode="lin" valueType="num">
                                      <p:cBhvr>
                                        <p:cTn id="14" dur="500" fill="hold"/>
                                        <p:tgtEl>
                                          <p:spTgt spid="615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154"/>
                                        </p:tgtEl>
                                        <p:attrNameLst>
                                          <p:attrName>style.visibility</p:attrName>
                                        </p:attrNameLst>
                                      </p:cBhvr>
                                      <p:to>
                                        <p:strVal val="visible"/>
                                      </p:to>
                                    </p:set>
                                    <p:anim calcmode="lin" valueType="num">
                                      <p:cBhvr>
                                        <p:cTn id="19" dur="500" fill="hold"/>
                                        <p:tgtEl>
                                          <p:spTgt spid="6154"/>
                                        </p:tgtEl>
                                        <p:attrNameLst>
                                          <p:attrName>ppt_x</p:attrName>
                                        </p:attrNameLst>
                                      </p:cBhvr>
                                      <p:tavLst>
                                        <p:tav tm="0">
                                          <p:val>
                                            <p:strVal val="#ppt_x"/>
                                          </p:val>
                                        </p:tav>
                                        <p:tav tm="100000">
                                          <p:val>
                                            <p:strVal val="#ppt_x"/>
                                          </p:val>
                                        </p:tav>
                                      </p:tavLst>
                                    </p:anim>
                                    <p:anim calcmode="lin" valueType="num">
                                      <p:cBhvr>
                                        <p:cTn id="20" dur="500" fill="hold"/>
                                        <p:tgtEl>
                                          <p:spTgt spid="615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157"/>
                                        </p:tgtEl>
                                        <p:attrNameLst>
                                          <p:attrName>style.visibility</p:attrName>
                                        </p:attrNameLst>
                                      </p:cBhvr>
                                      <p:to>
                                        <p:strVal val="visible"/>
                                      </p:to>
                                    </p:set>
                                    <p:anim calcmode="lin" valueType="num">
                                      <p:cBhvr>
                                        <p:cTn id="25" dur="500" fill="hold"/>
                                        <p:tgtEl>
                                          <p:spTgt spid="6157"/>
                                        </p:tgtEl>
                                        <p:attrNameLst>
                                          <p:attrName>ppt_x</p:attrName>
                                        </p:attrNameLst>
                                      </p:cBhvr>
                                      <p:tavLst>
                                        <p:tav tm="0">
                                          <p:val>
                                            <p:strVal val="#ppt_x"/>
                                          </p:val>
                                        </p:tav>
                                        <p:tav tm="100000">
                                          <p:val>
                                            <p:strVal val="#ppt_x"/>
                                          </p:val>
                                        </p:tav>
                                      </p:tavLst>
                                    </p:anim>
                                    <p:anim calcmode="lin" valueType="num">
                                      <p:cBhvr>
                                        <p:cTn id="26" dur="500" fill="hold"/>
                                        <p:tgtEl>
                                          <p:spTgt spid="615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p:cNvSpPr/>
          <p:nvPr/>
        </p:nvSpPr>
        <p:spPr>
          <a:xfrm>
            <a:off x="457200" y="68263"/>
            <a:ext cx="8229600" cy="692150"/>
          </a:xfrm>
          <a:prstGeom prst="rect">
            <a:avLst/>
          </a:prstGeom>
          <a:noFill/>
          <a:ln w="9525">
            <a:noFill/>
          </a:ln>
        </p:spPr>
        <p:txBody>
          <a:bodyPr anchor="ctr"/>
          <a:lstStyle/>
          <a:p>
            <a:pPr lvl="0" indent="0"/>
            <a:r>
              <a:rPr lang="zh-CN" altLang="en-US" sz="3200" dirty="0">
                <a:solidFill>
                  <a:srgbClr val="FF0000"/>
                </a:solidFill>
                <a:latin typeface="Arial" panose="020B0604020202020204" pitchFamily="34" charset="0"/>
                <a:ea typeface="黑体" panose="02010609060101010101" pitchFamily="1" charset="-122"/>
              </a:rPr>
              <a:t>一、数据库保护概况</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7170" name="Rectangle 2"/>
          <p:cNvSpPr txBox="1"/>
          <p:nvPr/>
        </p:nvSpPr>
        <p:spPr>
          <a:xfrm>
            <a:off x="609600" y="871538"/>
            <a:ext cx="5689600" cy="576262"/>
          </a:xfrm>
          <a:prstGeom prst="rect">
            <a:avLst/>
          </a:prstGeom>
          <a:noFill/>
          <a:ln w="9525">
            <a:noFill/>
          </a:ln>
        </p:spPr>
        <p:txBody>
          <a:bodyPr anchor="t"/>
          <a:lstStyle/>
          <a:p>
            <a:pPr marL="609600" lvl="0" indent="-609600"/>
            <a:r>
              <a:rPr lang="en-US" altLang="x-none" sz="2800" dirty="0">
                <a:solidFill>
                  <a:srgbClr val="0033CC"/>
                </a:solidFill>
                <a:latin typeface="黑体" panose="02010609060101010101" pitchFamily="1" charset="-122"/>
                <a:ea typeface="黑体" panose="02010609060101010101" pitchFamily="1" charset="-122"/>
              </a:rPr>
              <a:t>2.DBMS</a:t>
            </a:r>
            <a:r>
              <a:rPr lang="zh-CN" altLang="en-US" sz="2800" dirty="0">
                <a:solidFill>
                  <a:srgbClr val="0033CC"/>
                </a:solidFill>
                <a:latin typeface="黑体" panose="02010609060101010101" pitchFamily="1" charset="-122"/>
                <a:ea typeface="黑体" panose="02010609060101010101" pitchFamily="1" charset="-122"/>
              </a:rPr>
              <a:t>对数据库的保护措施</a:t>
            </a:r>
            <a:endParaRPr lang="zh-CN" altLang="en-US" sz="2800" dirty="0">
              <a:solidFill>
                <a:srgbClr val="0033CC"/>
              </a:solidFill>
              <a:latin typeface="黑体" panose="02010609060101010101" pitchFamily="1" charset="-122"/>
              <a:ea typeface="黑体" panose="02010609060101010101" pitchFamily="1" charset="-122"/>
            </a:endParaRPr>
          </a:p>
        </p:txBody>
      </p:sp>
      <p:grpSp>
        <p:nvGrpSpPr>
          <p:cNvPr id="7172" name="组合 16"/>
          <p:cNvGrpSpPr/>
          <p:nvPr/>
        </p:nvGrpSpPr>
        <p:grpSpPr>
          <a:xfrm>
            <a:off x="350838" y="1504950"/>
            <a:ext cx="8324850" cy="1025525"/>
            <a:chOff x="0" y="0"/>
            <a:chExt cx="8324850" cy="1024889"/>
          </a:xfrm>
        </p:grpSpPr>
        <p:sp>
          <p:nvSpPr>
            <p:cNvPr id="2" name="矩形 16"/>
            <p:cNvSpPr/>
            <p:nvPr/>
          </p:nvSpPr>
          <p:spPr>
            <a:xfrm>
              <a:off x="0" y="42836"/>
              <a:ext cx="8324850" cy="977294"/>
            </a:xfrm>
            <a:prstGeom prst="rect">
              <a:avLst/>
            </a:prstGeom>
            <a:noFill/>
            <a:ln w="9525">
              <a:noFill/>
            </a:ln>
          </p:spPr>
          <p:txBody>
            <a:bodyPr anchor="t">
              <a:spAutoFit/>
            </a:bodyPr>
            <a:lstStyle/>
            <a:p>
              <a:pPr marL="1066800" lvl="1" indent="-609600">
                <a:lnSpc>
                  <a:spcPct val="125000"/>
                </a:lnSpc>
              </a:pPr>
              <a:r>
                <a:rPr lang="zh-CN" altLang="en-US" sz="2400" u="sng" dirty="0">
                  <a:solidFill>
                    <a:srgbClr val="000099"/>
                  </a:solidFill>
                  <a:latin typeface="宋体" panose="02010600030101010101" pitchFamily="2" charset="-122"/>
                  <a:ea typeface="宋体" panose="02010600030101010101" pitchFamily="2" charset="-122"/>
                </a:rPr>
                <a:t>针对非法用户</a:t>
              </a:r>
              <a:r>
                <a:rPr lang="en-US" altLang="x-none" sz="2400" u="sng" dirty="0">
                  <a:solidFill>
                    <a:srgbClr val="000099"/>
                  </a:solidFill>
                  <a:latin typeface="宋体" panose="02010600030101010101" pitchFamily="2" charset="-122"/>
                  <a:ea typeface="宋体" panose="02010600030101010101" pitchFamily="2" charset="-122"/>
                </a:rPr>
                <a:t>——</a:t>
              </a:r>
              <a:r>
                <a:rPr lang="zh-CN" altLang="en-US" sz="2400" u="sng" dirty="0">
                  <a:solidFill>
                    <a:srgbClr val="FF3300"/>
                  </a:solidFill>
                  <a:latin typeface="宋体" panose="02010600030101010101" pitchFamily="2" charset="-122"/>
                  <a:ea typeface="宋体" panose="02010600030101010101" pitchFamily="2" charset="-122"/>
                </a:rPr>
                <a:t>采用权限机制保护数据的安全：</a:t>
              </a:r>
              <a:r>
                <a:rPr lang="zh-CN" altLang="en-US" sz="2200" dirty="0">
                  <a:latin typeface="华文楷体" panose="02010600040101010101" pitchFamily="2" charset="-122"/>
                  <a:ea typeface="华文楷体" panose="02010600040101010101" pitchFamily="2" charset="-122"/>
                </a:rPr>
                <a:t>只允许</a:t>
              </a:r>
              <a:endParaRPr lang="en-US" altLang="x-none" sz="2200" dirty="0">
                <a:latin typeface="华文楷体" panose="02010600040101010101" pitchFamily="2" charset="-122"/>
                <a:ea typeface="华文楷体" panose="02010600040101010101" pitchFamily="2" charset="-122"/>
              </a:endParaRPr>
            </a:p>
            <a:p>
              <a:pPr marL="1066800" lvl="1" indent="-609600">
                <a:lnSpc>
                  <a:spcPct val="125000"/>
                </a:lnSpc>
              </a:pPr>
              <a:r>
                <a:rPr lang="zh-CN" altLang="en-US" sz="2200" dirty="0">
                  <a:latin typeface="华文楷体" panose="02010600040101010101" pitchFamily="2" charset="-122"/>
                  <a:ea typeface="华文楷体" panose="02010600040101010101" pitchFamily="2" charset="-122"/>
                </a:rPr>
                <a:t>经过授权的有合法权限的用户存取所允许的数据。</a:t>
              </a:r>
              <a:endParaRPr lang="zh-CN" altLang="en-US" sz="2200" dirty="0">
                <a:latin typeface="华文楷体" panose="02010600040101010101" pitchFamily="2" charset="-122"/>
                <a:ea typeface="华文楷体" panose="02010600040101010101" pitchFamily="2" charset="-122"/>
              </a:endParaRPr>
            </a:p>
          </p:txBody>
        </p:sp>
        <p:sp>
          <p:nvSpPr>
            <p:cNvPr id="7174" name="AutoShape 2"/>
            <p:cNvSpPr/>
            <p:nvPr/>
          </p:nvSpPr>
          <p:spPr>
            <a:xfrm>
              <a:off x="387350" y="0"/>
              <a:ext cx="7823200" cy="1024889"/>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lstStyle/>
            <a:p>
              <a:pPr lvl="0" eaLnBrk="1" fontAlgn="base" hangingPunct="1">
                <a:lnSpc>
                  <a:spcPct val="135000"/>
                </a:lnSpc>
                <a:buChar char="•"/>
              </a:pPr>
              <a:endParaRPr lang="zh-CN" altLang="en-US"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grpSp>
      <p:grpSp>
        <p:nvGrpSpPr>
          <p:cNvPr id="7175" name="组合 18"/>
          <p:cNvGrpSpPr/>
          <p:nvPr/>
        </p:nvGrpSpPr>
        <p:grpSpPr>
          <a:xfrm>
            <a:off x="366713" y="2660650"/>
            <a:ext cx="8324850" cy="1400175"/>
            <a:chOff x="0" y="0"/>
            <a:chExt cx="8324850" cy="1400383"/>
          </a:xfrm>
        </p:grpSpPr>
        <p:sp>
          <p:nvSpPr>
            <p:cNvPr id="3" name="矩形 16"/>
            <p:cNvSpPr/>
            <p:nvPr/>
          </p:nvSpPr>
          <p:spPr>
            <a:xfrm>
              <a:off x="0" y="0"/>
              <a:ext cx="8324850" cy="1400383"/>
            </a:xfrm>
            <a:prstGeom prst="rect">
              <a:avLst/>
            </a:prstGeom>
            <a:noFill/>
            <a:ln w="9525">
              <a:noFill/>
            </a:ln>
          </p:spPr>
          <p:txBody>
            <a:bodyPr anchor="t">
              <a:spAutoFit/>
            </a:bodyPr>
            <a:lstStyle/>
            <a:p>
              <a:pPr marL="1066800" lvl="1" indent="-609600">
                <a:lnSpc>
                  <a:spcPct val="125000"/>
                </a:lnSpc>
              </a:pPr>
              <a:r>
                <a:rPr lang="zh-CN" altLang="en-US" sz="2400" u="sng" dirty="0">
                  <a:solidFill>
                    <a:srgbClr val="000099"/>
                  </a:solidFill>
                  <a:latin typeface="宋体" panose="02010600030101010101" pitchFamily="2" charset="-122"/>
                  <a:ea typeface="宋体" panose="02010600030101010101" pitchFamily="2" charset="-122"/>
                </a:rPr>
                <a:t>针对各种故障</a:t>
              </a:r>
              <a:r>
                <a:rPr lang="en-US" altLang="x-none" sz="2400" u="sng" dirty="0">
                  <a:solidFill>
                    <a:srgbClr val="000099"/>
                  </a:solidFill>
                  <a:latin typeface="宋体" panose="02010600030101010101" pitchFamily="2" charset="-122"/>
                  <a:ea typeface="宋体" panose="02010600030101010101" pitchFamily="2" charset="-122"/>
                </a:rPr>
                <a:t>——</a:t>
              </a:r>
              <a:r>
                <a:rPr lang="zh-CN" altLang="en-US" sz="2400" u="sng" dirty="0">
                  <a:solidFill>
                    <a:srgbClr val="FF3300"/>
                  </a:solidFill>
                  <a:latin typeface="宋体" panose="02010600030101010101" pitchFamily="2" charset="-122"/>
                  <a:ea typeface="宋体" panose="02010600030101010101" pitchFamily="2" charset="-122"/>
                </a:rPr>
                <a:t>提供故障恢复（</a:t>
              </a:r>
              <a:r>
                <a:rPr lang="en-US" altLang="x-none" sz="2400" u="sng" dirty="0">
                  <a:solidFill>
                    <a:srgbClr val="FF3300"/>
                  </a:solidFill>
                  <a:latin typeface="宋体" panose="02010600030101010101" pitchFamily="2" charset="-122"/>
                  <a:ea typeface="宋体" panose="02010600030101010101" pitchFamily="2" charset="-122"/>
                </a:rPr>
                <a:t>recovery)</a:t>
              </a:r>
              <a:r>
                <a:rPr lang="zh-CN" altLang="en-US" sz="2400" u="sng" dirty="0">
                  <a:solidFill>
                    <a:srgbClr val="FF3300"/>
                  </a:solidFill>
                  <a:latin typeface="宋体" panose="02010600030101010101" pitchFamily="2" charset="-122"/>
                  <a:ea typeface="宋体" panose="02010600030101010101" pitchFamily="2" charset="-122"/>
                </a:rPr>
                <a:t>能力：</a:t>
              </a:r>
              <a:r>
                <a:rPr lang="zh-CN" altLang="en-US" sz="2200" dirty="0">
                  <a:latin typeface="华文楷体" panose="02010600040101010101" pitchFamily="2" charset="-122"/>
                  <a:ea typeface="华文楷体" panose="02010600040101010101" pitchFamily="2" charset="-122"/>
                </a:rPr>
                <a:t>保证</a:t>
              </a:r>
              <a:endParaRPr lang="en-US" altLang="x-none" sz="2200" dirty="0">
                <a:latin typeface="华文楷体" panose="02010600040101010101" pitchFamily="2" charset="-122"/>
                <a:ea typeface="华文楷体" panose="02010600040101010101" pitchFamily="2" charset="-122"/>
              </a:endParaRPr>
            </a:p>
            <a:p>
              <a:pPr marL="1066800" lvl="1" indent="-609600">
                <a:lnSpc>
                  <a:spcPct val="125000"/>
                </a:lnSpc>
              </a:pPr>
              <a:r>
                <a:rPr lang="zh-CN" altLang="en-US" sz="2200" dirty="0">
                  <a:latin typeface="华文楷体" panose="02010600040101010101" pitchFamily="2" charset="-122"/>
                  <a:ea typeface="华文楷体" panose="02010600040101010101" pitchFamily="2" charset="-122"/>
                </a:rPr>
                <a:t>在故障排除后，能将数据从错误状态恢复到一致状态。</a:t>
              </a:r>
              <a:endParaRPr lang="en-US" altLang="x-none" sz="2200" dirty="0">
                <a:latin typeface="华文楷体" panose="02010600040101010101" pitchFamily="2" charset="-122"/>
                <a:ea typeface="华文楷体" panose="02010600040101010101" pitchFamily="2" charset="-122"/>
              </a:endParaRPr>
            </a:p>
            <a:p>
              <a:pPr marL="1066800" lvl="1" indent="-609600">
                <a:lnSpc>
                  <a:spcPct val="125000"/>
                </a:lnSpc>
              </a:pPr>
              <a:r>
                <a:rPr lang="zh-CN" altLang="en-US" sz="2200" dirty="0">
                  <a:latin typeface="华文楷体" panose="02010600040101010101" pitchFamily="2" charset="-122"/>
                  <a:ea typeface="华文楷体" panose="02010600040101010101" pitchFamily="2" charset="-122"/>
                </a:rPr>
                <a:t>  </a:t>
              </a:r>
              <a:endParaRPr lang="zh-CN" altLang="en-US" sz="2200" dirty="0">
                <a:latin typeface="华文楷体" panose="02010600040101010101" pitchFamily="2" charset="-122"/>
                <a:ea typeface="华文楷体" panose="02010600040101010101" pitchFamily="2" charset="-122"/>
              </a:endParaRPr>
            </a:p>
          </p:txBody>
        </p:sp>
        <p:sp>
          <p:nvSpPr>
            <p:cNvPr id="7177" name="AutoShape 2"/>
            <p:cNvSpPr/>
            <p:nvPr/>
          </p:nvSpPr>
          <p:spPr>
            <a:xfrm>
              <a:off x="373062" y="3175"/>
              <a:ext cx="7823200" cy="993923"/>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lstStyle/>
            <a:p>
              <a:pPr lvl="0" eaLnBrk="1" fontAlgn="base" hangingPunct="1">
                <a:lnSpc>
                  <a:spcPct val="135000"/>
                </a:lnSpc>
                <a:buChar char="•"/>
              </a:pPr>
              <a:endParaRPr lang="zh-CN" altLang="en-US"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grpSp>
      <p:grpSp>
        <p:nvGrpSpPr>
          <p:cNvPr id="7178" name="组合 19"/>
          <p:cNvGrpSpPr/>
          <p:nvPr/>
        </p:nvGrpSpPr>
        <p:grpSpPr>
          <a:xfrm>
            <a:off x="427038" y="3803650"/>
            <a:ext cx="8324850" cy="1438275"/>
            <a:chOff x="0" y="0"/>
            <a:chExt cx="8324850" cy="1438855"/>
          </a:xfrm>
        </p:grpSpPr>
        <p:sp>
          <p:nvSpPr>
            <p:cNvPr id="4" name="矩形 16"/>
            <p:cNvSpPr/>
            <p:nvPr/>
          </p:nvSpPr>
          <p:spPr>
            <a:xfrm>
              <a:off x="0" y="0"/>
              <a:ext cx="8324850" cy="1438855"/>
            </a:xfrm>
            <a:prstGeom prst="rect">
              <a:avLst/>
            </a:prstGeom>
            <a:noFill/>
            <a:ln w="9525">
              <a:noFill/>
            </a:ln>
          </p:spPr>
          <p:txBody>
            <a:bodyPr anchor="t">
              <a:spAutoFit/>
            </a:bodyPr>
            <a:lstStyle/>
            <a:p>
              <a:pPr marL="1066800" lvl="1" indent="-609600">
                <a:lnSpc>
                  <a:spcPct val="125000"/>
                </a:lnSpc>
              </a:pPr>
              <a:r>
                <a:rPr lang="zh-CN" altLang="en-US" sz="2400" u="sng" dirty="0">
                  <a:solidFill>
                    <a:srgbClr val="000099"/>
                  </a:solidFill>
                  <a:latin typeface="宋体" panose="02010600030101010101" pitchFamily="2" charset="-122"/>
                  <a:ea typeface="宋体" panose="02010600030101010101" pitchFamily="2" charset="-122"/>
                </a:rPr>
                <a:t>针对非法数据</a:t>
              </a:r>
              <a:r>
                <a:rPr lang="en-US" altLang="x-none" sz="2400" u="sng" dirty="0">
                  <a:solidFill>
                    <a:srgbClr val="000099"/>
                  </a:solidFill>
                  <a:latin typeface="宋体" panose="02010600030101010101" pitchFamily="2" charset="-122"/>
                  <a:ea typeface="宋体" panose="02010600030101010101" pitchFamily="2" charset="-122"/>
                </a:rPr>
                <a:t>——</a:t>
              </a:r>
              <a:r>
                <a:rPr lang="zh-CN" altLang="en-US" sz="2400" u="sng" dirty="0">
                  <a:solidFill>
                    <a:srgbClr val="FF3300"/>
                  </a:solidFill>
                  <a:latin typeface="宋体" panose="02010600030101010101" pitchFamily="2" charset="-122"/>
                  <a:ea typeface="宋体" panose="02010600030101010101" pitchFamily="2" charset="-122"/>
                </a:rPr>
                <a:t>利用完整性约束机制防止非法数据进</a:t>
              </a:r>
              <a:endParaRPr lang="en-US" altLang="x-none" sz="2400" u="sng" dirty="0">
                <a:solidFill>
                  <a:srgbClr val="FF3300"/>
                </a:solidFill>
                <a:latin typeface="宋体" panose="02010600030101010101" pitchFamily="2" charset="-122"/>
                <a:ea typeface="宋体" panose="02010600030101010101" pitchFamily="2" charset="-122"/>
              </a:endParaRPr>
            </a:p>
            <a:p>
              <a:pPr marL="1066800" lvl="1" indent="-609600">
                <a:lnSpc>
                  <a:spcPct val="125000"/>
                </a:lnSpc>
              </a:pPr>
              <a:r>
                <a:rPr lang="zh-CN" altLang="en-US" sz="2400" u="sng" dirty="0">
                  <a:solidFill>
                    <a:srgbClr val="FF3300"/>
                  </a:solidFill>
                  <a:latin typeface="宋体" panose="02010600030101010101" pitchFamily="2" charset="-122"/>
                  <a:ea typeface="宋体" panose="02010600030101010101" pitchFamily="2" charset="-122"/>
                </a:rPr>
                <a:t>入数据库：</a:t>
              </a:r>
              <a:r>
                <a:rPr lang="zh-CN" altLang="en-US" sz="2200" dirty="0">
                  <a:latin typeface="华文楷体" panose="02010600040101010101" pitchFamily="2" charset="-122"/>
                  <a:ea typeface="华文楷体" panose="02010600040101010101" pitchFamily="2" charset="-122"/>
                </a:rPr>
                <a:t>保证数据库中的数据都是合法的。</a:t>
              </a:r>
              <a:endParaRPr lang="en-US" altLang="x-none" sz="2200" dirty="0">
                <a:latin typeface="华文楷体" panose="02010600040101010101" pitchFamily="2" charset="-122"/>
                <a:ea typeface="华文楷体" panose="02010600040101010101" pitchFamily="2" charset="-122"/>
              </a:endParaRPr>
            </a:p>
            <a:p>
              <a:pPr marL="1066800" lvl="1" indent="-609600">
                <a:lnSpc>
                  <a:spcPct val="125000"/>
                </a:lnSpc>
              </a:pPr>
              <a:r>
                <a:rPr lang="zh-CN" altLang="en-US" sz="2200" dirty="0">
                  <a:latin typeface="华文楷体" panose="02010600040101010101" pitchFamily="2" charset="-122"/>
                  <a:ea typeface="华文楷体" panose="02010600040101010101" pitchFamily="2" charset="-122"/>
                </a:rPr>
                <a:t>  </a:t>
              </a:r>
              <a:endParaRPr lang="zh-CN" altLang="en-US" sz="2200" dirty="0">
                <a:latin typeface="华文楷体" panose="02010600040101010101" pitchFamily="2" charset="-122"/>
                <a:ea typeface="华文楷体" panose="02010600040101010101" pitchFamily="2" charset="-122"/>
              </a:endParaRPr>
            </a:p>
          </p:txBody>
        </p:sp>
        <p:sp>
          <p:nvSpPr>
            <p:cNvPr id="7180" name="AutoShape 2"/>
            <p:cNvSpPr/>
            <p:nvPr/>
          </p:nvSpPr>
          <p:spPr>
            <a:xfrm>
              <a:off x="280987" y="17470"/>
              <a:ext cx="7823200" cy="1056113"/>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lstStyle/>
            <a:p>
              <a:pPr lvl="0" eaLnBrk="1" fontAlgn="base" hangingPunct="1">
                <a:lnSpc>
                  <a:spcPct val="135000"/>
                </a:lnSpc>
                <a:buChar char="•"/>
              </a:pPr>
              <a:endParaRPr lang="zh-CN" altLang="en-US"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grpSp>
      <p:grpSp>
        <p:nvGrpSpPr>
          <p:cNvPr id="7181" name="组合 20"/>
          <p:cNvGrpSpPr/>
          <p:nvPr/>
        </p:nvGrpSpPr>
        <p:grpSpPr>
          <a:xfrm>
            <a:off x="411163" y="4992688"/>
            <a:ext cx="8324850" cy="1438275"/>
            <a:chOff x="0" y="0"/>
            <a:chExt cx="8324850" cy="1438855"/>
          </a:xfrm>
        </p:grpSpPr>
        <p:sp>
          <p:nvSpPr>
            <p:cNvPr id="5" name="矩形 16"/>
            <p:cNvSpPr/>
            <p:nvPr/>
          </p:nvSpPr>
          <p:spPr>
            <a:xfrm>
              <a:off x="0" y="0"/>
              <a:ext cx="8324850" cy="1438855"/>
            </a:xfrm>
            <a:prstGeom prst="rect">
              <a:avLst/>
            </a:prstGeom>
            <a:noFill/>
            <a:ln w="9525">
              <a:noFill/>
            </a:ln>
          </p:spPr>
          <p:txBody>
            <a:bodyPr anchor="t">
              <a:spAutoFit/>
            </a:bodyPr>
            <a:lstStyle/>
            <a:p>
              <a:pPr marL="1066800" lvl="1" indent="-609600">
                <a:lnSpc>
                  <a:spcPct val="125000"/>
                </a:lnSpc>
              </a:pPr>
              <a:r>
                <a:rPr lang="zh-CN" altLang="en-US" sz="2400" u="sng" dirty="0">
                  <a:solidFill>
                    <a:srgbClr val="000099"/>
                  </a:solidFill>
                  <a:latin typeface="宋体" panose="02010600030101010101" pitchFamily="2" charset="-122"/>
                  <a:ea typeface="宋体" panose="02010600030101010101" pitchFamily="2" charset="-122"/>
                </a:rPr>
                <a:t>针对多用户并发访问</a:t>
              </a:r>
              <a:r>
                <a:rPr lang="en-US" altLang="x-none" sz="2400" u="sng" dirty="0">
                  <a:solidFill>
                    <a:srgbClr val="000099"/>
                  </a:solidFill>
                  <a:latin typeface="宋体" panose="02010600030101010101" pitchFamily="2" charset="-122"/>
                  <a:ea typeface="宋体" panose="02010600030101010101" pitchFamily="2" charset="-122"/>
                </a:rPr>
                <a:t>—</a:t>
              </a:r>
              <a:r>
                <a:rPr lang="zh-CN" altLang="en-US" sz="2400" u="sng" dirty="0">
                  <a:solidFill>
                    <a:srgbClr val="FF3300"/>
                  </a:solidFill>
                  <a:latin typeface="宋体" panose="02010600030101010101" pitchFamily="2" charset="-122"/>
                  <a:ea typeface="宋体" panose="02010600030101010101" pitchFamily="2" charset="-122"/>
                </a:rPr>
                <a:t>提供并发控制机制：</a:t>
              </a:r>
              <a:r>
                <a:rPr lang="zh-CN" altLang="en-US" sz="2200" dirty="0">
                  <a:latin typeface="华文楷体" panose="02010600040101010101" pitchFamily="2" charset="-122"/>
                  <a:ea typeface="华文楷体" panose="02010600040101010101" pitchFamily="2" charset="-122"/>
                </a:rPr>
                <a:t>控制多个用户</a:t>
              </a:r>
              <a:endParaRPr lang="en-US" altLang="x-none" sz="2200" dirty="0">
                <a:latin typeface="华文楷体" panose="02010600040101010101" pitchFamily="2" charset="-122"/>
                <a:ea typeface="华文楷体" panose="02010600040101010101" pitchFamily="2" charset="-122"/>
              </a:endParaRPr>
            </a:p>
            <a:p>
              <a:pPr marL="1066800" lvl="1" indent="-609600">
                <a:lnSpc>
                  <a:spcPct val="125000"/>
                </a:lnSpc>
              </a:pPr>
              <a:r>
                <a:rPr lang="zh-CN" altLang="en-US" sz="2200" dirty="0">
                  <a:latin typeface="华文楷体" panose="02010600040101010101" pitchFamily="2" charset="-122"/>
                  <a:ea typeface="华文楷体" panose="02010600040101010101" pitchFamily="2" charset="-122"/>
                </a:rPr>
                <a:t>对并发访问的顺利执行。</a:t>
              </a:r>
              <a:endParaRPr lang="en-US" altLang="x-none" sz="2200" dirty="0">
                <a:latin typeface="华文楷体" panose="02010600040101010101" pitchFamily="2" charset="-122"/>
                <a:ea typeface="华文楷体" panose="02010600040101010101" pitchFamily="2" charset="-122"/>
              </a:endParaRPr>
            </a:p>
            <a:p>
              <a:pPr marL="1066800" lvl="1" indent="-609600">
                <a:lnSpc>
                  <a:spcPct val="125000"/>
                </a:lnSpc>
              </a:pPr>
              <a:r>
                <a:rPr lang="zh-CN" altLang="en-US" sz="2200" dirty="0">
                  <a:latin typeface="华文楷体" panose="02010600040101010101" pitchFamily="2" charset="-122"/>
                  <a:ea typeface="华文楷体" panose="02010600040101010101" pitchFamily="2" charset="-122"/>
                </a:rPr>
                <a:t>  </a:t>
              </a:r>
              <a:endParaRPr lang="zh-CN" altLang="en-US" sz="2200" dirty="0">
                <a:latin typeface="华文楷体" panose="02010600040101010101" pitchFamily="2" charset="-122"/>
                <a:ea typeface="华文楷体" panose="02010600040101010101" pitchFamily="2" charset="-122"/>
              </a:endParaRPr>
            </a:p>
          </p:txBody>
        </p:sp>
        <p:sp>
          <p:nvSpPr>
            <p:cNvPr id="7183" name="AutoShape 2"/>
            <p:cNvSpPr/>
            <p:nvPr/>
          </p:nvSpPr>
          <p:spPr>
            <a:xfrm>
              <a:off x="280987" y="17469"/>
              <a:ext cx="7823200" cy="1056114"/>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lstStyle/>
            <a:p>
              <a:pPr lvl="0" eaLnBrk="1" fontAlgn="base" hangingPunct="1">
                <a:lnSpc>
                  <a:spcPct val="135000"/>
                </a:lnSpc>
                <a:buChar char="•"/>
              </a:pPr>
              <a:endParaRPr lang="zh-CN" altLang="en-US"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172"/>
                                        </p:tgtEl>
                                        <p:attrNameLst>
                                          <p:attrName>style.visibility</p:attrName>
                                        </p:attrNameLst>
                                      </p:cBhvr>
                                      <p:to>
                                        <p:strVal val="visible"/>
                                      </p:to>
                                    </p:set>
                                    <p:anim calcmode="lin" valueType="num">
                                      <p:cBhvr>
                                        <p:cTn id="7" dur="500" fill="hold"/>
                                        <p:tgtEl>
                                          <p:spTgt spid="7172"/>
                                        </p:tgtEl>
                                        <p:attrNameLst>
                                          <p:attrName>ppt_x</p:attrName>
                                        </p:attrNameLst>
                                      </p:cBhvr>
                                      <p:tavLst>
                                        <p:tav tm="0">
                                          <p:val>
                                            <p:strVal val="#ppt_x"/>
                                          </p:val>
                                        </p:tav>
                                        <p:tav tm="100000">
                                          <p:val>
                                            <p:strVal val="#ppt_x"/>
                                          </p:val>
                                        </p:tav>
                                      </p:tavLst>
                                    </p:anim>
                                    <p:anim calcmode="lin" valueType="num">
                                      <p:cBhvr>
                                        <p:cTn id="8" dur="500" fill="hold"/>
                                        <p:tgtEl>
                                          <p:spTgt spid="717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175"/>
                                        </p:tgtEl>
                                        <p:attrNameLst>
                                          <p:attrName>style.visibility</p:attrName>
                                        </p:attrNameLst>
                                      </p:cBhvr>
                                      <p:to>
                                        <p:strVal val="visible"/>
                                      </p:to>
                                    </p:set>
                                    <p:anim calcmode="lin" valueType="num">
                                      <p:cBhvr>
                                        <p:cTn id="13" dur="500" fill="hold"/>
                                        <p:tgtEl>
                                          <p:spTgt spid="7175"/>
                                        </p:tgtEl>
                                        <p:attrNameLst>
                                          <p:attrName>ppt_x</p:attrName>
                                        </p:attrNameLst>
                                      </p:cBhvr>
                                      <p:tavLst>
                                        <p:tav tm="0">
                                          <p:val>
                                            <p:strVal val="#ppt_x"/>
                                          </p:val>
                                        </p:tav>
                                        <p:tav tm="100000">
                                          <p:val>
                                            <p:strVal val="#ppt_x"/>
                                          </p:val>
                                        </p:tav>
                                      </p:tavLst>
                                    </p:anim>
                                    <p:anim calcmode="lin" valueType="num">
                                      <p:cBhvr>
                                        <p:cTn id="14" dur="500" fill="hold"/>
                                        <p:tgtEl>
                                          <p:spTgt spid="717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178"/>
                                        </p:tgtEl>
                                        <p:attrNameLst>
                                          <p:attrName>style.visibility</p:attrName>
                                        </p:attrNameLst>
                                      </p:cBhvr>
                                      <p:to>
                                        <p:strVal val="visible"/>
                                      </p:to>
                                    </p:set>
                                    <p:anim calcmode="lin" valueType="num">
                                      <p:cBhvr>
                                        <p:cTn id="19" dur="500" fill="hold"/>
                                        <p:tgtEl>
                                          <p:spTgt spid="7178"/>
                                        </p:tgtEl>
                                        <p:attrNameLst>
                                          <p:attrName>ppt_x</p:attrName>
                                        </p:attrNameLst>
                                      </p:cBhvr>
                                      <p:tavLst>
                                        <p:tav tm="0">
                                          <p:val>
                                            <p:strVal val="#ppt_x"/>
                                          </p:val>
                                        </p:tav>
                                        <p:tav tm="100000">
                                          <p:val>
                                            <p:strVal val="#ppt_x"/>
                                          </p:val>
                                        </p:tav>
                                      </p:tavLst>
                                    </p:anim>
                                    <p:anim calcmode="lin" valueType="num">
                                      <p:cBhvr>
                                        <p:cTn id="20" dur="500" fill="hold"/>
                                        <p:tgtEl>
                                          <p:spTgt spid="717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181"/>
                                        </p:tgtEl>
                                        <p:attrNameLst>
                                          <p:attrName>style.visibility</p:attrName>
                                        </p:attrNameLst>
                                      </p:cBhvr>
                                      <p:to>
                                        <p:strVal val="visible"/>
                                      </p:to>
                                    </p:set>
                                    <p:anim calcmode="lin" valueType="num">
                                      <p:cBhvr>
                                        <p:cTn id="25" dur="500" fill="hold"/>
                                        <p:tgtEl>
                                          <p:spTgt spid="7181"/>
                                        </p:tgtEl>
                                        <p:attrNameLst>
                                          <p:attrName>ppt_x</p:attrName>
                                        </p:attrNameLst>
                                      </p:cBhvr>
                                      <p:tavLst>
                                        <p:tav tm="0">
                                          <p:val>
                                            <p:strVal val="#ppt_x"/>
                                          </p:val>
                                        </p:tav>
                                        <p:tav tm="100000">
                                          <p:val>
                                            <p:strVal val="#ppt_x"/>
                                          </p:val>
                                        </p:tav>
                                      </p:tavLst>
                                    </p:anim>
                                    <p:anim calcmode="lin" valueType="num">
                                      <p:cBhvr>
                                        <p:cTn id="26" dur="500" fill="hold"/>
                                        <p:tgtEl>
                                          <p:spTgt spid="718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93" name="组合 6"/>
          <p:cNvGrpSpPr/>
          <p:nvPr/>
        </p:nvGrpSpPr>
        <p:grpSpPr>
          <a:xfrm>
            <a:off x="781050" y="923925"/>
            <a:ext cx="5522913" cy="2124075"/>
            <a:chOff x="0" y="0"/>
            <a:chExt cx="5523154" cy="2124206"/>
          </a:xfrm>
        </p:grpSpPr>
        <p:sp>
          <p:nvSpPr>
            <p:cNvPr id="8194" name="Rectangle 2"/>
            <p:cNvSpPr txBox="1"/>
            <p:nvPr/>
          </p:nvSpPr>
          <p:spPr>
            <a:xfrm>
              <a:off x="0" y="482630"/>
              <a:ext cx="2533761" cy="706482"/>
            </a:xfrm>
            <a:prstGeom prst="rect">
              <a:avLst/>
            </a:prstGeom>
            <a:noFill/>
            <a:ln w="9525">
              <a:noFill/>
            </a:ln>
          </p:spPr>
          <p:txBody>
            <a:bodyPr anchor="t"/>
            <a:lstStyle/>
            <a:p>
              <a:pPr lvl="0" indent="0"/>
              <a:r>
                <a:rPr lang="en-US" altLang="x-none" sz="3200" dirty="0">
                  <a:solidFill>
                    <a:srgbClr val="FF0000"/>
                  </a:solidFill>
                  <a:latin typeface="Arial" panose="020B0604020202020204" pitchFamily="34" charset="0"/>
                  <a:ea typeface="黑体" panose="02010609060101010101" pitchFamily="1" charset="-122"/>
                </a:rPr>
                <a:t>DBMS</a:t>
              </a:r>
              <a:r>
                <a:rPr lang="zh-CN" altLang="en-US" sz="3200" dirty="0">
                  <a:solidFill>
                    <a:srgbClr val="FF0000"/>
                  </a:solidFill>
                  <a:latin typeface="Arial" panose="020B0604020202020204" pitchFamily="34" charset="0"/>
                  <a:ea typeface="黑体" panose="02010609060101010101" pitchFamily="1" charset="-122"/>
                </a:rPr>
                <a:t>系统的基本功能</a:t>
              </a:r>
              <a:endParaRPr lang="de-DE" altLang="en-US" sz="3200" dirty="0">
                <a:solidFill>
                  <a:srgbClr val="FF0000"/>
                </a:solidFill>
                <a:latin typeface="Arial" panose="020B0604020202020204" pitchFamily="34" charset="0"/>
                <a:ea typeface="黑体" panose="02010609060101010101" pitchFamily="1" charset="-122"/>
              </a:endParaRPr>
            </a:p>
          </p:txBody>
        </p:sp>
        <p:sp>
          <p:nvSpPr>
            <p:cNvPr id="8195" name="矩形 4"/>
            <p:cNvSpPr/>
            <p:nvPr/>
          </p:nvSpPr>
          <p:spPr>
            <a:xfrm>
              <a:off x="3222851" y="0"/>
              <a:ext cx="2300303" cy="2124206"/>
            </a:xfrm>
            <a:prstGeom prst="rect">
              <a:avLst/>
            </a:prstGeom>
            <a:noFill/>
            <a:ln w="9525">
              <a:noFill/>
            </a:ln>
          </p:spPr>
          <p:txBody>
            <a:bodyPr anchor="t">
              <a:spAutoFit/>
            </a:bodyPr>
            <a:lstStyle/>
            <a:p>
              <a:pPr lvl="0" indent="0">
                <a:lnSpc>
                  <a:spcPct val="110000"/>
                </a:lnSpc>
                <a:buFont typeface="Wingdings" panose="05000000000000000000" pitchFamily="2" charset="2"/>
                <a:buChar char="u"/>
              </a:pPr>
              <a:r>
                <a:rPr lang="zh-CN" altLang="en-US" sz="2400" dirty="0">
                  <a:latin typeface="Arial" panose="020B0604020202020204" pitchFamily="34" charset="0"/>
                  <a:ea typeface="宋体" panose="02010600030101010101" pitchFamily="2" charset="-122"/>
                </a:rPr>
                <a:t>数据独立性</a:t>
              </a:r>
              <a:endParaRPr lang="zh-CN" altLang="en-US" sz="2400" dirty="0">
                <a:latin typeface="Arial" panose="020B0604020202020204" pitchFamily="34" charset="0"/>
                <a:ea typeface="宋体" panose="02010600030101010101" pitchFamily="2" charset="-122"/>
              </a:endParaRPr>
            </a:p>
            <a:p>
              <a:pPr lvl="0" indent="0">
                <a:lnSpc>
                  <a:spcPct val="110000"/>
                </a:lnSpc>
                <a:buFont typeface="Wingdings" panose="05000000000000000000" pitchFamily="2" charset="2"/>
                <a:buChar char="u"/>
              </a:pPr>
              <a:r>
                <a:rPr lang="zh-CN" altLang="en-US" sz="2400" dirty="0">
                  <a:solidFill>
                    <a:srgbClr val="0033CC"/>
                  </a:solidFill>
                  <a:latin typeface="Arial" panose="020B0604020202020204" pitchFamily="34" charset="0"/>
                  <a:ea typeface="宋体" panose="02010600030101010101" pitchFamily="2" charset="-122"/>
                </a:rPr>
                <a:t>并发控制</a:t>
              </a:r>
              <a:endParaRPr lang="zh-CN" altLang="en-US" sz="2400" dirty="0">
                <a:solidFill>
                  <a:srgbClr val="0033CC"/>
                </a:solidFill>
                <a:latin typeface="Arial" panose="020B0604020202020204" pitchFamily="34" charset="0"/>
                <a:ea typeface="宋体" panose="02010600030101010101" pitchFamily="2" charset="-122"/>
              </a:endParaRPr>
            </a:p>
            <a:p>
              <a:pPr lvl="0" indent="0">
                <a:lnSpc>
                  <a:spcPct val="110000"/>
                </a:lnSpc>
                <a:buFont typeface="Wingdings" panose="05000000000000000000" pitchFamily="2" charset="2"/>
                <a:buChar char="u"/>
              </a:pPr>
              <a:r>
                <a:rPr lang="zh-CN" altLang="en-US" sz="2400" dirty="0">
                  <a:solidFill>
                    <a:srgbClr val="0033CC"/>
                  </a:solidFill>
                  <a:latin typeface="Arial" panose="020B0604020202020204" pitchFamily="34" charset="0"/>
                  <a:ea typeface="宋体" panose="02010600030101010101" pitchFamily="2" charset="-122"/>
                </a:rPr>
                <a:t>故障恢复</a:t>
              </a:r>
              <a:endParaRPr lang="zh-CN" altLang="en-US" sz="2400" dirty="0">
                <a:solidFill>
                  <a:srgbClr val="0033CC"/>
                </a:solidFill>
                <a:latin typeface="Arial" panose="020B0604020202020204" pitchFamily="34" charset="0"/>
                <a:ea typeface="宋体" panose="02010600030101010101" pitchFamily="2" charset="-122"/>
              </a:endParaRPr>
            </a:p>
            <a:p>
              <a:pPr lvl="0" indent="0">
                <a:lnSpc>
                  <a:spcPct val="110000"/>
                </a:lnSpc>
                <a:buFont typeface="Wingdings" panose="05000000000000000000" pitchFamily="2" charset="2"/>
                <a:buChar char="u"/>
              </a:pPr>
              <a:r>
                <a:rPr lang="zh-CN" altLang="en-US" sz="2400" dirty="0">
                  <a:solidFill>
                    <a:srgbClr val="0033CC"/>
                  </a:solidFill>
                  <a:latin typeface="Arial" panose="020B0604020202020204" pitchFamily="34" charset="0"/>
                  <a:ea typeface="宋体" panose="02010600030101010101" pitchFamily="2" charset="-122"/>
                </a:rPr>
                <a:t>安全性</a:t>
              </a:r>
              <a:endParaRPr lang="zh-CN" altLang="en-US" sz="2400" dirty="0">
                <a:solidFill>
                  <a:srgbClr val="0033CC"/>
                </a:solidFill>
                <a:latin typeface="Arial" panose="020B0604020202020204" pitchFamily="34" charset="0"/>
                <a:ea typeface="宋体" panose="02010600030101010101" pitchFamily="2" charset="-122"/>
              </a:endParaRPr>
            </a:p>
            <a:p>
              <a:pPr lvl="0" indent="0">
                <a:lnSpc>
                  <a:spcPct val="110000"/>
                </a:lnSpc>
                <a:buFont typeface="Wingdings" panose="05000000000000000000" pitchFamily="2" charset="2"/>
                <a:buChar char="u"/>
              </a:pPr>
              <a:r>
                <a:rPr lang="zh-CN" altLang="en-US" sz="2400" dirty="0">
                  <a:solidFill>
                    <a:schemeClr val="tx1"/>
                  </a:solidFill>
                  <a:latin typeface="Arial" panose="020B0604020202020204" pitchFamily="34" charset="0"/>
                  <a:ea typeface="宋体" panose="02010600030101010101" pitchFamily="2" charset="-122"/>
                </a:rPr>
                <a:t>完整性</a:t>
              </a:r>
              <a:endParaRPr lang="zh-CN" altLang="en-US" sz="2400" dirty="0">
                <a:solidFill>
                  <a:schemeClr val="tx1"/>
                </a:solidFill>
                <a:latin typeface="Arial" panose="020B0604020202020204" pitchFamily="34" charset="0"/>
                <a:ea typeface="宋体" panose="02010600030101010101" pitchFamily="2" charset="-122"/>
              </a:endParaRPr>
            </a:p>
          </p:txBody>
        </p:sp>
        <p:sp>
          <p:nvSpPr>
            <p:cNvPr id="8197" name="右箭头 4"/>
            <p:cNvSpPr/>
            <p:nvPr/>
          </p:nvSpPr>
          <p:spPr>
            <a:xfrm>
              <a:off x="2401993" y="600112"/>
              <a:ext cx="769971" cy="755697"/>
            </a:xfrm>
            <a:prstGeom prst="rightArrow">
              <a:avLst>
                <a:gd name="adj1" fmla="val 50000"/>
                <a:gd name="adj2" fmla="val 50001"/>
              </a:avLst>
            </a:prstGeom>
            <a:solidFill>
              <a:schemeClr val="accent1"/>
            </a:solidFill>
            <a:ln w="9525" cap="flat" cmpd="sng">
              <a:solidFill>
                <a:schemeClr val="tx1"/>
              </a:solidFill>
              <a:prstDash val="solid"/>
              <a:miter/>
              <a:headEnd type="none" w="med" len="med"/>
              <a:tailEnd type="none" w="med" len="med"/>
            </a:ln>
          </p:spPr>
          <p:txBody>
            <a:bodyPr anchor="ctr">
              <a:spAutoFit/>
            </a:bodyPr>
            <a:lstStyle/>
            <a:p>
              <a:pPr marL="262255" lvl="0" indent="-262255" eaLnBrk="1" fontAlgn="base" hangingPunct="1">
                <a:buBlip>
                  <a:blip r:embed="rId1"/>
                </a:buBlip>
              </a:pPr>
              <a:endParaRPr lang="zh-CN" altLang="en-US"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grpSp>
      <p:sp>
        <p:nvSpPr>
          <p:cNvPr id="2" name="Text Box 8"/>
          <p:cNvSpPr txBox="1"/>
          <p:nvPr/>
        </p:nvSpPr>
        <p:spPr>
          <a:xfrm>
            <a:off x="604838" y="3021013"/>
            <a:ext cx="7974012" cy="1412875"/>
          </a:xfrm>
          <a:prstGeom prst="rect">
            <a:avLst/>
          </a:prstGeom>
          <a:noFill/>
          <a:ln w="9525">
            <a:noFill/>
          </a:ln>
        </p:spPr>
        <p:txBody>
          <a:bodyPr anchor="t">
            <a:spAutoFit/>
          </a:bodyPr>
          <a:lstStyle/>
          <a:p>
            <a:pPr lvl="0" indent="0">
              <a:lnSpc>
                <a:spcPct val="120000"/>
              </a:lnSpc>
              <a:spcBef>
                <a:spcPct val="50000"/>
              </a:spcBef>
            </a:pPr>
            <a:r>
              <a:rPr lang="zh-CN" altLang="en-US" sz="2200" dirty="0">
                <a:solidFill>
                  <a:srgbClr val="CC3300"/>
                </a:solidFill>
                <a:latin typeface="楷体" panose="02010609060101010101" pitchFamily="1" charset="-122"/>
                <a:ea typeface="楷体" panose="02010609060101010101" pitchFamily="1" charset="-122"/>
              </a:rPr>
              <a:t>    </a:t>
            </a:r>
            <a:r>
              <a:rPr lang="zh-CN" altLang="en-US" sz="2400" dirty="0">
                <a:latin typeface="宋体" panose="02010600030101010101" pitchFamily="2" charset="-122"/>
                <a:ea typeface="宋体" panose="02010600030101010101" pitchFamily="2" charset="-122"/>
              </a:rPr>
              <a:t>数据库系统中的数据由</a:t>
            </a:r>
            <a:r>
              <a:rPr lang="en-US" altLang="x-none" sz="2400" dirty="0">
                <a:latin typeface="宋体" panose="02010600030101010101" pitchFamily="2" charset="-122"/>
                <a:ea typeface="宋体" panose="02010600030101010101" pitchFamily="2" charset="-122"/>
              </a:rPr>
              <a:t>DBMS</a:t>
            </a:r>
            <a:r>
              <a:rPr lang="zh-CN" altLang="en-US" sz="2400" dirty="0">
                <a:latin typeface="宋体" panose="02010600030101010101" pitchFamily="2" charset="-122"/>
                <a:ea typeface="宋体" panose="02010600030101010101" pitchFamily="2" charset="-122"/>
              </a:rPr>
              <a:t>统一管理与控制，为保证数据库中数据的安全、完整和正确有效，要求</a:t>
            </a:r>
            <a:r>
              <a:rPr lang="en-US" altLang="x-none" sz="2400" dirty="0">
                <a:latin typeface="宋体" panose="02010600030101010101" pitchFamily="2" charset="-122"/>
                <a:ea typeface="宋体" panose="02010600030101010101" pitchFamily="2" charset="-122"/>
              </a:rPr>
              <a:t>DBMS</a:t>
            </a:r>
            <a:r>
              <a:rPr lang="zh-CN" altLang="en-US" sz="2400" dirty="0">
                <a:latin typeface="宋体" panose="02010600030101010101" pitchFamily="2" charset="-122"/>
                <a:ea typeface="宋体" panose="02010600030101010101" pitchFamily="2" charset="-122"/>
              </a:rPr>
              <a:t>对数据库实施保护，使其免受某些因素对其中数据造成的破坏。</a:t>
            </a:r>
            <a:endParaRPr lang="zh-CN" altLang="en-US" sz="2400" dirty="0">
              <a:latin typeface="宋体" panose="02010600030101010101" pitchFamily="2" charset="-122"/>
              <a:ea typeface="宋体" panose="02010600030101010101" pitchFamily="2" charset="-122"/>
            </a:endParaRPr>
          </a:p>
        </p:txBody>
      </p:sp>
      <p:sp>
        <p:nvSpPr>
          <p:cNvPr id="8198" name="Text Box 8"/>
          <p:cNvSpPr txBox="1"/>
          <p:nvPr/>
        </p:nvSpPr>
        <p:spPr>
          <a:xfrm>
            <a:off x="620713" y="4446588"/>
            <a:ext cx="7974012" cy="1717675"/>
          </a:xfrm>
          <a:prstGeom prst="rect">
            <a:avLst/>
          </a:prstGeom>
          <a:noFill/>
          <a:ln w="9525">
            <a:noFill/>
          </a:ln>
        </p:spPr>
        <p:txBody>
          <a:bodyPr anchor="t">
            <a:spAutoFit/>
          </a:bodyPr>
          <a:lstStyle/>
          <a:p>
            <a:pPr lvl="0" indent="0">
              <a:lnSpc>
                <a:spcPct val="110000"/>
              </a:lnSpc>
              <a:spcBef>
                <a:spcPts val="1200"/>
              </a:spcBef>
            </a:pPr>
            <a:r>
              <a:rPr lang="zh-CN" altLang="en-US" sz="2200" dirty="0">
                <a:solidFill>
                  <a:srgbClr val="CC3300"/>
                </a:solidFill>
                <a:latin typeface="楷体" panose="02010609060101010101" pitchFamily="1" charset="-122"/>
                <a:ea typeface="楷体" panose="02010609060101010101" pitchFamily="1" charset="-122"/>
              </a:rPr>
              <a:t>    </a:t>
            </a:r>
            <a:r>
              <a:rPr lang="en-US" altLang="x-none" sz="2400" dirty="0">
                <a:latin typeface="宋体" panose="02010600030101010101" pitchFamily="2" charset="-122"/>
                <a:ea typeface="宋体" panose="02010600030101010101" pitchFamily="2" charset="-122"/>
              </a:rPr>
              <a:t>DBMS</a:t>
            </a:r>
            <a:r>
              <a:rPr lang="zh-CN" altLang="en-US" sz="2400" dirty="0">
                <a:latin typeface="宋体" panose="02010600030101010101" pitchFamily="2" charset="-122"/>
                <a:ea typeface="宋体" panose="02010600030101010101" pitchFamily="2" charset="-122"/>
              </a:rPr>
              <a:t>为了实施对其数据库的保护提供了比较完善的保护措施。这些措施包括：</a:t>
            </a:r>
            <a:r>
              <a:rPr lang="zh-CN" altLang="en-US" sz="2400" u="sng" dirty="0">
                <a:solidFill>
                  <a:srgbClr val="FF0000"/>
                </a:solidFill>
                <a:latin typeface="宋体" panose="02010600030101010101" pitchFamily="2" charset="-122"/>
                <a:ea typeface="宋体" panose="02010600030101010101" pitchFamily="2" charset="-122"/>
              </a:rPr>
              <a:t>安全性、完整性、故障恢复和并发控制</a:t>
            </a:r>
            <a:r>
              <a:rPr lang="zh-CN" altLang="en-US" sz="2400" u="sng" dirty="0">
                <a:solidFill>
                  <a:srgbClr val="FF0000"/>
                </a:solidFill>
                <a:latin typeface="楷体" panose="02010609060101010101" pitchFamily="1" charset="-122"/>
                <a:ea typeface="楷体" panose="02010609060101010101" pitchFamily="1" charset="-122"/>
              </a:rPr>
              <a:t>。</a:t>
            </a:r>
            <a:r>
              <a:rPr lang="zh-CN" altLang="en-US" sz="2400" dirty="0">
                <a:latin typeface="宋体" panose="02010600030101010101" pitchFamily="2" charset="-122"/>
                <a:ea typeface="宋体" panose="02010600030101010101" pitchFamily="2" charset="-122"/>
              </a:rPr>
              <a:t>也是数据库管理员和数据库开发人员为更好地管理、维护和开发数据库系统所必须掌握的数据库知识。</a:t>
            </a:r>
            <a:endParaRPr lang="zh-CN" altLang="en-US" sz="2400" dirty="0">
              <a:latin typeface="宋体" panose="02010600030101010101" pitchFamily="2" charset="-122"/>
              <a:ea typeface="宋体" panose="02010600030101010101" pitchFamily="2" charset="-122"/>
            </a:endParaRPr>
          </a:p>
        </p:txBody>
      </p:sp>
      <p:sp>
        <p:nvSpPr>
          <p:cNvPr id="8199" name="Rectangle 2"/>
          <p:cNvSpPr/>
          <p:nvPr/>
        </p:nvSpPr>
        <p:spPr>
          <a:xfrm>
            <a:off x="457200" y="68263"/>
            <a:ext cx="8229600" cy="692150"/>
          </a:xfrm>
          <a:prstGeom prst="rect">
            <a:avLst/>
          </a:prstGeom>
          <a:noFill/>
          <a:ln w="9525">
            <a:noFill/>
          </a:ln>
        </p:spPr>
        <p:txBody>
          <a:bodyPr anchor="ctr"/>
          <a:lstStyle/>
          <a:p>
            <a:pPr lvl="0" indent="0"/>
            <a:r>
              <a:rPr lang="zh-CN" altLang="en-US" sz="3200" dirty="0">
                <a:solidFill>
                  <a:srgbClr val="FF0000"/>
                </a:solidFill>
                <a:latin typeface="Arial" panose="020B0604020202020204" pitchFamily="34" charset="0"/>
                <a:ea typeface="黑体" panose="02010609060101010101" pitchFamily="1" charset="-122"/>
              </a:rPr>
              <a:t>一、数据库保护概况</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401320" y="2319655"/>
            <a:ext cx="7086600" cy="704215"/>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600" b="1" i="0" u="none" strike="noStrike" kern="0" cap="none" spc="0" normalizeH="0" baseline="0" noProof="0" dirty="0" smtClean="0">
                <a:ln>
                  <a:noFill/>
                </a:ln>
                <a:solidFill>
                  <a:srgbClr val="FF0000"/>
                </a:solidFill>
                <a:effectLst/>
                <a:uLnTx/>
                <a:uFillTx/>
                <a:latin typeface="宋体" panose="02010600030101010101" pitchFamily="2" charset="-122"/>
                <a:ea typeface="+mj-ea"/>
                <a:cs typeface="+mj-cs"/>
              </a:rPr>
              <a:t> 非法</a:t>
            </a:r>
            <a:r>
              <a:rPr kumimoji="1" lang="zh-CN" altLang="en-US" sz="2600" b="1" i="0" u="none" strike="noStrike" kern="0" cap="none" spc="0" normalizeH="0" baseline="0" noProof="0" dirty="0">
                <a:ln>
                  <a:noFill/>
                </a:ln>
                <a:solidFill>
                  <a:srgbClr val="FF0000"/>
                </a:solidFill>
                <a:effectLst/>
                <a:uLnTx/>
                <a:uFillTx/>
                <a:latin typeface="宋体" panose="02010600030101010101" pitchFamily="2" charset="-122"/>
                <a:ea typeface="+mj-ea"/>
                <a:cs typeface="+mj-cs"/>
              </a:rPr>
              <a:t>使用数据库的情况</a:t>
            </a:r>
            <a:endParaRPr kumimoji="1" lang="zh-CN" altLang="en-US" sz="2600" b="1" i="0" u="none" strike="noStrike" kern="0" cap="none" spc="0" normalizeH="0" baseline="0" noProof="0" dirty="0">
              <a:ln>
                <a:noFill/>
              </a:ln>
              <a:solidFill>
                <a:srgbClr val="FF0000"/>
              </a:solidFill>
              <a:effectLst/>
              <a:uLnTx/>
              <a:uFillTx/>
              <a:latin typeface="宋体" panose="02010600030101010101" pitchFamily="2" charset="-122"/>
              <a:ea typeface="+mj-ea"/>
              <a:cs typeface="+mj-cs"/>
            </a:endParaRPr>
          </a:p>
        </p:txBody>
      </p:sp>
      <p:sp>
        <p:nvSpPr>
          <p:cNvPr id="5" name="Rectangle 3"/>
          <p:cNvSpPr txBox="1">
            <a:spLocks noChangeArrowheads="1"/>
          </p:cNvSpPr>
          <p:nvPr/>
        </p:nvSpPr>
        <p:spPr>
          <a:xfrm>
            <a:off x="614045" y="2822575"/>
            <a:ext cx="7877175" cy="1423670"/>
          </a:xfrm>
          <a:prstGeom prst="rect">
            <a:avLst/>
          </a:prstGeom>
          <a:ln>
            <a:solidFill>
              <a:schemeClr val="accent1"/>
            </a:solidFill>
          </a:ln>
        </p:spPr>
        <p:txBody>
          <a:bodyPr/>
          <a:lstStyle/>
          <a:p>
            <a:pPr marL="342900" marR="0" lvl="0" indent="-342900" algn="l" defTabSz="914400" rtl="0" eaLnBrk="0" fontAlgn="base" latinLnBrk="0" hangingPunct="0">
              <a:lnSpc>
                <a:spcPct val="110000"/>
              </a:lnSpc>
              <a:spcBef>
                <a:spcPts val="200"/>
              </a:spcBef>
              <a:spcAft>
                <a:spcPts val="0"/>
              </a:spcAft>
              <a:buClr>
                <a:srgbClr val="0033CC"/>
              </a:buClr>
              <a:buSzPct val="80000"/>
              <a:buFont typeface="Wingdings" panose="05000000000000000000" pitchFamily="2" charset="2"/>
              <a:buChar char="u"/>
              <a:defRPr/>
            </a:pP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编写合法程序绕过</a:t>
            </a:r>
            <a:r>
              <a:rPr kumimoji="0" lang="en-US" altLang="zh-CN"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DBMS</a:t>
            </a: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及其授权机制</a:t>
            </a:r>
            <a:endPar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a:p>
            <a:pPr marL="342900" marR="0" lvl="0" indent="-342900" algn="l" defTabSz="914400" rtl="0" eaLnBrk="0" fontAlgn="base" latinLnBrk="0" hangingPunct="0">
              <a:lnSpc>
                <a:spcPct val="110000"/>
              </a:lnSpc>
              <a:spcBef>
                <a:spcPts val="200"/>
              </a:spcBef>
              <a:spcAft>
                <a:spcPts val="0"/>
              </a:spcAft>
              <a:buClr>
                <a:srgbClr val="0033CC"/>
              </a:buClr>
              <a:buSzPct val="80000"/>
              <a:buFont typeface="Wingdings" panose="05000000000000000000" pitchFamily="2" charset="2"/>
              <a:buChar char="u"/>
              <a:defRPr/>
            </a:pP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直接或编写应用程序执行非授权操作</a:t>
            </a:r>
            <a:endPar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a:p>
            <a:pPr marL="342900" marR="0" lvl="0" indent="-342900" algn="l" defTabSz="914400" rtl="0" eaLnBrk="0" fontAlgn="base" latinLnBrk="0" hangingPunct="0">
              <a:lnSpc>
                <a:spcPct val="110000"/>
              </a:lnSpc>
              <a:spcBef>
                <a:spcPts val="200"/>
              </a:spcBef>
              <a:spcAft>
                <a:spcPts val="0"/>
              </a:spcAft>
              <a:buClr>
                <a:srgbClr val="0033CC"/>
              </a:buClr>
              <a:buSzPct val="80000"/>
              <a:buFont typeface="Wingdings" panose="05000000000000000000" pitchFamily="2" charset="2"/>
              <a:buChar char="u"/>
              <a:defRPr/>
            </a:pP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通过多次合法查询数据库从中推导出一些保密数据</a:t>
            </a:r>
            <a:endPar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a:p>
            <a:pPr marL="342900" marR="0" lvl="0" indent="-342900" algn="l" defTabSz="914400" rtl="0" eaLnBrk="0" fontAlgn="base" latinLnBrk="0" hangingPunct="0">
              <a:lnSpc>
                <a:spcPct val="110000"/>
              </a:lnSpc>
              <a:spcBef>
                <a:spcPct val="20000"/>
              </a:spcBef>
              <a:spcAft>
                <a:spcPct val="0"/>
              </a:spcAft>
              <a:buClr>
                <a:srgbClr val="0033CC"/>
              </a:buClr>
              <a:buSzPct val="80000"/>
              <a:buFont typeface="Wingdings" panose="05000000000000000000" pitchFamily="2" charset="2"/>
              <a:buChar char="u"/>
              <a:defRPr/>
            </a:pPr>
            <a:endParaRPr kumimoji="0" lang="en-US" altLang="zh-CN" sz="2400" b="1" i="0" u="none" strike="noStrike" kern="0" cap="none" spc="0" normalizeH="0" baseline="0" noProof="0" dirty="0">
              <a:ln>
                <a:noFill/>
              </a:ln>
              <a:solidFill>
                <a:schemeClr val="tx1"/>
              </a:solidFill>
              <a:effectLst/>
              <a:uLnTx/>
              <a:uFillTx/>
              <a:latin typeface="华文楷体" panose="02010600040101010101" pitchFamily="2" charset="-122"/>
              <a:ea typeface="+mn-ea"/>
              <a:cs typeface="+mn-cs"/>
            </a:endParaRPr>
          </a:p>
        </p:txBody>
      </p:sp>
      <p:sp>
        <p:nvSpPr>
          <p:cNvPr id="9" name="文本框 8"/>
          <p:cNvSpPr txBox="1"/>
          <p:nvPr/>
        </p:nvSpPr>
        <p:spPr>
          <a:xfrm>
            <a:off x="614045" y="4299880"/>
            <a:ext cx="8155940" cy="1282700"/>
          </a:xfrm>
          <a:prstGeom prst="rect">
            <a:avLst/>
          </a:prstGeom>
          <a:noFill/>
        </p:spPr>
        <p:txBody>
          <a:bodyPr wrap="square" rtlCol="0" anchor="t">
            <a:spAutoFit/>
          </a:bodyPr>
          <a:lstStyle/>
          <a:p>
            <a:pPr marR="0" lvl="0" algn="l" defTabSz="914400" rtl="0" eaLnBrk="0" fontAlgn="base" latinLnBrk="0" hangingPunct="0">
              <a:lnSpc>
                <a:spcPct val="100000"/>
              </a:lnSpc>
              <a:spcBef>
                <a:spcPts val="200"/>
              </a:spcBef>
              <a:spcAft>
                <a:spcPts val="0"/>
              </a:spcAft>
              <a:buClr>
                <a:srgbClr val="0033CC"/>
              </a:buClr>
              <a:buSzPct val="80000"/>
              <a:buFont typeface="Wingdings" panose="05000000000000000000" pitchFamily="2" charset="2"/>
              <a:buNone/>
              <a:defRPr/>
            </a:pPr>
            <a:r>
              <a:rPr lang="zh-CN" altLang="en-US" sz="2400" kern="0" noProof="0" dirty="0">
                <a:ln>
                  <a:noFill/>
                </a:ln>
                <a:effectLst/>
                <a:uLnTx/>
                <a:uFillTx/>
                <a:latin typeface="+mj-ea"/>
                <a:ea typeface="+mj-ea"/>
                <a:cs typeface="+mn-cs"/>
                <a:sym typeface="+mn-ea"/>
              </a:rPr>
              <a:t>例</a:t>
            </a:r>
            <a:r>
              <a:rPr lang="zh-CN" altLang="en-US" sz="2400" kern="0" noProof="0" dirty="0">
                <a:ln>
                  <a:noFill/>
                </a:ln>
                <a:effectLst/>
                <a:uLnTx/>
                <a:uFillTx/>
                <a:latin typeface="+mn-ea"/>
                <a:ea typeface="+mn-ea"/>
                <a:cs typeface="+mn-cs"/>
                <a:sym typeface="+mn-ea"/>
              </a:rPr>
              <a:t>：</a:t>
            </a:r>
            <a:r>
              <a:rPr lang="zh-CN" altLang="en-US" sz="2300" kern="0" noProof="0" dirty="0">
                <a:ln>
                  <a:noFill/>
                </a:ln>
                <a:effectLst/>
                <a:uLnTx/>
                <a:uFillTx/>
                <a:latin typeface="+mn-ea"/>
                <a:ea typeface="+mn-ea"/>
                <a:cs typeface="+mn-cs"/>
                <a:sym typeface="+mn-ea"/>
              </a:rPr>
              <a:t>某数据库应用系统禁止查询单个人的工资，但允许查询任意一组人的平均工资。用户甲想了解张三的工资，于是他：</a:t>
            </a:r>
            <a:endParaRPr lang="zh-CN" altLang="en-US" sz="2300" kern="0" noProof="0" dirty="0">
              <a:ln>
                <a:noFill/>
              </a:ln>
              <a:effectLst/>
              <a:uLnTx/>
              <a:uFillTx/>
              <a:latin typeface="楷体" panose="02010609060101010101" pitchFamily="1" charset="-122"/>
              <a:ea typeface="楷体" panose="02010609060101010101" pitchFamily="1" charset="-122"/>
              <a:cs typeface="+mn-cs"/>
              <a:sym typeface="+mn-ea"/>
            </a:endParaRPr>
          </a:p>
          <a:p>
            <a:pPr marR="0" lvl="0" algn="l" defTabSz="914400" rtl="0" eaLnBrk="0" fontAlgn="base" latinLnBrk="0" hangingPunct="0">
              <a:lnSpc>
                <a:spcPct val="125000"/>
              </a:lnSpc>
              <a:spcBef>
                <a:spcPts val="200"/>
              </a:spcBef>
              <a:spcAft>
                <a:spcPts val="0"/>
              </a:spcAft>
              <a:buClr>
                <a:srgbClr val="0033CC"/>
              </a:buClr>
              <a:buSzPct val="80000"/>
              <a:buFont typeface="Wingdings" panose="05000000000000000000" pitchFamily="2" charset="2"/>
              <a:buNone/>
              <a:defRPr/>
            </a:pPr>
            <a:endParaRPr lang="zh-CN" altLang="en-US" sz="2300" kern="0" noProof="0" dirty="0">
              <a:ln>
                <a:noFill/>
              </a:ln>
              <a:effectLst/>
              <a:uLnTx/>
              <a:uFillTx/>
              <a:latin typeface="楷体" panose="02010609060101010101" pitchFamily="1" charset="-122"/>
              <a:ea typeface="楷体" panose="02010609060101010101" pitchFamily="1" charset="-122"/>
              <a:cs typeface="+mn-cs"/>
              <a:sym typeface="+mn-ea"/>
            </a:endParaRPr>
          </a:p>
        </p:txBody>
      </p:sp>
      <p:sp>
        <p:nvSpPr>
          <p:cNvPr id="10" name="文本框 9"/>
          <p:cNvSpPr txBox="1"/>
          <p:nvPr/>
        </p:nvSpPr>
        <p:spPr>
          <a:xfrm>
            <a:off x="737235" y="5091261"/>
            <a:ext cx="7689850" cy="1207135"/>
          </a:xfrm>
          <a:prstGeom prst="rect">
            <a:avLst/>
          </a:prstGeom>
          <a:noFill/>
        </p:spPr>
        <p:txBody>
          <a:bodyPr wrap="square" rtlCol="0" anchor="t">
            <a:spAutoFit/>
          </a:bodyPr>
          <a:lstStyle/>
          <a:p>
            <a:pPr marR="0" lvl="0" algn="l" defTabSz="914400" rtl="0" eaLnBrk="0" fontAlgn="base" latinLnBrk="0" hangingPunct="0">
              <a:lnSpc>
                <a:spcPct val="110000"/>
              </a:lnSpc>
              <a:spcBef>
                <a:spcPts val="0"/>
              </a:spcBef>
              <a:spcAft>
                <a:spcPts val="0"/>
              </a:spcAft>
              <a:buClr>
                <a:srgbClr val="0033CC"/>
              </a:buClr>
              <a:buSzPct val="80000"/>
              <a:buFont typeface="Wingdings" panose="05000000000000000000" charset="0"/>
              <a:buChar char="Ø"/>
              <a:defRPr/>
            </a:pPr>
            <a:r>
              <a:rPr lang="zh-CN" altLang="en-US" sz="2200" kern="0" noProof="0" dirty="0">
                <a:ln>
                  <a:noFill/>
                </a:ln>
                <a:solidFill>
                  <a:srgbClr val="0033CC"/>
                </a:solidFill>
                <a:effectLst/>
                <a:uLnTx/>
                <a:uFillTx/>
                <a:latin typeface="楷体" panose="02010609060101010101" pitchFamily="1" charset="-122"/>
                <a:ea typeface="楷体" panose="02010609060101010101" pitchFamily="1" charset="-122"/>
                <a:cs typeface="+mn-cs"/>
                <a:sym typeface="+mn-ea"/>
              </a:rPr>
              <a:t>首先查询包括张三在内的一组人的平均工资；</a:t>
            </a:r>
            <a:endParaRPr lang="zh-CN" altLang="en-US" sz="2200" kern="0" noProof="0" dirty="0">
              <a:ln>
                <a:noFill/>
              </a:ln>
              <a:solidFill>
                <a:srgbClr val="0033CC"/>
              </a:solidFill>
              <a:effectLst/>
              <a:uLnTx/>
              <a:uFillTx/>
              <a:latin typeface="楷体" panose="02010609060101010101" pitchFamily="1" charset="-122"/>
              <a:ea typeface="楷体" panose="02010609060101010101" pitchFamily="1" charset="-122"/>
              <a:cs typeface="+mn-cs"/>
              <a:sym typeface="+mn-ea"/>
            </a:endParaRPr>
          </a:p>
          <a:p>
            <a:pPr marR="0" lvl="0" algn="l" defTabSz="914400" rtl="0" eaLnBrk="0" fontAlgn="base" latinLnBrk="0" hangingPunct="0">
              <a:lnSpc>
                <a:spcPct val="110000"/>
              </a:lnSpc>
              <a:spcBef>
                <a:spcPts val="0"/>
              </a:spcBef>
              <a:spcAft>
                <a:spcPts val="0"/>
              </a:spcAft>
              <a:buClr>
                <a:srgbClr val="0033CC"/>
              </a:buClr>
              <a:buSzPct val="80000"/>
              <a:buFont typeface="Wingdings" panose="05000000000000000000" charset="0"/>
              <a:buChar char="Ø"/>
              <a:defRPr/>
            </a:pPr>
            <a:r>
              <a:rPr lang="zh-CN" altLang="en-US" sz="2200" kern="0" noProof="0" dirty="0">
                <a:ln>
                  <a:noFill/>
                </a:ln>
                <a:solidFill>
                  <a:srgbClr val="0033CC"/>
                </a:solidFill>
                <a:effectLst/>
                <a:uLnTx/>
                <a:uFillTx/>
                <a:latin typeface="楷体" panose="02010609060101010101" pitchFamily="1" charset="-122"/>
                <a:ea typeface="楷体" panose="02010609060101010101" pitchFamily="1" charset="-122"/>
                <a:cs typeface="+mn-cs"/>
                <a:sym typeface="+mn-ea"/>
              </a:rPr>
              <a:t>然后查用自己替换张三后这组人的平均工资；</a:t>
            </a:r>
            <a:endParaRPr lang="zh-CN" altLang="en-US" sz="2200" kern="0" noProof="0" dirty="0">
              <a:ln>
                <a:noFill/>
              </a:ln>
              <a:solidFill>
                <a:srgbClr val="0033CC"/>
              </a:solidFill>
              <a:effectLst/>
              <a:uLnTx/>
              <a:uFillTx/>
              <a:latin typeface="楷体" panose="02010609060101010101" pitchFamily="1" charset="-122"/>
              <a:ea typeface="楷体" panose="02010609060101010101" pitchFamily="1" charset="-122"/>
              <a:cs typeface="+mn-cs"/>
              <a:sym typeface="+mn-ea"/>
            </a:endParaRPr>
          </a:p>
          <a:p>
            <a:pPr marR="0" lvl="0" algn="l" defTabSz="914400" rtl="0" eaLnBrk="0" fontAlgn="base" latinLnBrk="0" hangingPunct="0">
              <a:lnSpc>
                <a:spcPct val="110000"/>
              </a:lnSpc>
              <a:spcBef>
                <a:spcPts val="0"/>
              </a:spcBef>
              <a:spcAft>
                <a:spcPts val="0"/>
              </a:spcAft>
              <a:buClr>
                <a:srgbClr val="0033CC"/>
              </a:buClr>
              <a:buSzPct val="80000"/>
              <a:buFont typeface="Wingdings" panose="05000000000000000000" charset="0"/>
              <a:buChar char="Ø"/>
              <a:defRPr/>
            </a:pPr>
            <a:r>
              <a:rPr lang="zh-CN" altLang="en-US" sz="2200" kern="0" noProof="0" dirty="0">
                <a:ln>
                  <a:noFill/>
                </a:ln>
                <a:solidFill>
                  <a:srgbClr val="0033CC"/>
                </a:solidFill>
                <a:effectLst/>
                <a:uLnTx/>
                <a:uFillTx/>
                <a:latin typeface="楷体" panose="02010609060101010101" pitchFamily="1" charset="-122"/>
                <a:ea typeface="楷体" panose="02010609060101010101" pitchFamily="1" charset="-122"/>
                <a:cs typeface="+mn-cs"/>
                <a:sym typeface="+mn-ea"/>
              </a:rPr>
              <a:t>从而反推出张三的工资。</a:t>
            </a:r>
            <a:endParaRPr lang="zh-CN" altLang="en-US" sz="2200" kern="0" noProof="0" dirty="0">
              <a:ln>
                <a:noFill/>
              </a:ln>
              <a:solidFill>
                <a:srgbClr val="0033CC"/>
              </a:solidFill>
              <a:effectLst/>
              <a:uLnTx/>
              <a:uFillTx/>
              <a:latin typeface="楷体" panose="02010609060101010101" pitchFamily="1" charset="-122"/>
              <a:ea typeface="楷体" panose="02010609060101010101" pitchFamily="1" charset="-122"/>
              <a:cs typeface="+mn-cs"/>
              <a:sym typeface="+mn-ea"/>
            </a:endParaRPr>
          </a:p>
        </p:txBody>
      </p:sp>
      <p:sp>
        <p:nvSpPr>
          <p:cNvPr id="7" name="Rectangle 2"/>
          <p:cNvSpPr/>
          <p:nvPr/>
        </p:nvSpPr>
        <p:spPr>
          <a:xfrm>
            <a:off x="457200" y="68263"/>
            <a:ext cx="8229600" cy="692150"/>
          </a:xfrm>
          <a:prstGeom prst="rect">
            <a:avLst/>
          </a:prstGeom>
          <a:noFill/>
          <a:ln w="9525">
            <a:noFill/>
          </a:ln>
        </p:spPr>
        <p:txBody>
          <a:bodyPr anchor="ctr"/>
          <a:lstStyle/>
          <a:p>
            <a:pPr lvl="0" eaLnBrk="1" hangingPunct="1"/>
            <a:r>
              <a:rPr lang="zh-CN" altLang="en-US" sz="3200" dirty="0">
                <a:solidFill>
                  <a:srgbClr val="FF0000"/>
                </a:solidFill>
                <a:latin typeface="Arial" panose="020B0604020202020204" pitchFamily="34" charset="0"/>
                <a:ea typeface="黑体" panose="02010609060101010101" pitchFamily="1" charset="-122"/>
              </a:rPr>
              <a:t>二、数据库的安全性</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11" name="Rectangle 2"/>
          <p:cNvSpPr txBox="1">
            <a:spLocks noChangeArrowheads="1"/>
          </p:cNvSpPr>
          <p:nvPr/>
        </p:nvSpPr>
        <p:spPr bwMode="auto">
          <a:xfrm>
            <a:off x="457200" y="767397"/>
            <a:ext cx="5689600" cy="576263"/>
          </a:xfrm>
          <a:prstGeom prst="rect">
            <a:avLst/>
          </a:prstGeom>
          <a:noFill/>
          <a:ln>
            <a:miter lim="800000"/>
          </a:ln>
        </p:spPr>
        <p:txBody>
          <a:bodyPr/>
          <a:lstStyle/>
          <a:p>
            <a:pPr marL="457200" marR="0" lvl="0" indent="-457200" algn="l" defTabSz="914400" rtl="0" eaLnBrk="1" fontAlgn="base" latinLnBrk="0" hangingPunct="1">
              <a:lnSpc>
                <a:spcPct val="135000"/>
              </a:lnSpc>
              <a:spcBef>
                <a:spcPct val="0"/>
              </a:spcBef>
              <a:spcAft>
                <a:spcPct val="0"/>
              </a:spcAft>
              <a:buClrTx/>
              <a:buSzTx/>
              <a:buFontTx/>
              <a:buNone/>
              <a:tabLst>
                <a:tab pos="1428750" algn="l"/>
              </a:tabLst>
              <a:defRPr/>
            </a:pPr>
            <a:r>
              <a:rPr kumimoji="1" lang="en-US" altLang="zh-CN" sz="2800" b="1" i="0" u="none" strike="noStrike" kern="0" cap="none" spc="0" normalizeH="0" baseline="0" noProof="0" dirty="0">
                <a:ln>
                  <a:noFill/>
                </a:ln>
                <a:solidFill>
                  <a:srgbClr val="0033CC"/>
                </a:solidFill>
                <a:effectLst/>
                <a:uLnTx/>
                <a:uFillTx/>
                <a:latin typeface="+mj-ea"/>
                <a:ea typeface="+mj-ea"/>
                <a:cs typeface="+mj-cs"/>
              </a:rPr>
              <a:t>1.</a:t>
            </a:r>
            <a:r>
              <a:rPr kumimoji="1" lang="zh-CN" altLang="en-US" sz="2800" b="1" i="0" u="none" strike="noStrike" kern="0" cap="none" spc="0" normalizeH="0" baseline="0" noProof="0" dirty="0">
                <a:ln>
                  <a:noFill/>
                </a:ln>
                <a:solidFill>
                  <a:srgbClr val="0033CC"/>
                </a:solidFill>
                <a:effectLst/>
                <a:uLnTx/>
                <a:uFillTx/>
                <a:latin typeface="+mj-ea"/>
                <a:ea typeface="+mj-ea"/>
                <a:cs typeface="+mj-cs"/>
              </a:rPr>
              <a:t>数据库的安全性概况</a:t>
            </a:r>
            <a:endParaRPr kumimoji="1" lang="zh-CN" altLang="en-US" sz="2800" b="1" i="0" u="none" strike="noStrike" kern="0" cap="none" spc="0" normalizeH="0" baseline="0" noProof="0" dirty="0">
              <a:ln>
                <a:noFill/>
              </a:ln>
              <a:solidFill>
                <a:srgbClr val="0033CC"/>
              </a:solidFill>
              <a:effectLst/>
              <a:uLnTx/>
              <a:uFillTx/>
              <a:latin typeface="+mj-ea"/>
              <a:ea typeface="+mj-ea"/>
              <a:cs typeface="+mj-cs"/>
            </a:endParaRPr>
          </a:p>
        </p:txBody>
      </p:sp>
      <p:sp>
        <p:nvSpPr>
          <p:cNvPr id="20483" name="Text Box 3"/>
          <p:cNvSpPr txBox="1"/>
          <p:nvPr/>
        </p:nvSpPr>
        <p:spPr>
          <a:xfrm>
            <a:off x="507365" y="1474470"/>
            <a:ext cx="8013065" cy="768350"/>
          </a:xfrm>
          <a:prstGeom prst="rect">
            <a:avLst/>
          </a:prstGeom>
          <a:noFill/>
          <a:ln w="9525">
            <a:solidFill>
              <a:srgbClr val="0033CC"/>
            </a:solidFill>
            <a:prstDash val="dash"/>
          </a:ln>
        </p:spPr>
        <p:txBody>
          <a:bodyPr wrap="square">
            <a:spAutoFit/>
          </a:bodyPr>
          <a:p>
            <a:pPr marL="457200" lvl="0" indent="-457200" eaLnBrk="1" hangingPunct="1">
              <a:lnSpc>
                <a:spcPct val="100000"/>
              </a:lnSpc>
              <a:spcBef>
                <a:spcPts val="300"/>
              </a:spcBef>
              <a:spcAft>
                <a:spcPts val="0"/>
              </a:spcAft>
              <a:buFont typeface="Wingdings" panose="05000000000000000000" pitchFamily="2" charset="2"/>
              <a:buChar char="Ø"/>
            </a:pPr>
            <a:r>
              <a:rPr lang="zh-CN" altLang="en-US" sz="2200" dirty="0">
                <a:solidFill>
                  <a:srgbClr val="FF0000"/>
                </a:solidFill>
                <a:latin typeface="华文中宋" panose="02010600040101010101" charset="-122"/>
                <a:ea typeface="华文中宋" panose="02010600040101010101" charset="-122"/>
              </a:rPr>
              <a:t>定义：数据库的安全性（</a:t>
            </a:r>
            <a:r>
              <a:rPr lang="en-US" altLang="zh-CN" sz="2200" dirty="0">
                <a:solidFill>
                  <a:srgbClr val="FF0000"/>
                </a:solidFill>
                <a:latin typeface="华文中宋" panose="02010600040101010101" charset="-122"/>
                <a:ea typeface="华文中宋" panose="02010600040101010101" charset="-122"/>
              </a:rPr>
              <a:t>Security)</a:t>
            </a:r>
            <a:r>
              <a:rPr lang="zh-CN" altLang="en-US" sz="2200" dirty="0">
                <a:solidFill>
                  <a:srgbClr val="FF0000"/>
                </a:solidFill>
                <a:latin typeface="华文中宋" panose="02010600040101010101" charset="-122"/>
                <a:ea typeface="华文中宋" panose="02010600040101010101" charset="-122"/>
              </a:rPr>
              <a:t>是指保护数据库，防止不合法的使用，以免数据的泄密、更改或破坏。</a:t>
            </a:r>
            <a:endParaRPr lang="zh-CN" altLang="en-US" sz="2200" dirty="0">
              <a:solidFill>
                <a:srgbClr val="FF0000"/>
              </a:solidFill>
              <a:latin typeface="华文中宋" panose="02010600040101010101" charset="-122"/>
              <a:ea typeface="华文中宋" panose="0201060004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571500" y="765175"/>
            <a:ext cx="5689600" cy="576263"/>
          </a:xfrm>
          <a:prstGeom prst="rect">
            <a:avLst/>
          </a:prstGeom>
          <a:noFill/>
          <a:ln>
            <a:miter lim="800000"/>
          </a:ln>
        </p:spPr>
        <p:txBody>
          <a:bodyPr/>
          <a:lstStyle/>
          <a:p>
            <a:pPr marL="457200" marR="0" lvl="0" indent="-457200" algn="l" defTabSz="914400" rtl="0" eaLnBrk="1" fontAlgn="base" latinLnBrk="0" hangingPunct="1">
              <a:lnSpc>
                <a:spcPct val="135000"/>
              </a:lnSpc>
              <a:spcBef>
                <a:spcPct val="0"/>
              </a:spcBef>
              <a:spcAft>
                <a:spcPct val="0"/>
              </a:spcAft>
              <a:buClrTx/>
              <a:buSzTx/>
              <a:buFontTx/>
              <a:buNone/>
              <a:tabLst>
                <a:tab pos="1428750" algn="l"/>
              </a:tabLst>
              <a:defRPr/>
            </a:pPr>
            <a:r>
              <a:rPr kumimoji="1" lang="en-US" altLang="zh-CN" sz="2800" b="1" i="0" u="none" strike="noStrike" kern="0" cap="none" spc="0" normalizeH="0" baseline="0" noProof="0" dirty="0">
                <a:ln>
                  <a:noFill/>
                </a:ln>
                <a:solidFill>
                  <a:srgbClr val="0033CC"/>
                </a:solidFill>
                <a:effectLst/>
                <a:uLnTx/>
                <a:uFillTx/>
                <a:latin typeface="+mj-ea"/>
                <a:ea typeface="+mj-ea"/>
                <a:cs typeface="+mj-cs"/>
              </a:rPr>
              <a:t>1.</a:t>
            </a:r>
            <a:r>
              <a:rPr kumimoji="1" lang="zh-CN" altLang="en-US" sz="2800" b="1" i="0" u="none" strike="noStrike" kern="0" cap="none" spc="0" normalizeH="0" baseline="0" noProof="0" dirty="0">
                <a:ln>
                  <a:noFill/>
                </a:ln>
                <a:solidFill>
                  <a:srgbClr val="0033CC"/>
                </a:solidFill>
                <a:effectLst/>
                <a:uLnTx/>
                <a:uFillTx/>
                <a:latin typeface="+mj-ea"/>
                <a:ea typeface="+mj-ea"/>
                <a:cs typeface="+mj-cs"/>
              </a:rPr>
              <a:t>数据库的安全性概况</a:t>
            </a:r>
            <a:endParaRPr kumimoji="1" lang="zh-CN" altLang="en-US" sz="2800" b="1" i="0" u="none" strike="noStrike" kern="0" cap="none" spc="0" normalizeH="0" baseline="0" noProof="0" dirty="0">
              <a:ln>
                <a:noFill/>
              </a:ln>
              <a:solidFill>
                <a:srgbClr val="0033CC"/>
              </a:solidFill>
              <a:effectLst/>
              <a:uLnTx/>
              <a:uFillTx/>
              <a:latin typeface="+mj-ea"/>
              <a:ea typeface="+mj-ea"/>
              <a:cs typeface="+mj-cs"/>
            </a:endParaRPr>
          </a:p>
        </p:txBody>
      </p:sp>
      <p:sp>
        <p:nvSpPr>
          <p:cNvPr id="20484" name="Rectangle 2"/>
          <p:cNvSpPr/>
          <p:nvPr/>
        </p:nvSpPr>
        <p:spPr>
          <a:xfrm>
            <a:off x="457200" y="68263"/>
            <a:ext cx="8229600" cy="692150"/>
          </a:xfrm>
          <a:prstGeom prst="rect">
            <a:avLst/>
          </a:prstGeom>
          <a:noFill/>
          <a:ln w="9525">
            <a:noFill/>
          </a:ln>
        </p:spPr>
        <p:txBody>
          <a:bodyPr anchor="ctr"/>
          <a:lstStyle/>
          <a:p>
            <a:pPr lvl="0" eaLnBrk="1" hangingPunct="1"/>
            <a:r>
              <a:rPr lang="zh-CN" altLang="en-US" sz="3200" dirty="0">
                <a:solidFill>
                  <a:srgbClr val="FF0000"/>
                </a:solidFill>
                <a:latin typeface="Arial" panose="020B0604020202020204" pitchFamily="34" charset="0"/>
                <a:ea typeface="黑体" panose="02010609060101010101" pitchFamily="1" charset="-122"/>
              </a:rPr>
              <a:t>二、数据库的安全性</a:t>
            </a:r>
            <a:endParaRPr lang="en-US" altLang="zh-CN" sz="3200" dirty="0">
              <a:solidFill>
                <a:srgbClr val="FF0000"/>
              </a:solidFill>
              <a:latin typeface="Arial" panose="020B0604020202020204" pitchFamily="34" charset="0"/>
              <a:ea typeface="黑体" panose="02010609060101010101" pitchFamily="1" charset="-122"/>
            </a:endParaRPr>
          </a:p>
        </p:txBody>
      </p:sp>
      <p:grpSp>
        <p:nvGrpSpPr>
          <p:cNvPr id="2" name="组合 1"/>
          <p:cNvGrpSpPr/>
          <p:nvPr/>
        </p:nvGrpSpPr>
        <p:grpSpPr>
          <a:xfrm>
            <a:off x="753745" y="3138805"/>
            <a:ext cx="8125460" cy="2951970"/>
            <a:chOff x="960" y="4157"/>
            <a:chExt cx="12796" cy="4862"/>
          </a:xfrm>
        </p:grpSpPr>
        <p:sp>
          <p:nvSpPr>
            <p:cNvPr id="12" name="Rectangle 2"/>
            <p:cNvSpPr txBox="1">
              <a:spLocks noChangeArrowheads="1"/>
            </p:cNvSpPr>
            <p:nvPr/>
          </p:nvSpPr>
          <p:spPr>
            <a:xfrm>
              <a:off x="960" y="4157"/>
              <a:ext cx="11160" cy="1178"/>
            </a:xfrm>
            <a:prstGeom prst="rect">
              <a:avLst/>
            </a:prstGeom>
          </p:spPr>
          <p:txBody>
            <a:bodyPr/>
            <a:lstStyle/>
            <a:p>
              <a:pPr marL="457200" marR="0" lvl="0" indent="-457200" algn="l" defTabSz="914400" rtl="0" eaLnBrk="0" fontAlgn="base" latinLnBrk="0" hangingPunct="0">
                <a:lnSpc>
                  <a:spcPct val="100000"/>
                </a:lnSpc>
                <a:spcBef>
                  <a:spcPct val="0"/>
                </a:spcBef>
                <a:spcAft>
                  <a:spcPct val="0"/>
                </a:spcAft>
                <a:buClrTx/>
                <a:buSzTx/>
                <a:buFont typeface="Wingdings" panose="05000000000000000000" charset="0"/>
                <a:buChar char="p"/>
                <a:defRPr/>
              </a:pPr>
              <a:r>
                <a:rPr kumimoji="1" lang="en-US" altLang="zh-CN"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DBMS</a:t>
              </a:r>
              <a:r>
                <a:rPr kumimoji="1" lang="zh-CN" altLang="en-US"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与</a:t>
              </a:r>
              <a:r>
                <a:rPr kumimoji="1" lang="en-US" altLang="zh-CN"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OS</a:t>
              </a:r>
              <a:r>
                <a:rPr kumimoji="1" lang="zh-CN" altLang="en-US"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在安全上的关系</a:t>
              </a:r>
              <a:endParaRPr kumimoji="1" lang="zh-CN" altLang="en-US"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endParaRPr>
            </a:p>
          </p:txBody>
        </p:sp>
        <p:sp>
          <p:nvSpPr>
            <p:cNvPr id="13" name="Rectangle 3"/>
            <p:cNvSpPr txBox="1">
              <a:spLocks noChangeArrowheads="1"/>
            </p:cNvSpPr>
            <p:nvPr/>
          </p:nvSpPr>
          <p:spPr>
            <a:xfrm>
              <a:off x="1191" y="4867"/>
              <a:ext cx="12565" cy="4152"/>
            </a:xfrm>
            <a:prstGeom prst="rect">
              <a:avLst/>
            </a:prstGeom>
          </p:spPr>
          <p:txBody>
            <a:bodyPr/>
            <a:lstStyle/>
            <a:p>
              <a:pPr marL="342900" marR="0" lvl="0" indent="-342900" algn="l" defTabSz="914400" rtl="0" eaLnBrk="0" fontAlgn="base" latinLnBrk="0" hangingPunct="0">
                <a:lnSpc>
                  <a:spcPct val="125000"/>
                </a:lnSpc>
                <a:spcBef>
                  <a:spcPts val="200"/>
                </a:spcBef>
                <a:spcAft>
                  <a:spcPts val="0"/>
                </a:spcAft>
                <a:buClr>
                  <a:srgbClr val="0033CC"/>
                </a:buClr>
                <a:buSzPct val="80000"/>
                <a:buFont typeface="Wingdings" panose="05000000000000000000" pitchFamily="2" charset="2"/>
                <a:buChar char="u"/>
                <a:defRPr/>
              </a:pPr>
              <a:r>
                <a:rPr kumimoji="0" lang="zh-CN" altLang="en-US"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除了</a:t>
              </a:r>
              <a:r>
                <a:rPr kumimoji="0" lang="en-US" altLang="zh-CN"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OS</a:t>
              </a:r>
              <a:r>
                <a:rPr kumimoji="0" lang="zh-CN" altLang="en-US"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的安全屏障外，</a:t>
              </a:r>
              <a:r>
                <a:rPr kumimoji="0" lang="en-US" altLang="zh-CN"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DBMS</a:t>
              </a:r>
              <a:r>
                <a:rPr kumimoji="0" lang="zh-CN" altLang="en-US"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为加强其安全性，亦应建立有自己的安全体系；</a:t>
              </a:r>
              <a:endParaRPr kumimoji="0" lang="zh-CN" altLang="en-US"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a:p>
              <a:pPr marL="342900" marR="0" lvl="0" indent="-342900" algn="l" defTabSz="914400" rtl="0" eaLnBrk="0" fontAlgn="base" latinLnBrk="0" hangingPunct="0">
                <a:lnSpc>
                  <a:spcPct val="125000"/>
                </a:lnSpc>
                <a:spcBef>
                  <a:spcPts val="200"/>
                </a:spcBef>
                <a:spcAft>
                  <a:spcPts val="0"/>
                </a:spcAft>
                <a:buClr>
                  <a:srgbClr val="0033CC"/>
                </a:buClr>
                <a:buSzPct val="80000"/>
                <a:buFont typeface="Wingdings" panose="05000000000000000000" pitchFamily="2" charset="2"/>
                <a:buChar char="u"/>
                <a:defRPr/>
              </a:pPr>
              <a:r>
                <a:rPr kumimoji="0" lang="zh-CN" altLang="en-US"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由于</a:t>
              </a:r>
              <a:r>
                <a:rPr kumimoji="0" lang="en-US" altLang="zh-CN"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DBMS</a:t>
              </a:r>
              <a:r>
                <a:rPr kumimoji="0" lang="zh-CN" altLang="en-US"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建立在</a:t>
              </a:r>
              <a:r>
                <a:rPr kumimoji="0" lang="en-US" altLang="zh-CN"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OS</a:t>
              </a:r>
              <a:r>
                <a:rPr kumimoji="0" lang="zh-CN" altLang="en-US"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之上，要求</a:t>
              </a:r>
              <a:r>
                <a:rPr kumimoji="0" lang="en-US" altLang="zh-CN"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OS</a:t>
              </a:r>
              <a:r>
                <a:rPr kumimoji="0" lang="zh-CN" altLang="en-US"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提供承诺，即：不允许用户绕过</a:t>
              </a:r>
              <a:r>
                <a:rPr kumimoji="0" lang="en-US" altLang="zh-CN"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DBMS</a:t>
              </a:r>
              <a:r>
                <a:rPr kumimoji="0" lang="zh-CN" altLang="en-US"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安全体系而直接访问</a:t>
              </a:r>
              <a:r>
                <a:rPr kumimoji="0" lang="en-US" altLang="zh-CN"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DB</a:t>
              </a:r>
              <a:r>
                <a:rPr kumimoji="0" lang="zh-CN" altLang="en-US"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a:t>
              </a:r>
              <a:endParaRPr kumimoji="0" lang="zh-CN" altLang="en-US"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a:p>
              <a:pPr marL="342900" marR="0" lvl="0" indent="-342900" algn="l" defTabSz="914400" rtl="0" eaLnBrk="0" fontAlgn="base" latinLnBrk="0" hangingPunct="0">
                <a:lnSpc>
                  <a:spcPct val="125000"/>
                </a:lnSpc>
                <a:spcBef>
                  <a:spcPts val="200"/>
                </a:spcBef>
                <a:spcAft>
                  <a:spcPts val="0"/>
                </a:spcAft>
                <a:buClr>
                  <a:srgbClr val="0033CC"/>
                </a:buClr>
                <a:buSzPct val="80000"/>
                <a:buFont typeface="Wingdings" panose="05000000000000000000" pitchFamily="2" charset="2"/>
                <a:buChar char="u"/>
                <a:defRPr/>
              </a:pPr>
              <a:r>
                <a:rPr kumimoji="0" lang="zh-CN" altLang="en-US"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正是因为</a:t>
              </a:r>
              <a:r>
                <a:rPr kumimoji="0" lang="en-US" altLang="zh-CN"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DBMS</a:t>
              </a:r>
              <a:r>
                <a:rPr kumimoji="0" lang="zh-CN" altLang="en-US"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和</a:t>
              </a:r>
              <a:r>
                <a:rPr kumimoji="0" lang="en-US" altLang="zh-CN"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OS</a:t>
              </a:r>
              <a:r>
                <a:rPr kumimoji="0" lang="zh-CN" altLang="en-US"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有各自独立的安全体系，因此</a:t>
              </a:r>
              <a:r>
                <a:rPr kumimoji="0" lang="en-US" altLang="zh-CN"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OS</a:t>
              </a:r>
              <a:r>
                <a:rPr kumimoji="0" lang="zh-CN" altLang="en-US"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的用户要想访问</a:t>
              </a:r>
              <a:r>
                <a:rPr kumimoji="0" lang="en-US" altLang="zh-CN"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DBMS</a:t>
              </a:r>
              <a:r>
                <a:rPr kumimoji="0" lang="zh-CN" altLang="en-US"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，必须由</a:t>
              </a:r>
              <a:r>
                <a:rPr kumimoji="0" lang="en-US" altLang="zh-CN"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DBA</a:t>
              </a:r>
              <a:r>
                <a:rPr kumimoji="0" lang="zh-CN" altLang="en-US"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设置成</a:t>
              </a:r>
              <a:r>
                <a:rPr kumimoji="0" lang="en-US" altLang="zh-CN"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DBMS</a:t>
              </a:r>
              <a:r>
                <a:rPr kumimoji="0" lang="zh-CN" altLang="en-US"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的用户。</a:t>
              </a:r>
              <a:endParaRPr kumimoji="0" lang="zh-CN" altLang="en-US"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a:p>
              <a:pPr marL="342900" marR="0" lvl="0" indent="-342900" algn="l" defTabSz="914400" rtl="0" eaLnBrk="0" fontAlgn="base" latinLnBrk="0" hangingPunct="0">
                <a:lnSpc>
                  <a:spcPct val="110000"/>
                </a:lnSpc>
                <a:spcBef>
                  <a:spcPct val="20000"/>
                </a:spcBef>
                <a:spcAft>
                  <a:spcPct val="0"/>
                </a:spcAft>
                <a:buClr>
                  <a:srgbClr val="0033CC"/>
                </a:buClr>
                <a:buSzPct val="80000"/>
                <a:buFont typeface="Wingdings" panose="05000000000000000000" pitchFamily="2" charset="2"/>
                <a:buChar char="u"/>
                <a:defRPr/>
              </a:pPr>
              <a:endParaRPr kumimoji="0" lang="en-US" altLang="zh-CN" sz="2200" b="1" i="0" u="none" strike="noStrike" kern="0" cap="none" spc="0" normalizeH="0" baseline="0" noProof="0" dirty="0">
                <a:ln>
                  <a:noFill/>
                </a:ln>
                <a:solidFill>
                  <a:schemeClr val="tx1"/>
                </a:solidFill>
                <a:effectLst/>
                <a:uLnTx/>
                <a:uFillTx/>
                <a:latin typeface="华文楷体" panose="02010600040101010101" pitchFamily="2" charset="-122"/>
                <a:ea typeface="+mn-ea"/>
                <a:cs typeface="+mn-cs"/>
              </a:endParaRPr>
            </a:p>
          </p:txBody>
        </p:sp>
      </p:grpSp>
      <p:pic>
        <p:nvPicPr>
          <p:cNvPr id="3" name="图片 2"/>
          <p:cNvPicPr>
            <a:picLocks noChangeAspect="1"/>
          </p:cNvPicPr>
          <p:nvPr/>
        </p:nvPicPr>
        <p:blipFill>
          <a:blip r:embed="rId1"/>
          <a:stretch>
            <a:fillRect/>
          </a:stretch>
        </p:blipFill>
        <p:spPr>
          <a:xfrm>
            <a:off x="753745" y="1927225"/>
            <a:ext cx="7343775" cy="1057275"/>
          </a:xfrm>
          <a:prstGeom prst="rect">
            <a:avLst/>
          </a:prstGeom>
        </p:spPr>
      </p:pic>
      <p:sp>
        <p:nvSpPr>
          <p:cNvPr id="5" name="Rectangle 2"/>
          <p:cNvSpPr txBox="1">
            <a:spLocks noChangeArrowheads="1"/>
          </p:cNvSpPr>
          <p:nvPr/>
        </p:nvSpPr>
        <p:spPr>
          <a:xfrm>
            <a:off x="677545" y="1455420"/>
            <a:ext cx="7086600" cy="539115"/>
          </a:xfrm>
          <a:prstGeom prst="rect">
            <a:avLst/>
          </a:prstGeom>
        </p:spPr>
        <p:txBody>
          <a:bodyPr/>
          <a:p>
            <a:pPr marL="342900" marR="0" lvl="0" indent="-342900" algn="l" defTabSz="914400" rtl="0" eaLnBrk="0" fontAlgn="base" latinLnBrk="0" hangingPunct="0">
              <a:lnSpc>
                <a:spcPct val="100000"/>
              </a:lnSpc>
              <a:spcBef>
                <a:spcPct val="0"/>
              </a:spcBef>
              <a:spcAft>
                <a:spcPct val="0"/>
              </a:spcAft>
              <a:buClrTx/>
              <a:buSzTx/>
              <a:buFont typeface="Wingdings" panose="05000000000000000000" charset="0"/>
              <a:buChar char="p"/>
              <a:defRPr/>
            </a:pPr>
            <a:r>
              <a:rPr kumimoji="1" lang="zh-CN" altLang="en-US" sz="24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计算机系统的安全模型</a:t>
            </a:r>
            <a:endParaRPr kumimoji="1" lang="zh-CN" altLang="en-US" sz="2400" b="1" i="0" u="none" strike="noStrike" kern="0" cap="none" spc="0" normalizeH="0" baseline="0" noProof="0" dirty="0">
              <a:ln>
                <a:noFill/>
              </a:ln>
              <a:solidFill>
                <a:srgbClr val="3333CC"/>
              </a:solidFill>
              <a:effectLst/>
              <a:uLnTx/>
              <a:uFillTx/>
              <a:latin typeface="宋体" panose="02010600030101010101" pitchFamily="2" charset="-122"/>
              <a:ea typeface="+mj-ea"/>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518795" y="1429385"/>
            <a:ext cx="7086600" cy="74803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a:t>
            </a:r>
            <a:r>
              <a:rPr kumimoji="1" lang="en-US" altLang="zh-CN" sz="24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1</a:t>
            </a:r>
            <a:r>
              <a:rPr kumimoji="1" lang="zh-CN" altLang="en-US" sz="24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）数据库安全控制的常用</a:t>
            </a:r>
            <a:r>
              <a:rPr kumimoji="1" lang="zh-CN" altLang="en-US" sz="24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方法</a:t>
            </a:r>
            <a:endParaRPr kumimoji="1" lang="zh-CN" altLang="en-US" sz="2400" b="1" i="0" u="none" strike="noStrike" kern="0" cap="none" spc="0" normalizeH="0" baseline="0" noProof="0" dirty="0">
              <a:ln>
                <a:noFill/>
              </a:ln>
              <a:solidFill>
                <a:srgbClr val="3333CC"/>
              </a:solidFill>
              <a:effectLst/>
              <a:uLnTx/>
              <a:uFillTx/>
              <a:latin typeface="宋体" panose="02010600030101010101" pitchFamily="2" charset="-122"/>
              <a:ea typeface="+mj-ea"/>
              <a:cs typeface="+mj-cs"/>
            </a:endParaRPr>
          </a:p>
        </p:txBody>
      </p:sp>
      <p:sp>
        <p:nvSpPr>
          <p:cNvPr id="4" name="矩形 2"/>
          <p:cNvSpPr/>
          <p:nvPr/>
        </p:nvSpPr>
        <p:spPr>
          <a:xfrm>
            <a:off x="394335" y="756920"/>
            <a:ext cx="8375650" cy="672465"/>
          </a:xfrm>
          <a:prstGeom prst="rect">
            <a:avLst/>
          </a:prstGeom>
          <a:noFill/>
          <a:ln w="9525">
            <a:noFill/>
          </a:ln>
        </p:spPr>
        <p:txBody>
          <a:bodyPr anchor="t">
            <a:spAutoFit/>
          </a:bodyPr>
          <a:lstStyle/>
          <a:p>
            <a:pPr algn="l">
              <a:lnSpc>
                <a:spcPct val="135000"/>
              </a:lnSpc>
              <a:buClrTx/>
              <a:buSzTx/>
              <a:buFont typeface="Wingdings" panose="05000000000000000000" charset="0"/>
            </a:pPr>
            <a:r>
              <a:rPr lang="en-US" altLang="zh-CN" sz="2800" dirty="0">
                <a:solidFill>
                  <a:srgbClr val="0033CC"/>
                </a:solidFill>
                <a:latin typeface="黑体" panose="02010609060101010101" pitchFamily="1" charset="-122"/>
                <a:ea typeface="黑体" panose="02010609060101010101" pitchFamily="1" charset="-122"/>
                <a:cs typeface="+mn-ea"/>
                <a:sym typeface="+mn-ea"/>
              </a:rPr>
              <a:t>2.</a:t>
            </a:r>
            <a:r>
              <a:rPr lang="zh-CN" altLang="en-US" sz="2800" dirty="0">
                <a:solidFill>
                  <a:srgbClr val="0033CC"/>
                </a:solidFill>
                <a:latin typeface="黑体" panose="02010609060101010101" pitchFamily="1" charset="-122"/>
                <a:ea typeface="黑体" panose="02010609060101010101" pitchFamily="1" charset="-122"/>
                <a:cs typeface="+mn-ea"/>
                <a:sym typeface="+mn-ea"/>
              </a:rPr>
              <a:t>数据库的安全性控制</a:t>
            </a:r>
            <a:endParaRPr lang="zh-CN" altLang="en-US" sz="2800" dirty="0">
              <a:solidFill>
                <a:srgbClr val="0033CC"/>
              </a:solidFill>
              <a:latin typeface="黑体" panose="02010609060101010101" pitchFamily="1" charset="-122"/>
              <a:ea typeface="黑体" panose="02010609060101010101" pitchFamily="1" charset="-122"/>
              <a:cs typeface="+mn-ea"/>
              <a:sym typeface="+mn-ea"/>
            </a:endParaRPr>
          </a:p>
        </p:txBody>
      </p:sp>
      <p:sp>
        <p:nvSpPr>
          <p:cNvPr id="20484" name="Rectangle 2"/>
          <p:cNvSpPr/>
          <p:nvPr/>
        </p:nvSpPr>
        <p:spPr>
          <a:xfrm>
            <a:off x="457200" y="68263"/>
            <a:ext cx="8229600" cy="692150"/>
          </a:xfrm>
          <a:prstGeom prst="rect">
            <a:avLst/>
          </a:prstGeom>
          <a:noFill/>
          <a:ln w="9525">
            <a:noFill/>
          </a:ln>
        </p:spPr>
        <p:txBody>
          <a:bodyPr anchor="ctr"/>
          <a:lstStyle/>
          <a:p>
            <a:pPr lvl="0" eaLnBrk="1" hangingPunct="1"/>
            <a:r>
              <a:rPr lang="zh-CN" altLang="en-US" sz="3200" dirty="0">
                <a:solidFill>
                  <a:srgbClr val="FF0000"/>
                </a:solidFill>
                <a:latin typeface="Arial" panose="020B0604020202020204" pitchFamily="34" charset="0"/>
                <a:ea typeface="黑体" panose="02010609060101010101" pitchFamily="1" charset="-122"/>
              </a:rPr>
              <a:t>二、数据库的安全性</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13" name="Rectangle 3"/>
          <p:cNvSpPr txBox="1">
            <a:spLocks noChangeArrowheads="1"/>
          </p:cNvSpPr>
          <p:nvPr/>
        </p:nvSpPr>
        <p:spPr>
          <a:xfrm>
            <a:off x="666750" y="1851025"/>
            <a:ext cx="8376285" cy="1403985"/>
          </a:xfrm>
          <a:prstGeom prst="rect">
            <a:avLst/>
          </a:prstGeom>
        </p:spPr>
        <p:txBody>
          <a:bodyPr/>
          <a:p>
            <a:pPr marL="342900" marR="0" lvl="0" indent="-342900" algn="l" defTabSz="914400" rtl="0" eaLnBrk="0" fontAlgn="base" latinLnBrk="0" hangingPunct="0">
              <a:lnSpc>
                <a:spcPct val="110000"/>
              </a:lnSpc>
              <a:spcBef>
                <a:spcPts val="10"/>
              </a:spcBef>
              <a:spcAft>
                <a:spcPts val="0"/>
              </a:spcAft>
              <a:buClr>
                <a:srgbClr val="0033CC"/>
              </a:buClr>
              <a:buSzPct val="80000"/>
              <a:buFont typeface="Wingdings" panose="05000000000000000000" pitchFamily="2" charset="2"/>
              <a:buChar char="u"/>
              <a:defRPr/>
            </a:pPr>
            <a:r>
              <a:rPr kumimoji="0" lang="zh-CN" altLang="en-US" sz="2100" b="1" i="0" u="sng" strike="noStrike" kern="0" cap="none" spc="0" normalizeH="0" baseline="0" noProof="0" dirty="0">
                <a:ln>
                  <a:noFill/>
                </a:ln>
                <a:solidFill>
                  <a:srgbClr val="FF0000"/>
                </a:solidFill>
                <a:effectLst/>
                <a:uLnTx/>
                <a:uFillTx/>
                <a:latin typeface="楷体" panose="02010609060101010101" pitchFamily="1" charset="-122"/>
                <a:ea typeface="楷体" panose="02010609060101010101" pitchFamily="1" charset="-122"/>
                <a:cs typeface="+mn-cs"/>
              </a:rPr>
              <a:t>用户标识和鉴定</a:t>
            </a:r>
            <a:r>
              <a:rPr kumimoji="0" lang="zh-CN" altLang="en-US" sz="21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：通过用户名、密码或人体特征对用户身份</a:t>
            </a:r>
            <a:r>
              <a:rPr kumimoji="0" lang="zh-CN" altLang="en-US" sz="21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鉴别。</a:t>
            </a:r>
            <a:endParaRPr kumimoji="0" lang="zh-CN" altLang="en-US" sz="21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a:p>
            <a:pPr marL="342900" marR="0" lvl="0" indent="-342900" algn="l" defTabSz="914400" rtl="0" eaLnBrk="0" fontAlgn="base" latinLnBrk="0" hangingPunct="0">
              <a:lnSpc>
                <a:spcPct val="110000"/>
              </a:lnSpc>
              <a:spcBef>
                <a:spcPts val="10"/>
              </a:spcBef>
              <a:spcAft>
                <a:spcPts val="0"/>
              </a:spcAft>
              <a:buClr>
                <a:srgbClr val="0033CC"/>
              </a:buClr>
              <a:buSzPct val="80000"/>
              <a:buFont typeface="Wingdings" panose="05000000000000000000" pitchFamily="2" charset="2"/>
              <a:buChar char="u"/>
              <a:defRPr/>
            </a:pPr>
            <a:r>
              <a:rPr kumimoji="0" lang="zh-CN" altLang="en-US" sz="2100" b="1" i="0" u="sng" strike="noStrike" kern="0" cap="none" spc="0" normalizeH="0" baseline="0" noProof="0" dirty="0">
                <a:ln>
                  <a:noFill/>
                </a:ln>
                <a:solidFill>
                  <a:srgbClr val="FF0000"/>
                </a:solidFill>
                <a:effectLst/>
                <a:uLnTx/>
                <a:uFillTx/>
                <a:latin typeface="楷体" panose="02010609060101010101" pitchFamily="1" charset="-122"/>
                <a:ea typeface="楷体" panose="02010609060101010101" pitchFamily="1" charset="-122"/>
                <a:cs typeface="+mn-cs"/>
              </a:rPr>
              <a:t>访问控制</a:t>
            </a:r>
            <a:r>
              <a:rPr kumimoji="0" lang="zh-CN" altLang="en-US" sz="21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：用户对某一数据对象的操作权力称为</a:t>
            </a:r>
            <a:r>
              <a:rPr kumimoji="0" lang="zh-CN" altLang="en-US" sz="2100" b="1" i="0" u="sng" strike="noStrike" kern="0" cap="none" spc="0" normalizeH="0" baseline="0" noProof="0" dirty="0">
                <a:ln>
                  <a:noFill/>
                </a:ln>
                <a:solidFill>
                  <a:srgbClr val="FF0000"/>
                </a:solidFill>
                <a:effectLst/>
                <a:uLnTx/>
                <a:uFillTx/>
                <a:latin typeface="楷体" panose="02010609060101010101" pitchFamily="1" charset="-122"/>
                <a:ea typeface="楷体" panose="02010609060101010101" pitchFamily="1" charset="-122"/>
                <a:cs typeface="+mn-cs"/>
              </a:rPr>
              <a:t>权限</a:t>
            </a:r>
            <a:r>
              <a:rPr kumimoji="0" lang="zh-CN" altLang="en-US" sz="21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，定义存取权限称为</a:t>
            </a:r>
            <a:r>
              <a:rPr kumimoji="0" lang="zh-CN" altLang="en-US" sz="2100" b="1" i="0" u="sng" strike="noStrike" kern="0" cap="none" spc="0" normalizeH="0" baseline="0" noProof="0" dirty="0">
                <a:ln>
                  <a:noFill/>
                </a:ln>
                <a:solidFill>
                  <a:srgbClr val="FF0000"/>
                </a:solidFill>
                <a:effectLst/>
                <a:uLnTx/>
                <a:uFillTx/>
                <a:latin typeface="楷体" panose="02010609060101010101" pitchFamily="1" charset="-122"/>
                <a:ea typeface="楷体" panose="02010609060101010101" pitchFamily="1" charset="-122"/>
                <a:cs typeface="+mn-cs"/>
              </a:rPr>
              <a:t>授权</a:t>
            </a:r>
            <a:r>
              <a:rPr kumimoji="0" lang="zh-CN" altLang="en-US" sz="21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a:t>
            </a:r>
            <a:endParaRPr kumimoji="0" lang="zh-CN" altLang="en-US" sz="21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a:p>
            <a:pPr marL="342900" marR="0" lvl="0" indent="-342900" algn="l" defTabSz="914400" rtl="0" eaLnBrk="0" fontAlgn="base" latinLnBrk="0" hangingPunct="0">
              <a:lnSpc>
                <a:spcPct val="110000"/>
              </a:lnSpc>
              <a:spcBef>
                <a:spcPts val="10"/>
              </a:spcBef>
              <a:spcAft>
                <a:spcPts val="0"/>
              </a:spcAft>
              <a:buClr>
                <a:srgbClr val="0033CC"/>
              </a:buClr>
              <a:buSzPct val="80000"/>
              <a:buFont typeface="Wingdings" panose="05000000000000000000" pitchFamily="2" charset="2"/>
              <a:buChar char="u"/>
              <a:defRPr/>
            </a:pPr>
            <a:r>
              <a:rPr kumimoji="0" lang="zh-CN" altLang="en-US" sz="2100" b="1" i="0" u="sng" strike="noStrike" kern="0" cap="none" spc="0" normalizeH="0" baseline="0" noProof="0" dirty="0">
                <a:ln>
                  <a:noFill/>
                </a:ln>
                <a:solidFill>
                  <a:srgbClr val="FF0000"/>
                </a:solidFill>
                <a:effectLst/>
                <a:uLnTx/>
                <a:uFillTx/>
                <a:latin typeface="楷体" panose="02010609060101010101" pitchFamily="1" charset="-122"/>
                <a:ea typeface="楷体" panose="02010609060101010101" pitchFamily="1" charset="-122"/>
                <a:cs typeface="+mn-cs"/>
              </a:rPr>
              <a:t>视图</a:t>
            </a:r>
            <a:r>
              <a:rPr kumimoji="0" lang="zh-CN" altLang="en-US" sz="21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：为不同用户定义不同的视图，限制数据对象的范围。</a:t>
            </a:r>
            <a:endParaRPr kumimoji="0" lang="zh-CN" altLang="en-US" sz="21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a:p>
            <a:pPr marL="342900" marR="0" lvl="0" indent="-342900" algn="l" defTabSz="914400" rtl="0" eaLnBrk="0" fontAlgn="base" latinLnBrk="0" hangingPunct="0">
              <a:lnSpc>
                <a:spcPct val="110000"/>
              </a:lnSpc>
              <a:spcBef>
                <a:spcPts val="10"/>
              </a:spcBef>
              <a:spcAft>
                <a:spcPts val="0"/>
              </a:spcAft>
              <a:buClr>
                <a:srgbClr val="0033CC"/>
              </a:buClr>
              <a:buSzPct val="80000"/>
              <a:buFont typeface="Wingdings" panose="05000000000000000000" pitchFamily="2" charset="2"/>
              <a:buChar char="u"/>
              <a:defRPr/>
            </a:pPr>
            <a:r>
              <a:rPr kumimoji="0" lang="zh-CN" altLang="en-US" sz="2100" b="1" i="0" u="sng" strike="noStrike" kern="0" cap="none" spc="0" normalizeH="0" baseline="0" noProof="0" dirty="0">
                <a:ln>
                  <a:noFill/>
                </a:ln>
                <a:solidFill>
                  <a:srgbClr val="FF0000"/>
                </a:solidFill>
                <a:effectLst/>
                <a:uLnTx/>
                <a:uFillTx/>
                <a:latin typeface="楷体" panose="02010609060101010101" pitchFamily="1" charset="-122"/>
                <a:ea typeface="楷体" panose="02010609060101010101" pitchFamily="1" charset="-122"/>
                <a:cs typeface="+mn-cs"/>
              </a:rPr>
              <a:t>统计数据库</a:t>
            </a:r>
            <a:r>
              <a:rPr kumimoji="0" lang="zh-CN" altLang="en-US" sz="21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：只允许用户查询聚集类型的信息（如合计、均值等），不允许查询单个记录</a:t>
            </a:r>
            <a:r>
              <a:rPr kumimoji="0" lang="zh-CN" altLang="en-US" sz="21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信息。</a:t>
            </a:r>
            <a:endParaRPr kumimoji="0" lang="zh-CN" altLang="en-US" sz="21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a:p>
            <a:pPr marL="342900" marR="0" lvl="0" indent="-342900" algn="l" defTabSz="914400" rtl="0" eaLnBrk="0" fontAlgn="base" latinLnBrk="0" hangingPunct="0">
              <a:lnSpc>
                <a:spcPct val="110000"/>
              </a:lnSpc>
              <a:spcBef>
                <a:spcPts val="10"/>
              </a:spcBef>
              <a:spcAft>
                <a:spcPts val="0"/>
              </a:spcAft>
              <a:buClr>
                <a:srgbClr val="0033CC"/>
              </a:buClr>
              <a:buSzPct val="80000"/>
              <a:buFont typeface="Wingdings" panose="05000000000000000000" pitchFamily="2" charset="2"/>
              <a:buChar char="u"/>
              <a:defRPr/>
            </a:pPr>
            <a:r>
              <a:rPr kumimoji="0" lang="zh-CN" altLang="en-US" sz="2100" b="1" i="0" u="sng" strike="noStrike" kern="0" cap="none" spc="0" normalizeH="0" baseline="0" noProof="0" dirty="0">
                <a:ln>
                  <a:noFill/>
                </a:ln>
                <a:solidFill>
                  <a:srgbClr val="FF0000"/>
                </a:solidFill>
                <a:effectLst/>
                <a:uLnTx/>
                <a:uFillTx/>
                <a:latin typeface="楷体" panose="02010609060101010101" pitchFamily="1" charset="-122"/>
                <a:ea typeface="楷体" panose="02010609060101010101" pitchFamily="1" charset="-122"/>
                <a:cs typeface="+mn-cs"/>
              </a:rPr>
              <a:t>数据库审计</a:t>
            </a:r>
            <a:r>
              <a:rPr kumimoji="0" lang="zh-CN" altLang="en-US" sz="21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a:t>
            </a:r>
            <a:r>
              <a:rPr kumimoji="0" lang="zh-CN" altLang="en-US" sz="19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数据库审计不仅包括记录数据操作，还涵盖了用户活动监控、数据库结构变更、特权操作、合规性检查、安全事件监控等方面。</a:t>
            </a:r>
            <a:endParaRPr kumimoji="0" lang="zh-CN" altLang="en-US" sz="19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a:p>
            <a:pPr marL="342900" marR="0" lvl="0" indent="-342900" algn="l" defTabSz="914400" rtl="0" eaLnBrk="0" fontAlgn="base" latinLnBrk="0" hangingPunct="0">
              <a:lnSpc>
                <a:spcPct val="110000"/>
              </a:lnSpc>
              <a:spcBef>
                <a:spcPct val="20000"/>
              </a:spcBef>
              <a:spcAft>
                <a:spcPct val="0"/>
              </a:spcAft>
              <a:buClr>
                <a:srgbClr val="0033CC"/>
              </a:buClr>
              <a:buSzPct val="80000"/>
              <a:buFont typeface="Wingdings" panose="05000000000000000000" pitchFamily="2" charset="2"/>
              <a:buChar char="u"/>
              <a:defRPr/>
            </a:pPr>
            <a:endParaRPr kumimoji="0" lang="zh-CN" altLang="en-US" sz="19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p:txBody>
      </p:sp>
      <p:sp>
        <p:nvSpPr>
          <p:cNvPr id="10" name="Rectangle 2"/>
          <p:cNvSpPr txBox="1">
            <a:spLocks noChangeArrowheads="1"/>
          </p:cNvSpPr>
          <p:nvPr/>
        </p:nvSpPr>
        <p:spPr>
          <a:xfrm>
            <a:off x="394335" y="4702810"/>
            <a:ext cx="7086600" cy="748030"/>
          </a:xfrm>
          <a:prstGeom prst="rect">
            <a:avLst/>
          </a:prstGeom>
        </p:spPr>
        <p:txBody>
          <a:bodyPr/>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a:t>
            </a:r>
            <a:r>
              <a:rPr kumimoji="1" lang="en-US" altLang="zh-CN" sz="24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2</a:t>
            </a:r>
            <a:r>
              <a:rPr kumimoji="1" lang="zh-CN" altLang="en-US" sz="24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）访问控制机制</a:t>
            </a:r>
            <a:r>
              <a:rPr kumimoji="1" lang="zh-CN" altLang="en-US" sz="24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组成</a:t>
            </a:r>
            <a:endParaRPr kumimoji="1" lang="zh-CN" altLang="en-US" sz="2400" b="1" i="0" u="none" strike="noStrike" kern="0" cap="none" spc="0" normalizeH="0" baseline="0" noProof="0" dirty="0">
              <a:ln>
                <a:noFill/>
              </a:ln>
              <a:solidFill>
                <a:srgbClr val="3333CC"/>
              </a:solidFill>
              <a:effectLst/>
              <a:uLnTx/>
              <a:uFillTx/>
              <a:latin typeface="宋体" panose="02010600030101010101" pitchFamily="2" charset="-122"/>
              <a:ea typeface="+mj-ea"/>
              <a:cs typeface="+mj-cs"/>
            </a:endParaRPr>
          </a:p>
        </p:txBody>
      </p:sp>
      <p:sp>
        <p:nvSpPr>
          <p:cNvPr id="11" name="Rectangle 3"/>
          <p:cNvSpPr txBox="1">
            <a:spLocks noChangeArrowheads="1"/>
          </p:cNvSpPr>
          <p:nvPr/>
        </p:nvSpPr>
        <p:spPr>
          <a:xfrm>
            <a:off x="666750" y="5156835"/>
            <a:ext cx="8477885" cy="910590"/>
          </a:xfrm>
          <a:prstGeom prst="rect">
            <a:avLst/>
          </a:prstGeom>
        </p:spPr>
        <p:txBody>
          <a:bodyPr/>
          <a:p>
            <a:pPr marL="342900" marR="0" lvl="0" indent="-342900" algn="l" defTabSz="914400" rtl="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a:pPr>
            <a:r>
              <a:rPr kumimoji="0" lang="zh-CN" altLang="en-US" sz="21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定义用户权限：可通过自主授权访问控制和强制授权访问控制。</a:t>
            </a:r>
            <a:endParaRPr kumimoji="0" lang="zh-CN" altLang="en-US" sz="21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a:p>
            <a:pPr marL="342900" marR="0" lvl="0" indent="-342900" algn="l" defTabSz="914400" rtl="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a:pPr>
            <a:r>
              <a:rPr kumimoji="0" lang="zh-CN" altLang="en-US" sz="21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合法权限检查：确保用户在访问数据库资源时，拥有合法的权限，并符合系统的安全策略</a:t>
            </a:r>
            <a:endParaRPr kumimoji="0" lang="zh-CN" altLang="en-US" sz="21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518795" y="1512570"/>
            <a:ext cx="7086600" cy="74803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a:t>
            </a:r>
            <a:r>
              <a:rPr kumimoji="1" lang="en-US" altLang="zh-CN" sz="24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1</a:t>
            </a:r>
            <a:r>
              <a:rPr kumimoji="1" lang="zh-CN" altLang="en-US" sz="24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）用户标识与鉴别</a:t>
            </a:r>
            <a:endParaRPr kumimoji="1" lang="zh-CN" altLang="en-US" sz="2400" b="1" i="0" u="none" strike="noStrike" kern="0" cap="none" spc="0" normalizeH="0" baseline="0" noProof="0" dirty="0">
              <a:ln>
                <a:noFill/>
              </a:ln>
              <a:solidFill>
                <a:srgbClr val="3333CC"/>
              </a:solidFill>
              <a:effectLst/>
              <a:uLnTx/>
              <a:uFillTx/>
              <a:latin typeface="宋体" panose="02010600030101010101" pitchFamily="2" charset="-122"/>
              <a:ea typeface="+mj-ea"/>
              <a:cs typeface="+mj-cs"/>
            </a:endParaRPr>
          </a:p>
        </p:txBody>
      </p:sp>
      <p:sp>
        <p:nvSpPr>
          <p:cNvPr id="4" name="矩形 2"/>
          <p:cNvSpPr/>
          <p:nvPr/>
        </p:nvSpPr>
        <p:spPr>
          <a:xfrm>
            <a:off x="394335" y="756920"/>
            <a:ext cx="8375650" cy="672465"/>
          </a:xfrm>
          <a:prstGeom prst="rect">
            <a:avLst/>
          </a:prstGeom>
          <a:noFill/>
          <a:ln w="9525">
            <a:noFill/>
          </a:ln>
        </p:spPr>
        <p:txBody>
          <a:bodyPr anchor="t">
            <a:spAutoFit/>
          </a:bodyPr>
          <a:lstStyle/>
          <a:p>
            <a:pPr algn="l">
              <a:lnSpc>
                <a:spcPct val="135000"/>
              </a:lnSpc>
              <a:buClrTx/>
              <a:buSzTx/>
              <a:buFont typeface="Wingdings" panose="05000000000000000000" charset="0"/>
            </a:pPr>
            <a:r>
              <a:rPr lang="en-US" altLang="zh-CN" sz="2800" dirty="0">
                <a:solidFill>
                  <a:srgbClr val="0033CC"/>
                </a:solidFill>
                <a:latin typeface="黑体" panose="02010609060101010101" pitchFamily="1" charset="-122"/>
                <a:ea typeface="黑体" panose="02010609060101010101" pitchFamily="1" charset="-122"/>
                <a:cs typeface="+mn-ea"/>
                <a:sym typeface="+mn-ea"/>
              </a:rPr>
              <a:t>2.</a:t>
            </a:r>
            <a:r>
              <a:rPr lang="zh-CN" altLang="en-US" sz="2800" dirty="0">
                <a:solidFill>
                  <a:srgbClr val="0033CC"/>
                </a:solidFill>
                <a:latin typeface="黑体" panose="02010609060101010101" pitchFamily="1" charset="-122"/>
                <a:ea typeface="黑体" panose="02010609060101010101" pitchFamily="1" charset="-122"/>
                <a:cs typeface="+mn-ea"/>
                <a:sym typeface="+mn-ea"/>
              </a:rPr>
              <a:t>数据库的安全性控制</a:t>
            </a:r>
            <a:endParaRPr lang="zh-CN" altLang="en-US" sz="2800" dirty="0">
              <a:solidFill>
                <a:srgbClr val="0033CC"/>
              </a:solidFill>
              <a:latin typeface="黑体" panose="02010609060101010101" pitchFamily="1" charset="-122"/>
              <a:ea typeface="黑体" panose="02010609060101010101" pitchFamily="1" charset="-122"/>
              <a:cs typeface="+mn-ea"/>
              <a:sym typeface="+mn-ea"/>
            </a:endParaRPr>
          </a:p>
        </p:txBody>
      </p:sp>
      <p:sp>
        <p:nvSpPr>
          <p:cNvPr id="3" name="文本框 2"/>
          <p:cNvSpPr txBox="1"/>
          <p:nvPr/>
        </p:nvSpPr>
        <p:spPr>
          <a:xfrm>
            <a:off x="3446780" y="1461770"/>
            <a:ext cx="5081270" cy="553085"/>
          </a:xfrm>
          <a:prstGeom prst="rect">
            <a:avLst/>
          </a:prstGeom>
          <a:noFill/>
        </p:spPr>
        <p:txBody>
          <a:bodyPr wrap="none" rtlCol="0" anchor="t">
            <a:spAutoFit/>
          </a:bodyPr>
          <a:lstStyle/>
          <a:p>
            <a:pPr marR="0" lvl="0" algn="l" defTabSz="914400" rtl="0" eaLnBrk="0" fontAlgn="base" latinLnBrk="0" hangingPunct="0">
              <a:lnSpc>
                <a:spcPct val="125000"/>
              </a:lnSpc>
              <a:spcBef>
                <a:spcPts val="200"/>
              </a:spcBef>
              <a:spcAft>
                <a:spcPts val="0"/>
              </a:spcAft>
              <a:buClr>
                <a:srgbClr val="0033CC"/>
              </a:buClr>
              <a:buSzPct val="80000"/>
              <a:buFont typeface="Wingdings" panose="05000000000000000000" pitchFamily="2" charset="2"/>
              <a:buNone/>
              <a:defRPr/>
            </a:pPr>
            <a:r>
              <a:rPr lang="en-US" altLang="zh-CN" sz="2400" kern="0" noProof="0" dirty="0">
                <a:ln>
                  <a:noFill/>
                </a:ln>
                <a:effectLst/>
                <a:uLnTx/>
                <a:uFillTx/>
                <a:latin typeface="楷体" panose="02010609060101010101" pitchFamily="1" charset="-122"/>
                <a:ea typeface="楷体" panose="02010609060101010101" pitchFamily="1" charset="-122"/>
                <a:cs typeface="+mn-cs"/>
                <a:sym typeface="+mn-ea"/>
              </a:rPr>
              <a:t>--</a:t>
            </a:r>
            <a:r>
              <a:rPr lang="zh-CN" altLang="en-US" sz="2400" kern="0" noProof="0" dirty="0">
                <a:ln>
                  <a:noFill/>
                </a:ln>
                <a:effectLst/>
                <a:uLnTx/>
                <a:uFillTx/>
                <a:latin typeface="楷体" panose="02010609060101010101" pitchFamily="1" charset="-122"/>
                <a:ea typeface="楷体" panose="02010609060101010101" pitchFamily="1" charset="-122"/>
                <a:cs typeface="+mn-cs"/>
                <a:sym typeface="+mn-ea"/>
              </a:rPr>
              <a:t>系统提供的最外层的安全保护措施</a:t>
            </a:r>
            <a:endParaRPr lang="zh-CN" altLang="en-US" sz="2400" kern="0" noProof="0" dirty="0">
              <a:ln>
                <a:noFill/>
              </a:ln>
              <a:effectLst/>
              <a:uLnTx/>
              <a:uFillTx/>
              <a:latin typeface="楷体" panose="02010609060101010101" pitchFamily="1" charset="-122"/>
              <a:ea typeface="楷体" panose="02010609060101010101" pitchFamily="1" charset="-122"/>
              <a:cs typeface="+mn-cs"/>
              <a:sym typeface="+mn-ea"/>
            </a:endParaRPr>
          </a:p>
        </p:txBody>
      </p:sp>
      <p:sp>
        <p:nvSpPr>
          <p:cNvPr id="6" name="Rectangle 3"/>
          <p:cNvSpPr txBox="1">
            <a:spLocks noChangeArrowheads="1"/>
          </p:cNvSpPr>
          <p:nvPr/>
        </p:nvSpPr>
        <p:spPr>
          <a:xfrm>
            <a:off x="727710" y="2096770"/>
            <a:ext cx="7877175" cy="1875155"/>
          </a:xfrm>
          <a:prstGeom prst="rect">
            <a:avLst/>
          </a:prstGeom>
          <a:ln>
            <a:solidFill>
              <a:schemeClr val="accent1"/>
            </a:solidFill>
          </a:ln>
        </p:spPr>
        <p:txBody>
          <a:bodyPr lIns="36000" rIns="36000"/>
          <a:lstStyle/>
          <a:p>
            <a:pPr marL="342900" marR="0" lvl="0" indent="-342900" algn="l" defTabSz="914400" rtl="0" eaLnBrk="0" fontAlgn="base" latinLnBrk="0" hangingPunct="0">
              <a:lnSpc>
                <a:spcPct val="110000"/>
              </a:lnSpc>
              <a:spcBef>
                <a:spcPct val="20000"/>
              </a:spcBef>
              <a:spcAft>
                <a:spcPct val="0"/>
              </a:spcAft>
              <a:buClr>
                <a:srgbClr val="0033CC"/>
              </a:buClr>
              <a:buSzPct val="80000"/>
              <a:buFont typeface="Wingdings" panose="05000000000000000000" pitchFamily="2" charset="2"/>
              <a:buChar char="u"/>
              <a:defRPr/>
            </a:pP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系统提供一定的方式让用户标识自己的名字或身份；</a:t>
            </a:r>
            <a:endPar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a:p>
            <a:pPr marL="342900" marR="0" lvl="0" indent="-342900" algn="l" defTabSz="914400" rtl="0" eaLnBrk="0" fontAlgn="base" latinLnBrk="0" hangingPunct="0">
              <a:lnSpc>
                <a:spcPct val="110000"/>
              </a:lnSpc>
              <a:spcBef>
                <a:spcPct val="20000"/>
              </a:spcBef>
              <a:spcAft>
                <a:spcPct val="0"/>
              </a:spcAft>
              <a:buClr>
                <a:srgbClr val="0033CC"/>
              </a:buClr>
              <a:buSzPct val="80000"/>
              <a:buFont typeface="Wingdings" panose="05000000000000000000" pitchFamily="2" charset="2"/>
              <a:buChar char="u"/>
              <a:defRPr/>
            </a:pP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系统内部记录着所有合法用户的标识；</a:t>
            </a:r>
            <a:endPar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a:p>
            <a:pPr marL="342900" marR="0" lvl="0" indent="-342900" algn="l" defTabSz="914400" rtl="0" eaLnBrk="0" fontAlgn="base" latinLnBrk="0" hangingPunct="0">
              <a:lnSpc>
                <a:spcPct val="110000"/>
              </a:lnSpc>
              <a:spcBef>
                <a:spcPct val="20000"/>
              </a:spcBef>
              <a:spcAft>
                <a:spcPct val="0"/>
              </a:spcAft>
              <a:buClr>
                <a:srgbClr val="0033CC"/>
              </a:buClr>
              <a:buSzPct val="80000"/>
              <a:buFont typeface="Wingdings" panose="05000000000000000000" pitchFamily="2" charset="2"/>
              <a:buChar char="u"/>
              <a:defRPr/>
            </a:pP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每次用户要求进入系统时，由系统核对用户身份标识；通过鉴定后才提供使用权。</a:t>
            </a:r>
            <a:endPar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p:txBody>
      </p:sp>
      <p:pic>
        <p:nvPicPr>
          <p:cNvPr id="7" name="图片 6"/>
          <p:cNvPicPr>
            <a:picLocks noChangeAspect="1"/>
          </p:cNvPicPr>
          <p:nvPr/>
        </p:nvPicPr>
        <p:blipFill rotWithShape="1">
          <a:blip r:embed="rId1"/>
          <a:srcRect r="6023"/>
          <a:stretch>
            <a:fillRect/>
          </a:stretch>
        </p:blipFill>
        <p:spPr>
          <a:xfrm>
            <a:off x="551906" y="4556125"/>
            <a:ext cx="1522232" cy="898524"/>
          </a:xfrm>
          <a:prstGeom prst="rect">
            <a:avLst/>
          </a:prstGeom>
        </p:spPr>
      </p:pic>
      <p:pic>
        <p:nvPicPr>
          <p:cNvPr id="9" name="图片 8"/>
          <p:cNvPicPr>
            <a:picLocks noChangeAspect="1"/>
          </p:cNvPicPr>
          <p:nvPr/>
        </p:nvPicPr>
        <p:blipFill rotWithShape="1">
          <a:blip r:embed="rId2"/>
          <a:srcRect l="1194"/>
          <a:stretch>
            <a:fillRect/>
          </a:stretch>
        </p:blipFill>
        <p:spPr>
          <a:xfrm>
            <a:off x="2152072" y="4053840"/>
            <a:ext cx="6449865" cy="1962150"/>
          </a:xfrm>
          <a:prstGeom prst="rect">
            <a:avLst/>
          </a:prstGeom>
        </p:spPr>
      </p:pic>
      <p:sp>
        <p:nvSpPr>
          <p:cNvPr id="20484" name="Rectangle 2"/>
          <p:cNvSpPr/>
          <p:nvPr/>
        </p:nvSpPr>
        <p:spPr>
          <a:xfrm>
            <a:off x="457200" y="68263"/>
            <a:ext cx="8229600" cy="692150"/>
          </a:xfrm>
          <a:prstGeom prst="rect">
            <a:avLst/>
          </a:prstGeom>
          <a:noFill/>
          <a:ln w="9525">
            <a:noFill/>
          </a:ln>
        </p:spPr>
        <p:txBody>
          <a:bodyPr anchor="ctr"/>
          <a:lstStyle/>
          <a:p>
            <a:pPr lvl="0" eaLnBrk="1" hangingPunct="1"/>
            <a:r>
              <a:rPr lang="zh-CN" altLang="en-US" sz="3200" dirty="0">
                <a:solidFill>
                  <a:srgbClr val="FF0000"/>
                </a:solidFill>
                <a:latin typeface="Arial" panose="020B0604020202020204" pitchFamily="34" charset="0"/>
                <a:ea typeface="黑体" panose="02010609060101010101" pitchFamily="1" charset="-122"/>
              </a:rPr>
              <a:t>二、数据库的安全性</a:t>
            </a:r>
            <a:endParaRPr lang="en-US" altLang="zh-CN"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518795" y="1429440"/>
            <a:ext cx="7086600" cy="74803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a:t>
            </a:r>
            <a:r>
              <a:rPr kumimoji="1" lang="en-US" altLang="zh-CN"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2</a:t>
            </a:r>
            <a:r>
              <a:rPr kumimoji="1" lang="zh-CN" altLang="en-US"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）存取控制</a:t>
            </a:r>
            <a:endParaRPr kumimoji="1" lang="zh-CN" altLang="en-US"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endParaRPr>
          </a:p>
        </p:txBody>
      </p:sp>
      <p:sp>
        <p:nvSpPr>
          <p:cNvPr id="6" name="Rectangle 3"/>
          <p:cNvSpPr txBox="1">
            <a:spLocks noChangeArrowheads="1"/>
          </p:cNvSpPr>
          <p:nvPr/>
        </p:nvSpPr>
        <p:spPr>
          <a:xfrm>
            <a:off x="727710" y="2013640"/>
            <a:ext cx="2746375" cy="1024255"/>
          </a:xfrm>
          <a:prstGeom prst="rect">
            <a:avLst/>
          </a:prstGeom>
          <a:ln>
            <a:solidFill>
              <a:schemeClr val="accent1"/>
            </a:solidFill>
          </a:ln>
        </p:spPr>
        <p:txBody>
          <a:bodyPr/>
          <a:lstStyle/>
          <a:p>
            <a:pPr marL="342900" marR="0" lvl="0" indent="-342900" algn="l" defTabSz="914400" rtl="0" eaLnBrk="0" fontAlgn="base" latinLnBrk="0" hangingPunct="0">
              <a:lnSpc>
                <a:spcPct val="110000"/>
              </a:lnSpc>
              <a:spcBef>
                <a:spcPct val="20000"/>
              </a:spcBef>
              <a:spcAft>
                <a:spcPct val="0"/>
              </a:spcAft>
              <a:buClr>
                <a:srgbClr val="0033CC"/>
              </a:buClr>
              <a:buSzPct val="80000"/>
              <a:buFont typeface="Wingdings" panose="05000000000000000000" pitchFamily="2" charset="2"/>
              <a:buChar char="u"/>
              <a:defRPr/>
            </a:pP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定义用户权限</a:t>
            </a:r>
            <a:endPar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a:p>
            <a:pPr marL="342900" marR="0" lvl="0" indent="-342900" algn="l" defTabSz="914400" rtl="0" eaLnBrk="0" fontAlgn="base" latinLnBrk="0" hangingPunct="0">
              <a:lnSpc>
                <a:spcPct val="110000"/>
              </a:lnSpc>
              <a:spcBef>
                <a:spcPct val="20000"/>
              </a:spcBef>
              <a:spcAft>
                <a:spcPct val="0"/>
              </a:spcAft>
              <a:buClr>
                <a:srgbClr val="0033CC"/>
              </a:buClr>
              <a:buSzPct val="80000"/>
              <a:buFont typeface="Wingdings" panose="05000000000000000000" pitchFamily="2" charset="2"/>
              <a:buChar char="u"/>
              <a:defRPr/>
            </a:pP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合法权限检查</a:t>
            </a:r>
            <a:endPar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p:txBody>
      </p:sp>
      <p:sp>
        <p:nvSpPr>
          <p:cNvPr id="5" name="右大括号 4"/>
          <p:cNvSpPr/>
          <p:nvPr/>
        </p:nvSpPr>
        <p:spPr>
          <a:xfrm>
            <a:off x="3747135" y="2126670"/>
            <a:ext cx="304800" cy="838200"/>
          </a:xfrm>
          <a:prstGeom prst="rightBrace">
            <a:avLst/>
          </a:prstGeom>
          <a:ln w="317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rgbClr val="FF0000"/>
              </a:solidFill>
            </a:endParaRPr>
          </a:p>
        </p:txBody>
      </p:sp>
      <p:sp>
        <p:nvSpPr>
          <p:cNvPr id="7" name="文本框 6"/>
          <p:cNvSpPr txBox="1"/>
          <p:nvPr/>
        </p:nvSpPr>
        <p:spPr>
          <a:xfrm>
            <a:off x="4246880" y="2044120"/>
            <a:ext cx="4297045" cy="1003935"/>
          </a:xfrm>
          <a:prstGeom prst="rect">
            <a:avLst/>
          </a:prstGeom>
          <a:noFill/>
        </p:spPr>
        <p:txBody>
          <a:bodyPr wrap="square" rtlCol="0" anchor="t">
            <a:spAutoFit/>
          </a:bodyPr>
          <a:lstStyle/>
          <a:p>
            <a:pPr>
              <a:buNone/>
            </a:pPr>
            <a:r>
              <a:rPr lang="zh-CN" altLang="en-US" sz="2200" kern="0" noProof="0" dirty="0">
                <a:ln>
                  <a:noFill/>
                </a:ln>
                <a:effectLst/>
                <a:uLnTx/>
                <a:uFillTx/>
                <a:latin typeface="+mn-ea"/>
                <a:ea typeface="+mn-ea"/>
                <a:cs typeface="+mn-cs"/>
                <a:sym typeface="+mn-ea"/>
              </a:rPr>
              <a:t>用户权限定义和合法权检查机制一起组成了</a:t>
            </a:r>
            <a:r>
              <a:rPr lang="en-US" altLang="zh-CN" sz="2200" kern="0" noProof="0" dirty="0">
                <a:ln>
                  <a:noFill/>
                </a:ln>
                <a:effectLst/>
                <a:uLnTx/>
                <a:uFillTx/>
                <a:latin typeface="+mn-ea"/>
                <a:ea typeface="+mn-ea"/>
                <a:cs typeface="+mn-cs"/>
                <a:sym typeface="+mn-ea"/>
              </a:rPr>
              <a:t>DBMS</a:t>
            </a:r>
            <a:r>
              <a:rPr lang="zh-CN" altLang="en-US" sz="2200" kern="0" noProof="0" dirty="0">
                <a:ln>
                  <a:noFill/>
                </a:ln>
                <a:effectLst/>
                <a:uLnTx/>
                <a:uFillTx/>
                <a:latin typeface="+mn-ea"/>
                <a:ea typeface="+mn-ea"/>
                <a:cs typeface="+mn-cs"/>
                <a:sym typeface="+mn-ea"/>
              </a:rPr>
              <a:t>的安全子系统</a:t>
            </a:r>
            <a:endParaRPr lang="zh-CN" altLang="en-US" sz="2200" kern="0" noProof="0" dirty="0">
              <a:ln>
                <a:noFill/>
              </a:ln>
              <a:effectLst/>
              <a:uLnTx/>
              <a:uFillTx/>
              <a:latin typeface="+mn-ea"/>
              <a:ea typeface="+mn-ea"/>
              <a:cs typeface="+mn-cs"/>
              <a:sym typeface="+mn-ea"/>
            </a:endParaRPr>
          </a:p>
        </p:txBody>
      </p:sp>
      <p:sp>
        <p:nvSpPr>
          <p:cNvPr id="10" name="Rectangle 2"/>
          <p:cNvSpPr txBox="1">
            <a:spLocks noChangeArrowheads="1"/>
          </p:cNvSpPr>
          <p:nvPr/>
        </p:nvSpPr>
        <p:spPr>
          <a:xfrm>
            <a:off x="620395" y="3200455"/>
            <a:ext cx="3213735" cy="494665"/>
          </a:xfrm>
          <a:prstGeom prst="rect">
            <a:avLst/>
          </a:prstGeom>
        </p:spPr>
        <p:txBody>
          <a:bodyPr/>
          <a:lstStyle/>
          <a:p>
            <a:pPr marR="0" lvl="0" algn="l" defTabSz="914400" rtl="0" eaLnBrk="0" fontAlgn="base" latinLnBrk="0" hangingPunct="0">
              <a:lnSpc>
                <a:spcPct val="100000"/>
              </a:lnSpc>
              <a:spcBef>
                <a:spcPct val="0"/>
              </a:spcBef>
              <a:spcAft>
                <a:spcPct val="0"/>
              </a:spcAft>
              <a:buClrTx/>
              <a:buSzTx/>
              <a:buFont typeface="Wingdings" panose="05000000000000000000" charset="0"/>
              <a:buChar char="p"/>
              <a:defRPr/>
            </a:pPr>
            <a:r>
              <a:rPr kumimoji="1" lang="zh-CN" altLang="en-US" sz="2600" b="1" i="0" u="none" strike="noStrike" kern="0" cap="none" spc="0" normalizeH="0" baseline="0" noProof="0" dirty="0">
                <a:ln>
                  <a:noFill/>
                </a:ln>
                <a:solidFill>
                  <a:srgbClr val="FF0000"/>
                </a:solidFill>
                <a:effectLst/>
                <a:uLnTx/>
                <a:uFillTx/>
                <a:latin typeface="宋体" panose="02010600030101010101" pitchFamily="2" charset="-122"/>
                <a:ea typeface="+mj-ea"/>
                <a:cs typeface="+mj-cs"/>
              </a:rPr>
              <a:t>常用存取控制方法</a:t>
            </a:r>
            <a:endParaRPr kumimoji="1" lang="zh-CN" altLang="en-US" sz="2600" b="1" i="0" u="none" strike="noStrike" kern="0" cap="none" spc="0" normalizeH="0" baseline="0" noProof="0" dirty="0">
              <a:ln>
                <a:noFill/>
              </a:ln>
              <a:solidFill>
                <a:srgbClr val="FF0000"/>
              </a:solidFill>
              <a:effectLst/>
              <a:uLnTx/>
              <a:uFillTx/>
              <a:latin typeface="宋体" panose="02010600030101010101" pitchFamily="2" charset="-122"/>
              <a:ea typeface="+mj-ea"/>
              <a:cs typeface="+mj-cs"/>
            </a:endParaRPr>
          </a:p>
        </p:txBody>
      </p:sp>
      <p:sp>
        <p:nvSpPr>
          <p:cNvPr id="11" name="Rectangle 3"/>
          <p:cNvSpPr txBox="1">
            <a:spLocks noChangeArrowheads="1"/>
          </p:cNvSpPr>
          <p:nvPr/>
        </p:nvSpPr>
        <p:spPr>
          <a:xfrm>
            <a:off x="666750" y="3695120"/>
            <a:ext cx="8103235" cy="2243455"/>
          </a:xfrm>
          <a:prstGeom prst="rect">
            <a:avLst/>
          </a:prstGeom>
          <a:ln>
            <a:solidFill>
              <a:schemeClr val="accent1"/>
            </a:solidFill>
          </a:ln>
        </p:spPr>
        <p:txBody>
          <a:bodyPr lIns="36195" rIns="36195"/>
          <a:lstStyle/>
          <a:p>
            <a:pPr marL="342900" marR="0" lvl="0" indent="-342900" algn="l" defTabSz="914400" rtl="0" eaLnBrk="0" fontAlgn="base" latinLnBrk="0" hangingPunct="0">
              <a:lnSpc>
                <a:spcPct val="105000"/>
              </a:lnSpc>
              <a:spcBef>
                <a:spcPts val="20"/>
              </a:spcBef>
              <a:spcAft>
                <a:spcPts val="0"/>
              </a:spcAft>
              <a:buClr>
                <a:srgbClr val="0033CC"/>
              </a:buClr>
              <a:buSzPct val="80000"/>
              <a:buFont typeface="Wingdings" panose="05000000000000000000" pitchFamily="2" charset="2"/>
              <a:buChar char="u"/>
              <a:defRPr/>
            </a:pPr>
            <a:r>
              <a:rPr kumimoji="0" lang="zh-CN" altLang="en-US" sz="2200" b="1" i="0" u="none" strike="noStrike" kern="0" cap="none" spc="0" normalizeH="0" baseline="0" noProof="0" dirty="0">
                <a:ln>
                  <a:noFill/>
                </a:ln>
                <a:solidFill>
                  <a:srgbClr val="0033CC"/>
                </a:solidFill>
                <a:effectLst/>
                <a:uLnTx/>
                <a:uFillTx/>
                <a:latin typeface="楷体" panose="02010609060101010101" pitchFamily="1" charset="-122"/>
                <a:ea typeface="楷体" panose="02010609060101010101" pitchFamily="1" charset="-122"/>
                <a:cs typeface="+mn-cs"/>
              </a:rPr>
              <a:t>自主存取控制（</a:t>
            </a:r>
            <a:r>
              <a:rPr kumimoji="0" lang="en-US" altLang="zh-CN" sz="2200" b="1" i="0" u="none" strike="noStrike" kern="0" cap="none" spc="0" normalizeH="0" baseline="0" noProof="0" dirty="0">
                <a:ln>
                  <a:noFill/>
                </a:ln>
                <a:solidFill>
                  <a:srgbClr val="0033CC"/>
                </a:solidFill>
                <a:effectLst/>
                <a:uLnTx/>
                <a:uFillTx/>
                <a:latin typeface="楷体" panose="02010609060101010101" pitchFamily="1" charset="-122"/>
                <a:ea typeface="楷体" panose="02010609060101010101" pitchFamily="1" charset="-122"/>
                <a:cs typeface="+mn-cs"/>
              </a:rPr>
              <a:t>Discretionary Access Control</a:t>
            </a:r>
            <a:r>
              <a:rPr kumimoji="0" lang="zh-CN" altLang="en-US" sz="2200" b="1" i="0" u="none" strike="noStrike" kern="0" cap="none" spc="0" normalizeH="0" baseline="0" noProof="0" dirty="0">
                <a:ln>
                  <a:noFill/>
                </a:ln>
                <a:solidFill>
                  <a:srgbClr val="0033CC"/>
                </a:solidFill>
                <a:effectLst/>
                <a:uLnTx/>
                <a:uFillTx/>
                <a:latin typeface="楷体" panose="02010609060101010101" pitchFamily="1" charset="-122"/>
                <a:ea typeface="楷体" panose="02010609060101010101" pitchFamily="1" charset="-122"/>
                <a:cs typeface="+mn-cs"/>
              </a:rPr>
              <a:t>，简称</a:t>
            </a:r>
            <a:r>
              <a:rPr kumimoji="0" lang="en-US" altLang="zh-CN" sz="2200" b="1" i="0" u="none" strike="noStrike" kern="0" cap="none" spc="0" normalizeH="0" baseline="0" noProof="0" dirty="0">
                <a:ln>
                  <a:noFill/>
                </a:ln>
                <a:solidFill>
                  <a:srgbClr val="0033CC"/>
                </a:solidFill>
                <a:effectLst/>
                <a:uLnTx/>
                <a:uFillTx/>
                <a:latin typeface="楷体" panose="02010609060101010101" pitchFamily="1" charset="-122"/>
                <a:ea typeface="楷体" panose="02010609060101010101" pitchFamily="1" charset="-122"/>
                <a:cs typeface="+mn-cs"/>
              </a:rPr>
              <a:t>DAC</a:t>
            </a:r>
            <a:r>
              <a:rPr kumimoji="0" lang="zh-CN" altLang="en-US" sz="2200" b="1" i="0" u="none" strike="noStrike" kern="0" cap="none" spc="0" normalizeH="0" baseline="0" noProof="0" dirty="0">
                <a:ln>
                  <a:noFill/>
                </a:ln>
                <a:solidFill>
                  <a:srgbClr val="0033CC"/>
                </a:solidFill>
                <a:effectLst/>
                <a:uLnTx/>
                <a:uFillTx/>
                <a:latin typeface="楷体" panose="02010609060101010101" pitchFamily="1" charset="-122"/>
                <a:ea typeface="楷体" panose="02010609060101010101" pitchFamily="1" charset="-122"/>
                <a:cs typeface="+mn-cs"/>
              </a:rPr>
              <a:t>）</a:t>
            </a:r>
            <a:r>
              <a:rPr kumimoji="0" lang="zh-CN" altLang="en-US" sz="2400" b="1" i="0" u="none" strike="noStrike" kern="0" cap="none" spc="0" normalizeH="0" baseline="0" noProof="0" dirty="0">
                <a:ln>
                  <a:noFill/>
                </a:ln>
                <a:solidFill>
                  <a:srgbClr val="0033CC"/>
                </a:solidFill>
                <a:effectLst/>
                <a:uLnTx/>
                <a:uFillTx/>
                <a:latin typeface="楷体" panose="02010609060101010101" pitchFamily="1" charset="-122"/>
                <a:ea typeface="楷体" panose="02010609060101010101" pitchFamily="1" charset="-122"/>
                <a:cs typeface="+mn-cs"/>
              </a:rPr>
              <a:t>：</a:t>
            </a:r>
            <a:r>
              <a:rPr kumimoji="0" lang="zh-CN" altLang="en-US"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用户对不同的数据对象有不同的存取权限，不同用户对同一对象有不同权限。</a:t>
            </a:r>
            <a:endParaRPr kumimoji="0" lang="zh-CN" altLang="en-US" sz="22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a:p>
            <a:pPr marL="342900" marR="0" lvl="0" indent="-342900" algn="l" defTabSz="914400" rtl="0" eaLnBrk="0" fontAlgn="base" latinLnBrk="0" hangingPunct="0">
              <a:lnSpc>
                <a:spcPct val="105000"/>
              </a:lnSpc>
              <a:spcBef>
                <a:spcPts val="20"/>
              </a:spcBef>
              <a:spcAft>
                <a:spcPts val="0"/>
              </a:spcAft>
              <a:buClr>
                <a:srgbClr val="0033CC"/>
              </a:buClr>
              <a:buSzPct val="80000"/>
              <a:buFont typeface="Wingdings" panose="05000000000000000000" pitchFamily="2" charset="2"/>
              <a:buChar char="u"/>
              <a:defRPr/>
            </a:pPr>
            <a:r>
              <a:rPr kumimoji="0" lang="zh-CN" altLang="en-US" sz="2300" b="1" i="0" u="none" strike="noStrike" kern="0" cap="none" spc="0" normalizeH="0" baseline="0" noProof="0" dirty="0">
                <a:ln>
                  <a:noFill/>
                </a:ln>
                <a:solidFill>
                  <a:srgbClr val="0033CC"/>
                </a:solidFill>
                <a:effectLst/>
                <a:uLnTx/>
                <a:uFillTx/>
                <a:latin typeface="楷体" panose="02010609060101010101" pitchFamily="1" charset="-122"/>
                <a:ea typeface="楷体" panose="02010609060101010101" pitchFamily="1" charset="-122"/>
                <a:cs typeface="+mn-cs"/>
              </a:rPr>
              <a:t>强制存取控制（</a:t>
            </a:r>
            <a:r>
              <a:rPr kumimoji="0" lang="en-US" altLang="zh-CN" sz="2300" b="1" i="0" u="none" strike="noStrike" kern="0" cap="none" spc="0" normalizeH="0" baseline="0" noProof="0" dirty="0">
                <a:ln>
                  <a:noFill/>
                </a:ln>
                <a:solidFill>
                  <a:srgbClr val="0033CC"/>
                </a:solidFill>
                <a:effectLst/>
                <a:uLnTx/>
                <a:uFillTx/>
                <a:latin typeface="楷体" panose="02010609060101010101" pitchFamily="1" charset="-122"/>
                <a:ea typeface="楷体" panose="02010609060101010101" pitchFamily="1" charset="-122"/>
                <a:cs typeface="+mn-cs"/>
              </a:rPr>
              <a:t>Mandatory Access </a:t>
            </a:r>
            <a:r>
              <a:rPr lang="en-US" altLang="zh-CN" sz="2300" kern="0" noProof="0" dirty="0">
                <a:ln>
                  <a:noFill/>
                </a:ln>
                <a:solidFill>
                  <a:srgbClr val="0033CC"/>
                </a:solidFill>
                <a:effectLst/>
                <a:uLnTx/>
                <a:uFillTx/>
                <a:latin typeface="楷体" panose="02010609060101010101" pitchFamily="1" charset="-122"/>
                <a:ea typeface="楷体" panose="02010609060101010101" pitchFamily="1" charset="-122"/>
                <a:cs typeface="+mn-cs"/>
                <a:sym typeface="+mn-ea"/>
              </a:rPr>
              <a:t>Control</a:t>
            </a:r>
            <a:r>
              <a:rPr lang="zh-CN" altLang="en-US" sz="2300" kern="0" noProof="0" dirty="0">
                <a:ln>
                  <a:noFill/>
                </a:ln>
                <a:solidFill>
                  <a:srgbClr val="0033CC"/>
                </a:solidFill>
                <a:effectLst/>
                <a:uLnTx/>
                <a:uFillTx/>
                <a:latin typeface="楷体" panose="02010609060101010101" pitchFamily="1" charset="-122"/>
                <a:ea typeface="楷体" panose="02010609060101010101" pitchFamily="1" charset="-122"/>
                <a:cs typeface="+mn-cs"/>
                <a:sym typeface="+mn-ea"/>
              </a:rPr>
              <a:t>，简称</a:t>
            </a:r>
            <a:r>
              <a:rPr lang="en-US" altLang="zh-CN" sz="2300" kern="0" noProof="0" dirty="0">
                <a:ln>
                  <a:noFill/>
                </a:ln>
                <a:solidFill>
                  <a:srgbClr val="0033CC"/>
                </a:solidFill>
                <a:effectLst/>
                <a:uLnTx/>
                <a:uFillTx/>
                <a:latin typeface="楷体" panose="02010609060101010101" pitchFamily="1" charset="-122"/>
                <a:ea typeface="楷体" panose="02010609060101010101" pitchFamily="1" charset="-122"/>
                <a:cs typeface="+mn-cs"/>
                <a:sym typeface="+mn-ea"/>
              </a:rPr>
              <a:t>MAC</a:t>
            </a:r>
            <a:r>
              <a:rPr lang="zh-CN" altLang="en-US" sz="2300" kern="0" noProof="0" dirty="0">
                <a:ln>
                  <a:noFill/>
                </a:ln>
                <a:solidFill>
                  <a:srgbClr val="0033CC"/>
                </a:solidFill>
                <a:effectLst/>
                <a:uLnTx/>
                <a:uFillTx/>
                <a:latin typeface="楷体" panose="02010609060101010101" pitchFamily="1" charset="-122"/>
                <a:ea typeface="楷体" panose="02010609060101010101" pitchFamily="1" charset="-122"/>
                <a:cs typeface="+mn-cs"/>
                <a:sym typeface="+mn-ea"/>
              </a:rPr>
              <a:t>）</a:t>
            </a:r>
            <a:r>
              <a:rPr lang="zh-CN" altLang="en-US" sz="2300" kern="0" noProof="0" dirty="0">
                <a:ln>
                  <a:noFill/>
                </a:ln>
                <a:effectLst/>
                <a:uLnTx/>
                <a:uFillTx/>
                <a:latin typeface="楷体" panose="02010609060101010101" pitchFamily="1" charset="-122"/>
                <a:ea typeface="楷体" panose="02010609060101010101" pitchFamily="1" charset="-122"/>
                <a:cs typeface="+mn-cs"/>
                <a:sym typeface="+mn-ea"/>
              </a:rPr>
              <a:t>：</a:t>
            </a:r>
            <a:r>
              <a:rPr lang="zh-CN" altLang="en-US" sz="2200" kern="0" noProof="0" dirty="0">
                <a:ln>
                  <a:noFill/>
                </a:ln>
                <a:effectLst/>
                <a:uLnTx/>
                <a:uFillTx/>
                <a:latin typeface="楷体" panose="02010609060101010101" pitchFamily="1" charset="-122"/>
                <a:ea typeface="楷体" panose="02010609060101010101" pitchFamily="1" charset="-122"/>
                <a:cs typeface="+mn-cs"/>
                <a:sym typeface="+mn-ea"/>
              </a:rPr>
              <a:t>每一数据对象标以一定密级，每一用户对应某一级别的许可证，只有合法许可证的用户才可以存取某一对象。</a:t>
            </a:r>
            <a:endParaRPr lang="zh-CN" altLang="en-US" sz="2200" kern="0" noProof="0" dirty="0">
              <a:ln>
                <a:noFill/>
              </a:ln>
              <a:effectLst/>
              <a:uLnTx/>
              <a:uFillTx/>
              <a:latin typeface="楷体" panose="02010609060101010101" pitchFamily="1" charset="-122"/>
              <a:ea typeface="楷体" panose="02010609060101010101" pitchFamily="1" charset="-122"/>
              <a:cs typeface="+mn-cs"/>
              <a:sym typeface="+mn-ea"/>
            </a:endParaRPr>
          </a:p>
        </p:txBody>
      </p:sp>
      <p:sp>
        <p:nvSpPr>
          <p:cNvPr id="2" name="矩形 2"/>
          <p:cNvSpPr/>
          <p:nvPr/>
        </p:nvSpPr>
        <p:spPr>
          <a:xfrm>
            <a:off x="394335" y="756920"/>
            <a:ext cx="8375650" cy="672465"/>
          </a:xfrm>
          <a:prstGeom prst="rect">
            <a:avLst/>
          </a:prstGeom>
          <a:noFill/>
          <a:ln w="9525">
            <a:noFill/>
          </a:ln>
        </p:spPr>
        <p:txBody>
          <a:bodyPr anchor="t">
            <a:spAutoFit/>
          </a:bodyPr>
          <a:lstStyle/>
          <a:p>
            <a:pPr algn="l">
              <a:lnSpc>
                <a:spcPct val="135000"/>
              </a:lnSpc>
              <a:buClrTx/>
              <a:buSzTx/>
              <a:buFont typeface="Wingdings" panose="05000000000000000000" charset="0"/>
            </a:pPr>
            <a:r>
              <a:rPr lang="en-US" altLang="zh-CN" sz="2800" dirty="0">
                <a:solidFill>
                  <a:srgbClr val="0033CC"/>
                </a:solidFill>
                <a:latin typeface="黑体" panose="02010609060101010101" pitchFamily="1" charset="-122"/>
                <a:ea typeface="黑体" panose="02010609060101010101" pitchFamily="1" charset="-122"/>
                <a:cs typeface="+mn-ea"/>
                <a:sym typeface="+mn-ea"/>
              </a:rPr>
              <a:t>2.</a:t>
            </a:r>
            <a:r>
              <a:rPr lang="zh-CN" altLang="en-US" sz="2800" dirty="0">
                <a:solidFill>
                  <a:srgbClr val="0033CC"/>
                </a:solidFill>
                <a:latin typeface="黑体" panose="02010609060101010101" pitchFamily="1" charset="-122"/>
                <a:ea typeface="黑体" panose="02010609060101010101" pitchFamily="1" charset="-122"/>
                <a:cs typeface="+mn-ea"/>
                <a:sym typeface="+mn-ea"/>
              </a:rPr>
              <a:t>数据库的安全性控制</a:t>
            </a:r>
            <a:endParaRPr lang="zh-CN" altLang="en-US" sz="2800" dirty="0">
              <a:solidFill>
                <a:srgbClr val="0033CC"/>
              </a:solidFill>
              <a:latin typeface="黑体" panose="02010609060101010101" pitchFamily="1" charset="-122"/>
              <a:ea typeface="黑体" panose="02010609060101010101" pitchFamily="1" charset="-122"/>
              <a:cs typeface="+mn-ea"/>
              <a:sym typeface="+mn-ea"/>
            </a:endParaRPr>
          </a:p>
        </p:txBody>
      </p:sp>
      <p:sp>
        <p:nvSpPr>
          <p:cNvPr id="20484" name="Rectangle 2"/>
          <p:cNvSpPr/>
          <p:nvPr/>
        </p:nvSpPr>
        <p:spPr>
          <a:xfrm>
            <a:off x="457200" y="68263"/>
            <a:ext cx="8229600" cy="692150"/>
          </a:xfrm>
          <a:prstGeom prst="rect">
            <a:avLst/>
          </a:prstGeom>
          <a:noFill/>
          <a:ln w="9525">
            <a:noFill/>
          </a:ln>
        </p:spPr>
        <p:txBody>
          <a:bodyPr anchor="ctr"/>
          <a:lstStyle/>
          <a:p>
            <a:pPr lvl="0" eaLnBrk="1" hangingPunct="1"/>
            <a:r>
              <a:rPr lang="zh-CN" altLang="en-US" sz="3200" dirty="0">
                <a:solidFill>
                  <a:srgbClr val="FF0000"/>
                </a:solidFill>
                <a:latin typeface="Arial" panose="020B0604020202020204" pitchFamily="34" charset="0"/>
                <a:ea typeface="黑体" panose="02010609060101010101" pitchFamily="1" charset="-122"/>
              </a:rPr>
              <a:t>二、数据库的安全性</a:t>
            </a:r>
            <a:endParaRPr lang="en-US" altLang="zh-CN"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394335" y="1368867"/>
            <a:ext cx="7086600" cy="74803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a:t>
            </a:r>
            <a:r>
              <a:rPr kumimoji="1" lang="en-US" altLang="zh-CN"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3</a:t>
            </a:r>
            <a:r>
              <a:rPr kumimoji="1" lang="zh-CN" altLang="en-US"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）自主存取控制（</a:t>
            </a:r>
            <a:r>
              <a:rPr kumimoji="1" lang="en-US" altLang="zh-CN"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DAC</a:t>
            </a:r>
            <a:r>
              <a:rPr kumimoji="1" lang="zh-CN" altLang="en-US"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a:t>
            </a:r>
            <a:endParaRPr kumimoji="1" lang="zh-CN" altLang="en-US"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endParaRPr>
          </a:p>
        </p:txBody>
      </p:sp>
      <p:sp>
        <p:nvSpPr>
          <p:cNvPr id="6" name="Rectangle 3"/>
          <p:cNvSpPr txBox="1">
            <a:spLocks noChangeArrowheads="1"/>
          </p:cNvSpPr>
          <p:nvPr/>
        </p:nvSpPr>
        <p:spPr>
          <a:xfrm>
            <a:off x="734695" y="2475900"/>
            <a:ext cx="2150110" cy="893798"/>
          </a:xfrm>
          <a:prstGeom prst="rect">
            <a:avLst/>
          </a:prstGeom>
          <a:ln>
            <a:solidFill>
              <a:schemeClr val="accent1"/>
            </a:solidFill>
          </a:ln>
        </p:spPr>
        <p:txBody>
          <a:bodyPr/>
          <a:lstStyle/>
          <a:p>
            <a:pPr marL="342900" marR="0" lvl="0" indent="-342900" algn="l" defTabSz="914400" rtl="0" eaLnBrk="0" fontAlgn="base" latinLnBrk="0" hangingPunct="0">
              <a:spcBef>
                <a:spcPts val="0"/>
              </a:spcBef>
              <a:spcAft>
                <a:spcPct val="0"/>
              </a:spcAft>
              <a:buClr>
                <a:srgbClr val="0033CC"/>
              </a:buClr>
              <a:buSzPct val="80000"/>
              <a:buFont typeface="Wingdings" panose="05000000000000000000" pitchFamily="2" charset="2"/>
              <a:buChar char="u"/>
              <a:defRPr/>
            </a:pP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数据对象</a:t>
            </a:r>
            <a:endPar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a:p>
            <a:pPr marL="342900" marR="0" lvl="0" indent="-342900" algn="l" defTabSz="914400" rtl="0" eaLnBrk="0" fontAlgn="base" latinLnBrk="0" hangingPunct="0">
              <a:spcBef>
                <a:spcPts val="0"/>
              </a:spcBef>
              <a:spcAft>
                <a:spcPct val="0"/>
              </a:spcAft>
              <a:buClr>
                <a:srgbClr val="0033CC"/>
              </a:buClr>
              <a:buSzPct val="80000"/>
              <a:buFont typeface="Wingdings" panose="05000000000000000000" pitchFamily="2" charset="2"/>
              <a:buChar char="u"/>
              <a:defRPr/>
            </a:pP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操作类型</a:t>
            </a:r>
            <a:endPar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p:txBody>
      </p:sp>
      <p:sp>
        <p:nvSpPr>
          <p:cNvPr id="7" name="文本框 6"/>
          <p:cNvSpPr txBox="1"/>
          <p:nvPr/>
        </p:nvSpPr>
        <p:spPr>
          <a:xfrm>
            <a:off x="530044" y="1952116"/>
            <a:ext cx="4297045" cy="547370"/>
          </a:xfrm>
          <a:prstGeom prst="rect">
            <a:avLst/>
          </a:prstGeom>
          <a:noFill/>
        </p:spPr>
        <p:txBody>
          <a:bodyPr wrap="square" rtlCol="0" anchor="t">
            <a:spAutoFit/>
          </a:bodyPr>
          <a:lstStyle/>
          <a:p>
            <a:pPr>
              <a:buNone/>
            </a:pPr>
            <a:r>
              <a:rPr lang="zh-CN" altLang="en-US" sz="2200" kern="0" noProof="0" dirty="0">
                <a:ln>
                  <a:noFill/>
                </a:ln>
                <a:effectLst/>
                <a:uLnTx/>
                <a:uFillTx/>
                <a:latin typeface="+mn-ea"/>
                <a:ea typeface="+mn-ea"/>
                <a:cs typeface="+mn-cs"/>
                <a:sym typeface="+mn-ea"/>
              </a:rPr>
              <a:t>存取权限由两个要素组成：</a:t>
            </a:r>
            <a:endParaRPr lang="zh-CN" altLang="en-US" sz="2200" kern="0" noProof="0" dirty="0">
              <a:ln>
                <a:noFill/>
              </a:ln>
              <a:effectLst/>
              <a:uLnTx/>
              <a:uFillTx/>
              <a:latin typeface="+mn-ea"/>
              <a:ea typeface="+mn-ea"/>
              <a:cs typeface="+mn-cs"/>
              <a:sym typeface="+mn-ea"/>
            </a:endParaRPr>
          </a:p>
        </p:txBody>
      </p:sp>
      <p:sp>
        <p:nvSpPr>
          <p:cNvPr id="5" name="右大括号 4"/>
          <p:cNvSpPr/>
          <p:nvPr/>
        </p:nvSpPr>
        <p:spPr>
          <a:xfrm>
            <a:off x="3016885" y="2583839"/>
            <a:ext cx="304800" cy="838200"/>
          </a:xfrm>
          <a:prstGeom prst="rightBrace">
            <a:avLst/>
          </a:prstGeom>
          <a:ln w="317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rgbClr val="FF0000"/>
              </a:solidFill>
            </a:endParaRPr>
          </a:p>
        </p:txBody>
      </p:sp>
      <p:sp>
        <p:nvSpPr>
          <p:cNvPr id="3" name="文本框 2"/>
          <p:cNvSpPr txBox="1"/>
          <p:nvPr/>
        </p:nvSpPr>
        <p:spPr>
          <a:xfrm>
            <a:off x="3408000" y="2948431"/>
            <a:ext cx="5474970" cy="547370"/>
          </a:xfrm>
          <a:prstGeom prst="rect">
            <a:avLst/>
          </a:prstGeom>
          <a:noFill/>
        </p:spPr>
        <p:txBody>
          <a:bodyPr wrap="square" rtlCol="0" anchor="t">
            <a:spAutoFit/>
          </a:bodyPr>
          <a:lstStyle/>
          <a:p>
            <a:pPr>
              <a:buNone/>
            </a:pPr>
            <a:r>
              <a:rPr lang="zh-CN" altLang="en-US" sz="2200" kern="0" noProof="0" dirty="0">
                <a:ln>
                  <a:noFill/>
                </a:ln>
                <a:effectLst/>
                <a:uLnTx/>
                <a:uFillTx/>
                <a:latin typeface="+mn-ea"/>
                <a:ea typeface="+mn-ea"/>
                <a:cs typeface="+mn-cs"/>
                <a:sym typeface="+mn-ea"/>
              </a:rPr>
              <a:t>通过</a:t>
            </a:r>
            <a:r>
              <a:rPr lang="en-US" altLang="zh-CN" sz="2200" kern="0" noProof="0" dirty="0">
                <a:ln>
                  <a:noFill/>
                </a:ln>
                <a:effectLst/>
                <a:uLnTx/>
                <a:uFillTx/>
                <a:latin typeface="+mn-ea"/>
                <a:ea typeface="+mn-ea"/>
                <a:cs typeface="+mn-cs"/>
                <a:sym typeface="+mn-ea"/>
              </a:rPr>
              <a:t>SQL</a:t>
            </a:r>
            <a:r>
              <a:rPr lang="zh-CN" altLang="en-US" sz="2200" kern="0" noProof="0" dirty="0">
                <a:ln>
                  <a:noFill/>
                </a:ln>
                <a:effectLst/>
                <a:uLnTx/>
                <a:uFillTx/>
                <a:latin typeface="+mn-ea"/>
                <a:ea typeface="+mn-ea"/>
                <a:cs typeface="+mn-cs"/>
                <a:sym typeface="+mn-ea"/>
              </a:rPr>
              <a:t>的</a:t>
            </a:r>
            <a:r>
              <a:rPr lang="en-US" altLang="zh-CN" sz="2200" kern="0" noProof="0" dirty="0">
                <a:ln>
                  <a:noFill/>
                </a:ln>
                <a:solidFill>
                  <a:srgbClr val="CC00FF"/>
                </a:solidFill>
                <a:effectLst/>
                <a:uLnTx/>
                <a:uFillTx/>
                <a:latin typeface="+mj-lt"/>
                <a:ea typeface="+mn-ea"/>
                <a:cs typeface="+mj-lt"/>
                <a:sym typeface="+mn-ea"/>
              </a:rPr>
              <a:t>GRANT</a:t>
            </a:r>
            <a:r>
              <a:rPr lang="zh-CN" altLang="en-US" sz="2200" kern="0" noProof="0" dirty="0">
                <a:ln>
                  <a:noFill/>
                </a:ln>
                <a:effectLst/>
                <a:uLnTx/>
                <a:uFillTx/>
                <a:latin typeface="+mn-ea"/>
                <a:ea typeface="+mn-ea"/>
                <a:cs typeface="+mn-cs"/>
                <a:sym typeface="+mn-ea"/>
              </a:rPr>
              <a:t>和</a:t>
            </a:r>
            <a:r>
              <a:rPr lang="en-US" altLang="zh-CN" sz="2200" kern="0" noProof="0" dirty="0">
                <a:ln>
                  <a:noFill/>
                </a:ln>
                <a:solidFill>
                  <a:srgbClr val="CC00FF"/>
                </a:solidFill>
                <a:effectLst/>
                <a:uLnTx/>
                <a:uFillTx/>
                <a:latin typeface="+mj-lt"/>
                <a:ea typeface="+mn-ea"/>
                <a:cs typeface="+mj-lt"/>
                <a:sym typeface="+mn-ea"/>
              </a:rPr>
              <a:t>REVOKE</a:t>
            </a:r>
            <a:r>
              <a:rPr lang="zh-CN" altLang="en-US" sz="2200" kern="0" noProof="0" dirty="0">
                <a:ln>
                  <a:noFill/>
                </a:ln>
                <a:effectLst/>
                <a:uLnTx/>
                <a:uFillTx/>
                <a:latin typeface="+mn-ea"/>
                <a:ea typeface="+mn-ea"/>
                <a:cs typeface="+mn-cs"/>
                <a:sym typeface="+mn-ea"/>
              </a:rPr>
              <a:t>语句来实现</a:t>
            </a:r>
            <a:endParaRPr lang="zh-CN" altLang="en-US" sz="2200" kern="0" noProof="0" dirty="0">
              <a:ln>
                <a:noFill/>
              </a:ln>
              <a:effectLst/>
              <a:uLnTx/>
              <a:uFillTx/>
              <a:latin typeface="+mn-ea"/>
              <a:ea typeface="+mn-ea"/>
              <a:cs typeface="+mn-cs"/>
              <a:sym typeface="+mn-ea"/>
            </a:endParaRPr>
          </a:p>
        </p:txBody>
      </p:sp>
      <p:sp>
        <p:nvSpPr>
          <p:cNvPr id="20486" name="Text Box 7"/>
          <p:cNvSpPr txBox="1"/>
          <p:nvPr/>
        </p:nvSpPr>
        <p:spPr>
          <a:xfrm>
            <a:off x="711835" y="3539157"/>
            <a:ext cx="7924800" cy="869315"/>
          </a:xfrm>
          <a:prstGeom prst="rect">
            <a:avLst/>
          </a:prstGeom>
          <a:noFill/>
          <a:ln w="9525">
            <a:noFill/>
          </a:ln>
        </p:spPr>
        <p:txBody>
          <a:bodyPr wrap="square" anchor="t">
            <a:spAutoFit/>
          </a:bodyPr>
          <a:lstStyle/>
          <a:p>
            <a:pPr lvl="0">
              <a:lnSpc>
                <a:spcPct val="110000"/>
              </a:lnSpc>
            </a:pPr>
            <a:r>
              <a:rPr lang="zh-CN" altLang="en-US" sz="2200" dirty="0">
                <a:solidFill>
                  <a:srgbClr val="CC3300"/>
                </a:solidFill>
                <a:latin typeface="宋体" panose="02010600030101010101" pitchFamily="2" charset="-122"/>
                <a:ea typeface="宋体" panose="02010600030101010101" pitchFamily="2" charset="-122"/>
              </a:rPr>
              <a:t>授权</a:t>
            </a:r>
            <a:r>
              <a:rPr lang="zh-CN" altLang="en-US" sz="2200" dirty="0" smtClean="0">
                <a:solidFill>
                  <a:srgbClr val="CC3300"/>
                </a:solidFill>
                <a:latin typeface="宋体" panose="02010600030101010101" pitchFamily="2" charset="-122"/>
                <a:ea typeface="宋体" panose="02010600030101010101" pitchFamily="2" charset="-122"/>
              </a:rPr>
              <a:t>：</a:t>
            </a:r>
            <a:r>
              <a:rPr lang="en-US" altLang="x-none" sz="2300" dirty="0">
                <a:latin typeface="宋体" panose="02010600030101010101" pitchFamily="2" charset="-122"/>
              </a:rPr>
              <a:t>GRANT </a:t>
            </a:r>
            <a:r>
              <a:rPr lang="en-US" altLang="x-none" sz="2300" dirty="0">
                <a:solidFill>
                  <a:srgbClr val="3402C2"/>
                </a:solidFill>
                <a:latin typeface="宋体" panose="02010600030101010101" pitchFamily="2" charset="-122"/>
              </a:rPr>
              <a:t>&lt;</a:t>
            </a:r>
            <a:r>
              <a:rPr lang="zh-CN" altLang="en-US" sz="2300" dirty="0">
                <a:solidFill>
                  <a:srgbClr val="3402C2"/>
                </a:solidFill>
                <a:latin typeface="宋体" panose="02010600030101010101" pitchFamily="2" charset="-122"/>
              </a:rPr>
              <a:t>权限</a:t>
            </a:r>
            <a:r>
              <a:rPr lang="en-US" altLang="zh-CN" sz="2300" dirty="0">
                <a:solidFill>
                  <a:srgbClr val="3402C2"/>
                </a:solidFill>
                <a:latin typeface="宋体" panose="02010600030101010101" pitchFamily="2" charset="-122"/>
              </a:rPr>
              <a:t>&gt; </a:t>
            </a:r>
            <a:r>
              <a:rPr lang="en-US" altLang="x-none" sz="2300" dirty="0">
                <a:latin typeface="宋体" panose="02010600030101010101" pitchFamily="2" charset="-122"/>
              </a:rPr>
              <a:t>on </a:t>
            </a:r>
            <a:r>
              <a:rPr lang="en-US" altLang="x-none" sz="2300" dirty="0">
                <a:solidFill>
                  <a:srgbClr val="3402C2"/>
                </a:solidFill>
                <a:latin typeface="宋体" panose="02010600030101010101" pitchFamily="2" charset="-122"/>
              </a:rPr>
              <a:t>&lt;</a:t>
            </a:r>
            <a:r>
              <a:rPr lang="zh-CN" altLang="en-US" sz="2300" dirty="0">
                <a:solidFill>
                  <a:srgbClr val="3402C2"/>
                </a:solidFill>
                <a:latin typeface="宋体" panose="02010600030101010101" pitchFamily="2" charset="-122"/>
              </a:rPr>
              <a:t>列表名</a:t>
            </a:r>
            <a:r>
              <a:rPr lang="en-US" altLang="zh-CN" sz="2300" dirty="0">
                <a:solidFill>
                  <a:srgbClr val="3402C2"/>
                </a:solidFill>
                <a:latin typeface="宋体" panose="02010600030101010101" pitchFamily="2" charset="-122"/>
              </a:rPr>
              <a:t>&gt;</a:t>
            </a:r>
            <a:r>
              <a:rPr lang="en-US" altLang="zh-CN" sz="2300" dirty="0">
                <a:latin typeface="宋体" panose="02010600030101010101" pitchFamily="2" charset="-122"/>
              </a:rPr>
              <a:t> </a:t>
            </a:r>
            <a:r>
              <a:rPr lang="en-US" altLang="x-none" sz="2300" dirty="0">
                <a:latin typeface="宋体" panose="02010600030101010101" pitchFamily="2" charset="-122"/>
              </a:rPr>
              <a:t>To </a:t>
            </a:r>
            <a:r>
              <a:rPr lang="en-US" altLang="x-none" sz="2300" dirty="0">
                <a:solidFill>
                  <a:srgbClr val="3402C2"/>
                </a:solidFill>
                <a:latin typeface="宋体" panose="02010600030101010101" pitchFamily="2" charset="-122"/>
              </a:rPr>
              <a:t>&lt;</a:t>
            </a:r>
            <a:r>
              <a:rPr lang="zh-CN" altLang="en-US" sz="2300" dirty="0">
                <a:solidFill>
                  <a:srgbClr val="3402C2"/>
                </a:solidFill>
                <a:latin typeface="宋体" panose="02010600030101010101" pitchFamily="2" charset="-122"/>
              </a:rPr>
              <a:t>授权者</a:t>
            </a:r>
            <a:r>
              <a:rPr lang="en-US" altLang="zh-CN" sz="2300" dirty="0">
                <a:solidFill>
                  <a:srgbClr val="3402C2"/>
                </a:solidFill>
                <a:latin typeface="宋体" panose="02010600030101010101" pitchFamily="2" charset="-122"/>
              </a:rPr>
              <a:t>&gt;[,&lt;</a:t>
            </a:r>
            <a:r>
              <a:rPr lang="zh-CN" altLang="en-US" sz="2300" dirty="0">
                <a:solidFill>
                  <a:srgbClr val="3402C2"/>
                </a:solidFill>
                <a:latin typeface="宋体" panose="02010600030101010101" pitchFamily="2" charset="-122"/>
              </a:rPr>
              <a:t>授权者</a:t>
            </a:r>
            <a:r>
              <a:rPr lang="en-US" altLang="zh-CN" sz="2300" dirty="0" smtClean="0">
                <a:solidFill>
                  <a:srgbClr val="3402C2"/>
                </a:solidFill>
                <a:latin typeface="宋体" panose="02010600030101010101" pitchFamily="2" charset="-122"/>
              </a:rPr>
              <a:t>&gt;]</a:t>
            </a:r>
            <a:endParaRPr lang="en-US" altLang="zh-CN" sz="2300" dirty="0" smtClean="0">
              <a:solidFill>
                <a:srgbClr val="3402C2"/>
              </a:solidFill>
              <a:latin typeface="宋体" panose="02010600030101010101" pitchFamily="2" charset="-122"/>
            </a:endParaRPr>
          </a:p>
          <a:p>
            <a:pPr lvl="0">
              <a:lnSpc>
                <a:spcPct val="110000"/>
              </a:lnSpc>
            </a:pPr>
            <a:r>
              <a:rPr lang="en-US" altLang="zh-CN" sz="2300" dirty="0">
                <a:latin typeface="宋体" panose="02010600030101010101" pitchFamily="2" charset="-122"/>
              </a:rPr>
              <a:t> </a:t>
            </a:r>
            <a:r>
              <a:rPr lang="en-US" altLang="zh-CN" sz="2300" dirty="0" smtClean="0">
                <a:latin typeface="宋体" panose="02010600030101010101" pitchFamily="2" charset="-122"/>
              </a:rPr>
              <a:t>           </a:t>
            </a:r>
            <a:r>
              <a:rPr lang="en-US" altLang="x-none" sz="2300" dirty="0" smtClean="0">
                <a:latin typeface="宋体" panose="02010600030101010101" pitchFamily="2" charset="-122"/>
              </a:rPr>
              <a:t>[</a:t>
            </a:r>
            <a:r>
              <a:rPr lang="en-US" altLang="x-none" sz="2300" dirty="0">
                <a:latin typeface="宋体" panose="02010600030101010101" pitchFamily="2" charset="-122"/>
              </a:rPr>
              <a:t>WITH GRANT OPTION]</a:t>
            </a:r>
            <a:endParaRPr lang="zh-CN" altLang="en-US" sz="2300" dirty="0">
              <a:latin typeface="宋体" panose="02010600030101010101" pitchFamily="2" charset="-122"/>
            </a:endParaRPr>
          </a:p>
        </p:txBody>
      </p:sp>
      <p:sp>
        <p:nvSpPr>
          <p:cNvPr id="2" name="矩形 2"/>
          <p:cNvSpPr/>
          <p:nvPr/>
        </p:nvSpPr>
        <p:spPr>
          <a:xfrm>
            <a:off x="394335" y="756920"/>
            <a:ext cx="8375650" cy="672465"/>
          </a:xfrm>
          <a:prstGeom prst="rect">
            <a:avLst/>
          </a:prstGeom>
          <a:noFill/>
          <a:ln w="9525">
            <a:noFill/>
          </a:ln>
        </p:spPr>
        <p:txBody>
          <a:bodyPr anchor="t">
            <a:spAutoFit/>
          </a:bodyPr>
          <a:lstStyle/>
          <a:p>
            <a:pPr algn="l">
              <a:lnSpc>
                <a:spcPct val="135000"/>
              </a:lnSpc>
              <a:buClrTx/>
              <a:buSzTx/>
              <a:buFont typeface="Wingdings" panose="05000000000000000000" charset="0"/>
            </a:pPr>
            <a:r>
              <a:rPr lang="en-US" altLang="zh-CN" sz="2800" dirty="0">
                <a:solidFill>
                  <a:srgbClr val="0033CC"/>
                </a:solidFill>
                <a:latin typeface="黑体" panose="02010609060101010101" pitchFamily="1" charset="-122"/>
                <a:ea typeface="黑体" panose="02010609060101010101" pitchFamily="1" charset="-122"/>
                <a:cs typeface="+mn-ea"/>
                <a:sym typeface="+mn-ea"/>
              </a:rPr>
              <a:t>2.</a:t>
            </a:r>
            <a:r>
              <a:rPr lang="zh-CN" altLang="en-US" sz="2800" dirty="0">
                <a:solidFill>
                  <a:srgbClr val="0033CC"/>
                </a:solidFill>
                <a:latin typeface="黑体" panose="02010609060101010101" pitchFamily="1" charset="-122"/>
                <a:ea typeface="黑体" panose="02010609060101010101" pitchFamily="1" charset="-122"/>
                <a:cs typeface="+mn-ea"/>
                <a:sym typeface="+mn-ea"/>
              </a:rPr>
              <a:t>数据库的安全性控制</a:t>
            </a:r>
            <a:endParaRPr lang="zh-CN" altLang="en-US" sz="2800" dirty="0">
              <a:solidFill>
                <a:srgbClr val="0033CC"/>
              </a:solidFill>
              <a:latin typeface="黑体" panose="02010609060101010101" pitchFamily="1" charset="-122"/>
              <a:ea typeface="黑体" panose="02010609060101010101" pitchFamily="1" charset="-122"/>
              <a:cs typeface="+mn-ea"/>
              <a:sym typeface="+mn-ea"/>
            </a:endParaRPr>
          </a:p>
        </p:txBody>
      </p:sp>
      <p:sp>
        <p:nvSpPr>
          <p:cNvPr id="20484" name="Rectangle 2"/>
          <p:cNvSpPr/>
          <p:nvPr/>
        </p:nvSpPr>
        <p:spPr>
          <a:xfrm>
            <a:off x="457200" y="68263"/>
            <a:ext cx="8229600" cy="692150"/>
          </a:xfrm>
          <a:prstGeom prst="rect">
            <a:avLst/>
          </a:prstGeom>
          <a:noFill/>
          <a:ln w="9525">
            <a:noFill/>
          </a:ln>
        </p:spPr>
        <p:txBody>
          <a:bodyPr anchor="ctr"/>
          <a:lstStyle/>
          <a:p>
            <a:pPr lvl="0" eaLnBrk="1" hangingPunct="1"/>
            <a:r>
              <a:rPr lang="zh-CN" altLang="en-US" sz="3200" dirty="0">
                <a:solidFill>
                  <a:srgbClr val="FF0000"/>
                </a:solidFill>
                <a:latin typeface="Arial" panose="020B0604020202020204" pitchFamily="34" charset="0"/>
                <a:ea typeface="黑体" panose="02010609060101010101" pitchFamily="1" charset="-122"/>
              </a:rPr>
              <a:t>二、数据库的安全性</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4" name="矩形 3"/>
          <p:cNvSpPr/>
          <p:nvPr/>
        </p:nvSpPr>
        <p:spPr>
          <a:xfrm>
            <a:off x="711834" y="4370857"/>
            <a:ext cx="8171135" cy="1785104"/>
          </a:xfrm>
          <a:prstGeom prst="rect">
            <a:avLst/>
          </a:prstGeom>
        </p:spPr>
        <p:txBody>
          <a:bodyPr wrap="square">
            <a:spAutoFit/>
          </a:bodyPr>
          <a:lstStyle/>
          <a:p>
            <a:pPr>
              <a:lnSpc>
                <a:spcPct val="125000"/>
              </a:lnSpc>
            </a:pPr>
            <a:r>
              <a:rPr lang="zh-CN" altLang="en-US" sz="2200" dirty="0"/>
              <a:t>&lt;权限&gt;::=ALL PRIVILAGES |  </a:t>
            </a:r>
            <a:r>
              <a:rPr lang="zh-CN" altLang="en-US" sz="2200" dirty="0">
                <a:solidFill>
                  <a:srgbClr val="3402C2"/>
                </a:solidFill>
              </a:rPr>
              <a:t>&lt;操作&gt;</a:t>
            </a:r>
            <a:r>
              <a:rPr lang="zh-CN" altLang="en-US" sz="2200" dirty="0"/>
              <a:t>,[&lt;操作&gt;]</a:t>
            </a:r>
            <a:endParaRPr lang="zh-CN" altLang="en-US" sz="2200" dirty="0"/>
          </a:p>
          <a:p>
            <a:pPr>
              <a:lnSpc>
                <a:spcPct val="125000"/>
              </a:lnSpc>
            </a:pPr>
            <a:r>
              <a:rPr lang="zh-CN" altLang="en-US" sz="2200" dirty="0"/>
              <a:t>&lt;操作&gt;::=SELECT | INSERT | DELETE | UPDATE [(&lt;</a:t>
            </a:r>
            <a:r>
              <a:rPr lang="zh-CN" altLang="en-US" sz="2200" dirty="0">
                <a:solidFill>
                  <a:srgbClr val="FF3300"/>
                </a:solidFill>
              </a:rPr>
              <a:t>列表名</a:t>
            </a:r>
            <a:r>
              <a:rPr lang="zh-CN" altLang="en-US" sz="2200" dirty="0"/>
              <a:t>&gt;)]</a:t>
            </a:r>
            <a:endParaRPr lang="zh-CN" altLang="en-US" sz="2200" dirty="0"/>
          </a:p>
          <a:p>
            <a:pPr>
              <a:lnSpc>
                <a:spcPct val="125000"/>
              </a:lnSpc>
            </a:pPr>
            <a:r>
              <a:rPr lang="zh-CN" altLang="en-US" sz="2200" dirty="0"/>
              <a:t>&lt;列表名&gt;::=&lt;列名&gt;[,&lt;列名&gt;]</a:t>
            </a:r>
            <a:endParaRPr lang="zh-CN" altLang="en-US" sz="2200" dirty="0"/>
          </a:p>
          <a:p>
            <a:pPr>
              <a:lnSpc>
                <a:spcPct val="125000"/>
              </a:lnSpc>
            </a:pPr>
            <a:r>
              <a:rPr lang="zh-CN" altLang="en-US" sz="2200" dirty="0"/>
              <a:t>&lt;授权者&gt;::=PUBLIC | &lt;用户&gt;</a:t>
            </a:r>
            <a:endParaRPr lang="zh-CN" altLang="en-US" sz="2200" dirty="0"/>
          </a:p>
        </p:txBody>
      </p:sp>
      <p:pic>
        <p:nvPicPr>
          <p:cNvPr id="9" name="图片 8"/>
          <p:cNvPicPr>
            <a:picLocks noChangeAspect="1"/>
          </p:cNvPicPr>
          <p:nvPr/>
        </p:nvPicPr>
        <p:blipFill>
          <a:blip r:embed="rId1"/>
          <a:stretch>
            <a:fillRect/>
          </a:stretch>
        </p:blipFill>
        <p:spPr>
          <a:xfrm>
            <a:off x="5118735" y="846455"/>
            <a:ext cx="3517900" cy="200533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486"/>
                                        </p:tgtEl>
                                        <p:attrNameLst>
                                          <p:attrName>style.visibility</p:attrName>
                                        </p:attrNameLst>
                                      </p:cBhvr>
                                      <p:to>
                                        <p:strVal val="visible"/>
                                      </p:to>
                                    </p:set>
                                    <p:anim calcmode="lin" valueType="num">
                                      <p:cBhvr additive="base">
                                        <p:cTn id="7" dur="500" fill="hold"/>
                                        <p:tgtEl>
                                          <p:spTgt spid="20486"/>
                                        </p:tgtEl>
                                        <p:attrNameLst>
                                          <p:attrName>ppt_x</p:attrName>
                                        </p:attrNameLst>
                                      </p:cBhvr>
                                      <p:tavLst>
                                        <p:tav tm="0">
                                          <p:val>
                                            <p:strVal val="#ppt_x"/>
                                          </p:val>
                                        </p:tav>
                                        <p:tav tm="100000">
                                          <p:val>
                                            <p:strVal val="#ppt_x"/>
                                          </p:val>
                                        </p:tav>
                                      </p:tavLst>
                                    </p:anim>
                                    <p:anim calcmode="lin" valueType="num">
                                      <p:cBhvr additive="base">
                                        <p:cTn id="8" dur="500" fill="hold"/>
                                        <p:tgtEl>
                                          <p:spTgt spid="2048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6" grpId="0"/>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a:xfrm>
            <a:off x="549910" y="2490470"/>
            <a:ext cx="4410075" cy="1418590"/>
          </a:xfrm>
          <a:prstGeom prst="rect">
            <a:avLst/>
          </a:prstGeom>
          <a:ln>
            <a:solidFill>
              <a:schemeClr val="accent1"/>
            </a:solidFill>
          </a:ln>
        </p:spPr>
        <p:txBody>
          <a:bodyPr/>
          <a:lstStyle/>
          <a:p>
            <a:pPr marL="342900" marR="0" lvl="0" indent="-342900" algn="l" defTabSz="914400" rtl="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a:pPr>
            <a:r>
              <a:rPr kumimoji="0" lang="en-US" altLang="zh-CN"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DBA</a:t>
            </a:r>
            <a:endParaRPr kumimoji="0" lang="en-US" altLang="zh-CN"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a:p>
            <a:pPr marL="342900" marR="0" lvl="0" indent="-342900" algn="l" defTabSz="914400" rtl="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a:pP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数据库对象创建者（即</a:t>
            </a:r>
            <a:r>
              <a:rPr kumimoji="0" lang="en-US" altLang="zh-CN"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DBO</a:t>
            </a: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a:t>
            </a:r>
            <a:endPar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a:p>
            <a:pPr marL="342900" marR="0" lvl="0" indent="-342900" algn="l" defTabSz="914400" rtl="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a:pP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拥有该权限的用户</a:t>
            </a:r>
            <a:endPar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p:txBody>
      </p:sp>
      <p:sp>
        <p:nvSpPr>
          <p:cNvPr id="7" name="文本框 6"/>
          <p:cNvSpPr txBox="1"/>
          <p:nvPr/>
        </p:nvSpPr>
        <p:spPr>
          <a:xfrm>
            <a:off x="549910" y="1930400"/>
            <a:ext cx="2151380" cy="547370"/>
          </a:xfrm>
          <a:prstGeom prst="rect">
            <a:avLst/>
          </a:prstGeom>
          <a:noFill/>
        </p:spPr>
        <p:txBody>
          <a:bodyPr wrap="square" rtlCol="0" anchor="t">
            <a:spAutoFit/>
          </a:bodyPr>
          <a:lstStyle/>
          <a:p>
            <a:pPr>
              <a:buNone/>
            </a:pPr>
            <a:r>
              <a:rPr lang="zh-CN" altLang="en-US" sz="2200" kern="0" noProof="0" dirty="0">
                <a:ln>
                  <a:noFill/>
                </a:ln>
                <a:effectLst/>
                <a:uLnTx/>
                <a:uFillTx/>
                <a:latin typeface="+mn-ea"/>
                <a:ea typeface="+mn-ea"/>
                <a:cs typeface="+mn-cs"/>
                <a:sym typeface="+mn-ea"/>
              </a:rPr>
              <a:t>发出</a:t>
            </a:r>
            <a:r>
              <a:rPr lang="en-US" altLang="zh-CN" sz="2200" kern="0" noProof="0" dirty="0">
                <a:ln>
                  <a:noFill/>
                </a:ln>
                <a:solidFill>
                  <a:srgbClr val="CC00FF"/>
                </a:solidFill>
                <a:effectLst/>
                <a:uLnTx/>
                <a:uFillTx/>
                <a:latin typeface="+mj-lt"/>
                <a:ea typeface="+mn-ea"/>
                <a:cs typeface="+mj-lt"/>
                <a:sym typeface="+mn-ea"/>
              </a:rPr>
              <a:t>GRANT</a:t>
            </a:r>
            <a:r>
              <a:rPr lang="zh-CN" altLang="en-US" sz="2200" kern="0" noProof="0" dirty="0">
                <a:ln>
                  <a:noFill/>
                </a:ln>
                <a:effectLst/>
                <a:uLnTx/>
                <a:uFillTx/>
                <a:latin typeface="+mn-ea"/>
                <a:ea typeface="+mn-ea"/>
                <a:cs typeface="+mn-cs"/>
                <a:sym typeface="+mn-ea"/>
              </a:rPr>
              <a:t>：</a:t>
            </a:r>
            <a:endParaRPr lang="zh-CN" altLang="en-US" sz="2200" kern="0" noProof="0" dirty="0">
              <a:ln>
                <a:noFill/>
              </a:ln>
              <a:effectLst/>
              <a:uLnTx/>
              <a:uFillTx/>
              <a:latin typeface="+mn-ea"/>
              <a:ea typeface="+mn-ea"/>
              <a:cs typeface="+mn-cs"/>
              <a:sym typeface="+mn-ea"/>
            </a:endParaRPr>
          </a:p>
        </p:txBody>
      </p:sp>
      <p:sp>
        <p:nvSpPr>
          <p:cNvPr id="2" name="Rectangle 3"/>
          <p:cNvSpPr txBox="1">
            <a:spLocks noChangeArrowheads="1"/>
          </p:cNvSpPr>
          <p:nvPr/>
        </p:nvSpPr>
        <p:spPr>
          <a:xfrm>
            <a:off x="5287010" y="2490470"/>
            <a:ext cx="3305175" cy="999490"/>
          </a:xfrm>
          <a:prstGeom prst="rect">
            <a:avLst/>
          </a:prstGeom>
          <a:ln>
            <a:solidFill>
              <a:schemeClr val="accent1"/>
            </a:solidFill>
          </a:ln>
        </p:spPr>
        <p:txBody>
          <a:bodyPr/>
          <a:lstStyle/>
          <a:p>
            <a:pPr marL="342900" marR="0" lvl="0" indent="-342900" algn="l" defTabSz="914400" rtl="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a:pP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一个或多个具体用户</a:t>
            </a:r>
            <a:endParaRPr kumimoji="0" lang="en-US" altLang="zh-CN"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a:p>
            <a:pPr marL="342900" marR="0" lvl="0" indent="-342900" algn="l" defTabSz="914400" rtl="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a:pPr>
            <a:r>
              <a:rPr kumimoji="0" lang="en-US" altLang="zh-CN"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PUBLIC</a:t>
            </a: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（全体用户）</a:t>
            </a:r>
            <a:endPar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p:txBody>
      </p:sp>
      <p:sp>
        <p:nvSpPr>
          <p:cNvPr id="3" name="文本框 2"/>
          <p:cNvSpPr txBox="1"/>
          <p:nvPr/>
        </p:nvSpPr>
        <p:spPr>
          <a:xfrm>
            <a:off x="5248910" y="1943100"/>
            <a:ext cx="3305175" cy="547370"/>
          </a:xfrm>
          <a:prstGeom prst="rect">
            <a:avLst/>
          </a:prstGeom>
          <a:noFill/>
        </p:spPr>
        <p:txBody>
          <a:bodyPr wrap="square" rtlCol="0" anchor="t">
            <a:spAutoFit/>
          </a:bodyPr>
          <a:lstStyle/>
          <a:p>
            <a:pPr>
              <a:buNone/>
            </a:pPr>
            <a:r>
              <a:rPr lang="zh-CN" altLang="en-US" sz="2200" kern="0" noProof="0" dirty="0">
                <a:ln>
                  <a:noFill/>
                </a:ln>
                <a:effectLst/>
                <a:uLnTx/>
                <a:uFillTx/>
                <a:latin typeface="+mn-ea"/>
                <a:ea typeface="+mn-ea"/>
                <a:cs typeface="+mn-cs"/>
                <a:sym typeface="+mn-ea"/>
              </a:rPr>
              <a:t>接受权限的用户：</a:t>
            </a:r>
            <a:endParaRPr lang="zh-CN" altLang="en-US" sz="2200" kern="0" noProof="0" dirty="0">
              <a:ln>
                <a:noFill/>
              </a:ln>
              <a:effectLst/>
              <a:uLnTx/>
              <a:uFillTx/>
              <a:latin typeface="+mn-ea"/>
              <a:ea typeface="+mn-ea"/>
              <a:cs typeface="+mn-cs"/>
              <a:sym typeface="+mn-ea"/>
            </a:endParaRPr>
          </a:p>
        </p:txBody>
      </p:sp>
      <p:sp>
        <p:nvSpPr>
          <p:cNvPr id="8" name="Rectangle 2"/>
          <p:cNvSpPr txBox="1">
            <a:spLocks noChangeArrowheads="1"/>
          </p:cNvSpPr>
          <p:nvPr/>
        </p:nvSpPr>
        <p:spPr>
          <a:xfrm>
            <a:off x="394335" y="1332285"/>
            <a:ext cx="7086600" cy="443865"/>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a:t>
            </a:r>
            <a:r>
              <a:rPr kumimoji="1" lang="en-US" altLang="zh-CN"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3</a:t>
            </a:r>
            <a:r>
              <a:rPr kumimoji="1" lang="zh-CN" altLang="en-US"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）自主存取控制（</a:t>
            </a:r>
            <a:r>
              <a:rPr kumimoji="1" lang="en-US" altLang="zh-CN"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DAC</a:t>
            </a:r>
            <a:r>
              <a:rPr kumimoji="1" lang="zh-CN" altLang="en-US"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a:t>
            </a:r>
            <a:endParaRPr kumimoji="1" lang="zh-CN" altLang="en-US"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endParaRPr>
          </a:p>
        </p:txBody>
      </p:sp>
      <p:sp>
        <p:nvSpPr>
          <p:cNvPr id="12" name="Rectangle 3"/>
          <p:cNvSpPr txBox="1">
            <a:spLocks noChangeArrowheads="1"/>
          </p:cNvSpPr>
          <p:nvPr/>
        </p:nvSpPr>
        <p:spPr>
          <a:xfrm>
            <a:off x="534035" y="4611370"/>
            <a:ext cx="3838575" cy="1101090"/>
          </a:xfrm>
          <a:prstGeom prst="rect">
            <a:avLst/>
          </a:prstGeom>
          <a:ln>
            <a:solidFill>
              <a:schemeClr val="accent1"/>
            </a:solidFill>
          </a:ln>
        </p:spPr>
        <p:txBody>
          <a:bodyPr/>
          <a:lstStyle/>
          <a:p>
            <a:pPr marL="342900" marR="0" lvl="0" indent="-342900" algn="l" defTabSz="914400" rtl="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a:pP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指定：可以再授予</a:t>
            </a:r>
            <a:endPar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a:p>
            <a:pPr marL="342900" marR="0" lvl="0" indent="-342900" algn="l" defTabSz="914400" rtl="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a:pP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没有指定：不能传播</a:t>
            </a:r>
            <a:endPar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p:txBody>
      </p:sp>
      <p:sp>
        <p:nvSpPr>
          <p:cNvPr id="13" name="文本框 12"/>
          <p:cNvSpPr txBox="1"/>
          <p:nvPr/>
        </p:nvSpPr>
        <p:spPr>
          <a:xfrm>
            <a:off x="534035" y="4051300"/>
            <a:ext cx="6227445" cy="547370"/>
          </a:xfrm>
          <a:prstGeom prst="rect">
            <a:avLst/>
          </a:prstGeom>
          <a:noFill/>
        </p:spPr>
        <p:txBody>
          <a:bodyPr wrap="square" rtlCol="0" anchor="t">
            <a:spAutoFit/>
          </a:bodyPr>
          <a:lstStyle/>
          <a:p>
            <a:pPr>
              <a:buNone/>
            </a:pPr>
            <a:r>
              <a:rPr lang="en-US" altLang="zh-CN" sz="2200" kern="0" noProof="0" dirty="0">
                <a:ln>
                  <a:noFill/>
                </a:ln>
                <a:solidFill>
                  <a:srgbClr val="CC00FF"/>
                </a:solidFill>
                <a:effectLst/>
                <a:uLnTx/>
                <a:uFillTx/>
                <a:latin typeface="+mj-lt"/>
                <a:ea typeface="+mn-ea"/>
                <a:cs typeface="+mj-lt"/>
                <a:sym typeface="+mn-ea"/>
              </a:rPr>
              <a:t>WITH GRANT OPTION</a:t>
            </a:r>
            <a:r>
              <a:rPr lang="zh-CN" altLang="en-US" sz="2200" kern="0" noProof="0" dirty="0">
                <a:ln>
                  <a:noFill/>
                </a:ln>
                <a:solidFill>
                  <a:srgbClr val="CC00FF"/>
                </a:solidFill>
                <a:effectLst/>
                <a:uLnTx/>
                <a:uFillTx/>
                <a:latin typeface="+mj-lt"/>
                <a:ea typeface="+mn-ea"/>
                <a:cs typeface="+mj-lt"/>
                <a:sym typeface="+mn-ea"/>
              </a:rPr>
              <a:t>子句</a:t>
            </a:r>
            <a:r>
              <a:rPr lang="zh-CN" altLang="en-US" sz="2200" kern="0" noProof="0" dirty="0">
                <a:ln>
                  <a:noFill/>
                </a:ln>
                <a:effectLst/>
                <a:uLnTx/>
                <a:uFillTx/>
                <a:latin typeface="+mn-ea"/>
                <a:ea typeface="+mn-ea"/>
                <a:cs typeface="+mn-cs"/>
                <a:sym typeface="+mn-ea"/>
              </a:rPr>
              <a:t>：</a:t>
            </a:r>
            <a:endParaRPr lang="zh-CN" altLang="en-US" sz="2200" kern="0" noProof="0" dirty="0">
              <a:ln>
                <a:noFill/>
              </a:ln>
              <a:effectLst/>
              <a:uLnTx/>
              <a:uFillTx/>
              <a:latin typeface="+mn-ea"/>
              <a:ea typeface="+mn-ea"/>
              <a:cs typeface="+mn-cs"/>
              <a:sym typeface="+mn-ea"/>
            </a:endParaRPr>
          </a:p>
        </p:txBody>
      </p:sp>
      <p:sp>
        <p:nvSpPr>
          <p:cNvPr id="16" name="文本框 15"/>
          <p:cNvSpPr txBox="1"/>
          <p:nvPr/>
        </p:nvSpPr>
        <p:spPr>
          <a:xfrm>
            <a:off x="4688840" y="4301743"/>
            <a:ext cx="4145280" cy="769441"/>
          </a:xfrm>
          <a:prstGeom prst="rect">
            <a:avLst/>
          </a:prstGeom>
          <a:noFill/>
        </p:spPr>
        <p:txBody>
          <a:bodyPr wrap="square" rtlCol="0" anchor="t">
            <a:spAutoFit/>
          </a:bodyPr>
          <a:lstStyle/>
          <a:p>
            <a:pPr>
              <a:buNone/>
            </a:pPr>
            <a:r>
              <a:rPr lang="zh-CN" altLang="en-US" sz="2200" kern="0" noProof="0" dirty="0">
                <a:ln>
                  <a:noFill/>
                </a:ln>
                <a:effectLst/>
                <a:uLnTx/>
                <a:uFillTx/>
                <a:latin typeface="+mn-ea"/>
                <a:ea typeface="+mn-ea"/>
                <a:cs typeface="+mn-cs"/>
                <a:sym typeface="+mn-ea"/>
              </a:rPr>
              <a:t>例</a:t>
            </a:r>
            <a:r>
              <a:rPr lang="en-US" altLang="zh-CN" sz="2200" kern="0" noProof="0" dirty="0">
                <a:ln>
                  <a:noFill/>
                </a:ln>
                <a:effectLst/>
                <a:uLnTx/>
                <a:uFillTx/>
                <a:latin typeface="+mn-ea"/>
                <a:ea typeface="+mn-ea"/>
                <a:cs typeface="+mn-cs"/>
                <a:sym typeface="+mn-ea"/>
              </a:rPr>
              <a:t>1</a:t>
            </a:r>
            <a:r>
              <a:rPr lang="zh-CN" altLang="en-US" sz="2200" kern="0" noProof="0" dirty="0">
                <a:ln>
                  <a:noFill/>
                </a:ln>
                <a:effectLst/>
                <a:uLnTx/>
                <a:uFillTx/>
                <a:latin typeface="+mn-ea"/>
                <a:ea typeface="+mn-ea"/>
                <a:cs typeface="+mn-cs"/>
                <a:sym typeface="+mn-ea"/>
              </a:rPr>
              <a:t>：</a:t>
            </a:r>
            <a:r>
              <a:rPr lang="zh-CN" altLang="en-US" sz="2200" kern="0" noProof="0" dirty="0" smtClean="0">
                <a:ln>
                  <a:noFill/>
                </a:ln>
                <a:effectLst/>
                <a:uLnTx/>
                <a:uFillTx/>
                <a:latin typeface="+mn-ea"/>
                <a:ea typeface="+mn-ea"/>
                <a:cs typeface="+mn-cs"/>
                <a:sym typeface="+mn-ea"/>
              </a:rPr>
              <a:t>把</a:t>
            </a:r>
            <a:r>
              <a:rPr lang="en-US" altLang="zh-CN" sz="2200" kern="0" noProof="0" dirty="0" smtClean="0">
                <a:ln>
                  <a:noFill/>
                </a:ln>
                <a:effectLst/>
                <a:uLnTx/>
                <a:uFillTx/>
                <a:latin typeface="+mn-ea"/>
                <a:ea typeface="+mn-ea"/>
                <a:cs typeface="+mn-cs"/>
                <a:sym typeface="+mn-ea"/>
              </a:rPr>
              <a:t>Student</a:t>
            </a:r>
            <a:r>
              <a:rPr lang="zh-CN" altLang="en-US" sz="2200" kern="0" noProof="0" dirty="0">
                <a:ln>
                  <a:noFill/>
                </a:ln>
                <a:effectLst/>
                <a:uLnTx/>
                <a:uFillTx/>
                <a:latin typeface="+mn-ea"/>
                <a:ea typeface="+mn-ea"/>
                <a:cs typeface="+mn-cs"/>
                <a:sym typeface="+mn-ea"/>
              </a:rPr>
              <a:t>表的查询权限授给用户</a:t>
            </a:r>
            <a:r>
              <a:rPr lang="en-US" altLang="zh-CN" sz="2200" kern="0" noProof="0" dirty="0" smtClean="0">
                <a:ln>
                  <a:noFill/>
                </a:ln>
                <a:effectLst/>
                <a:uLnTx/>
                <a:uFillTx/>
                <a:latin typeface="+mn-ea"/>
                <a:ea typeface="+mn-ea"/>
                <a:cs typeface="+mn-cs"/>
                <a:sym typeface="+mn-ea"/>
              </a:rPr>
              <a:t>U1</a:t>
            </a:r>
            <a:endParaRPr lang="en-US" altLang="zh-CN" sz="2200" kern="0" noProof="0" dirty="0">
              <a:ln>
                <a:noFill/>
              </a:ln>
              <a:effectLst/>
              <a:uLnTx/>
              <a:uFillTx/>
              <a:latin typeface="+mn-ea"/>
              <a:ea typeface="+mn-ea"/>
              <a:cs typeface="+mn-cs"/>
              <a:sym typeface="+mn-ea"/>
            </a:endParaRPr>
          </a:p>
        </p:txBody>
      </p:sp>
      <p:sp>
        <p:nvSpPr>
          <p:cNvPr id="4" name="矩形 2"/>
          <p:cNvSpPr/>
          <p:nvPr/>
        </p:nvSpPr>
        <p:spPr>
          <a:xfrm>
            <a:off x="394335" y="756920"/>
            <a:ext cx="8375650" cy="672465"/>
          </a:xfrm>
          <a:prstGeom prst="rect">
            <a:avLst/>
          </a:prstGeom>
          <a:noFill/>
          <a:ln w="9525">
            <a:noFill/>
          </a:ln>
        </p:spPr>
        <p:txBody>
          <a:bodyPr anchor="t">
            <a:spAutoFit/>
          </a:bodyPr>
          <a:lstStyle/>
          <a:p>
            <a:pPr algn="l">
              <a:lnSpc>
                <a:spcPct val="135000"/>
              </a:lnSpc>
              <a:buClrTx/>
              <a:buSzTx/>
              <a:buFont typeface="Wingdings" panose="05000000000000000000" charset="0"/>
            </a:pPr>
            <a:r>
              <a:rPr lang="en-US" altLang="zh-CN" sz="2800" dirty="0">
                <a:solidFill>
                  <a:srgbClr val="0033CC"/>
                </a:solidFill>
                <a:latin typeface="黑体" panose="02010609060101010101" pitchFamily="1" charset="-122"/>
                <a:ea typeface="黑体" panose="02010609060101010101" pitchFamily="1" charset="-122"/>
                <a:cs typeface="+mn-ea"/>
                <a:sym typeface="+mn-ea"/>
              </a:rPr>
              <a:t>2.</a:t>
            </a:r>
            <a:r>
              <a:rPr lang="zh-CN" altLang="en-US" sz="2800" dirty="0">
                <a:solidFill>
                  <a:srgbClr val="0033CC"/>
                </a:solidFill>
                <a:latin typeface="黑体" panose="02010609060101010101" pitchFamily="1" charset="-122"/>
                <a:ea typeface="黑体" panose="02010609060101010101" pitchFamily="1" charset="-122"/>
                <a:cs typeface="+mn-ea"/>
                <a:sym typeface="+mn-ea"/>
              </a:rPr>
              <a:t>数据库的安全性控制</a:t>
            </a:r>
            <a:endParaRPr lang="zh-CN" altLang="en-US" sz="2800" dirty="0">
              <a:solidFill>
                <a:srgbClr val="0033CC"/>
              </a:solidFill>
              <a:latin typeface="黑体" panose="02010609060101010101" pitchFamily="1" charset="-122"/>
              <a:ea typeface="黑体" panose="02010609060101010101" pitchFamily="1" charset="-122"/>
              <a:cs typeface="+mn-ea"/>
              <a:sym typeface="+mn-ea"/>
            </a:endParaRPr>
          </a:p>
        </p:txBody>
      </p:sp>
      <p:sp>
        <p:nvSpPr>
          <p:cNvPr id="20484" name="Rectangle 2"/>
          <p:cNvSpPr/>
          <p:nvPr/>
        </p:nvSpPr>
        <p:spPr>
          <a:xfrm>
            <a:off x="457200" y="68263"/>
            <a:ext cx="8229600" cy="692150"/>
          </a:xfrm>
          <a:prstGeom prst="rect">
            <a:avLst/>
          </a:prstGeom>
          <a:noFill/>
          <a:ln w="9525">
            <a:noFill/>
          </a:ln>
        </p:spPr>
        <p:txBody>
          <a:bodyPr anchor="ctr"/>
          <a:lstStyle/>
          <a:p>
            <a:pPr lvl="0" eaLnBrk="1" hangingPunct="1"/>
            <a:r>
              <a:rPr lang="zh-CN" altLang="en-US" sz="3200" dirty="0">
                <a:solidFill>
                  <a:srgbClr val="FF0000"/>
                </a:solidFill>
                <a:latin typeface="Arial" panose="020B0604020202020204" pitchFamily="34" charset="0"/>
                <a:ea typeface="黑体" panose="02010609060101010101" pitchFamily="1" charset="-122"/>
              </a:rPr>
              <a:t>二、数据库的安全性</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5" name="矩形 4"/>
          <p:cNvSpPr/>
          <p:nvPr/>
        </p:nvSpPr>
        <p:spPr>
          <a:xfrm>
            <a:off x="4773136" y="5156358"/>
            <a:ext cx="3976688" cy="797078"/>
          </a:xfrm>
          <a:prstGeom prst="rect">
            <a:avLst/>
          </a:prstGeom>
        </p:spPr>
        <p:txBody>
          <a:bodyPr wrap="square">
            <a:spAutoFit/>
          </a:bodyPr>
          <a:lstStyle/>
          <a:p>
            <a:pPr>
              <a:lnSpc>
                <a:spcPct val="120000"/>
              </a:lnSpc>
              <a:spcBef>
                <a:spcPts val="600"/>
              </a:spcBef>
            </a:pPr>
            <a:r>
              <a:rPr lang="en-US" altLang="zh-CN" sz="2000" kern="0" dirty="0">
                <a:solidFill>
                  <a:srgbClr val="CC00FF"/>
                </a:solidFill>
                <a:cs typeface="+mj-lt"/>
                <a:sym typeface="+mn-ea"/>
              </a:rPr>
              <a:t>GRANT SELECT ON TABLE Student To U1</a:t>
            </a:r>
            <a:endParaRPr lang="en-US" altLang="zh-CN" sz="2000" kern="0" dirty="0">
              <a:solidFill>
                <a:srgbClr val="CC00FF"/>
              </a:solidFill>
              <a:cs typeface="+mj-lt"/>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549910" y="1981835"/>
            <a:ext cx="8220710" cy="1045845"/>
          </a:xfrm>
          <a:prstGeom prst="rect">
            <a:avLst/>
          </a:prstGeom>
          <a:noFill/>
        </p:spPr>
        <p:txBody>
          <a:bodyPr wrap="square" rtlCol="0" anchor="t">
            <a:spAutoFit/>
          </a:bodyPr>
          <a:lstStyle/>
          <a:p>
            <a:pPr>
              <a:buNone/>
            </a:pPr>
            <a:r>
              <a:rPr lang="zh-CN" altLang="en-US" sz="2400" kern="0" noProof="0" dirty="0">
                <a:ln>
                  <a:noFill/>
                </a:ln>
                <a:effectLst/>
                <a:uLnTx/>
                <a:uFillTx/>
                <a:latin typeface="+mn-ea"/>
                <a:ea typeface="+mn-ea"/>
                <a:cs typeface="+mn-cs"/>
                <a:sym typeface="+mn-ea"/>
              </a:rPr>
              <a:t>例</a:t>
            </a:r>
            <a:r>
              <a:rPr lang="en-US" altLang="zh-CN" sz="2400" kern="0" noProof="0" dirty="0">
                <a:ln>
                  <a:noFill/>
                </a:ln>
                <a:effectLst/>
                <a:uLnTx/>
                <a:uFillTx/>
                <a:latin typeface="+mn-ea"/>
                <a:ea typeface="+mn-ea"/>
                <a:cs typeface="+mn-cs"/>
                <a:sym typeface="+mn-ea"/>
              </a:rPr>
              <a:t>2</a:t>
            </a:r>
            <a:r>
              <a:rPr lang="zh-CN" altLang="en-US" sz="2400" kern="0" noProof="0" dirty="0">
                <a:ln>
                  <a:noFill/>
                </a:ln>
                <a:effectLst/>
                <a:uLnTx/>
                <a:uFillTx/>
                <a:latin typeface="+mn-ea"/>
                <a:ea typeface="+mn-ea"/>
                <a:cs typeface="+mn-cs"/>
                <a:sym typeface="+mn-ea"/>
              </a:rPr>
              <a:t>：把对</a:t>
            </a:r>
            <a:r>
              <a:rPr lang="en-US" altLang="zh-CN" sz="2400" kern="0" noProof="0" dirty="0">
                <a:ln>
                  <a:noFill/>
                </a:ln>
                <a:effectLst/>
                <a:uLnTx/>
                <a:uFillTx/>
                <a:latin typeface="+mn-ea"/>
                <a:ea typeface="+mn-ea"/>
                <a:cs typeface="+mn-cs"/>
                <a:sym typeface="+mn-ea"/>
              </a:rPr>
              <a:t>Student</a:t>
            </a:r>
            <a:r>
              <a:rPr lang="zh-CN" altLang="en-US" sz="2400" kern="0" noProof="0" dirty="0">
                <a:ln>
                  <a:noFill/>
                </a:ln>
                <a:effectLst/>
                <a:uLnTx/>
                <a:uFillTx/>
                <a:latin typeface="+mn-ea"/>
                <a:ea typeface="+mn-ea"/>
                <a:cs typeface="+mn-cs"/>
                <a:sym typeface="+mn-ea"/>
              </a:rPr>
              <a:t>表和</a:t>
            </a:r>
            <a:r>
              <a:rPr lang="en-US" altLang="zh-CN" sz="2400" kern="0" noProof="0" dirty="0">
                <a:ln>
                  <a:noFill/>
                </a:ln>
                <a:effectLst/>
                <a:uLnTx/>
                <a:uFillTx/>
                <a:latin typeface="+mn-ea"/>
                <a:ea typeface="+mn-ea"/>
                <a:cs typeface="+mn-cs"/>
                <a:sym typeface="+mn-ea"/>
              </a:rPr>
              <a:t>Course</a:t>
            </a:r>
            <a:r>
              <a:rPr lang="zh-CN" altLang="en-US" sz="2400" kern="0" noProof="0" dirty="0">
                <a:ln>
                  <a:noFill/>
                </a:ln>
                <a:effectLst/>
                <a:uLnTx/>
                <a:uFillTx/>
                <a:latin typeface="+mn-ea"/>
                <a:ea typeface="+mn-ea"/>
                <a:cs typeface="+mn-cs"/>
                <a:sym typeface="+mn-ea"/>
              </a:rPr>
              <a:t>表的全部权限授予用户</a:t>
            </a:r>
            <a:r>
              <a:rPr lang="en-US" altLang="zh-CN" sz="2400" kern="0" noProof="0" dirty="0">
                <a:ln>
                  <a:noFill/>
                </a:ln>
                <a:effectLst/>
                <a:uLnTx/>
                <a:uFillTx/>
                <a:latin typeface="+mn-ea"/>
                <a:ea typeface="+mn-ea"/>
                <a:cs typeface="+mn-cs"/>
                <a:sym typeface="+mn-ea"/>
              </a:rPr>
              <a:t>U2</a:t>
            </a:r>
            <a:r>
              <a:rPr lang="zh-CN" altLang="en-US" sz="2400" kern="0" noProof="0" dirty="0">
                <a:ln>
                  <a:noFill/>
                </a:ln>
                <a:effectLst/>
                <a:uLnTx/>
                <a:uFillTx/>
                <a:latin typeface="+mn-ea"/>
                <a:ea typeface="+mn-ea"/>
                <a:cs typeface="+mn-cs"/>
                <a:sym typeface="+mn-ea"/>
              </a:rPr>
              <a:t>和</a:t>
            </a:r>
            <a:r>
              <a:rPr lang="en-US" altLang="zh-CN" sz="2400" kern="0" noProof="0" dirty="0">
                <a:ln>
                  <a:noFill/>
                </a:ln>
                <a:effectLst/>
                <a:uLnTx/>
                <a:uFillTx/>
                <a:latin typeface="+mn-ea"/>
                <a:ea typeface="+mn-ea"/>
                <a:cs typeface="+mn-cs"/>
                <a:sym typeface="+mn-ea"/>
              </a:rPr>
              <a:t>U3</a:t>
            </a:r>
            <a:endParaRPr lang="en-US" altLang="zh-CN" sz="2400" kern="0" noProof="0" dirty="0">
              <a:ln>
                <a:noFill/>
              </a:ln>
              <a:effectLst/>
              <a:uLnTx/>
              <a:uFillTx/>
              <a:latin typeface="+mn-ea"/>
              <a:ea typeface="+mn-ea"/>
              <a:cs typeface="+mn-cs"/>
              <a:sym typeface="+mn-ea"/>
            </a:endParaRPr>
          </a:p>
          <a:p>
            <a:pPr>
              <a:buNone/>
            </a:pPr>
            <a:endParaRPr lang="en-US" altLang="zh-CN" sz="2200" kern="0" noProof="0" dirty="0">
              <a:ln>
                <a:noFill/>
              </a:ln>
              <a:solidFill>
                <a:srgbClr val="CC00FF"/>
              </a:solidFill>
              <a:effectLst/>
              <a:uLnTx/>
              <a:uFillTx/>
              <a:latin typeface="+mj-lt"/>
              <a:ea typeface="+mn-ea"/>
              <a:cs typeface="+mj-lt"/>
              <a:sym typeface="+mn-ea"/>
            </a:endParaRPr>
          </a:p>
        </p:txBody>
      </p:sp>
      <p:sp>
        <p:nvSpPr>
          <p:cNvPr id="8" name="Rectangle 2"/>
          <p:cNvSpPr txBox="1">
            <a:spLocks noChangeArrowheads="1"/>
          </p:cNvSpPr>
          <p:nvPr/>
        </p:nvSpPr>
        <p:spPr>
          <a:xfrm>
            <a:off x="457200" y="1429385"/>
            <a:ext cx="7086600" cy="443865"/>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a:t>
            </a:r>
            <a:r>
              <a:rPr kumimoji="1" lang="en-US" altLang="zh-CN"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3</a:t>
            </a:r>
            <a:r>
              <a:rPr kumimoji="1" lang="zh-CN" altLang="en-US"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）自主存取控制（</a:t>
            </a:r>
            <a:r>
              <a:rPr kumimoji="1" lang="en-US" altLang="zh-CN"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DAC</a:t>
            </a:r>
            <a:r>
              <a:rPr kumimoji="1" lang="zh-CN" altLang="en-US"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a:t>
            </a:r>
            <a:endParaRPr kumimoji="1" lang="zh-CN" altLang="en-US"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endParaRPr>
          </a:p>
        </p:txBody>
      </p:sp>
      <p:sp>
        <p:nvSpPr>
          <p:cNvPr id="4" name="文本框 3"/>
          <p:cNvSpPr txBox="1"/>
          <p:nvPr/>
        </p:nvSpPr>
        <p:spPr>
          <a:xfrm>
            <a:off x="579755" y="3112770"/>
            <a:ext cx="8005445" cy="1045845"/>
          </a:xfrm>
          <a:prstGeom prst="rect">
            <a:avLst/>
          </a:prstGeom>
          <a:noFill/>
        </p:spPr>
        <p:txBody>
          <a:bodyPr wrap="square" rtlCol="0" anchor="t">
            <a:spAutoFit/>
          </a:bodyPr>
          <a:lstStyle/>
          <a:p>
            <a:pPr>
              <a:buNone/>
            </a:pPr>
            <a:r>
              <a:rPr lang="zh-CN" altLang="en-US" sz="2400" kern="0" noProof="0" dirty="0">
                <a:ln>
                  <a:noFill/>
                </a:ln>
                <a:effectLst/>
                <a:uLnTx/>
                <a:uFillTx/>
                <a:latin typeface="+mn-ea"/>
                <a:ea typeface="+mn-ea"/>
                <a:cs typeface="+mn-cs"/>
                <a:sym typeface="+mn-ea"/>
              </a:rPr>
              <a:t>例</a:t>
            </a:r>
            <a:r>
              <a:rPr lang="en-US" altLang="zh-CN" sz="2400" kern="0" noProof="0" dirty="0">
                <a:ln>
                  <a:noFill/>
                </a:ln>
                <a:effectLst/>
                <a:uLnTx/>
                <a:uFillTx/>
                <a:latin typeface="+mn-ea"/>
                <a:ea typeface="+mn-ea"/>
                <a:cs typeface="+mn-cs"/>
                <a:sym typeface="+mn-ea"/>
              </a:rPr>
              <a:t>3</a:t>
            </a:r>
            <a:r>
              <a:rPr lang="zh-CN" altLang="en-US" sz="2400" kern="0" noProof="0" dirty="0">
                <a:ln>
                  <a:noFill/>
                </a:ln>
                <a:effectLst/>
                <a:uLnTx/>
                <a:uFillTx/>
                <a:latin typeface="+mn-ea"/>
                <a:ea typeface="+mn-ea"/>
                <a:cs typeface="+mn-cs"/>
                <a:sym typeface="+mn-ea"/>
              </a:rPr>
              <a:t>：把对表</a:t>
            </a:r>
            <a:r>
              <a:rPr lang="en-US" altLang="zh-CN" sz="2400" kern="0" noProof="0" dirty="0">
                <a:ln>
                  <a:noFill/>
                </a:ln>
                <a:effectLst/>
                <a:uLnTx/>
                <a:uFillTx/>
                <a:latin typeface="+mn-ea"/>
                <a:ea typeface="+mn-ea"/>
                <a:cs typeface="+mn-cs"/>
                <a:sym typeface="+mn-ea"/>
              </a:rPr>
              <a:t>SC</a:t>
            </a:r>
            <a:r>
              <a:rPr lang="zh-CN" altLang="en-US" sz="2400" kern="0" noProof="0" dirty="0">
                <a:ln>
                  <a:noFill/>
                </a:ln>
                <a:effectLst/>
                <a:uLnTx/>
                <a:uFillTx/>
                <a:latin typeface="+mn-ea"/>
                <a:ea typeface="+mn-ea"/>
                <a:cs typeface="+mn-cs"/>
                <a:sym typeface="+mn-ea"/>
              </a:rPr>
              <a:t>的查询权限授予所有用户</a:t>
            </a:r>
            <a:endParaRPr lang="zh-CN" altLang="en-US" sz="2400" kern="0" noProof="0" dirty="0">
              <a:ln>
                <a:noFill/>
              </a:ln>
              <a:effectLst/>
              <a:uLnTx/>
              <a:uFillTx/>
              <a:latin typeface="+mn-ea"/>
              <a:ea typeface="+mn-ea"/>
              <a:cs typeface="+mn-cs"/>
              <a:sym typeface="+mn-ea"/>
            </a:endParaRPr>
          </a:p>
          <a:p>
            <a:pPr>
              <a:buNone/>
            </a:pPr>
            <a:endParaRPr lang="en-US" altLang="zh-CN" sz="2200" kern="0" noProof="0" dirty="0">
              <a:ln>
                <a:noFill/>
              </a:ln>
              <a:solidFill>
                <a:srgbClr val="CC00FF"/>
              </a:solidFill>
              <a:effectLst/>
              <a:uLnTx/>
              <a:uFillTx/>
              <a:latin typeface="+mj-lt"/>
              <a:ea typeface="+mn-ea"/>
              <a:cs typeface="+mj-lt"/>
              <a:sym typeface="+mn-ea"/>
            </a:endParaRPr>
          </a:p>
        </p:txBody>
      </p:sp>
      <p:sp>
        <p:nvSpPr>
          <p:cNvPr id="7" name="文本框 6"/>
          <p:cNvSpPr txBox="1"/>
          <p:nvPr/>
        </p:nvSpPr>
        <p:spPr>
          <a:xfrm>
            <a:off x="621030" y="4404360"/>
            <a:ext cx="8005445" cy="1045845"/>
          </a:xfrm>
          <a:prstGeom prst="rect">
            <a:avLst/>
          </a:prstGeom>
          <a:noFill/>
        </p:spPr>
        <p:txBody>
          <a:bodyPr wrap="square" rtlCol="0" anchor="t">
            <a:spAutoFit/>
          </a:bodyPr>
          <a:lstStyle/>
          <a:p>
            <a:pPr>
              <a:buNone/>
            </a:pPr>
            <a:r>
              <a:rPr lang="zh-CN" altLang="en-US" sz="2400" kern="0" noProof="0" dirty="0">
                <a:ln>
                  <a:noFill/>
                </a:ln>
                <a:effectLst/>
                <a:uLnTx/>
                <a:uFillTx/>
                <a:latin typeface="+mn-ea"/>
                <a:ea typeface="+mn-ea"/>
                <a:cs typeface="+mn-cs"/>
                <a:sym typeface="+mn-ea"/>
              </a:rPr>
              <a:t>例</a:t>
            </a:r>
            <a:r>
              <a:rPr lang="en-US" altLang="zh-CN" sz="2400" kern="0" noProof="0" dirty="0">
                <a:ln>
                  <a:noFill/>
                </a:ln>
                <a:effectLst/>
                <a:uLnTx/>
                <a:uFillTx/>
                <a:latin typeface="+mn-ea"/>
                <a:ea typeface="+mn-ea"/>
                <a:cs typeface="+mn-cs"/>
                <a:sym typeface="+mn-ea"/>
              </a:rPr>
              <a:t>4</a:t>
            </a:r>
            <a:r>
              <a:rPr lang="zh-CN" altLang="en-US" sz="2400" kern="0" noProof="0" dirty="0">
                <a:ln>
                  <a:noFill/>
                </a:ln>
                <a:effectLst/>
                <a:uLnTx/>
                <a:uFillTx/>
                <a:latin typeface="+mn-ea"/>
                <a:ea typeface="+mn-ea"/>
                <a:cs typeface="+mn-cs"/>
                <a:sym typeface="+mn-ea"/>
              </a:rPr>
              <a:t>：把查询</a:t>
            </a:r>
            <a:r>
              <a:rPr lang="en-US" altLang="zh-CN" sz="2400" kern="0" noProof="0" dirty="0">
                <a:ln>
                  <a:noFill/>
                </a:ln>
                <a:effectLst/>
                <a:uLnTx/>
                <a:uFillTx/>
                <a:latin typeface="+mn-ea"/>
                <a:ea typeface="+mn-ea"/>
                <a:cs typeface="+mn-cs"/>
                <a:sym typeface="+mn-ea"/>
              </a:rPr>
              <a:t>Student</a:t>
            </a:r>
            <a:r>
              <a:rPr lang="zh-CN" altLang="en-US" sz="2400" kern="0" noProof="0" dirty="0">
                <a:ln>
                  <a:noFill/>
                </a:ln>
                <a:effectLst/>
                <a:uLnTx/>
                <a:uFillTx/>
                <a:latin typeface="+mn-ea"/>
                <a:ea typeface="+mn-ea"/>
                <a:cs typeface="+mn-cs"/>
                <a:sym typeface="+mn-ea"/>
              </a:rPr>
              <a:t>表和修改学生学号的权限授予用户</a:t>
            </a:r>
            <a:r>
              <a:rPr lang="en-US" altLang="zh-CN" sz="2400" kern="0" noProof="0" dirty="0">
                <a:ln>
                  <a:noFill/>
                </a:ln>
                <a:effectLst/>
                <a:uLnTx/>
                <a:uFillTx/>
                <a:latin typeface="+mn-ea"/>
                <a:ea typeface="+mn-ea"/>
                <a:cs typeface="+mn-cs"/>
                <a:sym typeface="+mn-ea"/>
              </a:rPr>
              <a:t>U4</a:t>
            </a:r>
            <a:endParaRPr lang="zh-CN" altLang="en-US" sz="2400" kern="0" noProof="0" dirty="0">
              <a:ln>
                <a:noFill/>
              </a:ln>
              <a:effectLst/>
              <a:uLnTx/>
              <a:uFillTx/>
              <a:latin typeface="+mn-ea"/>
              <a:ea typeface="+mn-ea"/>
              <a:cs typeface="+mn-cs"/>
              <a:sym typeface="+mn-ea"/>
            </a:endParaRPr>
          </a:p>
          <a:p>
            <a:pPr>
              <a:buNone/>
            </a:pPr>
            <a:endParaRPr lang="en-US" altLang="zh-CN" sz="2200" kern="0" noProof="0" dirty="0">
              <a:ln>
                <a:noFill/>
              </a:ln>
              <a:solidFill>
                <a:srgbClr val="CC00FF"/>
              </a:solidFill>
              <a:effectLst/>
              <a:uLnTx/>
              <a:uFillTx/>
              <a:latin typeface="+mj-lt"/>
              <a:ea typeface="+mn-ea"/>
              <a:cs typeface="+mj-lt"/>
              <a:sym typeface="+mn-ea"/>
            </a:endParaRPr>
          </a:p>
        </p:txBody>
      </p:sp>
      <p:sp>
        <p:nvSpPr>
          <p:cNvPr id="9" name="文本框 8"/>
          <p:cNvSpPr txBox="1"/>
          <p:nvPr/>
        </p:nvSpPr>
        <p:spPr>
          <a:xfrm>
            <a:off x="579755" y="2526030"/>
            <a:ext cx="8206740" cy="589280"/>
          </a:xfrm>
          <a:prstGeom prst="rect">
            <a:avLst/>
          </a:prstGeom>
          <a:noFill/>
        </p:spPr>
        <p:txBody>
          <a:bodyPr wrap="none" rtlCol="0" anchor="t">
            <a:spAutoFit/>
          </a:bodyPr>
          <a:lstStyle/>
          <a:p>
            <a:pPr>
              <a:buNone/>
            </a:pPr>
            <a:r>
              <a:rPr lang="en-US" altLang="zh-CN" sz="2400" kern="0" noProof="0" dirty="0">
                <a:ln>
                  <a:noFill/>
                </a:ln>
                <a:solidFill>
                  <a:srgbClr val="CC00FF"/>
                </a:solidFill>
                <a:effectLst/>
                <a:uLnTx/>
                <a:uFillTx/>
                <a:latin typeface="+mj-lt"/>
                <a:ea typeface="+mn-ea"/>
                <a:cs typeface="+mj-lt"/>
                <a:sym typeface="+mn-ea"/>
              </a:rPr>
              <a:t>GRANT ALL PRIVILIGES  ON  Student,Course To U2,U3</a:t>
            </a:r>
            <a:endParaRPr lang="zh-CN" altLang="en-US" sz="2400" dirty="0"/>
          </a:p>
        </p:txBody>
      </p:sp>
      <p:sp>
        <p:nvSpPr>
          <p:cNvPr id="10" name="文本框 9"/>
          <p:cNvSpPr txBox="1"/>
          <p:nvPr/>
        </p:nvSpPr>
        <p:spPr>
          <a:xfrm>
            <a:off x="621030" y="3717290"/>
            <a:ext cx="6463665" cy="589280"/>
          </a:xfrm>
          <a:prstGeom prst="rect">
            <a:avLst/>
          </a:prstGeom>
          <a:noFill/>
        </p:spPr>
        <p:txBody>
          <a:bodyPr wrap="none" rtlCol="0" anchor="t">
            <a:spAutoFit/>
          </a:bodyPr>
          <a:lstStyle/>
          <a:p>
            <a:pPr>
              <a:buNone/>
            </a:pPr>
            <a:r>
              <a:rPr lang="en-US" altLang="zh-CN" sz="2400" kern="0" noProof="0" dirty="0">
                <a:ln>
                  <a:noFill/>
                </a:ln>
                <a:solidFill>
                  <a:srgbClr val="CC00FF"/>
                </a:solidFill>
                <a:effectLst/>
                <a:uLnTx/>
                <a:uFillTx/>
                <a:latin typeface="+mj-lt"/>
                <a:ea typeface="+mn-ea"/>
                <a:cs typeface="+mj-lt"/>
                <a:sym typeface="+mn-ea"/>
              </a:rPr>
              <a:t>GRANT SELECT  ON TABLE SC To PUBLIC</a:t>
            </a:r>
            <a:endParaRPr lang="zh-CN" altLang="en-US" sz="2400"/>
          </a:p>
        </p:txBody>
      </p:sp>
      <p:sp>
        <p:nvSpPr>
          <p:cNvPr id="11" name="文本框 10"/>
          <p:cNvSpPr txBox="1"/>
          <p:nvPr/>
        </p:nvSpPr>
        <p:spPr>
          <a:xfrm>
            <a:off x="621030" y="4977130"/>
            <a:ext cx="8148955" cy="977265"/>
          </a:xfrm>
          <a:prstGeom prst="rect">
            <a:avLst/>
          </a:prstGeom>
          <a:noFill/>
        </p:spPr>
        <p:txBody>
          <a:bodyPr wrap="square" rtlCol="0" anchor="t">
            <a:spAutoFit/>
          </a:bodyPr>
          <a:lstStyle/>
          <a:p>
            <a:pPr>
              <a:lnSpc>
                <a:spcPct val="120000"/>
              </a:lnSpc>
              <a:spcBef>
                <a:spcPts val="0"/>
              </a:spcBef>
              <a:spcAft>
                <a:spcPts val="0"/>
              </a:spcAft>
              <a:buNone/>
            </a:pPr>
            <a:r>
              <a:rPr lang="en-US" altLang="zh-CN" sz="2400" kern="0" noProof="0" dirty="0">
                <a:ln>
                  <a:noFill/>
                </a:ln>
                <a:solidFill>
                  <a:srgbClr val="CC00FF"/>
                </a:solidFill>
                <a:effectLst/>
                <a:uLnTx/>
                <a:uFillTx/>
                <a:latin typeface="+mj-lt"/>
                <a:ea typeface="+mn-ea"/>
                <a:cs typeface="+mj-lt"/>
                <a:sym typeface="+mn-ea"/>
              </a:rPr>
              <a:t>GRANT SELECT,UPDATE(Sno)  ON TABLE  Student To U4</a:t>
            </a:r>
            <a:endParaRPr lang="zh-CN" altLang="en-US" sz="2400"/>
          </a:p>
        </p:txBody>
      </p:sp>
      <p:sp>
        <p:nvSpPr>
          <p:cNvPr id="2" name="矩形 2"/>
          <p:cNvSpPr/>
          <p:nvPr/>
        </p:nvSpPr>
        <p:spPr>
          <a:xfrm>
            <a:off x="394335" y="756920"/>
            <a:ext cx="8375650" cy="672465"/>
          </a:xfrm>
          <a:prstGeom prst="rect">
            <a:avLst/>
          </a:prstGeom>
          <a:noFill/>
          <a:ln w="9525">
            <a:noFill/>
          </a:ln>
        </p:spPr>
        <p:txBody>
          <a:bodyPr anchor="t">
            <a:spAutoFit/>
          </a:bodyPr>
          <a:lstStyle/>
          <a:p>
            <a:pPr algn="l">
              <a:lnSpc>
                <a:spcPct val="135000"/>
              </a:lnSpc>
              <a:buClrTx/>
              <a:buSzTx/>
              <a:buFont typeface="Wingdings" panose="05000000000000000000" charset="0"/>
            </a:pPr>
            <a:r>
              <a:rPr lang="en-US" altLang="zh-CN" sz="2800" dirty="0">
                <a:solidFill>
                  <a:srgbClr val="0033CC"/>
                </a:solidFill>
                <a:latin typeface="黑体" panose="02010609060101010101" pitchFamily="1" charset="-122"/>
                <a:ea typeface="黑体" panose="02010609060101010101" pitchFamily="1" charset="-122"/>
                <a:cs typeface="+mn-ea"/>
                <a:sym typeface="+mn-ea"/>
              </a:rPr>
              <a:t>2.</a:t>
            </a:r>
            <a:r>
              <a:rPr lang="zh-CN" altLang="en-US" sz="2800" dirty="0">
                <a:solidFill>
                  <a:srgbClr val="0033CC"/>
                </a:solidFill>
                <a:latin typeface="黑体" panose="02010609060101010101" pitchFamily="1" charset="-122"/>
                <a:ea typeface="黑体" panose="02010609060101010101" pitchFamily="1" charset="-122"/>
                <a:cs typeface="+mn-ea"/>
                <a:sym typeface="+mn-ea"/>
              </a:rPr>
              <a:t>数据库的安全性控制</a:t>
            </a:r>
            <a:endParaRPr lang="zh-CN" altLang="en-US" sz="2800" dirty="0">
              <a:solidFill>
                <a:srgbClr val="0033CC"/>
              </a:solidFill>
              <a:latin typeface="黑体" panose="02010609060101010101" pitchFamily="1" charset="-122"/>
              <a:ea typeface="黑体" panose="02010609060101010101" pitchFamily="1" charset="-122"/>
              <a:cs typeface="+mn-ea"/>
              <a:sym typeface="+mn-ea"/>
            </a:endParaRPr>
          </a:p>
        </p:txBody>
      </p:sp>
      <p:sp>
        <p:nvSpPr>
          <p:cNvPr id="20484" name="Rectangle 2"/>
          <p:cNvSpPr/>
          <p:nvPr/>
        </p:nvSpPr>
        <p:spPr>
          <a:xfrm>
            <a:off x="457200" y="68263"/>
            <a:ext cx="8229600" cy="692150"/>
          </a:xfrm>
          <a:prstGeom prst="rect">
            <a:avLst/>
          </a:prstGeom>
          <a:noFill/>
          <a:ln w="9525">
            <a:noFill/>
          </a:ln>
        </p:spPr>
        <p:txBody>
          <a:bodyPr anchor="ctr"/>
          <a:lstStyle/>
          <a:p>
            <a:pPr lvl="0" eaLnBrk="1" hangingPunct="1"/>
            <a:r>
              <a:rPr lang="zh-CN" altLang="en-US" sz="3200" dirty="0">
                <a:solidFill>
                  <a:srgbClr val="FF0000"/>
                </a:solidFill>
                <a:latin typeface="Arial" panose="020B0604020202020204" pitchFamily="34" charset="0"/>
                <a:ea typeface="黑体" panose="02010609060101010101" pitchFamily="1" charset="-122"/>
              </a:rPr>
              <a:t>二、数据库的安全性</a:t>
            </a:r>
            <a:endParaRPr lang="en-US" altLang="zh-CN"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xEl>
                                              <p:pRg st="0" end="0"/>
                                            </p:txEl>
                                          </p:spTgt>
                                        </p:tgtEl>
                                        <p:attrNameLst>
                                          <p:attrName>style.visibility</p:attrName>
                                        </p:attrNameLst>
                                      </p:cBhvr>
                                      <p:to>
                                        <p:strVal val="visible"/>
                                      </p:to>
                                    </p:set>
                                    <p:anim calcmode="lin" valueType="num">
                                      <p:cBhvr additive="base">
                                        <p:cTn id="19"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9" grpId="0"/>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6" name="Text Box 7"/>
          <p:cNvSpPr txBox="1"/>
          <p:nvPr/>
        </p:nvSpPr>
        <p:spPr>
          <a:xfrm>
            <a:off x="676910" y="2629535"/>
            <a:ext cx="7797800" cy="1460500"/>
          </a:xfrm>
          <a:prstGeom prst="rect">
            <a:avLst/>
          </a:prstGeom>
          <a:noFill/>
          <a:ln w="9525">
            <a:solidFill>
              <a:schemeClr val="accent1"/>
            </a:solidFill>
          </a:ln>
        </p:spPr>
        <p:txBody>
          <a:bodyPr wrap="square" anchor="t">
            <a:spAutoFit/>
          </a:bodyPr>
          <a:lstStyle/>
          <a:p>
            <a:pPr lvl="0">
              <a:lnSpc>
                <a:spcPct val="135000"/>
              </a:lnSpc>
              <a:spcBef>
                <a:spcPts val="0"/>
              </a:spcBef>
              <a:spcAft>
                <a:spcPts val="0"/>
              </a:spcAft>
              <a:buNone/>
            </a:pPr>
            <a:r>
              <a:rPr lang="zh-CN" altLang="en-US" sz="2200" dirty="0">
                <a:solidFill>
                  <a:srgbClr val="CC3300"/>
                </a:solidFill>
                <a:latin typeface="宋体" panose="02010600030101010101" pitchFamily="2" charset="-122"/>
                <a:ea typeface="宋体" panose="02010600030101010101" pitchFamily="2" charset="-122"/>
              </a:rPr>
              <a:t>撤权：</a:t>
            </a:r>
            <a:r>
              <a:rPr lang="en-US" altLang="x-none" sz="2200" dirty="0">
                <a:latin typeface="宋体" panose="02010600030101010101" pitchFamily="2" charset="-122"/>
                <a:ea typeface="宋体" panose="02010600030101010101" pitchFamily="2" charset="-122"/>
              </a:rPr>
              <a:t>REVOKE </a:t>
            </a:r>
            <a:r>
              <a:rPr lang="en-US" altLang="x-none" sz="2200" dirty="0">
                <a:solidFill>
                  <a:schemeClr val="accent2"/>
                </a:solidFill>
                <a:latin typeface="宋体" panose="02010600030101010101" pitchFamily="2" charset="-122"/>
                <a:ea typeface="宋体" panose="02010600030101010101" pitchFamily="2" charset="-122"/>
              </a:rPr>
              <a:t>&lt;</a:t>
            </a:r>
            <a:r>
              <a:rPr lang="zh-CN" altLang="en-US" sz="2200" dirty="0">
                <a:solidFill>
                  <a:schemeClr val="accent2"/>
                </a:solidFill>
                <a:latin typeface="宋体" panose="02010600030101010101" pitchFamily="2" charset="-122"/>
                <a:ea typeface="宋体" panose="02010600030101010101" pitchFamily="2" charset="-122"/>
              </a:rPr>
              <a:t>权限</a:t>
            </a:r>
            <a:r>
              <a:rPr lang="en-US" altLang="x-none" sz="2200" dirty="0">
                <a:solidFill>
                  <a:schemeClr val="accent2"/>
                </a:solidFill>
                <a:latin typeface="宋体" panose="02010600030101010101" pitchFamily="2" charset="-122"/>
                <a:ea typeface="宋体" panose="02010600030101010101" pitchFamily="2" charset="-122"/>
              </a:rPr>
              <a:t>&gt;</a:t>
            </a:r>
            <a:r>
              <a:rPr lang="en-US" altLang="x-none" sz="2200" dirty="0">
                <a:latin typeface="宋体" panose="02010600030101010101" pitchFamily="2" charset="-122"/>
                <a:ea typeface="宋体" panose="02010600030101010101" pitchFamily="2" charset="-122"/>
              </a:rPr>
              <a:t> [,</a:t>
            </a:r>
            <a:r>
              <a:rPr lang="en-US" altLang="x-none" sz="2200" dirty="0">
                <a:solidFill>
                  <a:schemeClr val="accent2"/>
                </a:solidFill>
                <a:latin typeface="宋体" panose="02010600030101010101" pitchFamily="2" charset="-122"/>
                <a:ea typeface="宋体" panose="02010600030101010101" pitchFamily="2" charset="-122"/>
              </a:rPr>
              <a:t>&lt;</a:t>
            </a:r>
            <a:r>
              <a:rPr lang="zh-CN" altLang="en-US" sz="2200" dirty="0">
                <a:solidFill>
                  <a:schemeClr val="accent2"/>
                </a:solidFill>
                <a:latin typeface="宋体" panose="02010600030101010101" pitchFamily="2" charset="-122"/>
                <a:ea typeface="宋体" panose="02010600030101010101" pitchFamily="2" charset="-122"/>
              </a:rPr>
              <a:t>权限</a:t>
            </a:r>
            <a:r>
              <a:rPr lang="en-US" altLang="x-none" sz="2200" dirty="0">
                <a:solidFill>
                  <a:schemeClr val="accent2"/>
                </a:solidFill>
                <a:latin typeface="宋体" panose="02010600030101010101" pitchFamily="2" charset="-122"/>
                <a:ea typeface="宋体" panose="02010600030101010101" pitchFamily="2" charset="-122"/>
              </a:rPr>
              <a:t>&gt;</a:t>
            </a:r>
            <a:r>
              <a:rPr lang="en-US" altLang="x-none" sz="2200" dirty="0">
                <a:latin typeface="宋体" panose="02010600030101010101" pitchFamily="2" charset="-122"/>
                <a:ea typeface="宋体" panose="02010600030101010101" pitchFamily="2" charset="-122"/>
              </a:rPr>
              <a:t>] </a:t>
            </a:r>
            <a:endParaRPr lang="en-US" altLang="x-none" sz="2200" dirty="0">
              <a:latin typeface="宋体" panose="02010600030101010101" pitchFamily="2" charset="-122"/>
              <a:ea typeface="宋体" panose="02010600030101010101" pitchFamily="2" charset="-122"/>
            </a:endParaRPr>
          </a:p>
          <a:p>
            <a:pPr lvl="0">
              <a:lnSpc>
                <a:spcPct val="135000"/>
              </a:lnSpc>
              <a:spcBef>
                <a:spcPts val="0"/>
              </a:spcBef>
              <a:spcAft>
                <a:spcPts val="0"/>
              </a:spcAft>
              <a:buNone/>
            </a:pPr>
            <a:r>
              <a:rPr lang="en-US" altLang="x-none" sz="2200" dirty="0">
                <a:latin typeface="宋体" panose="02010600030101010101" pitchFamily="2" charset="-122"/>
                <a:ea typeface="宋体" panose="02010600030101010101" pitchFamily="2" charset="-122"/>
              </a:rPr>
              <a:t>            </a:t>
            </a:r>
            <a:r>
              <a:rPr lang="en-US" altLang="x-none" sz="2200" dirty="0" smtClean="0">
                <a:latin typeface="宋体" panose="02010600030101010101" pitchFamily="2" charset="-122"/>
                <a:ea typeface="宋体" panose="02010600030101010101" pitchFamily="2" charset="-122"/>
              </a:rPr>
              <a:t>on &lt;</a:t>
            </a:r>
            <a:r>
              <a:rPr lang="zh-CN" altLang="en-US" sz="2200" dirty="0" smtClean="0">
                <a:latin typeface="宋体" panose="02010600030101010101" pitchFamily="2" charset="-122"/>
                <a:ea typeface="宋体" panose="02010600030101010101" pitchFamily="2" charset="-122"/>
              </a:rPr>
              <a:t>表名</a:t>
            </a:r>
            <a:r>
              <a:rPr lang="en-US" altLang="zh-CN" sz="2200" dirty="0" smtClean="0">
                <a:latin typeface="宋体" panose="02010600030101010101" pitchFamily="2" charset="-122"/>
                <a:ea typeface="宋体" panose="02010600030101010101" pitchFamily="2" charset="-122"/>
              </a:rPr>
              <a:t>&gt;</a:t>
            </a:r>
            <a:endParaRPr lang="en-US" altLang="zh-CN" sz="2200" dirty="0">
              <a:latin typeface="宋体" panose="02010600030101010101" pitchFamily="2" charset="-122"/>
              <a:ea typeface="宋体" panose="02010600030101010101" pitchFamily="2" charset="-122"/>
            </a:endParaRPr>
          </a:p>
          <a:p>
            <a:pPr lvl="0">
              <a:lnSpc>
                <a:spcPct val="135000"/>
              </a:lnSpc>
              <a:spcBef>
                <a:spcPts val="0"/>
              </a:spcBef>
              <a:spcAft>
                <a:spcPts val="0"/>
              </a:spcAft>
              <a:buNone/>
            </a:pPr>
            <a:r>
              <a:rPr lang="en-US" altLang="zh-CN" sz="2200" dirty="0">
                <a:latin typeface="宋体" panose="02010600030101010101" pitchFamily="2" charset="-122"/>
                <a:ea typeface="宋体" panose="02010600030101010101" pitchFamily="2" charset="-122"/>
              </a:rPr>
              <a:t>            FROM</a:t>
            </a:r>
            <a:r>
              <a:rPr lang="en-US" altLang="x-none" sz="2200" dirty="0">
                <a:latin typeface="宋体" panose="02010600030101010101" pitchFamily="2" charset="-122"/>
                <a:ea typeface="宋体" panose="02010600030101010101" pitchFamily="2" charset="-122"/>
              </a:rPr>
              <a:t> &lt;</a:t>
            </a:r>
            <a:r>
              <a:rPr lang="zh-CN" altLang="en-US" sz="2200" dirty="0">
                <a:latin typeface="宋体" panose="02010600030101010101" pitchFamily="2" charset="-122"/>
                <a:ea typeface="宋体" panose="02010600030101010101" pitchFamily="2" charset="-122"/>
              </a:rPr>
              <a:t>用户</a:t>
            </a:r>
            <a:r>
              <a:rPr lang="en-US" altLang="x-none" sz="2200" dirty="0" smtClean="0">
                <a:latin typeface="宋体" panose="02010600030101010101" pitchFamily="2" charset="-122"/>
                <a:ea typeface="宋体" panose="02010600030101010101" pitchFamily="2" charset="-122"/>
              </a:rPr>
              <a:t>&gt;[,&lt;</a:t>
            </a:r>
            <a:r>
              <a:rPr lang="zh-CN" altLang="en-US" sz="2200" dirty="0">
                <a:latin typeface="宋体" panose="02010600030101010101" pitchFamily="2" charset="-122"/>
                <a:ea typeface="宋体" panose="02010600030101010101" pitchFamily="2" charset="-122"/>
              </a:rPr>
              <a:t>用户</a:t>
            </a:r>
            <a:r>
              <a:rPr lang="en-US" altLang="x-none" sz="2200" dirty="0" smtClean="0">
                <a:latin typeface="宋体" panose="02010600030101010101" pitchFamily="2" charset="-122"/>
                <a:ea typeface="宋体" panose="02010600030101010101" pitchFamily="2" charset="-122"/>
              </a:rPr>
              <a:t>&gt;</a:t>
            </a:r>
            <a:r>
              <a:rPr lang="en-US" altLang="x-none" sz="2200" dirty="0">
                <a:latin typeface="宋体" panose="02010600030101010101" pitchFamily="2" charset="-122"/>
              </a:rPr>
              <a:t>]</a:t>
            </a:r>
            <a:endParaRPr lang="zh-CN" altLang="en-US" sz="2200" dirty="0">
              <a:latin typeface="宋体" panose="02010600030101010101" pitchFamily="2" charset="-122"/>
              <a:ea typeface="宋体" panose="02010600030101010101" pitchFamily="2" charset="-122"/>
            </a:endParaRPr>
          </a:p>
        </p:txBody>
      </p:sp>
      <p:sp>
        <p:nvSpPr>
          <p:cNvPr id="8" name="Rectangle 2"/>
          <p:cNvSpPr txBox="1">
            <a:spLocks noChangeArrowheads="1"/>
          </p:cNvSpPr>
          <p:nvPr/>
        </p:nvSpPr>
        <p:spPr>
          <a:xfrm>
            <a:off x="549910" y="1499870"/>
            <a:ext cx="7086600" cy="443865"/>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a:t>
            </a:r>
            <a:r>
              <a:rPr kumimoji="1" lang="en-US" altLang="zh-CN"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3</a:t>
            </a:r>
            <a:r>
              <a:rPr kumimoji="1" lang="zh-CN" altLang="en-US"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）自主存取控制（</a:t>
            </a:r>
            <a:r>
              <a:rPr kumimoji="1" lang="en-US" altLang="zh-CN"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DAC</a:t>
            </a:r>
            <a:r>
              <a:rPr kumimoji="1" lang="zh-CN" altLang="en-US"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a:t>
            </a:r>
            <a:endParaRPr kumimoji="1" lang="zh-CN" altLang="en-US"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endParaRPr>
          </a:p>
        </p:txBody>
      </p:sp>
      <p:sp>
        <p:nvSpPr>
          <p:cNvPr id="7" name="文本框 6"/>
          <p:cNvSpPr txBox="1"/>
          <p:nvPr/>
        </p:nvSpPr>
        <p:spPr>
          <a:xfrm>
            <a:off x="676910" y="4188460"/>
            <a:ext cx="8005445" cy="589280"/>
          </a:xfrm>
          <a:prstGeom prst="rect">
            <a:avLst/>
          </a:prstGeom>
          <a:noFill/>
        </p:spPr>
        <p:txBody>
          <a:bodyPr wrap="square" rtlCol="0" anchor="t">
            <a:spAutoFit/>
          </a:bodyPr>
          <a:lstStyle/>
          <a:p>
            <a:pPr>
              <a:buNone/>
            </a:pPr>
            <a:r>
              <a:rPr lang="zh-CN" altLang="en-US" sz="2400" kern="0" noProof="0" dirty="0">
                <a:ln>
                  <a:noFill/>
                </a:ln>
                <a:effectLst/>
                <a:uLnTx/>
                <a:uFillTx/>
                <a:latin typeface="+mn-ea"/>
                <a:ea typeface="+mn-ea"/>
                <a:cs typeface="+mn-cs"/>
                <a:sym typeface="+mn-ea"/>
              </a:rPr>
              <a:t>例</a:t>
            </a:r>
            <a:r>
              <a:rPr lang="en-US" altLang="zh-CN" sz="2400" kern="0" noProof="0" dirty="0">
                <a:ln>
                  <a:noFill/>
                </a:ln>
                <a:effectLst/>
                <a:uLnTx/>
                <a:uFillTx/>
                <a:latin typeface="+mn-ea"/>
                <a:ea typeface="+mn-ea"/>
                <a:cs typeface="+mn-cs"/>
                <a:sym typeface="+mn-ea"/>
              </a:rPr>
              <a:t>5</a:t>
            </a:r>
            <a:r>
              <a:rPr lang="zh-CN" altLang="en-US" sz="2400" kern="0" noProof="0" dirty="0">
                <a:ln>
                  <a:noFill/>
                </a:ln>
                <a:effectLst/>
                <a:uLnTx/>
                <a:uFillTx/>
                <a:latin typeface="+mn-ea"/>
                <a:ea typeface="+mn-ea"/>
                <a:cs typeface="+mn-cs"/>
                <a:sym typeface="+mn-ea"/>
              </a:rPr>
              <a:t>：把用户</a:t>
            </a:r>
            <a:r>
              <a:rPr lang="en-US" altLang="zh-CN" sz="2400" kern="0" noProof="0" dirty="0">
                <a:ln>
                  <a:noFill/>
                </a:ln>
                <a:effectLst/>
                <a:uLnTx/>
                <a:uFillTx/>
                <a:latin typeface="+mn-ea"/>
                <a:ea typeface="+mn-ea"/>
                <a:cs typeface="+mn-cs"/>
                <a:sym typeface="+mn-ea"/>
              </a:rPr>
              <a:t>U4</a:t>
            </a:r>
            <a:r>
              <a:rPr lang="zh-CN" altLang="en-US" sz="2400" kern="0" noProof="0" dirty="0">
                <a:ln>
                  <a:noFill/>
                </a:ln>
                <a:effectLst/>
                <a:uLnTx/>
                <a:uFillTx/>
                <a:latin typeface="+mn-ea"/>
                <a:ea typeface="+mn-ea"/>
                <a:cs typeface="+mn-cs"/>
                <a:sym typeface="+mn-ea"/>
              </a:rPr>
              <a:t>修改学生学号的权限撤回</a:t>
            </a:r>
            <a:endParaRPr lang="zh-CN" altLang="en-US" sz="2400" kern="0" noProof="0" dirty="0">
              <a:ln>
                <a:noFill/>
              </a:ln>
              <a:effectLst/>
              <a:uLnTx/>
              <a:uFillTx/>
              <a:latin typeface="+mn-ea"/>
              <a:ea typeface="+mn-ea"/>
              <a:cs typeface="+mn-cs"/>
              <a:sym typeface="+mn-ea"/>
            </a:endParaRPr>
          </a:p>
        </p:txBody>
      </p:sp>
      <p:sp>
        <p:nvSpPr>
          <p:cNvPr id="11" name="文本框 10"/>
          <p:cNvSpPr txBox="1"/>
          <p:nvPr/>
        </p:nvSpPr>
        <p:spPr>
          <a:xfrm>
            <a:off x="621030" y="4777740"/>
            <a:ext cx="8148955" cy="534035"/>
          </a:xfrm>
          <a:prstGeom prst="rect">
            <a:avLst/>
          </a:prstGeom>
          <a:noFill/>
        </p:spPr>
        <p:txBody>
          <a:bodyPr wrap="square" rtlCol="0" anchor="t">
            <a:spAutoFit/>
          </a:bodyPr>
          <a:lstStyle/>
          <a:p>
            <a:pPr>
              <a:lnSpc>
                <a:spcPct val="120000"/>
              </a:lnSpc>
              <a:spcBef>
                <a:spcPts val="0"/>
              </a:spcBef>
              <a:spcAft>
                <a:spcPts val="0"/>
              </a:spcAft>
              <a:buNone/>
            </a:pPr>
            <a:r>
              <a:rPr lang="en-US" altLang="zh-CN" sz="2400" kern="0" noProof="0" dirty="0">
                <a:ln>
                  <a:noFill/>
                </a:ln>
                <a:solidFill>
                  <a:srgbClr val="CC00FF"/>
                </a:solidFill>
                <a:effectLst/>
                <a:uLnTx/>
                <a:uFillTx/>
                <a:latin typeface="+mj-lt"/>
                <a:ea typeface="+mn-ea"/>
                <a:cs typeface="+mj-lt"/>
                <a:sym typeface="+mn-ea"/>
              </a:rPr>
              <a:t>REVOKE UPDATE(Sno)  ON TABLE  Student FROM U4</a:t>
            </a:r>
            <a:endParaRPr lang="zh-CN" altLang="en-US" sz="2400"/>
          </a:p>
        </p:txBody>
      </p:sp>
      <p:sp>
        <p:nvSpPr>
          <p:cNvPr id="6" name="文本框 5"/>
          <p:cNvSpPr txBox="1"/>
          <p:nvPr/>
        </p:nvSpPr>
        <p:spPr>
          <a:xfrm>
            <a:off x="676910" y="2000250"/>
            <a:ext cx="7900035" cy="547370"/>
          </a:xfrm>
          <a:prstGeom prst="rect">
            <a:avLst/>
          </a:prstGeom>
          <a:noFill/>
        </p:spPr>
        <p:txBody>
          <a:bodyPr wrap="square" rtlCol="0" anchor="t">
            <a:spAutoFit/>
          </a:bodyPr>
          <a:lstStyle/>
          <a:p>
            <a:pPr>
              <a:buNone/>
            </a:pPr>
            <a:r>
              <a:rPr lang="zh-CN" altLang="en-US" sz="2200" kern="0" noProof="0" dirty="0">
                <a:ln>
                  <a:noFill/>
                </a:ln>
                <a:effectLst/>
                <a:uLnTx/>
                <a:uFillTx/>
                <a:latin typeface="+mn-ea"/>
                <a:ea typeface="+mn-ea"/>
                <a:cs typeface="+mn-cs"/>
                <a:sym typeface="+mn-ea"/>
              </a:rPr>
              <a:t>授予的权限可以由</a:t>
            </a:r>
            <a:r>
              <a:rPr lang="en-US" altLang="zh-CN" sz="2200" kern="0" noProof="0" dirty="0">
                <a:ln>
                  <a:noFill/>
                </a:ln>
                <a:effectLst/>
                <a:uLnTx/>
                <a:uFillTx/>
                <a:latin typeface="+mn-ea"/>
                <a:ea typeface="+mn-ea"/>
                <a:cs typeface="+mn-cs"/>
                <a:sym typeface="+mn-ea"/>
              </a:rPr>
              <a:t>DBA</a:t>
            </a:r>
            <a:r>
              <a:rPr lang="zh-CN" altLang="en-US" sz="2200" kern="0" noProof="0" dirty="0">
                <a:ln>
                  <a:noFill/>
                </a:ln>
                <a:effectLst/>
                <a:uLnTx/>
                <a:uFillTx/>
                <a:latin typeface="+mn-ea"/>
                <a:ea typeface="+mn-ea"/>
                <a:cs typeface="+mn-cs"/>
                <a:sym typeface="+mn-ea"/>
              </a:rPr>
              <a:t>或其他授权者用</a:t>
            </a:r>
            <a:r>
              <a:rPr lang="en-US" altLang="zh-CN" sz="2200" kern="0" noProof="0" dirty="0">
                <a:ln>
                  <a:noFill/>
                </a:ln>
                <a:effectLst/>
                <a:uLnTx/>
                <a:uFillTx/>
                <a:latin typeface="+mn-ea"/>
                <a:ea typeface="+mn-ea"/>
                <a:cs typeface="+mn-cs"/>
                <a:sym typeface="+mn-ea"/>
              </a:rPr>
              <a:t>REVOKE</a:t>
            </a:r>
            <a:r>
              <a:rPr lang="zh-CN" altLang="en-US" sz="2200" kern="0" noProof="0" dirty="0">
                <a:ln>
                  <a:noFill/>
                </a:ln>
                <a:effectLst/>
                <a:uLnTx/>
                <a:uFillTx/>
                <a:latin typeface="+mn-ea"/>
                <a:ea typeface="+mn-ea"/>
                <a:cs typeface="+mn-cs"/>
                <a:sym typeface="+mn-ea"/>
              </a:rPr>
              <a:t>语句收回</a:t>
            </a:r>
            <a:endParaRPr lang="zh-CN" altLang="en-US" sz="2200" kern="0" noProof="0" dirty="0">
              <a:ln>
                <a:noFill/>
              </a:ln>
              <a:effectLst/>
              <a:uLnTx/>
              <a:uFillTx/>
              <a:latin typeface="+mn-ea"/>
              <a:ea typeface="+mn-ea"/>
              <a:cs typeface="+mn-cs"/>
              <a:sym typeface="+mn-ea"/>
            </a:endParaRPr>
          </a:p>
        </p:txBody>
      </p:sp>
      <p:sp>
        <p:nvSpPr>
          <p:cNvPr id="4" name="矩形 2"/>
          <p:cNvSpPr/>
          <p:nvPr/>
        </p:nvSpPr>
        <p:spPr>
          <a:xfrm>
            <a:off x="394335" y="756920"/>
            <a:ext cx="8375650" cy="672465"/>
          </a:xfrm>
          <a:prstGeom prst="rect">
            <a:avLst/>
          </a:prstGeom>
          <a:noFill/>
          <a:ln w="9525">
            <a:noFill/>
          </a:ln>
        </p:spPr>
        <p:txBody>
          <a:bodyPr anchor="t">
            <a:spAutoFit/>
          </a:bodyPr>
          <a:lstStyle/>
          <a:p>
            <a:pPr algn="l">
              <a:lnSpc>
                <a:spcPct val="135000"/>
              </a:lnSpc>
              <a:buClrTx/>
              <a:buSzTx/>
              <a:buFont typeface="Wingdings" panose="05000000000000000000" charset="0"/>
            </a:pPr>
            <a:r>
              <a:rPr lang="en-US" altLang="zh-CN" sz="2800" dirty="0">
                <a:solidFill>
                  <a:srgbClr val="0033CC"/>
                </a:solidFill>
                <a:latin typeface="黑体" panose="02010609060101010101" pitchFamily="1" charset="-122"/>
                <a:ea typeface="黑体" panose="02010609060101010101" pitchFamily="1" charset="-122"/>
                <a:cs typeface="+mn-ea"/>
                <a:sym typeface="+mn-ea"/>
              </a:rPr>
              <a:t>2.</a:t>
            </a:r>
            <a:r>
              <a:rPr lang="zh-CN" altLang="en-US" sz="2800" dirty="0">
                <a:solidFill>
                  <a:srgbClr val="0033CC"/>
                </a:solidFill>
                <a:latin typeface="黑体" panose="02010609060101010101" pitchFamily="1" charset="-122"/>
                <a:ea typeface="黑体" panose="02010609060101010101" pitchFamily="1" charset="-122"/>
                <a:cs typeface="+mn-ea"/>
                <a:sym typeface="+mn-ea"/>
              </a:rPr>
              <a:t>数据库的安全性控制</a:t>
            </a:r>
            <a:endParaRPr lang="zh-CN" altLang="en-US" sz="2800" dirty="0">
              <a:solidFill>
                <a:srgbClr val="0033CC"/>
              </a:solidFill>
              <a:latin typeface="黑体" panose="02010609060101010101" pitchFamily="1" charset="-122"/>
              <a:ea typeface="黑体" panose="02010609060101010101" pitchFamily="1" charset="-122"/>
              <a:cs typeface="+mn-ea"/>
              <a:sym typeface="+mn-ea"/>
            </a:endParaRPr>
          </a:p>
        </p:txBody>
      </p:sp>
      <p:sp>
        <p:nvSpPr>
          <p:cNvPr id="20484" name="Rectangle 2"/>
          <p:cNvSpPr/>
          <p:nvPr/>
        </p:nvSpPr>
        <p:spPr>
          <a:xfrm>
            <a:off x="457200" y="68263"/>
            <a:ext cx="8229600" cy="692150"/>
          </a:xfrm>
          <a:prstGeom prst="rect">
            <a:avLst/>
          </a:prstGeom>
          <a:noFill/>
          <a:ln w="9525">
            <a:noFill/>
          </a:ln>
        </p:spPr>
        <p:txBody>
          <a:bodyPr anchor="ctr"/>
          <a:lstStyle/>
          <a:p>
            <a:pPr lvl="0" eaLnBrk="1" hangingPunct="1"/>
            <a:r>
              <a:rPr lang="zh-CN" altLang="en-US" sz="3200" dirty="0">
                <a:solidFill>
                  <a:srgbClr val="FF0000"/>
                </a:solidFill>
                <a:latin typeface="Arial" panose="020B0604020202020204" pitchFamily="34" charset="0"/>
                <a:ea typeface="黑体" panose="02010609060101010101" pitchFamily="1" charset="-122"/>
              </a:rPr>
              <a:t>二、数据库的安全性</a:t>
            </a:r>
            <a:endParaRPr lang="en-US" altLang="zh-CN"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486"/>
                                        </p:tgtEl>
                                        <p:attrNameLst>
                                          <p:attrName>style.visibility</p:attrName>
                                        </p:attrNameLst>
                                      </p:cBhvr>
                                      <p:to>
                                        <p:strVal val="visible"/>
                                      </p:to>
                                    </p:set>
                                    <p:anim calcmode="lin" valueType="num">
                                      <p:cBhvr additive="base">
                                        <p:cTn id="7" dur="500" fill="hold"/>
                                        <p:tgtEl>
                                          <p:spTgt spid="20486"/>
                                        </p:tgtEl>
                                        <p:attrNameLst>
                                          <p:attrName>ppt_x</p:attrName>
                                        </p:attrNameLst>
                                      </p:cBhvr>
                                      <p:tavLst>
                                        <p:tav tm="0">
                                          <p:val>
                                            <p:strVal val="#ppt_x"/>
                                          </p:val>
                                        </p:tav>
                                        <p:tav tm="100000">
                                          <p:val>
                                            <p:strVal val="#ppt_x"/>
                                          </p:val>
                                        </p:tav>
                                      </p:tavLst>
                                    </p:anim>
                                    <p:anim calcmode="lin" valueType="num">
                                      <p:cBhvr additive="base">
                                        <p:cTn id="8" dur="500" fill="hold"/>
                                        <p:tgtEl>
                                          <p:spTgt spid="2048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6" grpId="0" bldLvl="0" animBg="1"/>
      <p:bldP spid="7" grpId="0"/>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430530" y="1367155"/>
            <a:ext cx="7086600" cy="443865"/>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a:t>
            </a:r>
            <a:r>
              <a:rPr kumimoji="1" lang="en-US" altLang="zh-CN"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3</a:t>
            </a:r>
            <a:r>
              <a:rPr kumimoji="1" lang="zh-CN" altLang="en-US"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）自主存取控制（</a:t>
            </a:r>
            <a:r>
              <a:rPr kumimoji="1" lang="en-US" altLang="zh-CN"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DAC</a:t>
            </a:r>
            <a:r>
              <a:rPr kumimoji="1" lang="zh-CN" altLang="en-US"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a:t>
            </a:r>
            <a:endParaRPr kumimoji="1" lang="zh-CN" altLang="en-US"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endParaRPr>
          </a:p>
        </p:txBody>
      </p:sp>
      <p:sp>
        <p:nvSpPr>
          <p:cNvPr id="6" name="文本框 5"/>
          <p:cNvSpPr txBox="1"/>
          <p:nvPr/>
        </p:nvSpPr>
        <p:spPr>
          <a:xfrm>
            <a:off x="676910" y="1873250"/>
            <a:ext cx="7900035" cy="589280"/>
          </a:xfrm>
          <a:prstGeom prst="rect">
            <a:avLst/>
          </a:prstGeom>
          <a:noFill/>
        </p:spPr>
        <p:txBody>
          <a:bodyPr wrap="square" rtlCol="0" anchor="t">
            <a:spAutoFit/>
          </a:bodyPr>
          <a:lstStyle/>
          <a:p>
            <a:pPr>
              <a:buNone/>
            </a:pPr>
            <a:r>
              <a:rPr lang="en-US" altLang="zh-CN" sz="2400" kern="0" noProof="0" dirty="0">
                <a:ln>
                  <a:noFill/>
                </a:ln>
                <a:effectLst/>
                <a:uLnTx/>
                <a:uFillTx/>
                <a:latin typeface="+mn-ea"/>
                <a:ea typeface="+mn-ea"/>
                <a:cs typeface="+mn-cs"/>
                <a:sym typeface="+mn-ea"/>
              </a:rPr>
              <a:t>SQL</a:t>
            </a:r>
            <a:r>
              <a:rPr lang="zh-CN" altLang="en-US" sz="2400" kern="0" noProof="0" dirty="0">
                <a:ln>
                  <a:noFill/>
                </a:ln>
                <a:effectLst/>
                <a:uLnTx/>
                <a:uFillTx/>
                <a:latin typeface="+mn-ea"/>
                <a:ea typeface="+mn-ea"/>
                <a:cs typeface="+mn-cs"/>
                <a:sym typeface="+mn-ea"/>
              </a:rPr>
              <a:t>的灵活授权机制小结：</a:t>
            </a:r>
            <a:endParaRPr lang="zh-CN" altLang="en-US" sz="2400" kern="0" noProof="0" dirty="0">
              <a:ln>
                <a:noFill/>
              </a:ln>
              <a:effectLst/>
              <a:uLnTx/>
              <a:uFillTx/>
              <a:latin typeface="+mn-ea"/>
              <a:ea typeface="+mn-ea"/>
              <a:cs typeface="+mn-cs"/>
              <a:sym typeface="+mn-ea"/>
            </a:endParaRPr>
          </a:p>
        </p:txBody>
      </p:sp>
      <p:sp>
        <p:nvSpPr>
          <p:cNvPr id="3" name="Rectangle 3"/>
          <p:cNvSpPr txBox="1">
            <a:spLocks noChangeArrowheads="1"/>
          </p:cNvSpPr>
          <p:nvPr/>
        </p:nvSpPr>
        <p:spPr>
          <a:xfrm>
            <a:off x="689610" y="2499995"/>
            <a:ext cx="7887335" cy="885825"/>
          </a:xfrm>
          <a:prstGeom prst="rect">
            <a:avLst/>
          </a:prstGeom>
          <a:ln>
            <a:solidFill>
              <a:schemeClr val="accent1"/>
            </a:solidFill>
          </a:ln>
        </p:spPr>
        <p:txBody>
          <a:bodyPr/>
          <a:lstStyle/>
          <a:p>
            <a:pPr marL="342900" marR="0" lvl="0" indent="-342900" algn="l" defTabSz="914400" rtl="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a:pPr>
            <a:r>
              <a:rPr kumimoji="0" lang="en-US" altLang="zh-CN"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DBA</a:t>
            </a: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：拥有所有对象的所有权限</a:t>
            </a:r>
            <a:endPar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a:p>
            <a:pPr marR="0" lvl="0" algn="l" defTabSz="914400" rtl="0" eaLnBrk="0" fontAlgn="base" latinLnBrk="0" hangingPunct="0">
              <a:lnSpc>
                <a:spcPct val="100000"/>
              </a:lnSpc>
              <a:spcBef>
                <a:spcPct val="20000"/>
              </a:spcBef>
              <a:spcAft>
                <a:spcPct val="0"/>
              </a:spcAft>
              <a:buClr>
                <a:srgbClr val="0033CC"/>
              </a:buClr>
              <a:buSzPct val="80000"/>
              <a:buFont typeface="Wingdings" panose="05000000000000000000" pitchFamily="2" charset="2"/>
              <a:buNone/>
              <a:defRPr/>
            </a:pP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   </a:t>
            </a:r>
            <a:r>
              <a:rPr kumimoji="0" lang="en-US" altLang="zh-CN"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a:t>
            </a: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可以将不同的权限授予不同的用户</a:t>
            </a:r>
            <a:endPar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p:txBody>
      </p:sp>
      <p:sp>
        <p:nvSpPr>
          <p:cNvPr id="4" name="Rectangle 3"/>
          <p:cNvSpPr txBox="1">
            <a:spLocks noChangeArrowheads="1"/>
          </p:cNvSpPr>
          <p:nvPr/>
        </p:nvSpPr>
        <p:spPr>
          <a:xfrm>
            <a:off x="676910" y="3452495"/>
            <a:ext cx="7887335" cy="877570"/>
          </a:xfrm>
          <a:prstGeom prst="rect">
            <a:avLst/>
          </a:prstGeom>
          <a:ln>
            <a:solidFill>
              <a:schemeClr val="accent1"/>
            </a:solidFill>
          </a:ln>
        </p:spPr>
        <p:txBody>
          <a:bodyPr/>
          <a:lstStyle/>
          <a:p>
            <a:pPr marR="0" lvl="0" algn="l" defTabSz="914400" rtl="0" eaLnBrk="0" fontAlgn="base" latinLnBrk="0" hangingPunct="0">
              <a:lnSpc>
                <a:spcPct val="100000"/>
              </a:lnSpc>
              <a:spcBef>
                <a:spcPct val="20000"/>
              </a:spcBef>
              <a:spcAft>
                <a:spcPct val="0"/>
              </a:spcAft>
              <a:buClr>
                <a:srgbClr val="0033CC"/>
              </a:buClr>
              <a:buSzPct val="80000"/>
              <a:buFont typeface="Wingdings" panose="05000000000000000000" charset="0"/>
              <a:buChar char="u"/>
              <a:defRPr/>
            </a:pPr>
            <a:r>
              <a:rPr lang="en-US" altLang="zh-CN" sz="2400" kern="0" noProof="0" dirty="0">
                <a:ln>
                  <a:noFill/>
                </a:ln>
                <a:effectLst/>
                <a:uLnTx/>
                <a:uFillTx/>
                <a:latin typeface="楷体" panose="02010609060101010101" pitchFamily="1" charset="-122"/>
                <a:ea typeface="楷体" panose="02010609060101010101" pitchFamily="1" charset="-122"/>
                <a:cs typeface="+mn-cs"/>
                <a:sym typeface="+mn-ea"/>
              </a:rPr>
              <a:t> </a:t>
            </a:r>
            <a:r>
              <a:rPr lang="zh-CN" altLang="en-US" sz="2400" kern="0" noProof="0" dirty="0">
                <a:ln>
                  <a:noFill/>
                </a:ln>
                <a:effectLst/>
                <a:uLnTx/>
                <a:uFillTx/>
                <a:latin typeface="楷体" panose="02010609060101010101" pitchFamily="1" charset="-122"/>
                <a:ea typeface="楷体" panose="02010609060101010101" pitchFamily="1" charset="-122"/>
                <a:cs typeface="+mn-cs"/>
                <a:sym typeface="+mn-ea"/>
              </a:rPr>
              <a:t>用户：拥有自己建立的对象的全部操作权限</a:t>
            </a:r>
            <a:endPar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a:p>
            <a:pPr marR="0" lvl="0" algn="l" defTabSz="914400" rtl="0" eaLnBrk="0" fontAlgn="base" latinLnBrk="0" hangingPunct="0">
              <a:lnSpc>
                <a:spcPct val="100000"/>
              </a:lnSpc>
              <a:spcBef>
                <a:spcPct val="20000"/>
              </a:spcBef>
              <a:spcAft>
                <a:spcPct val="0"/>
              </a:spcAft>
              <a:buClr>
                <a:srgbClr val="0033CC"/>
              </a:buClr>
              <a:buSzPct val="80000"/>
              <a:buFont typeface="Wingdings" panose="05000000000000000000" pitchFamily="2" charset="2"/>
              <a:buNone/>
              <a:defRPr/>
            </a:pPr>
            <a:r>
              <a:rPr lang="en-US" altLang="zh-CN" sz="2400" kern="0" noProof="0" dirty="0">
                <a:ln>
                  <a:noFill/>
                </a:ln>
                <a:effectLst/>
                <a:uLnTx/>
                <a:uFillTx/>
                <a:latin typeface="楷体" panose="02010609060101010101" pitchFamily="1" charset="-122"/>
                <a:ea typeface="楷体" panose="02010609060101010101" pitchFamily="1" charset="-122"/>
                <a:cs typeface="+mn-cs"/>
                <a:sym typeface="+mn-ea"/>
              </a:rPr>
              <a:t>   --</a:t>
            </a:r>
            <a:r>
              <a:rPr lang="zh-CN" altLang="en-US" sz="2400" kern="0" noProof="0" dirty="0">
                <a:ln>
                  <a:noFill/>
                </a:ln>
                <a:effectLst/>
                <a:uLnTx/>
                <a:uFillTx/>
                <a:latin typeface="楷体" panose="02010609060101010101" pitchFamily="1" charset="-122"/>
                <a:ea typeface="楷体" panose="02010609060101010101" pitchFamily="1" charset="-122"/>
                <a:cs typeface="+mn-cs"/>
                <a:sym typeface="+mn-ea"/>
              </a:rPr>
              <a:t>可以将自己的建立的对象的操作权限授予其他用户</a:t>
            </a:r>
            <a:endPar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a:p>
            <a:pPr marR="0" lvl="0" algn="l" defTabSz="914400" rtl="0" eaLnBrk="0" fontAlgn="base" latinLnBrk="0" hangingPunct="0">
              <a:lnSpc>
                <a:spcPct val="110000"/>
              </a:lnSpc>
              <a:spcBef>
                <a:spcPct val="20000"/>
              </a:spcBef>
              <a:spcAft>
                <a:spcPct val="0"/>
              </a:spcAft>
              <a:buClr>
                <a:srgbClr val="0033CC"/>
              </a:buClr>
              <a:buSzPct val="80000"/>
              <a:buFont typeface="Wingdings" panose="05000000000000000000" pitchFamily="2" charset="2"/>
              <a:buNone/>
              <a:defRPr/>
            </a:pPr>
            <a:endPar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p:txBody>
      </p:sp>
      <p:sp>
        <p:nvSpPr>
          <p:cNvPr id="7" name="Rectangle 3"/>
          <p:cNvSpPr txBox="1">
            <a:spLocks noChangeArrowheads="1"/>
          </p:cNvSpPr>
          <p:nvPr/>
        </p:nvSpPr>
        <p:spPr>
          <a:xfrm>
            <a:off x="678815" y="4404995"/>
            <a:ext cx="7887335" cy="877570"/>
          </a:xfrm>
          <a:prstGeom prst="rect">
            <a:avLst/>
          </a:prstGeom>
          <a:ln>
            <a:solidFill>
              <a:schemeClr val="accent1"/>
            </a:solidFill>
          </a:ln>
        </p:spPr>
        <p:txBody>
          <a:bodyPr/>
          <a:lstStyle/>
          <a:p>
            <a:pPr marR="0" lvl="0" algn="l" defTabSz="914400" rtl="0" eaLnBrk="0" fontAlgn="base" latinLnBrk="0" hangingPunct="0">
              <a:lnSpc>
                <a:spcPct val="100000"/>
              </a:lnSpc>
              <a:spcBef>
                <a:spcPct val="20000"/>
              </a:spcBef>
              <a:spcAft>
                <a:spcPct val="0"/>
              </a:spcAft>
              <a:buClr>
                <a:srgbClr val="0033CC"/>
              </a:buClr>
              <a:buSzPct val="80000"/>
              <a:buFont typeface="Wingdings" panose="05000000000000000000" charset="0"/>
              <a:buChar char="u"/>
              <a:defRPr/>
            </a:pPr>
            <a:r>
              <a:rPr lang="en-US" altLang="zh-CN" sz="2400" kern="0" noProof="0" dirty="0">
                <a:ln>
                  <a:noFill/>
                </a:ln>
                <a:effectLst/>
                <a:uLnTx/>
                <a:uFillTx/>
                <a:latin typeface="楷体" panose="02010609060101010101" pitchFamily="1" charset="-122"/>
                <a:ea typeface="楷体" panose="02010609060101010101" pitchFamily="1" charset="-122"/>
                <a:cs typeface="+mn-cs"/>
                <a:sym typeface="+mn-ea"/>
              </a:rPr>
              <a:t> </a:t>
            </a:r>
            <a:r>
              <a:rPr lang="zh-CN" altLang="en-US" sz="2400" kern="0" noProof="0" dirty="0">
                <a:ln>
                  <a:noFill/>
                </a:ln>
                <a:effectLst/>
                <a:uLnTx/>
                <a:uFillTx/>
                <a:latin typeface="楷体" panose="02010609060101010101" pitchFamily="1" charset="-122"/>
                <a:ea typeface="楷体" panose="02010609060101010101" pitchFamily="1" charset="-122"/>
                <a:cs typeface="+mn-cs"/>
                <a:sym typeface="+mn-ea"/>
              </a:rPr>
              <a:t>被授权的用户</a:t>
            </a:r>
            <a:endParaRPr lang="zh-CN" altLang="en-US" sz="2400" kern="0" noProof="0" dirty="0">
              <a:ln>
                <a:noFill/>
              </a:ln>
              <a:effectLst/>
              <a:uLnTx/>
              <a:uFillTx/>
              <a:latin typeface="楷体" panose="02010609060101010101" pitchFamily="1" charset="-122"/>
              <a:ea typeface="楷体" panose="02010609060101010101" pitchFamily="1" charset="-122"/>
              <a:cs typeface="+mn-cs"/>
              <a:sym typeface="+mn-ea"/>
            </a:endParaRPr>
          </a:p>
          <a:p>
            <a:pPr marR="0" lvl="0" algn="l" defTabSz="914400" rtl="0" eaLnBrk="0" fontAlgn="base" latinLnBrk="0" hangingPunct="0">
              <a:lnSpc>
                <a:spcPct val="100000"/>
              </a:lnSpc>
              <a:spcBef>
                <a:spcPct val="20000"/>
              </a:spcBef>
              <a:spcAft>
                <a:spcPct val="0"/>
              </a:spcAft>
              <a:buClr>
                <a:srgbClr val="0033CC"/>
              </a:buClr>
              <a:buSzPct val="80000"/>
              <a:buFont typeface="Wingdings" panose="05000000000000000000" charset="0"/>
              <a:buNone/>
              <a:defRPr/>
            </a:pPr>
            <a:r>
              <a:rPr lang="en-US" altLang="zh-CN" sz="2400" kern="0" noProof="0" dirty="0">
                <a:ln>
                  <a:noFill/>
                </a:ln>
                <a:effectLst/>
                <a:uLnTx/>
                <a:uFillTx/>
                <a:latin typeface="楷体" panose="02010609060101010101" pitchFamily="1" charset="-122"/>
                <a:ea typeface="楷体" panose="02010609060101010101" pitchFamily="1" charset="-122"/>
                <a:cs typeface="+mn-cs"/>
                <a:sym typeface="+mn-ea"/>
              </a:rPr>
              <a:t>   --“</a:t>
            </a:r>
            <a:r>
              <a:rPr lang="zh-CN" altLang="en-US" sz="2400" kern="0" noProof="0" dirty="0">
                <a:ln>
                  <a:noFill/>
                </a:ln>
                <a:effectLst/>
                <a:uLnTx/>
                <a:uFillTx/>
                <a:latin typeface="楷体" panose="02010609060101010101" pitchFamily="1" charset="-122"/>
                <a:ea typeface="楷体" panose="02010609060101010101" pitchFamily="1" charset="-122"/>
                <a:cs typeface="+mn-cs"/>
                <a:sym typeface="+mn-ea"/>
              </a:rPr>
              <a:t>继续授权</a:t>
            </a:r>
            <a:r>
              <a:rPr lang="en-US" altLang="zh-CN" sz="2400" kern="0" noProof="0" dirty="0">
                <a:ln>
                  <a:noFill/>
                </a:ln>
                <a:effectLst/>
                <a:uLnTx/>
                <a:uFillTx/>
                <a:latin typeface="楷体" panose="02010609060101010101" pitchFamily="1" charset="-122"/>
                <a:ea typeface="楷体" panose="02010609060101010101" pitchFamily="1" charset="-122"/>
                <a:cs typeface="+mn-cs"/>
                <a:sym typeface="+mn-ea"/>
              </a:rPr>
              <a:t>”</a:t>
            </a:r>
            <a:r>
              <a:rPr lang="zh-CN" altLang="en-US" sz="2400" kern="0" noProof="0" dirty="0">
                <a:ln>
                  <a:noFill/>
                </a:ln>
                <a:effectLst/>
                <a:uLnTx/>
                <a:uFillTx/>
                <a:latin typeface="楷体" panose="02010609060101010101" pitchFamily="1" charset="-122"/>
                <a:ea typeface="楷体" panose="02010609060101010101" pitchFamily="1" charset="-122"/>
                <a:cs typeface="+mn-cs"/>
                <a:sym typeface="+mn-ea"/>
              </a:rPr>
              <a:t>许可：再授予</a:t>
            </a:r>
            <a:endPar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a:p>
            <a:pPr marR="0" lvl="0" algn="l" defTabSz="914400" rtl="0" eaLnBrk="0" fontAlgn="base" latinLnBrk="0" hangingPunct="0">
              <a:lnSpc>
                <a:spcPct val="110000"/>
              </a:lnSpc>
              <a:spcBef>
                <a:spcPct val="20000"/>
              </a:spcBef>
              <a:spcAft>
                <a:spcPct val="0"/>
              </a:spcAft>
              <a:buClr>
                <a:srgbClr val="0033CC"/>
              </a:buClr>
              <a:buSzPct val="80000"/>
              <a:buFont typeface="Wingdings" panose="05000000000000000000" pitchFamily="2" charset="2"/>
              <a:buNone/>
              <a:defRPr/>
            </a:pPr>
            <a:endPar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p:txBody>
      </p:sp>
      <p:sp>
        <p:nvSpPr>
          <p:cNvPr id="9" name="Rectangle 3"/>
          <p:cNvSpPr txBox="1">
            <a:spLocks noChangeArrowheads="1"/>
          </p:cNvSpPr>
          <p:nvPr/>
        </p:nvSpPr>
        <p:spPr>
          <a:xfrm>
            <a:off x="689610" y="5357495"/>
            <a:ext cx="7887335" cy="497840"/>
          </a:xfrm>
          <a:prstGeom prst="rect">
            <a:avLst/>
          </a:prstGeom>
          <a:ln>
            <a:solidFill>
              <a:schemeClr val="accent1"/>
            </a:solidFill>
          </a:ln>
        </p:spPr>
        <p:txBody>
          <a:bodyPr/>
          <a:lstStyle/>
          <a:p>
            <a:pPr marR="0" lvl="0" algn="l" defTabSz="914400" rtl="0" eaLnBrk="0" fontAlgn="base" latinLnBrk="0" hangingPunct="0">
              <a:lnSpc>
                <a:spcPct val="100000"/>
              </a:lnSpc>
              <a:spcBef>
                <a:spcPct val="20000"/>
              </a:spcBef>
              <a:spcAft>
                <a:spcPct val="0"/>
              </a:spcAft>
              <a:buClr>
                <a:srgbClr val="0033CC"/>
              </a:buClr>
              <a:buSzPct val="80000"/>
              <a:buFont typeface="Wingdings" panose="05000000000000000000" charset="0"/>
              <a:buChar char="u"/>
              <a:defRPr/>
            </a:pPr>
            <a:r>
              <a:rPr lang="en-US" altLang="zh-CN" sz="2400" kern="0" noProof="0" dirty="0">
                <a:ln>
                  <a:noFill/>
                </a:ln>
                <a:effectLst/>
                <a:uLnTx/>
                <a:uFillTx/>
                <a:latin typeface="楷体" panose="02010609060101010101" pitchFamily="1" charset="-122"/>
                <a:ea typeface="楷体" panose="02010609060101010101" pitchFamily="1" charset="-122"/>
                <a:cs typeface="+mn-cs"/>
                <a:sym typeface="+mn-ea"/>
              </a:rPr>
              <a:t> </a:t>
            </a:r>
            <a:r>
              <a:rPr lang="zh-CN" altLang="en-US" sz="2400" kern="0" noProof="0" dirty="0">
                <a:ln>
                  <a:noFill/>
                </a:ln>
                <a:effectLst/>
                <a:uLnTx/>
                <a:uFillTx/>
                <a:latin typeface="楷体" panose="02010609060101010101" pitchFamily="1" charset="-122"/>
                <a:ea typeface="楷体" panose="02010609060101010101" pitchFamily="1" charset="-122"/>
                <a:cs typeface="+mn-cs"/>
                <a:sym typeface="+mn-ea"/>
              </a:rPr>
              <a:t>所有授予出去的权力在必要时都可用</a:t>
            </a:r>
            <a:r>
              <a:rPr lang="en-US" altLang="zh-CN" sz="2400" kern="0" noProof="0" dirty="0">
                <a:ln>
                  <a:noFill/>
                </a:ln>
                <a:effectLst/>
                <a:uLnTx/>
                <a:uFillTx/>
                <a:latin typeface="楷体" panose="02010609060101010101" pitchFamily="1" charset="-122"/>
                <a:ea typeface="楷体" panose="02010609060101010101" pitchFamily="1" charset="-122"/>
                <a:cs typeface="+mn-cs"/>
                <a:sym typeface="+mn-ea"/>
              </a:rPr>
              <a:t>REVOKE</a:t>
            </a:r>
            <a:r>
              <a:rPr lang="zh-CN" altLang="en-US" sz="2400" kern="0" noProof="0" dirty="0">
                <a:ln>
                  <a:noFill/>
                </a:ln>
                <a:effectLst/>
                <a:uLnTx/>
                <a:uFillTx/>
                <a:latin typeface="楷体" panose="02010609060101010101" pitchFamily="1" charset="-122"/>
                <a:ea typeface="楷体" panose="02010609060101010101" pitchFamily="1" charset="-122"/>
                <a:cs typeface="+mn-cs"/>
                <a:sym typeface="+mn-ea"/>
              </a:rPr>
              <a:t>语句收回</a:t>
            </a:r>
            <a:endPar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p:txBody>
      </p:sp>
      <p:sp>
        <p:nvSpPr>
          <p:cNvPr id="2" name="矩形 2"/>
          <p:cNvSpPr/>
          <p:nvPr/>
        </p:nvSpPr>
        <p:spPr>
          <a:xfrm>
            <a:off x="394335" y="756920"/>
            <a:ext cx="8375650" cy="672465"/>
          </a:xfrm>
          <a:prstGeom prst="rect">
            <a:avLst/>
          </a:prstGeom>
          <a:noFill/>
          <a:ln w="9525">
            <a:noFill/>
          </a:ln>
        </p:spPr>
        <p:txBody>
          <a:bodyPr anchor="t">
            <a:spAutoFit/>
          </a:bodyPr>
          <a:lstStyle/>
          <a:p>
            <a:pPr algn="l">
              <a:lnSpc>
                <a:spcPct val="135000"/>
              </a:lnSpc>
              <a:buClrTx/>
              <a:buSzTx/>
              <a:buFont typeface="Wingdings" panose="05000000000000000000" charset="0"/>
            </a:pPr>
            <a:r>
              <a:rPr lang="en-US" altLang="zh-CN" sz="2800" dirty="0">
                <a:solidFill>
                  <a:srgbClr val="0033CC"/>
                </a:solidFill>
                <a:latin typeface="黑体" panose="02010609060101010101" pitchFamily="1" charset="-122"/>
                <a:ea typeface="黑体" panose="02010609060101010101" pitchFamily="1" charset="-122"/>
                <a:cs typeface="+mn-ea"/>
                <a:sym typeface="+mn-ea"/>
              </a:rPr>
              <a:t>2.</a:t>
            </a:r>
            <a:r>
              <a:rPr lang="zh-CN" altLang="en-US" sz="2800" dirty="0">
                <a:solidFill>
                  <a:srgbClr val="0033CC"/>
                </a:solidFill>
                <a:latin typeface="黑体" panose="02010609060101010101" pitchFamily="1" charset="-122"/>
                <a:ea typeface="黑体" panose="02010609060101010101" pitchFamily="1" charset="-122"/>
                <a:cs typeface="+mn-ea"/>
                <a:sym typeface="+mn-ea"/>
              </a:rPr>
              <a:t>数据库的安全性控制</a:t>
            </a:r>
            <a:endParaRPr lang="zh-CN" altLang="en-US" sz="2800" dirty="0">
              <a:solidFill>
                <a:srgbClr val="0033CC"/>
              </a:solidFill>
              <a:latin typeface="黑体" panose="02010609060101010101" pitchFamily="1" charset="-122"/>
              <a:ea typeface="黑体" panose="02010609060101010101" pitchFamily="1" charset="-122"/>
              <a:cs typeface="+mn-ea"/>
              <a:sym typeface="+mn-ea"/>
            </a:endParaRPr>
          </a:p>
        </p:txBody>
      </p:sp>
      <p:sp>
        <p:nvSpPr>
          <p:cNvPr id="20484" name="Rectangle 2"/>
          <p:cNvSpPr/>
          <p:nvPr/>
        </p:nvSpPr>
        <p:spPr>
          <a:xfrm>
            <a:off x="457200" y="68263"/>
            <a:ext cx="8229600" cy="692150"/>
          </a:xfrm>
          <a:prstGeom prst="rect">
            <a:avLst/>
          </a:prstGeom>
          <a:noFill/>
          <a:ln w="9525">
            <a:noFill/>
          </a:ln>
        </p:spPr>
        <p:txBody>
          <a:bodyPr anchor="ctr"/>
          <a:lstStyle/>
          <a:p>
            <a:pPr lvl="0" eaLnBrk="1" hangingPunct="1"/>
            <a:r>
              <a:rPr lang="zh-CN" altLang="en-US" sz="3200" dirty="0">
                <a:solidFill>
                  <a:srgbClr val="FF0000"/>
                </a:solidFill>
                <a:latin typeface="Arial" panose="020B0604020202020204" pitchFamily="34" charset="0"/>
                <a:ea typeface="黑体" panose="02010609060101010101" pitchFamily="1" charset="-122"/>
              </a:rPr>
              <a:t>二、数据库的安全性</a:t>
            </a:r>
            <a:endParaRPr lang="en-US" altLang="zh-CN"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457200" y="1303338"/>
            <a:ext cx="7086600" cy="443865"/>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a:t>
            </a:r>
            <a:r>
              <a:rPr kumimoji="1" lang="en-US" altLang="zh-CN"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3</a:t>
            </a:r>
            <a:r>
              <a:rPr kumimoji="1" lang="zh-CN" altLang="en-US"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）自主存取控制（</a:t>
            </a:r>
            <a:r>
              <a:rPr kumimoji="1" lang="en-US" altLang="zh-CN"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DAC</a:t>
            </a:r>
            <a:r>
              <a:rPr kumimoji="1" lang="zh-CN" altLang="en-US"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a:t>
            </a:r>
            <a:endParaRPr kumimoji="1" lang="zh-CN" altLang="en-US"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endParaRPr>
          </a:p>
        </p:txBody>
      </p:sp>
      <p:sp>
        <p:nvSpPr>
          <p:cNvPr id="6" name="文本框 5"/>
          <p:cNvSpPr txBox="1"/>
          <p:nvPr/>
        </p:nvSpPr>
        <p:spPr>
          <a:xfrm>
            <a:off x="676910" y="1796097"/>
            <a:ext cx="7900035" cy="1087755"/>
          </a:xfrm>
          <a:prstGeom prst="rect">
            <a:avLst/>
          </a:prstGeom>
          <a:noFill/>
        </p:spPr>
        <p:txBody>
          <a:bodyPr wrap="square" rtlCol="0" anchor="t">
            <a:spAutoFit/>
          </a:bodyPr>
          <a:lstStyle/>
          <a:p>
            <a:pPr>
              <a:buNone/>
            </a:pPr>
            <a:r>
              <a:rPr lang="zh-CN" altLang="en-US" sz="2400" kern="0" noProof="0" dirty="0">
                <a:ln>
                  <a:noFill/>
                </a:ln>
                <a:solidFill>
                  <a:srgbClr val="C00000"/>
                </a:solidFill>
                <a:effectLst/>
                <a:uLnTx/>
                <a:uFillTx/>
                <a:latin typeface="+mn-ea"/>
                <a:ea typeface="+mn-ea"/>
                <a:cs typeface="+mn-cs"/>
                <a:sym typeface="+mn-ea"/>
              </a:rPr>
              <a:t>创建数据库模式的权限：</a:t>
            </a:r>
            <a:r>
              <a:rPr lang="en-US" altLang="zh-CN" sz="2400" kern="0" noProof="0" dirty="0">
                <a:ln>
                  <a:noFill/>
                </a:ln>
                <a:effectLst/>
                <a:uLnTx/>
                <a:uFillTx/>
                <a:latin typeface="+mn-ea"/>
                <a:ea typeface="+mn-ea"/>
                <a:cs typeface="+mn-cs"/>
                <a:sym typeface="+mn-ea"/>
              </a:rPr>
              <a:t>DBA</a:t>
            </a:r>
            <a:r>
              <a:rPr lang="zh-CN" altLang="en-US" sz="2400" kern="0" noProof="0" dirty="0">
                <a:ln>
                  <a:noFill/>
                </a:ln>
                <a:effectLst/>
                <a:uLnTx/>
                <a:uFillTx/>
                <a:latin typeface="+mn-ea"/>
                <a:ea typeface="+mn-ea"/>
                <a:cs typeface="+mn-cs"/>
                <a:sym typeface="+mn-ea"/>
              </a:rPr>
              <a:t>在创建用户时实现</a:t>
            </a:r>
            <a:endParaRPr lang="zh-CN" altLang="en-US" sz="2400" kern="0" noProof="0" dirty="0">
              <a:ln>
                <a:noFill/>
              </a:ln>
              <a:effectLst/>
              <a:uLnTx/>
              <a:uFillTx/>
              <a:latin typeface="+mn-ea"/>
              <a:ea typeface="+mn-ea"/>
              <a:cs typeface="+mn-cs"/>
              <a:sym typeface="+mn-ea"/>
            </a:endParaRPr>
          </a:p>
          <a:p>
            <a:pPr>
              <a:buNone/>
            </a:pPr>
            <a:endParaRPr lang="zh-CN" altLang="en-US" sz="2400" kern="0" noProof="0" dirty="0">
              <a:ln>
                <a:noFill/>
              </a:ln>
              <a:effectLst/>
              <a:uLnTx/>
              <a:uFillTx/>
              <a:latin typeface="+mn-ea"/>
              <a:ea typeface="+mn-ea"/>
              <a:cs typeface="+mn-cs"/>
              <a:sym typeface="+mn-ea"/>
            </a:endParaRPr>
          </a:p>
        </p:txBody>
      </p:sp>
      <p:sp>
        <p:nvSpPr>
          <p:cNvPr id="20486" name="Text Box 7"/>
          <p:cNvSpPr txBox="1"/>
          <p:nvPr/>
        </p:nvSpPr>
        <p:spPr>
          <a:xfrm>
            <a:off x="858519" y="2796541"/>
            <a:ext cx="7536815" cy="835025"/>
          </a:xfrm>
          <a:prstGeom prst="rect">
            <a:avLst/>
          </a:prstGeom>
          <a:noFill/>
          <a:ln w="9525">
            <a:solidFill>
              <a:schemeClr val="accent1"/>
            </a:solidFill>
          </a:ln>
        </p:spPr>
        <p:txBody>
          <a:bodyPr wrap="square" anchor="t">
            <a:spAutoFit/>
          </a:bodyPr>
          <a:lstStyle/>
          <a:p>
            <a:pPr lvl="0">
              <a:lnSpc>
                <a:spcPct val="110000"/>
              </a:lnSpc>
              <a:spcBef>
                <a:spcPts val="0"/>
              </a:spcBef>
              <a:spcAft>
                <a:spcPts val="0"/>
              </a:spcAft>
              <a:buNone/>
            </a:pPr>
            <a:r>
              <a:rPr lang="zh-CN" altLang="en-US" sz="2200" dirty="0">
                <a:latin typeface="宋体" panose="02010600030101010101" pitchFamily="2" charset="-122"/>
                <a:ea typeface="宋体" panose="02010600030101010101" pitchFamily="2" charset="-122"/>
              </a:rPr>
              <a:t> </a:t>
            </a:r>
            <a:r>
              <a:rPr lang="en-US" altLang="zh-CN" sz="2200" dirty="0">
                <a:latin typeface="宋体" panose="02010600030101010101" pitchFamily="2" charset="-122"/>
                <a:ea typeface="宋体" panose="02010600030101010101" pitchFamily="2" charset="-122"/>
              </a:rPr>
              <a:t>CREATE USER &lt;username&gt;</a:t>
            </a:r>
            <a:endParaRPr lang="en-US" altLang="zh-CN" sz="2200" dirty="0">
              <a:latin typeface="宋体" panose="02010600030101010101" pitchFamily="2" charset="-122"/>
              <a:ea typeface="宋体" panose="02010600030101010101" pitchFamily="2" charset="-122"/>
            </a:endParaRPr>
          </a:p>
          <a:p>
            <a:pPr lvl="0">
              <a:lnSpc>
                <a:spcPct val="110000"/>
              </a:lnSpc>
              <a:spcBef>
                <a:spcPts val="0"/>
              </a:spcBef>
              <a:spcAft>
                <a:spcPts val="0"/>
              </a:spcAft>
              <a:buNone/>
            </a:pPr>
            <a:r>
              <a:rPr lang="en-US" altLang="zh-CN" sz="2200" dirty="0">
                <a:latin typeface="宋体" panose="02010600030101010101" pitchFamily="2" charset="-122"/>
                <a:ea typeface="宋体" panose="02010600030101010101" pitchFamily="2" charset="-122"/>
              </a:rPr>
              <a:t> [WITH] [DBA | RESOURCE | CONNECT]</a:t>
            </a:r>
            <a:r>
              <a:rPr lang="zh-CN" altLang="en-US" sz="2200" dirty="0">
                <a:latin typeface="宋体" panose="02010600030101010101" pitchFamily="2" charset="-122"/>
                <a:ea typeface="宋体" panose="02010600030101010101" pitchFamily="2" charset="-122"/>
              </a:rPr>
              <a:t>   </a:t>
            </a:r>
            <a:endParaRPr lang="zh-CN" altLang="en-US" sz="2200" dirty="0">
              <a:latin typeface="宋体" panose="02010600030101010101" pitchFamily="2" charset="-122"/>
              <a:ea typeface="宋体" panose="02010600030101010101" pitchFamily="2" charset="-122"/>
            </a:endParaRPr>
          </a:p>
        </p:txBody>
      </p:sp>
      <p:sp>
        <p:nvSpPr>
          <p:cNvPr id="4" name="文本框 3"/>
          <p:cNvSpPr txBox="1"/>
          <p:nvPr/>
        </p:nvSpPr>
        <p:spPr>
          <a:xfrm>
            <a:off x="676910" y="2243230"/>
            <a:ext cx="3251200" cy="589280"/>
          </a:xfrm>
          <a:prstGeom prst="rect">
            <a:avLst/>
          </a:prstGeom>
          <a:noFill/>
        </p:spPr>
        <p:txBody>
          <a:bodyPr wrap="none" rtlCol="0" anchor="t">
            <a:spAutoFit/>
          </a:bodyPr>
          <a:lstStyle/>
          <a:p>
            <a:pPr lvl="0">
              <a:lnSpc>
                <a:spcPct val="135000"/>
              </a:lnSpc>
              <a:spcBef>
                <a:spcPts val="0"/>
              </a:spcBef>
              <a:spcAft>
                <a:spcPts val="0"/>
              </a:spcAft>
              <a:buNone/>
            </a:pPr>
            <a:r>
              <a:rPr lang="en-US" altLang="x-none" sz="2400" dirty="0">
                <a:latin typeface="宋体" panose="02010600030101010101" pitchFamily="2" charset="-122"/>
                <a:sym typeface="+mn-ea"/>
              </a:rPr>
              <a:t>CREATE USER </a:t>
            </a:r>
            <a:r>
              <a:rPr lang="zh-CN" altLang="en-US" sz="2400" dirty="0">
                <a:latin typeface="宋体" panose="02010600030101010101" pitchFamily="2" charset="-122"/>
                <a:sym typeface="+mn-ea"/>
              </a:rPr>
              <a:t>语句格式</a:t>
            </a:r>
            <a:endParaRPr lang="zh-CN" altLang="en-US" sz="2400" dirty="0"/>
          </a:p>
        </p:txBody>
      </p:sp>
      <p:pic>
        <p:nvPicPr>
          <p:cNvPr id="7" name="图片 6"/>
          <p:cNvPicPr>
            <a:picLocks noChangeAspect="1"/>
          </p:cNvPicPr>
          <p:nvPr/>
        </p:nvPicPr>
        <p:blipFill>
          <a:blip r:embed="rId1"/>
          <a:stretch>
            <a:fillRect/>
          </a:stretch>
        </p:blipFill>
        <p:spPr>
          <a:xfrm>
            <a:off x="814068" y="3670755"/>
            <a:ext cx="7625715" cy="2292350"/>
          </a:xfrm>
          <a:prstGeom prst="rect">
            <a:avLst/>
          </a:prstGeom>
        </p:spPr>
      </p:pic>
      <p:sp>
        <p:nvSpPr>
          <p:cNvPr id="3" name="矩形 2"/>
          <p:cNvSpPr/>
          <p:nvPr/>
        </p:nvSpPr>
        <p:spPr>
          <a:xfrm>
            <a:off x="394335" y="756920"/>
            <a:ext cx="8375650" cy="672465"/>
          </a:xfrm>
          <a:prstGeom prst="rect">
            <a:avLst/>
          </a:prstGeom>
          <a:noFill/>
          <a:ln w="9525">
            <a:noFill/>
          </a:ln>
        </p:spPr>
        <p:txBody>
          <a:bodyPr anchor="t">
            <a:spAutoFit/>
          </a:bodyPr>
          <a:lstStyle/>
          <a:p>
            <a:pPr algn="l">
              <a:lnSpc>
                <a:spcPct val="135000"/>
              </a:lnSpc>
              <a:buClrTx/>
              <a:buSzTx/>
              <a:buFont typeface="Wingdings" panose="05000000000000000000" charset="0"/>
            </a:pPr>
            <a:r>
              <a:rPr lang="en-US" altLang="zh-CN" sz="2800" dirty="0">
                <a:solidFill>
                  <a:srgbClr val="0033CC"/>
                </a:solidFill>
                <a:latin typeface="黑体" panose="02010609060101010101" pitchFamily="1" charset="-122"/>
                <a:ea typeface="黑体" panose="02010609060101010101" pitchFamily="1" charset="-122"/>
                <a:cs typeface="+mn-ea"/>
                <a:sym typeface="+mn-ea"/>
              </a:rPr>
              <a:t>2.</a:t>
            </a:r>
            <a:r>
              <a:rPr lang="zh-CN" altLang="en-US" sz="2800" dirty="0">
                <a:solidFill>
                  <a:srgbClr val="0033CC"/>
                </a:solidFill>
                <a:latin typeface="黑体" panose="02010609060101010101" pitchFamily="1" charset="-122"/>
                <a:ea typeface="黑体" panose="02010609060101010101" pitchFamily="1" charset="-122"/>
                <a:cs typeface="+mn-ea"/>
                <a:sym typeface="+mn-ea"/>
              </a:rPr>
              <a:t>数据库的安全性控制</a:t>
            </a:r>
            <a:endParaRPr lang="zh-CN" altLang="en-US" sz="2800" dirty="0">
              <a:solidFill>
                <a:srgbClr val="0033CC"/>
              </a:solidFill>
              <a:latin typeface="黑体" panose="02010609060101010101" pitchFamily="1" charset="-122"/>
              <a:ea typeface="黑体" panose="02010609060101010101" pitchFamily="1" charset="-122"/>
              <a:cs typeface="+mn-ea"/>
              <a:sym typeface="+mn-ea"/>
            </a:endParaRPr>
          </a:p>
        </p:txBody>
      </p:sp>
      <p:sp>
        <p:nvSpPr>
          <p:cNvPr id="9" name="Rectangle 2"/>
          <p:cNvSpPr/>
          <p:nvPr/>
        </p:nvSpPr>
        <p:spPr>
          <a:xfrm>
            <a:off x="457200" y="68263"/>
            <a:ext cx="8229600" cy="692150"/>
          </a:xfrm>
          <a:prstGeom prst="rect">
            <a:avLst/>
          </a:prstGeom>
          <a:noFill/>
          <a:ln w="9525">
            <a:noFill/>
          </a:ln>
        </p:spPr>
        <p:txBody>
          <a:bodyPr anchor="ctr"/>
          <a:lstStyle/>
          <a:p>
            <a:pPr lvl="0" eaLnBrk="1" hangingPunct="1"/>
            <a:r>
              <a:rPr lang="zh-CN" altLang="en-US" sz="3200" dirty="0">
                <a:solidFill>
                  <a:srgbClr val="FF0000"/>
                </a:solidFill>
                <a:latin typeface="Arial" panose="020B0604020202020204" pitchFamily="34" charset="0"/>
                <a:ea typeface="黑体" panose="02010609060101010101" pitchFamily="1" charset="-122"/>
              </a:rPr>
              <a:t>二、数据库的安全性</a:t>
            </a:r>
            <a:endParaRPr lang="en-US" altLang="zh-CN"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457200" y="1429385"/>
            <a:ext cx="7086600" cy="443865"/>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a:t>
            </a:r>
            <a:r>
              <a:rPr kumimoji="1" lang="en-US" altLang="zh-CN"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4</a:t>
            </a:r>
            <a:r>
              <a:rPr kumimoji="1" lang="zh-CN" altLang="en-US"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）数据库的角色</a:t>
            </a:r>
            <a:endParaRPr kumimoji="1" lang="zh-CN" altLang="en-US"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endParaRPr>
          </a:p>
        </p:txBody>
      </p:sp>
      <p:sp>
        <p:nvSpPr>
          <p:cNvPr id="20486" name="Text Box 7"/>
          <p:cNvSpPr txBox="1"/>
          <p:nvPr/>
        </p:nvSpPr>
        <p:spPr>
          <a:xfrm>
            <a:off x="814070" y="2514600"/>
            <a:ext cx="7536815" cy="1106805"/>
          </a:xfrm>
          <a:prstGeom prst="rect">
            <a:avLst/>
          </a:prstGeom>
          <a:noFill/>
          <a:ln w="9525">
            <a:solidFill>
              <a:schemeClr val="accent1"/>
            </a:solidFill>
          </a:ln>
        </p:spPr>
        <p:txBody>
          <a:bodyPr wrap="square" anchor="t">
            <a:spAutoFit/>
          </a:bodyPr>
          <a:lstStyle/>
          <a:p>
            <a:pPr lvl="0">
              <a:lnSpc>
                <a:spcPct val="100000"/>
              </a:lnSpc>
              <a:spcBef>
                <a:spcPts val="0"/>
              </a:spcBef>
              <a:spcAft>
                <a:spcPts val="0"/>
              </a:spcAft>
              <a:buFont typeface="Wingdings" panose="05000000000000000000" charset="0"/>
              <a:buChar char="u"/>
            </a:pPr>
            <a:r>
              <a:rPr lang="zh-CN" altLang="en-US" sz="2200" dirty="0">
                <a:latin typeface="楷体" panose="02010609060101010101" pitchFamily="1" charset="-122"/>
                <a:ea typeface="楷体" panose="02010609060101010101" pitchFamily="1" charset="-122"/>
              </a:rPr>
              <a:t>角色是权限的集合</a:t>
            </a:r>
            <a:endParaRPr lang="zh-CN" altLang="en-US" sz="2200" dirty="0">
              <a:latin typeface="楷体" panose="02010609060101010101" pitchFamily="1" charset="-122"/>
              <a:ea typeface="楷体" panose="02010609060101010101" pitchFamily="1" charset="-122"/>
            </a:endParaRPr>
          </a:p>
          <a:p>
            <a:pPr lvl="0">
              <a:lnSpc>
                <a:spcPct val="100000"/>
              </a:lnSpc>
              <a:spcBef>
                <a:spcPts val="0"/>
              </a:spcBef>
              <a:spcAft>
                <a:spcPts val="0"/>
              </a:spcAft>
              <a:buFont typeface="Wingdings" panose="05000000000000000000" charset="0"/>
              <a:buChar char="u"/>
            </a:pPr>
            <a:r>
              <a:rPr lang="zh-CN" altLang="en-US" sz="2200" dirty="0">
                <a:latin typeface="楷体" panose="02010609060101010101" pitchFamily="1" charset="-122"/>
                <a:ea typeface="楷体" panose="02010609060101010101" pitchFamily="1" charset="-122"/>
              </a:rPr>
              <a:t>可以为一组具有相同权限的用户创建一个角色</a:t>
            </a:r>
            <a:endParaRPr lang="zh-CN" altLang="en-US" sz="2200" dirty="0">
              <a:latin typeface="楷体" panose="02010609060101010101" pitchFamily="1" charset="-122"/>
              <a:ea typeface="楷体" panose="02010609060101010101" pitchFamily="1" charset="-122"/>
            </a:endParaRPr>
          </a:p>
          <a:p>
            <a:pPr lvl="0">
              <a:lnSpc>
                <a:spcPct val="100000"/>
              </a:lnSpc>
              <a:spcBef>
                <a:spcPts val="0"/>
              </a:spcBef>
              <a:spcAft>
                <a:spcPts val="0"/>
              </a:spcAft>
              <a:buFont typeface="Wingdings" panose="05000000000000000000" charset="0"/>
              <a:buChar char="u"/>
            </a:pPr>
            <a:r>
              <a:rPr lang="zh-CN" altLang="en-US" sz="2200" dirty="0">
                <a:latin typeface="楷体" panose="02010609060101010101" pitchFamily="1" charset="-122"/>
                <a:ea typeface="楷体" panose="02010609060101010101" pitchFamily="1" charset="-122"/>
              </a:rPr>
              <a:t>简化授权的过程</a:t>
            </a:r>
            <a:endParaRPr lang="zh-CN" altLang="en-US" sz="2200" dirty="0">
              <a:latin typeface="楷体" panose="02010609060101010101" pitchFamily="1" charset="-122"/>
              <a:ea typeface="楷体" panose="02010609060101010101" pitchFamily="1" charset="-122"/>
            </a:endParaRPr>
          </a:p>
        </p:txBody>
      </p:sp>
      <p:sp>
        <p:nvSpPr>
          <p:cNvPr id="4" name="文本框 3"/>
          <p:cNvSpPr txBox="1"/>
          <p:nvPr/>
        </p:nvSpPr>
        <p:spPr>
          <a:xfrm>
            <a:off x="697865" y="1892300"/>
            <a:ext cx="6918960" cy="547370"/>
          </a:xfrm>
          <a:prstGeom prst="rect">
            <a:avLst/>
          </a:prstGeom>
          <a:noFill/>
        </p:spPr>
        <p:txBody>
          <a:bodyPr wrap="none" rtlCol="0" anchor="t">
            <a:spAutoFit/>
          </a:bodyPr>
          <a:lstStyle/>
          <a:p>
            <a:pPr lvl="0">
              <a:lnSpc>
                <a:spcPct val="135000"/>
              </a:lnSpc>
              <a:spcBef>
                <a:spcPts val="0"/>
              </a:spcBef>
              <a:spcAft>
                <a:spcPts val="0"/>
              </a:spcAft>
              <a:buNone/>
            </a:pPr>
            <a:r>
              <a:rPr lang="zh-CN" altLang="en-US" sz="2200" dirty="0">
                <a:latin typeface="宋体" panose="02010600030101010101" pitchFamily="2" charset="-122"/>
                <a:sym typeface="+mn-ea"/>
              </a:rPr>
              <a:t>数据库角色：被命名的一组与数据库操作相关的权限。</a:t>
            </a:r>
            <a:endParaRPr lang="zh-CN" altLang="en-US" sz="2200" dirty="0">
              <a:latin typeface="宋体" panose="02010600030101010101" pitchFamily="2" charset="-122"/>
              <a:sym typeface="+mn-ea"/>
            </a:endParaRPr>
          </a:p>
        </p:txBody>
      </p:sp>
      <p:sp>
        <p:nvSpPr>
          <p:cNvPr id="7" name="Rectangle 2"/>
          <p:cNvSpPr txBox="1">
            <a:spLocks noChangeArrowheads="1"/>
          </p:cNvSpPr>
          <p:nvPr/>
        </p:nvSpPr>
        <p:spPr>
          <a:xfrm>
            <a:off x="697865" y="3750945"/>
            <a:ext cx="7086600" cy="443865"/>
          </a:xfrm>
          <a:prstGeom prst="rect">
            <a:avLst/>
          </a:prstGeom>
        </p:spPr>
        <p:txBody>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charset="0"/>
              <a:buChar char="p"/>
              <a:defRPr/>
            </a:pPr>
            <a:r>
              <a:rPr kumimoji="1" lang="zh-CN" altLang="en-US" sz="24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角色的创建</a:t>
            </a:r>
            <a:endParaRPr kumimoji="1" lang="zh-CN" altLang="en-US" sz="2400" b="1" i="0" u="none" strike="noStrike" kern="0" cap="none" spc="0" normalizeH="0" baseline="0" noProof="0" dirty="0">
              <a:ln>
                <a:noFill/>
              </a:ln>
              <a:solidFill>
                <a:srgbClr val="3333CC"/>
              </a:solidFill>
              <a:effectLst/>
              <a:uLnTx/>
              <a:uFillTx/>
              <a:latin typeface="宋体" panose="02010600030101010101" pitchFamily="2" charset="-122"/>
              <a:ea typeface="+mj-ea"/>
              <a:cs typeface="+mj-cs"/>
            </a:endParaRPr>
          </a:p>
        </p:txBody>
      </p:sp>
      <p:sp>
        <p:nvSpPr>
          <p:cNvPr id="11" name="文本框 10"/>
          <p:cNvSpPr txBox="1"/>
          <p:nvPr/>
        </p:nvSpPr>
        <p:spPr>
          <a:xfrm>
            <a:off x="927100" y="4194810"/>
            <a:ext cx="4883150" cy="534035"/>
          </a:xfrm>
          <a:prstGeom prst="rect">
            <a:avLst/>
          </a:prstGeom>
          <a:noFill/>
        </p:spPr>
        <p:txBody>
          <a:bodyPr wrap="square" rtlCol="0" anchor="t">
            <a:spAutoFit/>
          </a:bodyPr>
          <a:lstStyle/>
          <a:p>
            <a:pPr>
              <a:lnSpc>
                <a:spcPct val="120000"/>
              </a:lnSpc>
              <a:spcBef>
                <a:spcPts val="0"/>
              </a:spcBef>
              <a:spcAft>
                <a:spcPts val="0"/>
              </a:spcAft>
              <a:buNone/>
            </a:pPr>
            <a:r>
              <a:rPr lang="en-US" altLang="zh-CN" sz="2400" kern="0" noProof="0" dirty="0">
                <a:ln>
                  <a:noFill/>
                </a:ln>
                <a:solidFill>
                  <a:srgbClr val="CC00FF"/>
                </a:solidFill>
                <a:effectLst/>
                <a:uLnTx/>
                <a:uFillTx/>
                <a:latin typeface="+mj-lt"/>
                <a:ea typeface="+mn-ea"/>
                <a:cs typeface="+mj-lt"/>
                <a:sym typeface="+mn-ea"/>
              </a:rPr>
              <a:t>CREATE ROLE &lt;</a:t>
            </a:r>
            <a:r>
              <a:rPr lang="zh-CN" altLang="en-US" sz="2400" kern="0" noProof="0" dirty="0">
                <a:ln>
                  <a:noFill/>
                </a:ln>
                <a:solidFill>
                  <a:srgbClr val="CC00FF"/>
                </a:solidFill>
                <a:effectLst/>
                <a:uLnTx/>
                <a:uFillTx/>
                <a:latin typeface="+mj-lt"/>
                <a:ea typeface="+mn-ea"/>
                <a:cs typeface="+mj-lt"/>
                <a:sym typeface="+mn-ea"/>
              </a:rPr>
              <a:t>角色名</a:t>
            </a:r>
            <a:r>
              <a:rPr lang="en-US" altLang="zh-CN" sz="2400" kern="0" noProof="0" dirty="0">
                <a:ln>
                  <a:noFill/>
                </a:ln>
                <a:solidFill>
                  <a:srgbClr val="CC00FF"/>
                </a:solidFill>
                <a:effectLst/>
                <a:uLnTx/>
                <a:uFillTx/>
                <a:latin typeface="+mj-lt"/>
                <a:ea typeface="+mn-ea"/>
                <a:cs typeface="+mj-lt"/>
                <a:sym typeface="+mn-ea"/>
              </a:rPr>
              <a:t>&gt;</a:t>
            </a:r>
            <a:endParaRPr lang="en-US" altLang="zh-CN" sz="2400" kern="0" noProof="0" dirty="0">
              <a:ln>
                <a:noFill/>
              </a:ln>
              <a:solidFill>
                <a:srgbClr val="CC00FF"/>
              </a:solidFill>
              <a:effectLst/>
              <a:uLnTx/>
              <a:uFillTx/>
              <a:latin typeface="+mj-lt"/>
              <a:ea typeface="+mn-ea"/>
              <a:cs typeface="+mj-lt"/>
              <a:sym typeface="+mn-ea"/>
            </a:endParaRPr>
          </a:p>
        </p:txBody>
      </p:sp>
      <p:sp>
        <p:nvSpPr>
          <p:cNvPr id="9" name="Rectangle 2"/>
          <p:cNvSpPr txBox="1">
            <a:spLocks noChangeArrowheads="1"/>
          </p:cNvSpPr>
          <p:nvPr/>
        </p:nvSpPr>
        <p:spPr>
          <a:xfrm>
            <a:off x="697865" y="4739640"/>
            <a:ext cx="7086600" cy="443865"/>
          </a:xfrm>
          <a:prstGeom prst="rect">
            <a:avLst/>
          </a:prstGeom>
        </p:spPr>
        <p:txBody>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charset="0"/>
              <a:buChar char="p"/>
              <a:defRPr/>
            </a:pPr>
            <a:r>
              <a:rPr kumimoji="1" lang="zh-CN" altLang="en-US" sz="24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给角色授权</a:t>
            </a:r>
            <a:endParaRPr kumimoji="1" lang="zh-CN" altLang="en-US" sz="2400" b="1" i="0" u="none" strike="noStrike" kern="0" cap="none" spc="0" normalizeH="0" baseline="0" noProof="0" dirty="0">
              <a:ln>
                <a:noFill/>
              </a:ln>
              <a:solidFill>
                <a:srgbClr val="3333CC"/>
              </a:solidFill>
              <a:effectLst/>
              <a:uLnTx/>
              <a:uFillTx/>
              <a:latin typeface="宋体" panose="02010600030101010101" pitchFamily="2" charset="-122"/>
              <a:ea typeface="+mj-ea"/>
              <a:cs typeface="+mj-cs"/>
            </a:endParaRPr>
          </a:p>
        </p:txBody>
      </p:sp>
      <p:sp>
        <p:nvSpPr>
          <p:cNvPr id="10" name="文本框 9"/>
          <p:cNvSpPr txBox="1"/>
          <p:nvPr/>
        </p:nvSpPr>
        <p:spPr>
          <a:xfrm>
            <a:off x="927100" y="5183505"/>
            <a:ext cx="7843520" cy="977265"/>
          </a:xfrm>
          <a:prstGeom prst="rect">
            <a:avLst/>
          </a:prstGeom>
          <a:noFill/>
        </p:spPr>
        <p:txBody>
          <a:bodyPr wrap="square" rtlCol="0" anchor="t">
            <a:spAutoFit/>
          </a:bodyPr>
          <a:lstStyle/>
          <a:p>
            <a:pPr>
              <a:lnSpc>
                <a:spcPct val="120000"/>
              </a:lnSpc>
              <a:spcBef>
                <a:spcPts val="0"/>
              </a:spcBef>
              <a:spcAft>
                <a:spcPts val="0"/>
              </a:spcAft>
              <a:buNone/>
            </a:pPr>
            <a:r>
              <a:rPr lang="en-US" altLang="zh-CN" sz="2400" kern="0" noProof="0" dirty="0">
                <a:ln>
                  <a:noFill/>
                </a:ln>
                <a:solidFill>
                  <a:srgbClr val="CC00FF"/>
                </a:solidFill>
                <a:effectLst/>
                <a:uLnTx/>
                <a:uFillTx/>
                <a:latin typeface="+mj-lt"/>
                <a:ea typeface="+mn-ea"/>
                <a:cs typeface="+mj-lt"/>
                <a:sym typeface="+mn-ea"/>
              </a:rPr>
              <a:t>GRANT &lt;</a:t>
            </a:r>
            <a:r>
              <a:rPr lang="zh-CN" altLang="en-US" sz="2400" kern="0" noProof="0" dirty="0">
                <a:ln>
                  <a:noFill/>
                </a:ln>
                <a:solidFill>
                  <a:srgbClr val="CC00FF"/>
                </a:solidFill>
                <a:effectLst/>
                <a:uLnTx/>
                <a:uFillTx/>
                <a:latin typeface="+mj-lt"/>
                <a:ea typeface="+mn-ea"/>
                <a:cs typeface="+mj-lt"/>
                <a:sym typeface="+mn-ea"/>
              </a:rPr>
              <a:t>权限</a:t>
            </a:r>
            <a:r>
              <a:rPr lang="en-US" altLang="zh-CN" sz="2400" kern="0" noProof="0" dirty="0">
                <a:ln>
                  <a:noFill/>
                </a:ln>
                <a:solidFill>
                  <a:srgbClr val="CC00FF"/>
                </a:solidFill>
                <a:effectLst/>
                <a:uLnTx/>
                <a:uFillTx/>
                <a:latin typeface="+mj-lt"/>
                <a:ea typeface="+mn-ea"/>
                <a:cs typeface="+mj-lt"/>
                <a:sym typeface="+mn-ea"/>
              </a:rPr>
              <a:t>&gt; [,&lt;</a:t>
            </a:r>
            <a:r>
              <a:rPr lang="zh-CN" altLang="en-US" sz="2400" kern="0" noProof="0" dirty="0">
                <a:ln>
                  <a:noFill/>
                </a:ln>
                <a:solidFill>
                  <a:srgbClr val="CC00FF"/>
                </a:solidFill>
                <a:effectLst/>
                <a:uLnTx/>
                <a:uFillTx/>
                <a:latin typeface="+mj-lt"/>
                <a:ea typeface="+mn-ea"/>
                <a:cs typeface="+mj-lt"/>
                <a:sym typeface="+mn-ea"/>
              </a:rPr>
              <a:t>权限</a:t>
            </a:r>
            <a:r>
              <a:rPr lang="en-US" altLang="zh-CN" sz="2400" kern="0" noProof="0" dirty="0">
                <a:ln>
                  <a:noFill/>
                </a:ln>
                <a:solidFill>
                  <a:srgbClr val="CC00FF"/>
                </a:solidFill>
                <a:effectLst/>
                <a:uLnTx/>
                <a:uFillTx/>
                <a:latin typeface="+mj-lt"/>
                <a:ea typeface="+mn-ea"/>
                <a:cs typeface="+mj-lt"/>
                <a:sym typeface="+mn-ea"/>
              </a:rPr>
              <a:t>&gt;]... ON </a:t>
            </a:r>
            <a:r>
              <a:rPr lang="en-US" sz="2400" kern="0" noProof="0" dirty="0">
                <a:ln>
                  <a:noFill/>
                </a:ln>
                <a:solidFill>
                  <a:srgbClr val="CC00FF"/>
                </a:solidFill>
                <a:effectLst/>
                <a:uLnTx/>
                <a:uFillTx/>
                <a:latin typeface="+mj-lt"/>
                <a:ea typeface="+mn-ea"/>
                <a:cs typeface="+mj-lt"/>
                <a:sym typeface="+mn-ea"/>
              </a:rPr>
              <a:t>&lt;</a:t>
            </a:r>
            <a:r>
              <a:rPr lang="zh-CN" altLang="en-US" sz="2400" kern="0" noProof="0" dirty="0">
                <a:ln>
                  <a:noFill/>
                </a:ln>
                <a:solidFill>
                  <a:srgbClr val="CC00FF"/>
                </a:solidFill>
                <a:effectLst/>
                <a:uLnTx/>
                <a:uFillTx/>
                <a:latin typeface="+mj-lt"/>
                <a:ea typeface="+mn-ea"/>
                <a:cs typeface="+mj-lt"/>
                <a:sym typeface="+mn-ea"/>
              </a:rPr>
              <a:t>对象类型</a:t>
            </a:r>
            <a:r>
              <a:rPr lang="en-US" altLang="zh-CN" sz="2400" kern="0" noProof="0" dirty="0">
                <a:ln>
                  <a:noFill/>
                </a:ln>
                <a:solidFill>
                  <a:srgbClr val="CC00FF"/>
                </a:solidFill>
                <a:effectLst/>
                <a:uLnTx/>
                <a:uFillTx/>
                <a:latin typeface="+mj-lt"/>
                <a:ea typeface="+mn-ea"/>
                <a:cs typeface="+mj-lt"/>
                <a:sym typeface="+mn-ea"/>
              </a:rPr>
              <a:t>&gt;</a:t>
            </a:r>
            <a:r>
              <a:rPr lang="zh-CN" altLang="en-US" sz="2400" kern="0" noProof="0" dirty="0">
                <a:ln>
                  <a:noFill/>
                </a:ln>
                <a:solidFill>
                  <a:srgbClr val="CC00FF"/>
                </a:solidFill>
                <a:effectLst/>
                <a:uLnTx/>
                <a:uFillTx/>
                <a:latin typeface="+mj-lt"/>
                <a:ea typeface="+mn-ea"/>
                <a:cs typeface="+mj-lt"/>
                <a:sym typeface="+mn-ea"/>
              </a:rPr>
              <a:t>对象名 </a:t>
            </a:r>
            <a:r>
              <a:rPr lang="en-US" altLang="zh-CN" sz="2400" kern="0" noProof="0" dirty="0">
                <a:ln>
                  <a:noFill/>
                </a:ln>
                <a:solidFill>
                  <a:srgbClr val="CC00FF"/>
                </a:solidFill>
                <a:effectLst/>
                <a:uLnTx/>
                <a:uFillTx/>
                <a:latin typeface="+mj-lt"/>
                <a:ea typeface="+mn-ea"/>
                <a:cs typeface="+mj-lt"/>
                <a:sym typeface="+mn-ea"/>
              </a:rPr>
              <a:t>TO</a:t>
            </a:r>
            <a:endParaRPr lang="en-US" altLang="zh-CN" sz="2400" kern="0" noProof="0" dirty="0">
              <a:ln>
                <a:noFill/>
              </a:ln>
              <a:solidFill>
                <a:srgbClr val="CC00FF"/>
              </a:solidFill>
              <a:effectLst/>
              <a:uLnTx/>
              <a:uFillTx/>
              <a:latin typeface="+mj-lt"/>
              <a:ea typeface="+mn-ea"/>
              <a:cs typeface="+mj-lt"/>
              <a:sym typeface="+mn-ea"/>
            </a:endParaRPr>
          </a:p>
          <a:p>
            <a:pPr>
              <a:lnSpc>
                <a:spcPct val="120000"/>
              </a:lnSpc>
              <a:spcBef>
                <a:spcPts val="0"/>
              </a:spcBef>
              <a:spcAft>
                <a:spcPts val="0"/>
              </a:spcAft>
              <a:buNone/>
            </a:pPr>
            <a:r>
              <a:rPr lang="en-US" altLang="zh-CN" sz="2400" kern="0" noProof="0" dirty="0">
                <a:ln>
                  <a:noFill/>
                </a:ln>
                <a:solidFill>
                  <a:srgbClr val="CC00FF"/>
                </a:solidFill>
                <a:effectLst/>
                <a:uLnTx/>
                <a:uFillTx/>
                <a:latin typeface="+mj-lt"/>
                <a:ea typeface="+mn-ea"/>
                <a:cs typeface="+mj-lt"/>
                <a:sym typeface="+mn-ea"/>
              </a:rPr>
              <a:t>  &lt;</a:t>
            </a:r>
            <a:r>
              <a:rPr lang="zh-CN" altLang="en-US" sz="2400" kern="0" noProof="0" dirty="0">
                <a:ln>
                  <a:noFill/>
                </a:ln>
                <a:solidFill>
                  <a:srgbClr val="CC00FF"/>
                </a:solidFill>
                <a:effectLst/>
                <a:uLnTx/>
                <a:uFillTx/>
                <a:latin typeface="+mj-lt"/>
                <a:ea typeface="+mn-ea"/>
                <a:cs typeface="+mj-lt"/>
                <a:sym typeface="+mn-ea"/>
              </a:rPr>
              <a:t>角色</a:t>
            </a:r>
            <a:r>
              <a:rPr lang="en-US" altLang="zh-CN" sz="2400" kern="0" noProof="0" dirty="0">
                <a:ln>
                  <a:noFill/>
                </a:ln>
                <a:solidFill>
                  <a:srgbClr val="CC00FF"/>
                </a:solidFill>
                <a:effectLst/>
                <a:uLnTx/>
                <a:uFillTx/>
                <a:latin typeface="+mj-lt"/>
                <a:ea typeface="+mn-ea"/>
                <a:cs typeface="+mj-lt"/>
                <a:sym typeface="+mn-ea"/>
              </a:rPr>
              <a:t>&gt; [,&lt;</a:t>
            </a:r>
            <a:r>
              <a:rPr lang="zh-CN" altLang="en-US" sz="2400" kern="0" noProof="0" dirty="0">
                <a:ln>
                  <a:noFill/>
                </a:ln>
                <a:solidFill>
                  <a:srgbClr val="CC00FF"/>
                </a:solidFill>
                <a:effectLst/>
                <a:uLnTx/>
                <a:uFillTx/>
                <a:latin typeface="+mj-lt"/>
                <a:ea typeface="+mn-ea"/>
                <a:cs typeface="+mj-lt"/>
                <a:sym typeface="+mn-ea"/>
              </a:rPr>
              <a:t>角色</a:t>
            </a:r>
            <a:r>
              <a:rPr lang="en-US" altLang="zh-CN" sz="2400" kern="0" noProof="0" dirty="0">
                <a:ln>
                  <a:noFill/>
                </a:ln>
                <a:solidFill>
                  <a:srgbClr val="CC00FF"/>
                </a:solidFill>
                <a:effectLst/>
                <a:uLnTx/>
                <a:uFillTx/>
                <a:latin typeface="+mj-lt"/>
                <a:ea typeface="+mn-ea"/>
                <a:cs typeface="+mj-lt"/>
                <a:sym typeface="+mn-ea"/>
              </a:rPr>
              <a:t>&gt;]...</a:t>
            </a:r>
            <a:endParaRPr lang="zh-CN" altLang="en-US" sz="2400" kern="0" noProof="0" dirty="0">
              <a:ln>
                <a:noFill/>
              </a:ln>
              <a:solidFill>
                <a:srgbClr val="CC00FF"/>
              </a:solidFill>
              <a:effectLst/>
              <a:uLnTx/>
              <a:uFillTx/>
              <a:latin typeface="+mj-lt"/>
              <a:ea typeface="+mn-ea"/>
              <a:cs typeface="+mj-lt"/>
              <a:sym typeface="+mn-ea"/>
            </a:endParaRPr>
          </a:p>
        </p:txBody>
      </p:sp>
      <p:sp>
        <p:nvSpPr>
          <p:cNvPr id="2" name="矩形 2"/>
          <p:cNvSpPr/>
          <p:nvPr/>
        </p:nvSpPr>
        <p:spPr>
          <a:xfrm>
            <a:off x="394335" y="756920"/>
            <a:ext cx="8375650" cy="672465"/>
          </a:xfrm>
          <a:prstGeom prst="rect">
            <a:avLst/>
          </a:prstGeom>
          <a:noFill/>
          <a:ln w="9525">
            <a:noFill/>
          </a:ln>
        </p:spPr>
        <p:txBody>
          <a:bodyPr anchor="t">
            <a:spAutoFit/>
          </a:bodyPr>
          <a:lstStyle/>
          <a:p>
            <a:pPr algn="l">
              <a:lnSpc>
                <a:spcPct val="135000"/>
              </a:lnSpc>
              <a:buClrTx/>
              <a:buSzTx/>
              <a:buFont typeface="Wingdings" panose="05000000000000000000" charset="0"/>
            </a:pPr>
            <a:r>
              <a:rPr lang="en-US" altLang="zh-CN" sz="2800" dirty="0">
                <a:solidFill>
                  <a:srgbClr val="0033CC"/>
                </a:solidFill>
                <a:latin typeface="黑体" panose="02010609060101010101" pitchFamily="1" charset="-122"/>
                <a:ea typeface="黑体" panose="02010609060101010101" pitchFamily="1" charset="-122"/>
                <a:cs typeface="+mn-ea"/>
                <a:sym typeface="+mn-ea"/>
              </a:rPr>
              <a:t>2.</a:t>
            </a:r>
            <a:r>
              <a:rPr lang="zh-CN" altLang="en-US" sz="2800" dirty="0">
                <a:solidFill>
                  <a:srgbClr val="0033CC"/>
                </a:solidFill>
                <a:latin typeface="黑体" panose="02010609060101010101" pitchFamily="1" charset="-122"/>
                <a:ea typeface="黑体" panose="02010609060101010101" pitchFamily="1" charset="-122"/>
                <a:cs typeface="+mn-ea"/>
                <a:sym typeface="+mn-ea"/>
              </a:rPr>
              <a:t>数据库的安全性控制</a:t>
            </a:r>
            <a:endParaRPr lang="zh-CN" altLang="en-US" sz="2800" dirty="0">
              <a:solidFill>
                <a:srgbClr val="0033CC"/>
              </a:solidFill>
              <a:latin typeface="黑体" panose="02010609060101010101" pitchFamily="1" charset="-122"/>
              <a:ea typeface="黑体" panose="02010609060101010101" pitchFamily="1" charset="-122"/>
              <a:cs typeface="+mn-ea"/>
              <a:sym typeface="+mn-ea"/>
            </a:endParaRPr>
          </a:p>
        </p:txBody>
      </p:sp>
      <p:sp>
        <p:nvSpPr>
          <p:cNvPr id="20484" name="Rectangle 2"/>
          <p:cNvSpPr/>
          <p:nvPr/>
        </p:nvSpPr>
        <p:spPr>
          <a:xfrm>
            <a:off x="457200" y="68263"/>
            <a:ext cx="8229600" cy="692150"/>
          </a:xfrm>
          <a:prstGeom prst="rect">
            <a:avLst/>
          </a:prstGeom>
          <a:noFill/>
          <a:ln w="9525">
            <a:noFill/>
          </a:ln>
        </p:spPr>
        <p:txBody>
          <a:bodyPr anchor="ctr"/>
          <a:lstStyle/>
          <a:p>
            <a:pPr lvl="0" eaLnBrk="1" hangingPunct="1"/>
            <a:r>
              <a:rPr lang="zh-CN" altLang="en-US" sz="3200" dirty="0">
                <a:solidFill>
                  <a:srgbClr val="FF0000"/>
                </a:solidFill>
                <a:latin typeface="Arial" panose="020B0604020202020204" pitchFamily="34" charset="0"/>
                <a:ea typeface="黑体" panose="02010609060101010101" pitchFamily="1" charset="-122"/>
              </a:rPr>
              <a:t>二、数据库的安全性</a:t>
            </a:r>
            <a:endParaRPr lang="en-US" altLang="zh-CN"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ppt_x"/>
                                          </p:val>
                                        </p:tav>
                                        <p:tav tm="100000">
                                          <p:val>
                                            <p:strVal val="#ppt_x"/>
                                          </p:val>
                                        </p:tav>
                                      </p:tavLst>
                                    </p:anim>
                                    <p:anim calcmode="lin" valueType="num">
                                      <p:cBhvr additive="base">
                                        <p:cTn id="2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9" grpId="0"/>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549910" y="1499870"/>
            <a:ext cx="7086600" cy="443865"/>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a:t>
            </a:r>
            <a:r>
              <a:rPr kumimoji="1" lang="en-US" altLang="zh-CN"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4</a:t>
            </a:r>
            <a:r>
              <a:rPr kumimoji="1" lang="zh-CN" altLang="en-US"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）数据库的角色</a:t>
            </a:r>
            <a:endParaRPr kumimoji="1" lang="zh-CN" altLang="en-US"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endParaRPr>
          </a:p>
        </p:txBody>
      </p:sp>
      <p:sp>
        <p:nvSpPr>
          <p:cNvPr id="7" name="Rectangle 2"/>
          <p:cNvSpPr txBox="1">
            <a:spLocks noChangeArrowheads="1"/>
          </p:cNvSpPr>
          <p:nvPr/>
        </p:nvSpPr>
        <p:spPr>
          <a:xfrm>
            <a:off x="779145" y="2016125"/>
            <a:ext cx="7086600" cy="443865"/>
          </a:xfrm>
          <a:prstGeom prst="rect">
            <a:avLst/>
          </a:prstGeom>
        </p:spPr>
        <p:txBody>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charset="0"/>
              <a:buChar char="p"/>
              <a:defRPr/>
            </a:pPr>
            <a:r>
              <a:rPr kumimoji="1" lang="zh-CN" altLang="en-US" sz="24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将一个角色授予其他的角色或用户</a:t>
            </a:r>
            <a:endParaRPr kumimoji="1" lang="zh-CN" altLang="en-US" sz="2400" b="1" i="0" u="none" strike="noStrike" kern="0" cap="none" spc="0" normalizeH="0" baseline="0" noProof="0" dirty="0">
              <a:ln>
                <a:noFill/>
              </a:ln>
              <a:solidFill>
                <a:srgbClr val="3333CC"/>
              </a:solidFill>
              <a:effectLst/>
              <a:uLnTx/>
              <a:uFillTx/>
              <a:latin typeface="宋体" panose="02010600030101010101" pitchFamily="2" charset="-122"/>
              <a:ea typeface="+mj-ea"/>
              <a:cs typeface="+mj-cs"/>
            </a:endParaRPr>
          </a:p>
        </p:txBody>
      </p:sp>
      <p:sp>
        <p:nvSpPr>
          <p:cNvPr id="11" name="文本框 10"/>
          <p:cNvSpPr txBox="1"/>
          <p:nvPr/>
        </p:nvSpPr>
        <p:spPr>
          <a:xfrm>
            <a:off x="779145" y="2459990"/>
            <a:ext cx="7820660" cy="977265"/>
          </a:xfrm>
          <a:prstGeom prst="rect">
            <a:avLst/>
          </a:prstGeom>
          <a:noFill/>
        </p:spPr>
        <p:txBody>
          <a:bodyPr wrap="square" rtlCol="0" anchor="t">
            <a:spAutoFit/>
          </a:bodyPr>
          <a:lstStyle/>
          <a:p>
            <a:pPr>
              <a:lnSpc>
                <a:spcPct val="120000"/>
              </a:lnSpc>
              <a:spcBef>
                <a:spcPts val="0"/>
              </a:spcBef>
              <a:spcAft>
                <a:spcPts val="0"/>
              </a:spcAft>
              <a:buNone/>
            </a:pPr>
            <a:r>
              <a:rPr lang="en-US" altLang="zh-CN" sz="2400" kern="0" noProof="0" dirty="0">
                <a:ln>
                  <a:noFill/>
                </a:ln>
                <a:solidFill>
                  <a:srgbClr val="CC00FF"/>
                </a:solidFill>
                <a:effectLst/>
                <a:uLnTx/>
                <a:uFillTx/>
                <a:latin typeface="+mj-lt"/>
                <a:ea typeface="+mn-ea"/>
                <a:cs typeface="+mj-lt"/>
                <a:sym typeface="+mn-ea"/>
              </a:rPr>
              <a:t>GRANT &lt;</a:t>
            </a:r>
            <a:r>
              <a:rPr lang="zh-CN" altLang="en-US" sz="2400" kern="0" noProof="0" dirty="0">
                <a:ln>
                  <a:noFill/>
                </a:ln>
                <a:solidFill>
                  <a:srgbClr val="CC00FF"/>
                </a:solidFill>
                <a:effectLst/>
                <a:uLnTx/>
                <a:uFillTx/>
                <a:latin typeface="+mj-lt"/>
                <a:ea typeface="+mn-ea"/>
                <a:cs typeface="+mj-lt"/>
                <a:sym typeface="+mn-ea"/>
              </a:rPr>
              <a:t>角色</a:t>
            </a:r>
            <a:r>
              <a:rPr lang="en-US" altLang="zh-CN" sz="2400" kern="0" noProof="0" dirty="0">
                <a:ln>
                  <a:noFill/>
                </a:ln>
                <a:solidFill>
                  <a:srgbClr val="CC00FF"/>
                </a:solidFill>
                <a:effectLst/>
                <a:uLnTx/>
                <a:uFillTx/>
                <a:latin typeface="+mj-lt"/>
                <a:ea typeface="+mn-ea"/>
                <a:cs typeface="+mj-lt"/>
                <a:sym typeface="+mn-ea"/>
              </a:rPr>
              <a:t>1&gt; [,&lt;</a:t>
            </a:r>
            <a:r>
              <a:rPr lang="zh-CN" altLang="en-US" sz="2400" kern="0" noProof="0" dirty="0">
                <a:ln>
                  <a:noFill/>
                </a:ln>
                <a:solidFill>
                  <a:srgbClr val="CC00FF"/>
                </a:solidFill>
                <a:effectLst/>
                <a:uLnTx/>
                <a:uFillTx/>
                <a:latin typeface="+mj-lt"/>
                <a:ea typeface="+mn-ea"/>
                <a:cs typeface="+mj-lt"/>
                <a:sym typeface="+mn-ea"/>
              </a:rPr>
              <a:t>角色</a:t>
            </a:r>
            <a:r>
              <a:rPr lang="en-US" altLang="zh-CN" sz="2400" kern="0" noProof="0" dirty="0">
                <a:ln>
                  <a:noFill/>
                </a:ln>
                <a:solidFill>
                  <a:srgbClr val="CC00FF"/>
                </a:solidFill>
                <a:effectLst/>
                <a:uLnTx/>
                <a:uFillTx/>
                <a:latin typeface="+mj-lt"/>
                <a:ea typeface="+mn-ea"/>
                <a:cs typeface="+mj-lt"/>
                <a:sym typeface="+mn-ea"/>
              </a:rPr>
              <a:t>2&gt;]... TO &lt;</a:t>
            </a:r>
            <a:r>
              <a:rPr lang="zh-CN" altLang="en-US" sz="2400" kern="0" noProof="0" dirty="0">
                <a:ln>
                  <a:noFill/>
                </a:ln>
                <a:solidFill>
                  <a:srgbClr val="CC00FF"/>
                </a:solidFill>
                <a:effectLst/>
                <a:uLnTx/>
                <a:uFillTx/>
                <a:latin typeface="+mj-lt"/>
                <a:ea typeface="+mn-ea"/>
                <a:cs typeface="+mj-lt"/>
                <a:sym typeface="+mn-ea"/>
              </a:rPr>
              <a:t>角色</a:t>
            </a:r>
            <a:r>
              <a:rPr lang="en-US" altLang="zh-CN" sz="2400" kern="0" noProof="0" dirty="0">
                <a:ln>
                  <a:noFill/>
                </a:ln>
                <a:solidFill>
                  <a:srgbClr val="CC00FF"/>
                </a:solidFill>
                <a:effectLst/>
                <a:uLnTx/>
                <a:uFillTx/>
                <a:latin typeface="+mj-lt"/>
                <a:ea typeface="+mn-ea"/>
                <a:cs typeface="+mj-lt"/>
                <a:sym typeface="+mn-ea"/>
              </a:rPr>
              <a:t>3&gt; [,&lt;</a:t>
            </a:r>
            <a:r>
              <a:rPr lang="zh-CN" altLang="en-US" sz="2400" kern="0" noProof="0" dirty="0">
                <a:ln>
                  <a:noFill/>
                </a:ln>
                <a:solidFill>
                  <a:srgbClr val="CC00FF"/>
                </a:solidFill>
                <a:effectLst/>
                <a:uLnTx/>
                <a:uFillTx/>
                <a:latin typeface="+mj-lt"/>
                <a:ea typeface="+mn-ea"/>
                <a:cs typeface="+mj-lt"/>
                <a:sym typeface="+mn-ea"/>
              </a:rPr>
              <a:t>用户</a:t>
            </a:r>
            <a:r>
              <a:rPr lang="en-US" altLang="zh-CN" sz="2400" kern="0" noProof="0" dirty="0">
                <a:ln>
                  <a:noFill/>
                </a:ln>
                <a:solidFill>
                  <a:srgbClr val="CC00FF"/>
                </a:solidFill>
                <a:effectLst/>
                <a:uLnTx/>
                <a:uFillTx/>
                <a:latin typeface="+mj-lt"/>
                <a:ea typeface="+mn-ea"/>
                <a:cs typeface="+mj-lt"/>
                <a:sym typeface="+mn-ea"/>
              </a:rPr>
              <a:t>1&gt;]...</a:t>
            </a:r>
            <a:endParaRPr lang="en-US" altLang="zh-CN" sz="2400" kern="0" noProof="0" dirty="0">
              <a:ln>
                <a:noFill/>
              </a:ln>
              <a:solidFill>
                <a:srgbClr val="CC00FF"/>
              </a:solidFill>
              <a:effectLst/>
              <a:uLnTx/>
              <a:uFillTx/>
              <a:latin typeface="+mj-lt"/>
              <a:ea typeface="+mn-ea"/>
              <a:cs typeface="+mj-lt"/>
              <a:sym typeface="+mn-ea"/>
            </a:endParaRPr>
          </a:p>
          <a:p>
            <a:pPr>
              <a:lnSpc>
                <a:spcPct val="120000"/>
              </a:lnSpc>
              <a:spcBef>
                <a:spcPts val="0"/>
              </a:spcBef>
              <a:spcAft>
                <a:spcPts val="0"/>
              </a:spcAft>
              <a:buNone/>
            </a:pPr>
            <a:r>
              <a:rPr lang="en-US" altLang="zh-CN" sz="2400" kern="0" noProof="0" dirty="0">
                <a:ln>
                  <a:noFill/>
                </a:ln>
                <a:solidFill>
                  <a:srgbClr val="CC00FF"/>
                </a:solidFill>
                <a:effectLst/>
                <a:uLnTx/>
                <a:uFillTx/>
                <a:latin typeface="+mj-lt"/>
                <a:ea typeface="+mn-ea"/>
                <a:cs typeface="+mj-lt"/>
                <a:sym typeface="+mn-ea"/>
              </a:rPr>
              <a:t>[WITH ADMIN OPTION] </a:t>
            </a:r>
            <a:endParaRPr lang="zh-CN" altLang="en-US" sz="2400" kern="0" noProof="0" dirty="0">
              <a:ln>
                <a:noFill/>
              </a:ln>
              <a:solidFill>
                <a:srgbClr val="CC00FF"/>
              </a:solidFill>
              <a:effectLst/>
              <a:uLnTx/>
              <a:uFillTx/>
              <a:latin typeface="+mj-lt"/>
              <a:ea typeface="+mn-ea"/>
              <a:cs typeface="+mj-lt"/>
              <a:sym typeface="+mn-ea"/>
            </a:endParaRPr>
          </a:p>
        </p:txBody>
      </p:sp>
      <p:sp>
        <p:nvSpPr>
          <p:cNvPr id="3" name="Rectangle 2"/>
          <p:cNvSpPr txBox="1">
            <a:spLocks noChangeArrowheads="1"/>
          </p:cNvSpPr>
          <p:nvPr/>
        </p:nvSpPr>
        <p:spPr>
          <a:xfrm>
            <a:off x="720725" y="3556000"/>
            <a:ext cx="7086600" cy="443865"/>
          </a:xfrm>
          <a:prstGeom prst="rect">
            <a:avLst/>
          </a:prstGeom>
        </p:spPr>
        <p:txBody>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charset="0"/>
              <a:buChar char="p"/>
              <a:defRPr/>
            </a:pPr>
            <a:r>
              <a:rPr kumimoji="1" lang="zh-CN" altLang="en-US" sz="24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角色权限的收回</a:t>
            </a:r>
            <a:endParaRPr kumimoji="1" lang="zh-CN" altLang="en-US" sz="2400" b="1" i="0" u="none" strike="noStrike" kern="0" cap="none" spc="0" normalizeH="0" baseline="0" noProof="0" dirty="0">
              <a:ln>
                <a:noFill/>
              </a:ln>
              <a:solidFill>
                <a:srgbClr val="3333CC"/>
              </a:solidFill>
              <a:effectLst/>
              <a:uLnTx/>
              <a:uFillTx/>
              <a:latin typeface="宋体" panose="02010600030101010101" pitchFamily="2" charset="-122"/>
              <a:ea typeface="+mj-ea"/>
              <a:cs typeface="+mj-cs"/>
            </a:endParaRPr>
          </a:p>
        </p:txBody>
      </p:sp>
      <p:sp>
        <p:nvSpPr>
          <p:cNvPr id="4" name="文本框 3"/>
          <p:cNvSpPr txBox="1"/>
          <p:nvPr/>
        </p:nvSpPr>
        <p:spPr>
          <a:xfrm>
            <a:off x="720725" y="3999865"/>
            <a:ext cx="7820660" cy="977265"/>
          </a:xfrm>
          <a:prstGeom prst="rect">
            <a:avLst/>
          </a:prstGeom>
          <a:noFill/>
        </p:spPr>
        <p:txBody>
          <a:bodyPr wrap="square" rtlCol="0" anchor="t">
            <a:spAutoFit/>
          </a:bodyPr>
          <a:lstStyle/>
          <a:p>
            <a:pPr>
              <a:lnSpc>
                <a:spcPct val="120000"/>
              </a:lnSpc>
              <a:spcBef>
                <a:spcPts val="0"/>
              </a:spcBef>
              <a:spcAft>
                <a:spcPts val="0"/>
              </a:spcAft>
              <a:buNone/>
            </a:pPr>
            <a:r>
              <a:rPr lang="en-US" altLang="zh-CN" sz="2400" kern="0" noProof="0" dirty="0">
                <a:ln>
                  <a:noFill/>
                </a:ln>
                <a:solidFill>
                  <a:srgbClr val="CC00FF"/>
                </a:solidFill>
                <a:effectLst/>
                <a:uLnTx/>
                <a:uFillTx/>
                <a:latin typeface="+mj-lt"/>
                <a:ea typeface="+mn-ea"/>
                <a:cs typeface="+mj-lt"/>
                <a:sym typeface="+mn-ea"/>
              </a:rPr>
              <a:t>REVOKE &lt;</a:t>
            </a:r>
            <a:r>
              <a:rPr lang="zh-CN" altLang="en-US" sz="2400" kern="0" noProof="0" dirty="0">
                <a:ln>
                  <a:noFill/>
                </a:ln>
                <a:solidFill>
                  <a:srgbClr val="CC00FF"/>
                </a:solidFill>
                <a:effectLst/>
                <a:uLnTx/>
                <a:uFillTx/>
                <a:latin typeface="+mj-lt"/>
                <a:ea typeface="+mn-ea"/>
                <a:cs typeface="+mj-lt"/>
                <a:sym typeface="+mn-ea"/>
              </a:rPr>
              <a:t>权限</a:t>
            </a:r>
            <a:r>
              <a:rPr lang="en-US" altLang="zh-CN" sz="2400" kern="0" noProof="0" dirty="0">
                <a:ln>
                  <a:noFill/>
                </a:ln>
                <a:solidFill>
                  <a:srgbClr val="CC00FF"/>
                </a:solidFill>
                <a:effectLst/>
                <a:uLnTx/>
                <a:uFillTx/>
                <a:latin typeface="+mj-lt"/>
                <a:ea typeface="+mn-ea"/>
                <a:cs typeface="+mj-lt"/>
                <a:sym typeface="+mn-ea"/>
              </a:rPr>
              <a:t>&gt; [,&lt;</a:t>
            </a:r>
            <a:r>
              <a:rPr lang="zh-CN" altLang="en-US" sz="2400" kern="0" noProof="0" dirty="0">
                <a:ln>
                  <a:noFill/>
                </a:ln>
                <a:solidFill>
                  <a:srgbClr val="CC00FF"/>
                </a:solidFill>
                <a:effectLst/>
                <a:uLnTx/>
                <a:uFillTx/>
                <a:latin typeface="+mj-lt"/>
                <a:ea typeface="+mn-ea"/>
                <a:cs typeface="+mj-lt"/>
                <a:sym typeface="+mn-ea"/>
              </a:rPr>
              <a:t>权限</a:t>
            </a:r>
            <a:r>
              <a:rPr lang="en-US" altLang="zh-CN" sz="2400" kern="0" noProof="0" dirty="0">
                <a:ln>
                  <a:noFill/>
                </a:ln>
                <a:solidFill>
                  <a:srgbClr val="CC00FF"/>
                </a:solidFill>
                <a:effectLst/>
                <a:uLnTx/>
                <a:uFillTx/>
                <a:latin typeface="+mj-lt"/>
                <a:ea typeface="+mn-ea"/>
                <a:cs typeface="+mj-lt"/>
                <a:sym typeface="+mn-ea"/>
              </a:rPr>
              <a:t>&gt;]... ON &lt;</a:t>
            </a:r>
            <a:r>
              <a:rPr lang="zh-CN" altLang="en-US" sz="2400" kern="0" noProof="0" dirty="0">
                <a:ln>
                  <a:noFill/>
                </a:ln>
                <a:solidFill>
                  <a:srgbClr val="CC00FF"/>
                </a:solidFill>
                <a:effectLst/>
                <a:uLnTx/>
                <a:uFillTx/>
                <a:latin typeface="+mj-lt"/>
                <a:ea typeface="+mn-ea"/>
                <a:cs typeface="+mj-lt"/>
                <a:sym typeface="+mn-ea"/>
              </a:rPr>
              <a:t>对象类型</a:t>
            </a:r>
            <a:r>
              <a:rPr lang="en-US" altLang="zh-CN" sz="2400" kern="0" noProof="0" dirty="0">
                <a:ln>
                  <a:noFill/>
                </a:ln>
                <a:solidFill>
                  <a:srgbClr val="CC00FF"/>
                </a:solidFill>
                <a:effectLst/>
                <a:uLnTx/>
                <a:uFillTx/>
                <a:latin typeface="+mj-lt"/>
                <a:ea typeface="+mn-ea"/>
                <a:cs typeface="+mj-lt"/>
                <a:sym typeface="+mn-ea"/>
              </a:rPr>
              <a:t>&gt;&lt;</a:t>
            </a:r>
            <a:r>
              <a:rPr lang="zh-CN" altLang="en-US" sz="2400" kern="0" noProof="0" dirty="0">
                <a:ln>
                  <a:noFill/>
                </a:ln>
                <a:solidFill>
                  <a:srgbClr val="CC00FF"/>
                </a:solidFill>
                <a:effectLst/>
                <a:uLnTx/>
                <a:uFillTx/>
                <a:latin typeface="+mj-lt"/>
                <a:ea typeface="+mn-ea"/>
                <a:cs typeface="+mj-lt"/>
                <a:sym typeface="+mn-ea"/>
              </a:rPr>
              <a:t>对象名</a:t>
            </a:r>
            <a:r>
              <a:rPr lang="en-US" altLang="zh-CN" sz="2400" kern="0" noProof="0" dirty="0">
                <a:ln>
                  <a:noFill/>
                </a:ln>
                <a:solidFill>
                  <a:srgbClr val="CC00FF"/>
                </a:solidFill>
                <a:effectLst/>
                <a:uLnTx/>
                <a:uFillTx/>
                <a:latin typeface="+mj-lt"/>
                <a:ea typeface="+mn-ea"/>
                <a:cs typeface="+mj-lt"/>
                <a:sym typeface="+mn-ea"/>
              </a:rPr>
              <a:t>&gt;</a:t>
            </a:r>
            <a:endParaRPr lang="en-US" altLang="zh-CN" sz="2400" kern="0" noProof="0" dirty="0">
              <a:ln>
                <a:noFill/>
              </a:ln>
              <a:solidFill>
                <a:srgbClr val="CC00FF"/>
              </a:solidFill>
              <a:effectLst/>
              <a:uLnTx/>
              <a:uFillTx/>
              <a:latin typeface="+mj-lt"/>
              <a:ea typeface="+mn-ea"/>
              <a:cs typeface="+mj-lt"/>
              <a:sym typeface="+mn-ea"/>
            </a:endParaRPr>
          </a:p>
          <a:p>
            <a:pPr>
              <a:lnSpc>
                <a:spcPct val="120000"/>
              </a:lnSpc>
              <a:spcBef>
                <a:spcPts val="0"/>
              </a:spcBef>
              <a:spcAft>
                <a:spcPts val="0"/>
              </a:spcAft>
              <a:buNone/>
            </a:pPr>
            <a:r>
              <a:rPr lang="en-US" altLang="zh-CN" sz="2400" kern="0" noProof="0" dirty="0">
                <a:ln>
                  <a:noFill/>
                </a:ln>
                <a:solidFill>
                  <a:srgbClr val="CC00FF"/>
                </a:solidFill>
                <a:effectLst/>
                <a:uLnTx/>
                <a:uFillTx/>
                <a:latin typeface="+mj-lt"/>
                <a:ea typeface="+mn-ea"/>
                <a:cs typeface="+mj-lt"/>
                <a:sym typeface="+mn-ea"/>
              </a:rPr>
              <a:t>FROM &lt;</a:t>
            </a:r>
            <a:r>
              <a:rPr lang="zh-CN" altLang="en-US" sz="2400" kern="0" noProof="0" dirty="0">
                <a:ln>
                  <a:noFill/>
                </a:ln>
                <a:solidFill>
                  <a:srgbClr val="CC00FF"/>
                </a:solidFill>
                <a:effectLst/>
                <a:uLnTx/>
                <a:uFillTx/>
                <a:latin typeface="+mj-lt"/>
                <a:ea typeface="+mn-ea"/>
                <a:cs typeface="+mj-lt"/>
                <a:sym typeface="+mn-ea"/>
              </a:rPr>
              <a:t>角色</a:t>
            </a:r>
            <a:r>
              <a:rPr lang="en-US" altLang="zh-CN" sz="2400" kern="0" noProof="0" dirty="0">
                <a:ln>
                  <a:noFill/>
                </a:ln>
                <a:solidFill>
                  <a:srgbClr val="CC00FF"/>
                </a:solidFill>
                <a:effectLst/>
                <a:uLnTx/>
                <a:uFillTx/>
                <a:latin typeface="+mj-lt"/>
                <a:ea typeface="+mn-ea"/>
                <a:cs typeface="+mj-lt"/>
                <a:sym typeface="+mn-ea"/>
              </a:rPr>
              <a:t>&gt; [,&lt;</a:t>
            </a:r>
            <a:r>
              <a:rPr lang="zh-CN" altLang="en-US" sz="2400" kern="0" noProof="0" dirty="0">
                <a:ln>
                  <a:noFill/>
                </a:ln>
                <a:solidFill>
                  <a:srgbClr val="CC00FF"/>
                </a:solidFill>
                <a:effectLst/>
                <a:uLnTx/>
                <a:uFillTx/>
                <a:latin typeface="+mj-lt"/>
                <a:ea typeface="+mn-ea"/>
                <a:cs typeface="+mj-lt"/>
                <a:sym typeface="+mn-ea"/>
              </a:rPr>
              <a:t>角色</a:t>
            </a:r>
            <a:r>
              <a:rPr lang="en-US" altLang="zh-CN" sz="2400" kern="0" noProof="0" dirty="0">
                <a:ln>
                  <a:noFill/>
                </a:ln>
                <a:solidFill>
                  <a:srgbClr val="CC00FF"/>
                </a:solidFill>
                <a:effectLst/>
                <a:uLnTx/>
                <a:uFillTx/>
                <a:latin typeface="+mj-lt"/>
                <a:ea typeface="+mn-ea"/>
                <a:cs typeface="+mj-lt"/>
                <a:sym typeface="+mn-ea"/>
              </a:rPr>
              <a:t>&gt;]... </a:t>
            </a:r>
            <a:endParaRPr lang="en-US" altLang="zh-CN" sz="2400" kern="0" noProof="0" dirty="0">
              <a:ln>
                <a:noFill/>
              </a:ln>
              <a:solidFill>
                <a:srgbClr val="CC00FF"/>
              </a:solidFill>
              <a:effectLst/>
              <a:uLnTx/>
              <a:uFillTx/>
              <a:latin typeface="+mj-lt"/>
              <a:ea typeface="+mn-ea"/>
              <a:cs typeface="+mj-lt"/>
              <a:sym typeface="+mn-ea"/>
            </a:endParaRPr>
          </a:p>
        </p:txBody>
      </p:sp>
      <p:sp>
        <p:nvSpPr>
          <p:cNvPr id="2" name="矩形 2"/>
          <p:cNvSpPr/>
          <p:nvPr/>
        </p:nvSpPr>
        <p:spPr>
          <a:xfrm>
            <a:off x="394335" y="756920"/>
            <a:ext cx="8375650" cy="672465"/>
          </a:xfrm>
          <a:prstGeom prst="rect">
            <a:avLst/>
          </a:prstGeom>
          <a:noFill/>
          <a:ln w="9525">
            <a:noFill/>
          </a:ln>
        </p:spPr>
        <p:txBody>
          <a:bodyPr anchor="t">
            <a:spAutoFit/>
          </a:bodyPr>
          <a:lstStyle/>
          <a:p>
            <a:pPr algn="l">
              <a:lnSpc>
                <a:spcPct val="135000"/>
              </a:lnSpc>
              <a:buClrTx/>
              <a:buSzTx/>
              <a:buFont typeface="Wingdings" panose="05000000000000000000" charset="0"/>
            </a:pPr>
            <a:r>
              <a:rPr lang="en-US" altLang="zh-CN" sz="2800" dirty="0">
                <a:solidFill>
                  <a:srgbClr val="0033CC"/>
                </a:solidFill>
                <a:latin typeface="黑体" panose="02010609060101010101" pitchFamily="1" charset="-122"/>
                <a:ea typeface="黑体" panose="02010609060101010101" pitchFamily="1" charset="-122"/>
                <a:cs typeface="+mn-ea"/>
                <a:sym typeface="+mn-ea"/>
              </a:rPr>
              <a:t>2.</a:t>
            </a:r>
            <a:r>
              <a:rPr lang="zh-CN" altLang="en-US" sz="2800" dirty="0">
                <a:solidFill>
                  <a:srgbClr val="0033CC"/>
                </a:solidFill>
                <a:latin typeface="黑体" panose="02010609060101010101" pitchFamily="1" charset="-122"/>
                <a:ea typeface="黑体" panose="02010609060101010101" pitchFamily="1" charset="-122"/>
                <a:cs typeface="+mn-ea"/>
                <a:sym typeface="+mn-ea"/>
              </a:rPr>
              <a:t>数据库的安全性控制</a:t>
            </a:r>
            <a:endParaRPr lang="zh-CN" altLang="en-US" sz="2800" dirty="0">
              <a:solidFill>
                <a:srgbClr val="0033CC"/>
              </a:solidFill>
              <a:latin typeface="黑体" panose="02010609060101010101" pitchFamily="1" charset="-122"/>
              <a:ea typeface="黑体" panose="02010609060101010101" pitchFamily="1" charset="-122"/>
              <a:cs typeface="+mn-ea"/>
              <a:sym typeface="+mn-ea"/>
            </a:endParaRPr>
          </a:p>
        </p:txBody>
      </p:sp>
      <p:sp>
        <p:nvSpPr>
          <p:cNvPr id="20484" name="Rectangle 2"/>
          <p:cNvSpPr/>
          <p:nvPr/>
        </p:nvSpPr>
        <p:spPr>
          <a:xfrm>
            <a:off x="457200" y="68263"/>
            <a:ext cx="8229600" cy="692150"/>
          </a:xfrm>
          <a:prstGeom prst="rect">
            <a:avLst/>
          </a:prstGeom>
          <a:noFill/>
          <a:ln w="9525">
            <a:noFill/>
          </a:ln>
        </p:spPr>
        <p:txBody>
          <a:bodyPr anchor="ctr"/>
          <a:lstStyle/>
          <a:p>
            <a:pPr lvl="0" eaLnBrk="1" hangingPunct="1"/>
            <a:r>
              <a:rPr lang="zh-CN" altLang="en-US" sz="3200" dirty="0">
                <a:solidFill>
                  <a:srgbClr val="FF0000"/>
                </a:solidFill>
                <a:latin typeface="Arial" panose="020B0604020202020204" pitchFamily="34" charset="0"/>
                <a:ea typeface="黑体" panose="02010609060101010101" pitchFamily="1" charset="-122"/>
              </a:rPr>
              <a:t>二、数据库的安全性</a:t>
            </a:r>
            <a:endParaRPr lang="en-US" altLang="zh-CN"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500" fill="hold"/>
                                        <p:tgtEl>
                                          <p:spTgt spid="4"/>
                                        </p:tgtEl>
                                        <p:attrNameLst>
                                          <p:attrName>ppt_x</p:attrName>
                                        </p:attrNameLst>
                                      </p:cBhvr>
                                      <p:tavLst>
                                        <p:tav tm="0">
                                          <p:val>
                                            <p:strVal val="#ppt_x"/>
                                          </p:val>
                                        </p:tav>
                                        <p:tav tm="100000">
                                          <p:val>
                                            <p:strVal val="#ppt_x"/>
                                          </p:val>
                                        </p:tav>
                                      </p:tavLst>
                                    </p:anim>
                                    <p:anim calcmode="lin" valueType="num">
                                      <p:cBhvr additive="base">
                                        <p:cTn id="2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3" grpId="0"/>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97535" y="1291590"/>
            <a:ext cx="7948295" cy="865505"/>
          </a:xfrm>
          <a:prstGeom prst="rect">
            <a:avLst/>
          </a:prstGeom>
          <a:noFill/>
        </p:spPr>
        <p:txBody>
          <a:bodyPr wrap="square" rtlCol="0" anchor="t">
            <a:spAutoFit/>
          </a:bodyPr>
          <a:lstStyle/>
          <a:p>
            <a:pPr>
              <a:lnSpc>
                <a:spcPct val="120000"/>
              </a:lnSpc>
              <a:spcBef>
                <a:spcPts val="0"/>
              </a:spcBef>
              <a:spcAft>
                <a:spcPts val="0"/>
              </a:spcAft>
              <a:buNone/>
            </a:pPr>
            <a:r>
              <a:rPr lang="zh-CN" altLang="en-US" sz="2100"/>
              <a:t>1．SQL中的视图提高了数据库系统的（      ）。</a:t>
            </a:r>
            <a:endParaRPr lang="zh-CN" altLang="en-US" sz="2100"/>
          </a:p>
          <a:p>
            <a:pPr>
              <a:lnSpc>
                <a:spcPct val="120000"/>
              </a:lnSpc>
              <a:spcBef>
                <a:spcPts val="0"/>
              </a:spcBef>
              <a:spcAft>
                <a:spcPts val="0"/>
              </a:spcAft>
              <a:buNone/>
            </a:pPr>
            <a:r>
              <a:rPr lang="zh-CN" altLang="en-US" sz="2100"/>
              <a:t>    A. 完整性     B. 并发控制         C. 隔离性       D. 安全性</a:t>
            </a:r>
            <a:endParaRPr lang="zh-CN" altLang="en-US" sz="2100"/>
          </a:p>
        </p:txBody>
      </p:sp>
      <p:sp>
        <p:nvSpPr>
          <p:cNvPr id="45" name="文本框 44"/>
          <p:cNvSpPr txBox="1"/>
          <p:nvPr/>
        </p:nvSpPr>
        <p:spPr>
          <a:xfrm>
            <a:off x="442913" y="615315"/>
            <a:ext cx="2681605" cy="829945"/>
          </a:xfrm>
          <a:prstGeom prst="rect">
            <a:avLst/>
          </a:prstGeom>
          <a:noFill/>
        </p:spPr>
        <p:txBody>
          <a:bodyPr wrap="none" rtlCol="0" anchor="t">
            <a:spAutoFit/>
          </a:bodyPr>
          <a:lstStyle/>
          <a:p>
            <a:pPr marL="457200" indent="-457200" algn="just">
              <a:lnSpc>
                <a:spcPct val="150000"/>
              </a:lnSpc>
              <a:spcAft>
                <a:spcPts val="0"/>
              </a:spcAft>
              <a:buFont typeface="Wingdings" panose="05000000000000000000" pitchFamily="2" charset="2"/>
              <a:buChar char="p"/>
            </a:pPr>
            <a:r>
              <a:rPr lang="zh-CN" altLang="zh-CN" sz="3200" kern="100" dirty="0" smtClean="0">
                <a:solidFill>
                  <a:srgbClr val="FF0000"/>
                </a:solidFill>
                <a:latin typeface="Calibri" panose="020F0502020204030204" pitchFamily="34" charset="0"/>
                <a:cs typeface="Times New Roman" panose="02020603050405020304" pitchFamily="2" charset="0"/>
                <a:sym typeface="+mn-ea"/>
              </a:rPr>
              <a:t>问题研讨：</a:t>
            </a:r>
            <a:endParaRPr lang="zh-CN" altLang="en-US" sz="3200"/>
          </a:p>
        </p:txBody>
      </p:sp>
      <p:sp>
        <p:nvSpPr>
          <p:cNvPr id="3" name="文本框 2"/>
          <p:cNvSpPr txBox="1"/>
          <p:nvPr/>
        </p:nvSpPr>
        <p:spPr>
          <a:xfrm>
            <a:off x="5431948" y="1291590"/>
            <a:ext cx="403225" cy="589280"/>
          </a:xfrm>
          <a:prstGeom prst="rect">
            <a:avLst/>
          </a:prstGeom>
          <a:noFill/>
        </p:spPr>
        <p:txBody>
          <a:bodyPr wrap="none" rtlCol="0" anchor="t">
            <a:spAutoFit/>
          </a:bodyPr>
          <a:lstStyle/>
          <a:p>
            <a:pPr>
              <a:buNone/>
            </a:pPr>
            <a:r>
              <a:rPr lang="en-US" altLang="zh-CN" sz="2400" dirty="0">
                <a:solidFill>
                  <a:srgbClr val="C00000"/>
                </a:solidFill>
              </a:rPr>
              <a:t>D</a:t>
            </a:r>
            <a:endParaRPr lang="en-US" altLang="zh-CN" sz="2400" dirty="0">
              <a:solidFill>
                <a:srgbClr val="C00000"/>
              </a:solidFill>
            </a:endParaRPr>
          </a:p>
        </p:txBody>
      </p:sp>
      <p:sp>
        <p:nvSpPr>
          <p:cNvPr id="10" name="文本框 9"/>
          <p:cNvSpPr txBox="1"/>
          <p:nvPr/>
        </p:nvSpPr>
        <p:spPr>
          <a:xfrm>
            <a:off x="598170" y="2106295"/>
            <a:ext cx="7948295" cy="1252855"/>
          </a:xfrm>
          <a:prstGeom prst="rect">
            <a:avLst/>
          </a:prstGeom>
          <a:noFill/>
        </p:spPr>
        <p:txBody>
          <a:bodyPr wrap="square" rtlCol="0" anchor="t">
            <a:spAutoFit/>
          </a:bodyPr>
          <a:lstStyle/>
          <a:p>
            <a:pPr>
              <a:lnSpc>
                <a:spcPct val="120000"/>
              </a:lnSpc>
              <a:spcBef>
                <a:spcPts val="0"/>
              </a:spcBef>
              <a:spcAft>
                <a:spcPts val="0"/>
              </a:spcAft>
              <a:buNone/>
            </a:pPr>
            <a:r>
              <a:rPr lang="en-US" altLang="zh-CN" sz="2100"/>
              <a:t>2</a:t>
            </a:r>
            <a:r>
              <a:rPr lang="zh-CN" altLang="en-US" sz="2100"/>
              <a:t>．安全性控制的防范对象是（     ）。</a:t>
            </a:r>
            <a:endParaRPr lang="zh-CN" altLang="en-US" sz="2100"/>
          </a:p>
          <a:p>
            <a:pPr>
              <a:lnSpc>
                <a:spcPct val="120000"/>
              </a:lnSpc>
              <a:spcBef>
                <a:spcPts val="0"/>
              </a:spcBef>
              <a:spcAft>
                <a:spcPts val="0"/>
              </a:spcAft>
              <a:buNone/>
            </a:pPr>
            <a:r>
              <a:rPr lang="zh-CN" altLang="en-US" sz="2100"/>
              <a:t>    A. 不合语义的数据      B. 非法用户         </a:t>
            </a:r>
            <a:endParaRPr lang="zh-CN" altLang="en-US" sz="2100"/>
          </a:p>
          <a:p>
            <a:pPr>
              <a:lnSpc>
                <a:spcPct val="120000"/>
              </a:lnSpc>
              <a:spcBef>
                <a:spcPts val="0"/>
              </a:spcBef>
              <a:spcAft>
                <a:spcPts val="0"/>
              </a:spcAft>
              <a:buNone/>
            </a:pPr>
            <a:r>
              <a:rPr lang="zh-CN" altLang="en-US" sz="2100"/>
              <a:t>    C. 不正确的数据          D. 不符合约束的数据</a:t>
            </a:r>
            <a:endParaRPr lang="zh-CN" altLang="en-US" sz="2100"/>
          </a:p>
        </p:txBody>
      </p:sp>
      <p:sp>
        <p:nvSpPr>
          <p:cNvPr id="11" name="文本框 10"/>
          <p:cNvSpPr txBox="1"/>
          <p:nvPr/>
        </p:nvSpPr>
        <p:spPr>
          <a:xfrm>
            <a:off x="4359534" y="2067878"/>
            <a:ext cx="403225" cy="589280"/>
          </a:xfrm>
          <a:prstGeom prst="rect">
            <a:avLst/>
          </a:prstGeom>
          <a:noFill/>
        </p:spPr>
        <p:txBody>
          <a:bodyPr wrap="none" rtlCol="0" anchor="t">
            <a:spAutoFit/>
          </a:bodyPr>
          <a:lstStyle/>
          <a:p>
            <a:pPr>
              <a:buNone/>
            </a:pPr>
            <a:r>
              <a:rPr lang="en-US" altLang="zh-CN" sz="2400" dirty="0">
                <a:solidFill>
                  <a:srgbClr val="C00000"/>
                </a:solidFill>
              </a:rPr>
              <a:t>B  </a:t>
            </a:r>
            <a:endParaRPr lang="en-US" altLang="zh-CN" sz="2400" dirty="0">
              <a:solidFill>
                <a:srgbClr val="C00000"/>
              </a:solidFill>
            </a:endParaRPr>
          </a:p>
        </p:txBody>
      </p:sp>
      <p:sp>
        <p:nvSpPr>
          <p:cNvPr id="12" name="文本框 11"/>
          <p:cNvSpPr txBox="1"/>
          <p:nvPr/>
        </p:nvSpPr>
        <p:spPr>
          <a:xfrm>
            <a:off x="598170" y="3362960"/>
            <a:ext cx="8368030" cy="1183640"/>
          </a:xfrm>
          <a:prstGeom prst="rect">
            <a:avLst/>
          </a:prstGeom>
          <a:noFill/>
        </p:spPr>
        <p:txBody>
          <a:bodyPr wrap="square" rtlCol="0" anchor="t">
            <a:spAutoFit/>
          </a:bodyPr>
          <a:lstStyle/>
          <a:p>
            <a:pPr>
              <a:lnSpc>
                <a:spcPct val="100000"/>
              </a:lnSpc>
              <a:buNone/>
            </a:pPr>
            <a:r>
              <a:rPr lang="en-US" altLang="zh-CN" sz="2300"/>
              <a:t>3</a:t>
            </a:r>
            <a:r>
              <a:rPr lang="zh-CN" altLang="en-US" sz="2300"/>
              <a:t>、在数据库系统中，定义用户可以对哪些数据对象进行何种操作被称为（    ）。</a:t>
            </a:r>
            <a:endParaRPr lang="zh-CN" altLang="en-US" sz="2300"/>
          </a:p>
          <a:p>
            <a:pPr>
              <a:lnSpc>
                <a:spcPct val="110000"/>
              </a:lnSpc>
              <a:spcBef>
                <a:spcPts val="100"/>
              </a:spcBef>
              <a:spcAft>
                <a:spcPts val="0"/>
              </a:spcAft>
              <a:buNone/>
            </a:pPr>
            <a:r>
              <a:rPr lang="zh-CN" altLang="en-US" sz="2200"/>
              <a:t>A．审计　　B．授权　　C．定义　　D．视图</a:t>
            </a:r>
            <a:endParaRPr lang="zh-CN" altLang="en-US" sz="2200"/>
          </a:p>
        </p:txBody>
      </p:sp>
      <p:sp>
        <p:nvSpPr>
          <p:cNvPr id="14" name="文本框 13"/>
          <p:cNvSpPr txBox="1"/>
          <p:nvPr/>
        </p:nvSpPr>
        <p:spPr>
          <a:xfrm>
            <a:off x="2164138" y="3706320"/>
            <a:ext cx="403225" cy="589280"/>
          </a:xfrm>
          <a:prstGeom prst="rect">
            <a:avLst/>
          </a:prstGeom>
          <a:noFill/>
        </p:spPr>
        <p:txBody>
          <a:bodyPr wrap="none" rtlCol="0" anchor="t">
            <a:spAutoFit/>
          </a:bodyPr>
          <a:lstStyle/>
          <a:p>
            <a:pPr>
              <a:buNone/>
            </a:pPr>
            <a:r>
              <a:rPr lang="en-US" altLang="zh-CN" sz="2400" dirty="0">
                <a:solidFill>
                  <a:srgbClr val="C00000"/>
                </a:solidFill>
              </a:rPr>
              <a:t>B  </a:t>
            </a:r>
            <a:endParaRPr lang="en-US" altLang="zh-CN" sz="2400" dirty="0">
              <a:solidFill>
                <a:srgbClr val="C00000"/>
              </a:solidFill>
            </a:endParaRPr>
          </a:p>
        </p:txBody>
      </p:sp>
      <p:sp>
        <p:nvSpPr>
          <p:cNvPr id="16" name="文本框 15"/>
          <p:cNvSpPr txBox="1"/>
          <p:nvPr/>
        </p:nvSpPr>
        <p:spPr>
          <a:xfrm>
            <a:off x="597535" y="4493895"/>
            <a:ext cx="8368030" cy="1804670"/>
          </a:xfrm>
          <a:prstGeom prst="rect">
            <a:avLst/>
          </a:prstGeom>
          <a:noFill/>
        </p:spPr>
        <p:txBody>
          <a:bodyPr wrap="square" rtlCol="0" anchor="t">
            <a:spAutoFit/>
          </a:bodyPr>
          <a:lstStyle/>
          <a:p>
            <a:pPr>
              <a:lnSpc>
                <a:spcPct val="100000"/>
              </a:lnSpc>
              <a:buNone/>
            </a:pPr>
            <a:r>
              <a:rPr lang="en-US" altLang="zh-CN" sz="2000"/>
              <a:t>4</a:t>
            </a:r>
            <a:r>
              <a:rPr lang="zh-CN" altLang="en-US" sz="2000"/>
              <a:t>、把关系</a:t>
            </a:r>
            <a:r>
              <a:rPr lang="en-US" altLang="zh-CN" sz="2000"/>
              <a:t>SC</a:t>
            </a:r>
            <a:r>
              <a:rPr lang="zh-CN" altLang="en-US" sz="2000"/>
              <a:t>的属性</a:t>
            </a:r>
            <a:r>
              <a:rPr lang="en-US" altLang="zh-CN" sz="2000"/>
              <a:t>GRADE</a:t>
            </a:r>
            <a:r>
              <a:rPr lang="zh-CN" altLang="en-US" sz="2000"/>
              <a:t>的修改权授予用户</a:t>
            </a:r>
            <a:r>
              <a:rPr lang="en-US" altLang="zh-CN" sz="2000"/>
              <a:t>ZHAO</a:t>
            </a:r>
            <a:r>
              <a:rPr lang="zh-CN" altLang="en-US" sz="2000"/>
              <a:t>的</a:t>
            </a:r>
            <a:r>
              <a:rPr lang="en-US" altLang="zh-CN" sz="2000"/>
              <a:t>SQL</a:t>
            </a:r>
            <a:r>
              <a:rPr lang="zh-CN" altLang="en-US" sz="2000"/>
              <a:t>语句是（    ）</a:t>
            </a:r>
            <a:endParaRPr lang="zh-CN" altLang="en-US" sz="2000"/>
          </a:p>
          <a:p>
            <a:pPr>
              <a:lnSpc>
                <a:spcPct val="110000"/>
              </a:lnSpc>
              <a:spcBef>
                <a:spcPts val="100"/>
              </a:spcBef>
              <a:spcAft>
                <a:spcPts val="0"/>
              </a:spcAft>
              <a:buNone/>
            </a:pPr>
            <a:r>
              <a:rPr lang="zh-CN" altLang="en-US" sz="2000"/>
              <a:t>   A．</a:t>
            </a:r>
            <a:r>
              <a:rPr lang="en-US" altLang="zh-CN" sz="2000"/>
              <a:t>GRANT GRADE ON SC TO ZHAO</a:t>
            </a:r>
            <a:r>
              <a:rPr lang="zh-CN" altLang="en-US" sz="2000"/>
              <a:t>　　</a:t>
            </a:r>
            <a:endParaRPr lang="zh-CN" altLang="en-US" sz="2000"/>
          </a:p>
          <a:p>
            <a:pPr>
              <a:lnSpc>
                <a:spcPct val="110000"/>
              </a:lnSpc>
              <a:spcBef>
                <a:spcPts val="100"/>
              </a:spcBef>
              <a:spcAft>
                <a:spcPts val="0"/>
              </a:spcAft>
              <a:buNone/>
            </a:pPr>
            <a:r>
              <a:rPr lang="zh-CN" altLang="en-US" sz="2000"/>
              <a:t>   B．</a:t>
            </a:r>
            <a:r>
              <a:rPr lang="en-US" altLang="zh-CN" sz="2000"/>
              <a:t>GRANT UPDATE ON SC TO ZHAO</a:t>
            </a:r>
            <a:endParaRPr lang="en-US" altLang="zh-CN" sz="2000"/>
          </a:p>
          <a:p>
            <a:pPr>
              <a:lnSpc>
                <a:spcPct val="110000"/>
              </a:lnSpc>
              <a:spcBef>
                <a:spcPts val="100"/>
              </a:spcBef>
              <a:spcAft>
                <a:spcPts val="0"/>
              </a:spcAft>
              <a:buNone/>
            </a:pPr>
            <a:r>
              <a:rPr lang="en-US" altLang="zh-CN" sz="2000"/>
              <a:t>   C.  GRANT UPDATE(GRADE) ON SC TO ZHAO</a:t>
            </a:r>
            <a:endParaRPr lang="en-US" altLang="zh-CN" sz="2000"/>
          </a:p>
          <a:p>
            <a:pPr>
              <a:lnSpc>
                <a:spcPct val="110000"/>
              </a:lnSpc>
              <a:spcBef>
                <a:spcPts val="100"/>
              </a:spcBef>
              <a:spcAft>
                <a:spcPts val="0"/>
              </a:spcAft>
              <a:buNone/>
            </a:pPr>
            <a:r>
              <a:rPr lang="en-US" altLang="zh-CN" sz="2000"/>
              <a:t>   D.  GRANT UPDATE ON SC(GRAGE) TO ZHAO</a:t>
            </a:r>
            <a:endParaRPr lang="en-US" altLang="zh-CN" sz="2000"/>
          </a:p>
        </p:txBody>
      </p:sp>
      <p:sp>
        <p:nvSpPr>
          <p:cNvPr id="17" name="文本框 16"/>
          <p:cNvSpPr txBox="1"/>
          <p:nvPr/>
        </p:nvSpPr>
        <p:spPr>
          <a:xfrm>
            <a:off x="8350885" y="4442053"/>
            <a:ext cx="403225" cy="589280"/>
          </a:xfrm>
          <a:prstGeom prst="rect">
            <a:avLst/>
          </a:prstGeom>
          <a:noFill/>
        </p:spPr>
        <p:txBody>
          <a:bodyPr wrap="none" rtlCol="0" anchor="t">
            <a:spAutoFit/>
          </a:bodyPr>
          <a:lstStyle/>
          <a:p>
            <a:pPr>
              <a:buNone/>
            </a:pPr>
            <a:r>
              <a:rPr lang="en-US" altLang="zh-CN" sz="2400" dirty="0">
                <a:solidFill>
                  <a:srgbClr val="C00000"/>
                </a:solidFill>
              </a:rPr>
              <a:t>C  </a:t>
            </a:r>
            <a:endParaRPr lang="en-US" altLang="zh-CN" sz="2400" dirty="0">
              <a:solidFill>
                <a:srgbClr val="C00000"/>
              </a:solidFill>
            </a:endParaRPr>
          </a:p>
        </p:txBody>
      </p:sp>
      <p:sp>
        <p:nvSpPr>
          <p:cNvPr id="13" name="Rectangle 2"/>
          <p:cNvSpPr/>
          <p:nvPr/>
        </p:nvSpPr>
        <p:spPr>
          <a:xfrm>
            <a:off x="457200" y="68263"/>
            <a:ext cx="8229600" cy="692150"/>
          </a:xfrm>
          <a:prstGeom prst="rect">
            <a:avLst/>
          </a:prstGeom>
          <a:noFill/>
          <a:ln w="9525">
            <a:noFill/>
          </a:ln>
        </p:spPr>
        <p:txBody>
          <a:bodyPr anchor="ctr"/>
          <a:lstStyle/>
          <a:p>
            <a:pPr lvl="0" eaLnBrk="1" hangingPunct="1"/>
            <a:r>
              <a:rPr lang="zh-CN" altLang="en-US" sz="3200" dirty="0">
                <a:solidFill>
                  <a:srgbClr val="FF0000"/>
                </a:solidFill>
                <a:latin typeface="Arial" panose="020B0604020202020204" pitchFamily="34" charset="0"/>
                <a:ea typeface="黑体" panose="02010609060101010101" pitchFamily="1" charset="-122"/>
              </a:rPr>
              <a:t>二、数据库的安全性</a:t>
            </a:r>
            <a:endParaRPr lang="en-US" altLang="zh-CN"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 calcmode="lin" valueType="num">
                                      <p:cBhvr additive="base">
                                        <p:cTn id="25" dur="500" fill="hold"/>
                                        <p:tgtEl>
                                          <p:spTgt spid="17"/>
                                        </p:tgtEl>
                                        <p:attrNameLst>
                                          <p:attrName>ppt_x</p:attrName>
                                        </p:attrNameLst>
                                      </p:cBhvr>
                                      <p:tavLst>
                                        <p:tav tm="0">
                                          <p:val>
                                            <p:strVal val="#ppt_x"/>
                                          </p:val>
                                        </p:tav>
                                        <p:tav tm="100000">
                                          <p:val>
                                            <p:strVal val="#ppt_x"/>
                                          </p:val>
                                        </p:tav>
                                      </p:tavLst>
                                    </p:anim>
                                    <p:anim calcmode="lin" valueType="num">
                                      <p:cBhvr additive="base">
                                        <p:cTn id="2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1" grpId="0"/>
      <p:bldP spid="14" grpId="0"/>
      <p:bldP spid="1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45135" y="1254125"/>
            <a:ext cx="8368030" cy="4989830"/>
          </a:xfrm>
          <a:prstGeom prst="rect">
            <a:avLst/>
          </a:prstGeom>
          <a:noFill/>
        </p:spPr>
        <p:txBody>
          <a:bodyPr wrap="square" rtlCol="0" anchor="t">
            <a:spAutoFit/>
          </a:bodyPr>
          <a:lstStyle/>
          <a:p>
            <a:pPr>
              <a:lnSpc>
                <a:spcPct val="100000"/>
              </a:lnSpc>
              <a:spcBef>
                <a:spcPts val="200"/>
              </a:spcBef>
              <a:spcAft>
                <a:spcPts val="0"/>
              </a:spcAft>
              <a:buNone/>
            </a:pPr>
            <a:r>
              <a:rPr lang="en-US" altLang="zh-CN" sz="2000"/>
              <a:t>5</a:t>
            </a:r>
            <a:r>
              <a:rPr lang="zh-CN" altLang="en-US" sz="2000"/>
              <a:t>、对下列两个关系模式：</a:t>
            </a:r>
            <a:endParaRPr lang="zh-CN" altLang="en-US" sz="2000"/>
          </a:p>
          <a:p>
            <a:pPr>
              <a:lnSpc>
                <a:spcPct val="100000"/>
              </a:lnSpc>
              <a:spcBef>
                <a:spcPts val="200"/>
              </a:spcBef>
              <a:spcAft>
                <a:spcPts val="0"/>
              </a:spcAft>
              <a:buNone/>
            </a:pPr>
            <a:r>
              <a:rPr lang="zh-CN" altLang="en-US" sz="2000"/>
              <a:t>    学生</a:t>
            </a:r>
            <a:r>
              <a:rPr lang="en-US" altLang="zh-CN" sz="2000"/>
              <a:t>(</a:t>
            </a:r>
            <a:r>
              <a:rPr lang="zh-CN" altLang="en-US" sz="2000"/>
              <a:t>学号</a:t>
            </a:r>
            <a:r>
              <a:rPr lang="en-US" altLang="zh-CN" sz="2000"/>
              <a:t>,</a:t>
            </a:r>
            <a:r>
              <a:rPr lang="zh-CN" altLang="en-US" sz="2000"/>
              <a:t>姓名</a:t>
            </a:r>
            <a:r>
              <a:rPr lang="en-US" altLang="zh-CN" sz="2000">
                <a:sym typeface="+mn-ea"/>
              </a:rPr>
              <a:t>,</a:t>
            </a:r>
            <a:r>
              <a:rPr lang="zh-CN" altLang="en-US" sz="2000"/>
              <a:t>年龄</a:t>
            </a:r>
            <a:r>
              <a:rPr lang="en-US" altLang="zh-CN" sz="2000">
                <a:sym typeface="+mn-ea"/>
              </a:rPr>
              <a:t>,</a:t>
            </a:r>
            <a:r>
              <a:rPr lang="zh-CN" altLang="en-US" sz="2000"/>
              <a:t>性别</a:t>
            </a:r>
            <a:r>
              <a:rPr lang="en-US" altLang="zh-CN" sz="2000">
                <a:sym typeface="+mn-ea"/>
              </a:rPr>
              <a:t>,</a:t>
            </a:r>
            <a:r>
              <a:rPr lang="zh-CN" altLang="en-US" sz="2000"/>
              <a:t>家庭住址</a:t>
            </a:r>
            <a:r>
              <a:rPr lang="en-US" altLang="zh-CN" sz="2000">
                <a:sym typeface="+mn-ea"/>
              </a:rPr>
              <a:t>,</a:t>
            </a:r>
            <a:r>
              <a:rPr lang="zh-CN" altLang="en-US" sz="2000"/>
              <a:t>班级号</a:t>
            </a:r>
            <a:r>
              <a:rPr lang="en-US" altLang="zh-CN" sz="2000"/>
              <a:t>)</a:t>
            </a:r>
            <a:endParaRPr lang="en-US" altLang="zh-CN" sz="2000"/>
          </a:p>
          <a:p>
            <a:pPr>
              <a:lnSpc>
                <a:spcPct val="100000"/>
              </a:lnSpc>
              <a:spcBef>
                <a:spcPts val="200"/>
              </a:spcBef>
              <a:spcAft>
                <a:spcPts val="0"/>
              </a:spcAft>
              <a:buNone/>
            </a:pPr>
            <a:r>
              <a:rPr lang="en-US" altLang="zh-CN" sz="2000"/>
              <a:t>    </a:t>
            </a:r>
            <a:r>
              <a:rPr lang="zh-CN" altLang="en-US" sz="2000"/>
              <a:t>班级</a:t>
            </a:r>
            <a:r>
              <a:rPr lang="en-US" altLang="zh-CN" sz="2000"/>
              <a:t>(</a:t>
            </a:r>
            <a:r>
              <a:rPr lang="zh-CN" altLang="en-US" sz="2000"/>
              <a:t>班级号</a:t>
            </a:r>
            <a:r>
              <a:rPr lang="en-US" altLang="zh-CN" sz="2000"/>
              <a:t>,</a:t>
            </a:r>
            <a:r>
              <a:rPr lang="zh-CN" altLang="en-US" sz="2000"/>
              <a:t>班级名</a:t>
            </a:r>
            <a:r>
              <a:rPr lang="en-US" altLang="zh-CN" sz="2000"/>
              <a:t>,</a:t>
            </a:r>
            <a:r>
              <a:rPr lang="zh-CN" altLang="en-US" sz="2000"/>
              <a:t>班主任</a:t>
            </a:r>
            <a:r>
              <a:rPr lang="en-US" altLang="zh-CN" sz="2000"/>
              <a:t>,</a:t>
            </a:r>
            <a:r>
              <a:rPr lang="zh-CN" altLang="en-US" sz="2000"/>
              <a:t>班长</a:t>
            </a:r>
            <a:r>
              <a:rPr lang="en-US" altLang="zh-CN" sz="2000"/>
              <a:t>)</a:t>
            </a:r>
            <a:endParaRPr lang="en-US" altLang="zh-CN" sz="2000"/>
          </a:p>
          <a:p>
            <a:pPr>
              <a:lnSpc>
                <a:spcPct val="100000"/>
              </a:lnSpc>
              <a:spcBef>
                <a:spcPts val="200"/>
              </a:spcBef>
              <a:spcAft>
                <a:spcPts val="0"/>
              </a:spcAft>
              <a:buNone/>
            </a:pPr>
            <a:r>
              <a:rPr lang="zh-CN" altLang="en-US" sz="2000"/>
              <a:t>（</a:t>
            </a:r>
            <a:r>
              <a:rPr lang="en-US" altLang="zh-CN" sz="2000"/>
              <a:t>1</a:t>
            </a:r>
            <a:r>
              <a:rPr lang="zh-CN" altLang="en-US" sz="2000"/>
              <a:t>）授予用户</a:t>
            </a:r>
            <a:r>
              <a:rPr lang="en-US" altLang="zh-CN" sz="2000"/>
              <a:t>U1</a:t>
            </a:r>
            <a:r>
              <a:rPr lang="zh-CN" altLang="en-US" sz="2000"/>
              <a:t>对两个表的所有权限，并可给其他用户授权</a:t>
            </a:r>
            <a:endParaRPr lang="zh-CN" altLang="en-US" sz="2000"/>
          </a:p>
          <a:p>
            <a:pPr>
              <a:lnSpc>
                <a:spcPct val="115000"/>
              </a:lnSpc>
              <a:spcBef>
                <a:spcPts val="200"/>
              </a:spcBef>
              <a:spcAft>
                <a:spcPts val="0"/>
              </a:spcAft>
              <a:buNone/>
            </a:pPr>
            <a:endParaRPr lang="zh-CN" altLang="en-US" sz="2000"/>
          </a:p>
          <a:p>
            <a:pPr>
              <a:lnSpc>
                <a:spcPct val="80000"/>
              </a:lnSpc>
              <a:spcBef>
                <a:spcPts val="0"/>
              </a:spcBef>
              <a:spcAft>
                <a:spcPts val="0"/>
              </a:spcAft>
              <a:buNone/>
            </a:pPr>
            <a:endParaRPr lang="zh-CN" altLang="en-US" sz="2000"/>
          </a:p>
          <a:p>
            <a:pPr>
              <a:lnSpc>
                <a:spcPct val="115000"/>
              </a:lnSpc>
              <a:spcBef>
                <a:spcPts val="200"/>
              </a:spcBef>
              <a:spcAft>
                <a:spcPts val="0"/>
              </a:spcAft>
              <a:buNone/>
            </a:pPr>
            <a:r>
              <a:rPr lang="zh-CN" altLang="en-US" sz="2000"/>
              <a:t>（</a:t>
            </a:r>
            <a:r>
              <a:rPr lang="en-US" altLang="zh-CN" sz="2000"/>
              <a:t>2</a:t>
            </a:r>
            <a:r>
              <a:rPr lang="zh-CN" altLang="en-US" sz="2000"/>
              <a:t>）授予用户</a:t>
            </a:r>
            <a:r>
              <a:rPr lang="en-US" altLang="zh-CN" sz="2000"/>
              <a:t>U2</a:t>
            </a:r>
            <a:r>
              <a:rPr lang="zh-CN" altLang="en-US" sz="2000"/>
              <a:t>对学生表具有查看权限，对家庭住址具有更新权限</a:t>
            </a:r>
            <a:endParaRPr lang="zh-CN" altLang="en-US" sz="2000"/>
          </a:p>
          <a:p>
            <a:pPr>
              <a:lnSpc>
                <a:spcPct val="115000"/>
              </a:lnSpc>
              <a:spcBef>
                <a:spcPts val="200"/>
              </a:spcBef>
              <a:spcAft>
                <a:spcPts val="0"/>
              </a:spcAft>
              <a:buNone/>
            </a:pPr>
            <a:endParaRPr lang="zh-CN" altLang="en-US" sz="2000"/>
          </a:p>
          <a:p>
            <a:pPr>
              <a:lnSpc>
                <a:spcPct val="115000"/>
              </a:lnSpc>
              <a:spcBef>
                <a:spcPts val="200"/>
              </a:spcBef>
              <a:spcAft>
                <a:spcPts val="0"/>
              </a:spcAft>
              <a:buNone/>
            </a:pPr>
            <a:r>
              <a:rPr lang="zh-CN" altLang="en-US" sz="2000"/>
              <a:t>（</a:t>
            </a:r>
            <a:r>
              <a:rPr lang="en-US" altLang="zh-CN" sz="2000"/>
              <a:t>3</a:t>
            </a:r>
            <a:r>
              <a:rPr lang="zh-CN" altLang="en-US" sz="2000"/>
              <a:t>）将对班级表查看的权限授予所有用户</a:t>
            </a:r>
            <a:endParaRPr lang="zh-CN" altLang="en-US" sz="2000"/>
          </a:p>
          <a:p>
            <a:pPr>
              <a:lnSpc>
                <a:spcPct val="115000"/>
              </a:lnSpc>
              <a:spcBef>
                <a:spcPts val="200"/>
              </a:spcBef>
              <a:spcAft>
                <a:spcPts val="0"/>
              </a:spcAft>
              <a:buNone/>
            </a:pPr>
            <a:endParaRPr lang="zh-CN" altLang="en-US" sz="2000"/>
          </a:p>
          <a:p>
            <a:pPr>
              <a:lnSpc>
                <a:spcPct val="115000"/>
              </a:lnSpc>
              <a:spcBef>
                <a:spcPts val="200"/>
              </a:spcBef>
              <a:spcAft>
                <a:spcPts val="0"/>
              </a:spcAft>
              <a:buNone/>
            </a:pPr>
            <a:r>
              <a:rPr lang="zh-CN" altLang="en-US" sz="2000"/>
              <a:t>（</a:t>
            </a:r>
            <a:r>
              <a:rPr lang="en-US" altLang="zh-CN" sz="2000"/>
              <a:t>4</a:t>
            </a:r>
            <a:r>
              <a:rPr lang="zh-CN" altLang="en-US" sz="2000"/>
              <a:t>）将对学生表的查询、更新权限授予角色</a:t>
            </a:r>
            <a:r>
              <a:rPr lang="en-US" altLang="zh-CN" sz="2000"/>
              <a:t>R1</a:t>
            </a:r>
            <a:endParaRPr lang="en-US" altLang="zh-CN" sz="2000"/>
          </a:p>
          <a:p>
            <a:pPr>
              <a:lnSpc>
                <a:spcPct val="115000"/>
              </a:lnSpc>
              <a:spcBef>
                <a:spcPts val="200"/>
              </a:spcBef>
              <a:spcAft>
                <a:spcPts val="0"/>
              </a:spcAft>
              <a:buNone/>
            </a:pPr>
            <a:endParaRPr lang="en-US" altLang="zh-CN" sz="2000"/>
          </a:p>
          <a:p>
            <a:pPr>
              <a:lnSpc>
                <a:spcPct val="115000"/>
              </a:lnSpc>
              <a:spcBef>
                <a:spcPts val="200"/>
              </a:spcBef>
              <a:spcAft>
                <a:spcPts val="0"/>
              </a:spcAft>
              <a:buNone/>
            </a:pPr>
            <a:r>
              <a:rPr lang="zh-CN" altLang="en-US" sz="2000"/>
              <a:t>（</a:t>
            </a:r>
            <a:r>
              <a:rPr lang="en-US" altLang="zh-CN" sz="2000"/>
              <a:t>5</a:t>
            </a:r>
            <a:r>
              <a:rPr lang="zh-CN" altLang="en-US" sz="2000"/>
              <a:t>）将角色</a:t>
            </a:r>
            <a:r>
              <a:rPr lang="en-US" altLang="zh-CN" sz="2000"/>
              <a:t>R1</a:t>
            </a:r>
            <a:r>
              <a:rPr lang="zh-CN" altLang="en-US" sz="2000"/>
              <a:t>授予用户</a:t>
            </a:r>
            <a:r>
              <a:rPr lang="en-US" altLang="zh-CN" sz="2000"/>
              <a:t>U1</a:t>
            </a:r>
            <a:r>
              <a:rPr lang="zh-CN" altLang="en-US" sz="2000"/>
              <a:t>，并且</a:t>
            </a:r>
            <a:r>
              <a:rPr lang="en-US" altLang="zh-CN" sz="2000"/>
              <a:t>U1</a:t>
            </a:r>
            <a:r>
              <a:rPr lang="zh-CN" altLang="en-US" sz="2000"/>
              <a:t>可继续授权给其他角色。</a:t>
            </a:r>
            <a:endParaRPr lang="zh-CN" altLang="en-US" sz="2000"/>
          </a:p>
          <a:p>
            <a:pPr>
              <a:lnSpc>
                <a:spcPct val="100000"/>
              </a:lnSpc>
              <a:buNone/>
            </a:pPr>
            <a:endParaRPr lang="zh-CN" altLang="en-US" sz="2000"/>
          </a:p>
        </p:txBody>
      </p:sp>
      <p:sp>
        <p:nvSpPr>
          <p:cNvPr id="10" name="文本框 9"/>
          <p:cNvSpPr txBox="1"/>
          <p:nvPr/>
        </p:nvSpPr>
        <p:spPr>
          <a:xfrm>
            <a:off x="784860" y="2571115"/>
            <a:ext cx="6595110" cy="706755"/>
          </a:xfrm>
          <a:prstGeom prst="rect">
            <a:avLst/>
          </a:prstGeom>
          <a:noFill/>
        </p:spPr>
        <p:txBody>
          <a:bodyPr wrap="square" rtlCol="0" anchor="t">
            <a:spAutoFit/>
          </a:bodyPr>
          <a:lstStyle/>
          <a:p>
            <a:pPr algn="l">
              <a:lnSpc>
                <a:spcPct val="100000"/>
              </a:lnSpc>
              <a:buNone/>
            </a:pPr>
            <a:r>
              <a:rPr lang="en-US" altLang="zh-CN" sz="2000" kern="0" noProof="0" dirty="0">
                <a:ln>
                  <a:noFill/>
                </a:ln>
                <a:solidFill>
                  <a:srgbClr val="CC00FF"/>
                </a:solidFill>
                <a:effectLst/>
                <a:uLnTx/>
                <a:uFillTx/>
                <a:latin typeface="+mj-lt"/>
                <a:ea typeface="+mn-ea"/>
                <a:cs typeface="+mj-lt"/>
                <a:sym typeface="+mn-ea"/>
              </a:rPr>
              <a:t>GRANT ALL PRIVILIGES  ON TABLE </a:t>
            </a:r>
            <a:r>
              <a:rPr lang="zh-CN" altLang="en-US" sz="2000" kern="0" noProof="0" dirty="0">
                <a:ln>
                  <a:noFill/>
                </a:ln>
                <a:solidFill>
                  <a:srgbClr val="CC00FF"/>
                </a:solidFill>
                <a:effectLst/>
                <a:uLnTx/>
                <a:uFillTx/>
                <a:latin typeface="+mj-lt"/>
                <a:ea typeface="+mn-ea"/>
                <a:cs typeface="+mj-lt"/>
                <a:sym typeface="+mn-ea"/>
              </a:rPr>
              <a:t>学生</a:t>
            </a:r>
            <a:r>
              <a:rPr lang="en-US" altLang="zh-CN" sz="2000" kern="0" noProof="0" dirty="0">
                <a:ln>
                  <a:noFill/>
                </a:ln>
                <a:solidFill>
                  <a:srgbClr val="CC00FF"/>
                </a:solidFill>
                <a:effectLst/>
                <a:uLnTx/>
                <a:uFillTx/>
                <a:latin typeface="+mj-lt"/>
                <a:ea typeface="+mn-ea"/>
                <a:cs typeface="+mj-lt"/>
                <a:sym typeface="+mn-ea"/>
              </a:rPr>
              <a:t>,</a:t>
            </a:r>
            <a:r>
              <a:rPr lang="zh-CN" altLang="en-US" sz="2000" kern="0" noProof="0" dirty="0">
                <a:ln>
                  <a:noFill/>
                </a:ln>
                <a:solidFill>
                  <a:srgbClr val="CC00FF"/>
                </a:solidFill>
                <a:effectLst/>
                <a:uLnTx/>
                <a:uFillTx/>
                <a:latin typeface="+mj-lt"/>
                <a:ea typeface="+mn-ea"/>
                <a:cs typeface="+mj-lt"/>
                <a:sym typeface="+mn-ea"/>
              </a:rPr>
              <a:t>班级</a:t>
            </a:r>
            <a:r>
              <a:rPr lang="en-US" altLang="zh-CN" sz="2000" kern="0" noProof="0" dirty="0">
                <a:ln>
                  <a:noFill/>
                </a:ln>
                <a:solidFill>
                  <a:srgbClr val="CC00FF"/>
                </a:solidFill>
                <a:effectLst/>
                <a:uLnTx/>
                <a:uFillTx/>
                <a:latin typeface="+mj-lt"/>
                <a:ea typeface="+mn-ea"/>
                <a:cs typeface="+mj-lt"/>
                <a:sym typeface="+mn-ea"/>
              </a:rPr>
              <a:t> To U1 WITH GRANT OPTION</a:t>
            </a:r>
            <a:endParaRPr lang="en-US" altLang="zh-CN" sz="2000" kern="0" noProof="0" dirty="0">
              <a:ln>
                <a:noFill/>
              </a:ln>
              <a:solidFill>
                <a:srgbClr val="CC00FF"/>
              </a:solidFill>
              <a:effectLst/>
              <a:uLnTx/>
              <a:uFillTx/>
              <a:latin typeface="+mj-lt"/>
              <a:ea typeface="+mn-ea"/>
              <a:cs typeface="+mj-lt"/>
              <a:sym typeface="+mn-ea"/>
            </a:endParaRPr>
          </a:p>
        </p:txBody>
      </p:sp>
      <p:sp>
        <p:nvSpPr>
          <p:cNvPr id="3" name="文本框 2"/>
          <p:cNvSpPr txBox="1"/>
          <p:nvPr/>
        </p:nvSpPr>
        <p:spPr>
          <a:xfrm>
            <a:off x="784860" y="3561715"/>
            <a:ext cx="7720965" cy="398780"/>
          </a:xfrm>
          <a:prstGeom prst="rect">
            <a:avLst/>
          </a:prstGeom>
          <a:noFill/>
        </p:spPr>
        <p:txBody>
          <a:bodyPr wrap="square" rtlCol="0" anchor="t">
            <a:spAutoFit/>
          </a:bodyPr>
          <a:lstStyle/>
          <a:p>
            <a:pPr algn="l">
              <a:lnSpc>
                <a:spcPct val="100000"/>
              </a:lnSpc>
              <a:buNone/>
            </a:pPr>
            <a:r>
              <a:rPr lang="en-US" altLang="zh-CN" sz="2000" kern="0" noProof="0" dirty="0">
                <a:ln>
                  <a:noFill/>
                </a:ln>
                <a:solidFill>
                  <a:srgbClr val="CC00FF"/>
                </a:solidFill>
                <a:effectLst/>
                <a:uLnTx/>
                <a:uFillTx/>
                <a:latin typeface="+mj-lt"/>
                <a:ea typeface="+mn-ea"/>
                <a:cs typeface="+mj-lt"/>
                <a:sym typeface="+mn-ea"/>
              </a:rPr>
              <a:t>GRANT SELECT,UPDATE(</a:t>
            </a:r>
            <a:r>
              <a:rPr lang="zh-CN" altLang="en-US" sz="2000" kern="0" noProof="0" dirty="0">
                <a:ln>
                  <a:noFill/>
                </a:ln>
                <a:solidFill>
                  <a:srgbClr val="CC00FF"/>
                </a:solidFill>
                <a:effectLst/>
                <a:uLnTx/>
                <a:uFillTx/>
                <a:latin typeface="+mj-lt"/>
                <a:ea typeface="+mn-ea"/>
                <a:cs typeface="+mj-lt"/>
                <a:sym typeface="+mn-ea"/>
              </a:rPr>
              <a:t>家庭住址</a:t>
            </a:r>
            <a:r>
              <a:rPr lang="en-US" altLang="zh-CN" sz="2000" kern="0" noProof="0" dirty="0">
                <a:ln>
                  <a:noFill/>
                </a:ln>
                <a:solidFill>
                  <a:srgbClr val="CC00FF"/>
                </a:solidFill>
                <a:effectLst/>
                <a:uLnTx/>
                <a:uFillTx/>
                <a:latin typeface="+mj-lt"/>
                <a:ea typeface="+mn-ea"/>
                <a:cs typeface="+mj-lt"/>
                <a:sym typeface="+mn-ea"/>
              </a:rPr>
              <a:t>)  ON TABLE </a:t>
            </a:r>
            <a:r>
              <a:rPr lang="zh-CN" altLang="en-US" sz="2000" kern="0" noProof="0" dirty="0">
                <a:ln>
                  <a:noFill/>
                </a:ln>
                <a:solidFill>
                  <a:srgbClr val="CC00FF"/>
                </a:solidFill>
                <a:effectLst/>
                <a:uLnTx/>
                <a:uFillTx/>
                <a:latin typeface="+mj-lt"/>
                <a:ea typeface="+mn-ea"/>
                <a:cs typeface="+mj-lt"/>
                <a:sym typeface="+mn-ea"/>
              </a:rPr>
              <a:t>学生 </a:t>
            </a:r>
            <a:r>
              <a:rPr lang="en-US" altLang="zh-CN" sz="2000" kern="0" noProof="0" dirty="0">
                <a:ln>
                  <a:noFill/>
                </a:ln>
                <a:solidFill>
                  <a:srgbClr val="CC00FF"/>
                </a:solidFill>
                <a:effectLst/>
                <a:uLnTx/>
                <a:uFillTx/>
                <a:latin typeface="+mj-lt"/>
                <a:ea typeface="+mn-ea"/>
                <a:cs typeface="+mj-lt"/>
                <a:sym typeface="+mn-ea"/>
              </a:rPr>
              <a:t>TO U2</a:t>
            </a:r>
            <a:endParaRPr lang="en-US" altLang="zh-CN" sz="2000" kern="0" noProof="0" dirty="0">
              <a:ln>
                <a:noFill/>
              </a:ln>
              <a:solidFill>
                <a:srgbClr val="CC00FF"/>
              </a:solidFill>
              <a:effectLst/>
              <a:uLnTx/>
              <a:uFillTx/>
              <a:latin typeface="+mj-lt"/>
              <a:ea typeface="+mn-ea"/>
              <a:cs typeface="+mj-lt"/>
              <a:sym typeface="+mn-ea"/>
            </a:endParaRPr>
          </a:p>
        </p:txBody>
      </p:sp>
      <p:sp>
        <p:nvSpPr>
          <p:cNvPr id="4" name="文本框 3"/>
          <p:cNvSpPr txBox="1"/>
          <p:nvPr/>
        </p:nvSpPr>
        <p:spPr>
          <a:xfrm>
            <a:off x="784860" y="4333240"/>
            <a:ext cx="7720965" cy="398780"/>
          </a:xfrm>
          <a:prstGeom prst="rect">
            <a:avLst/>
          </a:prstGeom>
          <a:noFill/>
        </p:spPr>
        <p:txBody>
          <a:bodyPr wrap="square" rtlCol="0" anchor="t">
            <a:spAutoFit/>
          </a:bodyPr>
          <a:lstStyle/>
          <a:p>
            <a:pPr algn="l">
              <a:lnSpc>
                <a:spcPct val="100000"/>
              </a:lnSpc>
              <a:buNone/>
            </a:pPr>
            <a:r>
              <a:rPr lang="en-US" altLang="zh-CN" sz="2000" kern="0" noProof="0" dirty="0">
                <a:ln>
                  <a:noFill/>
                </a:ln>
                <a:solidFill>
                  <a:srgbClr val="CC00FF"/>
                </a:solidFill>
                <a:effectLst/>
                <a:uLnTx/>
                <a:uFillTx/>
                <a:latin typeface="+mj-lt"/>
                <a:ea typeface="+mn-ea"/>
                <a:cs typeface="+mj-lt"/>
                <a:sym typeface="+mn-ea"/>
              </a:rPr>
              <a:t>GRANT SELECT  ON TABLE </a:t>
            </a:r>
            <a:r>
              <a:rPr lang="zh-CN" altLang="en-US" sz="2000" kern="0" noProof="0" dirty="0">
                <a:ln>
                  <a:noFill/>
                </a:ln>
                <a:solidFill>
                  <a:srgbClr val="CC00FF"/>
                </a:solidFill>
                <a:effectLst/>
                <a:uLnTx/>
                <a:uFillTx/>
                <a:latin typeface="+mj-lt"/>
                <a:ea typeface="+mn-ea"/>
                <a:cs typeface="+mj-lt"/>
                <a:sym typeface="+mn-ea"/>
              </a:rPr>
              <a:t>班级 </a:t>
            </a:r>
            <a:r>
              <a:rPr lang="en-US" altLang="zh-CN" sz="2000" kern="0" noProof="0" dirty="0">
                <a:ln>
                  <a:noFill/>
                </a:ln>
                <a:solidFill>
                  <a:srgbClr val="CC00FF"/>
                </a:solidFill>
                <a:effectLst/>
                <a:uLnTx/>
                <a:uFillTx/>
                <a:latin typeface="+mj-lt"/>
                <a:ea typeface="+mn-ea"/>
                <a:cs typeface="+mj-lt"/>
                <a:sym typeface="+mn-ea"/>
              </a:rPr>
              <a:t>TO PUBLIC</a:t>
            </a:r>
            <a:endParaRPr lang="en-US" altLang="zh-CN" sz="2000" kern="0" noProof="0" dirty="0">
              <a:ln>
                <a:noFill/>
              </a:ln>
              <a:solidFill>
                <a:srgbClr val="CC00FF"/>
              </a:solidFill>
              <a:effectLst/>
              <a:uLnTx/>
              <a:uFillTx/>
              <a:latin typeface="+mj-lt"/>
              <a:ea typeface="+mn-ea"/>
              <a:cs typeface="+mj-lt"/>
              <a:sym typeface="+mn-ea"/>
            </a:endParaRPr>
          </a:p>
        </p:txBody>
      </p:sp>
      <p:sp>
        <p:nvSpPr>
          <p:cNvPr id="6" name="文本框 5"/>
          <p:cNvSpPr txBox="1"/>
          <p:nvPr/>
        </p:nvSpPr>
        <p:spPr>
          <a:xfrm>
            <a:off x="784860" y="5115560"/>
            <a:ext cx="7720965" cy="398780"/>
          </a:xfrm>
          <a:prstGeom prst="rect">
            <a:avLst/>
          </a:prstGeom>
          <a:noFill/>
        </p:spPr>
        <p:txBody>
          <a:bodyPr wrap="square" rtlCol="0" anchor="t">
            <a:spAutoFit/>
          </a:bodyPr>
          <a:lstStyle/>
          <a:p>
            <a:pPr algn="l">
              <a:lnSpc>
                <a:spcPct val="100000"/>
              </a:lnSpc>
              <a:buNone/>
            </a:pPr>
            <a:r>
              <a:rPr lang="en-US" altLang="zh-CN" sz="2000" kern="0" noProof="0" dirty="0">
                <a:ln>
                  <a:noFill/>
                </a:ln>
                <a:solidFill>
                  <a:srgbClr val="CC00FF"/>
                </a:solidFill>
                <a:effectLst/>
                <a:uLnTx/>
                <a:uFillTx/>
                <a:latin typeface="+mj-lt"/>
                <a:ea typeface="+mn-ea"/>
                <a:cs typeface="+mj-lt"/>
                <a:sym typeface="+mn-ea"/>
              </a:rPr>
              <a:t>GRANT SELECT,UPDATE  ON TABLE </a:t>
            </a:r>
            <a:r>
              <a:rPr lang="zh-CN" altLang="en-US" sz="2000" kern="0" noProof="0" dirty="0">
                <a:ln>
                  <a:noFill/>
                </a:ln>
                <a:solidFill>
                  <a:srgbClr val="CC00FF"/>
                </a:solidFill>
                <a:effectLst/>
                <a:uLnTx/>
                <a:uFillTx/>
                <a:latin typeface="+mj-lt"/>
                <a:ea typeface="+mn-ea"/>
                <a:cs typeface="+mj-lt"/>
                <a:sym typeface="+mn-ea"/>
              </a:rPr>
              <a:t>学生 </a:t>
            </a:r>
            <a:r>
              <a:rPr lang="en-US" altLang="zh-CN" sz="2000" kern="0" noProof="0" dirty="0" smtClean="0">
                <a:ln>
                  <a:noFill/>
                </a:ln>
                <a:solidFill>
                  <a:srgbClr val="CC00FF"/>
                </a:solidFill>
                <a:effectLst/>
                <a:uLnTx/>
                <a:uFillTx/>
                <a:latin typeface="+mj-lt"/>
                <a:ea typeface="+mn-ea"/>
                <a:cs typeface="+mj-lt"/>
                <a:sym typeface="+mn-ea"/>
              </a:rPr>
              <a:t>TO  R1 </a:t>
            </a:r>
            <a:endParaRPr lang="en-US" altLang="zh-CN" sz="2000" kern="0" noProof="0" dirty="0">
              <a:ln>
                <a:noFill/>
              </a:ln>
              <a:solidFill>
                <a:srgbClr val="CC00FF"/>
              </a:solidFill>
              <a:effectLst/>
              <a:uLnTx/>
              <a:uFillTx/>
              <a:latin typeface="+mj-lt"/>
              <a:ea typeface="+mn-ea"/>
              <a:cs typeface="+mj-lt"/>
              <a:sym typeface="+mn-ea"/>
            </a:endParaRPr>
          </a:p>
        </p:txBody>
      </p:sp>
      <p:sp>
        <p:nvSpPr>
          <p:cNvPr id="7" name="文本框 6"/>
          <p:cNvSpPr txBox="1"/>
          <p:nvPr/>
        </p:nvSpPr>
        <p:spPr>
          <a:xfrm>
            <a:off x="784860" y="5866130"/>
            <a:ext cx="7514590" cy="464820"/>
          </a:xfrm>
          <a:prstGeom prst="rect">
            <a:avLst/>
          </a:prstGeom>
          <a:noFill/>
        </p:spPr>
        <p:txBody>
          <a:bodyPr wrap="square" rtlCol="0" anchor="t">
            <a:spAutoFit/>
          </a:bodyPr>
          <a:lstStyle/>
          <a:p>
            <a:pPr algn="l">
              <a:lnSpc>
                <a:spcPct val="100000"/>
              </a:lnSpc>
              <a:buClrTx/>
              <a:buSzTx/>
              <a:buNone/>
            </a:pPr>
            <a:r>
              <a:rPr lang="en-US" altLang="zh-CN" sz="2000" kern="0" noProof="0" dirty="0">
                <a:ln>
                  <a:noFill/>
                </a:ln>
                <a:solidFill>
                  <a:srgbClr val="CC00FF"/>
                </a:solidFill>
                <a:effectLst/>
                <a:uLnTx/>
                <a:uFillTx/>
                <a:latin typeface="+mj-lt"/>
                <a:ea typeface="+mn-ea"/>
                <a:cs typeface="+mj-lt"/>
              </a:rPr>
              <a:t>GRANT R1 TO U1 WITH ADMIN OPTION</a:t>
            </a:r>
            <a:endParaRPr lang="en-US" altLang="zh-CN" sz="2000" kern="0" noProof="0" dirty="0">
              <a:ln>
                <a:noFill/>
              </a:ln>
              <a:solidFill>
                <a:srgbClr val="CC00FF"/>
              </a:solidFill>
              <a:effectLst/>
              <a:uLnTx/>
              <a:uFillTx/>
              <a:latin typeface="+mj-lt"/>
              <a:ea typeface="+mn-ea"/>
              <a:cs typeface="+mj-lt"/>
            </a:endParaRPr>
          </a:p>
        </p:txBody>
      </p:sp>
      <p:sp>
        <p:nvSpPr>
          <p:cNvPr id="45" name="文本框 44"/>
          <p:cNvSpPr txBox="1"/>
          <p:nvPr/>
        </p:nvSpPr>
        <p:spPr>
          <a:xfrm>
            <a:off x="444818" y="551815"/>
            <a:ext cx="2681605" cy="829945"/>
          </a:xfrm>
          <a:prstGeom prst="rect">
            <a:avLst/>
          </a:prstGeom>
          <a:noFill/>
        </p:spPr>
        <p:txBody>
          <a:bodyPr wrap="none" rtlCol="0" anchor="t">
            <a:spAutoFit/>
          </a:bodyPr>
          <a:lstStyle/>
          <a:p>
            <a:pPr marL="457200" indent="-457200" algn="just">
              <a:lnSpc>
                <a:spcPct val="150000"/>
              </a:lnSpc>
              <a:spcAft>
                <a:spcPts val="0"/>
              </a:spcAft>
              <a:buFont typeface="Wingdings" panose="05000000000000000000" pitchFamily="2" charset="2"/>
              <a:buChar char="p"/>
            </a:pPr>
            <a:r>
              <a:rPr lang="zh-CN" altLang="zh-CN" sz="3200" kern="100" dirty="0" smtClean="0">
                <a:solidFill>
                  <a:srgbClr val="FF0000"/>
                </a:solidFill>
                <a:latin typeface="Calibri" panose="020F0502020204030204" pitchFamily="34" charset="0"/>
                <a:cs typeface="Times New Roman" panose="02020603050405020304" pitchFamily="2" charset="0"/>
                <a:sym typeface="+mn-ea"/>
              </a:rPr>
              <a:t>问题研讨：</a:t>
            </a:r>
            <a:endParaRPr lang="zh-CN" altLang="en-US" sz="3200"/>
          </a:p>
        </p:txBody>
      </p:sp>
      <p:sp>
        <p:nvSpPr>
          <p:cNvPr id="9" name="Rectangle 2"/>
          <p:cNvSpPr/>
          <p:nvPr/>
        </p:nvSpPr>
        <p:spPr>
          <a:xfrm>
            <a:off x="457200" y="68263"/>
            <a:ext cx="8229600" cy="692150"/>
          </a:xfrm>
          <a:prstGeom prst="rect">
            <a:avLst/>
          </a:prstGeom>
          <a:noFill/>
          <a:ln w="9525">
            <a:noFill/>
          </a:ln>
        </p:spPr>
        <p:txBody>
          <a:bodyPr anchor="ctr"/>
          <a:lstStyle/>
          <a:p>
            <a:pPr lvl="0" eaLnBrk="1" hangingPunct="1"/>
            <a:r>
              <a:rPr lang="zh-CN" altLang="en-US" sz="3200" dirty="0">
                <a:solidFill>
                  <a:srgbClr val="FF0000"/>
                </a:solidFill>
                <a:latin typeface="Arial" panose="020B0604020202020204" pitchFamily="34" charset="0"/>
                <a:ea typeface="黑体" panose="02010609060101010101" pitchFamily="1" charset="-122"/>
              </a:rPr>
              <a:t>二、数据库的安全性</a:t>
            </a:r>
            <a:endParaRPr lang="en-US" altLang="zh-CN"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3" grpId="0"/>
      <p:bldP spid="4" grpId="0"/>
      <p:bldP spid="6"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40080" y="1396910"/>
            <a:ext cx="8065770" cy="1584280"/>
          </a:xfrm>
          <a:prstGeom prst="rect">
            <a:avLst/>
          </a:prstGeom>
          <a:noFill/>
        </p:spPr>
        <p:txBody>
          <a:bodyPr wrap="square" rtlCol="0" anchor="t">
            <a:spAutoFit/>
          </a:bodyPr>
          <a:lstStyle/>
          <a:p>
            <a:pPr>
              <a:lnSpc>
                <a:spcPct val="120000"/>
              </a:lnSpc>
              <a:spcBef>
                <a:spcPts val="200"/>
              </a:spcBef>
              <a:spcAft>
                <a:spcPts val="0"/>
              </a:spcAft>
              <a:buNone/>
            </a:pPr>
            <a:r>
              <a:rPr lang="en-US" altLang="zh-CN" sz="2000" dirty="0">
                <a:sym typeface="+mn-ea"/>
              </a:rPr>
              <a:t>6</a:t>
            </a:r>
            <a:r>
              <a:rPr lang="zh-CN" altLang="en-US" sz="2000" dirty="0">
                <a:sym typeface="+mn-ea"/>
              </a:rPr>
              <a:t>、用</a:t>
            </a:r>
            <a:r>
              <a:rPr lang="en-US" altLang="zh-CN" sz="2000" dirty="0">
                <a:sym typeface="+mn-ea"/>
              </a:rPr>
              <a:t>DCL</a:t>
            </a:r>
            <a:r>
              <a:rPr lang="zh-CN" altLang="en-US" sz="2000" dirty="0">
                <a:sym typeface="+mn-ea"/>
              </a:rPr>
              <a:t>完成如下权限设置：</a:t>
            </a:r>
            <a:endParaRPr lang="zh-CN" altLang="en-US" sz="2000" dirty="0">
              <a:sym typeface="+mn-ea"/>
            </a:endParaRPr>
          </a:p>
          <a:p>
            <a:pPr>
              <a:lnSpc>
                <a:spcPct val="120000"/>
              </a:lnSpc>
              <a:spcBef>
                <a:spcPts val="200"/>
              </a:spcBef>
              <a:spcAft>
                <a:spcPts val="0"/>
              </a:spcAft>
              <a:buNone/>
            </a:pPr>
            <a:r>
              <a:rPr lang="zh-CN" altLang="en-US" sz="2000" dirty="0">
                <a:sym typeface="+mn-ea"/>
              </a:rPr>
              <a:t>职工</a:t>
            </a:r>
            <a:r>
              <a:rPr lang="en-US" altLang="zh-CN" sz="2000" dirty="0">
                <a:sym typeface="+mn-ea"/>
              </a:rPr>
              <a:t>(</a:t>
            </a:r>
            <a:r>
              <a:rPr lang="zh-CN" altLang="en-US" sz="2000" dirty="0">
                <a:sym typeface="+mn-ea"/>
              </a:rPr>
              <a:t>职工号</a:t>
            </a:r>
            <a:r>
              <a:rPr lang="en-US" altLang="zh-CN" sz="2000" dirty="0">
                <a:sym typeface="+mn-ea"/>
              </a:rPr>
              <a:t>,</a:t>
            </a:r>
            <a:r>
              <a:rPr lang="zh-CN" altLang="en-US" sz="2000" dirty="0">
                <a:sym typeface="+mn-ea"/>
              </a:rPr>
              <a:t>姓名</a:t>
            </a:r>
            <a:r>
              <a:rPr lang="en-US" altLang="zh-CN" sz="2000" dirty="0">
                <a:sym typeface="+mn-ea"/>
              </a:rPr>
              <a:t>,</a:t>
            </a:r>
            <a:r>
              <a:rPr lang="zh-CN" altLang="en-US" sz="2000" dirty="0">
                <a:sym typeface="+mn-ea"/>
              </a:rPr>
              <a:t>年龄</a:t>
            </a:r>
            <a:r>
              <a:rPr lang="en-US" altLang="zh-CN" sz="2000" dirty="0">
                <a:sym typeface="+mn-ea"/>
              </a:rPr>
              <a:t>,</a:t>
            </a:r>
            <a:r>
              <a:rPr lang="zh-CN" altLang="en-US" sz="2000" dirty="0">
                <a:sym typeface="+mn-ea"/>
              </a:rPr>
              <a:t>职务</a:t>
            </a:r>
            <a:r>
              <a:rPr lang="en-US" altLang="zh-CN" sz="2000" dirty="0">
                <a:sym typeface="+mn-ea"/>
              </a:rPr>
              <a:t>,</a:t>
            </a:r>
            <a:r>
              <a:rPr lang="zh-CN" altLang="en-US" sz="2000" dirty="0">
                <a:sym typeface="+mn-ea"/>
              </a:rPr>
              <a:t>工资</a:t>
            </a:r>
            <a:r>
              <a:rPr lang="en-US" altLang="zh-CN" sz="2000" dirty="0">
                <a:sym typeface="+mn-ea"/>
              </a:rPr>
              <a:t>,</a:t>
            </a:r>
            <a:r>
              <a:rPr lang="zh-CN" altLang="en-US" sz="2000" dirty="0">
                <a:sym typeface="+mn-ea"/>
              </a:rPr>
              <a:t>部门名</a:t>
            </a:r>
            <a:r>
              <a:rPr lang="en-US" altLang="zh-CN" sz="2000" dirty="0">
                <a:sym typeface="+mn-ea"/>
              </a:rPr>
              <a:t>)</a:t>
            </a:r>
            <a:r>
              <a:rPr lang="zh-CN" altLang="en-US" sz="2000" dirty="0">
                <a:sym typeface="+mn-ea"/>
              </a:rPr>
              <a:t>，</a:t>
            </a:r>
            <a:endParaRPr lang="zh-CN" altLang="en-US" sz="2000" dirty="0">
              <a:sym typeface="+mn-ea"/>
            </a:endParaRPr>
          </a:p>
          <a:p>
            <a:pPr>
              <a:lnSpc>
                <a:spcPct val="120000"/>
              </a:lnSpc>
              <a:spcBef>
                <a:spcPts val="200"/>
              </a:spcBef>
              <a:spcAft>
                <a:spcPts val="0"/>
              </a:spcAft>
              <a:buNone/>
            </a:pPr>
            <a:r>
              <a:rPr lang="zh-CN" altLang="en-US" sz="2000" dirty="0">
                <a:sym typeface="+mn-ea"/>
              </a:rPr>
              <a:t>用户杨兰具有从每个部门职工中查询最高工资、最低工资、平均工资的权限，但她不能查看每个人的具体工资。</a:t>
            </a:r>
            <a:endParaRPr lang="zh-CN" altLang="en-US" sz="2000" dirty="0">
              <a:sym typeface="+mn-ea"/>
            </a:endParaRPr>
          </a:p>
        </p:txBody>
      </p:sp>
      <p:sp>
        <p:nvSpPr>
          <p:cNvPr id="4" name="文本框 3"/>
          <p:cNvSpPr txBox="1"/>
          <p:nvPr/>
        </p:nvSpPr>
        <p:spPr>
          <a:xfrm>
            <a:off x="704532" y="3074125"/>
            <a:ext cx="7734935" cy="2769989"/>
          </a:xfrm>
          <a:prstGeom prst="rect">
            <a:avLst/>
          </a:prstGeom>
          <a:noFill/>
          <a:ln>
            <a:solidFill>
              <a:schemeClr val="accent1"/>
            </a:solidFill>
          </a:ln>
        </p:spPr>
        <p:txBody>
          <a:bodyPr wrap="square" rtlCol="0" anchor="t">
            <a:spAutoFit/>
          </a:bodyPr>
          <a:lstStyle/>
          <a:p>
            <a:pPr>
              <a:lnSpc>
                <a:spcPct val="120000"/>
              </a:lnSpc>
              <a:buNone/>
            </a:pPr>
            <a:r>
              <a:rPr lang="zh-CN" altLang="en-US" sz="2000" dirty="0">
                <a:solidFill>
                  <a:srgbClr val="0033CC"/>
                </a:solidFill>
              </a:rPr>
              <a:t>（</a:t>
            </a:r>
            <a:r>
              <a:rPr lang="en-US" altLang="zh-CN" sz="2000" dirty="0">
                <a:solidFill>
                  <a:srgbClr val="0033CC"/>
                </a:solidFill>
              </a:rPr>
              <a:t>1</a:t>
            </a:r>
            <a:r>
              <a:rPr lang="zh-CN" altLang="en-US" sz="2000" dirty="0">
                <a:solidFill>
                  <a:srgbClr val="0033CC"/>
                </a:solidFill>
              </a:rPr>
              <a:t>）创建视图</a:t>
            </a:r>
            <a:endParaRPr lang="zh-CN" altLang="en-US" sz="2000" dirty="0">
              <a:solidFill>
                <a:srgbClr val="0033CC"/>
              </a:solidFill>
            </a:endParaRPr>
          </a:p>
          <a:p>
            <a:pPr>
              <a:lnSpc>
                <a:spcPct val="120000"/>
              </a:lnSpc>
              <a:buNone/>
            </a:pPr>
            <a:r>
              <a:rPr lang="zh-CN" altLang="en-US" sz="2000" dirty="0"/>
              <a:t> CREATE VIEW S_Wedges</a:t>
            </a:r>
            <a:endParaRPr lang="zh-CN" altLang="en-US" sz="2000" dirty="0"/>
          </a:p>
          <a:p>
            <a:pPr>
              <a:lnSpc>
                <a:spcPct val="120000"/>
              </a:lnSpc>
              <a:buNone/>
            </a:pPr>
            <a:r>
              <a:rPr lang="zh-CN" altLang="en-US" sz="2000" dirty="0"/>
              <a:t>    AS </a:t>
            </a:r>
            <a:endParaRPr lang="zh-CN" altLang="en-US" sz="2000" dirty="0"/>
          </a:p>
          <a:p>
            <a:pPr>
              <a:lnSpc>
                <a:spcPct val="120000"/>
              </a:lnSpc>
              <a:buNone/>
            </a:pPr>
            <a:r>
              <a:rPr lang="zh-CN" altLang="en-US" sz="2000" dirty="0"/>
              <a:t>   SELECT 部门名,MAX(工资),MIN(工资),AVG(工资)  FROM 职工  </a:t>
            </a:r>
            <a:endParaRPr lang="zh-CN" altLang="en-US" sz="2000" dirty="0"/>
          </a:p>
          <a:p>
            <a:pPr>
              <a:lnSpc>
                <a:spcPct val="120000"/>
              </a:lnSpc>
              <a:buNone/>
            </a:pPr>
            <a:r>
              <a:rPr lang="zh-CN" altLang="en-US" sz="2000" dirty="0"/>
              <a:t>      </a:t>
            </a:r>
            <a:r>
              <a:rPr lang="en-US" altLang="zh-CN" sz="2000" dirty="0"/>
              <a:t>GROUP BY </a:t>
            </a:r>
            <a:r>
              <a:rPr lang="zh-CN" altLang="en-US" sz="2000" dirty="0"/>
              <a:t>部门名</a:t>
            </a:r>
            <a:endParaRPr lang="zh-CN" altLang="en-US" sz="2000" dirty="0"/>
          </a:p>
          <a:p>
            <a:pPr algn="l">
              <a:lnSpc>
                <a:spcPct val="150000"/>
              </a:lnSpc>
              <a:buClrTx/>
              <a:buSzTx/>
              <a:buNone/>
            </a:pPr>
            <a:r>
              <a:rPr lang="zh-CN" altLang="en-US" sz="2000" dirty="0">
                <a:solidFill>
                  <a:srgbClr val="0033CC"/>
                </a:solidFill>
                <a:cs typeface="+mn-ea"/>
              </a:rPr>
              <a:t>（</a:t>
            </a:r>
            <a:r>
              <a:rPr lang="en-US" altLang="zh-CN" sz="2000" dirty="0">
                <a:solidFill>
                  <a:srgbClr val="0033CC"/>
                </a:solidFill>
                <a:cs typeface="+mn-ea"/>
              </a:rPr>
              <a:t>2</a:t>
            </a:r>
            <a:r>
              <a:rPr lang="zh-CN" altLang="en-US" sz="2000" dirty="0">
                <a:solidFill>
                  <a:srgbClr val="0033CC"/>
                </a:solidFill>
                <a:cs typeface="+mn-ea"/>
              </a:rPr>
              <a:t>）通过视图授予SELECT权限</a:t>
            </a:r>
            <a:endParaRPr lang="zh-CN" altLang="en-US" sz="2000" dirty="0">
              <a:solidFill>
                <a:srgbClr val="0033CC"/>
              </a:solidFill>
              <a:cs typeface="+mn-ea"/>
            </a:endParaRPr>
          </a:p>
          <a:p>
            <a:pPr>
              <a:lnSpc>
                <a:spcPct val="120000"/>
              </a:lnSpc>
              <a:buNone/>
            </a:pPr>
            <a:r>
              <a:rPr lang="zh-CN" altLang="en-US" sz="2000" dirty="0"/>
              <a:t> GRANT SELECT   ON S_Wedges  TO 杨兰</a:t>
            </a:r>
            <a:endParaRPr lang="zh-CN" altLang="en-US" sz="2000" dirty="0"/>
          </a:p>
        </p:txBody>
      </p:sp>
      <p:sp>
        <p:nvSpPr>
          <p:cNvPr id="45" name="文本框 44"/>
          <p:cNvSpPr txBox="1"/>
          <p:nvPr/>
        </p:nvSpPr>
        <p:spPr>
          <a:xfrm>
            <a:off x="457200" y="633799"/>
            <a:ext cx="2681605" cy="829945"/>
          </a:xfrm>
          <a:prstGeom prst="rect">
            <a:avLst/>
          </a:prstGeom>
          <a:noFill/>
        </p:spPr>
        <p:txBody>
          <a:bodyPr wrap="none" rtlCol="0" anchor="t">
            <a:spAutoFit/>
          </a:bodyPr>
          <a:lstStyle/>
          <a:p>
            <a:pPr marL="457200" indent="-457200" algn="just">
              <a:lnSpc>
                <a:spcPct val="150000"/>
              </a:lnSpc>
              <a:spcAft>
                <a:spcPts val="0"/>
              </a:spcAft>
              <a:buFont typeface="Wingdings" panose="05000000000000000000" pitchFamily="2" charset="2"/>
              <a:buChar char="p"/>
            </a:pPr>
            <a:r>
              <a:rPr lang="zh-CN" altLang="zh-CN" sz="3200" kern="100" dirty="0" smtClean="0">
                <a:solidFill>
                  <a:srgbClr val="FF0000"/>
                </a:solidFill>
                <a:latin typeface="Calibri" panose="020F0502020204030204" pitchFamily="34" charset="0"/>
                <a:cs typeface="Times New Roman" panose="02020603050405020304" pitchFamily="2" charset="0"/>
                <a:sym typeface="+mn-ea"/>
              </a:rPr>
              <a:t>问题研讨：</a:t>
            </a:r>
            <a:endParaRPr lang="zh-CN" altLang="en-US" sz="3200" dirty="0"/>
          </a:p>
        </p:txBody>
      </p:sp>
      <p:sp>
        <p:nvSpPr>
          <p:cNvPr id="5" name="Rectangle 2"/>
          <p:cNvSpPr/>
          <p:nvPr/>
        </p:nvSpPr>
        <p:spPr>
          <a:xfrm>
            <a:off x="457200" y="68263"/>
            <a:ext cx="8229600" cy="692150"/>
          </a:xfrm>
          <a:prstGeom prst="rect">
            <a:avLst/>
          </a:prstGeom>
          <a:noFill/>
          <a:ln w="9525">
            <a:noFill/>
          </a:ln>
        </p:spPr>
        <p:txBody>
          <a:bodyPr anchor="ctr"/>
          <a:lstStyle/>
          <a:p>
            <a:pPr lvl="0" eaLnBrk="1" hangingPunct="1"/>
            <a:r>
              <a:rPr lang="zh-CN" altLang="en-US" sz="3200" dirty="0">
                <a:solidFill>
                  <a:srgbClr val="FF0000"/>
                </a:solidFill>
                <a:latin typeface="Arial" panose="020B0604020202020204" pitchFamily="34" charset="0"/>
                <a:ea typeface="黑体" panose="02010609060101010101" pitchFamily="1" charset="-122"/>
              </a:rPr>
              <a:t>二、数据库的安全性</a:t>
            </a:r>
            <a:endParaRPr lang="en-US" altLang="zh-CN"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555" name="Object 10"/>
          <p:cNvGraphicFramePr>
            <a:graphicFrameLocks noGrp="1" noChangeAspect="1"/>
          </p:cNvGraphicFramePr>
          <p:nvPr/>
        </p:nvGraphicFramePr>
        <p:xfrm>
          <a:off x="518160" y="1481138"/>
          <a:ext cx="8502650" cy="3348037"/>
        </p:xfrm>
        <a:graphic>
          <a:graphicData uri="http://schemas.openxmlformats.org/presentationml/2006/ole">
            <mc:AlternateContent xmlns:mc="http://schemas.openxmlformats.org/markup-compatibility/2006">
              <mc:Choice xmlns:v="urn:schemas-microsoft-com:vml" Requires="v">
                <p:oleObj spid="_x0000_s3109" name="" r:id="rId1" imgW="4371975" imgH="1924050" progId="Word.Picture.8">
                  <p:embed/>
                </p:oleObj>
              </mc:Choice>
              <mc:Fallback>
                <p:oleObj name="" r:id="rId1" imgW="4371975" imgH="1924050" progId="Word.Picture.8">
                  <p:embed/>
                  <p:pic>
                    <p:nvPicPr>
                      <p:cNvPr id="0" name="图片 3085"/>
                      <p:cNvPicPr/>
                      <p:nvPr/>
                    </p:nvPicPr>
                    <p:blipFill>
                      <a:blip r:embed="rId2"/>
                      <a:stretch>
                        <a:fillRect/>
                      </a:stretch>
                    </p:blipFill>
                    <p:spPr>
                      <a:xfrm>
                        <a:off x="518160" y="1481138"/>
                        <a:ext cx="8502650" cy="3348037"/>
                      </a:xfrm>
                      <a:prstGeom prst="rect">
                        <a:avLst/>
                      </a:prstGeom>
                      <a:noFill/>
                      <a:ln w="38100">
                        <a:noFill/>
                        <a:miter/>
                      </a:ln>
                    </p:spPr>
                  </p:pic>
                </p:oleObj>
              </mc:Fallback>
            </mc:AlternateContent>
          </a:graphicData>
        </a:graphic>
      </p:graphicFrame>
      <p:sp>
        <p:nvSpPr>
          <p:cNvPr id="23556" name="Text Box 3"/>
          <p:cNvSpPr txBox="1"/>
          <p:nvPr/>
        </p:nvSpPr>
        <p:spPr>
          <a:xfrm>
            <a:off x="42863" y="4781550"/>
            <a:ext cx="8347075" cy="396875"/>
          </a:xfrm>
          <a:prstGeom prst="rect">
            <a:avLst/>
          </a:prstGeom>
          <a:noFill/>
          <a:ln w="9525">
            <a:noFill/>
          </a:ln>
        </p:spPr>
        <p:txBody>
          <a:bodyPr anchor="t">
            <a:spAutoFit/>
          </a:bodyPr>
          <a:lstStyle/>
          <a:p>
            <a:pPr lvl="0" indent="0">
              <a:spcBef>
                <a:spcPct val="50000"/>
              </a:spcBef>
            </a:pPr>
            <a:r>
              <a:rPr lang="en-US" altLang="x-none" sz="2000" dirty="0">
                <a:latin typeface="方正姚体" panose="02010601030101010101" pitchFamily="2" charset="-122"/>
                <a:ea typeface="方正姚体" panose="02010601030101010101" pitchFamily="2" charset="-122"/>
              </a:rPr>
              <a:t>        </a:t>
            </a:r>
            <a:endParaRPr lang="zh-CN" altLang="en-US" sz="2000" dirty="0">
              <a:latin typeface="楷体" panose="02010609060101010101" pitchFamily="1" charset="-122"/>
              <a:ea typeface="楷体" panose="02010609060101010101" pitchFamily="1" charset="-122"/>
            </a:endParaRPr>
          </a:p>
        </p:txBody>
      </p:sp>
      <p:sp>
        <p:nvSpPr>
          <p:cNvPr id="23557" name="Text Box 8"/>
          <p:cNvSpPr txBox="1"/>
          <p:nvPr/>
        </p:nvSpPr>
        <p:spPr>
          <a:xfrm>
            <a:off x="434975" y="4829175"/>
            <a:ext cx="8491538" cy="1446213"/>
          </a:xfrm>
          <a:prstGeom prst="rect">
            <a:avLst/>
          </a:prstGeom>
          <a:noFill/>
          <a:ln w="9525">
            <a:noFill/>
          </a:ln>
        </p:spPr>
        <p:txBody>
          <a:bodyPr anchor="t">
            <a:spAutoFit/>
          </a:bodyPr>
          <a:lstStyle/>
          <a:p>
            <a:pPr lvl="0" indent="0">
              <a:spcBef>
                <a:spcPct val="50000"/>
              </a:spcBef>
            </a:pPr>
            <a:r>
              <a:rPr lang="zh-CN" altLang="en-US" sz="2200" dirty="0">
                <a:solidFill>
                  <a:srgbClr val="CC3300"/>
                </a:solidFill>
                <a:latin typeface="楷体" panose="02010609060101010101" pitchFamily="1" charset="-122"/>
                <a:ea typeface="楷体" panose="02010609060101010101" pitchFamily="1" charset="-122"/>
              </a:rPr>
              <a:t>说明：</a:t>
            </a:r>
            <a:r>
              <a:rPr lang="en-US" altLang="x-none" sz="2200" dirty="0">
                <a:solidFill>
                  <a:srgbClr val="CC3300"/>
                </a:solidFill>
                <a:latin typeface="楷体" panose="02010609060101010101" pitchFamily="1" charset="-122"/>
                <a:ea typeface="楷体" panose="02010609060101010101" pitchFamily="1" charset="-122"/>
              </a:rPr>
              <a:t>① </a:t>
            </a: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组”的概念只在</a:t>
            </a:r>
            <a:r>
              <a:rPr lang="en-US" altLang="x-none" sz="2200" dirty="0">
                <a:latin typeface="楷体" panose="02010609060101010101" pitchFamily="1" charset="-122"/>
                <a:ea typeface="楷体" panose="02010609060101010101" pitchFamily="1" charset="-122"/>
              </a:rPr>
              <a:t>7.0</a:t>
            </a:r>
            <a:r>
              <a:rPr lang="zh-CN" altLang="en-US" sz="2200" dirty="0">
                <a:latin typeface="楷体" panose="02010609060101010101" pitchFamily="1" charset="-122"/>
                <a:ea typeface="楷体" panose="02010609060101010101" pitchFamily="1" charset="-122"/>
              </a:rPr>
              <a:t>以前版本有。</a:t>
            </a:r>
            <a:r>
              <a:rPr lang="en-US" altLang="x-none" sz="2200" dirty="0">
                <a:latin typeface="楷体" panose="02010609060101010101" pitchFamily="1" charset="-122"/>
                <a:ea typeface="楷体" panose="02010609060101010101" pitchFamily="1" charset="-122"/>
              </a:rPr>
              <a:t> </a:t>
            </a:r>
            <a:r>
              <a:rPr lang="en-US" altLang="x-none" sz="2200" dirty="0">
                <a:solidFill>
                  <a:srgbClr val="CC3300"/>
                </a:solidFill>
                <a:latin typeface="楷体" panose="02010609060101010101" pitchFamily="1" charset="-122"/>
                <a:ea typeface="楷体" panose="02010609060101010101" pitchFamily="1" charset="-122"/>
              </a:rPr>
              <a:t>② </a:t>
            </a:r>
            <a:r>
              <a:rPr lang="zh-CN" altLang="en-US" sz="2200" dirty="0">
                <a:latin typeface="楷体" panose="02010609060101010101" pitchFamily="1" charset="-122"/>
                <a:ea typeface="楷体" panose="02010609060101010101" pitchFamily="1" charset="-122"/>
              </a:rPr>
              <a:t>登录名可以与</a:t>
            </a:r>
            <a:r>
              <a:rPr lang="en-US" altLang="x-none" sz="2200" dirty="0">
                <a:latin typeface="楷体" panose="02010609060101010101" pitchFamily="1" charset="-122"/>
                <a:ea typeface="楷体" panose="02010609060101010101" pitchFamily="1" charset="-122"/>
              </a:rPr>
              <a:t>DB</a:t>
            </a:r>
            <a:r>
              <a:rPr lang="zh-CN" altLang="en-US" sz="2200" dirty="0">
                <a:latin typeface="楷体" panose="02010609060101010101" pitchFamily="1" charset="-122"/>
                <a:ea typeface="楷体" panose="02010609060101010101" pitchFamily="1" charset="-122"/>
              </a:rPr>
              <a:t>用户名相同。登录用户只有在成为某个</a:t>
            </a:r>
            <a:r>
              <a:rPr lang="en-US" altLang="x-none" sz="2200" dirty="0">
                <a:latin typeface="楷体" panose="02010609060101010101" pitchFamily="1" charset="-122"/>
                <a:ea typeface="楷体" panose="02010609060101010101" pitchFamily="1" charset="-122"/>
              </a:rPr>
              <a:t>DB</a:t>
            </a:r>
            <a:r>
              <a:rPr lang="zh-CN" altLang="en-US" sz="2200" dirty="0">
                <a:latin typeface="楷体" panose="02010609060101010101" pitchFamily="1" charset="-122"/>
                <a:ea typeface="楷体" panose="02010609060101010101" pitchFamily="1" charset="-122"/>
              </a:rPr>
              <a:t>的用户时才能访问该</a:t>
            </a:r>
            <a:r>
              <a:rPr lang="en-US" altLang="x-none" sz="2200" dirty="0">
                <a:latin typeface="楷体" panose="02010609060101010101" pitchFamily="1" charset="-122"/>
                <a:ea typeface="楷体" panose="02010609060101010101" pitchFamily="1" charset="-122"/>
              </a:rPr>
              <a:t>DB</a:t>
            </a:r>
            <a:r>
              <a:rPr lang="zh-CN" altLang="en-US" sz="2200" dirty="0">
                <a:latin typeface="楷体" panose="02010609060101010101" pitchFamily="1" charset="-122"/>
                <a:ea typeface="楷体" panose="02010609060101010101" pitchFamily="1" charset="-122"/>
              </a:rPr>
              <a:t>。</a:t>
            </a:r>
            <a:r>
              <a:rPr lang="en-US" altLang="x-none" sz="2200" dirty="0">
                <a:solidFill>
                  <a:srgbClr val="CC3300"/>
                </a:solidFill>
                <a:latin typeface="楷体" panose="02010609060101010101" pitchFamily="1" charset="-122"/>
                <a:ea typeface="楷体" panose="02010609060101010101" pitchFamily="1" charset="-122"/>
              </a:rPr>
              <a:t> ③ </a:t>
            </a:r>
            <a:r>
              <a:rPr lang="zh-CN" altLang="en-US" sz="2200" dirty="0">
                <a:latin typeface="楷体" panose="02010609060101010101" pitchFamily="1" charset="-122"/>
                <a:ea typeface="楷体" panose="02010609060101010101" pitchFamily="1" charset="-122"/>
              </a:rPr>
              <a:t>由上图可知，</a:t>
            </a:r>
            <a:r>
              <a:rPr lang="en-US" altLang="x-none" sz="2200" dirty="0">
                <a:latin typeface="楷体" panose="02010609060101010101" pitchFamily="1" charset="-122"/>
                <a:ea typeface="楷体" panose="02010609060101010101" pitchFamily="1" charset="-122"/>
              </a:rPr>
              <a:t>SQL SERVER</a:t>
            </a:r>
            <a:r>
              <a:rPr lang="zh-CN" altLang="en-US" sz="2200" dirty="0">
                <a:latin typeface="楷体" panose="02010609060101010101" pitchFamily="1" charset="-122"/>
                <a:ea typeface="楷体" panose="02010609060101010101" pitchFamily="1" charset="-122"/>
              </a:rPr>
              <a:t>安全体系由三级组成，即：</a:t>
            </a:r>
            <a:r>
              <a:rPr lang="en-US" altLang="x-none" sz="2200" dirty="0">
                <a:latin typeface="楷体" panose="02010609060101010101" pitchFamily="1" charset="-122"/>
                <a:ea typeface="楷体" panose="02010609060101010101" pitchFamily="1" charset="-122"/>
              </a:rPr>
              <a:t>DBMS</a:t>
            </a:r>
            <a:r>
              <a:rPr lang="zh-CN" altLang="en-US" sz="2200" dirty="0">
                <a:latin typeface="楷体" panose="02010609060101010101" pitchFamily="1" charset="-122"/>
                <a:ea typeface="楷体" panose="02010609060101010101" pitchFamily="1" charset="-122"/>
              </a:rPr>
              <a:t>或</a:t>
            </a:r>
            <a:r>
              <a:rPr lang="en-US" altLang="x-none" sz="2200" dirty="0">
                <a:latin typeface="楷体" panose="02010609060101010101" pitchFamily="1" charset="-122"/>
                <a:ea typeface="楷体" panose="02010609060101010101" pitchFamily="1" charset="-122"/>
              </a:rPr>
              <a:t>DB</a:t>
            </a:r>
            <a:r>
              <a:rPr lang="zh-CN" altLang="en-US" sz="2200" dirty="0">
                <a:latin typeface="楷体" panose="02010609060101010101" pitchFamily="1" charset="-122"/>
                <a:ea typeface="楷体" panose="02010609060101010101" pitchFamily="1" charset="-122"/>
              </a:rPr>
              <a:t>服务器、</a:t>
            </a:r>
            <a:r>
              <a:rPr lang="en-US" altLang="x-none" sz="2200" dirty="0">
                <a:latin typeface="楷体" panose="02010609060101010101" pitchFamily="1" charset="-122"/>
                <a:ea typeface="楷体" panose="02010609060101010101" pitchFamily="1" charset="-122"/>
              </a:rPr>
              <a:t>DB</a:t>
            </a:r>
            <a:r>
              <a:rPr lang="zh-CN" altLang="en-US" sz="2200" dirty="0">
                <a:latin typeface="楷体" panose="02010609060101010101" pitchFamily="1" charset="-122"/>
                <a:ea typeface="楷体" panose="02010609060101010101" pitchFamily="1" charset="-122"/>
              </a:rPr>
              <a:t>、语句与对象级。</a:t>
            </a:r>
            <a:endParaRPr lang="zh-CN" altLang="en-US" sz="2400" dirty="0">
              <a:latin typeface="方正姚体" panose="02010601030101010101" pitchFamily="2" charset="-122"/>
              <a:ea typeface="方正姚体" panose="02010601030101010101" pitchFamily="2" charset="-122"/>
            </a:endParaRPr>
          </a:p>
        </p:txBody>
      </p:sp>
      <p:sp>
        <p:nvSpPr>
          <p:cNvPr id="23558" name="Text Box 13"/>
          <p:cNvSpPr txBox="1"/>
          <p:nvPr/>
        </p:nvSpPr>
        <p:spPr>
          <a:xfrm>
            <a:off x="0" y="5868988"/>
            <a:ext cx="9144000" cy="400050"/>
          </a:xfrm>
          <a:prstGeom prst="rect">
            <a:avLst/>
          </a:prstGeom>
          <a:noFill/>
          <a:ln w="9525">
            <a:noFill/>
          </a:ln>
        </p:spPr>
        <p:txBody>
          <a:bodyPr anchor="t">
            <a:spAutoFit/>
          </a:bodyPr>
          <a:lstStyle/>
          <a:p>
            <a:pPr lvl="0" indent="0">
              <a:spcBef>
                <a:spcPct val="50000"/>
              </a:spcBef>
            </a:pPr>
            <a:r>
              <a:rPr lang="en-US" altLang="x-none" sz="2000" dirty="0">
                <a:latin typeface="方正姚体" panose="02010601030101010101" pitchFamily="2" charset="-122"/>
                <a:ea typeface="方正姚体" panose="02010601030101010101" pitchFamily="2" charset="-122"/>
              </a:rPr>
              <a:t>        </a:t>
            </a:r>
            <a:endParaRPr lang="zh-CN" altLang="en-US" sz="2000" dirty="0">
              <a:latin typeface="楷体" panose="02010609060101010101" pitchFamily="1" charset="-122"/>
              <a:ea typeface="楷体" panose="02010609060101010101" pitchFamily="1" charset="-122"/>
            </a:endParaRPr>
          </a:p>
        </p:txBody>
      </p:sp>
      <p:sp>
        <p:nvSpPr>
          <p:cNvPr id="23559" name="矩形 8"/>
          <p:cNvSpPr/>
          <p:nvPr/>
        </p:nvSpPr>
        <p:spPr>
          <a:xfrm>
            <a:off x="6520815" y="1387158"/>
            <a:ext cx="1579563" cy="369887"/>
          </a:xfrm>
          <a:prstGeom prst="rect">
            <a:avLst/>
          </a:prstGeom>
          <a:noFill/>
          <a:ln w="9525">
            <a:noFill/>
          </a:ln>
        </p:spPr>
        <p:txBody>
          <a:bodyPr wrap="none" anchor="t">
            <a:spAutoFit/>
          </a:bodyPr>
          <a:lstStyle/>
          <a:p>
            <a:pPr lvl="0" indent="0"/>
            <a:r>
              <a:rPr lang="zh-CN" altLang="en-US" dirty="0">
                <a:latin typeface="方正舒体" panose="02010601030101010101" pitchFamily="2" charset="-122"/>
                <a:ea typeface="方正舒体" panose="02010601030101010101" pitchFamily="2" charset="-122"/>
              </a:rPr>
              <a:t>安全体系结构</a:t>
            </a:r>
            <a:endParaRPr lang="zh-CN" altLang="en-US" dirty="0">
              <a:latin typeface="Arial" panose="020B0604020202020204" pitchFamily="34" charset="0"/>
              <a:ea typeface="宋体" panose="02010600030101010101" pitchFamily="2" charset="-122"/>
            </a:endParaRPr>
          </a:p>
        </p:txBody>
      </p:sp>
      <p:cxnSp>
        <p:nvCxnSpPr>
          <p:cNvPr id="23561" name="直接连接符 11"/>
          <p:cNvCxnSpPr/>
          <p:nvPr/>
        </p:nvCxnSpPr>
        <p:spPr>
          <a:xfrm rot="-5400000" flipH="1">
            <a:off x="896938" y="3446463"/>
            <a:ext cx="2774950" cy="0"/>
          </a:xfrm>
          <a:prstGeom prst="line">
            <a:avLst/>
          </a:prstGeom>
          <a:ln w="76200" cap="flat" cmpd="sng">
            <a:solidFill>
              <a:srgbClr val="0033CC"/>
            </a:solidFill>
            <a:prstDash val="solid"/>
            <a:round/>
            <a:headEnd type="none" w="med" len="med"/>
            <a:tailEnd type="none" w="med" len="med"/>
          </a:ln>
        </p:spPr>
      </p:cxnSp>
      <p:cxnSp>
        <p:nvCxnSpPr>
          <p:cNvPr id="23562" name="直接连接符 14"/>
          <p:cNvCxnSpPr/>
          <p:nvPr/>
        </p:nvCxnSpPr>
        <p:spPr>
          <a:xfrm rot="-5400000" flipH="1">
            <a:off x="3382963" y="3370263"/>
            <a:ext cx="2773362" cy="0"/>
          </a:xfrm>
          <a:prstGeom prst="line">
            <a:avLst/>
          </a:prstGeom>
          <a:ln w="76200" cap="flat" cmpd="sng">
            <a:solidFill>
              <a:srgbClr val="0033CC"/>
            </a:solidFill>
            <a:prstDash val="solid"/>
            <a:round/>
            <a:headEnd type="none" w="med" len="med"/>
            <a:tailEnd type="none" w="med" len="med"/>
          </a:ln>
        </p:spPr>
      </p:cxnSp>
      <p:cxnSp>
        <p:nvCxnSpPr>
          <p:cNvPr id="23563" name="直接连接符 15"/>
          <p:cNvCxnSpPr/>
          <p:nvPr/>
        </p:nvCxnSpPr>
        <p:spPr>
          <a:xfrm rot="5400000">
            <a:off x="5562600" y="3309938"/>
            <a:ext cx="2530475" cy="0"/>
          </a:xfrm>
          <a:prstGeom prst="line">
            <a:avLst/>
          </a:prstGeom>
          <a:ln w="76200" cap="flat" cmpd="sng">
            <a:solidFill>
              <a:srgbClr val="0033CC"/>
            </a:solidFill>
            <a:prstDash val="solid"/>
            <a:round/>
            <a:headEnd type="none" w="med" len="med"/>
            <a:tailEnd type="none" w="med" len="med"/>
          </a:ln>
        </p:spPr>
      </p:cxnSp>
      <p:cxnSp>
        <p:nvCxnSpPr>
          <p:cNvPr id="23564" name="直接连接符 11"/>
          <p:cNvCxnSpPr/>
          <p:nvPr/>
        </p:nvCxnSpPr>
        <p:spPr>
          <a:xfrm>
            <a:off x="693738" y="3738563"/>
            <a:ext cx="881062" cy="0"/>
          </a:xfrm>
          <a:prstGeom prst="line">
            <a:avLst/>
          </a:prstGeom>
          <a:ln w="76200" cap="flat" cmpd="sng">
            <a:solidFill>
              <a:srgbClr val="0033CC"/>
            </a:solidFill>
            <a:prstDash val="solid"/>
            <a:round/>
            <a:headEnd type="none" w="med" len="med"/>
            <a:tailEnd type="none" w="med" len="med"/>
          </a:ln>
        </p:spPr>
      </p:cxnSp>
      <p:sp>
        <p:nvSpPr>
          <p:cNvPr id="20484" name="Rectangle 2"/>
          <p:cNvSpPr/>
          <p:nvPr/>
        </p:nvSpPr>
        <p:spPr>
          <a:xfrm>
            <a:off x="457200" y="68263"/>
            <a:ext cx="8229600" cy="692150"/>
          </a:xfrm>
          <a:prstGeom prst="rect">
            <a:avLst/>
          </a:prstGeom>
          <a:noFill/>
          <a:ln w="9525">
            <a:noFill/>
          </a:ln>
        </p:spPr>
        <p:txBody>
          <a:bodyPr anchor="ctr"/>
          <a:lstStyle/>
          <a:p>
            <a:pPr lvl="0" eaLnBrk="1" hangingPunct="1"/>
            <a:r>
              <a:rPr lang="zh-CN" altLang="en-US" sz="3200" dirty="0">
                <a:solidFill>
                  <a:srgbClr val="FF0000"/>
                </a:solidFill>
                <a:latin typeface="Arial" panose="020B0604020202020204" pitchFamily="34" charset="0"/>
                <a:ea typeface="黑体" panose="02010609060101010101" pitchFamily="1" charset="-122"/>
              </a:rPr>
              <a:t>二、数据库的安全性</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12" name="Rectangle 2"/>
          <p:cNvSpPr txBox="1">
            <a:spLocks noChangeArrowheads="1"/>
          </p:cNvSpPr>
          <p:nvPr/>
        </p:nvSpPr>
        <p:spPr>
          <a:xfrm>
            <a:off x="393700" y="1349375"/>
            <a:ext cx="4999355" cy="74803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a:t>
            </a:r>
            <a:r>
              <a:rPr kumimoji="1" lang="en-US" altLang="zh-CN"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1</a:t>
            </a:r>
            <a:r>
              <a:rPr kumimoji="1" lang="zh-CN" altLang="en-US"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a:t>
            </a:r>
            <a:r>
              <a:rPr kumimoji="1" lang="en-US" altLang="zh-CN"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DBMS</a:t>
            </a:r>
            <a:r>
              <a:rPr kumimoji="1" lang="zh-CN" altLang="en-US"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与</a:t>
            </a:r>
            <a:r>
              <a:rPr kumimoji="1" lang="en-US" altLang="zh-CN"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OS</a:t>
            </a:r>
            <a:r>
              <a:rPr kumimoji="1" lang="zh-CN" altLang="en-US"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在安全上的关系</a:t>
            </a:r>
            <a:endParaRPr kumimoji="1" lang="zh-CN" altLang="en-US"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endParaRPr>
          </a:p>
        </p:txBody>
      </p:sp>
      <p:sp>
        <p:nvSpPr>
          <p:cNvPr id="25603" name="Rectangle 2"/>
          <p:cNvSpPr txBox="1"/>
          <p:nvPr/>
        </p:nvSpPr>
        <p:spPr>
          <a:xfrm>
            <a:off x="536575" y="712788"/>
            <a:ext cx="5689600" cy="576262"/>
          </a:xfrm>
          <a:prstGeom prst="rect">
            <a:avLst/>
          </a:prstGeom>
          <a:noFill/>
          <a:ln w="9525">
            <a:noFill/>
          </a:ln>
        </p:spPr>
        <p:txBody>
          <a:bodyPr anchor="t"/>
          <a:lstStyle/>
          <a:p>
            <a:pPr marL="457200" lvl="0" indent="-457200" defTabSz="0">
              <a:lnSpc>
                <a:spcPct val="135000"/>
              </a:lnSpc>
              <a:tabLst>
                <a:tab pos="1428750" algn="l"/>
              </a:tabLst>
            </a:pPr>
            <a:r>
              <a:rPr lang="en-US" altLang="x-none" sz="2800" dirty="0">
                <a:solidFill>
                  <a:srgbClr val="0033CC"/>
                </a:solidFill>
                <a:latin typeface="黑体" panose="02010609060101010101" pitchFamily="1" charset="-122"/>
                <a:ea typeface="黑体" panose="02010609060101010101" pitchFamily="1" charset="-122"/>
              </a:rPr>
              <a:t>3.</a:t>
            </a:r>
            <a:r>
              <a:rPr lang="en-US" altLang="x-none" sz="2800" dirty="0">
                <a:solidFill>
                  <a:srgbClr val="CC3300"/>
                </a:solidFill>
                <a:latin typeface="Times New Roman" panose="02020603050405020304" pitchFamily="2" charset="0"/>
                <a:ea typeface="宋体" panose="02010600030101010101" pitchFamily="2" charset="-122"/>
              </a:rPr>
              <a:t> </a:t>
            </a:r>
            <a:r>
              <a:rPr lang="en-US" altLang="x-none" sz="2800" dirty="0">
                <a:solidFill>
                  <a:srgbClr val="0033CC"/>
                </a:solidFill>
                <a:latin typeface="黑体" panose="02010609060101010101" pitchFamily="1" charset="-122"/>
                <a:ea typeface="黑体" panose="02010609060101010101" pitchFamily="1" charset="-122"/>
              </a:rPr>
              <a:t>SQL SERVER</a:t>
            </a:r>
            <a:r>
              <a:rPr lang="zh-CN" altLang="en-US" sz="2800" dirty="0">
                <a:solidFill>
                  <a:srgbClr val="0033CC"/>
                </a:solidFill>
                <a:latin typeface="黑体" panose="02010609060101010101" pitchFamily="1" charset="-122"/>
                <a:ea typeface="黑体" panose="02010609060101010101" pitchFamily="1" charset="-122"/>
              </a:rPr>
              <a:t>安全体系</a:t>
            </a:r>
            <a:endParaRPr lang="zh-CN" altLang="en-US" sz="2800" dirty="0">
              <a:solidFill>
                <a:srgbClr val="0033CC"/>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536575" y="1345565"/>
            <a:ext cx="7086600" cy="74803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a:t>
            </a:r>
            <a:r>
              <a:rPr kumimoji="1" lang="en-US" altLang="zh-CN"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1</a:t>
            </a:r>
            <a:r>
              <a:rPr kumimoji="1" lang="zh-CN" altLang="en-US"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a:t>
            </a:r>
            <a:r>
              <a:rPr kumimoji="1" lang="en-US" altLang="zh-CN" sz="2600" b="1" i="0" u="none" strike="noStrike" kern="0" cap="none" spc="0" normalizeH="0" baseline="0" noProof="0" dirty="0">
                <a:ln>
                  <a:noFill/>
                </a:ln>
                <a:solidFill>
                  <a:srgbClr val="3333CC"/>
                </a:solidFill>
                <a:effectLst/>
                <a:uLnTx/>
                <a:uFillTx/>
                <a:latin typeface="+mj-lt"/>
                <a:ea typeface="+mj-ea"/>
                <a:cs typeface="+mj-lt"/>
              </a:rPr>
              <a:t>SQL SERVER</a:t>
            </a:r>
            <a:r>
              <a:rPr kumimoji="1" lang="zh-CN" altLang="en-US"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的身份认证模式</a:t>
            </a:r>
            <a:endParaRPr kumimoji="1" lang="zh-CN" altLang="en-US"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endParaRPr>
          </a:p>
        </p:txBody>
      </p:sp>
      <p:pic>
        <p:nvPicPr>
          <p:cNvPr id="3" name="图片 2"/>
          <p:cNvPicPr>
            <a:picLocks noChangeAspect="1"/>
          </p:cNvPicPr>
          <p:nvPr/>
        </p:nvPicPr>
        <p:blipFill>
          <a:blip r:embed="rId1"/>
          <a:stretch>
            <a:fillRect/>
          </a:stretch>
        </p:blipFill>
        <p:spPr>
          <a:xfrm>
            <a:off x="3126740" y="1937730"/>
            <a:ext cx="5560060" cy="4194810"/>
          </a:xfrm>
          <a:prstGeom prst="rect">
            <a:avLst/>
          </a:prstGeom>
        </p:spPr>
      </p:pic>
      <p:sp>
        <p:nvSpPr>
          <p:cNvPr id="4" name="文本框 3"/>
          <p:cNvSpPr txBox="1"/>
          <p:nvPr/>
        </p:nvSpPr>
        <p:spPr>
          <a:xfrm>
            <a:off x="500380" y="3209635"/>
            <a:ext cx="2506056" cy="2922905"/>
          </a:xfrm>
          <a:prstGeom prst="rect">
            <a:avLst/>
          </a:prstGeom>
          <a:noFill/>
        </p:spPr>
        <p:txBody>
          <a:bodyPr wrap="square" rtlCol="0" anchor="t">
            <a:spAutoFit/>
          </a:bodyPr>
          <a:lstStyle/>
          <a:p>
            <a:pPr algn="just">
              <a:lnSpc>
                <a:spcPct val="115000"/>
              </a:lnSpc>
              <a:spcBef>
                <a:spcPts val="200"/>
              </a:spcBef>
              <a:spcAft>
                <a:spcPts val="0"/>
              </a:spcAft>
              <a:buNone/>
            </a:pPr>
            <a:r>
              <a:rPr lang="en-US" altLang="zh-CN" sz="2000" dirty="0">
                <a:sym typeface="+mn-ea"/>
              </a:rPr>
              <a:t>     </a:t>
            </a:r>
            <a:r>
              <a:rPr lang="en-US" altLang="zh-CN" sz="2000" dirty="0" smtClean="0">
                <a:sym typeface="+mn-ea"/>
              </a:rPr>
              <a:t>  </a:t>
            </a:r>
            <a:r>
              <a:rPr lang="zh-CN" altLang="en-US" sz="2000" dirty="0" smtClean="0">
                <a:sym typeface="+mn-ea"/>
              </a:rPr>
              <a:t>身份</a:t>
            </a:r>
            <a:r>
              <a:rPr lang="zh-CN" altLang="en-US" sz="2000" dirty="0">
                <a:sym typeface="+mn-ea"/>
              </a:rPr>
              <a:t>验证模式是指系统确认用户的方式。</a:t>
            </a:r>
            <a:r>
              <a:rPr lang="en-US" altLang="zh-CN" sz="2000" dirty="0">
                <a:sym typeface="+mn-ea"/>
              </a:rPr>
              <a:t>SQL Server</a:t>
            </a:r>
            <a:r>
              <a:rPr lang="zh-CN" altLang="en-US" sz="2000" dirty="0">
                <a:sym typeface="+mn-ea"/>
              </a:rPr>
              <a:t>有两种身份验证模式：</a:t>
            </a:r>
            <a:r>
              <a:rPr lang="en-US" altLang="zh-CN" sz="2000" dirty="0">
                <a:solidFill>
                  <a:srgbClr val="CC00FF"/>
                </a:solidFill>
                <a:latin typeface="楷体" panose="02010609060101010101" pitchFamily="1" charset="-122"/>
                <a:ea typeface="楷体" panose="02010609060101010101" pitchFamily="1" charset="-122"/>
                <a:cs typeface="楷体" panose="02010609060101010101" pitchFamily="1" charset="-122"/>
                <a:sym typeface="+mn-ea"/>
              </a:rPr>
              <a:t>Windows</a:t>
            </a:r>
            <a:r>
              <a:rPr lang="zh-CN" altLang="en-US" sz="2000" dirty="0">
                <a:solidFill>
                  <a:srgbClr val="CC00FF"/>
                </a:solidFill>
                <a:latin typeface="楷体" panose="02010609060101010101" pitchFamily="1" charset="-122"/>
                <a:ea typeface="楷体" panose="02010609060101010101" pitchFamily="1" charset="-122"/>
                <a:cs typeface="楷体" panose="02010609060101010101" pitchFamily="1" charset="-122"/>
                <a:sym typeface="+mn-ea"/>
              </a:rPr>
              <a:t>验证模式和</a:t>
            </a:r>
            <a:r>
              <a:rPr lang="en-US" altLang="zh-CN" sz="2000" dirty="0">
                <a:solidFill>
                  <a:srgbClr val="CC00FF"/>
                </a:solidFill>
                <a:latin typeface="楷体" panose="02010609060101010101" pitchFamily="1" charset="-122"/>
                <a:ea typeface="楷体" panose="02010609060101010101" pitchFamily="1" charset="-122"/>
                <a:cs typeface="楷体" panose="02010609060101010101" pitchFamily="1" charset="-122"/>
                <a:sym typeface="+mn-ea"/>
              </a:rPr>
              <a:t>SQL Server</a:t>
            </a:r>
            <a:r>
              <a:rPr lang="zh-CN" altLang="en-US" sz="2000" dirty="0">
                <a:solidFill>
                  <a:srgbClr val="CC00FF"/>
                </a:solidFill>
                <a:latin typeface="楷体" panose="02010609060101010101" pitchFamily="1" charset="-122"/>
                <a:ea typeface="楷体" panose="02010609060101010101" pitchFamily="1" charset="-122"/>
                <a:cs typeface="楷体" panose="02010609060101010101" pitchFamily="1" charset="-122"/>
                <a:sym typeface="+mn-ea"/>
              </a:rPr>
              <a:t>验证模式</a:t>
            </a:r>
            <a:r>
              <a:rPr lang="zh-CN" altLang="en-US" sz="2000" dirty="0">
                <a:sym typeface="+mn-ea"/>
              </a:rPr>
              <a:t>，这是在安装时由数据库引擎配置</a:t>
            </a:r>
            <a:r>
              <a:rPr lang="en-US" altLang="zh-CN" sz="2000" dirty="0">
                <a:sym typeface="+mn-ea"/>
              </a:rPr>
              <a:t>”</a:t>
            </a:r>
            <a:r>
              <a:rPr lang="zh-CN" altLang="en-US" sz="2000" dirty="0">
                <a:sym typeface="+mn-ea"/>
              </a:rPr>
              <a:t>确定的。</a:t>
            </a:r>
            <a:endParaRPr lang="zh-CN" altLang="en-US" sz="2000" dirty="0">
              <a:sym typeface="+mn-ea"/>
            </a:endParaRPr>
          </a:p>
        </p:txBody>
      </p:sp>
      <p:sp>
        <p:nvSpPr>
          <p:cNvPr id="25602" name="Rectangle 2"/>
          <p:cNvSpPr/>
          <p:nvPr/>
        </p:nvSpPr>
        <p:spPr>
          <a:xfrm>
            <a:off x="457200" y="68263"/>
            <a:ext cx="8229600" cy="692150"/>
          </a:xfrm>
          <a:prstGeom prst="rect">
            <a:avLst/>
          </a:prstGeom>
          <a:noFill/>
          <a:ln w="9525">
            <a:noFill/>
          </a:ln>
        </p:spPr>
        <p:txBody>
          <a:bodyPr anchor="ctr"/>
          <a:lstStyle/>
          <a:p>
            <a:pPr lvl="0" indent="0"/>
            <a:r>
              <a:rPr lang="zh-CN" altLang="en-US" sz="3200" dirty="0">
                <a:solidFill>
                  <a:srgbClr val="FF0000"/>
                </a:solidFill>
                <a:latin typeface="Arial" panose="020B0604020202020204" pitchFamily="34" charset="0"/>
                <a:ea typeface="黑体" panose="02010609060101010101" pitchFamily="1" charset="-122"/>
              </a:rPr>
              <a:t>二、数据库的安全性</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2" name="Rectangle 2"/>
          <p:cNvSpPr txBox="1"/>
          <p:nvPr/>
        </p:nvSpPr>
        <p:spPr>
          <a:xfrm>
            <a:off x="536575" y="712788"/>
            <a:ext cx="5689600" cy="576262"/>
          </a:xfrm>
          <a:prstGeom prst="rect">
            <a:avLst/>
          </a:prstGeom>
          <a:noFill/>
          <a:ln w="9525">
            <a:noFill/>
          </a:ln>
        </p:spPr>
        <p:txBody>
          <a:bodyPr anchor="t"/>
          <a:lstStyle/>
          <a:p>
            <a:pPr marL="457200" lvl="0" indent="-457200" defTabSz="0">
              <a:lnSpc>
                <a:spcPct val="135000"/>
              </a:lnSpc>
              <a:tabLst>
                <a:tab pos="1428750" algn="l"/>
              </a:tabLst>
            </a:pPr>
            <a:r>
              <a:rPr lang="en-US" altLang="x-none" sz="2800" dirty="0">
                <a:solidFill>
                  <a:srgbClr val="0033CC"/>
                </a:solidFill>
                <a:latin typeface="黑体" panose="02010609060101010101" pitchFamily="1" charset="-122"/>
                <a:ea typeface="黑体" panose="02010609060101010101" pitchFamily="1" charset="-122"/>
              </a:rPr>
              <a:t>3.</a:t>
            </a:r>
            <a:r>
              <a:rPr lang="en-US" altLang="x-none" sz="2800" dirty="0">
                <a:solidFill>
                  <a:srgbClr val="CC3300"/>
                </a:solidFill>
                <a:latin typeface="Times New Roman" panose="02020603050405020304" pitchFamily="2" charset="0"/>
                <a:ea typeface="宋体" panose="02010600030101010101" pitchFamily="2" charset="-122"/>
              </a:rPr>
              <a:t> </a:t>
            </a:r>
            <a:r>
              <a:rPr lang="en-US" altLang="x-none" sz="2800" dirty="0">
                <a:solidFill>
                  <a:srgbClr val="0033CC"/>
                </a:solidFill>
                <a:latin typeface="黑体" panose="02010609060101010101" pitchFamily="1" charset="-122"/>
                <a:ea typeface="黑体" panose="02010609060101010101" pitchFamily="1" charset="-122"/>
              </a:rPr>
              <a:t>SQL SERVER</a:t>
            </a:r>
            <a:r>
              <a:rPr lang="zh-CN" altLang="en-US" sz="2800" dirty="0">
                <a:solidFill>
                  <a:srgbClr val="0033CC"/>
                </a:solidFill>
                <a:latin typeface="黑体" panose="02010609060101010101" pitchFamily="1" charset="-122"/>
                <a:ea typeface="黑体" panose="02010609060101010101" pitchFamily="1" charset="-122"/>
              </a:rPr>
              <a:t>安全体系</a:t>
            </a:r>
            <a:endParaRPr lang="zh-CN" altLang="en-US" sz="2800" dirty="0">
              <a:solidFill>
                <a:srgbClr val="0033CC"/>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矩形 28"/>
          <p:cNvSpPr/>
          <p:nvPr/>
        </p:nvSpPr>
        <p:spPr>
          <a:xfrm>
            <a:off x="411163" y="2117725"/>
            <a:ext cx="2424113" cy="3398838"/>
          </a:xfrm>
          <a:prstGeom prst="rect">
            <a:avLst/>
          </a:prstGeom>
          <a:solidFill>
            <a:schemeClr val="accent1"/>
          </a:solidFill>
          <a:ln w="31750" cap="flat" cmpd="sng">
            <a:solidFill>
              <a:srgbClr val="0033CC"/>
            </a:solidFill>
            <a:prstDash val="dash"/>
            <a:miter/>
            <a:headEnd type="none" w="med" len="med"/>
            <a:tailEnd type="none" w="med" len="med"/>
          </a:ln>
        </p:spPr>
        <p:txBody>
          <a:bodyPr anchor="ctr">
            <a:spAutoFit/>
          </a:bodyPr>
          <a:lstStyle/>
          <a:p>
            <a:pPr marL="262255" lvl="0" indent="-262255" eaLnBrk="1" fontAlgn="base" hangingPunct="1">
              <a:lnSpc>
                <a:spcPct val="135000"/>
              </a:lnSpc>
              <a:buBlip>
                <a:blip r:embed="rId1"/>
              </a:buBlip>
            </a:pPr>
            <a:endParaRPr lang="zh-CN" altLang="en-US"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25602" name="Rectangle 2"/>
          <p:cNvSpPr/>
          <p:nvPr/>
        </p:nvSpPr>
        <p:spPr>
          <a:xfrm>
            <a:off x="457200" y="68263"/>
            <a:ext cx="8229600" cy="692150"/>
          </a:xfrm>
          <a:prstGeom prst="rect">
            <a:avLst/>
          </a:prstGeom>
          <a:noFill/>
          <a:ln w="9525">
            <a:noFill/>
          </a:ln>
        </p:spPr>
        <p:txBody>
          <a:bodyPr anchor="ctr"/>
          <a:lstStyle/>
          <a:p>
            <a:pPr lvl="0" indent="0"/>
            <a:r>
              <a:rPr lang="zh-CN" altLang="en-US" sz="3200" dirty="0">
                <a:solidFill>
                  <a:srgbClr val="FF0000"/>
                </a:solidFill>
                <a:latin typeface="Arial" panose="020B0604020202020204" pitchFamily="34" charset="0"/>
                <a:ea typeface="黑体" panose="02010609060101010101" pitchFamily="1" charset="-122"/>
              </a:rPr>
              <a:t>二、数据库的安全性</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25603" name="Rectangle 2"/>
          <p:cNvSpPr txBox="1"/>
          <p:nvPr/>
        </p:nvSpPr>
        <p:spPr>
          <a:xfrm>
            <a:off x="536575" y="712788"/>
            <a:ext cx="5689600" cy="576262"/>
          </a:xfrm>
          <a:prstGeom prst="rect">
            <a:avLst/>
          </a:prstGeom>
          <a:noFill/>
          <a:ln w="9525">
            <a:noFill/>
          </a:ln>
        </p:spPr>
        <p:txBody>
          <a:bodyPr anchor="t"/>
          <a:lstStyle/>
          <a:p>
            <a:pPr marL="457200" lvl="0" indent="-457200" defTabSz="0">
              <a:lnSpc>
                <a:spcPct val="135000"/>
              </a:lnSpc>
              <a:tabLst>
                <a:tab pos="1428750" algn="l"/>
              </a:tabLst>
            </a:pPr>
            <a:r>
              <a:rPr lang="en-US" altLang="x-none" sz="2800" dirty="0">
                <a:solidFill>
                  <a:srgbClr val="0033CC"/>
                </a:solidFill>
                <a:latin typeface="黑体" panose="02010609060101010101" pitchFamily="1" charset="-122"/>
                <a:ea typeface="黑体" panose="02010609060101010101" pitchFamily="1" charset="-122"/>
              </a:rPr>
              <a:t>3.</a:t>
            </a:r>
            <a:r>
              <a:rPr lang="en-US" altLang="x-none" sz="2800" dirty="0">
                <a:solidFill>
                  <a:srgbClr val="CC3300"/>
                </a:solidFill>
                <a:latin typeface="Times New Roman" panose="02020603050405020304" pitchFamily="2" charset="0"/>
                <a:ea typeface="宋体" panose="02010600030101010101" pitchFamily="2" charset="-122"/>
              </a:rPr>
              <a:t> </a:t>
            </a:r>
            <a:r>
              <a:rPr lang="en-US" altLang="x-none" sz="2800" dirty="0">
                <a:solidFill>
                  <a:srgbClr val="0033CC"/>
                </a:solidFill>
                <a:latin typeface="黑体" panose="02010609060101010101" pitchFamily="1" charset="-122"/>
                <a:ea typeface="黑体" panose="02010609060101010101" pitchFamily="1" charset="-122"/>
              </a:rPr>
              <a:t>SQL SERVER</a:t>
            </a:r>
            <a:r>
              <a:rPr lang="zh-CN" altLang="en-US" sz="2800" dirty="0">
                <a:solidFill>
                  <a:srgbClr val="0033CC"/>
                </a:solidFill>
                <a:latin typeface="黑体" panose="02010609060101010101" pitchFamily="1" charset="-122"/>
                <a:ea typeface="黑体" panose="02010609060101010101" pitchFamily="1" charset="-122"/>
              </a:rPr>
              <a:t>安全体系</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25604" name="矩形 3"/>
          <p:cNvSpPr/>
          <p:nvPr/>
        </p:nvSpPr>
        <p:spPr>
          <a:xfrm>
            <a:off x="423863" y="1326833"/>
            <a:ext cx="3751262" cy="461962"/>
          </a:xfrm>
          <a:prstGeom prst="rect">
            <a:avLst/>
          </a:prstGeom>
          <a:noFill/>
          <a:ln w="9525">
            <a:noFill/>
          </a:ln>
        </p:spPr>
        <p:txBody>
          <a:bodyPr wrap="none" anchor="t">
            <a:spAutoFit/>
          </a:bodyPr>
          <a:lstStyle/>
          <a:p>
            <a:pPr lvl="0" indent="0"/>
            <a:r>
              <a:rPr lang="zh-CN" altLang="en-US" sz="2400" dirty="0">
                <a:solidFill>
                  <a:srgbClr val="0033CC"/>
                </a:solidFill>
                <a:latin typeface="宋体" panose="02010600030101010101" pitchFamily="2" charset="-122"/>
                <a:ea typeface="宋体" panose="02010600030101010101" pitchFamily="2" charset="-122"/>
              </a:rPr>
              <a:t>（</a:t>
            </a:r>
            <a:r>
              <a:rPr lang="en-US" altLang="x-none" sz="2400" dirty="0">
                <a:solidFill>
                  <a:srgbClr val="0033CC"/>
                </a:solidFill>
                <a:latin typeface="宋体" panose="02010600030101010101" pitchFamily="2" charset="-122"/>
                <a:ea typeface="宋体" panose="02010600030101010101" pitchFamily="2" charset="-122"/>
              </a:rPr>
              <a:t>2</a:t>
            </a:r>
            <a:r>
              <a:rPr lang="zh-CN" altLang="en-US" sz="2400" dirty="0">
                <a:solidFill>
                  <a:srgbClr val="0033CC"/>
                </a:solidFill>
                <a:latin typeface="宋体" panose="02010600030101010101" pitchFamily="2" charset="-122"/>
                <a:ea typeface="宋体" panose="02010600030101010101" pitchFamily="2" charset="-122"/>
              </a:rPr>
              <a:t>）</a:t>
            </a:r>
            <a:r>
              <a:rPr lang="en-US" altLang="x-none" sz="2400" dirty="0">
                <a:solidFill>
                  <a:srgbClr val="0033CC"/>
                </a:solidFill>
                <a:latin typeface="宋体" panose="02010600030101010101" pitchFamily="2" charset="-122"/>
                <a:ea typeface="宋体" panose="02010600030101010101" pitchFamily="2" charset="-122"/>
              </a:rPr>
              <a:t>SQL SERVER</a:t>
            </a:r>
            <a:r>
              <a:rPr lang="zh-CN" altLang="en-US" sz="2400" dirty="0">
                <a:solidFill>
                  <a:srgbClr val="0033CC"/>
                </a:solidFill>
                <a:latin typeface="宋体" panose="02010600030101010101" pitchFamily="2" charset="-122"/>
                <a:ea typeface="宋体" panose="02010600030101010101" pitchFamily="2" charset="-122"/>
              </a:rPr>
              <a:t>登陆用户</a:t>
            </a:r>
            <a:endParaRPr lang="zh-CN" altLang="en-US" sz="2400" dirty="0">
              <a:solidFill>
                <a:srgbClr val="0033CC"/>
              </a:solidFill>
              <a:latin typeface="宋体" panose="02010600030101010101" pitchFamily="2" charset="-122"/>
              <a:ea typeface="宋体" panose="02010600030101010101" pitchFamily="2" charset="-122"/>
            </a:endParaRPr>
          </a:p>
        </p:txBody>
      </p:sp>
      <p:grpSp>
        <p:nvGrpSpPr>
          <p:cNvPr id="25605" name="Group 3"/>
          <p:cNvGrpSpPr/>
          <p:nvPr/>
        </p:nvGrpSpPr>
        <p:grpSpPr>
          <a:xfrm>
            <a:off x="657225" y="2027238"/>
            <a:ext cx="7777163" cy="3241675"/>
            <a:chOff x="0" y="0"/>
            <a:chExt cx="5001" cy="2649"/>
          </a:xfrm>
        </p:grpSpPr>
        <p:sp>
          <p:nvSpPr>
            <p:cNvPr id="25606" name="Rectangle 4"/>
            <p:cNvSpPr/>
            <p:nvPr/>
          </p:nvSpPr>
          <p:spPr>
            <a:xfrm>
              <a:off x="182" y="2313"/>
              <a:ext cx="908" cy="336"/>
            </a:xfrm>
            <a:prstGeom prst="rect">
              <a:avLst/>
            </a:prstGeom>
            <a:solidFill>
              <a:srgbClr val="FFCC99"/>
            </a:solidFill>
            <a:ln w="9525" cap="flat" cmpd="sng">
              <a:solidFill>
                <a:srgbClr val="000099"/>
              </a:solidFill>
              <a:prstDash val="solid"/>
              <a:miter/>
              <a:headEnd type="none" w="med" len="med"/>
              <a:tailEnd type="none" w="med" len="med"/>
            </a:ln>
          </p:spPr>
          <p:txBody>
            <a:bodyPr anchor="t"/>
            <a:lstStyle/>
            <a:p>
              <a:pPr lvl="0" indent="0"/>
              <a:r>
                <a:rPr lang="zh-CN" altLang="en-US" sz="2000" dirty="0">
                  <a:solidFill>
                    <a:srgbClr val="000000"/>
                  </a:solidFill>
                  <a:latin typeface="宋体" panose="02010600030101010101" pitchFamily="2" charset="-122"/>
                  <a:ea typeface="宋体" panose="02010600030101010101" pitchFamily="2" charset="-122"/>
                </a:rPr>
                <a:t>用户</a:t>
              </a:r>
              <a:r>
                <a:rPr lang="en-US" altLang="x-none" sz="2000" dirty="0">
                  <a:solidFill>
                    <a:srgbClr val="000000"/>
                  </a:solidFill>
                  <a:latin typeface="宋体" panose="02010600030101010101" pitchFamily="2" charset="-122"/>
                  <a:ea typeface="宋体" panose="02010600030101010101" pitchFamily="2" charset="-122"/>
                </a:rPr>
                <a:t>login</a:t>
              </a:r>
              <a:endParaRPr lang="en-US" altLang="x-none" sz="2000" dirty="0">
                <a:solidFill>
                  <a:srgbClr val="000000"/>
                </a:solidFill>
                <a:latin typeface="宋体" panose="02010600030101010101" pitchFamily="2" charset="-122"/>
                <a:ea typeface="宋体" panose="02010600030101010101" pitchFamily="2" charset="-122"/>
              </a:endParaRPr>
            </a:p>
          </p:txBody>
        </p:sp>
        <p:sp>
          <p:nvSpPr>
            <p:cNvPr id="25607" name="Rectangle 5"/>
            <p:cNvSpPr/>
            <p:nvPr/>
          </p:nvSpPr>
          <p:spPr>
            <a:xfrm>
              <a:off x="1497" y="0"/>
              <a:ext cx="3504" cy="1785"/>
            </a:xfrm>
            <a:prstGeom prst="rect">
              <a:avLst/>
            </a:prstGeom>
            <a:solidFill>
              <a:srgbClr val="EDFEEC"/>
            </a:solidFill>
            <a:ln w="9525" cap="flat" cmpd="sng">
              <a:solidFill>
                <a:srgbClr val="000099"/>
              </a:solidFill>
              <a:prstDash val="solid"/>
              <a:miter/>
              <a:headEnd type="none" w="med" len="med"/>
              <a:tailEnd type="none" w="med" len="med"/>
            </a:ln>
          </p:spPr>
          <p:txBody>
            <a:bodyPr anchor="t"/>
            <a:lstStyle/>
            <a:p>
              <a:pPr lvl="0" indent="0"/>
              <a:r>
                <a:rPr lang="zh-CN" altLang="en-US" sz="2000" dirty="0">
                  <a:solidFill>
                    <a:srgbClr val="000000"/>
                  </a:solidFill>
                  <a:latin typeface="宋体" panose="02010600030101010101" pitchFamily="2" charset="-122"/>
                  <a:ea typeface="宋体" panose="02010600030101010101" pitchFamily="2" charset="-122"/>
                </a:rPr>
                <a:t>某</a:t>
              </a:r>
              <a:r>
                <a:rPr lang="en-US" altLang="x-none" sz="2000" dirty="0">
                  <a:solidFill>
                    <a:srgbClr val="000000"/>
                  </a:solidFill>
                  <a:latin typeface="宋体" panose="02010600030101010101" pitchFamily="2" charset="-122"/>
                  <a:ea typeface="宋体" panose="02010600030101010101" pitchFamily="2" charset="-122"/>
                </a:rPr>
                <a:t>RDBMS</a:t>
              </a:r>
              <a:endParaRPr lang="en-US" altLang="x-none" sz="2000" dirty="0">
                <a:solidFill>
                  <a:srgbClr val="000000"/>
                </a:solidFill>
                <a:latin typeface="宋体" panose="02010600030101010101" pitchFamily="2" charset="-122"/>
                <a:ea typeface="宋体" panose="02010600030101010101" pitchFamily="2" charset="-122"/>
              </a:endParaRPr>
            </a:p>
            <a:p>
              <a:pPr lvl="0" indent="0"/>
              <a:r>
                <a:rPr lang="zh-CN" altLang="en-US" sz="2000" dirty="0">
                  <a:solidFill>
                    <a:srgbClr val="000000"/>
                  </a:solidFill>
                  <a:latin typeface="宋体" panose="02010600030101010101" pitchFamily="2" charset="-122"/>
                  <a:ea typeface="宋体" panose="02010600030101010101" pitchFamily="2" charset="-122"/>
                </a:rPr>
                <a:t>（</a:t>
              </a:r>
              <a:r>
                <a:rPr lang="en-US" altLang="x-none" sz="2000" dirty="0">
                  <a:solidFill>
                    <a:srgbClr val="000000"/>
                  </a:solidFill>
                  <a:latin typeface="宋体" panose="02010600030101010101" pitchFamily="2" charset="-122"/>
                  <a:ea typeface="宋体" panose="02010600030101010101" pitchFamily="2" charset="-122"/>
                </a:rPr>
                <a:t>Oracle,SQL Server…) </a:t>
              </a:r>
              <a:endParaRPr lang="en-US" altLang="x-none" sz="2000" dirty="0">
                <a:solidFill>
                  <a:srgbClr val="000000"/>
                </a:solidFill>
                <a:latin typeface="宋体" panose="02010600030101010101" pitchFamily="2" charset="-122"/>
                <a:ea typeface="宋体" panose="02010600030101010101" pitchFamily="2" charset="-122"/>
              </a:endParaRPr>
            </a:p>
          </p:txBody>
        </p:sp>
        <p:sp>
          <p:nvSpPr>
            <p:cNvPr id="25608" name="Rectangle 6"/>
            <p:cNvSpPr/>
            <p:nvPr/>
          </p:nvSpPr>
          <p:spPr>
            <a:xfrm>
              <a:off x="318" y="1860"/>
              <a:ext cx="4672" cy="317"/>
            </a:xfrm>
            <a:prstGeom prst="rect">
              <a:avLst/>
            </a:prstGeom>
            <a:solidFill>
              <a:srgbClr val="EDFEEC"/>
            </a:solidFill>
            <a:ln w="14288" cap="flat" cmpd="sng">
              <a:solidFill>
                <a:srgbClr val="000000"/>
              </a:solidFill>
              <a:prstDash val="solid"/>
              <a:miter/>
              <a:headEnd type="none" w="med" len="med"/>
              <a:tailEnd type="none" w="med" len="med"/>
            </a:ln>
          </p:spPr>
          <p:txBody>
            <a:bodyPr anchor="t"/>
            <a:lstStyle/>
            <a:p>
              <a:pPr lvl="0" indent="0" algn="ctr"/>
              <a:r>
                <a:rPr lang="zh-CN" altLang="en-US" sz="2400" dirty="0">
                  <a:solidFill>
                    <a:srgbClr val="000000"/>
                  </a:solidFill>
                  <a:latin typeface="宋体" panose="02010600030101010101" pitchFamily="2" charset="-122"/>
                  <a:ea typeface="宋体" panose="02010600030101010101" pitchFamily="2" charset="-122"/>
                </a:rPr>
                <a:t>操作系统 </a:t>
              </a:r>
              <a:r>
                <a:rPr lang="en-US" altLang="x-none" sz="2400" dirty="0">
                  <a:solidFill>
                    <a:srgbClr val="000000"/>
                  </a:solidFill>
                  <a:latin typeface="宋体" panose="02010600030101010101" pitchFamily="2" charset="-122"/>
                  <a:ea typeface="宋体" panose="02010600030101010101" pitchFamily="2" charset="-122"/>
                </a:rPr>
                <a:t>OS </a:t>
              </a:r>
              <a:r>
                <a:rPr lang="zh-CN" altLang="en-US" sz="2400" dirty="0">
                  <a:solidFill>
                    <a:srgbClr val="000000"/>
                  </a:solidFill>
                  <a:latin typeface="宋体" panose="02010600030101010101" pitchFamily="2" charset="-122"/>
                  <a:ea typeface="宋体" panose="02010600030101010101" pitchFamily="2" charset="-122"/>
                </a:rPr>
                <a:t>（如 </a:t>
              </a:r>
              <a:r>
                <a:rPr lang="en-US" altLang="x-none" sz="2400" dirty="0">
                  <a:solidFill>
                    <a:srgbClr val="000000"/>
                  </a:solidFill>
                  <a:latin typeface="宋体" panose="02010600030101010101" pitchFamily="2" charset="-122"/>
                  <a:ea typeface="宋体" panose="02010600030101010101" pitchFamily="2" charset="-122"/>
                </a:rPr>
                <a:t>Windows XP)</a:t>
              </a:r>
              <a:endParaRPr lang="en-US" altLang="x-none" sz="2400" dirty="0">
                <a:solidFill>
                  <a:srgbClr val="000000"/>
                </a:solidFill>
                <a:latin typeface="宋体" panose="02010600030101010101" pitchFamily="2" charset="-122"/>
                <a:ea typeface="宋体" panose="02010600030101010101" pitchFamily="2" charset="-122"/>
              </a:endParaRPr>
            </a:p>
          </p:txBody>
        </p:sp>
        <p:sp>
          <p:nvSpPr>
            <p:cNvPr id="25609" name="Rectangle 7"/>
            <p:cNvSpPr/>
            <p:nvPr/>
          </p:nvSpPr>
          <p:spPr>
            <a:xfrm>
              <a:off x="0" y="590"/>
              <a:ext cx="1089" cy="640"/>
            </a:xfrm>
            <a:prstGeom prst="rect">
              <a:avLst/>
            </a:prstGeom>
            <a:solidFill>
              <a:srgbClr val="FFCC99"/>
            </a:solidFill>
            <a:ln w="9525" cap="flat" cmpd="sng">
              <a:solidFill>
                <a:srgbClr val="000099"/>
              </a:solidFill>
              <a:prstDash val="solid"/>
              <a:miter/>
              <a:headEnd type="none" w="med" len="med"/>
              <a:tailEnd type="none" w="med" len="med"/>
            </a:ln>
          </p:spPr>
          <p:txBody>
            <a:bodyPr anchor="t"/>
            <a:lstStyle/>
            <a:p>
              <a:pPr lvl="0" indent="0" algn="ctr"/>
              <a:r>
                <a:rPr lang="en-US" altLang="x-none" sz="2000" dirty="0">
                  <a:solidFill>
                    <a:srgbClr val="000000"/>
                  </a:solidFill>
                  <a:latin typeface="Times New Roman" panose="02020603050405020304" pitchFamily="2" charset="0"/>
                  <a:ea typeface="宋体" panose="02010600030101010101" pitchFamily="2" charset="-122"/>
                </a:rPr>
                <a:t>RDBMS</a:t>
              </a:r>
              <a:r>
                <a:rPr lang="zh-CN" altLang="en-US" sz="2000" dirty="0">
                  <a:solidFill>
                    <a:srgbClr val="000000"/>
                  </a:solidFill>
                  <a:latin typeface="Times New Roman" panose="02020603050405020304" pitchFamily="2" charset="0"/>
                  <a:ea typeface="宋体" panose="02010600030101010101" pitchFamily="2" charset="-122"/>
                </a:rPr>
                <a:t>用户 </a:t>
              </a:r>
              <a:r>
                <a:rPr lang="en-US" altLang="x-none" sz="2000" dirty="0">
                  <a:solidFill>
                    <a:srgbClr val="000000"/>
                  </a:solidFill>
                  <a:latin typeface="Times New Roman" panose="02020603050405020304" pitchFamily="2" charset="0"/>
                  <a:ea typeface="宋体" panose="02010600030101010101" pitchFamily="2" charset="-122"/>
                </a:rPr>
                <a:t>Login</a:t>
              </a:r>
              <a:endParaRPr lang="en-US" altLang="x-none" sz="2000" dirty="0">
                <a:solidFill>
                  <a:srgbClr val="000000"/>
                </a:solidFill>
                <a:latin typeface="Times New Roman" panose="02020603050405020304" pitchFamily="2" charset="0"/>
                <a:ea typeface="宋体" panose="02010600030101010101" pitchFamily="2" charset="-122"/>
              </a:endParaRPr>
            </a:p>
          </p:txBody>
        </p:sp>
        <p:sp>
          <p:nvSpPr>
            <p:cNvPr id="25610" name="Freeform 8"/>
            <p:cNvSpPr>
              <a:spLocks noEditPoints="1"/>
            </p:cNvSpPr>
            <p:nvPr/>
          </p:nvSpPr>
          <p:spPr>
            <a:xfrm>
              <a:off x="681" y="1230"/>
              <a:ext cx="90" cy="1083"/>
            </a:xfrm>
            <a:custGeom>
              <a:avLst/>
              <a:gdLst/>
              <a:ahLst/>
              <a:cxnLst>
                <a:cxn ang="0">
                  <a:pos x="2876" y="2577361"/>
                </a:cxn>
                <a:cxn ang="0">
                  <a:pos x="3509" y="2584686"/>
                </a:cxn>
                <a:cxn ang="0">
                  <a:pos x="3257" y="2723124"/>
                </a:cxn>
                <a:cxn ang="0">
                  <a:pos x="2692" y="2714102"/>
                </a:cxn>
                <a:cxn ang="0">
                  <a:pos x="2692" y="2328138"/>
                </a:cxn>
                <a:cxn ang="0">
                  <a:pos x="3174" y="2310923"/>
                </a:cxn>
                <a:cxn ang="0">
                  <a:pos x="3509" y="2328138"/>
                </a:cxn>
                <a:cxn ang="0">
                  <a:pos x="3257" y="2456193"/>
                </a:cxn>
                <a:cxn ang="0">
                  <a:pos x="2692" y="2446316"/>
                </a:cxn>
                <a:cxn ang="0">
                  <a:pos x="2692" y="2072663"/>
                </a:cxn>
                <a:cxn ang="0">
                  <a:pos x="3174" y="2051202"/>
                </a:cxn>
                <a:cxn ang="0">
                  <a:pos x="3509" y="2072663"/>
                </a:cxn>
                <a:cxn ang="0">
                  <a:pos x="3257" y="2199790"/>
                </a:cxn>
                <a:cxn ang="0">
                  <a:pos x="2692" y="2190688"/>
                </a:cxn>
                <a:cxn ang="0">
                  <a:pos x="2692" y="1813018"/>
                </a:cxn>
                <a:cxn ang="0">
                  <a:pos x="3174" y="1795553"/>
                </a:cxn>
                <a:cxn ang="0">
                  <a:pos x="3509" y="1813018"/>
                </a:cxn>
                <a:cxn ang="0">
                  <a:pos x="3257" y="1944314"/>
                </a:cxn>
                <a:cxn ang="0">
                  <a:pos x="2692" y="1933179"/>
                </a:cxn>
                <a:cxn ang="0">
                  <a:pos x="2692" y="1546323"/>
                </a:cxn>
                <a:cxn ang="0">
                  <a:pos x="3257" y="1539268"/>
                </a:cxn>
                <a:cxn ang="0">
                  <a:pos x="3509" y="1676739"/>
                </a:cxn>
                <a:cxn ang="0">
                  <a:pos x="2876" y="1685005"/>
                </a:cxn>
                <a:cxn ang="0">
                  <a:pos x="2692" y="1667615"/>
                </a:cxn>
                <a:cxn ang="0">
                  <a:pos x="2876" y="1277927"/>
                </a:cxn>
                <a:cxn ang="0">
                  <a:pos x="3257" y="1277927"/>
                </a:cxn>
                <a:cxn ang="0">
                  <a:pos x="3509" y="1411242"/>
                </a:cxn>
                <a:cxn ang="0">
                  <a:pos x="2876" y="1417809"/>
                </a:cxn>
                <a:cxn ang="0">
                  <a:pos x="2692" y="1396168"/>
                </a:cxn>
                <a:cxn ang="0">
                  <a:pos x="2876" y="1018327"/>
                </a:cxn>
                <a:cxn ang="0">
                  <a:pos x="3257" y="1018327"/>
                </a:cxn>
                <a:cxn ang="0">
                  <a:pos x="3509" y="1149647"/>
                </a:cxn>
                <a:cxn ang="0">
                  <a:pos x="2876" y="1161526"/>
                </a:cxn>
                <a:cxn ang="0">
                  <a:pos x="2692" y="1138487"/>
                </a:cxn>
                <a:cxn ang="0">
                  <a:pos x="2876" y="761784"/>
                </a:cxn>
                <a:cxn ang="0">
                  <a:pos x="3257" y="761784"/>
                </a:cxn>
                <a:cxn ang="0">
                  <a:pos x="3509" y="891205"/>
                </a:cxn>
                <a:cxn ang="0">
                  <a:pos x="2876" y="904820"/>
                </a:cxn>
                <a:cxn ang="0">
                  <a:pos x="2692" y="882939"/>
                </a:cxn>
                <a:cxn ang="0">
                  <a:pos x="2876" y="495437"/>
                </a:cxn>
                <a:cxn ang="0">
                  <a:pos x="3509" y="505189"/>
                </a:cxn>
                <a:cxn ang="0">
                  <a:pos x="3257" y="648534"/>
                </a:cxn>
                <a:cxn ang="0">
                  <a:pos x="2692" y="633292"/>
                </a:cxn>
                <a:cxn ang="0">
                  <a:pos x="2692" y="249718"/>
                </a:cxn>
                <a:cxn ang="0">
                  <a:pos x="3174" y="228394"/>
                </a:cxn>
                <a:cxn ang="0">
                  <a:pos x="3509" y="249718"/>
                </a:cxn>
                <a:cxn ang="0">
                  <a:pos x="3257" y="376707"/>
                </a:cxn>
                <a:cxn ang="0">
                  <a:pos x="2692" y="367723"/>
                </a:cxn>
                <a:cxn ang="0">
                  <a:pos x="3174" y="0"/>
                </a:cxn>
              </a:cxnLst>
              <a:rect l="0" t="0" r="0" b="0"/>
              <a:pathLst>
                <a:path w="65" h="593">
                  <a:moveTo>
                    <a:pt x="28" y="589"/>
                  </a:moveTo>
                  <a:lnTo>
                    <a:pt x="28" y="563"/>
                  </a:lnTo>
                  <a:lnTo>
                    <a:pt x="28" y="561"/>
                  </a:lnTo>
                  <a:lnTo>
                    <a:pt x="30" y="561"/>
                  </a:lnTo>
                  <a:lnTo>
                    <a:pt x="33" y="561"/>
                  </a:lnTo>
                  <a:lnTo>
                    <a:pt x="35" y="561"/>
                  </a:lnTo>
                  <a:lnTo>
                    <a:pt x="37" y="561"/>
                  </a:lnTo>
                  <a:lnTo>
                    <a:pt x="37" y="563"/>
                  </a:lnTo>
                  <a:lnTo>
                    <a:pt x="37" y="589"/>
                  </a:lnTo>
                  <a:lnTo>
                    <a:pt x="37" y="591"/>
                  </a:lnTo>
                  <a:lnTo>
                    <a:pt x="35" y="591"/>
                  </a:lnTo>
                  <a:lnTo>
                    <a:pt x="35" y="593"/>
                  </a:lnTo>
                  <a:lnTo>
                    <a:pt x="33" y="593"/>
                  </a:lnTo>
                  <a:lnTo>
                    <a:pt x="30" y="593"/>
                  </a:lnTo>
                  <a:lnTo>
                    <a:pt x="30" y="591"/>
                  </a:lnTo>
                  <a:lnTo>
                    <a:pt x="28" y="591"/>
                  </a:lnTo>
                  <a:lnTo>
                    <a:pt x="28" y="589"/>
                  </a:lnTo>
                  <a:close/>
                  <a:moveTo>
                    <a:pt x="28" y="531"/>
                  </a:moveTo>
                  <a:lnTo>
                    <a:pt x="28" y="507"/>
                  </a:lnTo>
                  <a:lnTo>
                    <a:pt x="28" y="505"/>
                  </a:lnTo>
                  <a:lnTo>
                    <a:pt x="30" y="505"/>
                  </a:lnTo>
                  <a:lnTo>
                    <a:pt x="30" y="503"/>
                  </a:lnTo>
                  <a:lnTo>
                    <a:pt x="33" y="503"/>
                  </a:lnTo>
                  <a:lnTo>
                    <a:pt x="35" y="503"/>
                  </a:lnTo>
                  <a:lnTo>
                    <a:pt x="35" y="505"/>
                  </a:lnTo>
                  <a:lnTo>
                    <a:pt x="37" y="505"/>
                  </a:lnTo>
                  <a:lnTo>
                    <a:pt x="37" y="507"/>
                  </a:lnTo>
                  <a:lnTo>
                    <a:pt x="37" y="531"/>
                  </a:lnTo>
                  <a:lnTo>
                    <a:pt x="37" y="533"/>
                  </a:lnTo>
                  <a:lnTo>
                    <a:pt x="35" y="535"/>
                  </a:lnTo>
                  <a:lnTo>
                    <a:pt x="33" y="535"/>
                  </a:lnTo>
                  <a:lnTo>
                    <a:pt x="30" y="535"/>
                  </a:lnTo>
                  <a:lnTo>
                    <a:pt x="28" y="533"/>
                  </a:lnTo>
                  <a:lnTo>
                    <a:pt x="28" y="531"/>
                  </a:lnTo>
                  <a:close/>
                  <a:moveTo>
                    <a:pt x="28" y="475"/>
                  </a:moveTo>
                  <a:lnTo>
                    <a:pt x="28" y="451"/>
                  </a:lnTo>
                  <a:lnTo>
                    <a:pt x="28" y="449"/>
                  </a:lnTo>
                  <a:lnTo>
                    <a:pt x="30" y="449"/>
                  </a:lnTo>
                  <a:lnTo>
                    <a:pt x="30" y="447"/>
                  </a:lnTo>
                  <a:lnTo>
                    <a:pt x="33" y="447"/>
                  </a:lnTo>
                  <a:lnTo>
                    <a:pt x="35" y="447"/>
                  </a:lnTo>
                  <a:lnTo>
                    <a:pt x="35" y="449"/>
                  </a:lnTo>
                  <a:lnTo>
                    <a:pt x="37" y="449"/>
                  </a:lnTo>
                  <a:lnTo>
                    <a:pt x="37" y="451"/>
                  </a:lnTo>
                  <a:lnTo>
                    <a:pt x="37" y="475"/>
                  </a:lnTo>
                  <a:lnTo>
                    <a:pt x="37" y="477"/>
                  </a:lnTo>
                  <a:lnTo>
                    <a:pt x="35" y="477"/>
                  </a:lnTo>
                  <a:lnTo>
                    <a:pt x="35" y="479"/>
                  </a:lnTo>
                  <a:lnTo>
                    <a:pt x="33" y="479"/>
                  </a:lnTo>
                  <a:lnTo>
                    <a:pt x="30" y="479"/>
                  </a:lnTo>
                  <a:lnTo>
                    <a:pt x="30" y="477"/>
                  </a:lnTo>
                  <a:lnTo>
                    <a:pt x="28" y="477"/>
                  </a:lnTo>
                  <a:lnTo>
                    <a:pt x="28" y="475"/>
                  </a:lnTo>
                  <a:close/>
                  <a:moveTo>
                    <a:pt x="28" y="419"/>
                  </a:moveTo>
                  <a:lnTo>
                    <a:pt x="28" y="395"/>
                  </a:lnTo>
                  <a:lnTo>
                    <a:pt x="28" y="393"/>
                  </a:lnTo>
                  <a:lnTo>
                    <a:pt x="30" y="393"/>
                  </a:lnTo>
                  <a:lnTo>
                    <a:pt x="30" y="391"/>
                  </a:lnTo>
                  <a:lnTo>
                    <a:pt x="33" y="391"/>
                  </a:lnTo>
                  <a:lnTo>
                    <a:pt x="35" y="391"/>
                  </a:lnTo>
                  <a:lnTo>
                    <a:pt x="35" y="393"/>
                  </a:lnTo>
                  <a:lnTo>
                    <a:pt x="37" y="393"/>
                  </a:lnTo>
                  <a:lnTo>
                    <a:pt x="37" y="395"/>
                  </a:lnTo>
                  <a:lnTo>
                    <a:pt x="37" y="419"/>
                  </a:lnTo>
                  <a:lnTo>
                    <a:pt x="37" y="421"/>
                  </a:lnTo>
                  <a:lnTo>
                    <a:pt x="35" y="421"/>
                  </a:lnTo>
                  <a:lnTo>
                    <a:pt x="35" y="423"/>
                  </a:lnTo>
                  <a:lnTo>
                    <a:pt x="33" y="423"/>
                  </a:lnTo>
                  <a:lnTo>
                    <a:pt x="30" y="423"/>
                  </a:lnTo>
                  <a:lnTo>
                    <a:pt x="30" y="421"/>
                  </a:lnTo>
                  <a:lnTo>
                    <a:pt x="28" y="421"/>
                  </a:lnTo>
                  <a:lnTo>
                    <a:pt x="28" y="419"/>
                  </a:lnTo>
                  <a:close/>
                  <a:moveTo>
                    <a:pt x="28" y="363"/>
                  </a:moveTo>
                  <a:lnTo>
                    <a:pt x="28" y="337"/>
                  </a:lnTo>
                  <a:lnTo>
                    <a:pt x="28" y="335"/>
                  </a:lnTo>
                  <a:lnTo>
                    <a:pt x="30" y="335"/>
                  </a:lnTo>
                  <a:lnTo>
                    <a:pt x="33" y="335"/>
                  </a:lnTo>
                  <a:lnTo>
                    <a:pt x="35" y="335"/>
                  </a:lnTo>
                  <a:lnTo>
                    <a:pt x="37" y="335"/>
                  </a:lnTo>
                  <a:lnTo>
                    <a:pt x="37" y="337"/>
                  </a:lnTo>
                  <a:lnTo>
                    <a:pt x="37" y="363"/>
                  </a:lnTo>
                  <a:lnTo>
                    <a:pt x="37" y="365"/>
                  </a:lnTo>
                  <a:lnTo>
                    <a:pt x="35" y="365"/>
                  </a:lnTo>
                  <a:lnTo>
                    <a:pt x="35" y="367"/>
                  </a:lnTo>
                  <a:lnTo>
                    <a:pt x="33" y="367"/>
                  </a:lnTo>
                  <a:lnTo>
                    <a:pt x="30" y="367"/>
                  </a:lnTo>
                  <a:lnTo>
                    <a:pt x="30" y="365"/>
                  </a:lnTo>
                  <a:lnTo>
                    <a:pt x="28" y="365"/>
                  </a:lnTo>
                  <a:lnTo>
                    <a:pt x="28" y="363"/>
                  </a:lnTo>
                  <a:close/>
                  <a:moveTo>
                    <a:pt x="28" y="304"/>
                  </a:moveTo>
                  <a:lnTo>
                    <a:pt x="28" y="281"/>
                  </a:lnTo>
                  <a:lnTo>
                    <a:pt x="28" y="278"/>
                  </a:lnTo>
                  <a:lnTo>
                    <a:pt x="30" y="278"/>
                  </a:lnTo>
                  <a:lnTo>
                    <a:pt x="30" y="276"/>
                  </a:lnTo>
                  <a:lnTo>
                    <a:pt x="33" y="276"/>
                  </a:lnTo>
                  <a:lnTo>
                    <a:pt x="35" y="276"/>
                  </a:lnTo>
                  <a:lnTo>
                    <a:pt x="35" y="278"/>
                  </a:lnTo>
                  <a:lnTo>
                    <a:pt x="37" y="278"/>
                  </a:lnTo>
                  <a:lnTo>
                    <a:pt x="37" y="281"/>
                  </a:lnTo>
                  <a:lnTo>
                    <a:pt x="37" y="304"/>
                  </a:lnTo>
                  <a:lnTo>
                    <a:pt x="37" y="307"/>
                  </a:lnTo>
                  <a:lnTo>
                    <a:pt x="35" y="309"/>
                  </a:lnTo>
                  <a:lnTo>
                    <a:pt x="33" y="309"/>
                  </a:lnTo>
                  <a:lnTo>
                    <a:pt x="30" y="309"/>
                  </a:lnTo>
                  <a:lnTo>
                    <a:pt x="28" y="307"/>
                  </a:lnTo>
                  <a:lnTo>
                    <a:pt x="28" y="304"/>
                  </a:lnTo>
                  <a:close/>
                  <a:moveTo>
                    <a:pt x="28" y="248"/>
                  </a:moveTo>
                  <a:lnTo>
                    <a:pt x="28" y="225"/>
                  </a:lnTo>
                  <a:lnTo>
                    <a:pt x="28" y="222"/>
                  </a:lnTo>
                  <a:lnTo>
                    <a:pt x="30" y="222"/>
                  </a:lnTo>
                  <a:lnTo>
                    <a:pt x="30" y="220"/>
                  </a:lnTo>
                  <a:lnTo>
                    <a:pt x="33" y="220"/>
                  </a:lnTo>
                  <a:lnTo>
                    <a:pt x="35" y="220"/>
                  </a:lnTo>
                  <a:lnTo>
                    <a:pt x="35" y="222"/>
                  </a:lnTo>
                  <a:lnTo>
                    <a:pt x="37" y="222"/>
                  </a:lnTo>
                  <a:lnTo>
                    <a:pt x="37" y="225"/>
                  </a:lnTo>
                  <a:lnTo>
                    <a:pt x="37" y="248"/>
                  </a:lnTo>
                  <a:lnTo>
                    <a:pt x="37" y="250"/>
                  </a:lnTo>
                  <a:lnTo>
                    <a:pt x="35" y="250"/>
                  </a:lnTo>
                  <a:lnTo>
                    <a:pt x="35" y="253"/>
                  </a:lnTo>
                  <a:lnTo>
                    <a:pt x="33" y="253"/>
                  </a:lnTo>
                  <a:lnTo>
                    <a:pt x="30" y="253"/>
                  </a:lnTo>
                  <a:lnTo>
                    <a:pt x="30" y="250"/>
                  </a:lnTo>
                  <a:lnTo>
                    <a:pt x="28" y="250"/>
                  </a:lnTo>
                  <a:lnTo>
                    <a:pt x="28" y="248"/>
                  </a:lnTo>
                  <a:close/>
                  <a:moveTo>
                    <a:pt x="28" y="192"/>
                  </a:moveTo>
                  <a:lnTo>
                    <a:pt x="28" y="169"/>
                  </a:lnTo>
                  <a:lnTo>
                    <a:pt x="28" y="166"/>
                  </a:lnTo>
                  <a:lnTo>
                    <a:pt x="30" y="166"/>
                  </a:lnTo>
                  <a:lnTo>
                    <a:pt x="30" y="164"/>
                  </a:lnTo>
                  <a:lnTo>
                    <a:pt x="33" y="164"/>
                  </a:lnTo>
                  <a:lnTo>
                    <a:pt x="35" y="164"/>
                  </a:lnTo>
                  <a:lnTo>
                    <a:pt x="35" y="166"/>
                  </a:lnTo>
                  <a:lnTo>
                    <a:pt x="37" y="166"/>
                  </a:lnTo>
                  <a:lnTo>
                    <a:pt x="37" y="169"/>
                  </a:lnTo>
                  <a:lnTo>
                    <a:pt x="37" y="192"/>
                  </a:lnTo>
                  <a:lnTo>
                    <a:pt x="37" y="194"/>
                  </a:lnTo>
                  <a:lnTo>
                    <a:pt x="35" y="194"/>
                  </a:lnTo>
                  <a:lnTo>
                    <a:pt x="35" y="197"/>
                  </a:lnTo>
                  <a:lnTo>
                    <a:pt x="33" y="197"/>
                  </a:lnTo>
                  <a:lnTo>
                    <a:pt x="30" y="197"/>
                  </a:lnTo>
                  <a:lnTo>
                    <a:pt x="30" y="194"/>
                  </a:lnTo>
                  <a:lnTo>
                    <a:pt x="28" y="194"/>
                  </a:lnTo>
                  <a:lnTo>
                    <a:pt x="28" y="192"/>
                  </a:lnTo>
                  <a:close/>
                  <a:moveTo>
                    <a:pt x="28" y="136"/>
                  </a:moveTo>
                  <a:lnTo>
                    <a:pt x="28" y="110"/>
                  </a:lnTo>
                  <a:lnTo>
                    <a:pt x="28" y="108"/>
                  </a:lnTo>
                  <a:lnTo>
                    <a:pt x="30" y="108"/>
                  </a:lnTo>
                  <a:lnTo>
                    <a:pt x="33" y="108"/>
                  </a:lnTo>
                  <a:lnTo>
                    <a:pt x="35" y="108"/>
                  </a:lnTo>
                  <a:lnTo>
                    <a:pt x="37" y="108"/>
                  </a:lnTo>
                  <a:lnTo>
                    <a:pt x="37" y="110"/>
                  </a:lnTo>
                  <a:lnTo>
                    <a:pt x="37" y="136"/>
                  </a:lnTo>
                  <a:lnTo>
                    <a:pt x="37" y="138"/>
                  </a:lnTo>
                  <a:lnTo>
                    <a:pt x="35" y="138"/>
                  </a:lnTo>
                  <a:lnTo>
                    <a:pt x="35" y="141"/>
                  </a:lnTo>
                  <a:lnTo>
                    <a:pt x="33" y="141"/>
                  </a:lnTo>
                  <a:lnTo>
                    <a:pt x="30" y="141"/>
                  </a:lnTo>
                  <a:lnTo>
                    <a:pt x="30" y="138"/>
                  </a:lnTo>
                  <a:lnTo>
                    <a:pt x="28" y="138"/>
                  </a:lnTo>
                  <a:lnTo>
                    <a:pt x="28" y="136"/>
                  </a:lnTo>
                  <a:close/>
                  <a:moveTo>
                    <a:pt x="28" y="78"/>
                  </a:moveTo>
                  <a:lnTo>
                    <a:pt x="28" y="54"/>
                  </a:lnTo>
                  <a:lnTo>
                    <a:pt x="28" y="52"/>
                  </a:lnTo>
                  <a:lnTo>
                    <a:pt x="30" y="52"/>
                  </a:lnTo>
                  <a:lnTo>
                    <a:pt x="30" y="50"/>
                  </a:lnTo>
                  <a:lnTo>
                    <a:pt x="33" y="50"/>
                  </a:lnTo>
                  <a:lnTo>
                    <a:pt x="35" y="50"/>
                  </a:lnTo>
                  <a:lnTo>
                    <a:pt x="35" y="52"/>
                  </a:lnTo>
                  <a:lnTo>
                    <a:pt x="37" y="52"/>
                  </a:lnTo>
                  <a:lnTo>
                    <a:pt x="37" y="54"/>
                  </a:lnTo>
                  <a:lnTo>
                    <a:pt x="37" y="78"/>
                  </a:lnTo>
                  <a:lnTo>
                    <a:pt x="37" y="80"/>
                  </a:lnTo>
                  <a:lnTo>
                    <a:pt x="35" y="82"/>
                  </a:lnTo>
                  <a:lnTo>
                    <a:pt x="33" y="82"/>
                  </a:lnTo>
                  <a:lnTo>
                    <a:pt x="30" y="82"/>
                  </a:lnTo>
                  <a:lnTo>
                    <a:pt x="28" y="80"/>
                  </a:lnTo>
                  <a:lnTo>
                    <a:pt x="28" y="78"/>
                  </a:lnTo>
                  <a:close/>
                  <a:moveTo>
                    <a:pt x="0" y="65"/>
                  </a:moveTo>
                  <a:lnTo>
                    <a:pt x="33" y="0"/>
                  </a:lnTo>
                  <a:lnTo>
                    <a:pt x="65" y="65"/>
                  </a:lnTo>
                  <a:lnTo>
                    <a:pt x="0" y="65"/>
                  </a:lnTo>
                  <a:close/>
                </a:path>
              </a:pathLst>
            </a:custGeom>
            <a:solidFill>
              <a:srgbClr val="000000"/>
            </a:solidFill>
            <a:ln w="3175" cap="flat" cmpd="sng">
              <a:solidFill>
                <a:srgbClr val="000000"/>
              </a:solidFill>
              <a:prstDash val="solid"/>
              <a:miter/>
              <a:headEnd type="none" w="med" len="med"/>
              <a:tailEnd type="none" w="med" len="med"/>
            </a:ln>
          </p:spPr>
          <p:txBody>
            <a:bodyPr/>
            <a:lstStyle/>
            <a:p>
              <a:endParaRPr lang="zh-CN" altLang="en-US"/>
            </a:p>
          </p:txBody>
        </p:sp>
        <p:sp>
          <p:nvSpPr>
            <p:cNvPr id="25611" name="Rectangle 9"/>
            <p:cNvSpPr/>
            <p:nvPr/>
          </p:nvSpPr>
          <p:spPr>
            <a:xfrm>
              <a:off x="2722" y="635"/>
              <a:ext cx="725" cy="408"/>
            </a:xfrm>
            <a:prstGeom prst="rect">
              <a:avLst/>
            </a:prstGeom>
            <a:solidFill>
              <a:srgbClr val="C0FCE9"/>
            </a:solidFill>
            <a:ln w="9525" cap="flat" cmpd="sng">
              <a:solidFill>
                <a:srgbClr val="000099"/>
              </a:solidFill>
              <a:prstDash val="solid"/>
              <a:miter/>
              <a:headEnd type="none" w="med" len="med"/>
              <a:tailEnd type="none" w="med" len="med"/>
            </a:ln>
          </p:spPr>
          <p:txBody>
            <a:bodyPr anchor="t"/>
            <a:lstStyle/>
            <a:p>
              <a:pPr lvl="0" indent="0" algn="ctr"/>
              <a:r>
                <a:rPr lang="zh-CN" altLang="en-US" sz="2000" dirty="0">
                  <a:solidFill>
                    <a:srgbClr val="000000"/>
                  </a:solidFill>
                  <a:latin typeface="宋体" panose="02010600030101010101" pitchFamily="2" charset="-122"/>
                  <a:ea typeface="宋体" panose="02010600030101010101" pitchFamily="2" charset="-122"/>
                </a:rPr>
                <a:t>某个</a:t>
              </a:r>
              <a:r>
                <a:rPr lang="en-US" altLang="x-none" sz="2000" dirty="0">
                  <a:solidFill>
                    <a:srgbClr val="000000"/>
                  </a:solidFill>
                  <a:latin typeface="宋体" panose="02010600030101010101" pitchFamily="2" charset="-122"/>
                  <a:ea typeface="宋体" panose="02010600030101010101" pitchFamily="2" charset="-122"/>
                </a:rPr>
                <a:t>DB</a:t>
              </a:r>
              <a:r>
                <a:rPr lang="zh-CN" altLang="en-US" sz="2000" dirty="0">
                  <a:solidFill>
                    <a:srgbClr val="000000"/>
                  </a:solidFill>
                  <a:latin typeface="宋体" panose="02010600030101010101" pitchFamily="2" charset="-122"/>
                  <a:ea typeface="宋体" panose="02010600030101010101" pitchFamily="2" charset="-122"/>
                </a:rPr>
                <a:t>用户</a:t>
              </a:r>
              <a:endParaRPr lang="zh-CN" altLang="en-US" sz="2000" dirty="0">
                <a:latin typeface="宋体" panose="02010600030101010101" pitchFamily="2" charset="-122"/>
                <a:ea typeface="宋体" panose="02010600030101010101" pitchFamily="2" charset="-122"/>
              </a:endParaRPr>
            </a:p>
          </p:txBody>
        </p:sp>
        <p:sp>
          <p:nvSpPr>
            <p:cNvPr id="25612" name="Rectangle 10"/>
            <p:cNvSpPr/>
            <p:nvPr/>
          </p:nvSpPr>
          <p:spPr>
            <a:xfrm>
              <a:off x="3629" y="136"/>
              <a:ext cx="1270" cy="1134"/>
            </a:xfrm>
            <a:prstGeom prst="rect">
              <a:avLst/>
            </a:prstGeom>
            <a:solidFill>
              <a:srgbClr val="FFFFCC"/>
            </a:solidFill>
            <a:ln w="9525" cap="flat" cmpd="sng">
              <a:solidFill>
                <a:srgbClr val="000099"/>
              </a:solidFill>
              <a:prstDash val="solid"/>
              <a:miter/>
              <a:headEnd type="none" w="med" len="med"/>
              <a:tailEnd type="none" w="med" len="med"/>
            </a:ln>
          </p:spPr>
          <p:txBody>
            <a:bodyPr anchor="t"/>
            <a:lstStyle/>
            <a:p>
              <a:pPr lvl="0" indent="0" algn="ctr"/>
              <a:r>
                <a:rPr lang="zh-CN" altLang="en-US" sz="2000" dirty="0">
                  <a:latin typeface="宋体" panose="02010600030101010101" pitchFamily="2" charset="-122"/>
                  <a:ea typeface="宋体" panose="02010600030101010101" pitchFamily="2" charset="-122"/>
                </a:rPr>
                <a:t>某个数据库</a:t>
              </a:r>
              <a:endParaRPr lang="zh-CN" altLang="en-US" sz="2000" dirty="0">
                <a:latin typeface="宋体" panose="02010600030101010101" pitchFamily="2" charset="-122"/>
                <a:ea typeface="宋体" panose="02010600030101010101" pitchFamily="2" charset="-122"/>
              </a:endParaRPr>
            </a:p>
            <a:p>
              <a:pPr lvl="0" indent="0" algn="ctr"/>
              <a:r>
                <a:rPr lang="zh-CN" altLang="en-US" sz="2000" dirty="0">
                  <a:latin typeface="宋体" panose="02010600030101010101" pitchFamily="2" charset="-122"/>
                  <a:ea typeface="宋体" panose="02010600030101010101" pitchFamily="2" charset="-122"/>
                </a:rPr>
                <a:t>（教学管理</a:t>
              </a:r>
              <a:r>
                <a:rPr lang="en-US" altLang="x-none" sz="2000" dirty="0">
                  <a:latin typeface="宋体" panose="02010600030101010101" pitchFamily="2" charset="-122"/>
                  <a:ea typeface="宋体" panose="02010600030101010101" pitchFamily="2" charset="-122"/>
                </a:rPr>
                <a:t>DB</a:t>
              </a:r>
              <a:r>
                <a:rPr lang="zh-CN" altLang="en-US" sz="2000" dirty="0">
                  <a:latin typeface="宋体" panose="02010600030101010101" pitchFamily="2" charset="-122"/>
                  <a:ea typeface="宋体" panose="02010600030101010101" pitchFamily="2" charset="-122"/>
                </a:rPr>
                <a:t>）</a:t>
              </a:r>
              <a:endParaRPr lang="zh-CN" altLang="en-US" sz="2000" dirty="0">
                <a:latin typeface="宋体" panose="02010600030101010101" pitchFamily="2" charset="-122"/>
                <a:ea typeface="宋体" panose="02010600030101010101" pitchFamily="2" charset="-122"/>
              </a:endParaRPr>
            </a:p>
            <a:p>
              <a:pPr lvl="0" indent="0"/>
              <a:endParaRPr lang="en-US" altLang="x-none" sz="3600" dirty="0">
                <a:latin typeface="宋体" panose="02010600030101010101" pitchFamily="2" charset="-122"/>
                <a:ea typeface="宋体" panose="02010600030101010101" pitchFamily="2" charset="-122"/>
              </a:endParaRPr>
            </a:p>
          </p:txBody>
        </p:sp>
        <p:sp>
          <p:nvSpPr>
            <p:cNvPr id="25613" name="Rectangle 11"/>
            <p:cNvSpPr/>
            <p:nvPr/>
          </p:nvSpPr>
          <p:spPr>
            <a:xfrm>
              <a:off x="3629" y="1406"/>
              <a:ext cx="1270" cy="272"/>
            </a:xfrm>
            <a:prstGeom prst="rect">
              <a:avLst/>
            </a:prstGeom>
            <a:solidFill>
              <a:srgbClr val="FFFFCC"/>
            </a:solidFill>
            <a:ln w="9525" cap="flat" cmpd="sng">
              <a:solidFill>
                <a:srgbClr val="000099"/>
              </a:solidFill>
              <a:prstDash val="solid"/>
              <a:miter/>
              <a:headEnd type="none" w="med" len="med"/>
              <a:tailEnd type="none" w="med" len="med"/>
            </a:ln>
          </p:spPr>
          <p:txBody>
            <a:bodyPr anchor="t"/>
            <a:lstStyle/>
            <a:p>
              <a:pPr lvl="0" indent="0" algn="ctr"/>
              <a:r>
                <a:rPr lang="zh-CN" altLang="en-US" sz="2000" dirty="0">
                  <a:latin typeface="宋体" panose="02010600030101010101" pitchFamily="2" charset="-122"/>
                  <a:ea typeface="宋体" panose="02010600030101010101" pitchFamily="2" charset="-122"/>
                </a:rPr>
                <a:t>其他数据库</a:t>
              </a:r>
              <a:endParaRPr lang="zh-CN" altLang="en-US" sz="2000" dirty="0">
                <a:latin typeface="宋体" panose="02010600030101010101" pitchFamily="2" charset="-122"/>
                <a:ea typeface="宋体" panose="02010600030101010101" pitchFamily="2" charset="-122"/>
              </a:endParaRPr>
            </a:p>
          </p:txBody>
        </p:sp>
        <p:sp>
          <p:nvSpPr>
            <p:cNvPr id="25614" name="Line 12"/>
            <p:cNvSpPr/>
            <p:nvPr/>
          </p:nvSpPr>
          <p:spPr>
            <a:xfrm>
              <a:off x="1089" y="771"/>
              <a:ext cx="1633" cy="0"/>
            </a:xfrm>
            <a:prstGeom prst="line">
              <a:avLst/>
            </a:prstGeom>
            <a:ln w="28575" cap="flat" cmpd="sng">
              <a:solidFill>
                <a:schemeClr val="tx1"/>
              </a:solidFill>
              <a:prstDash val="solid"/>
              <a:round/>
              <a:headEnd type="none" w="med" len="med"/>
              <a:tailEnd type="triangle" w="med" len="med"/>
            </a:ln>
          </p:spPr>
        </p:sp>
        <p:grpSp>
          <p:nvGrpSpPr>
            <p:cNvPr id="25615" name="Group 13"/>
            <p:cNvGrpSpPr/>
            <p:nvPr/>
          </p:nvGrpSpPr>
          <p:grpSpPr>
            <a:xfrm>
              <a:off x="1316" y="771"/>
              <a:ext cx="1270" cy="862"/>
              <a:chOff x="0" y="0"/>
              <a:chExt cx="1270" cy="862"/>
            </a:xfrm>
          </p:grpSpPr>
          <p:sp>
            <p:nvSpPr>
              <p:cNvPr id="25616" name="Rectangle 14"/>
              <p:cNvSpPr/>
              <p:nvPr/>
            </p:nvSpPr>
            <p:spPr>
              <a:xfrm>
                <a:off x="317" y="227"/>
                <a:ext cx="816" cy="635"/>
              </a:xfrm>
              <a:prstGeom prst="rect">
                <a:avLst/>
              </a:prstGeom>
              <a:solidFill>
                <a:srgbClr val="C0FCE9"/>
              </a:solidFill>
              <a:ln w="9525" cap="flat" cmpd="sng">
                <a:solidFill>
                  <a:srgbClr val="000099"/>
                </a:solidFill>
                <a:prstDash val="solid"/>
                <a:miter/>
                <a:headEnd type="none" w="med" len="med"/>
                <a:tailEnd type="none" w="med" len="med"/>
              </a:ln>
            </p:spPr>
            <p:txBody>
              <a:bodyPr anchor="t"/>
              <a:lstStyle/>
              <a:p>
                <a:pPr lvl="0" indent="0"/>
                <a:r>
                  <a:rPr lang="zh-CN" altLang="en-US" sz="2000" dirty="0">
                    <a:solidFill>
                      <a:srgbClr val="000000"/>
                    </a:solidFill>
                    <a:latin typeface="Times New Roman" panose="02020603050405020304" pitchFamily="2" charset="0"/>
                    <a:ea typeface="宋体" panose="02010600030101010101" pitchFamily="2" charset="-122"/>
                  </a:rPr>
                  <a:t>定义角色（</a:t>
                </a:r>
                <a:r>
                  <a:rPr lang="en-US" altLang="x-none" sz="2000" dirty="0">
                    <a:solidFill>
                      <a:srgbClr val="000000"/>
                    </a:solidFill>
                    <a:latin typeface="Times New Roman" panose="02020603050405020304" pitchFamily="2" charset="0"/>
                    <a:ea typeface="宋体" panose="02010600030101010101" pitchFamily="2" charset="-122"/>
                  </a:rPr>
                  <a:t>role)</a:t>
                </a:r>
                <a:r>
                  <a:rPr lang="en-US" altLang="x-none" sz="2400" dirty="0">
                    <a:solidFill>
                      <a:srgbClr val="000000"/>
                    </a:solidFill>
                    <a:latin typeface="Times New Roman" panose="02020603050405020304" pitchFamily="2" charset="0"/>
                    <a:ea typeface="宋体" panose="02010600030101010101" pitchFamily="2" charset="-122"/>
                  </a:rPr>
                  <a:t> </a:t>
                </a:r>
                <a:endParaRPr lang="en-US" altLang="x-none" sz="2400" dirty="0">
                  <a:latin typeface="Times New Roman" panose="02020603050405020304" pitchFamily="2" charset="0"/>
                  <a:ea typeface="宋体" panose="02010600030101010101" pitchFamily="2" charset="-122"/>
                </a:endParaRPr>
              </a:p>
            </p:txBody>
          </p:sp>
          <p:sp>
            <p:nvSpPr>
              <p:cNvPr id="25617" name="Line 15"/>
              <p:cNvSpPr/>
              <p:nvPr/>
            </p:nvSpPr>
            <p:spPr>
              <a:xfrm>
                <a:off x="0" y="0"/>
                <a:ext cx="0" cy="499"/>
              </a:xfrm>
              <a:prstGeom prst="line">
                <a:avLst/>
              </a:prstGeom>
              <a:ln w="28575" cap="flat" cmpd="sng">
                <a:solidFill>
                  <a:schemeClr val="tx1"/>
                </a:solidFill>
                <a:prstDash val="solid"/>
                <a:round/>
                <a:headEnd type="none" w="med" len="med"/>
                <a:tailEnd type="none" w="med" len="med"/>
              </a:ln>
            </p:spPr>
          </p:sp>
          <p:sp>
            <p:nvSpPr>
              <p:cNvPr id="25618" name="Line 16"/>
              <p:cNvSpPr/>
              <p:nvPr/>
            </p:nvSpPr>
            <p:spPr>
              <a:xfrm>
                <a:off x="0" y="499"/>
                <a:ext cx="317" cy="0"/>
              </a:xfrm>
              <a:prstGeom prst="line">
                <a:avLst/>
              </a:prstGeom>
              <a:ln w="28575" cap="flat" cmpd="sng">
                <a:solidFill>
                  <a:schemeClr val="tx1"/>
                </a:solidFill>
                <a:prstDash val="solid"/>
                <a:round/>
                <a:headEnd type="none" w="med" len="med"/>
                <a:tailEnd type="triangle" w="med" len="med"/>
              </a:ln>
            </p:spPr>
          </p:sp>
          <p:sp>
            <p:nvSpPr>
              <p:cNvPr id="25619" name="Line 17"/>
              <p:cNvSpPr/>
              <p:nvPr/>
            </p:nvSpPr>
            <p:spPr>
              <a:xfrm>
                <a:off x="1133" y="544"/>
                <a:ext cx="137" cy="0"/>
              </a:xfrm>
              <a:prstGeom prst="line">
                <a:avLst/>
              </a:prstGeom>
              <a:ln w="28575" cap="flat" cmpd="sng">
                <a:solidFill>
                  <a:schemeClr val="tx1"/>
                </a:solidFill>
                <a:prstDash val="solid"/>
                <a:round/>
                <a:headEnd type="none" w="med" len="med"/>
                <a:tailEnd type="none" w="med" len="med"/>
              </a:ln>
            </p:spPr>
          </p:sp>
          <p:sp>
            <p:nvSpPr>
              <p:cNvPr id="25620" name="Line 18"/>
              <p:cNvSpPr/>
              <p:nvPr/>
            </p:nvSpPr>
            <p:spPr>
              <a:xfrm flipV="1">
                <a:off x="1270" y="0"/>
                <a:ext cx="0" cy="544"/>
              </a:xfrm>
              <a:prstGeom prst="line">
                <a:avLst/>
              </a:prstGeom>
              <a:ln w="28575" cap="flat" cmpd="sng">
                <a:solidFill>
                  <a:schemeClr val="tx1"/>
                </a:solidFill>
                <a:prstDash val="solid"/>
                <a:round/>
                <a:headEnd type="none" w="med" len="med"/>
                <a:tailEnd type="triangle" w="med" len="med"/>
              </a:ln>
            </p:spPr>
          </p:sp>
        </p:grpSp>
        <p:sp>
          <p:nvSpPr>
            <p:cNvPr id="25621" name="Rectangle 19"/>
            <p:cNvSpPr/>
            <p:nvPr/>
          </p:nvSpPr>
          <p:spPr>
            <a:xfrm>
              <a:off x="3810" y="680"/>
              <a:ext cx="953" cy="227"/>
            </a:xfrm>
            <a:prstGeom prst="rect">
              <a:avLst/>
            </a:prstGeom>
            <a:solidFill>
              <a:srgbClr val="E6F7FA"/>
            </a:solidFill>
            <a:ln w="9525" cap="flat" cmpd="sng">
              <a:solidFill>
                <a:srgbClr val="000099"/>
              </a:solidFill>
              <a:prstDash val="solid"/>
              <a:miter/>
              <a:headEnd type="none" w="med" len="med"/>
              <a:tailEnd type="none" w="med" len="med"/>
            </a:ln>
          </p:spPr>
          <p:txBody>
            <a:bodyPr anchor="t"/>
            <a:lstStyle/>
            <a:p>
              <a:pPr lvl="0" indent="0" algn="ctr"/>
              <a:r>
                <a:rPr lang="en-US" altLang="x-none" dirty="0">
                  <a:solidFill>
                    <a:srgbClr val="000000"/>
                  </a:solidFill>
                  <a:latin typeface="宋体" panose="02010600030101010101" pitchFamily="2" charset="-122"/>
                  <a:ea typeface="宋体" panose="02010600030101010101" pitchFamily="2" charset="-122"/>
                </a:rPr>
                <a:t>SQL</a:t>
              </a:r>
              <a:r>
                <a:rPr lang="zh-CN" altLang="en-US" dirty="0">
                  <a:solidFill>
                    <a:srgbClr val="000000"/>
                  </a:solidFill>
                  <a:latin typeface="宋体" panose="02010600030101010101" pitchFamily="2" charset="-122"/>
                  <a:ea typeface="宋体" panose="02010600030101010101" pitchFamily="2" charset="-122"/>
                </a:rPr>
                <a:t>使用授权</a:t>
              </a:r>
              <a:endParaRPr lang="zh-CN" altLang="en-US" dirty="0">
                <a:latin typeface="宋体" panose="02010600030101010101" pitchFamily="2" charset="-122"/>
                <a:ea typeface="宋体" panose="02010600030101010101" pitchFamily="2" charset="-122"/>
              </a:endParaRPr>
            </a:p>
          </p:txBody>
        </p:sp>
        <p:sp>
          <p:nvSpPr>
            <p:cNvPr id="25622" name="Rectangle 20"/>
            <p:cNvSpPr/>
            <p:nvPr/>
          </p:nvSpPr>
          <p:spPr>
            <a:xfrm>
              <a:off x="3810" y="998"/>
              <a:ext cx="953" cy="227"/>
            </a:xfrm>
            <a:prstGeom prst="rect">
              <a:avLst/>
            </a:prstGeom>
            <a:solidFill>
              <a:srgbClr val="E6F7FA"/>
            </a:solidFill>
            <a:ln w="9525" cap="flat" cmpd="sng">
              <a:solidFill>
                <a:srgbClr val="000099"/>
              </a:solidFill>
              <a:prstDash val="solid"/>
              <a:miter/>
              <a:headEnd type="none" w="med" len="med"/>
              <a:tailEnd type="none" w="med" len="med"/>
            </a:ln>
          </p:spPr>
          <p:txBody>
            <a:bodyPr anchor="t"/>
            <a:lstStyle/>
            <a:p>
              <a:pPr lvl="0" indent="0" algn="ctr"/>
              <a:r>
                <a:rPr lang="en-US" altLang="x-none" dirty="0">
                  <a:solidFill>
                    <a:srgbClr val="000000"/>
                  </a:solidFill>
                  <a:latin typeface="宋体" panose="02010600030101010101" pitchFamily="2" charset="-122"/>
                  <a:ea typeface="宋体" panose="02010600030101010101" pitchFamily="2" charset="-122"/>
                </a:rPr>
                <a:t>DB</a:t>
              </a:r>
              <a:r>
                <a:rPr lang="zh-CN" altLang="en-US" dirty="0">
                  <a:solidFill>
                    <a:srgbClr val="000000"/>
                  </a:solidFill>
                  <a:latin typeface="宋体" panose="02010600030101010101" pitchFamily="2" charset="-122"/>
                  <a:ea typeface="宋体" panose="02010600030101010101" pitchFamily="2" charset="-122"/>
                </a:rPr>
                <a:t>对象授权</a:t>
              </a:r>
              <a:endParaRPr lang="zh-CN" altLang="en-US" dirty="0">
                <a:latin typeface="宋体" panose="02010600030101010101" pitchFamily="2" charset="-122"/>
                <a:ea typeface="宋体" panose="02010600030101010101" pitchFamily="2" charset="-122"/>
              </a:endParaRPr>
            </a:p>
          </p:txBody>
        </p:sp>
        <p:grpSp>
          <p:nvGrpSpPr>
            <p:cNvPr id="25623" name="Group 21"/>
            <p:cNvGrpSpPr/>
            <p:nvPr/>
          </p:nvGrpSpPr>
          <p:grpSpPr>
            <a:xfrm>
              <a:off x="3266" y="816"/>
              <a:ext cx="544" cy="641"/>
              <a:chOff x="0" y="0"/>
              <a:chExt cx="544" cy="641"/>
            </a:xfrm>
          </p:grpSpPr>
          <p:sp>
            <p:nvSpPr>
              <p:cNvPr id="25624" name="Line 22"/>
              <p:cNvSpPr/>
              <p:nvPr/>
            </p:nvSpPr>
            <p:spPr>
              <a:xfrm>
                <a:off x="181" y="0"/>
                <a:ext cx="363" cy="0"/>
              </a:xfrm>
              <a:prstGeom prst="line">
                <a:avLst/>
              </a:prstGeom>
              <a:ln w="28575" cap="flat" cmpd="sng">
                <a:solidFill>
                  <a:schemeClr val="tx1"/>
                </a:solidFill>
                <a:prstDash val="solid"/>
                <a:round/>
                <a:headEnd type="none" w="med" len="med"/>
                <a:tailEnd type="triangle" w="med" len="med"/>
              </a:ln>
            </p:spPr>
          </p:sp>
          <p:sp>
            <p:nvSpPr>
              <p:cNvPr id="25625" name="Line 23"/>
              <p:cNvSpPr/>
              <p:nvPr/>
            </p:nvSpPr>
            <p:spPr>
              <a:xfrm>
                <a:off x="227" y="0"/>
                <a:ext cx="0" cy="272"/>
              </a:xfrm>
              <a:prstGeom prst="line">
                <a:avLst/>
              </a:prstGeom>
              <a:ln w="28575" cap="flat" cmpd="sng">
                <a:solidFill>
                  <a:schemeClr val="tx1"/>
                </a:solidFill>
                <a:prstDash val="solid"/>
                <a:round/>
                <a:headEnd type="none" w="med" len="med"/>
                <a:tailEnd type="none" w="med" len="med"/>
              </a:ln>
            </p:spPr>
          </p:sp>
          <p:sp>
            <p:nvSpPr>
              <p:cNvPr id="25626" name="Line 24"/>
              <p:cNvSpPr/>
              <p:nvPr/>
            </p:nvSpPr>
            <p:spPr>
              <a:xfrm>
                <a:off x="227" y="272"/>
                <a:ext cx="317" cy="0"/>
              </a:xfrm>
              <a:prstGeom prst="line">
                <a:avLst/>
              </a:prstGeom>
              <a:ln w="28575" cap="flat" cmpd="sng">
                <a:solidFill>
                  <a:schemeClr val="tx1"/>
                </a:solidFill>
                <a:prstDash val="solid"/>
                <a:round/>
                <a:headEnd type="none" w="med" len="med"/>
                <a:tailEnd type="triangle" w="med" len="med"/>
              </a:ln>
            </p:spPr>
          </p:sp>
          <p:sp>
            <p:nvSpPr>
              <p:cNvPr id="25627" name="Rectangle 25"/>
              <p:cNvSpPr/>
              <p:nvPr/>
            </p:nvSpPr>
            <p:spPr>
              <a:xfrm>
                <a:off x="0" y="317"/>
                <a:ext cx="528" cy="324"/>
              </a:xfrm>
              <a:prstGeom prst="rect">
                <a:avLst/>
              </a:prstGeom>
              <a:noFill/>
              <a:ln w="9525">
                <a:noFill/>
              </a:ln>
            </p:spPr>
            <p:txBody>
              <a:bodyPr wrap="none" lIns="90000" tIns="46800" rIns="90000" bIns="46800" anchor="t">
                <a:spAutoFit/>
              </a:bodyPr>
              <a:lstStyle/>
              <a:p>
                <a:pPr lvl="0" indent="0"/>
                <a:r>
                  <a:rPr lang="zh-CN" altLang="en-US" sz="2000" dirty="0">
                    <a:solidFill>
                      <a:srgbClr val="CC0000"/>
                    </a:solidFill>
                    <a:latin typeface="宋体" panose="02010600030101010101" pitchFamily="2" charset="-122"/>
                    <a:ea typeface="宋体" panose="02010600030101010101" pitchFamily="2" charset="-122"/>
                  </a:rPr>
                  <a:t>授权 </a:t>
                </a:r>
                <a:endParaRPr lang="zh-CN" altLang="en-US" sz="2000" dirty="0">
                  <a:solidFill>
                    <a:srgbClr val="CC0000"/>
                  </a:solidFill>
                  <a:latin typeface="宋体" panose="02010600030101010101" pitchFamily="2" charset="-122"/>
                  <a:ea typeface="宋体" panose="02010600030101010101" pitchFamily="2" charset="-122"/>
                </a:endParaRPr>
              </a:p>
            </p:txBody>
          </p:sp>
        </p:grpSp>
      </p:grpSp>
      <p:sp>
        <p:nvSpPr>
          <p:cNvPr id="26653" name="Text Box 26"/>
          <p:cNvSpPr txBox="1"/>
          <p:nvPr/>
        </p:nvSpPr>
        <p:spPr>
          <a:xfrm>
            <a:off x="465138" y="1878013"/>
            <a:ext cx="8286750" cy="4335780"/>
          </a:xfrm>
          <a:prstGeom prst="rect">
            <a:avLst/>
          </a:prstGeom>
          <a:solidFill>
            <a:schemeClr val="bg1"/>
          </a:solidFill>
          <a:ln w="9525" cap="flat" cmpd="sng">
            <a:solidFill>
              <a:schemeClr val="tx1"/>
            </a:solidFill>
            <a:prstDash val="solid"/>
            <a:miter/>
            <a:headEnd type="none" w="med" len="med"/>
            <a:tailEnd type="none" w="med" len="med"/>
          </a:ln>
        </p:spPr>
        <p:txBody>
          <a:bodyPr lIns="90000" tIns="46800" rIns="90000" bIns="46800" anchor="t">
            <a:spAutoFit/>
          </a:bodyPr>
          <a:lstStyle/>
          <a:p>
            <a:pPr marL="457200" lvl="0" indent="-457200">
              <a:lnSpc>
                <a:spcPct val="114000"/>
              </a:lnSpc>
              <a:buAutoNum type="arabicPeriod"/>
            </a:pPr>
            <a:r>
              <a:rPr lang="en-US" altLang="x-none" sz="2000" dirty="0">
                <a:latin typeface="华文楷体" panose="02010600040101010101" pitchFamily="2" charset="-122"/>
                <a:ea typeface="华文楷体" panose="02010600040101010101" pitchFamily="2" charset="-122"/>
              </a:rPr>
              <a:t>SQL SERVER</a:t>
            </a:r>
            <a:r>
              <a:rPr lang="zh-CN" altLang="en-US" sz="2000" dirty="0">
                <a:latin typeface="华文楷体" panose="02010600040101010101" pitchFamily="2" charset="-122"/>
                <a:ea typeface="华文楷体" panose="02010600040101010101" pitchFamily="2" charset="-122"/>
              </a:rPr>
              <a:t>在安装时，自动创建</a:t>
            </a:r>
            <a:r>
              <a:rPr lang="en-US" altLang="x-none" sz="2000" dirty="0">
                <a:latin typeface="华文楷体" panose="02010600040101010101" pitchFamily="2" charset="-122"/>
                <a:ea typeface="华文楷体" panose="02010600040101010101" pitchFamily="2" charset="-122"/>
              </a:rPr>
              <a:t>sa</a:t>
            </a:r>
            <a:r>
              <a:rPr lang="zh-CN" altLang="en-US" sz="2000" dirty="0">
                <a:latin typeface="华文楷体" panose="02010600040101010101" pitchFamily="2" charset="-122"/>
                <a:ea typeface="华文楷体" panose="02010600040101010101" pitchFamily="2" charset="-122"/>
              </a:rPr>
              <a:t>（系统管理员），具有三级体系的所有权限。</a:t>
            </a:r>
            <a:endParaRPr lang="zh-CN" altLang="en-US" sz="2000" dirty="0">
              <a:latin typeface="华文楷体" panose="02010600040101010101" pitchFamily="2" charset="-122"/>
              <a:ea typeface="华文楷体" panose="02010600040101010101" pitchFamily="2" charset="-122"/>
            </a:endParaRPr>
          </a:p>
          <a:p>
            <a:pPr marL="457200" lvl="0" indent="-457200">
              <a:lnSpc>
                <a:spcPct val="114000"/>
              </a:lnSpc>
              <a:buAutoNum type="arabicPeriod"/>
            </a:pPr>
            <a:r>
              <a:rPr lang="zh-CN" altLang="en-US" sz="2000" dirty="0">
                <a:latin typeface="华文楷体" panose="02010600040101010101" pitchFamily="2" charset="-122"/>
                <a:ea typeface="华文楷体" panose="02010600040101010101" pitchFamily="2" charset="-122"/>
              </a:rPr>
              <a:t>由</a:t>
            </a:r>
            <a:r>
              <a:rPr lang="en-US" altLang="x-none" sz="2000" dirty="0">
                <a:latin typeface="华文楷体" panose="02010600040101010101" pitchFamily="2" charset="-122"/>
                <a:ea typeface="华文楷体" panose="02010600040101010101" pitchFamily="2" charset="-122"/>
              </a:rPr>
              <a:t>sa</a:t>
            </a:r>
            <a:r>
              <a:rPr lang="zh-CN" altLang="en-US" sz="2000" dirty="0">
                <a:latin typeface="华文楷体" panose="02010600040101010101" pitchFamily="2" charset="-122"/>
                <a:ea typeface="华文楷体" panose="02010600040101010101" pitchFamily="2" charset="-122"/>
              </a:rPr>
              <a:t>创建</a:t>
            </a:r>
            <a:r>
              <a:rPr lang="en-US" altLang="x-none" sz="2000" dirty="0">
                <a:latin typeface="华文楷体" panose="02010600040101010101" pitchFamily="2" charset="-122"/>
                <a:ea typeface="华文楷体" panose="02010600040101010101" pitchFamily="2" charset="-122"/>
              </a:rPr>
              <a:t>RDBMS</a:t>
            </a:r>
            <a:r>
              <a:rPr lang="zh-CN" altLang="en-US" sz="2000" dirty="0">
                <a:latin typeface="华文楷体" panose="02010600040101010101" pitchFamily="2" charset="-122"/>
                <a:ea typeface="华文楷体" panose="02010600040101010101" pitchFamily="2" charset="-122"/>
              </a:rPr>
              <a:t>登录用户：可利用存储过程 </a:t>
            </a:r>
            <a:endParaRPr lang="zh-CN" altLang="en-US" sz="2000" dirty="0">
              <a:latin typeface="华文楷体" panose="02010600040101010101" pitchFamily="2" charset="-122"/>
              <a:ea typeface="华文楷体" panose="02010600040101010101" pitchFamily="2" charset="-122"/>
            </a:endParaRPr>
          </a:p>
          <a:p>
            <a:pPr marL="457200" lvl="0" indent="-457200">
              <a:lnSpc>
                <a:spcPct val="114000"/>
              </a:lnSpc>
            </a:pPr>
            <a:r>
              <a:rPr lang="zh-CN" altLang="en-US" sz="2000" dirty="0">
                <a:latin typeface="华文楷体" panose="02010600040101010101" pitchFamily="2" charset="-122"/>
                <a:ea typeface="华文楷体" panose="02010600040101010101" pitchFamily="2" charset="-122"/>
              </a:rPr>
              <a:t>        </a:t>
            </a:r>
            <a:r>
              <a:rPr lang="en-US" altLang="x-none" sz="2000" dirty="0">
                <a:latin typeface="华文楷体" panose="02010600040101010101" pitchFamily="2" charset="-122"/>
                <a:ea typeface="华文楷体" panose="02010600040101010101" pitchFamily="2" charset="-122"/>
              </a:rPr>
              <a:t>sp_addlogin [@loginame = ] ‘</a:t>
            </a:r>
            <a:r>
              <a:rPr lang="zh-CN" altLang="en-US" sz="2000" dirty="0">
                <a:latin typeface="华文楷体" panose="02010600040101010101" pitchFamily="2" charset="-122"/>
                <a:ea typeface="华文楷体" panose="02010600040101010101" pitchFamily="2" charset="-122"/>
              </a:rPr>
              <a:t>登录名’</a:t>
            </a:r>
            <a:endParaRPr lang="zh-CN" altLang="en-US" sz="2000" dirty="0">
              <a:latin typeface="华文楷体" panose="02010600040101010101" pitchFamily="2" charset="-122"/>
              <a:ea typeface="华文楷体" panose="02010600040101010101" pitchFamily="2" charset="-122"/>
            </a:endParaRPr>
          </a:p>
          <a:p>
            <a:pPr marL="457200" lvl="0" indent="-457200">
              <a:lnSpc>
                <a:spcPct val="114000"/>
              </a:lnSpc>
            </a:pPr>
            <a:r>
              <a:rPr lang="zh-CN" altLang="en-US" sz="2000" dirty="0">
                <a:latin typeface="华文楷体" panose="02010600040101010101" pitchFamily="2" charset="-122"/>
                <a:ea typeface="华文楷体" panose="02010600040101010101" pitchFamily="2" charset="-122"/>
              </a:rPr>
              <a:t>                            </a:t>
            </a:r>
            <a:r>
              <a:rPr lang="en-US" altLang="x-none" sz="2000" dirty="0">
                <a:latin typeface="华文楷体" panose="02010600040101010101" pitchFamily="2" charset="-122"/>
                <a:ea typeface="华文楷体" panose="02010600040101010101" pitchFamily="2" charset="-122"/>
              </a:rPr>
              <a:t>[ , [ @passwd = ] ‘</a:t>
            </a:r>
            <a:r>
              <a:rPr lang="zh-CN" altLang="en-US" sz="2000" dirty="0">
                <a:latin typeface="华文楷体" panose="02010600040101010101" pitchFamily="2" charset="-122"/>
                <a:ea typeface="华文楷体" panose="02010600040101010101" pitchFamily="2" charset="-122"/>
              </a:rPr>
              <a:t>口令’ </a:t>
            </a:r>
            <a:r>
              <a:rPr lang="en-US" altLang="x-none" sz="2000" dirty="0">
                <a:latin typeface="华文楷体" panose="02010600040101010101" pitchFamily="2" charset="-122"/>
                <a:ea typeface="华文楷体" panose="02010600040101010101" pitchFamily="2" charset="-122"/>
              </a:rPr>
              <a:t>]</a:t>
            </a:r>
            <a:endParaRPr lang="en-US" altLang="x-none" sz="2000" dirty="0">
              <a:latin typeface="华文楷体" panose="02010600040101010101" pitchFamily="2" charset="-122"/>
              <a:ea typeface="华文楷体" panose="02010600040101010101" pitchFamily="2" charset="-122"/>
            </a:endParaRPr>
          </a:p>
          <a:p>
            <a:pPr marL="457200" lvl="0" indent="-457200">
              <a:lnSpc>
                <a:spcPct val="114000"/>
              </a:lnSpc>
            </a:pPr>
            <a:r>
              <a:rPr lang="en-US" altLang="x-none" sz="2000" dirty="0">
                <a:latin typeface="华文楷体" panose="02010600040101010101" pitchFamily="2" charset="-122"/>
                <a:ea typeface="华文楷体" panose="02010600040101010101" pitchFamily="2" charset="-122"/>
              </a:rPr>
              <a:t>                            [ , [ @defdb = ] ‘</a:t>
            </a:r>
            <a:r>
              <a:rPr lang="zh-CN" altLang="en-US" sz="2000" dirty="0">
                <a:latin typeface="华文楷体" panose="02010600040101010101" pitchFamily="2" charset="-122"/>
                <a:ea typeface="华文楷体" panose="02010600040101010101" pitchFamily="2" charset="-122"/>
              </a:rPr>
              <a:t>缺省数据库名’ </a:t>
            </a:r>
            <a:r>
              <a:rPr lang="en-US" altLang="x-none" sz="2000" dirty="0">
                <a:latin typeface="华文楷体" panose="02010600040101010101" pitchFamily="2" charset="-122"/>
                <a:ea typeface="华文楷体" panose="02010600040101010101" pitchFamily="2" charset="-122"/>
              </a:rPr>
              <a:t>]</a:t>
            </a:r>
            <a:endParaRPr lang="en-US" altLang="x-none" sz="2000" dirty="0">
              <a:latin typeface="华文楷体" panose="02010600040101010101" pitchFamily="2" charset="-122"/>
              <a:ea typeface="华文楷体" panose="02010600040101010101" pitchFamily="2" charset="-122"/>
            </a:endParaRPr>
          </a:p>
          <a:p>
            <a:pPr marL="457200" lvl="0" indent="-457200">
              <a:lnSpc>
                <a:spcPct val="114000"/>
              </a:lnSpc>
            </a:pPr>
            <a:r>
              <a:rPr lang="en-US" altLang="x-none" sz="2200" dirty="0">
                <a:solidFill>
                  <a:srgbClr val="FF0000"/>
                </a:solidFill>
                <a:latin typeface="华文楷体" panose="02010600040101010101" pitchFamily="2" charset="-122"/>
                <a:ea typeface="华文楷体" panose="02010600040101010101" pitchFamily="2" charset="-122"/>
              </a:rPr>
              <a:t>sp_addlogin @loginame='wtest6',@passwd='wsy',@defdb='Master'</a:t>
            </a:r>
            <a:endParaRPr lang="en-US" altLang="x-none" sz="2200" dirty="0">
              <a:solidFill>
                <a:srgbClr val="FF0000"/>
              </a:solidFill>
              <a:latin typeface="华文楷体" panose="02010600040101010101" pitchFamily="2" charset="-122"/>
              <a:ea typeface="华文楷体" panose="02010600040101010101" pitchFamily="2" charset="-122"/>
            </a:endParaRPr>
          </a:p>
          <a:p>
            <a:pPr marL="457200" lvl="0" indent="-457200">
              <a:lnSpc>
                <a:spcPct val="114000"/>
              </a:lnSpc>
            </a:pPr>
            <a:r>
              <a:rPr lang="en-US" altLang="x-none" sz="2000" dirty="0">
                <a:solidFill>
                  <a:srgbClr val="FF0000"/>
                </a:solidFill>
                <a:latin typeface="华文楷体" panose="02010600040101010101" pitchFamily="2" charset="-122"/>
                <a:ea typeface="华文楷体" panose="02010600040101010101" pitchFamily="2" charset="-122"/>
              </a:rPr>
              <a:t>sp_addlogin 'wtest6','wsy','master'</a:t>
            </a:r>
            <a:endParaRPr lang="en-US" altLang="x-none" sz="2000" dirty="0">
              <a:solidFill>
                <a:srgbClr val="FF0000"/>
              </a:solidFill>
              <a:latin typeface="华文楷体" panose="02010600040101010101" pitchFamily="2" charset="-122"/>
              <a:ea typeface="华文楷体" panose="02010600040101010101" pitchFamily="2" charset="-122"/>
            </a:endParaRPr>
          </a:p>
          <a:p>
            <a:pPr marL="457200" lvl="0" indent="-457200">
              <a:lnSpc>
                <a:spcPct val="114000"/>
              </a:lnSpc>
            </a:pPr>
            <a:r>
              <a:rPr lang="zh-CN" altLang="en-US" sz="2000" dirty="0">
                <a:solidFill>
                  <a:srgbClr val="FF0000"/>
                </a:solidFill>
                <a:latin typeface="华文楷体" panose="02010600040101010101" pitchFamily="2" charset="-122"/>
                <a:ea typeface="华文楷体" panose="02010600040101010101" pitchFamily="2" charset="-122"/>
              </a:rPr>
              <a:t>删除登陆用户</a:t>
            </a:r>
            <a:endParaRPr lang="zh-CN" altLang="en-US" sz="2000" dirty="0">
              <a:solidFill>
                <a:srgbClr val="FF0000"/>
              </a:solidFill>
              <a:latin typeface="华文楷体" panose="02010600040101010101" pitchFamily="2" charset="-122"/>
              <a:ea typeface="华文楷体" panose="02010600040101010101" pitchFamily="2" charset="-122"/>
            </a:endParaRPr>
          </a:p>
          <a:p>
            <a:pPr marL="457200" lvl="0" indent="-457200">
              <a:lnSpc>
                <a:spcPct val="114000"/>
              </a:lnSpc>
            </a:pPr>
            <a:r>
              <a:rPr lang="en-US" altLang="x-none" sz="2000" dirty="0">
                <a:solidFill>
                  <a:srgbClr val="FF0000"/>
                </a:solidFill>
                <a:latin typeface="华文楷体" panose="02010600040101010101" pitchFamily="2" charset="-122"/>
                <a:ea typeface="华文楷体" panose="02010600040101010101" pitchFamily="2" charset="-122"/>
              </a:rPr>
              <a:t>sp_droplogin </a:t>
            </a:r>
            <a:r>
              <a:rPr lang="en-US" altLang="x-none" sz="2000" dirty="0">
                <a:solidFill>
                  <a:srgbClr val="FF0000"/>
                </a:solidFill>
                <a:latin typeface="华文楷体" panose="02010600040101010101" pitchFamily="2" charset="-122"/>
                <a:ea typeface="华文楷体" panose="02010600040101010101" pitchFamily="2" charset="-122"/>
                <a:sym typeface="+mn-ea"/>
              </a:rPr>
              <a:t>'wtest6'</a:t>
            </a:r>
            <a:endParaRPr lang="en-US" altLang="x-none" sz="2000" dirty="0">
              <a:solidFill>
                <a:srgbClr val="FF0000"/>
              </a:solidFill>
              <a:latin typeface="华文楷体" panose="02010600040101010101" pitchFamily="2" charset="-122"/>
              <a:ea typeface="华文楷体" panose="02010600040101010101" pitchFamily="2" charset="-122"/>
            </a:endParaRPr>
          </a:p>
          <a:p>
            <a:pPr marL="457200" lvl="0" indent="-457200">
              <a:lnSpc>
                <a:spcPct val="114000"/>
              </a:lnSpc>
            </a:pPr>
            <a:r>
              <a:rPr lang="en-US" altLang="x-none" sz="2000" dirty="0">
                <a:latin typeface="华文楷体" panose="02010600040101010101" pitchFamily="2" charset="-122"/>
                <a:ea typeface="华文楷体" panose="02010600040101010101" pitchFamily="2" charset="-122"/>
              </a:rPr>
              <a:t>3.</a:t>
            </a:r>
            <a:r>
              <a:rPr lang="zh-CN" altLang="en-US" sz="2000" dirty="0">
                <a:latin typeface="华文楷体" panose="02010600040101010101" pitchFamily="2" charset="-122"/>
                <a:ea typeface="华文楷体" panose="02010600040101010101" pitchFamily="2" charset="-122"/>
              </a:rPr>
              <a:t>登录用户一旦创建即可连接 </a:t>
            </a:r>
            <a:r>
              <a:rPr lang="en-US" altLang="x-none" sz="2000" dirty="0">
                <a:latin typeface="华文楷体" panose="02010600040101010101" pitchFamily="2" charset="-122"/>
                <a:ea typeface="华文楷体" panose="02010600040101010101" pitchFamily="2" charset="-122"/>
              </a:rPr>
              <a:t>SQL Server</a:t>
            </a:r>
            <a:r>
              <a:rPr lang="zh-CN" altLang="en-US" sz="2000" dirty="0">
                <a:latin typeface="华文楷体" panose="02010600040101010101" pitchFamily="2" charset="-122"/>
                <a:ea typeface="华文楷体" panose="02010600040101010101" pitchFamily="2" charset="-122"/>
              </a:rPr>
              <a:t>。如果指定了默认数据库，则一登录</a:t>
            </a:r>
            <a:r>
              <a:rPr lang="en-US" altLang="x-none" sz="2000" dirty="0">
                <a:latin typeface="华文楷体" panose="02010600040101010101" pitchFamily="2" charset="-122"/>
                <a:ea typeface="华文楷体" panose="02010600040101010101" pitchFamily="2" charset="-122"/>
              </a:rPr>
              <a:t>SQL Server</a:t>
            </a:r>
            <a:r>
              <a:rPr lang="zh-CN" altLang="en-US" sz="2000" dirty="0">
                <a:latin typeface="华文楷体" panose="02010600040101010101" pitchFamily="2" charset="-122"/>
                <a:ea typeface="华文楷体" panose="02010600040101010101" pitchFamily="2" charset="-122"/>
              </a:rPr>
              <a:t>就连接到该数据库。</a:t>
            </a:r>
            <a:endParaRPr lang="zh-CN" altLang="en-US" sz="2000" dirty="0">
              <a:latin typeface="华文楷体" panose="02010600040101010101" pitchFamily="2" charset="-122"/>
              <a:ea typeface="华文楷体" panose="02010600040101010101" pitchFamily="2" charset="-122"/>
            </a:endParaRPr>
          </a:p>
        </p:txBody>
      </p:sp>
      <p:sp>
        <p:nvSpPr>
          <p:cNvPr id="12295" name="Rectangle 3"/>
          <p:cNvSpPr txBox="1"/>
          <p:nvPr/>
        </p:nvSpPr>
        <p:spPr>
          <a:xfrm>
            <a:off x="4911090" y="158750"/>
            <a:ext cx="3841115" cy="507365"/>
          </a:xfrm>
          <a:prstGeom prst="rect">
            <a:avLst/>
          </a:prstGeom>
          <a:solidFill>
            <a:schemeClr val="accent1"/>
          </a:solidFill>
          <a:ln w="9525">
            <a:solidFill>
              <a:srgbClr val="3402C2"/>
            </a:solidFill>
            <a:prstDash val="dash"/>
          </a:ln>
        </p:spPr>
        <p:txBody>
          <a:bodyPr anchor="t"/>
          <a:lstStyle/>
          <a:p>
            <a:pPr marL="342900" lvl="0" indent="-342900" eaLnBrk="0" hangingPunct="0">
              <a:lnSpc>
                <a:spcPct val="120000"/>
              </a:lnSpc>
              <a:spcBef>
                <a:spcPct val="20000"/>
              </a:spcBef>
              <a:buClr>
                <a:srgbClr val="0033CC"/>
              </a:buClr>
              <a:buSzPct val="80000"/>
              <a:buFont typeface="Wingdings" panose="05000000000000000000" pitchFamily="2" charset="2"/>
              <a:buChar char="u"/>
            </a:pPr>
            <a:r>
              <a:rPr lang="zh-CN" sz="2400" dirty="0">
                <a:latin typeface="华文楷体" panose="02010600040101010101" pitchFamily="2" charset="-122"/>
                <a:ea typeface="宋体" panose="02010600030101010101" pitchFamily="2" charset="-122"/>
              </a:rPr>
              <a:t>进</a:t>
            </a:r>
            <a:r>
              <a:rPr lang="en-US" altLang="zh-CN" sz="2400" dirty="0">
                <a:latin typeface="华文楷体" panose="02010600040101010101" pitchFamily="2" charset="-122"/>
                <a:ea typeface="宋体" panose="02010600030101010101" pitchFamily="2" charset="-122"/>
              </a:rPr>
              <a:t>SQL Server</a:t>
            </a:r>
            <a:r>
              <a:rPr lang="zh-CN" altLang="zh-CN" sz="2400" dirty="0">
                <a:latin typeface="华文楷体" panose="02010600040101010101" pitchFamily="2" charset="-122"/>
                <a:ea typeface="宋体" panose="02010600030101010101" pitchFamily="2" charset="-122"/>
              </a:rPr>
              <a:t>的第一道门</a:t>
            </a:r>
            <a:endParaRPr lang="zh-CN" altLang="zh-CN" sz="2400" dirty="0">
              <a:latin typeface="华文楷体" panose="02010600040101010101" pitchFamily="2" charset="-122"/>
              <a:ea typeface="宋体" panose="02010600030101010101" pitchFamily="2" charset="-122"/>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626"/>
                                        </p:tgtEl>
                                        <p:attrNameLst>
                                          <p:attrName>style.visibility</p:attrName>
                                        </p:attrNameLst>
                                      </p:cBhvr>
                                      <p:to>
                                        <p:strVal val="visible"/>
                                      </p:to>
                                    </p:set>
                                    <p:anim calcmode="lin" valueType="num">
                                      <p:cBhvr>
                                        <p:cTn id="7" dur="500" fill="hold"/>
                                        <p:tgtEl>
                                          <p:spTgt spid="26626"/>
                                        </p:tgtEl>
                                        <p:attrNameLst>
                                          <p:attrName>ppt_x</p:attrName>
                                        </p:attrNameLst>
                                      </p:cBhvr>
                                      <p:tavLst>
                                        <p:tav tm="0">
                                          <p:val>
                                            <p:strVal val="#ppt_x"/>
                                          </p:val>
                                        </p:tav>
                                        <p:tav tm="100000">
                                          <p:val>
                                            <p:strVal val="#ppt_x"/>
                                          </p:val>
                                        </p:tav>
                                      </p:tavLst>
                                    </p:anim>
                                    <p:anim calcmode="lin" valueType="num">
                                      <p:cBhvr>
                                        <p:cTn id="8" dur="500" fill="hold"/>
                                        <p:tgtEl>
                                          <p:spTgt spid="2662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26653">
                                            <p:bg/>
                                          </p:spTgt>
                                        </p:tgtEl>
                                        <p:attrNameLst>
                                          <p:attrName>style.visibility</p:attrName>
                                        </p:attrNameLst>
                                      </p:cBhvr>
                                      <p:to>
                                        <p:strVal val="visible"/>
                                      </p:to>
                                    </p:set>
                                    <p:animEffect transition="in" filter="wipe(down)">
                                      <p:cBhvr>
                                        <p:cTn id="13" dur="500"/>
                                        <p:tgtEl>
                                          <p:spTgt spid="26653">
                                            <p:bg/>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26653">
                                            <p:txEl>
                                              <p:pRg st="0" end="0"/>
                                            </p:txEl>
                                          </p:spTgt>
                                        </p:tgtEl>
                                        <p:attrNameLst>
                                          <p:attrName>style.visibility</p:attrName>
                                        </p:attrNameLst>
                                      </p:cBhvr>
                                      <p:to>
                                        <p:strVal val="visible"/>
                                      </p:to>
                                    </p:set>
                                    <p:animEffect transition="in" filter="wipe(down)">
                                      <p:cBhvr>
                                        <p:cTn id="16" dur="500"/>
                                        <p:tgtEl>
                                          <p:spTgt spid="26653">
                                            <p:txEl>
                                              <p:pRg st="0" end="0"/>
                                            </p:txEl>
                                          </p:spTgt>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26653">
                                            <p:txEl>
                                              <p:pRg st="1" end="1"/>
                                            </p:txEl>
                                          </p:spTgt>
                                        </p:tgtEl>
                                        <p:attrNameLst>
                                          <p:attrName>style.visibility</p:attrName>
                                        </p:attrNameLst>
                                      </p:cBhvr>
                                      <p:to>
                                        <p:strVal val="visible"/>
                                      </p:to>
                                    </p:set>
                                    <p:animEffect transition="in" filter="wipe(down)">
                                      <p:cBhvr>
                                        <p:cTn id="19" dur="500"/>
                                        <p:tgtEl>
                                          <p:spTgt spid="26653">
                                            <p:txEl>
                                              <p:pRg st="1" end="1"/>
                                            </p:txEl>
                                          </p:spTgt>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26653">
                                            <p:txEl>
                                              <p:pRg st="2" end="2"/>
                                            </p:txEl>
                                          </p:spTgt>
                                        </p:tgtEl>
                                        <p:attrNameLst>
                                          <p:attrName>style.visibility</p:attrName>
                                        </p:attrNameLst>
                                      </p:cBhvr>
                                      <p:to>
                                        <p:strVal val="visible"/>
                                      </p:to>
                                    </p:set>
                                    <p:animEffect transition="in" filter="wipe(down)">
                                      <p:cBhvr>
                                        <p:cTn id="22" dur="500"/>
                                        <p:tgtEl>
                                          <p:spTgt spid="26653">
                                            <p:txEl>
                                              <p:pRg st="2" end="2"/>
                                            </p:txEl>
                                          </p:spTgt>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26653">
                                            <p:txEl>
                                              <p:pRg st="3" end="3"/>
                                            </p:txEl>
                                          </p:spTgt>
                                        </p:tgtEl>
                                        <p:attrNameLst>
                                          <p:attrName>style.visibility</p:attrName>
                                        </p:attrNameLst>
                                      </p:cBhvr>
                                      <p:to>
                                        <p:strVal val="visible"/>
                                      </p:to>
                                    </p:set>
                                    <p:animEffect transition="in" filter="wipe(down)">
                                      <p:cBhvr>
                                        <p:cTn id="25" dur="500"/>
                                        <p:tgtEl>
                                          <p:spTgt spid="26653">
                                            <p:txEl>
                                              <p:pRg st="3" end="3"/>
                                            </p:txEl>
                                          </p:spTgt>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26653">
                                            <p:txEl>
                                              <p:pRg st="4" end="4"/>
                                            </p:txEl>
                                          </p:spTgt>
                                        </p:tgtEl>
                                        <p:attrNameLst>
                                          <p:attrName>style.visibility</p:attrName>
                                        </p:attrNameLst>
                                      </p:cBhvr>
                                      <p:to>
                                        <p:strVal val="visible"/>
                                      </p:to>
                                    </p:set>
                                    <p:animEffect transition="in" filter="wipe(down)">
                                      <p:cBhvr>
                                        <p:cTn id="28" dur="500"/>
                                        <p:tgtEl>
                                          <p:spTgt spid="26653">
                                            <p:txEl>
                                              <p:pRg st="4" end="4"/>
                                            </p:txEl>
                                          </p:spTgt>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26653">
                                            <p:txEl>
                                              <p:pRg st="5" end="5"/>
                                            </p:txEl>
                                          </p:spTgt>
                                        </p:tgtEl>
                                        <p:attrNameLst>
                                          <p:attrName>style.visibility</p:attrName>
                                        </p:attrNameLst>
                                      </p:cBhvr>
                                      <p:to>
                                        <p:strVal val="visible"/>
                                      </p:to>
                                    </p:set>
                                    <p:animEffect transition="in" filter="wipe(down)">
                                      <p:cBhvr>
                                        <p:cTn id="31" dur="500"/>
                                        <p:tgtEl>
                                          <p:spTgt spid="26653">
                                            <p:txEl>
                                              <p:pRg st="5" end="5"/>
                                            </p:txEl>
                                          </p:spTgt>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26653">
                                            <p:txEl>
                                              <p:pRg st="6" end="6"/>
                                            </p:txEl>
                                          </p:spTgt>
                                        </p:tgtEl>
                                        <p:attrNameLst>
                                          <p:attrName>style.visibility</p:attrName>
                                        </p:attrNameLst>
                                      </p:cBhvr>
                                      <p:to>
                                        <p:strVal val="visible"/>
                                      </p:to>
                                    </p:set>
                                    <p:animEffect transition="in" filter="wipe(down)">
                                      <p:cBhvr>
                                        <p:cTn id="34" dur="500"/>
                                        <p:tgtEl>
                                          <p:spTgt spid="26653">
                                            <p:txEl>
                                              <p:pRg st="6" end="6"/>
                                            </p:txEl>
                                          </p:spTgt>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26653">
                                            <p:txEl>
                                              <p:pRg st="7" end="7"/>
                                            </p:txEl>
                                          </p:spTgt>
                                        </p:tgtEl>
                                        <p:attrNameLst>
                                          <p:attrName>style.visibility</p:attrName>
                                        </p:attrNameLst>
                                      </p:cBhvr>
                                      <p:to>
                                        <p:strVal val="visible"/>
                                      </p:to>
                                    </p:set>
                                    <p:animEffect transition="in" filter="wipe(down)">
                                      <p:cBhvr>
                                        <p:cTn id="37" dur="500"/>
                                        <p:tgtEl>
                                          <p:spTgt spid="26653">
                                            <p:txEl>
                                              <p:pRg st="7" end="7"/>
                                            </p:txEl>
                                          </p:spTgt>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26653">
                                            <p:txEl>
                                              <p:pRg st="8" end="8"/>
                                            </p:txEl>
                                          </p:spTgt>
                                        </p:tgtEl>
                                        <p:attrNameLst>
                                          <p:attrName>style.visibility</p:attrName>
                                        </p:attrNameLst>
                                      </p:cBhvr>
                                      <p:to>
                                        <p:strVal val="visible"/>
                                      </p:to>
                                    </p:set>
                                    <p:animEffect transition="in" filter="wipe(down)">
                                      <p:cBhvr>
                                        <p:cTn id="40" dur="500"/>
                                        <p:tgtEl>
                                          <p:spTgt spid="26653">
                                            <p:txEl>
                                              <p:pRg st="8" end="8"/>
                                            </p:txEl>
                                          </p:spTgt>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26653">
                                            <p:txEl>
                                              <p:pRg st="9" end="9"/>
                                            </p:txEl>
                                          </p:spTgt>
                                        </p:tgtEl>
                                        <p:attrNameLst>
                                          <p:attrName>style.visibility</p:attrName>
                                        </p:attrNameLst>
                                      </p:cBhvr>
                                      <p:to>
                                        <p:strVal val="visible"/>
                                      </p:to>
                                    </p:set>
                                    <p:animEffect transition="in" filter="wipe(down)">
                                      <p:cBhvr>
                                        <p:cTn id="43" dur="500"/>
                                        <p:tgtEl>
                                          <p:spTgt spid="2665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bldLvl="0" animBg="1"/>
      <p:bldP spid="26653" grpId="0" animBg="1" uiExpand="1" build="allAtOnce"/>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2677160" y="871855"/>
            <a:ext cx="6280150" cy="3492500"/>
          </a:xfrm>
          <a:prstGeom prst="rect">
            <a:avLst/>
          </a:prstGeom>
          <a:ln>
            <a:noFill/>
          </a:ln>
          <a:effectLst>
            <a:outerShdw blurRad="292100" dist="139700" dir="2700000" algn="tl" rotWithShape="0">
              <a:srgbClr val="333333">
                <a:alpha val="65000"/>
              </a:srgbClr>
            </a:outerShdw>
          </a:effectLst>
        </p:spPr>
      </p:pic>
      <p:pic>
        <p:nvPicPr>
          <p:cNvPr id="4" name="图片 3"/>
          <p:cNvPicPr>
            <a:picLocks noChangeAspect="1"/>
          </p:cNvPicPr>
          <p:nvPr/>
        </p:nvPicPr>
        <p:blipFill>
          <a:blip r:embed="rId2"/>
          <a:stretch>
            <a:fillRect/>
          </a:stretch>
        </p:blipFill>
        <p:spPr>
          <a:xfrm>
            <a:off x="357505" y="2298065"/>
            <a:ext cx="6758940" cy="2532380"/>
          </a:xfrm>
          <a:prstGeom prst="rect">
            <a:avLst/>
          </a:prstGeom>
          <a:ln>
            <a:noFill/>
          </a:ln>
          <a:effectLst>
            <a:outerShdw blurRad="292100" dist="139700" dir="2700000" algn="tl" rotWithShape="0">
              <a:srgbClr val="333333">
                <a:alpha val="65000"/>
              </a:srgbClr>
            </a:outerShdw>
          </a:effectLst>
        </p:spPr>
      </p:pic>
      <p:pic>
        <p:nvPicPr>
          <p:cNvPr id="5" name="图片 4"/>
          <p:cNvPicPr>
            <a:picLocks noChangeAspect="1"/>
          </p:cNvPicPr>
          <p:nvPr/>
        </p:nvPicPr>
        <p:blipFill>
          <a:blip r:embed="rId3"/>
          <a:stretch>
            <a:fillRect/>
          </a:stretch>
        </p:blipFill>
        <p:spPr>
          <a:xfrm>
            <a:off x="4658360" y="2941955"/>
            <a:ext cx="4298950" cy="3378200"/>
          </a:xfrm>
          <a:prstGeom prst="rect">
            <a:avLst/>
          </a:prstGeom>
          <a:ln>
            <a:noFill/>
          </a:ln>
          <a:effectLst>
            <a:outerShdw blurRad="292100" dist="139700" dir="2700000" algn="tl" rotWithShape="0">
              <a:srgbClr val="333333">
                <a:alpha val="65000"/>
              </a:srgbClr>
            </a:outerShdw>
          </a:effectLst>
        </p:spPr>
      </p:pic>
      <p:sp>
        <p:nvSpPr>
          <p:cNvPr id="9" name="Rectangle 2"/>
          <p:cNvSpPr/>
          <p:nvPr/>
        </p:nvSpPr>
        <p:spPr>
          <a:xfrm>
            <a:off x="457200" y="68263"/>
            <a:ext cx="8229600" cy="692150"/>
          </a:xfrm>
          <a:prstGeom prst="rect">
            <a:avLst/>
          </a:prstGeom>
          <a:noFill/>
          <a:ln w="9525">
            <a:noFill/>
          </a:ln>
        </p:spPr>
        <p:txBody>
          <a:bodyPr anchor="ctr"/>
          <a:lstStyle/>
          <a:p>
            <a:pPr lvl="0" indent="0"/>
            <a:r>
              <a:rPr lang="zh-CN" altLang="en-US" sz="3200" dirty="0">
                <a:solidFill>
                  <a:srgbClr val="FF0000"/>
                </a:solidFill>
                <a:latin typeface="Arial" panose="020B0604020202020204" pitchFamily="34" charset="0"/>
                <a:ea typeface="黑体" panose="02010609060101010101" pitchFamily="1" charset="-122"/>
              </a:rPr>
              <a:t>二、数据库的安全性</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10" name="Rectangle 3"/>
          <p:cNvSpPr txBox="1"/>
          <p:nvPr/>
        </p:nvSpPr>
        <p:spPr>
          <a:xfrm>
            <a:off x="4911090" y="158750"/>
            <a:ext cx="3841115" cy="507365"/>
          </a:xfrm>
          <a:prstGeom prst="rect">
            <a:avLst/>
          </a:prstGeom>
          <a:solidFill>
            <a:schemeClr val="accent1"/>
          </a:solidFill>
          <a:ln w="9525">
            <a:solidFill>
              <a:srgbClr val="3402C2"/>
            </a:solidFill>
            <a:prstDash val="dash"/>
          </a:ln>
        </p:spPr>
        <p:txBody>
          <a:bodyPr anchor="t"/>
          <a:lstStyle/>
          <a:p>
            <a:pPr marL="342900" lvl="0" indent="-342900" eaLnBrk="0" hangingPunct="0">
              <a:lnSpc>
                <a:spcPct val="120000"/>
              </a:lnSpc>
              <a:spcBef>
                <a:spcPct val="20000"/>
              </a:spcBef>
              <a:buClr>
                <a:srgbClr val="0033CC"/>
              </a:buClr>
              <a:buSzPct val="80000"/>
              <a:buFont typeface="Wingdings" panose="05000000000000000000" pitchFamily="2" charset="2"/>
              <a:buChar char="u"/>
            </a:pPr>
            <a:r>
              <a:rPr lang="zh-CN" sz="2400" dirty="0">
                <a:latin typeface="华文楷体" panose="02010600040101010101" pitchFamily="2" charset="-122"/>
                <a:ea typeface="宋体" panose="02010600030101010101" pitchFamily="2" charset="-122"/>
              </a:rPr>
              <a:t>进</a:t>
            </a:r>
            <a:r>
              <a:rPr lang="en-US" altLang="zh-CN" sz="2400" dirty="0">
                <a:latin typeface="华文楷体" panose="02010600040101010101" pitchFamily="2" charset="-122"/>
                <a:ea typeface="宋体" panose="02010600030101010101" pitchFamily="2" charset="-122"/>
              </a:rPr>
              <a:t>SQL Server</a:t>
            </a:r>
            <a:r>
              <a:rPr lang="zh-CN" altLang="zh-CN" sz="2400" dirty="0">
                <a:latin typeface="华文楷体" panose="02010600040101010101" pitchFamily="2" charset="-122"/>
                <a:ea typeface="宋体" panose="02010600030101010101" pitchFamily="2" charset="-122"/>
              </a:rPr>
              <a:t>的第一道门</a:t>
            </a:r>
            <a:endParaRPr lang="zh-CN" altLang="zh-CN" sz="2400" dirty="0">
              <a:latin typeface="华文楷体" panose="0201060004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670560" y="1924685"/>
            <a:ext cx="8096885" cy="4174490"/>
          </a:xfrm>
          <a:prstGeom prst="rect">
            <a:avLst/>
          </a:prstGeom>
          <a:ln>
            <a:noFill/>
          </a:ln>
          <a:effectLst>
            <a:outerShdw blurRad="292100" dist="139700" dir="2700000" algn="tl" rotWithShape="0">
              <a:srgbClr val="333333">
                <a:alpha val="65000"/>
              </a:srgbClr>
            </a:outerShdw>
          </a:effectLst>
        </p:spPr>
      </p:pic>
      <p:sp>
        <p:nvSpPr>
          <p:cNvPr id="8" name="Rectangle 2"/>
          <p:cNvSpPr txBox="1">
            <a:spLocks noChangeArrowheads="1"/>
          </p:cNvSpPr>
          <p:nvPr/>
        </p:nvSpPr>
        <p:spPr>
          <a:xfrm>
            <a:off x="457200" y="1277793"/>
            <a:ext cx="7086600" cy="74803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a:t>
            </a:r>
            <a:r>
              <a:rPr kumimoji="1" lang="en-US" altLang="zh-CN"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1</a:t>
            </a:r>
            <a:r>
              <a:rPr kumimoji="1" lang="zh-CN" altLang="en-US"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）成为</a:t>
            </a:r>
            <a:r>
              <a:rPr kumimoji="1" lang="en-US" altLang="zh-CN"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SQL SERVER</a:t>
            </a:r>
            <a:r>
              <a:rPr kumimoji="1" lang="zh-CN" altLang="en-US"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的合法登录用户</a:t>
            </a:r>
            <a:endParaRPr kumimoji="1" lang="zh-CN" altLang="en-US"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endParaRPr>
          </a:p>
        </p:txBody>
      </p:sp>
      <p:sp>
        <p:nvSpPr>
          <p:cNvPr id="3" name="椭圆 2"/>
          <p:cNvSpPr/>
          <p:nvPr/>
        </p:nvSpPr>
        <p:spPr>
          <a:xfrm>
            <a:off x="598805" y="3635375"/>
            <a:ext cx="1113790" cy="264160"/>
          </a:xfrm>
          <a:prstGeom prst="ellipse">
            <a:avLst/>
          </a:prstGeom>
          <a:no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602" name="Rectangle 2"/>
          <p:cNvSpPr/>
          <p:nvPr/>
        </p:nvSpPr>
        <p:spPr>
          <a:xfrm>
            <a:off x="457200" y="68263"/>
            <a:ext cx="8229600" cy="692150"/>
          </a:xfrm>
          <a:prstGeom prst="rect">
            <a:avLst/>
          </a:prstGeom>
          <a:noFill/>
          <a:ln w="9525">
            <a:noFill/>
          </a:ln>
        </p:spPr>
        <p:txBody>
          <a:bodyPr anchor="ctr"/>
          <a:lstStyle/>
          <a:p>
            <a:pPr lvl="0" indent="0"/>
            <a:r>
              <a:rPr lang="zh-CN" altLang="en-US" sz="3200" dirty="0">
                <a:solidFill>
                  <a:srgbClr val="FF0000"/>
                </a:solidFill>
                <a:latin typeface="Arial" panose="020B0604020202020204" pitchFamily="34" charset="0"/>
                <a:ea typeface="黑体" panose="02010609060101010101" pitchFamily="1" charset="-122"/>
              </a:rPr>
              <a:t>二、数据库的安全性</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4" name="Rectangle 2"/>
          <p:cNvSpPr txBox="1"/>
          <p:nvPr/>
        </p:nvSpPr>
        <p:spPr>
          <a:xfrm>
            <a:off x="598805" y="689293"/>
            <a:ext cx="5689600" cy="576262"/>
          </a:xfrm>
          <a:prstGeom prst="rect">
            <a:avLst/>
          </a:prstGeom>
          <a:noFill/>
          <a:ln w="9525">
            <a:noFill/>
          </a:ln>
        </p:spPr>
        <p:txBody>
          <a:bodyPr anchor="t"/>
          <a:lstStyle/>
          <a:p>
            <a:pPr marL="457200" lvl="0" indent="-457200" defTabSz="0">
              <a:lnSpc>
                <a:spcPct val="135000"/>
              </a:lnSpc>
              <a:tabLst>
                <a:tab pos="1428750" algn="l"/>
              </a:tabLst>
            </a:pPr>
            <a:r>
              <a:rPr lang="en-US" altLang="x-none" sz="2800" dirty="0">
                <a:solidFill>
                  <a:srgbClr val="0033CC"/>
                </a:solidFill>
                <a:latin typeface="黑体" panose="02010609060101010101" pitchFamily="1" charset="-122"/>
                <a:ea typeface="黑体" panose="02010609060101010101" pitchFamily="1" charset="-122"/>
              </a:rPr>
              <a:t>3.</a:t>
            </a:r>
            <a:r>
              <a:rPr lang="en-US" altLang="x-none" sz="2800" dirty="0">
                <a:solidFill>
                  <a:srgbClr val="CC3300"/>
                </a:solidFill>
                <a:latin typeface="Times New Roman" panose="02020603050405020304" pitchFamily="2" charset="0"/>
                <a:ea typeface="宋体" panose="02010600030101010101" pitchFamily="2" charset="-122"/>
              </a:rPr>
              <a:t> </a:t>
            </a:r>
            <a:r>
              <a:rPr lang="en-US" altLang="x-none" sz="2800" dirty="0">
                <a:solidFill>
                  <a:srgbClr val="0033CC"/>
                </a:solidFill>
                <a:latin typeface="黑体" panose="02010609060101010101" pitchFamily="1" charset="-122"/>
                <a:ea typeface="黑体" panose="02010609060101010101" pitchFamily="1" charset="-122"/>
              </a:rPr>
              <a:t>SQL SERVER</a:t>
            </a:r>
            <a:r>
              <a:rPr lang="zh-CN" altLang="en-US" sz="2800" dirty="0">
                <a:solidFill>
                  <a:srgbClr val="0033CC"/>
                </a:solidFill>
                <a:latin typeface="黑体" panose="02010609060101010101" pitchFamily="1" charset="-122"/>
                <a:ea typeface="黑体" panose="02010609060101010101" pitchFamily="1" charset="-122"/>
              </a:rPr>
              <a:t>安全体系</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12295" name="Rectangle 3"/>
          <p:cNvSpPr txBox="1"/>
          <p:nvPr/>
        </p:nvSpPr>
        <p:spPr>
          <a:xfrm>
            <a:off x="4911090" y="158750"/>
            <a:ext cx="3841115" cy="507365"/>
          </a:xfrm>
          <a:prstGeom prst="rect">
            <a:avLst/>
          </a:prstGeom>
          <a:solidFill>
            <a:schemeClr val="accent1"/>
          </a:solidFill>
          <a:ln w="9525">
            <a:solidFill>
              <a:srgbClr val="3402C2"/>
            </a:solidFill>
            <a:prstDash val="dash"/>
          </a:ln>
        </p:spPr>
        <p:txBody>
          <a:bodyPr anchor="t"/>
          <a:lstStyle/>
          <a:p>
            <a:pPr marL="342900" lvl="0" indent="-342900" eaLnBrk="0" hangingPunct="0">
              <a:lnSpc>
                <a:spcPct val="120000"/>
              </a:lnSpc>
              <a:spcBef>
                <a:spcPct val="20000"/>
              </a:spcBef>
              <a:buClr>
                <a:srgbClr val="0033CC"/>
              </a:buClr>
              <a:buSzPct val="80000"/>
              <a:buFont typeface="Wingdings" panose="05000000000000000000" pitchFamily="2" charset="2"/>
              <a:buChar char="u"/>
            </a:pPr>
            <a:r>
              <a:rPr lang="zh-CN" sz="2400" dirty="0">
                <a:latin typeface="华文楷体" panose="02010600040101010101" pitchFamily="2" charset="-122"/>
                <a:ea typeface="宋体" panose="02010600030101010101" pitchFamily="2" charset="-122"/>
              </a:rPr>
              <a:t>进</a:t>
            </a:r>
            <a:r>
              <a:rPr lang="en-US" altLang="zh-CN" sz="2400" dirty="0">
                <a:latin typeface="华文楷体" panose="02010600040101010101" pitchFamily="2" charset="-122"/>
                <a:ea typeface="宋体" panose="02010600030101010101" pitchFamily="2" charset="-122"/>
              </a:rPr>
              <a:t>SQL Server</a:t>
            </a:r>
            <a:r>
              <a:rPr lang="zh-CN" altLang="zh-CN" sz="2400" dirty="0">
                <a:latin typeface="华文楷体" panose="02010600040101010101" pitchFamily="2" charset="-122"/>
                <a:ea typeface="宋体" panose="02010600030101010101" pitchFamily="2" charset="-122"/>
              </a:rPr>
              <a:t>的第一道门</a:t>
            </a:r>
            <a:endParaRPr lang="zh-CN" altLang="zh-CN" sz="2400" dirty="0">
              <a:latin typeface="华文楷体" panose="02010600040101010101" pitchFamily="2" charset="-122"/>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673" name="Group 3"/>
          <p:cNvGrpSpPr/>
          <p:nvPr/>
        </p:nvGrpSpPr>
        <p:grpSpPr>
          <a:xfrm>
            <a:off x="481013" y="1535113"/>
            <a:ext cx="8208962" cy="3816350"/>
            <a:chOff x="0" y="0"/>
            <a:chExt cx="5001" cy="2649"/>
          </a:xfrm>
        </p:grpSpPr>
        <p:sp>
          <p:nvSpPr>
            <p:cNvPr id="28674" name="Rectangle 4"/>
            <p:cNvSpPr/>
            <p:nvPr/>
          </p:nvSpPr>
          <p:spPr>
            <a:xfrm>
              <a:off x="182" y="2313"/>
              <a:ext cx="908" cy="336"/>
            </a:xfrm>
            <a:prstGeom prst="rect">
              <a:avLst/>
            </a:prstGeom>
            <a:solidFill>
              <a:srgbClr val="FFCC99"/>
            </a:solidFill>
            <a:ln w="9525" cap="flat" cmpd="sng">
              <a:solidFill>
                <a:srgbClr val="000099"/>
              </a:solidFill>
              <a:prstDash val="solid"/>
              <a:miter/>
              <a:headEnd type="none" w="med" len="med"/>
              <a:tailEnd type="none" w="med" len="med"/>
            </a:ln>
          </p:spPr>
          <p:txBody>
            <a:bodyPr anchor="t"/>
            <a:lstStyle/>
            <a:p>
              <a:pPr lvl="0" indent="0"/>
              <a:r>
                <a:rPr lang="zh-CN" altLang="en-US" sz="2000" dirty="0">
                  <a:solidFill>
                    <a:srgbClr val="000000"/>
                  </a:solidFill>
                  <a:latin typeface="宋体" panose="02010600030101010101" pitchFamily="2" charset="-122"/>
                  <a:ea typeface="宋体" panose="02010600030101010101" pitchFamily="2" charset="-122"/>
                </a:rPr>
                <a:t>用户</a:t>
              </a:r>
              <a:r>
                <a:rPr lang="en-US" altLang="x-none" sz="2000" dirty="0">
                  <a:solidFill>
                    <a:srgbClr val="000000"/>
                  </a:solidFill>
                  <a:latin typeface="宋体" panose="02010600030101010101" pitchFamily="2" charset="-122"/>
                  <a:ea typeface="宋体" panose="02010600030101010101" pitchFamily="2" charset="-122"/>
                </a:rPr>
                <a:t>login</a:t>
              </a:r>
              <a:endParaRPr lang="en-US" altLang="x-none" sz="2000" dirty="0">
                <a:solidFill>
                  <a:srgbClr val="000000"/>
                </a:solidFill>
                <a:latin typeface="宋体" panose="02010600030101010101" pitchFamily="2" charset="-122"/>
                <a:ea typeface="宋体" panose="02010600030101010101" pitchFamily="2" charset="-122"/>
              </a:endParaRPr>
            </a:p>
          </p:txBody>
        </p:sp>
        <p:sp>
          <p:nvSpPr>
            <p:cNvPr id="28675" name="Rectangle 5"/>
            <p:cNvSpPr/>
            <p:nvPr/>
          </p:nvSpPr>
          <p:spPr>
            <a:xfrm>
              <a:off x="1497" y="0"/>
              <a:ext cx="3504" cy="1785"/>
            </a:xfrm>
            <a:prstGeom prst="rect">
              <a:avLst/>
            </a:prstGeom>
            <a:solidFill>
              <a:srgbClr val="EDFEEC"/>
            </a:solidFill>
            <a:ln w="9525" cap="flat" cmpd="sng">
              <a:solidFill>
                <a:srgbClr val="000099"/>
              </a:solidFill>
              <a:prstDash val="solid"/>
              <a:miter/>
              <a:headEnd type="none" w="med" len="med"/>
              <a:tailEnd type="none" w="med" len="med"/>
            </a:ln>
          </p:spPr>
          <p:txBody>
            <a:bodyPr anchor="t"/>
            <a:lstStyle/>
            <a:p>
              <a:pPr lvl="0" indent="0"/>
              <a:r>
                <a:rPr lang="zh-CN" altLang="en-US" sz="2000" dirty="0">
                  <a:solidFill>
                    <a:srgbClr val="000000"/>
                  </a:solidFill>
                  <a:latin typeface="宋体" panose="02010600030101010101" pitchFamily="2" charset="-122"/>
                  <a:ea typeface="宋体" panose="02010600030101010101" pitchFamily="2" charset="-122"/>
                </a:rPr>
                <a:t>某</a:t>
              </a:r>
              <a:r>
                <a:rPr lang="en-US" altLang="x-none" sz="2000" dirty="0">
                  <a:solidFill>
                    <a:srgbClr val="000000"/>
                  </a:solidFill>
                  <a:latin typeface="宋体" panose="02010600030101010101" pitchFamily="2" charset="-122"/>
                  <a:ea typeface="宋体" panose="02010600030101010101" pitchFamily="2" charset="-122"/>
                </a:rPr>
                <a:t>RDBMS</a:t>
              </a:r>
              <a:endParaRPr lang="en-US" altLang="x-none" sz="2000" dirty="0">
                <a:solidFill>
                  <a:srgbClr val="000000"/>
                </a:solidFill>
                <a:latin typeface="宋体" panose="02010600030101010101" pitchFamily="2" charset="-122"/>
                <a:ea typeface="宋体" panose="02010600030101010101" pitchFamily="2" charset="-122"/>
              </a:endParaRPr>
            </a:p>
            <a:p>
              <a:pPr lvl="0" indent="0"/>
              <a:r>
                <a:rPr lang="zh-CN" altLang="en-US" sz="2000" dirty="0">
                  <a:solidFill>
                    <a:srgbClr val="000000"/>
                  </a:solidFill>
                  <a:latin typeface="宋体" panose="02010600030101010101" pitchFamily="2" charset="-122"/>
                  <a:ea typeface="宋体" panose="02010600030101010101" pitchFamily="2" charset="-122"/>
                </a:rPr>
                <a:t>（</a:t>
              </a:r>
              <a:r>
                <a:rPr lang="en-US" altLang="x-none" sz="2000" dirty="0">
                  <a:solidFill>
                    <a:srgbClr val="000000"/>
                  </a:solidFill>
                  <a:latin typeface="宋体" panose="02010600030101010101" pitchFamily="2" charset="-122"/>
                  <a:ea typeface="宋体" panose="02010600030101010101" pitchFamily="2" charset="-122"/>
                </a:rPr>
                <a:t>Oracle,SQL Server…) </a:t>
              </a:r>
              <a:endParaRPr lang="en-US" altLang="x-none" sz="2000" dirty="0">
                <a:solidFill>
                  <a:srgbClr val="000000"/>
                </a:solidFill>
                <a:latin typeface="宋体" panose="02010600030101010101" pitchFamily="2" charset="-122"/>
                <a:ea typeface="宋体" panose="02010600030101010101" pitchFamily="2" charset="-122"/>
              </a:endParaRPr>
            </a:p>
          </p:txBody>
        </p:sp>
        <p:sp>
          <p:nvSpPr>
            <p:cNvPr id="28676" name="Rectangle 6"/>
            <p:cNvSpPr/>
            <p:nvPr/>
          </p:nvSpPr>
          <p:spPr>
            <a:xfrm>
              <a:off x="318" y="1860"/>
              <a:ext cx="4672" cy="317"/>
            </a:xfrm>
            <a:prstGeom prst="rect">
              <a:avLst/>
            </a:prstGeom>
            <a:solidFill>
              <a:srgbClr val="EDFEEC"/>
            </a:solidFill>
            <a:ln w="14288" cap="flat" cmpd="sng">
              <a:solidFill>
                <a:srgbClr val="000000"/>
              </a:solidFill>
              <a:prstDash val="solid"/>
              <a:miter/>
              <a:headEnd type="none" w="med" len="med"/>
              <a:tailEnd type="none" w="med" len="med"/>
            </a:ln>
          </p:spPr>
          <p:txBody>
            <a:bodyPr anchor="t"/>
            <a:lstStyle/>
            <a:p>
              <a:pPr lvl="0" indent="0" algn="ctr"/>
              <a:r>
                <a:rPr lang="zh-CN" altLang="en-US" sz="2400" dirty="0">
                  <a:solidFill>
                    <a:srgbClr val="000000"/>
                  </a:solidFill>
                  <a:latin typeface="宋体" panose="02010600030101010101" pitchFamily="2" charset="-122"/>
                  <a:ea typeface="宋体" panose="02010600030101010101" pitchFamily="2" charset="-122"/>
                </a:rPr>
                <a:t>操作系统 </a:t>
              </a:r>
              <a:r>
                <a:rPr lang="en-US" altLang="x-none" sz="2400" dirty="0">
                  <a:solidFill>
                    <a:srgbClr val="000000"/>
                  </a:solidFill>
                  <a:latin typeface="宋体" panose="02010600030101010101" pitchFamily="2" charset="-122"/>
                  <a:ea typeface="宋体" panose="02010600030101010101" pitchFamily="2" charset="-122"/>
                </a:rPr>
                <a:t>OS </a:t>
              </a:r>
              <a:r>
                <a:rPr lang="zh-CN" altLang="en-US" sz="2400" dirty="0">
                  <a:solidFill>
                    <a:srgbClr val="000000"/>
                  </a:solidFill>
                  <a:latin typeface="宋体" panose="02010600030101010101" pitchFamily="2" charset="-122"/>
                  <a:ea typeface="宋体" panose="02010600030101010101" pitchFamily="2" charset="-122"/>
                </a:rPr>
                <a:t>（如 </a:t>
              </a:r>
              <a:r>
                <a:rPr lang="en-US" altLang="x-none" sz="2400" dirty="0">
                  <a:solidFill>
                    <a:srgbClr val="000000"/>
                  </a:solidFill>
                  <a:latin typeface="宋体" panose="02010600030101010101" pitchFamily="2" charset="-122"/>
                  <a:ea typeface="宋体" panose="02010600030101010101" pitchFamily="2" charset="-122"/>
                </a:rPr>
                <a:t>Windows XP)</a:t>
              </a:r>
              <a:endParaRPr lang="en-US" altLang="x-none" sz="2400" dirty="0">
                <a:solidFill>
                  <a:srgbClr val="000000"/>
                </a:solidFill>
                <a:latin typeface="宋体" panose="02010600030101010101" pitchFamily="2" charset="-122"/>
                <a:ea typeface="宋体" panose="02010600030101010101" pitchFamily="2" charset="-122"/>
              </a:endParaRPr>
            </a:p>
          </p:txBody>
        </p:sp>
        <p:sp>
          <p:nvSpPr>
            <p:cNvPr id="28677" name="Rectangle 7"/>
            <p:cNvSpPr/>
            <p:nvPr/>
          </p:nvSpPr>
          <p:spPr>
            <a:xfrm>
              <a:off x="0" y="590"/>
              <a:ext cx="1089" cy="640"/>
            </a:xfrm>
            <a:prstGeom prst="rect">
              <a:avLst/>
            </a:prstGeom>
            <a:solidFill>
              <a:srgbClr val="FFCC99"/>
            </a:solidFill>
            <a:ln w="9525" cap="flat" cmpd="sng">
              <a:solidFill>
                <a:srgbClr val="000099"/>
              </a:solidFill>
              <a:prstDash val="solid"/>
              <a:miter/>
              <a:headEnd type="none" w="med" len="med"/>
              <a:tailEnd type="none" w="med" len="med"/>
            </a:ln>
          </p:spPr>
          <p:txBody>
            <a:bodyPr anchor="t"/>
            <a:lstStyle/>
            <a:p>
              <a:pPr lvl="0" indent="0" algn="ctr"/>
              <a:r>
                <a:rPr lang="en-US" altLang="x-none" sz="2000" dirty="0">
                  <a:solidFill>
                    <a:srgbClr val="000000"/>
                  </a:solidFill>
                  <a:latin typeface="Times New Roman" panose="02020603050405020304" pitchFamily="2" charset="0"/>
                  <a:ea typeface="宋体" panose="02010600030101010101" pitchFamily="2" charset="-122"/>
                </a:rPr>
                <a:t>RDBMS</a:t>
              </a:r>
              <a:r>
                <a:rPr lang="zh-CN" altLang="en-US" sz="2000" dirty="0">
                  <a:solidFill>
                    <a:srgbClr val="000000"/>
                  </a:solidFill>
                  <a:latin typeface="Times New Roman" panose="02020603050405020304" pitchFamily="2" charset="0"/>
                  <a:ea typeface="宋体" panose="02010600030101010101" pitchFamily="2" charset="-122"/>
                </a:rPr>
                <a:t>用户 </a:t>
              </a:r>
              <a:r>
                <a:rPr lang="en-US" altLang="x-none" sz="2000" dirty="0">
                  <a:solidFill>
                    <a:srgbClr val="000000"/>
                  </a:solidFill>
                  <a:latin typeface="Times New Roman" panose="02020603050405020304" pitchFamily="2" charset="0"/>
                  <a:ea typeface="宋体" panose="02010600030101010101" pitchFamily="2" charset="-122"/>
                </a:rPr>
                <a:t>Login</a:t>
              </a:r>
              <a:endParaRPr lang="en-US" altLang="x-none" sz="2000" dirty="0">
                <a:solidFill>
                  <a:srgbClr val="000000"/>
                </a:solidFill>
                <a:latin typeface="Times New Roman" panose="02020603050405020304" pitchFamily="2" charset="0"/>
                <a:ea typeface="宋体" panose="02010600030101010101" pitchFamily="2" charset="-122"/>
              </a:endParaRPr>
            </a:p>
          </p:txBody>
        </p:sp>
        <p:sp>
          <p:nvSpPr>
            <p:cNvPr id="28678" name="Freeform 8"/>
            <p:cNvSpPr>
              <a:spLocks noEditPoints="1"/>
            </p:cNvSpPr>
            <p:nvPr/>
          </p:nvSpPr>
          <p:spPr>
            <a:xfrm>
              <a:off x="681" y="1230"/>
              <a:ext cx="90" cy="1083"/>
            </a:xfrm>
            <a:custGeom>
              <a:avLst/>
              <a:gdLst/>
              <a:ahLst/>
              <a:cxnLst>
                <a:cxn ang="0">
                  <a:pos x="2876" y="2577361"/>
                </a:cxn>
                <a:cxn ang="0">
                  <a:pos x="3509" y="2584686"/>
                </a:cxn>
                <a:cxn ang="0">
                  <a:pos x="3257" y="2723124"/>
                </a:cxn>
                <a:cxn ang="0">
                  <a:pos x="2692" y="2714102"/>
                </a:cxn>
                <a:cxn ang="0">
                  <a:pos x="2692" y="2328138"/>
                </a:cxn>
                <a:cxn ang="0">
                  <a:pos x="3174" y="2310923"/>
                </a:cxn>
                <a:cxn ang="0">
                  <a:pos x="3509" y="2328138"/>
                </a:cxn>
                <a:cxn ang="0">
                  <a:pos x="3257" y="2456193"/>
                </a:cxn>
                <a:cxn ang="0">
                  <a:pos x="2692" y="2446316"/>
                </a:cxn>
                <a:cxn ang="0">
                  <a:pos x="2692" y="2072663"/>
                </a:cxn>
                <a:cxn ang="0">
                  <a:pos x="3174" y="2051202"/>
                </a:cxn>
                <a:cxn ang="0">
                  <a:pos x="3509" y="2072663"/>
                </a:cxn>
                <a:cxn ang="0">
                  <a:pos x="3257" y="2199790"/>
                </a:cxn>
                <a:cxn ang="0">
                  <a:pos x="2692" y="2190688"/>
                </a:cxn>
                <a:cxn ang="0">
                  <a:pos x="2692" y="1813018"/>
                </a:cxn>
                <a:cxn ang="0">
                  <a:pos x="3174" y="1795553"/>
                </a:cxn>
                <a:cxn ang="0">
                  <a:pos x="3509" y="1813018"/>
                </a:cxn>
                <a:cxn ang="0">
                  <a:pos x="3257" y="1944314"/>
                </a:cxn>
                <a:cxn ang="0">
                  <a:pos x="2692" y="1933179"/>
                </a:cxn>
                <a:cxn ang="0">
                  <a:pos x="2692" y="1546323"/>
                </a:cxn>
                <a:cxn ang="0">
                  <a:pos x="3257" y="1539268"/>
                </a:cxn>
                <a:cxn ang="0">
                  <a:pos x="3509" y="1676739"/>
                </a:cxn>
                <a:cxn ang="0">
                  <a:pos x="2876" y="1685005"/>
                </a:cxn>
                <a:cxn ang="0">
                  <a:pos x="2692" y="1667615"/>
                </a:cxn>
                <a:cxn ang="0">
                  <a:pos x="2876" y="1277927"/>
                </a:cxn>
                <a:cxn ang="0">
                  <a:pos x="3257" y="1277927"/>
                </a:cxn>
                <a:cxn ang="0">
                  <a:pos x="3509" y="1411242"/>
                </a:cxn>
                <a:cxn ang="0">
                  <a:pos x="2876" y="1417809"/>
                </a:cxn>
                <a:cxn ang="0">
                  <a:pos x="2692" y="1396168"/>
                </a:cxn>
                <a:cxn ang="0">
                  <a:pos x="2876" y="1018327"/>
                </a:cxn>
                <a:cxn ang="0">
                  <a:pos x="3257" y="1018327"/>
                </a:cxn>
                <a:cxn ang="0">
                  <a:pos x="3509" y="1149647"/>
                </a:cxn>
                <a:cxn ang="0">
                  <a:pos x="2876" y="1161526"/>
                </a:cxn>
                <a:cxn ang="0">
                  <a:pos x="2692" y="1138487"/>
                </a:cxn>
                <a:cxn ang="0">
                  <a:pos x="2876" y="761784"/>
                </a:cxn>
                <a:cxn ang="0">
                  <a:pos x="3257" y="761784"/>
                </a:cxn>
                <a:cxn ang="0">
                  <a:pos x="3509" y="891205"/>
                </a:cxn>
                <a:cxn ang="0">
                  <a:pos x="2876" y="904820"/>
                </a:cxn>
                <a:cxn ang="0">
                  <a:pos x="2692" y="882939"/>
                </a:cxn>
                <a:cxn ang="0">
                  <a:pos x="2876" y="495437"/>
                </a:cxn>
                <a:cxn ang="0">
                  <a:pos x="3509" y="505189"/>
                </a:cxn>
                <a:cxn ang="0">
                  <a:pos x="3257" y="648534"/>
                </a:cxn>
                <a:cxn ang="0">
                  <a:pos x="2692" y="633292"/>
                </a:cxn>
                <a:cxn ang="0">
                  <a:pos x="2692" y="249718"/>
                </a:cxn>
                <a:cxn ang="0">
                  <a:pos x="3174" y="228394"/>
                </a:cxn>
                <a:cxn ang="0">
                  <a:pos x="3509" y="249718"/>
                </a:cxn>
                <a:cxn ang="0">
                  <a:pos x="3257" y="376707"/>
                </a:cxn>
                <a:cxn ang="0">
                  <a:pos x="2692" y="367723"/>
                </a:cxn>
                <a:cxn ang="0">
                  <a:pos x="3174" y="0"/>
                </a:cxn>
              </a:cxnLst>
              <a:rect l="0" t="0" r="0" b="0"/>
              <a:pathLst>
                <a:path w="65" h="593">
                  <a:moveTo>
                    <a:pt x="28" y="589"/>
                  </a:moveTo>
                  <a:lnTo>
                    <a:pt x="28" y="563"/>
                  </a:lnTo>
                  <a:lnTo>
                    <a:pt x="28" y="561"/>
                  </a:lnTo>
                  <a:lnTo>
                    <a:pt x="30" y="561"/>
                  </a:lnTo>
                  <a:lnTo>
                    <a:pt x="33" y="561"/>
                  </a:lnTo>
                  <a:lnTo>
                    <a:pt x="35" y="561"/>
                  </a:lnTo>
                  <a:lnTo>
                    <a:pt x="37" y="561"/>
                  </a:lnTo>
                  <a:lnTo>
                    <a:pt x="37" y="563"/>
                  </a:lnTo>
                  <a:lnTo>
                    <a:pt x="37" y="589"/>
                  </a:lnTo>
                  <a:lnTo>
                    <a:pt x="37" y="591"/>
                  </a:lnTo>
                  <a:lnTo>
                    <a:pt x="35" y="591"/>
                  </a:lnTo>
                  <a:lnTo>
                    <a:pt x="35" y="593"/>
                  </a:lnTo>
                  <a:lnTo>
                    <a:pt x="33" y="593"/>
                  </a:lnTo>
                  <a:lnTo>
                    <a:pt x="30" y="593"/>
                  </a:lnTo>
                  <a:lnTo>
                    <a:pt x="30" y="591"/>
                  </a:lnTo>
                  <a:lnTo>
                    <a:pt x="28" y="591"/>
                  </a:lnTo>
                  <a:lnTo>
                    <a:pt x="28" y="589"/>
                  </a:lnTo>
                  <a:close/>
                  <a:moveTo>
                    <a:pt x="28" y="531"/>
                  </a:moveTo>
                  <a:lnTo>
                    <a:pt x="28" y="507"/>
                  </a:lnTo>
                  <a:lnTo>
                    <a:pt x="28" y="505"/>
                  </a:lnTo>
                  <a:lnTo>
                    <a:pt x="30" y="505"/>
                  </a:lnTo>
                  <a:lnTo>
                    <a:pt x="30" y="503"/>
                  </a:lnTo>
                  <a:lnTo>
                    <a:pt x="33" y="503"/>
                  </a:lnTo>
                  <a:lnTo>
                    <a:pt x="35" y="503"/>
                  </a:lnTo>
                  <a:lnTo>
                    <a:pt x="35" y="505"/>
                  </a:lnTo>
                  <a:lnTo>
                    <a:pt x="37" y="505"/>
                  </a:lnTo>
                  <a:lnTo>
                    <a:pt x="37" y="507"/>
                  </a:lnTo>
                  <a:lnTo>
                    <a:pt x="37" y="531"/>
                  </a:lnTo>
                  <a:lnTo>
                    <a:pt x="37" y="533"/>
                  </a:lnTo>
                  <a:lnTo>
                    <a:pt x="35" y="535"/>
                  </a:lnTo>
                  <a:lnTo>
                    <a:pt x="33" y="535"/>
                  </a:lnTo>
                  <a:lnTo>
                    <a:pt x="30" y="535"/>
                  </a:lnTo>
                  <a:lnTo>
                    <a:pt x="28" y="533"/>
                  </a:lnTo>
                  <a:lnTo>
                    <a:pt x="28" y="531"/>
                  </a:lnTo>
                  <a:close/>
                  <a:moveTo>
                    <a:pt x="28" y="475"/>
                  </a:moveTo>
                  <a:lnTo>
                    <a:pt x="28" y="451"/>
                  </a:lnTo>
                  <a:lnTo>
                    <a:pt x="28" y="449"/>
                  </a:lnTo>
                  <a:lnTo>
                    <a:pt x="30" y="449"/>
                  </a:lnTo>
                  <a:lnTo>
                    <a:pt x="30" y="447"/>
                  </a:lnTo>
                  <a:lnTo>
                    <a:pt x="33" y="447"/>
                  </a:lnTo>
                  <a:lnTo>
                    <a:pt x="35" y="447"/>
                  </a:lnTo>
                  <a:lnTo>
                    <a:pt x="35" y="449"/>
                  </a:lnTo>
                  <a:lnTo>
                    <a:pt x="37" y="449"/>
                  </a:lnTo>
                  <a:lnTo>
                    <a:pt x="37" y="451"/>
                  </a:lnTo>
                  <a:lnTo>
                    <a:pt x="37" y="475"/>
                  </a:lnTo>
                  <a:lnTo>
                    <a:pt x="37" y="477"/>
                  </a:lnTo>
                  <a:lnTo>
                    <a:pt x="35" y="477"/>
                  </a:lnTo>
                  <a:lnTo>
                    <a:pt x="35" y="479"/>
                  </a:lnTo>
                  <a:lnTo>
                    <a:pt x="33" y="479"/>
                  </a:lnTo>
                  <a:lnTo>
                    <a:pt x="30" y="479"/>
                  </a:lnTo>
                  <a:lnTo>
                    <a:pt x="30" y="477"/>
                  </a:lnTo>
                  <a:lnTo>
                    <a:pt x="28" y="477"/>
                  </a:lnTo>
                  <a:lnTo>
                    <a:pt x="28" y="475"/>
                  </a:lnTo>
                  <a:close/>
                  <a:moveTo>
                    <a:pt x="28" y="419"/>
                  </a:moveTo>
                  <a:lnTo>
                    <a:pt x="28" y="395"/>
                  </a:lnTo>
                  <a:lnTo>
                    <a:pt x="28" y="393"/>
                  </a:lnTo>
                  <a:lnTo>
                    <a:pt x="30" y="393"/>
                  </a:lnTo>
                  <a:lnTo>
                    <a:pt x="30" y="391"/>
                  </a:lnTo>
                  <a:lnTo>
                    <a:pt x="33" y="391"/>
                  </a:lnTo>
                  <a:lnTo>
                    <a:pt x="35" y="391"/>
                  </a:lnTo>
                  <a:lnTo>
                    <a:pt x="35" y="393"/>
                  </a:lnTo>
                  <a:lnTo>
                    <a:pt x="37" y="393"/>
                  </a:lnTo>
                  <a:lnTo>
                    <a:pt x="37" y="395"/>
                  </a:lnTo>
                  <a:lnTo>
                    <a:pt x="37" y="419"/>
                  </a:lnTo>
                  <a:lnTo>
                    <a:pt x="37" y="421"/>
                  </a:lnTo>
                  <a:lnTo>
                    <a:pt x="35" y="421"/>
                  </a:lnTo>
                  <a:lnTo>
                    <a:pt x="35" y="423"/>
                  </a:lnTo>
                  <a:lnTo>
                    <a:pt x="33" y="423"/>
                  </a:lnTo>
                  <a:lnTo>
                    <a:pt x="30" y="423"/>
                  </a:lnTo>
                  <a:lnTo>
                    <a:pt x="30" y="421"/>
                  </a:lnTo>
                  <a:lnTo>
                    <a:pt x="28" y="421"/>
                  </a:lnTo>
                  <a:lnTo>
                    <a:pt x="28" y="419"/>
                  </a:lnTo>
                  <a:close/>
                  <a:moveTo>
                    <a:pt x="28" y="363"/>
                  </a:moveTo>
                  <a:lnTo>
                    <a:pt x="28" y="337"/>
                  </a:lnTo>
                  <a:lnTo>
                    <a:pt x="28" y="335"/>
                  </a:lnTo>
                  <a:lnTo>
                    <a:pt x="30" y="335"/>
                  </a:lnTo>
                  <a:lnTo>
                    <a:pt x="33" y="335"/>
                  </a:lnTo>
                  <a:lnTo>
                    <a:pt x="35" y="335"/>
                  </a:lnTo>
                  <a:lnTo>
                    <a:pt x="37" y="335"/>
                  </a:lnTo>
                  <a:lnTo>
                    <a:pt x="37" y="337"/>
                  </a:lnTo>
                  <a:lnTo>
                    <a:pt x="37" y="363"/>
                  </a:lnTo>
                  <a:lnTo>
                    <a:pt x="37" y="365"/>
                  </a:lnTo>
                  <a:lnTo>
                    <a:pt x="35" y="365"/>
                  </a:lnTo>
                  <a:lnTo>
                    <a:pt x="35" y="367"/>
                  </a:lnTo>
                  <a:lnTo>
                    <a:pt x="33" y="367"/>
                  </a:lnTo>
                  <a:lnTo>
                    <a:pt x="30" y="367"/>
                  </a:lnTo>
                  <a:lnTo>
                    <a:pt x="30" y="365"/>
                  </a:lnTo>
                  <a:lnTo>
                    <a:pt x="28" y="365"/>
                  </a:lnTo>
                  <a:lnTo>
                    <a:pt x="28" y="363"/>
                  </a:lnTo>
                  <a:close/>
                  <a:moveTo>
                    <a:pt x="28" y="304"/>
                  </a:moveTo>
                  <a:lnTo>
                    <a:pt x="28" y="281"/>
                  </a:lnTo>
                  <a:lnTo>
                    <a:pt x="28" y="278"/>
                  </a:lnTo>
                  <a:lnTo>
                    <a:pt x="30" y="278"/>
                  </a:lnTo>
                  <a:lnTo>
                    <a:pt x="30" y="276"/>
                  </a:lnTo>
                  <a:lnTo>
                    <a:pt x="33" y="276"/>
                  </a:lnTo>
                  <a:lnTo>
                    <a:pt x="35" y="276"/>
                  </a:lnTo>
                  <a:lnTo>
                    <a:pt x="35" y="278"/>
                  </a:lnTo>
                  <a:lnTo>
                    <a:pt x="37" y="278"/>
                  </a:lnTo>
                  <a:lnTo>
                    <a:pt x="37" y="281"/>
                  </a:lnTo>
                  <a:lnTo>
                    <a:pt x="37" y="304"/>
                  </a:lnTo>
                  <a:lnTo>
                    <a:pt x="37" y="307"/>
                  </a:lnTo>
                  <a:lnTo>
                    <a:pt x="35" y="309"/>
                  </a:lnTo>
                  <a:lnTo>
                    <a:pt x="33" y="309"/>
                  </a:lnTo>
                  <a:lnTo>
                    <a:pt x="30" y="309"/>
                  </a:lnTo>
                  <a:lnTo>
                    <a:pt x="28" y="307"/>
                  </a:lnTo>
                  <a:lnTo>
                    <a:pt x="28" y="304"/>
                  </a:lnTo>
                  <a:close/>
                  <a:moveTo>
                    <a:pt x="28" y="248"/>
                  </a:moveTo>
                  <a:lnTo>
                    <a:pt x="28" y="225"/>
                  </a:lnTo>
                  <a:lnTo>
                    <a:pt x="28" y="222"/>
                  </a:lnTo>
                  <a:lnTo>
                    <a:pt x="30" y="222"/>
                  </a:lnTo>
                  <a:lnTo>
                    <a:pt x="30" y="220"/>
                  </a:lnTo>
                  <a:lnTo>
                    <a:pt x="33" y="220"/>
                  </a:lnTo>
                  <a:lnTo>
                    <a:pt x="35" y="220"/>
                  </a:lnTo>
                  <a:lnTo>
                    <a:pt x="35" y="222"/>
                  </a:lnTo>
                  <a:lnTo>
                    <a:pt x="37" y="222"/>
                  </a:lnTo>
                  <a:lnTo>
                    <a:pt x="37" y="225"/>
                  </a:lnTo>
                  <a:lnTo>
                    <a:pt x="37" y="248"/>
                  </a:lnTo>
                  <a:lnTo>
                    <a:pt x="37" y="250"/>
                  </a:lnTo>
                  <a:lnTo>
                    <a:pt x="35" y="250"/>
                  </a:lnTo>
                  <a:lnTo>
                    <a:pt x="35" y="253"/>
                  </a:lnTo>
                  <a:lnTo>
                    <a:pt x="33" y="253"/>
                  </a:lnTo>
                  <a:lnTo>
                    <a:pt x="30" y="253"/>
                  </a:lnTo>
                  <a:lnTo>
                    <a:pt x="30" y="250"/>
                  </a:lnTo>
                  <a:lnTo>
                    <a:pt x="28" y="250"/>
                  </a:lnTo>
                  <a:lnTo>
                    <a:pt x="28" y="248"/>
                  </a:lnTo>
                  <a:close/>
                  <a:moveTo>
                    <a:pt x="28" y="192"/>
                  </a:moveTo>
                  <a:lnTo>
                    <a:pt x="28" y="169"/>
                  </a:lnTo>
                  <a:lnTo>
                    <a:pt x="28" y="166"/>
                  </a:lnTo>
                  <a:lnTo>
                    <a:pt x="30" y="166"/>
                  </a:lnTo>
                  <a:lnTo>
                    <a:pt x="30" y="164"/>
                  </a:lnTo>
                  <a:lnTo>
                    <a:pt x="33" y="164"/>
                  </a:lnTo>
                  <a:lnTo>
                    <a:pt x="35" y="164"/>
                  </a:lnTo>
                  <a:lnTo>
                    <a:pt x="35" y="166"/>
                  </a:lnTo>
                  <a:lnTo>
                    <a:pt x="37" y="166"/>
                  </a:lnTo>
                  <a:lnTo>
                    <a:pt x="37" y="169"/>
                  </a:lnTo>
                  <a:lnTo>
                    <a:pt x="37" y="192"/>
                  </a:lnTo>
                  <a:lnTo>
                    <a:pt x="37" y="194"/>
                  </a:lnTo>
                  <a:lnTo>
                    <a:pt x="35" y="194"/>
                  </a:lnTo>
                  <a:lnTo>
                    <a:pt x="35" y="197"/>
                  </a:lnTo>
                  <a:lnTo>
                    <a:pt x="33" y="197"/>
                  </a:lnTo>
                  <a:lnTo>
                    <a:pt x="30" y="197"/>
                  </a:lnTo>
                  <a:lnTo>
                    <a:pt x="30" y="194"/>
                  </a:lnTo>
                  <a:lnTo>
                    <a:pt x="28" y="194"/>
                  </a:lnTo>
                  <a:lnTo>
                    <a:pt x="28" y="192"/>
                  </a:lnTo>
                  <a:close/>
                  <a:moveTo>
                    <a:pt x="28" y="136"/>
                  </a:moveTo>
                  <a:lnTo>
                    <a:pt x="28" y="110"/>
                  </a:lnTo>
                  <a:lnTo>
                    <a:pt x="28" y="108"/>
                  </a:lnTo>
                  <a:lnTo>
                    <a:pt x="30" y="108"/>
                  </a:lnTo>
                  <a:lnTo>
                    <a:pt x="33" y="108"/>
                  </a:lnTo>
                  <a:lnTo>
                    <a:pt x="35" y="108"/>
                  </a:lnTo>
                  <a:lnTo>
                    <a:pt x="37" y="108"/>
                  </a:lnTo>
                  <a:lnTo>
                    <a:pt x="37" y="110"/>
                  </a:lnTo>
                  <a:lnTo>
                    <a:pt x="37" y="136"/>
                  </a:lnTo>
                  <a:lnTo>
                    <a:pt x="37" y="138"/>
                  </a:lnTo>
                  <a:lnTo>
                    <a:pt x="35" y="138"/>
                  </a:lnTo>
                  <a:lnTo>
                    <a:pt x="35" y="141"/>
                  </a:lnTo>
                  <a:lnTo>
                    <a:pt x="33" y="141"/>
                  </a:lnTo>
                  <a:lnTo>
                    <a:pt x="30" y="141"/>
                  </a:lnTo>
                  <a:lnTo>
                    <a:pt x="30" y="138"/>
                  </a:lnTo>
                  <a:lnTo>
                    <a:pt x="28" y="138"/>
                  </a:lnTo>
                  <a:lnTo>
                    <a:pt x="28" y="136"/>
                  </a:lnTo>
                  <a:close/>
                  <a:moveTo>
                    <a:pt x="28" y="78"/>
                  </a:moveTo>
                  <a:lnTo>
                    <a:pt x="28" y="54"/>
                  </a:lnTo>
                  <a:lnTo>
                    <a:pt x="28" y="52"/>
                  </a:lnTo>
                  <a:lnTo>
                    <a:pt x="30" y="52"/>
                  </a:lnTo>
                  <a:lnTo>
                    <a:pt x="30" y="50"/>
                  </a:lnTo>
                  <a:lnTo>
                    <a:pt x="33" y="50"/>
                  </a:lnTo>
                  <a:lnTo>
                    <a:pt x="35" y="50"/>
                  </a:lnTo>
                  <a:lnTo>
                    <a:pt x="35" y="52"/>
                  </a:lnTo>
                  <a:lnTo>
                    <a:pt x="37" y="52"/>
                  </a:lnTo>
                  <a:lnTo>
                    <a:pt x="37" y="54"/>
                  </a:lnTo>
                  <a:lnTo>
                    <a:pt x="37" y="78"/>
                  </a:lnTo>
                  <a:lnTo>
                    <a:pt x="37" y="80"/>
                  </a:lnTo>
                  <a:lnTo>
                    <a:pt x="35" y="82"/>
                  </a:lnTo>
                  <a:lnTo>
                    <a:pt x="33" y="82"/>
                  </a:lnTo>
                  <a:lnTo>
                    <a:pt x="30" y="82"/>
                  </a:lnTo>
                  <a:lnTo>
                    <a:pt x="28" y="80"/>
                  </a:lnTo>
                  <a:lnTo>
                    <a:pt x="28" y="78"/>
                  </a:lnTo>
                  <a:close/>
                  <a:moveTo>
                    <a:pt x="0" y="65"/>
                  </a:moveTo>
                  <a:lnTo>
                    <a:pt x="33" y="0"/>
                  </a:lnTo>
                  <a:lnTo>
                    <a:pt x="65" y="65"/>
                  </a:lnTo>
                  <a:lnTo>
                    <a:pt x="0" y="65"/>
                  </a:lnTo>
                  <a:close/>
                </a:path>
              </a:pathLst>
            </a:custGeom>
            <a:solidFill>
              <a:srgbClr val="000000"/>
            </a:solidFill>
            <a:ln w="3175" cap="flat" cmpd="sng">
              <a:solidFill>
                <a:srgbClr val="000000"/>
              </a:solidFill>
              <a:prstDash val="solid"/>
              <a:miter/>
              <a:headEnd type="none" w="med" len="med"/>
              <a:tailEnd type="none" w="med" len="med"/>
            </a:ln>
          </p:spPr>
          <p:txBody>
            <a:bodyPr/>
            <a:lstStyle/>
            <a:p>
              <a:endParaRPr lang="zh-CN" altLang="en-US"/>
            </a:p>
          </p:txBody>
        </p:sp>
        <p:sp>
          <p:nvSpPr>
            <p:cNvPr id="28679" name="Rectangle 9"/>
            <p:cNvSpPr/>
            <p:nvPr/>
          </p:nvSpPr>
          <p:spPr>
            <a:xfrm>
              <a:off x="2722" y="635"/>
              <a:ext cx="725" cy="408"/>
            </a:xfrm>
            <a:prstGeom prst="rect">
              <a:avLst/>
            </a:prstGeom>
            <a:solidFill>
              <a:srgbClr val="C0FCE9"/>
            </a:solidFill>
            <a:ln w="9525" cap="flat" cmpd="sng">
              <a:solidFill>
                <a:srgbClr val="000099"/>
              </a:solidFill>
              <a:prstDash val="solid"/>
              <a:miter/>
              <a:headEnd type="none" w="med" len="med"/>
              <a:tailEnd type="none" w="med" len="med"/>
            </a:ln>
          </p:spPr>
          <p:txBody>
            <a:bodyPr anchor="t"/>
            <a:lstStyle/>
            <a:p>
              <a:pPr lvl="0" indent="0" algn="ctr"/>
              <a:r>
                <a:rPr lang="zh-CN" altLang="en-US" sz="2000" dirty="0">
                  <a:solidFill>
                    <a:srgbClr val="000000"/>
                  </a:solidFill>
                  <a:latin typeface="宋体" panose="02010600030101010101" pitchFamily="2" charset="-122"/>
                  <a:ea typeface="宋体" panose="02010600030101010101" pitchFamily="2" charset="-122"/>
                </a:rPr>
                <a:t>某个</a:t>
              </a:r>
              <a:r>
                <a:rPr lang="en-US" altLang="x-none" sz="2000" dirty="0">
                  <a:solidFill>
                    <a:srgbClr val="000000"/>
                  </a:solidFill>
                  <a:latin typeface="宋体" panose="02010600030101010101" pitchFamily="2" charset="-122"/>
                  <a:ea typeface="宋体" panose="02010600030101010101" pitchFamily="2" charset="-122"/>
                </a:rPr>
                <a:t>DB</a:t>
              </a:r>
              <a:r>
                <a:rPr lang="zh-CN" altLang="en-US" sz="2000" dirty="0">
                  <a:solidFill>
                    <a:srgbClr val="000000"/>
                  </a:solidFill>
                  <a:latin typeface="宋体" panose="02010600030101010101" pitchFamily="2" charset="-122"/>
                  <a:ea typeface="宋体" panose="02010600030101010101" pitchFamily="2" charset="-122"/>
                </a:rPr>
                <a:t>用户</a:t>
              </a:r>
              <a:endParaRPr lang="zh-CN" altLang="en-US" sz="2000" dirty="0">
                <a:latin typeface="宋体" panose="02010600030101010101" pitchFamily="2" charset="-122"/>
                <a:ea typeface="宋体" panose="02010600030101010101" pitchFamily="2" charset="-122"/>
              </a:endParaRPr>
            </a:p>
          </p:txBody>
        </p:sp>
        <p:sp>
          <p:nvSpPr>
            <p:cNvPr id="28680" name="Rectangle 10"/>
            <p:cNvSpPr/>
            <p:nvPr/>
          </p:nvSpPr>
          <p:spPr>
            <a:xfrm>
              <a:off x="3629" y="136"/>
              <a:ext cx="1270" cy="1134"/>
            </a:xfrm>
            <a:prstGeom prst="rect">
              <a:avLst/>
            </a:prstGeom>
            <a:solidFill>
              <a:srgbClr val="FFFFCC"/>
            </a:solidFill>
            <a:ln w="9525" cap="flat" cmpd="sng">
              <a:solidFill>
                <a:srgbClr val="000099"/>
              </a:solidFill>
              <a:prstDash val="solid"/>
              <a:miter/>
              <a:headEnd type="none" w="med" len="med"/>
              <a:tailEnd type="none" w="med" len="med"/>
            </a:ln>
          </p:spPr>
          <p:txBody>
            <a:bodyPr anchor="t"/>
            <a:lstStyle/>
            <a:p>
              <a:pPr lvl="0" indent="0" algn="ctr"/>
              <a:r>
                <a:rPr lang="zh-CN" altLang="en-US" sz="2000" dirty="0">
                  <a:latin typeface="宋体" panose="02010600030101010101" pitchFamily="2" charset="-122"/>
                  <a:ea typeface="宋体" panose="02010600030101010101" pitchFamily="2" charset="-122"/>
                </a:rPr>
                <a:t>某个数据库</a:t>
              </a:r>
              <a:endParaRPr lang="zh-CN" altLang="en-US" sz="2000" dirty="0">
                <a:latin typeface="宋体" panose="02010600030101010101" pitchFamily="2" charset="-122"/>
                <a:ea typeface="宋体" panose="02010600030101010101" pitchFamily="2" charset="-122"/>
              </a:endParaRPr>
            </a:p>
            <a:p>
              <a:pPr lvl="0" indent="0" algn="ctr"/>
              <a:r>
                <a:rPr lang="zh-CN" altLang="en-US" sz="2000" dirty="0">
                  <a:latin typeface="宋体" panose="02010600030101010101" pitchFamily="2" charset="-122"/>
                  <a:ea typeface="宋体" panose="02010600030101010101" pitchFamily="2" charset="-122"/>
                </a:rPr>
                <a:t>（教学管理</a:t>
              </a:r>
              <a:r>
                <a:rPr lang="en-US" altLang="x-none" sz="2000" dirty="0">
                  <a:latin typeface="宋体" panose="02010600030101010101" pitchFamily="2" charset="-122"/>
                  <a:ea typeface="宋体" panose="02010600030101010101" pitchFamily="2" charset="-122"/>
                </a:rPr>
                <a:t>DB</a:t>
              </a:r>
              <a:r>
                <a:rPr lang="zh-CN" altLang="en-US" sz="2000" dirty="0">
                  <a:latin typeface="宋体" panose="02010600030101010101" pitchFamily="2" charset="-122"/>
                  <a:ea typeface="宋体" panose="02010600030101010101" pitchFamily="2" charset="-122"/>
                </a:rPr>
                <a:t>）</a:t>
              </a:r>
              <a:endParaRPr lang="zh-CN" altLang="en-US" sz="2000" dirty="0">
                <a:latin typeface="宋体" panose="02010600030101010101" pitchFamily="2" charset="-122"/>
                <a:ea typeface="宋体" panose="02010600030101010101" pitchFamily="2" charset="-122"/>
              </a:endParaRPr>
            </a:p>
            <a:p>
              <a:pPr lvl="0" indent="0"/>
              <a:endParaRPr lang="en-US" altLang="x-none" sz="3600" dirty="0">
                <a:latin typeface="宋体" panose="02010600030101010101" pitchFamily="2" charset="-122"/>
                <a:ea typeface="宋体" panose="02010600030101010101" pitchFamily="2" charset="-122"/>
              </a:endParaRPr>
            </a:p>
          </p:txBody>
        </p:sp>
        <p:sp>
          <p:nvSpPr>
            <p:cNvPr id="28681" name="Rectangle 11"/>
            <p:cNvSpPr/>
            <p:nvPr/>
          </p:nvSpPr>
          <p:spPr>
            <a:xfrm>
              <a:off x="3629" y="1406"/>
              <a:ext cx="1270" cy="272"/>
            </a:xfrm>
            <a:prstGeom prst="rect">
              <a:avLst/>
            </a:prstGeom>
            <a:solidFill>
              <a:srgbClr val="FFFFCC"/>
            </a:solidFill>
            <a:ln w="9525" cap="flat" cmpd="sng">
              <a:solidFill>
                <a:srgbClr val="000099"/>
              </a:solidFill>
              <a:prstDash val="solid"/>
              <a:miter/>
              <a:headEnd type="none" w="med" len="med"/>
              <a:tailEnd type="none" w="med" len="med"/>
            </a:ln>
          </p:spPr>
          <p:txBody>
            <a:bodyPr anchor="t"/>
            <a:lstStyle/>
            <a:p>
              <a:pPr lvl="0" indent="0" algn="ctr"/>
              <a:r>
                <a:rPr lang="zh-CN" altLang="en-US" sz="2000" dirty="0">
                  <a:latin typeface="宋体" panose="02010600030101010101" pitchFamily="2" charset="-122"/>
                  <a:ea typeface="宋体" panose="02010600030101010101" pitchFamily="2" charset="-122"/>
                </a:rPr>
                <a:t>其他数据库</a:t>
              </a:r>
              <a:endParaRPr lang="zh-CN" altLang="en-US" sz="2000" dirty="0">
                <a:latin typeface="宋体" panose="02010600030101010101" pitchFamily="2" charset="-122"/>
                <a:ea typeface="宋体" panose="02010600030101010101" pitchFamily="2" charset="-122"/>
              </a:endParaRPr>
            </a:p>
          </p:txBody>
        </p:sp>
        <p:sp>
          <p:nvSpPr>
            <p:cNvPr id="28682" name="Line 12"/>
            <p:cNvSpPr/>
            <p:nvPr/>
          </p:nvSpPr>
          <p:spPr>
            <a:xfrm>
              <a:off x="1089" y="771"/>
              <a:ext cx="1633" cy="0"/>
            </a:xfrm>
            <a:prstGeom prst="line">
              <a:avLst/>
            </a:prstGeom>
            <a:ln w="28575" cap="flat" cmpd="sng">
              <a:solidFill>
                <a:schemeClr val="tx1"/>
              </a:solidFill>
              <a:prstDash val="solid"/>
              <a:round/>
              <a:headEnd type="none" w="med" len="med"/>
              <a:tailEnd type="triangle" w="med" len="med"/>
            </a:ln>
          </p:spPr>
        </p:sp>
        <p:grpSp>
          <p:nvGrpSpPr>
            <p:cNvPr id="28683" name="Group 13"/>
            <p:cNvGrpSpPr/>
            <p:nvPr/>
          </p:nvGrpSpPr>
          <p:grpSpPr>
            <a:xfrm>
              <a:off x="1316" y="771"/>
              <a:ext cx="1270" cy="862"/>
              <a:chOff x="0" y="0"/>
              <a:chExt cx="1270" cy="862"/>
            </a:xfrm>
          </p:grpSpPr>
          <p:sp>
            <p:nvSpPr>
              <p:cNvPr id="28684" name="Rectangle 14"/>
              <p:cNvSpPr/>
              <p:nvPr/>
            </p:nvSpPr>
            <p:spPr>
              <a:xfrm>
                <a:off x="317" y="227"/>
                <a:ext cx="816" cy="635"/>
              </a:xfrm>
              <a:prstGeom prst="rect">
                <a:avLst/>
              </a:prstGeom>
              <a:solidFill>
                <a:srgbClr val="C0FCE9"/>
              </a:solidFill>
              <a:ln w="9525" cap="flat" cmpd="sng">
                <a:solidFill>
                  <a:srgbClr val="000099"/>
                </a:solidFill>
                <a:prstDash val="solid"/>
                <a:miter/>
                <a:headEnd type="none" w="med" len="med"/>
                <a:tailEnd type="none" w="med" len="med"/>
              </a:ln>
            </p:spPr>
            <p:txBody>
              <a:bodyPr anchor="t"/>
              <a:lstStyle/>
              <a:p>
                <a:pPr lvl="0" indent="0"/>
                <a:r>
                  <a:rPr lang="zh-CN" altLang="en-US" sz="2000" dirty="0">
                    <a:solidFill>
                      <a:srgbClr val="000000"/>
                    </a:solidFill>
                    <a:latin typeface="Times New Roman" panose="02020603050405020304" pitchFamily="2" charset="0"/>
                    <a:ea typeface="宋体" panose="02010600030101010101" pitchFamily="2" charset="-122"/>
                  </a:rPr>
                  <a:t>定义角色（</a:t>
                </a:r>
                <a:r>
                  <a:rPr lang="en-US" altLang="x-none" sz="2000" dirty="0">
                    <a:solidFill>
                      <a:srgbClr val="000000"/>
                    </a:solidFill>
                    <a:latin typeface="Times New Roman" panose="02020603050405020304" pitchFamily="2" charset="0"/>
                    <a:ea typeface="宋体" panose="02010600030101010101" pitchFamily="2" charset="-122"/>
                  </a:rPr>
                  <a:t>role)</a:t>
                </a:r>
                <a:r>
                  <a:rPr lang="en-US" altLang="x-none" sz="2400" dirty="0">
                    <a:solidFill>
                      <a:srgbClr val="000000"/>
                    </a:solidFill>
                    <a:latin typeface="Times New Roman" panose="02020603050405020304" pitchFamily="2" charset="0"/>
                    <a:ea typeface="宋体" panose="02010600030101010101" pitchFamily="2" charset="-122"/>
                  </a:rPr>
                  <a:t> </a:t>
                </a:r>
                <a:endParaRPr lang="en-US" altLang="x-none" sz="2400" dirty="0">
                  <a:latin typeface="Times New Roman" panose="02020603050405020304" pitchFamily="2" charset="0"/>
                  <a:ea typeface="宋体" panose="02010600030101010101" pitchFamily="2" charset="-122"/>
                </a:endParaRPr>
              </a:p>
            </p:txBody>
          </p:sp>
          <p:sp>
            <p:nvSpPr>
              <p:cNvPr id="28685" name="Line 15"/>
              <p:cNvSpPr/>
              <p:nvPr/>
            </p:nvSpPr>
            <p:spPr>
              <a:xfrm>
                <a:off x="0" y="0"/>
                <a:ext cx="0" cy="499"/>
              </a:xfrm>
              <a:prstGeom prst="line">
                <a:avLst/>
              </a:prstGeom>
              <a:ln w="28575" cap="flat" cmpd="sng">
                <a:solidFill>
                  <a:schemeClr val="tx1"/>
                </a:solidFill>
                <a:prstDash val="solid"/>
                <a:round/>
                <a:headEnd type="none" w="med" len="med"/>
                <a:tailEnd type="none" w="med" len="med"/>
              </a:ln>
            </p:spPr>
          </p:sp>
          <p:sp>
            <p:nvSpPr>
              <p:cNvPr id="28686" name="Line 16"/>
              <p:cNvSpPr/>
              <p:nvPr/>
            </p:nvSpPr>
            <p:spPr>
              <a:xfrm>
                <a:off x="0" y="499"/>
                <a:ext cx="317" cy="0"/>
              </a:xfrm>
              <a:prstGeom prst="line">
                <a:avLst/>
              </a:prstGeom>
              <a:ln w="28575" cap="flat" cmpd="sng">
                <a:solidFill>
                  <a:schemeClr val="tx1"/>
                </a:solidFill>
                <a:prstDash val="solid"/>
                <a:round/>
                <a:headEnd type="none" w="med" len="med"/>
                <a:tailEnd type="triangle" w="med" len="med"/>
              </a:ln>
            </p:spPr>
          </p:sp>
          <p:sp>
            <p:nvSpPr>
              <p:cNvPr id="28687" name="Line 17"/>
              <p:cNvSpPr/>
              <p:nvPr/>
            </p:nvSpPr>
            <p:spPr>
              <a:xfrm>
                <a:off x="1133" y="544"/>
                <a:ext cx="137" cy="0"/>
              </a:xfrm>
              <a:prstGeom prst="line">
                <a:avLst/>
              </a:prstGeom>
              <a:ln w="28575" cap="flat" cmpd="sng">
                <a:solidFill>
                  <a:schemeClr val="tx1"/>
                </a:solidFill>
                <a:prstDash val="solid"/>
                <a:round/>
                <a:headEnd type="none" w="med" len="med"/>
                <a:tailEnd type="none" w="med" len="med"/>
              </a:ln>
            </p:spPr>
          </p:sp>
          <p:sp>
            <p:nvSpPr>
              <p:cNvPr id="28688" name="Line 18"/>
              <p:cNvSpPr/>
              <p:nvPr/>
            </p:nvSpPr>
            <p:spPr>
              <a:xfrm flipV="1">
                <a:off x="1270" y="0"/>
                <a:ext cx="0" cy="544"/>
              </a:xfrm>
              <a:prstGeom prst="line">
                <a:avLst/>
              </a:prstGeom>
              <a:ln w="28575" cap="flat" cmpd="sng">
                <a:solidFill>
                  <a:schemeClr val="tx1"/>
                </a:solidFill>
                <a:prstDash val="solid"/>
                <a:round/>
                <a:headEnd type="none" w="med" len="med"/>
                <a:tailEnd type="triangle" w="med" len="med"/>
              </a:ln>
            </p:spPr>
          </p:sp>
        </p:grpSp>
        <p:sp>
          <p:nvSpPr>
            <p:cNvPr id="28689" name="Rectangle 19"/>
            <p:cNvSpPr/>
            <p:nvPr/>
          </p:nvSpPr>
          <p:spPr>
            <a:xfrm>
              <a:off x="3810" y="680"/>
              <a:ext cx="953" cy="227"/>
            </a:xfrm>
            <a:prstGeom prst="rect">
              <a:avLst/>
            </a:prstGeom>
            <a:solidFill>
              <a:srgbClr val="E6F7FA"/>
            </a:solidFill>
            <a:ln w="9525" cap="flat" cmpd="sng">
              <a:solidFill>
                <a:srgbClr val="000099"/>
              </a:solidFill>
              <a:prstDash val="solid"/>
              <a:miter/>
              <a:headEnd type="none" w="med" len="med"/>
              <a:tailEnd type="none" w="med" len="med"/>
            </a:ln>
          </p:spPr>
          <p:txBody>
            <a:bodyPr anchor="t"/>
            <a:lstStyle/>
            <a:p>
              <a:pPr lvl="0" indent="0" algn="ctr"/>
              <a:r>
                <a:rPr lang="en-US" altLang="x-none" dirty="0">
                  <a:solidFill>
                    <a:srgbClr val="000000"/>
                  </a:solidFill>
                  <a:latin typeface="宋体" panose="02010600030101010101" pitchFamily="2" charset="-122"/>
                  <a:ea typeface="宋体" panose="02010600030101010101" pitchFamily="2" charset="-122"/>
                </a:rPr>
                <a:t>SQL</a:t>
              </a:r>
              <a:r>
                <a:rPr lang="zh-CN" altLang="en-US" dirty="0">
                  <a:solidFill>
                    <a:srgbClr val="000000"/>
                  </a:solidFill>
                  <a:latin typeface="宋体" panose="02010600030101010101" pitchFamily="2" charset="-122"/>
                  <a:ea typeface="宋体" panose="02010600030101010101" pitchFamily="2" charset="-122"/>
                </a:rPr>
                <a:t>使用授权</a:t>
              </a:r>
              <a:endParaRPr lang="zh-CN" altLang="en-US" dirty="0">
                <a:latin typeface="宋体" panose="02010600030101010101" pitchFamily="2" charset="-122"/>
                <a:ea typeface="宋体" panose="02010600030101010101" pitchFamily="2" charset="-122"/>
              </a:endParaRPr>
            </a:p>
          </p:txBody>
        </p:sp>
        <p:sp>
          <p:nvSpPr>
            <p:cNvPr id="28690" name="Rectangle 20"/>
            <p:cNvSpPr/>
            <p:nvPr/>
          </p:nvSpPr>
          <p:spPr>
            <a:xfrm>
              <a:off x="3810" y="998"/>
              <a:ext cx="953" cy="227"/>
            </a:xfrm>
            <a:prstGeom prst="rect">
              <a:avLst/>
            </a:prstGeom>
            <a:solidFill>
              <a:srgbClr val="E6F7FA"/>
            </a:solidFill>
            <a:ln w="9525" cap="flat" cmpd="sng">
              <a:solidFill>
                <a:srgbClr val="000099"/>
              </a:solidFill>
              <a:prstDash val="solid"/>
              <a:miter/>
              <a:headEnd type="none" w="med" len="med"/>
              <a:tailEnd type="none" w="med" len="med"/>
            </a:ln>
          </p:spPr>
          <p:txBody>
            <a:bodyPr anchor="t"/>
            <a:lstStyle/>
            <a:p>
              <a:pPr lvl="0" indent="0" algn="ctr"/>
              <a:r>
                <a:rPr lang="en-US" altLang="x-none" dirty="0">
                  <a:solidFill>
                    <a:srgbClr val="000000"/>
                  </a:solidFill>
                  <a:latin typeface="宋体" panose="02010600030101010101" pitchFamily="2" charset="-122"/>
                  <a:ea typeface="宋体" panose="02010600030101010101" pitchFamily="2" charset="-122"/>
                </a:rPr>
                <a:t>DB</a:t>
              </a:r>
              <a:r>
                <a:rPr lang="zh-CN" altLang="en-US" dirty="0">
                  <a:solidFill>
                    <a:srgbClr val="000000"/>
                  </a:solidFill>
                  <a:latin typeface="宋体" panose="02010600030101010101" pitchFamily="2" charset="-122"/>
                  <a:ea typeface="宋体" panose="02010600030101010101" pitchFamily="2" charset="-122"/>
                </a:rPr>
                <a:t>对象授权</a:t>
              </a:r>
              <a:endParaRPr lang="zh-CN" altLang="en-US" dirty="0">
                <a:latin typeface="宋体" panose="02010600030101010101" pitchFamily="2" charset="-122"/>
                <a:ea typeface="宋体" panose="02010600030101010101" pitchFamily="2" charset="-122"/>
              </a:endParaRPr>
            </a:p>
          </p:txBody>
        </p:sp>
        <p:grpSp>
          <p:nvGrpSpPr>
            <p:cNvPr id="28691" name="Group 21"/>
            <p:cNvGrpSpPr/>
            <p:nvPr/>
          </p:nvGrpSpPr>
          <p:grpSpPr>
            <a:xfrm>
              <a:off x="3266" y="816"/>
              <a:ext cx="544" cy="592"/>
              <a:chOff x="0" y="0"/>
              <a:chExt cx="544" cy="592"/>
            </a:xfrm>
          </p:grpSpPr>
          <p:sp>
            <p:nvSpPr>
              <p:cNvPr id="28692" name="Line 22"/>
              <p:cNvSpPr/>
              <p:nvPr/>
            </p:nvSpPr>
            <p:spPr>
              <a:xfrm>
                <a:off x="181" y="0"/>
                <a:ext cx="363" cy="0"/>
              </a:xfrm>
              <a:prstGeom prst="line">
                <a:avLst/>
              </a:prstGeom>
              <a:ln w="28575" cap="flat" cmpd="sng">
                <a:solidFill>
                  <a:schemeClr val="tx1"/>
                </a:solidFill>
                <a:prstDash val="solid"/>
                <a:round/>
                <a:headEnd type="none" w="med" len="med"/>
                <a:tailEnd type="triangle" w="med" len="med"/>
              </a:ln>
            </p:spPr>
          </p:sp>
          <p:sp>
            <p:nvSpPr>
              <p:cNvPr id="28693" name="Line 23"/>
              <p:cNvSpPr/>
              <p:nvPr/>
            </p:nvSpPr>
            <p:spPr>
              <a:xfrm>
                <a:off x="227" y="0"/>
                <a:ext cx="0" cy="272"/>
              </a:xfrm>
              <a:prstGeom prst="line">
                <a:avLst/>
              </a:prstGeom>
              <a:ln w="28575" cap="flat" cmpd="sng">
                <a:solidFill>
                  <a:schemeClr val="tx1"/>
                </a:solidFill>
                <a:prstDash val="solid"/>
                <a:round/>
                <a:headEnd type="none" w="med" len="med"/>
                <a:tailEnd type="none" w="med" len="med"/>
              </a:ln>
            </p:spPr>
          </p:sp>
          <p:sp>
            <p:nvSpPr>
              <p:cNvPr id="28694" name="Line 24"/>
              <p:cNvSpPr/>
              <p:nvPr/>
            </p:nvSpPr>
            <p:spPr>
              <a:xfrm>
                <a:off x="227" y="272"/>
                <a:ext cx="317" cy="0"/>
              </a:xfrm>
              <a:prstGeom prst="line">
                <a:avLst/>
              </a:prstGeom>
              <a:ln w="28575" cap="flat" cmpd="sng">
                <a:solidFill>
                  <a:schemeClr val="tx1"/>
                </a:solidFill>
                <a:prstDash val="solid"/>
                <a:round/>
                <a:headEnd type="none" w="med" len="med"/>
                <a:tailEnd type="triangle" w="med" len="med"/>
              </a:ln>
            </p:spPr>
          </p:sp>
          <p:sp>
            <p:nvSpPr>
              <p:cNvPr id="28695" name="Rectangle 25"/>
              <p:cNvSpPr/>
              <p:nvPr/>
            </p:nvSpPr>
            <p:spPr>
              <a:xfrm>
                <a:off x="0" y="316"/>
                <a:ext cx="500" cy="276"/>
              </a:xfrm>
              <a:prstGeom prst="rect">
                <a:avLst/>
              </a:prstGeom>
              <a:noFill/>
              <a:ln w="9525">
                <a:noFill/>
              </a:ln>
            </p:spPr>
            <p:txBody>
              <a:bodyPr wrap="none" lIns="90000" tIns="46800" rIns="90000" bIns="46800" anchor="t">
                <a:spAutoFit/>
              </a:bodyPr>
              <a:lstStyle/>
              <a:p>
                <a:pPr lvl="0" indent="0"/>
                <a:r>
                  <a:rPr lang="zh-CN" altLang="en-US" sz="2000" dirty="0">
                    <a:solidFill>
                      <a:srgbClr val="CC0000"/>
                    </a:solidFill>
                    <a:latin typeface="宋体" panose="02010600030101010101" pitchFamily="2" charset="-122"/>
                    <a:ea typeface="宋体" panose="02010600030101010101" pitchFamily="2" charset="-122"/>
                  </a:rPr>
                  <a:t>授权 </a:t>
                </a:r>
                <a:endParaRPr lang="zh-CN" altLang="en-US" sz="2000" dirty="0">
                  <a:solidFill>
                    <a:srgbClr val="CC0000"/>
                  </a:solidFill>
                  <a:latin typeface="宋体" panose="02010600030101010101" pitchFamily="2" charset="-122"/>
                  <a:ea typeface="宋体" panose="02010600030101010101" pitchFamily="2" charset="-122"/>
                </a:endParaRPr>
              </a:p>
            </p:txBody>
          </p:sp>
        </p:grpSp>
      </p:grpSp>
      <p:sp>
        <p:nvSpPr>
          <p:cNvPr id="28696" name="Rectangle 2"/>
          <p:cNvSpPr/>
          <p:nvPr/>
        </p:nvSpPr>
        <p:spPr>
          <a:xfrm>
            <a:off x="457200" y="68263"/>
            <a:ext cx="8229600" cy="692150"/>
          </a:xfrm>
          <a:prstGeom prst="rect">
            <a:avLst/>
          </a:prstGeom>
          <a:noFill/>
          <a:ln w="9525">
            <a:noFill/>
          </a:ln>
        </p:spPr>
        <p:txBody>
          <a:bodyPr anchor="ctr"/>
          <a:lstStyle/>
          <a:p>
            <a:pPr lvl="0" indent="0"/>
            <a:r>
              <a:rPr lang="zh-CN" altLang="en-US" sz="3200" dirty="0">
                <a:solidFill>
                  <a:srgbClr val="FF0000"/>
                </a:solidFill>
                <a:latin typeface="Arial" panose="020B0604020202020204" pitchFamily="34" charset="0"/>
                <a:ea typeface="黑体" panose="02010609060101010101" pitchFamily="1" charset="-122"/>
              </a:rPr>
              <a:t>二、数据库的安全性</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28697" name="Rectangle 2"/>
          <p:cNvSpPr txBox="1"/>
          <p:nvPr/>
        </p:nvSpPr>
        <p:spPr>
          <a:xfrm>
            <a:off x="536575" y="712788"/>
            <a:ext cx="5689600" cy="576262"/>
          </a:xfrm>
          <a:prstGeom prst="rect">
            <a:avLst/>
          </a:prstGeom>
          <a:noFill/>
          <a:ln w="9525">
            <a:noFill/>
          </a:ln>
        </p:spPr>
        <p:txBody>
          <a:bodyPr anchor="t"/>
          <a:lstStyle/>
          <a:p>
            <a:pPr marL="457200" lvl="0" indent="-457200" defTabSz="0">
              <a:lnSpc>
                <a:spcPct val="135000"/>
              </a:lnSpc>
              <a:tabLst>
                <a:tab pos="1428750" algn="l"/>
              </a:tabLst>
            </a:pPr>
            <a:r>
              <a:rPr lang="en-US" altLang="x-none" sz="2800" dirty="0">
                <a:solidFill>
                  <a:srgbClr val="0033CC"/>
                </a:solidFill>
                <a:latin typeface="黑体" panose="02010609060101010101" pitchFamily="1" charset="-122"/>
                <a:ea typeface="黑体" panose="02010609060101010101" pitchFamily="1" charset="-122"/>
              </a:rPr>
              <a:t>3.SQL SERVER</a:t>
            </a:r>
            <a:r>
              <a:rPr lang="zh-CN" altLang="en-US" sz="2800" dirty="0">
                <a:solidFill>
                  <a:srgbClr val="0033CC"/>
                </a:solidFill>
                <a:latin typeface="黑体" panose="02010609060101010101" pitchFamily="1" charset="-122"/>
                <a:ea typeface="黑体" panose="02010609060101010101" pitchFamily="1" charset="-122"/>
              </a:rPr>
              <a:t>安全体系</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28698" name="矩形 27"/>
          <p:cNvSpPr/>
          <p:nvPr/>
        </p:nvSpPr>
        <p:spPr>
          <a:xfrm>
            <a:off x="4497388" y="895350"/>
            <a:ext cx="4169410" cy="457200"/>
          </a:xfrm>
          <a:prstGeom prst="rect">
            <a:avLst/>
          </a:prstGeom>
          <a:noFill/>
          <a:ln w="9525">
            <a:noFill/>
          </a:ln>
        </p:spPr>
        <p:txBody>
          <a:bodyPr wrap="none" anchor="t">
            <a:spAutoFit/>
          </a:bodyPr>
          <a:lstStyle/>
          <a:p>
            <a:pPr lvl="0" indent="0"/>
            <a:r>
              <a:rPr lang="zh-CN" altLang="en-US" sz="2400" dirty="0">
                <a:solidFill>
                  <a:srgbClr val="0033CC"/>
                </a:solidFill>
                <a:latin typeface="宋体" panose="02010600030101010101" pitchFamily="2" charset="-122"/>
                <a:ea typeface="宋体" panose="02010600030101010101" pitchFamily="2" charset="-122"/>
              </a:rPr>
              <a:t>（</a:t>
            </a:r>
            <a:r>
              <a:rPr lang="en-US" altLang="x-none" sz="2400" dirty="0">
                <a:solidFill>
                  <a:srgbClr val="0033CC"/>
                </a:solidFill>
                <a:latin typeface="宋体" panose="02010600030101010101" pitchFamily="2" charset="-122"/>
                <a:ea typeface="宋体" panose="02010600030101010101" pitchFamily="2" charset="-122"/>
              </a:rPr>
              <a:t>3</a:t>
            </a:r>
            <a:r>
              <a:rPr lang="zh-CN" altLang="en-US" sz="2400" dirty="0">
                <a:solidFill>
                  <a:srgbClr val="0033CC"/>
                </a:solidFill>
                <a:latin typeface="宋体" panose="02010600030101010101" pitchFamily="2" charset="-122"/>
                <a:ea typeface="宋体" panose="02010600030101010101" pitchFamily="2" charset="-122"/>
              </a:rPr>
              <a:t>）</a:t>
            </a:r>
            <a:r>
              <a:rPr lang="en-US" altLang="x-none" sz="2400" dirty="0">
                <a:solidFill>
                  <a:srgbClr val="0033CC"/>
                </a:solidFill>
                <a:latin typeface="宋体" panose="02010600030101010101" pitchFamily="2" charset="-122"/>
                <a:ea typeface="宋体" panose="02010600030101010101" pitchFamily="2" charset="-122"/>
              </a:rPr>
              <a:t>SQL</a:t>
            </a:r>
            <a:r>
              <a:rPr lang="zh-CN" altLang="en-US" sz="2400" dirty="0">
                <a:solidFill>
                  <a:srgbClr val="0033CC"/>
                </a:solidFill>
                <a:latin typeface="宋体" panose="02010600030101010101" pitchFamily="2" charset="-122"/>
                <a:ea typeface="宋体" panose="02010600030101010101" pitchFamily="2" charset="-122"/>
              </a:rPr>
              <a:t> </a:t>
            </a:r>
            <a:r>
              <a:rPr lang="en-US" altLang="x-none" sz="2400" dirty="0">
                <a:solidFill>
                  <a:srgbClr val="0033CC"/>
                </a:solidFill>
                <a:latin typeface="宋体" panose="02010600030101010101" pitchFamily="2" charset="-122"/>
                <a:ea typeface="宋体" panose="02010600030101010101" pitchFamily="2" charset="-122"/>
              </a:rPr>
              <a:t>Server</a:t>
            </a:r>
            <a:r>
              <a:rPr lang="zh-CN" altLang="en-US" sz="2400" dirty="0">
                <a:solidFill>
                  <a:srgbClr val="0033CC"/>
                </a:solidFill>
                <a:latin typeface="宋体" panose="02010600030101010101" pitchFamily="2" charset="-122"/>
                <a:ea typeface="宋体" panose="02010600030101010101" pitchFamily="2" charset="-122"/>
              </a:rPr>
              <a:t> 数据库用户</a:t>
            </a:r>
            <a:endParaRPr lang="zh-CN" altLang="en-US" sz="2400" dirty="0">
              <a:solidFill>
                <a:srgbClr val="0033CC"/>
              </a:solidFill>
              <a:latin typeface="宋体" panose="02010600030101010101" pitchFamily="2" charset="-122"/>
              <a:ea typeface="宋体" panose="02010600030101010101" pitchFamily="2" charset="-122"/>
            </a:endParaRPr>
          </a:p>
        </p:txBody>
      </p:sp>
      <p:sp>
        <p:nvSpPr>
          <p:cNvPr id="29724" name="矩形 28"/>
          <p:cNvSpPr/>
          <p:nvPr/>
        </p:nvSpPr>
        <p:spPr>
          <a:xfrm>
            <a:off x="4694238" y="2332038"/>
            <a:ext cx="1676400" cy="863600"/>
          </a:xfrm>
          <a:prstGeom prst="rect">
            <a:avLst/>
          </a:prstGeom>
          <a:noFill/>
          <a:ln w="66675" cap="flat" cmpd="sng">
            <a:solidFill>
              <a:srgbClr val="0033CC"/>
            </a:solidFill>
            <a:prstDash val="dash"/>
            <a:miter/>
            <a:headEnd type="none" w="med" len="med"/>
            <a:tailEnd type="none" w="med" len="med"/>
          </a:ln>
        </p:spPr>
        <p:txBody>
          <a:bodyPr anchor="ctr">
            <a:spAutoFit/>
          </a:bodyPr>
          <a:lstStyle/>
          <a:p>
            <a:pPr marL="262255" lvl="0" indent="-262255" eaLnBrk="1" fontAlgn="base" hangingPunct="1">
              <a:lnSpc>
                <a:spcPct val="135000"/>
              </a:lnSpc>
              <a:buBlip>
                <a:blip r:embed="rId1"/>
              </a:buBlip>
            </a:pPr>
            <a:endParaRPr lang="zh-CN" altLang="en-US"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sp>
        <p:nvSpPr>
          <p:cNvPr id="29725" name="Rectangle 26"/>
          <p:cNvSpPr/>
          <p:nvPr/>
        </p:nvSpPr>
        <p:spPr>
          <a:xfrm>
            <a:off x="266700" y="2151063"/>
            <a:ext cx="8640763" cy="4165600"/>
          </a:xfrm>
          <a:prstGeom prst="rect">
            <a:avLst/>
          </a:prstGeom>
          <a:solidFill>
            <a:schemeClr val="bg1"/>
          </a:solidFill>
          <a:ln w="9525" cap="flat" cmpd="sng">
            <a:solidFill>
              <a:schemeClr val="tx1"/>
            </a:solidFill>
            <a:prstDash val="solid"/>
            <a:miter/>
            <a:headEnd type="none" w="med" len="med"/>
            <a:tailEnd type="none" w="med" len="med"/>
          </a:ln>
        </p:spPr>
        <p:txBody>
          <a:bodyPr lIns="90000" tIns="46800" rIns="90000" bIns="46800" anchor="ctr"/>
          <a:lstStyle/>
          <a:p>
            <a:pPr marL="457200" lvl="0" indent="-457200">
              <a:lnSpc>
                <a:spcPct val="110000"/>
              </a:lnSpc>
              <a:buAutoNum type="arabicPeriod"/>
            </a:pPr>
            <a:r>
              <a:rPr lang="zh-CN" altLang="en-US" sz="2200" dirty="0">
                <a:latin typeface="华文楷体" panose="02010600040101010101" pitchFamily="2" charset="-122"/>
                <a:ea typeface="华文楷体" panose="02010600040101010101" pitchFamily="2" charset="-122"/>
              </a:rPr>
              <a:t>一个登录用户在被设定为某个数据库用户之前，可用</a:t>
            </a:r>
            <a:r>
              <a:rPr lang="en-US" altLang="x-none" sz="2200" dirty="0">
                <a:latin typeface="华文楷体" panose="02010600040101010101" pitchFamily="2" charset="-122"/>
                <a:ea typeface="华文楷体" panose="02010600040101010101" pitchFamily="2" charset="-122"/>
              </a:rPr>
              <a:t>guest</a:t>
            </a:r>
            <a:r>
              <a:rPr lang="zh-CN" altLang="en-US" sz="2200" dirty="0">
                <a:latin typeface="华文楷体" panose="02010600040101010101" pitchFamily="2" charset="-122"/>
                <a:ea typeface="华文楷体" panose="02010600040101010101" pitchFamily="2" charset="-122"/>
              </a:rPr>
              <a:t>用户身份访问该数据库。</a:t>
            </a:r>
            <a:endParaRPr lang="zh-CN" altLang="en-US" sz="2200" dirty="0">
              <a:latin typeface="华文楷体" panose="02010600040101010101" pitchFamily="2" charset="-122"/>
              <a:ea typeface="华文楷体" panose="02010600040101010101" pitchFamily="2" charset="-122"/>
            </a:endParaRPr>
          </a:p>
          <a:p>
            <a:pPr marL="457200" lvl="0" indent="-457200">
              <a:lnSpc>
                <a:spcPct val="110000"/>
              </a:lnSpc>
              <a:buAutoNum type="arabicPeriod"/>
            </a:pPr>
            <a:r>
              <a:rPr lang="zh-CN" altLang="en-US" sz="2200" dirty="0">
                <a:latin typeface="华文楷体" panose="02010600040101010101" pitchFamily="2" charset="-122"/>
                <a:ea typeface="华文楷体" panose="02010600040101010101" pitchFamily="2" charset="-122"/>
              </a:rPr>
              <a:t>定义登录用户为某个</a:t>
            </a:r>
            <a:r>
              <a:rPr lang="en-US" altLang="x-none" sz="2200" dirty="0">
                <a:latin typeface="华文楷体" panose="02010600040101010101" pitchFamily="2" charset="-122"/>
                <a:ea typeface="华文楷体" panose="02010600040101010101" pitchFamily="2" charset="-122"/>
              </a:rPr>
              <a:t>DB</a:t>
            </a:r>
            <a:r>
              <a:rPr lang="zh-CN" altLang="en-US" sz="2200" dirty="0">
                <a:latin typeface="华文楷体" panose="02010600040101010101" pitchFamily="2" charset="-122"/>
                <a:ea typeface="华文楷体" panose="02010600040101010101" pitchFamily="2" charset="-122"/>
              </a:rPr>
              <a:t>用户，可访问某个数据库。</a:t>
            </a:r>
            <a:endParaRPr lang="zh-CN" altLang="en-US" sz="2200" dirty="0">
              <a:latin typeface="华文楷体" panose="02010600040101010101" pitchFamily="2" charset="-122"/>
              <a:ea typeface="华文楷体" panose="02010600040101010101" pitchFamily="2" charset="-122"/>
            </a:endParaRPr>
          </a:p>
          <a:p>
            <a:pPr marL="457200" lvl="0" indent="-457200">
              <a:lnSpc>
                <a:spcPct val="110000"/>
              </a:lnSpc>
            </a:pPr>
            <a:r>
              <a:rPr lang="zh-CN" altLang="en-US" sz="2200" dirty="0">
                <a:latin typeface="华文楷体" panose="02010600040101010101" pitchFamily="2" charset="-122"/>
                <a:ea typeface="华文楷体" panose="02010600040101010101" pitchFamily="2" charset="-122"/>
              </a:rPr>
              <a:t> </a:t>
            </a:r>
            <a:r>
              <a:rPr lang="en-US" altLang="x-none" sz="2200" dirty="0">
                <a:latin typeface="华文楷体" panose="02010600040101010101" pitchFamily="2" charset="-122"/>
                <a:ea typeface="华文楷体" panose="02010600040101010101" pitchFamily="2" charset="-122"/>
              </a:rPr>
              <a:t>sp_adduser [ @loginame = ] ‘</a:t>
            </a:r>
            <a:r>
              <a:rPr lang="zh-CN" altLang="en-US" sz="2200" dirty="0">
                <a:latin typeface="华文楷体" panose="02010600040101010101" pitchFamily="2" charset="-122"/>
                <a:ea typeface="华文楷体" panose="02010600040101010101" pitchFamily="2" charset="-122"/>
              </a:rPr>
              <a:t>登录名</a:t>
            </a:r>
            <a:r>
              <a:rPr lang="en-US" altLang="x-none" sz="2200" dirty="0">
                <a:latin typeface="华文楷体" panose="02010600040101010101" pitchFamily="2" charset="-122"/>
                <a:ea typeface="华文楷体" panose="02010600040101010101" pitchFamily="2" charset="-122"/>
              </a:rPr>
              <a:t>' </a:t>
            </a:r>
            <a:endParaRPr lang="en-US" altLang="x-none" sz="2200" dirty="0">
              <a:latin typeface="华文楷体" panose="02010600040101010101" pitchFamily="2" charset="-122"/>
              <a:ea typeface="华文楷体" panose="02010600040101010101" pitchFamily="2" charset="-122"/>
            </a:endParaRPr>
          </a:p>
          <a:p>
            <a:pPr marL="457200" lvl="0" indent="-457200">
              <a:lnSpc>
                <a:spcPct val="110000"/>
              </a:lnSpc>
            </a:pPr>
            <a:r>
              <a:rPr lang="en-US" altLang="x-none" sz="2200" dirty="0">
                <a:latin typeface="华文楷体" panose="02010600040101010101" pitchFamily="2" charset="-122"/>
                <a:ea typeface="华文楷体" panose="02010600040101010101" pitchFamily="2" charset="-122"/>
              </a:rPr>
              <a:t>            [ , [ @name_in_db = ] ‘</a:t>
            </a:r>
            <a:r>
              <a:rPr lang="zh-CN" altLang="en-US" sz="2200" dirty="0">
                <a:latin typeface="华文楷体" panose="02010600040101010101" pitchFamily="2" charset="-122"/>
                <a:ea typeface="华文楷体" panose="02010600040101010101" pitchFamily="2" charset="-122"/>
              </a:rPr>
              <a:t>访问数据库时用的名字’ </a:t>
            </a:r>
            <a:r>
              <a:rPr lang="en-US" altLang="x-none" sz="2200" dirty="0">
                <a:latin typeface="华文楷体" panose="02010600040101010101" pitchFamily="2" charset="-122"/>
                <a:ea typeface="华文楷体" panose="02010600040101010101" pitchFamily="2" charset="-122"/>
              </a:rPr>
              <a:t>]</a:t>
            </a:r>
            <a:endParaRPr lang="en-US" altLang="x-none" sz="2200" dirty="0">
              <a:latin typeface="华文楷体" panose="02010600040101010101" pitchFamily="2" charset="-122"/>
              <a:ea typeface="华文楷体" panose="02010600040101010101" pitchFamily="2" charset="-122"/>
            </a:endParaRPr>
          </a:p>
          <a:p>
            <a:pPr marL="457200" lvl="0" indent="-457200">
              <a:lnSpc>
                <a:spcPct val="110000"/>
              </a:lnSpc>
            </a:pPr>
            <a:r>
              <a:rPr lang="en-US" altLang="x-none" sz="2200" dirty="0">
                <a:solidFill>
                  <a:srgbClr val="FF0000"/>
                </a:solidFill>
                <a:latin typeface="华文楷体" panose="02010600040101010101" pitchFamily="2" charset="-122"/>
                <a:ea typeface="华文楷体" panose="02010600040101010101" pitchFamily="2" charset="-122"/>
              </a:rPr>
              <a:t> sp_adduser @loginame = 'wtest6',@name_in_db ='wtest6'</a:t>
            </a:r>
            <a:endParaRPr lang="en-US" altLang="x-none" sz="2200" dirty="0">
              <a:solidFill>
                <a:srgbClr val="FF0000"/>
              </a:solidFill>
              <a:latin typeface="华文楷体" panose="02010600040101010101" pitchFamily="2" charset="-122"/>
              <a:ea typeface="华文楷体" panose="02010600040101010101" pitchFamily="2" charset="-122"/>
            </a:endParaRPr>
          </a:p>
          <a:p>
            <a:pPr marL="457200" lvl="0" indent="-457200">
              <a:lnSpc>
                <a:spcPct val="110000"/>
              </a:lnSpc>
            </a:pPr>
            <a:r>
              <a:rPr lang="en-US" altLang="x-none" sz="2200" dirty="0">
                <a:solidFill>
                  <a:srgbClr val="FF0000"/>
                </a:solidFill>
                <a:latin typeface="华文楷体" panose="02010600040101010101" pitchFamily="2" charset="-122"/>
                <a:ea typeface="华文楷体" panose="02010600040101010101" pitchFamily="2" charset="-122"/>
              </a:rPr>
              <a:t>sp_helpuser</a:t>
            </a:r>
            <a:endParaRPr lang="en-US" altLang="x-none" sz="2200" dirty="0">
              <a:solidFill>
                <a:srgbClr val="FF0000"/>
              </a:solidFill>
              <a:latin typeface="华文楷体" panose="02010600040101010101" pitchFamily="2" charset="-122"/>
              <a:ea typeface="华文楷体" panose="02010600040101010101" pitchFamily="2" charset="-122"/>
            </a:endParaRPr>
          </a:p>
          <a:p>
            <a:pPr marL="457200" lvl="0" indent="-457200">
              <a:lnSpc>
                <a:spcPct val="110000"/>
              </a:lnSpc>
            </a:pPr>
            <a:r>
              <a:rPr lang="en-US" altLang="x-none" sz="2200" dirty="0">
                <a:solidFill>
                  <a:srgbClr val="FF0000"/>
                </a:solidFill>
                <a:latin typeface="华文楷体" panose="02010600040101010101" pitchFamily="2" charset="-122"/>
                <a:ea typeface="华文楷体" panose="02010600040101010101" pitchFamily="2" charset="-122"/>
              </a:rPr>
              <a:t>sp_dropuser 'wtest6'</a:t>
            </a:r>
            <a:endParaRPr lang="en-US" altLang="x-none" sz="2200" dirty="0">
              <a:solidFill>
                <a:srgbClr val="FF0000"/>
              </a:solidFill>
              <a:latin typeface="华文楷体" panose="02010600040101010101" pitchFamily="2" charset="-122"/>
              <a:ea typeface="华文楷体" panose="02010600040101010101" pitchFamily="2" charset="-122"/>
            </a:endParaRPr>
          </a:p>
          <a:p>
            <a:pPr marL="457200" lvl="0" indent="-457200">
              <a:lnSpc>
                <a:spcPct val="110000"/>
              </a:lnSpc>
            </a:pPr>
            <a:r>
              <a:rPr lang="zh-CN" altLang="en-US" sz="2200" dirty="0">
                <a:solidFill>
                  <a:srgbClr val="0033CC"/>
                </a:solidFill>
                <a:latin typeface="华文楷体" panose="02010600040101010101" pitchFamily="2" charset="-122"/>
                <a:ea typeface="华文楷体" panose="02010600040101010101" pitchFamily="2" charset="-122"/>
              </a:rPr>
              <a:t>此外用数据库用户相关的存储过程还包括</a:t>
            </a:r>
            <a:r>
              <a:rPr lang="en-US" altLang="x-none" sz="2200" dirty="0">
                <a:solidFill>
                  <a:srgbClr val="0033CC"/>
                </a:solidFill>
                <a:latin typeface="华文楷体" panose="02010600040101010101" pitchFamily="2" charset="-122"/>
                <a:ea typeface="华文楷体" panose="02010600040101010101" pitchFamily="2" charset="-122"/>
              </a:rPr>
              <a:t>sp_grantdbaccess</a:t>
            </a:r>
            <a:r>
              <a:rPr lang="zh-CN" altLang="en-US" sz="2200" dirty="0">
                <a:solidFill>
                  <a:srgbClr val="0033CC"/>
                </a:solidFill>
                <a:latin typeface="华文楷体" panose="02010600040101010101" pitchFamily="2" charset="-122"/>
                <a:ea typeface="华文楷体" panose="02010600040101010101" pitchFamily="2" charset="-122"/>
              </a:rPr>
              <a:t>和</a:t>
            </a:r>
            <a:endParaRPr lang="en-US" altLang="x-none" sz="2200" dirty="0">
              <a:solidFill>
                <a:srgbClr val="0033CC"/>
              </a:solidFill>
              <a:latin typeface="华文楷体" panose="02010600040101010101" pitchFamily="2" charset="-122"/>
              <a:ea typeface="华文楷体" panose="02010600040101010101" pitchFamily="2" charset="-122"/>
            </a:endParaRPr>
          </a:p>
          <a:p>
            <a:pPr marL="457200" lvl="0" indent="-457200">
              <a:lnSpc>
                <a:spcPct val="110000"/>
              </a:lnSpc>
            </a:pPr>
            <a:r>
              <a:rPr lang="en-US" altLang="x-none" sz="2200" dirty="0">
                <a:solidFill>
                  <a:srgbClr val="0033CC"/>
                </a:solidFill>
                <a:latin typeface="华文楷体" panose="02010600040101010101" pitchFamily="2" charset="-122"/>
                <a:ea typeface="华文楷体" panose="02010600040101010101" pitchFamily="2" charset="-122"/>
              </a:rPr>
              <a:t>sp_revokedbaccess</a:t>
            </a:r>
            <a:endParaRPr lang="en-US" altLang="x-none" sz="2200" dirty="0">
              <a:solidFill>
                <a:srgbClr val="0033CC"/>
              </a:solidFill>
              <a:latin typeface="华文楷体" panose="02010600040101010101" pitchFamily="2" charset="-122"/>
              <a:ea typeface="华文楷体" panose="02010600040101010101" pitchFamily="2" charset="-122"/>
            </a:endParaRPr>
          </a:p>
          <a:p>
            <a:pPr marL="457200" lvl="0" indent="-457200">
              <a:lnSpc>
                <a:spcPct val="110000"/>
              </a:lnSpc>
            </a:pPr>
            <a:r>
              <a:rPr lang="en-US" altLang="x-none" sz="2200" dirty="0">
                <a:latin typeface="华文楷体" panose="02010600040101010101" pitchFamily="2" charset="-122"/>
                <a:ea typeface="华文楷体" panose="02010600040101010101" pitchFamily="2" charset="-122"/>
              </a:rPr>
              <a:t>3. </a:t>
            </a:r>
            <a:r>
              <a:rPr lang="zh-CN" altLang="en-US" sz="2200" dirty="0">
                <a:latin typeface="华文楷体" panose="02010600040101010101" pitchFamily="2" charset="-122"/>
                <a:ea typeface="华文楷体" panose="02010600040101010101" pitchFamily="2" charset="-122"/>
              </a:rPr>
              <a:t>该命令必须在所要访问的数据库下执行。</a:t>
            </a:r>
            <a:endParaRPr lang="zh-CN" altLang="en-US" sz="2200" dirty="0">
              <a:latin typeface="华文楷体" panose="02010600040101010101" pitchFamily="2" charset="-122"/>
              <a:ea typeface="华文楷体" panose="02010600040101010101" pitchFamily="2" charset="-122"/>
            </a:endParaRPr>
          </a:p>
        </p:txBody>
      </p:sp>
      <p:sp>
        <p:nvSpPr>
          <p:cNvPr id="12295" name="Rectangle 3"/>
          <p:cNvSpPr txBox="1"/>
          <p:nvPr/>
        </p:nvSpPr>
        <p:spPr>
          <a:xfrm>
            <a:off x="4949190" y="160655"/>
            <a:ext cx="3841115" cy="507365"/>
          </a:xfrm>
          <a:prstGeom prst="rect">
            <a:avLst/>
          </a:prstGeom>
          <a:solidFill>
            <a:schemeClr val="accent1"/>
          </a:solidFill>
          <a:ln w="9525">
            <a:solidFill>
              <a:srgbClr val="3402C2"/>
            </a:solidFill>
            <a:prstDash val="dash"/>
          </a:ln>
        </p:spPr>
        <p:txBody>
          <a:bodyPr anchor="t"/>
          <a:lstStyle/>
          <a:p>
            <a:pPr marL="342900" lvl="0" indent="-342900" eaLnBrk="0" hangingPunct="0">
              <a:lnSpc>
                <a:spcPct val="120000"/>
              </a:lnSpc>
              <a:spcBef>
                <a:spcPct val="20000"/>
              </a:spcBef>
              <a:buClr>
                <a:srgbClr val="0033CC"/>
              </a:buClr>
              <a:buSzPct val="80000"/>
              <a:buFont typeface="Wingdings" panose="05000000000000000000" pitchFamily="2" charset="2"/>
              <a:buChar char="u"/>
            </a:pPr>
            <a:r>
              <a:rPr lang="zh-CN" sz="2400" dirty="0">
                <a:latin typeface="华文楷体" panose="02010600040101010101" pitchFamily="2" charset="-122"/>
                <a:ea typeface="宋体" panose="02010600030101010101" pitchFamily="2" charset="-122"/>
              </a:rPr>
              <a:t>进</a:t>
            </a:r>
            <a:r>
              <a:rPr lang="en-US" altLang="zh-CN" sz="2400" dirty="0">
                <a:latin typeface="华文楷体" panose="02010600040101010101" pitchFamily="2" charset="-122"/>
                <a:ea typeface="宋体" panose="02010600030101010101" pitchFamily="2" charset="-122"/>
              </a:rPr>
              <a:t>SQL Server</a:t>
            </a:r>
            <a:r>
              <a:rPr lang="zh-CN" altLang="zh-CN" sz="2400" dirty="0">
                <a:latin typeface="华文楷体" panose="02010600040101010101" pitchFamily="2" charset="-122"/>
                <a:ea typeface="宋体" panose="02010600030101010101" pitchFamily="2" charset="-122"/>
              </a:rPr>
              <a:t>的第二道门</a:t>
            </a:r>
            <a:endParaRPr lang="zh-CN" altLang="zh-CN" sz="2400" dirty="0">
              <a:latin typeface="华文楷体" panose="02010600040101010101" pitchFamily="2" charset="-122"/>
              <a:ea typeface="宋体" panose="02010600030101010101" pitchFamily="2" charset="-122"/>
            </a:endParaRPr>
          </a:p>
        </p:txBody>
      </p:sp>
      <p:pic>
        <p:nvPicPr>
          <p:cNvPr id="31" name="图片 30"/>
          <p:cNvPicPr>
            <a:picLocks noChangeAspect="1"/>
          </p:cNvPicPr>
          <p:nvPr/>
        </p:nvPicPr>
        <p:blipFill>
          <a:blip r:embed="rId2"/>
          <a:stretch>
            <a:fillRect/>
          </a:stretch>
        </p:blipFill>
        <p:spPr>
          <a:xfrm>
            <a:off x="3563896" y="2579268"/>
            <a:ext cx="5150485" cy="3698240"/>
          </a:xfrm>
          <a:prstGeom prst="rect">
            <a:avLst/>
          </a:prstGeom>
        </p:spPr>
      </p:pic>
      <p:pic>
        <p:nvPicPr>
          <p:cNvPr id="32" name="图片 31"/>
          <p:cNvPicPr>
            <a:picLocks noChangeAspect="1"/>
          </p:cNvPicPr>
          <p:nvPr/>
        </p:nvPicPr>
        <p:blipFill>
          <a:blip r:embed="rId3"/>
          <a:srcRect r="13494"/>
          <a:stretch>
            <a:fillRect/>
          </a:stretch>
        </p:blipFill>
        <p:spPr>
          <a:xfrm>
            <a:off x="493036" y="4467758"/>
            <a:ext cx="3004185" cy="183832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724"/>
                                        </p:tgtEl>
                                        <p:attrNameLst>
                                          <p:attrName>style.visibility</p:attrName>
                                        </p:attrNameLst>
                                      </p:cBhvr>
                                      <p:to>
                                        <p:strVal val="visible"/>
                                      </p:to>
                                    </p:set>
                                    <p:anim calcmode="lin" valueType="num">
                                      <p:cBhvr>
                                        <p:cTn id="7" dur="500" fill="hold"/>
                                        <p:tgtEl>
                                          <p:spTgt spid="29724"/>
                                        </p:tgtEl>
                                        <p:attrNameLst>
                                          <p:attrName>ppt_x</p:attrName>
                                        </p:attrNameLst>
                                      </p:cBhvr>
                                      <p:tavLst>
                                        <p:tav tm="0">
                                          <p:val>
                                            <p:strVal val="#ppt_x"/>
                                          </p:val>
                                        </p:tav>
                                        <p:tav tm="100000">
                                          <p:val>
                                            <p:strVal val="#ppt_x"/>
                                          </p:val>
                                        </p:tav>
                                      </p:tavLst>
                                    </p:anim>
                                    <p:anim calcmode="lin" valueType="num">
                                      <p:cBhvr>
                                        <p:cTn id="8" dur="500" fill="hold"/>
                                        <p:tgtEl>
                                          <p:spTgt spid="2972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29725">
                                            <p:bg/>
                                          </p:spTgt>
                                        </p:tgtEl>
                                        <p:attrNameLst>
                                          <p:attrName>style.visibility</p:attrName>
                                        </p:attrNameLst>
                                      </p:cBhvr>
                                      <p:to>
                                        <p:strVal val="visible"/>
                                      </p:to>
                                    </p:set>
                                    <p:animEffect transition="in" filter="wipe(down)">
                                      <p:cBhvr>
                                        <p:cTn id="13" dur="500"/>
                                        <p:tgtEl>
                                          <p:spTgt spid="29725">
                                            <p:bg/>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29725">
                                            <p:txEl>
                                              <p:pRg st="0" end="0"/>
                                            </p:txEl>
                                          </p:spTgt>
                                        </p:tgtEl>
                                        <p:attrNameLst>
                                          <p:attrName>style.visibility</p:attrName>
                                        </p:attrNameLst>
                                      </p:cBhvr>
                                      <p:to>
                                        <p:strVal val="visible"/>
                                      </p:to>
                                    </p:set>
                                    <p:animEffect transition="in" filter="wipe(down)">
                                      <p:cBhvr>
                                        <p:cTn id="16" dur="500"/>
                                        <p:tgtEl>
                                          <p:spTgt spid="29725">
                                            <p:txEl>
                                              <p:pRg st="0" end="0"/>
                                            </p:txEl>
                                          </p:spTgt>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29725">
                                            <p:txEl>
                                              <p:pRg st="1" end="1"/>
                                            </p:txEl>
                                          </p:spTgt>
                                        </p:tgtEl>
                                        <p:attrNameLst>
                                          <p:attrName>style.visibility</p:attrName>
                                        </p:attrNameLst>
                                      </p:cBhvr>
                                      <p:to>
                                        <p:strVal val="visible"/>
                                      </p:to>
                                    </p:set>
                                    <p:animEffect transition="in" filter="wipe(down)">
                                      <p:cBhvr>
                                        <p:cTn id="19" dur="500"/>
                                        <p:tgtEl>
                                          <p:spTgt spid="29725">
                                            <p:txEl>
                                              <p:pRg st="1" end="1"/>
                                            </p:txEl>
                                          </p:spTgt>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29725">
                                            <p:txEl>
                                              <p:pRg st="2" end="2"/>
                                            </p:txEl>
                                          </p:spTgt>
                                        </p:tgtEl>
                                        <p:attrNameLst>
                                          <p:attrName>style.visibility</p:attrName>
                                        </p:attrNameLst>
                                      </p:cBhvr>
                                      <p:to>
                                        <p:strVal val="visible"/>
                                      </p:to>
                                    </p:set>
                                    <p:animEffect transition="in" filter="wipe(down)">
                                      <p:cBhvr>
                                        <p:cTn id="22" dur="500"/>
                                        <p:tgtEl>
                                          <p:spTgt spid="29725">
                                            <p:txEl>
                                              <p:pRg st="2" end="2"/>
                                            </p:txEl>
                                          </p:spTgt>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29725">
                                            <p:txEl>
                                              <p:pRg st="3" end="3"/>
                                            </p:txEl>
                                          </p:spTgt>
                                        </p:tgtEl>
                                        <p:attrNameLst>
                                          <p:attrName>style.visibility</p:attrName>
                                        </p:attrNameLst>
                                      </p:cBhvr>
                                      <p:to>
                                        <p:strVal val="visible"/>
                                      </p:to>
                                    </p:set>
                                    <p:animEffect transition="in" filter="wipe(down)">
                                      <p:cBhvr>
                                        <p:cTn id="25" dur="500"/>
                                        <p:tgtEl>
                                          <p:spTgt spid="29725">
                                            <p:txEl>
                                              <p:pRg st="3" end="3"/>
                                            </p:txEl>
                                          </p:spTgt>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29725">
                                            <p:txEl>
                                              <p:pRg st="4" end="4"/>
                                            </p:txEl>
                                          </p:spTgt>
                                        </p:tgtEl>
                                        <p:attrNameLst>
                                          <p:attrName>style.visibility</p:attrName>
                                        </p:attrNameLst>
                                      </p:cBhvr>
                                      <p:to>
                                        <p:strVal val="visible"/>
                                      </p:to>
                                    </p:set>
                                    <p:animEffect transition="in" filter="wipe(down)">
                                      <p:cBhvr>
                                        <p:cTn id="28" dur="500"/>
                                        <p:tgtEl>
                                          <p:spTgt spid="29725">
                                            <p:txEl>
                                              <p:pRg st="4" end="4"/>
                                            </p:txEl>
                                          </p:spTgt>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29725">
                                            <p:txEl>
                                              <p:pRg st="5" end="5"/>
                                            </p:txEl>
                                          </p:spTgt>
                                        </p:tgtEl>
                                        <p:attrNameLst>
                                          <p:attrName>style.visibility</p:attrName>
                                        </p:attrNameLst>
                                      </p:cBhvr>
                                      <p:to>
                                        <p:strVal val="visible"/>
                                      </p:to>
                                    </p:set>
                                    <p:animEffect transition="in" filter="wipe(down)">
                                      <p:cBhvr>
                                        <p:cTn id="31" dur="500"/>
                                        <p:tgtEl>
                                          <p:spTgt spid="29725">
                                            <p:txEl>
                                              <p:pRg st="5" end="5"/>
                                            </p:txEl>
                                          </p:spTgt>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29725">
                                            <p:txEl>
                                              <p:pRg st="6" end="6"/>
                                            </p:txEl>
                                          </p:spTgt>
                                        </p:tgtEl>
                                        <p:attrNameLst>
                                          <p:attrName>style.visibility</p:attrName>
                                        </p:attrNameLst>
                                      </p:cBhvr>
                                      <p:to>
                                        <p:strVal val="visible"/>
                                      </p:to>
                                    </p:set>
                                    <p:animEffect transition="in" filter="wipe(down)">
                                      <p:cBhvr>
                                        <p:cTn id="34" dur="500"/>
                                        <p:tgtEl>
                                          <p:spTgt spid="29725">
                                            <p:txEl>
                                              <p:pRg st="6" end="6"/>
                                            </p:txEl>
                                          </p:spTgt>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29725">
                                            <p:txEl>
                                              <p:pRg st="7" end="7"/>
                                            </p:txEl>
                                          </p:spTgt>
                                        </p:tgtEl>
                                        <p:attrNameLst>
                                          <p:attrName>style.visibility</p:attrName>
                                        </p:attrNameLst>
                                      </p:cBhvr>
                                      <p:to>
                                        <p:strVal val="visible"/>
                                      </p:to>
                                    </p:set>
                                    <p:animEffect transition="in" filter="wipe(down)">
                                      <p:cBhvr>
                                        <p:cTn id="37" dur="500"/>
                                        <p:tgtEl>
                                          <p:spTgt spid="29725">
                                            <p:txEl>
                                              <p:pRg st="7" end="7"/>
                                            </p:txEl>
                                          </p:spTgt>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29725">
                                            <p:txEl>
                                              <p:pRg st="8" end="8"/>
                                            </p:txEl>
                                          </p:spTgt>
                                        </p:tgtEl>
                                        <p:attrNameLst>
                                          <p:attrName>style.visibility</p:attrName>
                                        </p:attrNameLst>
                                      </p:cBhvr>
                                      <p:to>
                                        <p:strVal val="visible"/>
                                      </p:to>
                                    </p:set>
                                    <p:animEffect transition="in" filter="wipe(down)">
                                      <p:cBhvr>
                                        <p:cTn id="40" dur="500"/>
                                        <p:tgtEl>
                                          <p:spTgt spid="29725">
                                            <p:txEl>
                                              <p:pRg st="8" end="8"/>
                                            </p:txEl>
                                          </p:spTgt>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29725">
                                            <p:txEl>
                                              <p:pRg st="9" end="9"/>
                                            </p:txEl>
                                          </p:spTgt>
                                        </p:tgtEl>
                                        <p:attrNameLst>
                                          <p:attrName>style.visibility</p:attrName>
                                        </p:attrNameLst>
                                      </p:cBhvr>
                                      <p:to>
                                        <p:strVal val="visible"/>
                                      </p:to>
                                    </p:set>
                                    <p:animEffect transition="in" filter="wipe(down)">
                                      <p:cBhvr>
                                        <p:cTn id="43" dur="500"/>
                                        <p:tgtEl>
                                          <p:spTgt spid="29725">
                                            <p:txEl>
                                              <p:pRg st="9" end="9"/>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31"/>
                                        </p:tgtEl>
                                        <p:attrNameLst>
                                          <p:attrName>style.visibility</p:attrName>
                                        </p:attrNameLst>
                                      </p:cBhvr>
                                      <p:to>
                                        <p:strVal val="visible"/>
                                      </p:to>
                                    </p:set>
                                    <p:anim calcmode="lin" valueType="num">
                                      <p:cBhvr additive="base">
                                        <p:cTn id="48" dur="500" fill="hold"/>
                                        <p:tgtEl>
                                          <p:spTgt spid="31"/>
                                        </p:tgtEl>
                                        <p:attrNameLst>
                                          <p:attrName>ppt_x</p:attrName>
                                        </p:attrNameLst>
                                      </p:cBhvr>
                                      <p:tavLst>
                                        <p:tav tm="0">
                                          <p:val>
                                            <p:strVal val="#ppt_x"/>
                                          </p:val>
                                        </p:tav>
                                        <p:tav tm="100000">
                                          <p:val>
                                            <p:strVal val="#ppt_x"/>
                                          </p:val>
                                        </p:tav>
                                      </p:tavLst>
                                    </p:anim>
                                    <p:anim calcmode="lin" valueType="num">
                                      <p:cBhvr additive="base">
                                        <p:cTn id="49" dur="500" fill="hold"/>
                                        <p:tgtEl>
                                          <p:spTgt spid="31"/>
                                        </p:tgtEl>
                                        <p:attrNameLst>
                                          <p:attrName>ppt_y</p:attrName>
                                        </p:attrNameLst>
                                      </p:cBhvr>
                                      <p:tavLst>
                                        <p:tav tm="0">
                                          <p:val>
                                            <p:strVal val="1+#ppt_h/2"/>
                                          </p:val>
                                        </p:tav>
                                        <p:tav tm="100000">
                                          <p:val>
                                            <p:strVal val="#ppt_y"/>
                                          </p:val>
                                        </p:tav>
                                      </p:tavLst>
                                    </p:anim>
                                  </p:childTnLst>
                                </p:cTn>
                              </p:par>
                              <p:par>
                                <p:cTn id="50" presetID="2" presetClass="entr" presetSubtype="4" fill="hold" nodeType="withEffect">
                                  <p:stCondLst>
                                    <p:cond delay="0"/>
                                  </p:stCondLst>
                                  <p:childTnLst>
                                    <p:set>
                                      <p:cBhvr>
                                        <p:cTn id="51" dur="1" fill="hold">
                                          <p:stCondLst>
                                            <p:cond delay="0"/>
                                          </p:stCondLst>
                                        </p:cTn>
                                        <p:tgtEl>
                                          <p:spTgt spid="32"/>
                                        </p:tgtEl>
                                        <p:attrNameLst>
                                          <p:attrName>style.visibility</p:attrName>
                                        </p:attrNameLst>
                                      </p:cBhvr>
                                      <p:to>
                                        <p:strVal val="visible"/>
                                      </p:to>
                                    </p:set>
                                    <p:anim calcmode="lin" valueType="num">
                                      <p:cBhvr additive="base">
                                        <p:cTn id="52" dur="500" fill="hold"/>
                                        <p:tgtEl>
                                          <p:spTgt spid="32"/>
                                        </p:tgtEl>
                                        <p:attrNameLst>
                                          <p:attrName>ppt_x</p:attrName>
                                        </p:attrNameLst>
                                      </p:cBhvr>
                                      <p:tavLst>
                                        <p:tav tm="0">
                                          <p:val>
                                            <p:strVal val="#ppt_x"/>
                                          </p:val>
                                        </p:tav>
                                        <p:tav tm="100000">
                                          <p:val>
                                            <p:strVal val="#ppt_x"/>
                                          </p:val>
                                        </p:tav>
                                      </p:tavLst>
                                    </p:anim>
                                    <p:anim calcmode="lin" valueType="num">
                                      <p:cBhvr additive="base">
                                        <p:cTn id="53"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24" grpId="0" bldLvl="0" animBg="1"/>
      <p:bldP spid="29725" grpId="0" animBg="1" build="allAtOnce"/>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535305" y="1915160"/>
            <a:ext cx="8248650" cy="4095750"/>
          </a:xfrm>
          <a:prstGeom prst="rect">
            <a:avLst/>
          </a:prstGeom>
        </p:spPr>
      </p:pic>
      <p:sp>
        <p:nvSpPr>
          <p:cNvPr id="3" name="椭圆 2"/>
          <p:cNvSpPr/>
          <p:nvPr/>
        </p:nvSpPr>
        <p:spPr>
          <a:xfrm>
            <a:off x="684530" y="2863850"/>
            <a:ext cx="1113790" cy="264160"/>
          </a:xfrm>
          <a:prstGeom prst="ellipse">
            <a:avLst/>
          </a:prstGeom>
          <a:no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3"/>
          <p:cNvSpPr/>
          <p:nvPr/>
        </p:nvSpPr>
        <p:spPr>
          <a:xfrm>
            <a:off x="742950" y="4192270"/>
            <a:ext cx="1113790" cy="421005"/>
          </a:xfrm>
          <a:prstGeom prst="ellipse">
            <a:avLst/>
          </a:prstGeom>
          <a:no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Rectangle 2"/>
          <p:cNvSpPr txBox="1">
            <a:spLocks noChangeArrowheads="1"/>
          </p:cNvSpPr>
          <p:nvPr/>
        </p:nvSpPr>
        <p:spPr>
          <a:xfrm>
            <a:off x="536575" y="1345565"/>
            <a:ext cx="7086600" cy="74803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a:t>
            </a:r>
            <a:r>
              <a:rPr kumimoji="1" lang="en-US" altLang="zh-CN"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2</a:t>
            </a:r>
            <a:r>
              <a:rPr kumimoji="1" lang="zh-CN" altLang="en-US"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）成为某个数据库的用户</a:t>
            </a:r>
            <a:endParaRPr kumimoji="1" lang="zh-CN" altLang="en-US"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endParaRPr>
          </a:p>
        </p:txBody>
      </p:sp>
      <p:sp>
        <p:nvSpPr>
          <p:cNvPr id="28696" name="Rectangle 2"/>
          <p:cNvSpPr/>
          <p:nvPr/>
        </p:nvSpPr>
        <p:spPr>
          <a:xfrm>
            <a:off x="457200" y="68263"/>
            <a:ext cx="8229600" cy="692150"/>
          </a:xfrm>
          <a:prstGeom prst="rect">
            <a:avLst/>
          </a:prstGeom>
          <a:noFill/>
          <a:ln w="9525">
            <a:noFill/>
          </a:ln>
        </p:spPr>
        <p:txBody>
          <a:bodyPr anchor="ctr"/>
          <a:lstStyle/>
          <a:p>
            <a:pPr lvl="0" indent="0"/>
            <a:r>
              <a:rPr lang="zh-CN" altLang="en-US" sz="3200" dirty="0">
                <a:solidFill>
                  <a:srgbClr val="FF0000"/>
                </a:solidFill>
                <a:latin typeface="Arial" panose="020B0604020202020204" pitchFamily="34" charset="0"/>
                <a:ea typeface="黑体" panose="02010609060101010101" pitchFamily="1" charset="-122"/>
              </a:rPr>
              <a:t>二、数据库的安全性</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12295" name="Rectangle 3"/>
          <p:cNvSpPr txBox="1"/>
          <p:nvPr/>
        </p:nvSpPr>
        <p:spPr>
          <a:xfrm>
            <a:off x="4949190" y="160655"/>
            <a:ext cx="3841115" cy="507365"/>
          </a:xfrm>
          <a:prstGeom prst="rect">
            <a:avLst/>
          </a:prstGeom>
          <a:solidFill>
            <a:schemeClr val="accent1"/>
          </a:solidFill>
          <a:ln w="9525">
            <a:solidFill>
              <a:srgbClr val="3402C2"/>
            </a:solidFill>
            <a:prstDash val="dash"/>
          </a:ln>
        </p:spPr>
        <p:txBody>
          <a:bodyPr anchor="t"/>
          <a:lstStyle/>
          <a:p>
            <a:pPr marL="342900" lvl="0" indent="-342900" eaLnBrk="0" hangingPunct="0">
              <a:lnSpc>
                <a:spcPct val="120000"/>
              </a:lnSpc>
              <a:spcBef>
                <a:spcPct val="20000"/>
              </a:spcBef>
              <a:buClr>
                <a:srgbClr val="0033CC"/>
              </a:buClr>
              <a:buSzPct val="80000"/>
              <a:buFont typeface="Wingdings" panose="05000000000000000000" pitchFamily="2" charset="2"/>
              <a:buChar char="u"/>
            </a:pPr>
            <a:r>
              <a:rPr lang="zh-CN" sz="2400" dirty="0">
                <a:latin typeface="华文楷体" panose="02010600040101010101" pitchFamily="2" charset="-122"/>
                <a:ea typeface="宋体" panose="02010600030101010101" pitchFamily="2" charset="-122"/>
              </a:rPr>
              <a:t>进</a:t>
            </a:r>
            <a:r>
              <a:rPr lang="en-US" altLang="zh-CN" sz="2400" dirty="0">
                <a:latin typeface="华文楷体" panose="02010600040101010101" pitchFamily="2" charset="-122"/>
                <a:ea typeface="宋体" panose="02010600030101010101" pitchFamily="2" charset="-122"/>
              </a:rPr>
              <a:t>SQL Server</a:t>
            </a:r>
            <a:r>
              <a:rPr lang="zh-CN" altLang="zh-CN" sz="2400" dirty="0">
                <a:latin typeface="华文楷体" panose="02010600040101010101" pitchFamily="2" charset="-122"/>
                <a:ea typeface="宋体" panose="02010600030101010101" pitchFamily="2" charset="-122"/>
              </a:rPr>
              <a:t>的第二道门</a:t>
            </a:r>
            <a:endParaRPr lang="zh-CN" altLang="zh-CN" sz="2400" dirty="0">
              <a:latin typeface="华文楷体" panose="02010600040101010101" pitchFamily="2" charset="-122"/>
              <a:ea typeface="宋体" panose="02010600030101010101" pitchFamily="2" charset="-122"/>
            </a:endParaRPr>
          </a:p>
        </p:txBody>
      </p:sp>
      <p:sp>
        <p:nvSpPr>
          <p:cNvPr id="28697" name="Rectangle 2"/>
          <p:cNvSpPr txBox="1"/>
          <p:nvPr/>
        </p:nvSpPr>
        <p:spPr>
          <a:xfrm>
            <a:off x="536575" y="712788"/>
            <a:ext cx="5689600" cy="576262"/>
          </a:xfrm>
          <a:prstGeom prst="rect">
            <a:avLst/>
          </a:prstGeom>
          <a:noFill/>
          <a:ln w="9525">
            <a:noFill/>
          </a:ln>
        </p:spPr>
        <p:txBody>
          <a:bodyPr anchor="t"/>
          <a:lstStyle/>
          <a:p>
            <a:pPr marL="457200" lvl="0" indent="-457200" defTabSz="0">
              <a:lnSpc>
                <a:spcPct val="135000"/>
              </a:lnSpc>
              <a:tabLst>
                <a:tab pos="1428750" algn="l"/>
              </a:tabLst>
            </a:pPr>
            <a:r>
              <a:rPr lang="en-US" altLang="x-none" sz="2800" dirty="0">
                <a:solidFill>
                  <a:srgbClr val="0033CC"/>
                </a:solidFill>
                <a:latin typeface="黑体" panose="02010609060101010101" pitchFamily="1" charset="-122"/>
                <a:ea typeface="黑体" panose="02010609060101010101" pitchFamily="1" charset="-122"/>
              </a:rPr>
              <a:t>3.SQL SERVER</a:t>
            </a:r>
            <a:r>
              <a:rPr lang="zh-CN" altLang="en-US" sz="2800" dirty="0">
                <a:solidFill>
                  <a:srgbClr val="0033CC"/>
                </a:solidFill>
                <a:latin typeface="黑体" panose="02010609060101010101" pitchFamily="1" charset="-122"/>
                <a:ea typeface="黑体" panose="02010609060101010101" pitchFamily="1" charset="-122"/>
              </a:rPr>
              <a:t>安全体系</a:t>
            </a:r>
            <a:endParaRPr lang="zh-CN" altLang="en-US" sz="2800" dirty="0">
              <a:solidFill>
                <a:srgbClr val="0033CC"/>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96" name="Rectangle 2"/>
          <p:cNvSpPr/>
          <p:nvPr/>
        </p:nvSpPr>
        <p:spPr>
          <a:xfrm>
            <a:off x="457200" y="68263"/>
            <a:ext cx="8229600" cy="692150"/>
          </a:xfrm>
          <a:prstGeom prst="rect">
            <a:avLst/>
          </a:prstGeom>
          <a:noFill/>
          <a:ln w="9525">
            <a:noFill/>
          </a:ln>
        </p:spPr>
        <p:txBody>
          <a:bodyPr anchor="ctr"/>
          <a:lstStyle/>
          <a:p>
            <a:pPr lvl="0" indent="0"/>
            <a:r>
              <a:rPr lang="zh-CN" altLang="en-US" sz="3200" dirty="0">
                <a:solidFill>
                  <a:srgbClr val="FF0000"/>
                </a:solidFill>
                <a:latin typeface="Arial" panose="020B0604020202020204" pitchFamily="34" charset="0"/>
                <a:ea typeface="黑体" panose="02010609060101010101" pitchFamily="1" charset="-122"/>
              </a:rPr>
              <a:t>二、数据库的安全性</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28697" name="Rectangle 2"/>
          <p:cNvSpPr txBox="1"/>
          <p:nvPr/>
        </p:nvSpPr>
        <p:spPr>
          <a:xfrm>
            <a:off x="536575" y="712788"/>
            <a:ext cx="5689600" cy="576262"/>
          </a:xfrm>
          <a:prstGeom prst="rect">
            <a:avLst/>
          </a:prstGeom>
          <a:noFill/>
          <a:ln w="9525">
            <a:noFill/>
          </a:ln>
        </p:spPr>
        <p:txBody>
          <a:bodyPr anchor="t"/>
          <a:lstStyle/>
          <a:p>
            <a:pPr marL="457200" lvl="0" indent="-457200" defTabSz="0">
              <a:lnSpc>
                <a:spcPct val="135000"/>
              </a:lnSpc>
              <a:tabLst>
                <a:tab pos="1428750" algn="l"/>
              </a:tabLst>
            </a:pPr>
            <a:r>
              <a:rPr lang="zh-CN" altLang="zh-CN" sz="2800" dirty="0">
                <a:solidFill>
                  <a:srgbClr val="0033CC"/>
                </a:solidFill>
                <a:latin typeface="黑体" panose="02010609060101010101" pitchFamily="1" charset="-122"/>
                <a:ea typeface="黑体" panose="02010609060101010101" pitchFamily="1" charset="-122"/>
              </a:rPr>
              <a:t>课堂练习</a:t>
            </a:r>
            <a:endParaRPr lang="zh-CN" altLang="zh-CN" sz="2800" dirty="0">
              <a:solidFill>
                <a:srgbClr val="0033CC"/>
              </a:solidFill>
              <a:latin typeface="黑体" panose="02010609060101010101" pitchFamily="1" charset="-122"/>
              <a:ea typeface="黑体" panose="02010609060101010101" pitchFamily="1" charset="-122"/>
            </a:endParaRPr>
          </a:p>
        </p:txBody>
      </p:sp>
      <p:sp>
        <p:nvSpPr>
          <p:cNvPr id="2" name="文本框 1"/>
          <p:cNvSpPr txBox="1"/>
          <p:nvPr/>
        </p:nvSpPr>
        <p:spPr>
          <a:xfrm>
            <a:off x="666115" y="1417955"/>
            <a:ext cx="8184515" cy="930910"/>
          </a:xfrm>
          <a:prstGeom prst="rect">
            <a:avLst/>
          </a:prstGeom>
          <a:noFill/>
        </p:spPr>
        <p:txBody>
          <a:bodyPr wrap="square" rtlCol="0" anchor="t">
            <a:spAutoFit/>
          </a:bodyPr>
          <a:lstStyle/>
          <a:p>
            <a:pPr marL="342900" indent="-342900">
              <a:lnSpc>
                <a:spcPct val="130000"/>
              </a:lnSpc>
              <a:spcBef>
                <a:spcPts val="0"/>
              </a:spcBef>
              <a:spcAft>
                <a:spcPts val="0"/>
              </a:spcAft>
              <a:buFont typeface="Wingdings" panose="05000000000000000000" charset="0"/>
              <a:buChar char=""/>
            </a:pPr>
            <a:r>
              <a:rPr lang="zh-CN" altLang="en-US" sz="2100"/>
              <a:t>以</a:t>
            </a:r>
            <a:r>
              <a:rPr lang="en-US" altLang="zh-CN" sz="2100"/>
              <a:t>Sa</a:t>
            </a:r>
            <a:r>
              <a:rPr lang="zh-CN" altLang="zh-CN" sz="2100"/>
              <a:t>用户身份登陆</a:t>
            </a:r>
            <a:r>
              <a:rPr lang="en-US" altLang="zh-CN" sz="2100"/>
              <a:t>SQL Server</a:t>
            </a:r>
            <a:r>
              <a:rPr lang="zh-CN" altLang="zh-CN" sz="2100"/>
              <a:t>，</a:t>
            </a:r>
            <a:r>
              <a:rPr lang="zh-CN" altLang="en-US" sz="2100"/>
              <a:t>为学号为</a:t>
            </a:r>
            <a:r>
              <a:rPr lang="en-US" altLang="zh-CN" sz="2100"/>
              <a:t>“</a:t>
            </a:r>
            <a:r>
              <a:rPr lang="zh-CN" altLang="en-US" sz="2100"/>
              <a:t>2014110056</a:t>
            </a:r>
            <a:r>
              <a:rPr lang="en-US" altLang="zh-CN" sz="2100"/>
              <a:t>”</a:t>
            </a:r>
            <a:r>
              <a:rPr lang="zh-CN" altLang="en-US" sz="2100"/>
              <a:t>和</a:t>
            </a:r>
            <a:r>
              <a:rPr lang="en-US" altLang="zh-CN" sz="2100"/>
              <a:t>“</a:t>
            </a:r>
            <a:r>
              <a:rPr lang="zh-CN" altLang="en-US" sz="2100"/>
              <a:t>2014110057</a:t>
            </a:r>
            <a:r>
              <a:rPr lang="en-US" altLang="zh-CN" sz="2100"/>
              <a:t>”</a:t>
            </a:r>
            <a:r>
              <a:rPr lang="zh-CN" altLang="en-US" sz="2100"/>
              <a:t>的同学创建访问名为</a:t>
            </a:r>
            <a:r>
              <a:rPr lang="en-US" altLang="zh-CN" sz="2100"/>
              <a:t>“peixunjigou”</a:t>
            </a:r>
            <a:r>
              <a:rPr lang="zh-CN" altLang="en-US" sz="2100"/>
              <a:t>数据库的账号</a:t>
            </a:r>
            <a:endParaRPr lang="zh-CN" altLang="en-US" sz="2100"/>
          </a:p>
        </p:txBody>
      </p:sp>
      <p:sp>
        <p:nvSpPr>
          <p:cNvPr id="26653" name="Text Box 26"/>
          <p:cNvSpPr txBox="1"/>
          <p:nvPr/>
        </p:nvSpPr>
        <p:spPr>
          <a:xfrm>
            <a:off x="666115" y="2472690"/>
            <a:ext cx="7815580" cy="2790190"/>
          </a:xfrm>
          <a:prstGeom prst="rect">
            <a:avLst/>
          </a:prstGeom>
          <a:solidFill>
            <a:schemeClr val="bg1"/>
          </a:solidFill>
          <a:ln w="9525" cap="flat" cmpd="sng">
            <a:solidFill>
              <a:schemeClr val="tx1"/>
            </a:solidFill>
            <a:prstDash val="solid"/>
            <a:miter/>
            <a:headEnd type="none" w="med" len="med"/>
            <a:tailEnd type="none" w="med" len="med"/>
          </a:ln>
        </p:spPr>
        <p:txBody>
          <a:bodyPr wrap="square" lIns="90000" tIns="46800" rIns="90000" bIns="46800" anchor="t">
            <a:spAutoFit/>
          </a:bodyPr>
          <a:lstStyle/>
          <a:p>
            <a:pPr lvl="0">
              <a:lnSpc>
                <a:spcPct val="114000"/>
              </a:lnSpc>
            </a:pPr>
            <a:r>
              <a:rPr lang="en-US" altLang="x-none" sz="2200" dirty="0">
                <a:solidFill>
                  <a:schemeClr val="tx1"/>
                </a:solidFill>
                <a:latin typeface="华文楷体" panose="02010600040101010101" pitchFamily="2" charset="-122"/>
                <a:ea typeface="华文楷体" panose="02010600040101010101" pitchFamily="2" charset="-122"/>
              </a:rPr>
              <a:t>--</a:t>
            </a:r>
            <a:r>
              <a:rPr lang="zh-CN" altLang="x-none" sz="2200" dirty="0">
                <a:solidFill>
                  <a:schemeClr val="tx1"/>
                </a:solidFill>
                <a:latin typeface="华文楷体" panose="02010600040101010101" pitchFamily="2" charset="-122"/>
                <a:ea typeface="华文楷体" panose="02010600040101010101" pitchFamily="2" charset="-122"/>
              </a:rPr>
              <a:t>创</a:t>
            </a:r>
            <a:r>
              <a:rPr lang="zh-CN" altLang="x-none" sz="2200" dirty="0">
                <a:solidFill>
                  <a:schemeClr val="tx1"/>
                </a:solidFill>
                <a:latin typeface="华文楷体" panose="02010600040101010101" pitchFamily="2" charset="-122"/>
                <a:ea typeface="华文楷体" panose="02010600040101010101" pitchFamily="2" charset="-122"/>
                <a:cs typeface="+mn-ea"/>
              </a:rPr>
              <a:t>建</a:t>
            </a:r>
            <a:r>
              <a:rPr lang="zh-CN" altLang="x-none" sz="2200" dirty="0">
                <a:solidFill>
                  <a:schemeClr val="tx1"/>
                </a:solidFill>
                <a:latin typeface="华文楷体" panose="02010600040101010101" pitchFamily="2" charset="-122"/>
                <a:ea typeface="华文楷体" panose="02010600040101010101" pitchFamily="2" charset="-122"/>
                <a:cs typeface="+mn-ea"/>
                <a:sym typeface="+mn-ea"/>
              </a:rPr>
              <a:t>SQL Server登陆账户</a:t>
            </a:r>
            <a:endParaRPr lang="zh-CN" altLang="x-none" sz="2200" dirty="0">
              <a:solidFill>
                <a:schemeClr val="tx1"/>
              </a:solidFill>
              <a:latin typeface="华文楷体" panose="02010600040101010101" pitchFamily="2" charset="-122"/>
              <a:ea typeface="华文楷体" panose="02010600040101010101" pitchFamily="2" charset="-122"/>
              <a:cs typeface="+mn-ea"/>
              <a:sym typeface="+mn-ea"/>
            </a:endParaRPr>
          </a:p>
          <a:p>
            <a:pPr lvl="0">
              <a:lnSpc>
                <a:spcPct val="114000"/>
              </a:lnSpc>
            </a:pPr>
            <a:r>
              <a:rPr lang="en-US" altLang="x-none" sz="2200" dirty="0">
                <a:solidFill>
                  <a:srgbClr val="0033CC"/>
                </a:solidFill>
                <a:latin typeface="华文楷体" panose="02010600040101010101" pitchFamily="2" charset="-122"/>
                <a:ea typeface="华文楷体" panose="02010600040101010101" pitchFamily="2" charset="-122"/>
              </a:rPr>
              <a:t>sp_addlogin @loginame=</a:t>
            </a:r>
            <a:r>
              <a:rPr lang="en-US" altLang="x-none" sz="2200" dirty="0">
                <a:solidFill>
                  <a:srgbClr val="0033CC"/>
                </a:solidFill>
                <a:latin typeface="华文楷体" panose="02010600040101010101" pitchFamily="2" charset="-122"/>
                <a:ea typeface="华文楷体" panose="02010600040101010101" pitchFamily="2" charset="-122"/>
                <a:cs typeface="+mn-ea"/>
              </a:rPr>
              <a:t>'</a:t>
            </a:r>
            <a:r>
              <a:rPr lang="en-US" altLang="x-none" sz="2200" dirty="0">
                <a:solidFill>
                  <a:srgbClr val="0033CC"/>
                </a:solidFill>
                <a:latin typeface="华文楷体" panose="02010600040101010101" pitchFamily="2" charset="-122"/>
                <a:ea typeface="华文楷体" panose="02010600040101010101" pitchFamily="2" charset="-122"/>
                <a:cs typeface="+mn-ea"/>
                <a:sym typeface="+mn-ea"/>
              </a:rPr>
              <a:t>2014110056</a:t>
            </a:r>
            <a:r>
              <a:rPr lang="en-US" altLang="x-none" sz="2200" dirty="0">
                <a:solidFill>
                  <a:srgbClr val="0033CC"/>
                </a:solidFill>
                <a:latin typeface="华文楷体" panose="02010600040101010101" pitchFamily="2" charset="-122"/>
                <a:ea typeface="华文楷体" panose="02010600040101010101" pitchFamily="2" charset="-122"/>
                <a:cs typeface="+mn-ea"/>
              </a:rPr>
              <a:t>'</a:t>
            </a:r>
            <a:r>
              <a:rPr lang="en-US" altLang="x-none" sz="2200" dirty="0">
                <a:solidFill>
                  <a:srgbClr val="0033CC"/>
                </a:solidFill>
                <a:latin typeface="华文楷体" panose="02010600040101010101" pitchFamily="2" charset="-122"/>
                <a:ea typeface="华文楷体" panose="02010600040101010101" pitchFamily="2" charset="-122"/>
              </a:rPr>
              <a:t>,@passwd='</a:t>
            </a:r>
            <a:r>
              <a:rPr lang="en-US" altLang="x-none" sz="2200" dirty="0">
                <a:solidFill>
                  <a:srgbClr val="0033CC"/>
                </a:solidFill>
                <a:latin typeface="华文楷体" panose="02010600040101010101" pitchFamily="2" charset="-122"/>
                <a:ea typeface="华文楷体" panose="02010600040101010101" pitchFamily="2" charset="-122"/>
                <a:cs typeface="+mn-ea"/>
                <a:sym typeface="+mn-ea"/>
              </a:rPr>
              <a:t>2014110056</a:t>
            </a:r>
            <a:r>
              <a:rPr lang="en-US" altLang="x-none" sz="2200" dirty="0">
                <a:solidFill>
                  <a:srgbClr val="0033CC"/>
                </a:solidFill>
                <a:latin typeface="华文楷体" panose="02010600040101010101" pitchFamily="2" charset="-122"/>
                <a:ea typeface="华文楷体" panose="02010600040101010101" pitchFamily="2" charset="-122"/>
              </a:rPr>
              <a:t>'</a:t>
            </a:r>
            <a:endParaRPr lang="en-US" altLang="x-none" sz="2200" dirty="0">
              <a:solidFill>
                <a:srgbClr val="0033CC"/>
              </a:solidFill>
              <a:latin typeface="华文楷体" panose="02010600040101010101" pitchFamily="2" charset="-122"/>
              <a:ea typeface="华文楷体" panose="02010600040101010101" pitchFamily="2" charset="-122"/>
            </a:endParaRPr>
          </a:p>
          <a:p>
            <a:pPr lvl="0">
              <a:lnSpc>
                <a:spcPct val="114000"/>
              </a:lnSpc>
            </a:pPr>
            <a:r>
              <a:rPr lang="en-US" altLang="x-none" sz="2200" dirty="0">
                <a:solidFill>
                  <a:srgbClr val="0033CC"/>
                </a:solidFill>
                <a:latin typeface="华文楷体" panose="02010600040101010101" pitchFamily="2" charset="-122"/>
                <a:ea typeface="华文楷体" panose="02010600040101010101" pitchFamily="2" charset="-122"/>
                <a:cs typeface="+mn-ea"/>
                <a:sym typeface="+mn-ea"/>
              </a:rPr>
              <a:t>sp_addlogin </a:t>
            </a:r>
            <a:r>
              <a:rPr lang="en-US" altLang="x-none" sz="2200" dirty="0">
                <a:solidFill>
                  <a:srgbClr val="0033CC"/>
                </a:solidFill>
                <a:latin typeface="华文楷体" panose="02010600040101010101" pitchFamily="2" charset="-122"/>
                <a:ea typeface="华文楷体" panose="02010600040101010101" pitchFamily="2" charset="-122"/>
                <a:cs typeface="+mn-ea"/>
              </a:rPr>
              <a:t> </a:t>
            </a:r>
            <a:r>
              <a:rPr lang="en-US" altLang="x-none" sz="2200" dirty="0">
                <a:solidFill>
                  <a:srgbClr val="0033CC"/>
                </a:solidFill>
                <a:latin typeface="华文楷体" panose="02010600040101010101" pitchFamily="2" charset="-122"/>
                <a:ea typeface="华文楷体" panose="02010600040101010101" pitchFamily="2" charset="-122"/>
                <a:cs typeface="+mn-ea"/>
                <a:sym typeface="+mn-ea"/>
              </a:rPr>
              <a:t>'2014110057','2014110057'</a:t>
            </a:r>
            <a:endParaRPr lang="en-US" altLang="x-none" sz="2200" dirty="0">
              <a:solidFill>
                <a:srgbClr val="0033CC"/>
              </a:solidFill>
              <a:latin typeface="华文楷体" panose="02010600040101010101" pitchFamily="2" charset="-122"/>
              <a:ea typeface="华文楷体" panose="02010600040101010101" pitchFamily="2" charset="-122"/>
              <a:cs typeface="+mn-ea"/>
              <a:sym typeface="+mn-ea"/>
            </a:endParaRPr>
          </a:p>
          <a:p>
            <a:pPr lvl="0">
              <a:lnSpc>
                <a:spcPct val="114000"/>
              </a:lnSpc>
            </a:pPr>
            <a:r>
              <a:rPr lang="zh-CN" altLang="x-none" sz="2200" dirty="0">
                <a:latin typeface="华文楷体" panose="02010600040101010101" pitchFamily="2" charset="-122"/>
                <a:ea typeface="华文楷体" panose="02010600040101010101" pitchFamily="2" charset="-122"/>
                <a:cs typeface="+mn-ea"/>
              </a:rPr>
              <a:t>--为数据库</a:t>
            </a:r>
            <a:r>
              <a:rPr lang="zh-CN" altLang="x-none" sz="2200" dirty="0">
                <a:latin typeface="华文楷体" panose="02010600040101010101" pitchFamily="2" charset="-122"/>
                <a:ea typeface="华文楷体" panose="02010600040101010101" pitchFamily="2" charset="-122"/>
                <a:cs typeface="+mn-ea"/>
                <a:sym typeface="+mn-ea"/>
              </a:rPr>
              <a:t>“</a:t>
            </a:r>
            <a:r>
              <a:rPr lang="en-US" altLang="zh-CN" sz="2200" dirty="0">
                <a:latin typeface="华文楷体" panose="02010600040101010101" pitchFamily="2" charset="-122"/>
                <a:ea typeface="华文楷体" panose="02010600040101010101" pitchFamily="2" charset="-122"/>
                <a:cs typeface="+mn-ea"/>
                <a:sym typeface="+mn-ea"/>
              </a:rPr>
              <a:t>peixunjigou</a:t>
            </a:r>
            <a:r>
              <a:rPr lang="zh-CN" altLang="x-none" sz="2200" dirty="0">
                <a:latin typeface="华文楷体" panose="02010600040101010101" pitchFamily="2" charset="-122"/>
                <a:ea typeface="华文楷体" panose="02010600040101010101" pitchFamily="2" charset="-122"/>
                <a:cs typeface="+mn-ea"/>
                <a:sym typeface="+mn-ea"/>
              </a:rPr>
              <a:t>”创建用户</a:t>
            </a:r>
            <a:endParaRPr lang="zh-CN" altLang="en-US" sz="2000" dirty="0">
              <a:solidFill>
                <a:srgbClr val="FF0000"/>
              </a:solidFill>
              <a:latin typeface="华文楷体" panose="02010600040101010101" pitchFamily="2" charset="-122"/>
              <a:ea typeface="华文楷体" panose="02010600040101010101" pitchFamily="2" charset="-122"/>
              <a:sym typeface="+mn-ea"/>
            </a:endParaRPr>
          </a:p>
          <a:p>
            <a:pPr marL="457200" lvl="0" indent="-457200">
              <a:lnSpc>
                <a:spcPct val="114000"/>
              </a:lnSpc>
            </a:pPr>
            <a:r>
              <a:rPr lang="en-US" altLang="x-none" sz="2200" dirty="0">
                <a:solidFill>
                  <a:srgbClr val="0033CC"/>
                </a:solidFill>
                <a:latin typeface="华文楷体" panose="02010600040101010101" pitchFamily="2" charset="-122"/>
                <a:ea typeface="华文楷体" panose="02010600040101010101" pitchFamily="2" charset="-122"/>
                <a:cs typeface="+mn-ea"/>
              </a:rPr>
              <a:t>use  </a:t>
            </a:r>
            <a:r>
              <a:rPr lang="en-US" altLang="x-none" sz="2200" dirty="0">
                <a:solidFill>
                  <a:srgbClr val="0033CC"/>
                </a:solidFill>
                <a:latin typeface="华文楷体" panose="02010600040101010101" pitchFamily="2" charset="-122"/>
                <a:ea typeface="华文楷体" panose="02010600040101010101" pitchFamily="2" charset="-122"/>
                <a:cs typeface="+mn-ea"/>
                <a:sym typeface="+mn-ea"/>
              </a:rPr>
              <a:t>peixunjigou</a:t>
            </a:r>
            <a:endParaRPr lang="en-US" altLang="x-none" sz="2200" dirty="0">
              <a:solidFill>
                <a:srgbClr val="0033CC"/>
              </a:solidFill>
              <a:latin typeface="华文楷体" panose="02010600040101010101" pitchFamily="2" charset="-122"/>
              <a:ea typeface="华文楷体" panose="02010600040101010101" pitchFamily="2" charset="-122"/>
              <a:cs typeface="+mn-ea"/>
              <a:sym typeface="+mn-ea"/>
            </a:endParaRPr>
          </a:p>
          <a:p>
            <a:pPr marL="457200" lvl="0" indent="-457200">
              <a:lnSpc>
                <a:spcPct val="114000"/>
              </a:lnSpc>
            </a:pPr>
            <a:r>
              <a:rPr lang="en-US" altLang="x-none" sz="2200" dirty="0">
                <a:solidFill>
                  <a:srgbClr val="0033CC"/>
                </a:solidFill>
                <a:latin typeface="华文楷体" panose="02010600040101010101" pitchFamily="2" charset="-122"/>
                <a:ea typeface="华文楷体" panose="02010600040101010101" pitchFamily="2" charset="-122"/>
                <a:cs typeface="+mn-ea"/>
              </a:rPr>
              <a:t>sp_adduser </a:t>
            </a:r>
            <a:r>
              <a:rPr lang="en-US" altLang="x-none" sz="2200" dirty="0">
                <a:solidFill>
                  <a:srgbClr val="0033CC"/>
                </a:solidFill>
                <a:latin typeface="华文楷体" panose="02010600040101010101" pitchFamily="2" charset="-122"/>
                <a:ea typeface="华文楷体" panose="02010600040101010101" pitchFamily="2" charset="-122"/>
                <a:cs typeface="+mn-ea"/>
                <a:sym typeface="+mn-ea"/>
              </a:rPr>
              <a:t>@loginame ='2014110056',@name_in_db ='2014110056'</a:t>
            </a:r>
            <a:endParaRPr lang="en-US" altLang="x-none" sz="2200" dirty="0">
              <a:solidFill>
                <a:srgbClr val="0033CC"/>
              </a:solidFill>
              <a:latin typeface="华文楷体" panose="02010600040101010101" pitchFamily="2" charset="-122"/>
              <a:ea typeface="华文楷体" panose="02010600040101010101" pitchFamily="2" charset="-122"/>
              <a:cs typeface="+mn-ea"/>
              <a:sym typeface="+mn-ea"/>
            </a:endParaRPr>
          </a:p>
          <a:p>
            <a:pPr lvl="0" algn="l">
              <a:lnSpc>
                <a:spcPct val="114000"/>
              </a:lnSpc>
            </a:pPr>
            <a:r>
              <a:rPr lang="en-US" altLang="x-none" sz="2200" dirty="0">
                <a:solidFill>
                  <a:srgbClr val="0033CC"/>
                </a:solidFill>
                <a:latin typeface="华文楷体" panose="02010600040101010101" pitchFamily="2" charset="-122"/>
                <a:ea typeface="华文楷体" panose="02010600040101010101" pitchFamily="2" charset="-122"/>
                <a:cs typeface="+mn-ea"/>
              </a:rPr>
              <a:t>sp_adduser </a:t>
            </a:r>
            <a:r>
              <a:rPr lang="en-US" altLang="x-none" sz="2200" dirty="0">
                <a:solidFill>
                  <a:srgbClr val="0033CC"/>
                </a:solidFill>
                <a:latin typeface="华文楷体" panose="02010600040101010101" pitchFamily="2" charset="-122"/>
                <a:ea typeface="华文楷体" panose="02010600040101010101" pitchFamily="2" charset="-122"/>
                <a:cs typeface="+mn-ea"/>
                <a:sym typeface="+mn-ea"/>
              </a:rPr>
              <a:t>'2014110057','2014110057'</a:t>
            </a:r>
            <a:endParaRPr lang="en-US" altLang="x-none" sz="2200" dirty="0">
              <a:solidFill>
                <a:srgbClr val="0033CC"/>
              </a:solidFill>
              <a:latin typeface="华文楷体" panose="02010600040101010101" pitchFamily="2" charset="-122"/>
              <a:ea typeface="华文楷体" panose="02010600040101010101" pitchFamily="2" charset="-122"/>
              <a:cs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653"/>
                                        </p:tgtEl>
                                        <p:attrNameLst>
                                          <p:attrName>style.visibility</p:attrName>
                                        </p:attrNameLst>
                                      </p:cBhvr>
                                      <p:to>
                                        <p:strVal val="visible"/>
                                      </p:to>
                                    </p:set>
                                    <p:anim calcmode="lin" valueType="num">
                                      <p:cBhvr additive="base">
                                        <p:cTn id="7" dur="500" fill="hold"/>
                                        <p:tgtEl>
                                          <p:spTgt spid="26653"/>
                                        </p:tgtEl>
                                        <p:attrNameLst>
                                          <p:attrName>ppt_x</p:attrName>
                                        </p:attrNameLst>
                                      </p:cBhvr>
                                      <p:tavLst>
                                        <p:tav tm="0">
                                          <p:val>
                                            <p:strVal val="#ppt_x"/>
                                          </p:val>
                                        </p:tav>
                                        <p:tav tm="100000">
                                          <p:val>
                                            <p:strVal val="#ppt_x"/>
                                          </p:val>
                                        </p:tav>
                                      </p:tavLst>
                                    </p:anim>
                                    <p:anim calcmode="lin" valueType="num">
                                      <p:cBhvr additive="base">
                                        <p:cTn id="8" dur="500" fill="hold"/>
                                        <p:tgtEl>
                                          <p:spTgt spid="266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53" grpId="0" bldLvl="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625" name="Group 3"/>
          <p:cNvGrpSpPr/>
          <p:nvPr/>
        </p:nvGrpSpPr>
        <p:grpSpPr>
          <a:xfrm>
            <a:off x="466725" y="1781175"/>
            <a:ext cx="8280400" cy="3529013"/>
            <a:chOff x="0" y="0"/>
            <a:chExt cx="5001" cy="2649"/>
          </a:xfrm>
        </p:grpSpPr>
        <p:sp>
          <p:nvSpPr>
            <p:cNvPr id="26626" name="Rectangle 5"/>
            <p:cNvSpPr/>
            <p:nvPr/>
          </p:nvSpPr>
          <p:spPr>
            <a:xfrm>
              <a:off x="1497" y="0"/>
              <a:ext cx="3504" cy="1785"/>
            </a:xfrm>
            <a:prstGeom prst="rect">
              <a:avLst/>
            </a:prstGeom>
            <a:solidFill>
              <a:srgbClr val="EDFEEC"/>
            </a:solidFill>
            <a:ln w="9525" cap="flat" cmpd="sng">
              <a:solidFill>
                <a:srgbClr val="000099"/>
              </a:solidFill>
              <a:prstDash val="solid"/>
              <a:miter/>
              <a:headEnd type="none" w="med" len="med"/>
              <a:tailEnd type="none" w="med" len="med"/>
            </a:ln>
          </p:spPr>
          <p:txBody>
            <a:bodyPr anchor="t"/>
            <a:lstStyle/>
            <a:p>
              <a:pPr lvl="0" indent="0"/>
              <a:r>
                <a:rPr lang="zh-CN" altLang="en-US" sz="2000" dirty="0">
                  <a:solidFill>
                    <a:srgbClr val="000000"/>
                  </a:solidFill>
                  <a:latin typeface="宋体" panose="02010600030101010101" pitchFamily="2" charset="-122"/>
                  <a:ea typeface="宋体" panose="02010600030101010101" pitchFamily="2" charset="-122"/>
                </a:rPr>
                <a:t>某</a:t>
              </a:r>
              <a:r>
                <a:rPr lang="en-US" altLang="x-none" sz="2000" dirty="0">
                  <a:solidFill>
                    <a:srgbClr val="000000"/>
                  </a:solidFill>
                  <a:latin typeface="宋体" panose="02010600030101010101" pitchFamily="2" charset="-122"/>
                  <a:ea typeface="宋体" panose="02010600030101010101" pitchFamily="2" charset="-122"/>
                </a:rPr>
                <a:t>RDBMS</a:t>
              </a:r>
              <a:endParaRPr lang="en-US" altLang="x-none" sz="2000" dirty="0">
                <a:solidFill>
                  <a:srgbClr val="000000"/>
                </a:solidFill>
                <a:latin typeface="宋体" panose="02010600030101010101" pitchFamily="2" charset="-122"/>
                <a:ea typeface="宋体" panose="02010600030101010101" pitchFamily="2" charset="-122"/>
              </a:endParaRPr>
            </a:p>
            <a:p>
              <a:pPr lvl="0" indent="0"/>
              <a:r>
                <a:rPr lang="zh-CN" altLang="en-US" sz="2000" dirty="0">
                  <a:solidFill>
                    <a:srgbClr val="000000"/>
                  </a:solidFill>
                  <a:latin typeface="宋体" panose="02010600030101010101" pitchFamily="2" charset="-122"/>
                  <a:ea typeface="宋体" panose="02010600030101010101" pitchFamily="2" charset="-122"/>
                </a:rPr>
                <a:t>（</a:t>
              </a:r>
              <a:r>
                <a:rPr lang="en-US" altLang="x-none" sz="2000" dirty="0">
                  <a:solidFill>
                    <a:srgbClr val="000000"/>
                  </a:solidFill>
                  <a:latin typeface="宋体" panose="02010600030101010101" pitchFamily="2" charset="-122"/>
                  <a:ea typeface="宋体" panose="02010600030101010101" pitchFamily="2" charset="-122"/>
                </a:rPr>
                <a:t>Oracle,SQL Server…) </a:t>
              </a:r>
              <a:endParaRPr lang="en-US" altLang="x-none" sz="2000" dirty="0">
                <a:solidFill>
                  <a:srgbClr val="000000"/>
                </a:solidFill>
                <a:latin typeface="宋体" panose="02010600030101010101" pitchFamily="2" charset="-122"/>
                <a:ea typeface="宋体" panose="02010600030101010101" pitchFamily="2" charset="-122"/>
              </a:endParaRPr>
            </a:p>
          </p:txBody>
        </p:sp>
        <p:sp>
          <p:nvSpPr>
            <p:cNvPr id="26627" name="Rectangle 4"/>
            <p:cNvSpPr/>
            <p:nvPr/>
          </p:nvSpPr>
          <p:spPr>
            <a:xfrm>
              <a:off x="182" y="2313"/>
              <a:ext cx="908" cy="336"/>
            </a:xfrm>
            <a:prstGeom prst="rect">
              <a:avLst/>
            </a:prstGeom>
            <a:solidFill>
              <a:srgbClr val="FFCC99"/>
            </a:solidFill>
            <a:ln w="9525" cap="flat" cmpd="sng">
              <a:solidFill>
                <a:srgbClr val="000099"/>
              </a:solidFill>
              <a:prstDash val="solid"/>
              <a:miter/>
              <a:headEnd type="none" w="med" len="med"/>
              <a:tailEnd type="none" w="med" len="med"/>
            </a:ln>
          </p:spPr>
          <p:txBody>
            <a:bodyPr anchor="t"/>
            <a:lstStyle/>
            <a:p>
              <a:pPr lvl="0" indent="0"/>
              <a:r>
                <a:rPr lang="zh-CN" altLang="en-US" sz="2000" dirty="0">
                  <a:solidFill>
                    <a:srgbClr val="000000"/>
                  </a:solidFill>
                  <a:latin typeface="宋体" panose="02010600030101010101" pitchFamily="2" charset="-122"/>
                  <a:ea typeface="宋体" panose="02010600030101010101" pitchFamily="2" charset="-122"/>
                </a:rPr>
                <a:t>用户</a:t>
              </a:r>
              <a:r>
                <a:rPr lang="en-US" altLang="x-none" sz="2000" dirty="0">
                  <a:solidFill>
                    <a:srgbClr val="000000"/>
                  </a:solidFill>
                  <a:latin typeface="宋体" panose="02010600030101010101" pitchFamily="2" charset="-122"/>
                  <a:ea typeface="宋体" panose="02010600030101010101" pitchFamily="2" charset="-122"/>
                </a:rPr>
                <a:t>login</a:t>
              </a:r>
              <a:endParaRPr lang="en-US" altLang="x-none" sz="2000" dirty="0">
                <a:solidFill>
                  <a:srgbClr val="000000"/>
                </a:solidFill>
                <a:latin typeface="宋体" panose="02010600030101010101" pitchFamily="2" charset="-122"/>
                <a:ea typeface="宋体" panose="02010600030101010101" pitchFamily="2" charset="-122"/>
              </a:endParaRPr>
            </a:p>
          </p:txBody>
        </p:sp>
        <p:sp>
          <p:nvSpPr>
            <p:cNvPr id="26628" name="Rectangle 6"/>
            <p:cNvSpPr/>
            <p:nvPr/>
          </p:nvSpPr>
          <p:spPr>
            <a:xfrm>
              <a:off x="318" y="1860"/>
              <a:ext cx="4672" cy="317"/>
            </a:xfrm>
            <a:prstGeom prst="rect">
              <a:avLst/>
            </a:prstGeom>
            <a:solidFill>
              <a:srgbClr val="EDFEEC"/>
            </a:solidFill>
            <a:ln w="14288" cap="flat" cmpd="sng">
              <a:solidFill>
                <a:srgbClr val="000000"/>
              </a:solidFill>
              <a:prstDash val="solid"/>
              <a:miter/>
              <a:headEnd type="none" w="med" len="med"/>
              <a:tailEnd type="none" w="med" len="med"/>
            </a:ln>
          </p:spPr>
          <p:txBody>
            <a:bodyPr anchor="t"/>
            <a:lstStyle/>
            <a:p>
              <a:pPr lvl="0" indent="0" algn="ctr"/>
              <a:r>
                <a:rPr lang="zh-CN" altLang="en-US" sz="2400" dirty="0">
                  <a:solidFill>
                    <a:srgbClr val="000000"/>
                  </a:solidFill>
                  <a:latin typeface="宋体" panose="02010600030101010101" pitchFamily="2" charset="-122"/>
                  <a:ea typeface="宋体" panose="02010600030101010101" pitchFamily="2" charset="-122"/>
                </a:rPr>
                <a:t>操作系统 </a:t>
              </a:r>
              <a:r>
                <a:rPr lang="en-US" altLang="x-none" sz="2400" dirty="0">
                  <a:solidFill>
                    <a:srgbClr val="000000"/>
                  </a:solidFill>
                  <a:latin typeface="宋体" panose="02010600030101010101" pitchFamily="2" charset="-122"/>
                  <a:ea typeface="宋体" panose="02010600030101010101" pitchFamily="2" charset="-122"/>
                </a:rPr>
                <a:t>OS </a:t>
              </a:r>
              <a:r>
                <a:rPr lang="zh-CN" altLang="en-US" sz="2400" dirty="0">
                  <a:solidFill>
                    <a:srgbClr val="000000"/>
                  </a:solidFill>
                  <a:latin typeface="宋体" panose="02010600030101010101" pitchFamily="2" charset="-122"/>
                  <a:ea typeface="宋体" panose="02010600030101010101" pitchFamily="2" charset="-122"/>
                </a:rPr>
                <a:t>（如 </a:t>
              </a:r>
              <a:r>
                <a:rPr lang="en-US" altLang="x-none" sz="2400" dirty="0">
                  <a:solidFill>
                    <a:srgbClr val="000000"/>
                  </a:solidFill>
                  <a:latin typeface="宋体" panose="02010600030101010101" pitchFamily="2" charset="-122"/>
                  <a:ea typeface="宋体" panose="02010600030101010101" pitchFamily="2" charset="-122"/>
                </a:rPr>
                <a:t>Windows XP)</a:t>
              </a:r>
              <a:endParaRPr lang="en-US" altLang="x-none" sz="2400" dirty="0">
                <a:solidFill>
                  <a:srgbClr val="000000"/>
                </a:solidFill>
                <a:latin typeface="宋体" panose="02010600030101010101" pitchFamily="2" charset="-122"/>
                <a:ea typeface="宋体" panose="02010600030101010101" pitchFamily="2" charset="-122"/>
              </a:endParaRPr>
            </a:p>
          </p:txBody>
        </p:sp>
        <p:sp>
          <p:nvSpPr>
            <p:cNvPr id="26629" name="Rectangle 7"/>
            <p:cNvSpPr/>
            <p:nvPr/>
          </p:nvSpPr>
          <p:spPr>
            <a:xfrm>
              <a:off x="0" y="590"/>
              <a:ext cx="1089" cy="640"/>
            </a:xfrm>
            <a:prstGeom prst="rect">
              <a:avLst/>
            </a:prstGeom>
            <a:solidFill>
              <a:srgbClr val="FFCC99"/>
            </a:solidFill>
            <a:ln w="9525" cap="flat" cmpd="sng">
              <a:solidFill>
                <a:srgbClr val="000099"/>
              </a:solidFill>
              <a:prstDash val="solid"/>
              <a:miter/>
              <a:headEnd type="none" w="med" len="med"/>
              <a:tailEnd type="none" w="med" len="med"/>
            </a:ln>
          </p:spPr>
          <p:txBody>
            <a:bodyPr anchor="t"/>
            <a:lstStyle/>
            <a:p>
              <a:pPr lvl="0" indent="0" algn="ctr"/>
              <a:r>
                <a:rPr lang="en-US" altLang="x-none" sz="2000" dirty="0">
                  <a:solidFill>
                    <a:srgbClr val="000000"/>
                  </a:solidFill>
                  <a:latin typeface="Times New Roman" panose="02020603050405020304" pitchFamily="2" charset="0"/>
                  <a:ea typeface="宋体" panose="02010600030101010101" pitchFamily="2" charset="-122"/>
                </a:rPr>
                <a:t>RDBMS</a:t>
              </a:r>
              <a:r>
                <a:rPr lang="zh-CN" altLang="en-US" sz="2000" dirty="0">
                  <a:solidFill>
                    <a:srgbClr val="000000"/>
                  </a:solidFill>
                  <a:latin typeface="Times New Roman" panose="02020603050405020304" pitchFamily="2" charset="0"/>
                  <a:ea typeface="宋体" panose="02010600030101010101" pitchFamily="2" charset="-122"/>
                </a:rPr>
                <a:t>用户 </a:t>
              </a:r>
              <a:r>
                <a:rPr lang="en-US" altLang="x-none" sz="2000" dirty="0">
                  <a:solidFill>
                    <a:srgbClr val="000000"/>
                  </a:solidFill>
                  <a:latin typeface="Times New Roman" panose="02020603050405020304" pitchFamily="2" charset="0"/>
                  <a:ea typeface="宋体" panose="02010600030101010101" pitchFamily="2" charset="-122"/>
                </a:rPr>
                <a:t>Login</a:t>
              </a:r>
              <a:endParaRPr lang="en-US" altLang="x-none" sz="2000" dirty="0">
                <a:solidFill>
                  <a:srgbClr val="000000"/>
                </a:solidFill>
                <a:latin typeface="Times New Roman" panose="02020603050405020304" pitchFamily="2" charset="0"/>
                <a:ea typeface="宋体" panose="02010600030101010101" pitchFamily="2" charset="-122"/>
              </a:endParaRPr>
            </a:p>
          </p:txBody>
        </p:sp>
        <p:sp>
          <p:nvSpPr>
            <p:cNvPr id="26630" name="Freeform 8"/>
            <p:cNvSpPr>
              <a:spLocks noEditPoints="1"/>
            </p:cNvSpPr>
            <p:nvPr/>
          </p:nvSpPr>
          <p:spPr>
            <a:xfrm>
              <a:off x="681" y="1230"/>
              <a:ext cx="90" cy="1083"/>
            </a:xfrm>
            <a:custGeom>
              <a:avLst/>
              <a:gdLst/>
              <a:ahLst/>
              <a:cxnLst>
                <a:cxn ang="0">
                  <a:pos x="2876" y="2577361"/>
                </a:cxn>
                <a:cxn ang="0">
                  <a:pos x="3509" y="2584686"/>
                </a:cxn>
                <a:cxn ang="0">
                  <a:pos x="3257" y="2723124"/>
                </a:cxn>
                <a:cxn ang="0">
                  <a:pos x="2692" y="2714102"/>
                </a:cxn>
                <a:cxn ang="0">
                  <a:pos x="2692" y="2328138"/>
                </a:cxn>
                <a:cxn ang="0">
                  <a:pos x="3174" y="2310923"/>
                </a:cxn>
                <a:cxn ang="0">
                  <a:pos x="3509" y="2328138"/>
                </a:cxn>
                <a:cxn ang="0">
                  <a:pos x="3257" y="2456193"/>
                </a:cxn>
                <a:cxn ang="0">
                  <a:pos x="2692" y="2446316"/>
                </a:cxn>
                <a:cxn ang="0">
                  <a:pos x="2692" y="2072663"/>
                </a:cxn>
                <a:cxn ang="0">
                  <a:pos x="3174" y="2051202"/>
                </a:cxn>
                <a:cxn ang="0">
                  <a:pos x="3509" y="2072663"/>
                </a:cxn>
                <a:cxn ang="0">
                  <a:pos x="3257" y="2199790"/>
                </a:cxn>
                <a:cxn ang="0">
                  <a:pos x="2692" y="2190688"/>
                </a:cxn>
                <a:cxn ang="0">
                  <a:pos x="2692" y="1813018"/>
                </a:cxn>
                <a:cxn ang="0">
                  <a:pos x="3174" y="1795553"/>
                </a:cxn>
                <a:cxn ang="0">
                  <a:pos x="3509" y="1813018"/>
                </a:cxn>
                <a:cxn ang="0">
                  <a:pos x="3257" y="1944314"/>
                </a:cxn>
                <a:cxn ang="0">
                  <a:pos x="2692" y="1933179"/>
                </a:cxn>
                <a:cxn ang="0">
                  <a:pos x="2692" y="1546323"/>
                </a:cxn>
                <a:cxn ang="0">
                  <a:pos x="3257" y="1539268"/>
                </a:cxn>
                <a:cxn ang="0">
                  <a:pos x="3509" y="1676739"/>
                </a:cxn>
                <a:cxn ang="0">
                  <a:pos x="2876" y="1685005"/>
                </a:cxn>
                <a:cxn ang="0">
                  <a:pos x="2692" y="1667615"/>
                </a:cxn>
                <a:cxn ang="0">
                  <a:pos x="2876" y="1277927"/>
                </a:cxn>
                <a:cxn ang="0">
                  <a:pos x="3257" y="1277927"/>
                </a:cxn>
                <a:cxn ang="0">
                  <a:pos x="3509" y="1411242"/>
                </a:cxn>
                <a:cxn ang="0">
                  <a:pos x="2876" y="1417809"/>
                </a:cxn>
                <a:cxn ang="0">
                  <a:pos x="2692" y="1396168"/>
                </a:cxn>
                <a:cxn ang="0">
                  <a:pos x="2876" y="1018327"/>
                </a:cxn>
                <a:cxn ang="0">
                  <a:pos x="3257" y="1018327"/>
                </a:cxn>
                <a:cxn ang="0">
                  <a:pos x="3509" y="1149647"/>
                </a:cxn>
                <a:cxn ang="0">
                  <a:pos x="2876" y="1161526"/>
                </a:cxn>
                <a:cxn ang="0">
                  <a:pos x="2692" y="1138487"/>
                </a:cxn>
                <a:cxn ang="0">
                  <a:pos x="2876" y="761784"/>
                </a:cxn>
                <a:cxn ang="0">
                  <a:pos x="3257" y="761784"/>
                </a:cxn>
                <a:cxn ang="0">
                  <a:pos x="3509" y="891205"/>
                </a:cxn>
                <a:cxn ang="0">
                  <a:pos x="2876" y="904820"/>
                </a:cxn>
                <a:cxn ang="0">
                  <a:pos x="2692" y="882939"/>
                </a:cxn>
                <a:cxn ang="0">
                  <a:pos x="2876" y="495437"/>
                </a:cxn>
                <a:cxn ang="0">
                  <a:pos x="3509" y="505189"/>
                </a:cxn>
                <a:cxn ang="0">
                  <a:pos x="3257" y="648534"/>
                </a:cxn>
                <a:cxn ang="0">
                  <a:pos x="2692" y="633292"/>
                </a:cxn>
                <a:cxn ang="0">
                  <a:pos x="2692" y="249718"/>
                </a:cxn>
                <a:cxn ang="0">
                  <a:pos x="3174" y="228394"/>
                </a:cxn>
                <a:cxn ang="0">
                  <a:pos x="3509" y="249718"/>
                </a:cxn>
                <a:cxn ang="0">
                  <a:pos x="3257" y="376707"/>
                </a:cxn>
                <a:cxn ang="0">
                  <a:pos x="2692" y="367723"/>
                </a:cxn>
                <a:cxn ang="0">
                  <a:pos x="3174" y="0"/>
                </a:cxn>
              </a:cxnLst>
              <a:rect l="0" t="0" r="0" b="0"/>
              <a:pathLst>
                <a:path w="65" h="593">
                  <a:moveTo>
                    <a:pt x="28" y="589"/>
                  </a:moveTo>
                  <a:lnTo>
                    <a:pt x="28" y="563"/>
                  </a:lnTo>
                  <a:lnTo>
                    <a:pt x="28" y="561"/>
                  </a:lnTo>
                  <a:lnTo>
                    <a:pt x="30" y="561"/>
                  </a:lnTo>
                  <a:lnTo>
                    <a:pt x="33" y="561"/>
                  </a:lnTo>
                  <a:lnTo>
                    <a:pt x="35" y="561"/>
                  </a:lnTo>
                  <a:lnTo>
                    <a:pt x="37" y="561"/>
                  </a:lnTo>
                  <a:lnTo>
                    <a:pt x="37" y="563"/>
                  </a:lnTo>
                  <a:lnTo>
                    <a:pt x="37" y="589"/>
                  </a:lnTo>
                  <a:lnTo>
                    <a:pt x="37" y="591"/>
                  </a:lnTo>
                  <a:lnTo>
                    <a:pt x="35" y="591"/>
                  </a:lnTo>
                  <a:lnTo>
                    <a:pt x="35" y="593"/>
                  </a:lnTo>
                  <a:lnTo>
                    <a:pt x="33" y="593"/>
                  </a:lnTo>
                  <a:lnTo>
                    <a:pt x="30" y="593"/>
                  </a:lnTo>
                  <a:lnTo>
                    <a:pt x="30" y="591"/>
                  </a:lnTo>
                  <a:lnTo>
                    <a:pt x="28" y="591"/>
                  </a:lnTo>
                  <a:lnTo>
                    <a:pt x="28" y="589"/>
                  </a:lnTo>
                  <a:close/>
                  <a:moveTo>
                    <a:pt x="28" y="531"/>
                  </a:moveTo>
                  <a:lnTo>
                    <a:pt x="28" y="507"/>
                  </a:lnTo>
                  <a:lnTo>
                    <a:pt x="28" y="505"/>
                  </a:lnTo>
                  <a:lnTo>
                    <a:pt x="30" y="505"/>
                  </a:lnTo>
                  <a:lnTo>
                    <a:pt x="30" y="503"/>
                  </a:lnTo>
                  <a:lnTo>
                    <a:pt x="33" y="503"/>
                  </a:lnTo>
                  <a:lnTo>
                    <a:pt x="35" y="503"/>
                  </a:lnTo>
                  <a:lnTo>
                    <a:pt x="35" y="505"/>
                  </a:lnTo>
                  <a:lnTo>
                    <a:pt x="37" y="505"/>
                  </a:lnTo>
                  <a:lnTo>
                    <a:pt x="37" y="507"/>
                  </a:lnTo>
                  <a:lnTo>
                    <a:pt x="37" y="531"/>
                  </a:lnTo>
                  <a:lnTo>
                    <a:pt x="37" y="533"/>
                  </a:lnTo>
                  <a:lnTo>
                    <a:pt x="35" y="535"/>
                  </a:lnTo>
                  <a:lnTo>
                    <a:pt x="33" y="535"/>
                  </a:lnTo>
                  <a:lnTo>
                    <a:pt x="30" y="535"/>
                  </a:lnTo>
                  <a:lnTo>
                    <a:pt x="28" y="533"/>
                  </a:lnTo>
                  <a:lnTo>
                    <a:pt x="28" y="531"/>
                  </a:lnTo>
                  <a:close/>
                  <a:moveTo>
                    <a:pt x="28" y="475"/>
                  </a:moveTo>
                  <a:lnTo>
                    <a:pt x="28" y="451"/>
                  </a:lnTo>
                  <a:lnTo>
                    <a:pt x="28" y="449"/>
                  </a:lnTo>
                  <a:lnTo>
                    <a:pt x="30" y="449"/>
                  </a:lnTo>
                  <a:lnTo>
                    <a:pt x="30" y="447"/>
                  </a:lnTo>
                  <a:lnTo>
                    <a:pt x="33" y="447"/>
                  </a:lnTo>
                  <a:lnTo>
                    <a:pt x="35" y="447"/>
                  </a:lnTo>
                  <a:lnTo>
                    <a:pt x="35" y="449"/>
                  </a:lnTo>
                  <a:lnTo>
                    <a:pt x="37" y="449"/>
                  </a:lnTo>
                  <a:lnTo>
                    <a:pt x="37" y="451"/>
                  </a:lnTo>
                  <a:lnTo>
                    <a:pt x="37" y="475"/>
                  </a:lnTo>
                  <a:lnTo>
                    <a:pt x="37" y="477"/>
                  </a:lnTo>
                  <a:lnTo>
                    <a:pt x="35" y="477"/>
                  </a:lnTo>
                  <a:lnTo>
                    <a:pt x="35" y="479"/>
                  </a:lnTo>
                  <a:lnTo>
                    <a:pt x="33" y="479"/>
                  </a:lnTo>
                  <a:lnTo>
                    <a:pt x="30" y="479"/>
                  </a:lnTo>
                  <a:lnTo>
                    <a:pt x="30" y="477"/>
                  </a:lnTo>
                  <a:lnTo>
                    <a:pt x="28" y="477"/>
                  </a:lnTo>
                  <a:lnTo>
                    <a:pt x="28" y="475"/>
                  </a:lnTo>
                  <a:close/>
                  <a:moveTo>
                    <a:pt x="28" y="419"/>
                  </a:moveTo>
                  <a:lnTo>
                    <a:pt x="28" y="395"/>
                  </a:lnTo>
                  <a:lnTo>
                    <a:pt x="28" y="393"/>
                  </a:lnTo>
                  <a:lnTo>
                    <a:pt x="30" y="393"/>
                  </a:lnTo>
                  <a:lnTo>
                    <a:pt x="30" y="391"/>
                  </a:lnTo>
                  <a:lnTo>
                    <a:pt x="33" y="391"/>
                  </a:lnTo>
                  <a:lnTo>
                    <a:pt x="35" y="391"/>
                  </a:lnTo>
                  <a:lnTo>
                    <a:pt x="35" y="393"/>
                  </a:lnTo>
                  <a:lnTo>
                    <a:pt x="37" y="393"/>
                  </a:lnTo>
                  <a:lnTo>
                    <a:pt x="37" y="395"/>
                  </a:lnTo>
                  <a:lnTo>
                    <a:pt x="37" y="419"/>
                  </a:lnTo>
                  <a:lnTo>
                    <a:pt x="37" y="421"/>
                  </a:lnTo>
                  <a:lnTo>
                    <a:pt x="35" y="421"/>
                  </a:lnTo>
                  <a:lnTo>
                    <a:pt x="35" y="423"/>
                  </a:lnTo>
                  <a:lnTo>
                    <a:pt x="33" y="423"/>
                  </a:lnTo>
                  <a:lnTo>
                    <a:pt x="30" y="423"/>
                  </a:lnTo>
                  <a:lnTo>
                    <a:pt x="30" y="421"/>
                  </a:lnTo>
                  <a:lnTo>
                    <a:pt x="28" y="421"/>
                  </a:lnTo>
                  <a:lnTo>
                    <a:pt x="28" y="419"/>
                  </a:lnTo>
                  <a:close/>
                  <a:moveTo>
                    <a:pt x="28" y="363"/>
                  </a:moveTo>
                  <a:lnTo>
                    <a:pt x="28" y="337"/>
                  </a:lnTo>
                  <a:lnTo>
                    <a:pt x="28" y="335"/>
                  </a:lnTo>
                  <a:lnTo>
                    <a:pt x="30" y="335"/>
                  </a:lnTo>
                  <a:lnTo>
                    <a:pt x="33" y="335"/>
                  </a:lnTo>
                  <a:lnTo>
                    <a:pt x="35" y="335"/>
                  </a:lnTo>
                  <a:lnTo>
                    <a:pt x="37" y="335"/>
                  </a:lnTo>
                  <a:lnTo>
                    <a:pt x="37" y="337"/>
                  </a:lnTo>
                  <a:lnTo>
                    <a:pt x="37" y="363"/>
                  </a:lnTo>
                  <a:lnTo>
                    <a:pt x="37" y="365"/>
                  </a:lnTo>
                  <a:lnTo>
                    <a:pt x="35" y="365"/>
                  </a:lnTo>
                  <a:lnTo>
                    <a:pt x="35" y="367"/>
                  </a:lnTo>
                  <a:lnTo>
                    <a:pt x="33" y="367"/>
                  </a:lnTo>
                  <a:lnTo>
                    <a:pt x="30" y="367"/>
                  </a:lnTo>
                  <a:lnTo>
                    <a:pt x="30" y="365"/>
                  </a:lnTo>
                  <a:lnTo>
                    <a:pt x="28" y="365"/>
                  </a:lnTo>
                  <a:lnTo>
                    <a:pt x="28" y="363"/>
                  </a:lnTo>
                  <a:close/>
                  <a:moveTo>
                    <a:pt x="28" y="304"/>
                  </a:moveTo>
                  <a:lnTo>
                    <a:pt x="28" y="281"/>
                  </a:lnTo>
                  <a:lnTo>
                    <a:pt x="28" y="278"/>
                  </a:lnTo>
                  <a:lnTo>
                    <a:pt x="30" y="278"/>
                  </a:lnTo>
                  <a:lnTo>
                    <a:pt x="30" y="276"/>
                  </a:lnTo>
                  <a:lnTo>
                    <a:pt x="33" y="276"/>
                  </a:lnTo>
                  <a:lnTo>
                    <a:pt x="35" y="276"/>
                  </a:lnTo>
                  <a:lnTo>
                    <a:pt x="35" y="278"/>
                  </a:lnTo>
                  <a:lnTo>
                    <a:pt x="37" y="278"/>
                  </a:lnTo>
                  <a:lnTo>
                    <a:pt x="37" y="281"/>
                  </a:lnTo>
                  <a:lnTo>
                    <a:pt x="37" y="304"/>
                  </a:lnTo>
                  <a:lnTo>
                    <a:pt x="37" y="307"/>
                  </a:lnTo>
                  <a:lnTo>
                    <a:pt x="35" y="309"/>
                  </a:lnTo>
                  <a:lnTo>
                    <a:pt x="33" y="309"/>
                  </a:lnTo>
                  <a:lnTo>
                    <a:pt x="30" y="309"/>
                  </a:lnTo>
                  <a:lnTo>
                    <a:pt x="28" y="307"/>
                  </a:lnTo>
                  <a:lnTo>
                    <a:pt x="28" y="304"/>
                  </a:lnTo>
                  <a:close/>
                  <a:moveTo>
                    <a:pt x="28" y="248"/>
                  </a:moveTo>
                  <a:lnTo>
                    <a:pt x="28" y="225"/>
                  </a:lnTo>
                  <a:lnTo>
                    <a:pt x="28" y="222"/>
                  </a:lnTo>
                  <a:lnTo>
                    <a:pt x="30" y="222"/>
                  </a:lnTo>
                  <a:lnTo>
                    <a:pt x="30" y="220"/>
                  </a:lnTo>
                  <a:lnTo>
                    <a:pt x="33" y="220"/>
                  </a:lnTo>
                  <a:lnTo>
                    <a:pt x="35" y="220"/>
                  </a:lnTo>
                  <a:lnTo>
                    <a:pt x="35" y="222"/>
                  </a:lnTo>
                  <a:lnTo>
                    <a:pt x="37" y="222"/>
                  </a:lnTo>
                  <a:lnTo>
                    <a:pt x="37" y="225"/>
                  </a:lnTo>
                  <a:lnTo>
                    <a:pt x="37" y="248"/>
                  </a:lnTo>
                  <a:lnTo>
                    <a:pt x="37" y="250"/>
                  </a:lnTo>
                  <a:lnTo>
                    <a:pt x="35" y="250"/>
                  </a:lnTo>
                  <a:lnTo>
                    <a:pt x="35" y="253"/>
                  </a:lnTo>
                  <a:lnTo>
                    <a:pt x="33" y="253"/>
                  </a:lnTo>
                  <a:lnTo>
                    <a:pt x="30" y="253"/>
                  </a:lnTo>
                  <a:lnTo>
                    <a:pt x="30" y="250"/>
                  </a:lnTo>
                  <a:lnTo>
                    <a:pt x="28" y="250"/>
                  </a:lnTo>
                  <a:lnTo>
                    <a:pt x="28" y="248"/>
                  </a:lnTo>
                  <a:close/>
                  <a:moveTo>
                    <a:pt x="28" y="192"/>
                  </a:moveTo>
                  <a:lnTo>
                    <a:pt x="28" y="169"/>
                  </a:lnTo>
                  <a:lnTo>
                    <a:pt x="28" y="166"/>
                  </a:lnTo>
                  <a:lnTo>
                    <a:pt x="30" y="166"/>
                  </a:lnTo>
                  <a:lnTo>
                    <a:pt x="30" y="164"/>
                  </a:lnTo>
                  <a:lnTo>
                    <a:pt x="33" y="164"/>
                  </a:lnTo>
                  <a:lnTo>
                    <a:pt x="35" y="164"/>
                  </a:lnTo>
                  <a:lnTo>
                    <a:pt x="35" y="166"/>
                  </a:lnTo>
                  <a:lnTo>
                    <a:pt x="37" y="166"/>
                  </a:lnTo>
                  <a:lnTo>
                    <a:pt x="37" y="169"/>
                  </a:lnTo>
                  <a:lnTo>
                    <a:pt x="37" y="192"/>
                  </a:lnTo>
                  <a:lnTo>
                    <a:pt x="37" y="194"/>
                  </a:lnTo>
                  <a:lnTo>
                    <a:pt x="35" y="194"/>
                  </a:lnTo>
                  <a:lnTo>
                    <a:pt x="35" y="197"/>
                  </a:lnTo>
                  <a:lnTo>
                    <a:pt x="33" y="197"/>
                  </a:lnTo>
                  <a:lnTo>
                    <a:pt x="30" y="197"/>
                  </a:lnTo>
                  <a:lnTo>
                    <a:pt x="30" y="194"/>
                  </a:lnTo>
                  <a:lnTo>
                    <a:pt x="28" y="194"/>
                  </a:lnTo>
                  <a:lnTo>
                    <a:pt x="28" y="192"/>
                  </a:lnTo>
                  <a:close/>
                  <a:moveTo>
                    <a:pt x="28" y="136"/>
                  </a:moveTo>
                  <a:lnTo>
                    <a:pt x="28" y="110"/>
                  </a:lnTo>
                  <a:lnTo>
                    <a:pt x="28" y="108"/>
                  </a:lnTo>
                  <a:lnTo>
                    <a:pt x="30" y="108"/>
                  </a:lnTo>
                  <a:lnTo>
                    <a:pt x="33" y="108"/>
                  </a:lnTo>
                  <a:lnTo>
                    <a:pt x="35" y="108"/>
                  </a:lnTo>
                  <a:lnTo>
                    <a:pt x="37" y="108"/>
                  </a:lnTo>
                  <a:lnTo>
                    <a:pt x="37" y="110"/>
                  </a:lnTo>
                  <a:lnTo>
                    <a:pt x="37" y="136"/>
                  </a:lnTo>
                  <a:lnTo>
                    <a:pt x="37" y="138"/>
                  </a:lnTo>
                  <a:lnTo>
                    <a:pt x="35" y="138"/>
                  </a:lnTo>
                  <a:lnTo>
                    <a:pt x="35" y="141"/>
                  </a:lnTo>
                  <a:lnTo>
                    <a:pt x="33" y="141"/>
                  </a:lnTo>
                  <a:lnTo>
                    <a:pt x="30" y="141"/>
                  </a:lnTo>
                  <a:lnTo>
                    <a:pt x="30" y="138"/>
                  </a:lnTo>
                  <a:lnTo>
                    <a:pt x="28" y="138"/>
                  </a:lnTo>
                  <a:lnTo>
                    <a:pt x="28" y="136"/>
                  </a:lnTo>
                  <a:close/>
                  <a:moveTo>
                    <a:pt x="28" y="78"/>
                  </a:moveTo>
                  <a:lnTo>
                    <a:pt x="28" y="54"/>
                  </a:lnTo>
                  <a:lnTo>
                    <a:pt x="28" y="52"/>
                  </a:lnTo>
                  <a:lnTo>
                    <a:pt x="30" y="52"/>
                  </a:lnTo>
                  <a:lnTo>
                    <a:pt x="30" y="50"/>
                  </a:lnTo>
                  <a:lnTo>
                    <a:pt x="33" y="50"/>
                  </a:lnTo>
                  <a:lnTo>
                    <a:pt x="35" y="50"/>
                  </a:lnTo>
                  <a:lnTo>
                    <a:pt x="35" y="52"/>
                  </a:lnTo>
                  <a:lnTo>
                    <a:pt x="37" y="52"/>
                  </a:lnTo>
                  <a:lnTo>
                    <a:pt x="37" y="54"/>
                  </a:lnTo>
                  <a:lnTo>
                    <a:pt x="37" y="78"/>
                  </a:lnTo>
                  <a:lnTo>
                    <a:pt x="37" y="80"/>
                  </a:lnTo>
                  <a:lnTo>
                    <a:pt x="35" y="82"/>
                  </a:lnTo>
                  <a:lnTo>
                    <a:pt x="33" y="82"/>
                  </a:lnTo>
                  <a:lnTo>
                    <a:pt x="30" y="82"/>
                  </a:lnTo>
                  <a:lnTo>
                    <a:pt x="28" y="80"/>
                  </a:lnTo>
                  <a:lnTo>
                    <a:pt x="28" y="78"/>
                  </a:lnTo>
                  <a:close/>
                  <a:moveTo>
                    <a:pt x="0" y="65"/>
                  </a:moveTo>
                  <a:lnTo>
                    <a:pt x="33" y="0"/>
                  </a:lnTo>
                  <a:lnTo>
                    <a:pt x="65" y="65"/>
                  </a:lnTo>
                  <a:lnTo>
                    <a:pt x="0" y="65"/>
                  </a:lnTo>
                  <a:close/>
                </a:path>
              </a:pathLst>
            </a:custGeom>
            <a:solidFill>
              <a:srgbClr val="000000"/>
            </a:solidFill>
            <a:ln w="3175" cap="flat" cmpd="sng">
              <a:solidFill>
                <a:srgbClr val="000000"/>
              </a:solidFill>
              <a:prstDash val="solid"/>
              <a:miter/>
              <a:headEnd type="none" w="med" len="med"/>
              <a:tailEnd type="none" w="med" len="med"/>
            </a:ln>
          </p:spPr>
          <p:txBody>
            <a:bodyPr/>
            <a:lstStyle/>
            <a:p>
              <a:endParaRPr lang="zh-CN" altLang="en-US"/>
            </a:p>
          </p:txBody>
        </p:sp>
        <p:sp>
          <p:nvSpPr>
            <p:cNvPr id="26631" name="Rectangle 9"/>
            <p:cNvSpPr/>
            <p:nvPr/>
          </p:nvSpPr>
          <p:spPr>
            <a:xfrm>
              <a:off x="2722" y="635"/>
              <a:ext cx="725" cy="408"/>
            </a:xfrm>
            <a:prstGeom prst="rect">
              <a:avLst/>
            </a:prstGeom>
            <a:solidFill>
              <a:srgbClr val="C0FCE9"/>
            </a:solidFill>
            <a:ln w="9525" cap="flat" cmpd="sng">
              <a:solidFill>
                <a:srgbClr val="000099"/>
              </a:solidFill>
              <a:prstDash val="solid"/>
              <a:miter/>
              <a:headEnd type="none" w="med" len="med"/>
              <a:tailEnd type="none" w="med" len="med"/>
            </a:ln>
          </p:spPr>
          <p:txBody>
            <a:bodyPr anchor="t"/>
            <a:lstStyle/>
            <a:p>
              <a:pPr lvl="0" indent="0" algn="ctr"/>
              <a:r>
                <a:rPr lang="zh-CN" altLang="en-US" sz="2000" dirty="0">
                  <a:solidFill>
                    <a:srgbClr val="000000"/>
                  </a:solidFill>
                  <a:latin typeface="宋体" panose="02010600030101010101" pitchFamily="2" charset="-122"/>
                  <a:ea typeface="宋体" panose="02010600030101010101" pitchFamily="2" charset="-122"/>
                </a:rPr>
                <a:t>某个</a:t>
              </a:r>
              <a:r>
                <a:rPr lang="en-US" altLang="x-none" sz="2000" dirty="0">
                  <a:solidFill>
                    <a:srgbClr val="000000"/>
                  </a:solidFill>
                  <a:latin typeface="宋体" panose="02010600030101010101" pitchFamily="2" charset="-122"/>
                  <a:ea typeface="宋体" panose="02010600030101010101" pitchFamily="2" charset="-122"/>
                </a:rPr>
                <a:t>DB</a:t>
              </a:r>
              <a:r>
                <a:rPr lang="zh-CN" altLang="en-US" sz="2000" dirty="0">
                  <a:solidFill>
                    <a:srgbClr val="000000"/>
                  </a:solidFill>
                  <a:latin typeface="宋体" panose="02010600030101010101" pitchFamily="2" charset="-122"/>
                  <a:ea typeface="宋体" panose="02010600030101010101" pitchFamily="2" charset="-122"/>
                </a:rPr>
                <a:t>用户</a:t>
              </a:r>
              <a:endParaRPr lang="zh-CN" altLang="en-US" sz="2000" dirty="0">
                <a:latin typeface="宋体" panose="02010600030101010101" pitchFamily="2" charset="-122"/>
                <a:ea typeface="宋体" panose="02010600030101010101" pitchFamily="2" charset="-122"/>
              </a:endParaRPr>
            </a:p>
          </p:txBody>
        </p:sp>
        <p:sp>
          <p:nvSpPr>
            <p:cNvPr id="26632" name="Rectangle 10"/>
            <p:cNvSpPr/>
            <p:nvPr/>
          </p:nvSpPr>
          <p:spPr>
            <a:xfrm>
              <a:off x="3629" y="136"/>
              <a:ext cx="1270" cy="1134"/>
            </a:xfrm>
            <a:prstGeom prst="rect">
              <a:avLst/>
            </a:prstGeom>
            <a:solidFill>
              <a:srgbClr val="FFFFCC"/>
            </a:solidFill>
            <a:ln w="9525" cap="flat" cmpd="sng">
              <a:solidFill>
                <a:srgbClr val="000099"/>
              </a:solidFill>
              <a:prstDash val="solid"/>
              <a:miter/>
              <a:headEnd type="none" w="med" len="med"/>
              <a:tailEnd type="none" w="med" len="med"/>
            </a:ln>
          </p:spPr>
          <p:txBody>
            <a:bodyPr anchor="t"/>
            <a:lstStyle/>
            <a:p>
              <a:pPr lvl="0" indent="0" algn="ctr"/>
              <a:r>
                <a:rPr lang="zh-CN" altLang="en-US" sz="2000" dirty="0">
                  <a:latin typeface="宋体" panose="02010600030101010101" pitchFamily="2" charset="-122"/>
                  <a:ea typeface="宋体" panose="02010600030101010101" pitchFamily="2" charset="-122"/>
                </a:rPr>
                <a:t>某个数据库</a:t>
              </a:r>
              <a:endParaRPr lang="zh-CN" altLang="en-US" sz="2000" dirty="0">
                <a:latin typeface="宋体" panose="02010600030101010101" pitchFamily="2" charset="-122"/>
                <a:ea typeface="宋体" panose="02010600030101010101" pitchFamily="2" charset="-122"/>
              </a:endParaRPr>
            </a:p>
            <a:p>
              <a:pPr lvl="0" indent="0" algn="ctr"/>
              <a:r>
                <a:rPr lang="zh-CN" altLang="en-US" sz="2000" dirty="0">
                  <a:latin typeface="宋体" panose="02010600030101010101" pitchFamily="2" charset="-122"/>
                  <a:ea typeface="宋体" panose="02010600030101010101" pitchFamily="2" charset="-122"/>
                </a:rPr>
                <a:t>（教学管理</a:t>
              </a:r>
              <a:r>
                <a:rPr lang="en-US" altLang="x-none" sz="2000" dirty="0">
                  <a:latin typeface="宋体" panose="02010600030101010101" pitchFamily="2" charset="-122"/>
                  <a:ea typeface="宋体" panose="02010600030101010101" pitchFamily="2" charset="-122"/>
                </a:rPr>
                <a:t>DB</a:t>
              </a:r>
              <a:r>
                <a:rPr lang="zh-CN" altLang="en-US" sz="2000" dirty="0">
                  <a:latin typeface="宋体" panose="02010600030101010101" pitchFamily="2" charset="-122"/>
                  <a:ea typeface="宋体" panose="02010600030101010101" pitchFamily="2" charset="-122"/>
                </a:rPr>
                <a:t>）</a:t>
              </a:r>
              <a:endParaRPr lang="zh-CN" altLang="en-US" sz="2000" dirty="0">
                <a:latin typeface="宋体" panose="02010600030101010101" pitchFamily="2" charset="-122"/>
                <a:ea typeface="宋体" panose="02010600030101010101" pitchFamily="2" charset="-122"/>
              </a:endParaRPr>
            </a:p>
            <a:p>
              <a:pPr lvl="0" indent="0"/>
              <a:endParaRPr lang="en-US" altLang="x-none" sz="3600" dirty="0">
                <a:latin typeface="宋体" panose="02010600030101010101" pitchFamily="2" charset="-122"/>
                <a:ea typeface="宋体" panose="02010600030101010101" pitchFamily="2" charset="-122"/>
              </a:endParaRPr>
            </a:p>
          </p:txBody>
        </p:sp>
        <p:sp>
          <p:nvSpPr>
            <p:cNvPr id="26633" name="Rectangle 11"/>
            <p:cNvSpPr/>
            <p:nvPr/>
          </p:nvSpPr>
          <p:spPr>
            <a:xfrm>
              <a:off x="3629" y="1406"/>
              <a:ext cx="1270" cy="272"/>
            </a:xfrm>
            <a:prstGeom prst="rect">
              <a:avLst/>
            </a:prstGeom>
            <a:solidFill>
              <a:srgbClr val="FFFFCC"/>
            </a:solidFill>
            <a:ln w="9525" cap="flat" cmpd="sng">
              <a:solidFill>
                <a:srgbClr val="000099"/>
              </a:solidFill>
              <a:prstDash val="solid"/>
              <a:miter/>
              <a:headEnd type="none" w="med" len="med"/>
              <a:tailEnd type="none" w="med" len="med"/>
            </a:ln>
          </p:spPr>
          <p:txBody>
            <a:bodyPr anchor="t"/>
            <a:lstStyle/>
            <a:p>
              <a:pPr lvl="0" indent="0" algn="ctr"/>
              <a:r>
                <a:rPr lang="zh-CN" altLang="en-US" sz="2000" dirty="0">
                  <a:latin typeface="宋体" panose="02010600030101010101" pitchFamily="2" charset="-122"/>
                  <a:ea typeface="宋体" panose="02010600030101010101" pitchFamily="2" charset="-122"/>
                </a:rPr>
                <a:t>其他数据库</a:t>
              </a:r>
              <a:endParaRPr lang="zh-CN" altLang="en-US" sz="2000" dirty="0">
                <a:latin typeface="宋体" panose="02010600030101010101" pitchFamily="2" charset="-122"/>
                <a:ea typeface="宋体" panose="02010600030101010101" pitchFamily="2" charset="-122"/>
              </a:endParaRPr>
            </a:p>
          </p:txBody>
        </p:sp>
        <p:sp>
          <p:nvSpPr>
            <p:cNvPr id="26634" name="Line 12"/>
            <p:cNvSpPr/>
            <p:nvPr/>
          </p:nvSpPr>
          <p:spPr>
            <a:xfrm>
              <a:off x="1089" y="771"/>
              <a:ext cx="1633" cy="0"/>
            </a:xfrm>
            <a:prstGeom prst="line">
              <a:avLst/>
            </a:prstGeom>
            <a:ln w="28575" cap="flat" cmpd="sng">
              <a:solidFill>
                <a:schemeClr val="tx1"/>
              </a:solidFill>
              <a:prstDash val="solid"/>
              <a:round/>
              <a:headEnd type="none" w="med" len="med"/>
              <a:tailEnd type="triangle" w="med" len="med"/>
            </a:ln>
          </p:spPr>
        </p:sp>
        <p:grpSp>
          <p:nvGrpSpPr>
            <p:cNvPr id="26635" name="Group 13"/>
            <p:cNvGrpSpPr/>
            <p:nvPr/>
          </p:nvGrpSpPr>
          <p:grpSpPr>
            <a:xfrm>
              <a:off x="1316" y="771"/>
              <a:ext cx="1270" cy="862"/>
              <a:chOff x="0" y="0"/>
              <a:chExt cx="1270" cy="862"/>
            </a:xfrm>
          </p:grpSpPr>
          <p:sp>
            <p:nvSpPr>
              <p:cNvPr id="26636" name="Line 15"/>
              <p:cNvSpPr/>
              <p:nvPr/>
            </p:nvSpPr>
            <p:spPr>
              <a:xfrm>
                <a:off x="0" y="0"/>
                <a:ext cx="0" cy="499"/>
              </a:xfrm>
              <a:prstGeom prst="line">
                <a:avLst/>
              </a:prstGeom>
              <a:ln w="28575" cap="flat" cmpd="sng">
                <a:solidFill>
                  <a:schemeClr val="tx1"/>
                </a:solidFill>
                <a:prstDash val="solid"/>
                <a:round/>
                <a:headEnd type="none" w="med" len="med"/>
                <a:tailEnd type="none" w="med" len="med"/>
              </a:ln>
            </p:spPr>
          </p:sp>
          <p:sp>
            <p:nvSpPr>
              <p:cNvPr id="26637" name="Line 16"/>
              <p:cNvSpPr/>
              <p:nvPr/>
            </p:nvSpPr>
            <p:spPr>
              <a:xfrm>
                <a:off x="0" y="499"/>
                <a:ext cx="317" cy="0"/>
              </a:xfrm>
              <a:prstGeom prst="line">
                <a:avLst/>
              </a:prstGeom>
              <a:ln w="28575" cap="flat" cmpd="sng">
                <a:solidFill>
                  <a:schemeClr val="tx1"/>
                </a:solidFill>
                <a:prstDash val="solid"/>
                <a:round/>
                <a:headEnd type="none" w="med" len="med"/>
                <a:tailEnd type="triangle" w="med" len="med"/>
              </a:ln>
            </p:spPr>
          </p:sp>
          <p:sp>
            <p:nvSpPr>
              <p:cNvPr id="26638" name="Line 17"/>
              <p:cNvSpPr/>
              <p:nvPr/>
            </p:nvSpPr>
            <p:spPr>
              <a:xfrm>
                <a:off x="1133" y="544"/>
                <a:ext cx="137" cy="0"/>
              </a:xfrm>
              <a:prstGeom prst="line">
                <a:avLst/>
              </a:prstGeom>
              <a:ln w="28575" cap="flat" cmpd="sng">
                <a:solidFill>
                  <a:schemeClr val="tx1"/>
                </a:solidFill>
                <a:prstDash val="solid"/>
                <a:round/>
                <a:headEnd type="none" w="med" len="med"/>
                <a:tailEnd type="none" w="med" len="med"/>
              </a:ln>
            </p:spPr>
          </p:sp>
          <p:sp>
            <p:nvSpPr>
              <p:cNvPr id="26639" name="Line 18"/>
              <p:cNvSpPr/>
              <p:nvPr/>
            </p:nvSpPr>
            <p:spPr>
              <a:xfrm flipV="1">
                <a:off x="1270" y="0"/>
                <a:ext cx="0" cy="544"/>
              </a:xfrm>
              <a:prstGeom prst="line">
                <a:avLst/>
              </a:prstGeom>
              <a:ln w="28575" cap="flat" cmpd="sng">
                <a:solidFill>
                  <a:schemeClr val="tx1"/>
                </a:solidFill>
                <a:prstDash val="solid"/>
                <a:round/>
                <a:headEnd type="none" w="med" len="med"/>
                <a:tailEnd type="triangle" w="med" len="med"/>
              </a:ln>
            </p:spPr>
          </p:sp>
          <p:sp>
            <p:nvSpPr>
              <p:cNvPr id="26640" name="Rectangle 14"/>
              <p:cNvSpPr/>
              <p:nvPr/>
            </p:nvSpPr>
            <p:spPr>
              <a:xfrm>
                <a:off x="317" y="227"/>
                <a:ext cx="816" cy="635"/>
              </a:xfrm>
              <a:prstGeom prst="rect">
                <a:avLst/>
              </a:prstGeom>
              <a:solidFill>
                <a:srgbClr val="C0FCE9"/>
              </a:solidFill>
              <a:ln w="9525" cap="flat" cmpd="sng">
                <a:solidFill>
                  <a:srgbClr val="000099"/>
                </a:solidFill>
                <a:prstDash val="solid"/>
                <a:miter/>
                <a:headEnd type="none" w="med" len="med"/>
                <a:tailEnd type="none" w="med" len="med"/>
              </a:ln>
            </p:spPr>
            <p:txBody>
              <a:bodyPr anchor="t"/>
              <a:lstStyle/>
              <a:p>
                <a:pPr lvl="0" indent="0"/>
                <a:r>
                  <a:rPr lang="zh-CN" altLang="en-US" sz="2000" dirty="0">
                    <a:solidFill>
                      <a:srgbClr val="000000"/>
                    </a:solidFill>
                    <a:latin typeface="Times New Roman" panose="02020603050405020304" pitchFamily="2" charset="0"/>
                    <a:ea typeface="宋体" panose="02010600030101010101" pitchFamily="2" charset="-122"/>
                  </a:rPr>
                  <a:t>定义角色（</a:t>
                </a:r>
                <a:r>
                  <a:rPr lang="en-US" altLang="x-none" sz="2000" dirty="0">
                    <a:solidFill>
                      <a:srgbClr val="000000"/>
                    </a:solidFill>
                    <a:latin typeface="Times New Roman" panose="02020603050405020304" pitchFamily="2" charset="0"/>
                    <a:ea typeface="宋体" panose="02010600030101010101" pitchFamily="2" charset="-122"/>
                  </a:rPr>
                  <a:t>role)</a:t>
                </a:r>
                <a:r>
                  <a:rPr lang="en-US" altLang="x-none" sz="2400" dirty="0">
                    <a:solidFill>
                      <a:srgbClr val="000000"/>
                    </a:solidFill>
                    <a:latin typeface="Times New Roman" panose="02020603050405020304" pitchFamily="2" charset="0"/>
                    <a:ea typeface="宋体" panose="02010600030101010101" pitchFamily="2" charset="-122"/>
                  </a:rPr>
                  <a:t> </a:t>
                </a:r>
                <a:endParaRPr lang="en-US" altLang="x-none" sz="2400" dirty="0">
                  <a:latin typeface="Times New Roman" panose="02020603050405020304" pitchFamily="2" charset="0"/>
                  <a:ea typeface="宋体" panose="02010600030101010101" pitchFamily="2" charset="-122"/>
                </a:endParaRPr>
              </a:p>
            </p:txBody>
          </p:sp>
        </p:grpSp>
        <p:sp>
          <p:nvSpPr>
            <p:cNvPr id="26641" name="Rectangle 19"/>
            <p:cNvSpPr/>
            <p:nvPr/>
          </p:nvSpPr>
          <p:spPr>
            <a:xfrm>
              <a:off x="3810" y="680"/>
              <a:ext cx="953" cy="227"/>
            </a:xfrm>
            <a:prstGeom prst="rect">
              <a:avLst/>
            </a:prstGeom>
            <a:solidFill>
              <a:srgbClr val="E6F7FA"/>
            </a:solidFill>
            <a:ln w="9525" cap="flat" cmpd="sng">
              <a:solidFill>
                <a:srgbClr val="000099"/>
              </a:solidFill>
              <a:prstDash val="solid"/>
              <a:miter/>
              <a:headEnd type="none" w="med" len="med"/>
              <a:tailEnd type="none" w="med" len="med"/>
            </a:ln>
          </p:spPr>
          <p:txBody>
            <a:bodyPr anchor="t"/>
            <a:lstStyle/>
            <a:p>
              <a:pPr lvl="0" indent="0" algn="ctr"/>
              <a:r>
                <a:rPr lang="en-US" altLang="x-none" dirty="0">
                  <a:solidFill>
                    <a:srgbClr val="000000"/>
                  </a:solidFill>
                  <a:latin typeface="宋体" panose="02010600030101010101" pitchFamily="2" charset="-122"/>
                  <a:ea typeface="宋体" panose="02010600030101010101" pitchFamily="2" charset="-122"/>
                </a:rPr>
                <a:t>SQL</a:t>
              </a:r>
              <a:r>
                <a:rPr lang="zh-CN" altLang="en-US" dirty="0">
                  <a:solidFill>
                    <a:srgbClr val="000000"/>
                  </a:solidFill>
                  <a:latin typeface="宋体" panose="02010600030101010101" pitchFamily="2" charset="-122"/>
                  <a:ea typeface="宋体" panose="02010600030101010101" pitchFamily="2" charset="-122"/>
                </a:rPr>
                <a:t>使用授权</a:t>
              </a:r>
              <a:endParaRPr lang="zh-CN" altLang="en-US" dirty="0">
                <a:latin typeface="宋体" panose="02010600030101010101" pitchFamily="2" charset="-122"/>
                <a:ea typeface="宋体" panose="02010600030101010101" pitchFamily="2" charset="-122"/>
              </a:endParaRPr>
            </a:p>
          </p:txBody>
        </p:sp>
        <p:sp>
          <p:nvSpPr>
            <p:cNvPr id="26642" name="Rectangle 20"/>
            <p:cNvSpPr/>
            <p:nvPr/>
          </p:nvSpPr>
          <p:spPr>
            <a:xfrm>
              <a:off x="3810" y="998"/>
              <a:ext cx="953" cy="227"/>
            </a:xfrm>
            <a:prstGeom prst="rect">
              <a:avLst/>
            </a:prstGeom>
            <a:solidFill>
              <a:srgbClr val="E6F7FA"/>
            </a:solidFill>
            <a:ln w="9525" cap="flat" cmpd="sng">
              <a:solidFill>
                <a:srgbClr val="000099"/>
              </a:solidFill>
              <a:prstDash val="solid"/>
              <a:miter/>
              <a:headEnd type="none" w="med" len="med"/>
              <a:tailEnd type="none" w="med" len="med"/>
            </a:ln>
          </p:spPr>
          <p:txBody>
            <a:bodyPr anchor="t"/>
            <a:lstStyle/>
            <a:p>
              <a:pPr lvl="0" indent="0" algn="ctr"/>
              <a:r>
                <a:rPr lang="en-US" altLang="x-none" dirty="0">
                  <a:solidFill>
                    <a:srgbClr val="000000"/>
                  </a:solidFill>
                  <a:latin typeface="宋体" panose="02010600030101010101" pitchFamily="2" charset="-122"/>
                  <a:ea typeface="宋体" panose="02010600030101010101" pitchFamily="2" charset="-122"/>
                </a:rPr>
                <a:t>DB</a:t>
              </a:r>
              <a:r>
                <a:rPr lang="zh-CN" altLang="en-US" dirty="0">
                  <a:solidFill>
                    <a:srgbClr val="000000"/>
                  </a:solidFill>
                  <a:latin typeface="宋体" panose="02010600030101010101" pitchFamily="2" charset="-122"/>
                  <a:ea typeface="宋体" panose="02010600030101010101" pitchFamily="2" charset="-122"/>
                </a:rPr>
                <a:t>对象授权</a:t>
              </a:r>
              <a:endParaRPr lang="zh-CN" altLang="en-US" dirty="0">
                <a:latin typeface="宋体" panose="02010600030101010101" pitchFamily="2" charset="-122"/>
                <a:ea typeface="宋体" panose="02010600030101010101" pitchFamily="2" charset="-122"/>
              </a:endParaRPr>
            </a:p>
          </p:txBody>
        </p:sp>
        <p:grpSp>
          <p:nvGrpSpPr>
            <p:cNvPr id="26643" name="Group 21"/>
            <p:cNvGrpSpPr/>
            <p:nvPr/>
          </p:nvGrpSpPr>
          <p:grpSpPr>
            <a:xfrm>
              <a:off x="3266" y="816"/>
              <a:ext cx="544" cy="614"/>
              <a:chOff x="0" y="0"/>
              <a:chExt cx="544" cy="614"/>
            </a:xfrm>
          </p:grpSpPr>
          <p:sp>
            <p:nvSpPr>
              <p:cNvPr id="26644" name="Line 22"/>
              <p:cNvSpPr/>
              <p:nvPr/>
            </p:nvSpPr>
            <p:spPr>
              <a:xfrm>
                <a:off x="181" y="0"/>
                <a:ext cx="363" cy="0"/>
              </a:xfrm>
              <a:prstGeom prst="line">
                <a:avLst/>
              </a:prstGeom>
              <a:ln w="28575" cap="flat" cmpd="sng">
                <a:solidFill>
                  <a:schemeClr val="tx1"/>
                </a:solidFill>
                <a:prstDash val="solid"/>
                <a:round/>
                <a:headEnd type="none" w="med" len="med"/>
                <a:tailEnd type="triangle" w="med" len="med"/>
              </a:ln>
            </p:spPr>
          </p:sp>
          <p:sp>
            <p:nvSpPr>
              <p:cNvPr id="26645" name="Line 23"/>
              <p:cNvSpPr/>
              <p:nvPr/>
            </p:nvSpPr>
            <p:spPr>
              <a:xfrm>
                <a:off x="227" y="0"/>
                <a:ext cx="0" cy="272"/>
              </a:xfrm>
              <a:prstGeom prst="line">
                <a:avLst/>
              </a:prstGeom>
              <a:ln w="28575" cap="flat" cmpd="sng">
                <a:solidFill>
                  <a:schemeClr val="tx1"/>
                </a:solidFill>
                <a:prstDash val="solid"/>
                <a:round/>
                <a:headEnd type="none" w="med" len="med"/>
                <a:tailEnd type="none" w="med" len="med"/>
              </a:ln>
            </p:spPr>
          </p:sp>
          <p:sp>
            <p:nvSpPr>
              <p:cNvPr id="26646" name="Line 24"/>
              <p:cNvSpPr/>
              <p:nvPr/>
            </p:nvSpPr>
            <p:spPr>
              <a:xfrm>
                <a:off x="227" y="272"/>
                <a:ext cx="317" cy="0"/>
              </a:xfrm>
              <a:prstGeom prst="line">
                <a:avLst/>
              </a:prstGeom>
              <a:ln w="28575" cap="flat" cmpd="sng">
                <a:solidFill>
                  <a:schemeClr val="tx1"/>
                </a:solidFill>
                <a:prstDash val="solid"/>
                <a:round/>
                <a:headEnd type="none" w="med" len="med"/>
                <a:tailEnd type="triangle" w="med" len="med"/>
              </a:ln>
            </p:spPr>
          </p:sp>
          <p:sp>
            <p:nvSpPr>
              <p:cNvPr id="26647" name="Rectangle 25"/>
              <p:cNvSpPr/>
              <p:nvPr/>
            </p:nvSpPr>
            <p:spPr>
              <a:xfrm>
                <a:off x="0" y="316"/>
                <a:ext cx="495" cy="298"/>
              </a:xfrm>
              <a:prstGeom prst="rect">
                <a:avLst/>
              </a:prstGeom>
              <a:noFill/>
              <a:ln w="9525">
                <a:noFill/>
              </a:ln>
            </p:spPr>
            <p:txBody>
              <a:bodyPr wrap="none" lIns="90000" tIns="46800" rIns="90000" bIns="46800" anchor="t">
                <a:spAutoFit/>
              </a:bodyPr>
              <a:lstStyle/>
              <a:p>
                <a:pPr lvl="0" indent="0"/>
                <a:r>
                  <a:rPr lang="zh-CN" altLang="en-US" sz="2000" dirty="0">
                    <a:solidFill>
                      <a:srgbClr val="CC0000"/>
                    </a:solidFill>
                    <a:latin typeface="宋体" panose="02010600030101010101" pitchFamily="2" charset="-122"/>
                    <a:ea typeface="宋体" panose="02010600030101010101" pitchFamily="2" charset="-122"/>
                  </a:rPr>
                  <a:t>授权 </a:t>
                </a:r>
                <a:endParaRPr lang="zh-CN" altLang="en-US" sz="2000" dirty="0">
                  <a:solidFill>
                    <a:srgbClr val="CC0000"/>
                  </a:solidFill>
                  <a:latin typeface="宋体" panose="02010600030101010101" pitchFamily="2" charset="-122"/>
                  <a:ea typeface="宋体" panose="02010600030101010101" pitchFamily="2" charset="-122"/>
                </a:endParaRPr>
              </a:p>
            </p:txBody>
          </p:sp>
        </p:grpSp>
      </p:grpSp>
      <p:sp>
        <p:nvSpPr>
          <p:cNvPr id="26648" name="Rectangle 2"/>
          <p:cNvSpPr/>
          <p:nvPr/>
        </p:nvSpPr>
        <p:spPr>
          <a:xfrm>
            <a:off x="457200" y="68263"/>
            <a:ext cx="8229600" cy="692150"/>
          </a:xfrm>
          <a:prstGeom prst="rect">
            <a:avLst/>
          </a:prstGeom>
          <a:noFill/>
          <a:ln w="9525">
            <a:noFill/>
          </a:ln>
        </p:spPr>
        <p:txBody>
          <a:bodyPr anchor="ctr"/>
          <a:lstStyle/>
          <a:p>
            <a:pPr lvl="0" indent="0"/>
            <a:r>
              <a:rPr lang="zh-CN" altLang="en-US" sz="3200" dirty="0">
                <a:solidFill>
                  <a:srgbClr val="FF0000"/>
                </a:solidFill>
                <a:latin typeface="Arial" panose="020B0604020202020204" pitchFamily="34" charset="0"/>
                <a:ea typeface="黑体" panose="02010609060101010101" pitchFamily="1" charset="-122"/>
              </a:rPr>
              <a:t>二、数据库的安全性</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26649" name="Rectangle 2"/>
          <p:cNvSpPr txBox="1"/>
          <p:nvPr/>
        </p:nvSpPr>
        <p:spPr>
          <a:xfrm>
            <a:off x="536575" y="712788"/>
            <a:ext cx="5689600" cy="576262"/>
          </a:xfrm>
          <a:prstGeom prst="rect">
            <a:avLst/>
          </a:prstGeom>
          <a:noFill/>
          <a:ln w="9525">
            <a:noFill/>
          </a:ln>
        </p:spPr>
        <p:txBody>
          <a:bodyPr anchor="t"/>
          <a:lstStyle/>
          <a:p>
            <a:pPr marL="457200" lvl="0" indent="-457200" defTabSz="0">
              <a:lnSpc>
                <a:spcPct val="135000"/>
              </a:lnSpc>
              <a:tabLst>
                <a:tab pos="1428750" algn="l"/>
              </a:tabLst>
            </a:pPr>
            <a:r>
              <a:rPr lang="en-US" altLang="x-none" sz="2800" dirty="0">
                <a:solidFill>
                  <a:srgbClr val="0033CC"/>
                </a:solidFill>
                <a:latin typeface="黑体" panose="02010609060101010101" pitchFamily="1" charset="-122"/>
                <a:ea typeface="黑体" panose="02010609060101010101" pitchFamily="1" charset="-122"/>
              </a:rPr>
              <a:t>3.</a:t>
            </a:r>
            <a:r>
              <a:rPr lang="en-US" altLang="x-none" sz="2800" dirty="0">
                <a:solidFill>
                  <a:srgbClr val="CC3300"/>
                </a:solidFill>
                <a:latin typeface="Times New Roman" panose="02020603050405020304" pitchFamily="2" charset="0"/>
                <a:ea typeface="宋体" panose="02010600030101010101" pitchFamily="2" charset="-122"/>
              </a:rPr>
              <a:t> </a:t>
            </a:r>
            <a:r>
              <a:rPr lang="en-US" altLang="x-none" sz="2800" dirty="0">
                <a:solidFill>
                  <a:srgbClr val="0033CC"/>
                </a:solidFill>
                <a:latin typeface="黑体" panose="02010609060101010101" pitchFamily="1" charset="-122"/>
                <a:ea typeface="黑体" panose="02010609060101010101" pitchFamily="1" charset="-122"/>
              </a:rPr>
              <a:t>SQL SERVER</a:t>
            </a:r>
            <a:r>
              <a:rPr lang="zh-CN" altLang="en-US" sz="2800" dirty="0">
                <a:solidFill>
                  <a:srgbClr val="0033CC"/>
                </a:solidFill>
                <a:latin typeface="黑体" panose="02010609060101010101" pitchFamily="1" charset="-122"/>
                <a:ea typeface="黑体" panose="02010609060101010101" pitchFamily="1" charset="-122"/>
              </a:rPr>
              <a:t>安全体系</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26650" name="矩形 29"/>
          <p:cNvSpPr/>
          <p:nvPr/>
        </p:nvSpPr>
        <p:spPr>
          <a:xfrm>
            <a:off x="382588" y="1284288"/>
            <a:ext cx="4321810" cy="457200"/>
          </a:xfrm>
          <a:prstGeom prst="rect">
            <a:avLst/>
          </a:prstGeom>
          <a:noFill/>
          <a:ln w="9525">
            <a:noFill/>
          </a:ln>
        </p:spPr>
        <p:txBody>
          <a:bodyPr wrap="none" anchor="t">
            <a:spAutoFit/>
          </a:bodyPr>
          <a:lstStyle/>
          <a:p>
            <a:pPr lvl="0" indent="0"/>
            <a:r>
              <a:rPr lang="zh-CN" altLang="en-US" sz="2400" dirty="0">
                <a:solidFill>
                  <a:srgbClr val="0033CC"/>
                </a:solidFill>
                <a:latin typeface="宋体" panose="02010600030101010101" pitchFamily="2" charset="-122"/>
                <a:ea typeface="宋体" panose="02010600030101010101" pitchFamily="2" charset="-122"/>
              </a:rPr>
              <a:t>（</a:t>
            </a:r>
            <a:r>
              <a:rPr lang="en-US" altLang="x-none" sz="2400" dirty="0">
                <a:solidFill>
                  <a:srgbClr val="0033CC"/>
                </a:solidFill>
                <a:latin typeface="宋体" panose="02010600030101010101" pitchFamily="2" charset="-122"/>
                <a:ea typeface="宋体" panose="02010600030101010101" pitchFamily="2" charset="-122"/>
              </a:rPr>
              <a:t>4</a:t>
            </a:r>
            <a:r>
              <a:rPr lang="zh-CN" altLang="en-US" sz="2400" dirty="0">
                <a:solidFill>
                  <a:srgbClr val="0033CC"/>
                </a:solidFill>
                <a:latin typeface="宋体" panose="02010600030101010101" pitchFamily="2" charset="-122"/>
                <a:ea typeface="宋体" panose="02010600030101010101" pitchFamily="2" charset="-122"/>
              </a:rPr>
              <a:t>）</a:t>
            </a:r>
            <a:r>
              <a:rPr lang="en-US" altLang="x-none" sz="2400" dirty="0">
                <a:solidFill>
                  <a:srgbClr val="0033CC"/>
                </a:solidFill>
                <a:latin typeface="宋体" panose="02010600030101010101" pitchFamily="2" charset="-122"/>
                <a:ea typeface="宋体" panose="02010600030101010101" pitchFamily="2" charset="-122"/>
              </a:rPr>
              <a:t>SQL SERVER</a:t>
            </a:r>
            <a:r>
              <a:rPr lang="zh-CN" altLang="en-US" sz="2400" dirty="0">
                <a:solidFill>
                  <a:srgbClr val="0033CC"/>
                </a:solidFill>
                <a:latin typeface="宋体" panose="02010600030101010101" pitchFamily="2" charset="-122"/>
                <a:ea typeface="宋体" panose="02010600030101010101" pitchFamily="2" charset="-122"/>
              </a:rPr>
              <a:t>中的系统角色</a:t>
            </a:r>
            <a:endParaRPr lang="zh-CN" altLang="en-US" sz="2400" dirty="0">
              <a:solidFill>
                <a:srgbClr val="0033CC"/>
              </a:solidFill>
              <a:latin typeface="宋体" panose="02010600030101010101" pitchFamily="2" charset="-122"/>
              <a:ea typeface="宋体" panose="02010600030101010101" pitchFamily="2" charset="-122"/>
            </a:endParaRPr>
          </a:p>
        </p:txBody>
      </p:sp>
      <p:sp>
        <p:nvSpPr>
          <p:cNvPr id="27676" name="矩形 30"/>
          <p:cNvSpPr/>
          <p:nvPr/>
        </p:nvSpPr>
        <p:spPr>
          <a:xfrm>
            <a:off x="2835275" y="3063875"/>
            <a:ext cx="2087563" cy="1008063"/>
          </a:xfrm>
          <a:prstGeom prst="rect">
            <a:avLst/>
          </a:prstGeom>
          <a:noFill/>
          <a:ln w="66675" cap="flat" cmpd="sng">
            <a:solidFill>
              <a:srgbClr val="0033CC"/>
            </a:solidFill>
            <a:prstDash val="dash"/>
            <a:miter/>
            <a:headEnd type="none" w="med" len="med"/>
            <a:tailEnd type="none" w="med" len="med"/>
          </a:ln>
        </p:spPr>
        <p:txBody>
          <a:bodyPr anchor="ctr">
            <a:spAutoFit/>
          </a:bodyPr>
          <a:lstStyle/>
          <a:p>
            <a:pPr marL="262255" lvl="0" indent="-262255" eaLnBrk="1" fontAlgn="base" hangingPunct="1">
              <a:lnSpc>
                <a:spcPct val="135000"/>
              </a:lnSpc>
              <a:buBlip>
                <a:blip r:embed="rId1"/>
              </a:buBlip>
            </a:pPr>
            <a:endParaRPr lang="zh-CN" altLang="en-US"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sp>
        <p:nvSpPr>
          <p:cNvPr id="27677" name="Rectangle 26"/>
          <p:cNvSpPr/>
          <p:nvPr/>
        </p:nvSpPr>
        <p:spPr>
          <a:xfrm>
            <a:off x="530225" y="2659063"/>
            <a:ext cx="8275638" cy="3505200"/>
          </a:xfrm>
          <a:prstGeom prst="rect">
            <a:avLst/>
          </a:prstGeom>
          <a:solidFill>
            <a:schemeClr val="bg1"/>
          </a:solidFill>
          <a:ln w="9525" cap="flat" cmpd="sng">
            <a:solidFill>
              <a:schemeClr val="tx1"/>
            </a:solidFill>
            <a:prstDash val="solid"/>
            <a:miter/>
            <a:headEnd type="none" w="med" len="med"/>
            <a:tailEnd type="none" w="med" len="med"/>
          </a:ln>
        </p:spPr>
        <p:txBody>
          <a:bodyPr lIns="90000" tIns="46800" rIns="90000" bIns="46800" anchor="ctr"/>
          <a:lstStyle/>
          <a:p>
            <a:pPr marL="457200" lvl="0" indent="-457200">
              <a:lnSpc>
                <a:spcPct val="120000"/>
              </a:lnSpc>
              <a:buAutoNum type="arabicPeriod"/>
            </a:pPr>
            <a:r>
              <a:rPr lang="en-US" altLang="x-none" sz="2200" dirty="0">
                <a:latin typeface="华文楷体" panose="02010600040101010101" pitchFamily="2" charset="-122"/>
                <a:ea typeface="华文楷体" panose="02010600040101010101" pitchFamily="2" charset="-122"/>
              </a:rPr>
              <a:t>SQL Server</a:t>
            </a:r>
            <a:r>
              <a:rPr lang="zh-CN" altLang="en-US" sz="2200" dirty="0">
                <a:latin typeface="华文楷体" panose="02010600040101010101" pitchFamily="2" charset="-122"/>
                <a:ea typeface="华文楷体" panose="02010600040101010101" pitchFamily="2" charset="-122"/>
              </a:rPr>
              <a:t>在安装时，会自动创建一些系统角色。又分为</a:t>
            </a:r>
            <a:endParaRPr lang="zh-CN" altLang="en-US" sz="2200" dirty="0">
              <a:latin typeface="华文楷体" panose="02010600040101010101" pitchFamily="2" charset="-122"/>
              <a:ea typeface="华文楷体" panose="02010600040101010101" pitchFamily="2" charset="-122"/>
            </a:endParaRPr>
          </a:p>
          <a:p>
            <a:pPr marL="914400" lvl="1" indent="-457200">
              <a:lnSpc>
                <a:spcPct val="120000"/>
              </a:lnSpc>
            </a:pPr>
            <a:r>
              <a:rPr lang="en-US" altLang="x-none" sz="2200" dirty="0">
                <a:solidFill>
                  <a:srgbClr val="FF0000"/>
                </a:solidFill>
                <a:latin typeface="华文楷体" panose="02010600040101010101" pitchFamily="2" charset="-122"/>
                <a:ea typeface="华文楷体" panose="02010600040101010101" pitchFamily="2" charset="-122"/>
              </a:rPr>
              <a:t>--</a:t>
            </a:r>
            <a:r>
              <a:rPr lang="zh-CN" altLang="en-US" sz="2200" dirty="0">
                <a:solidFill>
                  <a:srgbClr val="FF0000"/>
                </a:solidFill>
                <a:latin typeface="华文楷体" panose="02010600040101010101" pitchFamily="2" charset="-122"/>
                <a:ea typeface="华文楷体" panose="02010600040101010101" pitchFamily="2" charset="-122"/>
              </a:rPr>
              <a:t>服务器级的系统角色 ：</a:t>
            </a:r>
            <a:r>
              <a:rPr lang="en-US" altLang="x-none" sz="2200" dirty="0">
                <a:latin typeface="华文楷体" panose="02010600040101010101" pitchFamily="2" charset="-122"/>
                <a:ea typeface="华文楷体" panose="02010600040101010101" pitchFamily="2" charset="-122"/>
                <a:sym typeface="+mn-ea"/>
              </a:rPr>
              <a:t>sysadmin,securityadmin,</a:t>
            </a:r>
            <a:endParaRPr lang="en-US" altLang="x-none" sz="2200" dirty="0">
              <a:latin typeface="华文楷体" panose="02010600040101010101" pitchFamily="2" charset="-122"/>
              <a:ea typeface="华文楷体" panose="02010600040101010101" pitchFamily="2" charset="-122"/>
              <a:sym typeface="+mn-ea"/>
            </a:endParaRPr>
          </a:p>
          <a:p>
            <a:pPr marL="914400" lvl="1" indent="-457200">
              <a:lnSpc>
                <a:spcPct val="120000"/>
              </a:lnSpc>
            </a:pPr>
            <a:r>
              <a:rPr lang="en-US" altLang="x-none" sz="2200" dirty="0">
                <a:latin typeface="华文楷体" panose="02010600040101010101" pitchFamily="2" charset="-122"/>
                <a:ea typeface="华文楷体" panose="02010600040101010101" pitchFamily="2" charset="-122"/>
                <a:sym typeface="+mn-ea"/>
              </a:rPr>
              <a:t>                              </a:t>
            </a:r>
            <a:r>
              <a:rPr lang="en-US" altLang="x-none" sz="2200" dirty="0">
                <a:latin typeface="华文楷体" panose="02010600040101010101" pitchFamily="2" charset="-122"/>
                <a:ea typeface="华文楷体" panose="02010600040101010101" pitchFamily="2" charset="-122"/>
              </a:rPr>
              <a:t>Serveradmin,diskadmin…</a:t>
            </a:r>
            <a:endParaRPr lang="en-US" altLang="x-none" sz="2200" dirty="0">
              <a:latin typeface="华文楷体" panose="02010600040101010101" pitchFamily="2" charset="-122"/>
              <a:ea typeface="华文楷体" panose="02010600040101010101" pitchFamily="2" charset="-122"/>
            </a:endParaRPr>
          </a:p>
          <a:p>
            <a:pPr marL="914400" lvl="1" indent="-457200">
              <a:lnSpc>
                <a:spcPct val="120000"/>
              </a:lnSpc>
            </a:pPr>
            <a:r>
              <a:rPr lang="en-US" altLang="x-none" sz="2200" dirty="0">
                <a:solidFill>
                  <a:srgbClr val="FF0000"/>
                </a:solidFill>
                <a:latin typeface="华文楷体" panose="02010600040101010101" pitchFamily="2" charset="-122"/>
                <a:ea typeface="华文楷体" panose="02010600040101010101" pitchFamily="2" charset="-122"/>
              </a:rPr>
              <a:t>--</a:t>
            </a:r>
            <a:r>
              <a:rPr lang="zh-CN" altLang="en-US" sz="2200" dirty="0">
                <a:solidFill>
                  <a:srgbClr val="FF0000"/>
                </a:solidFill>
                <a:latin typeface="华文楷体" panose="02010600040101010101" pitchFamily="2" charset="-122"/>
                <a:ea typeface="华文楷体" panose="02010600040101010101" pitchFamily="2" charset="-122"/>
              </a:rPr>
              <a:t>数据库级角色：</a:t>
            </a:r>
            <a:r>
              <a:rPr lang="en-US" altLang="x-none" sz="2200" dirty="0">
                <a:latin typeface="华文楷体" panose="02010600040101010101" pitchFamily="2" charset="-122"/>
                <a:ea typeface="华文楷体" panose="02010600040101010101" pitchFamily="2" charset="-122"/>
              </a:rPr>
              <a:t>public, dbo</a:t>
            </a:r>
            <a:endParaRPr lang="en-US" altLang="x-none" sz="2200" dirty="0">
              <a:latin typeface="华文楷体" panose="02010600040101010101" pitchFamily="2" charset="-122"/>
              <a:ea typeface="华文楷体" panose="02010600040101010101" pitchFamily="2" charset="-122"/>
            </a:endParaRPr>
          </a:p>
          <a:p>
            <a:pPr marL="914400" lvl="1" indent="-457200">
              <a:lnSpc>
                <a:spcPct val="120000"/>
              </a:lnSpc>
            </a:pPr>
            <a:r>
              <a:rPr lang="en-US" altLang="x-none" sz="2200" dirty="0">
                <a:latin typeface="华文楷体" panose="02010600040101010101" pitchFamily="2" charset="-122"/>
                <a:ea typeface="华文楷体" panose="02010600040101010101" pitchFamily="2" charset="-122"/>
              </a:rPr>
              <a:t>① </a:t>
            </a:r>
            <a:r>
              <a:rPr lang="zh-CN" altLang="en-US" sz="2200" dirty="0">
                <a:latin typeface="华文楷体" panose="02010600040101010101" pitchFamily="2" charset="-122"/>
                <a:ea typeface="华文楷体" panose="02010600040101010101" pitchFamily="2" charset="-122"/>
              </a:rPr>
              <a:t>以上系统角色的权限是固定的。 </a:t>
            </a:r>
            <a:endParaRPr lang="zh-CN" altLang="en-US" sz="2200" dirty="0">
              <a:latin typeface="华文楷体" panose="02010600040101010101" pitchFamily="2" charset="-122"/>
              <a:ea typeface="华文楷体" panose="02010600040101010101" pitchFamily="2" charset="-122"/>
            </a:endParaRPr>
          </a:p>
          <a:p>
            <a:pPr marL="914400" lvl="1" indent="-457200">
              <a:lnSpc>
                <a:spcPct val="120000"/>
              </a:lnSpc>
            </a:pPr>
            <a:r>
              <a:rPr lang="zh-CN" altLang="en-US" sz="2200" dirty="0">
                <a:latin typeface="华文楷体" panose="02010600040101010101" pitchFamily="2" charset="-122"/>
                <a:ea typeface="华文楷体" panose="02010600040101010101" pitchFamily="2" charset="-122"/>
              </a:rPr>
              <a:t>② </a:t>
            </a:r>
            <a:r>
              <a:rPr lang="en-US" altLang="x-none" sz="2200" dirty="0">
                <a:latin typeface="华文楷体" panose="02010600040101010101" pitchFamily="2" charset="-122"/>
                <a:ea typeface="华文楷体" panose="02010600040101010101" pitchFamily="2" charset="-122"/>
              </a:rPr>
              <a:t>sa</a:t>
            </a:r>
            <a:r>
              <a:rPr lang="zh-CN" altLang="en-US" sz="2200" dirty="0">
                <a:latin typeface="华文楷体" panose="02010600040101010101" pitchFamily="2" charset="-122"/>
                <a:ea typeface="华文楷体" panose="02010600040101010101" pitchFamily="2" charset="-122"/>
              </a:rPr>
              <a:t>被自动分配为</a:t>
            </a:r>
            <a:r>
              <a:rPr lang="en-US" altLang="x-none" sz="2200" dirty="0">
                <a:latin typeface="华文楷体" panose="02010600040101010101" pitchFamily="2" charset="-122"/>
                <a:ea typeface="华文楷体" panose="02010600040101010101" pitchFamily="2" charset="-122"/>
              </a:rPr>
              <a:t>sysadmin</a:t>
            </a:r>
            <a:r>
              <a:rPr lang="zh-CN" altLang="en-US" sz="2200" dirty="0">
                <a:latin typeface="华文楷体" panose="02010600040101010101" pitchFamily="2" charset="-122"/>
                <a:ea typeface="华文楷体" panose="02010600040101010101" pitchFamily="2" charset="-122"/>
              </a:rPr>
              <a:t>角色。</a:t>
            </a:r>
            <a:endParaRPr lang="zh-CN" altLang="en-US" sz="2200" dirty="0">
              <a:latin typeface="华文楷体" panose="02010600040101010101" pitchFamily="2" charset="-122"/>
              <a:ea typeface="华文楷体" panose="02010600040101010101" pitchFamily="2" charset="-122"/>
            </a:endParaRPr>
          </a:p>
          <a:p>
            <a:pPr marL="914400" lvl="1" indent="-457200">
              <a:lnSpc>
                <a:spcPct val="120000"/>
              </a:lnSpc>
            </a:pPr>
            <a:r>
              <a:rPr lang="zh-CN" altLang="en-US" sz="2200" dirty="0">
                <a:latin typeface="华文楷体" panose="02010600040101010101" pitchFamily="2" charset="-122"/>
                <a:ea typeface="华文楷体" panose="02010600040101010101" pitchFamily="2" charset="-122"/>
              </a:rPr>
              <a:t>③ 数据库的用户自动分配为</a:t>
            </a:r>
            <a:r>
              <a:rPr lang="en-US" altLang="x-none" sz="2200" dirty="0">
                <a:latin typeface="华文楷体" panose="02010600040101010101" pitchFamily="2" charset="-122"/>
                <a:ea typeface="华文楷体" panose="02010600040101010101" pitchFamily="2" charset="-122"/>
              </a:rPr>
              <a:t>public</a:t>
            </a:r>
            <a:r>
              <a:rPr lang="zh-CN" altLang="en-US" sz="2200" dirty="0">
                <a:latin typeface="华文楷体" panose="02010600040101010101" pitchFamily="2" charset="-122"/>
                <a:ea typeface="华文楷体" panose="02010600040101010101" pitchFamily="2" charset="-122"/>
              </a:rPr>
              <a:t>角色。</a:t>
            </a:r>
            <a:endParaRPr lang="zh-CN" altLang="en-US" sz="2200" dirty="0">
              <a:latin typeface="华文楷体" panose="02010600040101010101" pitchFamily="2" charset="-122"/>
              <a:ea typeface="华文楷体" panose="02010600040101010101" pitchFamily="2" charset="-122"/>
            </a:endParaRPr>
          </a:p>
          <a:p>
            <a:pPr marL="914400" lvl="1" indent="-457200">
              <a:lnSpc>
                <a:spcPct val="120000"/>
              </a:lnSpc>
            </a:pPr>
            <a:r>
              <a:rPr lang="zh-CN" altLang="en-US" sz="2200" dirty="0">
                <a:latin typeface="华文楷体" panose="02010600040101010101" pitchFamily="2" charset="-122"/>
                <a:ea typeface="华文楷体" panose="02010600040101010101" pitchFamily="2" charset="-122"/>
              </a:rPr>
              <a:t>④ 创建数据库对象的用户自动分配为该对象的</a:t>
            </a:r>
            <a:r>
              <a:rPr lang="en-US" altLang="x-none" sz="2200" dirty="0">
                <a:latin typeface="华文楷体" panose="02010600040101010101" pitchFamily="2" charset="-122"/>
                <a:ea typeface="华文楷体" panose="02010600040101010101" pitchFamily="2" charset="-122"/>
              </a:rPr>
              <a:t>dbo</a:t>
            </a:r>
            <a:r>
              <a:rPr lang="zh-CN" altLang="en-US" sz="2200" dirty="0">
                <a:latin typeface="华文楷体" panose="02010600040101010101" pitchFamily="2" charset="-122"/>
                <a:ea typeface="华文楷体" panose="02010600040101010101" pitchFamily="2" charset="-122"/>
              </a:rPr>
              <a:t>角色。</a:t>
            </a:r>
            <a:endParaRPr lang="en-US" altLang="x-none" sz="2200" dirty="0">
              <a:latin typeface="华文楷体" panose="02010600040101010101" pitchFamily="2" charset="-122"/>
              <a:ea typeface="华文楷体" panose="02010600040101010101" pitchFamily="2" charset="-122"/>
            </a:endParaRPr>
          </a:p>
        </p:txBody>
      </p:sp>
      <p:sp>
        <p:nvSpPr>
          <p:cNvPr id="12295" name="Rectangle 3"/>
          <p:cNvSpPr txBox="1"/>
          <p:nvPr/>
        </p:nvSpPr>
        <p:spPr>
          <a:xfrm>
            <a:off x="4973955" y="161290"/>
            <a:ext cx="3841115" cy="507365"/>
          </a:xfrm>
          <a:prstGeom prst="rect">
            <a:avLst/>
          </a:prstGeom>
          <a:solidFill>
            <a:schemeClr val="accent1"/>
          </a:solidFill>
          <a:ln w="9525">
            <a:solidFill>
              <a:srgbClr val="3402C2"/>
            </a:solidFill>
            <a:prstDash val="dash"/>
          </a:ln>
        </p:spPr>
        <p:txBody>
          <a:bodyPr anchor="t"/>
          <a:lstStyle/>
          <a:p>
            <a:pPr marL="342900" lvl="0" indent="-342900" eaLnBrk="0" hangingPunct="0">
              <a:lnSpc>
                <a:spcPct val="120000"/>
              </a:lnSpc>
              <a:spcBef>
                <a:spcPct val="20000"/>
              </a:spcBef>
              <a:buClr>
                <a:srgbClr val="0033CC"/>
              </a:buClr>
              <a:buSzPct val="80000"/>
              <a:buFont typeface="Wingdings" panose="05000000000000000000" pitchFamily="2" charset="2"/>
              <a:buChar char="u"/>
            </a:pPr>
            <a:r>
              <a:rPr lang="zh-CN" sz="2400" dirty="0">
                <a:latin typeface="华文楷体" panose="02010600040101010101" pitchFamily="2" charset="-122"/>
                <a:ea typeface="宋体" panose="02010600030101010101" pitchFamily="2" charset="-122"/>
              </a:rPr>
              <a:t>进</a:t>
            </a:r>
            <a:r>
              <a:rPr lang="en-US" altLang="zh-CN" sz="2400" dirty="0">
                <a:latin typeface="华文楷体" panose="02010600040101010101" pitchFamily="2" charset="-122"/>
                <a:ea typeface="宋体" panose="02010600030101010101" pitchFamily="2" charset="-122"/>
              </a:rPr>
              <a:t>SQL Server</a:t>
            </a:r>
            <a:r>
              <a:rPr lang="zh-CN" altLang="zh-CN" sz="2400" dirty="0">
                <a:latin typeface="华文楷体" panose="02010600040101010101" pitchFamily="2" charset="-122"/>
                <a:ea typeface="宋体" panose="02010600030101010101" pitchFamily="2" charset="-122"/>
              </a:rPr>
              <a:t>的第三道门</a:t>
            </a:r>
            <a:endParaRPr lang="zh-CN" altLang="zh-CN" sz="2400" dirty="0">
              <a:latin typeface="华文楷体" panose="0201060004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676"/>
                                        </p:tgtEl>
                                        <p:attrNameLst>
                                          <p:attrName>style.visibility</p:attrName>
                                        </p:attrNameLst>
                                      </p:cBhvr>
                                      <p:to>
                                        <p:strVal val="visible"/>
                                      </p:to>
                                    </p:set>
                                    <p:anim calcmode="lin" valueType="num">
                                      <p:cBhvr>
                                        <p:cTn id="7" dur="500" fill="hold"/>
                                        <p:tgtEl>
                                          <p:spTgt spid="27676"/>
                                        </p:tgtEl>
                                        <p:attrNameLst>
                                          <p:attrName>ppt_x</p:attrName>
                                        </p:attrNameLst>
                                      </p:cBhvr>
                                      <p:tavLst>
                                        <p:tav tm="0">
                                          <p:val>
                                            <p:strVal val="#ppt_x"/>
                                          </p:val>
                                        </p:tav>
                                        <p:tav tm="100000">
                                          <p:val>
                                            <p:strVal val="#ppt_x"/>
                                          </p:val>
                                        </p:tav>
                                      </p:tavLst>
                                    </p:anim>
                                    <p:anim calcmode="lin" valueType="num">
                                      <p:cBhvr>
                                        <p:cTn id="8" dur="500" fill="hold"/>
                                        <p:tgtEl>
                                          <p:spTgt spid="2767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27677">
                                            <p:bg/>
                                          </p:spTgt>
                                        </p:tgtEl>
                                        <p:attrNameLst>
                                          <p:attrName>style.visibility</p:attrName>
                                        </p:attrNameLst>
                                      </p:cBhvr>
                                      <p:to>
                                        <p:strVal val="visible"/>
                                      </p:to>
                                    </p:set>
                                    <p:animEffect transition="in" filter="wipe(down)">
                                      <p:cBhvr>
                                        <p:cTn id="13" dur="500"/>
                                        <p:tgtEl>
                                          <p:spTgt spid="27677">
                                            <p:bg/>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27677">
                                            <p:txEl>
                                              <p:pRg st="0" end="0"/>
                                            </p:txEl>
                                          </p:spTgt>
                                        </p:tgtEl>
                                        <p:attrNameLst>
                                          <p:attrName>style.visibility</p:attrName>
                                        </p:attrNameLst>
                                      </p:cBhvr>
                                      <p:to>
                                        <p:strVal val="visible"/>
                                      </p:to>
                                    </p:set>
                                    <p:animEffect transition="in" filter="wipe(down)">
                                      <p:cBhvr>
                                        <p:cTn id="16" dur="500"/>
                                        <p:tgtEl>
                                          <p:spTgt spid="27677">
                                            <p:txEl>
                                              <p:pRg st="0" end="0"/>
                                            </p:txEl>
                                          </p:spTgt>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27677">
                                            <p:txEl>
                                              <p:pRg st="1" end="1"/>
                                            </p:txEl>
                                          </p:spTgt>
                                        </p:tgtEl>
                                        <p:attrNameLst>
                                          <p:attrName>style.visibility</p:attrName>
                                        </p:attrNameLst>
                                      </p:cBhvr>
                                      <p:to>
                                        <p:strVal val="visible"/>
                                      </p:to>
                                    </p:set>
                                    <p:animEffect transition="in" filter="wipe(down)">
                                      <p:cBhvr>
                                        <p:cTn id="19" dur="500"/>
                                        <p:tgtEl>
                                          <p:spTgt spid="27677">
                                            <p:txEl>
                                              <p:pRg st="1" end="1"/>
                                            </p:txEl>
                                          </p:spTgt>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27677">
                                            <p:txEl>
                                              <p:pRg st="2" end="2"/>
                                            </p:txEl>
                                          </p:spTgt>
                                        </p:tgtEl>
                                        <p:attrNameLst>
                                          <p:attrName>style.visibility</p:attrName>
                                        </p:attrNameLst>
                                      </p:cBhvr>
                                      <p:to>
                                        <p:strVal val="visible"/>
                                      </p:to>
                                    </p:set>
                                    <p:animEffect transition="in" filter="wipe(down)">
                                      <p:cBhvr>
                                        <p:cTn id="22" dur="500"/>
                                        <p:tgtEl>
                                          <p:spTgt spid="27677">
                                            <p:txEl>
                                              <p:pRg st="2" end="2"/>
                                            </p:txEl>
                                          </p:spTgt>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27677">
                                            <p:txEl>
                                              <p:pRg st="3" end="3"/>
                                            </p:txEl>
                                          </p:spTgt>
                                        </p:tgtEl>
                                        <p:attrNameLst>
                                          <p:attrName>style.visibility</p:attrName>
                                        </p:attrNameLst>
                                      </p:cBhvr>
                                      <p:to>
                                        <p:strVal val="visible"/>
                                      </p:to>
                                    </p:set>
                                    <p:animEffect transition="in" filter="wipe(down)">
                                      <p:cBhvr>
                                        <p:cTn id="25" dur="500"/>
                                        <p:tgtEl>
                                          <p:spTgt spid="27677">
                                            <p:txEl>
                                              <p:pRg st="3" end="3"/>
                                            </p:txEl>
                                          </p:spTgt>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27677">
                                            <p:txEl>
                                              <p:pRg st="4" end="4"/>
                                            </p:txEl>
                                          </p:spTgt>
                                        </p:tgtEl>
                                        <p:attrNameLst>
                                          <p:attrName>style.visibility</p:attrName>
                                        </p:attrNameLst>
                                      </p:cBhvr>
                                      <p:to>
                                        <p:strVal val="visible"/>
                                      </p:to>
                                    </p:set>
                                    <p:animEffect transition="in" filter="wipe(down)">
                                      <p:cBhvr>
                                        <p:cTn id="28" dur="500"/>
                                        <p:tgtEl>
                                          <p:spTgt spid="27677">
                                            <p:txEl>
                                              <p:pRg st="4" end="4"/>
                                            </p:txEl>
                                          </p:spTgt>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27677">
                                            <p:txEl>
                                              <p:pRg st="5" end="5"/>
                                            </p:txEl>
                                          </p:spTgt>
                                        </p:tgtEl>
                                        <p:attrNameLst>
                                          <p:attrName>style.visibility</p:attrName>
                                        </p:attrNameLst>
                                      </p:cBhvr>
                                      <p:to>
                                        <p:strVal val="visible"/>
                                      </p:to>
                                    </p:set>
                                    <p:animEffect transition="in" filter="wipe(down)">
                                      <p:cBhvr>
                                        <p:cTn id="31" dur="500"/>
                                        <p:tgtEl>
                                          <p:spTgt spid="27677">
                                            <p:txEl>
                                              <p:pRg st="5" end="5"/>
                                            </p:txEl>
                                          </p:spTgt>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27677">
                                            <p:txEl>
                                              <p:pRg st="6" end="6"/>
                                            </p:txEl>
                                          </p:spTgt>
                                        </p:tgtEl>
                                        <p:attrNameLst>
                                          <p:attrName>style.visibility</p:attrName>
                                        </p:attrNameLst>
                                      </p:cBhvr>
                                      <p:to>
                                        <p:strVal val="visible"/>
                                      </p:to>
                                    </p:set>
                                    <p:animEffect transition="in" filter="wipe(down)">
                                      <p:cBhvr>
                                        <p:cTn id="34" dur="500"/>
                                        <p:tgtEl>
                                          <p:spTgt spid="27677">
                                            <p:txEl>
                                              <p:pRg st="6" end="6"/>
                                            </p:txEl>
                                          </p:spTgt>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27677">
                                            <p:txEl>
                                              <p:pRg st="7" end="7"/>
                                            </p:txEl>
                                          </p:spTgt>
                                        </p:tgtEl>
                                        <p:attrNameLst>
                                          <p:attrName>style.visibility</p:attrName>
                                        </p:attrNameLst>
                                      </p:cBhvr>
                                      <p:to>
                                        <p:strVal val="visible"/>
                                      </p:to>
                                    </p:set>
                                    <p:animEffect transition="in" filter="wipe(down)">
                                      <p:cBhvr>
                                        <p:cTn id="37" dur="500"/>
                                        <p:tgtEl>
                                          <p:spTgt spid="2767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76" grpId="0" bldLvl="0" animBg="1"/>
      <p:bldP spid="27677" grpId="0" animBg="1" uiExpand="1" build="allAtOnce"/>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ext Box 2"/>
          <p:cNvSpPr txBox="1"/>
          <p:nvPr/>
        </p:nvSpPr>
        <p:spPr>
          <a:xfrm>
            <a:off x="536258" y="1774825"/>
            <a:ext cx="8172450" cy="4461510"/>
          </a:xfrm>
          <a:prstGeom prst="rect">
            <a:avLst/>
          </a:prstGeom>
          <a:noFill/>
          <a:ln w="9525">
            <a:noFill/>
          </a:ln>
        </p:spPr>
        <p:txBody>
          <a:bodyPr anchor="t">
            <a:spAutoFit/>
          </a:bodyPr>
          <a:lstStyle/>
          <a:p>
            <a:pPr lvl="0" indent="0">
              <a:spcBef>
                <a:spcPts val="600"/>
              </a:spcBef>
            </a:pPr>
            <a:r>
              <a:rPr lang="en-US" altLang="x-none" sz="2400" dirty="0">
                <a:latin typeface="华文楷体" panose="02010600040101010101" pitchFamily="2" charset="-122"/>
                <a:ea typeface="华文楷体" panose="02010600040101010101" pitchFamily="2" charset="-122"/>
              </a:rPr>
              <a:t>sp_addrole [ @rolename = ] ‘ </a:t>
            </a:r>
            <a:r>
              <a:rPr lang="zh-CN" altLang="en-US" sz="2400" dirty="0">
                <a:latin typeface="华文楷体" panose="02010600040101010101" pitchFamily="2" charset="-122"/>
                <a:ea typeface="华文楷体" panose="02010600040101010101" pitchFamily="2" charset="-122"/>
              </a:rPr>
              <a:t>新角色名’  </a:t>
            </a:r>
            <a:endParaRPr lang="zh-CN" altLang="en-US" sz="2400" dirty="0">
              <a:latin typeface="华文楷体" panose="02010600040101010101" pitchFamily="2" charset="-122"/>
              <a:ea typeface="华文楷体" panose="02010600040101010101" pitchFamily="2" charset="-122"/>
            </a:endParaRPr>
          </a:p>
          <a:p>
            <a:pPr lvl="0" indent="0">
              <a:spcBef>
                <a:spcPts val="600"/>
              </a:spcBef>
            </a:pPr>
            <a:r>
              <a:rPr lang="zh-CN" altLang="en-US" sz="2400" dirty="0">
                <a:latin typeface="华文楷体" panose="02010600040101010101" pitchFamily="2" charset="-122"/>
                <a:ea typeface="华文楷体" panose="02010600040101010101" pitchFamily="2" charset="-122"/>
              </a:rPr>
              <a:t>                     </a:t>
            </a:r>
            <a:r>
              <a:rPr lang="en-US" altLang="x-none" sz="2400" dirty="0">
                <a:latin typeface="华文楷体" panose="02010600040101010101" pitchFamily="2" charset="-122"/>
                <a:ea typeface="华文楷体" panose="02010600040101010101" pitchFamily="2" charset="-122"/>
              </a:rPr>
              <a:t>[ , [ @ownername = ] ‘</a:t>
            </a:r>
            <a:r>
              <a:rPr lang="zh-CN" altLang="en-US" sz="2400" dirty="0">
                <a:latin typeface="华文楷体" panose="02010600040101010101" pitchFamily="2" charset="-122"/>
                <a:ea typeface="华文楷体" panose="02010600040101010101" pitchFamily="2" charset="-122"/>
              </a:rPr>
              <a:t>该角色所有者’ </a:t>
            </a:r>
            <a:r>
              <a:rPr lang="en-US" altLang="x-none" sz="2400" dirty="0">
                <a:latin typeface="华文楷体" panose="02010600040101010101" pitchFamily="2" charset="-122"/>
                <a:ea typeface="华文楷体" panose="02010600040101010101" pitchFamily="2" charset="-122"/>
              </a:rPr>
              <a:t>]</a:t>
            </a:r>
            <a:endParaRPr lang="en-US" altLang="x-none" sz="2400" dirty="0">
              <a:latin typeface="华文楷体" panose="02010600040101010101" pitchFamily="2" charset="-122"/>
              <a:ea typeface="华文楷体" panose="02010600040101010101" pitchFamily="2" charset="-122"/>
            </a:endParaRPr>
          </a:p>
          <a:p>
            <a:pPr lvl="0" indent="0">
              <a:spcBef>
                <a:spcPts val="300"/>
              </a:spcBef>
            </a:pPr>
            <a:r>
              <a:rPr lang="en-US" altLang="x-none" sz="2400" dirty="0">
                <a:solidFill>
                  <a:srgbClr val="FF0000"/>
                </a:solidFill>
                <a:latin typeface="华文楷体" panose="02010600040101010101" pitchFamily="2" charset="-122"/>
                <a:ea typeface="华文楷体" panose="02010600040101010101" pitchFamily="2" charset="-122"/>
              </a:rPr>
              <a:t>sp_addrole 'Student','DBO' </a:t>
            </a:r>
            <a:endParaRPr lang="en-US" altLang="x-none" sz="2400" dirty="0">
              <a:solidFill>
                <a:srgbClr val="FF0000"/>
              </a:solidFill>
              <a:latin typeface="华文楷体" panose="02010600040101010101" pitchFamily="2" charset="-122"/>
              <a:ea typeface="华文楷体" panose="02010600040101010101" pitchFamily="2" charset="-122"/>
            </a:endParaRPr>
          </a:p>
          <a:p>
            <a:pPr lvl="0" indent="0">
              <a:spcBef>
                <a:spcPts val="300"/>
              </a:spcBef>
            </a:pPr>
            <a:r>
              <a:rPr lang="en-US" altLang="x-none" sz="2400" dirty="0">
                <a:solidFill>
                  <a:srgbClr val="006600"/>
                </a:solidFill>
                <a:latin typeface="华文楷体" panose="02010600040101010101" pitchFamily="2" charset="-122"/>
                <a:ea typeface="华文楷体" panose="02010600040101010101" pitchFamily="2" charset="-122"/>
              </a:rPr>
              <a:t>--</a:t>
            </a:r>
            <a:r>
              <a:rPr lang="zh-CN" altLang="en-US" sz="2400" dirty="0">
                <a:solidFill>
                  <a:srgbClr val="006600"/>
                </a:solidFill>
                <a:latin typeface="华文楷体" panose="02010600040101010101" pitchFamily="2" charset="-122"/>
                <a:ea typeface="华文楷体" panose="02010600040101010101" pitchFamily="2" charset="-122"/>
              </a:rPr>
              <a:t>默认情况下，创建用户角色的用户为该角色的所有者。</a:t>
            </a:r>
            <a:endParaRPr lang="en-US" altLang="x-none" sz="2400" dirty="0">
              <a:solidFill>
                <a:srgbClr val="006600"/>
              </a:solidFill>
              <a:latin typeface="华文楷体" panose="02010600040101010101" pitchFamily="2" charset="-122"/>
              <a:ea typeface="华文楷体" panose="02010600040101010101" pitchFamily="2" charset="-122"/>
            </a:endParaRPr>
          </a:p>
          <a:p>
            <a:pPr lvl="0" indent="0">
              <a:spcBef>
                <a:spcPts val="300"/>
              </a:spcBef>
            </a:pPr>
            <a:r>
              <a:rPr lang="zh-CN" altLang="en-US" sz="2400" dirty="0">
                <a:latin typeface="华文楷体" panose="02010600040101010101" pitchFamily="2" charset="-122"/>
                <a:ea typeface="华文楷体" panose="02010600040101010101" pitchFamily="2" charset="-122"/>
              </a:rPr>
              <a:t>为角色增加成员用户：</a:t>
            </a:r>
            <a:r>
              <a:rPr lang="en-US" altLang="x-none" sz="2400" dirty="0">
                <a:latin typeface="华文楷体" panose="02010600040101010101" pitchFamily="2" charset="-122"/>
                <a:ea typeface="华文楷体" panose="02010600040101010101" pitchFamily="2" charset="-122"/>
              </a:rPr>
              <a:t>sp_addrolemember</a:t>
            </a:r>
            <a:endParaRPr lang="en-US" altLang="x-none" sz="2400" dirty="0">
              <a:latin typeface="华文楷体" panose="02010600040101010101" pitchFamily="2" charset="-122"/>
              <a:ea typeface="华文楷体" panose="02010600040101010101" pitchFamily="2" charset="-122"/>
            </a:endParaRPr>
          </a:p>
          <a:p>
            <a:pPr lvl="0" indent="0"/>
            <a:r>
              <a:rPr lang="en-US" altLang="x-none" sz="2400" dirty="0">
                <a:solidFill>
                  <a:srgbClr val="FF0000"/>
                </a:solidFill>
                <a:latin typeface="华文楷体" panose="02010600040101010101" pitchFamily="2" charset="-122"/>
                <a:ea typeface="华文楷体" panose="02010600040101010101" pitchFamily="2" charset="-122"/>
              </a:rPr>
              <a:t>sp_helpuser</a:t>
            </a:r>
            <a:endParaRPr lang="en-US" altLang="x-none" sz="2400" dirty="0">
              <a:solidFill>
                <a:srgbClr val="FF0000"/>
              </a:solidFill>
              <a:latin typeface="华文楷体" panose="02010600040101010101" pitchFamily="2" charset="-122"/>
              <a:ea typeface="华文楷体" panose="02010600040101010101" pitchFamily="2" charset="-122"/>
            </a:endParaRPr>
          </a:p>
          <a:p>
            <a:pPr lvl="0" indent="0"/>
            <a:r>
              <a:rPr lang="en-US" altLang="x-none" sz="2400" dirty="0">
                <a:solidFill>
                  <a:srgbClr val="FF0000"/>
                </a:solidFill>
                <a:latin typeface="华文楷体" panose="02010600040101010101" pitchFamily="2" charset="-122"/>
                <a:ea typeface="华文楷体" panose="02010600040101010101" pitchFamily="2" charset="-122"/>
              </a:rPr>
              <a:t>sp_addrolemember '</a:t>
            </a:r>
            <a:r>
              <a:rPr lang="en-US" altLang="x-none" sz="2400" dirty="0">
                <a:solidFill>
                  <a:srgbClr val="FF0000"/>
                </a:solidFill>
                <a:latin typeface="华文楷体" panose="02010600040101010101" pitchFamily="2" charset="-122"/>
                <a:ea typeface="华文楷体" panose="02010600040101010101" pitchFamily="2" charset="-122"/>
                <a:sym typeface="+mn-ea"/>
              </a:rPr>
              <a:t>Student</a:t>
            </a:r>
            <a:r>
              <a:rPr lang="en-US" altLang="x-none" sz="2400" dirty="0">
                <a:solidFill>
                  <a:srgbClr val="FF0000"/>
                </a:solidFill>
                <a:latin typeface="华文楷体" panose="02010600040101010101" pitchFamily="2" charset="-122"/>
                <a:ea typeface="华文楷体" panose="02010600040101010101" pitchFamily="2" charset="-122"/>
              </a:rPr>
              <a:t>', '</a:t>
            </a:r>
            <a:r>
              <a:rPr lang="en-US" altLang="x-none" sz="2400" dirty="0">
                <a:solidFill>
                  <a:srgbClr val="FF0000"/>
                </a:solidFill>
                <a:latin typeface="华文楷体" panose="02010600040101010101" pitchFamily="2" charset="-122"/>
                <a:ea typeface="华文楷体" panose="02010600040101010101" pitchFamily="2" charset="-122"/>
                <a:sym typeface="+mn-ea"/>
              </a:rPr>
              <a:t>wtest6</a:t>
            </a:r>
            <a:r>
              <a:rPr lang="en-US" altLang="x-none" sz="2400" dirty="0">
                <a:solidFill>
                  <a:srgbClr val="FF0000"/>
                </a:solidFill>
                <a:latin typeface="华文楷体" panose="02010600040101010101" pitchFamily="2" charset="-122"/>
                <a:ea typeface="华文楷体" panose="02010600040101010101" pitchFamily="2" charset="-122"/>
              </a:rPr>
              <a:t>'</a:t>
            </a:r>
            <a:endParaRPr lang="en-US" altLang="x-none" sz="2400" dirty="0">
              <a:solidFill>
                <a:srgbClr val="FF0000"/>
              </a:solidFill>
              <a:latin typeface="华文楷体" panose="02010600040101010101" pitchFamily="2" charset="-122"/>
              <a:ea typeface="华文楷体" panose="02010600040101010101" pitchFamily="2" charset="-122"/>
            </a:endParaRPr>
          </a:p>
          <a:p>
            <a:pPr lvl="0" indent="0"/>
            <a:r>
              <a:rPr lang="en-US" altLang="x-none" sz="2400" dirty="0">
                <a:solidFill>
                  <a:srgbClr val="FF0000"/>
                </a:solidFill>
                <a:latin typeface="华文楷体" panose="02010600040101010101" pitchFamily="2" charset="-122"/>
                <a:ea typeface="华文楷体" panose="02010600040101010101" pitchFamily="2" charset="-122"/>
              </a:rPr>
              <a:t>sp_droprolemember </a:t>
            </a:r>
            <a:r>
              <a:rPr lang="en-US" altLang="x-none" sz="2400" dirty="0">
                <a:solidFill>
                  <a:srgbClr val="FF0000"/>
                </a:solidFill>
                <a:latin typeface="华文楷体" panose="02010600040101010101" pitchFamily="2" charset="-122"/>
                <a:ea typeface="华文楷体" panose="02010600040101010101" pitchFamily="2" charset="-122"/>
                <a:sym typeface="+mn-ea"/>
              </a:rPr>
              <a:t>'Student'</a:t>
            </a:r>
            <a:r>
              <a:rPr lang="en-US" altLang="x-none" sz="2400" dirty="0">
                <a:solidFill>
                  <a:srgbClr val="FF0000"/>
                </a:solidFill>
                <a:latin typeface="华文楷体" panose="02010600040101010101" pitchFamily="2" charset="-122"/>
                <a:ea typeface="华文楷体" panose="02010600040101010101" pitchFamily="2" charset="-122"/>
              </a:rPr>
              <a:t>,'</a:t>
            </a:r>
            <a:r>
              <a:rPr lang="en-US" altLang="x-none" sz="2400" dirty="0">
                <a:solidFill>
                  <a:srgbClr val="FF0000"/>
                </a:solidFill>
                <a:latin typeface="华文楷体" panose="02010600040101010101" pitchFamily="2" charset="-122"/>
                <a:ea typeface="华文楷体" panose="02010600040101010101" pitchFamily="2" charset="-122"/>
                <a:sym typeface="+mn-ea"/>
              </a:rPr>
              <a:t>wtest6</a:t>
            </a:r>
            <a:r>
              <a:rPr lang="en-US" altLang="x-none" sz="2400" dirty="0">
                <a:solidFill>
                  <a:srgbClr val="FF0000"/>
                </a:solidFill>
                <a:latin typeface="华文楷体" panose="02010600040101010101" pitchFamily="2" charset="-122"/>
                <a:ea typeface="华文楷体" panose="02010600040101010101" pitchFamily="2" charset="-122"/>
              </a:rPr>
              <a:t>'</a:t>
            </a:r>
            <a:endParaRPr lang="en-US" altLang="x-none" sz="2400" dirty="0">
              <a:solidFill>
                <a:srgbClr val="FF0000"/>
              </a:solidFill>
              <a:latin typeface="华文楷体" panose="02010600040101010101" pitchFamily="2" charset="-122"/>
              <a:ea typeface="华文楷体" panose="02010600040101010101" pitchFamily="2" charset="-122"/>
            </a:endParaRPr>
          </a:p>
          <a:p>
            <a:pPr lvl="0" indent="0">
              <a:spcBef>
                <a:spcPts val="300"/>
              </a:spcBef>
            </a:pPr>
            <a:r>
              <a:rPr lang="zh-CN" altLang="en-US" sz="2400" dirty="0">
                <a:latin typeface="华文楷体" panose="02010600040101010101" pitchFamily="2" charset="-122"/>
                <a:ea typeface="华文楷体" panose="02010600040101010101" pitchFamily="2" charset="-122"/>
              </a:rPr>
              <a:t>删除角色：</a:t>
            </a:r>
            <a:r>
              <a:rPr lang="en-US" altLang="x-none" sz="2400" dirty="0">
                <a:latin typeface="华文楷体" panose="02010600040101010101" pitchFamily="2" charset="-122"/>
                <a:ea typeface="华文楷体" panose="02010600040101010101" pitchFamily="2" charset="-122"/>
              </a:rPr>
              <a:t>sp_droprole</a:t>
            </a:r>
            <a:endParaRPr lang="en-US" altLang="x-none" sz="2400" dirty="0">
              <a:latin typeface="华文楷体" panose="02010600040101010101" pitchFamily="2" charset="-122"/>
              <a:ea typeface="华文楷体" panose="02010600040101010101" pitchFamily="2" charset="-122"/>
            </a:endParaRPr>
          </a:p>
          <a:p>
            <a:pPr lvl="0" indent="0">
              <a:spcBef>
                <a:spcPts val="300"/>
              </a:spcBef>
            </a:pPr>
            <a:r>
              <a:rPr lang="en-US" altLang="x-none" sz="2400" dirty="0">
                <a:solidFill>
                  <a:srgbClr val="FF0000"/>
                </a:solidFill>
                <a:latin typeface="华文楷体" panose="02010600040101010101" pitchFamily="2" charset="-122"/>
                <a:ea typeface="华文楷体" panose="02010600040101010101" pitchFamily="2" charset="-122"/>
              </a:rPr>
              <a:t>sp_droprole  </a:t>
            </a:r>
            <a:r>
              <a:rPr lang="en-US" altLang="x-none" sz="2400" dirty="0">
                <a:solidFill>
                  <a:srgbClr val="FF0000"/>
                </a:solidFill>
                <a:latin typeface="华文楷体" panose="02010600040101010101" pitchFamily="2" charset="-122"/>
                <a:ea typeface="华文楷体" panose="02010600040101010101" pitchFamily="2" charset="-122"/>
                <a:sym typeface="+mn-ea"/>
              </a:rPr>
              <a:t>'Student'</a:t>
            </a:r>
            <a:endParaRPr lang="en-US" altLang="x-none" sz="2400" dirty="0">
              <a:solidFill>
                <a:srgbClr val="FF0000"/>
              </a:solidFill>
              <a:latin typeface="华文楷体" panose="02010600040101010101" pitchFamily="2" charset="-122"/>
              <a:ea typeface="华文楷体" panose="02010600040101010101" pitchFamily="2" charset="-122"/>
            </a:endParaRPr>
          </a:p>
          <a:p>
            <a:pPr lvl="0" indent="0">
              <a:spcBef>
                <a:spcPts val="300"/>
              </a:spcBef>
            </a:pPr>
            <a:r>
              <a:rPr lang="zh-CN" altLang="en-US" sz="2400" dirty="0">
                <a:latin typeface="华文楷体" panose="02010600040101010101" pitchFamily="2" charset="-122"/>
                <a:ea typeface="华文楷体" panose="02010600040101010101" pitchFamily="2" charset="-122"/>
              </a:rPr>
              <a:t>查询角色信息：</a:t>
            </a:r>
            <a:r>
              <a:rPr lang="en-US" altLang="x-none" sz="2400" dirty="0">
                <a:latin typeface="华文楷体" panose="02010600040101010101" pitchFamily="2" charset="-122"/>
                <a:ea typeface="华文楷体" panose="02010600040101010101" pitchFamily="2" charset="-122"/>
              </a:rPr>
              <a:t>sp_helprole</a:t>
            </a:r>
            <a:endParaRPr lang="en-US" altLang="x-none" sz="2400" dirty="0">
              <a:latin typeface="华文楷体" panose="02010600040101010101" pitchFamily="2" charset="-122"/>
              <a:ea typeface="华文楷体" panose="02010600040101010101" pitchFamily="2" charset="-122"/>
            </a:endParaRPr>
          </a:p>
        </p:txBody>
      </p:sp>
      <p:sp>
        <p:nvSpPr>
          <p:cNvPr id="27650" name="Rectangle 2"/>
          <p:cNvSpPr/>
          <p:nvPr/>
        </p:nvSpPr>
        <p:spPr>
          <a:xfrm>
            <a:off x="457200" y="68263"/>
            <a:ext cx="8229600" cy="692150"/>
          </a:xfrm>
          <a:prstGeom prst="rect">
            <a:avLst/>
          </a:prstGeom>
          <a:noFill/>
          <a:ln w="9525">
            <a:noFill/>
          </a:ln>
        </p:spPr>
        <p:txBody>
          <a:bodyPr anchor="ctr"/>
          <a:lstStyle/>
          <a:p>
            <a:pPr lvl="0" indent="0"/>
            <a:r>
              <a:rPr lang="zh-CN" altLang="en-US" sz="3200" dirty="0">
                <a:solidFill>
                  <a:srgbClr val="FF0000"/>
                </a:solidFill>
                <a:latin typeface="Arial" panose="020B0604020202020204" pitchFamily="34" charset="0"/>
                <a:ea typeface="黑体" panose="02010609060101010101" pitchFamily="1" charset="-122"/>
              </a:rPr>
              <a:t>二、数据库的安全性</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27651" name="Rectangle 2"/>
          <p:cNvSpPr txBox="1"/>
          <p:nvPr/>
        </p:nvSpPr>
        <p:spPr>
          <a:xfrm>
            <a:off x="536575" y="712788"/>
            <a:ext cx="5689600" cy="576262"/>
          </a:xfrm>
          <a:prstGeom prst="rect">
            <a:avLst/>
          </a:prstGeom>
          <a:noFill/>
          <a:ln w="9525">
            <a:noFill/>
          </a:ln>
        </p:spPr>
        <p:txBody>
          <a:bodyPr anchor="t"/>
          <a:lstStyle/>
          <a:p>
            <a:pPr marL="457200" lvl="0" indent="-457200" defTabSz="0">
              <a:lnSpc>
                <a:spcPct val="135000"/>
              </a:lnSpc>
              <a:tabLst>
                <a:tab pos="1428750" algn="l"/>
              </a:tabLst>
            </a:pPr>
            <a:r>
              <a:rPr lang="en-US" altLang="x-none" sz="2800" dirty="0">
                <a:solidFill>
                  <a:srgbClr val="0033CC"/>
                </a:solidFill>
                <a:latin typeface="黑体" panose="02010609060101010101" pitchFamily="1" charset="-122"/>
                <a:ea typeface="黑体" panose="02010609060101010101" pitchFamily="1" charset="-122"/>
              </a:rPr>
              <a:t>3.</a:t>
            </a:r>
            <a:r>
              <a:rPr lang="en-US" altLang="x-none" sz="2800" dirty="0">
                <a:solidFill>
                  <a:srgbClr val="CC3300"/>
                </a:solidFill>
                <a:latin typeface="Times New Roman" panose="02020603050405020304" pitchFamily="2" charset="0"/>
                <a:ea typeface="宋体" panose="02010600030101010101" pitchFamily="2" charset="-122"/>
              </a:rPr>
              <a:t> </a:t>
            </a:r>
            <a:r>
              <a:rPr lang="en-US" altLang="x-none" sz="2800" dirty="0">
                <a:solidFill>
                  <a:srgbClr val="0033CC"/>
                </a:solidFill>
                <a:latin typeface="黑体" panose="02010609060101010101" pitchFamily="1" charset="-122"/>
                <a:ea typeface="黑体" panose="02010609060101010101" pitchFamily="1" charset="-122"/>
              </a:rPr>
              <a:t>SQL SERVER</a:t>
            </a:r>
            <a:r>
              <a:rPr lang="zh-CN" altLang="en-US" sz="2800" dirty="0">
                <a:solidFill>
                  <a:srgbClr val="0033CC"/>
                </a:solidFill>
                <a:latin typeface="黑体" panose="02010609060101010101" pitchFamily="1" charset="-122"/>
                <a:ea typeface="黑体" panose="02010609060101010101" pitchFamily="1" charset="-122"/>
              </a:rPr>
              <a:t>安全体系</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27652" name="矩形 4"/>
          <p:cNvSpPr/>
          <p:nvPr/>
        </p:nvSpPr>
        <p:spPr>
          <a:xfrm>
            <a:off x="382588" y="1314450"/>
            <a:ext cx="2814637" cy="460375"/>
          </a:xfrm>
          <a:prstGeom prst="rect">
            <a:avLst/>
          </a:prstGeom>
          <a:noFill/>
          <a:ln w="9525">
            <a:noFill/>
          </a:ln>
        </p:spPr>
        <p:txBody>
          <a:bodyPr wrap="none" anchor="t">
            <a:spAutoFit/>
          </a:bodyPr>
          <a:lstStyle/>
          <a:p>
            <a:pPr lvl="0" indent="0"/>
            <a:r>
              <a:rPr lang="zh-CN" altLang="en-US" sz="2400" dirty="0">
                <a:solidFill>
                  <a:srgbClr val="0033CC"/>
                </a:solidFill>
                <a:latin typeface="宋体" panose="02010600030101010101" pitchFamily="2" charset="-122"/>
                <a:ea typeface="宋体" panose="02010600030101010101" pitchFamily="2" charset="-122"/>
              </a:rPr>
              <a:t>（</a:t>
            </a:r>
            <a:r>
              <a:rPr lang="en-US" altLang="x-none" sz="2400" dirty="0">
                <a:solidFill>
                  <a:srgbClr val="0033CC"/>
                </a:solidFill>
                <a:latin typeface="宋体" panose="02010600030101010101" pitchFamily="2" charset="-122"/>
                <a:ea typeface="宋体" panose="02010600030101010101" pitchFamily="2" charset="-122"/>
              </a:rPr>
              <a:t>4</a:t>
            </a:r>
            <a:r>
              <a:rPr lang="zh-CN" altLang="en-US" sz="2400" dirty="0">
                <a:solidFill>
                  <a:srgbClr val="0033CC"/>
                </a:solidFill>
                <a:latin typeface="宋体" panose="02010600030101010101" pitchFamily="2" charset="-122"/>
                <a:ea typeface="宋体" panose="02010600030101010101" pitchFamily="2" charset="-122"/>
              </a:rPr>
              <a:t>）新角色的创建</a:t>
            </a:r>
            <a:endParaRPr lang="zh-CN" altLang="en-US" sz="2400" dirty="0">
              <a:solidFill>
                <a:srgbClr val="0033CC"/>
              </a:solidFill>
              <a:latin typeface="宋体" panose="02010600030101010101" pitchFamily="2" charset="-122"/>
              <a:ea typeface="宋体" panose="02010600030101010101" pitchFamily="2" charset="-122"/>
            </a:endParaRPr>
          </a:p>
        </p:txBody>
      </p:sp>
      <p:sp>
        <p:nvSpPr>
          <p:cNvPr id="12295" name="Rectangle 3"/>
          <p:cNvSpPr txBox="1"/>
          <p:nvPr/>
        </p:nvSpPr>
        <p:spPr>
          <a:xfrm>
            <a:off x="5000625" y="161290"/>
            <a:ext cx="3841115" cy="507365"/>
          </a:xfrm>
          <a:prstGeom prst="rect">
            <a:avLst/>
          </a:prstGeom>
          <a:solidFill>
            <a:schemeClr val="accent1"/>
          </a:solidFill>
          <a:ln w="9525">
            <a:solidFill>
              <a:srgbClr val="3402C2"/>
            </a:solidFill>
            <a:prstDash val="dash"/>
          </a:ln>
        </p:spPr>
        <p:txBody>
          <a:bodyPr anchor="t"/>
          <a:lstStyle/>
          <a:p>
            <a:pPr marL="342900" lvl="0" indent="-342900" eaLnBrk="0" hangingPunct="0">
              <a:lnSpc>
                <a:spcPct val="120000"/>
              </a:lnSpc>
              <a:spcBef>
                <a:spcPct val="20000"/>
              </a:spcBef>
              <a:buClr>
                <a:srgbClr val="0033CC"/>
              </a:buClr>
              <a:buSzPct val="80000"/>
              <a:buFont typeface="Wingdings" panose="05000000000000000000" pitchFamily="2" charset="2"/>
              <a:buChar char="u"/>
            </a:pPr>
            <a:r>
              <a:rPr lang="zh-CN" sz="2400" dirty="0">
                <a:latin typeface="华文楷体" panose="02010600040101010101" pitchFamily="2" charset="-122"/>
                <a:ea typeface="宋体" panose="02010600030101010101" pitchFamily="2" charset="-122"/>
              </a:rPr>
              <a:t>进</a:t>
            </a:r>
            <a:r>
              <a:rPr lang="en-US" altLang="zh-CN" sz="2400" dirty="0">
                <a:latin typeface="华文楷体" panose="02010600040101010101" pitchFamily="2" charset="-122"/>
                <a:ea typeface="宋体" panose="02010600030101010101" pitchFamily="2" charset="-122"/>
              </a:rPr>
              <a:t>SQL Server</a:t>
            </a:r>
            <a:r>
              <a:rPr lang="zh-CN" altLang="zh-CN" sz="2400" dirty="0">
                <a:latin typeface="华文楷体" panose="02010600040101010101" pitchFamily="2" charset="-122"/>
                <a:ea typeface="宋体" panose="02010600030101010101" pitchFamily="2" charset="-122"/>
              </a:rPr>
              <a:t>的第三道门</a:t>
            </a:r>
            <a:endParaRPr lang="zh-CN" altLang="zh-CN" sz="2400" dirty="0">
              <a:latin typeface="华文楷体" panose="02010600040101010101" pitchFamily="2" charset="-122"/>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589915" y="2087245"/>
            <a:ext cx="8116570" cy="3972560"/>
          </a:xfrm>
          <a:prstGeom prst="rect">
            <a:avLst/>
          </a:prstGeom>
        </p:spPr>
      </p:pic>
      <p:sp>
        <p:nvSpPr>
          <p:cNvPr id="8" name="Rectangle 2"/>
          <p:cNvSpPr txBox="1">
            <a:spLocks noChangeArrowheads="1"/>
          </p:cNvSpPr>
          <p:nvPr/>
        </p:nvSpPr>
        <p:spPr>
          <a:xfrm>
            <a:off x="409575" y="1400175"/>
            <a:ext cx="7086600" cy="58293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a:t>
            </a:r>
            <a:r>
              <a:rPr kumimoji="1" lang="en-US" altLang="zh-CN"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4</a:t>
            </a:r>
            <a:r>
              <a:rPr kumimoji="1" lang="zh-CN" altLang="en-US"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）通过角色授权</a:t>
            </a:r>
            <a:endParaRPr kumimoji="1" lang="zh-CN" altLang="en-US"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endParaRPr>
          </a:p>
        </p:txBody>
      </p:sp>
      <p:sp>
        <p:nvSpPr>
          <p:cNvPr id="27650" name="Rectangle 2"/>
          <p:cNvSpPr/>
          <p:nvPr/>
        </p:nvSpPr>
        <p:spPr>
          <a:xfrm>
            <a:off x="457200" y="68263"/>
            <a:ext cx="8229600" cy="692150"/>
          </a:xfrm>
          <a:prstGeom prst="rect">
            <a:avLst/>
          </a:prstGeom>
          <a:noFill/>
          <a:ln w="9525">
            <a:noFill/>
          </a:ln>
        </p:spPr>
        <p:txBody>
          <a:bodyPr anchor="ctr"/>
          <a:lstStyle/>
          <a:p>
            <a:pPr lvl="0" indent="0"/>
            <a:r>
              <a:rPr lang="zh-CN" altLang="en-US" sz="3200" dirty="0">
                <a:solidFill>
                  <a:srgbClr val="FF0000"/>
                </a:solidFill>
                <a:latin typeface="Arial" panose="020B0604020202020204" pitchFamily="34" charset="0"/>
                <a:ea typeface="黑体" panose="02010609060101010101" pitchFamily="1" charset="-122"/>
              </a:rPr>
              <a:t>二、数据库的安全性</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27651" name="Rectangle 2"/>
          <p:cNvSpPr txBox="1"/>
          <p:nvPr/>
        </p:nvSpPr>
        <p:spPr>
          <a:xfrm>
            <a:off x="536575" y="712788"/>
            <a:ext cx="5689600" cy="576262"/>
          </a:xfrm>
          <a:prstGeom prst="rect">
            <a:avLst/>
          </a:prstGeom>
          <a:noFill/>
          <a:ln w="9525">
            <a:noFill/>
          </a:ln>
        </p:spPr>
        <p:txBody>
          <a:bodyPr anchor="t"/>
          <a:lstStyle/>
          <a:p>
            <a:pPr marL="457200" lvl="0" indent="-457200" defTabSz="0">
              <a:lnSpc>
                <a:spcPct val="135000"/>
              </a:lnSpc>
              <a:tabLst>
                <a:tab pos="1428750" algn="l"/>
              </a:tabLst>
            </a:pPr>
            <a:r>
              <a:rPr lang="en-US" altLang="x-none" sz="2800" dirty="0">
                <a:solidFill>
                  <a:srgbClr val="0033CC"/>
                </a:solidFill>
                <a:latin typeface="黑体" panose="02010609060101010101" pitchFamily="1" charset="-122"/>
                <a:ea typeface="黑体" panose="02010609060101010101" pitchFamily="1" charset="-122"/>
              </a:rPr>
              <a:t>3.</a:t>
            </a:r>
            <a:r>
              <a:rPr lang="en-US" altLang="x-none" sz="2800" dirty="0">
                <a:solidFill>
                  <a:srgbClr val="CC3300"/>
                </a:solidFill>
                <a:latin typeface="Times New Roman" panose="02020603050405020304" pitchFamily="2" charset="0"/>
                <a:ea typeface="宋体" panose="02010600030101010101" pitchFamily="2" charset="-122"/>
              </a:rPr>
              <a:t> </a:t>
            </a:r>
            <a:r>
              <a:rPr lang="en-US" altLang="x-none" sz="2800" dirty="0">
                <a:solidFill>
                  <a:srgbClr val="0033CC"/>
                </a:solidFill>
                <a:latin typeface="黑体" panose="02010609060101010101" pitchFamily="1" charset="-122"/>
                <a:ea typeface="黑体" panose="02010609060101010101" pitchFamily="1" charset="-122"/>
              </a:rPr>
              <a:t>SQL SERVER</a:t>
            </a:r>
            <a:r>
              <a:rPr lang="zh-CN" altLang="en-US" sz="2800" dirty="0">
                <a:solidFill>
                  <a:srgbClr val="0033CC"/>
                </a:solidFill>
                <a:latin typeface="黑体" panose="02010609060101010101" pitchFamily="1" charset="-122"/>
                <a:ea typeface="黑体" panose="02010609060101010101" pitchFamily="1" charset="-122"/>
              </a:rPr>
              <a:t>安全体系</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12295" name="Rectangle 3"/>
          <p:cNvSpPr txBox="1"/>
          <p:nvPr/>
        </p:nvSpPr>
        <p:spPr>
          <a:xfrm>
            <a:off x="5000625" y="161290"/>
            <a:ext cx="3841115" cy="507365"/>
          </a:xfrm>
          <a:prstGeom prst="rect">
            <a:avLst/>
          </a:prstGeom>
          <a:solidFill>
            <a:schemeClr val="accent1"/>
          </a:solidFill>
          <a:ln w="9525">
            <a:solidFill>
              <a:srgbClr val="3402C2"/>
            </a:solidFill>
            <a:prstDash val="dash"/>
          </a:ln>
        </p:spPr>
        <p:txBody>
          <a:bodyPr anchor="t"/>
          <a:lstStyle/>
          <a:p>
            <a:pPr marL="342900" lvl="0" indent="-342900" eaLnBrk="0" hangingPunct="0">
              <a:lnSpc>
                <a:spcPct val="120000"/>
              </a:lnSpc>
              <a:spcBef>
                <a:spcPct val="20000"/>
              </a:spcBef>
              <a:buClr>
                <a:srgbClr val="0033CC"/>
              </a:buClr>
              <a:buSzPct val="80000"/>
              <a:buFont typeface="Wingdings" panose="05000000000000000000" pitchFamily="2" charset="2"/>
              <a:buChar char="u"/>
            </a:pPr>
            <a:r>
              <a:rPr lang="zh-CN" sz="2400" dirty="0">
                <a:latin typeface="华文楷体" panose="02010600040101010101" pitchFamily="2" charset="-122"/>
                <a:ea typeface="宋体" panose="02010600030101010101" pitchFamily="2" charset="-122"/>
              </a:rPr>
              <a:t>进</a:t>
            </a:r>
            <a:r>
              <a:rPr lang="en-US" altLang="zh-CN" sz="2400" dirty="0">
                <a:latin typeface="华文楷体" panose="02010600040101010101" pitchFamily="2" charset="-122"/>
                <a:ea typeface="宋体" panose="02010600030101010101" pitchFamily="2" charset="-122"/>
              </a:rPr>
              <a:t>SQL Server</a:t>
            </a:r>
            <a:r>
              <a:rPr lang="zh-CN" altLang="zh-CN" sz="2400" dirty="0">
                <a:latin typeface="华文楷体" panose="02010600040101010101" pitchFamily="2" charset="-122"/>
                <a:ea typeface="宋体" panose="02010600030101010101" pitchFamily="2" charset="-122"/>
              </a:rPr>
              <a:t>的第三道门</a:t>
            </a:r>
            <a:endParaRPr lang="zh-CN" altLang="zh-CN" sz="2400" dirty="0">
              <a:latin typeface="华文楷体" panose="02010600040101010101" pitchFamily="2" charset="-122"/>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697" name="Group 3"/>
          <p:cNvGrpSpPr/>
          <p:nvPr/>
        </p:nvGrpSpPr>
        <p:grpSpPr>
          <a:xfrm>
            <a:off x="490538" y="1592263"/>
            <a:ext cx="8280400" cy="3529012"/>
            <a:chOff x="0" y="0"/>
            <a:chExt cx="5001" cy="2649"/>
          </a:xfrm>
        </p:grpSpPr>
        <p:sp>
          <p:nvSpPr>
            <p:cNvPr id="29698" name="Rectangle 4"/>
            <p:cNvSpPr/>
            <p:nvPr/>
          </p:nvSpPr>
          <p:spPr>
            <a:xfrm>
              <a:off x="182" y="2313"/>
              <a:ext cx="908" cy="336"/>
            </a:xfrm>
            <a:prstGeom prst="rect">
              <a:avLst/>
            </a:prstGeom>
            <a:solidFill>
              <a:srgbClr val="FFCC99"/>
            </a:solidFill>
            <a:ln w="9525" cap="flat" cmpd="sng">
              <a:solidFill>
                <a:srgbClr val="000099"/>
              </a:solidFill>
              <a:prstDash val="solid"/>
              <a:miter/>
              <a:headEnd type="none" w="med" len="med"/>
              <a:tailEnd type="none" w="med" len="med"/>
            </a:ln>
          </p:spPr>
          <p:txBody>
            <a:bodyPr anchor="t"/>
            <a:lstStyle/>
            <a:p>
              <a:pPr lvl="0" indent="0"/>
              <a:r>
                <a:rPr lang="zh-CN" altLang="en-US" sz="2000" dirty="0">
                  <a:solidFill>
                    <a:srgbClr val="000000"/>
                  </a:solidFill>
                  <a:latin typeface="宋体" panose="02010600030101010101" pitchFamily="2" charset="-122"/>
                  <a:ea typeface="宋体" panose="02010600030101010101" pitchFamily="2" charset="-122"/>
                </a:rPr>
                <a:t>用户</a:t>
              </a:r>
              <a:r>
                <a:rPr lang="en-US" altLang="x-none" sz="2000" dirty="0">
                  <a:solidFill>
                    <a:srgbClr val="000000"/>
                  </a:solidFill>
                  <a:latin typeface="宋体" panose="02010600030101010101" pitchFamily="2" charset="-122"/>
                  <a:ea typeface="宋体" panose="02010600030101010101" pitchFamily="2" charset="-122"/>
                </a:rPr>
                <a:t>login</a:t>
              </a:r>
              <a:endParaRPr lang="en-US" altLang="x-none" sz="2000" dirty="0">
                <a:solidFill>
                  <a:srgbClr val="000000"/>
                </a:solidFill>
                <a:latin typeface="宋体" panose="02010600030101010101" pitchFamily="2" charset="-122"/>
                <a:ea typeface="宋体" panose="02010600030101010101" pitchFamily="2" charset="-122"/>
              </a:endParaRPr>
            </a:p>
          </p:txBody>
        </p:sp>
        <p:sp>
          <p:nvSpPr>
            <p:cNvPr id="29699" name="Rectangle 5"/>
            <p:cNvSpPr/>
            <p:nvPr/>
          </p:nvSpPr>
          <p:spPr>
            <a:xfrm>
              <a:off x="1497" y="0"/>
              <a:ext cx="3504" cy="1785"/>
            </a:xfrm>
            <a:prstGeom prst="rect">
              <a:avLst/>
            </a:prstGeom>
            <a:solidFill>
              <a:srgbClr val="EDFEEC"/>
            </a:solidFill>
            <a:ln w="9525" cap="flat" cmpd="sng">
              <a:solidFill>
                <a:srgbClr val="000099"/>
              </a:solidFill>
              <a:prstDash val="solid"/>
              <a:miter/>
              <a:headEnd type="none" w="med" len="med"/>
              <a:tailEnd type="none" w="med" len="med"/>
            </a:ln>
          </p:spPr>
          <p:txBody>
            <a:bodyPr anchor="t"/>
            <a:lstStyle/>
            <a:p>
              <a:pPr lvl="0" indent="0"/>
              <a:r>
                <a:rPr lang="zh-CN" altLang="en-US" sz="2000" dirty="0">
                  <a:solidFill>
                    <a:srgbClr val="000000"/>
                  </a:solidFill>
                  <a:latin typeface="宋体" panose="02010600030101010101" pitchFamily="2" charset="-122"/>
                  <a:ea typeface="宋体" panose="02010600030101010101" pitchFamily="2" charset="-122"/>
                </a:rPr>
                <a:t>某</a:t>
              </a:r>
              <a:r>
                <a:rPr lang="en-US" altLang="x-none" sz="2000" dirty="0">
                  <a:solidFill>
                    <a:srgbClr val="000000"/>
                  </a:solidFill>
                  <a:latin typeface="宋体" panose="02010600030101010101" pitchFamily="2" charset="-122"/>
                  <a:ea typeface="宋体" panose="02010600030101010101" pitchFamily="2" charset="-122"/>
                </a:rPr>
                <a:t>RDBMS</a:t>
              </a:r>
              <a:endParaRPr lang="en-US" altLang="x-none" sz="2000" dirty="0">
                <a:solidFill>
                  <a:srgbClr val="000000"/>
                </a:solidFill>
                <a:latin typeface="宋体" panose="02010600030101010101" pitchFamily="2" charset="-122"/>
                <a:ea typeface="宋体" panose="02010600030101010101" pitchFamily="2" charset="-122"/>
              </a:endParaRPr>
            </a:p>
            <a:p>
              <a:pPr lvl="0" indent="0"/>
              <a:r>
                <a:rPr lang="zh-CN" altLang="en-US" sz="2000" dirty="0">
                  <a:solidFill>
                    <a:srgbClr val="000000"/>
                  </a:solidFill>
                  <a:latin typeface="宋体" panose="02010600030101010101" pitchFamily="2" charset="-122"/>
                  <a:ea typeface="宋体" panose="02010600030101010101" pitchFamily="2" charset="-122"/>
                </a:rPr>
                <a:t>（</a:t>
              </a:r>
              <a:r>
                <a:rPr lang="en-US" altLang="x-none" sz="2000" dirty="0">
                  <a:solidFill>
                    <a:srgbClr val="000000"/>
                  </a:solidFill>
                  <a:latin typeface="宋体" panose="02010600030101010101" pitchFamily="2" charset="-122"/>
                  <a:ea typeface="宋体" panose="02010600030101010101" pitchFamily="2" charset="-122"/>
                </a:rPr>
                <a:t>Oracle,SQL Server…) </a:t>
              </a:r>
              <a:endParaRPr lang="en-US" altLang="x-none" sz="2000" dirty="0">
                <a:solidFill>
                  <a:srgbClr val="000000"/>
                </a:solidFill>
                <a:latin typeface="宋体" panose="02010600030101010101" pitchFamily="2" charset="-122"/>
                <a:ea typeface="宋体" panose="02010600030101010101" pitchFamily="2" charset="-122"/>
              </a:endParaRPr>
            </a:p>
          </p:txBody>
        </p:sp>
        <p:sp>
          <p:nvSpPr>
            <p:cNvPr id="29700" name="Rectangle 6"/>
            <p:cNvSpPr/>
            <p:nvPr/>
          </p:nvSpPr>
          <p:spPr>
            <a:xfrm>
              <a:off x="318" y="1860"/>
              <a:ext cx="4672" cy="317"/>
            </a:xfrm>
            <a:prstGeom prst="rect">
              <a:avLst/>
            </a:prstGeom>
            <a:solidFill>
              <a:srgbClr val="EDFEEC"/>
            </a:solidFill>
            <a:ln w="14288" cap="flat" cmpd="sng">
              <a:solidFill>
                <a:srgbClr val="000000"/>
              </a:solidFill>
              <a:prstDash val="solid"/>
              <a:miter/>
              <a:headEnd type="none" w="med" len="med"/>
              <a:tailEnd type="none" w="med" len="med"/>
            </a:ln>
          </p:spPr>
          <p:txBody>
            <a:bodyPr anchor="t"/>
            <a:lstStyle/>
            <a:p>
              <a:pPr lvl="0" indent="0" algn="ctr"/>
              <a:r>
                <a:rPr lang="zh-CN" altLang="en-US" sz="2400" dirty="0">
                  <a:solidFill>
                    <a:srgbClr val="000000"/>
                  </a:solidFill>
                  <a:latin typeface="宋体" panose="02010600030101010101" pitchFamily="2" charset="-122"/>
                  <a:ea typeface="宋体" panose="02010600030101010101" pitchFamily="2" charset="-122"/>
                </a:rPr>
                <a:t>操作系统 </a:t>
              </a:r>
              <a:r>
                <a:rPr lang="en-US" altLang="x-none" sz="2400" dirty="0">
                  <a:solidFill>
                    <a:srgbClr val="000000"/>
                  </a:solidFill>
                  <a:latin typeface="宋体" panose="02010600030101010101" pitchFamily="2" charset="-122"/>
                  <a:ea typeface="宋体" panose="02010600030101010101" pitchFamily="2" charset="-122"/>
                </a:rPr>
                <a:t>OS </a:t>
              </a:r>
              <a:r>
                <a:rPr lang="zh-CN" altLang="en-US" sz="2400" dirty="0">
                  <a:solidFill>
                    <a:srgbClr val="000000"/>
                  </a:solidFill>
                  <a:latin typeface="宋体" panose="02010600030101010101" pitchFamily="2" charset="-122"/>
                  <a:ea typeface="宋体" panose="02010600030101010101" pitchFamily="2" charset="-122"/>
                </a:rPr>
                <a:t>（如 </a:t>
              </a:r>
              <a:r>
                <a:rPr lang="en-US" altLang="x-none" sz="2400" dirty="0">
                  <a:solidFill>
                    <a:srgbClr val="000000"/>
                  </a:solidFill>
                  <a:latin typeface="宋体" panose="02010600030101010101" pitchFamily="2" charset="-122"/>
                  <a:ea typeface="宋体" panose="02010600030101010101" pitchFamily="2" charset="-122"/>
                </a:rPr>
                <a:t>Windows XP)</a:t>
              </a:r>
              <a:endParaRPr lang="en-US" altLang="x-none" sz="2400" dirty="0">
                <a:solidFill>
                  <a:srgbClr val="000000"/>
                </a:solidFill>
                <a:latin typeface="宋体" panose="02010600030101010101" pitchFamily="2" charset="-122"/>
                <a:ea typeface="宋体" panose="02010600030101010101" pitchFamily="2" charset="-122"/>
              </a:endParaRPr>
            </a:p>
          </p:txBody>
        </p:sp>
        <p:sp>
          <p:nvSpPr>
            <p:cNvPr id="29701" name="Rectangle 7"/>
            <p:cNvSpPr/>
            <p:nvPr/>
          </p:nvSpPr>
          <p:spPr>
            <a:xfrm>
              <a:off x="0" y="590"/>
              <a:ext cx="1089" cy="640"/>
            </a:xfrm>
            <a:prstGeom prst="rect">
              <a:avLst/>
            </a:prstGeom>
            <a:solidFill>
              <a:srgbClr val="FFCC99"/>
            </a:solidFill>
            <a:ln w="9525" cap="flat" cmpd="sng">
              <a:solidFill>
                <a:srgbClr val="000099"/>
              </a:solidFill>
              <a:prstDash val="solid"/>
              <a:miter/>
              <a:headEnd type="none" w="med" len="med"/>
              <a:tailEnd type="none" w="med" len="med"/>
            </a:ln>
          </p:spPr>
          <p:txBody>
            <a:bodyPr anchor="t"/>
            <a:lstStyle/>
            <a:p>
              <a:pPr lvl="0" indent="0" algn="ctr"/>
              <a:r>
                <a:rPr lang="en-US" altLang="x-none" sz="2000" dirty="0">
                  <a:solidFill>
                    <a:srgbClr val="000000"/>
                  </a:solidFill>
                  <a:latin typeface="Times New Roman" panose="02020603050405020304" pitchFamily="2" charset="0"/>
                  <a:ea typeface="宋体" panose="02010600030101010101" pitchFamily="2" charset="-122"/>
                </a:rPr>
                <a:t>RDBMS</a:t>
              </a:r>
              <a:r>
                <a:rPr lang="zh-CN" altLang="en-US" sz="2000" dirty="0">
                  <a:solidFill>
                    <a:srgbClr val="000000"/>
                  </a:solidFill>
                  <a:latin typeface="Times New Roman" panose="02020603050405020304" pitchFamily="2" charset="0"/>
                  <a:ea typeface="宋体" panose="02010600030101010101" pitchFamily="2" charset="-122"/>
                </a:rPr>
                <a:t>用户 </a:t>
              </a:r>
              <a:r>
                <a:rPr lang="en-US" altLang="x-none" sz="2000" dirty="0">
                  <a:solidFill>
                    <a:srgbClr val="000000"/>
                  </a:solidFill>
                  <a:latin typeface="Times New Roman" panose="02020603050405020304" pitchFamily="2" charset="0"/>
                  <a:ea typeface="宋体" panose="02010600030101010101" pitchFamily="2" charset="-122"/>
                </a:rPr>
                <a:t>Login</a:t>
              </a:r>
              <a:endParaRPr lang="en-US" altLang="x-none" sz="2000" dirty="0">
                <a:solidFill>
                  <a:srgbClr val="000000"/>
                </a:solidFill>
                <a:latin typeface="Times New Roman" panose="02020603050405020304" pitchFamily="2" charset="0"/>
                <a:ea typeface="宋体" panose="02010600030101010101" pitchFamily="2" charset="-122"/>
              </a:endParaRPr>
            </a:p>
          </p:txBody>
        </p:sp>
        <p:sp>
          <p:nvSpPr>
            <p:cNvPr id="29702" name="Freeform 8"/>
            <p:cNvSpPr>
              <a:spLocks noEditPoints="1"/>
            </p:cNvSpPr>
            <p:nvPr/>
          </p:nvSpPr>
          <p:spPr>
            <a:xfrm>
              <a:off x="681" y="1230"/>
              <a:ext cx="90" cy="1083"/>
            </a:xfrm>
            <a:custGeom>
              <a:avLst/>
              <a:gdLst/>
              <a:ahLst/>
              <a:cxnLst>
                <a:cxn ang="0">
                  <a:pos x="2876" y="2577361"/>
                </a:cxn>
                <a:cxn ang="0">
                  <a:pos x="3509" y="2584686"/>
                </a:cxn>
                <a:cxn ang="0">
                  <a:pos x="3257" y="2723124"/>
                </a:cxn>
                <a:cxn ang="0">
                  <a:pos x="2692" y="2714102"/>
                </a:cxn>
                <a:cxn ang="0">
                  <a:pos x="2692" y="2328138"/>
                </a:cxn>
                <a:cxn ang="0">
                  <a:pos x="3174" y="2310923"/>
                </a:cxn>
                <a:cxn ang="0">
                  <a:pos x="3509" y="2328138"/>
                </a:cxn>
                <a:cxn ang="0">
                  <a:pos x="3257" y="2456193"/>
                </a:cxn>
                <a:cxn ang="0">
                  <a:pos x="2692" y="2446316"/>
                </a:cxn>
                <a:cxn ang="0">
                  <a:pos x="2692" y="2072663"/>
                </a:cxn>
                <a:cxn ang="0">
                  <a:pos x="3174" y="2051202"/>
                </a:cxn>
                <a:cxn ang="0">
                  <a:pos x="3509" y="2072663"/>
                </a:cxn>
                <a:cxn ang="0">
                  <a:pos x="3257" y="2199790"/>
                </a:cxn>
                <a:cxn ang="0">
                  <a:pos x="2692" y="2190688"/>
                </a:cxn>
                <a:cxn ang="0">
                  <a:pos x="2692" y="1813018"/>
                </a:cxn>
                <a:cxn ang="0">
                  <a:pos x="3174" y="1795553"/>
                </a:cxn>
                <a:cxn ang="0">
                  <a:pos x="3509" y="1813018"/>
                </a:cxn>
                <a:cxn ang="0">
                  <a:pos x="3257" y="1944314"/>
                </a:cxn>
                <a:cxn ang="0">
                  <a:pos x="2692" y="1933179"/>
                </a:cxn>
                <a:cxn ang="0">
                  <a:pos x="2692" y="1546323"/>
                </a:cxn>
                <a:cxn ang="0">
                  <a:pos x="3257" y="1539268"/>
                </a:cxn>
                <a:cxn ang="0">
                  <a:pos x="3509" y="1676739"/>
                </a:cxn>
                <a:cxn ang="0">
                  <a:pos x="2876" y="1685005"/>
                </a:cxn>
                <a:cxn ang="0">
                  <a:pos x="2692" y="1667615"/>
                </a:cxn>
                <a:cxn ang="0">
                  <a:pos x="2876" y="1277927"/>
                </a:cxn>
                <a:cxn ang="0">
                  <a:pos x="3257" y="1277927"/>
                </a:cxn>
                <a:cxn ang="0">
                  <a:pos x="3509" y="1411242"/>
                </a:cxn>
                <a:cxn ang="0">
                  <a:pos x="2876" y="1417809"/>
                </a:cxn>
                <a:cxn ang="0">
                  <a:pos x="2692" y="1396168"/>
                </a:cxn>
                <a:cxn ang="0">
                  <a:pos x="2876" y="1018327"/>
                </a:cxn>
                <a:cxn ang="0">
                  <a:pos x="3257" y="1018327"/>
                </a:cxn>
                <a:cxn ang="0">
                  <a:pos x="3509" y="1149647"/>
                </a:cxn>
                <a:cxn ang="0">
                  <a:pos x="2876" y="1161526"/>
                </a:cxn>
                <a:cxn ang="0">
                  <a:pos x="2692" y="1138487"/>
                </a:cxn>
                <a:cxn ang="0">
                  <a:pos x="2876" y="761784"/>
                </a:cxn>
                <a:cxn ang="0">
                  <a:pos x="3257" y="761784"/>
                </a:cxn>
                <a:cxn ang="0">
                  <a:pos x="3509" y="891205"/>
                </a:cxn>
                <a:cxn ang="0">
                  <a:pos x="2876" y="904820"/>
                </a:cxn>
                <a:cxn ang="0">
                  <a:pos x="2692" y="882939"/>
                </a:cxn>
                <a:cxn ang="0">
                  <a:pos x="2876" y="495437"/>
                </a:cxn>
                <a:cxn ang="0">
                  <a:pos x="3509" y="505189"/>
                </a:cxn>
                <a:cxn ang="0">
                  <a:pos x="3257" y="648534"/>
                </a:cxn>
                <a:cxn ang="0">
                  <a:pos x="2692" y="633292"/>
                </a:cxn>
                <a:cxn ang="0">
                  <a:pos x="2692" y="249718"/>
                </a:cxn>
                <a:cxn ang="0">
                  <a:pos x="3174" y="228394"/>
                </a:cxn>
                <a:cxn ang="0">
                  <a:pos x="3509" y="249718"/>
                </a:cxn>
                <a:cxn ang="0">
                  <a:pos x="3257" y="376707"/>
                </a:cxn>
                <a:cxn ang="0">
                  <a:pos x="2692" y="367723"/>
                </a:cxn>
                <a:cxn ang="0">
                  <a:pos x="3174" y="0"/>
                </a:cxn>
              </a:cxnLst>
              <a:rect l="0" t="0" r="0" b="0"/>
              <a:pathLst>
                <a:path w="65" h="593">
                  <a:moveTo>
                    <a:pt x="28" y="589"/>
                  </a:moveTo>
                  <a:lnTo>
                    <a:pt x="28" y="563"/>
                  </a:lnTo>
                  <a:lnTo>
                    <a:pt x="28" y="561"/>
                  </a:lnTo>
                  <a:lnTo>
                    <a:pt x="30" y="561"/>
                  </a:lnTo>
                  <a:lnTo>
                    <a:pt x="33" y="561"/>
                  </a:lnTo>
                  <a:lnTo>
                    <a:pt x="35" y="561"/>
                  </a:lnTo>
                  <a:lnTo>
                    <a:pt x="37" y="561"/>
                  </a:lnTo>
                  <a:lnTo>
                    <a:pt x="37" y="563"/>
                  </a:lnTo>
                  <a:lnTo>
                    <a:pt x="37" y="589"/>
                  </a:lnTo>
                  <a:lnTo>
                    <a:pt x="37" y="591"/>
                  </a:lnTo>
                  <a:lnTo>
                    <a:pt x="35" y="591"/>
                  </a:lnTo>
                  <a:lnTo>
                    <a:pt x="35" y="593"/>
                  </a:lnTo>
                  <a:lnTo>
                    <a:pt x="33" y="593"/>
                  </a:lnTo>
                  <a:lnTo>
                    <a:pt x="30" y="593"/>
                  </a:lnTo>
                  <a:lnTo>
                    <a:pt x="30" y="591"/>
                  </a:lnTo>
                  <a:lnTo>
                    <a:pt x="28" y="591"/>
                  </a:lnTo>
                  <a:lnTo>
                    <a:pt x="28" y="589"/>
                  </a:lnTo>
                  <a:close/>
                  <a:moveTo>
                    <a:pt x="28" y="531"/>
                  </a:moveTo>
                  <a:lnTo>
                    <a:pt x="28" y="507"/>
                  </a:lnTo>
                  <a:lnTo>
                    <a:pt x="28" y="505"/>
                  </a:lnTo>
                  <a:lnTo>
                    <a:pt x="30" y="505"/>
                  </a:lnTo>
                  <a:lnTo>
                    <a:pt x="30" y="503"/>
                  </a:lnTo>
                  <a:lnTo>
                    <a:pt x="33" y="503"/>
                  </a:lnTo>
                  <a:lnTo>
                    <a:pt x="35" y="503"/>
                  </a:lnTo>
                  <a:lnTo>
                    <a:pt x="35" y="505"/>
                  </a:lnTo>
                  <a:lnTo>
                    <a:pt x="37" y="505"/>
                  </a:lnTo>
                  <a:lnTo>
                    <a:pt x="37" y="507"/>
                  </a:lnTo>
                  <a:lnTo>
                    <a:pt x="37" y="531"/>
                  </a:lnTo>
                  <a:lnTo>
                    <a:pt x="37" y="533"/>
                  </a:lnTo>
                  <a:lnTo>
                    <a:pt x="35" y="535"/>
                  </a:lnTo>
                  <a:lnTo>
                    <a:pt x="33" y="535"/>
                  </a:lnTo>
                  <a:lnTo>
                    <a:pt x="30" y="535"/>
                  </a:lnTo>
                  <a:lnTo>
                    <a:pt x="28" y="533"/>
                  </a:lnTo>
                  <a:lnTo>
                    <a:pt x="28" y="531"/>
                  </a:lnTo>
                  <a:close/>
                  <a:moveTo>
                    <a:pt x="28" y="475"/>
                  </a:moveTo>
                  <a:lnTo>
                    <a:pt x="28" y="451"/>
                  </a:lnTo>
                  <a:lnTo>
                    <a:pt x="28" y="449"/>
                  </a:lnTo>
                  <a:lnTo>
                    <a:pt x="30" y="449"/>
                  </a:lnTo>
                  <a:lnTo>
                    <a:pt x="30" y="447"/>
                  </a:lnTo>
                  <a:lnTo>
                    <a:pt x="33" y="447"/>
                  </a:lnTo>
                  <a:lnTo>
                    <a:pt x="35" y="447"/>
                  </a:lnTo>
                  <a:lnTo>
                    <a:pt x="35" y="449"/>
                  </a:lnTo>
                  <a:lnTo>
                    <a:pt x="37" y="449"/>
                  </a:lnTo>
                  <a:lnTo>
                    <a:pt x="37" y="451"/>
                  </a:lnTo>
                  <a:lnTo>
                    <a:pt x="37" y="475"/>
                  </a:lnTo>
                  <a:lnTo>
                    <a:pt x="37" y="477"/>
                  </a:lnTo>
                  <a:lnTo>
                    <a:pt x="35" y="477"/>
                  </a:lnTo>
                  <a:lnTo>
                    <a:pt x="35" y="479"/>
                  </a:lnTo>
                  <a:lnTo>
                    <a:pt x="33" y="479"/>
                  </a:lnTo>
                  <a:lnTo>
                    <a:pt x="30" y="479"/>
                  </a:lnTo>
                  <a:lnTo>
                    <a:pt x="30" y="477"/>
                  </a:lnTo>
                  <a:lnTo>
                    <a:pt x="28" y="477"/>
                  </a:lnTo>
                  <a:lnTo>
                    <a:pt x="28" y="475"/>
                  </a:lnTo>
                  <a:close/>
                  <a:moveTo>
                    <a:pt x="28" y="419"/>
                  </a:moveTo>
                  <a:lnTo>
                    <a:pt x="28" y="395"/>
                  </a:lnTo>
                  <a:lnTo>
                    <a:pt x="28" y="393"/>
                  </a:lnTo>
                  <a:lnTo>
                    <a:pt x="30" y="393"/>
                  </a:lnTo>
                  <a:lnTo>
                    <a:pt x="30" y="391"/>
                  </a:lnTo>
                  <a:lnTo>
                    <a:pt x="33" y="391"/>
                  </a:lnTo>
                  <a:lnTo>
                    <a:pt x="35" y="391"/>
                  </a:lnTo>
                  <a:lnTo>
                    <a:pt x="35" y="393"/>
                  </a:lnTo>
                  <a:lnTo>
                    <a:pt x="37" y="393"/>
                  </a:lnTo>
                  <a:lnTo>
                    <a:pt x="37" y="395"/>
                  </a:lnTo>
                  <a:lnTo>
                    <a:pt x="37" y="419"/>
                  </a:lnTo>
                  <a:lnTo>
                    <a:pt x="37" y="421"/>
                  </a:lnTo>
                  <a:lnTo>
                    <a:pt x="35" y="421"/>
                  </a:lnTo>
                  <a:lnTo>
                    <a:pt x="35" y="423"/>
                  </a:lnTo>
                  <a:lnTo>
                    <a:pt x="33" y="423"/>
                  </a:lnTo>
                  <a:lnTo>
                    <a:pt x="30" y="423"/>
                  </a:lnTo>
                  <a:lnTo>
                    <a:pt x="30" y="421"/>
                  </a:lnTo>
                  <a:lnTo>
                    <a:pt x="28" y="421"/>
                  </a:lnTo>
                  <a:lnTo>
                    <a:pt x="28" y="419"/>
                  </a:lnTo>
                  <a:close/>
                  <a:moveTo>
                    <a:pt x="28" y="363"/>
                  </a:moveTo>
                  <a:lnTo>
                    <a:pt x="28" y="337"/>
                  </a:lnTo>
                  <a:lnTo>
                    <a:pt x="28" y="335"/>
                  </a:lnTo>
                  <a:lnTo>
                    <a:pt x="30" y="335"/>
                  </a:lnTo>
                  <a:lnTo>
                    <a:pt x="33" y="335"/>
                  </a:lnTo>
                  <a:lnTo>
                    <a:pt x="35" y="335"/>
                  </a:lnTo>
                  <a:lnTo>
                    <a:pt x="37" y="335"/>
                  </a:lnTo>
                  <a:lnTo>
                    <a:pt x="37" y="337"/>
                  </a:lnTo>
                  <a:lnTo>
                    <a:pt x="37" y="363"/>
                  </a:lnTo>
                  <a:lnTo>
                    <a:pt x="37" y="365"/>
                  </a:lnTo>
                  <a:lnTo>
                    <a:pt x="35" y="365"/>
                  </a:lnTo>
                  <a:lnTo>
                    <a:pt x="35" y="367"/>
                  </a:lnTo>
                  <a:lnTo>
                    <a:pt x="33" y="367"/>
                  </a:lnTo>
                  <a:lnTo>
                    <a:pt x="30" y="367"/>
                  </a:lnTo>
                  <a:lnTo>
                    <a:pt x="30" y="365"/>
                  </a:lnTo>
                  <a:lnTo>
                    <a:pt x="28" y="365"/>
                  </a:lnTo>
                  <a:lnTo>
                    <a:pt x="28" y="363"/>
                  </a:lnTo>
                  <a:close/>
                  <a:moveTo>
                    <a:pt x="28" y="304"/>
                  </a:moveTo>
                  <a:lnTo>
                    <a:pt x="28" y="281"/>
                  </a:lnTo>
                  <a:lnTo>
                    <a:pt x="28" y="278"/>
                  </a:lnTo>
                  <a:lnTo>
                    <a:pt x="30" y="278"/>
                  </a:lnTo>
                  <a:lnTo>
                    <a:pt x="30" y="276"/>
                  </a:lnTo>
                  <a:lnTo>
                    <a:pt x="33" y="276"/>
                  </a:lnTo>
                  <a:lnTo>
                    <a:pt x="35" y="276"/>
                  </a:lnTo>
                  <a:lnTo>
                    <a:pt x="35" y="278"/>
                  </a:lnTo>
                  <a:lnTo>
                    <a:pt x="37" y="278"/>
                  </a:lnTo>
                  <a:lnTo>
                    <a:pt x="37" y="281"/>
                  </a:lnTo>
                  <a:lnTo>
                    <a:pt x="37" y="304"/>
                  </a:lnTo>
                  <a:lnTo>
                    <a:pt x="37" y="307"/>
                  </a:lnTo>
                  <a:lnTo>
                    <a:pt x="35" y="309"/>
                  </a:lnTo>
                  <a:lnTo>
                    <a:pt x="33" y="309"/>
                  </a:lnTo>
                  <a:lnTo>
                    <a:pt x="30" y="309"/>
                  </a:lnTo>
                  <a:lnTo>
                    <a:pt x="28" y="307"/>
                  </a:lnTo>
                  <a:lnTo>
                    <a:pt x="28" y="304"/>
                  </a:lnTo>
                  <a:close/>
                  <a:moveTo>
                    <a:pt x="28" y="248"/>
                  </a:moveTo>
                  <a:lnTo>
                    <a:pt x="28" y="225"/>
                  </a:lnTo>
                  <a:lnTo>
                    <a:pt x="28" y="222"/>
                  </a:lnTo>
                  <a:lnTo>
                    <a:pt x="30" y="222"/>
                  </a:lnTo>
                  <a:lnTo>
                    <a:pt x="30" y="220"/>
                  </a:lnTo>
                  <a:lnTo>
                    <a:pt x="33" y="220"/>
                  </a:lnTo>
                  <a:lnTo>
                    <a:pt x="35" y="220"/>
                  </a:lnTo>
                  <a:lnTo>
                    <a:pt x="35" y="222"/>
                  </a:lnTo>
                  <a:lnTo>
                    <a:pt x="37" y="222"/>
                  </a:lnTo>
                  <a:lnTo>
                    <a:pt x="37" y="225"/>
                  </a:lnTo>
                  <a:lnTo>
                    <a:pt x="37" y="248"/>
                  </a:lnTo>
                  <a:lnTo>
                    <a:pt x="37" y="250"/>
                  </a:lnTo>
                  <a:lnTo>
                    <a:pt x="35" y="250"/>
                  </a:lnTo>
                  <a:lnTo>
                    <a:pt x="35" y="253"/>
                  </a:lnTo>
                  <a:lnTo>
                    <a:pt x="33" y="253"/>
                  </a:lnTo>
                  <a:lnTo>
                    <a:pt x="30" y="253"/>
                  </a:lnTo>
                  <a:lnTo>
                    <a:pt x="30" y="250"/>
                  </a:lnTo>
                  <a:lnTo>
                    <a:pt x="28" y="250"/>
                  </a:lnTo>
                  <a:lnTo>
                    <a:pt x="28" y="248"/>
                  </a:lnTo>
                  <a:close/>
                  <a:moveTo>
                    <a:pt x="28" y="192"/>
                  </a:moveTo>
                  <a:lnTo>
                    <a:pt x="28" y="169"/>
                  </a:lnTo>
                  <a:lnTo>
                    <a:pt x="28" y="166"/>
                  </a:lnTo>
                  <a:lnTo>
                    <a:pt x="30" y="166"/>
                  </a:lnTo>
                  <a:lnTo>
                    <a:pt x="30" y="164"/>
                  </a:lnTo>
                  <a:lnTo>
                    <a:pt x="33" y="164"/>
                  </a:lnTo>
                  <a:lnTo>
                    <a:pt x="35" y="164"/>
                  </a:lnTo>
                  <a:lnTo>
                    <a:pt x="35" y="166"/>
                  </a:lnTo>
                  <a:lnTo>
                    <a:pt x="37" y="166"/>
                  </a:lnTo>
                  <a:lnTo>
                    <a:pt x="37" y="169"/>
                  </a:lnTo>
                  <a:lnTo>
                    <a:pt x="37" y="192"/>
                  </a:lnTo>
                  <a:lnTo>
                    <a:pt x="37" y="194"/>
                  </a:lnTo>
                  <a:lnTo>
                    <a:pt x="35" y="194"/>
                  </a:lnTo>
                  <a:lnTo>
                    <a:pt x="35" y="197"/>
                  </a:lnTo>
                  <a:lnTo>
                    <a:pt x="33" y="197"/>
                  </a:lnTo>
                  <a:lnTo>
                    <a:pt x="30" y="197"/>
                  </a:lnTo>
                  <a:lnTo>
                    <a:pt x="30" y="194"/>
                  </a:lnTo>
                  <a:lnTo>
                    <a:pt x="28" y="194"/>
                  </a:lnTo>
                  <a:lnTo>
                    <a:pt x="28" y="192"/>
                  </a:lnTo>
                  <a:close/>
                  <a:moveTo>
                    <a:pt x="28" y="136"/>
                  </a:moveTo>
                  <a:lnTo>
                    <a:pt x="28" y="110"/>
                  </a:lnTo>
                  <a:lnTo>
                    <a:pt x="28" y="108"/>
                  </a:lnTo>
                  <a:lnTo>
                    <a:pt x="30" y="108"/>
                  </a:lnTo>
                  <a:lnTo>
                    <a:pt x="33" y="108"/>
                  </a:lnTo>
                  <a:lnTo>
                    <a:pt x="35" y="108"/>
                  </a:lnTo>
                  <a:lnTo>
                    <a:pt x="37" y="108"/>
                  </a:lnTo>
                  <a:lnTo>
                    <a:pt x="37" y="110"/>
                  </a:lnTo>
                  <a:lnTo>
                    <a:pt x="37" y="136"/>
                  </a:lnTo>
                  <a:lnTo>
                    <a:pt x="37" y="138"/>
                  </a:lnTo>
                  <a:lnTo>
                    <a:pt x="35" y="138"/>
                  </a:lnTo>
                  <a:lnTo>
                    <a:pt x="35" y="141"/>
                  </a:lnTo>
                  <a:lnTo>
                    <a:pt x="33" y="141"/>
                  </a:lnTo>
                  <a:lnTo>
                    <a:pt x="30" y="141"/>
                  </a:lnTo>
                  <a:lnTo>
                    <a:pt x="30" y="138"/>
                  </a:lnTo>
                  <a:lnTo>
                    <a:pt x="28" y="138"/>
                  </a:lnTo>
                  <a:lnTo>
                    <a:pt x="28" y="136"/>
                  </a:lnTo>
                  <a:close/>
                  <a:moveTo>
                    <a:pt x="28" y="78"/>
                  </a:moveTo>
                  <a:lnTo>
                    <a:pt x="28" y="54"/>
                  </a:lnTo>
                  <a:lnTo>
                    <a:pt x="28" y="52"/>
                  </a:lnTo>
                  <a:lnTo>
                    <a:pt x="30" y="52"/>
                  </a:lnTo>
                  <a:lnTo>
                    <a:pt x="30" y="50"/>
                  </a:lnTo>
                  <a:lnTo>
                    <a:pt x="33" y="50"/>
                  </a:lnTo>
                  <a:lnTo>
                    <a:pt x="35" y="50"/>
                  </a:lnTo>
                  <a:lnTo>
                    <a:pt x="35" y="52"/>
                  </a:lnTo>
                  <a:lnTo>
                    <a:pt x="37" y="52"/>
                  </a:lnTo>
                  <a:lnTo>
                    <a:pt x="37" y="54"/>
                  </a:lnTo>
                  <a:lnTo>
                    <a:pt x="37" y="78"/>
                  </a:lnTo>
                  <a:lnTo>
                    <a:pt x="37" y="80"/>
                  </a:lnTo>
                  <a:lnTo>
                    <a:pt x="35" y="82"/>
                  </a:lnTo>
                  <a:lnTo>
                    <a:pt x="33" y="82"/>
                  </a:lnTo>
                  <a:lnTo>
                    <a:pt x="30" y="82"/>
                  </a:lnTo>
                  <a:lnTo>
                    <a:pt x="28" y="80"/>
                  </a:lnTo>
                  <a:lnTo>
                    <a:pt x="28" y="78"/>
                  </a:lnTo>
                  <a:close/>
                  <a:moveTo>
                    <a:pt x="0" y="65"/>
                  </a:moveTo>
                  <a:lnTo>
                    <a:pt x="33" y="0"/>
                  </a:lnTo>
                  <a:lnTo>
                    <a:pt x="65" y="65"/>
                  </a:lnTo>
                  <a:lnTo>
                    <a:pt x="0" y="65"/>
                  </a:lnTo>
                  <a:close/>
                </a:path>
              </a:pathLst>
            </a:custGeom>
            <a:solidFill>
              <a:srgbClr val="000000"/>
            </a:solidFill>
            <a:ln w="3175" cap="flat" cmpd="sng">
              <a:solidFill>
                <a:srgbClr val="000000"/>
              </a:solidFill>
              <a:prstDash val="solid"/>
              <a:miter/>
              <a:headEnd type="none" w="med" len="med"/>
              <a:tailEnd type="none" w="med" len="med"/>
            </a:ln>
          </p:spPr>
          <p:txBody>
            <a:bodyPr/>
            <a:lstStyle/>
            <a:p>
              <a:endParaRPr lang="zh-CN" altLang="en-US"/>
            </a:p>
          </p:txBody>
        </p:sp>
        <p:sp>
          <p:nvSpPr>
            <p:cNvPr id="29703" name="Rectangle 9"/>
            <p:cNvSpPr/>
            <p:nvPr/>
          </p:nvSpPr>
          <p:spPr>
            <a:xfrm>
              <a:off x="2722" y="635"/>
              <a:ext cx="725" cy="408"/>
            </a:xfrm>
            <a:prstGeom prst="rect">
              <a:avLst/>
            </a:prstGeom>
            <a:solidFill>
              <a:srgbClr val="C0FCE9"/>
            </a:solidFill>
            <a:ln w="9525" cap="flat" cmpd="sng">
              <a:solidFill>
                <a:srgbClr val="000099"/>
              </a:solidFill>
              <a:prstDash val="solid"/>
              <a:miter/>
              <a:headEnd type="none" w="med" len="med"/>
              <a:tailEnd type="none" w="med" len="med"/>
            </a:ln>
          </p:spPr>
          <p:txBody>
            <a:bodyPr anchor="t"/>
            <a:lstStyle/>
            <a:p>
              <a:pPr lvl="0" indent="0" algn="ctr"/>
              <a:r>
                <a:rPr lang="zh-CN" altLang="en-US" sz="2000" dirty="0">
                  <a:solidFill>
                    <a:srgbClr val="000000"/>
                  </a:solidFill>
                  <a:latin typeface="宋体" panose="02010600030101010101" pitchFamily="2" charset="-122"/>
                  <a:ea typeface="宋体" panose="02010600030101010101" pitchFamily="2" charset="-122"/>
                </a:rPr>
                <a:t>某个</a:t>
              </a:r>
              <a:r>
                <a:rPr lang="en-US" altLang="x-none" sz="2000" dirty="0">
                  <a:solidFill>
                    <a:srgbClr val="000000"/>
                  </a:solidFill>
                  <a:latin typeface="宋体" panose="02010600030101010101" pitchFamily="2" charset="-122"/>
                  <a:ea typeface="宋体" panose="02010600030101010101" pitchFamily="2" charset="-122"/>
                </a:rPr>
                <a:t>DB</a:t>
              </a:r>
              <a:r>
                <a:rPr lang="zh-CN" altLang="en-US" sz="2000" dirty="0">
                  <a:solidFill>
                    <a:srgbClr val="000000"/>
                  </a:solidFill>
                  <a:latin typeface="宋体" panose="02010600030101010101" pitchFamily="2" charset="-122"/>
                  <a:ea typeface="宋体" panose="02010600030101010101" pitchFamily="2" charset="-122"/>
                </a:rPr>
                <a:t>用户</a:t>
              </a:r>
              <a:endParaRPr lang="zh-CN" altLang="en-US" sz="2000" dirty="0">
                <a:latin typeface="宋体" panose="02010600030101010101" pitchFamily="2" charset="-122"/>
                <a:ea typeface="宋体" panose="02010600030101010101" pitchFamily="2" charset="-122"/>
              </a:endParaRPr>
            </a:p>
          </p:txBody>
        </p:sp>
        <p:sp>
          <p:nvSpPr>
            <p:cNvPr id="29704" name="Rectangle 10"/>
            <p:cNvSpPr/>
            <p:nvPr/>
          </p:nvSpPr>
          <p:spPr>
            <a:xfrm>
              <a:off x="3629" y="136"/>
              <a:ext cx="1270" cy="1134"/>
            </a:xfrm>
            <a:prstGeom prst="rect">
              <a:avLst/>
            </a:prstGeom>
            <a:solidFill>
              <a:srgbClr val="FFFFCC"/>
            </a:solidFill>
            <a:ln w="9525" cap="flat" cmpd="sng">
              <a:solidFill>
                <a:srgbClr val="000099"/>
              </a:solidFill>
              <a:prstDash val="solid"/>
              <a:miter/>
              <a:headEnd type="none" w="med" len="med"/>
              <a:tailEnd type="none" w="med" len="med"/>
            </a:ln>
          </p:spPr>
          <p:txBody>
            <a:bodyPr anchor="t"/>
            <a:lstStyle/>
            <a:p>
              <a:pPr lvl="0" indent="0" algn="ctr"/>
              <a:r>
                <a:rPr lang="zh-CN" altLang="en-US" sz="2000" dirty="0">
                  <a:latin typeface="宋体" panose="02010600030101010101" pitchFamily="2" charset="-122"/>
                  <a:ea typeface="宋体" panose="02010600030101010101" pitchFamily="2" charset="-122"/>
                </a:rPr>
                <a:t>某个数据库</a:t>
              </a:r>
              <a:endParaRPr lang="zh-CN" altLang="en-US" sz="2000" dirty="0">
                <a:latin typeface="宋体" panose="02010600030101010101" pitchFamily="2" charset="-122"/>
                <a:ea typeface="宋体" panose="02010600030101010101" pitchFamily="2" charset="-122"/>
              </a:endParaRPr>
            </a:p>
            <a:p>
              <a:pPr lvl="0" indent="0" algn="ctr"/>
              <a:r>
                <a:rPr lang="zh-CN" altLang="en-US" sz="2000" dirty="0">
                  <a:latin typeface="宋体" panose="02010600030101010101" pitchFamily="2" charset="-122"/>
                  <a:ea typeface="宋体" panose="02010600030101010101" pitchFamily="2" charset="-122"/>
                </a:rPr>
                <a:t>（教学管理</a:t>
              </a:r>
              <a:r>
                <a:rPr lang="en-US" altLang="x-none" sz="2000" dirty="0">
                  <a:latin typeface="宋体" panose="02010600030101010101" pitchFamily="2" charset="-122"/>
                  <a:ea typeface="宋体" panose="02010600030101010101" pitchFamily="2" charset="-122"/>
                </a:rPr>
                <a:t>DB</a:t>
              </a:r>
              <a:r>
                <a:rPr lang="zh-CN" altLang="en-US" sz="2000" dirty="0">
                  <a:latin typeface="宋体" panose="02010600030101010101" pitchFamily="2" charset="-122"/>
                  <a:ea typeface="宋体" panose="02010600030101010101" pitchFamily="2" charset="-122"/>
                </a:rPr>
                <a:t>）</a:t>
              </a:r>
              <a:endParaRPr lang="zh-CN" altLang="en-US" sz="2000" dirty="0">
                <a:latin typeface="宋体" panose="02010600030101010101" pitchFamily="2" charset="-122"/>
                <a:ea typeface="宋体" panose="02010600030101010101" pitchFamily="2" charset="-122"/>
              </a:endParaRPr>
            </a:p>
            <a:p>
              <a:pPr lvl="0" indent="0"/>
              <a:endParaRPr lang="en-US" altLang="x-none" sz="3600" dirty="0">
                <a:latin typeface="宋体" panose="02010600030101010101" pitchFamily="2" charset="-122"/>
                <a:ea typeface="宋体" panose="02010600030101010101" pitchFamily="2" charset="-122"/>
              </a:endParaRPr>
            </a:p>
          </p:txBody>
        </p:sp>
        <p:sp>
          <p:nvSpPr>
            <p:cNvPr id="29705" name="Rectangle 11"/>
            <p:cNvSpPr/>
            <p:nvPr/>
          </p:nvSpPr>
          <p:spPr>
            <a:xfrm>
              <a:off x="3629" y="1406"/>
              <a:ext cx="1270" cy="272"/>
            </a:xfrm>
            <a:prstGeom prst="rect">
              <a:avLst/>
            </a:prstGeom>
            <a:solidFill>
              <a:srgbClr val="FFFFCC"/>
            </a:solidFill>
            <a:ln w="9525" cap="flat" cmpd="sng">
              <a:solidFill>
                <a:srgbClr val="000099"/>
              </a:solidFill>
              <a:prstDash val="solid"/>
              <a:miter/>
              <a:headEnd type="none" w="med" len="med"/>
              <a:tailEnd type="none" w="med" len="med"/>
            </a:ln>
          </p:spPr>
          <p:txBody>
            <a:bodyPr anchor="t"/>
            <a:lstStyle/>
            <a:p>
              <a:pPr lvl="0" indent="0" algn="ctr"/>
              <a:r>
                <a:rPr lang="zh-CN" altLang="en-US" sz="2000" dirty="0">
                  <a:latin typeface="宋体" panose="02010600030101010101" pitchFamily="2" charset="-122"/>
                  <a:ea typeface="宋体" panose="02010600030101010101" pitchFamily="2" charset="-122"/>
                </a:rPr>
                <a:t>其他数据库</a:t>
              </a:r>
              <a:endParaRPr lang="zh-CN" altLang="en-US" sz="2000" dirty="0">
                <a:latin typeface="宋体" panose="02010600030101010101" pitchFamily="2" charset="-122"/>
                <a:ea typeface="宋体" panose="02010600030101010101" pitchFamily="2" charset="-122"/>
              </a:endParaRPr>
            </a:p>
          </p:txBody>
        </p:sp>
        <p:sp>
          <p:nvSpPr>
            <p:cNvPr id="29706" name="Line 12"/>
            <p:cNvSpPr/>
            <p:nvPr/>
          </p:nvSpPr>
          <p:spPr>
            <a:xfrm>
              <a:off x="1089" y="771"/>
              <a:ext cx="1633" cy="0"/>
            </a:xfrm>
            <a:prstGeom prst="line">
              <a:avLst/>
            </a:prstGeom>
            <a:ln w="28575" cap="flat" cmpd="sng">
              <a:solidFill>
                <a:schemeClr val="tx1"/>
              </a:solidFill>
              <a:prstDash val="solid"/>
              <a:round/>
              <a:headEnd type="none" w="med" len="med"/>
              <a:tailEnd type="triangle" w="med" len="med"/>
            </a:ln>
          </p:spPr>
        </p:sp>
        <p:grpSp>
          <p:nvGrpSpPr>
            <p:cNvPr id="29707" name="Group 13"/>
            <p:cNvGrpSpPr/>
            <p:nvPr/>
          </p:nvGrpSpPr>
          <p:grpSpPr>
            <a:xfrm>
              <a:off x="1316" y="771"/>
              <a:ext cx="1270" cy="862"/>
              <a:chOff x="0" y="0"/>
              <a:chExt cx="1270" cy="862"/>
            </a:xfrm>
          </p:grpSpPr>
          <p:sp>
            <p:nvSpPr>
              <p:cNvPr id="29708" name="Rectangle 14"/>
              <p:cNvSpPr/>
              <p:nvPr/>
            </p:nvSpPr>
            <p:spPr>
              <a:xfrm>
                <a:off x="317" y="227"/>
                <a:ext cx="816" cy="635"/>
              </a:xfrm>
              <a:prstGeom prst="rect">
                <a:avLst/>
              </a:prstGeom>
              <a:solidFill>
                <a:srgbClr val="C0FCE9"/>
              </a:solidFill>
              <a:ln w="9525" cap="flat" cmpd="sng">
                <a:solidFill>
                  <a:srgbClr val="000099"/>
                </a:solidFill>
                <a:prstDash val="solid"/>
                <a:miter/>
                <a:headEnd type="none" w="med" len="med"/>
                <a:tailEnd type="none" w="med" len="med"/>
              </a:ln>
            </p:spPr>
            <p:txBody>
              <a:bodyPr anchor="t"/>
              <a:lstStyle/>
              <a:p>
                <a:pPr lvl="0" indent="0"/>
                <a:r>
                  <a:rPr lang="zh-CN" altLang="en-US" sz="2000" dirty="0">
                    <a:solidFill>
                      <a:srgbClr val="000000"/>
                    </a:solidFill>
                    <a:latin typeface="Times New Roman" panose="02020603050405020304" pitchFamily="2" charset="0"/>
                    <a:ea typeface="宋体" panose="02010600030101010101" pitchFamily="2" charset="-122"/>
                  </a:rPr>
                  <a:t>定义角色（</a:t>
                </a:r>
                <a:r>
                  <a:rPr lang="en-US" altLang="x-none" sz="2000" dirty="0">
                    <a:solidFill>
                      <a:srgbClr val="000000"/>
                    </a:solidFill>
                    <a:latin typeface="Times New Roman" panose="02020603050405020304" pitchFamily="2" charset="0"/>
                    <a:ea typeface="宋体" panose="02010600030101010101" pitchFamily="2" charset="-122"/>
                  </a:rPr>
                  <a:t>role)</a:t>
                </a:r>
                <a:r>
                  <a:rPr lang="en-US" altLang="x-none" sz="2400" dirty="0">
                    <a:solidFill>
                      <a:srgbClr val="000000"/>
                    </a:solidFill>
                    <a:latin typeface="Times New Roman" panose="02020603050405020304" pitchFamily="2" charset="0"/>
                    <a:ea typeface="宋体" panose="02010600030101010101" pitchFamily="2" charset="-122"/>
                  </a:rPr>
                  <a:t> </a:t>
                </a:r>
                <a:endParaRPr lang="en-US" altLang="x-none" sz="2400" dirty="0">
                  <a:latin typeface="Times New Roman" panose="02020603050405020304" pitchFamily="2" charset="0"/>
                  <a:ea typeface="宋体" panose="02010600030101010101" pitchFamily="2" charset="-122"/>
                </a:endParaRPr>
              </a:p>
            </p:txBody>
          </p:sp>
          <p:sp>
            <p:nvSpPr>
              <p:cNvPr id="29709" name="Line 15"/>
              <p:cNvSpPr/>
              <p:nvPr/>
            </p:nvSpPr>
            <p:spPr>
              <a:xfrm>
                <a:off x="0" y="0"/>
                <a:ext cx="0" cy="499"/>
              </a:xfrm>
              <a:prstGeom prst="line">
                <a:avLst/>
              </a:prstGeom>
              <a:ln w="28575" cap="flat" cmpd="sng">
                <a:solidFill>
                  <a:schemeClr val="tx1"/>
                </a:solidFill>
                <a:prstDash val="solid"/>
                <a:round/>
                <a:headEnd type="none" w="med" len="med"/>
                <a:tailEnd type="none" w="med" len="med"/>
              </a:ln>
            </p:spPr>
          </p:sp>
          <p:sp>
            <p:nvSpPr>
              <p:cNvPr id="29710" name="Line 16"/>
              <p:cNvSpPr/>
              <p:nvPr/>
            </p:nvSpPr>
            <p:spPr>
              <a:xfrm>
                <a:off x="0" y="499"/>
                <a:ext cx="317" cy="0"/>
              </a:xfrm>
              <a:prstGeom prst="line">
                <a:avLst/>
              </a:prstGeom>
              <a:ln w="28575" cap="flat" cmpd="sng">
                <a:solidFill>
                  <a:schemeClr val="tx1"/>
                </a:solidFill>
                <a:prstDash val="solid"/>
                <a:round/>
                <a:headEnd type="none" w="med" len="med"/>
                <a:tailEnd type="triangle" w="med" len="med"/>
              </a:ln>
            </p:spPr>
          </p:sp>
          <p:sp>
            <p:nvSpPr>
              <p:cNvPr id="29711" name="Line 17"/>
              <p:cNvSpPr/>
              <p:nvPr/>
            </p:nvSpPr>
            <p:spPr>
              <a:xfrm>
                <a:off x="1133" y="544"/>
                <a:ext cx="137" cy="0"/>
              </a:xfrm>
              <a:prstGeom prst="line">
                <a:avLst/>
              </a:prstGeom>
              <a:ln w="28575" cap="flat" cmpd="sng">
                <a:solidFill>
                  <a:schemeClr val="tx1"/>
                </a:solidFill>
                <a:prstDash val="solid"/>
                <a:round/>
                <a:headEnd type="none" w="med" len="med"/>
                <a:tailEnd type="none" w="med" len="med"/>
              </a:ln>
            </p:spPr>
          </p:sp>
          <p:sp>
            <p:nvSpPr>
              <p:cNvPr id="29712" name="Line 18"/>
              <p:cNvSpPr/>
              <p:nvPr/>
            </p:nvSpPr>
            <p:spPr>
              <a:xfrm flipV="1">
                <a:off x="1270" y="0"/>
                <a:ext cx="0" cy="544"/>
              </a:xfrm>
              <a:prstGeom prst="line">
                <a:avLst/>
              </a:prstGeom>
              <a:ln w="28575" cap="flat" cmpd="sng">
                <a:solidFill>
                  <a:schemeClr val="tx1"/>
                </a:solidFill>
                <a:prstDash val="solid"/>
                <a:round/>
                <a:headEnd type="none" w="med" len="med"/>
                <a:tailEnd type="triangle" w="med" len="med"/>
              </a:ln>
            </p:spPr>
          </p:sp>
        </p:grpSp>
        <p:sp>
          <p:nvSpPr>
            <p:cNvPr id="29713" name="Rectangle 19"/>
            <p:cNvSpPr/>
            <p:nvPr/>
          </p:nvSpPr>
          <p:spPr>
            <a:xfrm>
              <a:off x="3810" y="680"/>
              <a:ext cx="953" cy="227"/>
            </a:xfrm>
            <a:prstGeom prst="rect">
              <a:avLst/>
            </a:prstGeom>
            <a:solidFill>
              <a:srgbClr val="E6F7FA"/>
            </a:solidFill>
            <a:ln w="9525" cap="flat" cmpd="sng">
              <a:solidFill>
                <a:srgbClr val="000099"/>
              </a:solidFill>
              <a:prstDash val="solid"/>
              <a:miter/>
              <a:headEnd type="none" w="med" len="med"/>
              <a:tailEnd type="none" w="med" len="med"/>
            </a:ln>
          </p:spPr>
          <p:txBody>
            <a:bodyPr anchor="t"/>
            <a:lstStyle/>
            <a:p>
              <a:pPr lvl="0" indent="0" algn="ctr"/>
              <a:r>
                <a:rPr lang="en-US" altLang="x-none" dirty="0">
                  <a:solidFill>
                    <a:srgbClr val="000000"/>
                  </a:solidFill>
                  <a:latin typeface="宋体" panose="02010600030101010101" pitchFamily="2" charset="-122"/>
                  <a:ea typeface="宋体" panose="02010600030101010101" pitchFamily="2" charset="-122"/>
                </a:rPr>
                <a:t>SQL</a:t>
              </a:r>
              <a:r>
                <a:rPr lang="zh-CN" altLang="en-US" dirty="0">
                  <a:solidFill>
                    <a:srgbClr val="000000"/>
                  </a:solidFill>
                  <a:latin typeface="宋体" panose="02010600030101010101" pitchFamily="2" charset="-122"/>
                  <a:ea typeface="宋体" panose="02010600030101010101" pitchFamily="2" charset="-122"/>
                </a:rPr>
                <a:t>使用授权</a:t>
              </a:r>
              <a:endParaRPr lang="zh-CN" altLang="en-US" dirty="0">
                <a:latin typeface="宋体" panose="02010600030101010101" pitchFamily="2" charset="-122"/>
                <a:ea typeface="宋体" panose="02010600030101010101" pitchFamily="2" charset="-122"/>
              </a:endParaRPr>
            </a:p>
          </p:txBody>
        </p:sp>
        <p:sp>
          <p:nvSpPr>
            <p:cNvPr id="29714" name="Rectangle 20"/>
            <p:cNvSpPr/>
            <p:nvPr/>
          </p:nvSpPr>
          <p:spPr>
            <a:xfrm>
              <a:off x="3810" y="998"/>
              <a:ext cx="953" cy="227"/>
            </a:xfrm>
            <a:prstGeom prst="rect">
              <a:avLst/>
            </a:prstGeom>
            <a:solidFill>
              <a:srgbClr val="E6F7FA"/>
            </a:solidFill>
            <a:ln w="9525" cap="flat" cmpd="sng">
              <a:solidFill>
                <a:srgbClr val="000099"/>
              </a:solidFill>
              <a:prstDash val="solid"/>
              <a:miter/>
              <a:headEnd type="none" w="med" len="med"/>
              <a:tailEnd type="none" w="med" len="med"/>
            </a:ln>
          </p:spPr>
          <p:txBody>
            <a:bodyPr anchor="t"/>
            <a:lstStyle/>
            <a:p>
              <a:pPr lvl="0" indent="0" algn="ctr"/>
              <a:r>
                <a:rPr lang="en-US" altLang="x-none" dirty="0">
                  <a:solidFill>
                    <a:srgbClr val="000000"/>
                  </a:solidFill>
                  <a:latin typeface="宋体" panose="02010600030101010101" pitchFamily="2" charset="-122"/>
                  <a:ea typeface="宋体" panose="02010600030101010101" pitchFamily="2" charset="-122"/>
                </a:rPr>
                <a:t>DB</a:t>
              </a:r>
              <a:r>
                <a:rPr lang="zh-CN" altLang="en-US" dirty="0">
                  <a:solidFill>
                    <a:srgbClr val="000000"/>
                  </a:solidFill>
                  <a:latin typeface="宋体" panose="02010600030101010101" pitchFamily="2" charset="-122"/>
                  <a:ea typeface="宋体" panose="02010600030101010101" pitchFamily="2" charset="-122"/>
                </a:rPr>
                <a:t>对象授权</a:t>
              </a:r>
              <a:endParaRPr lang="zh-CN" altLang="en-US" dirty="0">
                <a:latin typeface="宋体" panose="02010600030101010101" pitchFamily="2" charset="-122"/>
                <a:ea typeface="宋体" panose="02010600030101010101" pitchFamily="2" charset="-122"/>
              </a:endParaRPr>
            </a:p>
          </p:txBody>
        </p:sp>
        <p:grpSp>
          <p:nvGrpSpPr>
            <p:cNvPr id="29715" name="Group 21"/>
            <p:cNvGrpSpPr/>
            <p:nvPr/>
          </p:nvGrpSpPr>
          <p:grpSpPr>
            <a:xfrm>
              <a:off x="3266" y="816"/>
              <a:ext cx="544" cy="614"/>
              <a:chOff x="0" y="0"/>
              <a:chExt cx="544" cy="614"/>
            </a:xfrm>
          </p:grpSpPr>
          <p:sp>
            <p:nvSpPr>
              <p:cNvPr id="29716" name="Line 22"/>
              <p:cNvSpPr/>
              <p:nvPr/>
            </p:nvSpPr>
            <p:spPr>
              <a:xfrm>
                <a:off x="181" y="0"/>
                <a:ext cx="363" cy="0"/>
              </a:xfrm>
              <a:prstGeom prst="line">
                <a:avLst/>
              </a:prstGeom>
              <a:ln w="28575" cap="flat" cmpd="sng">
                <a:solidFill>
                  <a:schemeClr val="tx1"/>
                </a:solidFill>
                <a:prstDash val="solid"/>
                <a:round/>
                <a:headEnd type="none" w="med" len="med"/>
                <a:tailEnd type="triangle" w="med" len="med"/>
              </a:ln>
            </p:spPr>
          </p:sp>
          <p:sp>
            <p:nvSpPr>
              <p:cNvPr id="29717" name="Line 23"/>
              <p:cNvSpPr/>
              <p:nvPr/>
            </p:nvSpPr>
            <p:spPr>
              <a:xfrm>
                <a:off x="227" y="0"/>
                <a:ext cx="0" cy="272"/>
              </a:xfrm>
              <a:prstGeom prst="line">
                <a:avLst/>
              </a:prstGeom>
              <a:ln w="28575" cap="flat" cmpd="sng">
                <a:solidFill>
                  <a:schemeClr val="tx1"/>
                </a:solidFill>
                <a:prstDash val="solid"/>
                <a:round/>
                <a:headEnd type="none" w="med" len="med"/>
                <a:tailEnd type="none" w="med" len="med"/>
              </a:ln>
            </p:spPr>
          </p:sp>
          <p:sp>
            <p:nvSpPr>
              <p:cNvPr id="29718" name="Line 24"/>
              <p:cNvSpPr/>
              <p:nvPr/>
            </p:nvSpPr>
            <p:spPr>
              <a:xfrm>
                <a:off x="227" y="272"/>
                <a:ext cx="317" cy="0"/>
              </a:xfrm>
              <a:prstGeom prst="line">
                <a:avLst/>
              </a:prstGeom>
              <a:ln w="28575" cap="flat" cmpd="sng">
                <a:solidFill>
                  <a:schemeClr val="tx1"/>
                </a:solidFill>
                <a:prstDash val="solid"/>
                <a:round/>
                <a:headEnd type="none" w="med" len="med"/>
                <a:tailEnd type="triangle" w="med" len="med"/>
              </a:ln>
            </p:spPr>
          </p:sp>
          <p:sp>
            <p:nvSpPr>
              <p:cNvPr id="29719" name="Rectangle 25"/>
              <p:cNvSpPr/>
              <p:nvPr/>
            </p:nvSpPr>
            <p:spPr>
              <a:xfrm>
                <a:off x="0" y="316"/>
                <a:ext cx="495" cy="298"/>
              </a:xfrm>
              <a:prstGeom prst="rect">
                <a:avLst/>
              </a:prstGeom>
              <a:noFill/>
              <a:ln w="9525">
                <a:noFill/>
              </a:ln>
            </p:spPr>
            <p:txBody>
              <a:bodyPr wrap="none" lIns="90000" tIns="46800" rIns="90000" bIns="46800" anchor="t">
                <a:spAutoFit/>
              </a:bodyPr>
              <a:lstStyle/>
              <a:p>
                <a:pPr lvl="0" indent="0"/>
                <a:r>
                  <a:rPr lang="zh-CN" altLang="en-US" sz="2000" dirty="0">
                    <a:solidFill>
                      <a:srgbClr val="CC0000"/>
                    </a:solidFill>
                    <a:latin typeface="宋体" panose="02010600030101010101" pitchFamily="2" charset="-122"/>
                    <a:ea typeface="宋体" panose="02010600030101010101" pitchFamily="2" charset="-122"/>
                  </a:rPr>
                  <a:t>授权 </a:t>
                </a:r>
                <a:endParaRPr lang="zh-CN" altLang="en-US" sz="2000" dirty="0">
                  <a:solidFill>
                    <a:srgbClr val="CC0000"/>
                  </a:solidFill>
                  <a:latin typeface="宋体" panose="02010600030101010101" pitchFamily="2" charset="-122"/>
                  <a:ea typeface="宋体" panose="02010600030101010101" pitchFamily="2" charset="-122"/>
                </a:endParaRPr>
              </a:p>
            </p:txBody>
          </p:sp>
        </p:grpSp>
      </p:grpSp>
      <p:sp>
        <p:nvSpPr>
          <p:cNvPr id="29720" name="Rectangle 2"/>
          <p:cNvSpPr/>
          <p:nvPr/>
        </p:nvSpPr>
        <p:spPr>
          <a:xfrm>
            <a:off x="457200" y="68263"/>
            <a:ext cx="8229600" cy="692150"/>
          </a:xfrm>
          <a:prstGeom prst="rect">
            <a:avLst/>
          </a:prstGeom>
          <a:noFill/>
          <a:ln w="9525">
            <a:noFill/>
          </a:ln>
        </p:spPr>
        <p:txBody>
          <a:bodyPr anchor="ctr"/>
          <a:lstStyle/>
          <a:p>
            <a:pPr lvl="0" indent="0"/>
            <a:r>
              <a:rPr lang="zh-CN" altLang="en-US" sz="3200" dirty="0">
                <a:solidFill>
                  <a:srgbClr val="FF0000"/>
                </a:solidFill>
                <a:latin typeface="Arial" panose="020B0604020202020204" pitchFamily="34" charset="0"/>
                <a:ea typeface="黑体" panose="02010609060101010101" pitchFamily="1" charset="-122"/>
              </a:rPr>
              <a:t>二、数据库的安全性</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29721" name="Rectangle 2"/>
          <p:cNvSpPr txBox="1"/>
          <p:nvPr/>
        </p:nvSpPr>
        <p:spPr>
          <a:xfrm>
            <a:off x="536575" y="712788"/>
            <a:ext cx="5689600" cy="576262"/>
          </a:xfrm>
          <a:prstGeom prst="rect">
            <a:avLst/>
          </a:prstGeom>
          <a:noFill/>
          <a:ln w="9525">
            <a:noFill/>
          </a:ln>
        </p:spPr>
        <p:txBody>
          <a:bodyPr anchor="t"/>
          <a:lstStyle/>
          <a:p>
            <a:pPr marL="457200" lvl="0" indent="-457200" defTabSz="0">
              <a:lnSpc>
                <a:spcPct val="135000"/>
              </a:lnSpc>
              <a:tabLst>
                <a:tab pos="1428750" algn="l"/>
              </a:tabLst>
            </a:pPr>
            <a:r>
              <a:rPr lang="en-US" altLang="x-none" sz="2800" dirty="0">
                <a:solidFill>
                  <a:srgbClr val="0033CC"/>
                </a:solidFill>
                <a:latin typeface="黑体" panose="02010609060101010101" pitchFamily="1" charset="-122"/>
                <a:ea typeface="黑体" panose="02010609060101010101" pitchFamily="1" charset="-122"/>
              </a:rPr>
              <a:t>3.</a:t>
            </a:r>
            <a:r>
              <a:rPr lang="en-US" altLang="x-none" sz="2800" dirty="0">
                <a:solidFill>
                  <a:srgbClr val="CC3300"/>
                </a:solidFill>
                <a:latin typeface="Times New Roman" panose="02020603050405020304" pitchFamily="2" charset="0"/>
                <a:ea typeface="宋体" panose="02010600030101010101" pitchFamily="2" charset="-122"/>
              </a:rPr>
              <a:t> </a:t>
            </a:r>
            <a:r>
              <a:rPr lang="en-US" altLang="x-none" sz="2800" dirty="0">
                <a:solidFill>
                  <a:srgbClr val="0033CC"/>
                </a:solidFill>
                <a:latin typeface="黑体" panose="02010609060101010101" pitchFamily="1" charset="-122"/>
                <a:ea typeface="黑体" panose="02010609060101010101" pitchFamily="1" charset="-122"/>
              </a:rPr>
              <a:t>SQL SERVER</a:t>
            </a:r>
            <a:r>
              <a:rPr lang="zh-CN" altLang="en-US" sz="2800" dirty="0">
                <a:solidFill>
                  <a:srgbClr val="0033CC"/>
                </a:solidFill>
                <a:latin typeface="黑体" panose="02010609060101010101" pitchFamily="1" charset="-122"/>
                <a:ea typeface="黑体" panose="02010609060101010101" pitchFamily="1" charset="-122"/>
              </a:rPr>
              <a:t>安全体系</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29722" name="矩形 27"/>
          <p:cNvSpPr/>
          <p:nvPr/>
        </p:nvSpPr>
        <p:spPr>
          <a:xfrm>
            <a:off x="4497388" y="895350"/>
            <a:ext cx="3863340" cy="457200"/>
          </a:xfrm>
          <a:prstGeom prst="rect">
            <a:avLst/>
          </a:prstGeom>
          <a:noFill/>
          <a:ln w="9525">
            <a:noFill/>
          </a:ln>
        </p:spPr>
        <p:txBody>
          <a:bodyPr wrap="none" anchor="t">
            <a:spAutoFit/>
          </a:bodyPr>
          <a:lstStyle/>
          <a:p>
            <a:pPr lvl="0" indent="0"/>
            <a:r>
              <a:rPr lang="zh-CN" altLang="en-US" sz="2400" dirty="0">
                <a:solidFill>
                  <a:srgbClr val="0033CC"/>
                </a:solidFill>
                <a:latin typeface="宋体" panose="02010600030101010101" pitchFamily="2" charset="-122"/>
                <a:ea typeface="宋体" panose="02010600030101010101" pitchFamily="2" charset="-122"/>
              </a:rPr>
              <a:t>（</a:t>
            </a:r>
            <a:r>
              <a:rPr lang="en-US" altLang="x-none" sz="2400" dirty="0">
                <a:solidFill>
                  <a:srgbClr val="0033CC"/>
                </a:solidFill>
                <a:latin typeface="宋体" panose="02010600030101010101" pitchFamily="2" charset="-122"/>
                <a:ea typeface="宋体" panose="02010600030101010101" pitchFamily="2" charset="-122"/>
              </a:rPr>
              <a:t>5</a:t>
            </a:r>
            <a:r>
              <a:rPr lang="zh-CN" altLang="en-US" sz="2400" dirty="0">
                <a:solidFill>
                  <a:srgbClr val="0033CC"/>
                </a:solidFill>
                <a:latin typeface="宋体" panose="02010600030101010101" pitchFamily="2" charset="-122"/>
                <a:ea typeface="宋体" panose="02010600030101010101" pitchFamily="2" charset="-122"/>
              </a:rPr>
              <a:t>）</a:t>
            </a:r>
            <a:r>
              <a:rPr lang="en-US" altLang="x-none" sz="2400" dirty="0">
                <a:solidFill>
                  <a:srgbClr val="0033CC"/>
                </a:solidFill>
                <a:latin typeface="宋体" panose="02010600030101010101" pitchFamily="2" charset="-122"/>
                <a:ea typeface="宋体" panose="02010600030101010101" pitchFamily="2" charset="-122"/>
              </a:rPr>
              <a:t>SQL</a:t>
            </a:r>
            <a:r>
              <a:rPr lang="zh-CN" altLang="en-US" sz="2400" dirty="0">
                <a:solidFill>
                  <a:srgbClr val="0033CC"/>
                </a:solidFill>
                <a:latin typeface="宋体" panose="02010600030101010101" pitchFamily="2" charset="-122"/>
                <a:ea typeface="宋体" panose="02010600030101010101" pitchFamily="2" charset="-122"/>
              </a:rPr>
              <a:t> </a:t>
            </a:r>
            <a:r>
              <a:rPr lang="en-US" altLang="x-none" sz="2400" dirty="0">
                <a:solidFill>
                  <a:srgbClr val="0033CC"/>
                </a:solidFill>
                <a:latin typeface="宋体" panose="02010600030101010101" pitchFamily="2" charset="-122"/>
                <a:ea typeface="宋体" panose="02010600030101010101" pitchFamily="2" charset="-122"/>
              </a:rPr>
              <a:t>Server</a:t>
            </a:r>
            <a:r>
              <a:rPr lang="zh-CN" altLang="en-US" sz="2400" dirty="0">
                <a:solidFill>
                  <a:srgbClr val="0033CC"/>
                </a:solidFill>
                <a:latin typeface="宋体" panose="02010600030101010101" pitchFamily="2" charset="-122"/>
                <a:ea typeface="宋体" panose="02010600030101010101" pitchFamily="2" charset="-122"/>
              </a:rPr>
              <a:t> 语句授权</a:t>
            </a:r>
            <a:endParaRPr lang="zh-CN" altLang="en-US" sz="2400" dirty="0">
              <a:solidFill>
                <a:srgbClr val="0033CC"/>
              </a:solidFill>
              <a:latin typeface="宋体" panose="02010600030101010101" pitchFamily="2" charset="-122"/>
              <a:ea typeface="宋体" panose="02010600030101010101" pitchFamily="2" charset="-122"/>
            </a:endParaRPr>
          </a:p>
        </p:txBody>
      </p:sp>
      <p:sp>
        <p:nvSpPr>
          <p:cNvPr id="31772" name="矩形 28"/>
          <p:cNvSpPr/>
          <p:nvPr/>
        </p:nvSpPr>
        <p:spPr>
          <a:xfrm>
            <a:off x="6577013" y="2419350"/>
            <a:ext cx="2087563" cy="466725"/>
          </a:xfrm>
          <a:prstGeom prst="rect">
            <a:avLst/>
          </a:prstGeom>
          <a:noFill/>
          <a:ln w="66675" cap="flat" cmpd="sng">
            <a:solidFill>
              <a:srgbClr val="0033CC"/>
            </a:solidFill>
            <a:prstDash val="dash"/>
            <a:miter/>
            <a:headEnd type="none" w="med" len="med"/>
            <a:tailEnd type="none" w="med" len="med"/>
          </a:ln>
        </p:spPr>
        <p:txBody>
          <a:bodyPr anchor="ctr">
            <a:spAutoFit/>
          </a:bodyPr>
          <a:lstStyle/>
          <a:p>
            <a:pPr marL="262255" lvl="0" indent="-262255" eaLnBrk="1" fontAlgn="base" hangingPunct="1">
              <a:lnSpc>
                <a:spcPct val="135000"/>
              </a:lnSpc>
              <a:buBlip>
                <a:blip r:embed="rId1"/>
              </a:buBlip>
            </a:pPr>
            <a:endParaRPr lang="zh-CN" altLang="en-US"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sp>
        <p:nvSpPr>
          <p:cNvPr id="31773" name="Rectangle 26"/>
          <p:cNvSpPr/>
          <p:nvPr/>
        </p:nvSpPr>
        <p:spPr>
          <a:xfrm>
            <a:off x="530225" y="2184400"/>
            <a:ext cx="8316913" cy="3894138"/>
          </a:xfrm>
          <a:prstGeom prst="rect">
            <a:avLst/>
          </a:prstGeom>
          <a:solidFill>
            <a:schemeClr val="bg1"/>
          </a:solidFill>
          <a:ln w="9525" cap="flat" cmpd="sng">
            <a:solidFill>
              <a:schemeClr val="tx1"/>
            </a:solidFill>
            <a:prstDash val="solid"/>
            <a:miter/>
            <a:headEnd type="none" w="med" len="med"/>
            <a:tailEnd type="none" w="med" len="med"/>
          </a:ln>
        </p:spPr>
        <p:txBody>
          <a:bodyPr lIns="90000" tIns="46800" rIns="90000" bIns="46800" anchor="ctr"/>
          <a:lstStyle/>
          <a:p>
            <a:pPr marL="457200" lvl="0" indent="-457200"/>
            <a:r>
              <a:rPr lang="zh-CN" altLang="en-US" sz="2200" dirty="0">
                <a:latin typeface="华文楷体" panose="02010600040101010101" pitchFamily="2" charset="-122"/>
                <a:ea typeface="华文楷体" panose="02010600040101010101" pitchFamily="2" charset="-122"/>
              </a:rPr>
              <a:t>某数据库的用户。当他要执行数据库操作之前，还必须为该用户授予所要操作对象或命令的权限。</a:t>
            </a:r>
            <a:endParaRPr lang="zh-CN" altLang="en-US" sz="2200" dirty="0">
              <a:latin typeface="华文楷体" panose="02010600040101010101" pitchFamily="2" charset="-122"/>
              <a:ea typeface="华文楷体" panose="02010600040101010101" pitchFamily="2" charset="-122"/>
            </a:endParaRPr>
          </a:p>
          <a:p>
            <a:pPr marL="457200" lvl="0" indent="-457200"/>
            <a:r>
              <a:rPr lang="en-US" altLang="x-none" sz="2200" dirty="0">
                <a:latin typeface="华文楷体" panose="02010600040101010101" pitchFamily="2" charset="-122"/>
                <a:ea typeface="华文楷体" panose="02010600040101010101" pitchFamily="2" charset="-122"/>
              </a:rPr>
              <a:t>DCL</a:t>
            </a:r>
            <a:r>
              <a:rPr lang="zh-CN" altLang="en-US" sz="2200" dirty="0">
                <a:latin typeface="华文楷体" panose="02010600040101010101" pitchFamily="2" charset="-122"/>
                <a:ea typeface="华文楷体" panose="02010600040101010101" pitchFamily="2" charset="-122"/>
              </a:rPr>
              <a:t>授权语法：</a:t>
            </a:r>
            <a:endParaRPr lang="zh-CN" altLang="en-US" sz="2200" dirty="0">
              <a:latin typeface="华文楷体" panose="02010600040101010101" pitchFamily="2" charset="-122"/>
              <a:ea typeface="华文楷体" panose="02010600040101010101" pitchFamily="2" charset="-122"/>
            </a:endParaRPr>
          </a:p>
          <a:p>
            <a:pPr marL="457200" lvl="0" indent="-457200"/>
            <a:r>
              <a:rPr lang="en-US" altLang="x-none" sz="2200" dirty="0">
                <a:latin typeface="华文楷体" panose="02010600040101010101" pitchFamily="2" charset="-122"/>
                <a:ea typeface="华文楷体" panose="02010600040101010101" pitchFamily="2" charset="-122"/>
              </a:rPr>
              <a:t>GRANT { ALL | </a:t>
            </a:r>
            <a:r>
              <a:rPr lang="zh-CN" altLang="en-US" sz="2200" dirty="0">
                <a:latin typeface="华文楷体" panose="02010600040101010101" pitchFamily="2" charset="-122"/>
                <a:ea typeface="华文楷体" panose="02010600040101010101" pitchFamily="2" charset="-122"/>
              </a:rPr>
              <a:t>语句 </a:t>
            </a:r>
            <a:r>
              <a:rPr lang="en-US" altLang="x-none" sz="2200" dirty="0">
                <a:latin typeface="华文楷体" panose="02010600040101010101" pitchFamily="2" charset="-122"/>
                <a:ea typeface="华文楷体" panose="02010600040101010101" pitchFamily="2" charset="-122"/>
              </a:rPr>
              <a:t>[ ,...n ] } TO &lt;</a:t>
            </a:r>
            <a:r>
              <a:rPr lang="zh-CN" altLang="en-US" sz="2200" dirty="0">
                <a:latin typeface="华文楷体" panose="02010600040101010101" pitchFamily="2" charset="-122"/>
                <a:ea typeface="华文楷体" panose="02010600040101010101" pitchFamily="2" charset="-122"/>
              </a:rPr>
              <a:t>数据库角色或用户</a:t>
            </a:r>
            <a:r>
              <a:rPr lang="en-US" altLang="x-none" sz="2200" dirty="0">
                <a:latin typeface="华文楷体" panose="02010600040101010101" pitchFamily="2" charset="-122"/>
                <a:ea typeface="华文楷体" panose="02010600040101010101" pitchFamily="2" charset="-122"/>
              </a:rPr>
              <a:t>&gt; [ ,...n ] </a:t>
            </a:r>
            <a:endParaRPr lang="en-US" altLang="x-none" sz="2200" dirty="0">
              <a:latin typeface="华文楷体" panose="02010600040101010101" pitchFamily="2" charset="-122"/>
              <a:ea typeface="华文楷体" panose="02010600040101010101" pitchFamily="2" charset="-122"/>
            </a:endParaRPr>
          </a:p>
          <a:p>
            <a:pPr marL="457200" lvl="0" indent="-457200"/>
            <a:r>
              <a:rPr lang="zh-CN" altLang="en-US" sz="2200" dirty="0">
                <a:latin typeface="华文楷体" panose="02010600040101010101" pitchFamily="2" charset="-122"/>
                <a:ea typeface="华文楷体" panose="02010600040101010101" pitchFamily="2" charset="-122"/>
              </a:rPr>
              <a:t>可被授权的语句： </a:t>
            </a:r>
            <a:endParaRPr lang="zh-CN" altLang="en-US" sz="2200" dirty="0">
              <a:latin typeface="华文楷体" panose="02010600040101010101" pitchFamily="2" charset="-122"/>
              <a:ea typeface="华文楷体" panose="02010600040101010101" pitchFamily="2" charset="-122"/>
            </a:endParaRPr>
          </a:p>
          <a:p>
            <a:pPr marL="457200" lvl="0" indent="-457200"/>
            <a:r>
              <a:rPr lang="en-US" altLang="x-none" sz="2200" dirty="0">
                <a:latin typeface="华文楷体" panose="02010600040101010101" pitchFamily="2" charset="-122"/>
                <a:ea typeface="华文楷体" panose="02010600040101010101" pitchFamily="2" charset="-122"/>
              </a:rPr>
              <a:t>CREATE DATABASE</a:t>
            </a:r>
            <a:r>
              <a:rPr lang="zh-CN" altLang="en-US" sz="2200" dirty="0">
                <a:latin typeface="华文楷体" panose="02010600040101010101" pitchFamily="2" charset="-122"/>
                <a:ea typeface="华文楷体" panose="02010600040101010101" pitchFamily="2" charset="-122"/>
              </a:rPr>
              <a:t>、</a:t>
            </a:r>
            <a:r>
              <a:rPr lang="en-US" altLang="x-none" sz="2200" dirty="0">
                <a:latin typeface="华文楷体" panose="02010600040101010101" pitchFamily="2" charset="-122"/>
                <a:ea typeface="华文楷体" panose="02010600040101010101" pitchFamily="2" charset="-122"/>
              </a:rPr>
              <a:t>CREATE DEFAULT</a:t>
            </a:r>
            <a:r>
              <a:rPr lang="zh-CN" altLang="en-US" sz="2200" dirty="0">
                <a:latin typeface="华文楷体" panose="02010600040101010101" pitchFamily="2" charset="-122"/>
                <a:ea typeface="华文楷体" panose="02010600040101010101" pitchFamily="2" charset="-122"/>
              </a:rPr>
              <a:t>、</a:t>
            </a:r>
            <a:r>
              <a:rPr lang="en-US" altLang="x-none" sz="2200" dirty="0">
                <a:latin typeface="华文楷体" panose="02010600040101010101" pitchFamily="2" charset="-122"/>
                <a:ea typeface="华文楷体" panose="02010600040101010101" pitchFamily="2" charset="-122"/>
              </a:rPr>
              <a:t>CREATE FUNCTION</a:t>
            </a:r>
            <a:r>
              <a:rPr lang="zh-CN" altLang="en-US" sz="2200" dirty="0">
                <a:latin typeface="华文楷体" panose="02010600040101010101" pitchFamily="2" charset="-122"/>
                <a:ea typeface="华文楷体" panose="02010600040101010101" pitchFamily="2" charset="-122"/>
              </a:rPr>
              <a:t>、</a:t>
            </a:r>
            <a:r>
              <a:rPr lang="en-US" altLang="x-none" sz="2200" dirty="0">
                <a:latin typeface="华文楷体" panose="02010600040101010101" pitchFamily="2" charset="-122"/>
                <a:ea typeface="华文楷体" panose="02010600040101010101" pitchFamily="2" charset="-122"/>
              </a:rPr>
              <a:t>CREATE PROCEDURE</a:t>
            </a:r>
            <a:r>
              <a:rPr lang="zh-CN" altLang="en-US" sz="2200" dirty="0">
                <a:latin typeface="华文楷体" panose="02010600040101010101" pitchFamily="2" charset="-122"/>
                <a:ea typeface="华文楷体" panose="02010600040101010101" pitchFamily="2" charset="-122"/>
              </a:rPr>
              <a:t>、</a:t>
            </a:r>
            <a:r>
              <a:rPr lang="en-US" altLang="x-none" sz="2200" dirty="0">
                <a:latin typeface="华文楷体" panose="02010600040101010101" pitchFamily="2" charset="-122"/>
                <a:ea typeface="华文楷体" panose="02010600040101010101" pitchFamily="2" charset="-122"/>
              </a:rPr>
              <a:t>CREATE RULE</a:t>
            </a:r>
            <a:r>
              <a:rPr lang="zh-CN" altLang="en-US" sz="2200" dirty="0">
                <a:latin typeface="华文楷体" panose="02010600040101010101" pitchFamily="2" charset="-122"/>
                <a:ea typeface="华文楷体" panose="02010600040101010101" pitchFamily="2" charset="-122"/>
              </a:rPr>
              <a:t>、</a:t>
            </a:r>
            <a:r>
              <a:rPr lang="en-US" altLang="x-none" sz="2200" dirty="0">
                <a:latin typeface="华文楷体" panose="02010600040101010101" pitchFamily="2" charset="-122"/>
                <a:ea typeface="华文楷体" panose="02010600040101010101" pitchFamily="2" charset="-122"/>
              </a:rPr>
              <a:t>CREATE TABLE</a:t>
            </a:r>
            <a:r>
              <a:rPr lang="zh-CN" altLang="en-US" sz="2200" dirty="0">
                <a:latin typeface="华文楷体" panose="02010600040101010101" pitchFamily="2" charset="-122"/>
                <a:ea typeface="华文楷体" panose="02010600040101010101" pitchFamily="2" charset="-122"/>
              </a:rPr>
              <a:t>、</a:t>
            </a:r>
            <a:r>
              <a:rPr lang="en-US" altLang="x-none" sz="2200" dirty="0">
                <a:latin typeface="华文楷体" panose="02010600040101010101" pitchFamily="2" charset="-122"/>
                <a:ea typeface="华文楷体" panose="02010600040101010101" pitchFamily="2" charset="-122"/>
              </a:rPr>
              <a:t>CREATE VIEW</a:t>
            </a:r>
            <a:r>
              <a:rPr lang="zh-CN" altLang="en-US" sz="2200" dirty="0">
                <a:latin typeface="华文楷体" panose="02010600040101010101" pitchFamily="2" charset="-122"/>
                <a:ea typeface="华文楷体" panose="02010600040101010101" pitchFamily="2" charset="-122"/>
              </a:rPr>
              <a:t>、</a:t>
            </a:r>
            <a:r>
              <a:rPr lang="en-US" altLang="x-none" sz="2200" dirty="0">
                <a:latin typeface="华文楷体" panose="02010600040101010101" pitchFamily="2" charset="-122"/>
                <a:ea typeface="华文楷体" panose="02010600040101010101" pitchFamily="2" charset="-122"/>
              </a:rPr>
              <a:t>BACKUP DATABASE</a:t>
            </a:r>
            <a:r>
              <a:rPr lang="zh-CN" altLang="en-US" sz="2200" dirty="0">
                <a:latin typeface="华文楷体" panose="02010600040101010101" pitchFamily="2" charset="-122"/>
                <a:ea typeface="华文楷体" panose="02010600040101010101" pitchFamily="2" charset="-122"/>
              </a:rPr>
              <a:t>、</a:t>
            </a:r>
            <a:r>
              <a:rPr lang="en-US" altLang="x-none" sz="2200" dirty="0">
                <a:latin typeface="华文楷体" panose="02010600040101010101" pitchFamily="2" charset="-122"/>
                <a:ea typeface="华文楷体" panose="02010600040101010101" pitchFamily="2" charset="-122"/>
              </a:rPr>
              <a:t>BACKUP LOG</a:t>
            </a:r>
            <a:r>
              <a:rPr lang="zh-CN" altLang="en-US" sz="2200" dirty="0">
                <a:latin typeface="华文楷体" panose="02010600040101010101" pitchFamily="2" charset="-122"/>
                <a:ea typeface="华文楷体" panose="02010600040101010101" pitchFamily="2" charset="-122"/>
              </a:rPr>
              <a:t>。</a:t>
            </a:r>
            <a:endParaRPr lang="en-US" altLang="x-none" sz="2200" dirty="0">
              <a:latin typeface="华文楷体" panose="02010600040101010101" pitchFamily="2" charset="-122"/>
              <a:ea typeface="华文楷体" panose="02010600040101010101" pitchFamily="2" charset="-122"/>
            </a:endParaRPr>
          </a:p>
          <a:p>
            <a:pPr marL="457200" lvl="0" indent="-457200"/>
            <a:r>
              <a:rPr lang="en-US" altLang="x-none" sz="2200" dirty="0">
                <a:solidFill>
                  <a:srgbClr val="FF0000"/>
                </a:solidFill>
                <a:latin typeface="华文楷体" panose="02010600040101010101" pitchFamily="2" charset="-122"/>
                <a:ea typeface="华文楷体" panose="02010600040101010101" pitchFamily="2" charset="-122"/>
              </a:rPr>
              <a:t>Grant Create table to </a:t>
            </a:r>
            <a:r>
              <a:rPr lang="en-US" altLang="x-none" sz="2200" dirty="0">
                <a:solidFill>
                  <a:srgbClr val="FF0000"/>
                </a:solidFill>
                <a:latin typeface="华文楷体" panose="02010600040101010101" pitchFamily="2" charset="-122"/>
                <a:ea typeface="华文楷体" panose="02010600040101010101" pitchFamily="2" charset="-122"/>
                <a:sym typeface="+mn-ea"/>
              </a:rPr>
              <a:t>'Student'</a:t>
            </a:r>
            <a:endParaRPr lang="en-US" altLang="x-none" sz="2200" dirty="0">
              <a:solidFill>
                <a:srgbClr val="FF0000"/>
              </a:solidFill>
              <a:latin typeface="华文楷体" panose="02010600040101010101" pitchFamily="2" charset="-122"/>
              <a:ea typeface="华文楷体" panose="02010600040101010101" pitchFamily="2" charset="-122"/>
            </a:endParaRPr>
          </a:p>
          <a:p>
            <a:pPr marL="457200" lvl="0" indent="-457200"/>
            <a:r>
              <a:rPr lang="en-US" altLang="x-none" sz="2000" dirty="0">
                <a:solidFill>
                  <a:srgbClr val="FF0000"/>
                </a:solidFill>
                <a:latin typeface="华文楷体" panose="02010600040101010101" pitchFamily="2" charset="-122"/>
                <a:ea typeface="华文楷体" panose="02010600040101010101" pitchFamily="2" charset="-122"/>
              </a:rPr>
              <a:t>Grant Create table </a:t>
            </a:r>
            <a:r>
              <a:rPr lang="en-US" altLang="x-none" sz="2200" dirty="0">
                <a:solidFill>
                  <a:srgbClr val="FF0000"/>
                </a:solidFill>
                <a:latin typeface="华文楷体" panose="02010600040101010101" pitchFamily="2" charset="-122"/>
                <a:ea typeface="华文楷体" panose="02010600040101010101" pitchFamily="2" charset="-122"/>
                <a:cs typeface="+mn-ea"/>
              </a:rPr>
              <a:t>to </a:t>
            </a:r>
            <a:r>
              <a:rPr lang="en-US" altLang="x-none" sz="2200" dirty="0">
                <a:solidFill>
                  <a:srgbClr val="FF0000"/>
                </a:solidFill>
                <a:latin typeface="华文楷体" panose="02010600040101010101" pitchFamily="2" charset="-122"/>
                <a:ea typeface="华文楷体" panose="02010600040101010101" pitchFamily="2" charset="-122"/>
                <a:cs typeface="+mn-ea"/>
                <a:sym typeface="+mn-ea"/>
              </a:rPr>
              <a:t>'wtest6'</a:t>
            </a:r>
            <a:endParaRPr lang="en-US" altLang="x-none" sz="2200" dirty="0">
              <a:solidFill>
                <a:srgbClr val="FF0000"/>
              </a:solidFill>
              <a:latin typeface="华文楷体" panose="02010600040101010101" pitchFamily="2" charset="-122"/>
              <a:ea typeface="华文楷体" panose="02010600040101010101" pitchFamily="2" charset="-122"/>
              <a:cs typeface="+mn-ea"/>
            </a:endParaRPr>
          </a:p>
        </p:txBody>
      </p:sp>
      <p:sp>
        <p:nvSpPr>
          <p:cNvPr id="12295" name="Rectangle 3"/>
          <p:cNvSpPr txBox="1"/>
          <p:nvPr/>
        </p:nvSpPr>
        <p:spPr>
          <a:xfrm>
            <a:off x="5000625" y="161290"/>
            <a:ext cx="3841115" cy="507365"/>
          </a:xfrm>
          <a:prstGeom prst="rect">
            <a:avLst/>
          </a:prstGeom>
          <a:solidFill>
            <a:schemeClr val="accent1"/>
          </a:solidFill>
          <a:ln w="9525">
            <a:solidFill>
              <a:srgbClr val="3402C2"/>
            </a:solidFill>
            <a:prstDash val="dash"/>
          </a:ln>
        </p:spPr>
        <p:txBody>
          <a:bodyPr anchor="t"/>
          <a:lstStyle/>
          <a:p>
            <a:pPr marL="342900" lvl="0" indent="-342900" eaLnBrk="0" hangingPunct="0">
              <a:lnSpc>
                <a:spcPct val="120000"/>
              </a:lnSpc>
              <a:spcBef>
                <a:spcPct val="20000"/>
              </a:spcBef>
              <a:buClr>
                <a:srgbClr val="0033CC"/>
              </a:buClr>
              <a:buSzPct val="80000"/>
              <a:buFont typeface="Wingdings" panose="05000000000000000000" pitchFamily="2" charset="2"/>
              <a:buChar char="u"/>
            </a:pPr>
            <a:r>
              <a:rPr lang="zh-CN" sz="2400" dirty="0">
                <a:latin typeface="华文楷体" panose="02010600040101010101" pitchFamily="2" charset="-122"/>
                <a:ea typeface="宋体" panose="02010600030101010101" pitchFamily="2" charset="-122"/>
              </a:rPr>
              <a:t>进</a:t>
            </a:r>
            <a:r>
              <a:rPr lang="en-US" altLang="zh-CN" sz="2400" dirty="0">
                <a:latin typeface="华文楷体" panose="02010600040101010101" pitchFamily="2" charset="-122"/>
                <a:ea typeface="宋体" panose="02010600030101010101" pitchFamily="2" charset="-122"/>
              </a:rPr>
              <a:t>SQL Server</a:t>
            </a:r>
            <a:r>
              <a:rPr lang="zh-CN" altLang="zh-CN" sz="2400" dirty="0">
                <a:latin typeface="华文楷体" panose="02010600040101010101" pitchFamily="2" charset="-122"/>
                <a:ea typeface="宋体" panose="02010600030101010101" pitchFamily="2" charset="-122"/>
              </a:rPr>
              <a:t>的第三道门</a:t>
            </a:r>
            <a:endParaRPr lang="zh-CN" altLang="zh-CN" sz="2400" dirty="0">
              <a:latin typeface="华文楷体" panose="0201060004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1772"/>
                                        </p:tgtEl>
                                        <p:attrNameLst>
                                          <p:attrName>style.visibility</p:attrName>
                                        </p:attrNameLst>
                                      </p:cBhvr>
                                      <p:to>
                                        <p:strVal val="visible"/>
                                      </p:to>
                                    </p:set>
                                    <p:anim calcmode="lin" valueType="num">
                                      <p:cBhvr>
                                        <p:cTn id="7" dur="500" fill="hold"/>
                                        <p:tgtEl>
                                          <p:spTgt spid="31772"/>
                                        </p:tgtEl>
                                        <p:attrNameLst>
                                          <p:attrName>ppt_x</p:attrName>
                                        </p:attrNameLst>
                                      </p:cBhvr>
                                      <p:tavLst>
                                        <p:tav tm="0">
                                          <p:val>
                                            <p:strVal val="#ppt_x"/>
                                          </p:val>
                                        </p:tav>
                                        <p:tav tm="100000">
                                          <p:val>
                                            <p:strVal val="#ppt_x"/>
                                          </p:val>
                                        </p:tav>
                                      </p:tavLst>
                                    </p:anim>
                                    <p:anim calcmode="lin" valueType="num">
                                      <p:cBhvr>
                                        <p:cTn id="8" dur="500" fill="hold"/>
                                        <p:tgtEl>
                                          <p:spTgt spid="3177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31773">
                                            <p:bg/>
                                          </p:spTgt>
                                        </p:tgtEl>
                                        <p:attrNameLst>
                                          <p:attrName>style.visibility</p:attrName>
                                        </p:attrNameLst>
                                      </p:cBhvr>
                                      <p:to>
                                        <p:strVal val="visible"/>
                                      </p:to>
                                    </p:set>
                                    <p:animEffect transition="in" filter="wipe(down)">
                                      <p:cBhvr>
                                        <p:cTn id="13" dur="500"/>
                                        <p:tgtEl>
                                          <p:spTgt spid="31773">
                                            <p:bg/>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1773">
                                            <p:txEl>
                                              <p:pRg st="0" end="0"/>
                                            </p:txEl>
                                          </p:spTgt>
                                        </p:tgtEl>
                                        <p:attrNameLst>
                                          <p:attrName>style.visibility</p:attrName>
                                        </p:attrNameLst>
                                      </p:cBhvr>
                                      <p:to>
                                        <p:strVal val="visible"/>
                                      </p:to>
                                    </p:set>
                                    <p:animEffect transition="in" filter="wipe(down)">
                                      <p:cBhvr>
                                        <p:cTn id="16" dur="500"/>
                                        <p:tgtEl>
                                          <p:spTgt spid="31773">
                                            <p:txEl>
                                              <p:pRg st="0" end="0"/>
                                            </p:txEl>
                                          </p:spTgt>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31773">
                                            <p:txEl>
                                              <p:pRg st="1" end="1"/>
                                            </p:txEl>
                                          </p:spTgt>
                                        </p:tgtEl>
                                        <p:attrNameLst>
                                          <p:attrName>style.visibility</p:attrName>
                                        </p:attrNameLst>
                                      </p:cBhvr>
                                      <p:to>
                                        <p:strVal val="visible"/>
                                      </p:to>
                                    </p:set>
                                    <p:animEffect transition="in" filter="wipe(down)">
                                      <p:cBhvr>
                                        <p:cTn id="19" dur="500"/>
                                        <p:tgtEl>
                                          <p:spTgt spid="31773">
                                            <p:txEl>
                                              <p:pRg st="1" end="1"/>
                                            </p:txEl>
                                          </p:spTgt>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31773">
                                            <p:txEl>
                                              <p:pRg st="2" end="2"/>
                                            </p:txEl>
                                          </p:spTgt>
                                        </p:tgtEl>
                                        <p:attrNameLst>
                                          <p:attrName>style.visibility</p:attrName>
                                        </p:attrNameLst>
                                      </p:cBhvr>
                                      <p:to>
                                        <p:strVal val="visible"/>
                                      </p:to>
                                    </p:set>
                                    <p:animEffect transition="in" filter="wipe(down)">
                                      <p:cBhvr>
                                        <p:cTn id="22" dur="500"/>
                                        <p:tgtEl>
                                          <p:spTgt spid="31773">
                                            <p:txEl>
                                              <p:pRg st="2" end="2"/>
                                            </p:txEl>
                                          </p:spTgt>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31773">
                                            <p:txEl>
                                              <p:pRg st="3" end="3"/>
                                            </p:txEl>
                                          </p:spTgt>
                                        </p:tgtEl>
                                        <p:attrNameLst>
                                          <p:attrName>style.visibility</p:attrName>
                                        </p:attrNameLst>
                                      </p:cBhvr>
                                      <p:to>
                                        <p:strVal val="visible"/>
                                      </p:to>
                                    </p:set>
                                    <p:animEffect transition="in" filter="wipe(down)">
                                      <p:cBhvr>
                                        <p:cTn id="25" dur="500"/>
                                        <p:tgtEl>
                                          <p:spTgt spid="31773">
                                            <p:txEl>
                                              <p:pRg st="3" end="3"/>
                                            </p:txEl>
                                          </p:spTgt>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31773">
                                            <p:txEl>
                                              <p:pRg st="4" end="4"/>
                                            </p:txEl>
                                          </p:spTgt>
                                        </p:tgtEl>
                                        <p:attrNameLst>
                                          <p:attrName>style.visibility</p:attrName>
                                        </p:attrNameLst>
                                      </p:cBhvr>
                                      <p:to>
                                        <p:strVal val="visible"/>
                                      </p:to>
                                    </p:set>
                                    <p:animEffect transition="in" filter="wipe(down)">
                                      <p:cBhvr>
                                        <p:cTn id="28" dur="500"/>
                                        <p:tgtEl>
                                          <p:spTgt spid="31773">
                                            <p:txEl>
                                              <p:pRg st="4" end="4"/>
                                            </p:txEl>
                                          </p:spTgt>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31773">
                                            <p:txEl>
                                              <p:pRg st="5" end="5"/>
                                            </p:txEl>
                                          </p:spTgt>
                                        </p:tgtEl>
                                        <p:attrNameLst>
                                          <p:attrName>style.visibility</p:attrName>
                                        </p:attrNameLst>
                                      </p:cBhvr>
                                      <p:to>
                                        <p:strVal val="visible"/>
                                      </p:to>
                                    </p:set>
                                    <p:animEffect transition="in" filter="wipe(down)">
                                      <p:cBhvr>
                                        <p:cTn id="31" dur="500"/>
                                        <p:tgtEl>
                                          <p:spTgt spid="31773">
                                            <p:txEl>
                                              <p:pRg st="5" end="5"/>
                                            </p:txEl>
                                          </p:spTgt>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31773">
                                            <p:txEl>
                                              <p:pRg st="6" end="6"/>
                                            </p:txEl>
                                          </p:spTgt>
                                        </p:tgtEl>
                                        <p:attrNameLst>
                                          <p:attrName>style.visibility</p:attrName>
                                        </p:attrNameLst>
                                      </p:cBhvr>
                                      <p:to>
                                        <p:strVal val="visible"/>
                                      </p:to>
                                    </p:set>
                                    <p:animEffect transition="in" filter="wipe(down)">
                                      <p:cBhvr>
                                        <p:cTn id="34" dur="500"/>
                                        <p:tgtEl>
                                          <p:spTgt spid="3177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72" grpId="0" bldLvl="0" animBg="1"/>
      <p:bldP spid="31773" grpId="0" animBg="1" uiExpand="1" build="allAtOnce"/>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96" name="Rectangle 2"/>
          <p:cNvSpPr/>
          <p:nvPr/>
        </p:nvSpPr>
        <p:spPr>
          <a:xfrm>
            <a:off x="457200" y="68263"/>
            <a:ext cx="8229600" cy="692150"/>
          </a:xfrm>
          <a:prstGeom prst="rect">
            <a:avLst/>
          </a:prstGeom>
          <a:noFill/>
          <a:ln w="9525">
            <a:noFill/>
          </a:ln>
        </p:spPr>
        <p:txBody>
          <a:bodyPr anchor="ctr"/>
          <a:lstStyle/>
          <a:p>
            <a:pPr lvl="0" indent="0"/>
            <a:r>
              <a:rPr lang="zh-CN" altLang="en-US" sz="3200" dirty="0">
                <a:solidFill>
                  <a:srgbClr val="FF0000"/>
                </a:solidFill>
                <a:latin typeface="Arial" panose="020B0604020202020204" pitchFamily="34" charset="0"/>
                <a:ea typeface="黑体" panose="02010609060101010101" pitchFamily="1" charset="-122"/>
              </a:rPr>
              <a:t>二、数据库的安全性</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28697" name="Rectangle 2"/>
          <p:cNvSpPr txBox="1"/>
          <p:nvPr/>
        </p:nvSpPr>
        <p:spPr>
          <a:xfrm>
            <a:off x="536575" y="712788"/>
            <a:ext cx="5689600" cy="576262"/>
          </a:xfrm>
          <a:prstGeom prst="rect">
            <a:avLst/>
          </a:prstGeom>
          <a:noFill/>
          <a:ln w="9525">
            <a:noFill/>
          </a:ln>
        </p:spPr>
        <p:txBody>
          <a:bodyPr anchor="t"/>
          <a:lstStyle/>
          <a:p>
            <a:pPr marL="457200" lvl="0" indent="-457200" defTabSz="0">
              <a:lnSpc>
                <a:spcPct val="135000"/>
              </a:lnSpc>
              <a:tabLst>
                <a:tab pos="1428750" algn="l"/>
              </a:tabLst>
            </a:pPr>
            <a:r>
              <a:rPr lang="zh-CN" altLang="zh-CN" sz="2800" dirty="0">
                <a:solidFill>
                  <a:srgbClr val="0033CC"/>
                </a:solidFill>
                <a:latin typeface="黑体" panose="02010609060101010101" pitchFamily="1" charset="-122"/>
                <a:ea typeface="黑体" panose="02010609060101010101" pitchFamily="1" charset="-122"/>
              </a:rPr>
              <a:t>课堂练习</a:t>
            </a:r>
            <a:endParaRPr lang="zh-CN" altLang="zh-CN" sz="2800" dirty="0">
              <a:solidFill>
                <a:srgbClr val="0033CC"/>
              </a:solidFill>
              <a:latin typeface="黑体" panose="02010609060101010101" pitchFamily="1" charset="-122"/>
              <a:ea typeface="黑体" panose="02010609060101010101" pitchFamily="1" charset="-122"/>
            </a:endParaRPr>
          </a:p>
        </p:txBody>
      </p:sp>
      <p:sp>
        <p:nvSpPr>
          <p:cNvPr id="2" name="文本框 1"/>
          <p:cNvSpPr txBox="1"/>
          <p:nvPr/>
        </p:nvSpPr>
        <p:spPr>
          <a:xfrm>
            <a:off x="666115" y="1417955"/>
            <a:ext cx="8020685" cy="1351280"/>
          </a:xfrm>
          <a:prstGeom prst="rect">
            <a:avLst/>
          </a:prstGeom>
          <a:noFill/>
        </p:spPr>
        <p:txBody>
          <a:bodyPr wrap="square" rtlCol="0" anchor="t">
            <a:spAutoFit/>
          </a:bodyPr>
          <a:lstStyle/>
          <a:p>
            <a:pPr marL="342900" indent="-342900">
              <a:lnSpc>
                <a:spcPct val="130000"/>
              </a:lnSpc>
              <a:spcBef>
                <a:spcPts val="0"/>
              </a:spcBef>
              <a:spcAft>
                <a:spcPts val="0"/>
              </a:spcAft>
              <a:buFont typeface="Wingdings" panose="05000000000000000000" charset="0"/>
              <a:buChar char=""/>
            </a:pPr>
            <a:r>
              <a:rPr lang="zh-CN" altLang="en-US" sz="2100"/>
              <a:t>以</a:t>
            </a:r>
            <a:r>
              <a:rPr lang="en-US" altLang="zh-CN" sz="2100"/>
              <a:t>Sa</a:t>
            </a:r>
            <a:r>
              <a:rPr lang="zh-CN" altLang="zh-CN" sz="2100"/>
              <a:t>用户身份登陆</a:t>
            </a:r>
            <a:r>
              <a:rPr lang="en-US" altLang="zh-CN" sz="2100"/>
              <a:t>SQL Server</a:t>
            </a:r>
            <a:r>
              <a:rPr lang="zh-CN" altLang="zh-CN" sz="2100"/>
              <a:t>，创建</a:t>
            </a:r>
            <a:r>
              <a:rPr lang="en-US" altLang="zh-CN" sz="2100"/>
              <a:t>“student”</a:t>
            </a:r>
            <a:r>
              <a:rPr lang="zh-CN" altLang="zh-CN" sz="2100"/>
              <a:t>角色，为前面创建的用户</a:t>
            </a:r>
            <a:r>
              <a:rPr lang="en-US" altLang="zh-CN" sz="2100"/>
              <a:t>‘</a:t>
            </a:r>
            <a:r>
              <a:rPr lang="zh-CN" altLang="en-US" sz="2100"/>
              <a:t>2014110056</a:t>
            </a:r>
            <a:r>
              <a:rPr lang="en-US" altLang="zh-CN" sz="2100"/>
              <a:t>’</a:t>
            </a:r>
            <a:r>
              <a:rPr lang="zh-CN" altLang="en-US" sz="2100"/>
              <a:t>和</a:t>
            </a:r>
            <a:r>
              <a:rPr lang="en-US" altLang="zh-CN" sz="2100"/>
              <a:t>‘</a:t>
            </a:r>
            <a:r>
              <a:rPr lang="zh-CN" altLang="en-US" sz="2100"/>
              <a:t>2014110057</a:t>
            </a:r>
            <a:r>
              <a:rPr lang="en-US" altLang="zh-CN" sz="2100"/>
              <a:t>’</a:t>
            </a:r>
            <a:r>
              <a:rPr lang="zh-CN" altLang="en-US" sz="2100"/>
              <a:t>分配该角色，并为角色授权允许创建表和视图。</a:t>
            </a:r>
            <a:endParaRPr lang="zh-CN" altLang="en-US" sz="2100"/>
          </a:p>
        </p:txBody>
      </p:sp>
      <p:sp>
        <p:nvSpPr>
          <p:cNvPr id="26653" name="Text Box 26"/>
          <p:cNvSpPr txBox="1"/>
          <p:nvPr/>
        </p:nvSpPr>
        <p:spPr>
          <a:xfrm>
            <a:off x="768350" y="2850515"/>
            <a:ext cx="7815580" cy="2790190"/>
          </a:xfrm>
          <a:prstGeom prst="rect">
            <a:avLst/>
          </a:prstGeom>
          <a:solidFill>
            <a:schemeClr val="bg1"/>
          </a:solidFill>
          <a:ln w="9525" cap="flat" cmpd="sng">
            <a:solidFill>
              <a:schemeClr val="tx1"/>
            </a:solidFill>
            <a:prstDash val="solid"/>
            <a:miter/>
            <a:headEnd type="none" w="med" len="med"/>
            <a:tailEnd type="none" w="med" len="med"/>
          </a:ln>
        </p:spPr>
        <p:txBody>
          <a:bodyPr wrap="square" lIns="90000" tIns="46800" rIns="90000" bIns="46800" anchor="t">
            <a:spAutoFit/>
          </a:bodyPr>
          <a:lstStyle/>
          <a:p>
            <a:pPr lvl="0">
              <a:lnSpc>
                <a:spcPct val="114000"/>
              </a:lnSpc>
            </a:pPr>
            <a:r>
              <a:rPr lang="en-US" altLang="x-none" sz="2200" dirty="0">
                <a:solidFill>
                  <a:schemeClr val="tx1"/>
                </a:solidFill>
                <a:latin typeface="华文楷体" panose="02010600040101010101" pitchFamily="2" charset="-122"/>
                <a:ea typeface="华文楷体" panose="02010600040101010101" pitchFamily="2" charset="-122"/>
              </a:rPr>
              <a:t>--</a:t>
            </a:r>
            <a:r>
              <a:rPr lang="zh-CN" altLang="x-none" sz="2200" dirty="0">
                <a:solidFill>
                  <a:schemeClr val="tx1"/>
                </a:solidFill>
                <a:latin typeface="华文楷体" panose="02010600040101010101" pitchFamily="2" charset="-122"/>
                <a:ea typeface="华文楷体" panose="02010600040101010101" pitchFamily="2" charset="-122"/>
              </a:rPr>
              <a:t>创</a:t>
            </a:r>
            <a:r>
              <a:rPr lang="zh-CN" altLang="x-none" sz="2200" dirty="0">
                <a:solidFill>
                  <a:schemeClr val="tx1"/>
                </a:solidFill>
                <a:latin typeface="华文楷体" panose="02010600040101010101" pitchFamily="2" charset="-122"/>
                <a:ea typeface="华文楷体" panose="02010600040101010101" pitchFamily="2" charset="-122"/>
                <a:cs typeface="+mn-ea"/>
              </a:rPr>
              <a:t>建</a:t>
            </a:r>
            <a:r>
              <a:rPr lang="en-US" altLang="zh-CN" sz="2200">
                <a:sym typeface="+mn-ea"/>
              </a:rPr>
              <a:t>“student”</a:t>
            </a:r>
            <a:r>
              <a:rPr lang="zh-CN" altLang="zh-CN" sz="2200">
                <a:sym typeface="+mn-ea"/>
              </a:rPr>
              <a:t>角色</a:t>
            </a:r>
            <a:endParaRPr lang="en-US" altLang="zh-CN" sz="2200" dirty="0">
              <a:solidFill>
                <a:schemeClr val="tx1"/>
              </a:solidFill>
              <a:latin typeface="华文楷体" panose="02010600040101010101" pitchFamily="2" charset="-122"/>
              <a:ea typeface="华文楷体" panose="02010600040101010101" pitchFamily="2" charset="-122"/>
              <a:cs typeface="+mn-ea"/>
              <a:sym typeface="+mn-ea"/>
            </a:endParaRPr>
          </a:p>
          <a:p>
            <a:pPr lvl="0">
              <a:lnSpc>
                <a:spcPct val="114000"/>
              </a:lnSpc>
            </a:pPr>
            <a:r>
              <a:rPr lang="en-US" altLang="x-none" sz="2200" dirty="0">
                <a:solidFill>
                  <a:srgbClr val="0033CC"/>
                </a:solidFill>
                <a:latin typeface="华文楷体" panose="02010600040101010101" pitchFamily="2" charset="-122"/>
                <a:ea typeface="华文楷体" panose="02010600040101010101" pitchFamily="2" charset="-122"/>
                <a:cs typeface="+mn-ea"/>
                <a:sym typeface="+mn-ea"/>
              </a:rPr>
              <a:t>use  peixunjigou </a:t>
            </a:r>
            <a:endParaRPr lang="en-US" altLang="x-none" sz="2200" dirty="0">
              <a:solidFill>
                <a:srgbClr val="0033CC"/>
              </a:solidFill>
              <a:latin typeface="华文楷体" panose="02010600040101010101" pitchFamily="2" charset="-122"/>
              <a:ea typeface="华文楷体" panose="02010600040101010101" pitchFamily="2" charset="-122"/>
              <a:cs typeface="+mn-ea"/>
              <a:sym typeface="+mn-ea"/>
            </a:endParaRPr>
          </a:p>
          <a:p>
            <a:pPr lvl="0">
              <a:lnSpc>
                <a:spcPct val="114000"/>
              </a:lnSpc>
            </a:pPr>
            <a:r>
              <a:rPr lang="en-US" altLang="x-none" sz="2200" dirty="0">
                <a:solidFill>
                  <a:srgbClr val="0033CC"/>
                </a:solidFill>
                <a:latin typeface="华文楷体" panose="02010600040101010101" pitchFamily="2" charset="-122"/>
                <a:ea typeface="华文楷体" panose="02010600040101010101" pitchFamily="2" charset="-122"/>
              </a:rPr>
              <a:t>sp_addrole </a:t>
            </a:r>
            <a:r>
              <a:rPr lang="en-US" altLang="x-none" sz="2200" dirty="0">
                <a:solidFill>
                  <a:srgbClr val="0033CC"/>
                </a:solidFill>
                <a:latin typeface="华文楷体" panose="02010600040101010101" pitchFamily="2" charset="-122"/>
                <a:ea typeface="华文楷体" panose="02010600040101010101" pitchFamily="2" charset="-122"/>
                <a:cs typeface="+mn-ea"/>
              </a:rPr>
              <a:t>'Student'</a:t>
            </a:r>
            <a:r>
              <a:rPr lang="en-US" altLang="x-none" sz="2200" dirty="0">
                <a:solidFill>
                  <a:srgbClr val="0033CC"/>
                </a:solidFill>
                <a:latin typeface="华文楷体" panose="02010600040101010101" pitchFamily="2" charset="-122"/>
                <a:ea typeface="华文楷体" panose="02010600040101010101" pitchFamily="2" charset="-122"/>
              </a:rPr>
              <a:t>,'DBO'</a:t>
            </a:r>
            <a:endParaRPr lang="en-US" altLang="x-none" sz="2200" dirty="0">
              <a:solidFill>
                <a:srgbClr val="0033CC"/>
              </a:solidFill>
              <a:latin typeface="华文楷体" panose="02010600040101010101" pitchFamily="2" charset="-122"/>
              <a:ea typeface="华文楷体" panose="02010600040101010101" pitchFamily="2" charset="-122"/>
            </a:endParaRPr>
          </a:p>
          <a:p>
            <a:pPr lvl="0">
              <a:lnSpc>
                <a:spcPct val="114000"/>
              </a:lnSpc>
            </a:pPr>
            <a:r>
              <a:rPr lang="en-US" altLang="x-none" sz="2200" dirty="0">
                <a:solidFill>
                  <a:srgbClr val="0033CC"/>
                </a:solidFill>
                <a:latin typeface="华文楷体" panose="02010600040101010101" pitchFamily="2" charset="-122"/>
                <a:ea typeface="华文楷体" panose="02010600040101010101" pitchFamily="2" charset="-122"/>
                <a:cs typeface="+mn-ea"/>
                <a:sym typeface="+mn-ea"/>
              </a:rPr>
              <a:t>sp_addrolemember </a:t>
            </a:r>
            <a:r>
              <a:rPr lang="en-US" altLang="x-none" sz="2200" dirty="0">
                <a:solidFill>
                  <a:srgbClr val="0033CC"/>
                </a:solidFill>
                <a:latin typeface="华文楷体" panose="02010600040101010101" pitchFamily="2" charset="-122"/>
                <a:ea typeface="华文楷体" panose="02010600040101010101" pitchFamily="2" charset="-122"/>
                <a:cs typeface="+mn-ea"/>
              </a:rPr>
              <a:t> </a:t>
            </a:r>
            <a:r>
              <a:rPr lang="en-US" altLang="x-none" sz="2200" dirty="0">
                <a:solidFill>
                  <a:srgbClr val="0033CC"/>
                </a:solidFill>
                <a:latin typeface="华文楷体" panose="02010600040101010101" pitchFamily="2" charset="-122"/>
                <a:ea typeface="华文楷体" panose="02010600040101010101" pitchFamily="2" charset="-122"/>
                <a:cs typeface="+mn-ea"/>
                <a:sym typeface="+mn-ea"/>
              </a:rPr>
              <a:t>'Student'</a:t>
            </a:r>
            <a:r>
              <a:rPr lang="en-US" altLang="x-none" sz="2200" dirty="0">
                <a:solidFill>
                  <a:srgbClr val="0033CC"/>
                </a:solidFill>
                <a:latin typeface="华文楷体" panose="02010600040101010101" pitchFamily="2" charset="-122"/>
                <a:ea typeface="华文楷体" panose="02010600040101010101" pitchFamily="2" charset="-122"/>
                <a:sym typeface="+mn-ea"/>
              </a:rPr>
              <a:t>,</a:t>
            </a:r>
            <a:r>
              <a:rPr lang="en-US" altLang="x-none" sz="2200" dirty="0">
                <a:solidFill>
                  <a:srgbClr val="0033CC"/>
                </a:solidFill>
                <a:latin typeface="华文楷体" panose="02010600040101010101" pitchFamily="2" charset="-122"/>
                <a:ea typeface="华文楷体" panose="02010600040101010101" pitchFamily="2" charset="-122"/>
                <a:cs typeface="+mn-ea"/>
                <a:sym typeface="+mn-ea"/>
              </a:rPr>
              <a:t>'2014110056'</a:t>
            </a:r>
            <a:endParaRPr lang="en-US" altLang="x-none" sz="2200" dirty="0">
              <a:solidFill>
                <a:srgbClr val="0033CC"/>
              </a:solidFill>
              <a:latin typeface="华文楷体" panose="02010600040101010101" pitchFamily="2" charset="-122"/>
              <a:ea typeface="华文楷体" panose="02010600040101010101" pitchFamily="2" charset="-122"/>
              <a:cs typeface="+mn-ea"/>
              <a:sym typeface="+mn-ea"/>
            </a:endParaRPr>
          </a:p>
          <a:p>
            <a:pPr lvl="0">
              <a:lnSpc>
                <a:spcPct val="114000"/>
              </a:lnSpc>
            </a:pPr>
            <a:r>
              <a:rPr lang="en-US" altLang="x-none" sz="2200" dirty="0">
                <a:solidFill>
                  <a:srgbClr val="0033CC"/>
                </a:solidFill>
                <a:latin typeface="华文楷体" panose="02010600040101010101" pitchFamily="2" charset="-122"/>
                <a:ea typeface="华文楷体" panose="02010600040101010101" pitchFamily="2" charset="-122"/>
                <a:cs typeface="+mn-ea"/>
                <a:sym typeface="+mn-ea"/>
              </a:rPr>
              <a:t>sp_addrolemember  'Student'</a:t>
            </a:r>
            <a:r>
              <a:rPr lang="en-US" altLang="x-none" sz="2200" dirty="0">
                <a:solidFill>
                  <a:srgbClr val="0033CC"/>
                </a:solidFill>
                <a:latin typeface="华文楷体" panose="02010600040101010101" pitchFamily="2" charset="-122"/>
                <a:ea typeface="华文楷体" panose="02010600040101010101" pitchFamily="2" charset="-122"/>
                <a:sym typeface="+mn-ea"/>
              </a:rPr>
              <a:t>,</a:t>
            </a:r>
            <a:r>
              <a:rPr lang="en-US" altLang="x-none" sz="2200" dirty="0">
                <a:solidFill>
                  <a:srgbClr val="0033CC"/>
                </a:solidFill>
                <a:latin typeface="华文楷体" panose="02010600040101010101" pitchFamily="2" charset="-122"/>
                <a:ea typeface="华文楷体" panose="02010600040101010101" pitchFamily="2" charset="-122"/>
                <a:cs typeface="+mn-ea"/>
                <a:sym typeface="+mn-ea"/>
              </a:rPr>
              <a:t>'2014110057'</a:t>
            </a:r>
            <a:endParaRPr lang="en-US" altLang="x-none" sz="2200" dirty="0">
              <a:solidFill>
                <a:srgbClr val="0033CC"/>
              </a:solidFill>
              <a:latin typeface="华文楷体" panose="02010600040101010101" pitchFamily="2" charset="-122"/>
              <a:ea typeface="华文楷体" panose="02010600040101010101" pitchFamily="2" charset="-122"/>
              <a:cs typeface="+mn-ea"/>
              <a:sym typeface="+mn-ea"/>
            </a:endParaRPr>
          </a:p>
          <a:p>
            <a:pPr lvl="0">
              <a:lnSpc>
                <a:spcPct val="114000"/>
              </a:lnSpc>
            </a:pPr>
            <a:r>
              <a:rPr lang="zh-CN" altLang="x-none" sz="2200" dirty="0">
                <a:latin typeface="华文楷体" panose="02010600040101010101" pitchFamily="2" charset="-122"/>
                <a:ea typeface="华文楷体" panose="02010600040101010101" pitchFamily="2" charset="-122"/>
                <a:cs typeface="+mn-ea"/>
              </a:rPr>
              <a:t>--为</a:t>
            </a:r>
            <a:r>
              <a:rPr lang="en-US" altLang="zh-CN" sz="2200">
                <a:sym typeface="+mn-ea"/>
              </a:rPr>
              <a:t>“student”</a:t>
            </a:r>
            <a:r>
              <a:rPr lang="zh-CN" altLang="zh-CN" sz="2200">
                <a:sym typeface="+mn-ea"/>
              </a:rPr>
              <a:t>角色授权创建表和视图</a:t>
            </a:r>
            <a:endParaRPr lang="zh-CN" altLang="en-US" sz="2000" dirty="0">
              <a:solidFill>
                <a:srgbClr val="FF0000"/>
              </a:solidFill>
              <a:latin typeface="华文楷体" panose="02010600040101010101" pitchFamily="2" charset="-122"/>
              <a:ea typeface="华文楷体" panose="02010600040101010101" pitchFamily="2" charset="-122"/>
              <a:sym typeface="+mn-ea"/>
            </a:endParaRPr>
          </a:p>
          <a:p>
            <a:pPr marL="457200" lvl="0" indent="-457200">
              <a:lnSpc>
                <a:spcPct val="114000"/>
              </a:lnSpc>
            </a:pPr>
            <a:r>
              <a:rPr lang="en-US" altLang="x-none" sz="2200" dirty="0">
                <a:solidFill>
                  <a:srgbClr val="0033CC"/>
                </a:solidFill>
                <a:latin typeface="华文楷体" panose="02010600040101010101" pitchFamily="2" charset="-122"/>
                <a:ea typeface="华文楷体" panose="02010600040101010101" pitchFamily="2" charset="-122"/>
                <a:cs typeface="+mn-ea"/>
              </a:rPr>
              <a:t>grant </a:t>
            </a:r>
            <a:r>
              <a:rPr lang="en-US" altLang="zh-CN" sz="2200" dirty="0">
                <a:solidFill>
                  <a:srgbClr val="0033CC"/>
                </a:solidFill>
                <a:latin typeface="华文楷体" panose="02010600040101010101" pitchFamily="2" charset="-122"/>
                <a:ea typeface="华文楷体" panose="02010600040101010101" pitchFamily="2" charset="-122"/>
                <a:cs typeface="+mn-ea"/>
              </a:rPr>
              <a:t>create table,create view to </a:t>
            </a:r>
            <a:r>
              <a:rPr lang="en-US" altLang="x-none" sz="2200" dirty="0">
                <a:solidFill>
                  <a:srgbClr val="0033CC"/>
                </a:solidFill>
                <a:latin typeface="华文楷体" panose="02010600040101010101" pitchFamily="2" charset="-122"/>
                <a:ea typeface="华文楷体" panose="02010600040101010101" pitchFamily="2" charset="-122"/>
                <a:cs typeface="+mn-ea"/>
                <a:sym typeface="+mn-ea"/>
              </a:rPr>
              <a:t>Student</a:t>
            </a:r>
            <a:endParaRPr lang="en-US" altLang="zh-CN" sz="2200" dirty="0">
              <a:solidFill>
                <a:srgbClr val="0033CC"/>
              </a:solidFill>
              <a:latin typeface="华文楷体" panose="02010600040101010101" pitchFamily="2" charset="-122"/>
              <a:ea typeface="华文楷体" panose="02010600040101010101" pitchFamily="2" charset="-122"/>
              <a:cs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653"/>
                                        </p:tgtEl>
                                        <p:attrNameLst>
                                          <p:attrName>style.visibility</p:attrName>
                                        </p:attrNameLst>
                                      </p:cBhvr>
                                      <p:to>
                                        <p:strVal val="visible"/>
                                      </p:to>
                                    </p:set>
                                    <p:anim calcmode="lin" valueType="num">
                                      <p:cBhvr additive="base">
                                        <p:cTn id="7" dur="500" fill="hold"/>
                                        <p:tgtEl>
                                          <p:spTgt spid="26653"/>
                                        </p:tgtEl>
                                        <p:attrNameLst>
                                          <p:attrName>ppt_x</p:attrName>
                                        </p:attrNameLst>
                                      </p:cBhvr>
                                      <p:tavLst>
                                        <p:tav tm="0">
                                          <p:val>
                                            <p:strVal val="#ppt_x"/>
                                          </p:val>
                                        </p:tav>
                                        <p:tav tm="100000">
                                          <p:val>
                                            <p:strVal val="#ppt_x"/>
                                          </p:val>
                                        </p:tav>
                                      </p:tavLst>
                                    </p:anim>
                                    <p:anim calcmode="lin" valueType="num">
                                      <p:cBhvr additive="base">
                                        <p:cTn id="8" dur="500" fill="hold"/>
                                        <p:tgtEl>
                                          <p:spTgt spid="266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53" grpId="0" bldLvl="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p:nvPr/>
        </p:nvSpPr>
        <p:spPr>
          <a:xfrm>
            <a:off x="1368425" y="3465513"/>
            <a:ext cx="4321175" cy="647700"/>
          </a:xfrm>
          <a:prstGeom prst="rect">
            <a:avLst/>
          </a:prstGeom>
          <a:solidFill>
            <a:srgbClr val="CCFFFF"/>
          </a:solidFill>
          <a:ln w="9525">
            <a:noFill/>
          </a:ln>
        </p:spPr>
        <p:txBody>
          <a:bodyPr wrap="none" lIns="90000" tIns="46800" rIns="90000" bIns="46800" anchor="ctr"/>
          <a:lstStyle/>
          <a:p>
            <a:pPr lvl="0" indent="0"/>
            <a:endParaRPr lang="zh-CN" altLang="en-US" dirty="0">
              <a:latin typeface="Arial" panose="020B0604020202020204" pitchFamily="34" charset="0"/>
              <a:ea typeface="宋体" panose="02010600030101010101" pitchFamily="2" charset="-122"/>
            </a:endParaRPr>
          </a:p>
        </p:txBody>
      </p:sp>
      <p:sp>
        <p:nvSpPr>
          <p:cNvPr id="30722" name="Text Box 5"/>
          <p:cNvSpPr txBox="1"/>
          <p:nvPr/>
        </p:nvSpPr>
        <p:spPr>
          <a:xfrm>
            <a:off x="463550" y="5091113"/>
            <a:ext cx="8185150" cy="1200150"/>
          </a:xfrm>
          <a:prstGeom prst="rect">
            <a:avLst/>
          </a:prstGeom>
          <a:solidFill>
            <a:schemeClr val="bg1"/>
          </a:solidFill>
          <a:ln w="9525">
            <a:noFill/>
          </a:ln>
        </p:spPr>
        <p:txBody>
          <a:bodyPr anchor="t">
            <a:spAutoFit/>
          </a:bodyPr>
          <a:lstStyle/>
          <a:p>
            <a:pPr lvl="0" indent="0">
              <a:spcBef>
                <a:spcPct val="50000"/>
              </a:spcBef>
            </a:pPr>
            <a:r>
              <a:rPr lang="zh-CN" altLang="en-US" sz="2400" dirty="0">
                <a:latin typeface="华文楷体" panose="02010600040101010101" pitchFamily="2" charset="-122"/>
                <a:ea typeface="华文楷体" panose="02010600040101010101" pitchFamily="2" charset="-122"/>
              </a:rPr>
              <a:t>说明： </a:t>
            </a:r>
            <a:r>
              <a:rPr lang="en-US" altLang="x-none" sz="2400" dirty="0">
                <a:latin typeface="华文楷体" panose="02010600040101010101" pitchFamily="2" charset="-122"/>
                <a:ea typeface="华文楷体" panose="02010600040101010101" pitchFamily="2" charset="-122"/>
              </a:rPr>
              <a:t>(1) WITH GRANT OPTION</a:t>
            </a:r>
            <a:r>
              <a:rPr lang="zh-CN" altLang="en-US" sz="2400" dirty="0">
                <a:latin typeface="华文楷体" panose="02010600040101010101" pitchFamily="2" charset="-122"/>
                <a:ea typeface="华文楷体" panose="02010600040101010101" pitchFamily="2" charset="-122"/>
              </a:rPr>
              <a:t>选项只能授给用户，不能授给角色。得到该选项的用户可将所被授予的权限转授给其它用户； </a:t>
            </a:r>
            <a:r>
              <a:rPr lang="en-US" altLang="x-none" sz="2400" dirty="0">
                <a:latin typeface="华文楷体" panose="02010600040101010101" pitchFamily="2" charset="-122"/>
                <a:ea typeface="华文楷体" panose="02010600040101010101" pitchFamily="2" charset="-122"/>
              </a:rPr>
              <a:t>(2) AS</a:t>
            </a:r>
            <a:r>
              <a:rPr lang="zh-CN" altLang="en-US" sz="2400" dirty="0">
                <a:latin typeface="华文楷体" panose="02010600040101010101" pitchFamily="2" charset="-122"/>
                <a:ea typeface="华文楷体" panose="02010600040101010101" pitchFamily="2" charset="-122"/>
              </a:rPr>
              <a:t>用于将权限授给角色。</a:t>
            </a:r>
            <a:endParaRPr lang="zh-CN" altLang="en-US" sz="2400" dirty="0">
              <a:latin typeface="华文楷体" panose="02010600040101010101" pitchFamily="2" charset="-122"/>
              <a:ea typeface="华文楷体" panose="02010600040101010101" pitchFamily="2" charset="-122"/>
            </a:endParaRPr>
          </a:p>
        </p:txBody>
      </p:sp>
      <p:sp>
        <p:nvSpPr>
          <p:cNvPr id="30723" name="Text Box 6"/>
          <p:cNvSpPr txBox="1"/>
          <p:nvPr/>
        </p:nvSpPr>
        <p:spPr>
          <a:xfrm>
            <a:off x="548005" y="1300480"/>
            <a:ext cx="8317230" cy="3896360"/>
          </a:xfrm>
          <a:prstGeom prst="rect">
            <a:avLst/>
          </a:prstGeom>
          <a:noFill/>
          <a:ln w="9525">
            <a:noFill/>
          </a:ln>
        </p:spPr>
        <p:txBody>
          <a:bodyPr wrap="square" anchor="t">
            <a:spAutoFit/>
          </a:bodyPr>
          <a:lstStyle/>
          <a:p>
            <a:pPr lvl="0" indent="0">
              <a:lnSpc>
                <a:spcPct val="105000"/>
              </a:lnSpc>
            </a:pPr>
            <a:r>
              <a:rPr lang="zh-CN" altLang="en-US" sz="2400" dirty="0">
                <a:latin typeface="Times New Roman" panose="02020603050405020304" pitchFamily="2" charset="0"/>
                <a:ea typeface="华文楷体" panose="02010600040101010101" pitchFamily="2" charset="-122"/>
              </a:rPr>
              <a:t>授权语法：</a:t>
            </a:r>
            <a:r>
              <a:rPr lang="zh-CN" altLang="en-US" sz="2400" dirty="0">
                <a:solidFill>
                  <a:srgbClr val="0000CC"/>
                </a:solidFill>
                <a:latin typeface="Times New Roman" panose="02020603050405020304" pitchFamily="2" charset="0"/>
                <a:ea typeface="宋体" panose="02010600030101010101" pitchFamily="2" charset="-122"/>
              </a:rPr>
              <a:t> </a:t>
            </a:r>
            <a:endParaRPr lang="zh-CN" altLang="en-US" sz="2400" dirty="0">
              <a:solidFill>
                <a:srgbClr val="0000CC"/>
              </a:solidFill>
              <a:latin typeface="Times New Roman" panose="02020603050405020304" pitchFamily="2" charset="0"/>
              <a:ea typeface="宋体" panose="02010600030101010101" pitchFamily="2" charset="-122"/>
            </a:endParaRPr>
          </a:p>
          <a:p>
            <a:pPr lvl="0" indent="0">
              <a:lnSpc>
                <a:spcPct val="90000"/>
              </a:lnSpc>
            </a:pPr>
            <a:r>
              <a:rPr lang="en-US" altLang="x-none" sz="2400" dirty="0">
                <a:solidFill>
                  <a:srgbClr val="990033"/>
                </a:solidFill>
                <a:latin typeface="华文楷体" panose="02010600040101010101" pitchFamily="2" charset="-122"/>
                <a:ea typeface="华文楷体" panose="02010600040101010101" pitchFamily="2" charset="-122"/>
              </a:rPr>
              <a:t>GRANT</a:t>
            </a:r>
            <a:r>
              <a:rPr lang="en-US" altLang="x-none" sz="2400" dirty="0">
                <a:solidFill>
                  <a:srgbClr val="0000CC"/>
                </a:solidFill>
                <a:latin typeface="宋体" panose="02010600030101010101" pitchFamily="2" charset="-122"/>
                <a:ea typeface="宋体" panose="02010600030101010101" pitchFamily="2" charset="-122"/>
              </a:rPr>
              <a:t>  </a:t>
            </a:r>
            <a:r>
              <a:rPr lang="en-US" altLang="x-none" sz="2400" dirty="0">
                <a:latin typeface="华文楷体" panose="02010600040101010101" pitchFamily="2" charset="-122"/>
                <a:ea typeface="华文楷体" panose="02010600040101010101" pitchFamily="2" charset="-122"/>
              </a:rPr>
              <a:t>{ALL [ PRIVILEGES ] | </a:t>
            </a:r>
            <a:r>
              <a:rPr lang="zh-CN" altLang="en-US" sz="2400" dirty="0">
                <a:latin typeface="华文楷体" panose="02010600040101010101" pitchFamily="2" charset="-122"/>
                <a:ea typeface="华文楷体" panose="02010600040101010101" pitchFamily="2" charset="-122"/>
              </a:rPr>
              <a:t>权限 </a:t>
            </a:r>
            <a:r>
              <a:rPr lang="en-US" altLang="x-none" sz="2400" dirty="0">
                <a:latin typeface="华文楷体" panose="02010600040101010101" pitchFamily="2" charset="-122"/>
                <a:ea typeface="华文楷体" panose="02010600040101010101" pitchFamily="2" charset="-122"/>
              </a:rPr>
              <a:t>[ ,...n ] } </a:t>
            </a:r>
            <a:br>
              <a:rPr lang="en-US" altLang="x-none" sz="2400" dirty="0">
                <a:latin typeface="华文楷体" panose="02010600040101010101" pitchFamily="2" charset="-122"/>
                <a:ea typeface="华文楷体" panose="02010600040101010101" pitchFamily="2" charset="-122"/>
              </a:rPr>
            </a:br>
            <a:r>
              <a:rPr lang="en-US" altLang="x-none" sz="2400" dirty="0">
                <a:latin typeface="华文楷体" panose="02010600040101010101" pitchFamily="2" charset="-122"/>
                <a:ea typeface="华文楷体" panose="02010600040101010101" pitchFamily="2" charset="-122"/>
              </a:rPr>
              <a:t>                  {[( </a:t>
            </a:r>
            <a:r>
              <a:rPr lang="zh-CN" altLang="en-US" sz="2400" dirty="0">
                <a:latin typeface="华文楷体" panose="02010600040101010101" pitchFamily="2" charset="-122"/>
                <a:ea typeface="华文楷体" panose="02010600040101010101" pitchFamily="2" charset="-122"/>
              </a:rPr>
              <a:t>列名 </a:t>
            </a:r>
            <a:r>
              <a:rPr lang="en-US" altLang="x-none" sz="2400" dirty="0">
                <a:latin typeface="华文楷体" panose="02010600040101010101" pitchFamily="2" charset="-122"/>
                <a:ea typeface="华文楷体" panose="02010600040101010101" pitchFamily="2" charset="-122"/>
              </a:rPr>
              <a:t>[ ,...n ] ) ] ON { </a:t>
            </a:r>
            <a:r>
              <a:rPr lang="zh-CN" altLang="en-US" sz="2400" dirty="0">
                <a:latin typeface="华文楷体" panose="02010600040101010101" pitchFamily="2" charset="-122"/>
                <a:ea typeface="华文楷体" panose="02010600040101010101" pitchFamily="2" charset="-122"/>
              </a:rPr>
              <a:t>表名 </a:t>
            </a:r>
            <a:r>
              <a:rPr lang="en-US" altLang="x-none"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视图名 </a:t>
            </a:r>
            <a:r>
              <a:rPr lang="en-US" altLang="x-none" sz="2400" dirty="0">
                <a:latin typeface="华文楷体" panose="02010600040101010101" pitchFamily="2" charset="-122"/>
                <a:ea typeface="华文楷体" panose="02010600040101010101" pitchFamily="2" charset="-122"/>
              </a:rPr>
              <a:t>} </a:t>
            </a:r>
            <a:br>
              <a:rPr lang="en-US" altLang="x-none" sz="2400" dirty="0">
                <a:latin typeface="华文楷体" panose="02010600040101010101" pitchFamily="2" charset="-122"/>
                <a:ea typeface="华文楷体" panose="02010600040101010101" pitchFamily="2" charset="-122"/>
              </a:rPr>
            </a:br>
            <a:r>
              <a:rPr lang="en-US" altLang="x-none" sz="2400" dirty="0">
                <a:latin typeface="华文楷体" panose="02010600040101010101" pitchFamily="2" charset="-122"/>
                <a:ea typeface="华文楷体" panose="02010600040101010101" pitchFamily="2" charset="-122"/>
              </a:rPr>
              <a:t>	         | ON { </a:t>
            </a:r>
            <a:r>
              <a:rPr lang="zh-CN" altLang="en-US" sz="2400" dirty="0">
                <a:latin typeface="华文楷体" panose="02010600040101010101" pitchFamily="2" charset="-122"/>
                <a:ea typeface="华文楷体" panose="02010600040101010101" pitchFamily="2" charset="-122"/>
              </a:rPr>
              <a:t>表名 </a:t>
            </a:r>
            <a:r>
              <a:rPr lang="en-US" altLang="x-none"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视图名 </a:t>
            </a:r>
            <a:r>
              <a:rPr lang="en-US" altLang="x-none"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列名 </a:t>
            </a:r>
            <a:r>
              <a:rPr lang="en-US" altLang="x-none" sz="2400" dirty="0">
                <a:latin typeface="华文楷体" panose="02010600040101010101" pitchFamily="2" charset="-122"/>
                <a:ea typeface="华文楷体" panose="02010600040101010101" pitchFamily="2" charset="-122"/>
              </a:rPr>
              <a:t>[ ,...n ] )] </a:t>
            </a:r>
            <a:br>
              <a:rPr lang="en-US" altLang="x-none" sz="2400" dirty="0">
                <a:latin typeface="华文楷体" panose="02010600040101010101" pitchFamily="2" charset="-122"/>
                <a:ea typeface="华文楷体" panose="02010600040101010101" pitchFamily="2" charset="-122"/>
              </a:rPr>
            </a:br>
            <a:r>
              <a:rPr lang="en-US" altLang="x-none" sz="2400" dirty="0">
                <a:latin typeface="华文楷体" panose="02010600040101010101" pitchFamily="2" charset="-122"/>
                <a:ea typeface="华文楷体" panose="02010600040101010101" pitchFamily="2" charset="-122"/>
              </a:rPr>
              <a:t>                     | ON { </a:t>
            </a:r>
            <a:r>
              <a:rPr lang="zh-CN" altLang="en-US" sz="2400" dirty="0">
                <a:latin typeface="华文楷体" panose="02010600040101010101" pitchFamily="2" charset="-122"/>
                <a:ea typeface="华文楷体" panose="02010600040101010101" pitchFamily="2" charset="-122"/>
              </a:rPr>
              <a:t>存储过程</a:t>
            </a:r>
            <a:r>
              <a:rPr lang="en-US" altLang="x-none" sz="2400" dirty="0">
                <a:latin typeface="华文楷体" panose="02010600040101010101" pitchFamily="2" charset="-122"/>
                <a:ea typeface="华文楷体" panose="02010600040101010101" pitchFamily="2" charset="-122"/>
              </a:rPr>
              <a:t>}   } </a:t>
            </a:r>
            <a:br>
              <a:rPr lang="en-US" altLang="x-none" sz="2400" dirty="0">
                <a:latin typeface="华文楷体" panose="02010600040101010101" pitchFamily="2" charset="-122"/>
                <a:ea typeface="华文楷体" panose="02010600040101010101" pitchFamily="2" charset="-122"/>
              </a:rPr>
            </a:br>
            <a:r>
              <a:rPr lang="en-US" altLang="x-none" sz="2400" dirty="0">
                <a:solidFill>
                  <a:srgbClr val="A50021"/>
                </a:solidFill>
                <a:latin typeface="华文楷体" panose="02010600040101010101" pitchFamily="2" charset="-122"/>
                <a:ea typeface="华文楷体" panose="02010600040101010101" pitchFamily="2" charset="-122"/>
              </a:rPr>
              <a:t>TO</a:t>
            </a:r>
            <a:r>
              <a:rPr lang="en-US" altLang="x-none"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用户 </a:t>
            </a:r>
            <a:r>
              <a:rPr lang="en-US" altLang="x-none"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角色</a:t>
            </a:r>
            <a:r>
              <a:rPr lang="en-US" altLang="x-none" sz="2400" dirty="0">
                <a:latin typeface="华文楷体" panose="02010600040101010101" pitchFamily="2" charset="-122"/>
                <a:ea typeface="华文楷体" panose="02010600040101010101" pitchFamily="2" charset="-122"/>
              </a:rPr>
              <a:t>} [ ,...n ] </a:t>
            </a:r>
            <a:br>
              <a:rPr lang="en-US" altLang="x-none" sz="2400" dirty="0">
                <a:latin typeface="华文楷体" panose="02010600040101010101" pitchFamily="2" charset="-122"/>
                <a:ea typeface="华文楷体" panose="02010600040101010101" pitchFamily="2" charset="-122"/>
              </a:rPr>
            </a:br>
            <a:r>
              <a:rPr lang="en-US" altLang="x-none" sz="2400" dirty="0">
                <a:latin typeface="华文楷体" panose="02010600040101010101" pitchFamily="2" charset="-122"/>
                <a:ea typeface="华文楷体" panose="02010600040101010101" pitchFamily="2" charset="-122"/>
              </a:rPr>
              <a:t>	  [ WITH GRANT OPTION ] </a:t>
            </a:r>
            <a:br>
              <a:rPr lang="en-US" altLang="x-none" sz="2400" dirty="0">
                <a:latin typeface="华文楷体" panose="02010600040101010101" pitchFamily="2" charset="-122"/>
                <a:ea typeface="华文楷体" panose="02010600040101010101" pitchFamily="2" charset="-122"/>
              </a:rPr>
            </a:br>
            <a:r>
              <a:rPr lang="en-US" altLang="x-none" sz="2400" dirty="0">
                <a:latin typeface="华文楷体" panose="02010600040101010101" pitchFamily="2" charset="-122"/>
                <a:ea typeface="华文楷体" panose="02010600040101010101" pitchFamily="2" charset="-122"/>
              </a:rPr>
              <a:t>	  [ AS { </a:t>
            </a:r>
            <a:r>
              <a:rPr lang="zh-CN" altLang="en-US" sz="2400" dirty="0">
                <a:latin typeface="华文楷体" panose="02010600040101010101" pitchFamily="2" charset="-122"/>
                <a:ea typeface="华文楷体" panose="02010600040101010101" pitchFamily="2" charset="-122"/>
              </a:rPr>
              <a:t>角色 </a:t>
            </a:r>
            <a:r>
              <a:rPr lang="en-US" altLang="x-none" sz="2400" dirty="0">
                <a:latin typeface="华文楷体" panose="02010600040101010101" pitchFamily="2" charset="-122"/>
                <a:ea typeface="华文楷体" panose="02010600040101010101" pitchFamily="2" charset="-122"/>
              </a:rPr>
              <a:t>} ] </a:t>
            </a:r>
            <a:endParaRPr lang="en-US" altLang="x-none" sz="2400" dirty="0">
              <a:latin typeface="华文楷体" panose="02010600040101010101" pitchFamily="2" charset="-122"/>
              <a:ea typeface="华文楷体" panose="02010600040101010101" pitchFamily="2" charset="-122"/>
            </a:endParaRPr>
          </a:p>
          <a:p>
            <a:pPr lvl="0" indent="0"/>
            <a:r>
              <a:rPr lang="en-US" altLang="x-none" sz="2400" dirty="0">
                <a:solidFill>
                  <a:srgbClr val="FF0000"/>
                </a:solidFill>
                <a:latin typeface="华文楷体" panose="02010600040101010101" pitchFamily="2" charset="-122"/>
                <a:ea typeface="华文楷体" panose="02010600040101010101" pitchFamily="2" charset="-122"/>
              </a:rPr>
              <a:t>grant INSERT,UPDATE on </a:t>
            </a:r>
            <a:r>
              <a:rPr lang="en-US" altLang="zh-CN" sz="2400" dirty="0">
                <a:solidFill>
                  <a:srgbClr val="FF0000"/>
                </a:solidFill>
                <a:latin typeface="华文楷体" panose="02010600040101010101" pitchFamily="2" charset="-122"/>
                <a:ea typeface="华文楷体" panose="02010600040101010101" pitchFamily="2" charset="-122"/>
              </a:rPr>
              <a:t>actor</a:t>
            </a:r>
            <a:r>
              <a:rPr lang="en-US" altLang="x-none" sz="2400" dirty="0">
                <a:solidFill>
                  <a:srgbClr val="FF0000"/>
                </a:solidFill>
                <a:latin typeface="华文楷体" panose="02010600040101010101" pitchFamily="2" charset="-122"/>
                <a:ea typeface="华文楷体" panose="02010600040101010101" pitchFamily="2" charset="-122"/>
              </a:rPr>
              <a:t> To wtest6</a:t>
            </a:r>
            <a:endParaRPr lang="en-US" altLang="x-none" sz="2400" dirty="0">
              <a:solidFill>
                <a:srgbClr val="FF0000"/>
              </a:solidFill>
              <a:latin typeface="华文楷体" panose="02010600040101010101" pitchFamily="2" charset="-122"/>
              <a:ea typeface="华文楷体" panose="02010600040101010101" pitchFamily="2" charset="-122"/>
            </a:endParaRPr>
          </a:p>
          <a:p>
            <a:pPr lvl="0" indent="0"/>
            <a:r>
              <a:rPr lang="en-US" altLang="x-none" sz="2300" dirty="0" smtClean="0">
                <a:solidFill>
                  <a:srgbClr val="FF0000"/>
                </a:solidFill>
                <a:latin typeface="华文楷体" panose="02010600040101010101" pitchFamily="2" charset="-122"/>
                <a:ea typeface="华文楷体" panose="02010600040101010101" pitchFamily="2" charset="-122"/>
              </a:rPr>
              <a:t>grant </a:t>
            </a:r>
            <a:r>
              <a:rPr lang="en-US" altLang="x-none" sz="2300" dirty="0">
                <a:solidFill>
                  <a:srgbClr val="FF0000"/>
                </a:solidFill>
                <a:latin typeface="华文楷体" panose="02010600040101010101" pitchFamily="2" charset="-122"/>
                <a:ea typeface="华文楷体" panose="02010600040101010101" pitchFamily="2" charset="-122"/>
              </a:rPr>
              <a:t>INSERT,UPDATE,DELETE,SELECT on Director To wtest6</a:t>
            </a:r>
            <a:endParaRPr lang="en-US" altLang="x-none" sz="2400" b="0" dirty="0">
              <a:solidFill>
                <a:srgbClr val="FF0000"/>
              </a:solidFill>
              <a:latin typeface="华文楷体" panose="02010600040101010101" pitchFamily="2" charset="-122"/>
              <a:ea typeface="华文楷体" panose="02010600040101010101" pitchFamily="2" charset="-122"/>
            </a:endParaRPr>
          </a:p>
          <a:p>
            <a:pPr lvl="0" indent="0"/>
            <a:r>
              <a:rPr lang="en-US" altLang="x-none" sz="2400" dirty="0">
                <a:solidFill>
                  <a:srgbClr val="FF0000"/>
                </a:solidFill>
                <a:latin typeface="华文楷体" panose="02010600040101010101" pitchFamily="2" charset="-122"/>
                <a:ea typeface="华文楷体" panose="02010600040101010101" pitchFamily="2" charset="-122"/>
              </a:rPr>
              <a:t>grant SELECT,UPDATE on Course(Cname,Ccredit) to wsy6</a:t>
            </a:r>
            <a:endParaRPr lang="en-US" altLang="x-none" sz="2400" dirty="0">
              <a:solidFill>
                <a:srgbClr val="FF0000"/>
              </a:solidFill>
              <a:latin typeface="华文楷体" panose="02010600040101010101" pitchFamily="2" charset="-122"/>
              <a:ea typeface="华文楷体" panose="02010600040101010101" pitchFamily="2" charset="-122"/>
            </a:endParaRPr>
          </a:p>
        </p:txBody>
      </p:sp>
      <p:sp>
        <p:nvSpPr>
          <p:cNvPr id="30724" name="Rectangle 2"/>
          <p:cNvSpPr/>
          <p:nvPr/>
        </p:nvSpPr>
        <p:spPr>
          <a:xfrm>
            <a:off x="457200" y="68263"/>
            <a:ext cx="8229600" cy="692150"/>
          </a:xfrm>
          <a:prstGeom prst="rect">
            <a:avLst/>
          </a:prstGeom>
          <a:noFill/>
          <a:ln w="9525">
            <a:noFill/>
          </a:ln>
        </p:spPr>
        <p:txBody>
          <a:bodyPr anchor="ctr"/>
          <a:lstStyle/>
          <a:p>
            <a:pPr lvl="0" indent="0"/>
            <a:r>
              <a:rPr lang="zh-CN" altLang="en-US" sz="3200" dirty="0">
                <a:solidFill>
                  <a:srgbClr val="FF0000"/>
                </a:solidFill>
                <a:latin typeface="Arial" panose="020B0604020202020204" pitchFamily="34" charset="0"/>
                <a:ea typeface="黑体" panose="02010609060101010101" pitchFamily="1" charset="-122"/>
              </a:rPr>
              <a:t>二、数据库的安全性</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30725" name="Rectangle 2"/>
          <p:cNvSpPr txBox="1"/>
          <p:nvPr/>
        </p:nvSpPr>
        <p:spPr>
          <a:xfrm>
            <a:off x="536575" y="712788"/>
            <a:ext cx="5689600" cy="576262"/>
          </a:xfrm>
          <a:prstGeom prst="rect">
            <a:avLst/>
          </a:prstGeom>
          <a:noFill/>
          <a:ln w="9525">
            <a:noFill/>
          </a:ln>
        </p:spPr>
        <p:txBody>
          <a:bodyPr anchor="t"/>
          <a:lstStyle/>
          <a:p>
            <a:pPr marL="457200" lvl="0" indent="-457200" defTabSz="0">
              <a:lnSpc>
                <a:spcPct val="135000"/>
              </a:lnSpc>
              <a:tabLst>
                <a:tab pos="1428750" algn="l"/>
              </a:tabLst>
            </a:pPr>
            <a:r>
              <a:rPr lang="en-US" altLang="x-none" sz="2800" dirty="0">
                <a:solidFill>
                  <a:srgbClr val="0033CC"/>
                </a:solidFill>
                <a:latin typeface="黑体" panose="02010609060101010101" pitchFamily="1" charset="-122"/>
                <a:ea typeface="黑体" panose="02010609060101010101" pitchFamily="1" charset="-122"/>
              </a:rPr>
              <a:t>3.</a:t>
            </a:r>
            <a:r>
              <a:rPr lang="en-US" altLang="x-none" sz="2800" dirty="0">
                <a:solidFill>
                  <a:srgbClr val="CC3300"/>
                </a:solidFill>
                <a:latin typeface="Times New Roman" panose="02020603050405020304" pitchFamily="2" charset="0"/>
                <a:ea typeface="宋体" panose="02010600030101010101" pitchFamily="2" charset="-122"/>
              </a:rPr>
              <a:t> </a:t>
            </a:r>
            <a:r>
              <a:rPr lang="en-US" altLang="x-none" sz="2800" dirty="0">
                <a:solidFill>
                  <a:srgbClr val="0033CC"/>
                </a:solidFill>
                <a:latin typeface="黑体" panose="02010609060101010101" pitchFamily="1" charset="-122"/>
                <a:ea typeface="黑体" panose="02010609060101010101" pitchFamily="1" charset="-122"/>
              </a:rPr>
              <a:t>SQL SERVER</a:t>
            </a:r>
            <a:r>
              <a:rPr lang="zh-CN" altLang="en-US" sz="2800" dirty="0">
                <a:solidFill>
                  <a:srgbClr val="0033CC"/>
                </a:solidFill>
                <a:latin typeface="黑体" panose="02010609060101010101" pitchFamily="1" charset="-122"/>
                <a:ea typeface="黑体" panose="02010609060101010101" pitchFamily="1" charset="-122"/>
              </a:rPr>
              <a:t>安全体系</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30726" name="矩形 6"/>
          <p:cNvSpPr/>
          <p:nvPr/>
        </p:nvSpPr>
        <p:spPr>
          <a:xfrm>
            <a:off x="4497388" y="895350"/>
            <a:ext cx="3906837" cy="460375"/>
          </a:xfrm>
          <a:prstGeom prst="rect">
            <a:avLst/>
          </a:prstGeom>
          <a:noFill/>
          <a:ln w="9525">
            <a:noFill/>
          </a:ln>
        </p:spPr>
        <p:txBody>
          <a:bodyPr wrap="none" anchor="t">
            <a:spAutoFit/>
          </a:bodyPr>
          <a:lstStyle/>
          <a:p>
            <a:pPr lvl="0" indent="0"/>
            <a:r>
              <a:rPr lang="zh-CN" altLang="en-US" sz="2400" dirty="0">
                <a:solidFill>
                  <a:srgbClr val="0033CC"/>
                </a:solidFill>
                <a:latin typeface="宋体" panose="02010600030101010101" pitchFamily="2" charset="-122"/>
                <a:ea typeface="宋体" panose="02010600030101010101" pitchFamily="2" charset="-122"/>
              </a:rPr>
              <a:t>（</a:t>
            </a:r>
            <a:r>
              <a:rPr lang="en-US" altLang="x-none" sz="2400" dirty="0">
                <a:solidFill>
                  <a:srgbClr val="0033CC"/>
                </a:solidFill>
                <a:latin typeface="宋体" panose="02010600030101010101" pitchFamily="2" charset="-122"/>
                <a:ea typeface="宋体" panose="02010600030101010101" pitchFamily="2" charset="-122"/>
              </a:rPr>
              <a:t>6</a:t>
            </a:r>
            <a:r>
              <a:rPr lang="zh-CN" altLang="en-US" sz="2400" dirty="0">
                <a:solidFill>
                  <a:srgbClr val="0033CC"/>
                </a:solidFill>
                <a:latin typeface="宋体" panose="02010600030101010101" pitchFamily="2" charset="-122"/>
                <a:ea typeface="宋体" panose="02010600030101010101" pitchFamily="2" charset="-122"/>
              </a:rPr>
              <a:t>）</a:t>
            </a:r>
            <a:r>
              <a:rPr lang="en-US" altLang="x-none" sz="2400" dirty="0">
                <a:solidFill>
                  <a:srgbClr val="0033CC"/>
                </a:solidFill>
                <a:latin typeface="宋体" panose="02010600030101010101" pitchFamily="2" charset="-122"/>
                <a:ea typeface="宋体" panose="02010600030101010101" pitchFamily="2" charset="-122"/>
              </a:rPr>
              <a:t>SQL</a:t>
            </a:r>
            <a:r>
              <a:rPr lang="zh-CN" altLang="en-US" sz="2400" dirty="0">
                <a:solidFill>
                  <a:srgbClr val="0033CC"/>
                </a:solidFill>
                <a:latin typeface="宋体" panose="02010600030101010101" pitchFamily="2" charset="-122"/>
                <a:ea typeface="宋体" panose="02010600030101010101" pitchFamily="2" charset="-122"/>
              </a:rPr>
              <a:t> </a:t>
            </a:r>
            <a:r>
              <a:rPr lang="en-US" altLang="x-none" sz="2400" dirty="0">
                <a:solidFill>
                  <a:srgbClr val="0033CC"/>
                </a:solidFill>
                <a:latin typeface="宋体" panose="02010600030101010101" pitchFamily="2" charset="-122"/>
                <a:ea typeface="宋体" panose="02010600030101010101" pitchFamily="2" charset="-122"/>
              </a:rPr>
              <a:t>Server</a:t>
            </a:r>
            <a:r>
              <a:rPr lang="zh-CN" altLang="en-US" sz="2400" dirty="0">
                <a:solidFill>
                  <a:srgbClr val="0033CC"/>
                </a:solidFill>
                <a:latin typeface="宋体" panose="02010600030101010101" pitchFamily="2" charset="-122"/>
                <a:ea typeface="宋体" panose="02010600030101010101" pitchFamily="2" charset="-122"/>
              </a:rPr>
              <a:t> 对象授权</a:t>
            </a:r>
            <a:endParaRPr lang="zh-CN" altLang="en-US" sz="2400" dirty="0">
              <a:solidFill>
                <a:srgbClr val="0033CC"/>
              </a:solidFill>
              <a:latin typeface="宋体" panose="02010600030101010101" pitchFamily="2" charset="-122"/>
              <a:ea typeface="宋体" panose="02010600030101010101" pitchFamily="2" charset="-122"/>
            </a:endParaRPr>
          </a:p>
        </p:txBody>
      </p:sp>
      <p:sp>
        <p:nvSpPr>
          <p:cNvPr id="32776" name="Rectangle 26"/>
          <p:cNvSpPr/>
          <p:nvPr/>
        </p:nvSpPr>
        <p:spPr>
          <a:xfrm>
            <a:off x="463233" y="895350"/>
            <a:ext cx="8316912" cy="2149475"/>
          </a:xfrm>
          <a:prstGeom prst="rect">
            <a:avLst/>
          </a:prstGeom>
          <a:solidFill>
            <a:schemeClr val="bg1"/>
          </a:solidFill>
          <a:ln w="9525" cap="flat" cmpd="sng">
            <a:solidFill>
              <a:schemeClr val="tx1"/>
            </a:solidFill>
            <a:prstDash val="solid"/>
            <a:miter/>
            <a:headEnd type="none" w="med" len="med"/>
            <a:tailEnd type="none" w="med" len="med"/>
          </a:ln>
        </p:spPr>
        <p:txBody>
          <a:bodyPr lIns="90000" tIns="46800" rIns="90000" bIns="46800" anchor="ctr"/>
          <a:lstStyle/>
          <a:p>
            <a:pPr marL="457200" lvl="0" indent="-457200">
              <a:lnSpc>
                <a:spcPct val="120000"/>
              </a:lnSpc>
            </a:pPr>
            <a:r>
              <a:rPr lang="zh-CN" altLang="en-US" sz="2400" dirty="0">
                <a:solidFill>
                  <a:srgbClr val="FF0000"/>
                </a:solidFill>
                <a:latin typeface="华文楷体" panose="02010600040101010101" pitchFamily="2" charset="-122"/>
                <a:ea typeface="华文楷体" panose="02010600040101010101" pitchFamily="2" charset="-122"/>
              </a:rPr>
              <a:t>注意：不同的数据库对象有不同的权限。</a:t>
            </a:r>
            <a:endParaRPr lang="zh-CN" altLang="en-US" sz="2400" dirty="0">
              <a:solidFill>
                <a:srgbClr val="FF0000"/>
              </a:solidFill>
              <a:latin typeface="华文楷体" panose="02010600040101010101" pitchFamily="2" charset="-122"/>
              <a:ea typeface="华文楷体" panose="02010600040101010101" pitchFamily="2" charset="-122"/>
            </a:endParaRPr>
          </a:p>
          <a:p>
            <a:pPr marL="457200" lvl="0" indent="-457200">
              <a:lnSpc>
                <a:spcPct val="110000"/>
              </a:lnSpc>
              <a:buFont typeface="Wingdings" panose="05000000000000000000" pitchFamily="2" charset="2"/>
              <a:buChar char="ü"/>
            </a:pPr>
            <a:r>
              <a:rPr lang="zh-CN" altLang="en-US" sz="2200" dirty="0">
                <a:latin typeface="华文楷体" panose="02010600040101010101" pitchFamily="2" charset="-122"/>
                <a:ea typeface="华文楷体" panose="02010600040101010101" pitchFamily="2" charset="-122"/>
              </a:rPr>
              <a:t>表、视图的权限包括</a:t>
            </a:r>
            <a:r>
              <a:rPr lang="en-US" altLang="x-none" sz="2200" dirty="0">
                <a:latin typeface="华文楷体" panose="02010600040101010101" pitchFamily="2" charset="-122"/>
                <a:ea typeface="华文楷体" panose="02010600040101010101" pitchFamily="2" charset="-122"/>
              </a:rPr>
              <a:t>SELECT</a:t>
            </a:r>
            <a:r>
              <a:rPr lang="zh-CN" altLang="en-US" sz="2200" dirty="0">
                <a:latin typeface="华文楷体" panose="02010600040101010101" pitchFamily="2" charset="-122"/>
                <a:ea typeface="华文楷体" panose="02010600040101010101" pitchFamily="2" charset="-122"/>
              </a:rPr>
              <a:t>、</a:t>
            </a:r>
            <a:r>
              <a:rPr lang="en-US" altLang="x-none" sz="2200" dirty="0">
                <a:latin typeface="华文楷体" panose="02010600040101010101" pitchFamily="2" charset="-122"/>
                <a:ea typeface="华文楷体" panose="02010600040101010101" pitchFamily="2" charset="-122"/>
              </a:rPr>
              <a:t>INSERT</a:t>
            </a:r>
            <a:r>
              <a:rPr lang="zh-CN" altLang="en-US" sz="2200" dirty="0">
                <a:latin typeface="华文楷体" panose="02010600040101010101" pitchFamily="2" charset="-122"/>
                <a:ea typeface="华文楷体" panose="02010600040101010101" pitchFamily="2" charset="-122"/>
              </a:rPr>
              <a:t>、</a:t>
            </a:r>
            <a:r>
              <a:rPr lang="en-US" altLang="x-none" sz="2200" dirty="0">
                <a:latin typeface="华文楷体" panose="02010600040101010101" pitchFamily="2" charset="-122"/>
                <a:ea typeface="华文楷体" panose="02010600040101010101" pitchFamily="2" charset="-122"/>
              </a:rPr>
              <a:t>DELETE</a:t>
            </a:r>
            <a:r>
              <a:rPr lang="zh-CN" altLang="en-US" sz="2200" dirty="0">
                <a:latin typeface="华文楷体" panose="02010600040101010101" pitchFamily="2" charset="-122"/>
                <a:ea typeface="华文楷体" panose="02010600040101010101" pitchFamily="2" charset="-122"/>
              </a:rPr>
              <a:t>、</a:t>
            </a:r>
            <a:r>
              <a:rPr lang="en-US" altLang="x-none" sz="2200" dirty="0">
                <a:latin typeface="华文楷体" panose="02010600040101010101" pitchFamily="2" charset="-122"/>
                <a:ea typeface="华文楷体" panose="02010600040101010101" pitchFamily="2" charset="-122"/>
              </a:rPr>
              <a:t>UPDATE</a:t>
            </a:r>
            <a:r>
              <a:rPr lang="zh-CN" altLang="en-US" sz="2200" dirty="0">
                <a:latin typeface="华文楷体" panose="02010600040101010101" pitchFamily="2" charset="-122"/>
                <a:ea typeface="华文楷体" panose="02010600040101010101" pitchFamily="2" charset="-122"/>
              </a:rPr>
              <a:t>、</a:t>
            </a:r>
            <a:endParaRPr lang="en-US" altLang="x-none" sz="2200" dirty="0">
              <a:latin typeface="华文楷体" panose="02010600040101010101" pitchFamily="2" charset="-122"/>
              <a:ea typeface="华文楷体" panose="02010600040101010101" pitchFamily="2" charset="-122"/>
            </a:endParaRPr>
          </a:p>
          <a:p>
            <a:pPr lvl="0">
              <a:lnSpc>
                <a:spcPct val="110000"/>
              </a:lnSpc>
              <a:buFont typeface="Wingdings" panose="05000000000000000000" pitchFamily="2" charset="2"/>
            </a:pPr>
            <a:r>
              <a:rPr lang="en-US" altLang="x-none" sz="2200" dirty="0">
                <a:latin typeface="华文楷体" panose="02010600040101010101" pitchFamily="2" charset="-122"/>
                <a:ea typeface="华文楷体" panose="02010600040101010101" pitchFamily="2" charset="-122"/>
              </a:rPr>
              <a:t>       REFERENCES</a:t>
            </a:r>
            <a:endParaRPr lang="en-US" altLang="x-none" sz="2200" dirty="0">
              <a:latin typeface="华文楷体" panose="02010600040101010101" pitchFamily="2" charset="-122"/>
              <a:ea typeface="华文楷体" panose="02010600040101010101" pitchFamily="2" charset="-122"/>
            </a:endParaRPr>
          </a:p>
          <a:p>
            <a:pPr marL="457200" lvl="0" indent="-457200">
              <a:lnSpc>
                <a:spcPct val="110000"/>
              </a:lnSpc>
              <a:buFont typeface="Wingdings" panose="05000000000000000000" pitchFamily="2" charset="2"/>
              <a:buChar char="ü"/>
            </a:pPr>
            <a:r>
              <a:rPr lang="zh-CN" altLang="en-US" sz="2200" dirty="0">
                <a:latin typeface="华文楷体" panose="02010600040101010101" pitchFamily="2" charset="-122"/>
                <a:ea typeface="华文楷体" panose="02010600040101010101" pitchFamily="2" charset="-122"/>
              </a:rPr>
              <a:t>列的权限包括</a:t>
            </a:r>
            <a:r>
              <a:rPr lang="en-US" altLang="x-none" sz="2200" dirty="0">
                <a:latin typeface="华文楷体" panose="02010600040101010101" pitchFamily="2" charset="-122"/>
                <a:ea typeface="华文楷体" panose="02010600040101010101" pitchFamily="2" charset="-122"/>
              </a:rPr>
              <a:t>SELECT</a:t>
            </a:r>
            <a:r>
              <a:rPr lang="zh-CN" altLang="en-US" sz="2200" dirty="0">
                <a:latin typeface="华文楷体" panose="02010600040101010101" pitchFamily="2" charset="-122"/>
                <a:ea typeface="华文楷体" panose="02010600040101010101" pitchFamily="2" charset="-122"/>
              </a:rPr>
              <a:t>和</a:t>
            </a:r>
            <a:r>
              <a:rPr lang="en-US" altLang="x-none" sz="2200" dirty="0">
                <a:latin typeface="华文楷体" panose="02010600040101010101" pitchFamily="2" charset="-122"/>
                <a:ea typeface="华文楷体" panose="02010600040101010101" pitchFamily="2" charset="-122"/>
              </a:rPr>
              <a:t>UPDATE</a:t>
            </a:r>
            <a:endParaRPr lang="en-US" altLang="x-none" sz="2200" dirty="0">
              <a:latin typeface="华文楷体" panose="02010600040101010101" pitchFamily="2" charset="-122"/>
              <a:ea typeface="华文楷体" panose="02010600040101010101" pitchFamily="2" charset="-122"/>
            </a:endParaRPr>
          </a:p>
          <a:p>
            <a:pPr marL="457200" lvl="0" indent="-457200">
              <a:lnSpc>
                <a:spcPct val="110000"/>
              </a:lnSpc>
              <a:buFont typeface="Wingdings" panose="05000000000000000000" pitchFamily="2" charset="2"/>
              <a:buChar char="ü"/>
            </a:pPr>
            <a:r>
              <a:rPr lang="zh-CN" altLang="en-US" sz="2200" dirty="0">
                <a:latin typeface="华文楷体" panose="02010600040101010101" pitchFamily="2" charset="-122"/>
                <a:ea typeface="华文楷体" panose="02010600040101010101" pitchFamily="2" charset="-122"/>
              </a:rPr>
              <a:t>存储过程的权限包括</a:t>
            </a:r>
            <a:r>
              <a:rPr lang="en-US" altLang="x-none" sz="2200" dirty="0">
                <a:latin typeface="华文楷体" panose="02010600040101010101" pitchFamily="2" charset="-122"/>
                <a:ea typeface="华文楷体" panose="02010600040101010101" pitchFamily="2" charset="-122"/>
              </a:rPr>
              <a:t>EXECUTE</a:t>
            </a:r>
            <a:endParaRPr lang="zh-CN" altLang="en-US" sz="2200" dirty="0">
              <a:latin typeface="华文楷体" panose="02010600040101010101" pitchFamily="2" charset="-122"/>
              <a:ea typeface="华文楷体" panose="02010600040101010101" pitchFamily="2" charset="-122"/>
            </a:endParaRPr>
          </a:p>
        </p:txBody>
      </p:sp>
      <p:sp>
        <p:nvSpPr>
          <p:cNvPr id="12295" name="Rectangle 3"/>
          <p:cNvSpPr txBox="1"/>
          <p:nvPr/>
        </p:nvSpPr>
        <p:spPr>
          <a:xfrm>
            <a:off x="5000625" y="161290"/>
            <a:ext cx="3841115" cy="507365"/>
          </a:xfrm>
          <a:prstGeom prst="rect">
            <a:avLst/>
          </a:prstGeom>
          <a:solidFill>
            <a:schemeClr val="accent1"/>
          </a:solidFill>
          <a:ln w="9525">
            <a:solidFill>
              <a:srgbClr val="3402C2"/>
            </a:solidFill>
            <a:prstDash val="dash"/>
          </a:ln>
        </p:spPr>
        <p:txBody>
          <a:bodyPr anchor="t"/>
          <a:lstStyle/>
          <a:p>
            <a:pPr marL="342900" lvl="0" indent="-342900" eaLnBrk="0" hangingPunct="0">
              <a:lnSpc>
                <a:spcPct val="120000"/>
              </a:lnSpc>
              <a:spcBef>
                <a:spcPct val="20000"/>
              </a:spcBef>
              <a:buClr>
                <a:srgbClr val="0033CC"/>
              </a:buClr>
              <a:buSzPct val="80000"/>
              <a:buFont typeface="Wingdings" panose="05000000000000000000" pitchFamily="2" charset="2"/>
              <a:buChar char="u"/>
            </a:pPr>
            <a:r>
              <a:rPr lang="zh-CN" sz="2400" dirty="0">
                <a:latin typeface="华文楷体" panose="02010600040101010101" pitchFamily="2" charset="-122"/>
                <a:ea typeface="宋体" panose="02010600030101010101" pitchFamily="2" charset="-122"/>
              </a:rPr>
              <a:t>进</a:t>
            </a:r>
            <a:r>
              <a:rPr lang="en-US" altLang="zh-CN" sz="2400" dirty="0">
                <a:latin typeface="华文楷体" panose="02010600040101010101" pitchFamily="2" charset="-122"/>
                <a:ea typeface="宋体" panose="02010600030101010101" pitchFamily="2" charset="-122"/>
              </a:rPr>
              <a:t>SQL Server</a:t>
            </a:r>
            <a:r>
              <a:rPr lang="zh-CN" altLang="zh-CN" sz="2400" dirty="0">
                <a:latin typeface="华文楷体" panose="02010600040101010101" pitchFamily="2" charset="-122"/>
                <a:ea typeface="宋体" panose="02010600030101010101" pitchFamily="2" charset="-122"/>
              </a:rPr>
              <a:t>的第三道门</a:t>
            </a:r>
            <a:endParaRPr lang="zh-CN" altLang="zh-CN" sz="2400" dirty="0">
              <a:latin typeface="华文楷体" panose="0201060004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2776">
                                            <p:bg/>
                                          </p:spTgt>
                                        </p:tgtEl>
                                        <p:attrNameLst>
                                          <p:attrName>style.visibility</p:attrName>
                                        </p:attrNameLst>
                                      </p:cBhvr>
                                      <p:to>
                                        <p:strVal val="visible"/>
                                      </p:to>
                                    </p:set>
                                    <p:animEffect transition="in" filter="wipe(down)">
                                      <p:cBhvr>
                                        <p:cTn id="7" dur="500"/>
                                        <p:tgtEl>
                                          <p:spTgt spid="32776">
                                            <p:bg/>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2776">
                                            <p:txEl>
                                              <p:pRg st="0" end="0"/>
                                            </p:txEl>
                                          </p:spTgt>
                                        </p:tgtEl>
                                        <p:attrNameLst>
                                          <p:attrName>style.visibility</p:attrName>
                                        </p:attrNameLst>
                                      </p:cBhvr>
                                      <p:to>
                                        <p:strVal val="visible"/>
                                      </p:to>
                                    </p:set>
                                    <p:animEffect transition="in" filter="wipe(down)">
                                      <p:cBhvr>
                                        <p:cTn id="10" dur="500"/>
                                        <p:tgtEl>
                                          <p:spTgt spid="32776">
                                            <p:txEl>
                                              <p:pRg st="0" end="0"/>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2776">
                                            <p:txEl>
                                              <p:pRg st="1" end="1"/>
                                            </p:txEl>
                                          </p:spTgt>
                                        </p:tgtEl>
                                        <p:attrNameLst>
                                          <p:attrName>style.visibility</p:attrName>
                                        </p:attrNameLst>
                                      </p:cBhvr>
                                      <p:to>
                                        <p:strVal val="visible"/>
                                      </p:to>
                                    </p:set>
                                    <p:animEffect transition="in" filter="wipe(down)">
                                      <p:cBhvr>
                                        <p:cTn id="13" dur="500"/>
                                        <p:tgtEl>
                                          <p:spTgt spid="32776">
                                            <p:txEl>
                                              <p:pRg st="1" end="1"/>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2776">
                                            <p:txEl>
                                              <p:pRg st="2" end="2"/>
                                            </p:txEl>
                                          </p:spTgt>
                                        </p:tgtEl>
                                        <p:attrNameLst>
                                          <p:attrName>style.visibility</p:attrName>
                                        </p:attrNameLst>
                                      </p:cBhvr>
                                      <p:to>
                                        <p:strVal val="visible"/>
                                      </p:to>
                                    </p:set>
                                    <p:animEffect transition="in" filter="wipe(down)">
                                      <p:cBhvr>
                                        <p:cTn id="16" dur="500"/>
                                        <p:tgtEl>
                                          <p:spTgt spid="32776">
                                            <p:txEl>
                                              <p:pRg st="2" end="2"/>
                                            </p:txEl>
                                          </p:spTgt>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32776">
                                            <p:txEl>
                                              <p:pRg st="3" end="3"/>
                                            </p:txEl>
                                          </p:spTgt>
                                        </p:tgtEl>
                                        <p:attrNameLst>
                                          <p:attrName>style.visibility</p:attrName>
                                        </p:attrNameLst>
                                      </p:cBhvr>
                                      <p:to>
                                        <p:strVal val="visible"/>
                                      </p:to>
                                    </p:set>
                                    <p:animEffect transition="in" filter="wipe(down)">
                                      <p:cBhvr>
                                        <p:cTn id="19" dur="500"/>
                                        <p:tgtEl>
                                          <p:spTgt spid="32776">
                                            <p:txEl>
                                              <p:pRg st="3" end="3"/>
                                            </p:txEl>
                                          </p:spTgt>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32776">
                                            <p:txEl>
                                              <p:pRg st="4" end="4"/>
                                            </p:txEl>
                                          </p:spTgt>
                                        </p:tgtEl>
                                        <p:attrNameLst>
                                          <p:attrName>style.visibility</p:attrName>
                                        </p:attrNameLst>
                                      </p:cBhvr>
                                      <p:to>
                                        <p:strVal val="visible"/>
                                      </p:to>
                                    </p:set>
                                    <p:animEffect transition="in" filter="wipe(down)">
                                      <p:cBhvr>
                                        <p:cTn id="22" dur="500"/>
                                        <p:tgtEl>
                                          <p:spTgt spid="3277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6" grpId="0" animBg="1" build="allAtOnce"/>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97" name="Rectangle 2"/>
          <p:cNvSpPr txBox="1"/>
          <p:nvPr/>
        </p:nvSpPr>
        <p:spPr>
          <a:xfrm>
            <a:off x="536575" y="712788"/>
            <a:ext cx="5689600" cy="576262"/>
          </a:xfrm>
          <a:prstGeom prst="rect">
            <a:avLst/>
          </a:prstGeom>
          <a:noFill/>
          <a:ln w="9525">
            <a:noFill/>
          </a:ln>
        </p:spPr>
        <p:txBody>
          <a:bodyPr anchor="t"/>
          <a:lstStyle/>
          <a:p>
            <a:pPr marL="457200" lvl="0" indent="-457200" defTabSz="0">
              <a:lnSpc>
                <a:spcPct val="135000"/>
              </a:lnSpc>
              <a:tabLst>
                <a:tab pos="1428750" algn="l"/>
              </a:tabLst>
            </a:pPr>
            <a:r>
              <a:rPr lang="zh-CN" altLang="zh-CN" sz="2800" dirty="0">
                <a:solidFill>
                  <a:srgbClr val="0033CC"/>
                </a:solidFill>
                <a:latin typeface="黑体" panose="02010609060101010101" pitchFamily="1" charset="-122"/>
                <a:ea typeface="黑体" panose="02010609060101010101" pitchFamily="1" charset="-122"/>
              </a:rPr>
              <a:t>课堂练习</a:t>
            </a:r>
            <a:endParaRPr lang="zh-CN" altLang="zh-CN" sz="2800" dirty="0">
              <a:solidFill>
                <a:srgbClr val="0033CC"/>
              </a:solidFill>
              <a:latin typeface="黑体" panose="02010609060101010101" pitchFamily="1" charset="-122"/>
              <a:ea typeface="黑体" panose="02010609060101010101" pitchFamily="1" charset="-122"/>
            </a:endParaRPr>
          </a:p>
        </p:txBody>
      </p:sp>
      <p:sp>
        <p:nvSpPr>
          <p:cNvPr id="2" name="文本框 1"/>
          <p:cNvSpPr txBox="1"/>
          <p:nvPr/>
        </p:nvSpPr>
        <p:spPr>
          <a:xfrm>
            <a:off x="664210" y="1289050"/>
            <a:ext cx="8236585" cy="1641475"/>
          </a:xfrm>
          <a:prstGeom prst="rect">
            <a:avLst/>
          </a:prstGeom>
          <a:noFill/>
        </p:spPr>
        <p:txBody>
          <a:bodyPr wrap="square" rtlCol="0" anchor="t">
            <a:spAutoFit/>
          </a:bodyPr>
          <a:lstStyle/>
          <a:p>
            <a:pPr marL="342900" indent="-342900">
              <a:lnSpc>
                <a:spcPct val="130000"/>
              </a:lnSpc>
              <a:spcBef>
                <a:spcPts val="0"/>
              </a:spcBef>
              <a:spcAft>
                <a:spcPts val="0"/>
              </a:spcAft>
              <a:buFont typeface="Wingdings" panose="05000000000000000000" charset="0"/>
              <a:buChar char=""/>
            </a:pPr>
            <a:r>
              <a:rPr lang="zh-CN" altLang="en-US" sz="2100"/>
              <a:t>以</a:t>
            </a:r>
            <a:r>
              <a:rPr lang="en-US" altLang="zh-CN" sz="2100"/>
              <a:t>Sa</a:t>
            </a:r>
            <a:r>
              <a:rPr lang="zh-CN" altLang="zh-CN" sz="2100"/>
              <a:t>用户身份登陆</a:t>
            </a:r>
            <a:r>
              <a:rPr lang="en-US" altLang="zh-CN" sz="2100"/>
              <a:t>SQL Server.</a:t>
            </a:r>
            <a:r>
              <a:rPr lang="zh-CN" altLang="zh-CN" sz="2100"/>
              <a:t> （</a:t>
            </a:r>
            <a:r>
              <a:rPr lang="en-US" altLang="zh-CN" sz="2100"/>
              <a:t>1</a:t>
            </a:r>
            <a:r>
              <a:rPr lang="zh-CN" altLang="en-US" sz="2100"/>
              <a:t>）</a:t>
            </a:r>
            <a:r>
              <a:rPr lang="zh-CN" altLang="zh-CN" sz="2100"/>
              <a:t>为前面创建的</a:t>
            </a:r>
            <a:r>
              <a:rPr lang="en-US" altLang="zh-CN" sz="2100">
                <a:sym typeface="+mn-ea"/>
              </a:rPr>
              <a:t>“student”</a:t>
            </a:r>
            <a:r>
              <a:rPr lang="zh-CN" altLang="zh-CN" sz="2100">
                <a:sym typeface="+mn-ea"/>
              </a:rPr>
              <a:t>角色</a:t>
            </a:r>
            <a:r>
              <a:rPr lang="zh-CN" altLang="en-US" sz="2100"/>
              <a:t>授权允许查看和修改</a:t>
            </a:r>
            <a:r>
              <a:rPr lang="en-US" altLang="zh-CN" sz="2100"/>
              <a:t>C</a:t>
            </a:r>
            <a:r>
              <a:rPr lang="zh-CN" altLang="zh-CN" sz="2100"/>
              <a:t>表的</a:t>
            </a:r>
            <a:r>
              <a:rPr lang="en-US" altLang="zh-CN" sz="2100"/>
              <a:t>CName</a:t>
            </a:r>
            <a:r>
              <a:rPr lang="zh-CN" altLang="zh-CN" sz="2100"/>
              <a:t>和</a:t>
            </a:r>
            <a:r>
              <a:rPr lang="en-US" altLang="zh-CN" sz="2100"/>
              <a:t>Hour</a:t>
            </a:r>
            <a:r>
              <a:rPr lang="zh-CN" altLang="en-US" sz="2100"/>
              <a:t>字段值</a:t>
            </a:r>
            <a:r>
              <a:rPr lang="zh-CN" altLang="zh-CN" sz="2100"/>
              <a:t>的权限</a:t>
            </a:r>
            <a:r>
              <a:rPr lang="zh-CN" altLang="en-US" sz="2100"/>
              <a:t>。</a:t>
            </a:r>
            <a:endParaRPr lang="zh-CN" altLang="en-US" sz="2100"/>
          </a:p>
          <a:p>
            <a:pPr>
              <a:lnSpc>
                <a:spcPct val="110000"/>
              </a:lnSpc>
              <a:spcBef>
                <a:spcPts val="0"/>
              </a:spcBef>
              <a:spcAft>
                <a:spcPts val="0"/>
              </a:spcAft>
              <a:buFont typeface="Wingdings" panose="05000000000000000000" charset="0"/>
            </a:pPr>
            <a:r>
              <a:rPr lang="zh-CN" altLang="en-US" sz="2100"/>
              <a:t> （</a:t>
            </a:r>
            <a:r>
              <a:rPr lang="en-US" altLang="zh-CN" sz="2100"/>
              <a:t>2</a:t>
            </a:r>
            <a:r>
              <a:rPr lang="zh-CN" altLang="en-US" sz="2100"/>
              <a:t>）创建</a:t>
            </a:r>
            <a:r>
              <a:rPr lang="en-US" altLang="zh-CN" sz="2100"/>
              <a:t>teacher</a:t>
            </a:r>
            <a:r>
              <a:rPr lang="zh-CN" altLang="en-US" sz="2100"/>
              <a:t>用户，为其授权查看、修改、删除、插入表</a:t>
            </a:r>
            <a:r>
              <a:rPr lang="en-US" altLang="zh-CN" sz="2100">
                <a:sym typeface="+mn-ea"/>
              </a:rPr>
              <a:t>C</a:t>
            </a:r>
            <a:r>
              <a:rPr lang="zh-CN" altLang="en-US" sz="2100">
                <a:sym typeface="+mn-ea"/>
              </a:rPr>
              <a:t>所有字段数据的权限。</a:t>
            </a:r>
            <a:endParaRPr lang="zh-CN" altLang="en-US" sz="2100">
              <a:sym typeface="+mn-ea"/>
            </a:endParaRPr>
          </a:p>
        </p:txBody>
      </p:sp>
      <p:sp>
        <p:nvSpPr>
          <p:cNvPr id="28696" name="Rectangle 2"/>
          <p:cNvSpPr/>
          <p:nvPr/>
        </p:nvSpPr>
        <p:spPr>
          <a:xfrm>
            <a:off x="457200" y="68263"/>
            <a:ext cx="8229600" cy="692150"/>
          </a:xfrm>
          <a:prstGeom prst="rect">
            <a:avLst/>
          </a:prstGeom>
          <a:noFill/>
          <a:ln w="9525">
            <a:noFill/>
          </a:ln>
        </p:spPr>
        <p:txBody>
          <a:bodyPr anchor="ctr"/>
          <a:lstStyle/>
          <a:p>
            <a:pPr lvl="0" indent="0"/>
            <a:r>
              <a:rPr lang="zh-CN" altLang="en-US" sz="3200" dirty="0">
                <a:solidFill>
                  <a:srgbClr val="FF0000"/>
                </a:solidFill>
                <a:latin typeface="Arial" panose="020B0604020202020204" pitchFamily="34" charset="0"/>
                <a:ea typeface="黑体" panose="02010609060101010101" pitchFamily="1" charset="-122"/>
              </a:rPr>
              <a:t>二、数据库的安全性</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26653" name="Text Box 26"/>
          <p:cNvSpPr txBox="1"/>
          <p:nvPr/>
        </p:nvSpPr>
        <p:spPr>
          <a:xfrm>
            <a:off x="664210" y="3016250"/>
            <a:ext cx="7815580" cy="1155065"/>
          </a:xfrm>
          <a:prstGeom prst="rect">
            <a:avLst/>
          </a:prstGeom>
          <a:solidFill>
            <a:schemeClr val="bg1"/>
          </a:solidFill>
          <a:ln w="9525" cap="flat" cmpd="sng">
            <a:solidFill>
              <a:schemeClr val="tx1"/>
            </a:solidFill>
            <a:prstDash val="solid"/>
            <a:miter/>
            <a:headEnd type="none" w="med" len="med"/>
            <a:tailEnd type="none" w="med" len="med"/>
          </a:ln>
        </p:spPr>
        <p:txBody>
          <a:bodyPr wrap="square" lIns="90000" tIns="46800" rIns="90000" bIns="46800" anchor="t">
            <a:spAutoFit/>
          </a:bodyPr>
          <a:lstStyle/>
          <a:p>
            <a:pPr lvl="0">
              <a:lnSpc>
                <a:spcPct val="114000"/>
              </a:lnSpc>
            </a:pPr>
            <a:r>
              <a:rPr lang="zh-CN" altLang="x-none" sz="2200" dirty="0">
                <a:solidFill>
                  <a:schemeClr val="tx1"/>
                </a:solidFill>
                <a:latin typeface="华文楷体" panose="02010600040101010101" pitchFamily="2" charset="-122"/>
                <a:ea typeface="华文楷体" panose="02010600040101010101" pitchFamily="2" charset="-122"/>
              </a:rPr>
              <a:t>（</a:t>
            </a:r>
            <a:r>
              <a:rPr lang="en-US" altLang="zh-CN" sz="2200" dirty="0">
                <a:solidFill>
                  <a:schemeClr val="tx1"/>
                </a:solidFill>
                <a:latin typeface="华文楷体" panose="02010600040101010101" pitchFamily="2" charset="-122"/>
                <a:ea typeface="华文楷体" panose="02010600040101010101" pitchFamily="2" charset="-122"/>
              </a:rPr>
              <a:t>1</a:t>
            </a:r>
            <a:r>
              <a:rPr lang="zh-CN" altLang="en-US" sz="2200" dirty="0">
                <a:solidFill>
                  <a:schemeClr val="tx1"/>
                </a:solidFill>
                <a:latin typeface="华文楷体" panose="02010600040101010101" pitchFamily="2" charset="-122"/>
                <a:ea typeface="华文楷体" panose="02010600040101010101" pitchFamily="2" charset="-122"/>
              </a:rPr>
              <a:t>）</a:t>
            </a:r>
            <a:r>
              <a:rPr lang="zh-CN" altLang="en-US" sz="2200">
                <a:solidFill>
                  <a:schemeClr val="tx1"/>
                </a:solidFill>
                <a:cs typeface="+mn-ea"/>
              </a:rPr>
              <a:t>为</a:t>
            </a:r>
            <a:r>
              <a:rPr lang="zh-CN" altLang="en-US" sz="2200">
                <a:cs typeface="+mn-ea"/>
                <a:sym typeface="+mn-ea"/>
              </a:rPr>
              <a:t>“student”授权</a:t>
            </a:r>
            <a:endParaRPr lang="zh-CN" altLang="en-US" sz="2200">
              <a:sym typeface="+mn-ea"/>
            </a:endParaRPr>
          </a:p>
          <a:p>
            <a:pPr lvl="0">
              <a:lnSpc>
                <a:spcPct val="100000"/>
              </a:lnSpc>
            </a:pPr>
            <a:r>
              <a:rPr lang="en-US" altLang="x-none" sz="2200" dirty="0">
                <a:solidFill>
                  <a:srgbClr val="0033CC"/>
                </a:solidFill>
                <a:latin typeface="华文楷体" panose="02010600040101010101" pitchFamily="2" charset="-122"/>
                <a:ea typeface="华文楷体" panose="02010600040101010101" pitchFamily="2" charset="-122"/>
                <a:cs typeface="+mn-ea"/>
                <a:sym typeface="+mn-ea"/>
              </a:rPr>
              <a:t>use  peixunjigou</a:t>
            </a:r>
            <a:endParaRPr lang="en-US" altLang="x-none" sz="2200" dirty="0">
              <a:solidFill>
                <a:srgbClr val="0033CC"/>
              </a:solidFill>
              <a:latin typeface="华文楷体" panose="02010600040101010101" pitchFamily="2" charset="-122"/>
              <a:ea typeface="华文楷体" panose="02010600040101010101" pitchFamily="2" charset="-122"/>
              <a:cs typeface="+mn-ea"/>
              <a:sym typeface="+mn-ea"/>
            </a:endParaRPr>
          </a:p>
          <a:p>
            <a:pPr lvl="0">
              <a:lnSpc>
                <a:spcPct val="100000"/>
              </a:lnSpc>
            </a:pPr>
            <a:r>
              <a:rPr lang="en-US" altLang="x-none" sz="2200" dirty="0">
                <a:solidFill>
                  <a:srgbClr val="0033CC"/>
                </a:solidFill>
                <a:latin typeface="华文楷体" panose="02010600040101010101" pitchFamily="2" charset="-122"/>
                <a:ea typeface="华文楷体" panose="02010600040101010101" pitchFamily="2" charset="-122"/>
                <a:cs typeface="+mn-ea"/>
              </a:rPr>
              <a:t>grant Select</a:t>
            </a:r>
            <a:r>
              <a:rPr lang="en-US" altLang="zh-CN" sz="2200" dirty="0">
                <a:solidFill>
                  <a:srgbClr val="0033CC"/>
                </a:solidFill>
                <a:latin typeface="华文楷体" panose="02010600040101010101" pitchFamily="2" charset="-122"/>
                <a:ea typeface="华文楷体" panose="02010600040101010101" pitchFamily="2" charset="-122"/>
                <a:cs typeface="+mn-ea"/>
              </a:rPr>
              <a:t>,update on C(CName,Hour)  to </a:t>
            </a:r>
            <a:r>
              <a:rPr lang="en-US" altLang="x-none" sz="2200" dirty="0">
                <a:solidFill>
                  <a:srgbClr val="0033CC"/>
                </a:solidFill>
                <a:latin typeface="华文楷体" panose="02010600040101010101" pitchFamily="2" charset="-122"/>
                <a:ea typeface="华文楷体" panose="02010600040101010101" pitchFamily="2" charset="-122"/>
                <a:cs typeface="+mn-ea"/>
                <a:sym typeface="+mn-ea"/>
              </a:rPr>
              <a:t>Student</a:t>
            </a:r>
            <a:endParaRPr lang="en-US" altLang="zh-CN" sz="2200" dirty="0">
              <a:solidFill>
                <a:srgbClr val="0033CC"/>
              </a:solidFill>
              <a:latin typeface="华文楷体" panose="02010600040101010101" pitchFamily="2" charset="-122"/>
              <a:ea typeface="华文楷体" panose="02010600040101010101" pitchFamily="2" charset="-122"/>
              <a:cs typeface="+mn-ea"/>
            </a:endParaRPr>
          </a:p>
        </p:txBody>
      </p:sp>
      <p:sp>
        <p:nvSpPr>
          <p:cNvPr id="3" name="Text Box 26"/>
          <p:cNvSpPr txBox="1"/>
          <p:nvPr/>
        </p:nvSpPr>
        <p:spPr>
          <a:xfrm>
            <a:off x="664210" y="4304665"/>
            <a:ext cx="7815580" cy="1865448"/>
          </a:xfrm>
          <a:prstGeom prst="rect">
            <a:avLst/>
          </a:prstGeom>
          <a:solidFill>
            <a:schemeClr val="bg1"/>
          </a:solidFill>
          <a:ln w="9525" cap="flat" cmpd="sng">
            <a:solidFill>
              <a:schemeClr val="tx1"/>
            </a:solidFill>
            <a:prstDash val="solid"/>
            <a:miter/>
            <a:headEnd type="none" w="med" len="med"/>
            <a:tailEnd type="none" w="med" len="med"/>
          </a:ln>
        </p:spPr>
        <p:txBody>
          <a:bodyPr wrap="square" lIns="90000" tIns="46800" rIns="90000" bIns="46800" anchor="t">
            <a:spAutoFit/>
          </a:bodyPr>
          <a:lstStyle/>
          <a:p>
            <a:pPr lvl="0">
              <a:lnSpc>
                <a:spcPct val="114000"/>
              </a:lnSpc>
            </a:pPr>
            <a:r>
              <a:rPr lang="zh-CN" altLang="x-none" sz="2200" dirty="0">
                <a:solidFill>
                  <a:schemeClr val="tx1"/>
                </a:solidFill>
                <a:latin typeface="华文楷体" panose="02010600040101010101" pitchFamily="2" charset="-122"/>
                <a:ea typeface="华文楷体" panose="02010600040101010101" pitchFamily="2" charset="-122"/>
              </a:rPr>
              <a:t>（</a:t>
            </a:r>
            <a:r>
              <a:rPr lang="en-US" altLang="zh-CN" sz="2200" dirty="0">
                <a:solidFill>
                  <a:schemeClr val="tx1"/>
                </a:solidFill>
                <a:latin typeface="华文楷体" panose="02010600040101010101" pitchFamily="2" charset="-122"/>
                <a:ea typeface="华文楷体" panose="02010600040101010101" pitchFamily="2" charset="-122"/>
              </a:rPr>
              <a:t>2</a:t>
            </a:r>
            <a:r>
              <a:rPr lang="zh-CN" altLang="en-US" sz="2200" dirty="0">
                <a:solidFill>
                  <a:schemeClr val="tx1"/>
                </a:solidFill>
                <a:latin typeface="华文楷体" panose="02010600040101010101" pitchFamily="2" charset="-122"/>
                <a:ea typeface="华文楷体" panose="02010600040101010101" pitchFamily="2" charset="-122"/>
              </a:rPr>
              <a:t>）创建</a:t>
            </a:r>
            <a:r>
              <a:rPr lang="zh-CN" altLang="en-US" sz="2200" dirty="0">
                <a:cs typeface="+mn-ea"/>
                <a:sym typeface="+mn-ea"/>
              </a:rPr>
              <a:t>“</a:t>
            </a:r>
            <a:r>
              <a:rPr lang="en-US" altLang="zh-CN" sz="2200" dirty="0">
                <a:sym typeface="+mn-ea"/>
              </a:rPr>
              <a:t>teacher</a:t>
            </a:r>
            <a:r>
              <a:rPr lang="zh-CN" altLang="en-US" sz="2200" dirty="0">
                <a:cs typeface="+mn-ea"/>
                <a:sym typeface="+mn-ea"/>
              </a:rPr>
              <a:t>”</a:t>
            </a:r>
            <a:r>
              <a:rPr lang="zh-CN" altLang="en-US" sz="2200" dirty="0">
                <a:sym typeface="+mn-ea"/>
              </a:rPr>
              <a:t>用户并授权</a:t>
            </a:r>
            <a:endParaRPr lang="en-US" altLang="zh-CN" sz="2200" dirty="0">
              <a:sym typeface="+mn-ea"/>
            </a:endParaRPr>
          </a:p>
          <a:p>
            <a:pPr lvl="0">
              <a:lnSpc>
                <a:spcPct val="100000"/>
              </a:lnSpc>
            </a:pPr>
            <a:r>
              <a:rPr lang="en-US" altLang="zh-CN" sz="2200" dirty="0">
                <a:solidFill>
                  <a:srgbClr val="0033CC"/>
                </a:solidFill>
                <a:latin typeface="华文楷体" panose="02010600040101010101" pitchFamily="2" charset="-122"/>
                <a:ea typeface="华文楷体" panose="02010600040101010101" pitchFamily="2" charset="-122"/>
                <a:cs typeface="+mn-ea"/>
                <a:sym typeface="+mn-ea"/>
              </a:rPr>
              <a:t>sp_addlogin 'teacher','123456'</a:t>
            </a:r>
            <a:endParaRPr lang="en-US" altLang="zh-CN" sz="2200" dirty="0">
              <a:solidFill>
                <a:srgbClr val="0033CC"/>
              </a:solidFill>
              <a:latin typeface="华文楷体" panose="02010600040101010101" pitchFamily="2" charset="-122"/>
              <a:ea typeface="华文楷体" panose="02010600040101010101" pitchFamily="2" charset="-122"/>
              <a:cs typeface="+mn-ea"/>
              <a:sym typeface="+mn-ea"/>
            </a:endParaRPr>
          </a:p>
          <a:p>
            <a:pPr lvl="0">
              <a:lnSpc>
                <a:spcPct val="100000"/>
              </a:lnSpc>
            </a:pPr>
            <a:r>
              <a:rPr lang="en-US" altLang="x-none" sz="2200" dirty="0">
                <a:solidFill>
                  <a:srgbClr val="0033CC"/>
                </a:solidFill>
                <a:latin typeface="华文楷体" panose="02010600040101010101" pitchFamily="2" charset="-122"/>
                <a:ea typeface="华文楷体" panose="02010600040101010101" pitchFamily="2" charset="-122"/>
                <a:cs typeface="+mn-ea"/>
                <a:sym typeface="+mn-ea"/>
              </a:rPr>
              <a:t>use  peixunjigou</a:t>
            </a:r>
            <a:endParaRPr lang="en-US" altLang="x-none" sz="2200" dirty="0">
              <a:solidFill>
                <a:srgbClr val="0033CC"/>
              </a:solidFill>
              <a:latin typeface="华文楷体" panose="02010600040101010101" pitchFamily="2" charset="-122"/>
              <a:ea typeface="华文楷体" panose="02010600040101010101" pitchFamily="2" charset="-122"/>
              <a:cs typeface="+mn-ea"/>
              <a:sym typeface="+mn-ea"/>
            </a:endParaRPr>
          </a:p>
          <a:p>
            <a:pPr lvl="0">
              <a:lnSpc>
                <a:spcPct val="100000"/>
              </a:lnSpc>
            </a:pPr>
            <a:r>
              <a:rPr lang="en-US" altLang="x-none" sz="2200" dirty="0">
                <a:solidFill>
                  <a:srgbClr val="0033CC"/>
                </a:solidFill>
                <a:latin typeface="华文楷体" panose="02010600040101010101" pitchFamily="2" charset="-122"/>
                <a:ea typeface="华文楷体" panose="02010600040101010101" pitchFamily="2" charset="-122"/>
                <a:cs typeface="+mn-ea"/>
                <a:sym typeface="+mn-ea"/>
              </a:rPr>
              <a:t>sp_adduser </a:t>
            </a:r>
            <a:r>
              <a:rPr lang="en-US" altLang="zh-CN" sz="2200" dirty="0">
                <a:solidFill>
                  <a:srgbClr val="0033CC"/>
                </a:solidFill>
                <a:latin typeface="华文楷体" panose="02010600040101010101" pitchFamily="2" charset="-122"/>
                <a:ea typeface="华文楷体" panose="02010600040101010101" pitchFamily="2" charset="-122"/>
                <a:cs typeface="+mn-ea"/>
                <a:sym typeface="+mn-ea"/>
              </a:rPr>
              <a:t>'teacher','teacher'</a:t>
            </a:r>
            <a:endParaRPr lang="en-US" altLang="x-none" sz="2200" dirty="0">
              <a:solidFill>
                <a:srgbClr val="0033CC"/>
              </a:solidFill>
              <a:latin typeface="华文楷体" panose="02010600040101010101" pitchFamily="2" charset="-122"/>
              <a:ea typeface="华文楷体" panose="02010600040101010101" pitchFamily="2" charset="-122"/>
              <a:cs typeface="+mn-ea"/>
              <a:sym typeface="+mn-ea"/>
            </a:endParaRPr>
          </a:p>
          <a:p>
            <a:pPr marL="457200" lvl="0" indent="-457200"/>
            <a:r>
              <a:rPr lang="en-US" altLang="x-none" sz="2200" dirty="0">
                <a:solidFill>
                  <a:srgbClr val="0033CC"/>
                </a:solidFill>
                <a:latin typeface="华文楷体" panose="02010600040101010101" pitchFamily="2" charset="-122"/>
                <a:ea typeface="华文楷体" panose="02010600040101010101" pitchFamily="2" charset="-122"/>
                <a:cs typeface="+mn-ea"/>
              </a:rPr>
              <a:t>grant </a:t>
            </a:r>
            <a:r>
              <a:rPr lang="en-US" altLang="zh-CN" sz="2200" dirty="0">
                <a:solidFill>
                  <a:srgbClr val="0033CC"/>
                </a:solidFill>
                <a:latin typeface="华文楷体" panose="02010600040101010101" pitchFamily="2" charset="-122"/>
                <a:ea typeface="华文楷体" panose="02010600040101010101" pitchFamily="2" charset="-122"/>
                <a:cs typeface="+mn-ea"/>
                <a:sym typeface="+mn-ea"/>
              </a:rPr>
              <a:t>ALL PRIVILIGES</a:t>
            </a:r>
            <a:r>
              <a:rPr lang="en-US" altLang="zh-CN" sz="2200" dirty="0">
                <a:solidFill>
                  <a:srgbClr val="0033CC"/>
                </a:solidFill>
                <a:latin typeface="华文楷体" panose="02010600040101010101" pitchFamily="2" charset="-122"/>
                <a:ea typeface="华文楷体" panose="02010600040101010101" pitchFamily="2" charset="-122"/>
                <a:cs typeface="+mn-ea"/>
              </a:rPr>
              <a:t> </a:t>
            </a:r>
            <a:r>
              <a:rPr lang="en-US" altLang="zh-CN" sz="2200" dirty="0">
                <a:solidFill>
                  <a:srgbClr val="0033CC"/>
                </a:solidFill>
                <a:latin typeface="华文楷体" panose="02010600040101010101" pitchFamily="2" charset="-122"/>
                <a:ea typeface="华文楷体" panose="02010600040101010101" pitchFamily="2" charset="-122"/>
                <a:cs typeface="+mn-ea"/>
              </a:rPr>
              <a:t>on C  to teacher</a:t>
            </a:r>
            <a:endParaRPr lang="en-US" altLang="zh-CN" sz="2200" dirty="0">
              <a:solidFill>
                <a:srgbClr val="0033CC"/>
              </a:solidFill>
              <a:latin typeface="华文楷体" panose="02010600040101010101" pitchFamily="2" charset="-122"/>
              <a:ea typeface="华文楷体" panose="02010600040101010101" pitchFamily="2" charset="-122"/>
              <a:cs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653"/>
                                        </p:tgtEl>
                                        <p:attrNameLst>
                                          <p:attrName>style.visibility</p:attrName>
                                        </p:attrNameLst>
                                      </p:cBhvr>
                                      <p:to>
                                        <p:strVal val="visible"/>
                                      </p:to>
                                    </p:set>
                                    <p:anim calcmode="lin" valueType="num">
                                      <p:cBhvr additive="base">
                                        <p:cTn id="7" dur="500" fill="hold"/>
                                        <p:tgtEl>
                                          <p:spTgt spid="26653"/>
                                        </p:tgtEl>
                                        <p:attrNameLst>
                                          <p:attrName>ppt_x</p:attrName>
                                        </p:attrNameLst>
                                      </p:cBhvr>
                                      <p:tavLst>
                                        <p:tav tm="0">
                                          <p:val>
                                            <p:strVal val="#ppt_x"/>
                                          </p:val>
                                        </p:tav>
                                        <p:tav tm="100000">
                                          <p:val>
                                            <p:strVal val="#ppt_x"/>
                                          </p:val>
                                        </p:tav>
                                      </p:tavLst>
                                    </p:anim>
                                    <p:anim calcmode="lin" valueType="num">
                                      <p:cBhvr additive="base">
                                        <p:cTn id="8" dur="500" fill="hold"/>
                                        <p:tgtEl>
                                          <p:spTgt spid="2665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53" grpId="0" bldLvl="0" animBg="1"/>
      <p:bldP spid="3" grpId="0" bldLvl="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555" name="Object 10"/>
          <p:cNvGraphicFramePr>
            <a:graphicFrameLocks noGrp="1" noChangeAspect="1"/>
          </p:cNvGraphicFramePr>
          <p:nvPr/>
        </p:nvGraphicFramePr>
        <p:xfrm>
          <a:off x="518160" y="1481138"/>
          <a:ext cx="8502650" cy="3348037"/>
        </p:xfrm>
        <a:graphic>
          <a:graphicData uri="http://schemas.openxmlformats.org/presentationml/2006/ole">
            <mc:AlternateContent xmlns:mc="http://schemas.openxmlformats.org/markup-compatibility/2006">
              <mc:Choice xmlns:v="urn:schemas-microsoft-com:vml" Requires="v">
                <p:oleObj spid="_x0000_s4118" name="" r:id="rId1" imgW="4371975" imgH="1924050" progId="Word.Picture.8">
                  <p:embed/>
                </p:oleObj>
              </mc:Choice>
              <mc:Fallback>
                <p:oleObj name="" r:id="rId1" imgW="4371975" imgH="1924050" progId="Word.Picture.8">
                  <p:embed/>
                  <p:pic>
                    <p:nvPicPr>
                      <p:cNvPr id="0" name="图片 3085"/>
                      <p:cNvPicPr/>
                      <p:nvPr/>
                    </p:nvPicPr>
                    <p:blipFill>
                      <a:blip r:embed="rId2"/>
                      <a:stretch>
                        <a:fillRect/>
                      </a:stretch>
                    </p:blipFill>
                    <p:spPr>
                      <a:xfrm>
                        <a:off x="518160" y="1481138"/>
                        <a:ext cx="8502650" cy="3348037"/>
                      </a:xfrm>
                      <a:prstGeom prst="rect">
                        <a:avLst/>
                      </a:prstGeom>
                      <a:noFill/>
                      <a:ln w="38100">
                        <a:noFill/>
                        <a:miter/>
                      </a:ln>
                    </p:spPr>
                  </p:pic>
                </p:oleObj>
              </mc:Fallback>
            </mc:AlternateContent>
          </a:graphicData>
        </a:graphic>
      </p:graphicFrame>
      <p:sp>
        <p:nvSpPr>
          <p:cNvPr id="23556" name="Text Box 3"/>
          <p:cNvSpPr txBox="1"/>
          <p:nvPr/>
        </p:nvSpPr>
        <p:spPr>
          <a:xfrm>
            <a:off x="42863" y="4781550"/>
            <a:ext cx="8347075" cy="396875"/>
          </a:xfrm>
          <a:prstGeom prst="rect">
            <a:avLst/>
          </a:prstGeom>
          <a:noFill/>
          <a:ln w="9525">
            <a:noFill/>
          </a:ln>
        </p:spPr>
        <p:txBody>
          <a:bodyPr anchor="t">
            <a:spAutoFit/>
          </a:bodyPr>
          <a:lstStyle/>
          <a:p>
            <a:pPr lvl="0" indent="0">
              <a:spcBef>
                <a:spcPct val="50000"/>
              </a:spcBef>
            </a:pPr>
            <a:r>
              <a:rPr lang="en-US" altLang="x-none" sz="2000" dirty="0">
                <a:latin typeface="方正姚体" panose="02010601030101010101" pitchFamily="2" charset="-122"/>
                <a:ea typeface="方正姚体" panose="02010601030101010101" pitchFamily="2" charset="-122"/>
              </a:rPr>
              <a:t>        </a:t>
            </a:r>
            <a:endParaRPr lang="zh-CN" altLang="en-US" sz="2000" dirty="0">
              <a:latin typeface="楷体" panose="02010609060101010101" pitchFamily="1" charset="-122"/>
              <a:ea typeface="楷体" panose="02010609060101010101" pitchFamily="1" charset="-122"/>
            </a:endParaRPr>
          </a:p>
        </p:txBody>
      </p:sp>
      <p:sp>
        <p:nvSpPr>
          <p:cNvPr id="23557" name="Text Box 8"/>
          <p:cNvSpPr txBox="1"/>
          <p:nvPr/>
        </p:nvSpPr>
        <p:spPr>
          <a:xfrm>
            <a:off x="434975" y="4829175"/>
            <a:ext cx="8491538" cy="1446213"/>
          </a:xfrm>
          <a:prstGeom prst="rect">
            <a:avLst/>
          </a:prstGeom>
          <a:noFill/>
          <a:ln w="9525">
            <a:noFill/>
          </a:ln>
        </p:spPr>
        <p:txBody>
          <a:bodyPr anchor="t">
            <a:spAutoFit/>
          </a:bodyPr>
          <a:lstStyle/>
          <a:p>
            <a:pPr lvl="0" indent="0">
              <a:spcBef>
                <a:spcPct val="50000"/>
              </a:spcBef>
            </a:pPr>
            <a:r>
              <a:rPr lang="zh-CN" altLang="en-US" sz="2200" dirty="0">
                <a:solidFill>
                  <a:srgbClr val="CC3300"/>
                </a:solidFill>
                <a:latin typeface="楷体" panose="02010609060101010101" pitchFamily="1" charset="-122"/>
                <a:ea typeface="楷体" panose="02010609060101010101" pitchFamily="1" charset="-122"/>
              </a:rPr>
              <a:t>说明：</a:t>
            </a:r>
            <a:r>
              <a:rPr lang="en-US" altLang="x-none" sz="2200" dirty="0">
                <a:solidFill>
                  <a:srgbClr val="CC3300"/>
                </a:solidFill>
                <a:latin typeface="楷体" panose="02010609060101010101" pitchFamily="1" charset="-122"/>
                <a:ea typeface="楷体" panose="02010609060101010101" pitchFamily="1" charset="-122"/>
              </a:rPr>
              <a:t>① </a:t>
            </a: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组”的概念只在</a:t>
            </a:r>
            <a:r>
              <a:rPr lang="en-US" altLang="x-none" sz="2200" dirty="0">
                <a:latin typeface="楷体" panose="02010609060101010101" pitchFamily="1" charset="-122"/>
                <a:ea typeface="楷体" panose="02010609060101010101" pitchFamily="1" charset="-122"/>
              </a:rPr>
              <a:t>7.0</a:t>
            </a:r>
            <a:r>
              <a:rPr lang="zh-CN" altLang="en-US" sz="2200" dirty="0">
                <a:latin typeface="楷体" panose="02010609060101010101" pitchFamily="1" charset="-122"/>
                <a:ea typeface="楷体" panose="02010609060101010101" pitchFamily="1" charset="-122"/>
              </a:rPr>
              <a:t>以前版本有。</a:t>
            </a:r>
            <a:r>
              <a:rPr lang="en-US" altLang="x-none" sz="2200" dirty="0">
                <a:latin typeface="楷体" panose="02010609060101010101" pitchFamily="1" charset="-122"/>
                <a:ea typeface="楷体" panose="02010609060101010101" pitchFamily="1" charset="-122"/>
              </a:rPr>
              <a:t> </a:t>
            </a:r>
            <a:r>
              <a:rPr lang="en-US" altLang="x-none" sz="2200" dirty="0">
                <a:solidFill>
                  <a:srgbClr val="CC3300"/>
                </a:solidFill>
                <a:latin typeface="楷体" panose="02010609060101010101" pitchFamily="1" charset="-122"/>
                <a:ea typeface="楷体" panose="02010609060101010101" pitchFamily="1" charset="-122"/>
              </a:rPr>
              <a:t>② </a:t>
            </a:r>
            <a:r>
              <a:rPr lang="zh-CN" altLang="en-US" sz="2200" dirty="0">
                <a:latin typeface="楷体" panose="02010609060101010101" pitchFamily="1" charset="-122"/>
                <a:ea typeface="楷体" panose="02010609060101010101" pitchFamily="1" charset="-122"/>
              </a:rPr>
              <a:t>登录名可以与</a:t>
            </a:r>
            <a:r>
              <a:rPr lang="en-US" altLang="x-none" sz="2200" dirty="0">
                <a:latin typeface="楷体" panose="02010609060101010101" pitchFamily="1" charset="-122"/>
                <a:ea typeface="楷体" panose="02010609060101010101" pitchFamily="1" charset="-122"/>
              </a:rPr>
              <a:t>DB</a:t>
            </a:r>
            <a:r>
              <a:rPr lang="zh-CN" altLang="en-US" sz="2200" dirty="0">
                <a:latin typeface="楷体" panose="02010609060101010101" pitchFamily="1" charset="-122"/>
                <a:ea typeface="楷体" panose="02010609060101010101" pitchFamily="1" charset="-122"/>
              </a:rPr>
              <a:t>用户名相同。登录用户只有在成为某个</a:t>
            </a:r>
            <a:r>
              <a:rPr lang="en-US" altLang="x-none" sz="2200" dirty="0">
                <a:latin typeface="楷体" panose="02010609060101010101" pitchFamily="1" charset="-122"/>
                <a:ea typeface="楷体" panose="02010609060101010101" pitchFamily="1" charset="-122"/>
              </a:rPr>
              <a:t>DB</a:t>
            </a:r>
            <a:r>
              <a:rPr lang="zh-CN" altLang="en-US" sz="2200" dirty="0">
                <a:latin typeface="楷体" panose="02010609060101010101" pitchFamily="1" charset="-122"/>
                <a:ea typeface="楷体" panose="02010609060101010101" pitchFamily="1" charset="-122"/>
              </a:rPr>
              <a:t>的用户时才能访问该</a:t>
            </a:r>
            <a:r>
              <a:rPr lang="en-US" altLang="x-none" sz="2200" dirty="0">
                <a:latin typeface="楷体" panose="02010609060101010101" pitchFamily="1" charset="-122"/>
                <a:ea typeface="楷体" panose="02010609060101010101" pitchFamily="1" charset="-122"/>
              </a:rPr>
              <a:t>DB</a:t>
            </a:r>
            <a:r>
              <a:rPr lang="zh-CN" altLang="en-US" sz="2200" dirty="0">
                <a:latin typeface="楷体" panose="02010609060101010101" pitchFamily="1" charset="-122"/>
                <a:ea typeface="楷体" panose="02010609060101010101" pitchFamily="1" charset="-122"/>
              </a:rPr>
              <a:t>。</a:t>
            </a:r>
            <a:r>
              <a:rPr lang="en-US" altLang="x-none" sz="2200" dirty="0">
                <a:solidFill>
                  <a:srgbClr val="CC3300"/>
                </a:solidFill>
                <a:latin typeface="楷体" panose="02010609060101010101" pitchFamily="1" charset="-122"/>
                <a:ea typeface="楷体" panose="02010609060101010101" pitchFamily="1" charset="-122"/>
              </a:rPr>
              <a:t> ③ </a:t>
            </a:r>
            <a:r>
              <a:rPr lang="zh-CN" altLang="en-US" sz="2200" dirty="0">
                <a:latin typeface="楷体" panose="02010609060101010101" pitchFamily="1" charset="-122"/>
                <a:ea typeface="楷体" panose="02010609060101010101" pitchFamily="1" charset="-122"/>
              </a:rPr>
              <a:t>由上图可知，</a:t>
            </a:r>
            <a:r>
              <a:rPr lang="en-US" altLang="x-none" sz="2200" dirty="0">
                <a:latin typeface="楷体" panose="02010609060101010101" pitchFamily="1" charset="-122"/>
                <a:ea typeface="楷体" panose="02010609060101010101" pitchFamily="1" charset="-122"/>
              </a:rPr>
              <a:t>SQL SERVER</a:t>
            </a:r>
            <a:r>
              <a:rPr lang="zh-CN" altLang="en-US" sz="2200" dirty="0">
                <a:latin typeface="楷体" panose="02010609060101010101" pitchFamily="1" charset="-122"/>
                <a:ea typeface="楷体" panose="02010609060101010101" pitchFamily="1" charset="-122"/>
              </a:rPr>
              <a:t>安全体系由三级组成，即：</a:t>
            </a:r>
            <a:r>
              <a:rPr lang="en-US" altLang="x-none" sz="2200" dirty="0">
                <a:latin typeface="楷体" panose="02010609060101010101" pitchFamily="1" charset="-122"/>
                <a:ea typeface="楷体" panose="02010609060101010101" pitchFamily="1" charset="-122"/>
              </a:rPr>
              <a:t>DBMS</a:t>
            </a:r>
            <a:r>
              <a:rPr lang="zh-CN" altLang="en-US" sz="2200" dirty="0">
                <a:latin typeface="楷体" panose="02010609060101010101" pitchFamily="1" charset="-122"/>
                <a:ea typeface="楷体" panose="02010609060101010101" pitchFamily="1" charset="-122"/>
              </a:rPr>
              <a:t>或</a:t>
            </a:r>
            <a:r>
              <a:rPr lang="en-US" altLang="x-none" sz="2200" dirty="0">
                <a:latin typeface="楷体" panose="02010609060101010101" pitchFamily="1" charset="-122"/>
                <a:ea typeface="楷体" panose="02010609060101010101" pitchFamily="1" charset="-122"/>
              </a:rPr>
              <a:t>DB</a:t>
            </a:r>
            <a:r>
              <a:rPr lang="zh-CN" altLang="en-US" sz="2200" dirty="0">
                <a:latin typeface="楷体" panose="02010609060101010101" pitchFamily="1" charset="-122"/>
                <a:ea typeface="楷体" panose="02010609060101010101" pitchFamily="1" charset="-122"/>
              </a:rPr>
              <a:t>服务器、</a:t>
            </a:r>
            <a:r>
              <a:rPr lang="en-US" altLang="x-none" sz="2200" dirty="0">
                <a:latin typeface="楷体" panose="02010609060101010101" pitchFamily="1" charset="-122"/>
                <a:ea typeface="楷体" panose="02010609060101010101" pitchFamily="1" charset="-122"/>
              </a:rPr>
              <a:t>DB</a:t>
            </a:r>
            <a:r>
              <a:rPr lang="zh-CN" altLang="en-US" sz="2200" dirty="0">
                <a:latin typeface="楷体" panose="02010609060101010101" pitchFamily="1" charset="-122"/>
                <a:ea typeface="楷体" panose="02010609060101010101" pitchFamily="1" charset="-122"/>
              </a:rPr>
              <a:t>、语句与对象级。</a:t>
            </a:r>
            <a:endParaRPr lang="zh-CN" altLang="en-US" sz="2400" dirty="0">
              <a:latin typeface="方正姚体" panose="02010601030101010101" pitchFamily="2" charset="-122"/>
              <a:ea typeface="方正姚体" panose="02010601030101010101" pitchFamily="2" charset="-122"/>
            </a:endParaRPr>
          </a:p>
        </p:txBody>
      </p:sp>
      <p:sp>
        <p:nvSpPr>
          <p:cNvPr id="23558" name="Text Box 13"/>
          <p:cNvSpPr txBox="1"/>
          <p:nvPr/>
        </p:nvSpPr>
        <p:spPr>
          <a:xfrm>
            <a:off x="0" y="5868988"/>
            <a:ext cx="9144000" cy="400050"/>
          </a:xfrm>
          <a:prstGeom prst="rect">
            <a:avLst/>
          </a:prstGeom>
          <a:noFill/>
          <a:ln w="9525">
            <a:noFill/>
          </a:ln>
        </p:spPr>
        <p:txBody>
          <a:bodyPr anchor="t">
            <a:spAutoFit/>
          </a:bodyPr>
          <a:lstStyle/>
          <a:p>
            <a:pPr lvl="0" indent="0">
              <a:spcBef>
                <a:spcPct val="50000"/>
              </a:spcBef>
            </a:pPr>
            <a:r>
              <a:rPr lang="en-US" altLang="x-none" sz="2000" dirty="0">
                <a:latin typeface="方正姚体" panose="02010601030101010101" pitchFamily="2" charset="-122"/>
                <a:ea typeface="方正姚体" panose="02010601030101010101" pitchFamily="2" charset="-122"/>
              </a:rPr>
              <a:t>        </a:t>
            </a:r>
            <a:endParaRPr lang="zh-CN" altLang="en-US" sz="2000" dirty="0">
              <a:latin typeface="楷体" panose="02010609060101010101" pitchFamily="1" charset="-122"/>
              <a:ea typeface="楷体" panose="02010609060101010101" pitchFamily="1" charset="-122"/>
            </a:endParaRPr>
          </a:p>
        </p:txBody>
      </p:sp>
      <p:sp>
        <p:nvSpPr>
          <p:cNvPr id="23559" name="矩形 8"/>
          <p:cNvSpPr/>
          <p:nvPr/>
        </p:nvSpPr>
        <p:spPr>
          <a:xfrm>
            <a:off x="6520815" y="1387158"/>
            <a:ext cx="1579563" cy="369887"/>
          </a:xfrm>
          <a:prstGeom prst="rect">
            <a:avLst/>
          </a:prstGeom>
          <a:noFill/>
          <a:ln w="9525">
            <a:noFill/>
          </a:ln>
        </p:spPr>
        <p:txBody>
          <a:bodyPr wrap="none" anchor="t">
            <a:spAutoFit/>
          </a:bodyPr>
          <a:lstStyle/>
          <a:p>
            <a:pPr lvl="0" indent="0"/>
            <a:r>
              <a:rPr lang="zh-CN" altLang="en-US" dirty="0">
                <a:latin typeface="方正舒体" panose="02010601030101010101" pitchFamily="2" charset="-122"/>
                <a:ea typeface="方正舒体" panose="02010601030101010101" pitchFamily="2" charset="-122"/>
              </a:rPr>
              <a:t>安全体系结构</a:t>
            </a:r>
            <a:endParaRPr lang="zh-CN" altLang="en-US" dirty="0">
              <a:latin typeface="Arial" panose="020B0604020202020204" pitchFamily="34" charset="0"/>
              <a:ea typeface="宋体" panose="02010600030101010101" pitchFamily="2" charset="-122"/>
            </a:endParaRPr>
          </a:p>
        </p:txBody>
      </p:sp>
      <p:cxnSp>
        <p:nvCxnSpPr>
          <p:cNvPr id="23561" name="直接连接符 11"/>
          <p:cNvCxnSpPr/>
          <p:nvPr/>
        </p:nvCxnSpPr>
        <p:spPr>
          <a:xfrm rot="-5400000" flipH="1">
            <a:off x="896938" y="3446463"/>
            <a:ext cx="2774950" cy="0"/>
          </a:xfrm>
          <a:prstGeom prst="line">
            <a:avLst/>
          </a:prstGeom>
          <a:ln w="76200" cap="flat" cmpd="sng">
            <a:solidFill>
              <a:srgbClr val="0033CC"/>
            </a:solidFill>
            <a:prstDash val="solid"/>
            <a:round/>
            <a:headEnd type="none" w="med" len="med"/>
            <a:tailEnd type="none" w="med" len="med"/>
          </a:ln>
        </p:spPr>
      </p:cxnSp>
      <p:cxnSp>
        <p:nvCxnSpPr>
          <p:cNvPr id="23562" name="直接连接符 14"/>
          <p:cNvCxnSpPr/>
          <p:nvPr/>
        </p:nvCxnSpPr>
        <p:spPr>
          <a:xfrm rot="-5400000" flipH="1">
            <a:off x="3382963" y="3370263"/>
            <a:ext cx="2773362" cy="0"/>
          </a:xfrm>
          <a:prstGeom prst="line">
            <a:avLst/>
          </a:prstGeom>
          <a:ln w="76200" cap="flat" cmpd="sng">
            <a:solidFill>
              <a:srgbClr val="0033CC"/>
            </a:solidFill>
            <a:prstDash val="solid"/>
            <a:round/>
            <a:headEnd type="none" w="med" len="med"/>
            <a:tailEnd type="none" w="med" len="med"/>
          </a:ln>
        </p:spPr>
      </p:cxnSp>
      <p:cxnSp>
        <p:nvCxnSpPr>
          <p:cNvPr id="23563" name="直接连接符 15"/>
          <p:cNvCxnSpPr/>
          <p:nvPr/>
        </p:nvCxnSpPr>
        <p:spPr>
          <a:xfrm rot="5400000">
            <a:off x="5562600" y="3309938"/>
            <a:ext cx="2530475" cy="0"/>
          </a:xfrm>
          <a:prstGeom prst="line">
            <a:avLst/>
          </a:prstGeom>
          <a:ln w="76200" cap="flat" cmpd="sng">
            <a:solidFill>
              <a:srgbClr val="0033CC"/>
            </a:solidFill>
            <a:prstDash val="solid"/>
            <a:round/>
            <a:headEnd type="none" w="med" len="med"/>
            <a:tailEnd type="none" w="med" len="med"/>
          </a:ln>
        </p:spPr>
      </p:cxnSp>
      <p:cxnSp>
        <p:nvCxnSpPr>
          <p:cNvPr id="23564" name="直接连接符 11"/>
          <p:cNvCxnSpPr/>
          <p:nvPr/>
        </p:nvCxnSpPr>
        <p:spPr>
          <a:xfrm>
            <a:off x="693738" y="3738563"/>
            <a:ext cx="881062" cy="0"/>
          </a:xfrm>
          <a:prstGeom prst="line">
            <a:avLst/>
          </a:prstGeom>
          <a:ln w="76200" cap="flat" cmpd="sng">
            <a:solidFill>
              <a:srgbClr val="0033CC"/>
            </a:solidFill>
            <a:prstDash val="solid"/>
            <a:round/>
            <a:headEnd type="none" w="med" len="med"/>
            <a:tailEnd type="none" w="med" len="med"/>
          </a:ln>
        </p:spPr>
      </p:cxnSp>
      <p:sp>
        <p:nvSpPr>
          <p:cNvPr id="20484" name="Rectangle 2"/>
          <p:cNvSpPr/>
          <p:nvPr/>
        </p:nvSpPr>
        <p:spPr>
          <a:xfrm>
            <a:off x="457200" y="68263"/>
            <a:ext cx="8229600" cy="692150"/>
          </a:xfrm>
          <a:prstGeom prst="rect">
            <a:avLst/>
          </a:prstGeom>
          <a:noFill/>
          <a:ln w="9525">
            <a:noFill/>
          </a:ln>
        </p:spPr>
        <p:txBody>
          <a:bodyPr anchor="ctr"/>
          <a:lstStyle/>
          <a:p>
            <a:pPr lvl="0" eaLnBrk="1" hangingPunct="1"/>
            <a:r>
              <a:rPr lang="zh-CN" altLang="en-US" sz="3200" dirty="0">
                <a:solidFill>
                  <a:srgbClr val="FF0000"/>
                </a:solidFill>
                <a:latin typeface="Arial" panose="020B0604020202020204" pitchFamily="34" charset="0"/>
                <a:ea typeface="黑体" panose="02010609060101010101" pitchFamily="1" charset="-122"/>
              </a:rPr>
              <a:t>二、数据库的安全性</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12" name="Rectangle 2"/>
          <p:cNvSpPr txBox="1">
            <a:spLocks noChangeArrowheads="1"/>
          </p:cNvSpPr>
          <p:nvPr/>
        </p:nvSpPr>
        <p:spPr>
          <a:xfrm>
            <a:off x="536575" y="1345565"/>
            <a:ext cx="4999355" cy="748030"/>
          </a:xfrm>
          <a:prstGeom prst="rect">
            <a:avLst/>
          </a:prstGeom>
        </p:spPr>
        <p:txBody>
          <a:bodyPr/>
          <a:lstStyle/>
          <a:p>
            <a:pPr marL="457200" marR="0" lvl="0" indent="-457200" algn="l" defTabSz="914400" rtl="0" eaLnBrk="0" fontAlgn="base" latinLnBrk="0" hangingPunct="0">
              <a:lnSpc>
                <a:spcPct val="100000"/>
              </a:lnSpc>
              <a:spcBef>
                <a:spcPct val="0"/>
              </a:spcBef>
              <a:spcAft>
                <a:spcPct val="0"/>
              </a:spcAft>
              <a:buClrTx/>
              <a:buSzTx/>
              <a:buFont typeface="Wingdings" panose="05000000000000000000" charset="0"/>
              <a:buChar char=""/>
              <a:defRPr/>
            </a:pPr>
            <a:r>
              <a:rPr kumimoji="1" lang="en-US" altLang="zh-CN"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SQL Server</a:t>
            </a:r>
            <a:r>
              <a:rPr kumimoji="1" lang="zh-CN" altLang="zh-CN"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授权小结</a:t>
            </a:r>
            <a:endParaRPr kumimoji="1" lang="zh-CN" altLang="zh-CN" sz="2600" b="1" i="0" u="none" strike="noStrike" kern="0" cap="none" spc="0" normalizeH="0" baseline="0" noProof="0" dirty="0">
              <a:ln>
                <a:noFill/>
              </a:ln>
              <a:solidFill>
                <a:srgbClr val="3333CC"/>
              </a:solidFill>
              <a:effectLst/>
              <a:uLnTx/>
              <a:uFillTx/>
              <a:latin typeface="宋体" panose="02010600030101010101" pitchFamily="2" charset="-122"/>
              <a:ea typeface="+mj-ea"/>
              <a:cs typeface="+mj-cs"/>
            </a:endParaRPr>
          </a:p>
        </p:txBody>
      </p:sp>
      <p:sp>
        <p:nvSpPr>
          <p:cNvPr id="25603" name="Rectangle 2"/>
          <p:cNvSpPr txBox="1"/>
          <p:nvPr/>
        </p:nvSpPr>
        <p:spPr>
          <a:xfrm>
            <a:off x="536575" y="712788"/>
            <a:ext cx="5689600" cy="576262"/>
          </a:xfrm>
          <a:prstGeom prst="rect">
            <a:avLst/>
          </a:prstGeom>
          <a:noFill/>
          <a:ln w="9525">
            <a:noFill/>
          </a:ln>
        </p:spPr>
        <p:txBody>
          <a:bodyPr anchor="t"/>
          <a:lstStyle/>
          <a:p>
            <a:pPr marL="457200" lvl="0" indent="-457200" defTabSz="0">
              <a:lnSpc>
                <a:spcPct val="135000"/>
              </a:lnSpc>
              <a:tabLst>
                <a:tab pos="1428750" algn="l"/>
              </a:tabLst>
            </a:pPr>
            <a:r>
              <a:rPr lang="en-US" altLang="x-none" sz="2800" dirty="0">
                <a:solidFill>
                  <a:srgbClr val="0033CC"/>
                </a:solidFill>
                <a:latin typeface="黑体" panose="02010609060101010101" pitchFamily="1" charset="-122"/>
                <a:ea typeface="黑体" panose="02010609060101010101" pitchFamily="1" charset="-122"/>
              </a:rPr>
              <a:t>3.</a:t>
            </a:r>
            <a:r>
              <a:rPr lang="en-US" altLang="x-none" sz="2800" dirty="0">
                <a:solidFill>
                  <a:srgbClr val="CC3300"/>
                </a:solidFill>
                <a:latin typeface="Times New Roman" panose="02020603050405020304" pitchFamily="2" charset="0"/>
                <a:ea typeface="宋体" panose="02010600030101010101" pitchFamily="2" charset="-122"/>
              </a:rPr>
              <a:t> </a:t>
            </a:r>
            <a:r>
              <a:rPr lang="en-US" altLang="x-none" sz="2800" dirty="0">
                <a:solidFill>
                  <a:srgbClr val="0033CC"/>
                </a:solidFill>
                <a:latin typeface="黑体" panose="02010609060101010101" pitchFamily="1" charset="-122"/>
                <a:ea typeface="黑体" panose="02010609060101010101" pitchFamily="1" charset="-122"/>
              </a:rPr>
              <a:t>SQL SERVER</a:t>
            </a:r>
            <a:r>
              <a:rPr lang="zh-CN" altLang="en-US" sz="2800" dirty="0">
                <a:solidFill>
                  <a:srgbClr val="0033CC"/>
                </a:solidFill>
                <a:latin typeface="黑体" panose="02010609060101010101" pitchFamily="1" charset="-122"/>
                <a:ea typeface="黑体" panose="02010609060101010101" pitchFamily="1" charset="-122"/>
              </a:rPr>
              <a:t>安全体系</a:t>
            </a:r>
            <a:endParaRPr lang="zh-CN" altLang="en-US" sz="2800" dirty="0">
              <a:solidFill>
                <a:srgbClr val="0033CC"/>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p:nvPr/>
        </p:nvSpPr>
        <p:spPr>
          <a:xfrm>
            <a:off x="457200" y="68263"/>
            <a:ext cx="8229600" cy="692150"/>
          </a:xfrm>
          <a:prstGeom prst="rect">
            <a:avLst/>
          </a:prstGeom>
          <a:noFill/>
          <a:ln w="9525">
            <a:noFill/>
          </a:ln>
        </p:spPr>
        <p:txBody>
          <a:bodyPr anchor="ctr"/>
          <a:lstStyle/>
          <a:p>
            <a:pPr lvl="0" indent="0"/>
            <a:r>
              <a:rPr lang="zh-CN" altLang="en-US" sz="3200" dirty="0">
                <a:solidFill>
                  <a:srgbClr val="FF0000"/>
                </a:solidFill>
                <a:latin typeface="Arial" panose="020B0604020202020204" pitchFamily="34" charset="0"/>
                <a:ea typeface="黑体" panose="02010609060101010101" pitchFamily="1" charset="-122"/>
              </a:rPr>
              <a:t>二、数据库的安全性</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31746" name="Rectangle 2"/>
          <p:cNvSpPr txBox="1"/>
          <p:nvPr/>
        </p:nvSpPr>
        <p:spPr>
          <a:xfrm>
            <a:off x="536575" y="712788"/>
            <a:ext cx="5689600" cy="576262"/>
          </a:xfrm>
          <a:prstGeom prst="rect">
            <a:avLst/>
          </a:prstGeom>
          <a:noFill/>
          <a:ln w="9525">
            <a:noFill/>
          </a:ln>
        </p:spPr>
        <p:txBody>
          <a:bodyPr anchor="t"/>
          <a:lstStyle/>
          <a:p>
            <a:pPr marL="457200" lvl="0" indent="-457200" defTabSz="0">
              <a:lnSpc>
                <a:spcPct val="135000"/>
              </a:lnSpc>
              <a:tabLst>
                <a:tab pos="1428750" algn="l"/>
              </a:tabLst>
            </a:pPr>
            <a:r>
              <a:rPr lang="en-US" altLang="x-none" sz="2800" dirty="0">
                <a:solidFill>
                  <a:srgbClr val="0033CC"/>
                </a:solidFill>
                <a:latin typeface="黑体" panose="02010609060101010101" pitchFamily="1" charset="-122"/>
                <a:ea typeface="黑体" panose="02010609060101010101" pitchFamily="1" charset="-122"/>
              </a:rPr>
              <a:t>4.</a:t>
            </a:r>
            <a:r>
              <a:rPr lang="en-US" altLang="x-none" sz="2800" dirty="0">
                <a:solidFill>
                  <a:srgbClr val="CC3300"/>
                </a:solidFill>
                <a:latin typeface="Times New Roman" panose="02020603050405020304" pitchFamily="2" charset="0"/>
                <a:ea typeface="宋体" panose="02010600030101010101" pitchFamily="2" charset="-122"/>
              </a:rPr>
              <a:t> </a:t>
            </a:r>
            <a:r>
              <a:rPr lang="zh-CN" altLang="en-US" sz="2800" dirty="0">
                <a:solidFill>
                  <a:srgbClr val="0033CC"/>
                </a:solidFill>
                <a:latin typeface="黑体" panose="02010609060101010101" pitchFamily="1" charset="-122"/>
                <a:ea typeface="黑体" panose="02010609060101010101" pitchFamily="1" charset="-122"/>
              </a:rPr>
              <a:t>数据库安全的其他内容</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31747" name="Text Box 3"/>
          <p:cNvSpPr txBox="1"/>
          <p:nvPr/>
        </p:nvSpPr>
        <p:spPr>
          <a:xfrm>
            <a:off x="285750" y="1329373"/>
            <a:ext cx="8172450" cy="488950"/>
          </a:xfrm>
          <a:prstGeom prst="rect">
            <a:avLst/>
          </a:prstGeom>
          <a:noFill/>
          <a:ln w="9525">
            <a:noFill/>
          </a:ln>
        </p:spPr>
        <p:txBody>
          <a:bodyPr anchor="t">
            <a:spAutoFit/>
          </a:bodyPr>
          <a:lstStyle/>
          <a:p>
            <a:pPr lvl="0" indent="0">
              <a:spcBef>
                <a:spcPct val="50000"/>
              </a:spcBef>
            </a:pPr>
            <a:r>
              <a:rPr lang="en-US" altLang="x-none" sz="2600" dirty="0">
                <a:latin typeface="方正姚体" panose="02010601030101010101" pitchFamily="2" charset="-122"/>
                <a:ea typeface="方正姚体" panose="02010601030101010101" pitchFamily="2" charset="-122"/>
              </a:rPr>
              <a:t>        </a:t>
            </a:r>
            <a:r>
              <a:rPr lang="zh-CN" altLang="en-US" sz="2200" dirty="0">
                <a:solidFill>
                  <a:srgbClr val="CC3300"/>
                </a:solidFill>
                <a:latin typeface="宋体" panose="02010600030101010101" pitchFamily="2" charset="-122"/>
                <a:ea typeface="宋体" panose="02010600030101010101" pitchFamily="2" charset="-122"/>
              </a:rPr>
              <a:t>数据加密场合：</a:t>
            </a:r>
            <a:r>
              <a:rPr lang="zh-CN" altLang="en-US" sz="2200" dirty="0">
                <a:latin typeface="宋体" panose="02010600030101010101" pitchFamily="2" charset="-122"/>
                <a:ea typeface="宋体" panose="02010600030101010101" pitchFamily="2" charset="-122"/>
              </a:rPr>
              <a:t>存储</a:t>
            </a:r>
            <a:r>
              <a:rPr lang="en-US" altLang="x-none" sz="2200" dirty="0">
                <a:latin typeface="宋体" panose="02010600030101010101" pitchFamily="2" charset="-122"/>
                <a:ea typeface="宋体" panose="02010600030101010101" pitchFamily="2" charset="-122"/>
              </a:rPr>
              <a:t>/</a:t>
            </a:r>
            <a:r>
              <a:rPr lang="zh-CN" altLang="en-US" sz="2200" dirty="0">
                <a:latin typeface="宋体" panose="02010600030101010101" pitchFamily="2" charset="-122"/>
                <a:ea typeface="宋体" panose="02010600030101010101" pitchFamily="2" charset="-122"/>
              </a:rPr>
              <a:t>传输二个环节。</a:t>
            </a:r>
            <a:endParaRPr lang="zh-CN" altLang="en-US" sz="2200" dirty="0">
              <a:latin typeface="宋体" panose="02010600030101010101" pitchFamily="2" charset="-122"/>
              <a:ea typeface="宋体" panose="02010600030101010101" pitchFamily="2" charset="-122"/>
            </a:endParaRPr>
          </a:p>
        </p:txBody>
      </p:sp>
      <p:sp>
        <p:nvSpPr>
          <p:cNvPr id="31748" name="Text Box 4"/>
          <p:cNvSpPr txBox="1"/>
          <p:nvPr/>
        </p:nvSpPr>
        <p:spPr>
          <a:xfrm>
            <a:off x="247650" y="1747838"/>
            <a:ext cx="8229600" cy="830262"/>
          </a:xfrm>
          <a:prstGeom prst="rect">
            <a:avLst/>
          </a:prstGeom>
          <a:noFill/>
          <a:ln w="9525">
            <a:noFill/>
          </a:ln>
        </p:spPr>
        <p:txBody>
          <a:bodyPr anchor="t">
            <a:spAutoFit/>
          </a:bodyPr>
          <a:lstStyle/>
          <a:p>
            <a:pPr lvl="0" indent="0">
              <a:spcBef>
                <a:spcPct val="50000"/>
              </a:spcBef>
            </a:pPr>
            <a:r>
              <a:rPr lang="en-US" altLang="x-none" sz="2600" dirty="0">
                <a:latin typeface="方正姚体" panose="02010601030101010101" pitchFamily="2" charset="-122"/>
                <a:ea typeface="方正姚体" panose="02010601030101010101" pitchFamily="2" charset="-122"/>
              </a:rPr>
              <a:t>        </a:t>
            </a:r>
            <a:r>
              <a:rPr lang="zh-CN" altLang="en-US" sz="2200" dirty="0">
                <a:solidFill>
                  <a:srgbClr val="CC3300"/>
                </a:solidFill>
                <a:latin typeface="宋体" panose="02010600030101010101" pitchFamily="2" charset="-122"/>
                <a:ea typeface="宋体" panose="02010600030101010101" pitchFamily="2" charset="-122"/>
              </a:rPr>
              <a:t>加密的基本思想：</a:t>
            </a:r>
            <a:r>
              <a:rPr lang="zh-CN" altLang="en-US" sz="2200" dirty="0">
                <a:latin typeface="宋体" panose="02010600030101010101" pitchFamily="2" charset="-122"/>
                <a:ea typeface="宋体" panose="02010600030101010101" pitchFamily="2" charset="-122"/>
              </a:rPr>
              <a:t>加</a:t>
            </a:r>
            <a:r>
              <a:rPr lang="en-US" altLang="x-none" sz="2200" dirty="0">
                <a:latin typeface="宋体" panose="02010600030101010101" pitchFamily="2" charset="-122"/>
                <a:ea typeface="宋体" panose="02010600030101010101" pitchFamily="2" charset="-122"/>
              </a:rPr>
              <a:t>/</a:t>
            </a:r>
            <a:r>
              <a:rPr lang="zh-CN" altLang="en-US" sz="2200" dirty="0">
                <a:latin typeface="宋体" panose="02010600030101010101" pitchFamily="2" charset="-122"/>
                <a:ea typeface="宋体" panose="02010600030101010101" pitchFamily="2" charset="-122"/>
              </a:rPr>
              <a:t>解密算法</a:t>
            </a:r>
            <a:r>
              <a:rPr lang="en-US" altLang="x-none" sz="2200" dirty="0">
                <a:latin typeface="宋体" panose="02010600030101010101" pitchFamily="2" charset="-122"/>
                <a:ea typeface="宋体" panose="02010600030101010101" pitchFamily="2" charset="-122"/>
              </a:rPr>
              <a:t>(En/Decryption Algorithm) + </a:t>
            </a:r>
            <a:r>
              <a:rPr lang="zh-CN" altLang="en-US" sz="2200" dirty="0">
                <a:latin typeface="宋体" panose="02010600030101010101" pitchFamily="2" charset="-122"/>
                <a:ea typeface="宋体" panose="02010600030101010101" pitchFamily="2" charset="-122"/>
              </a:rPr>
              <a:t>密钥</a:t>
            </a:r>
            <a:r>
              <a:rPr lang="en-US" altLang="x-none" sz="2200" dirty="0">
                <a:latin typeface="宋体" panose="02010600030101010101" pitchFamily="2" charset="-122"/>
                <a:ea typeface="宋体" panose="02010600030101010101" pitchFamily="2" charset="-122"/>
              </a:rPr>
              <a:t>(Encryption Key)</a:t>
            </a:r>
            <a:r>
              <a:rPr lang="zh-CN" altLang="en-US" sz="2200" dirty="0">
                <a:latin typeface="宋体" panose="02010600030101010101" pitchFamily="2" charset="-122"/>
                <a:ea typeface="宋体" panose="02010600030101010101" pitchFamily="2" charset="-122"/>
              </a:rPr>
              <a:t>。</a:t>
            </a:r>
            <a:endParaRPr lang="zh-CN" altLang="en-US" sz="2200" dirty="0">
              <a:latin typeface="宋体" panose="02010600030101010101" pitchFamily="2" charset="-122"/>
              <a:ea typeface="宋体" panose="02010600030101010101" pitchFamily="2" charset="-122"/>
            </a:endParaRPr>
          </a:p>
        </p:txBody>
      </p:sp>
      <p:graphicFrame>
        <p:nvGraphicFramePr>
          <p:cNvPr id="31749" name="Object 13"/>
          <p:cNvGraphicFramePr>
            <a:graphicFrameLocks noChangeAspect="1"/>
          </p:cNvGraphicFramePr>
          <p:nvPr/>
        </p:nvGraphicFramePr>
        <p:xfrm>
          <a:off x="647700" y="2600325"/>
          <a:ext cx="7956550" cy="3654425"/>
        </p:xfrm>
        <a:graphic>
          <a:graphicData uri="http://schemas.openxmlformats.org/presentationml/2006/ole">
            <mc:AlternateContent xmlns:mc="http://schemas.openxmlformats.org/markup-compatibility/2006">
              <mc:Choice xmlns:v="urn:schemas-microsoft-com:vml" Requires="v">
                <p:oleObj spid="_x0000_s5142" name="" r:id="rId1" imgW="2400300" imgH="1266825" progId="Word.Picture.8">
                  <p:embed/>
                </p:oleObj>
              </mc:Choice>
              <mc:Fallback>
                <p:oleObj name="" r:id="rId1" imgW="2400300" imgH="1266825" progId="Word.Picture.8">
                  <p:embed/>
                  <p:pic>
                    <p:nvPicPr>
                      <p:cNvPr id="0" name="图片 3076"/>
                      <p:cNvPicPr/>
                      <p:nvPr/>
                    </p:nvPicPr>
                    <p:blipFill>
                      <a:blip r:embed="rId2"/>
                      <a:stretch>
                        <a:fillRect/>
                      </a:stretch>
                    </p:blipFill>
                    <p:spPr>
                      <a:xfrm>
                        <a:off x="647700" y="2600325"/>
                        <a:ext cx="7956550" cy="3654425"/>
                      </a:xfrm>
                      <a:prstGeom prst="rect">
                        <a:avLst/>
                      </a:prstGeom>
                      <a:solidFill>
                        <a:srgbClr val="FFFFFF"/>
                      </a:solidFill>
                      <a:ln w="38100">
                        <a:noFill/>
                        <a:miter/>
                      </a:ln>
                    </p:spPr>
                  </p:pic>
                </p:oleObj>
              </mc:Fallback>
            </mc:AlternateContent>
          </a:graphicData>
        </a:graphic>
      </p:graphicFrame>
      <p:sp>
        <p:nvSpPr>
          <p:cNvPr id="31750" name="矩形 7"/>
          <p:cNvSpPr/>
          <p:nvPr/>
        </p:nvSpPr>
        <p:spPr>
          <a:xfrm>
            <a:off x="6364288" y="1009650"/>
            <a:ext cx="2195512" cy="460375"/>
          </a:xfrm>
          <a:prstGeom prst="rect">
            <a:avLst/>
          </a:prstGeom>
          <a:noFill/>
          <a:ln w="9525">
            <a:noFill/>
          </a:ln>
        </p:spPr>
        <p:txBody>
          <a:bodyPr wrap="none" anchor="t">
            <a:spAutoFit/>
          </a:bodyPr>
          <a:lstStyle/>
          <a:p>
            <a:pPr lvl="0" indent="0"/>
            <a:r>
              <a:rPr lang="zh-CN" altLang="en-US" sz="2400" dirty="0">
                <a:solidFill>
                  <a:srgbClr val="0033CC"/>
                </a:solidFill>
                <a:latin typeface="宋体" panose="02010600030101010101" pitchFamily="2" charset="-122"/>
                <a:ea typeface="宋体" panose="02010600030101010101" pitchFamily="2" charset="-122"/>
              </a:rPr>
              <a:t>（</a:t>
            </a:r>
            <a:r>
              <a:rPr lang="en-US" altLang="x-none" sz="2400" dirty="0">
                <a:solidFill>
                  <a:srgbClr val="0033CC"/>
                </a:solidFill>
                <a:latin typeface="宋体" panose="02010600030101010101" pitchFamily="2" charset="-122"/>
                <a:ea typeface="宋体" panose="02010600030101010101" pitchFamily="2" charset="-122"/>
              </a:rPr>
              <a:t>1</a:t>
            </a:r>
            <a:r>
              <a:rPr lang="zh-CN" altLang="en-US" sz="2400" dirty="0">
                <a:solidFill>
                  <a:srgbClr val="0033CC"/>
                </a:solidFill>
                <a:latin typeface="宋体" panose="02010600030101010101" pitchFamily="2" charset="-122"/>
                <a:ea typeface="宋体" panose="02010600030101010101" pitchFamily="2" charset="-122"/>
              </a:rPr>
              <a:t>）数据加密</a:t>
            </a:r>
            <a:endParaRPr lang="zh-CN" altLang="en-US" sz="2400" dirty="0">
              <a:solidFill>
                <a:srgbClr val="0033CC"/>
              </a:solidFill>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p:nvPr/>
        </p:nvSpPr>
        <p:spPr>
          <a:xfrm>
            <a:off x="457200" y="68263"/>
            <a:ext cx="8229600" cy="692150"/>
          </a:xfrm>
          <a:prstGeom prst="rect">
            <a:avLst/>
          </a:prstGeom>
          <a:noFill/>
          <a:ln w="9525">
            <a:noFill/>
          </a:ln>
        </p:spPr>
        <p:txBody>
          <a:bodyPr anchor="ctr"/>
          <a:lstStyle/>
          <a:p>
            <a:pPr lvl="0" indent="0"/>
            <a:r>
              <a:rPr lang="zh-CN" altLang="en-US" sz="3200" dirty="0">
                <a:solidFill>
                  <a:srgbClr val="FF0000"/>
                </a:solidFill>
                <a:latin typeface="Arial" panose="020B0604020202020204" pitchFamily="34" charset="0"/>
                <a:ea typeface="黑体" panose="02010609060101010101" pitchFamily="1" charset="-122"/>
              </a:rPr>
              <a:t>二、数据库的安全性</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34818" name="Rectangle 2"/>
          <p:cNvSpPr txBox="1"/>
          <p:nvPr/>
        </p:nvSpPr>
        <p:spPr>
          <a:xfrm>
            <a:off x="536575" y="712788"/>
            <a:ext cx="5689600" cy="576262"/>
          </a:xfrm>
          <a:prstGeom prst="rect">
            <a:avLst/>
          </a:prstGeom>
          <a:noFill/>
          <a:ln w="9525">
            <a:noFill/>
          </a:ln>
        </p:spPr>
        <p:txBody>
          <a:bodyPr anchor="t"/>
          <a:lstStyle/>
          <a:p>
            <a:pPr marL="457200" lvl="0" indent="-457200" defTabSz="0">
              <a:lnSpc>
                <a:spcPct val="135000"/>
              </a:lnSpc>
              <a:tabLst>
                <a:tab pos="1428750" algn="l"/>
              </a:tabLst>
            </a:pPr>
            <a:r>
              <a:rPr lang="en-US" altLang="x-none" sz="2800" dirty="0">
                <a:solidFill>
                  <a:srgbClr val="0033CC"/>
                </a:solidFill>
                <a:latin typeface="黑体" panose="02010609060101010101" pitchFamily="1" charset="-122"/>
                <a:ea typeface="黑体" panose="02010609060101010101" pitchFamily="1" charset="-122"/>
              </a:rPr>
              <a:t>4.</a:t>
            </a:r>
            <a:r>
              <a:rPr lang="en-US" altLang="x-none" sz="2800" dirty="0">
                <a:solidFill>
                  <a:srgbClr val="CC3300"/>
                </a:solidFill>
                <a:latin typeface="Times New Roman" panose="02020603050405020304" pitchFamily="2" charset="0"/>
                <a:ea typeface="宋体" panose="02010600030101010101" pitchFamily="2" charset="-122"/>
              </a:rPr>
              <a:t> </a:t>
            </a:r>
            <a:r>
              <a:rPr lang="zh-CN" altLang="en-US" sz="2800" dirty="0">
                <a:solidFill>
                  <a:srgbClr val="0033CC"/>
                </a:solidFill>
                <a:latin typeface="黑体" panose="02010609060101010101" pitchFamily="1" charset="-122"/>
                <a:ea typeface="黑体" panose="02010609060101010101" pitchFamily="1" charset="-122"/>
              </a:rPr>
              <a:t>数据库安全的其他内容</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34819" name="矩形 3"/>
          <p:cNvSpPr/>
          <p:nvPr/>
        </p:nvSpPr>
        <p:spPr>
          <a:xfrm>
            <a:off x="509588" y="1380490"/>
            <a:ext cx="2530475" cy="523875"/>
          </a:xfrm>
          <a:prstGeom prst="rect">
            <a:avLst/>
          </a:prstGeom>
          <a:noFill/>
          <a:ln w="9525">
            <a:noFill/>
          </a:ln>
        </p:spPr>
        <p:txBody>
          <a:bodyPr wrap="none" anchor="t">
            <a:spAutoFit/>
          </a:bodyPr>
          <a:lstStyle/>
          <a:p>
            <a:pPr lvl="0" indent="0"/>
            <a:r>
              <a:rPr lang="zh-CN" altLang="en-US" sz="2800" dirty="0">
                <a:solidFill>
                  <a:srgbClr val="0033CC"/>
                </a:solidFill>
                <a:latin typeface="宋体" panose="02010600030101010101" pitchFamily="2" charset="-122"/>
                <a:ea typeface="宋体" panose="02010600030101010101" pitchFamily="2" charset="-122"/>
              </a:rPr>
              <a:t>（</a:t>
            </a:r>
            <a:r>
              <a:rPr lang="en-US" altLang="x-none" sz="2800" dirty="0">
                <a:solidFill>
                  <a:srgbClr val="0033CC"/>
                </a:solidFill>
                <a:latin typeface="宋体" panose="02010600030101010101" pitchFamily="2" charset="-122"/>
                <a:ea typeface="宋体" panose="02010600030101010101" pitchFamily="2" charset="-122"/>
              </a:rPr>
              <a:t>2</a:t>
            </a:r>
            <a:r>
              <a:rPr lang="zh-CN" altLang="en-US" sz="2800" dirty="0">
                <a:solidFill>
                  <a:srgbClr val="0033CC"/>
                </a:solidFill>
                <a:latin typeface="宋体" panose="02010600030101010101" pitchFamily="2" charset="-122"/>
                <a:ea typeface="宋体" panose="02010600030101010101" pitchFamily="2" charset="-122"/>
              </a:rPr>
              <a:t>）审计跟踪</a:t>
            </a:r>
            <a:endParaRPr lang="zh-CN" altLang="en-US" sz="2800" dirty="0">
              <a:solidFill>
                <a:srgbClr val="0033CC"/>
              </a:solidFill>
              <a:latin typeface="宋体" panose="02010600030101010101" pitchFamily="2" charset="-122"/>
              <a:ea typeface="宋体" panose="02010600030101010101" pitchFamily="2" charset="-122"/>
            </a:endParaRPr>
          </a:p>
        </p:txBody>
      </p:sp>
      <p:sp>
        <p:nvSpPr>
          <p:cNvPr id="36869" name="Text Box 3"/>
          <p:cNvSpPr txBox="1"/>
          <p:nvPr/>
        </p:nvSpPr>
        <p:spPr>
          <a:xfrm>
            <a:off x="457200" y="1906588"/>
            <a:ext cx="8343900" cy="801370"/>
          </a:xfrm>
          <a:prstGeom prst="rect">
            <a:avLst/>
          </a:prstGeom>
          <a:noFill/>
          <a:ln w="9525">
            <a:noFill/>
          </a:ln>
        </p:spPr>
        <p:txBody>
          <a:bodyPr anchor="t">
            <a:spAutoFit/>
          </a:bodyPr>
          <a:lstStyle/>
          <a:p>
            <a:pPr lvl="0" indent="0">
              <a:lnSpc>
                <a:spcPct val="105000"/>
              </a:lnSpc>
              <a:spcBef>
                <a:spcPts val="300"/>
              </a:spcBef>
            </a:pPr>
            <a:r>
              <a:rPr lang="en-US" altLang="x-none" sz="2200" dirty="0">
                <a:latin typeface="宋体" panose="02010600030101010101" pitchFamily="2" charset="-122"/>
                <a:ea typeface="宋体" panose="02010600030101010101" pitchFamily="2" charset="-122"/>
              </a:rPr>
              <a:t>   </a:t>
            </a:r>
            <a:r>
              <a:rPr lang="zh-CN" altLang="en-US" sz="2200" dirty="0">
                <a:latin typeface="宋体" panose="02010600030101010101" pitchFamily="2" charset="-122"/>
                <a:ea typeface="宋体" panose="02010600030101010101" pitchFamily="2" charset="-122"/>
              </a:rPr>
              <a:t> </a:t>
            </a:r>
            <a:r>
              <a:rPr lang="zh-CN" altLang="en-US" sz="2200" dirty="0">
                <a:solidFill>
                  <a:srgbClr val="CC3300"/>
                </a:solidFill>
                <a:latin typeface="宋体" panose="02010600030101010101" pitchFamily="2" charset="-122"/>
                <a:ea typeface="宋体" panose="02010600030101010101" pitchFamily="2" charset="-122"/>
              </a:rPr>
              <a:t>作用：</a:t>
            </a:r>
            <a:r>
              <a:rPr lang="zh-CN" altLang="en-US" sz="2200" dirty="0">
                <a:latin typeface="宋体" panose="02010600030101010101" pitchFamily="2" charset="-122"/>
                <a:ea typeface="宋体" panose="02010600030101010101" pitchFamily="2" charset="-122"/>
              </a:rPr>
              <a:t>一种监视机制，由</a:t>
            </a:r>
            <a:r>
              <a:rPr lang="en-US" altLang="x-none" sz="2200" dirty="0">
                <a:latin typeface="宋体" panose="02010600030101010101" pitchFamily="2" charset="-122"/>
                <a:ea typeface="宋体" panose="02010600030101010101" pitchFamily="2" charset="-122"/>
              </a:rPr>
              <a:t>DBA</a:t>
            </a:r>
            <a:r>
              <a:rPr lang="zh-CN" altLang="en-US" sz="2200" dirty="0">
                <a:latin typeface="宋体" panose="02010600030101010101" pitchFamily="2" charset="-122"/>
                <a:ea typeface="宋体" panose="02010600030101010101" pitchFamily="2" charset="-122"/>
              </a:rPr>
              <a:t>控制。对被保密数据的访问进行跟踪，监控潜在的滥用行为，一旦发现潜在企图即报警或事后分析。</a:t>
            </a:r>
            <a:endParaRPr lang="zh-CN" altLang="en-US" sz="2200" dirty="0">
              <a:latin typeface="宋体" panose="02010600030101010101" pitchFamily="2" charset="-122"/>
              <a:ea typeface="宋体" panose="02010600030101010101" pitchFamily="2" charset="-122"/>
            </a:endParaRPr>
          </a:p>
        </p:txBody>
      </p:sp>
      <p:grpSp>
        <p:nvGrpSpPr>
          <p:cNvPr id="36871" name="组合 12"/>
          <p:cNvGrpSpPr/>
          <p:nvPr/>
        </p:nvGrpSpPr>
        <p:grpSpPr>
          <a:xfrm>
            <a:off x="0" y="2700020"/>
            <a:ext cx="9144000" cy="2515234"/>
            <a:chOff x="0" y="-71146"/>
            <a:chExt cx="9144000" cy="2516168"/>
          </a:xfrm>
        </p:grpSpPr>
        <p:sp>
          <p:nvSpPr>
            <p:cNvPr id="34823" name="Text Box 5"/>
            <p:cNvSpPr txBox="1"/>
            <p:nvPr/>
          </p:nvSpPr>
          <p:spPr>
            <a:xfrm>
              <a:off x="0" y="-71146"/>
              <a:ext cx="9144000" cy="430373"/>
            </a:xfrm>
            <a:prstGeom prst="rect">
              <a:avLst/>
            </a:prstGeom>
            <a:noFill/>
            <a:ln w="9525">
              <a:noFill/>
            </a:ln>
          </p:spPr>
          <p:txBody>
            <a:bodyPr anchor="t">
              <a:spAutoFit/>
            </a:bodyPr>
            <a:lstStyle/>
            <a:p>
              <a:pPr lvl="0" indent="0">
                <a:spcBef>
                  <a:spcPct val="50000"/>
                </a:spcBef>
              </a:pPr>
              <a:r>
                <a:rPr lang="en-US" altLang="x-none" sz="2200" dirty="0">
                  <a:latin typeface="宋体" panose="02010600030101010101" pitchFamily="2" charset="-122"/>
                  <a:ea typeface="宋体" panose="02010600030101010101" pitchFamily="2" charset="-122"/>
                </a:rPr>
                <a:t>   </a:t>
              </a:r>
              <a:r>
                <a:rPr lang="zh-CN" altLang="en-US" sz="2200" dirty="0">
                  <a:solidFill>
                    <a:srgbClr val="CC3300"/>
                  </a:solidFill>
                  <a:latin typeface="宋体" panose="02010600030101010101" pitchFamily="2" charset="-122"/>
                  <a:ea typeface="宋体" panose="02010600030101010101" pitchFamily="2" charset="-122"/>
                </a:rPr>
                <a:t>跟踪的记录内容：</a:t>
              </a:r>
              <a:endParaRPr lang="zh-CN" altLang="en-US" sz="2200" dirty="0">
                <a:solidFill>
                  <a:srgbClr val="CC3300"/>
                </a:solidFill>
                <a:latin typeface="宋体" panose="02010600030101010101" pitchFamily="2" charset="-122"/>
                <a:ea typeface="宋体" panose="02010600030101010101" pitchFamily="2" charset="-122"/>
              </a:endParaRPr>
            </a:p>
          </p:txBody>
        </p:sp>
        <p:sp>
          <p:nvSpPr>
            <p:cNvPr id="34824" name="Text Box 6"/>
            <p:cNvSpPr txBox="1"/>
            <p:nvPr/>
          </p:nvSpPr>
          <p:spPr>
            <a:xfrm>
              <a:off x="0" y="355732"/>
              <a:ext cx="9144000" cy="430055"/>
            </a:xfrm>
            <a:prstGeom prst="rect">
              <a:avLst/>
            </a:prstGeom>
            <a:noFill/>
            <a:ln w="9525">
              <a:noFill/>
            </a:ln>
          </p:spPr>
          <p:txBody>
            <a:bodyPr anchor="t">
              <a:spAutoFit/>
            </a:bodyPr>
            <a:lstStyle/>
            <a:p>
              <a:pPr lvl="0" indent="0"/>
              <a:r>
                <a:rPr lang="en-US" altLang="x-none" sz="2200" dirty="0">
                  <a:latin typeface="宋体" panose="02010600030101010101" pitchFamily="2" charset="-122"/>
                  <a:ea typeface="宋体" panose="02010600030101010101" pitchFamily="2" charset="-122"/>
                </a:rPr>
                <a:t> </a:t>
              </a:r>
              <a:r>
                <a:rPr lang="zh-CN" altLang="en-US" sz="2200" dirty="0">
                  <a:latin typeface="宋体" panose="02010600030101010101" pitchFamily="2" charset="-122"/>
                  <a:ea typeface="宋体" panose="02010600030101010101" pitchFamily="2" charset="-122"/>
                </a:rPr>
                <a:t>   </a:t>
              </a:r>
              <a:r>
                <a:rPr lang="en-US" altLang="x-none" sz="2200" dirty="0">
                  <a:solidFill>
                    <a:srgbClr val="FF3300"/>
                  </a:solidFill>
                  <a:latin typeface="宋体" panose="02010600030101010101" pitchFamily="2" charset="-122"/>
                  <a:ea typeface="宋体" panose="02010600030101010101" pitchFamily="2" charset="-122"/>
                </a:rPr>
                <a:t>①</a:t>
              </a:r>
              <a:r>
                <a:rPr lang="en-US" altLang="x-none" sz="2200" dirty="0">
                  <a:latin typeface="宋体" panose="02010600030101010101" pitchFamily="2" charset="-122"/>
                  <a:ea typeface="宋体" panose="02010600030101010101" pitchFamily="2" charset="-122"/>
                </a:rPr>
                <a:t> </a:t>
              </a:r>
              <a:r>
                <a:rPr lang="zh-CN" altLang="en-US" sz="2100" dirty="0">
                  <a:solidFill>
                    <a:schemeClr val="accent2"/>
                  </a:solidFill>
                  <a:latin typeface="宋体" panose="02010600030101010101" pitchFamily="2" charset="-122"/>
                  <a:ea typeface="宋体" panose="02010600030101010101" pitchFamily="2" charset="-122"/>
                </a:rPr>
                <a:t>记录数据操作</a:t>
              </a:r>
              <a:r>
                <a:rPr lang="zh-CN" altLang="en-US" sz="2200" dirty="0">
                  <a:solidFill>
                    <a:schemeClr val="accent2"/>
                  </a:solidFill>
                  <a:latin typeface="宋体" panose="02010600030101010101" pitchFamily="2" charset="-122"/>
                  <a:ea typeface="宋体" panose="02010600030101010101" pitchFamily="2" charset="-122"/>
                </a:rPr>
                <a:t>：</a:t>
              </a:r>
              <a:r>
                <a:rPr lang="zh-CN" altLang="en-US" sz="2000" dirty="0">
                  <a:solidFill>
                    <a:schemeClr val="tx1"/>
                  </a:solidFill>
                  <a:latin typeface="宋体" panose="02010600030101010101" pitchFamily="2" charset="-122"/>
                  <a:ea typeface="宋体" panose="02010600030101010101" pitchFamily="2" charset="-122"/>
                </a:rPr>
                <a:t>记录数据的增、删、查、改操作。</a:t>
              </a:r>
              <a:endParaRPr lang="zh-CN" altLang="en-US" sz="2000" dirty="0">
                <a:solidFill>
                  <a:schemeClr val="tx1"/>
                </a:solidFill>
                <a:latin typeface="宋体" panose="02010600030101010101" pitchFamily="2" charset="-122"/>
                <a:ea typeface="宋体" panose="02010600030101010101" pitchFamily="2" charset="-122"/>
              </a:endParaRPr>
            </a:p>
          </p:txBody>
        </p:sp>
        <p:sp>
          <p:nvSpPr>
            <p:cNvPr id="34825" name="Text Box 7"/>
            <p:cNvSpPr txBox="1"/>
            <p:nvPr/>
          </p:nvSpPr>
          <p:spPr>
            <a:xfrm>
              <a:off x="0" y="1588089"/>
              <a:ext cx="9144000" cy="430055"/>
            </a:xfrm>
            <a:prstGeom prst="rect">
              <a:avLst/>
            </a:prstGeom>
            <a:noFill/>
            <a:ln w="9525">
              <a:noFill/>
            </a:ln>
          </p:spPr>
          <p:txBody>
            <a:bodyPr anchor="t">
              <a:spAutoFit/>
            </a:bodyPr>
            <a:lstStyle/>
            <a:p>
              <a:pPr lvl="0" indent="0"/>
              <a:r>
                <a:rPr lang="en-US" altLang="x-none" sz="2200" dirty="0">
                  <a:latin typeface="宋体" panose="02010600030101010101" pitchFamily="2" charset="-122"/>
                  <a:ea typeface="宋体" panose="02010600030101010101" pitchFamily="2" charset="-122"/>
                </a:rPr>
                <a:t> </a:t>
              </a:r>
              <a:r>
                <a:rPr lang="zh-CN" altLang="en-US" sz="2200" dirty="0">
                  <a:latin typeface="宋体" panose="02010600030101010101" pitchFamily="2" charset="-122"/>
                  <a:ea typeface="宋体" panose="02010600030101010101" pitchFamily="2" charset="-122"/>
                </a:rPr>
                <a:t>   </a:t>
              </a:r>
              <a:r>
                <a:rPr lang="en-US" altLang="x-none" sz="2200" dirty="0">
                  <a:solidFill>
                    <a:srgbClr val="FF3300"/>
                  </a:solidFill>
                  <a:latin typeface="宋体" panose="02010600030101010101" pitchFamily="2" charset="-122"/>
                  <a:ea typeface="宋体" panose="02010600030101010101" pitchFamily="2" charset="-122"/>
                </a:rPr>
                <a:t>④</a:t>
              </a:r>
              <a:r>
                <a:rPr lang="en-US" altLang="x-none" sz="2200" dirty="0">
                  <a:latin typeface="宋体" panose="02010600030101010101" pitchFamily="2" charset="-122"/>
                  <a:ea typeface="宋体" panose="02010600030101010101" pitchFamily="2" charset="-122"/>
                </a:rPr>
                <a:t> </a:t>
              </a:r>
              <a:r>
                <a:rPr lang="zh-CN" altLang="en-US" sz="2200" dirty="0">
                  <a:solidFill>
                    <a:schemeClr val="accent2"/>
                  </a:solidFill>
                  <a:latin typeface="宋体" panose="02010600030101010101" pitchFamily="2" charset="-122"/>
                  <a:ea typeface="宋体" panose="02010600030101010101" pitchFamily="2" charset="-122"/>
                </a:rPr>
                <a:t>特权操作：</a:t>
              </a:r>
              <a:r>
                <a:rPr lang="zh-CN" altLang="en-US" sz="2000" dirty="0">
                  <a:latin typeface="宋体" panose="02010600030101010101" pitchFamily="2" charset="-122"/>
                  <a:ea typeface="宋体" panose="02010600030101010101" pitchFamily="2" charset="-122"/>
                  <a:cs typeface="+mn-ea"/>
                </a:rPr>
                <a:t>记录数据库备份及恢复、数据库实例的启动和关闭</a:t>
              </a:r>
              <a:r>
                <a:rPr lang="zh-CN" altLang="en-US" sz="2000" dirty="0">
                  <a:latin typeface="宋体" panose="02010600030101010101" pitchFamily="2" charset="-122"/>
                  <a:ea typeface="宋体" panose="02010600030101010101" pitchFamily="2" charset="-122"/>
                  <a:cs typeface="+mn-ea"/>
                </a:rPr>
                <a:t>操作。</a:t>
              </a:r>
              <a:endParaRPr lang="zh-CN" altLang="en-US" sz="2000" dirty="0">
                <a:latin typeface="宋体" panose="02010600030101010101" pitchFamily="2" charset="-122"/>
                <a:ea typeface="宋体" panose="02010600030101010101" pitchFamily="2" charset="-122"/>
                <a:cs typeface="+mn-ea"/>
              </a:endParaRPr>
            </a:p>
          </p:txBody>
        </p:sp>
        <p:sp>
          <p:nvSpPr>
            <p:cNvPr id="34826" name="Text Box 8"/>
            <p:cNvSpPr txBox="1"/>
            <p:nvPr/>
          </p:nvSpPr>
          <p:spPr>
            <a:xfrm>
              <a:off x="0" y="1159940"/>
              <a:ext cx="9144000" cy="430055"/>
            </a:xfrm>
            <a:prstGeom prst="rect">
              <a:avLst/>
            </a:prstGeom>
            <a:noFill/>
            <a:ln w="9525">
              <a:noFill/>
            </a:ln>
          </p:spPr>
          <p:txBody>
            <a:bodyPr anchor="t">
              <a:spAutoFit/>
            </a:bodyPr>
            <a:lstStyle/>
            <a:p>
              <a:pPr lvl="0" indent="0"/>
              <a:r>
                <a:rPr lang="en-US" altLang="x-none" sz="2200" dirty="0">
                  <a:latin typeface="宋体" panose="02010600030101010101" pitchFamily="2" charset="-122"/>
                  <a:ea typeface="宋体" panose="02010600030101010101" pitchFamily="2" charset="-122"/>
                </a:rPr>
                <a:t> </a:t>
              </a:r>
              <a:r>
                <a:rPr lang="zh-CN" altLang="en-US" sz="2200" dirty="0">
                  <a:latin typeface="宋体" panose="02010600030101010101" pitchFamily="2" charset="-122"/>
                  <a:ea typeface="宋体" panose="02010600030101010101" pitchFamily="2" charset="-122"/>
                </a:rPr>
                <a:t>   </a:t>
              </a:r>
              <a:r>
                <a:rPr lang="en-US" altLang="x-none" sz="2200" dirty="0">
                  <a:solidFill>
                    <a:srgbClr val="FF3300"/>
                  </a:solidFill>
                  <a:latin typeface="宋体" panose="02010600030101010101" pitchFamily="2" charset="-122"/>
                  <a:ea typeface="宋体" panose="02010600030101010101" pitchFamily="2" charset="-122"/>
                </a:rPr>
                <a:t>③</a:t>
              </a:r>
              <a:r>
                <a:rPr lang="en-US" altLang="x-none" sz="2200" dirty="0">
                  <a:latin typeface="宋体" panose="02010600030101010101" pitchFamily="2" charset="-122"/>
                  <a:ea typeface="宋体" panose="02010600030101010101" pitchFamily="2" charset="-122"/>
                </a:rPr>
                <a:t> </a:t>
              </a:r>
              <a:r>
                <a:rPr lang="zh-CN" altLang="en-US" sz="2200" dirty="0">
                  <a:solidFill>
                    <a:schemeClr val="accent2"/>
                  </a:solidFill>
                  <a:latin typeface="宋体" panose="02010600030101010101" pitchFamily="2" charset="-122"/>
                  <a:ea typeface="宋体" panose="02010600030101010101" pitchFamily="2" charset="-122"/>
                </a:rPr>
                <a:t>数据库结构变更：</a:t>
              </a:r>
              <a:r>
                <a:rPr lang="zh-CN" altLang="en-US" sz="2000" dirty="0">
                  <a:latin typeface="宋体" panose="02010600030101010101" pitchFamily="2" charset="-122"/>
                  <a:ea typeface="宋体" panose="02010600030101010101" pitchFamily="2" charset="-122"/>
                  <a:cs typeface="+mn-ea"/>
                </a:rPr>
                <a:t>记录对数据库表、视图、</a:t>
              </a:r>
              <a:r>
                <a:rPr lang="zh-CN" altLang="en-US" sz="2000" dirty="0">
                  <a:latin typeface="宋体" panose="02010600030101010101" pitchFamily="2" charset="-122"/>
                  <a:ea typeface="宋体" panose="02010600030101010101" pitchFamily="2" charset="-122"/>
                  <a:cs typeface="+mn-ea"/>
                </a:rPr>
                <a:t>触发器等模式的修改。</a:t>
              </a:r>
              <a:endParaRPr lang="zh-CN" altLang="en-US" sz="2200" dirty="0">
                <a:solidFill>
                  <a:schemeClr val="accent2"/>
                </a:solidFill>
                <a:latin typeface="宋体" panose="02010600030101010101" pitchFamily="2" charset="-122"/>
                <a:ea typeface="宋体" panose="02010600030101010101" pitchFamily="2" charset="-122"/>
              </a:endParaRPr>
            </a:p>
          </p:txBody>
        </p:sp>
        <p:sp>
          <p:nvSpPr>
            <p:cNvPr id="34827" name="Text Box 9"/>
            <p:cNvSpPr txBox="1"/>
            <p:nvPr/>
          </p:nvSpPr>
          <p:spPr>
            <a:xfrm>
              <a:off x="0" y="749261"/>
              <a:ext cx="9144000" cy="430055"/>
            </a:xfrm>
            <a:prstGeom prst="rect">
              <a:avLst/>
            </a:prstGeom>
            <a:noFill/>
            <a:ln w="9525">
              <a:noFill/>
            </a:ln>
          </p:spPr>
          <p:txBody>
            <a:bodyPr anchor="t">
              <a:spAutoFit/>
            </a:bodyPr>
            <a:lstStyle/>
            <a:p>
              <a:pPr lvl="0" algn="l">
                <a:buClrTx/>
                <a:buSzTx/>
              </a:pPr>
              <a:r>
                <a:rPr lang="en-US" altLang="x-none" sz="2200" dirty="0">
                  <a:solidFill>
                    <a:srgbClr val="CC3300"/>
                  </a:solidFill>
                  <a:latin typeface="宋体" panose="02010600030101010101" pitchFamily="2" charset="-122"/>
                  <a:ea typeface="宋体" panose="02010600030101010101" pitchFamily="2" charset="-122"/>
                </a:rPr>
                <a:t> </a:t>
              </a:r>
              <a:r>
                <a:rPr lang="zh-CN" altLang="en-US" sz="2200" dirty="0">
                  <a:solidFill>
                    <a:srgbClr val="CC3300"/>
                  </a:solidFill>
                  <a:latin typeface="宋体" panose="02010600030101010101" pitchFamily="2" charset="-122"/>
                  <a:ea typeface="宋体" panose="02010600030101010101" pitchFamily="2" charset="-122"/>
                </a:rPr>
                <a:t>   </a:t>
              </a:r>
              <a:r>
                <a:rPr lang="en-US" altLang="x-none" sz="2200" dirty="0">
                  <a:solidFill>
                    <a:srgbClr val="FF3300"/>
                  </a:solidFill>
                  <a:latin typeface="宋体" panose="02010600030101010101" pitchFamily="2" charset="-122"/>
                  <a:ea typeface="宋体" panose="02010600030101010101" pitchFamily="2" charset="-122"/>
                </a:rPr>
                <a:t>② </a:t>
              </a:r>
              <a:r>
                <a:rPr lang="zh-CN" altLang="en-US" sz="2200" dirty="0">
                  <a:solidFill>
                    <a:schemeClr val="accent2"/>
                  </a:solidFill>
                  <a:latin typeface="宋体" panose="02010600030101010101" pitchFamily="2" charset="-122"/>
                  <a:ea typeface="宋体" panose="02010600030101010101" pitchFamily="2" charset="-122"/>
                </a:rPr>
                <a:t>用户活动监控：</a:t>
              </a:r>
              <a:r>
                <a:rPr lang="zh-CN" altLang="en-US" sz="2000" dirty="0">
                  <a:latin typeface="宋体" panose="02010600030101010101" pitchFamily="2" charset="-122"/>
                  <a:ea typeface="宋体" panose="02010600030101010101" pitchFamily="2" charset="-122"/>
                  <a:cs typeface="+mn-ea"/>
                </a:rPr>
                <a:t>记录用户登录和注销、用户权限的授予和撤销操作</a:t>
              </a:r>
              <a:endParaRPr lang="zh-CN" altLang="en-US" sz="2000" dirty="0">
                <a:latin typeface="宋体" panose="02010600030101010101" pitchFamily="2" charset="-122"/>
                <a:ea typeface="宋体" panose="02010600030101010101" pitchFamily="2" charset="-122"/>
                <a:cs typeface="+mn-ea"/>
              </a:endParaRPr>
            </a:p>
          </p:txBody>
        </p:sp>
        <p:sp>
          <p:nvSpPr>
            <p:cNvPr id="34828" name="Text Box 11"/>
            <p:cNvSpPr txBox="1"/>
            <p:nvPr/>
          </p:nvSpPr>
          <p:spPr>
            <a:xfrm>
              <a:off x="0" y="2014967"/>
              <a:ext cx="9144000" cy="430055"/>
            </a:xfrm>
            <a:prstGeom prst="rect">
              <a:avLst/>
            </a:prstGeom>
            <a:noFill/>
            <a:ln w="9525">
              <a:noFill/>
            </a:ln>
          </p:spPr>
          <p:txBody>
            <a:bodyPr anchor="t">
              <a:spAutoFit/>
            </a:bodyPr>
            <a:lstStyle/>
            <a:p>
              <a:pPr lvl="0" indent="0"/>
              <a:r>
                <a:rPr lang="zh-CN" altLang="en-US" sz="2200" dirty="0">
                  <a:solidFill>
                    <a:srgbClr val="FF3300"/>
                  </a:solidFill>
                  <a:latin typeface="宋体" panose="02010600030101010101" pitchFamily="2" charset="-122"/>
                  <a:ea typeface="宋体" panose="02010600030101010101" pitchFamily="2" charset="-122"/>
                </a:rPr>
                <a:t>    </a:t>
              </a:r>
              <a:r>
                <a:rPr lang="en-US" altLang="x-none" sz="2200" dirty="0">
                  <a:solidFill>
                    <a:srgbClr val="FF3300"/>
                  </a:solidFill>
                  <a:latin typeface="宋体" panose="02010600030101010101" pitchFamily="2" charset="-122"/>
                  <a:ea typeface="宋体" panose="02010600030101010101" pitchFamily="2" charset="-122"/>
                </a:rPr>
                <a:t>⑤</a:t>
              </a:r>
              <a:r>
                <a:rPr lang="en-US" altLang="x-none" sz="2200" dirty="0">
                  <a:latin typeface="宋体" panose="02010600030101010101" pitchFamily="2" charset="-122"/>
                  <a:ea typeface="宋体" panose="02010600030101010101" pitchFamily="2" charset="-122"/>
                </a:rPr>
                <a:t> </a:t>
              </a:r>
              <a:r>
                <a:rPr lang="zh-CN" altLang="en-US" sz="2200" dirty="0">
                  <a:solidFill>
                    <a:schemeClr val="accent2"/>
                  </a:solidFill>
                  <a:latin typeface="宋体" panose="02010600030101010101" pitchFamily="2" charset="-122"/>
                  <a:ea typeface="宋体" panose="02010600030101010101" pitchFamily="2" charset="-122"/>
                </a:rPr>
                <a:t>合规性和安全审计：</a:t>
              </a:r>
              <a:r>
                <a:rPr lang="zh-CN" altLang="en-US" sz="2000" dirty="0">
                  <a:latin typeface="宋体" panose="02010600030101010101" pitchFamily="2" charset="-122"/>
                  <a:ea typeface="宋体" panose="02010600030101010101" pitchFamily="2" charset="-122"/>
                  <a:cs typeface="+mn-ea"/>
                </a:rPr>
                <a:t>记录并监控与安全相关的事件。</a:t>
              </a:r>
              <a:endParaRPr lang="zh-CN" altLang="en-US" sz="2000" dirty="0">
                <a:latin typeface="宋体" panose="02010600030101010101" pitchFamily="2" charset="-122"/>
                <a:ea typeface="宋体" panose="02010600030101010101" pitchFamily="2" charset="-122"/>
                <a:cs typeface="+mn-ea"/>
              </a:endParaRPr>
            </a:p>
          </p:txBody>
        </p:sp>
      </p:grpSp>
      <p:sp>
        <p:nvSpPr>
          <p:cNvPr id="2" name="Text Box 11"/>
          <p:cNvSpPr txBox="1"/>
          <p:nvPr/>
        </p:nvSpPr>
        <p:spPr>
          <a:xfrm>
            <a:off x="0" y="5188584"/>
            <a:ext cx="9144000" cy="429895"/>
          </a:xfrm>
          <a:prstGeom prst="rect">
            <a:avLst/>
          </a:prstGeom>
          <a:noFill/>
          <a:ln w="9525">
            <a:noFill/>
          </a:ln>
        </p:spPr>
        <p:txBody>
          <a:bodyPr anchor="t">
            <a:spAutoFit/>
          </a:bodyPr>
          <a:lstStyle/>
          <a:p>
            <a:pPr lvl="0" indent="0"/>
            <a:r>
              <a:rPr lang="zh-CN" altLang="en-US" sz="2200" dirty="0">
                <a:solidFill>
                  <a:srgbClr val="FF3300"/>
                </a:solidFill>
                <a:latin typeface="宋体" panose="02010600030101010101" pitchFamily="2" charset="-122"/>
                <a:ea typeface="宋体" panose="02010600030101010101" pitchFamily="2" charset="-122"/>
              </a:rPr>
              <a:t>    </a:t>
            </a:r>
            <a:r>
              <a:rPr lang="en-US" altLang="x-none" sz="2200" dirty="0">
                <a:solidFill>
                  <a:srgbClr val="FF3300"/>
                </a:solidFill>
                <a:latin typeface="宋体" panose="02010600030101010101" pitchFamily="2" charset="-122"/>
                <a:cs typeface="+mn-ea"/>
              </a:rPr>
              <a:t>⑥</a:t>
            </a:r>
            <a:r>
              <a:rPr lang="en-US" altLang="x-none" sz="2200" dirty="0">
                <a:latin typeface="宋体" panose="02010600030101010101" pitchFamily="2" charset="-122"/>
                <a:ea typeface="宋体" panose="02010600030101010101" pitchFamily="2" charset="-122"/>
              </a:rPr>
              <a:t> </a:t>
            </a:r>
            <a:r>
              <a:rPr lang="zh-CN" altLang="en-US" sz="2200" dirty="0">
                <a:solidFill>
                  <a:schemeClr val="accent2"/>
                </a:solidFill>
                <a:latin typeface="宋体" panose="02010600030101010101" pitchFamily="2" charset="-122"/>
                <a:ea typeface="宋体" panose="02010600030101010101" pitchFamily="2" charset="-122"/>
              </a:rPr>
              <a:t>操作审计：</a:t>
            </a:r>
            <a:r>
              <a:rPr lang="zh-CN" altLang="en-US" sz="2000" dirty="0">
                <a:latin typeface="宋体" panose="02010600030101010101" pitchFamily="2" charset="-122"/>
                <a:ea typeface="宋体" panose="02010600030101010101" pitchFamily="2" charset="-122"/>
                <a:cs typeface="+mn-ea"/>
              </a:rPr>
              <a:t>记录执行的SQL语句性能指标，帮助优化数据库性能。</a:t>
            </a:r>
            <a:endParaRPr lang="zh-CN" altLang="en-US" sz="2000" dirty="0">
              <a:latin typeface="宋体" panose="02010600030101010101" pitchFamily="2" charset="-122"/>
              <a:ea typeface="宋体" panose="02010600030101010101" pitchFamily="2" charset="-122"/>
              <a:cs typeface="+mn-ea"/>
            </a:endParaRPr>
          </a:p>
        </p:txBody>
      </p:sp>
      <p:sp>
        <p:nvSpPr>
          <p:cNvPr id="3" name="Text Box 11"/>
          <p:cNvSpPr txBox="1"/>
          <p:nvPr/>
        </p:nvSpPr>
        <p:spPr>
          <a:xfrm>
            <a:off x="0" y="5624194"/>
            <a:ext cx="9144000" cy="429895"/>
          </a:xfrm>
          <a:prstGeom prst="rect">
            <a:avLst/>
          </a:prstGeom>
          <a:noFill/>
          <a:ln w="9525">
            <a:noFill/>
          </a:ln>
        </p:spPr>
        <p:txBody>
          <a:bodyPr anchor="t">
            <a:spAutoFit/>
          </a:bodyPr>
          <a:lstStyle/>
          <a:p>
            <a:pPr lvl="0" indent="0"/>
            <a:r>
              <a:rPr lang="zh-CN" altLang="en-US" sz="2200" dirty="0">
                <a:solidFill>
                  <a:srgbClr val="FF3300"/>
                </a:solidFill>
                <a:latin typeface="宋体" panose="02010600030101010101" pitchFamily="2" charset="-122"/>
                <a:ea typeface="宋体" panose="02010600030101010101" pitchFamily="2" charset="-122"/>
              </a:rPr>
              <a:t>    </a:t>
            </a:r>
            <a:r>
              <a:rPr lang="en-US" altLang="x-none" sz="2200" dirty="0">
                <a:solidFill>
                  <a:srgbClr val="FF3300"/>
                </a:solidFill>
                <a:latin typeface="宋体" panose="02010600030101010101" pitchFamily="2" charset="-122"/>
                <a:cs typeface="+mn-ea"/>
              </a:rPr>
              <a:t>⑦</a:t>
            </a:r>
            <a:r>
              <a:rPr lang="en-US" altLang="x-none" sz="2200" dirty="0">
                <a:latin typeface="宋体" panose="02010600030101010101" pitchFamily="2" charset="-122"/>
                <a:ea typeface="宋体" panose="02010600030101010101" pitchFamily="2" charset="-122"/>
              </a:rPr>
              <a:t> </a:t>
            </a:r>
            <a:r>
              <a:rPr lang="zh-CN" altLang="en-US" sz="2200" dirty="0">
                <a:solidFill>
                  <a:schemeClr val="accent2"/>
                </a:solidFill>
                <a:latin typeface="宋体" panose="02010600030101010101" pitchFamily="2" charset="-122"/>
                <a:ea typeface="宋体" panose="02010600030101010101" pitchFamily="2" charset="-122"/>
              </a:rPr>
              <a:t>审计报告和分析</a:t>
            </a:r>
            <a:r>
              <a:rPr lang="zh-CN" altLang="en-US" sz="2200" dirty="0">
                <a:solidFill>
                  <a:schemeClr val="accent2"/>
                </a:solidFill>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cs typeface="+mn-ea"/>
              </a:rPr>
              <a:t>根据审计日志生成详细的操作报告，供审阅</a:t>
            </a:r>
            <a:r>
              <a:rPr lang="zh-CN" altLang="en-US" sz="2000" dirty="0">
                <a:latin typeface="宋体" panose="02010600030101010101" pitchFamily="2" charset="-122"/>
                <a:ea typeface="宋体" panose="02010600030101010101" pitchFamily="2" charset="-122"/>
                <a:cs typeface="+mn-ea"/>
              </a:rPr>
              <a:t>。</a:t>
            </a:r>
            <a:endParaRPr lang="zh-CN" altLang="en-US" sz="2000" dirty="0">
              <a:latin typeface="宋体" panose="02010600030101010101" pitchFamily="2" charset="-122"/>
              <a:ea typeface="宋体" panose="02010600030101010101" pitchFamily="2" charset="-122"/>
              <a:cs typeface="+mn-ea"/>
            </a:endParaRPr>
          </a:p>
        </p:txBody>
      </p:sp>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Rectangle 2"/>
          <p:cNvSpPr/>
          <p:nvPr/>
        </p:nvSpPr>
        <p:spPr>
          <a:xfrm>
            <a:off x="457200" y="68263"/>
            <a:ext cx="8229600" cy="692150"/>
          </a:xfrm>
          <a:prstGeom prst="rect">
            <a:avLst/>
          </a:prstGeom>
          <a:noFill/>
          <a:ln w="9525">
            <a:noFill/>
          </a:ln>
        </p:spPr>
        <p:txBody>
          <a:bodyPr anchor="ctr"/>
          <a:lstStyle/>
          <a:p>
            <a:pPr lvl="0" indent="0"/>
            <a:r>
              <a:rPr lang="zh-CN" altLang="en-US" sz="3200" dirty="0">
                <a:solidFill>
                  <a:srgbClr val="FF0000"/>
                </a:solidFill>
                <a:latin typeface="Arial" panose="020B0604020202020204" pitchFamily="34" charset="0"/>
                <a:ea typeface="黑体" panose="02010609060101010101" pitchFamily="1" charset="-122"/>
              </a:rPr>
              <a:t>二、数据库的安全性</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34818" name="Rectangle 2"/>
          <p:cNvSpPr txBox="1"/>
          <p:nvPr/>
        </p:nvSpPr>
        <p:spPr>
          <a:xfrm>
            <a:off x="536575" y="712788"/>
            <a:ext cx="5689600" cy="576262"/>
          </a:xfrm>
          <a:prstGeom prst="rect">
            <a:avLst/>
          </a:prstGeom>
          <a:noFill/>
          <a:ln w="9525">
            <a:noFill/>
          </a:ln>
        </p:spPr>
        <p:txBody>
          <a:bodyPr anchor="t"/>
          <a:lstStyle/>
          <a:p>
            <a:pPr marL="457200" lvl="0" indent="-457200" defTabSz="0">
              <a:lnSpc>
                <a:spcPct val="135000"/>
              </a:lnSpc>
              <a:tabLst>
                <a:tab pos="1428750" algn="l"/>
              </a:tabLst>
            </a:pPr>
            <a:r>
              <a:rPr lang="en-US" altLang="x-none" sz="2800" dirty="0">
                <a:solidFill>
                  <a:srgbClr val="0033CC"/>
                </a:solidFill>
                <a:latin typeface="黑体" panose="02010609060101010101" pitchFamily="1" charset="-122"/>
                <a:ea typeface="黑体" panose="02010609060101010101" pitchFamily="1" charset="-122"/>
              </a:rPr>
              <a:t>4.</a:t>
            </a:r>
            <a:r>
              <a:rPr lang="en-US" altLang="x-none" sz="2800" dirty="0">
                <a:solidFill>
                  <a:srgbClr val="CC3300"/>
                </a:solidFill>
                <a:latin typeface="Times New Roman" panose="02020603050405020304" pitchFamily="2" charset="0"/>
                <a:ea typeface="宋体" panose="02010600030101010101" pitchFamily="2" charset="-122"/>
              </a:rPr>
              <a:t> </a:t>
            </a:r>
            <a:r>
              <a:rPr lang="zh-CN" altLang="en-US" sz="2800" dirty="0">
                <a:solidFill>
                  <a:srgbClr val="0033CC"/>
                </a:solidFill>
                <a:latin typeface="黑体" panose="02010609060101010101" pitchFamily="1" charset="-122"/>
                <a:ea typeface="黑体" panose="02010609060101010101" pitchFamily="1" charset="-122"/>
              </a:rPr>
              <a:t>数据库安全的其他内容</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2" name="文本框 1"/>
          <p:cNvSpPr txBox="1"/>
          <p:nvPr/>
        </p:nvSpPr>
        <p:spPr>
          <a:xfrm>
            <a:off x="608965" y="1356360"/>
            <a:ext cx="4572000" cy="398780"/>
          </a:xfrm>
          <a:prstGeom prst="rect">
            <a:avLst/>
          </a:prstGeom>
          <a:noFill/>
        </p:spPr>
        <p:txBody>
          <a:bodyPr wrap="square" rtlCol="0" anchor="t">
            <a:spAutoFit/>
          </a:bodyPr>
          <a:p>
            <a:pPr marL="342900" indent="-342900">
              <a:buFont typeface="Wingdings" panose="05000000000000000000" charset="0"/>
              <a:buChar char="p"/>
            </a:pPr>
            <a:r>
              <a:rPr lang="zh-CN" altLang="en-US" sz="2000"/>
              <a:t>SQL Server的审计功能</a:t>
            </a:r>
            <a:r>
              <a:rPr lang="zh-CN" altLang="en-US" sz="2000"/>
              <a:t>实例</a:t>
            </a:r>
            <a:endParaRPr lang="zh-CN" altLang="en-US" sz="2000"/>
          </a:p>
        </p:txBody>
      </p:sp>
      <p:sp>
        <p:nvSpPr>
          <p:cNvPr id="3" name="文本框 2"/>
          <p:cNvSpPr txBox="1"/>
          <p:nvPr/>
        </p:nvSpPr>
        <p:spPr>
          <a:xfrm>
            <a:off x="608965" y="1822450"/>
            <a:ext cx="4572000" cy="398780"/>
          </a:xfrm>
          <a:prstGeom prst="rect">
            <a:avLst/>
          </a:prstGeom>
          <a:noFill/>
        </p:spPr>
        <p:txBody>
          <a:bodyPr wrap="square" rtlCol="0" anchor="t">
            <a:spAutoFit/>
          </a:bodyPr>
          <a:p>
            <a:pPr marL="342900" indent="-342900">
              <a:buFont typeface="Wingdings" panose="05000000000000000000" charset="0"/>
              <a:buChar char="ü"/>
            </a:pPr>
            <a:r>
              <a:rPr lang="zh-CN" altLang="en-US" sz="2000"/>
              <a:t>创建审计对象</a:t>
            </a:r>
            <a:endParaRPr lang="zh-CN" altLang="en-US" sz="2000"/>
          </a:p>
        </p:txBody>
      </p:sp>
      <p:sp>
        <p:nvSpPr>
          <p:cNvPr id="4" name="文本框 3"/>
          <p:cNvSpPr txBox="1"/>
          <p:nvPr/>
        </p:nvSpPr>
        <p:spPr>
          <a:xfrm>
            <a:off x="741045" y="2221230"/>
            <a:ext cx="4625975" cy="1419860"/>
          </a:xfrm>
          <a:prstGeom prst="rect">
            <a:avLst/>
          </a:prstGeom>
          <a:noFill/>
        </p:spPr>
        <p:txBody>
          <a:bodyPr wrap="square" rtlCol="0" anchor="t">
            <a:spAutoFit/>
          </a:bodyPr>
          <a:p>
            <a:pPr>
              <a:lnSpc>
                <a:spcPct val="120000"/>
              </a:lnSpc>
              <a:spcBef>
                <a:spcPts val="0"/>
              </a:spcBef>
              <a:spcAft>
                <a:spcPts val="0"/>
              </a:spcAft>
            </a:pPr>
            <a:r>
              <a:rPr lang="zh-CN" altLang="en-US"/>
              <a:t>CREATE SERVER AUDIT [ServerAudit]</a:t>
            </a:r>
            <a:endParaRPr lang="zh-CN" altLang="en-US"/>
          </a:p>
          <a:p>
            <a:pPr>
              <a:lnSpc>
                <a:spcPct val="120000"/>
              </a:lnSpc>
              <a:spcBef>
                <a:spcPts val="0"/>
              </a:spcBef>
              <a:spcAft>
                <a:spcPts val="0"/>
              </a:spcAft>
            </a:pPr>
            <a:r>
              <a:rPr lang="zh-CN" altLang="en-US"/>
              <a:t>TO FILE (FILEPATH = 'C:\AuditLogs\')</a:t>
            </a:r>
            <a:endParaRPr lang="zh-CN" altLang="en-US"/>
          </a:p>
          <a:p>
            <a:pPr>
              <a:lnSpc>
                <a:spcPct val="120000"/>
              </a:lnSpc>
              <a:spcBef>
                <a:spcPts val="0"/>
              </a:spcBef>
              <a:spcAft>
                <a:spcPts val="0"/>
              </a:spcAft>
            </a:pPr>
            <a:r>
              <a:rPr lang="zh-CN" altLang="en-US"/>
              <a:t>WITH (ON_FAILURE = CONTINUE);</a:t>
            </a:r>
            <a:endParaRPr lang="zh-CN" altLang="en-US"/>
          </a:p>
          <a:p>
            <a:pPr>
              <a:lnSpc>
                <a:spcPct val="120000"/>
              </a:lnSpc>
              <a:spcBef>
                <a:spcPts val="0"/>
              </a:spcBef>
              <a:spcAft>
                <a:spcPts val="0"/>
              </a:spcAft>
            </a:pPr>
            <a:r>
              <a:rPr lang="zh-CN" altLang="en-US"/>
              <a:t>GO</a:t>
            </a:r>
            <a:endParaRPr lang="zh-CN" altLang="en-US"/>
          </a:p>
        </p:txBody>
      </p:sp>
      <p:sp>
        <p:nvSpPr>
          <p:cNvPr id="5" name="文本框 4"/>
          <p:cNvSpPr txBox="1"/>
          <p:nvPr/>
        </p:nvSpPr>
        <p:spPr>
          <a:xfrm>
            <a:off x="608965" y="3641090"/>
            <a:ext cx="4572000" cy="398780"/>
          </a:xfrm>
          <a:prstGeom prst="rect">
            <a:avLst/>
          </a:prstGeom>
          <a:noFill/>
        </p:spPr>
        <p:txBody>
          <a:bodyPr wrap="square" rtlCol="0" anchor="t">
            <a:spAutoFit/>
          </a:bodyPr>
          <a:p>
            <a:pPr marL="342900" indent="-342900" algn="l">
              <a:buClrTx/>
              <a:buSzTx/>
              <a:buFont typeface="Wingdings" panose="05000000000000000000" charset="0"/>
              <a:buChar char="ü"/>
            </a:pPr>
            <a:r>
              <a:rPr lang="zh-CN" altLang="en-US" sz="2000">
                <a:cs typeface="+mn-ea"/>
              </a:rPr>
              <a:t>创建审计规范</a:t>
            </a:r>
            <a:endParaRPr lang="zh-CN" altLang="en-US" sz="2000">
              <a:cs typeface="+mn-ea"/>
            </a:endParaRPr>
          </a:p>
        </p:txBody>
      </p:sp>
      <p:sp>
        <p:nvSpPr>
          <p:cNvPr id="6" name="文本框 5"/>
          <p:cNvSpPr txBox="1"/>
          <p:nvPr/>
        </p:nvSpPr>
        <p:spPr>
          <a:xfrm>
            <a:off x="795020" y="4107180"/>
            <a:ext cx="4572000" cy="2084070"/>
          </a:xfrm>
          <a:prstGeom prst="rect">
            <a:avLst/>
          </a:prstGeom>
          <a:noFill/>
        </p:spPr>
        <p:txBody>
          <a:bodyPr wrap="square" rtlCol="0" anchor="t">
            <a:spAutoFit/>
          </a:bodyPr>
          <a:p>
            <a:pPr algn="l">
              <a:lnSpc>
                <a:spcPct val="120000"/>
              </a:lnSpc>
              <a:spcBef>
                <a:spcPts val="0"/>
              </a:spcBef>
              <a:spcAft>
                <a:spcPts val="0"/>
              </a:spcAft>
              <a:buClrTx/>
              <a:buSzTx/>
              <a:buNone/>
            </a:pPr>
            <a:r>
              <a:rPr lang="zh-CN" altLang="en-US">
                <a:cs typeface="+mn-ea"/>
              </a:rPr>
              <a:t>CREATE SERVER AUDIT SPECIFICATION [ServerAuditSpec]</a:t>
            </a:r>
            <a:endParaRPr lang="zh-CN" altLang="en-US">
              <a:cs typeface="+mn-ea"/>
            </a:endParaRPr>
          </a:p>
          <a:p>
            <a:pPr algn="l">
              <a:lnSpc>
                <a:spcPct val="120000"/>
              </a:lnSpc>
              <a:spcBef>
                <a:spcPts val="0"/>
              </a:spcBef>
              <a:spcAft>
                <a:spcPts val="0"/>
              </a:spcAft>
              <a:buClrTx/>
              <a:buSzTx/>
              <a:buNone/>
            </a:pPr>
            <a:r>
              <a:rPr lang="zh-CN" altLang="en-US">
                <a:cs typeface="+mn-ea"/>
              </a:rPr>
              <a:t>FOR SERVER AUDIT [ServerAudit]</a:t>
            </a:r>
            <a:endParaRPr lang="zh-CN" altLang="en-US">
              <a:cs typeface="+mn-ea"/>
            </a:endParaRPr>
          </a:p>
          <a:p>
            <a:pPr algn="l">
              <a:lnSpc>
                <a:spcPct val="120000"/>
              </a:lnSpc>
              <a:spcBef>
                <a:spcPts val="0"/>
              </a:spcBef>
              <a:spcAft>
                <a:spcPts val="0"/>
              </a:spcAft>
              <a:buClrTx/>
              <a:buSzTx/>
              <a:buNone/>
            </a:pPr>
            <a:r>
              <a:rPr lang="zh-CN" altLang="en-US">
                <a:cs typeface="+mn-ea"/>
              </a:rPr>
              <a:t>ADD (FAILED_LOGIN_GROUP),</a:t>
            </a:r>
            <a:endParaRPr lang="zh-CN" altLang="en-US">
              <a:cs typeface="+mn-ea"/>
            </a:endParaRPr>
          </a:p>
          <a:p>
            <a:pPr algn="l">
              <a:lnSpc>
                <a:spcPct val="120000"/>
              </a:lnSpc>
              <a:spcBef>
                <a:spcPts val="0"/>
              </a:spcBef>
              <a:spcAft>
                <a:spcPts val="0"/>
              </a:spcAft>
              <a:buClrTx/>
              <a:buSzTx/>
              <a:buNone/>
            </a:pPr>
            <a:r>
              <a:rPr lang="zh-CN" altLang="en-US">
                <a:cs typeface="+mn-ea"/>
              </a:rPr>
              <a:t>ADD (SUCCESSFUL_LOGIN_GROUP);</a:t>
            </a:r>
            <a:endParaRPr lang="zh-CN" altLang="en-US">
              <a:cs typeface="+mn-ea"/>
            </a:endParaRPr>
          </a:p>
          <a:p>
            <a:pPr algn="l">
              <a:lnSpc>
                <a:spcPct val="120000"/>
              </a:lnSpc>
              <a:spcBef>
                <a:spcPts val="0"/>
              </a:spcBef>
              <a:spcAft>
                <a:spcPts val="0"/>
              </a:spcAft>
              <a:buClrTx/>
              <a:buSzTx/>
              <a:buNone/>
            </a:pPr>
            <a:r>
              <a:rPr lang="zh-CN" altLang="en-US">
                <a:cs typeface="+mn-ea"/>
              </a:rPr>
              <a:t>GO</a:t>
            </a:r>
            <a:endParaRPr lang="zh-CN" altLang="en-US">
              <a:cs typeface="+mn-ea"/>
            </a:endParaRPr>
          </a:p>
        </p:txBody>
      </p:sp>
      <p:sp>
        <p:nvSpPr>
          <p:cNvPr id="7" name="文本框 6"/>
          <p:cNvSpPr txBox="1"/>
          <p:nvPr/>
        </p:nvSpPr>
        <p:spPr>
          <a:xfrm>
            <a:off x="5263515" y="3849370"/>
            <a:ext cx="2904490" cy="398780"/>
          </a:xfrm>
          <a:prstGeom prst="rect">
            <a:avLst/>
          </a:prstGeom>
          <a:noFill/>
        </p:spPr>
        <p:txBody>
          <a:bodyPr wrap="square" rtlCol="0" anchor="t">
            <a:spAutoFit/>
          </a:bodyPr>
          <a:p>
            <a:pPr marL="342900" indent="-342900" algn="l">
              <a:buClrTx/>
              <a:buSzTx/>
              <a:buFont typeface="Wingdings" panose="05000000000000000000" charset="0"/>
              <a:buChar char="ü"/>
            </a:pPr>
            <a:r>
              <a:rPr lang="zh-CN" altLang="en-US" sz="2000">
                <a:cs typeface="+mn-ea"/>
              </a:rPr>
              <a:t>启用审计</a:t>
            </a:r>
            <a:endParaRPr lang="zh-CN" altLang="en-US" sz="2000">
              <a:cs typeface="+mn-ea"/>
            </a:endParaRPr>
          </a:p>
        </p:txBody>
      </p:sp>
      <p:sp>
        <p:nvSpPr>
          <p:cNvPr id="8" name="文本框 7"/>
          <p:cNvSpPr txBox="1"/>
          <p:nvPr/>
        </p:nvSpPr>
        <p:spPr>
          <a:xfrm>
            <a:off x="5180330" y="4258945"/>
            <a:ext cx="3963670" cy="1087755"/>
          </a:xfrm>
          <a:prstGeom prst="rect">
            <a:avLst/>
          </a:prstGeom>
          <a:noFill/>
        </p:spPr>
        <p:txBody>
          <a:bodyPr wrap="square" rtlCol="0" anchor="t">
            <a:spAutoFit/>
          </a:bodyPr>
          <a:p>
            <a:pPr algn="l">
              <a:lnSpc>
                <a:spcPct val="120000"/>
              </a:lnSpc>
              <a:spcBef>
                <a:spcPts val="0"/>
              </a:spcBef>
              <a:spcAft>
                <a:spcPts val="0"/>
              </a:spcAft>
              <a:buClrTx/>
              <a:buSzTx/>
              <a:buNone/>
            </a:pPr>
            <a:r>
              <a:rPr lang="zh-CN" altLang="en-US">
                <a:cs typeface="+mn-ea"/>
              </a:rPr>
              <a:t>ALTER SERVER AUDIT [ServerAudit] WITH (STATE = ON);</a:t>
            </a:r>
            <a:endParaRPr lang="zh-CN" altLang="en-US">
              <a:cs typeface="+mn-ea"/>
            </a:endParaRPr>
          </a:p>
          <a:p>
            <a:pPr algn="l">
              <a:lnSpc>
                <a:spcPct val="120000"/>
              </a:lnSpc>
              <a:spcBef>
                <a:spcPts val="0"/>
              </a:spcBef>
              <a:spcAft>
                <a:spcPts val="0"/>
              </a:spcAft>
              <a:buClrTx/>
              <a:buSzTx/>
              <a:buNone/>
            </a:pPr>
            <a:r>
              <a:rPr lang="zh-CN" altLang="en-US">
                <a:cs typeface="+mn-ea"/>
              </a:rPr>
              <a:t>GO</a:t>
            </a:r>
            <a:endParaRPr lang="zh-CN" altLang="en-US">
              <a:cs typeface="+mn-ea"/>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p:nvPr/>
        </p:nvSpPr>
        <p:spPr>
          <a:xfrm>
            <a:off x="457200" y="68263"/>
            <a:ext cx="8229600" cy="692150"/>
          </a:xfrm>
          <a:prstGeom prst="rect">
            <a:avLst/>
          </a:prstGeom>
          <a:noFill/>
          <a:ln w="9525">
            <a:noFill/>
          </a:ln>
        </p:spPr>
        <p:txBody>
          <a:bodyPr anchor="ctr"/>
          <a:lstStyle/>
          <a:p>
            <a:pPr lvl="0" indent="0"/>
            <a:r>
              <a:rPr lang="zh-CN" altLang="en-US" sz="3200" dirty="0">
                <a:solidFill>
                  <a:srgbClr val="FF0000"/>
                </a:solidFill>
                <a:latin typeface="Arial" panose="020B0604020202020204" pitchFamily="34" charset="0"/>
                <a:ea typeface="黑体" panose="02010609060101010101" pitchFamily="1" charset="-122"/>
              </a:rPr>
              <a:t>二、数据库的安全性</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35842" name="Rectangle 2"/>
          <p:cNvSpPr txBox="1"/>
          <p:nvPr/>
        </p:nvSpPr>
        <p:spPr>
          <a:xfrm>
            <a:off x="536575" y="712788"/>
            <a:ext cx="5689600" cy="576262"/>
          </a:xfrm>
          <a:prstGeom prst="rect">
            <a:avLst/>
          </a:prstGeom>
          <a:noFill/>
          <a:ln w="9525">
            <a:noFill/>
          </a:ln>
        </p:spPr>
        <p:txBody>
          <a:bodyPr anchor="t"/>
          <a:lstStyle/>
          <a:p>
            <a:pPr marL="457200" lvl="0" indent="-457200" defTabSz="0">
              <a:lnSpc>
                <a:spcPct val="135000"/>
              </a:lnSpc>
              <a:tabLst>
                <a:tab pos="1428750" algn="l"/>
              </a:tabLst>
            </a:pPr>
            <a:r>
              <a:rPr lang="en-US" altLang="x-none" sz="2800" dirty="0">
                <a:solidFill>
                  <a:srgbClr val="0033CC"/>
                </a:solidFill>
                <a:latin typeface="黑体" panose="02010609060101010101" pitchFamily="1" charset="-122"/>
                <a:ea typeface="黑体" panose="02010609060101010101" pitchFamily="1" charset="-122"/>
              </a:rPr>
              <a:t>4.</a:t>
            </a:r>
            <a:r>
              <a:rPr lang="en-US" altLang="x-none" sz="2800" dirty="0">
                <a:solidFill>
                  <a:srgbClr val="CC3300"/>
                </a:solidFill>
                <a:latin typeface="Times New Roman" panose="02020603050405020304" pitchFamily="2" charset="0"/>
                <a:ea typeface="宋体" panose="02010600030101010101" pitchFamily="2" charset="-122"/>
              </a:rPr>
              <a:t> </a:t>
            </a:r>
            <a:r>
              <a:rPr lang="zh-CN" altLang="en-US" sz="2800" dirty="0">
                <a:solidFill>
                  <a:srgbClr val="0033CC"/>
                </a:solidFill>
                <a:latin typeface="黑体" panose="02010609060101010101" pitchFamily="1" charset="-122"/>
                <a:ea typeface="黑体" panose="02010609060101010101" pitchFamily="1" charset="-122"/>
              </a:rPr>
              <a:t>数据库安全的其他内容</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35843" name="矩形 3"/>
          <p:cNvSpPr/>
          <p:nvPr/>
        </p:nvSpPr>
        <p:spPr>
          <a:xfrm>
            <a:off x="392113" y="1346200"/>
            <a:ext cx="3613150" cy="523875"/>
          </a:xfrm>
          <a:prstGeom prst="rect">
            <a:avLst/>
          </a:prstGeom>
          <a:noFill/>
          <a:ln w="9525">
            <a:noFill/>
          </a:ln>
        </p:spPr>
        <p:txBody>
          <a:bodyPr wrap="none" anchor="t">
            <a:spAutoFit/>
          </a:bodyPr>
          <a:lstStyle/>
          <a:p>
            <a:pPr lvl="0" indent="0"/>
            <a:r>
              <a:rPr lang="zh-CN" altLang="en-US" sz="2800" dirty="0">
                <a:solidFill>
                  <a:srgbClr val="0033CC"/>
                </a:solidFill>
                <a:latin typeface="宋体" panose="02010600030101010101" pitchFamily="2" charset="-122"/>
                <a:ea typeface="宋体" panose="02010600030101010101" pitchFamily="2" charset="-122"/>
              </a:rPr>
              <a:t>（</a:t>
            </a:r>
            <a:r>
              <a:rPr lang="en-US" altLang="x-none" sz="2800" dirty="0">
                <a:solidFill>
                  <a:srgbClr val="0033CC"/>
                </a:solidFill>
                <a:latin typeface="宋体" panose="02010600030101010101" pitchFamily="2" charset="-122"/>
                <a:ea typeface="宋体" panose="02010600030101010101" pitchFamily="2" charset="-122"/>
              </a:rPr>
              <a:t>3</a:t>
            </a:r>
            <a:r>
              <a:rPr lang="zh-CN" altLang="en-US" sz="2800" dirty="0">
                <a:solidFill>
                  <a:srgbClr val="0033CC"/>
                </a:solidFill>
                <a:latin typeface="宋体" panose="02010600030101010101" pitchFamily="2" charset="-122"/>
                <a:ea typeface="宋体" panose="02010600030101010101" pitchFamily="2" charset="-122"/>
              </a:rPr>
              <a:t>）统计数据库安全</a:t>
            </a:r>
            <a:endParaRPr lang="zh-CN" altLang="en-US" sz="2800" dirty="0">
              <a:solidFill>
                <a:srgbClr val="0033CC"/>
              </a:solidFill>
              <a:latin typeface="宋体" panose="02010600030101010101" pitchFamily="2" charset="-122"/>
              <a:ea typeface="宋体" panose="02010600030101010101" pitchFamily="2" charset="-122"/>
            </a:endParaRPr>
          </a:p>
        </p:txBody>
      </p:sp>
      <p:sp>
        <p:nvSpPr>
          <p:cNvPr id="35844" name="Text Box 3"/>
          <p:cNvSpPr txBox="1"/>
          <p:nvPr/>
        </p:nvSpPr>
        <p:spPr>
          <a:xfrm>
            <a:off x="495300" y="1905000"/>
            <a:ext cx="8286750" cy="769938"/>
          </a:xfrm>
          <a:prstGeom prst="rect">
            <a:avLst/>
          </a:prstGeom>
          <a:noFill/>
          <a:ln w="9525">
            <a:noFill/>
          </a:ln>
        </p:spPr>
        <p:txBody>
          <a:bodyPr anchor="t">
            <a:spAutoFit/>
          </a:bodyPr>
          <a:lstStyle/>
          <a:p>
            <a:pPr lvl="0" indent="0">
              <a:spcBef>
                <a:spcPct val="50000"/>
              </a:spcBef>
            </a:pPr>
            <a:r>
              <a:rPr lang="en-US" altLang="x-none" sz="2200" dirty="0">
                <a:latin typeface="宋体" panose="02010600030101010101" pitchFamily="2" charset="-122"/>
                <a:ea typeface="宋体" panose="02010600030101010101" pitchFamily="2" charset="-122"/>
              </a:rPr>
              <a:t>    </a:t>
            </a:r>
            <a:r>
              <a:rPr lang="zh-CN" altLang="en-US" sz="2200" dirty="0">
                <a:solidFill>
                  <a:srgbClr val="CC3300"/>
                </a:solidFill>
                <a:latin typeface="宋体" panose="02010600030101010101" pitchFamily="2" charset="-122"/>
                <a:ea typeface="宋体" panose="02010600030101010101" pitchFamily="2" charset="-122"/>
              </a:rPr>
              <a:t>统计</a:t>
            </a:r>
            <a:r>
              <a:rPr lang="en-US" altLang="x-none" sz="2200" dirty="0">
                <a:solidFill>
                  <a:srgbClr val="CC3300"/>
                </a:solidFill>
                <a:latin typeface="宋体" panose="02010600030101010101" pitchFamily="2" charset="-122"/>
                <a:ea typeface="宋体" panose="02010600030101010101" pitchFamily="2" charset="-122"/>
              </a:rPr>
              <a:t>DB</a:t>
            </a:r>
            <a:r>
              <a:rPr lang="zh-CN" altLang="en-US" sz="2200" dirty="0">
                <a:solidFill>
                  <a:srgbClr val="CC3300"/>
                </a:solidFill>
                <a:latin typeface="宋体" panose="02010600030101010101" pitchFamily="2" charset="-122"/>
                <a:ea typeface="宋体" panose="02010600030101010101" pitchFamily="2" charset="-122"/>
              </a:rPr>
              <a:t>：</a:t>
            </a:r>
            <a:r>
              <a:rPr lang="zh-CN" altLang="en-US" sz="2200" dirty="0">
                <a:latin typeface="宋体" panose="02010600030101010101" pitchFamily="2" charset="-122"/>
                <a:ea typeface="宋体" panose="02010600030101010101" pitchFamily="2" charset="-122"/>
              </a:rPr>
              <a:t>存有个人或事件特别信息，且只允许作统计查询而不允许作个别查询的</a:t>
            </a:r>
            <a:r>
              <a:rPr lang="en-US" altLang="x-none" sz="2200" dirty="0">
                <a:latin typeface="宋体" panose="02010600030101010101" pitchFamily="2" charset="-122"/>
                <a:ea typeface="宋体" panose="02010600030101010101" pitchFamily="2" charset="-122"/>
              </a:rPr>
              <a:t>DB</a:t>
            </a:r>
            <a:r>
              <a:rPr lang="zh-CN" altLang="en-US" sz="2200" dirty="0">
                <a:latin typeface="宋体" panose="02010600030101010101" pitchFamily="2" charset="-122"/>
                <a:ea typeface="宋体" panose="02010600030101010101" pitchFamily="2" charset="-122"/>
              </a:rPr>
              <a:t>。</a:t>
            </a:r>
            <a:endParaRPr lang="zh-CN" altLang="en-US" sz="2200" dirty="0">
              <a:latin typeface="宋体" panose="02010600030101010101" pitchFamily="2" charset="-122"/>
              <a:ea typeface="宋体" panose="02010600030101010101" pitchFamily="2" charset="-122"/>
            </a:endParaRPr>
          </a:p>
        </p:txBody>
      </p:sp>
      <p:sp>
        <p:nvSpPr>
          <p:cNvPr id="35845" name="Text Box 4"/>
          <p:cNvSpPr txBox="1"/>
          <p:nvPr/>
        </p:nvSpPr>
        <p:spPr>
          <a:xfrm>
            <a:off x="457200" y="2782888"/>
            <a:ext cx="8248650" cy="769937"/>
          </a:xfrm>
          <a:prstGeom prst="rect">
            <a:avLst/>
          </a:prstGeom>
          <a:noFill/>
          <a:ln w="9525">
            <a:noFill/>
          </a:ln>
        </p:spPr>
        <p:txBody>
          <a:bodyPr anchor="t">
            <a:spAutoFit/>
          </a:bodyPr>
          <a:lstStyle/>
          <a:p>
            <a:pPr lvl="0" indent="0">
              <a:spcBef>
                <a:spcPct val="50000"/>
              </a:spcBef>
            </a:pPr>
            <a:r>
              <a:rPr lang="zh-CN" altLang="en-US" sz="2200" dirty="0">
                <a:solidFill>
                  <a:srgbClr val="CC3300"/>
                </a:solidFill>
                <a:latin typeface="宋体" panose="02010600030101010101" pitchFamily="2" charset="-122"/>
                <a:ea typeface="宋体" panose="02010600030101010101" pitchFamily="2" charset="-122"/>
              </a:rPr>
              <a:t>    防范：</a:t>
            </a:r>
            <a:r>
              <a:rPr lang="zh-CN" altLang="en-US" sz="2200" dirty="0">
                <a:latin typeface="宋体" panose="02010600030101010101" pitchFamily="2" charset="-122"/>
                <a:ea typeface="宋体" panose="02010600030101010101" pitchFamily="2" charset="-122"/>
              </a:rPr>
              <a:t>由于个人信息可能从允许查询的结果中推测出，应该堵住此暗道</a:t>
            </a:r>
            <a:r>
              <a:rPr lang="en-US" altLang="x-none" sz="2200" dirty="0">
                <a:latin typeface="宋体" panose="02010600030101010101" pitchFamily="2" charset="-122"/>
                <a:ea typeface="宋体" panose="02010600030101010101" pitchFamily="2" charset="-122"/>
              </a:rPr>
              <a:t>(Covert Channel)</a:t>
            </a:r>
            <a:r>
              <a:rPr lang="zh-CN" altLang="en-US" sz="2200" dirty="0">
                <a:latin typeface="宋体" panose="02010600030101010101" pitchFamily="2" charset="-122"/>
                <a:ea typeface="宋体" panose="02010600030101010101" pitchFamily="2" charset="-122"/>
              </a:rPr>
              <a:t>。</a:t>
            </a:r>
            <a:endParaRPr lang="zh-CN" altLang="en-US" sz="2200" dirty="0">
              <a:latin typeface="宋体" panose="02010600030101010101" pitchFamily="2" charset="-122"/>
              <a:ea typeface="宋体" panose="02010600030101010101" pitchFamily="2" charset="-122"/>
            </a:endParaRPr>
          </a:p>
        </p:txBody>
      </p:sp>
      <p:sp>
        <p:nvSpPr>
          <p:cNvPr id="35846" name="Text Box 5"/>
          <p:cNvSpPr txBox="1"/>
          <p:nvPr/>
        </p:nvSpPr>
        <p:spPr>
          <a:xfrm>
            <a:off x="581025" y="4124325"/>
            <a:ext cx="7940675" cy="430213"/>
          </a:xfrm>
          <a:prstGeom prst="rect">
            <a:avLst/>
          </a:prstGeom>
          <a:noFill/>
          <a:ln w="9525">
            <a:noFill/>
          </a:ln>
        </p:spPr>
        <p:txBody>
          <a:bodyPr anchor="t">
            <a:spAutoFit/>
          </a:bodyPr>
          <a:lstStyle/>
          <a:p>
            <a:pPr lvl="0" indent="0"/>
            <a:r>
              <a:rPr lang="en-US" altLang="x-none" sz="2200" dirty="0">
                <a:solidFill>
                  <a:srgbClr val="FF3300"/>
                </a:solidFill>
                <a:latin typeface="宋体" panose="02010600030101010101" pitchFamily="2" charset="-122"/>
                <a:ea typeface="宋体" panose="02010600030101010101" pitchFamily="2" charset="-122"/>
              </a:rPr>
              <a:t>① </a:t>
            </a:r>
            <a:r>
              <a:rPr lang="zh-CN" altLang="en-US" sz="2200" dirty="0">
                <a:solidFill>
                  <a:schemeClr val="accent2"/>
                </a:solidFill>
                <a:latin typeface="宋体" panose="02010600030101010101" pitchFamily="2" charset="-122"/>
                <a:ea typeface="宋体" panose="02010600030101010101" pitchFamily="2" charset="-122"/>
              </a:rPr>
              <a:t>最小行数</a:t>
            </a:r>
            <a:r>
              <a:rPr lang="en-US" altLang="x-none" sz="2200" dirty="0">
                <a:solidFill>
                  <a:schemeClr val="accent2"/>
                </a:solidFill>
                <a:latin typeface="宋体" panose="02010600030101010101" pitchFamily="2" charset="-122"/>
                <a:ea typeface="宋体" panose="02010600030101010101" pitchFamily="2" charset="-122"/>
              </a:rPr>
              <a:t>N</a:t>
            </a:r>
            <a:r>
              <a:rPr lang="zh-CN" altLang="en-US" sz="2200" dirty="0">
                <a:solidFill>
                  <a:schemeClr val="accent2"/>
                </a:solidFill>
                <a:latin typeface="宋体" panose="02010600030101010101" pitchFamily="2" charset="-122"/>
                <a:ea typeface="宋体" panose="02010600030101010101" pitchFamily="2" charset="-122"/>
              </a:rPr>
              <a:t>限制（查询统计的数据至少来自数据库中</a:t>
            </a:r>
            <a:r>
              <a:rPr lang="en-US" altLang="x-none" sz="2200" dirty="0">
                <a:solidFill>
                  <a:schemeClr val="accent2"/>
                </a:solidFill>
                <a:latin typeface="宋体" panose="02010600030101010101" pitchFamily="2" charset="-122"/>
                <a:ea typeface="宋体" panose="02010600030101010101" pitchFamily="2" charset="-122"/>
              </a:rPr>
              <a:t>N</a:t>
            </a:r>
            <a:r>
              <a:rPr lang="zh-CN" altLang="en-US" sz="2200" dirty="0">
                <a:solidFill>
                  <a:schemeClr val="accent2"/>
                </a:solidFill>
                <a:latin typeface="宋体" panose="02010600030101010101" pitchFamily="2" charset="-122"/>
                <a:ea typeface="宋体" panose="02010600030101010101" pitchFamily="2" charset="-122"/>
              </a:rPr>
              <a:t>行）；</a:t>
            </a:r>
            <a:endParaRPr lang="zh-CN" altLang="en-US" sz="2200" dirty="0">
              <a:solidFill>
                <a:schemeClr val="accent2"/>
              </a:solidFill>
              <a:latin typeface="宋体" panose="02010600030101010101" pitchFamily="2" charset="-122"/>
              <a:ea typeface="宋体" panose="02010600030101010101" pitchFamily="2" charset="-122"/>
            </a:endParaRPr>
          </a:p>
        </p:txBody>
      </p:sp>
      <p:sp>
        <p:nvSpPr>
          <p:cNvPr id="35847" name="Text Box 6"/>
          <p:cNvSpPr txBox="1"/>
          <p:nvPr/>
        </p:nvSpPr>
        <p:spPr>
          <a:xfrm>
            <a:off x="0" y="5553075"/>
            <a:ext cx="9144000" cy="430213"/>
          </a:xfrm>
          <a:prstGeom prst="rect">
            <a:avLst/>
          </a:prstGeom>
          <a:noFill/>
          <a:ln w="9525">
            <a:noFill/>
          </a:ln>
        </p:spPr>
        <p:txBody>
          <a:bodyPr anchor="t">
            <a:spAutoFit/>
          </a:bodyPr>
          <a:lstStyle/>
          <a:p>
            <a:pPr lvl="0" indent="0"/>
            <a:r>
              <a:rPr lang="zh-CN" altLang="en-US" sz="2200" dirty="0">
                <a:solidFill>
                  <a:srgbClr val="CC3300"/>
                </a:solidFill>
                <a:latin typeface="宋体" panose="02010600030101010101" pitchFamily="2" charset="-122"/>
                <a:ea typeface="宋体" panose="02010600030101010101" pitchFamily="2" charset="-122"/>
              </a:rPr>
              <a:t>    现状：</a:t>
            </a:r>
            <a:r>
              <a:rPr lang="zh-CN" altLang="en-US" sz="2200" dirty="0">
                <a:latin typeface="宋体" panose="02010600030101010101" pitchFamily="2" charset="-122"/>
                <a:ea typeface="宋体" panose="02010600030101010101" pitchFamily="2" charset="-122"/>
              </a:rPr>
              <a:t>统计</a:t>
            </a:r>
            <a:r>
              <a:rPr lang="en-US" altLang="x-none" sz="2200" dirty="0">
                <a:latin typeface="宋体" panose="02010600030101010101" pitchFamily="2" charset="-122"/>
                <a:ea typeface="宋体" panose="02010600030101010101" pitchFamily="2" charset="-122"/>
              </a:rPr>
              <a:t>DB</a:t>
            </a:r>
            <a:r>
              <a:rPr lang="zh-CN" altLang="en-US" sz="2200" dirty="0">
                <a:latin typeface="宋体" panose="02010600030101010101" pitchFamily="2" charset="-122"/>
                <a:ea typeface="宋体" panose="02010600030101010101" pitchFamily="2" charset="-122"/>
              </a:rPr>
              <a:t>上的安全难以实施。</a:t>
            </a:r>
            <a:endParaRPr lang="zh-CN" altLang="en-US" sz="2200" dirty="0">
              <a:latin typeface="宋体" panose="02010600030101010101" pitchFamily="2" charset="-122"/>
              <a:ea typeface="宋体" panose="02010600030101010101" pitchFamily="2" charset="-122"/>
            </a:endParaRPr>
          </a:p>
        </p:txBody>
      </p:sp>
      <p:sp>
        <p:nvSpPr>
          <p:cNvPr id="35848" name="Text Box 7"/>
          <p:cNvSpPr txBox="1"/>
          <p:nvPr/>
        </p:nvSpPr>
        <p:spPr>
          <a:xfrm>
            <a:off x="596900" y="4997450"/>
            <a:ext cx="7570788" cy="430213"/>
          </a:xfrm>
          <a:prstGeom prst="rect">
            <a:avLst/>
          </a:prstGeom>
          <a:noFill/>
          <a:ln w="9525">
            <a:noFill/>
          </a:ln>
        </p:spPr>
        <p:txBody>
          <a:bodyPr anchor="t">
            <a:spAutoFit/>
          </a:bodyPr>
          <a:lstStyle/>
          <a:p>
            <a:pPr lvl="0" indent="0"/>
            <a:r>
              <a:rPr lang="en-US" altLang="x-none" sz="2200" dirty="0">
                <a:solidFill>
                  <a:srgbClr val="FF3300"/>
                </a:solidFill>
                <a:latin typeface="宋体" panose="02010600030101010101" pitchFamily="2" charset="-122"/>
                <a:ea typeface="宋体" panose="02010600030101010101" pitchFamily="2" charset="-122"/>
              </a:rPr>
              <a:t>③ </a:t>
            </a:r>
            <a:r>
              <a:rPr lang="zh-CN" altLang="en-US" sz="2200" dirty="0">
                <a:solidFill>
                  <a:schemeClr val="accent2"/>
                </a:solidFill>
                <a:latin typeface="宋体" panose="02010600030101010101" pitchFamily="2" charset="-122"/>
                <a:ea typeface="宋体" panose="02010600030101010101" pitchFamily="2" charset="-122"/>
              </a:rPr>
              <a:t>查询总数限制。</a:t>
            </a:r>
            <a:endParaRPr lang="zh-CN" altLang="en-US" sz="2200" dirty="0">
              <a:solidFill>
                <a:schemeClr val="accent2"/>
              </a:solidFill>
              <a:latin typeface="宋体" panose="02010600030101010101" pitchFamily="2" charset="-122"/>
              <a:ea typeface="宋体" panose="02010600030101010101" pitchFamily="2" charset="-122"/>
            </a:endParaRPr>
          </a:p>
        </p:txBody>
      </p:sp>
      <p:sp>
        <p:nvSpPr>
          <p:cNvPr id="35849" name="Text Box 8"/>
          <p:cNvSpPr txBox="1"/>
          <p:nvPr/>
        </p:nvSpPr>
        <p:spPr>
          <a:xfrm>
            <a:off x="590550" y="4548188"/>
            <a:ext cx="8585200" cy="430212"/>
          </a:xfrm>
          <a:prstGeom prst="rect">
            <a:avLst/>
          </a:prstGeom>
          <a:noFill/>
          <a:ln w="9525">
            <a:noFill/>
          </a:ln>
        </p:spPr>
        <p:txBody>
          <a:bodyPr wrap="square" lIns="90170" tIns="46990" rIns="39370" bIns="46990" anchor="t">
            <a:spAutoFit/>
          </a:bodyPr>
          <a:lstStyle/>
          <a:p>
            <a:pPr lvl="0" indent="0"/>
            <a:r>
              <a:rPr lang="en-US" altLang="x-none" sz="2200" dirty="0">
                <a:solidFill>
                  <a:srgbClr val="FF3300"/>
                </a:solidFill>
                <a:latin typeface="宋体" panose="02010600030101010101" pitchFamily="2" charset="-122"/>
                <a:ea typeface="宋体" panose="02010600030101010101" pitchFamily="2" charset="-122"/>
              </a:rPr>
              <a:t>② </a:t>
            </a:r>
            <a:r>
              <a:rPr lang="zh-CN" altLang="en-US" sz="2200" dirty="0">
                <a:solidFill>
                  <a:schemeClr val="accent2"/>
                </a:solidFill>
                <a:latin typeface="宋体" panose="02010600030101010101" pitchFamily="2" charset="-122"/>
                <a:ea typeface="宋体" panose="02010600030101010101" pitchFamily="2" charset="-122"/>
              </a:rPr>
              <a:t>最大交</a:t>
            </a:r>
            <a:r>
              <a:rPr lang="en-US" altLang="x-none" sz="2200" dirty="0">
                <a:solidFill>
                  <a:schemeClr val="accent2"/>
                </a:solidFill>
                <a:latin typeface="宋体" panose="02010600030101010101" pitchFamily="2" charset="-122"/>
                <a:ea typeface="宋体" panose="02010600030101010101" pitchFamily="2" charset="-122"/>
              </a:rPr>
              <a:t>M</a:t>
            </a:r>
            <a:r>
              <a:rPr lang="zh-CN" altLang="en-US" sz="2200" dirty="0">
                <a:solidFill>
                  <a:schemeClr val="accent2"/>
                </a:solidFill>
                <a:latin typeface="宋体" panose="02010600030101010101" pitchFamily="2" charset="-122"/>
                <a:ea typeface="宋体" panose="02010600030101010101" pitchFamily="2" charset="-122"/>
              </a:rPr>
              <a:t>限制（要求做交集的两条统计数据之间的行数差大于</a:t>
            </a:r>
            <a:r>
              <a:rPr lang="en-US" altLang="x-none" sz="2200" dirty="0">
                <a:solidFill>
                  <a:schemeClr val="accent2"/>
                </a:solidFill>
                <a:latin typeface="宋体" panose="02010600030101010101" pitchFamily="2" charset="-122"/>
                <a:ea typeface="宋体" panose="02010600030101010101" pitchFamily="2" charset="-122"/>
              </a:rPr>
              <a:t>M)</a:t>
            </a:r>
            <a:r>
              <a:rPr lang="zh-CN" altLang="en-US" sz="2200" dirty="0">
                <a:solidFill>
                  <a:schemeClr val="accent2"/>
                </a:solidFill>
                <a:latin typeface="宋体" panose="02010600030101010101" pitchFamily="2" charset="-122"/>
                <a:ea typeface="宋体" panose="02010600030101010101" pitchFamily="2" charset="-122"/>
              </a:rPr>
              <a:t>；</a:t>
            </a:r>
            <a:endParaRPr lang="zh-CN" altLang="en-US" sz="2200" dirty="0">
              <a:solidFill>
                <a:schemeClr val="accent2"/>
              </a:solidFill>
              <a:latin typeface="宋体" panose="02010600030101010101" pitchFamily="2" charset="-122"/>
              <a:ea typeface="宋体" panose="02010600030101010101" pitchFamily="2" charset="-122"/>
            </a:endParaRPr>
          </a:p>
        </p:txBody>
      </p:sp>
      <p:sp>
        <p:nvSpPr>
          <p:cNvPr id="35850" name="Text Box 9"/>
          <p:cNvSpPr txBox="1"/>
          <p:nvPr/>
        </p:nvSpPr>
        <p:spPr>
          <a:xfrm>
            <a:off x="95250" y="3636963"/>
            <a:ext cx="8553450" cy="430212"/>
          </a:xfrm>
          <a:prstGeom prst="rect">
            <a:avLst/>
          </a:prstGeom>
          <a:noFill/>
          <a:ln w="9525">
            <a:noFill/>
          </a:ln>
        </p:spPr>
        <p:txBody>
          <a:bodyPr anchor="t">
            <a:spAutoFit/>
          </a:bodyPr>
          <a:lstStyle/>
          <a:p>
            <a:pPr lvl="0" indent="0"/>
            <a:r>
              <a:rPr lang="zh-CN" altLang="en-US" sz="2200" dirty="0">
                <a:solidFill>
                  <a:srgbClr val="CC3300"/>
                </a:solidFill>
                <a:latin typeface="宋体" panose="02010600030101010101" pitchFamily="2" charset="-122"/>
                <a:ea typeface="宋体" panose="02010600030101010101" pitchFamily="2" charset="-122"/>
              </a:rPr>
              <a:t>   阻止方法：</a:t>
            </a:r>
            <a:endParaRPr lang="zh-CN" altLang="en-US" sz="2200" dirty="0">
              <a:solidFill>
                <a:srgbClr val="CC3300"/>
              </a:solidFill>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p:nvPr/>
        </p:nvSpPr>
        <p:spPr>
          <a:xfrm>
            <a:off x="457200" y="68263"/>
            <a:ext cx="8229600" cy="692150"/>
          </a:xfrm>
          <a:prstGeom prst="rect">
            <a:avLst/>
          </a:prstGeom>
          <a:noFill/>
          <a:ln w="9525">
            <a:noFill/>
          </a:ln>
        </p:spPr>
        <p:txBody>
          <a:bodyPr anchor="ctr"/>
          <a:lstStyle/>
          <a:p>
            <a:pPr lvl="0" indent="0"/>
            <a:r>
              <a:rPr lang="zh-CN" altLang="en-US" sz="3200" dirty="0">
                <a:solidFill>
                  <a:srgbClr val="FF0000"/>
                </a:solidFill>
                <a:latin typeface="Arial" panose="020B0604020202020204" pitchFamily="34" charset="0"/>
                <a:ea typeface="黑体" panose="02010609060101010101" pitchFamily="1" charset="-122"/>
              </a:rPr>
              <a:t>三、数据库的完整性</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36866" name="Rectangle 2"/>
          <p:cNvSpPr txBox="1"/>
          <p:nvPr/>
        </p:nvSpPr>
        <p:spPr>
          <a:xfrm>
            <a:off x="536575" y="755650"/>
            <a:ext cx="5689600" cy="576263"/>
          </a:xfrm>
          <a:prstGeom prst="rect">
            <a:avLst/>
          </a:prstGeom>
          <a:noFill/>
          <a:ln w="9525">
            <a:noFill/>
          </a:ln>
        </p:spPr>
        <p:txBody>
          <a:bodyPr anchor="t"/>
          <a:lstStyle/>
          <a:p>
            <a:pPr marL="457200" lvl="0" indent="-457200" defTabSz="0">
              <a:lnSpc>
                <a:spcPct val="135000"/>
              </a:lnSpc>
              <a:tabLst>
                <a:tab pos="1428750" algn="l"/>
              </a:tabLst>
            </a:pPr>
            <a:r>
              <a:rPr lang="en-US" altLang="x-none" sz="2800" dirty="0">
                <a:solidFill>
                  <a:srgbClr val="0033CC"/>
                </a:solidFill>
                <a:latin typeface="黑体" panose="02010609060101010101" pitchFamily="1" charset="-122"/>
                <a:ea typeface="黑体" panose="02010609060101010101" pitchFamily="1" charset="-122"/>
              </a:rPr>
              <a:t>1.</a:t>
            </a:r>
            <a:r>
              <a:rPr lang="en-US" altLang="x-none" sz="2800" dirty="0">
                <a:solidFill>
                  <a:srgbClr val="CC3300"/>
                </a:solidFill>
                <a:latin typeface="Times New Roman" panose="02020603050405020304" pitchFamily="2" charset="0"/>
                <a:ea typeface="宋体" panose="02010600030101010101" pitchFamily="2" charset="-122"/>
              </a:rPr>
              <a:t> </a:t>
            </a:r>
            <a:r>
              <a:rPr lang="zh-CN" altLang="en-US" sz="2800" dirty="0">
                <a:solidFill>
                  <a:srgbClr val="0033CC"/>
                </a:solidFill>
                <a:latin typeface="黑体" panose="02010609060101010101" pitchFamily="1" charset="-122"/>
                <a:ea typeface="黑体" panose="02010609060101010101" pitchFamily="1" charset="-122"/>
              </a:rPr>
              <a:t>完整性的概念</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4" name="矩形 2"/>
          <p:cNvSpPr/>
          <p:nvPr/>
        </p:nvSpPr>
        <p:spPr>
          <a:xfrm>
            <a:off x="536575" y="1306195"/>
            <a:ext cx="8375650" cy="672465"/>
          </a:xfrm>
          <a:prstGeom prst="rect">
            <a:avLst/>
          </a:prstGeom>
          <a:noFill/>
          <a:ln w="9525">
            <a:noFill/>
          </a:ln>
        </p:spPr>
        <p:txBody>
          <a:bodyPr anchor="t">
            <a:spAutoFit/>
          </a:bodyPr>
          <a:lstStyle/>
          <a:p>
            <a:pPr algn="l">
              <a:lnSpc>
                <a:spcPct val="135000"/>
              </a:lnSpc>
              <a:buClrTx/>
              <a:buSzTx/>
              <a:buFont typeface="Wingdings" panose="05000000000000000000" charset="0"/>
              <a:buChar char="p"/>
            </a:pPr>
            <a:r>
              <a:rPr lang="zh-CN" altLang="en-US" sz="2800" dirty="0">
                <a:solidFill>
                  <a:srgbClr val="0033CC"/>
                </a:solidFill>
                <a:latin typeface="黑体" panose="02010609060101010101" pitchFamily="1" charset="-122"/>
                <a:ea typeface="黑体" panose="02010609060101010101" pitchFamily="1" charset="-122"/>
                <a:cs typeface="+mn-ea"/>
              </a:rPr>
              <a:t>数据库完整性的含义</a:t>
            </a:r>
            <a:endParaRPr lang="zh-CN" altLang="en-US" sz="2800" dirty="0">
              <a:solidFill>
                <a:srgbClr val="0033CC"/>
              </a:solidFill>
              <a:latin typeface="黑体" panose="02010609060101010101" pitchFamily="1" charset="-122"/>
              <a:ea typeface="黑体" panose="02010609060101010101" pitchFamily="1" charset="-122"/>
              <a:cs typeface="+mn-ea"/>
            </a:endParaRPr>
          </a:p>
        </p:txBody>
      </p:sp>
      <p:sp>
        <p:nvSpPr>
          <p:cNvPr id="8" name="Rectangle 2"/>
          <p:cNvSpPr txBox="1">
            <a:spLocks noChangeArrowheads="1"/>
          </p:cNvSpPr>
          <p:nvPr/>
        </p:nvSpPr>
        <p:spPr>
          <a:xfrm>
            <a:off x="518795" y="1978660"/>
            <a:ext cx="7086600" cy="74803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1" i="0" u="none" strike="noStrike" kern="0" cap="none" spc="0" normalizeH="0" baseline="0" noProof="0" dirty="0">
              <a:ln>
                <a:noFill/>
              </a:ln>
              <a:solidFill>
                <a:srgbClr val="3333CC"/>
              </a:solidFill>
              <a:effectLst/>
              <a:uLnTx/>
              <a:uFillTx/>
              <a:latin typeface="宋体" panose="02010600030101010101" pitchFamily="2" charset="-122"/>
              <a:ea typeface="+mj-ea"/>
              <a:cs typeface="+mj-cs"/>
            </a:endParaRPr>
          </a:p>
        </p:txBody>
      </p:sp>
      <p:sp>
        <p:nvSpPr>
          <p:cNvPr id="3" name="Rectangle 3"/>
          <p:cNvSpPr txBox="1">
            <a:spLocks noChangeArrowheads="1"/>
          </p:cNvSpPr>
          <p:nvPr/>
        </p:nvSpPr>
        <p:spPr>
          <a:xfrm>
            <a:off x="633095" y="1978660"/>
            <a:ext cx="7877175" cy="1986280"/>
          </a:xfrm>
          <a:prstGeom prst="rect">
            <a:avLst/>
          </a:prstGeom>
          <a:ln>
            <a:solidFill>
              <a:schemeClr val="accent1"/>
            </a:solidFill>
          </a:ln>
        </p:spPr>
        <p:txBody>
          <a:bodyPr/>
          <a:lstStyle/>
          <a:p>
            <a:pPr marL="342900" marR="0" lvl="0" indent="-342900" algn="l" defTabSz="914400" rtl="0" eaLnBrk="0" fontAlgn="base" latinLnBrk="0" hangingPunct="0">
              <a:lnSpc>
                <a:spcPct val="125000"/>
              </a:lnSpc>
              <a:spcBef>
                <a:spcPts val="200"/>
              </a:spcBef>
              <a:spcAft>
                <a:spcPts val="0"/>
              </a:spcAft>
              <a:buClr>
                <a:srgbClr val="0033CC"/>
              </a:buClr>
              <a:buSzPct val="80000"/>
              <a:buFont typeface="Wingdings" panose="05000000000000000000" pitchFamily="2" charset="2"/>
              <a:buChar char="u"/>
              <a:defRPr/>
            </a:pPr>
            <a:r>
              <a:rPr kumimoji="0" lang="zh-CN" altLang="en-US" sz="2400" b="1" i="0" u="none" strike="noStrike" kern="0" cap="none" spc="0" normalizeH="0" baseline="0" noProof="0" dirty="0">
                <a:ln>
                  <a:noFill/>
                </a:ln>
                <a:solidFill>
                  <a:srgbClr val="C00000"/>
                </a:solidFill>
                <a:effectLst/>
                <a:uLnTx/>
                <a:uFillTx/>
                <a:latin typeface="+mj-ea"/>
                <a:ea typeface="+mj-ea"/>
                <a:cs typeface="+mn-cs"/>
              </a:rPr>
              <a:t>数据的正确性：</a:t>
            </a: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指数</a:t>
            </a:r>
            <a:r>
              <a:rPr kumimoji="0" lang="zh-CN" altLang="en-US" sz="2400" b="1" i="0" u="none" strike="noStrike" kern="0" cap="none" spc="0" normalizeH="0" baseline="0" noProof="0" dirty="0" smtClean="0">
                <a:ln>
                  <a:noFill/>
                </a:ln>
                <a:solidFill>
                  <a:schemeClr val="tx1"/>
                </a:solidFill>
                <a:effectLst/>
                <a:uLnTx/>
                <a:uFillTx/>
                <a:latin typeface="楷体" panose="02010609060101010101" pitchFamily="1" charset="-122"/>
                <a:ea typeface="楷体" panose="02010609060101010101" pitchFamily="1" charset="-122"/>
                <a:cs typeface="+mn-cs"/>
              </a:rPr>
              <a:t>据</a:t>
            </a:r>
            <a:r>
              <a:rPr lang="zh-CN" altLang="en-US" sz="2400" kern="0" dirty="0">
                <a:latin typeface="楷体" panose="02010609060101010101" pitchFamily="1" charset="-122"/>
                <a:ea typeface="楷体" panose="02010609060101010101" pitchFamily="1" charset="-122"/>
                <a:cs typeface="+mn-cs"/>
              </a:rPr>
              <a:t>是</a:t>
            </a:r>
            <a:r>
              <a:rPr kumimoji="0" lang="zh-CN" altLang="en-US" sz="2400" b="1" i="0" u="none" strike="noStrike" kern="0" cap="none" spc="0" normalizeH="0" baseline="0" noProof="0" dirty="0" smtClean="0">
                <a:ln>
                  <a:noFill/>
                </a:ln>
                <a:solidFill>
                  <a:schemeClr val="tx1"/>
                </a:solidFill>
                <a:effectLst/>
                <a:uLnTx/>
                <a:uFillTx/>
                <a:latin typeface="楷体" panose="02010609060101010101" pitchFamily="1" charset="-122"/>
                <a:ea typeface="楷体" panose="02010609060101010101" pitchFamily="1" charset="-122"/>
                <a:cs typeface="+mn-cs"/>
              </a:rPr>
              <a:t>符合</a:t>
            </a: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现实世界的语义，反应了当前实际状态的</a:t>
            </a:r>
            <a:endPar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a:p>
            <a:pPr marL="342900" marR="0" lvl="0" indent="-342900" algn="l" defTabSz="914400" rtl="0" eaLnBrk="0" fontAlgn="base" latinLnBrk="0" hangingPunct="0">
              <a:lnSpc>
                <a:spcPct val="125000"/>
              </a:lnSpc>
              <a:spcBef>
                <a:spcPts val="200"/>
              </a:spcBef>
              <a:spcAft>
                <a:spcPts val="0"/>
              </a:spcAft>
              <a:buClr>
                <a:srgbClr val="0033CC"/>
              </a:buClr>
              <a:buSzPct val="80000"/>
              <a:buFont typeface="Wingdings" panose="05000000000000000000" pitchFamily="2" charset="2"/>
              <a:buChar char="u"/>
              <a:defRPr/>
            </a:pPr>
            <a:r>
              <a:rPr kumimoji="0" lang="zh-CN" altLang="en-US" sz="2400" b="1" i="0" u="none" strike="noStrike" kern="0" cap="none" spc="0" normalizeH="0" baseline="0" noProof="0" dirty="0">
                <a:ln>
                  <a:noFill/>
                </a:ln>
                <a:solidFill>
                  <a:srgbClr val="C00000"/>
                </a:solidFill>
                <a:effectLst/>
                <a:uLnTx/>
                <a:uFillTx/>
                <a:latin typeface="+mj-ea"/>
                <a:ea typeface="+mj-ea"/>
                <a:cs typeface="+mn-cs"/>
              </a:rPr>
              <a:t>数据的相容性：</a:t>
            </a: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指数据库同一对象在不同关系表中的数据是符合逻辑的</a:t>
            </a:r>
            <a:endParaRPr kumimoji="0" lang="en-US" altLang="zh-CN" sz="2400" b="1" i="0" u="none" strike="noStrike" kern="0" cap="none" spc="0" normalizeH="0" baseline="0" noProof="0" dirty="0">
              <a:ln>
                <a:noFill/>
              </a:ln>
              <a:solidFill>
                <a:schemeClr val="tx1"/>
              </a:solidFill>
              <a:effectLst/>
              <a:uLnTx/>
              <a:uFillTx/>
              <a:latin typeface="华文楷体" panose="02010600040101010101" pitchFamily="2" charset="-122"/>
              <a:ea typeface="+mn-ea"/>
              <a:cs typeface="+mn-cs"/>
            </a:endParaRPr>
          </a:p>
        </p:txBody>
      </p:sp>
      <p:sp>
        <p:nvSpPr>
          <p:cNvPr id="9" name="Rectangle 2"/>
          <p:cNvSpPr txBox="1">
            <a:spLocks noChangeArrowheads="1"/>
          </p:cNvSpPr>
          <p:nvPr/>
        </p:nvSpPr>
        <p:spPr>
          <a:xfrm>
            <a:off x="518795" y="4142740"/>
            <a:ext cx="7086600" cy="569595"/>
          </a:xfrm>
          <a:prstGeom prst="rect">
            <a:avLst/>
          </a:prstGeom>
        </p:spPr>
        <p:txBody>
          <a:bodyPr/>
          <a:lstStyle/>
          <a:p>
            <a:pPr marR="0" lvl="0" algn="l" defTabSz="914400" rtl="0" eaLnBrk="0" fontAlgn="base" latinLnBrk="0" hangingPunct="0">
              <a:lnSpc>
                <a:spcPct val="100000"/>
              </a:lnSpc>
              <a:spcBef>
                <a:spcPct val="0"/>
              </a:spcBef>
              <a:spcAft>
                <a:spcPct val="0"/>
              </a:spcAft>
              <a:buClrTx/>
              <a:buSzTx/>
              <a:buFont typeface="Wingdings" panose="05000000000000000000" charset="0"/>
              <a:buChar char="p"/>
              <a:defRPr/>
            </a:pPr>
            <a:r>
              <a:rPr kumimoji="1" lang="zh-CN" altLang="en-US" sz="28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数据完整性的目标</a:t>
            </a:r>
            <a:endParaRPr kumimoji="1" lang="zh-CN" altLang="en-US" sz="2800" b="1" i="0" u="none" strike="noStrike" kern="0" cap="none" spc="0" normalizeH="0" baseline="0" noProof="0" dirty="0">
              <a:ln>
                <a:noFill/>
              </a:ln>
              <a:solidFill>
                <a:srgbClr val="3333CC"/>
              </a:solidFill>
              <a:effectLst/>
              <a:uLnTx/>
              <a:uFillTx/>
              <a:latin typeface="宋体" panose="02010600030101010101" pitchFamily="2" charset="-122"/>
              <a:ea typeface="+mj-ea"/>
              <a:cs typeface="+mj-cs"/>
            </a:endParaRPr>
          </a:p>
        </p:txBody>
      </p:sp>
      <p:sp>
        <p:nvSpPr>
          <p:cNvPr id="10" name="文本框 9"/>
          <p:cNvSpPr txBox="1"/>
          <p:nvPr/>
        </p:nvSpPr>
        <p:spPr>
          <a:xfrm>
            <a:off x="603885" y="4712335"/>
            <a:ext cx="8155940" cy="1443990"/>
          </a:xfrm>
          <a:prstGeom prst="rect">
            <a:avLst/>
          </a:prstGeom>
          <a:noFill/>
        </p:spPr>
        <p:txBody>
          <a:bodyPr wrap="square" rtlCol="0" anchor="t">
            <a:spAutoFit/>
          </a:bodyPr>
          <a:lstStyle/>
          <a:p>
            <a:pPr marR="0" lvl="0" algn="l" defTabSz="914400" rtl="0" eaLnBrk="0" fontAlgn="base" latinLnBrk="0" hangingPunct="0">
              <a:lnSpc>
                <a:spcPct val="125000"/>
              </a:lnSpc>
              <a:spcBef>
                <a:spcPts val="200"/>
              </a:spcBef>
              <a:spcAft>
                <a:spcPts val="0"/>
              </a:spcAft>
              <a:buClr>
                <a:srgbClr val="0033CC"/>
              </a:buClr>
              <a:buSzPct val="80000"/>
              <a:buFont typeface="Wingdings" panose="05000000000000000000" charset="0"/>
              <a:buChar char="ü"/>
              <a:defRPr/>
            </a:pPr>
            <a:r>
              <a:rPr lang="zh-CN" altLang="en-US" sz="2300" kern="0" noProof="0" dirty="0">
                <a:ln>
                  <a:noFill/>
                </a:ln>
                <a:effectLst/>
                <a:uLnTx/>
                <a:uFillTx/>
                <a:latin typeface="楷体" panose="02010609060101010101" pitchFamily="1" charset="-122"/>
                <a:ea typeface="楷体" panose="02010609060101010101" pitchFamily="1" charset="-122"/>
                <a:cs typeface="+mn-cs"/>
                <a:sym typeface="+mn-ea"/>
              </a:rPr>
              <a:t>防止数据库中存在不符合语义的数据，也就是防止数据库中存在不正确的数据</a:t>
            </a:r>
            <a:endParaRPr lang="zh-CN" altLang="en-US" sz="2300" kern="0" noProof="0" dirty="0">
              <a:ln>
                <a:noFill/>
              </a:ln>
              <a:effectLst/>
              <a:uLnTx/>
              <a:uFillTx/>
              <a:latin typeface="楷体" panose="02010609060101010101" pitchFamily="1" charset="-122"/>
              <a:ea typeface="楷体" panose="02010609060101010101" pitchFamily="1" charset="-122"/>
              <a:cs typeface="+mn-cs"/>
              <a:sym typeface="+mn-ea"/>
            </a:endParaRPr>
          </a:p>
          <a:p>
            <a:pPr marR="0" lvl="0" algn="l" defTabSz="914400" rtl="0" eaLnBrk="0" fontAlgn="base" latinLnBrk="0" hangingPunct="0">
              <a:lnSpc>
                <a:spcPct val="125000"/>
              </a:lnSpc>
              <a:spcBef>
                <a:spcPts val="200"/>
              </a:spcBef>
              <a:spcAft>
                <a:spcPts val="0"/>
              </a:spcAft>
              <a:buClr>
                <a:srgbClr val="0033CC"/>
              </a:buClr>
              <a:buSzPct val="80000"/>
              <a:buFont typeface="Wingdings" panose="05000000000000000000" charset="0"/>
              <a:buChar char="ü"/>
              <a:defRPr/>
            </a:pPr>
            <a:r>
              <a:rPr lang="zh-CN" altLang="en-US" sz="2300" kern="0" noProof="0" dirty="0">
                <a:ln>
                  <a:noFill/>
                </a:ln>
                <a:effectLst/>
                <a:uLnTx/>
                <a:uFillTx/>
                <a:latin typeface="楷体" panose="02010609060101010101" pitchFamily="1" charset="-122"/>
                <a:ea typeface="楷体" panose="02010609060101010101" pitchFamily="1" charset="-122"/>
                <a:cs typeface="+mn-cs"/>
                <a:sym typeface="+mn-ea"/>
              </a:rPr>
              <a:t>防范对象：不合语义的、不正确的数据</a:t>
            </a:r>
            <a:endParaRPr lang="zh-CN" altLang="en-US" sz="2300" kern="0" noProof="0" dirty="0">
              <a:ln>
                <a:noFill/>
              </a:ln>
              <a:effectLst/>
              <a:uLnTx/>
              <a:uFillTx/>
              <a:latin typeface="楷体" panose="02010609060101010101" pitchFamily="1" charset="-122"/>
              <a:ea typeface="楷体" panose="02010609060101010101" pitchFamily="1" charset="-122"/>
              <a:cs typeface="+mn-cs"/>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26415" y="1502410"/>
            <a:ext cx="5249545" cy="589280"/>
          </a:xfrm>
          <a:prstGeom prst="rect">
            <a:avLst/>
          </a:prstGeom>
          <a:noFill/>
        </p:spPr>
        <p:txBody>
          <a:bodyPr wrap="none" rtlCol="0" anchor="t">
            <a:spAutoFit/>
          </a:bodyPr>
          <a:lstStyle/>
          <a:p>
            <a:pPr>
              <a:buNone/>
            </a:pPr>
            <a:r>
              <a:rPr lang="zh-CN" altLang="en-US" sz="2400">
                <a:solidFill>
                  <a:srgbClr val="0033CC"/>
                </a:solidFill>
              </a:rPr>
              <a:t>（</a:t>
            </a:r>
            <a:r>
              <a:rPr lang="en-US" altLang="zh-CN" sz="2400">
                <a:solidFill>
                  <a:srgbClr val="0033CC"/>
                </a:solidFill>
              </a:rPr>
              <a:t>1</a:t>
            </a:r>
            <a:r>
              <a:rPr lang="zh-CN" altLang="en-US" sz="2400">
                <a:solidFill>
                  <a:srgbClr val="0033CC"/>
                </a:solidFill>
              </a:rPr>
              <a:t>）提供定义完整性约束条件的机制</a:t>
            </a:r>
            <a:endParaRPr lang="zh-CN" altLang="en-US" sz="2400">
              <a:solidFill>
                <a:srgbClr val="0033CC"/>
              </a:solidFill>
            </a:endParaRPr>
          </a:p>
        </p:txBody>
      </p:sp>
      <p:sp>
        <p:nvSpPr>
          <p:cNvPr id="5" name="Rectangle 3"/>
          <p:cNvSpPr txBox="1">
            <a:spLocks noChangeArrowheads="1"/>
          </p:cNvSpPr>
          <p:nvPr/>
        </p:nvSpPr>
        <p:spPr>
          <a:xfrm>
            <a:off x="633095" y="2091690"/>
            <a:ext cx="8046720" cy="1289050"/>
          </a:xfrm>
          <a:prstGeom prst="rect">
            <a:avLst/>
          </a:prstGeom>
          <a:ln>
            <a:solidFill>
              <a:schemeClr val="accent1"/>
            </a:solidFill>
          </a:ln>
        </p:spPr>
        <p:txBody>
          <a:bodyPr/>
          <a:lstStyle/>
          <a:p>
            <a:pPr marL="342900" marR="0" lvl="0" indent="-342900" algn="l" defTabSz="914400" rtl="0" eaLnBrk="0" fontAlgn="base" latinLnBrk="0" hangingPunct="0">
              <a:lnSpc>
                <a:spcPct val="100000"/>
              </a:lnSpc>
              <a:spcBef>
                <a:spcPts val="200"/>
              </a:spcBef>
              <a:spcAft>
                <a:spcPts val="0"/>
              </a:spcAft>
              <a:buClr>
                <a:srgbClr val="0033CC"/>
              </a:buClr>
              <a:buSzPct val="80000"/>
              <a:buFont typeface="Wingdings" panose="05000000000000000000" pitchFamily="2" charset="2"/>
              <a:buChar char="u"/>
              <a:defRPr/>
            </a:pP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完整性约束条件也称为完整性约束规则，</a:t>
            </a:r>
            <a:r>
              <a:rPr kumimoji="0" lang="en-US" altLang="zh-CN"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SQL</a:t>
            </a: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标准使用了一系列概念来描述完整性，包括试题完整性、参照完整性和用户自定义完整性，</a:t>
            </a:r>
            <a:r>
              <a:rPr kumimoji="0" lang="zh-CN" altLang="en-US" sz="2400" b="1" i="0" u="none" strike="noStrike" kern="0" cap="none" spc="0" normalizeH="0" baseline="0" noProof="0" dirty="0">
                <a:ln>
                  <a:noFill/>
                </a:ln>
                <a:solidFill>
                  <a:srgbClr val="C00000"/>
                </a:solidFill>
                <a:effectLst/>
                <a:uLnTx/>
                <a:uFillTx/>
                <a:latin typeface="楷体" panose="02010609060101010101" pitchFamily="1" charset="-122"/>
                <a:ea typeface="楷体" panose="02010609060101010101" pitchFamily="1" charset="-122"/>
                <a:cs typeface="+mn-cs"/>
              </a:rPr>
              <a:t>通过</a:t>
            </a:r>
            <a:r>
              <a:rPr kumimoji="0" lang="en-US" altLang="zh-CN" sz="2400" b="1" i="0" u="none" strike="noStrike" kern="0" cap="none" spc="0" normalizeH="0" baseline="0" noProof="0" dirty="0">
                <a:ln>
                  <a:noFill/>
                </a:ln>
                <a:solidFill>
                  <a:srgbClr val="C00000"/>
                </a:solidFill>
                <a:effectLst/>
                <a:uLnTx/>
                <a:uFillTx/>
                <a:latin typeface="楷体" panose="02010609060101010101" pitchFamily="1" charset="-122"/>
                <a:ea typeface="楷体" panose="02010609060101010101" pitchFamily="1" charset="-122"/>
                <a:cs typeface="+mn-cs"/>
              </a:rPr>
              <a:t>DDL</a:t>
            </a:r>
            <a:r>
              <a:rPr kumimoji="0" lang="zh-CN" altLang="en-US" sz="2400" b="1" i="0" u="none" strike="noStrike" kern="0" cap="none" spc="0" normalizeH="0" baseline="0" noProof="0" dirty="0">
                <a:ln>
                  <a:noFill/>
                </a:ln>
                <a:solidFill>
                  <a:srgbClr val="C00000"/>
                </a:solidFill>
                <a:effectLst/>
                <a:uLnTx/>
                <a:uFillTx/>
                <a:latin typeface="楷体" panose="02010609060101010101" pitchFamily="1" charset="-122"/>
                <a:ea typeface="楷体" panose="02010609060101010101" pitchFamily="1" charset="-122"/>
                <a:cs typeface="+mn-cs"/>
              </a:rPr>
              <a:t>定义</a:t>
            </a:r>
            <a:endParaRPr kumimoji="0" lang="zh-CN" altLang="en-US" sz="2400" b="1" i="0" u="none" strike="noStrike" kern="0" cap="none" spc="0" normalizeH="0" baseline="0" noProof="0" dirty="0">
              <a:ln>
                <a:noFill/>
              </a:ln>
              <a:solidFill>
                <a:srgbClr val="C00000"/>
              </a:solidFill>
              <a:effectLst/>
              <a:uLnTx/>
              <a:uFillTx/>
              <a:latin typeface="楷体" panose="02010609060101010101" pitchFamily="1" charset="-122"/>
              <a:ea typeface="楷体" panose="02010609060101010101" pitchFamily="1" charset="-122"/>
              <a:cs typeface="+mn-cs"/>
            </a:endParaRPr>
          </a:p>
        </p:txBody>
      </p:sp>
      <p:sp>
        <p:nvSpPr>
          <p:cNvPr id="6" name="文本框 5"/>
          <p:cNvSpPr txBox="1"/>
          <p:nvPr/>
        </p:nvSpPr>
        <p:spPr>
          <a:xfrm>
            <a:off x="526415" y="3345180"/>
            <a:ext cx="3719195" cy="589280"/>
          </a:xfrm>
          <a:prstGeom prst="rect">
            <a:avLst/>
          </a:prstGeom>
          <a:noFill/>
        </p:spPr>
        <p:txBody>
          <a:bodyPr wrap="none" rtlCol="0" anchor="t">
            <a:spAutoFit/>
          </a:bodyPr>
          <a:lstStyle/>
          <a:p>
            <a:pPr>
              <a:buNone/>
            </a:pPr>
            <a:r>
              <a:rPr lang="zh-CN" altLang="en-US" sz="2400">
                <a:solidFill>
                  <a:srgbClr val="0033CC"/>
                </a:solidFill>
              </a:rPr>
              <a:t>（</a:t>
            </a:r>
            <a:r>
              <a:rPr lang="en-US" altLang="zh-CN" sz="2400">
                <a:solidFill>
                  <a:srgbClr val="0033CC"/>
                </a:solidFill>
              </a:rPr>
              <a:t>2</a:t>
            </a:r>
            <a:r>
              <a:rPr lang="zh-CN" altLang="en-US" sz="2400">
                <a:solidFill>
                  <a:srgbClr val="0033CC"/>
                </a:solidFill>
              </a:rPr>
              <a:t>）提供完整性检查方法</a:t>
            </a:r>
            <a:endParaRPr lang="zh-CN" altLang="en-US" sz="2400">
              <a:solidFill>
                <a:srgbClr val="0033CC"/>
              </a:solidFill>
            </a:endParaRPr>
          </a:p>
        </p:txBody>
      </p:sp>
      <p:sp>
        <p:nvSpPr>
          <p:cNvPr id="7" name="Rectangle 3"/>
          <p:cNvSpPr txBox="1">
            <a:spLocks noChangeArrowheads="1"/>
          </p:cNvSpPr>
          <p:nvPr/>
        </p:nvSpPr>
        <p:spPr>
          <a:xfrm>
            <a:off x="638175" y="3918585"/>
            <a:ext cx="8046720" cy="834390"/>
          </a:xfrm>
          <a:prstGeom prst="rect">
            <a:avLst/>
          </a:prstGeom>
          <a:ln>
            <a:solidFill>
              <a:schemeClr val="accent1"/>
            </a:solidFill>
          </a:ln>
        </p:spPr>
        <p:txBody>
          <a:bodyPr/>
          <a:lstStyle/>
          <a:p>
            <a:pPr marL="342900" marR="0" lvl="0" indent="-342900" algn="l" defTabSz="914400" rtl="0" eaLnBrk="0" fontAlgn="base" latinLnBrk="0" hangingPunct="0">
              <a:lnSpc>
                <a:spcPct val="100000"/>
              </a:lnSpc>
              <a:spcBef>
                <a:spcPts val="200"/>
              </a:spcBef>
              <a:spcAft>
                <a:spcPts val="0"/>
              </a:spcAft>
              <a:buClr>
                <a:srgbClr val="0033CC"/>
              </a:buClr>
              <a:buSzPct val="80000"/>
              <a:buFont typeface="Wingdings" panose="05000000000000000000" pitchFamily="2" charset="2"/>
              <a:buChar char="u"/>
              <a:defRPr/>
            </a:pPr>
            <a:r>
              <a:rPr kumimoji="0" lang="en-US" altLang="zh-CN"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RDBMS</a:t>
            </a: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一般在</a:t>
            </a:r>
            <a:r>
              <a:rPr kumimoji="0" lang="en-US" altLang="zh-CN"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INSERT</a:t>
            </a: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a:t>
            </a:r>
            <a:r>
              <a:rPr kumimoji="0" lang="en-US" altLang="zh-CN"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UPDATE</a:t>
            </a: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a:t>
            </a:r>
            <a:r>
              <a:rPr kumimoji="0" lang="en-US" altLang="zh-CN"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DELETE</a:t>
            </a: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语句执行后开始检查，也可以在事务提交时检查</a:t>
            </a:r>
            <a:endPar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p:txBody>
      </p:sp>
      <p:sp>
        <p:nvSpPr>
          <p:cNvPr id="9" name="文本框 8"/>
          <p:cNvSpPr txBox="1"/>
          <p:nvPr/>
        </p:nvSpPr>
        <p:spPr>
          <a:xfrm>
            <a:off x="526415" y="4777740"/>
            <a:ext cx="2188845" cy="589280"/>
          </a:xfrm>
          <a:prstGeom prst="rect">
            <a:avLst/>
          </a:prstGeom>
          <a:noFill/>
        </p:spPr>
        <p:txBody>
          <a:bodyPr wrap="none" rtlCol="0" anchor="t">
            <a:spAutoFit/>
          </a:bodyPr>
          <a:lstStyle/>
          <a:p>
            <a:pPr>
              <a:buNone/>
            </a:pPr>
            <a:r>
              <a:rPr lang="zh-CN" altLang="en-US" sz="2400">
                <a:solidFill>
                  <a:srgbClr val="0033CC"/>
                </a:solidFill>
              </a:rPr>
              <a:t>（</a:t>
            </a:r>
            <a:r>
              <a:rPr lang="en-US" altLang="zh-CN" sz="2400">
                <a:solidFill>
                  <a:srgbClr val="0033CC"/>
                </a:solidFill>
              </a:rPr>
              <a:t>3</a:t>
            </a:r>
            <a:r>
              <a:rPr lang="zh-CN" altLang="en-US" sz="2400">
                <a:solidFill>
                  <a:srgbClr val="0033CC"/>
                </a:solidFill>
              </a:rPr>
              <a:t>）违约处理</a:t>
            </a:r>
            <a:endParaRPr lang="zh-CN" altLang="en-US" sz="2400">
              <a:solidFill>
                <a:srgbClr val="0033CC"/>
              </a:solidFill>
            </a:endParaRPr>
          </a:p>
        </p:txBody>
      </p:sp>
      <p:sp>
        <p:nvSpPr>
          <p:cNvPr id="10" name="Rectangle 3"/>
          <p:cNvSpPr txBox="1">
            <a:spLocks noChangeArrowheads="1"/>
          </p:cNvSpPr>
          <p:nvPr/>
        </p:nvSpPr>
        <p:spPr>
          <a:xfrm>
            <a:off x="638175" y="5217795"/>
            <a:ext cx="8046720" cy="834390"/>
          </a:xfrm>
          <a:prstGeom prst="rect">
            <a:avLst/>
          </a:prstGeom>
          <a:ln>
            <a:solidFill>
              <a:schemeClr val="accent1"/>
            </a:solidFill>
          </a:ln>
        </p:spPr>
        <p:txBody>
          <a:bodyPr lIns="36195" rIns="36195"/>
          <a:lstStyle/>
          <a:p>
            <a:pPr marL="342900" marR="0" lvl="0" indent="-342900" algn="l" defTabSz="914400" rtl="0" eaLnBrk="0" fontAlgn="base" latinLnBrk="0" hangingPunct="0">
              <a:lnSpc>
                <a:spcPct val="100000"/>
              </a:lnSpc>
              <a:spcBef>
                <a:spcPts val="200"/>
              </a:spcBef>
              <a:spcAft>
                <a:spcPts val="0"/>
              </a:spcAft>
              <a:buClr>
                <a:srgbClr val="0033CC"/>
              </a:buClr>
              <a:buSzPct val="80000"/>
              <a:buFont typeface="Wingdings" panose="05000000000000000000" pitchFamily="2" charset="2"/>
              <a:buChar char="u"/>
              <a:defRPr/>
            </a:pPr>
            <a:r>
              <a:rPr kumimoji="0" lang="en-US" altLang="zh-CN"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RDBMS</a:t>
            </a: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发现用户操作违背了完整性约束条件时采取处理：</a:t>
            </a:r>
            <a:endPar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a:p>
            <a:pPr marR="0" lvl="0" algn="l" defTabSz="914400" rtl="0" eaLnBrk="0" fontAlgn="base" latinLnBrk="0" hangingPunct="0">
              <a:lnSpc>
                <a:spcPct val="100000"/>
              </a:lnSpc>
              <a:spcBef>
                <a:spcPts val="200"/>
              </a:spcBef>
              <a:spcAft>
                <a:spcPts val="0"/>
              </a:spcAft>
              <a:buClr>
                <a:srgbClr val="0033CC"/>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rgbClr val="C00000"/>
                </a:solidFill>
                <a:effectLst/>
                <a:uLnTx/>
                <a:uFillTx/>
                <a:latin typeface="Calibri" panose="020F0502020204030204" pitchFamily="34" charset="0"/>
                <a:ea typeface="楷体" panose="02010609060101010101" pitchFamily="1" charset="-122"/>
                <a:cs typeface="+mn-cs"/>
              </a:rPr>
              <a:t>①</a:t>
            </a:r>
            <a:r>
              <a:rPr kumimoji="0" lang="zh-CN" altLang="en-US" sz="2200" b="1" i="0" u="none" strike="noStrike" kern="0" cap="none" spc="0" normalizeH="0" baseline="0" noProof="0" dirty="0">
                <a:ln>
                  <a:noFill/>
                </a:ln>
                <a:solidFill>
                  <a:srgbClr val="C00000"/>
                </a:solidFill>
                <a:effectLst/>
                <a:uLnTx/>
                <a:uFillTx/>
                <a:latin typeface="楷体" panose="02010609060101010101" pitchFamily="1" charset="-122"/>
                <a:ea typeface="楷体" panose="02010609060101010101" pitchFamily="1" charset="-122"/>
                <a:cs typeface="+mn-cs"/>
              </a:rPr>
              <a:t>拒绝</a:t>
            </a:r>
            <a:r>
              <a:rPr kumimoji="0" lang="en-US" altLang="zh-CN" sz="2200" b="1" i="0" u="none" strike="noStrike" kern="0" cap="none" spc="0" normalizeH="0" baseline="0" noProof="0" dirty="0">
                <a:ln>
                  <a:noFill/>
                </a:ln>
                <a:solidFill>
                  <a:srgbClr val="C00000"/>
                </a:solidFill>
                <a:effectLst/>
                <a:uLnTx/>
                <a:uFillTx/>
                <a:latin typeface="楷体" panose="02010609060101010101" pitchFamily="1" charset="-122"/>
                <a:ea typeface="楷体" panose="02010609060101010101" pitchFamily="1" charset="-122"/>
                <a:cs typeface="+mn-cs"/>
              </a:rPr>
              <a:t>(NO ACTION)</a:t>
            </a:r>
            <a:r>
              <a:rPr kumimoji="0" lang="zh-CN" altLang="en-US" sz="2200" b="1" i="0" u="none" strike="noStrike" kern="0" cap="none" spc="0" normalizeH="0" baseline="0" noProof="0" dirty="0">
                <a:ln>
                  <a:noFill/>
                </a:ln>
                <a:solidFill>
                  <a:srgbClr val="C00000"/>
                </a:solidFill>
                <a:effectLst/>
                <a:uLnTx/>
                <a:uFillTx/>
                <a:latin typeface="楷体" panose="02010609060101010101" pitchFamily="1" charset="-122"/>
                <a:ea typeface="楷体" panose="02010609060101010101" pitchFamily="1" charset="-122"/>
                <a:cs typeface="+mn-cs"/>
              </a:rPr>
              <a:t>执行该操作；</a:t>
            </a:r>
            <a:r>
              <a:rPr kumimoji="0" lang="zh-CN" altLang="en-US" sz="2200" b="1" i="0" u="none" strike="noStrike" kern="0" cap="none" spc="0" normalizeH="0" baseline="0" noProof="0" dirty="0">
                <a:ln>
                  <a:noFill/>
                </a:ln>
                <a:solidFill>
                  <a:srgbClr val="C00000"/>
                </a:solidFill>
                <a:effectLst/>
                <a:uLnTx/>
                <a:uFillTx/>
                <a:latin typeface="Calibri" panose="020F0502020204030204" pitchFamily="34" charset="0"/>
                <a:ea typeface="楷体" panose="02010609060101010101" pitchFamily="1" charset="-122"/>
                <a:cs typeface="+mn-cs"/>
              </a:rPr>
              <a:t>②</a:t>
            </a:r>
            <a:r>
              <a:rPr kumimoji="0" lang="zh-CN" altLang="en-US" sz="2200" b="1" i="0" u="none" strike="noStrike" kern="0" cap="none" spc="0" normalizeH="0" baseline="0" noProof="0" dirty="0">
                <a:ln>
                  <a:noFill/>
                </a:ln>
                <a:solidFill>
                  <a:srgbClr val="C00000"/>
                </a:solidFill>
                <a:effectLst/>
                <a:uLnTx/>
                <a:uFillTx/>
                <a:latin typeface="楷体" panose="02010609060101010101" pitchFamily="1" charset="-122"/>
                <a:ea typeface="楷体" panose="02010609060101010101" pitchFamily="1" charset="-122"/>
                <a:cs typeface="+mn-cs"/>
              </a:rPr>
              <a:t>级联</a:t>
            </a:r>
            <a:r>
              <a:rPr kumimoji="0" lang="en-US" altLang="zh-CN" sz="2200" b="1" i="0" u="none" strike="noStrike" kern="0" cap="none" spc="0" normalizeH="0" baseline="0" noProof="0" dirty="0">
                <a:ln>
                  <a:noFill/>
                </a:ln>
                <a:solidFill>
                  <a:srgbClr val="C00000"/>
                </a:solidFill>
                <a:effectLst/>
                <a:uLnTx/>
                <a:uFillTx/>
                <a:latin typeface="楷体" panose="02010609060101010101" pitchFamily="1" charset="-122"/>
                <a:ea typeface="楷体" panose="02010609060101010101" pitchFamily="1" charset="-122"/>
                <a:cs typeface="+mn-cs"/>
              </a:rPr>
              <a:t>(CASCADE)</a:t>
            </a:r>
            <a:r>
              <a:rPr kumimoji="0" lang="zh-CN" altLang="en-US" sz="2200" b="1" i="0" u="none" strike="noStrike" kern="0" cap="none" spc="0" normalizeH="0" baseline="0" noProof="0" dirty="0">
                <a:ln>
                  <a:noFill/>
                </a:ln>
                <a:solidFill>
                  <a:srgbClr val="C00000"/>
                </a:solidFill>
                <a:effectLst/>
                <a:uLnTx/>
                <a:uFillTx/>
                <a:latin typeface="楷体" panose="02010609060101010101" pitchFamily="1" charset="-122"/>
                <a:ea typeface="楷体" panose="02010609060101010101" pitchFamily="1" charset="-122"/>
                <a:cs typeface="+mn-cs"/>
              </a:rPr>
              <a:t>执行其它操作</a:t>
            </a:r>
            <a:endParaRPr kumimoji="0" lang="zh-CN" altLang="en-US" sz="2200" b="1" i="0" u="none" strike="noStrike" kern="0" cap="none" spc="0" normalizeH="0" baseline="0" noProof="0" dirty="0">
              <a:ln>
                <a:noFill/>
              </a:ln>
              <a:solidFill>
                <a:srgbClr val="C00000"/>
              </a:solidFill>
              <a:effectLst/>
              <a:uLnTx/>
              <a:uFillTx/>
              <a:latin typeface="楷体" panose="02010609060101010101" pitchFamily="1" charset="-122"/>
              <a:ea typeface="楷体" panose="02010609060101010101" pitchFamily="1" charset="-122"/>
              <a:cs typeface="+mn-cs"/>
            </a:endParaRPr>
          </a:p>
        </p:txBody>
      </p:sp>
      <p:sp>
        <p:nvSpPr>
          <p:cNvPr id="36866" name="Rectangle 2"/>
          <p:cNvSpPr txBox="1"/>
          <p:nvPr/>
        </p:nvSpPr>
        <p:spPr>
          <a:xfrm>
            <a:off x="536575" y="755650"/>
            <a:ext cx="5689600" cy="576263"/>
          </a:xfrm>
          <a:prstGeom prst="rect">
            <a:avLst/>
          </a:prstGeom>
          <a:noFill/>
          <a:ln w="9525">
            <a:noFill/>
          </a:ln>
        </p:spPr>
        <p:txBody>
          <a:bodyPr anchor="t"/>
          <a:lstStyle/>
          <a:p>
            <a:pPr marL="457200" lvl="0" indent="-457200" defTabSz="0">
              <a:lnSpc>
                <a:spcPct val="135000"/>
              </a:lnSpc>
              <a:tabLst>
                <a:tab pos="1428750" algn="l"/>
              </a:tabLst>
            </a:pPr>
            <a:r>
              <a:rPr lang="en-US" altLang="x-none" sz="2800" dirty="0">
                <a:solidFill>
                  <a:srgbClr val="0033CC"/>
                </a:solidFill>
                <a:latin typeface="黑体" panose="02010609060101010101" pitchFamily="1" charset="-122"/>
                <a:ea typeface="黑体" panose="02010609060101010101" pitchFamily="1" charset="-122"/>
              </a:rPr>
              <a:t>2.</a:t>
            </a:r>
            <a:r>
              <a:rPr lang="en-US" altLang="x-none" sz="2800" dirty="0">
                <a:solidFill>
                  <a:srgbClr val="CC3300"/>
                </a:solidFill>
                <a:latin typeface="Times New Roman" panose="02020603050405020304" pitchFamily="2" charset="0"/>
                <a:ea typeface="宋体" panose="02010600030101010101" pitchFamily="2" charset="-122"/>
              </a:rPr>
              <a:t> </a:t>
            </a:r>
            <a:r>
              <a:rPr lang="en-US" altLang="zh-CN" sz="2800" dirty="0">
                <a:solidFill>
                  <a:srgbClr val="0033CC"/>
                </a:solidFill>
                <a:latin typeface="黑体" panose="02010609060101010101" pitchFamily="1" charset="-122"/>
                <a:ea typeface="黑体" panose="02010609060101010101" pitchFamily="1" charset="-122"/>
              </a:rPr>
              <a:t>RBDMS</a:t>
            </a:r>
            <a:r>
              <a:rPr lang="zh-CN" altLang="en-US" sz="2800" dirty="0">
                <a:solidFill>
                  <a:srgbClr val="0033CC"/>
                </a:solidFill>
                <a:latin typeface="黑体" panose="02010609060101010101" pitchFamily="1" charset="-122"/>
                <a:ea typeface="黑体" panose="02010609060101010101" pitchFamily="1" charset="-122"/>
              </a:rPr>
              <a:t>对数据完整性的支持</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36865" name="Rectangle 2"/>
          <p:cNvSpPr/>
          <p:nvPr/>
        </p:nvSpPr>
        <p:spPr>
          <a:xfrm>
            <a:off x="457200" y="68263"/>
            <a:ext cx="8229600" cy="692150"/>
          </a:xfrm>
          <a:prstGeom prst="rect">
            <a:avLst/>
          </a:prstGeom>
          <a:noFill/>
          <a:ln w="9525">
            <a:noFill/>
          </a:ln>
        </p:spPr>
        <p:txBody>
          <a:bodyPr anchor="ctr"/>
          <a:lstStyle/>
          <a:p>
            <a:pPr lvl="0" indent="0"/>
            <a:r>
              <a:rPr lang="zh-CN" altLang="en-US" sz="3200" dirty="0">
                <a:solidFill>
                  <a:srgbClr val="FF0000"/>
                </a:solidFill>
                <a:latin typeface="Arial" panose="020B0604020202020204" pitchFamily="34" charset="0"/>
                <a:ea typeface="黑体" panose="02010609060101010101" pitchFamily="1" charset="-122"/>
              </a:rPr>
              <a:t>三、数据库的完整性</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3"/>
          <p:cNvSpPr txBox="1"/>
          <p:nvPr/>
        </p:nvSpPr>
        <p:spPr>
          <a:xfrm>
            <a:off x="536258" y="1456373"/>
            <a:ext cx="8497887" cy="4906962"/>
          </a:xfrm>
          <a:prstGeom prst="rect">
            <a:avLst/>
          </a:prstGeom>
          <a:noFill/>
          <a:ln w="9525">
            <a:noFill/>
          </a:ln>
        </p:spPr>
        <p:txBody>
          <a:bodyPr anchor="t"/>
          <a:lstStyle/>
          <a:p>
            <a:pPr marL="342900" lvl="0" indent="-342900" eaLnBrk="0" hangingPunct="0">
              <a:lnSpc>
                <a:spcPct val="120000"/>
              </a:lnSpc>
              <a:spcBef>
                <a:spcPct val="20000"/>
              </a:spcBef>
              <a:buClr>
                <a:srgbClr val="0033CC"/>
              </a:buClr>
              <a:buSzPct val="80000"/>
            </a:pPr>
            <a:r>
              <a:rPr lang="zh-CN" altLang="en-US" sz="2400" dirty="0">
                <a:latin typeface="华文楷体" panose="02010600040101010101" pitchFamily="2" charset="-122"/>
                <a:ea typeface="宋体" panose="02010600030101010101" pitchFamily="2" charset="-122"/>
              </a:rPr>
              <a:t>                                                  隐式约束</a:t>
            </a:r>
            <a:endParaRPr lang="zh-CN" altLang="en-US" sz="2400" dirty="0">
              <a:latin typeface="华文楷体" panose="02010600040101010101" pitchFamily="2" charset="-122"/>
              <a:ea typeface="宋体" panose="02010600030101010101" pitchFamily="2" charset="-122"/>
            </a:endParaRPr>
          </a:p>
          <a:p>
            <a:pPr marL="342900" lvl="0" indent="-342900" eaLnBrk="0" hangingPunct="0">
              <a:lnSpc>
                <a:spcPct val="120000"/>
              </a:lnSpc>
              <a:spcBef>
                <a:spcPct val="20000"/>
              </a:spcBef>
              <a:buClr>
                <a:srgbClr val="0033CC"/>
              </a:buClr>
              <a:buSzPct val="80000"/>
            </a:pPr>
            <a:r>
              <a:rPr lang="zh-CN" altLang="en-US" sz="2000" dirty="0">
                <a:latin typeface="华文楷体" panose="02010600040101010101" pitchFamily="2" charset="-122"/>
                <a:ea typeface="宋体" panose="02010600030101010101" pitchFamily="2" charset="-122"/>
              </a:rPr>
              <a:t>                  </a:t>
            </a:r>
            <a:r>
              <a:rPr lang="en-US" altLang="x-none" sz="2000" dirty="0">
                <a:latin typeface="华文楷体" panose="02010600040101010101" pitchFamily="2" charset="-122"/>
                <a:ea typeface="宋体" panose="02010600030101010101" pitchFamily="2" charset="-122"/>
              </a:rPr>
              <a:t>   </a:t>
            </a:r>
            <a:r>
              <a:rPr lang="zh-CN" altLang="en-US" sz="2400" dirty="0">
                <a:latin typeface="华文楷体" panose="02010600040101010101" pitchFamily="2" charset="-122"/>
                <a:ea typeface="宋体" panose="02010600030101010101" pitchFamily="2" charset="-122"/>
              </a:rPr>
              <a:t>静态完整性约束    固有约束</a:t>
            </a:r>
            <a:endParaRPr lang="zh-CN" altLang="en-US" sz="2400" dirty="0">
              <a:latin typeface="华文楷体" panose="02010600040101010101" pitchFamily="2" charset="-122"/>
              <a:ea typeface="宋体" panose="02010600030101010101" pitchFamily="2" charset="-122"/>
            </a:endParaRPr>
          </a:p>
          <a:p>
            <a:pPr marL="342900" lvl="0" indent="-342900" eaLnBrk="0" hangingPunct="0">
              <a:lnSpc>
                <a:spcPct val="120000"/>
              </a:lnSpc>
              <a:spcBef>
                <a:spcPct val="20000"/>
              </a:spcBef>
              <a:buClr>
                <a:srgbClr val="0033CC"/>
              </a:buClr>
              <a:buSzPct val="80000"/>
            </a:pPr>
            <a:r>
              <a:rPr lang="zh-CN" altLang="en-US" sz="2400" dirty="0">
                <a:latin typeface="华文楷体" panose="02010600040101010101" pitchFamily="2" charset="-122"/>
                <a:ea typeface="宋体" panose="02010600030101010101" pitchFamily="2" charset="-122"/>
              </a:rPr>
              <a:t>数据库                                      显式约束</a:t>
            </a:r>
            <a:endParaRPr lang="zh-CN" altLang="en-US" sz="2400" dirty="0">
              <a:latin typeface="华文楷体" panose="02010600040101010101" pitchFamily="2" charset="-122"/>
              <a:ea typeface="宋体" panose="02010600030101010101" pitchFamily="2" charset="-122"/>
            </a:endParaRPr>
          </a:p>
          <a:p>
            <a:pPr marL="342900" lvl="0" indent="-342900" eaLnBrk="0" hangingPunct="0">
              <a:lnSpc>
                <a:spcPct val="120000"/>
              </a:lnSpc>
              <a:spcBef>
                <a:spcPct val="20000"/>
              </a:spcBef>
              <a:buClr>
                <a:srgbClr val="0033CC"/>
              </a:buClr>
              <a:buSzPct val="80000"/>
            </a:pPr>
            <a:r>
              <a:rPr lang="zh-CN" altLang="en-US" sz="2400" dirty="0">
                <a:latin typeface="华文楷体" panose="02010600040101010101" pitchFamily="2" charset="-122"/>
                <a:ea typeface="宋体" panose="02010600030101010101" pitchFamily="2" charset="-122"/>
              </a:rPr>
              <a:t>完整性</a:t>
            </a:r>
            <a:endParaRPr lang="zh-CN" altLang="en-US" sz="2400" dirty="0">
              <a:latin typeface="华文楷体" panose="02010600040101010101" pitchFamily="2" charset="-122"/>
              <a:ea typeface="宋体" panose="02010600030101010101" pitchFamily="2" charset="-122"/>
            </a:endParaRPr>
          </a:p>
          <a:p>
            <a:pPr marL="342900" lvl="0" indent="-342900" eaLnBrk="0" hangingPunct="0">
              <a:lnSpc>
                <a:spcPct val="120000"/>
              </a:lnSpc>
              <a:spcBef>
                <a:spcPct val="20000"/>
              </a:spcBef>
              <a:buClr>
                <a:srgbClr val="0033CC"/>
              </a:buClr>
              <a:buSzPct val="80000"/>
            </a:pPr>
            <a:r>
              <a:rPr lang="zh-CN" altLang="en-US" sz="2400" dirty="0">
                <a:latin typeface="华文楷体" panose="02010600040101010101" pitchFamily="2" charset="-122"/>
                <a:ea typeface="宋体" panose="02010600030101010101" pitchFamily="2" charset="-122"/>
              </a:rPr>
              <a:t>                  动态完整性约束 （变迁约束）</a:t>
            </a:r>
            <a:endParaRPr lang="zh-CN" altLang="en-US" sz="2400" dirty="0">
              <a:latin typeface="华文楷体" panose="02010600040101010101" pitchFamily="2" charset="-122"/>
              <a:ea typeface="宋体" panose="02010600030101010101" pitchFamily="2" charset="-122"/>
            </a:endParaRPr>
          </a:p>
          <a:p>
            <a:pPr marL="342900" lvl="0" indent="-342900" eaLnBrk="0" hangingPunct="0">
              <a:lnSpc>
                <a:spcPct val="80000"/>
              </a:lnSpc>
              <a:spcBef>
                <a:spcPts val="0"/>
              </a:spcBef>
              <a:spcAft>
                <a:spcPts val="0"/>
              </a:spcAft>
              <a:buClr>
                <a:srgbClr val="0033CC"/>
              </a:buClr>
              <a:buSzPct val="80000"/>
            </a:pPr>
            <a:endParaRPr lang="zh-CN" altLang="en-US" sz="2400" dirty="0">
              <a:latin typeface="华文楷体" panose="02010600040101010101" pitchFamily="2" charset="-122"/>
              <a:ea typeface="宋体" panose="02010600030101010101" pitchFamily="2" charset="-122"/>
            </a:endParaRPr>
          </a:p>
          <a:p>
            <a:pPr marL="342900" lvl="0" indent="-342900" eaLnBrk="0" hangingPunct="0">
              <a:lnSpc>
                <a:spcPct val="120000"/>
              </a:lnSpc>
              <a:spcBef>
                <a:spcPct val="20000"/>
              </a:spcBef>
              <a:buClr>
                <a:srgbClr val="0033CC"/>
              </a:buClr>
              <a:buSzPct val="80000"/>
            </a:pPr>
            <a:r>
              <a:rPr lang="zh-CN" altLang="en-US" sz="2400" dirty="0">
                <a:latin typeface="华文楷体" panose="02010600040101010101" pitchFamily="2" charset="-122"/>
                <a:ea typeface="宋体" panose="02010600030101010101" pitchFamily="2" charset="-122"/>
              </a:rPr>
              <a:t>动态完整性约束 （变迁约束）</a:t>
            </a:r>
            <a:endParaRPr lang="zh-CN" altLang="en-US" sz="2400" dirty="0">
              <a:latin typeface="华文楷体" panose="02010600040101010101" pitchFamily="2" charset="-122"/>
              <a:ea typeface="宋体" panose="02010600030101010101" pitchFamily="2" charset="-122"/>
            </a:endParaRPr>
          </a:p>
          <a:p>
            <a:pPr marL="342900" lvl="0" indent="-342900" eaLnBrk="0" hangingPunct="0">
              <a:lnSpc>
                <a:spcPct val="120000"/>
              </a:lnSpc>
              <a:spcBef>
                <a:spcPct val="200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概念：数据库从一个状态向另一状态变化的过程约束。</a:t>
            </a:r>
            <a:endParaRPr lang="zh-CN" altLang="en-US" sz="2400" dirty="0">
              <a:latin typeface="华文楷体" panose="02010600040101010101" pitchFamily="2" charset="-122"/>
              <a:ea typeface="宋体" panose="02010600030101010101" pitchFamily="2" charset="-122"/>
            </a:endParaRPr>
          </a:p>
          <a:p>
            <a:pPr marL="342900" lvl="0" indent="-342900" eaLnBrk="0" hangingPunct="0">
              <a:lnSpc>
                <a:spcPct val="120000"/>
              </a:lnSpc>
              <a:spcBef>
                <a:spcPct val="200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强调：对变化过程进行约束。</a:t>
            </a:r>
            <a:endParaRPr lang="en-US" altLang="x-none" sz="2000" dirty="0">
              <a:latin typeface="华文楷体" panose="02010600040101010101" pitchFamily="2" charset="-122"/>
              <a:ea typeface="宋体" panose="02010600030101010101" pitchFamily="2" charset="-122"/>
            </a:endParaRPr>
          </a:p>
        </p:txBody>
      </p:sp>
      <p:sp>
        <p:nvSpPr>
          <p:cNvPr id="40963" name="AutoShape 4"/>
          <p:cNvSpPr/>
          <p:nvPr/>
        </p:nvSpPr>
        <p:spPr>
          <a:xfrm>
            <a:off x="1498600" y="2211388"/>
            <a:ext cx="276225" cy="1754187"/>
          </a:xfrm>
          <a:prstGeom prst="leftBrace">
            <a:avLst>
              <a:gd name="adj1" fmla="val 126041"/>
              <a:gd name="adj2" fmla="val 50000"/>
            </a:avLst>
          </a:prstGeom>
          <a:noFill/>
          <a:ln w="28575" cap="flat" cmpd="sng">
            <a:solidFill>
              <a:srgbClr val="CC0000"/>
            </a:solidFill>
            <a:prstDash val="solid"/>
            <a:round/>
            <a:headEnd type="none" w="med" len="med"/>
            <a:tailEnd type="none" w="med" len="med"/>
          </a:ln>
        </p:spPr>
        <p:txBody>
          <a:bodyPr wrap="none" lIns="90000" tIns="46800" rIns="90000" bIns="46800" anchor="ctr"/>
          <a:lstStyle/>
          <a:p>
            <a:pPr lvl="0" indent="0" algn="ctr"/>
            <a:endParaRPr lang="zh-CN" altLang="en-US" sz="3600" dirty="0">
              <a:solidFill>
                <a:srgbClr val="CC0000"/>
              </a:solidFill>
              <a:latin typeface="宋体" panose="02010600030101010101" pitchFamily="2" charset="-122"/>
              <a:ea typeface="宋体" panose="02010600030101010101" pitchFamily="2" charset="-122"/>
            </a:endParaRPr>
          </a:p>
        </p:txBody>
      </p:sp>
      <p:sp>
        <p:nvSpPr>
          <p:cNvPr id="40964" name="AutoShape 5"/>
          <p:cNvSpPr/>
          <p:nvPr/>
        </p:nvSpPr>
        <p:spPr>
          <a:xfrm>
            <a:off x="4022725" y="1719263"/>
            <a:ext cx="287338" cy="1223962"/>
          </a:xfrm>
          <a:prstGeom prst="leftBrace">
            <a:avLst>
              <a:gd name="adj1" fmla="val 35359"/>
              <a:gd name="adj2" fmla="val 50000"/>
            </a:avLst>
          </a:prstGeom>
          <a:noFill/>
          <a:ln w="28575" cap="flat" cmpd="sng">
            <a:solidFill>
              <a:srgbClr val="CC0000"/>
            </a:solidFill>
            <a:prstDash val="solid"/>
            <a:round/>
            <a:headEnd type="none" w="med" len="med"/>
            <a:tailEnd type="none" w="med" len="med"/>
          </a:ln>
        </p:spPr>
        <p:txBody>
          <a:bodyPr wrap="none" lIns="90000" tIns="46800" rIns="90000" bIns="46800" anchor="ctr"/>
          <a:lstStyle/>
          <a:p>
            <a:pPr lvl="0" indent="0"/>
            <a:endParaRPr lang="zh-CN" altLang="en-US" dirty="0">
              <a:latin typeface="Arial" panose="020B0604020202020204" pitchFamily="34" charset="0"/>
              <a:ea typeface="宋体" panose="02010600030101010101" pitchFamily="2" charset="-122"/>
            </a:endParaRPr>
          </a:p>
        </p:txBody>
      </p:sp>
      <p:sp>
        <p:nvSpPr>
          <p:cNvPr id="38916" name="Rectangle 2"/>
          <p:cNvSpPr/>
          <p:nvPr/>
        </p:nvSpPr>
        <p:spPr>
          <a:xfrm>
            <a:off x="457200" y="68263"/>
            <a:ext cx="8229600" cy="692150"/>
          </a:xfrm>
          <a:prstGeom prst="rect">
            <a:avLst/>
          </a:prstGeom>
          <a:noFill/>
          <a:ln w="9525">
            <a:noFill/>
          </a:ln>
        </p:spPr>
        <p:txBody>
          <a:bodyPr anchor="ctr"/>
          <a:lstStyle/>
          <a:p>
            <a:pPr lvl="0" indent="0"/>
            <a:r>
              <a:rPr lang="zh-CN" altLang="en-US" sz="3200" dirty="0">
                <a:solidFill>
                  <a:srgbClr val="FF0000"/>
                </a:solidFill>
                <a:latin typeface="Arial" panose="020B0604020202020204" pitchFamily="34" charset="0"/>
                <a:ea typeface="黑体" panose="02010609060101010101" pitchFamily="1" charset="-122"/>
              </a:rPr>
              <a:t>三、数据库的完整性</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38917" name="Rectangle 2"/>
          <p:cNvSpPr txBox="1"/>
          <p:nvPr/>
        </p:nvSpPr>
        <p:spPr>
          <a:xfrm>
            <a:off x="536575" y="755650"/>
            <a:ext cx="5689600" cy="576263"/>
          </a:xfrm>
          <a:prstGeom prst="rect">
            <a:avLst/>
          </a:prstGeom>
          <a:noFill/>
          <a:ln w="9525">
            <a:noFill/>
          </a:ln>
        </p:spPr>
        <p:txBody>
          <a:bodyPr anchor="t"/>
          <a:lstStyle/>
          <a:p>
            <a:pPr marL="457200" lvl="0" indent="-457200" defTabSz="0">
              <a:lnSpc>
                <a:spcPct val="135000"/>
              </a:lnSpc>
              <a:tabLst>
                <a:tab pos="1428750" algn="l"/>
              </a:tabLst>
            </a:pPr>
            <a:r>
              <a:rPr lang="en-US" altLang="x-none" sz="2800" dirty="0">
                <a:solidFill>
                  <a:srgbClr val="0033CC"/>
                </a:solidFill>
                <a:latin typeface="黑体" panose="02010609060101010101" pitchFamily="1" charset="-122"/>
                <a:ea typeface="黑体" panose="02010609060101010101" pitchFamily="1" charset="-122"/>
              </a:rPr>
              <a:t>3.</a:t>
            </a:r>
            <a:r>
              <a:rPr lang="en-US" altLang="x-none" sz="2800" dirty="0">
                <a:solidFill>
                  <a:srgbClr val="CC3300"/>
                </a:solidFill>
                <a:latin typeface="Times New Roman" panose="02020603050405020304" pitchFamily="2" charset="0"/>
                <a:ea typeface="宋体" panose="02010600030101010101" pitchFamily="2" charset="-122"/>
              </a:rPr>
              <a:t> </a:t>
            </a:r>
            <a:r>
              <a:rPr lang="zh-CN" altLang="en-US" sz="2800" dirty="0">
                <a:solidFill>
                  <a:srgbClr val="0033CC"/>
                </a:solidFill>
                <a:latin typeface="黑体" panose="02010609060101010101" pitchFamily="1" charset="-122"/>
                <a:ea typeface="黑体" panose="02010609060101010101" pitchFamily="1" charset="-122"/>
              </a:rPr>
              <a:t>完整性的约束类型</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40967" name="矩形 7"/>
          <p:cNvSpPr/>
          <p:nvPr/>
        </p:nvSpPr>
        <p:spPr>
          <a:xfrm>
            <a:off x="1858963" y="2517775"/>
            <a:ext cx="2068513" cy="533400"/>
          </a:xfrm>
          <a:prstGeom prst="rect">
            <a:avLst/>
          </a:prstGeom>
          <a:noFill/>
          <a:ln w="9525">
            <a:noFill/>
          </a:ln>
        </p:spPr>
        <p:txBody>
          <a:bodyPr anchor="ctr">
            <a:spAutoFit/>
          </a:bodyPr>
          <a:lstStyle/>
          <a:p>
            <a:pPr marL="262255" lvl="0" indent="-262255" eaLnBrk="1" fontAlgn="base" hangingPunct="1">
              <a:lnSpc>
                <a:spcPct val="135000"/>
              </a:lnSpc>
            </a:pPr>
            <a:r>
              <a:rPr lang="zh-CN" altLang="en-US" sz="2400" strike="noStrike" noProof="1">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ea"/>
              </a:rPr>
              <a:t>（状态约束）</a:t>
            </a:r>
            <a:endParaRPr lang="zh-CN" altLang="en-US" sz="2400" strike="noStrike" noProof="1">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40963"/>
                                        </p:tgtEl>
                                        <p:attrNameLst>
                                          <p:attrName>style.visibility</p:attrName>
                                        </p:attrNameLst>
                                      </p:cBhvr>
                                      <p:to>
                                        <p:strVal val="visible"/>
                                      </p:to>
                                    </p:set>
                                    <p:anim calcmode="lin" valueType="num">
                                      <p:cBhvr>
                                        <p:cTn id="7" dur="1000" fill="hold"/>
                                        <p:tgtEl>
                                          <p:spTgt spid="40963"/>
                                        </p:tgtEl>
                                        <p:attrNameLst>
                                          <p:attrName>ppt_w</p:attrName>
                                        </p:attrNameLst>
                                      </p:cBhvr>
                                      <p:tavLst>
                                        <p:tav tm="0">
                                          <p:val>
                                            <p:strVal val="#ppt_w*0.70"/>
                                          </p:val>
                                        </p:tav>
                                        <p:tav tm="100000">
                                          <p:val>
                                            <p:strVal val="#ppt_w"/>
                                          </p:val>
                                        </p:tav>
                                      </p:tavLst>
                                    </p:anim>
                                    <p:anim calcmode="lin" valueType="num">
                                      <p:cBhvr>
                                        <p:cTn id="8" dur="1000" fill="hold"/>
                                        <p:tgtEl>
                                          <p:spTgt spid="40963"/>
                                        </p:tgtEl>
                                        <p:attrNameLst>
                                          <p:attrName>ppt_h</p:attrName>
                                        </p:attrNameLst>
                                      </p:cBhvr>
                                      <p:tavLst>
                                        <p:tav tm="0">
                                          <p:val>
                                            <p:strVal val="#ppt_h"/>
                                          </p:val>
                                        </p:tav>
                                        <p:tav tm="100000">
                                          <p:val>
                                            <p:strVal val="#ppt_h"/>
                                          </p:val>
                                        </p:tav>
                                      </p:tavLst>
                                    </p:anim>
                                    <p:animEffect transition="in" filter="fade">
                                      <p:cBhvr>
                                        <p:cTn id="9" dur="1000"/>
                                        <p:tgtEl>
                                          <p:spTgt spid="40963"/>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40964"/>
                                        </p:tgtEl>
                                        <p:attrNameLst>
                                          <p:attrName>style.visibility</p:attrName>
                                        </p:attrNameLst>
                                      </p:cBhvr>
                                      <p:to>
                                        <p:strVal val="visible"/>
                                      </p:to>
                                    </p:set>
                                    <p:anim calcmode="lin" valueType="num">
                                      <p:cBhvr>
                                        <p:cTn id="14" dur="1000" fill="hold"/>
                                        <p:tgtEl>
                                          <p:spTgt spid="40964"/>
                                        </p:tgtEl>
                                        <p:attrNameLst>
                                          <p:attrName>ppt_w</p:attrName>
                                        </p:attrNameLst>
                                      </p:cBhvr>
                                      <p:tavLst>
                                        <p:tav tm="0">
                                          <p:val>
                                            <p:strVal val="#ppt_w*0.70"/>
                                          </p:val>
                                        </p:tav>
                                        <p:tav tm="100000">
                                          <p:val>
                                            <p:strVal val="#ppt_w"/>
                                          </p:val>
                                        </p:tav>
                                      </p:tavLst>
                                    </p:anim>
                                    <p:anim calcmode="lin" valueType="num">
                                      <p:cBhvr>
                                        <p:cTn id="15" dur="1000" fill="hold"/>
                                        <p:tgtEl>
                                          <p:spTgt spid="40964"/>
                                        </p:tgtEl>
                                        <p:attrNameLst>
                                          <p:attrName>ppt_h</p:attrName>
                                        </p:attrNameLst>
                                      </p:cBhvr>
                                      <p:tavLst>
                                        <p:tav tm="0">
                                          <p:val>
                                            <p:strVal val="#ppt_h"/>
                                          </p:val>
                                        </p:tav>
                                        <p:tav tm="100000">
                                          <p:val>
                                            <p:strVal val="#ppt_h"/>
                                          </p:val>
                                        </p:tav>
                                      </p:tavLst>
                                    </p:anim>
                                    <p:animEffect transition="in" filter="fade">
                                      <p:cBhvr>
                                        <p:cTn id="16" dur="1000"/>
                                        <p:tgtEl>
                                          <p:spTgt spid="409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animBg="1"/>
      <p:bldP spid="4096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3"/>
          <p:cNvSpPr txBox="1"/>
          <p:nvPr/>
        </p:nvSpPr>
        <p:spPr>
          <a:xfrm>
            <a:off x="654050" y="1951038"/>
            <a:ext cx="7921625" cy="3906837"/>
          </a:xfrm>
          <a:prstGeom prst="rect">
            <a:avLst/>
          </a:prstGeom>
          <a:noFill/>
          <a:ln w="9525">
            <a:noFill/>
          </a:ln>
        </p:spPr>
        <p:txBody>
          <a:bodyPr anchor="t">
            <a:spAutoFit/>
          </a:bodyPr>
          <a:lstStyle/>
          <a:p>
            <a:pPr lvl="0" indent="0">
              <a:lnSpc>
                <a:spcPct val="125000"/>
              </a:lnSpc>
              <a:spcBef>
                <a:spcPts val="600"/>
              </a:spcBef>
              <a:buFont typeface="Wingdings" panose="05000000000000000000" pitchFamily="2" charset="2"/>
              <a:buChar char="p"/>
            </a:pPr>
            <a:r>
              <a:rPr lang="zh-CN" altLang="en-US" sz="2400" u="sng" dirty="0">
                <a:solidFill>
                  <a:srgbClr val="CC0000"/>
                </a:solidFill>
                <a:latin typeface="宋体" panose="02010600030101010101" pitchFamily="2" charset="-122"/>
                <a:ea typeface="宋体" panose="02010600030101010101" pitchFamily="2" charset="-122"/>
              </a:rPr>
              <a:t>隐式约束：</a:t>
            </a:r>
            <a:r>
              <a:rPr lang="zh-CN" altLang="en-US" sz="2400" dirty="0">
                <a:latin typeface="Arial" panose="020B0604020202020204" pitchFamily="34" charset="0"/>
                <a:ea typeface="华文楷体" panose="02010600040101010101" pitchFamily="2" charset="-122"/>
              </a:rPr>
              <a:t>隐含于数据模型中的完整性约束。关系模型的隐式约束有：</a:t>
            </a:r>
            <a:r>
              <a:rPr lang="zh-CN" altLang="en-US" sz="2400" dirty="0">
                <a:solidFill>
                  <a:srgbClr val="CC0000"/>
                </a:solidFill>
                <a:latin typeface="Arial" panose="020B0604020202020204" pitchFamily="34" charset="0"/>
                <a:ea typeface="华文楷体" panose="02010600040101010101" pitchFamily="2" charset="-122"/>
              </a:rPr>
              <a:t>域完整性、主键约束、唯一约束、一般性约束（</a:t>
            </a:r>
            <a:r>
              <a:rPr lang="zh-CN" altLang="en-US" sz="2400" dirty="0">
                <a:latin typeface="Arial" panose="020B0604020202020204" pitchFamily="34" charset="0"/>
                <a:ea typeface="华文楷体" panose="02010600040101010101" pitchFamily="2" charset="-122"/>
              </a:rPr>
              <a:t>检查约束、断言</a:t>
            </a:r>
            <a:r>
              <a:rPr lang="zh-CN" altLang="en-US" sz="2400" dirty="0">
                <a:solidFill>
                  <a:srgbClr val="CC0000"/>
                </a:solidFill>
                <a:latin typeface="Arial" panose="020B0604020202020204" pitchFamily="34" charset="0"/>
                <a:ea typeface="华文楷体" panose="02010600040101010101" pitchFamily="2" charset="-122"/>
              </a:rPr>
              <a:t>）和参照完整性</a:t>
            </a:r>
            <a:r>
              <a:rPr lang="zh-CN" altLang="en-US" sz="2400" dirty="0">
                <a:solidFill>
                  <a:srgbClr val="0000CC"/>
                </a:solidFill>
                <a:latin typeface="Arial" panose="020B0604020202020204" pitchFamily="34" charset="0"/>
                <a:ea typeface="华文楷体" panose="02010600040101010101" pitchFamily="2" charset="-122"/>
              </a:rPr>
              <a:t>。</a:t>
            </a:r>
            <a:endParaRPr lang="zh-CN" altLang="en-US" sz="2400" dirty="0">
              <a:solidFill>
                <a:srgbClr val="0000CC"/>
              </a:solidFill>
              <a:latin typeface="Arial" panose="020B0604020202020204" pitchFamily="34" charset="0"/>
              <a:ea typeface="华文楷体" panose="02010600040101010101" pitchFamily="2" charset="-122"/>
            </a:endParaRPr>
          </a:p>
          <a:p>
            <a:pPr lvl="0" indent="0">
              <a:lnSpc>
                <a:spcPct val="125000"/>
              </a:lnSpc>
              <a:spcBef>
                <a:spcPts val="600"/>
              </a:spcBef>
              <a:buFont typeface="Wingdings" panose="05000000000000000000" pitchFamily="2" charset="2"/>
              <a:buChar char="p"/>
            </a:pPr>
            <a:r>
              <a:rPr lang="zh-CN" altLang="en-US" sz="2400" u="sng" dirty="0">
                <a:solidFill>
                  <a:srgbClr val="CC0000"/>
                </a:solidFill>
                <a:latin typeface="宋体" panose="02010600030101010101" pitchFamily="2" charset="-122"/>
                <a:ea typeface="宋体" panose="02010600030101010101" pitchFamily="2" charset="-122"/>
              </a:rPr>
              <a:t>固有约束：</a:t>
            </a:r>
            <a:r>
              <a:rPr lang="zh-CN" altLang="en-US" sz="2400" dirty="0">
                <a:latin typeface="宋体" panose="02010600030101010101" pitchFamily="2" charset="-122"/>
                <a:ea typeface="华文楷体" panose="02010600040101010101" pitchFamily="2" charset="-122"/>
              </a:rPr>
              <a:t>数据模型固有的约束。关系模型的固有约束有：关系的属性不可分，即原子性。</a:t>
            </a:r>
            <a:endParaRPr lang="zh-CN" altLang="en-US" sz="2400" dirty="0">
              <a:latin typeface="宋体" panose="02010600030101010101" pitchFamily="2" charset="-122"/>
              <a:ea typeface="华文楷体" panose="02010600040101010101" pitchFamily="2" charset="-122"/>
            </a:endParaRPr>
          </a:p>
          <a:p>
            <a:pPr lvl="0" indent="0">
              <a:lnSpc>
                <a:spcPct val="125000"/>
              </a:lnSpc>
              <a:spcBef>
                <a:spcPts val="600"/>
              </a:spcBef>
              <a:buFont typeface="Wingdings" panose="05000000000000000000" pitchFamily="2" charset="2"/>
              <a:buChar char="p"/>
            </a:pPr>
            <a:r>
              <a:rPr lang="zh-CN" altLang="en-US" sz="2400" u="sng" dirty="0">
                <a:solidFill>
                  <a:srgbClr val="CC0000"/>
                </a:solidFill>
                <a:latin typeface="宋体" panose="02010600030101010101" pitchFamily="2" charset="-122"/>
                <a:ea typeface="宋体" panose="02010600030101010101" pitchFamily="2" charset="-122"/>
              </a:rPr>
              <a:t>显式约束</a:t>
            </a:r>
            <a:r>
              <a:rPr lang="zh-CN" altLang="en-US" sz="2400" u="sng"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华文楷体" panose="02010600040101010101" pitchFamily="2" charset="-122"/>
              </a:rPr>
              <a:t>隐式约束和固有约束是最基本的约束，但不能完全描述现实中的规定或约束，特别是与具体应用有关的约束。这就需要第三种静态约束来完成，此即显式约束。</a:t>
            </a:r>
            <a:endParaRPr lang="en-US" altLang="x-none" sz="2400" dirty="0">
              <a:latin typeface="Arial" panose="020B0604020202020204" pitchFamily="34" charset="0"/>
              <a:ea typeface="华文楷体" panose="02010600040101010101" pitchFamily="2" charset="-122"/>
            </a:endParaRPr>
          </a:p>
        </p:txBody>
      </p:sp>
      <p:sp>
        <p:nvSpPr>
          <p:cNvPr id="39938" name="Rectangle 2"/>
          <p:cNvSpPr/>
          <p:nvPr/>
        </p:nvSpPr>
        <p:spPr>
          <a:xfrm>
            <a:off x="457200" y="68263"/>
            <a:ext cx="8229600" cy="692150"/>
          </a:xfrm>
          <a:prstGeom prst="rect">
            <a:avLst/>
          </a:prstGeom>
          <a:noFill/>
          <a:ln w="9525">
            <a:noFill/>
          </a:ln>
        </p:spPr>
        <p:txBody>
          <a:bodyPr anchor="ctr"/>
          <a:lstStyle/>
          <a:p>
            <a:pPr lvl="0" indent="0"/>
            <a:r>
              <a:rPr lang="zh-CN" altLang="en-US" sz="3200" dirty="0">
                <a:solidFill>
                  <a:srgbClr val="FF0000"/>
                </a:solidFill>
                <a:latin typeface="Arial" panose="020B0604020202020204" pitchFamily="34" charset="0"/>
                <a:ea typeface="黑体" panose="02010609060101010101" pitchFamily="1" charset="-122"/>
              </a:rPr>
              <a:t>三、数据库的完整性</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39939" name="Rectangle 2"/>
          <p:cNvSpPr txBox="1"/>
          <p:nvPr/>
        </p:nvSpPr>
        <p:spPr>
          <a:xfrm>
            <a:off x="536575" y="755650"/>
            <a:ext cx="5689600" cy="576263"/>
          </a:xfrm>
          <a:prstGeom prst="rect">
            <a:avLst/>
          </a:prstGeom>
          <a:noFill/>
          <a:ln w="9525">
            <a:noFill/>
          </a:ln>
        </p:spPr>
        <p:txBody>
          <a:bodyPr anchor="t"/>
          <a:lstStyle/>
          <a:p>
            <a:pPr marL="457200" lvl="0" indent="-457200" defTabSz="0">
              <a:lnSpc>
                <a:spcPct val="135000"/>
              </a:lnSpc>
              <a:tabLst>
                <a:tab pos="1428750" algn="l"/>
              </a:tabLst>
            </a:pPr>
            <a:r>
              <a:rPr lang="en-US" altLang="x-none" sz="2800" dirty="0">
                <a:solidFill>
                  <a:srgbClr val="0033CC"/>
                </a:solidFill>
                <a:latin typeface="黑体" panose="02010609060101010101" pitchFamily="1" charset="-122"/>
                <a:ea typeface="黑体" panose="02010609060101010101" pitchFamily="1" charset="-122"/>
              </a:rPr>
              <a:t>3.</a:t>
            </a:r>
            <a:r>
              <a:rPr lang="en-US" altLang="x-none" sz="2800" dirty="0">
                <a:solidFill>
                  <a:srgbClr val="CC3300"/>
                </a:solidFill>
                <a:latin typeface="Times New Roman" panose="02020603050405020304" pitchFamily="2" charset="0"/>
                <a:ea typeface="宋体" panose="02010600030101010101" pitchFamily="2" charset="-122"/>
              </a:rPr>
              <a:t> </a:t>
            </a:r>
            <a:r>
              <a:rPr lang="zh-CN" altLang="en-US" sz="2800" dirty="0">
                <a:solidFill>
                  <a:srgbClr val="0033CC"/>
                </a:solidFill>
                <a:latin typeface="黑体" panose="02010609060101010101" pitchFamily="1" charset="-122"/>
                <a:ea typeface="黑体" panose="02010609060101010101" pitchFamily="1" charset="-122"/>
              </a:rPr>
              <a:t>完整性的约束类型</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39940" name="矩形 6"/>
          <p:cNvSpPr/>
          <p:nvPr/>
        </p:nvSpPr>
        <p:spPr>
          <a:xfrm>
            <a:off x="417513" y="1401763"/>
            <a:ext cx="5378450" cy="492125"/>
          </a:xfrm>
          <a:prstGeom prst="rect">
            <a:avLst/>
          </a:prstGeom>
          <a:noFill/>
          <a:ln w="9525">
            <a:noFill/>
          </a:ln>
        </p:spPr>
        <p:txBody>
          <a:bodyPr wrap="none" anchor="t">
            <a:spAutoFit/>
          </a:bodyPr>
          <a:lstStyle/>
          <a:p>
            <a:pPr lvl="0" indent="0"/>
            <a:r>
              <a:rPr lang="zh-CN" altLang="en-US" sz="2600" dirty="0">
                <a:solidFill>
                  <a:srgbClr val="0033CC"/>
                </a:solidFill>
                <a:latin typeface="宋体" panose="02010600030101010101" pitchFamily="2" charset="-122"/>
                <a:ea typeface="宋体" panose="02010600030101010101" pitchFamily="2" charset="-122"/>
              </a:rPr>
              <a:t>（</a:t>
            </a:r>
            <a:r>
              <a:rPr lang="en-US" altLang="x-none" sz="2600" dirty="0">
                <a:solidFill>
                  <a:srgbClr val="0033CC"/>
                </a:solidFill>
                <a:latin typeface="宋体" panose="02010600030101010101" pitchFamily="2" charset="-122"/>
                <a:ea typeface="宋体" panose="02010600030101010101" pitchFamily="2" charset="-122"/>
              </a:rPr>
              <a:t>1</a:t>
            </a:r>
            <a:r>
              <a:rPr lang="zh-CN" altLang="en-US" sz="2600" dirty="0">
                <a:solidFill>
                  <a:srgbClr val="0033CC"/>
                </a:solidFill>
                <a:latin typeface="宋体" panose="02010600030101010101" pitchFamily="2" charset="-122"/>
                <a:ea typeface="宋体" panose="02010600030101010101" pitchFamily="2" charset="-122"/>
              </a:rPr>
              <a:t>）静态完整性约束（状态约束）</a:t>
            </a:r>
            <a:endParaRPr lang="zh-CN" altLang="en-US" sz="2600" dirty="0">
              <a:solidFill>
                <a:srgbClr val="0033CC"/>
              </a:solidFill>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1986">
                                            <p:txEl>
                                              <p:pRg st="0" end="0"/>
                                            </p:txEl>
                                          </p:spTgt>
                                        </p:tgtEl>
                                        <p:attrNameLst>
                                          <p:attrName>style.visibility</p:attrName>
                                        </p:attrNameLst>
                                      </p:cBhvr>
                                      <p:to>
                                        <p:strVal val="visible"/>
                                      </p:to>
                                    </p:set>
                                    <p:anim calcmode="lin" valueType="num">
                                      <p:cBhvr>
                                        <p:cTn id="7" dur="500" fill="hold"/>
                                        <p:tgtEl>
                                          <p:spTgt spid="41986">
                                            <p:txEl>
                                              <p:pRg st="0" end="0"/>
                                            </p:txEl>
                                          </p:spTgt>
                                        </p:tgtEl>
                                        <p:attrNameLst>
                                          <p:attrName>ppt_x</p:attrName>
                                        </p:attrNameLst>
                                      </p:cBhvr>
                                      <p:tavLst>
                                        <p:tav tm="0">
                                          <p:val>
                                            <p:strVal val="0-#ppt_w/2"/>
                                          </p:val>
                                        </p:tav>
                                        <p:tav tm="100000">
                                          <p:val>
                                            <p:strVal val="#ppt_x"/>
                                          </p:val>
                                        </p:tav>
                                      </p:tavLst>
                                    </p:anim>
                                    <p:anim calcmode="lin" valueType="num">
                                      <p:cBhvr>
                                        <p:cTn id="8" dur="500" fill="hold"/>
                                        <p:tgtEl>
                                          <p:spTgt spid="4198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1986">
                                            <p:txEl>
                                              <p:pRg st="1" end="1"/>
                                            </p:txEl>
                                          </p:spTgt>
                                        </p:tgtEl>
                                        <p:attrNameLst>
                                          <p:attrName>style.visibility</p:attrName>
                                        </p:attrNameLst>
                                      </p:cBhvr>
                                      <p:to>
                                        <p:strVal val="visible"/>
                                      </p:to>
                                    </p:set>
                                    <p:anim calcmode="lin" valueType="num">
                                      <p:cBhvr>
                                        <p:cTn id="13" dur="500" fill="hold"/>
                                        <p:tgtEl>
                                          <p:spTgt spid="41986">
                                            <p:txEl>
                                              <p:pRg st="1" end="1"/>
                                            </p:txEl>
                                          </p:spTgt>
                                        </p:tgtEl>
                                        <p:attrNameLst>
                                          <p:attrName>ppt_x</p:attrName>
                                        </p:attrNameLst>
                                      </p:cBhvr>
                                      <p:tavLst>
                                        <p:tav tm="0">
                                          <p:val>
                                            <p:strVal val="0-#ppt_w/2"/>
                                          </p:val>
                                        </p:tav>
                                        <p:tav tm="100000">
                                          <p:val>
                                            <p:strVal val="#ppt_x"/>
                                          </p:val>
                                        </p:tav>
                                      </p:tavLst>
                                    </p:anim>
                                    <p:anim calcmode="lin" valueType="num">
                                      <p:cBhvr>
                                        <p:cTn id="14" dur="500" fill="hold"/>
                                        <p:tgtEl>
                                          <p:spTgt spid="4198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1986">
                                            <p:txEl>
                                              <p:pRg st="2" end="2"/>
                                            </p:txEl>
                                          </p:spTgt>
                                        </p:tgtEl>
                                        <p:attrNameLst>
                                          <p:attrName>style.visibility</p:attrName>
                                        </p:attrNameLst>
                                      </p:cBhvr>
                                      <p:to>
                                        <p:strVal val="visible"/>
                                      </p:to>
                                    </p:set>
                                    <p:anim calcmode="lin" valueType="num">
                                      <p:cBhvr>
                                        <p:cTn id="19" dur="500" fill="hold"/>
                                        <p:tgtEl>
                                          <p:spTgt spid="41986">
                                            <p:txEl>
                                              <p:pRg st="2" end="2"/>
                                            </p:txEl>
                                          </p:spTgt>
                                        </p:tgtEl>
                                        <p:attrNameLst>
                                          <p:attrName>ppt_x</p:attrName>
                                        </p:attrNameLst>
                                      </p:cBhvr>
                                      <p:tavLst>
                                        <p:tav tm="0">
                                          <p:val>
                                            <p:strVal val="0-#ppt_w/2"/>
                                          </p:val>
                                        </p:tav>
                                        <p:tav tm="100000">
                                          <p:val>
                                            <p:strVal val="#ppt_x"/>
                                          </p:val>
                                        </p:tav>
                                      </p:tavLst>
                                    </p:anim>
                                    <p:anim calcmode="lin" valueType="num">
                                      <p:cBhvr>
                                        <p:cTn id="20" dur="500" fill="hold"/>
                                        <p:tgtEl>
                                          <p:spTgt spid="41986">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6"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p:cNvSpPr/>
          <p:nvPr/>
        </p:nvSpPr>
        <p:spPr>
          <a:xfrm>
            <a:off x="457200" y="68263"/>
            <a:ext cx="8229600" cy="692150"/>
          </a:xfrm>
          <a:prstGeom prst="rect">
            <a:avLst/>
          </a:prstGeom>
          <a:noFill/>
          <a:ln w="9525">
            <a:noFill/>
          </a:ln>
        </p:spPr>
        <p:txBody>
          <a:bodyPr anchor="ctr"/>
          <a:lstStyle/>
          <a:p>
            <a:pPr lvl="0" indent="0"/>
            <a:r>
              <a:rPr lang="zh-CN" altLang="en-US" sz="3200" dirty="0">
                <a:solidFill>
                  <a:srgbClr val="FF0000"/>
                </a:solidFill>
                <a:latin typeface="Arial" panose="020B0604020202020204" pitchFamily="34" charset="0"/>
                <a:ea typeface="黑体" panose="02010609060101010101" pitchFamily="1" charset="-122"/>
              </a:rPr>
              <a:t>三、数据库的完整性</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40962" name="Rectangle 2"/>
          <p:cNvSpPr txBox="1"/>
          <p:nvPr/>
        </p:nvSpPr>
        <p:spPr>
          <a:xfrm>
            <a:off x="536575" y="755650"/>
            <a:ext cx="5689600" cy="576263"/>
          </a:xfrm>
          <a:prstGeom prst="rect">
            <a:avLst/>
          </a:prstGeom>
          <a:noFill/>
          <a:ln w="9525">
            <a:noFill/>
          </a:ln>
        </p:spPr>
        <p:txBody>
          <a:bodyPr anchor="t"/>
          <a:lstStyle/>
          <a:p>
            <a:pPr marL="457200" lvl="0" indent="-457200" defTabSz="0">
              <a:lnSpc>
                <a:spcPct val="135000"/>
              </a:lnSpc>
              <a:tabLst>
                <a:tab pos="1428750" algn="l"/>
              </a:tabLst>
            </a:pPr>
            <a:r>
              <a:rPr lang="en-US" altLang="x-none" sz="2800" dirty="0">
                <a:solidFill>
                  <a:srgbClr val="0033CC"/>
                </a:solidFill>
                <a:latin typeface="黑体" panose="02010609060101010101" pitchFamily="1" charset="-122"/>
                <a:ea typeface="黑体" panose="02010609060101010101" pitchFamily="1" charset="-122"/>
              </a:rPr>
              <a:t>3.</a:t>
            </a:r>
            <a:r>
              <a:rPr lang="en-US" altLang="x-none" sz="2800" dirty="0">
                <a:solidFill>
                  <a:srgbClr val="CC3300"/>
                </a:solidFill>
                <a:latin typeface="Times New Roman" panose="02020603050405020304" pitchFamily="2" charset="0"/>
                <a:ea typeface="宋体" panose="02010600030101010101" pitchFamily="2" charset="-122"/>
              </a:rPr>
              <a:t> </a:t>
            </a:r>
            <a:r>
              <a:rPr lang="zh-CN" altLang="en-US" sz="2800" dirty="0">
                <a:solidFill>
                  <a:srgbClr val="0033CC"/>
                </a:solidFill>
                <a:latin typeface="黑体" panose="02010609060101010101" pitchFamily="1" charset="-122"/>
                <a:ea typeface="黑体" panose="02010609060101010101" pitchFamily="1" charset="-122"/>
              </a:rPr>
              <a:t>完整性的约束类型</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40963" name="Rectangle 3"/>
          <p:cNvSpPr txBox="1"/>
          <p:nvPr/>
        </p:nvSpPr>
        <p:spPr>
          <a:xfrm>
            <a:off x="668338" y="1944688"/>
            <a:ext cx="7880350" cy="4181475"/>
          </a:xfrm>
          <a:prstGeom prst="rect">
            <a:avLst/>
          </a:prstGeom>
          <a:noFill/>
          <a:ln w="9525">
            <a:noFill/>
          </a:ln>
        </p:spPr>
        <p:txBody>
          <a:bodyPr anchor="t"/>
          <a:lstStyle/>
          <a:p>
            <a:pPr marL="342900" lvl="0" indent="-342900" eaLnBrk="0" hangingPunct="0">
              <a:lnSpc>
                <a:spcPct val="120000"/>
              </a:lnSpc>
              <a:spcBef>
                <a:spcPct val="20000"/>
              </a:spcBef>
              <a:buClr>
                <a:srgbClr val="0033CC"/>
              </a:buClr>
              <a:buFont typeface="Wingdings" panose="05000000000000000000" pitchFamily="2" charset="2"/>
              <a:buChar char="p"/>
            </a:pPr>
            <a:r>
              <a:rPr lang="zh-CN" altLang="en-US" sz="2600" u="sng" dirty="0">
                <a:solidFill>
                  <a:srgbClr val="000099"/>
                </a:solidFill>
                <a:latin typeface="华文楷体" panose="02010600040101010101" pitchFamily="2" charset="-122"/>
                <a:ea typeface="宋体" panose="02010600030101010101" pitchFamily="2" charset="-122"/>
              </a:rPr>
              <a:t>静态约束</a:t>
            </a:r>
            <a:endParaRPr lang="zh-CN" altLang="en-US" sz="2600" u="sng" dirty="0">
              <a:solidFill>
                <a:srgbClr val="000099"/>
              </a:solidFill>
              <a:latin typeface="华文楷体" panose="02010600040101010101" pitchFamily="2" charset="-122"/>
              <a:ea typeface="宋体" panose="02010600030101010101" pitchFamily="2" charset="-122"/>
            </a:endParaRPr>
          </a:p>
          <a:p>
            <a:pPr marL="342900" lvl="0" indent="-342900" eaLnBrk="0" hangingPunct="0">
              <a:lnSpc>
                <a:spcPct val="120000"/>
              </a:lnSpc>
              <a:spcBef>
                <a:spcPct val="200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固有约束：勿需定义。</a:t>
            </a:r>
            <a:endParaRPr lang="zh-CN" altLang="en-US" sz="2400" dirty="0">
              <a:latin typeface="华文楷体" panose="02010600040101010101" pitchFamily="2" charset="-122"/>
              <a:ea typeface="宋体" panose="02010600030101010101" pitchFamily="2" charset="-122"/>
            </a:endParaRPr>
          </a:p>
          <a:p>
            <a:pPr marL="342900" lvl="0" indent="-342900" eaLnBrk="0" hangingPunct="0">
              <a:lnSpc>
                <a:spcPct val="120000"/>
              </a:lnSpc>
              <a:spcBef>
                <a:spcPct val="200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隐式约束：由开发人员或</a:t>
            </a:r>
            <a:r>
              <a:rPr lang="en-US" altLang="x-none" sz="2400" dirty="0">
                <a:latin typeface="华文楷体" panose="02010600040101010101" pitchFamily="2" charset="-122"/>
                <a:ea typeface="宋体" panose="02010600030101010101" pitchFamily="2" charset="-122"/>
              </a:rPr>
              <a:t>DBA</a:t>
            </a:r>
            <a:r>
              <a:rPr lang="zh-CN" altLang="en-US" sz="2400" dirty="0">
                <a:latin typeface="华文楷体" panose="02010600040101010101" pitchFamily="2" charset="-122"/>
                <a:ea typeface="宋体" panose="02010600030101010101" pitchFamily="2" charset="-122"/>
              </a:rPr>
              <a:t>利用</a:t>
            </a:r>
            <a:r>
              <a:rPr lang="en-US" altLang="x-none" sz="2400" dirty="0">
                <a:latin typeface="华文楷体" panose="02010600040101010101" pitchFamily="2" charset="-122"/>
                <a:ea typeface="宋体" panose="02010600030101010101" pitchFamily="2" charset="-122"/>
              </a:rPr>
              <a:t>DDL</a:t>
            </a:r>
            <a:r>
              <a:rPr lang="zh-CN" altLang="en-US" sz="2400" dirty="0">
                <a:latin typeface="华文楷体" panose="02010600040101010101" pitchFamily="2" charset="-122"/>
                <a:ea typeface="宋体" panose="02010600030101010101" pitchFamily="2" charset="-122"/>
              </a:rPr>
              <a:t>语言定义。</a:t>
            </a:r>
            <a:endParaRPr lang="zh-CN" altLang="en-US" sz="2400" dirty="0">
              <a:latin typeface="华文楷体" panose="02010600040101010101" pitchFamily="2" charset="-122"/>
              <a:ea typeface="宋体" panose="02010600030101010101" pitchFamily="2" charset="-122"/>
            </a:endParaRPr>
          </a:p>
          <a:p>
            <a:pPr marL="342900" lvl="0" indent="-342900" eaLnBrk="0" hangingPunct="0">
              <a:lnSpc>
                <a:spcPct val="120000"/>
              </a:lnSpc>
              <a:spcBef>
                <a:spcPct val="200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显式约束：有三种可选的定义方法，即：过程化定义、断言和触发器。 </a:t>
            </a:r>
            <a:endParaRPr lang="zh-CN" altLang="en-US" sz="2400" dirty="0">
              <a:latin typeface="华文楷体" panose="02010600040101010101" pitchFamily="2" charset="-122"/>
              <a:ea typeface="宋体" panose="02010600030101010101" pitchFamily="2" charset="-122"/>
            </a:endParaRPr>
          </a:p>
          <a:p>
            <a:pPr marL="742950" lvl="1" indent="-285750" eaLnBrk="0" hangingPunct="0">
              <a:lnSpc>
                <a:spcPct val="120000"/>
              </a:lnSpc>
              <a:spcBef>
                <a:spcPct val="20000"/>
              </a:spcBef>
              <a:buClr>
                <a:schemeClr val="accent2"/>
              </a:buClr>
              <a:buSzPct val="70000"/>
            </a:pPr>
            <a:r>
              <a:rPr lang="en-US" altLang="x-none" sz="2400" dirty="0">
                <a:latin typeface="华文楷体" panose="02010600040101010101" pitchFamily="2" charset="-122"/>
                <a:ea typeface="宋体" panose="02010600030101010101" pitchFamily="2" charset="-122"/>
              </a:rPr>
              <a:t>--</a:t>
            </a:r>
            <a:r>
              <a:rPr lang="zh-CN" altLang="en-US" sz="2400" dirty="0">
                <a:latin typeface="华文楷体" panose="02010600040101010101" pitchFamily="2" charset="-122"/>
                <a:ea typeface="宋体" panose="02010600030101010101" pitchFamily="2" charset="-122"/>
              </a:rPr>
              <a:t>过程化定义：由程序员编写成一个过程函数加入到应用程序中。</a:t>
            </a:r>
            <a:endParaRPr lang="zh-CN" altLang="en-US" sz="2400" dirty="0">
              <a:latin typeface="华文楷体" panose="02010600040101010101" pitchFamily="2" charset="-122"/>
              <a:ea typeface="宋体" panose="02010600030101010101" pitchFamily="2" charset="-122"/>
            </a:endParaRPr>
          </a:p>
        </p:txBody>
      </p:sp>
      <p:sp>
        <p:nvSpPr>
          <p:cNvPr id="40964" name="矩形 4"/>
          <p:cNvSpPr/>
          <p:nvPr/>
        </p:nvSpPr>
        <p:spPr>
          <a:xfrm>
            <a:off x="417513" y="1401763"/>
            <a:ext cx="3703637" cy="492125"/>
          </a:xfrm>
          <a:prstGeom prst="rect">
            <a:avLst/>
          </a:prstGeom>
          <a:noFill/>
          <a:ln w="9525">
            <a:noFill/>
          </a:ln>
        </p:spPr>
        <p:txBody>
          <a:bodyPr wrap="none" anchor="t">
            <a:spAutoFit/>
          </a:bodyPr>
          <a:lstStyle/>
          <a:p>
            <a:pPr lvl="0" indent="0"/>
            <a:r>
              <a:rPr lang="zh-CN" altLang="en-US" sz="2600" dirty="0">
                <a:solidFill>
                  <a:srgbClr val="0033CC"/>
                </a:solidFill>
                <a:latin typeface="宋体" panose="02010600030101010101" pitchFamily="2" charset="-122"/>
                <a:ea typeface="宋体" panose="02010600030101010101" pitchFamily="2" charset="-122"/>
              </a:rPr>
              <a:t>（</a:t>
            </a:r>
            <a:r>
              <a:rPr lang="en-US" altLang="x-none" sz="2600" dirty="0">
                <a:solidFill>
                  <a:srgbClr val="0033CC"/>
                </a:solidFill>
                <a:latin typeface="宋体" panose="02010600030101010101" pitchFamily="2" charset="-122"/>
                <a:ea typeface="宋体" panose="02010600030101010101" pitchFamily="2" charset="-122"/>
              </a:rPr>
              <a:t>2</a:t>
            </a:r>
            <a:r>
              <a:rPr lang="zh-CN" altLang="en-US" sz="2600" dirty="0">
                <a:solidFill>
                  <a:srgbClr val="0033CC"/>
                </a:solidFill>
                <a:latin typeface="宋体" panose="02010600030101010101" pitchFamily="2" charset="-122"/>
                <a:ea typeface="宋体" panose="02010600030101010101" pitchFamily="2" charset="-122"/>
              </a:rPr>
              <a:t>）完整性约束的定义</a:t>
            </a:r>
            <a:endParaRPr lang="zh-CN" altLang="en-US" sz="2600" dirty="0">
              <a:solidFill>
                <a:srgbClr val="0033CC"/>
              </a:solidFill>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ext Box 2"/>
          <p:cNvSpPr txBox="1"/>
          <p:nvPr/>
        </p:nvSpPr>
        <p:spPr>
          <a:xfrm>
            <a:off x="609600" y="1443038"/>
            <a:ext cx="8024813" cy="1276350"/>
          </a:xfrm>
          <a:prstGeom prst="rect">
            <a:avLst/>
          </a:prstGeom>
          <a:noFill/>
          <a:ln w="9525">
            <a:noFill/>
          </a:ln>
        </p:spPr>
        <p:txBody>
          <a:bodyPr anchor="t">
            <a:spAutoFit/>
          </a:bodyPr>
          <a:lstStyle/>
          <a:p>
            <a:pPr lvl="0" indent="0">
              <a:spcBef>
                <a:spcPts val="600"/>
              </a:spcBef>
              <a:buFont typeface="Wingdings" panose="05000000000000000000" pitchFamily="2" charset="2"/>
              <a:buChar char="p"/>
            </a:pPr>
            <a:r>
              <a:rPr lang="zh-CN" altLang="en-US" sz="2400" u="sng" dirty="0">
                <a:solidFill>
                  <a:srgbClr val="FF0000"/>
                </a:solidFill>
                <a:latin typeface="宋体" panose="02010600030101010101" pitchFamily="2" charset="-122"/>
                <a:ea typeface="宋体" panose="02010600030101010101" pitchFamily="2" charset="-122"/>
              </a:rPr>
              <a:t>断言概念：</a:t>
            </a:r>
            <a:r>
              <a:rPr lang="zh-CN" altLang="en-US" sz="2400" dirty="0">
                <a:solidFill>
                  <a:srgbClr val="0000CC"/>
                </a:solidFill>
                <a:latin typeface="宋体" panose="02010600030101010101" pitchFamily="2" charset="-122"/>
                <a:ea typeface="宋体" panose="02010600030101010101" pitchFamily="2" charset="-122"/>
              </a:rPr>
              <a:t>指的是数据库状态应满足的逻辑条件。</a:t>
            </a:r>
            <a:endParaRPr lang="zh-CN" altLang="en-US" sz="2400" dirty="0">
              <a:solidFill>
                <a:srgbClr val="0000CC"/>
              </a:solidFill>
              <a:latin typeface="宋体" panose="02010600030101010101" pitchFamily="2" charset="-122"/>
              <a:ea typeface="宋体" panose="02010600030101010101" pitchFamily="2" charset="-122"/>
            </a:endParaRPr>
          </a:p>
          <a:p>
            <a:pPr lvl="0" indent="0">
              <a:spcBef>
                <a:spcPts val="600"/>
              </a:spcBef>
              <a:buFont typeface="Wingdings" panose="05000000000000000000" pitchFamily="2" charset="2"/>
              <a:buChar char="p"/>
            </a:pPr>
            <a:r>
              <a:rPr lang="zh-CN" altLang="en-US" sz="2400" u="sng" dirty="0">
                <a:solidFill>
                  <a:srgbClr val="FF0000"/>
                </a:solidFill>
                <a:latin typeface="宋体" panose="02010600030101010101" pitchFamily="2" charset="-122"/>
                <a:ea typeface="宋体" panose="02010600030101010101" pitchFamily="2" charset="-122"/>
              </a:rPr>
              <a:t>方法：</a:t>
            </a:r>
            <a:r>
              <a:rPr lang="zh-CN" altLang="en-US" sz="2400" dirty="0">
                <a:solidFill>
                  <a:srgbClr val="0000CC"/>
                </a:solidFill>
                <a:latin typeface="宋体" panose="02010600030101010101" pitchFamily="2" charset="-122"/>
                <a:ea typeface="宋体" panose="02010600030101010101" pitchFamily="2" charset="-122"/>
              </a:rPr>
              <a:t>将定义与验证</a:t>
            </a:r>
            <a:r>
              <a:rPr lang="en-US" altLang="x-none" sz="2400" dirty="0">
                <a:solidFill>
                  <a:srgbClr val="0000CC"/>
                </a:solidFill>
                <a:latin typeface="宋体" panose="02010600030101010101" pitchFamily="2" charset="-122"/>
                <a:ea typeface="宋体" panose="02010600030101010101" pitchFamily="2" charset="-122"/>
              </a:rPr>
              <a:t>(</a:t>
            </a:r>
            <a:r>
              <a:rPr lang="zh-CN" altLang="en-US" sz="2400" dirty="0">
                <a:solidFill>
                  <a:srgbClr val="0000CC"/>
                </a:solidFill>
                <a:latin typeface="宋体" panose="02010600030101010101" pitchFamily="2" charset="-122"/>
                <a:ea typeface="宋体" panose="02010600030101010101" pitchFamily="2" charset="-122"/>
              </a:rPr>
              <a:t>完整性控制系统</a:t>
            </a:r>
            <a:r>
              <a:rPr lang="en-US" altLang="x-none" sz="2400" dirty="0">
                <a:solidFill>
                  <a:srgbClr val="0000CC"/>
                </a:solidFill>
                <a:latin typeface="宋体" panose="02010600030101010101" pitchFamily="2" charset="-122"/>
                <a:ea typeface="宋体" panose="02010600030101010101" pitchFamily="2" charset="-122"/>
              </a:rPr>
              <a:t>ICS)</a:t>
            </a:r>
            <a:r>
              <a:rPr lang="zh-CN" altLang="en-US" sz="2400" dirty="0">
                <a:solidFill>
                  <a:srgbClr val="0000CC"/>
                </a:solidFill>
                <a:latin typeface="宋体" panose="02010600030101010101" pitchFamily="2" charset="-122"/>
                <a:ea typeface="宋体" panose="02010600030101010101" pitchFamily="2" charset="-122"/>
              </a:rPr>
              <a:t>分开。定义采用断言定义语言</a:t>
            </a:r>
            <a:r>
              <a:rPr lang="en-US" altLang="x-none" sz="2400" dirty="0">
                <a:solidFill>
                  <a:srgbClr val="0000CC"/>
                </a:solidFill>
                <a:latin typeface="宋体" panose="02010600030101010101" pitchFamily="2" charset="-122"/>
                <a:ea typeface="宋体" panose="02010600030101010101" pitchFamily="2" charset="-122"/>
              </a:rPr>
              <a:t>ASL</a:t>
            </a:r>
            <a:r>
              <a:rPr lang="zh-CN" altLang="en-US" sz="2400" dirty="0">
                <a:solidFill>
                  <a:srgbClr val="0000CC"/>
                </a:solidFill>
                <a:latin typeface="宋体" panose="02010600030101010101" pitchFamily="2" charset="-122"/>
                <a:ea typeface="宋体" panose="02010600030101010101" pitchFamily="2" charset="-122"/>
              </a:rPr>
              <a:t>。</a:t>
            </a:r>
            <a:endParaRPr lang="zh-CN" altLang="en-US" sz="2400" dirty="0">
              <a:solidFill>
                <a:srgbClr val="0000CC"/>
              </a:solidFill>
              <a:latin typeface="宋体" panose="02010600030101010101" pitchFamily="2" charset="-122"/>
              <a:ea typeface="宋体" panose="02010600030101010101" pitchFamily="2" charset="-122"/>
            </a:endParaRPr>
          </a:p>
        </p:txBody>
      </p:sp>
      <p:graphicFrame>
        <p:nvGraphicFramePr>
          <p:cNvPr id="41986" name="Object 2"/>
          <p:cNvGraphicFramePr>
            <a:graphicFrameLocks noGrp="1" noChangeAspect="1"/>
          </p:cNvGraphicFramePr>
          <p:nvPr/>
        </p:nvGraphicFramePr>
        <p:xfrm>
          <a:off x="538163" y="2579688"/>
          <a:ext cx="8243887" cy="3892550"/>
        </p:xfrm>
        <a:graphic>
          <a:graphicData uri="http://schemas.openxmlformats.org/presentationml/2006/ole">
            <mc:AlternateContent xmlns:mc="http://schemas.openxmlformats.org/markup-compatibility/2006">
              <mc:Choice xmlns:v="urn:schemas-microsoft-com:vml" Requires="v">
                <p:oleObj spid="_x0000_s6166" name="" r:id="rId1" imgW="2828925" imgH="1333500" progId="Word.Picture.8">
                  <p:embed/>
                </p:oleObj>
              </mc:Choice>
              <mc:Fallback>
                <p:oleObj name="" r:id="rId1" imgW="2828925" imgH="1333500" progId="Word.Picture.8">
                  <p:embed/>
                  <p:pic>
                    <p:nvPicPr>
                      <p:cNvPr id="0" name="图片 3077"/>
                      <p:cNvPicPr/>
                      <p:nvPr/>
                    </p:nvPicPr>
                    <p:blipFill>
                      <a:blip r:embed="rId2"/>
                      <a:stretch>
                        <a:fillRect/>
                      </a:stretch>
                    </p:blipFill>
                    <p:spPr>
                      <a:xfrm>
                        <a:off x="538163" y="2579688"/>
                        <a:ext cx="8243887" cy="3892550"/>
                      </a:xfrm>
                      <a:prstGeom prst="rect">
                        <a:avLst/>
                      </a:prstGeom>
                      <a:noFill/>
                      <a:ln w="38100">
                        <a:noFill/>
                        <a:miter/>
                      </a:ln>
                    </p:spPr>
                  </p:pic>
                </p:oleObj>
              </mc:Fallback>
            </mc:AlternateContent>
          </a:graphicData>
        </a:graphic>
      </p:graphicFrame>
      <p:sp>
        <p:nvSpPr>
          <p:cNvPr id="41987" name="Rectangle 2"/>
          <p:cNvSpPr/>
          <p:nvPr/>
        </p:nvSpPr>
        <p:spPr>
          <a:xfrm>
            <a:off x="457200" y="68263"/>
            <a:ext cx="8229600" cy="692150"/>
          </a:xfrm>
          <a:prstGeom prst="rect">
            <a:avLst/>
          </a:prstGeom>
          <a:noFill/>
          <a:ln w="9525">
            <a:noFill/>
          </a:ln>
        </p:spPr>
        <p:txBody>
          <a:bodyPr anchor="ctr"/>
          <a:lstStyle/>
          <a:p>
            <a:pPr lvl="0" indent="0"/>
            <a:r>
              <a:rPr lang="zh-CN" altLang="en-US" sz="3200" dirty="0">
                <a:solidFill>
                  <a:srgbClr val="FF0000"/>
                </a:solidFill>
                <a:latin typeface="Arial" panose="020B0604020202020204" pitchFamily="34" charset="0"/>
                <a:ea typeface="黑体" panose="02010609060101010101" pitchFamily="1" charset="-122"/>
              </a:rPr>
              <a:t>三、数据库的完整性</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41988" name="Rectangle 2"/>
          <p:cNvSpPr txBox="1"/>
          <p:nvPr/>
        </p:nvSpPr>
        <p:spPr>
          <a:xfrm>
            <a:off x="536575" y="755650"/>
            <a:ext cx="5689600" cy="576263"/>
          </a:xfrm>
          <a:prstGeom prst="rect">
            <a:avLst/>
          </a:prstGeom>
          <a:noFill/>
          <a:ln w="9525">
            <a:noFill/>
          </a:ln>
        </p:spPr>
        <p:txBody>
          <a:bodyPr anchor="t"/>
          <a:lstStyle/>
          <a:p>
            <a:pPr marL="457200" lvl="0" indent="-457200" defTabSz="0">
              <a:lnSpc>
                <a:spcPct val="135000"/>
              </a:lnSpc>
              <a:tabLst>
                <a:tab pos="1428750" algn="l"/>
              </a:tabLst>
            </a:pPr>
            <a:r>
              <a:rPr lang="en-US" altLang="x-none" sz="2800" dirty="0">
                <a:solidFill>
                  <a:srgbClr val="0033CC"/>
                </a:solidFill>
                <a:latin typeface="黑体" panose="02010609060101010101" pitchFamily="1" charset="-122"/>
                <a:ea typeface="黑体" panose="02010609060101010101" pitchFamily="1" charset="-122"/>
              </a:rPr>
              <a:t>2.</a:t>
            </a:r>
            <a:r>
              <a:rPr lang="en-US" altLang="x-none" sz="2800" dirty="0">
                <a:solidFill>
                  <a:srgbClr val="CC3300"/>
                </a:solidFill>
                <a:latin typeface="Times New Roman" panose="02020603050405020304" pitchFamily="2" charset="0"/>
                <a:ea typeface="宋体" panose="02010600030101010101" pitchFamily="2" charset="-122"/>
              </a:rPr>
              <a:t> </a:t>
            </a:r>
            <a:r>
              <a:rPr lang="zh-CN" altLang="en-US" sz="2800" dirty="0">
                <a:solidFill>
                  <a:srgbClr val="0033CC"/>
                </a:solidFill>
                <a:latin typeface="黑体" panose="02010609060101010101" pitchFamily="1" charset="-122"/>
                <a:ea typeface="黑体" panose="02010609060101010101" pitchFamily="1" charset="-122"/>
              </a:rPr>
              <a:t>完整性的约束类型</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41989" name="矩形 5"/>
          <p:cNvSpPr/>
          <p:nvPr/>
        </p:nvSpPr>
        <p:spPr>
          <a:xfrm>
            <a:off x="6135688" y="908050"/>
            <a:ext cx="2363787" cy="492125"/>
          </a:xfrm>
          <a:prstGeom prst="rect">
            <a:avLst/>
          </a:prstGeom>
          <a:noFill/>
          <a:ln w="9525">
            <a:noFill/>
          </a:ln>
        </p:spPr>
        <p:txBody>
          <a:bodyPr wrap="none" anchor="t">
            <a:spAutoFit/>
          </a:bodyPr>
          <a:lstStyle/>
          <a:p>
            <a:pPr lvl="0" indent="0"/>
            <a:r>
              <a:rPr lang="zh-CN" altLang="en-US" sz="2600" dirty="0">
                <a:solidFill>
                  <a:srgbClr val="0033CC"/>
                </a:solidFill>
                <a:latin typeface="宋体" panose="02010600030101010101" pitchFamily="2" charset="-122"/>
                <a:ea typeface="宋体" panose="02010600030101010101" pitchFamily="2" charset="-122"/>
              </a:rPr>
              <a:t>（</a:t>
            </a:r>
            <a:r>
              <a:rPr lang="en-US" altLang="x-none" sz="2600" dirty="0">
                <a:solidFill>
                  <a:srgbClr val="0033CC"/>
                </a:solidFill>
                <a:latin typeface="宋体" panose="02010600030101010101" pitchFamily="2" charset="-122"/>
                <a:ea typeface="宋体" panose="02010600030101010101" pitchFamily="2" charset="-122"/>
              </a:rPr>
              <a:t>3</a:t>
            </a:r>
            <a:r>
              <a:rPr lang="zh-CN" altLang="en-US" sz="2600" dirty="0">
                <a:solidFill>
                  <a:srgbClr val="0033CC"/>
                </a:solidFill>
                <a:latin typeface="宋体" panose="02010600030101010101" pitchFamily="2" charset="-122"/>
                <a:ea typeface="宋体" panose="02010600030101010101" pitchFamily="2" charset="-122"/>
              </a:rPr>
              <a:t>）断言定义</a:t>
            </a:r>
            <a:endParaRPr lang="zh-CN" altLang="en-US" sz="2600" dirty="0">
              <a:solidFill>
                <a:srgbClr val="0033CC"/>
              </a:solidFill>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4"/>
          <p:cNvSpPr txBox="1"/>
          <p:nvPr/>
        </p:nvSpPr>
        <p:spPr>
          <a:xfrm>
            <a:off x="574675" y="1446213"/>
            <a:ext cx="8569325" cy="4926012"/>
          </a:xfrm>
          <a:prstGeom prst="rect">
            <a:avLst/>
          </a:prstGeom>
          <a:noFill/>
          <a:ln w="9525">
            <a:noFill/>
          </a:ln>
        </p:spPr>
        <p:txBody>
          <a:bodyPr anchor="t"/>
          <a:lstStyle/>
          <a:p>
            <a:pPr lvl="0" indent="0" eaLnBrk="0" hangingPunct="0">
              <a:spcBef>
                <a:spcPct val="200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定义断言：</a:t>
            </a:r>
            <a:endParaRPr lang="zh-CN" altLang="en-US" sz="2400" dirty="0">
              <a:latin typeface="华文楷体" panose="02010600040101010101" pitchFamily="2" charset="-122"/>
              <a:ea typeface="宋体" panose="02010600030101010101" pitchFamily="2" charset="-122"/>
            </a:endParaRPr>
          </a:p>
          <a:p>
            <a:pPr lvl="0" indent="0" eaLnBrk="0" hangingPunct="0">
              <a:lnSpc>
                <a:spcPct val="110000"/>
              </a:lnSpc>
              <a:spcBef>
                <a:spcPct val="20000"/>
              </a:spcBef>
              <a:buClr>
                <a:srgbClr val="0033CC"/>
              </a:buClr>
              <a:buSzPct val="80000"/>
            </a:pPr>
            <a:r>
              <a:rPr lang="zh-CN" altLang="en-US" sz="2200" dirty="0">
                <a:latin typeface="华文楷体" panose="02010600040101010101" pitchFamily="2" charset="-122"/>
                <a:ea typeface="宋体" panose="02010600030101010101" pitchFamily="2" charset="-122"/>
              </a:rPr>
              <a:t>  </a:t>
            </a:r>
            <a:r>
              <a:rPr lang="en-US" altLang="x-none" sz="2200" dirty="0">
                <a:latin typeface="华文楷体" panose="02010600040101010101" pitchFamily="2" charset="-122"/>
                <a:ea typeface="宋体" panose="02010600030101010101" pitchFamily="2" charset="-122"/>
              </a:rPr>
              <a:t>CREATE ASSERTION &lt;</a:t>
            </a:r>
            <a:r>
              <a:rPr lang="zh-CN" altLang="en-US" sz="2200" dirty="0">
                <a:latin typeface="华文楷体" panose="02010600040101010101" pitchFamily="2" charset="-122"/>
                <a:ea typeface="宋体" panose="02010600030101010101" pitchFamily="2" charset="-122"/>
              </a:rPr>
              <a:t>断言约束名</a:t>
            </a:r>
            <a:r>
              <a:rPr lang="en-US" altLang="x-none" sz="2200" dirty="0">
                <a:latin typeface="华文楷体" panose="02010600040101010101" pitchFamily="2" charset="-122"/>
                <a:ea typeface="宋体" panose="02010600030101010101" pitchFamily="2" charset="-122"/>
              </a:rPr>
              <a:t>&gt;  CHECK (&lt;</a:t>
            </a:r>
            <a:r>
              <a:rPr lang="zh-CN" altLang="en-US" sz="2200" dirty="0">
                <a:latin typeface="华文楷体" panose="02010600040101010101" pitchFamily="2" charset="-122"/>
                <a:ea typeface="宋体" panose="02010600030101010101" pitchFamily="2" charset="-122"/>
              </a:rPr>
              <a:t>条件表达式</a:t>
            </a:r>
            <a:r>
              <a:rPr lang="en-US" altLang="x-none" sz="2200" dirty="0">
                <a:latin typeface="华文楷体" panose="02010600040101010101" pitchFamily="2" charset="-122"/>
                <a:ea typeface="宋体" panose="02010600030101010101" pitchFamily="2" charset="-122"/>
              </a:rPr>
              <a:t>&gt; )</a:t>
            </a:r>
            <a:endParaRPr lang="en-US" altLang="x-none" sz="2200" dirty="0">
              <a:latin typeface="华文楷体" panose="02010600040101010101" pitchFamily="2" charset="-122"/>
              <a:ea typeface="宋体" panose="02010600030101010101" pitchFamily="2" charset="-122"/>
            </a:endParaRPr>
          </a:p>
          <a:p>
            <a:pPr lvl="0" indent="0" eaLnBrk="0" hangingPunct="0">
              <a:lnSpc>
                <a:spcPct val="110000"/>
              </a:lnSpc>
              <a:spcBef>
                <a:spcPct val="20000"/>
              </a:spcBef>
              <a:buClr>
                <a:srgbClr val="0033CC"/>
              </a:buClr>
              <a:buSzPct val="80000"/>
            </a:pPr>
            <a:r>
              <a:rPr lang="zh-CN" altLang="en-US" sz="2400" dirty="0">
                <a:latin typeface="华文楷体" panose="02010600040101010101" pitchFamily="2" charset="-122"/>
                <a:ea typeface="宋体" panose="02010600030101010101" pitchFamily="2" charset="-122"/>
              </a:rPr>
              <a:t>例如：限定计算机图书的作者一定是男性。</a:t>
            </a:r>
            <a:endParaRPr lang="zh-CN" altLang="en-US" sz="2400" dirty="0">
              <a:latin typeface="华文楷体" panose="02010600040101010101" pitchFamily="2" charset="-122"/>
              <a:ea typeface="宋体" panose="02010600030101010101" pitchFamily="2" charset="-122"/>
            </a:endParaRPr>
          </a:p>
          <a:p>
            <a:pPr lvl="0" indent="0" eaLnBrk="0" hangingPunct="0">
              <a:lnSpc>
                <a:spcPct val="110000"/>
              </a:lnSpc>
              <a:spcBef>
                <a:spcPts val="20"/>
              </a:spcBef>
              <a:spcAft>
                <a:spcPts val="0"/>
              </a:spcAft>
              <a:buClr>
                <a:srgbClr val="0033CC"/>
              </a:buClr>
              <a:buSzPct val="80000"/>
            </a:pPr>
            <a:r>
              <a:rPr lang="en-US" altLang="x-none" sz="2400" dirty="0">
                <a:solidFill>
                  <a:srgbClr val="CC0000"/>
                </a:solidFill>
                <a:latin typeface="华文楷体" panose="02010600040101010101" pitchFamily="2" charset="-122"/>
                <a:ea typeface="宋体" panose="02010600030101010101" pitchFamily="2" charset="-122"/>
              </a:rPr>
              <a:t>Book</a:t>
            </a:r>
            <a:r>
              <a:rPr lang="zh-CN" altLang="en-US" sz="2400" dirty="0">
                <a:solidFill>
                  <a:srgbClr val="CC0000"/>
                </a:solidFill>
                <a:latin typeface="华文楷体" panose="02010600040101010101" pitchFamily="2" charset="-122"/>
                <a:ea typeface="宋体" panose="02010600030101010101" pitchFamily="2" charset="-122"/>
              </a:rPr>
              <a:t>（</a:t>
            </a:r>
            <a:r>
              <a:rPr lang="en-US" altLang="x-none" sz="2400" u="sng" dirty="0">
                <a:solidFill>
                  <a:srgbClr val="CC0000"/>
                </a:solidFill>
                <a:latin typeface="华文楷体" panose="02010600040101010101" pitchFamily="2" charset="-122"/>
                <a:ea typeface="宋体" panose="02010600030101010101" pitchFamily="2" charset="-122"/>
              </a:rPr>
              <a:t>ISBN</a:t>
            </a:r>
            <a:r>
              <a:rPr lang="zh-CN" altLang="en-US" sz="2400" dirty="0">
                <a:solidFill>
                  <a:srgbClr val="CC0000"/>
                </a:solidFill>
                <a:latin typeface="华文楷体" panose="02010600040101010101" pitchFamily="2" charset="-122"/>
                <a:ea typeface="宋体" panose="02010600030101010101" pitchFamily="2" charset="-122"/>
              </a:rPr>
              <a:t>，</a:t>
            </a:r>
            <a:r>
              <a:rPr lang="en-US" altLang="x-none" sz="2400" dirty="0">
                <a:solidFill>
                  <a:srgbClr val="CC0000"/>
                </a:solidFill>
                <a:latin typeface="华文楷体" panose="02010600040101010101" pitchFamily="2" charset="-122"/>
                <a:ea typeface="宋体" panose="02010600030101010101" pitchFamily="2" charset="-122"/>
              </a:rPr>
              <a:t>title, bookType price, pubYear, publisher)</a:t>
            </a:r>
            <a:endParaRPr lang="en-US" altLang="x-none" sz="2400" dirty="0">
              <a:solidFill>
                <a:srgbClr val="CC0000"/>
              </a:solidFill>
              <a:latin typeface="华文楷体" panose="02010600040101010101" pitchFamily="2" charset="-122"/>
              <a:ea typeface="宋体" panose="02010600030101010101" pitchFamily="2" charset="-122"/>
            </a:endParaRPr>
          </a:p>
          <a:p>
            <a:pPr lvl="0" indent="0" eaLnBrk="0" hangingPunct="0">
              <a:lnSpc>
                <a:spcPct val="110000"/>
              </a:lnSpc>
              <a:spcBef>
                <a:spcPts val="20"/>
              </a:spcBef>
              <a:spcAft>
                <a:spcPts val="0"/>
              </a:spcAft>
              <a:buClr>
                <a:srgbClr val="0033CC"/>
              </a:buClr>
              <a:buSzPct val="80000"/>
            </a:pPr>
            <a:r>
              <a:rPr lang="en-US" altLang="x-none" sz="2400" dirty="0">
                <a:solidFill>
                  <a:srgbClr val="CC0000"/>
                </a:solidFill>
                <a:latin typeface="华文楷体" panose="02010600040101010101" pitchFamily="2" charset="-122"/>
                <a:ea typeface="宋体" panose="02010600030101010101" pitchFamily="2" charset="-122"/>
              </a:rPr>
              <a:t>Author (</a:t>
            </a:r>
            <a:r>
              <a:rPr lang="en-US" altLang="x-none" sz="2400" u="sng" dirty="0">
                <a:solidFill>
                  <a:srgbClr val="CC0000"/>
                </a:solidFill>
                <a:latin typeface="华文楷体" panose="02010600040101010101" pitchFamily="2" charset="-122"/>
                <a:ea typeface="宋体" panose="02010600030101010101" pitchFamily="2" charset="-122"/>
              </a:rPr>
              <a:t>ISBN</a:t>
            </a:r>
            <a:r>
              <a:rPr lang="zh-CN" altLang="en-US" sz="2400" u="sng" dirty="0">
                <a:solidFill>
                  <a:srgbClr val="CC0000"/>
                </a:solidFill>
                <a:latin typeface="华文楷体" panose="02010600040101010101" pitchFamily="2" charset="-122"/>
                <a:ea typeface="宋体" panose="02010600030101010101" pitchFamily="2" charset="-122"/>
              </a:rPr>
              <a:t>，</a:t>
            </a:r>
            <a:r>
              <a:rPr lang="en-US" altLang="x-none" sz="2400" u="sng" dirty="0">
                <a:solidFill>
                  <a:srgbClr val="CC0000"/>
                </a:solidFill>
                <a:latin typeface="华文楷体" panose="02010600040101010101" pitchFamily="2" charset="-122"/>
                <a:ea typeface="宋体" panose="02010600030101010101" pitchFamily="2" charset="-122"/>
              </a:rPr>
              <a:t>name</a:t>
            </a:r>
            <a:r>
              <a:rPr lang="en-US" altLang="x-none" sz="2400" dirty="0">
                <a:solidFill>
                  <a:srgbClr val="CC0000"/>
                </a:solidFill>
                <a:latin typeface="华文楷体" panose="02010600040101010101" pitchFamily="2" charset="-122"/>
                <a:ea typeface="宋体" panose="02010600030101010101" pitchFamily="2" charset="-122"/>
              </a:rPr>
              <a:t>, gender, DOB,) </a:t>
            </a:r>
            <a:endParaRPr lang="en-US" altLang="x-none" sz="2400" dirty="0">
              <a:solidFill>
                <a:srgbClr val="CC0000"/>
              </a:solidFill>
              <a:latin typeface="华文楷体" panose="02010600040101010101" pitchFamily="2" charset="-122"/>
              <a:ea typeface="宋体" panose="02010600030101010101" pitchFamily="2" charset="-122"/>
            </a:endParaRPr>
          </a:p>
          <a:p>
            <a:pPr lvl="0" indent="0" eaLnBrk="0" hangingPunct="0">
              <a:lnSpc>
                <a:spcPct val="110000"/>
              </a:lnSpc>
              <a:spcBef>
                <a:spcPts val="20"/>
              </a:spcBef>
              <a:spcAft>
                <a:spcPts val="0"/>
              </a:spcAft>
              <a:buClr>
                <a:srgbClr val="0033CC"/>
              </a:buClr>
              <a:buSzPct val="80000"/>
            </a:pPr>
            <a:r>
              <a:rPr lang="en-US" altLang="x-none" sz="2400" dirty="0">
                <a:latin typeface="华文楷体" panose="02010600040101010101" pitchFamily="2" charset="-122"/>
                <a:ea typeface="宋体" panose="02010600030101010101" pitchFamily="2" charset="-122"/>
              </a:rPr>
              <a:t>CREATE ASSERTION CompAuthorConstr CHECK</a:t>
            </a:r>
            <a:endParaRPr lang="en-US" altLang="x-none" sz="2400" dirty="0">
              <a:latin typeface="华文楷体" panose="02010600040101010101" pitchFamily="2" charset="-122"/>
              <a:ea typeface="宋体" panose="02010600030101010101" pitchFamily="2" charset="-122"/>
            </a:endParaRPr>
          </a:p>
          <a:p>
            <a:pPr lvl="0" indent="0" eaLnBrk="0" hangingPunct="0">
              <a:lnSpc>
                <a:spcPct val="110000"/>
              </a:lnSpc>
              <a:spcBef>
                <a:spcPts val="20"/>
              </a:spcBef>
              <a:spcAft>
                <a:spcPts val="0"/>
              </a:spcAft>
              <a:buClr>
                <a:srgbClr val="0033CC"/>
              </a:buClr>
              <a:buSzPct val="80000"/>
            </a:pPr>
            <a:r>
              <a:rPr lang="en-US" altLang="x-none" sz="2400" dirty="0">
                <a:latin typeface="华文楷体" panose="02010600040101010101" pitchFamily="2" charset="-122"/>
                <a:ea typeface="宋体" panose="02010600030101010101" pitchFamily="2" charset="-122"/>
              </a:rPr>
              <a:t>  (NOT EXISTS (SELECT name FROM Book</a:t>
            </a:r>
            <a:r>
              <a:rPr lang="zh-CN" altLang="en-US" sz="2400" dirty="0">
                <a:latin typeface="华文楷体" panose="02010600040101010101" pitchFamily="2" charset="-122"/>
                <a:ea typeface="宋体" panose="02010600030101010101" pitchFamily="2" charset="-122"/>
              </a:rPr>
              <a:t>，</a:t>
            </a:r>
            <a:r>
              <a:rPr lang="en-US" altLang="x-none" sz="2400" dirty="0">
                <a:latin typeface="华文楷体" panose="02010600040101010101" pitchFamily="2" charset="-122"/>
                <a:ea typeface="宋体" panose="02010600030101010101" pitchFamily="2" charset="-122"/>
              </a:rPr>
              <a:t>Author </a:t>
            </a:r>
            <a:endParaRPr lang="en-US" altLang="x-none" sz="2400" dirty="0">
              <a:latin typeface="华文楷体" panose="02010600040101010101" pitchFamily="2" charset="-122"/>
              <a:ea typeface="宋体" panose="02010600030101010101" pitchFamily="2" charset="-122"/>
            </a:endParaRPr>
          </a:p>
          <a:p>
            <a:pPr lvl="0" indent="0" eaLnBrk="0" hangingPunct="0">
              <a:lnSpc>
                <a:spcPct val="110000"/>
              </a:lnSpc>
              <a:spcBef>
                <a:spcPts val="20"/>
              </a:spcBef>
              <a:spcAft>
                <a:spcPts val="0"/>
              </a:spcAft>
              <a:buClr>
                <a:srgbClr val="0033CC"/>
              </a:buClr>
              <a:buSzPct val="80000"/>
            </a:pPr>
            <a:r>
              <a:rPr lang="en-US" altLang="x-none" sz="2400" dirty="0">
                <a:latin typeface="华文楷体" panose="02010600040101010101" pitchFamily="2" charset="-122"/>
                <a:ea typeface="宋体" panose="02010600030101010101" pitchFamily="2" charset="-122"/>
              </a:rPr>
              <a:t>               WHERE gender=‘F’</a:t>
            </a:r>
            <a:endParaRPr lang="en-US" altLang="x-none" sz="2400" dirty="0">
              <a:latin typeface="华文楷体" panose="02010600040101010101" pitchFamily="2" charset="-122"/>
              <a:ea typeface="宋体" panose="02010600030101010101" pitchFamily="2" charset="-122"/>
            </a:endParaRPr>
          </a:p>
          <a:p>
            <a:pPr lvl="0" indent="0" eaLnBrk="0" hangingPunct="0">
              <a:lnSpc>
                <a:spcPct val="110000"/>
              </a:lnSpc>
              <a:spcBef>
                <a:spcPts val="20"/>
              </a:spcBef>
              <a:spcAft>
                <a:spcPts val="0"/>
              </a:spcAft>
              <a:buClr>
                <a:srgbClr val="0033CC"/>
              </a:buClr>
              <a:buSzPct val="80000"/>
            </a:pPr>
            <a:r>
              <a:rPr lang="en-US" altLang="x-none" sz="2400" dirty="0">
                <a:latin typeface="华文楷体" panose="02010600040101010101" pitchFamily="2" charset="-122"/>
                <a:ea typeface="宋体" panose="02010600030101010101" pitchFamily="2" charset="-122"/>
              </a:rPr>
              <a:t>                 AND Author.ISBN = Book.ISBN </a:t>
            </a:r>
            <a:endParaRPr lang="en-US" altLang="x-none" sz="2400" dirty="0">
              <a:latin typeface="华文楷体" panose="02010600040101010101" pitchFamily="2" charset="-122"/>
              <a:ea typeface="宋体" panose="02010600030101010101" pitchFamily="2" charset="-122"/>
            </a:endParaRPr>
          </a:p>
          <a:p>
            <a:pPr lvl="0" indent="0" eaLnBrk="0" hangingPunct="0">
              <a:lnSpc>
                <a:spcPct val="110000"/>
              </a:lnSpc>
              <a:spcBef>
                <a:spcPts val="20"/>
              </a:spcBef>
              <a:spcAft>
                <a:spcPts val="0"/>
              </a:spcAft>
              <a:buClr>
                <a:srgbClr val="0033CC"/>
              </a:buClr>
              <a:buSzPct val="80000"/>
            </a:pPr>
            <a:r>
              <a:rPr lang="en-US" altLang="x-none" sz="2400" dirty="0">
                <a:latin typeface="华文楷体" panose="02010600040101010101" pitchFamily="2" charset="-122"/>
                <a:ea typeface="宋体" panose="02010600030101010101" pitchFamily="2" charset="-122"/>
              </a:rPr>
              <a:t>                 AND BookType=‘Computer’ </a:t>
            </a:r>
            <a:r>
              <a:rPr lang="zh-CN" altLang="en-US" sz="2400" dirty="0">
                <a:latin typeface="华文楷体" panose="02010600040101010101" pitchFamily="2" charset="-122"/>
                <a:ea typeface="宋体" panose="02010600030101010101" pitchFamily="2" charset="-122"/>
              </a:rPr>
              <a:t>））</a:t>
            </a:r>
            <a:endParaRPr lang="zh-CN" altLang="en-US" sz="2400" dirty="0">
              <a:latin typeface="华文楷体" panose="02010600040101010101" pitchFamily="2" charset="-122"/>
              <a:ea typeface="宋体" panose="02010600030101010101" pitchFamily="2" charset="-122"/>
            </a:endParaRPr>
          </a:p>
          <a:p>
            <a:pPr lvl="0" indent="0" eaLnBrk="0" hangingPunct="0">
              <a:lnSpc>
                <a:spcPct val="110000"/>
              </a:lnSpc>
              <a:spcBef>
                <a:spcPct val="20000"/>
              </a:spcBef>
              <a:buClr>
                <a:srgbClr val="0033CC"/>
              </a:buClr>
              <a:buSzPct val="80000"/>
            </a:pPr>
            <a:r>
              <a:rPr lang="zh-CN" altLang="en-US" sz="2400" dirty="0">
                <a:latin typeface="华文楷体" panose="02010600040101010101" pitchFamily="2" charset="-122"/>
                <a:ea typeface="宋体" panose="02010600030101010101" pitchFamily="2" charset="-122"/>
              </a:rPr>
              <a:t>当查询出的姓名集为空时，</a:t>
            </a:r>
            <a:r>
              <a:rPr lang="en-US" altLang="x-none" sz="2400" dirty="0">
                <a:latin typeface="华文楷体" panose="02010600040101010101" pitchFamily="2" charset="-122"/>
                <a:ea typeface="宋体" panose="02010600030101010101" pitchFamily="2" charset="-122"/>
              </a:rPr>
              <a:t>not exists </a:t>
            </a:r>
            <a:r>
              <a:rPr lang="zh-CN" altLang="en-US" sz="2400" dirty="0">
                <a:latin typeface="华文楷体" panose="02010600040101010101" pitchFamily="2" charset="-122"/>
                <a:ea typeface="宋体" panose="02010600030101010101" pitchFamily="2" charset="-122"/>
              </a:rPr>
              <a:t>条件为真，断言才成立。</a:t>
            </a:r>
            <a:endParaRPr lang="zh-CN" altLang="en-US" sz="2400" dirty="0">
              <a:latin typeface="华文楷体" panose="02010600040101010101" pitchFamily="2" charset="-122"/>
              <a:ea typeface="宋体" panose="02010600030101010101" pitchFamily="2" charset="-122"/>
            </a:endParaRPr>
          </a:p>
        </p:txBody>
      </p:sp>
      <p:sp>
        <p:nvSpPr>
          <p:cNvPr id="43010" name="Rectangle 2"/>
          <p:cNvSpPr/>
          <p:nvPr/>
        </p:nvSpPr>
        <p:spPr>
          <a:xfrm>
            <a:off x="457200" y="68263"/>
            <a:ext cx="8229600" cy="692150"/>
          </a:xfrm>
          <a:prstGeom prst="rect">
            <a:avLst/>
          </a:prstGeom>
          <a:noFill/>
          <a:ln w="9525">
            <a:noFill/>
          </a:ln>
        </p:spPr>
        <p:txBody>
          <a:bodyPr anchor="ctr"/>
          <a:lstStyle/>
          <a:p>
            <a:pPr lvl="0" indent="0"/>
            <a:r>
              <a:rPr lang="zh-CN" altLang="en-US" sz="3200" dirty="0">
                <a:solidFill>
                  <a:srgbClr val="FF0000"/>
                </a:solidFill>
                <a:latin typeface="Arial" panose="020B0604020202020204" pitchFamily="34" charset="0"/>
                <a:ea typeface="黑体" panose="02010609060101010101" pitchFamily="1" charset="-122"/>
              </a:rPr>
              <a:t>三、数据库的完整性</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43011" name="Rectangle 2"/>
          <p:cNvSpPr txBox="1"/>
          <p:nvPr/>
        </p:nvSpPr>
        <p:spPr>
          <a:xfrm>
            <a:off x="536575" y="755650"/>
            <a:ext cx="5689600" cy="576263"/>
          </a:xfrm>
          <a:prstGeom prst="rect">
            <a:avLst/>
          </a:prstGeom>
          <a:noFill/>
          <a:ln w="9525">
            <a:noFill/>
          </a:ln>
        </p:spPr>
        <p:txBody>
          <a:bodyPr anchor="t"/>
          <a:lstStyle/>
          <a:p>
            <a:pPr marL="457200" lvl="0" indent="-457200" defTabSz="0">
              <a:lnSpc>
                <a:spcPct val="135000"/>
              </a:lnSpc>
              <a:tabLst>
                <a:tab pos="1428750" algn="l"/>
              </a:tabLst>
            </a:pPr>
            <a:r>
              <a:rPr lang="en-US" altLang="x-none" sz="2800" dirty="0">
                <a:solidFill>
                  <a:srgbClr val="0033CC"/>
                </a:solidFill>
                <a:latin typeface="黑体" panose="02010609060101010101" pitchFamily="1" charset="-122"/>
                <a:ea typeface="黑体" panose="02010609060101010101" pitchFamily="1" charset="-122"/>
              </a:rPr>
              <a:t>2.</a:t>
            </a:r>
            <a:r>
              <a:rPr lang="en-US" altLang="x-none" sz="2800" dirty="0">
                <a:solidFill>
                  <a:srgbClr val="CC3300"/>
                </a:solidFill>
                <a:latin typeface="Times New Roman" panose="02020603050405020304" pitchFamily="2" charset="0"/>
                <a:ea typeface="宋体" panose="02010600030101010101" pitchFamily="2" charset="-122"/>
              </a:rPr>
              <a:t> </a:t>
            </a:r>
            <a:r>
              <a:rPr lang="zh-CN" altLang="en-US" sz="2800" dirty="0">
                <a:solidFill>
                  <a:srgbClr val="0033CC"/>
                </a:solidFill>
                <a:latin typeface="黑体" panose="02010609060101010101" pitchFamily="1" charset="-122"/>
                <a:ea typeface="黑体" panose="02010609060101010101" pitchFamily="1" charset="-122"/>
              </a:rPr>
              <a:t>完整性的约束类型</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43012" name="矩形 4"/>
          <p:cNvSpPr/>
          <p:nvPr/>
        </p:nvSpPr>
        <p:spPr>
          <a:xfrm>
            <a:off x="5483225" y="1096963"/>
            <a:ext cx="2994025" cy="492125"/>
          </a:xfrm>
          <a:prstGeom prst="rect">
            <a:avLst/>
          </a:prstGeom>
          <a:noFill/>
          <a:ln w="9525">
            <a:noFill/>
          </a:ln>
        </p:spPr>
        <p:txBody>
          <a:bodyPr wrap="none" anchor="t">
            <a:spAutoFit/>
          </a:bodyPr>
          <a:lstStyle/>
          <a:p>
            <a:pPr lvl="0" indent="0">
              <a:buFont typeface="Wingdings" panose="05000000000000000000" pitchFamily="2" charset="2"/>
              <a:buChar char="p"/>
            </a:pPr>
            <a:r>
              <a:rPr lang="zh-CN" altLang="en-US" sz="2600" dirty="0">
                <a:solidFill>
                  <a:srgbClr val="0033CC"/>
                </a:solidFill>
                <a:latin typeface="宋体" panose="02010600030101010101" pitchFamily="2" charset="-122"/>
                <a:ea typeface="宋体" panose="02010600030101010101" pitchFamily="2" charset="-122"/>
              </a:rPr>
              <a:t> 断言约束的例子</a:t>
            </a:r>
            <a:endParaRPr lang="zh-CN" altLang="en-US" sz="2600" dirty="0">
              <a:solidFill>
                <a:srgbClr val="0033CC"/>
              </a:solidFill>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 name="对象 23"/>
          <p:cNvGraphicFramePr/>
          <p:nvPr/>
        </p:nvGraphicFramePr>
        <p:xfrm>
          <a:off x="546100" y="1692910"/>
          <a:ext cx="5983605" cy="2318385"/>
        </p:xfrm>
        <a:graphic>
          <a:graphicData uri="http://schemas.openxmlformats.org/presentationml/2006/ole">
            <mc:AlternateContent xmlns:mc="http://schemas.openxmlformats.org/markup-compatibility/2006">
              <mc:Choice xmlns:v="urn:schemas-microsoft-com:vml" Requires="v">
                <p:oleObj spid="_x0000_s7218" name="" r:id="rId1" imgW="5391150" imgH="2066925" progId="Paint.Picture">
                  <p:embed/>
                </p:oleObj>
              </mc:Choice>
              <mc:Fallback>
                <p:oleObj name="" r:id="rId1" imgW="5391150" imgH="2066925" progId="Paint.Picture">
                  <p:embed/>
                  <p:pic>
                    <p:nvPicPr>
                      <p:cNvPr id="0" name="对象 23"/>
                      <p:cNvPicPr/>
                      <p:nvPr/>
                    </p:nvPicPr>
                    <p:blipFill>
                      <a:blip r:embed="rId2"/>
                      <a:stretch>
                        <a:fillRect/>
                      </a:stretch>
                    </p:blipFill>
                    <p:spPr>
                      <a:xfrm>
                        <a:off x="546100" y="1692910"/>
                        <a:ext cx="5983605" cy="2318385"/>
                      </a:xfrm>
                      <a:prstGeom prst="rect">
                        <a:avLst/>
                      </a:prstGeom>
                    </p:spPr>
                  </p:pic>
                </p:oleObj>
              </mc:Fallback>
            </mc:AlternateContent>
          </a:graphicData>
        </a:graphic>
      </p:graphicFrame>
      <p:graphicFrame>
        <p:nvGraphicFramePr>
          <p:cNvPr id="26" name="对象 25"/>
          <p:cNvGraphicFramePr/>
          <p:nvPr/>
        </p:nvGraphicFramePr>
        <p:xfrm>
          <a:off x="6529705" y="1726565"/>
          <a:ext cx="2310130" cy="2284730"/>
        </p:xfrm>
        <a:graphic>
          <a:graphicData uri="http://schemas.openxmlformats.org/presentationml/2006/ole">
            <mc:AlternateContent xmlns:mc="http://schemas.openxmlformats.org/markup-compatibility/2006">
              <mc:Choice xmlns:v="urn:schemas-microsoft-com:vml" Requires="v">
                <p:oleObj spid="_x0000_s7219" name="" r:id="rId3" imgW="2085975" imgH="2095500" progId="Paint.Picture">
                  <p:embed/>
                </p:oleObj>
              </mc:Choice>
              <mc:Fallback>
                <p:oleObj name="" r:id="rId3" imgW="2085975" imgH="2095500" progId="Paint.Picture">
                  <p:embed/>
                  <p:pic>
                    <p:nvPicPr>
                      <p:cNvPr id="0" name="对象 25"/>
                      <p:cNvPicPr/>
                      <p:nvPr/>
                    </p:nvPicPr>
                    <p:blipFill>
                      <a:blip r:embed="rId4"/>
                      <a:stretch>
                        <a:fillRect/>
                      </a:stretch>
                    </p:blipFill>
                    <p:spPr>
                      <a:xfrm>
                        <a:off x="6529705" y="1726565"/>
                        <a:ext cx="2310130" cy="2284730"/>
                      </a:xfrm>
                      <a:prstGeom prst="rect">
                        <a:avLst/>
                      </a:prstGeom>
                    </p:spPr>
                  </p:pic>
                </p:oleObj>
              </mc:Fallback>
            </mc:AlternateContent>
          </a:graphicData>
        </a:graphic>
      </p:graphicFrame>
      <p:sp>
        <p:nvSpPr>
          <p:cNvPr id="23" name="文本框 22"/>
          <p:cNvSpPr txBox="1"/>
          <p:nvPr/>
        </p:nvSpPr>
        <p:spPr>
          <a:xfrm>
            <a:off x="488315" y="4052570"/>
            <a:ext cx="8387080" cy="2261235"/>
          </a:xfrm>
          <a:prstGeom prst="rect">
            <a:avLst/>
          </a:prstGeom>
          <a:solidFill>
            <a:schemeClr val="bg1"/>
          </a:solidFill>
        </p:spPr>
        <p:txBody>
          <a:bodyPr wrap="square" rtlCol="0" anchor="t">
            <a:spAutoFit/>
          </a:bodyPr>
          <a:lstStyle/>
          <a:p>
            <a:pPr lvl="0">
              <a:lnSpc>
                <a:spcPct val="100000"/>
              </a:lnSpc>
              <a:spcBef>
                <a:spcPts val="20"/>
              </a:spcBef>
              <a:spcAft>
                <a:spcPts val="0"/>
              </a:spcAft>
              <a:buClr>
                <a:srgbClr val="0033CC"/>
              </a:buClr>
              <a:buFont typeface="Wingdings" panose="05000000000000000000" charset="0"/>
              <a:buNone/>
            </a:pPr>
            <a:r>
              <a:rPr sz="2000"/>
              <a:t>create trigger base_trigger on  salary for  Insert,Update AS</a:t>
            </a:r>
            <a:endParaRPr sz="2000"/>
          </a:p>
          <a:p>
            <a:pPr lvl="0">
              <a:lnSpc>
                <a:spcPct val="100000"/>
              </a:lnSpc>
              <a:spcBef>
                <a:spcPts val="20"/>
              </a:spcBef>
              <a:spcAft>
                <a:spcPts val="0"/>
              </a:spcAft>
              <a:buClr>
                <a:srgbClr val="0033CC"/>
              </a:buClr>
              <a:buFont typeface="Wingdings" panose="05000000000000000000" charset="0"/>
              <a:buNone/>
            </a:pPr>
            <a:r>
              <a:rPr sz="2000"/>
              <a:t>   if ((</a:t>
            </a:r>
            <a:r>
              <a:rPr sz="2000">
                <a:solidFill>
                  <a:srgbClr val="3402C2"/>
                </a:solidFill>
                <a:sym typeface="+mn-ea"/>
              </a:rPr>
              <a:t>Select base from inserted</a:t>
            </a:r>
            <a:r>
              <a:rPr sz="2000">
                <a:sym typeface="+mn-ea"/>
              </a:rPr>
              <a:t>)&gt;</a:t>
            </a:r>
            <a:r>
              <a:rPr sz="2000"/>
              <a:t>(</a:t>
            </a:r>
            <a:r>
              <a:rPr sz="2000">
                <a:solidFill>
                  <a:srgbClr val="FF0000"/>
                </a:solidFill>
              </a:rPr>
              <a:t>Select s.base from salary s, </a:t>
            </a:r>
            <a:endParaRPr sz="2000">
              <a:solidFill>
                <a:srgbClr val="FF0000"/>
              </a:solidFill>
            </a:endParaRPr>
          </a:p>
          <a:p>
            <a:pPr lvl="0">
              <a:lnSpc>
                <a:spcPct val="100000"/>
              </a:lnSpc>
              <a:spcBef>
                <a:spcPts val="20"/>
              </a:spcBef>
              <a:spcAft>
                <a:spcPts val="0"/>
              </a:spcAft>
              <a:buClr>
                <a:srgbClr val="0033CC"/>
              </a:buClr>
              <a:buFont typeface="Wingdings" panose="05000000000000000000" charset="0"/>
              <a:buNone/>
            </a:pPr>
            <a:r>
              <a:rPr sz="2000">
                <a:solidFill>
                  <a:srgbClr val="FF0000"/>
                </a:solidFill>
              </a:rPr>
              <a:t>        person p,inserted i where i.p_no=p.p_no and </a:t>
            </a:r>
            <a:endParaRPr sz="2000">
              <a:solidFill>
                <a:srgbClr val="FF0000"/>
              </a:solidFill>
            </a:endParaRPr>
          </a:p>
          <a:p>
            <a:pPr lvl="0">
              <a:lnSpc>
                <a:spcPct val="100000"/>
              </a:lnSpc>
              <a:spcBef>
                <a:spcPts val="20"/>
              </a:spcBef>
              <a:spcAft>
                <a:spcPts val="0"/>
              </a:spcAft>
              <a:buClr>
                <a:srgbClr val="0033CC"/>
              </a:buClr>
              <a:buFont typeface="Wingdings" panose="05000000000000000000" charset="0"/>
              <a:buNone/>
            </a:pPr>
            <a:r>
              <a:rPr sz="2000">
                <a:solidFill>
                  <a:srgbClr val="FF0000"/>
                </a:solidFill>
              </a:rPr>
              <a:t>        s.p_no=p.p_boss)</a:t>
            </a:r>
            <a:r>
              <a:rPr sz="2000"/>
              <a:t>)</a:t>
            </a:r>
            <a:endParaRPr sz="2000"/>
          </a:p>
          <a:p>
            <a:pPr lvl="0">
              <a:lnSpc>
                <a:spcPct val="100000"/>
              </a:lnSpc>
              <a:spcBef>
                <a:spcPts val="20"/>
              </a:spcBef>
              <a:spcAft>
                <a:spcPts val="0"/>
              </a:spcAft>
              <a:buClr>
                <a:srgbClr val="0033CC"/>
              </a:buClr>
              <a:buFont typeface="Wingdings" panose="05000000000000000000" charset="0"/>
              <a:buNone/>
            </a:pPr>
            <a:r>
              <a:rPr sz="2000"/>
              <a:t>   begin print '基本工资过高!'     ROLLBACK TRANSACTION </a:t>
            </a:r>
            <a:endParaRPr sz="2000"/>
          </a:p>
          <a:p>
            <a:pPr lvl="0">
              <a:lnSpc>
                <a:spcPct val="100000"/>
              </a:lnSpc>
              <a:spcBef>
                <a:spcPts val="20"/>
              </a:spcBef>
              <a:spcAft>
                <a:spcPts val="0"/>
              </a:spcAft>
              <a:buClr>
                <a:srgbClr val="0033CC"/>
              </a:buClr>
              <a:buFont typeface="Wingdings" panose="05000000000000000000" charset="0"/>
              <a:buNone/>
            </a:pPr>
            <a:r>
              <a:rPr sz="2000"/>
              <a:t>   RETURN    end</a:t>
            </a:r>
            <a:endParaRPr sz="2000"/>
          </a:p>
          <a:p>
            <a:pPr lvl="0">
              <a:lnSpc>
                <a:spcPct val="100000"/>
              </a:lnSpc>
              <a:spcBef>
                <a:spcPts val="20"/>
              </a:spcBef>
              <a:spcAft>
                <a:spcPts val="0"/>
              </a:spcAft>
              <a:buClr>
                <a:srgbClr val="0033CC"/>
              </a:buClr>
              <a:buFont typeface="Wingdings" panose="05000000000000000000" charset="0"/>
              <a:buNone/>
            </a:pPr>
            <a:r>
              <a:rPr sz="2000"/>
              <a:t>RETURN</a:t>
            </a:r>
            <a:endParaRPr sz="2000"/>
          </a:p>
        </p:txBody>
      </p:sp>
      <p:sp>
        <p:nvSpPr>
          <p:cNvPr id="2" name="文本框 1"/>
          <p:cNvSpPr txBox="1"/>
          <p:nvPr/>
        </p:nvSpPr>
        <p:spPr>
          <a:xfrm>
            <a:off x="488315" y="1268730"/>
            <a:ext cx="1864360" cy="464820"/>
          </a:xfrm>
          <a:prstGeom prst="rect">
            <a:avLst/>
          </a:prstGeom>
          <a:noFill/>
        </p:spPr>
        <p:txBody>
          <a:bodyPr wrap="none" rtlCol="0" anchor="t">
            <a:spAutoFit/>
          </a:bodyPr>
          <a:lstStyle/>
          <a:p>
            <a:pPr>
              <a:buNone/>
            </a:pPr>
            <a:r>
              <a:rPr lang="zh-CN">
                <a:solidFill>
                  <a:srgbClr val="0033CC"/>
                </a:solidFill>
                <a:sym typeface="+mn-ea"/>
              </a:rPr>
              <a:t>员工表：</a:t>
            </a:r>
            <a:r>
              <a:rPr>
                <a:solidFill>
                  <a:srgbClr val="0033CC"/>
                </a:solidFill>
                <a:sym typeface="+mn-ea"/>
              </a:rPr>
              <a:t>person</a:t>
            </a:r>
            <a:endParaRPr lang="zh-CN" altLang="en-US">
              <a:solidFill>
                <a:srgbClr val="0033CC"/>
              </a:solidFill>
              <a:sym typeface="+mn-ea"/>
            </a:endParaRPr>
          </a:p>
        </p:txBody>
      </p:sp>
      <p:sp>
        <p:nvSpPr>
          <p:cNvPr id="3" name="文本框 2"/>
          <p:cNvSpPr txBox="1"/>
          <p:nvPr/>
        </p:nvSpPr>
        <p:spPr>
          <a:xfrm>
            <a:off x="6529705" y="1261745"/>
            <a:ext cx="1762760" cy="464820"/>
          </a:xfrm>
          <a:prstGeom prst="rect">
            <a:avLst/>
          </a:prstGeom>
          <a:noFill/>
        </p:spPr>
        <p:txBody>
          <a:bodyPr wrap="none" rtlCol="0" anchor="t">
            <a:spAutoFit/>
          </a:bodyPr>
          <a:lstStyle/>
          <a:p>
            <a:pPr algn="l">
              <a:buNone/>
            </a:pPr>
            <a:r>
              <a:rPr lang="zh-CN">
                <a:solidFill>
                  <a:srgbClr val="0033CC"/>
                </a:solidFill>
                <a:sym typeface="+mn-ea"/>
              </a:rPr>
              <a:t>工资表：</a:t>
            </a:r>
            <a:r>
              <a:rPr>
                <a:solidFill>
                  <a:srgbClr val="0033CC"/>
                </a:solidFill>
                <a:sym typeface="+mn-ea"/>
              </a:rPr>
              <a:t>salary</a:t>
            </a:r>
            <a:endParaRPr lang="zh-CN" altLang="en-US">
              <a:solidFill>
                <a:srgbClr val="0033CC"/>
              </a:solidFill>
              <a:sym typeface="+mn-ea"/>
            </a:endParaRPr>
          </a:p>
        </p:txBody>
      </p:sp>
      <p:sp>
        <p:nvSpPr>
          <p:cNvPr id="4" name="文本框 3"/>
          <p:cNvSpPr txBox="1"/>
          <p:nvPr/>
        </p:nvSpPr>
        <p:spPr>
          <a:xfrm>
            <a:off x="546100" y="896620"/>
            <a:ext cx="8293735" cy="398780"/>
          </a:xfrm>
          <a:prstGeom prst="rect">
            <a:avLst/>
          </a:prstGeom>
          <a:noFill/>
        </p:spPr>
        <p:txBody>
          <a:bodyPr wrap="square" rtlCol="0" anchor="t">
            <a:spAutoFit/>
          </a:bodyPr>
          <a:lstStyle/>
          <a:p>
            <a:pPr algn="l">
              <a:lnSpc>
                <a:spcPct val="100000"/>
              </a:lnSpc>
              <a:buNone/>
            </a:pPr>
            <a:r>
              <a:rPr lang="zh-CN" altLang="en-US" sz="2000"/>
              <a:t>例：定义触发器</a:t>
            </a:r>
            <a:r>
              <a:rPr sz="2000">
                <a:sym typeface="+mn-ea"/>
              </a:rPr>
              <a:t>base_trigger</a:t>
            </a:r>
            <a:r>
              <a:rPr lang="zh-CN" sz="2000">
                <a:sym typeface="+mn-ea"/>
              </a:rPr>
              <a:t>检验员工的工资不能高于部门经理</a:t>
            </a:r>
            <a:endParaRPr lang="zh-CN" sz="2000">
              <a:sym typeface="+mn-ea"/>
            </a:endParaRPr>
          </a:p>
        </p:txBody>
      </p:sp>
      <p:sp>
        <p:nvSpPr>
          <p:cNvPr id="41987" name="Rectangle 2"/>
          <p:cNvSpPr/>
          <p:nvPr/>
        </p:nvSpPr>
        <p:spPr>
          <a:xfrm>
            <a:off x="457200" y="68263"/>
            <a:ext cx="8229600" cy="692150"/>
          </a:xfrm>
          <a:prstGeom prst="rect">
            <a:avLst/>
          </a:prstGeom>
          <a:noFill/>
          <a:ln w="9525">
            <a:noFill/>
          </a:ln>
        </p:spPr>
        <p:txBody>
          <a:bodyPr anchor="ctr"/>
          <a:lstStyle/>
          <a:p>
            <a:pPr lvl="0" indent="0"/>
            <a:r>
              <a:rPr lang="zh-CN" altLang="en-US" sz="3200" dirty="0">
                <a:solidFill>
                  <a:srgbClr val="FF0000"/>
                </a:solidFill>
                <a:latin typeface="Arial" panose="020B0604020202020204" pitchFamily="34" charset="0"/>
                <a:ea typeface="黑体" panose="02010609060101010101" pitchFamily="1" charset="-122"/>
              </a:rPr>
              <a:t>三、数据库的完整性</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ppt_x"/>
                                          </p:val>
                                        </p:tav>
                                        <p:tav tm="100000">
                                          <p:val>
                                            <p:strVal val="#ppt_x"/>
                                          </p:val>
                                        </p:tav>
                                      </p:tavLst>
                                    </p:anim>
                                    <p:anim calcmode="lin" valueType="num">
                                      <p:cBhvr additive="base">
                                        <p:cTn id="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ext Box 3"/>
          <p:cNvSpPr txBox="1"/>
          <p:nvPr/>
        </p:nvSpPr>
        <p:spPr>
          <a:xfrm>
            <a:off x="666750" y="1544638"/>
            <a:ext cx="7885113" cy="4524375"/>
          </a:xfrm>
          <a:prstGeom prst="rect">
            <a:avLst/>
          </a:prstGeom>
          <a:noFill/>
          <a:ln w="9525">
            <a:noFill/>
          </a:ln>
        </p:spPr>
        <p:txBody>
          <a:bodyPr anchor="t">
            <a:spAutoFit/>
          </a:bodyPr>
          <a:lstStyle/>
          <a:p>
            <a:pPr lvl="0" indent="0">
              <a:spcBef>
                <a:spcPct val="50000"/>
              </a:spcBef>
              <a:buFont typeface="Wingdings" panose="05000000000000000000" pitchFamily="2" charset="2"/>
              <a:buChar char="Ø"/>
            </a:pPr>
            <a:r>
              <a:rPr lang="zh-CN" altLang="en-US" sz="2400" u="sng" dirty="0">
                <a:solidFill>
                  <a:srgbClr val="FF0000"/>
                </a:solidFill>
                <a:latin typeface="宋体" panose="02010600030101010101" pitchFamily="2" charset="-122"/>
                <a:ea typeface="宋体" panose="02010600030101010101" pitchFamily="2" charset="-122"/>
              </a:rPr>
              <a:t>问题：</a:t>
            </a:r>
            <a:r>
              <a:rPr lang="zh-CN" altLang="en-US" sz="2400" dirty="0">
                <a:latin typeface="华文楷体" panose="02010600040101010101" pitchFamily="2" charset="-122"/>
                <a:ea typeface="华文楷体" panose="02010600040101010101" pitchFamily="2" charset="-122"/>
              </a:rPr>
              <a:t>约束定义后，只是由</a:t>
            </a:r>
            <a:r>
              <a:rPr lang="en-US" altLang="x-none" sz="2400" dirty="0">
                <a:latin typeface="华文楷体" panose="02010600040101010101" pitchFamily="2" charset="-122"/>
                <a:ea typeface="华文楷体" panose="02010600040101010101" pitchFamily="2" charset="-122"/>
              </a:rPr>
              <a:t>DBMS</a:t>
            </a:r>
            <a:r>
              <a:rPr lang="zh-CN" altLang="en-US" sz="2400" dirty="0">
                <a:latin typeface="华文楷体" panose="02010600040101010101" pitchFamily="2" charset="-122"/>
                <a:ea typeface="华文楷体" panose="02010600040101010101" pitchFamily="2" charset="-122"/>
              </a:rPr>
              <a:t>存放到约束库中。何时起作用？</a:t>
            </a:r>
            <a:endParaRPr lang="zh-CN" altLang="en-US" sz="2400" dirty="0">
              <a:latin typeface="华文楷体" panose="02010600040101010101" pitchFamily="2" charset="-122"/>
              <a:ea typeface="华文楷体" panose="02010600040101010101" pitchFamily="2" charset="-122"/>
            </a:endParaRPr>
          </a:p>
          <a:p>
            <a:pPr lvl="0" indent="0">
              <a:spcBef>
                <a:spcPct val="50000"/>
              </a:spcBef>
              <a:buFont typeface="Wingdings" panose="05000000000000000000" pitchFamily="2" charset="2"/>
              <a:buChar char="Ø"/>
            </a:pPr>
            <a:r>
              <a:rPr lang="zh-CN" altLang="en-US" sz="2400" u="sng" dirty="0">
                <a:solidFill>
                  <a:srgbClr val="FF0000"/>
                </a:solidFill>
                <a:latin typeface="宋体" panose="02010600030101010101" pitchFamily="2" charset="-122"/>
                <a:ea typeface="宋体" panose="02010600030101010101" pitchFamily="2" charset="-122"/>
              </a:rPr>
              <a:t>固有约束的验证：</a:t>
            </a:r>
            <a:r>
              <a:rPr lang="zh-CN" altLang="en-US" sz="2400" dirty="0">
                <a:latin typeface="华文楷体" panose="02010600040101010101" pitchFamily="2" charset="-122"/>
                <a:ea typeface="华文楷体" panose="02010600040101010101" pitchFamily="2" charset="-122"/>
              </a:rPr>
              <a:t>由</a:t>
            </a:r>
            <a:r>
              <a:rPr lang="en-US" altLang="x-none" sz="2400" dirty="0">
                <a:latin typeface="华文楷体" panose="02010600040101010101" pitchFamily="2" charset="-122"/>
                <a:ea typeface="华文楷体" panose="02010600040101010101" pitchFamily="2" charset="-122"/>
              </a:rPr>
              <a:t>DBMS</a:t>
            </a:r>
            <a:r>
              <a:rPr lang="zh-CN" altLang="en-US" sz="2400" dirty="0">
                <a:latin typeface="华文楷体" panose="02010600040101010101" pitchFamily="2" charset="-122"/>
                <a:ea typeface="华文楷体" panose="02010600040101010101" pitchFamily="2" charset="-122"/>
              </a:rPr>
              <a:t>自动完成。</a:t>
            </a:r>
            <a:endParaRPr lang="zh-CN" altLang="en-US" sz="2400" dirty="0">
              <a:latin typeface="华文楷体" panose="02010600040101010101" pitchFamily="2" charset="-122"/>
              <a:ea typeface="华文楷体" panose="02010600040101010101" pitchFamily="2" charset="-122"/>
            </a:endParaRPr>
          </a:p>
          <a:p>
            <a:pPr lvl="0" indent="0">
              <a:spcBef>
                <a:spcPct val="50000"/>
              </a:spcBef>
              <a:buFont typeface="Wingdings" panose="05000000000000000000" pitchFamily="2" charset="2"/>
              <a:buChar char="Ø"/>
            </a:pPr>
            <a:r>
              <a:rPr lang="zh-CN" altLang="en-US" sz="2400" u="sng" dirty="0">
                <a:solidFill>
                  <a:srgbClr val="FF0000"/>
                </a:solidFill>
                <a:latin typeface="宋体" panose="02010600030101010101" pitchFamily="2" charset="-122"/>
                <a:ea typeface="宋体" panose="02010600030101010101" pitchFamily="2" charset="-122"/>
              </a:rPr>
              <a:t>隐式约束：</a:t>
            </a:r>
            <a:r>
              <a:rPr lang="zh-CN" altLang="en-US" sz="2400" dirty="0">
                <a:latin typeface="华文楷体" panose="02010600040101010101" pitchFamily="2" charset="-122"/>
                <a:ea typeface="华文楷体" panose="02010600040101010101" pitchFamily="2" charset="-122"/>
              </a:rPr>
              <a:t>当数据更新时，由</a:t>
            </a:r>
            <a:r>
              <a:rPr lang="en-US" altLang="x-none" sz="2400" dirty="0">
                <a:latin typeface="华文楷体" panose="02010600040101010101" pitchFamily="2" charset="-122"/>
                <a:ea typeface="华文楷体" panose="02010600040101010101" pitchFamily="2" charset="-122"/>
              </a:rPr>
              <a:t>DBMS</a:t>
            </a:r>
            <a:r>
              <a:rPr lang="zh-CN" altLang="en-US" sz="2400" dirty="0">
                <a:latin typeface="华文楷体" panose="02010600040101010101" pitchFamily="2" charset="-122"/>
                <a:ea typeface="华文楷体" panose="02010600040101010101" pitchFamily="2" charset="-122"/>
              </a:rPr>
              <a:t>按相应约束条件自动完成。</a:t>
            </a:r>
            <a:endParaRPr lang="zh-CN" altLang="en-US" sz="2400" dirty="0">
              <a:latin typeface="华文楷体" panose="02010600040101010101" pitchFamily="2" charset="-122"/>
              <a:ea typeface="华文楷体" panose="02010600040101010101" pitchFamily="2" charset="-122"/>
            </a:endParaRPr>
          </a:p>
          <a:p>
            <a:pPr lvl="0" indent="0">
              <a:spcBef>
                <a:spcPct val="50000"/>
              </a:spcBef>
              <a:buFont typeface="Wingdings" panose="05000000000000000000" pitchFamily="2" charset="2"/>
              <a:buChar char="Ø"/>
            </a:pPr>
            <a:r>
              <a:rPr lang="zh-CN" altLang="en-US" sz="2400" u="sng" dirty="0">
                <a:solidFill>
                  <a:srgbClr val="FF0000"/>
                </a:solidFill>
                <a:latin typeface="宋体" panose="02010600030101010101" pitchFamily="2" charset="-122"/>
                <a:ea typeface="宋体" panose="02010600030101010101" pitchFamily="2" charset="-122"/>
              </a:rPr>
              <a:t>显式约束：</a:t>
            </a:r>
            <a:r>
              <a:rPr lang="zh-CN" altLang="en-US" sz="2400" dirty="0">
                <a:latin typeface="华文楷体" panose="02010600040101010101" pitchFamily="2" charset="-122"/>
                <a:ea typeface="华文楷体" panose="02010600040101010101" pitchFamily="2" charset="-122"/>
              </a:rPr>
              <a:t>① 过程方式的定义约束仍需开发人员编写验证过程；② 断言方式定义的约束由</a:t>
            </a:r>
            <a:r>
              <a:rPr lang="en-US" altLang="x-none" sz="2400" dirty="0">
                <a:latin typeface="华文楷体" panose="02010600040101010101" pitchFamily="2" charset="-122"/>
                <a:ea typeface="华文楷体" panose="02010600040101010101" pitchFamily="2" charset="-122"/>
              </a:rPr>
              <a:t>DBMS</a:t>
            </a:r>
            <a:r>
              <a:rPr lang="zh-CN" altLang="en-US" sz="2400" dirty="0">
                <a:latin typeface="华文楷体" panose="02010600040101010101" pitchFamily="2" charset="-122"/>
                <a:ea typeface="华文楷体" panose="02010600040101010101" pitchFamily="2" charset="-122"/>
              </a:rPr>
              <a:t>的</a:t>
            </a:r>
            <a:r>
              <a:rPr lang="en-US" altLang="x-none" sz="2400" dirty="0">
                <a:latin typeface="华文楷体" panose="02010600040101010101" pitchFamily="2" charset="-122"/>
                <a:ea typeface="华文楷体" panose="02010600040101010101" pitchFamily="2" charset="-122"/>
              </a:rPr>
              <a:t>ICS</a:t>
            </a:r>
            <a:r>
              <a:rPr lang="zh-CN" altLang="en-US" sz="2400" dirty="0">
                <a:latin typeface="华文楷体" panose="02010600040101010101" pitchFamily="2" charset="-122"/>
                <a:ea typeface="华文楷体" panose="02010600040101010101" pitchFamily="2" charset="-122"/>
              </a:rPr>
              <a:t>负责验证；③ 触发器方式定义的约束由</a:t>
            </a:r>
            <a:r>
              <a:rPr lang="en-US" altLang="x-none" sz="2400" dirty="0">
                <a:latin typeface="华文楷体" panose="02010600040101010101" pitchFamily="2" charset="-122"/>
                <a:ea typeface="华文楷体" panose="02010600040101010101" pitchFamily="2" charset="-122"/>
              </a:rPr>
              <a:t>DBMS</a:t>
            </a:r>
            <a:r>
              <a:rPr lang="zh-CN" altLang="en-US" sz="2400" dirty="0">
                <a:latin typeface="华文楷体" panose="02010600040101010101" pitchFamily="2" charset="-122"/>
                <a:ea typeface="华文楷体" panose="02010600040101010101" pitchFamily="2" charset="-122"/>
              </a:rPr>
              <a:t>负责完成。</a:t>
            </a:r>
            <a:endParaRPr lang="zh-CN" altLang="en-US" sz="2400" dirty="0">
              <a:latin typeface="华文楷体" panose="02010600040101010101" pitchFamily="2" charset="-122"/>
              <a:ea typeface="华文楷体" panose="02010600040101010101" pitchFamily="2" charset="-122"/>
            </a:endParaRPr>
          </a:p>
          <a:p>
            <a:pPr lvl="0" indent="0">
              <a:spcBef>
                <a:spcPct val="50000"/>
              </a:spcBef>
              <a:buFont typeface="Wingdings" panose="05000000000000000000" pitchFamily="2" charset="2"/>
              <a:buChar char="Ø"/>
            </a:pPr>
            <a:r>
              <a:rPr lang="zh-CN" altLang="en-US" sz="2400" u="sng" dirty="0">
                <a:solidFill>
                  <a:srgbClr val="FF0000"/>
                </a:solidFill>
                <a:latin typeface="宋体" panose="02010600030101010101" pitchFamily="2" charset="-122"/>
                <a:ea typeface="宋体" panose="02010600030101010101" pitchFamily="2" charset="-122"/>
              </a:rPr>
              <a:t>动态约束：</a:t>
            </a:r>
            <a:r>
              <a:rPr lang="zh-CN" altLang="en-US" sz="2400" dirty="0">
                <a:latin typeface="华文楷体" panose="02010600040101010101" pitchFamily="2" charset="-122"/>
                <a:ea typeface="华文楷体" panose="02010600040101010101" pitchFamily="2" charset="-122"/>
              </a:rPr>
              <a:t>① 过程方式的定义约束仍需开发人员编写验证过程；② 触发器方式定义的约束由</a:t>
            </a:r>
            <a:r>
              <a:rPr lang="en-US" altLang="x-none" sz="2400" dirty="0">
                <a:latin typeface="华文楷体" panose="02010600040101010101" pitchFamily="2" charset="-122"/>
                <a:ea typeface="华文楷体" panose="02010600040101010101" pitchFamily="2" charset="-122"/>
              </a:rPr>
              <a:t>DBMS</a:t>
            </a:r>
            <a:r>
              <a:rPr lang="zh-CN" altLang="en-US" sz="2400" dirty="0">
                <a:latin typeface="华文楷体" panose="02010600040101010101" pitchFamily="2" charset="-122"/>
                <a:ea typeface="华文楷体" panose="02010600040101010101" pitchFamily="2" charset="-122"/>
              </a:rPr>
              <a:t>负责完成。</a:t>
            </a:r>
            <a:endParaRPr lang="zh-CN" altLang="en-US" sz="2400" dirty="0">
              <a:latin typeface="华文楷体" panose="02010600040101010101" pitchFamily="2" charset="-122"/>
              <a:ea typeface="华文楷体" panose="02010600040101010101" pitchFamily="2" charset="-122"/>
            </a:endParaRPr>
          </a:p>
        </p:txBody>
      </p:sp>
      <p:sp>
        <p:nvSpPr>
          <p:cNvPr id="49154" name="Rectangle 2"/>
          <p:cNvSpPr/>
          <p:nvPr/>
        </p:nvSpPr>
        <p:spPr>
          <a:xfrm>
            <a:off x="457200" y="68263"/>
            <a:ext cx="8229600" cy="692150"/>
          </a:xfrm>
          <a:prstGeom prst="rect">
            <a:avLst/>
          </a:prstGeom>
          <a:noFill/>
          <a:ln w="9525">
            <a:noFill/>
          </a:ln>
        </p:spPr>
        <p:txBody>
          <a:bodyPr anchor="ctr"/>
          <a:lstStyle/>
          <a:p>
            <a:pPr lvl="0" indent="0"/>
            <a:r>
              <a:rPr lang="zh-CN" altLang="en-US" sz="3200" dirty="0">
                <a:solidFill>
                  <a:srgbClr val="FF0000"/>
                </a:solidFill>
                <a:latin typeface="Arial" panose="020B0604020202020204" pitchFamily="34" charset="0"/>
                <a:ea typeface="黑体" panose="02010609060101010101" pitchFamily="1" charset="-122"/>
              </a:rPr>
              <a:t>三、数据库的完整性</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49155" name="Rectangle 2"/>
          <p:cNvSpPr txBox="1"/>
          <p:nvPr/>
        </p:nvSpPr>
        <p:spPr>
          <a:xfrm>
            <a:off x="536575" y="755650"/>
            <a:ext cx="5689600" cy="576263"/>
          </a:xfrm>
          <a:prstGeom prst="rect">
            <a:avLst/>
          </a:prstGeom>
          <a:noFill/>
          <a:ln w="9525">
            <a:noFill/>
          </a:ln>
        </p:spPr>
        <p:txBody>
          <a:bodyPr anchor="t"/>
          <a:lstStyle/>
          <a:p>
            <a:pPr marL="457200" lvl="0" indent="-457200" defTabSz="0">
              <a:lnSpc>
                <a:spcPct val="135000"/>
              </a:lnSpc>
              <a:tabLst>
                <a:tab pos="1428750" algn="l"/>
              </a:tabLst>
            </a:pPr>
            <a:r>
              <a:rPr lang="en-US" altLang="x-none" sz="2800" dirty="0">
                <a:solidFill>
                  <a:srgbClr val="0033CC"/>
                </a:solidFill>
                <a:latin typeface="黑体" panose="02010609060101010101" pitchFamily="1" charset="-122"/>
                <a:ea typeface="黑体" panose="02010609060101010101" pitchFamily="1" charset="-122"/>
              </a:rPr>
              <a:t>3.</a:t>
            </a:r>
            <a:r>
              <a:rPr lang="en-US" altLang="x-none" sz="2800" dirty="0">
                <a:solidFill>
                  <a:srgbClr val="CC3300"/>
                </a:solidFill>
                <a:latin typeface="Times New Roman" panose="02020603050405020304" pitchFamily="2" charset="0"/>
                <a:ea typeface="宋体" panose="02010600030101010101" pitchFamily="2" charset="-122"/>
              </a:rPr>
              <a:t> </a:t>
            </a:r>
            <a:r>
              <a:rPr lang="zh-CN" altLang="en-US" sz="2800" dirty="0">
                <a:solidFill>
                  <a:srgbClr val="0033CC"/>
                </a:solidFill>
                <a:latin typeface="黑体" panose="02010609060101010101" pitchFamily="1" charset="-122"/>
                <a:ea typeface="黑体" panose="02010609060101010101" pitchFamily="1" charset="-122"/>
              </a:rPr>
              <a:t>完整性约束的验证与实施</a:t>
            </a:r>
            <a:endParaRPr lang="zh-CN" altLang="en-US" sz="2800" dirty="0">
              <a:solidFill>
                <a:srgbClr val="0033CC"/>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p:cNvSpPr/>
          <p:nvPr/>
        </p:nvSpPr>
        <p:spPr>
          <a:xfrm>
            <a:off x="457200" y="68263"/>
            <a:ext cx="8229600" cy="692150"/>
          </a:xfrm>
          <a:prstGeom prst="rect">
            <a:avLst/>
          </a:prstGeom>
          <a:noFill/>
          <a:ln w="9525">
            <a:noFill/>
          </a:ln>
        </p:spPr>
        <p:txBody>
          <a:bodyPr anchor="ctr"/>
          <a:lstStyle/>
          <a:p>
            <a:pPr lvl="0" indent="0"/>
            <a:r>
              <a:rPr lang="zh-CN" altLang="en-US" sz="3200" dirty="0">
                <a:solidFill>
                  <a:srgbClr val="FF0000"/>
                </a:solidFill>
                <a:latin typeface="Arial" panose="020B0604020202020204" pitchFamily="34" charset="0"/>
                <a:ea typeface="黑体" panose="02010609060101010101" pitchFamily="1" charset="-122"/>
              </a:rPr>
              <a:t>三、数据库的完整性</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48130" name="Rectangle 2"/>
          <p:cNvSpPr txBox="1"/>
          <p:nvPr/>
        </p:nvSpPr>
        <p:spPr>
          <a:xfrm>
            <a:off x="536575" y="755650"/>
            <a:ext cx="5689600" cy="576263"/>
          </a:xfrm>
          <a:prstGeom prst="rect">
            <a:avLst/>
          </a:prstGeom>
          <a:noFill/>
          <a:ln w="9525">
            <a:noFill/>
          </a:ln>
        </p:spPr>
        <p:txBody>
          <a:bodyPr anchor="t"/>
          <a:lstStyle/>
          <a:p>
            <a:pPr marL="457200" lvl="0" indent="-457200" defTabSz="0">
              <a:lnSpc>
                <a:spcPct val="135000"/>
              </a:lnSpc>
              <a:tabLst>
                <a:tab pos="1428750" algn="l"/>
              </a:tabLst>
            </a:pPr>
            <a:r>
              <a:rPr lang="en-US" altLang="x-none" sz="2800" dirty="0">
                <a:solidFill>
                  <a:srgbClr val="0033CC"/>
                </a:solidFill>
                <a:latin typeface="黑体" panose="02010609060101010101" pitchFamily="1" charset="-122"/>
                <a:ea typeface="黑体" panose="02010609060101010101" pitchFamily="1" charset="-122"/>
              </a:rPr>
              <a:t>2.</a:t>
            </a:r>
            <a:r>
              <a:rPr lang="en-US" altLang="x-none" sz="2800" dirty="0">
                <a:solidFill>
                  <a:srgbClr val="CC3300"/>
                </a:solidFill>
                <a:latin typeface="Times New Roman" panose="02020603050405020304" pitchFamily="2" charset="0"/>
                <a:ea typeface="宋体" panose="02010600030101010101" pitchFamily="2" charset="-122"/>
              </a:rPr>
              <a:t> </a:t>
            </a:r>
            <a:r>
              <a:rPr lang="zh-CN" altLang="en-US" sz="2800" dirty="0">
                <a:solidFill>
                  <a:srgbClr val="0033CC"/>
                </a:solidFill>
                <a:latin typeface="黑体" panose="02010609060101010101" pitchFamily="1" charset="-122"/>
                <a:ea typeface="黑体" panose="02010609060101010101" pitchFamily="1" charset="-122"/>
              </a:rPr>
              <a:t>完整性的约束类型</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48131" name="矩形 3"/>
          <p:cNvSpPr/>
          <p:nvPr/>
        </p:nvSpPr>
        <p:spPr>
          <a:xfrm>
            <a:off x="6021388" y="1301750"/>
            <a:ext cx="2363787" cy="492125"/>
          </a:xfrm>
          <a:prstGeom prst="rect">
            <a:avLst/>
          </a:prstGeom>
          <a:noFill/>
          <a:ln w="9525">
            <a:noFill/>
          </a:ln>
        </p:spPr>
        <p:txBody>
          <a:bodyPr wrap="none" anchor="t">
            <a:spAutoFit/>
          </a:bodyPr>
          <a:lstStyle/>
          <a:p>
            <a:pPr lvl="0" indent="0"/>
            <a:r>
              <a:rPr lang="zh-CN" altLang="en-US" sz="2600" dirty="0">
                <a:solidFill>
                  <a:srgbClr val="0033CC"/>
                </a:solidFill>
                <a:latin typeface="宋体" panose="02010600030101010101" pitchFamily="2" charset="-122"/>
                <a:ea typeface="宋体" panose="02010600030101010101" pitchFamily="2" charset="-122"/>
              </a:rPr>
              <a:t>（</a:t>
            </a:r>
            <a:r>
              <a:rPr lang="en-US" altLang="x-none" sz="2600" dirty="0">
                <a:solidFill>
                  <a:srgbClr val="0033CC"/>
                </a:solidFill>
                <a:latin typeface="宋体" panose="02010600030101010101" pitchFamily="2" charset="-122"/>
                <a:ea typeface="宋体" panose="02010600030101010101" pitchFamily="2" charset="-122"/>
              </a:rPr>
              <a:t>5</a:t>
            </a:r>
            <a:r>
              <a:rPr lang="zh-CN" altLang="en-US" sz="2600" dirty="0">
                <a:solidFill>
                  <a:srgbClr val="0033CC"/>
                </a:solidFill>
                <a:latin typeface="宋体" panose="02010600030101010101" pitchFamily="2" charset="-122"/>
                <a:ea typeface="宋体" panose="02010600030101010101" pitchFamily="2" charset="-122"/>
              </a:rPr>
              <a:t>）动态约束</a:t>
            </a:r>
            <a:endParaRPr lang="zh-CN" altLang="en-US" sz="2600" dirty="0">
              <a:solidFill>
                <a:srgbClr val="0033CC"/>
              </a:solidFill>
              <a:latin typeface="宋体" panose="02010600030101010101" pitchFamily="2" charset="-122"/>
              <a:ea typeface="宋体" panose="02010600030101010101" pitchFamily="2" charset="-122"/>
            </a:endParaRPr>
          </a:p>
        </p:txBody>
      </p:sp>
      <p:sp>
        <p:nvSpPr>
          <p:cNvPr id="48132" name="Rectangle 3"/>
          <p:cNvSpPr txBox="1"/>
          <p:nvPr/>
        </p:nvSpPr>
        <p:spPr>
          <a:xfrm>
            <a:off x="635000" y="1549400"/>
            <a:ext cx="8066088" cy="4946650"/>
          </a:xfrm>
          <a:prstGeom prst="rect">
            <a:avLst/>
          </a:prstGeom>
          <a:noFill/>
          <a:ln w="9525">
            <a:noFill/>
          </a:ln>
        </p:spPr>
        <p:txBody>
          <a:bodyPr anchor="t"/>
          <a:lstStyle/>
          <a:p>
            <a:pPr lvl="0" indent="0" eaLnBrk="0" hangingPunct="0">
              <a:spcBef>
                <a:spcPct val="500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定义方法：</a:t>
            </a:r>
            <a:endParaRPr lang="zh-CN" altLang="en-US" sz="2400" dirty="0">
              <a:latin typeface="华文楷体" panose="02010600040101010101" pitchFamily="2" charset="-122"/>
              <a:ea typeface="宋体" panose="02010600030101010101" pitchFamily="2" charset="-122"/>
            </a:endParaRPr>
          </a:p>
          <a:p>
            <a:pPr lvl="0" indent="0" eaLnBrk="0" hangingPunct="0">
              <a:lnSpc>
                <a:spcPct val="120000"/>
              </a:lnSpc>
              <a:spcBef>
                <a:spcPct val="50000"/>
              </a:spcBef>
              <a:buClr>
                <a:srgbClr val="0033CC"/>
              </a:buClr>
              <a:buSzPct val="80000"/>
            </a:pPr>
            <a:r>
              <a:rPr lang="zh-CN" altLang="en-US" sz="2400" dirty="0">
                <a:latin typeface="华文楷体" panose="02010600040101010101" pitchFamily="2" charset="-122"/>
                <a:ea typeface="宋体" panose="02010600030101010101" pitchFamily="2" charset="-122"/>
              </a:rPr>
              <a:t>有二种可选的定义方法，即：过程化定义和触发器。因为这两种方法都可以得到改变前后的数据，以便于比较决定是否允许这种数据状态的改变。</a:t>
            </a:r>
            <a:endParaRPr lang="zh-CN" altLang="en-US" sz="2400" dirty="0">
              <a:latin typeface="华文楷体" panose="02010600040101010101" pitchFamily="2" charset="-122"/>
              <a:ea typeface="宋体" panose="02010600030101010101" pitchFamily="2" charset="-122"/>
            </a:endParaRPr>
          </a:p>
          <a:p>
            <a:pPr lvl="0" indent="0" eaLnBrk="0" hangingPunct="0">
              <a:spcBef>
                <a:spcPct val="50000"/>
              </a:spcBef>
              <a:buClr>
                <a:srgbClr val="0033CC"/>
              </a:buClr>
              <a:buSzPct val="80000"/>
            </a:pPr>
            <a:r>
              <a:rPr lang="en-US" altLang="x-none" sz="2400" dirty="0">
                <a:solidFill>
                  <a:srgbClr val="CC0000"/>
                </a:solidFill>
                <a:latin typeface="华文楷体" panose="02010600040101010101" pitchFamily="2" charset="-122"/>
                <a:ea typeface="宋体" panose="02010600030101010101" pitchFamily="2" charset="-122"/>
              </a:rPr>
              <a:t>Cf: </a:t>
            </a:r>
            <a:r>
              <a:rPr lang="zh-CN" altLang="en-US" sz="2400" dirty="0">
                <a:solidFill>
                  <a:srgbClr val="CC0000"/>
                </a:solidFill>
                <a:latin typeface="华文楷体" panose="02010600040101010101" pitchFamily="2" charset="-122"/>
                <a:ea typeface="宋体" panose="02010600030101010101" pitchFamily="2" charset="-122"/>
              </a:rPr>
              <a:t>动态约束与检查约束：</a:t>
            </a:r>
            <a:endParaRPr lang="zh-CN" altLang="en-US" sz="2400" dirty="0">
              <a:solidFill>
                <a:srgbClr val="CC0000"/>
              </a:solidFill>
              <a:latin typeface="华文楷体" panose="02010600040101010101" pitchFamily="2" charset="-122"/>
              <a:ea typeface="宋体" panose="02010600030101010101" pitchFamily="2" charset="-122"/>
            </a:endParaRPr>
          </a:p>
          <a:p>
            <a:pPr lvl="0" indent="0" eaLnBrk="0" hangingPunct="0">
              <a:lnSpc>
                <a:spcPct val="120000"/>
              </a:lnSpc>
              <a:spcBef>
                <a:spcPts val="600"/>
              </a:spcBef>
              <a:buClr>
                <a:srgbClr val="0033CC"/>
              </a:buClr>
              <a:buSzPct val="80000"/>
              <a:buFont typeface="Wingdings" panose="05000000000000000000" pitchFamily="2" charset="2"/>
              <a:buChar char="Ø"/>
            </a:pPr>
            <a:r>
              <a:rPr lang="zh-CN" altLang="en-US" sz="2400" u="sng" dirty="0">
                <a:solidFill>
                  <a:srgbClr val="FF0000"/>
                </a:solidFill>
                <a:latin typeface="华文楷体" panose="02010600040101010101" pitchFamily="2" charset="-122"/>
                <a:ea typeface="宋体" panose="02010600030101010101" pitchFamily="2" charset="-122"/>
              </a:rPr>
              <a:t> 检查约束：</a:t>
            </a:r>
            <a:r>
              <a:rPr lang="zh-CN" altLang="en-US" sz="2400" dirty="0">
                <a:latin typeface="华文楷体" panose="02010600040101010101" pitchFamily="2" charset="-122"/>
                <a:ea typeface="宋体" panose="02010600030101010101" pitchFamily="2" charset="-122"/>
              </a:rPr>
              <a:t>同一时间点两个属性（列）的取值是否满足约束。</a:t>
            </a:r>
            <a:endParaRPr lang="zh-CN" altLang="en-US" sz="2400" dirty="0">
              <a:latin typeface="华文楷体" panose="02010600040101010101" pitchFamily="2" charset="-122"/>
              <a:ea typeface="宋体" panose="02010600030101010101" pitchFamily="2" charset="-122"/>
            </a:endParaRPr>
          </a:p>
          <a:p>
            <a:pPr lvl="0" indent="0" eaLnBrk="0" hangingPunct="0">
              <a:lnSpc>
                <a:spcPct val="120000"/>
              </a:lnSpc>
              <a:spcBef>
                <a:spcPts val="600"/>
              </a:spcBef>
              <a:buClr>
                <a:srgbClr val="0033CC"/>
              </a:buClr>
              <a:buSzPct val="80000"/>
              <a:buFont typeface="Wingdings" panose="05000000000000000000" pitchFamily="2" charset="2"/>
              <a:buChar char="Ø"/>
            </a:pPr>
            <a:r>
              <a:rPr lang="zh-CN" altLang="en-US" sz="2400" u="sng" dirty="0">
                <a:solidFill>
                  <a:srgbClr val="FF0000"/>
                </a:solidFill>
                <a:latin typeface="华文楷体" panose="02010600040101010101" pitchFamily="2" charset="-122"/>
                <a:ea typeface="宋体" panose="02010600030101010101" pitchFamily="2" charset="-122"/>
              </a:rPr>
              <a:t> 动态约束：</a:t>
            </a:r>
            <a:r>
              <a:rPr lang="zh-CN" altLang="en-US" sz="2400" dirty="0">
                <a:latin typeface="华文楷体" panose="02010600040101010101" pitchFamily="2" charset="-122"/>
                <a:ea typeface="宋体" panose="02010600030101010101" pitchFamily="2" charset="-122"/>
              </a:rPr>
              <a:t>不同时间点上同一个属性（列）的取值是否满足约束。</a:t>
            </a:r>
            <a:endParaRPr lang="zh-CN" altLang="en-US" sz="2400" dirty="0">
              <a:latin typeface="华文楷体" panose="02010600040101010101" pitchFamily="2" charset="-122"/>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46100" y="1343660"/>
            <a:ext cx="8293735" cy="398780"/>
          </a:xfrm>
          <a:prstGeom prst="rect">
            <a:avLst/>
          </a:prstGeom>
          <a:noFill/>
        </p:spPr>
        <p:txBody>
          <a:bodyPr wrap="square" rtlCol="0" anchor="t">
            <a:spAutoFit/>
          </a:bodyPr>
          <a:lstStyle/>
          <a:p>
            <a:pPr algn="l">
              <a:lnSpc>
                <a:spcPct val="100000"/>
              </a:lnSpc>
              <a:buNone/>
            </a:pPr>
            <a:r>
              <a:rPr lang="zh-CN" altLang="en-US" sz="2000"/>
              <a:t>例、定义触发器</a:t>
            </a:r>
            <a:r>
              <a:rPr lang="en-US" sz="2000">
                <a:sym typeface="+mn-ea"/>
              </a:rPr>
              <a:t>Salary</a:t>
            </a:r>
            <a:r>
              <a:rPr sz="2000">
                <a:sym typeface="+mn-ea"/>
              </a:rPr>
              <a:t>_trigger</a:t>
            </a:r>
            <a:r>
              <a:rPr lang="zh-CN" sz="2000">
                <a:sym typeface="+mn-ea"/>
              </a:rPr>
              <a:t>检验员工的工资只能调高不能调低。</a:t>
            </a:r>
            <a:endParaRPr lang="zh-CN" sz="2000">
              <a:sym typeface="+mn-ea"/>
            </a:endParaRPr>
          </a:p>
        </p:txBody>
      </p:sp>
      <p:graphicFrame>
        <p:nvGraphicFramePr>
          <p:cNvPr id="24" name="对象 23"/>
          <p:cNvGraphicFramePr/>
          <p:nvPr/>
        </p:nvGraphicFramePr>
        <p:xfrm>
          <a:off x="546100" y="2129790"/>
          <a:ext cx="5983605" cy="2318385"/>
        </p:xfrm>
        <a:graphic>
          <a:graphicData uri="http://schemas.openxmlformats.org/presentationml/2006/ole">
            <mc:AlternateContent xmlns:mc="http://schemas.openxmlformats.org/markup-compatibility/2006">
              <mc:Choice xmlns:v="urn:schemas-microsoft-com:vml" Requires="v">
                <p:oleObj spid="_x0000_s8235" name="" r:id="rId1" imgW="5391150" imgH="2066925" progId="Paint.Picture">
                  <p:embed/>
                </p:oleObj>
              </mc:Choice>
              <mc:Fallback>
                <p:oleObj name="" r:id="rId1" imgW="5391150" imgH="2066925" progId="Paint.Picture">
                  <p:embed/>
                  <p:pic>
                    <p:nvPicPr>
                      <p:cNvPr id="0" name="对象 23"/>
                      <p:cNvPicPr/>
                      <p:nvPr/>
                    </p:nvPicPr>
                    <p:blipFill>
                      <a:blip r:embed="rId2"/>
                      <a:stretch>
                        <a:fillRect/>
                      </a:stretch>
                    </p:blipFill>
                    <p:spPr>
                      <a:xfrm>
                        <a:off x="546100" y="2129790"/>
                        <a:ext cx="5983605" cy="2318385"/>
                      </a:xfrm>
                      <a:prstGeom prst="rect">
                        <a:avLst/>
                      </a:prstGeom>
                    </p:spPr>
                  </p:pic>
                </p:oleObj>
              </mc:Fallback>
            </mc:AlternateContent>
          </a:graphicData>
        </a:graphic>
      </p:graphicFrame>
      <p:graphicFrame>
        <p:nvGraphicFramePr>
          <p:cNvPr id="26" name="对象 25"/>
          <p:cNvGraphicFramePr/>
          <p:nvPr/>
        </p:nvGraphicFramePr>
        <p:xfrm>
          <a:off x="6529705" y="2183765"/>
          <a:ext cx="2310130" cy="2284730"/>
        </p:xfrm>
        <a:graphic>
          <a:graphicData uri="http://schemas.openxmlformats.org/presentationml/2006/ole">
            <mc:AlternateContent xmlns:mc="http://schemas.openxmlformats.org/markup-compatibility/2006">
              <mc:Choice xmlns:v="urn:schemas-microsoft-com:vml" Requires="v">
                <p:oleObj spid="_x0000_s8236" name="" r:id="rId3" imgW="2085975" imgH="2095500" progId="Paint.Picture">
                  <p:embed/>
                </p:oleObj>
              </mc:Choice>
              <mc:Fallback>
                <p:oleObj name="" r:id="rId3" imgW="2085975" imgH="2095500" progId="Paint.Picture">
                  <p:embed/>
                  <p:pic>
                    <p:nvPicPr>
                      <p:cNvPr id="0" name="对象 25"/>
                      <p:cNvPicPr/>
                      <p:nvPr/>
                    </p:nvPicPr>
                    <p:blipFill>
                      <a:blip r:embed="rId4"/>
                      <a:stretch>
                        <a:fillRect/>
                      </a:stretch>
                    </p:blipFill>
                    <p:spPr>
                      <a:xfrm>
                        <a:off x="6529705" y="2183765"/>
                        <a:ext cx="2310130" cy="2284730"/>
                      </a:xfrm>
                      <a:prstGeom prst="rect">
                        <a:avLst/>
                      </a:prstGeom>
                    </p:spPr>
                  </p:pic>
                </p:oleObj>
              </mc:Fallback>
            </mc:AlternateContent>
          </a:graphicData>
        </a:graphic>
      </p:graphicFrame>
      <p:sp>
        <p:nvSpPr>
          <p:cNvPr id="2" name="文本框 1"/>
          <p:cNvSpPr txBox="1"/>
          <p:nvPr/>
        </p:nvSpPr>
        <p:spPr>
          <a:xfrm>
            <a:off x="488315" y="1664970"/>
            <a:ext cx="1864360" cy="464820"/>
          </a:xfrm>
          <a:prstGeom prst="rect">
            <a:avLst/>
          </a:prstGeom>
          <a:noFill/>
        </p:spPr>
        <p:txBody>
          <a:bodyPr wrap="none" rtlCol="0" anchor="t">
            <a:spAutoFit/>
          </a:bodyPr>
          <a:lstStyle/>
          <a:p>
            <a:pPr>
              <a:buNone/>
            </a:pPr>
            <a:r>
              <a:rPr lang="zh-CN">
                <a:solidFill>
                  <a:srgbClr val="0033CC"/>
                </a:solidFill>
                <a:sym typeface="+mn-ea"/>
              </a:rPr>
              <a:t>员工表：</a:t>
            </a:r>
            <a:r>
              <a:rPr>
                <a:solidFill>
                  <a:srgbClr val="0033CC"/>
                </a:solidFill>
                <a:sym typeface="+mn-ea"/>
              </a:rPr>
              <a:t>person</a:t>
            </a:r>
            <a:endParaRPr lang="zh-CN" altLang="en-US">
              <a:solidFill>
                <a:srgbClr val="0033CC"/>
              </a:solidFill>
              <a:sym typeface="+mn-ea"/>
            </a:endParaRPr>
          </a:p>
        </p:txBody>
      </p:sp>
      <p:sp>
        <p:nvSpPr>
          <p:cNvPr id="3" name="文本框 2"/>
          <p:cNvSpPr txBox="1"/>
          <p:nvPr/>
        </p:nvSpPr>
        <p:spPr>
          <a:xfrm>
            <a:off x="6529705" y="1657985"/>
            <a:ext cx="1762760" cy="464820"/>
          </a:xfrm>
          <a:prstGeom prst="rect">
            <a:avLst/>
          </a:prstGeom>
          <a:noFill/>
        </p:spPr>
        <p:txBody>
          <a:bodyPr wrap="none" rtlCol="0" anchor="t">
            <a:spAutoFit/>
          </a:bodyPr>
          <a:lstStyle/>
          <a:p>
            <a:pPr algn="l">
              <a:buNone/>
            </a:pPr>
            <a:r>
              <a:rPr lang="zh-CN">
                <a:solidFill>
                  <a:srgbClr val="0033CC"/>
                </a:solidFill>
                <a:sym typeface="+mn-ea"/>
              </a:rPr>
              <a:t>工资表：</a:t>
            </a:r>
            <a:r>
              <a:rPr>
                <a:solidFill>
                  <a:srgbClr val="0033CC"/>
                </a:solidFill>
                <a:sym typeface="+mn-ea"/>
              </a:rPr>
              <a:t>salary</a:t>
            </a:r>
            <a:endParaRPr lang="zh-CN" altLang="en-US">
              <a:solidFill>
                <a:srgbClr val="0033CC"/>
              </a:solidFill>
              <a:sym typeface="+mn-ea"/>
            </a:endParaRPr>
          </a:p>
        </p:txBody>
      </p:sp>
      <p:sp>
        <p:nvSpPr>
          <p:cNvPr id="23" name="文本框 22"/>
          <p:cNvSpPr txBox="1"/>
          <p:nvPr/>
        </p:nvSpPr>
        <p:spPr>
          <a:xfrm>
            <a:off x="488315" y="4591050"/>
            <a:ext cx="8387080" cy="1640205"/>
          </a:xfrm>
          <a:prstGeom prst="rect">
            <a:avLst/>
          </a:prstGeom>
          <a:solidFill>
            <a:schemeClr val="bg1"/>
          </a:solidFill>
        </p:spPr>
        <p:txBody>
          <a:bodyPr wrap="square" rtlCol="0" anchor="t">
            <a:spAutoFit/>
          </a:bodyPr>
          <a:lstStyle/>
          <a:p>
            <a:pPr lvl="0">
              <a:lnSpc>
                <a:spcPct val="100000"/>
              </a:lnSpc>
              <a:spcBef>
                <a:spcPts val="20"/>
              </a:spcBef>
              <a:spcAft>
                <a:spcPts val="0"/>
              </a:spcAft>
              <a:buClr>
                <a:srgbClr val="0033CC"/>
              </a:buClr>
              <a:buFont typeface="Wingdings" panose="05000000000000000000" charset="0"/>
              <a:buNone/>
            </a:pPr>
            <a:r>
              <a:rPr sz="2000"/>
              <a:t>create trigger base_trigger on  salary for  Update AS</a:t>
            </a:r>
            <a:endParaRPr sz="2000"/>
          </a:p>
          <a:p>
            <a:pPr lvl="0">
              <a:lnSpc>
                <a:spcPct val="100000"/>
              </a:lnSpc>
              <a:spcBef>
                <a:spcPts val="20"/>
              </a:spcBef>
              <a:spcAft>
                <a:spcPts val="0"/>
              </a:spcAft>
              <a:buClr>
                <a:srgbClr val="0033CC"/>
              </a:buClr>
              <a:buFont typeface="Wingdings" panose="05000000000000000000" charset="0"/>
              <a:buNone/>
            </a:pPr>
            <a:r>
              <a:rPr sz="2000"/>
              <a:t>   if ((</a:t>
            </a:r>
            <a:r>
              <a:rPr sz="2000">
                <a:solidFill>
                  <a:srgbClr val="3402C2"/>
                </a:solidFill>
                <a:sym typeface="+mn-ea"/>
              </a:rPr>
              <a:t>Select base from inserted</a:t>
            </a:r>
            <a:r>
              <a:rPr sz="2000">
                <a:sym typeface="+mn-ea"/>
              </a:rPr>
              <a:t>)</a:t>
            </a:r>
            <a:r>
              <a:rPr lang="en-US" altLang="zh-CN" sz="2000">
                <a:sym typeface="+mn-ea"/>
              </a:rPr>
              <a:t>&lt;</a:t>
            </a:r>
            <a:r>
              <a:rPr sz="2000"/>
              <a:t>(</a:t>
            </a:r>
            <a:r>
              <a:rPr sz="2000">
                <a:solidFill>
                  <a:srgbClr val="FF0000"/>
                </a:solidFill>
              </a:rPr>
              <a:t>Select </a:t>
            </a:r>
            <a:r>
              <a:rPr sz="2000">
                <a:solidFill>
                  <a:srgbClr val="FF0000"/>
                </a:solidFill>
                <a:sym typeface="+mn-ea"/>
              </a:rPr>
              <a:t>base from </a:t>
            </a:r>
            <a:r>
              <a:rPr lang="en-US" sz="2000">
                <a:solidFill>
                  <a:srgbClr val="FF0000"/>
                </a:solidFill>
                <a:sym typeface="+mn-ea"/>
              </a:rPr>
              <a:t>dele</a:t>
            </a:r>
            <a:r>
              <a:rPr sz="2000">
                <a:solidFill>
                  <a:srgbClr val="FF0000"/>
                </a:solidFill>
                <a:cs typeface="+mn-ea"/>
                <a:sym typeface="+mn-ea"/>
              </a:rPr>
              <a:t>te</a:t>
            </a:r>
            <a:r>
              <a:rPr sz="2000">
                <a:solidFill>
                  <a:srgbClr val="FF0000"/>
                </a:solidFill>
                <a:sym typeface="+mn-ea"/>
              </a:rPr>
              <a:t>d</a:t>
            </a:r>
            <a:r>
              <a:rPr sz="2000">
                <a:solidFill>
                  <a:srgbClr val="FF0000"/>
                </a:solidFill>
              </a:rPr>
              <a:t>)</a:t>
            </a:r>
            <a:r>
              <a:rPr sz="2000"/>
              <a:t>)</a:t>
            </a:r>
            <a:endParaRPr sz="2000"/>
          </a:p>
          <a:p>
            <a:pPr lvl="0">
              <a:lnSpc>
                <a:spcPct val="100000"/>
              </a:lnSpc>
              <a:spcBef>
                <a:spcPts val="20"/>
              </a:spcBef>
              <a:spcAft>
                <a:spcPts val="0"/>
              </a:spcAft>
              <a:buClr>
                <a:srgbClr val="0033CC"/>
              </a:buClr>
              <a:buFont typeface="Wingdings" panose="05000000000000000000" charset="0"/>
              <a:buNone/>
            </a:pPr>
            <a:r>
              <a:rPr sz="2000"/>
              <a:t>   begin print '</a:t>
            </a:r>
            <a:r>
              <a:rPr lang="zh-CN" sz="2000"/>
              <a:t>工资不能比原来低</a:t>
            </a:r>
            <a:r>
              <a:rPr sz="2000"/>
              <a:t>!'     ROLLBACK TRANSACTION </a:t>
            </a:r>
            <a:endParaRPr sz="2000"/>
          </a:p>
          <a:p>
            <a:pPr lvl="0">
              <a:lnSpc>
                <a:spcPct val="100000"/>
              </a:lnSpc>
              <a:spcBef>
                <a:spcPts val="20"/>
              </a:spcBef>
              <a:spcAft>
                <a:spcPts val="0"/>
              </a:spcAft>
              <a:buClr>
                <a:srgbClr val="0033CC"/>
              </a:buClr>
              <a:buFont typeface="Wingdings" panose="05000000000000000000" charset="0"/>
              <a:buNone/>
            </a:pPr>
            <a:r>
              <a:rPr sz="2000"/>
              <a:t>   RETURN    end</a:t>
            </a:r>
            <a:endParaRPr sz="2000"/>
          </a:p>
          <a:p>
            <a:pPr lvl="0">
              <a:lnSpc>
                <a:spcPct val="100000"/>
              </a:lnSpc>
              <a:spcBef>
                <a:spcPts val="20"/>
              </a:spcBef>
              <a:spcAft>
                <a:spcPts val="0"/>
              </a:spcAft>
              <a:buClr>
                <a:srgbClr val="0033CC"/>
              </a:buClr>
              <a:buFont typeface="Wingdings" panose="05000000000000000000" charset="0"/>
              <a:buNone/>
            </a:pPr>
            <a:r>
              <a:rPr sz="2000"/>
              <a:t>RETURN</a:t>
            </a:r>
            <a:endParaRPr sz="2000"/>
          </a:p>
        </p:txBody>
      </p:sp>
      <p:sp>
        <p:nvSpPr>
          <p:cNvPr id="49154" name="Rectangle 2"/>
          <p:cNvSpPr/>
          <p:nvPr/>
        </p:nvSpPr>
        <p:spPr>
          <a:xfrm>
            <a:off x="457200" y="68263"/>
            <a:ext cx="8229600" cy="692150"/>
          </a:xfrm>
          <a:prstGeom prst="rect">
            <a:avLst/>
          </a:prstGeom>
          <a:noFill/>
          <a:ln w="9525">
            <a:noFill/>
          </a:ln>
        </p:spPr>
        <p:txBody>
          <a:bodyPr anchor="ctr"/>
          <a:lstStyle/>
          <a:p>
            <a:pPr lvl="0" indent="0"/>
            <a:r>
              <a:rPr lang="zh-CN" altLang="en-US" sz="3200" dirty="0">
                <a:solidFill>
                  <a:srgbClr val="FF0000"/>
                </a:solidFill>
                <a:latin typeface="Arial" panose="020B0604020202020204" pitchFamily="34" charset="0"/>
                <a:ea typeface="黑体" panose="02010609060101010101" pitchFamily="1" charset="-122"/>
              </a:rPr>
              <a:t>三、数据库的完整性</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46084" name="Rectangle 2"/>
          <p:cNvSpPr txBox="1"/>
          <p:nvPr/>
        </p:nvSpPr>
        <p:spPr>
          <a:xfrm>
            <a:off x="536575" y="755650"/>
            <a:ext cx="5689600" cy="576263"/>
          </a:xfrm>
          <a:prstGeom prst="rect">
            <a:avLst/>
          </a:prstGeom>
          <a:noFill/>
          <a:ln w="9525">
            <a:noFill/>
          </a:ln>
        </p:spPr>
        <p:txBody>
          <a:bodyPr anchor="t"/>
          <a:lstStyle/>
          <a:p>
            <a:pPr marL="457200" lvl="0" indent="-457200" defTabSz="0">
              <a:lnSpc>
                <a:spcPct val="135000"/>
              </a:lnSpc>
              <a:tabLst>
                <a:tab pos="1428750" algn="l"/>
              </a:tabLst>
            </a:pPr>
            <a:r>
              <a:rPr lang="en-US" altLang="x-none" sz="2800" dirty="0">
                <a:solidFill>
                  <a:srgbClr val="0033CC"/>
                </a:solidFill>
                <a:latin typeface="黑体" panose="02010609060101010101" pitchFamily="1" charset="-122"/>
                <a:ea typeface="黑体" panose="02010609060101010101" pitchFamily="1" charset="-122"/>
              </a:rPr>
              <a:t>2.</a:t>
            </a:r>
            <a:r>
              <a:rPr lang="en-US" altLang="x-none" sz="2800" dirty="0">
                <a:solidFill>
                  <a:srgbClr val="CC3300"/>
                </a:solidFill>
                <a:latin typeface="Times New Roman" panose="02020603050405020304" pitchFamily="2" charset="0"/>
                <a:ea typeface="宋体" panose="02010600030101010101" pitchFamily="2" charset="-122"/>
              </a:rPr>
              <a:t> </a:t>
            </a:r>
            <a:r>
              <a:rPr lang="zh-CN" altLang="en-US" sz="2800" dirty="0">
                <a:solidFill>
                  <a:srgbClr val="0033CC"/>
                </a:solidFill>
                <a:latin typeface="黑体" panose="02010609060101010101" pitchFamily="1" charset="-122"/>
                <a:ea typeface="黑体" panose="02010609060101010101" pitchFamily="1" charset="-122"/>
              </a:rPr>
              <a:t>完整性的约束类型</a:t>
            </a:r>
            <a:endParaRPr lang="zh-CN" altLang="en-US" sz="2800" dirty="0">
              <a:solidFill>
                <a:srgbClr val="0033CC"/>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ppt_x"/>
                                          </p:val>
                                        </p:tav>
                                        <p:tav tm="100000">
                                          <p:val>
                                            <p:strVal val="#ppt_x"/>
                                          </p:val>
                                        </p:tav>
                                      </p:tavLst>
                                    </p:anim>
                                    <p:anim calcmode="lin" valueType="num">
                                      <p:cBhvr additive="base">
                                        <p:cTn id="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539115" y="1552575"/>
            <a:ext cx="8482330" cy="4831080"/>
          </a:xfrm>
          <a:prstGeom prst="rect">
            <a:avLst/>
          </a:prstGeom>
          <a:noFill/>
        </p:spPr>
        <p:txBody>
          <a:bodyPr wrap="square" rtlCol="0" anchor="t">
            <a:spAutoFit/>
          </a:bodyPr>
          <a:p>
            <a:pPr>
              <a:lnSpc>
                <a:spcPct val="110000"/>
              </a:lnSpc>
            </a:pPr>
            <a:r>
              <a:rPr lang="zh-CN" altLang="en-US" sz="2000"/>
              <a:t>CREATE TRIGGER trig_update_bank  ON bank</a:t>
            </a:r>
            <a:endParaRPr lang="zh-CN" altLang="en-US" sz="2000"/>
          </a:p>
          <a:p>
            <a:pPr>
              <a:lnSpc>
                <a:spcPct val="110000"/>
              </a:lnSpc>
            </a:pPr>
            <a:r>
              <a:rPr lang="zh-CN" altLang="en-US" sz="2000"/>
              <a:t>     FOR UPDATE</a:t>
            </a:r>
            <a:endParaRPr lang="zh-CN" altLang="en-US" sz="2000"/>
          </a:p>
          <a:p>
            <a:pPr>
              <a:lnSpc>
                <a:spcPct val="110000"/>
              </a:lnSpc>
            </a:pPr>
            <a:r>
              <a:rPr lang="zh-CN" altLang="en-US" sz="2000"/>
              <a:t>     AS </a:t>
            </a:r>
            <a:endParaRPr lang="zh-CN" altLang="en-US" sz="2000"/>
          </a:p>
          <a:p>
            <a:pPr>
              <a:lnSpc>
                <a:spcPct val="110000"/>
              </a:lnSpc>
            </a:pPr>
            <a:r>
              <a:rPr lang="zh-CN" altLang="en-US" sz="2000"/>
              <a:t>          DECLARE @beforeMoney MONEY,@afterMoney MONEY</a:t>
            </a:r>
            <a:endParaRPr lang="zh-CN" altLang="en-US" sz="2000"/>
          </a:p>
          <a:p>
            <a:pPr>
              <a:lnSpc>
                <a:spcPct val="110000"/>
              </a:lnSpc>
            </a:pPr>
            <a:r>
              <a:rPr lang="zh-CN" altLang="en-US" sz="2000"/>
              <a:t>          SELECT @beforeMoney=currentMoney FROM </a:t>
            </a:r>
            <a:r>
              <a:rPr lang="zh-CN" altLang="en-US" sz="2000">
                <a:solidFill>
                  <a:srgbClr val="FF0000"/>
                </a:solidFill>
              </a:rPr>
              <a:t>deleted</a:t>
            </a:r>
            <a:endParaRPr lang="zh-CN" altLang="en-US" sz="2000">
              <a:solidFill>
                <a:srgbClr val="FF0000"/>
              </a:solidFill>
            </a:endParaRPr>
          </a:p>
          <a:p>
            <a:pPr>
              <a:lnSpc>
                <a:spcPct val="110000"/>
              </a:lnSpc>
            </a:pPr>
            <a:r>
              <a:rPr lang="zh-CN" altLang="en-US" sz="2000"/>
              <a:t>          SELECT @afterMoney=currentMoney FROM </a:t>
            </a:r>
            <a:r>
              <a:rPr lang="zh-CN" altLang="en-US" sz="2000">
                <a:solidFill>
                  <a:srgbClr val="FF0000"/>
                </a:solidFill>
              </a:rPr>
              <a:t>inserted</a:t>
            </a:r>
            <a:endParaRPr lang="zh-CN" altLang="en-US" sz="2000">
              <a:solidFill>
                <a:srgbClr val="FF0000"/>
              </a:solidFill>
            </a:endParaRPr>
          </a:p>
          <a:p>
            <a:pPr>
              <a:lnSpc>
                <a:spcPct val="110000"/>
              </a:lnSpc>
            </a:pPr>
            <a:r>
              <a:rPr lang="zh-CN" altLang="en-US" sz="2000"/>
              <a:t>          IF ABS(@beforeMoney-@afterMoney)&gt;20000</a:t>
            </a:r>
            <a:endParaRPr lang="zh-CN" altLang="en-US" sz="2000"/>
          </a:p>
          <a:p>
            <a:pPr>
              <a:lnSpc>
                <a:spcPct val="110000"/>
              </a:lnSpc>
            </a:pPr>
            <a:r>
              <a:rPr lang="zh-CN" altLang="en-US" sz="2000"/>
              <a:t>              BEGIN</a:t>
            </a:r>
            <a:endParaRPr lang="zh-CN" altLang="en-US" sz="2000"/>
          </a:p>
          <a:p>
            <a:pPr>
              <a:lnSpc>
                <a:spcPct val="110000"/>
              </a:lnSpc>
            </a:pPr>
            <a:r>
              <a:rPr lang="zh-CN" altLang="en-US" sz="2000"/>
              <a:t>                 print '交易金额.'+convert(varchar(8),</a:t>
            </a:r>
            <a:endParaRPr lang="zh-CN" altLang="en-US" sz="2000"/>
          </a:p>
          <a:p>
            <a:pPr>
              <a:lnSpc>
                <a:spcPct val="110000"/>
              </a:lnSpc>
            </a:pPr>
            <a:r>
              <a:rPr lang="zh-CN" altLang="en-US" sz="2000"/>
              <a:t> </a:t>
            </a:r>
            <a:r>
              <a:rPr lang="en-US" altLang="zh-CN" sz="2000"/>
              <a:t>                     </a:t>
            </a:r>
            <a:r>
              <a:rPr lang="zh-CN" altLang="en-US" sz="2000"/>
              <a:t>ABS(@afterMoney-@beforeMoney))</a:t>
            </a:r>
            <a:endParaRPr lang="zh-CN" altLang="en-US" sz="2000"/>
          </a:p>
          <a:p>
            <a:pPr>
              <a:lnSpc>
                <a:spcPct val="110000"/>
              </a:lnSpc>
            </a:pPr>
            <a:r>
              <a:rPr lang="zh-CN" altLang="en-US" sz="2000"/>
              <a:t>              RAISERROR('每笔交易不能超过2万元，交易失败',16,1)</a:t>
            </a:r>
            <a:endParaRPr lang="zh-CN" altLang="en-US" sz="2000"/>
          </a:p>
          <a:p>
            <a:pPr>
              <a:lnSpc>
                <a:spcPct val="110000"/>
              </a:lnSpc>
            </a:pPr>
            <a:r>
              <a:rPr lang="zh-CN" altLang="en-US" sz="2000"/>
              <a:t>              ROLLBACK TRANSACTION</a:t>
            </a:r>
            <a:endParaRPr lang="zh-CN" altLang="en-US" sz="2000"/>
          </a:p>
          <a:p>
            <a:pPr>
              <a:lnSpc>
                <a:spcPct val="110000"/>
              </a:lnSpc>
            </a:pPr>
            <a:r>
              <a:rPr lang="zh-CN" altLang="en-US" sz="2000"/>
              <a:t>          END</a:t>
            </a:r>
            <a:endParaRPr lang="zh-CN" altLang="en-US" sz="2000"/>
          </a:p>
          <a:p>
            <a:pPr>
              <a:lnSpc>
                <a:spcPct val="110000"/>
              </a:lnSpc>
            </a:pPr>
            <a:r>
              <a:rPr lang="zh-CN" altLang="en-US" sz="2000"/>
              <a:t>GO</a:t>
            </a:r>
            <a:endParaRPr lang="zh-CN" altLang="en-US" sz="2000"/>
          </a:p>
        </p:txBody>
      </p:sp>
      <p:sp>
        <p:nvSpPr>
          <p:cNvPr id="64516"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4" name="圆角矩形标注 3"/>
          <p:cNvSpPr/>
          <p:nvPr/>
        </p:nvSpPr>
        <p:spPr>
          <a:xfrm>
            <a:off x="6530975" y="1967865"/>
            <a:ext cx="2490470" cy="821690"/>
          </a:xfrm>
          <a:prstGeom prst="wedgeRoundRectCallout">
            <a:avLst>
              <a:gd name="adj1" fmla="val -29927"/>
              <a:gd name="adj2" fmla="val 82534"/>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l">
              <a:lnSpc>
                <a:spcPct val="90000"/>
              </a:lnSpc>
              <a:buNone/>
            </a:pPr>
            <a:r>
              <a:rPr lang="zh-CN" altLang="en-US" sz="1600" strike="noStrike" noProof="1">
                <a:solidFill>
                  <a:srgbClr val="FF0000"/>
                </a:solidFill>
              </a:rPr>
              <a:t>从</a:t>
            </a:r>
            <a:r>
              <a:rPr lang="en-US" altLang="zh-CN" sz="1600" strike="noStrike" noProof="1">
                <a:solidFill>
                  <a:srgbClr val="FF0000"/>
                </a:solidFill>
              </a:rPr>
              <a:t>deleted</a:t>
            </a:r>
            <a:r>
              <a:rPr lang="zh-CN" altLang="en-US" sz="1600" strike="noStrike" noProof="1">
                <a:solidFill>
                  <a:srgbClr val="FF0000"/>
                </a:solidFill>
              </a:rPr>
              <a:t>表获取交易之前的金额，从</a:t>
            </a:r>
            <a:r>
              <a:rPr lang="zh-CN" altLang="en-US" sz="1600">
                <a:solidFill>
                  <a:srgbClr val="FF0000"/>
                </a:solidFill>
                <a:sym typeface="+mn-ea"/>
              </a:rPr>
              <a:t>inserted表获取交易后的</a:t>
            </a:r>
            <a:r>
              <a:rPr lang="zh-CN" altLang="en-US" sz="1600">
                <a:solidFill>
                  <a:srgbClr val="FF0000"/>
                </a:solidFill>
                <a:sym typeface="+mn-ea"/>
              </a:rPr>
              <a:t>余额</a:t>
            </a:r>
            <a:endParaRPr lang="zh-CN" altLang="en-US" sz="1600">
              <a:solidFill>
                <a:srgbClr val="FF0000"/>
              </a:solidFill>
              <a:sym typeface="+mn-ea"/>
            </a:endParaRPr>
          </a:p>
        </p:txBody>
      </p:sp>
      <p:sp>
        <p:nvSpPr>
          <p:cNvPr id="5" name="圆角矩形标注 4"/>
          <p:cNvSpPr/>
          <p:nvPr/>
        </p:nvSpPr>
        <p:spPr>
          <a:xfrm>
            <a:off x="6530975" y="3940175"/>
            <a:ext cx="2406015" cy="481965"/>
          </a:xfrm>
          <a:prstGeom prst="wedgeRoundRectCallout">
            <a:avLst>
              <a:gd name="adj1" fmla="val -79817"/>
              <a:gd name="adj2" fmla="val -4853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l">
              <a:lnSpc>
                <a:spcPct val="90000"/>
              </a:lnSpc>
              <a:buNone/>
            </a:pPr>
            <a:r>
              <a:rPr lang="zh-CN" altLang="en-US" sz="1600" strike="noStrike" noProof="1">
                <a:solidFill>
                  <a:srgbClr val="FF0000"/>
                </a:solidFill>
              </a:rPr>
              <a:t>交易金额是否大于</a:t>
            </a:r>
            <a:r>
              <a:rPr lang="en-US" altLang="zh-CN" sz="1600" strike="noStrike" noProof="1">
                <a:solidFill>
                  <a:srgbClr val="FF0000"/>
                </a:solidFill>
              </a:rPr>
              <a:t>2</a:t>
            </a:r>
            <a:r>
              <a:rPr lang="zh-CN" altLang="en-US" sz="1600" strike="noStrike" noProof="1">
                <a:solidFill>
                  <a:srgbClr val="FF0000"/>
                </a:solidFill>
              </a:rPr>
              <a:t>万</a:t>
            </a:r>
            <a:endParaRPr lang="zh-CN" altLang="en-US" sz="1600" strike="noStrike" noProof="1">
              <a:solidFill>
                <a:srgbClr val="FF0000"/>
              </a:solidFill>
            </a:endParaRPr>
          </a:p>
        </p:txBody>
      </p:sp>
      <p:cxnSp>
        <p:nvCxnSpPr>
          <p:cNvPr id="6" name="直接连接符 5"/>
          <p:cNvCxnSpPr/>
          <p:nvPr/>
        </p:nvCxnSpPr>
        <p:spPr>
          <a:xfrm flipV="1">
            <a:off x="2683828" y="3234055"/>
            <a:ext cx="5248910" cy="24130"/>
          </a:xfrm>
          <a:prstGeom prst="line">
            <a:avLst/>
          </a:prstGeom>
          <a:ln>
            <a:solidFill>
              <a:srgbClr val="CC00FF"/>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V="1">
            <a:off x="2598738" y="3587115"/>
            <a:ext cx="5333365" cy="20320"/>
          </a:xfrm>
          <a:prstGeom prst="line">
            <a:avLst/>
          </a:prstGeom>
          <a:ln>
            <a:solidFill>
              <a:srgbClr val="CC00FF"/>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V="1">
            <a:off x="1439228" y="3947795"/>
            <a:ext cx="5193030" cy="0"/>
          </a:xfrm>
          <a:prstGeom prst="line">
            <a:avLst/>
          </a:prstGeom>
          <a:ln>
            <a:solidFill>
              <a:srgbClr val="CC00FF"/>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V="1">
            <a:off x="1629728" y="5572125"/>
            <a:ext cx="3566795" cy="24765"/>
          </a:xfrm>
          <a:prstGeom prst="line">
            <a:avLst/>
          </a:prstGeom>
          <a:ln>
            <a:solidFill>
              <a:srgbClr val="CC00FF"/>
            </a:solidFill>
          </a:ln>
        </p:spPr>
        <p:style>
          <a:lnRef idx="1">
            <a:schemeClr val="accent1"/>
          </a:lnRef>
          <a:fillRef idx="0">
            <a:schemeClr val="accent1"/>
          </a:fillRef>
          <a:effectRef idx="0">
            <a:schemeClr val="accent1"/>
          </a:effectRef>
          <a:fontRef idx="minor">
            <a:schemeClr val="tx1"/>
          </a:fontRef>
        </p:style>
      </p:cxnSp>
      <p:sp>
        <p:nvSpPr>
          <p:cNvPr id="10" name="圆角矩形标注 9"/>
          <p:cNvSpPr/>
          <p:nvPr/>
        </p:nvSpPr>
        <p:spPr>
          <a:xfrm>
            <a:off x="5721350" y="5597525"/>
            <a:ext cx="2406015" cy="481965"/>
          </a:xfrm>
          <a:prstGeom prst="wedgeRoundRectCallout">
            <a:avLst>
              <a:gd name="adj1" fmla="val -79817"/>
              <a:gd name="adj2" fmla="val -4853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l">
              <a:lnSpc>
                <a:spcPct val="90000"/>
              </a:lnSpc>
              <a:buNone/>
            </a:pPr>
            <a:r>
              <a:rPr lang="zh-CN" altLang="en-US" sz="1600" strike="noStrike" noProof="1">
                <a:solidFill>
                  <a:srgbClr val="FF0000"/>
                </a:solidFill>
              </a:rPr>
              <a:t>回滚事务，取消</a:t>
            </a:r>
            <a:r>
              <a:rPr lang="zh-CN" altLang="en-US" sz="1600" strike="noStrike" noProof="1">
                <a:solidFill>
                  <a:srgbClr val="FF0000"/>
                </a:solidFill>
              </a:rPr>
              <a:t>交易</a:t>
            </a:r>
            <a:endParaRPr lang="zh-CN" altLang="en-US" sz="1600" strike="noStrike" noProof="1">
              <a:solidFill>
                <a:srgbClr val="FF0000"/>
              </a:solidFill>
            </a:endParaRPr>
          </a:p>
        </p:txBody>
      </p:sp>
      <p:sp>
        <p:nvSpPr>
          <p:cNvPr id="11" name="文本框 10"/>
          <p:cNvSpPr txBox="1"/>
          <p:nvPr/>
        </p:nvSpPr>
        <p:spPr>
          <a:xfrm>
            <a:off x="595630" y="3933190"/>
            <a:ext cx="7642860" cy="460375"/>
          </a:xfrm>
          <a:prstGeom prst="rect">
            <a:avLst/>
          </a:prstGeom>
          <a:solidFill>
            <a:schemeClr val="bg1"/>
          </a:solidFill>
        </p:spPr>
        <p:txBody>
          <a:bodyPr wrap="square" rtlCol="0" anchor="t">
            <a:spAutoFit/>
          </a:bodyPr>
          <a:p>
            <a:r>
              <a:rPr lang="zh-CN" altLang="en-US" sz="2400">
                <a:solidFill>
                  <a:srgbClr val="0000FF"/>
                </a:solidFill>
                <a:sym typeface="+mn-ea"/>
              </a:rPr>
              <a:t>update bank set currentMoney=30000 where id=1</a:t>
            </a:r>
            <a:endParaRPr lang="zh-CN" altLang="en-US" sz="2400">
              <a:solidFill>
                <a:srgbClr val="0000FF"/>
              </a:solidFill>
              <a:sym typeface="+mn-ea"/>
            </a:endParaRPr>
          </a:p>
        </p:txBody>
      </p:sp>
      <p:pic>
        <p:nvPicPr>
          <p:cNvPr id="12" name="图片 11"/>
          <p:cNvPicPr>
            <a:picLocks noChangeAspect="1"/>
          </p:cNvPicPr>
          <p:nvPr/>
        </p:nvPicPr>
        <p:blipFill>
          <a:blip r:embed="rId1"/>
          <a:srcRect t="2279"/>
          <a:stretch>
            <a:fillRect/>
          </a:stretch>
        </p:blipFill>
        <p:spPr>
          <a:xfrm>
            <a:off x="595630" y="4404995"/>
            <a:ext cx="7642860" cy="1742440"/>
          </a:xfrm>
          <a:prstGeom prst="rect">
            <a:avLst/>
          </a:prstGeom>
          <a:solidFill>
            <a:schemeClr val="bg1"/>
          </a:solidFill>
        </p:spPr>
      </p:pic>
      <p:sp>
        <p:nvSpPr>
          <p:cNvPr id="46084" name="Rectangle 2"/>
          <p:cNvSpPr txBox="1"/>
          <p:nvPr/>
        </p:nvSpPr>
        <p:spPr>
          <a:xfrm>
            <a:off x="536575" y="755650"/>
            <a:ext cx="5689600" cy="576263"/>
          </a:xfrm>
          <a:prstGeom prst="rect">
            <a:avLst/>
          </a:prstGeom>
          <a:noFill/>
          <a:ln w="9525">
            <a:noFill/>
          </a:ln>
        </p:spPr>
        <p:txBody>
          <a:bodyPr anchor="t"/>
          <a:lstStyle/>
          <a:p>
            <a:pPr marL="457200" lvl="0" indent="-457200" defTabSz="0">
              <a:lnSpc>
                <a:spcPct val="135000"/>
              </a:lnSpc>
              <a:tabLst>
                <a:tab pos="1428750" algn="l"/>
              </a:tabLst>
            </a:pPr>
            <a:r>
              <a:rPr lang="en-US" altLang="x-none" sz="2800" dirty="0">
                <a:solidFill>
                  <a:srgbClr val="0033CC"/>
                </a:solidFill>
                <a:latin typeface="黑体" panose="02010609060101010101" pitchFamily="1" charset="-122"/>
                <a:ea typeface="黑体" panose="02010609060101010101" pitchFamily="1" charset="-122"/>
              </a:rPr>
              <a:t>2.</a:t>
            </a:r>
            <a:r>
              <a:rPr lang="en-US" altLang="x-none" sz="2800" dirty="0">
                <a:solidFill>
                  <a:srgbClr val="CC3300"/>
                </a:solidFill>
                <a:latin typeface="Times New Roman" panose="02020603050405020304" pitchFamily="2" charset="0"/>
                <a:ea typeface="宋体" panose="02010600030101010101" pitchFamily="2" charset="-122"/>
              </a:rPr>
              <a:t> </a:t>
            </a:r>
            <a:r>
              <a:rPr lang="zh-CN" altLang="en-US" sz="2800" dirty="0">
                <a:solidFill>
                  <a:srgbClr val="0033CC"/>
                </a:solidFill>
                <a:latin typeface="黑体" panose="02010609060101010101" pitchFamily="1" charset="-122"/>
                <a:ea typeface="黑体" panose="02010609060101010101" pitchFamily="1" charset="-122"/>
              </a:rPr>
              <a:t>完整性的约束类型</a:t>
            </a:r>
            <a:endParaRPr lang="zh-CN" altLang="en-US" sz="2800" dirty="0">
              <a:solidFill>
                <a:srgbClr val="0033CC"/>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ppt_x"/>
                                          </p:val>
                                        </p:tav>
                                        <p:tav tm="100000">
                                          <p:val>
                                            <p:strVal val="#ppt_x"/>
                                          </p:val>
                                        </p:tav>
                                      </p:tavLst>
                                    </p:anim>
                                    <p:anim calcmode="lin" valueType="num">
                                      <p:cBhvr additive="base">
                                        <p:cTn id="3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ppt_x</p:attrName>
                                        </p:attrNameLst>
                                      </p:cBhvr>
                                      <p:tavLst>
                                        <p:tav tm="0">
                                          <p:val>
                                            <p:strVal val="#ppt_x"/>
                                          </p:val>
                                        </p:tav>
                                        <p:tav tm="100000">
                                          <p:val>
                                            <p:strVal val="#ppt_x"/>
                                          </p:val>
                                        </p:tav>
                                      </p:tavLst>
                                    </p:anim>
                                    <p:anim calcmode="lin" valueType="num">
                                      <p:cBhvr additive="base">
                                        <p:cTn id="3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00" fill="hold"/>
                                        <p:tgtEl>
                                          <p:spTgt spid="11"/>
                                        </p:tgtEl>
                                        <p:attrNameLst>
                                          <p:attrName>ppt_x</p:attrName>
                                        </p:attrNameLst>
                                      </p:cBhvr>
                                      <p:tavLst>
                                        <p:tav tm="0">
                                          <p:val>
                                            <p:strVal val="#ppt_x"/>
                                          </p:val>
                                        </p:tav>
                                        <p:tav tm="100000">
                                          <p:val>
                                            <p:strVal val="#ppt_x"/>
                                          </p:val>
                                        </p:tav>
                                      </p:tavLst>
                                    </p:anim>
                                    <p:anim calcmode="lin" valueType="num">
                                      <p:cBhvr additive="base">
                                        <p:cTn id="42" dur="500" fill="hold"/>
                                        <p:tgtEl>
                                          <p:spTgt spid="11"/>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additive="base">
                                        <p:cTn id="45" dur="500" fill="hold"/>
                                        <p:tgtEl>
                                          <p:spTgt spid="12"/>
                                        </p:tgtEl>
                                        <p:attrNameLst>
                                          <p:attrName>ppt_x</p:attrName>
                                        </p:attrNameLst>
                                      </p:cBhvr>
                                      <p:tavLst>
                                        <p:tav tm="0">
                                          <p:val>
                                            <p:strVal val="#ppt_x"/>
                                          </p:val>
                                        </p:tav>
                                        <p:tav tm="100000">
                                          <p:val>
                                            <p:strVal val="#ppt_x"/>
                                          </p:val>
                                        </p:tav>
                                      </p:tavLst>
                                    </p:anim>
                                    <p:anim calcmode="lin" valueType="num">
                                      <p:cBhvr additive="base">
                                        <p:cTn id="4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P spid="5" grpId="0" bldLvl="0" animBg="1"/>
      <p:bldP spid="5" grpId="1" animBg="1"/>
      <p:bldP spid="10" grpId="0" bldLvl="0" animBg="1"/>
      <p:bldP spid="10" grpId="1" animBg="1"/>
      <p:bldP spid="11" grpId="0" bldLvl="0" animBg="1"/>
      <p:bldP spid="11" grpId="1" animBg="1"/>
    </p:bldLst>
  </p:timing>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52226" name="表格 52225"/>
          <p:cNvGraphicFramePr/>
          <p:nvPr/>
        </p:nvGraphicFramePr>
        <p:xfrm>
          <a:off x="438150" y="1590675"/>
          <a:ext cx="8496300" cy="4400867"/>
        </p:xfrm>
        <a:graphic>
          <a:graphicData uri="http://schemas.openxmlformats.org/drawingml/2006/table">
            <a:tbl>
              <a:tblPr/>
              <a:tblGrid>
                <a:gridCol w="388938"/>
                <a:gridCol w="1166812"/>
                <a:gridCol w="941388"/>
                <a:gridCol w="1355725"/>
                <a:gridCol w="2274887"/>
                <a:gridCol w="2368550"/>
              </a:tblGrid>
              <a:tr h="639763">
                <a:tc gridSpan="2">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1800">
                          <a:latin typeface="华文楷体" panose="02010600040101010101" pitchFamily="2" charset="-122"/>
                          <a:ea typeface="华文楷体" panose="02010600040101010101" pitchFamily="2" charset="-122"/>
                        </a:rPr>
                        <a:t>完整性</a:t>
                      </a:r>
                      <a:endParaRPr lang="zh-CN" altLang="en-US" sz="1800">
                        <a:latin typeface="华文楷体" panose="02010600040101010101" pitchFamily="2" charset="-122"/>
                        <a:ea typeface="华文楷体" panose="02010600040101010101" pitchFamily="2" charset="-122"/>
                      </a:endParaRPr>
                    </a:p>
                    <a:p>
                      <a:pPr marL="0" lvl="0" indent="0" algn="ctr">
                        <a:spcBef>
                          <a:spcPct val="0"/>
                        </a:spcBef>
                        <a:buClr>
                          <a:srgbClr val="000000"/>
                        </a:buClr>
                        <a:buFont typeface="Arial" panose="020B0604020202020204" pitchFamily="34" charset="0"/>
                        <a:buNone/>
                      </a:pPr>
                      <a:r>
                        <a:rPr lang="zh-CN" altLang="en-US" sz="1800">
                          <a:latin typeface="华文楷体" panose="02010600040101010101" pitchFamily="2" charset="-122"/>
                          <a:ea typeface="华文楷体" panose="02010600040101010101" pitchFamily="2" charset="-122"/>
                        </a:rPr>
                        <a:t>约束</a:t>
                      </a:r>
                      <a:endParaRPr lang="zh-CN" altLang="en-US">
                        <a:latin typeface="华文楷体" panose="02010600040101010101" pitchFamily="2" charset="-122"/>
                        <a:ea typeface="华文楷体" panose="02010600040101010101" pitchFamily="2" charset="-122"/>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254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hMerge="1">
                  <a:tcPr>
                    <a:lnR w="12700" cap="flat" cmpd="sng">
                      <a:solidFill>
                        <a:srgbClr val="000000"/>
                      </a:solidFill>
                      <a:prstDash val="solid"/>
                      <a:headEnd type="none" w="med" len="med"/>
                      <a:tailEnd type="none" w="med" len="med"/>
                    </a:lnR>
                    <a:lnT w="254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1800">
                          <a:latin typeface="华文楷体" panose="02010600040101010101" pitchFamily="2" charset="-122"/>
                          <a:ea typeface="华文楷体" panose="02010600040101010101" pitchFamily="2" charset="-122"/>
                        </a:rPr>
                        <a:t>定义方式</a:t>
                      </a:r>
                      <a:endParaRPr lang="zh-CN" altLang="en-US">
                        <a:latin typeface="华文楷体" panose="02010600040101010101" pitchFamily="2" charset="-122"/>
                        <a:ea typeface="华文楷体"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254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hMerge="1">
                  <a:tcPr>
                    <a:lnR w="12700" cap="flat" cmpd="sng">
                      <a:solidFill>
                        <a:srgbClr val="000000"/>
                      </a:solidFill>
                      <a:prstDash val="solid"/>
                      <a:headEnd type="none" w="med" len="med"/>
                      <a:tailEnd type="none" w="med" len="med"/>
                    </a:lnR>
                    <a:lnT w="254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en-US" altLang="x-none" sz="1800" dirty="0">
                          <a:latin typeface="华文楷体" panose="02010600040101010101" pitchFamily="2" charset="-122"/>
                          <a:ea typeface="华文楷体" panose="02010600040101010101" pitchFamily="2" charset="-122"/>
                        </a:rPr>
                        <a:t>SQL-92</a:t>
                      </a:r>
                      <a:r>
                        <a:rPr lang="zh-CN" altLang="en-US" sz="1800" dirty="0">
                          <a:latin typeface="华文楷体" panose="02010600040101010101" pitchFamily="2" charset="-122"/>
                          <a:ea typeface="华文楷体" panose="02010600040101010101" pitchFamily="2" charset="-122"/>
                        </a:rPr>
                        <a:t>支持情况</a:t>
                      </a:r>
                      <a:endParaRPr lang="zh-CN" altLang="en-US" dirty="0">
                        <a:latin typeface="华文楷体" panose="02010600040101010101" pitchFamily="2" charset="-122"/>
                        <a:ea typeface="华文楷体"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254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en-US" altLang="x-none" sz="1800" dirty="0">
                          <a:latin typeface="华文楷体" panose="02010600040101010101" pitchFamily="2" charset="-122"/>
                          <a:ea typeface="华文楷体" panose="02010600040101010101" pitchFamily="2" charset="-122"/>
                        </a:rPr>
                        <a:t>SYBASE</a:t>
                      </a:r>
                      <a:r>
                        <a:rPr lang="zh-CN" altLang="en-US" sz="1800" dirty="0">
                          <a:latin typeface="华文楷体" panose="02010600040101010101" pitchFamily="2" charset="-122"/>
                          <a:ea typeface="华文楷体" panose="02010600040101010101" pitchFamily="2" charset="-122"/>
                        </a:rPr>
                        <a:t>和</a:t>
                      </a:r>
                      <a:r>
                        <a:rPr lang="en-US" altLang="x-none" sz="1800" dirty="0">
                          <a:latin typeface="华文楷体" panose="02010600040101010101" pitchFamily="2" charset="-122"/>
                          <a:ea typeface="华文楷体" panose="02010600040101010101" pitchFamily="2" charset="-122"/>
                        </a:rPr>
                        <a:t>MS SQL SERVER</a:t>
                      </a:r>
                      <a:r>
                        <a:rPr lang="zh-CN" altLang="en-US" sz="1800" dirty="0">
                          <a:latin typeface="华文楷体" panose="02010600040101010101" pitchFamily="2" charset="-122"/>
                          <a:ea typeface="华文楷体" panose="02010600040101010101" pitchFamily="2" charset="-122"/>
                        </a:rPr>
                        <a:t>支持情况</a:t>
                      </a:r>
                      <a:endParaRPr lang="zh-CN" altLang="en-US" dirty="0">
                        <a:latin typeface="华文楷体" panose="02010600040101010101" pitchFamily="2" charset="-122"/>
                        <a:ea typeface="华文楷体" panose="02010600040101010101" pitchFamily="2" charset="-122"/>
                      </a:endParaRP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254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r>
              <a:tr h="477837">
                <a:tc rowSpan="6">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1800">
                          <a:latin typeface="华文楷体" panose="02010600040101010101" pitchFamily="2" charset="-122"/>
                          <a:ea typeface="华文楷体" panose="02010600040101010101" pitchFamily="2" charset="-122"/>
                        </a:rPr>
                        <a:t>静态约束</a:t>
                      </a:r>
                      <a:endParaRPr lang="zh-CN" altLang="en-US">
                        <a:latin typeface="华文楷体" panose="02010600040101010101" pitchFamily="2" charset="-122"/>
                        <a:ea typeface="华文楷体" panose="02010600040101010101" pitchFamily="2" charset="-122"/>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1800">
                          <a:latin typeface="华文楷体" panose="02010600040101010101" pitchFamily="2" charset="-122"/>
                          <a:ea typeface="华文楷体" panose="02010600040101010101" pitchFamily="2" charset="-122"/>
                        </a:rPr>
                        <a:t>固有约束</a:t>
                      </a:r>
                      <a:endParaRPr lang="zh-CN" altLang="en-US">
                        <a:latin typeface="华文楷体" panose="02010600040101010101" pitchFamily="2" charset="-122"/>
                        <a:ea typeface="华文楷体"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gridSpan="2">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1800">
                          <a:latin typeface="华文楷体" panose="02010600040101010101" pitchFamily="2" charset="-122"/>
                          <a:ea typeface="华文楷体" panose="02010600040101010101" pitchFamily="2" charset="-122"/>
                        </a:rPr>
                        <a:t>数据模型固有</a:t>
                      </a:r>
                      <a:endParaRPr lang="zh-CN" altLang="en-US">
                        <a:latin typeface="华文楷体" panose="02010600040101010101" pitchFamily="2" charset="-122"/>
                        <a:ea typeface="华文楷体"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1800">
                          <a:latin typeface="华文楷体" panose="02010600040101010101" pitchFamily="2" charset="-122"/>
                          <a:ea typeface="华文楷体" panose="02010600040101010101" pitchFamily="2" charset="-122"/>
                        </a:rPr>
                        <a:t>属性原子性</a:t>
                      </a:r>
                      <a:endParaRPr lang="zh-CN" altLang="en-US">
                        <a:latin typeface="华文楷体" panose="02010600040101010101" pitchFamily="2" charset="-122"/>
                        <a:ea typeface="华文楷体"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1800">
                          <a:latin typeface="华文楷体" panose="02010600040101010101" pitchFamily="2" charset="-122"/>
                          <a:ea typeface="华文楷体" panose="02010600040101010101" pitchFamily="2" charset="-122"/>
                        </a:rPr>
                        <a:t>属性原子性</a:t>
                      </a:r>
                      <a:endParaRPr lang="zh-CN" altLang="en-US">
                        <a:latin typeface="华文楷体" panose="02010600040101010101" pitchFamily="2" charset="-122"/>
                        <a:ea typeface="华文楷体" panose="02010600040101010101" pitchFamily="2" charset="-122"/>
                      </a:endParaRP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r>
              <a:tr h="914400">
                <a:tc vMerge="1">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rowSpan="2">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1800">
                          <a:latin typeface="华文楷体" panose="02010600040101010101" pitchFamily="2" charset="-122"/>
                          <a:ea typeface="华文楷体" panose="02010600040101010101" pitchFamily="2" charset="-122"/>
                        </a:rPr>
                        <a:t>隐式约束</a:t>
                      </a:r>
                      <a:endParaRPr lang="zh-CN" altLang="en-US">
                        <a:latin typeface="华文楷体" panose="02010600040101010101" pitchFamily="2" charset="-122"/>
                        <a:ea typeface="华文楷体"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rowSpan="2">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1800" dirty="0">
                          <a:latin typeface="华文楷体" panose="02010600040101010101" pitchFamily="2" charset="-122"/>
                          <a:ea typeface="华文楷体" panose="02010600040101010101" pitchFamily="2" charset="-122"/>
                        </a:rPr>
                        <a:t>数据库定义子语言</a:t>
                      </a:r>
                      <a:r>
                        <a:rPr lang="en-US" altLang="x-none" sz="1800" dirty="0">
                          <a:latin typeface="华文楷体" panose="02010600040101010101" pitchFamily="2" charset="-122"/>
                          <a:ea typeface="华文楷体" panose="02010600040101010101" pitchFamily="2" charset="-122"/>
                        </a:rPr>
                        <a:t>DDL</a:t>
                      </a:r>
                      <a:endParaRPr lang="en-US" altLang="x-none" dirty="0">
                        <a:latin typeface="华文楷体" panose="02010600040101010101" pitchFamily="2" charset="-122"/>
                        <a:ea typeface="华文楷体"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1800">
                          <a:latin typeface="华文楷体" panose="02010600040101010101" pitchFamily="2" charset="-122"/>
                          <a:ea typeface="华文楷体" panose="02010600040101010101" pitchFamily="2" charset="-122"/>
                        </a:rPr>
                        <a:t>表本身的</a:t>
                      </a:r>
                      <a:endParaRPr lang="zh-CN" altLang="en-US" sz="1800">
                        <a:latin typeface="华文楷体" panose="02010600040101010101" pitchFamily="2" charset="-122"/>
                        <a:ea typeface="华文楷体" panose="02010600040101010101" pitchFamily="2" charset="-122"/>
                      </a:endParaRPr>
                    </a:p>
                    <a:p>
                      <a:pPr marL="0" lvl="0" indent="0" algn="ctr">
                        <a:spcBef>
                          <a:spcPct val="0"/>
                        </a:spcBef>
                        <a:buClr>
                          <a:srgbClr val="000000"/>
                        </a:buClr>
                        <a:buFont typeface="Arial" panose="020B0604020202020204" pitchFamily="34" charset="0"/>
                        <a:buNone/>
                      </a:pPr>
                      <a:r>
                        <a:rPr lang="zh-CN" altLang="en-US" sz="1800">
                          <a:latin typeface="华文楷体" panose="02010600040101010101" pitchFamily="2" charset="-122"/>
                          <a:ea typeface="华文楷体" panose="02010600040101010101" pitchFamily="2" charset="-122"/>
                        </a:rPr>
                        <a:t>完整性约束</a:t>
                      </a:r>
                      <a:endParaRPr lang="zh-CN" altLang="en-US">
                        <a:latin typeface="华文楷体" panose="02010600040101010101" pitchFamily="2" charset="-122"/>
                        <a:ea typeface="华文楷体"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1800">
                          <a:solidFill>
                            <a:srgbClr val="990033"/>
                          </a:solidFill>
                          <a:latin typeface="华文楷体" panose="02010600040101010101" pitchFamily="2" charset="-122"/>
                          <a:ea typeface="华文楷体" panose="02010600040101010101" pitchFamily="2" charset="-122"/>
                        </a:rPr>
                        <a:t>域限制、主键限制、唯一限制和检查限制</a:t>
                      </a:r>
                      <a:endParaRPr lang="zh-CN" altLang="en-US">
                        <a:solidFill>
                          <a:srgbClr val="990033"/>
                        </a:solidFill>
                        <a:latin typeface="华文楷体" panose="02010600040101010101" pitchFamily="2" charset="-122"/>
                        <a:ea typeface="华文楷体"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1800">
                          <a:solidFill>
                            <a:srgbClr val="990033"/>
                          </a:solidFill>
                          <a:latin typeface="华文楷体" panose="02010600040101010101" pitchFamily="2" charset="-122"/>
                          <a:ea typeface="华文楷体" panose="02010600040101010101" pitchFamily="2" charset="-122"/>
                        </a:rPr>
                        <a:t>缺省、规则、主键限制、唯一限制、检查限制</a:t>
                      </a:r>
                      <a:endParaRPr lang="zh-CN" altLang="en-US">
                        <a:solidFill>
                          <a:srgbClr val="990033"/>
                        </a:solidFill>
                        <a:latin typeface="华文楷体" panose="02010600040101010101" pitchFamily="2" charset="-122"/>
                        <a:ea typeface="华文楷体" panose="02010600040101010101" pitchFamily="2" charset="-122"/>
                      </a:endParaRP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r>
              <a:tr h="395288">
                <a:tc vMerge="1">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1800">
                          <a:latin typeface="华文楷体" panose="02010600040101010101" pitchFamily="2" charset="-122"/>
                          <a:ea typeface="华文楷体" panose="02010600040101010101" pitchFamily="2" charset="-122"/>
                        </a:rPr>
                        <a:t>表间的约束</a:t>
                      </a:r>
                      <a:endParaRPr lang="zh-CN" altLang="en-US">
                        <a:latin typeface="华文楷体" panose="02010600040101010101" pitchFamily="2" charset="-122"/>
                        <a:ea typeface="华文楷体"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1800">
                          <a:solidFill>
                            <a:srgbClr val="990033"/>
                          </a:solidFill>
                          <a:latin typeface="华文楷体" panose="02010600040101010101" pitchFamily="2" charset="-122"/>
                          <a:ea typeface="华文楷体" panose="02010600040101010101" pitchFamily="2" charset="-122"/>
                        </a:rPr>
                        <a:t>外键限制、断言</a:t>
                      </a:r>
                      <a:endParaRPr lang="zh-CN" altLang="en-US">
                        <a:solidFill>
                          <a:srgbClr val="990033"/>
                        </a:solidFill>
                        <a:latin typeface="华文楷体" panose="02010600040101010101" pitchFamily="2" charset="-122"/>
                        <a:ea typeface="华文楷体"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1800">
                          <a:solidFill>
                            <a:srgbClr val="990033"/>
                          </a:solidFill>
                          <a:latin typeface="华文楷体" panose="02010600040101010101" pitchFamily="2" charset="-122"/>
                          <a:ea typeface="华文楷体" panose="02010600040101010101" pitchFamily="2" charset="-122"/>
                        </a:rPr>
                        <a:t>外键限制、触发器</a:t>
                      </a:r>
                      <a:endParaRPr lang="zh-CN" altLang="en-US">
                        <a:solidFill>
                          <a:srgbClr val="990033"/>
                        </a:solidFill>
                        <a:latin typeface="华文楷体" panose="02010600040101010101" pitchFamily="2" charset="-122"/>
                        <a:ea typeface="华文楷体" panose="02010600040101010101" pitchFamily="2" charset="-122"/>
                      </a:endParaRP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r>
              <a:tr h="395287">
                <a:tc vMerge="1">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rowSpan="3">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1800">
                          <a:latin typeface="华文楷体" panose="02010600040101010101" pitchFamily="2" charset="-122"/>
                          <a:ea typeface="华文楷体" panose="02010600040101010101" pitchFamily="2" charset="-122"/>
                        </a:rPr>
                        <a:t>显式约束</a:t>
                      </a:r>
                      <a:endParaRPr lang="zh-CN" altLang="en-US">
                        <a:latin typeface="华文楷体" panose="02010600040101010101" pitchFamily="2" charset="-122"/>
                        <a:ea typeface="华文楷体"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gridSpan="2">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1800">
                          <a:latin typeface="华文楷体" panose="02010600040101010101" pitchFamily="2" charset="-122"/>
                          <a:ea typeface="华文楷体" panose="02010600040101010101" pitchFamily="2" charset="-122"/>
                        </a:rPr>
                        <a:t>过程化定义</a:t>
                      </a:r>
                      <a:endParaRPr lang="zh-CN" altLang="en-US">
                        <a:latin typeface="华文楷体" panose="02010600040101010101" pitchFamily="2" charset="-122"/>
                        <a:ea typeface="华文楷体"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1800">
                          <a:latin typeface="华文楷体" panose="02010600040101010101" pitchFamily="2" charset="-122"/>
                          <a:ea typeface="华文楷体" panose="02010600040101010101" pitchFamily="2" charset="-122"/>
                        </a:rPr>
                        <a:t>支持</a:t>
                      </a:r>
                      <a:endParaRPr lang="zh-CN" altLang="en-US">
                        <a:latin typeface="华文楷体" panose="02010600040101010101" pitchFamily="2" charset="-122"/>
                        <a:ea typeface="华文楷体"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1800">
                          <a:latin typeface="华文楷体" panose="02010600040101010101" pitchFamily="2" charset="-122"/>
                          <a:ea typeface="华文楷体" panose="02010600040101010101" pitchFamily="2" charset="-122"/>
                        </a:rPr>
                        <a:t>存储过程、函数</a:t>
                      </a:r>
                      <a:endParaRPr lang="zh-CN" altLang="en-US">
                        <a:latin typeface="华文楷体" panose="02010600040101010101" pitchFamily="2" charset="-122"/>
                        <a:ea typeface="华文楷体" panose="02010600040101010101" pitchFamily="2" charset="-122"/>
                      </a:endParaRP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r>
              <a:tr h="393700">
                <a:tc vMerge="1">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gridSpan="2">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1800">
                          <a:solidFill>
                            <a:srgbClr val="A50021"/>
                          </a:solidFill>
                          <a:latin typeface="华文楷体" panose="02010600040101010101" pitchFamily="2" charset="-122"/>
                          <a:ea typeface="华文楷体" panose="02010600040101010101" pitchFamily="2" charset="-122"/>
                        </a:rPr>
                        <a:t>断言</a:t>
                      </a:r>
                      <a:endParaRPr lang="zh-CN" altLang="en-US">
                        <a:solidFill>
                          <a:srgbClr val="A50021"/>
                        </a:solidFill>
                        <a:latin typeface="华文楷体" panose="02010600040101010101" pitchFamily="2" charset="-122"/>
                        <a:ea typeface="华文楷体"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1800">
                          <a:latin typeface="华文楷体" panose="02010600040101010101" pitchFamily="2" charset="-122"/>
                          <a:ea typeface="华文楷体" panose="02010600040101010101" pitchFamily="2" charset="-122"/>
                        </a:rPr>
                        <a:t>支持</a:t>
                      </a:r>
                      <a:endParaRPr lang="zh-CN" altLang="en-US">
                        <a:latin typeface="华文楷体" panose="02010600040101010101" pitchFamily="2" charset="-122"/>
                        <a:ea typeface="华文楷体"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1800">
                          <a:latin typeface="华文楷体" panose="02010600040101010101" pitchFamily="2" charset="-122"/>
                          <a:ea typeface="华文楷体" panose="02010600040101010101" pitchFamily="2" charset="-122"/>
                        </a:rPr>
                        <a:t>不支持</a:t>
                      </a:r>
                      <a:endParaRPr lang="zh-CN" altLang="en-US">
                        <a:latin typeface="华文楷体" panose="02010600040101010101" pitchFamily="2" charset="-122"/>
                        <a:ea typeface="华文楷体" panose="02010600040101010101" pitchFamily="2" charset="-122"/>
                      </a:endParaRP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r>
              <a:tr h="395288">
                <a:tc vMerge="1">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gridSpan="2">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1800">
                          <a:latin typeface="华文楷体" panose="02010600040101010101" pitchFamily="2" charset="-122"/>
                          <a:ea typeface="华文楷体" panose="02010600040101010101" pitchFamily="2" charset="-122"/>
                        </a:rPr>
                        <a:t>触发器</a:t>
                      </a:r>
                      <a:endParaRPr lang="zh-CN" altLang="en-US">
                        <a:latin typeface="华文楷体" panose="02010600040101010101" pitchFamily="2" charset="-122"/>
                        <a:ea typeface="华文楷体"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1800">
                          <a:latin typeface="华文楷体" panose="02010600040101010101" pitchFamily="2" charset="-122"/>
                          <a:ea typeface="华文楷体" panose="02010600040101010101" pitchFamily="2" charset="-122"/>
                        </a:rPr>
                        <a:t>不支持</a:t>
                      </a:r>
                      <a:endParaRPr lang="zh-CN" altLang="en-US">
                        <a:latin typeface="华文楷体" panose="02010600040101010101" pitchFamily="2" charset="-122"/>
                        <a:ea typeface="华文楷体"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1800">
                          <a:latin typeface="华文楷体" panose="02010600040101010101" pitchFamily="2" charset="-122"/>
                          <a:ea typeface="华文楷体" panose="02010600040101010101" pitchFamily="2" charset="-122"/>
                        </a:rPr>
                        <a:t>支持</a:t>
                      </a:r>
                      <a:endParaRPr lang="zh-CN" altLang="en-US">
                        <a:latin typeface="华文楷体" panose="02010600040101010101" pitchFamily="2" charset="-122"/>
                        <a:ea typeface="华文楷体"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r>
              <a:tr h="393700">
                <a:tc rowSpan="2" gridSpan="2">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1800">
                          <a:latin typeface="华文楷体" panose="02010600040101010101" pitchFamily="2" charset="-122"/>
                          <a:ea typeface="华文楷体" panose="02010600040101010101" pitchFamily="2" charset="-122"/>
                        </a:rPr>
                        <a:t>动态约束</a:t>
                      </a:r>
                      <a:endParaRPr lang="zh-CN" altLang="en-US">
                        <a:latin typeface="华文楷体" panose="02010600040101010101" pitchFamily="2" charset="-122"/>
                        <a:ea typeface="华文楷体" panose="02010600040101010101" pitchFamily="2" charset="-122"/>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54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rowSpan="2"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tcPr>
                </a:tc>
                <a:tc gridSpan="2">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1800">
                          <a:latin typeface="华文楷体" panose="02010600040101010101" pitchFamily="2" charset="-122"/>
                          <a:ea typeface="华文楷体" panose="02010600040101010101" pitchFamily="2" charset="-122"/>
                        </a:rPr>
                        <a:t>过程化定义</a:t>
                      </a:r>
                      <a:endParaRPr lang="zh-CN" altLang="en-US">
                        <a:latin typeface="华文楷体" panose="02010600040101010101" pitchFamily="2" charset="-122"/>
                        <a:ea typeface="华文楷体"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1800">
                          <a:latin typeface="华文楷体" panose="02010600040101010101" pitchFamily="2" charset="-122"/>
                          <a:ea typeface="华文楷体" panose="02010600040101010101" pitchFamily="2" charset="-122"/>
                        </a:rPr>
                        <a:t>支持</a:t>
                      </a:r>
                      <a:endParaRPr lang="zh-CN" altLang="en-US">
                        <a:latin typeface="华文楷体" panose="02010600040101010101" pitchFamily="2" charset="-122"/>
                        <a:ea typeface="华文楷体"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1800">
                          <a:latin typeface="华文楷体" panose="02010600040101010101" pitchFamily="2" charset="-122"/>
                          <a:ea typeface="华文楷体" panose="02010600040101010101" pitchFamily="2" charset="-122"/>
                        </a:rPr>
                        <a:t>存储过程、函数</a:t>
                      </a:r>
                      <a:endParaRPr lang="zh-CN" altLang="en-US">
                        <a:latin typeface="华文楷体" panose="02010600040101010101" pitchFamily="2" charset="-122"/>
                        <a:ea typeface="华文楷体" panose="02010600040101010101" pitchFamily="2" charset="-122"/>
                      </a:endParaRP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r>
              <a:tr h="395287">
                <a:tc vMerge="1" gridSpan="2">
                  <a:tcPr>
                    <a:lnL w="9525" cap="flat" cmpd="sng">
                      <a:solidFill>
                        <a:srgbClr val="000000"/>
                      </a:solidFill>
                      <a:prstDash val="solid"/>
                      <a:headEnd type="none" w="med" len="med"/>
                      <a:tailEnd type="none" w="med" len="med"/>
                    </a:lnL>
                    <a:lnB w="25400" cap="flat" cmpd="sng">
                      <a:solidFill>
                        <a:srgbClr val="000000"/>
                      </a:solidFill>
                      <a:prstDash val="solid"/>
                      <a:headEnd type="none" w="med" len="med"/>
                      <a:tailEnd type="none" w="med" len="med"/>
                    </a:lnB>
                  </a:tcPr>
                </a:tc>
                <a:tc vMerge="1" hMerge="1">
                  <a:tcPr>
                    <a:lnR w="12700" cap="flat" cmpd="sng">
                      <a:solidFill>
                        <a:srgbClr val="000000"/>
                      </a:solidFill>
                      <a:prstDash val="solid"/>
                      <a:headEnd type="none" w="med" len="med"/>
                      <a:tailEnd type="none" w="med" len="med"/>
                    </a:lnR>
                    <a:lnB w="25400" cap="flat" cmpd="sng">
                      <a:solidFill>
                        <a:srgbClr val="000000"/>
                      </a:solidFill>
                      <a:prstDash val="solid"/>
                      <a:headEnd type="none" w="med" len="med"/>
                      <a:tailEnd type="none" w="med" len="med"/>
                    </a:lnB>
                  </a:tcPr>
                </a:tc>
                <a:tc gridSpan="2">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1800">
                          <a:latin typeface="华文楷体" panose="02010600040101010101" pitchFamily="2" charset="-122"/>
                          <a:ea typeface="华文楷体" panose="02010600040101010101" pitchFamily="2" charset="-122"/>
                        </a:rPr>
                        <a:t>触发器</a:t>
                      </a:r>
                      <a:endParaRPr lang="zh-CN" altLang="en-US">
                        <a:latin typeface="华文楷体" panose="02010600040101010101" pitchFamily="2" charset="-122"/>
                        <a:ea typeface="华文楷体"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54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5400" cap="flat" cmpd="sng">
                      <a:solidFill>
                        <a:srgbClr val="000000"/>
                      </a:solidFill>
                      <a:prstDash val="solid"/>
                      <a:headEnd type="none" w="med" len="med"/>
                      <a:tailEnd type="none" w="med" len="med"/>
                    </a:lnB>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1800">
                          <a:latin typeface="华文楷体" panose="02010600040101010101" pitchFamily="2" charset="-122"/>
                          <a:ea typeface="华文楷体" panose="02010600040101010101" pitchFamily="2" charset="-122"/>
                        </a:rPr>
                        <a:t>不支持</a:t>
                      </a:r>
                      <a:endParaRPr lang="zh-CN" altLang="en-US">
                        <a:latin typeface="华文楷体" panose="02010600040101010101" pitchFamily="2" charset="-122"/>
                        <a:ea typeface="华文楷体"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54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1800">
                          <a:latin typeface="华文楷体" panose="02010600040101010101" pitchFamily="2" charset="-122"/>
                          <a:ea typeface="华文楷体" panose="02010600040101010101" pitchFamily="2" charset="-122"/>
                        </a:rPr>
                        <a:t>支持</a:t>
                      </a:r>
                      <a:endParaRPr lang="zh-CN" altLang="en-US">
                        <a:latin typeface="华文楷体" panose="02010600040101010101" pitchFamily="2" charset="-122"/>
                        <a:ea typeface="华文楷体" panose="02010600040101010101" pitchFamily="2" charset="-122"/>
                      </a:endParaRP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54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r>
            </a:tbl>
          </a:graphicData>
        </a:graphic>
      </p:graphicFrame>
      <p:sp>
        <p:nvSpPr>
          <p:cNvPr id="50231" name="Rectangle 2"/>
          <p:cNvSpPr/>
          <p:nvPr/>
        </p:nvSpPr>
        <p:spPr>
          <a:xfrm>
            <a:off x="457200" y="68263"/>
            <a:ext cx="8229600" cy="692150"/>
          </a:xfrm>
          <a:prstGeom prst="rect">
            <a:avLst/>
          </a:prstGeom>
          <a:noFill/>
          <a:ln w="9525">
            <a:noFill/>
          </a:ln>
        </p:spPr>
        <p:txBody>
          <a:bodyPr anchor="ctr"/>
          <a:lstStyle/>
          <a:p>
            <a:pPr lvl="0" indent="0"/>
            <a:r>
              <a:rPr lang="zh-CN" altLang="en-US" sz="3200" dirty="0">
                <a:solidFill>
                  <a:srgbClr val="FF0000"/>
                </a:solidFill>
                <a:latin typeface="Arial" panose="020B0604020202020204" pitchFamily="34" charset="0"/>
                <a:ea typeface="黑体" panose="02010609060101010101" pitchFamily="1" charset="-122"/>
              </a:rPr>
              <a:t>三、数据库的完整性</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50232" name="Rectangle 2"/>
          <p:cNvSpPr txBox="1"/>
          <p:nvPr/>
        </p:nvSpPr>
        <p:spPr>
          <a:xfrm>
            <a:off x="536575" y="755650"/>
            <a:ext cx="5689600" cy="576263"/>
          </a:xfrm>
          <a:prstGeom prst="rect">
            <a:avLst/>
          </a:prstGeom>
          <a:noFill/>
          <a:ln w="9525">
            <a:noFill/>
          </a:ln>
        </p:spPr>
        <p:txBody>
          <a:bodyPr anchor="t"/>
          <a:lstStyle/>
          <a:p>
            <a:pPr marL="457200" lvl="0" indent="-457200" defTabSz="0">
              <a:lnSpc>
                <a:spcPct val="135000"/>
              </a:lnSpc>
              <a:tabLst>
                <a:tab pos="1428750" algn="l"/>
              </a:tabLst>
            </a:pPr>
            <a:r>
              <a:rPr lang="en-US" altLang="x-none" sz="2800" dirty="0">
                <a:solidFill>
                  <a:srgbClr val="0033CC"/>
                </a:solidFill>
                <a:latin typeface="黑体" panose="02010609060101010101" pitchFamily="1" charset="-122"/>
                <a:ea typeface="黑体" panose="02010609060101010101" pitchFamily="1" charset="-122"/>
              </a:rPr>
              <a:t>4.</a:t>
            </a:r>
            <a:r>
              <a:rPr lang="en-US" altLang="x-none" sz="2800" dirty="0">
                <a:solidFill>
                  <a:srgbClr val="CC3300"/>
                </a:solidFill>
                <a:latin typeface="Times New Roman" panose="02020603050405020304" pitchFamily="2" charset="0"/>
                <a:ea typeface="宋体" panose="02010600030101010101" pitchFamily="2" charset="-122"/>
              </a:rPr>
              <a:t> </a:t>
            </a:r>
            <a:r>
              <a:rPr lang="en-US" altLang="x-none" sz="2800" dirty="0">
                <a:solidFill>
                  <a:srgbClr val="0033CC"/>
                </a:solidFill>
                <a:latin typeface="黑体" panose="02010609060101010101" pitchFamily="1" charset="-122"/>
                <a:ea typeface="黑体" panose="02010609060101010101" pitchFamily="1" charset="-122"/>
              </a:rPr>
              <a:t>SQL-92</a:t>
            </a:r>
            <a:r>
              <a:rPr lang="zh-CN" altLang="en-US" sz="2800" dirty="0">
                <a:solidFill>
                  <a:srgbClr val="0033CC"/>
                </a:solidFill>
                <a:latin typeface="黑体" panose="02010609060101010101" pitchFamily="1" charset="-122"/>
                <a:ea typeface="黑体" panose="02010609060101010101" pitchFamily="1" charset="-122"/>
              </a:rPr>
              <a:t>和产品对完整性的支持</a:t>
            </a:r>
            <a:endParaRPr lang="zh-CN" altLang="en-US" sz="2800" dirty="0">
              <a:solidFill>
                <a:srgbClr val="0033CC"/>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522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四、数据库的故障恢复技术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51202" name="Rectangle 7"/>
          <p:cNvSpPr/>
          <p:nvPr/>
        </p:nvSpPr>
        <p:spPr>
          <a:xfrm>
            <a:off x="501650" y="7810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1</a:t>
            </a:r>
            <a:r>
              <a:rPr lang="zh-CN" altLang="en-US" sz="2800" dirty="0">
                <a:solidFill>
                  <a:srgbClr val="FF0000"/>
                </a:solidFill>
                <a:latin typeface="黑体" panose="02010609060101010101" pitchFamily="1" charset="-122"/>
                <a:ea typeface="黑体" panose="02010609060101010101" pitchFamily="1" charset="-122"/>
              </a:rPr>
              <a:t>、事务管理概况</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51203" name="Rectangle 7"/>
          <p:cNvSpPr/>
          <p:nvPr/>
        </p:nvSpPr>
        <p:spPr>
          <a:xfrm>
            <a:off x="422275" y="1265238"/>
            <a:ext cx="3692525" cy="609600"/>
          </a:xfrm>
          <a:prstGeom prst="rect">
            <a:avLst/>
          </a:prstGeom>
          <a:noFill/>
          <a:ln w="9525">
            <a:noFill/>
          </a:ln>
        </p:spPr>
        <p:txBody>
          <a:bodyPr wrap="none" anchor="ctr"/>
          <a:lstStyle/>
          <a:p>
            <a:pPr lvl="0" indent="0" algn="just">
              <a:spcBef>
                <a:spcPct val="20000"/>
              </a:spcBef>
              <a:buClr>
                <a:schemeClr val="folHlink"/>
              </a:buClr>
              <a:buSzPct val="75000"/>
            </a:pPr>
            <a:r>
              <a:rPr lang="zh-CN" altLang="en-US" sz="2600" dirty="0">
                <a:solidFill>
                  <a:srgbClr val="0033CC"/>
                </a:solidFill>
                <a:latin typeface="黑体" panose="02010609060101010101" pitchFamily="1" charset="-122"/>
                <a:ea typeface="黑体" panose="02010609060101010101" pitchFamily="1" charset="-122"/>
              </a:rPr>
              <a:t>（</a:t>
            </a:r>
            <a:r>
              <a:rPr lang="en-US" altLang="x-none" sz="2600" dirty="0">
                <a:solidFill>
                  <a:srgbClr val="0033CC"/>
                </a:solidFill>
                <a:latin typeface="黑体" panose="02010609060101010101" pitchFamily="1" charset="-122"/>
                <a:ea typeface="黑体" panose="02010609060101010101" pitchFamily="1" charset="-122"/>
              </a:rPr>
              <a:t>1</a:t>
            </a:r>
            <a:r>
              <a:rPr lang="zh-CN" altLang="en-US" sz="2600" dirty="0">
                <a:solidFill>
                  <a:srgbClr val="0033CC"/>
                </a:solidFill>
                <a:latin typeface="黑体" panose="02010609060101010101" pitchFamily="1" charset="-122"/>
                <a:ea typeface="黑体" panose="02010609060101010101" pitchFamily="1" charset="-122"/>
              </a:rPr>
              <a:t>）事务的基本概念</a:t>
            </a:r>
            <a:endParaRPr lang="zh-CN" altLang="en-US" sz="2600" dirty="0">
              <a:solidFill>
                <a:srgbClr val="0033CC"/>
              </a:solidFill>
              <a:latin typeface="黑体" panose="02010609060101010101" pitchFamily="1" charset="-122"/>
              <a:ea typeface="黑体" panose="02010609060101010101" pitchFamily="1" charset="-122"/>
            </a:endParaRPr>
          </a:p>
        </p:txBody>
      </p:sp>
      <p:grpSp>
        <p:nvGrpSpPr>
          <p:cNvPr id="53253" name="组合 10"/>
          <p:cNvGrpSpPr/>
          <p:nvPr/>
        </p:nvGrpSpPr>
        <p:grpSpPr>
          <a:xfrm>
            <a:off x="642938" y="569913"/>
            <a:ext cx="8501062" cy="2655887"/>
            <a:chOff x="0" y="0"/>
            <a:chExt cx="8501062" cy="2656381"/>
          </a:xfrm>
        </p:grpSpPr>
        <p:sp>
          <p:nvSpPr>
            <p:cNvPr id="51205" name="Text Box 4"/>
            <p:cNvSpPr txBox="1"/>
            <p:nvPr/>
          </p:nvSpPr>
          <p:spPr>
            <a:xfrm>
              <a:off x="0" y="1255998"/>
              <a:ext cx="6267528" cy="1400383"/>
            </a:xfrm>
            <a:prstGeom prst="rect">
              <a:avLst/>
            </a:prstGeom>
            <a:noFill/>
            <a:ln w="9525">
              <a:noFill/>
            </a:ln>
          </p:spPr>
          <p:txBody>
            <a:bodyPr anchor="t">
              <a:spAutoFit/>
            </a:bodyPr>
            <a:lstStyle/>
            <a:p>
              <a:pPr lvl="0" indent="0">
                <a:lnSpc>
                  <a:spcPct val="125000"/>
                </a:lnSpc>
                <a:spcBef>
                  <a:spcPct val="50000"/>
                </a:spcBef>
                <a:buFont typeface="Wingdings" panose="05000000000000000000" pitchFamily="2" charset="2"/>
                <a:buChar char="p"/>
              </a:pPr>
              <a:r>
                <a:rPr lang="zh-CN" altLang="en-US" sz="2400" u="sng" dirty="0">
                  <a:solidFill>
                    <a:srgbClr val="0033CC"/>
                  </a:solidFill>
                  <a:latin typeface="宋体" panose="02010600030101010101" pitchFamily="2" charset="-122"/>
                  <a:ea typeface="宋体" panose="02010600030101010101" pitchFamily="2" charset="-122"/>
                </a:rPr>
                <a:t>事务的概念：</a:t>
              </a:r>
              <a:r>
                <a:rPr lang="zh-CN" altLang="en-US" sz="2200" dirty="0">
                  <a:latin typeface="华文楷体" panose="02010600040101010101" pitchFamily="2" charset="-122"/>
                  <a:ea typeface="华文楷体" panose="02010600040101010101" pitchFamily="2" charset="-122"/>
                </a:rPr>
                <a:t>有时，某个工作的完成要分若干步骤。只有所有步骤都成功做完，则该项工作才完成；否则，其中任一步失败，该工作亦失败。</a:t>
              </a:r>
              <a:endParaRPr lang="zh-CN" altLang="en-US" sz="2200" dirty="0">
                <a:latin typeface="华文楷体" panose="02010600040101010101" pitchFamily="2" charset="-122"/>
                <a:ea typeface="华文楷体" panose="02010600040101010101" pitchFamily="2" charset="-122"/>
              </a:endParaRPr>
            </a:p>
          </p:txBody>
        </p:sp>
        <p:pic>
          <p:nvPicPr>
            <p:cNvPr id="51206" name="Picture 4" descr="JamesGray"/>
            <p:cNvPicPr>
              <a:picLocks noChangeAspect="1"/>
            </p:cNvPicPr>
            <p:nvPr/>
          </p:nvPicPr>
          <p:blipFill>
            <a:blip r:embed="rId1"/>
            <a:srcRect b="13028"/>
            <a:stretch>
              <a:fillRect/>
            </a:stretch>
          </p:blipFill>
          <p:spPr>
            <a:xfrm>
              <a:off x="6561968" y="0"/>
              <a:ext cx="1579556" cy="2233534"/>
            </a:xfrm>
            <a:prstGeom prst="rect">
              <a:avLst/>
            </a:prstGeom>
            <a:noFill/>
            <a:ln w="9525">
              <a:noFill/>
            </a:ln>
          </p:spPr>
        </p:pic>
        <p:sp>
          <p:nvSpPr>
            <p:cNvPr id="51207" name="Rectangle 5"/>
            <p:cNvSpPr/>
            <p:nvPr/>
          </p:nvSpPr>
          <p:spPr>
            <a:xfrm>
              <a:off x="6340474" y="2061044"/>
              <a:ext cx="2160588" cy="588963"/>
            </a:xfrm>
            <a:prstGeom prst="rect">
              <a:avLst/>
            </a:prstGeom>
            <a:solidFill>
              <a:schemeClr val="accent1"/>
            </a:solidFill>
            <a:ln w="9525">
              <a:noFill/>
            </a:ln>
          </p:spPr>
          <p:txBody>
            <a:bodyPr anchor="t">
              <a:spAutoFit/>
            </a:bodyPr>
            <a:lstStyle/>
            <a:p>
              <a:pPr lvl="0" indent="0"/>
              <a:r>
                <a:rPr lang="zh-CN" altLang="en-US" sz="2800" i="1" dirty="0">
                  <a:latin typeface="宋体" panose="02010600030101010101" pitchFamily="2" charset="-122"/>
                  <a:ea typeface="宋体" panose="02010600030101010101" pitchFamily="2" charset="-122"/>
                </a:rPr>
                <a:t>James Gray</a:t>
              </a:r>
              <a:endParaRPr lang="zh-CN" altLang="en-US" sz="2800" i="1" dirty="0">
                <a:latin typeface="宋体" panose="02010600030101010101" pitchFamily="2" charset="-122"/>
                <a:ea typeface="宋体" panose="02010600030101010101" pitchFamily="2" charset="-122"/>
              </a:endParaRPr>
            </a:p>
          </p:txBody>
        </p:sp>
      </p:grpSp>
      <p:sp>
        <p:nvSpPr>
          <p:cNvPr id="53257" name="Text Box 4"/>
          <p:cNvSpPr txBox="1"/>
          <p:nvPr/>
        </p:nvSpPr>
        <p:spPr>
          <a:xfrm>
            <a:off x="585788" y="3282950"/>
            <a:ext cx="8062912" cy="2870200"/>
          </a:xfrm>
          <a:prstGeom prst="rect">
            <a:avLst/>
          </a:prstGeom>
          <a:noFill/>
          <a:ln w="9525">
            <a:noFill/>
          </a:ln>
        </p:spPr>
        <p:txBody>
          <a:bodyPr anchor="t">
            <a:spAutoFit/>
          </a:bodyPr>
          <a:lstStyle/>
          <a:p>
            <a:pPr lvl="0" indent="0">
              <a:lnSpc>
                <a:spcPct val="90000"/>
              </a:lnSpc>
              <a:spcBef>
                <a:spcPts val="600"/>
              </a:spcBef>
              <a:buFont typeface="Wingdings" panose="05000000000000000000" pitchFamily="2" charset="2"/>
              <a:buChar char="Ø"/>
            </a:pPr>
            <a:r>
              <a:rPr lang="zh-CN" altLang="en-US" sz="2400" u="sng" dirty="0">
                <a:solidFill>
                  <a:srgbClr val="A50021"/>
                </a:solidFill>
                <a:latin typeface="宋体" panose="02010600030101010101" pitchFamily="2" charset="-122"/>
                <a:ea typeface="宋体" panose="02010600030101010101" pitchFamily="2" charset="-122"/>
              </a:rPr>
              <a:t>例如：</a:t>
            </a:r>
            <a:r>
              <a:rPr lang="zh-CN" altLang="en-US" sz="2400" dirty="0">
                <a:solidFill>
                  <a:srgbClr val="A50021"/>
                </a:solidFill>
                <a:latin typeface="华文楷体" panose="02010600040101010101" pitchFamily="2" charset="-122"/>
                <a:ea typeface="华文楷体" panose="02010600040101010101" pitchFamily="2" charset="-122"/>
              </a:rPr>
              <a:t>从账户</a:t>
            </a:r>
            <a:r>
              <a:rPr lang="en-US" altLang="x-none" sz="2400" dirty="0">
                <a:solidFill>
                  <a:srgbClr val="A50021"/>
                </a:solidFill>
                <a:latin typeface="华文楷体" panose="02010600040101010101" pitchFamily="2" charset="-122"/>
                <a:ea typeface="华文楷体" panose="02010600040101010101" pitchFamily="2" charset="-122"/>
              </a:rPr>
              <a:t>A</a:t>
            </a:r>
            <a:r>
              <a:rPr lang="zh-CN" altLang="en-US" sz="2400" dirty="0">
                <a:solidFill>
                  <a:srgbClr val="A50021"/>
                </a:solidFill>
                <a:latin typeface="华文楷体" panose="02010600040101010101" pitchFamily="2" charset="-122"/>
                <a:ea typeface="华文楷体" panose="02010600040101010101" pitchFamily="2" charset="-122"/>
              </a:rPr>
              <a:t>转一笔款</a:t>
            </a:r>
            <a:r>
              <a:rPr lang="en-US" altLang="x-none" sz="2400" dirty="0">
                <a:solidFill>
                  <a:srgbClr val="A50021"/>
                </a:solidFill>
                <a:latin typeface="华文楷体" panose="02010600040101010101" pitchFamily="2" charset="-122"/>
                <a:ea typeface="华文楷体" panose="02010600040101010101" pitchFamily="2" charset="-122"/>
              </a:rPr>
              <a:t>(90</a:t>
            </a:r>
            <a:r>
              <a:rPr lang="zh-CN" altLang="en-US" sz="2400" dirty="0">
                <a:solidFill>
                  <a:srgbClr val="A50021"/>
                </a:solidFill>
                <a:latin typeface="华文楷体" panose="02010600040101010101" pitchFamily="2" charset="-122"/>
                <a:ea typeface="华文楷体" panose="02010600040101010101" pitchFamily="2" charset="-122"/>
              </a:rPr>
              <a:t>元</a:t>
            </a:r>
            <a:r>
              <a:rPr lang="en-US" altLang="x-none" sz="2400" dirty="0">
                <a:solidFill>
                  <a:srgbClr val="A50021"/>
                </a:solidFill>
                <a:latin typeface="华文楷体" panose="02010600040101010101" pitchFamily="2" charset="-122"/>
                <a:ea typeface="华文楷体" panose="02010600040101010101" pitchFamily="2" charset="-122"/>
              </a:rPr>
              <a:t>)</a:t>
            </a:r>
            <a:r>
              <a:rPr lang="zh-CN" altLang="en-US" sz="2400" dirty="0">
                <a:solidFill>
                  <a:srgbClr val="A50021"/>
                </a:solidFill>
                <a:latin typeface="华文楷体" panose="02010600040101010101" pitchFamily="2" charset="-122"/>
                <a:ea typeface="华文楷体" panose="02010600040101010101" pitchFamily="2" charset="-122"/>
              </a:rPr>
              <a:t>到账户</a:t>
            </a:r>
            <a:r>
              <a:rPr lang="en-US" altLang="x-none" sz="2400" dirty="0">
                <a:solidFill>
                  <a:srgbClr val="A50021"/>
                </a:solidFill>
                <a:latin typeface="华文楷体" panose="02010600040101010101" pitchFamily="2" charset="-122"/>
                <a:ea typeface="华文楷体" panose="02010600040101010101" pitchFamily="2" charset="-122"/>
              </a:rPr>
              <a:t>B</a:t>
            </a:r>
            <a:r>
              <a:rPr lang="zh-CN" altLang="en-US" sz="2400" dirty="0">
                <a:solidFill>
                  <a:srgbClr val="A50021"/>
                </a:solidFill>
                <a:latin typeface="华文楷体" panose="02010600040101010101" pitchFamily="2" charset="-122"/>
                <a:ea typeface="华文楷体" panose="02010600040101010101" pitchFamily="2" charset="-122"/>
              </a:rPr>
              <a:t>。其中有下列步骤：</a:t>
            </a:r>
            <a:endParaRPr lang="zh-CN" altLang="en-US" sz="2400" dirty="0">
              <a:solidFill>
                <a:srgbClr val="A50021"/>
              </a:solidFill>
              <a:latin typeface="华文楷体" panose="02010600040101010101" pitchFamily="2" charset="-122"/>
              <a:ea typeface="华文楷体" panose="02010600040101010101" pitchFamily="2" charset="-122"/>
            </a:endParaRPr>
          </a:p>
          <a:p>
            <a:pPr lvl="0" indent="0">
              <a:spcBef>
                <a:spcPts val="600"/>
              </a:spcBef>
            </a:pPr>
            <a:r>
              <a:rPr lang="en-US" altLang="x-none" sz="2400" dirty="0">
                <a:solidFill>
                  <a:srgbClr val="A50021"/>
                </a:solidFill>
                <a:latin typeface="华文楷体" panose="02010600040101010101" pitchFamily="2" charset="-122"/>
                <a:ea typeface="华文楷体" panose="02010600040101010101" pitchFamily="2" charset="-122"/>
              </a:rPr>
              <a:t>read(A); A:=A-90; write(A); read(B); B:=B+90</a:t>
            </a:r>
            <a:r>
              <a:rPr lang="zh-CN" altLang="en-US" sz="2400" dirty="0">
                <a:solidFill>
                  <a:srgbClr val="A50021"/>
                </a:solidFill>
                <a:latin typeface="华文楷体" panose="02010600040101010101" pitchFamily="2" charset="-122"/>
                <a:ea typeface="华文楷体" panose="02010600040101010101" pitchFamily="2" charset="-122"/>
              </a:rPr>
              <a:t>；</a:t>
            </a:r>
            <a:r>
              <a:rPr lang="en-US" altLang="x-none" sz="2400" dirty="0">
                <a:solidFill>
                  <a:srgbClr val="A50021"/>
                </a:solidFill>
                <a:latin typeface="华文楷体" panose="02010600040101010101" pitchFamily="2" charset="-122"/>
                <a:ea typeface="华文楷体" panose="02010600040101010101" pitchFamily="2" charset="-122"/>
              </a:rPr>
              <a:t>write(B). </a:t>
            </a:r>
            <a:endParaRPr lang="en-US" altLang="x-none" sz="2400" dirty="0">
              <a:solidFill>
                <a:srgbClr val="A50021"/>
              </a:solidFill>
              <a:latin typeface="华文楷体" panose="02010600040101010101" pitchFamily="2" charset="-122"/>
              <a:ea typeface="华文楷体" panose="02010600040101010101" pitchFamily="2" charset="-122"/>
            </a:endParaRPr>
          </a:p>
          <a:p>
            <a:pPr lvl="0" indent="0">
              <a:spcBef>
                <a:spcPts val="600"/>
              </a:spcBef>
              <a:buFont typeface="Wingdings" panose="05000000000000000000" pitchFamily="2" charset="2"/>
              <a:buChar char="Ø"/>
            </a:pPr>
            <a:r>
              <a:rPr lang="zh-CN" altLang="en-US" sz="2400" dirty="0">
                <a:latin typeface="华文楷体" panose="02010600040101010101" pitchFamily="2" charset="-122"/>
                <a:ea typeface="华文楷体" panose="02010600040101010101" pitchFamily="2" charset="-122"/>
              </a:rPr>
              <a:t>这所有操作应视为一个整体，要么全部完成，要么全部不做，决不允许只做一半操作。针对此类工作特点，引入“事务”（</a:t>
            </a:r>
            <a:r>
              <a:rPr lang="en-US" altLang="x-none" sz="2400" dirty="0">
                <a:latin typeface="华文楷体" panose="02010600040101010101" pitchFamily="2" charset="-122"/>
                <a:ea typeface="华文楷体" panose="02010600040101010101" pitchFamily="2" charset="-122"/>
              </a:rPr>
              <a:t>Transaction</a:t>
            </a:r>
            <a:r>
              <a:rPr lang="zh-CN" altLang="en-US" sz="2400" dirty="0">
                <a:latin typeface="华文楷体" panose="02010600040101010101" pitchFamily="2" charset="-122"/>
                <a:ea typeface="华文楷体" panose="02010600040101010101" pitchFamily="2" charset="-122"/>
              </a:rPr>
              <a:t>）概念。</a:t>
            </a:r>
            <a:endParaRPr lang="zh-CN" altLang="en-US" sz="2400" dirty="0">
              <a:latin typeface="华文楷体" panose="02010600040101010101" pitchFamily="2" charset="-122"/>
              <a:ea typeface="华文楷体" panose="02010600040101010101" pitchFamily="2" charset="-122"/>
            </a:endParaRPr>
          </a:p>
          <a:p>
            <a:pPr lvl="0" indent="0">
              <a:spcBef>
                <a:spcPts val="600"/>
              </a:spcBef>
              <a:buFont typeface="Wingdings" panose="05000000000000000000" pitchFamily="2" charset="2"/>
              <a:buChar char="Ø"/>
            </a:pPr>
            <a:r>
              <a:rPr lang="zh-CN" altLang="en-US" sz="2400" dirty="0">
                <a:latin typeface="华文楷体" panose="02010600040101010101" pitchFamily="2" charset="-122"/>
                <a:ea typeface="华文楷体" panose="02010600040101010101" pitchFamily="2" charset="-122"/>
              </a:rPr>
              <a:t>事务是构成单一逻辑工作单元的操作集合。</a:t>
            </a:r>
            <a:r>
              <a:rPr lang="en-US" altLang="x-none" sz="2400" dirty="0">
                <a:latin typeface="华文楷体" panose="02010600040101010101" pitchFamily="2" charset="-122"/>
                <a:ea typeface="华文楷体" panose="02010600040101010101" pitchFamily="2" charset="-122"/>
              </a:rPr>
              <a:t>DBS</a:t>
            </a:r>
            <a:r>
              <a:rPr lang="zh-CN" altLang="en-US" sz="2400" dirty="0">
                <a:latin typeface="华文楷体" panose="02010600040101010101" pitchFamily="2" charset="-122"/>
                <a:ea typeface="华文楷体" panose="02010600040101010101" pitchFamily="2" charset="-122"/>
              </a:rPr>
              <a:t>必须保证事务正确完整的执行。</a:t>
            </a:r>
            <a:endParaRPr lang="zh-CN" altLang="en-US" sz="2800" dirty="0">
              <a:latin typeface="华文楷体" panose="02010600040101010101" pitchFamily="2" charset="-122"/>
              <a:ea typeface="华文楷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3253"/>
                                        </p:tgtEl>
                                        <p:attrNameLst>
                                          <p:attrName>style.visibility</p:attrName>
                                        </p:attrNameLst>
                                      </p:cBhvr>
                                      <p:to>
                                        <p:strVal val="visible"/>
                                      </p:to>
                                    </p:set>
                                    <p:anim calcmode="lin" valueType="num">
                                      <p:cBhvr>
                                        <p:cTn id="7" dur="500" fill="hold"/>
                                        <p:tgtEl>
                                          <p:spTgt spid="53253"/>
                                        </p:tgtEl>
                                        <p:attrNameLst>
                                          <p:attrName>ppt_x</p:attrName>
                                        </p:attrNameLst>
                                      </p:cBhvr>
                                      <p:tavLst>
                                        <p:tav tm="0">
                                          <p:val>
                                            <p:strVal val="#ppt_x"/>
                                          </p:val>
                                        </p:tav>
                                        <p:tav tm="100000">
                                          <p:val>
                                            <p:strVal val="#ppt_x"/>
                                          </p:val>
                                        </p:tav>
                                      </p:tavLst>
                                    </p:anim>
                                    <p:anim calcmode="lin" valueType="num">
                                      <p:cBhvr>
                                        <p:cTn id="8" dur="500" fill="hold"/>
                                        <p:tgtEl>
                                          <p:spTgt spid="5325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53257">
                                            <p:txEl>
                                              <p:pRg st="0" end="0"/>
                                            </p:txEl>
                                          </p:spTgt>
                                        </p:tgtEl>
                                        <p:attrNameLst>
                                          <p:attrName>style.visibility</p:attrName>
                                        </p:attrNameLst>
                                      </p:cBhvr>
                                      <p:to>
                                        <p:strVal val="visible"/>
                                      </p:to>
                                    </p:set>
                                    <p:animEffect transition="in" filter="wipe(down)">
                                      <p:cBhvr>
                                        <p:cTn id="13" dur="500"/>
                                        <p:tgtEl>
                                          <p:spTgt spid="53257">
                                            <p:txEl>
                                              <p:pRg st="0" end="0"/>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53257">
                                            <p:txEl>
                                              <p:pRg st="1" end="1"/>
                                            </p:txEl>
                                          </p:spTgt>
                                        </p:tgtEl>
                                        <p:attrNameLst>
                                          <p:attrName>style.visibility</p:attrName>
                                        </p:attrNameLst>
                                      </p:cBhvr>
                                      <p:to>
                                        <p:strVal val="visible"/>
                                      </p:to>
                                    </p:set>
                                    <p:animEffect transition="in" filter="wipe(down)">
                                      <p:cBhvr>
                                        <p:cTn id="16" dur="500"/>
                                        <p:tgtEl>
                                          <p:spTgt spid="53257">
                                            <p:txEl>
                                              <p:pRg st="1" end="1"/>
                                            </p:txEl>
                                          </p:spTgt>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53257">
                                            <p:txEl>
                                              <p:pRg st="2" end="2"/>
                                            </p:txEl>
                                          </p:spTgt>
                                        </p:tgtEl>
                                        <p:attrNameLst>
                                          <p:attrName>style.visibility</p:attrName>
                                        </p:attrNameLst>
                                      </p:cBhvr>
                                      <p:to>
                                        <p:strVal val="visible"/>
                                      </p:to>
                                    </p:set>
                                    <p:animEffect transition="in" filter="wipe(down)">
                                      <p:cBhvr>
                                        <p:cTn id="19" dur="500"/>
                                        <p:tgtEl>
                                          <p:spTgt spid="53257">
                                            <p:txEl>
                                              <p:pRg st="2" end="2"/>
                                            </p:txEl>
                                          </p:spTgt>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53257">
                                            <p:txEl>
                                              <p:pRg st="3" end="3"/>
                                            </p:txEl>
                                          </p:spTgt>
                                        </p:tgtEl>
                                        <p:attrNameLst>
                                          <p:attrName>style.visibility</p:attrName>
                                        </p:attrNameLst>
                                      </p:cBhvr>
                                      <p:to>
                                        <p:strVal val="visible"/>
                                      </p:to>
                                    </p:set>
                                    <p:animEffect transition="in" filter="wipe(down)">
                                      <p:cBhvr>
                                        <p:cTn id="22" dur="500"/>
                                        <p:tgtEl>
                                          <p:spTgt spid="5325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7" grpId="0" build="allAtOnce"/>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p:cNvSpPr/>
          <p:nvPr/>
        </p:nvSpPr>
        <p:spPr>
          <a:xfrm>
            <a:off x="363538" y="1312863"/>
            <a:ext cx="3692525" cy="609600"/>
          </a:xfrm>
          <a:prstGeom prst="rect">
            <a:avLst/>
          </a:prstGeom>
          <a:noFill/>
          <a:ln w="9525">
            <a:noFill/>
          </a:ln>
        </p:spPr>
        <p:txBody>
          <a:bodyPr wrap="none" anchor="ctr"/>
          <a:lstStyle/>
          <a:p>
            <a:pPr lvl="0" indent="0" algn="just">
              <a:spcBef>
                <a:spcPct val="20000"/>
              </a:spcBef>
              <a:buClr>
                <a:schemeClr val="folHlink"/>
              </a:buClr>
              <a:buSzPct val="75000"/>
            </a:pPr>
            <a:r>
              <a:rPr lang="zh-CN" altLang="en-US" sz="2600" dirty="0">
                <a:solidFill>
                  <a:srgbClr val="0033CC"/>
                </a:solidFill>
                <a:latin typeface="黑体" panose="02010609060101010101" pitchFamily="1" charset="-122"/>
                <a:ea typeface="黑体" panose="02010609060101010101" pitchFamily="1" charset="-122"/>
              </a:rPr>
              <a:t>（</a:t>
            </a:r>
            <a:r>
              <a:rPr lang="en-US" altLang="x-none" sz="2600" dirty="0">
                <a:solidFill>
                  <a:srgbClr val="0033CC"/>
                </a:solidFill>
                <a:latin typeface="黑体" panose="02010609060101010101" pitchFamily="1" charset="-122"/>
                <a:ea typeface="黑体" panose="02010609060101010101" pitchFamily="1" charset="-122"/>
              </a:rPr>
              <a:t>2</a:t>
            </a:r>
            <a:r>
              <a:rPr lang="zh-CN" altLang="en-US" sz="2600" dirty="0">
                <a:solidFill>
                  <a:srgbClr val="0033CC"/>
                </a:solidFill>
                <a:latin typeface="黑体" panose="02010609060101010101" pitchFamily="1" charset="-122"/>
                <a:ea typeface="黑体" panose="02010609060101010101" pitchFamily="1" charset="-122"/>
              </a:rPr>
              <a:t>）事务的执行保证</a:t>
            </a:r>
            <a:endParaRPr lang="zh-CN" altLang="en-US" sz="2600" dirty="0">
              <a:solidFill>
                <a:srgbClr val="0033CC"/>
              </a:solidFill>
              <a:latin typeface="黑体" panose="02010609060101010101" pitchFamily="1" charset="-122"/>
              <a:ea typeface="黑体" panose="02010609060101010101" pitchFamily="1" charset="-122"/>
            </a:endParaRPr>
          </a:p>
        </p:txBody>
      </p:sp>
      <p:sp>
        <p:nvSpPr>
          <p:cNvPr id="54275" name="Text Box 2"/>
          <p:cNvSpPr txBox="1"/>
          <p:nvPr/>
        </p:nvSpPr>
        <p:spPr>
          <a:xfrm>
            <a:off x="533400" y="1909763"/>
            <a:ext cx="7929563" cy="4346575"/>
          </a:xfrm>
          <a:prstGeom prst="rect">
            <a:avLst/>
          </a:prstGeom>
          <a:noFill/>
          <a:ln w="9525">
            <a:noFill/>
          </a:ln>
        </p:spPr>
        <p:txBody>
          <a:bodyPr anchor="t">
            <a:spAutoFit/>
          </a:bodyPr>
          <a:lstStyle/>
          <a:p>
            <a:pPr lvl="0" indent="0" algn="just">
              <a:lnSpc>
                <a:spcPct val="120000"/>
              </a:lnSpc>
              <a:spcBef>
                <a:spcPct val="50000"/>
              </a:spcBef>
              <a:buFont typeface="Wingdings" panose="05000000000000000000" pitchFamily="2" charset="2"/>
              <a:buChar char="Ø"/>
            </a:pPr>
            <a:r>
              <a:rPr lang="zh-CN" altLang="en-US" sz="2400" u="sng" dirty="0">
                <a:solidFill>
                  <a:srgbClr val="0033CC"/>
                </a:solidFill>
                <a:latin typeface="宋体" panose="02010600030101010101" pitchFamily="2" charset="-122"/>
                <a:ea typeface="宋体" panose="02010600030101010101" pitchFamily="2" charset="-122"/>
              </a:rPr>
              <a:t>事务的组成及执行：</a:t>
            </a:r>
            <a:r>
              <a:rPr lang="zh-CN" altLang="en-US" sz="2400" dirty="0">
                <a:latin typeface="华文楷体" panose="02010600040101010101" pitchFamily="2" charset="-122"/>
                <a:ea typeface="华文楷体" panose="02010600040101010101" pitchFamily="2" charset="-122"/>
              </a:rPr>
              <a:t>事务是</a:t>
            </a:r>
            <a:r>
              <a:rPr lang="en-US" altLang="x-none" sz="2400" dirty="0">
                <a:latin typeface="华文楷体" panose="02010600040101010101" pitchFamily="2" charset="-122"/>
                <a:ea typeface="华文楷体" panose="02010600040101010101" pitchFamily="2" charset="-122"/>
              </a:rPr>
              <a:t>DBMS</a:t>
            </a:r>
            <a:r>
              <a:rPr lang="zh-CN" altLang="en-US" sz="2400" dirty="0">
                <a:latin typeface="华文楷体" panose="02010600040101010101" pitchFamily="2" charset="-122"/>
                <a:ea typeface="华文楷体" panose="02010600040101010101" pitchFamily="2" charset="-122"/>
              </a:rPr>
              <a:t>的</a:t>
            </a:r>
            <a:r>
              <a:rPr lang="zh-CN" altLang="en-US" sz="2400" dirty="0">
                <a:solidFill>
                  <a:srgbClr val="FF0000"/>
                </a:solidFill>
                <a:latin typeface="华文楷体" panose="02010600040101010101" pitchFamily="2" charset="-122"/>
                <a:ea typeface="华文楷体" panose="02010600040101010101" pitchFamily="2" charset="-122"/>
              </a:rPr>
              <a:t>最小执行单位</a:t>
            </a:r>
            <a:r>
              <a:rPr lang="zh-CN" altLang="en-US" sz="2400" dirty="0">
                <a:latin typeface="华文楷体" panose="02010600040101010101" pitchFamily="2" charset="-122"/>
                <a:ea typeface="华文楷体" panose="02010600040101010101" pitchFamily="2" charset="-122"/>
              </a:rPr>
              <a:t>，由有限的数据库操作序列组成，也是</a:t>
            </a:r>
            <a:r>
              <a:rPr lang="zh-CN" altLang="en-US" sz="2400" dirty="0">
                <a:solidFill>
                  <a:srgbClr val="FF0000"/>
                </a:solidFill>
                <a:latin typeface="华文楷体" panose="02010600040101010101" pitchFamily="2" charset="-122"/>
                <a:ea typeface="华文楷体" panose="02010600040101010101" pitchFamily="2" charset="-122"/>
              </a:rPr>
              <a:t>最小的故障恢复单位</a:t>
            </a:r>
            <a:r>
              <a:rPr lang="zh-CN" altLang="en-US" sz="2400" dirty="0">
                <a:latin typeface="华文楷体" panose="02010600040101010101" pitchFamily="2" charset="-122"/>
                <a:ea typeface="华文楷体" panose="02010600040101010101" pitchFamily="2" charset="-122"/>
              </a:rPr>
              <a:t>和</a:t>
            </a:r>
            <a:r>
              <a:rPr lang="zh-CN" altLang="en-US" sz="2400" dirty="0">
                <a:solidFill>
                  <a:srgbClr val="FF0000"/>
                </a:solidFill>
                <a:latin typeface="华文楷体" panose="02010600040101010101" pitchFamily="2" charset="-122"/>
                <a:ea typeface="华文楷体" panose="02010600040101010101" pitchFamily="2" charset="-122"/>
              </a:rPr>
              <a:t>并发控制单位</a:t>
            </a:r>
            <a:r>
              <a:rPr lang="zh-CN" altLang="en-US" sz="2400" dirty="0">
                <a:latin typeface="华文楷体" panose="02010600040101010101" pitchFamily="2" charset="-122"/>
                <a:ea typeface="华文楷体" panose="02010600040101010101" pitchFamily="2" charset="-122"/>
              </a:rPr>
              <a:t>。</a:t>
            </a:r>
            <a:endParaRPr lang="zh-CN" altLang="en-US" sz="2400" dirty="0">
              <a:latin typeface="华文楷体" panose="02010600040101010101" pitchFamily="2" charset="-122"/>
              <a:ea typeface="华文楷体" panose="02010600040101010101" pitchFamily="2" charset="-122"/>
            </a:endParaRPr>
          </a:p>
          <a:p>
            <a:pPr lvl="0" indent="0" algn="just">
              <a:lnSpc>
                <a:spcPct val="120000"/>
              </a:lnSpc>
              <a:spcBef>
                <a:spcPts val="600"/>
              </a:spcBef>
              <a:buFont typeface="Wingdings" panose="05000000000000000000" pitchFamily="2" charset="2"/>
              <a:buChar char="Ø"/>
            </a:pPr>
            <a:r>
              <a:rPr lang="zh-CN" altLang="en-US" sz="2400" u="sng" dirty="0">
                <a:solidFill>
                  <a:srgbClr val="0033CC"/>
                </a:solidFill>
                <a:latin typeface="宋体" panose="02010600030101010101" pitchFamily="2" charset="-122"/>
                <a:ea typeface="宋体" panose="02010600030101010101" pitchFamily="2" charset="-122"/>
              </a:rPr>
              <a:t>说明：</a:t>
            </a:r>
            <a:r>
              <a:rPr lang="zh-CN" altLang="en-US" sz="2400" dirty="0">
                <a:latin typeface="华文楷体" panose="02010600040101010101" pitchFamily="2" charset="-122"/>
                <a:ea typeface="华文楷体" panose="02010600040101010101" pitchFamily="2" charset="-122"/>
              </a:rPr>
              <a:t>对数据库的操作必须自成</a:t>
            </a:r>
            <a:r>
              <a:rPr lang="en-US" altLang="x-none"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组合为一个事务单位，以事务为最小的单位执行之；在并发执行时，亦是以事务为单位进行；在事务不完整、需要恢复数据时，仍然是以事务为单位进行恢复。</a:t>
            </a:r>
            <a:endParaRPr lang="zh-CN" altLang="en-US" sz="2400" dirty="0">
              <a:latin typeface="华文楷体" panose="02010600040101010101" pitchFamily="2" charset="-122"/>
              <a:ea typeface="华文楷体" panose="02010600040101010101" pitchFamily="2" charset="-122"/>
            </a:endParaRPr>
          </a:p>
          <a:p>
            <a:pPr lvl="0" indent="0" algn="just">
              <a:lnSpc>
                <a:spcPct val="125000"/>
              </a:lnSpc>
              <a:spcBef>
                <a:spcPts val="600"/>
              </a:spcBef>
              <a:buFont typeface="Wingdings" panose="05000000000000000000" pitchFamily="2" charset="2"/>
              <a:buChar char="p"/>
            </a:pPr>
            <a:r>
              <a:rPr lang="zh-CN" altLang="en-US" sz="2400" u="sng" dirty="0">
                <a:solidFill>
                  <a:srgbClr val="A50021"/>
                </a:solidFill>
                <a:latin typeface="宋体" panose="02010600030101010101" pitchFamily="2" charset="-122"/>
                <a:ea typeface="宋体" panose="02010600030101010101" pitchFamily="2" charset="-122"/>
              </a:rPr>
              <a:t>并发访问数据库，故障恢复</a:t>
            </a:r>
            <a:r>
              <a:rPr lang="zh-CN" altLang="en-US" sz="2400" dirty="0">
                <a:latin typeface="宋体" panose="02010600030101010101" pitchFamily="2" charset="-122"/>
                <a:ea typeface="宋体" panose="02010600030101010101" pitchFamily="2" charset="-122"/>
              </a:rPr>
              <a:t>等数据库技术涉及的数据库状态常常从事务这样的粒度出发。</a:t>
            </a:r>
            <a:endParaRPr lang="zh-CN" altLang="en-US" sz="2400" dirty="0">
              <a:latin typeface="宋体" panose="02010600030101010101" pitchFamily="2" charset="-122"/>
              <a:ea typeface="宋体" panose="02010600030101010101" pitchFamily="2" charset="-122"/>
            </a:endParaRPr>
          </a:p>
        </p:txBody>
      </p:sp>
      <p:sp>
        <p:nvSpPr>
          <p:cNvPr id="52227" name="Rectangle 7"/>
          <p:cNvSpPr/>
          <p:nvPr/>
        </p:nvSpPr>
        <p:spPr>
          <a:xfrm>
            <a:off x="501650" y="7810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1</a:t>
            </a:r>
            <a:r>
              <a:rPr lang="zh-CN" altLang="en-US" sz="2800" dirty="0">
                <a:solidFill>
                  <a:srgbClr val="FF0000"/>
                </a:solidFill>
                <a:latin typeface="黑体" panose="02010609060101010101" pitchFamily="1" charset="-122"/>
                <a:ea typeface="黑体" panose="02010609060101010101" pitchFamily="1" charset="-122"/>
              </a:rPr>
              <a:t>、事务管理概况</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52228"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四、数据库的故障恢复技术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4275"/>
                                        </p:tgtEl>
                                        <p:attrNameLst>
                                          <p:attrName>style.visibility</p:attrName>
                                        </p:attrNameLst>
                                      </p:cBhvr>
                                      <p:to>
                                        <p:strVal val="visible"/>
                                      </p:to>
                                    </p:set>
                                    <p:anim calcmode="lin" valueType="num">
                                      <p:cBhvr>
                                        <p:cTn id="7" dur="500" fill="hold"/>
                                        <p:tgtEl>
                                          <p:spTgt spid="54275"/>
                                        </p:tgtEl>
                                        <p:attrNameLst>
                                          <p:attrName>ppt_x</p:attrName>
                                        </p:attrNameLst>
                                      </p:cBhvr>
                                      <p:tavLst>
                                        <p:tav tm="0">
                                          <p:val>
                                            <p:strVal val="#ppt_x"/>
                                          </p:val>
                                        </p:tav>
                                        <p:tav tm="100000">
                                          <p:val>
                                            <p:strVal val="#ppt_x"/>
                                          </p:val>
                                        </p:tav>
                                      </p:tavLst>
                                    </p:anim>
                                    <p:anim calcmode="lin" valueType="num">
                                      <p:cBhvr>
                                        <p:cTn id="8" dur="500" fill="hold"/>
                                        <p:tgtEl>
                                          <p:spTgt spid="5427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p:cNvSpPr/>
          <p:nvPr/>
        </p:nvSpPr>
        <p:spPr>
          <a:xfrm>
            <a:off x="452438" y="1296988"/>
            <a:ext cx="6261100" cy="609600"/>
          </a:xfrm>
          <a:prstGeom prst="rect">
            <a:avLst/>
          </a:prstGeom>
          <a:noFill/>
          <a:ln w="9525">
            <a:noFill/>
          </a:ln>
        </p:spPr>
        <p:txBody>
          <a:bodyPr wrap="none" anchor="ctr"/>
          <a:lstStyle/>
          <a:p>
            <a:pPr lvl="0" indent="0" algn="just">
              <a:spcBef>
                <a:spcPct val="20000"/>
              </a:spcBef>
              <a:buClr>
                <a:schemeClr val="folHlink"/>
              </a:buClr>
              <a:buSzPct val="75000"/>
            </a:pPr>
            <a:r>
              <a:rPr lang="zh-CN" altLang="en-US" sz="2600" dirty="0">
                <a:solidFill>
                  <a:srgbClr val="0033CC"/>
                </a:solidFill>
                <a:latin typeface="黑体" panose="02010609060101010101" pitchFamily="1" charset="-122"/>
                <a:ea typeface="黑体" panose="02010609060101010101" pitchFamily="1" charset="-122"/>
              </a:rPr>
              <a:t>（</a:t>
            </a:r>
            <a:r>
              <a:rPr lang="en-US" altLang="x-none" sz="2600" dirty="0">
                <a:solidFill>
                  <a:srgbClr val="0033CC"/>
                </a:solidFill>
                <a:latin typeface="黑体" panose="02010609060101010101" pitchFamily="1" charset="-122"/>
                <a:ea typeface="黑体" panose="02010609060101010101" pitchFamily="1" charset="-122"/>
              </a:rPr>
              <a:t>3</a:t>
            </a:r>
            <a:r>
              <a:rPr lang="zh-CN" altLang="en-US" sz="2600" dirty="0">
                <a:solidFill>
                  <a:srgbClr val="0033CC"/>
                </a:solidFill>
                <a:latin typeface="黑体" panose="02010609060101010101" pitchFamily="1" charset="-122"/>
                <a:ea typeface="黑体" panose="02010609060101010101" pitchFamily="1" charset="-122"/>
              </a:rPr>
              <a:t>）</a:t>
            </a:r>
            <a:r>
              <a:rPr lang="en-US" altLang="x-none" sz="2600" dirty="0">
                <a:solidFill>
                  <a:srgbClr val="0033CC"/>
                </a:solidFill>
                <a:latin typeface="Arial" panose="020B0604020202020204" pitchFamily="34" charset="0"/>
                <a:ea typeface="黑体" panose="02010609060101010101" pitchFamily="1" charset="-122"/>
              </a:rPr>
              <a:t>COMMIT</a:t>
            </a:r>
            <a:r>
              <a:rPr lang="zh-CN" altLang="en-US" sz="2600" dirty="0">
                <a:solidFill>
                  <a:srgbClr val="0033CC"/>
                </a:solidFill>
                <a:latin typeface="Arial" panose="020B0604020202020204" pitchFamily="34" charset="0"/>
                <a:ea typeface="黑体" panose="02010609060101010101" pitchFamily="1" charset="-122"/>
              </a:rPr>
              <a:t>和</a:t>
            </a:r>
            <a:r>
              <a:rPr lang="en-US" altLang="x-none" sz="2600" dirty="0">
                <a:solidFill>
                  <a:srgbClr val="0033CC"/>
                </a:solidFill>
                <a:latin typeface="Arial" panose="020B0604020202020204" pitchFamily="34" charset="0"/>
                <a:ea typeface="黑体" panose="02010609060101010101" pitchFamily="1" charset="-122"/>
              </a:rPr>
              <a:t>ROLLBACK</a:t>
            </a:r>
            <a:endParaRPr lang="zh-CN" altLang="en-US" sz="2600" dirty="0">
              <a:solidFill>
                <a:srgbClr val="0033CC"/>
              </a:solidFill>
              <a:latin typeface="Arial" panose="020B0604020202020204" pitchFamily="34" charset="0"/>
              <a:ea typeface="黑体" panose="02010609060101010101" pitchFamily="1" charset="-122"/>
            </a:endParaRPr>
          </a:p>
        </p:txBody>
      </p:sp>
      <p:sp>
        <p:nvSpPr>
          <p:cNvPr id="55299" name="Text Box 3"/>
          <p:cNvSpPr txBox="1"/>
          <p:nvPr/>
        </p:nvSpPr>
        <p:spPr>
          <a:xfrm>
            <a:off x="620713" y="1847850"/>
            <a:ext cx="8115300" cy="4494213"/>
          </a:xfrm>
          <a:prstGeom prst="rect">
            <a:avLst/>
          </a:prstGeom>
          <a:noFill/>
          <a:ln w="9525">
            <a:noFill/>
          </a:ln>
        </p:spPr>
        <p:txBody>
          <a:bodyPr anchor="t"/>
          <a:lstStyle/>
          <a:p>
            <a:pPr lvl="0" indent="0" eaLnBrk="0" hangingPunct="0">
              <a:lnSpc>
                <a:spcPct val="110000"/>
              </a:lnSpc>
              <a:spcBef>
                <a:spcPts val="300"/>
              </a:spcBef>
              <a:buClr>
                <a:srgbClr val="0033CC"/>
              </a:buClr>
              <a:buSzPct val="80000"/>
              <a:buFont typeface="Wingdings" panose="05000000000000000000" pitchFamily="2" charset="2"/>
              <a:buChar char="u"/>
            </a:pPr>
            <a:r>
              <a:rPr lang="en-US" altLang="x-none" sz="2000" dirty="0">
                <a:latin typeface="华文楷体" panose="02010600040101010101" pitchFamily="2" charset="-122"/>
                <a:ea typeface="宋体" panose="02010600030101010101" pitchFamily="2" charset="-122"/>
              </a:rPr>
              <a:t> </a:t>
            </a:r>
            <a:r>
              <a:rPr lang="zh-CN" altLang="en-US" sz="2400" dirty="0">
                <a:latin typeface="华文楷体" panose="02010600040101010101" pitchFamily="2" charset="-122"/>
                <a:ea typeface="宋体" panose="02010600030101010101" pitchFamily="2" charset="-122"/>
              </a:rPr>
              <a:t>如果事务执行成功，</a:t>
            </a:r>
            <a:r>
              <a:rPr lang="en-US" altLang="x-none" sz="2400" dirty="0">
                <a:latin typeface="华文楷体" panose="02010600040101010101" pitchFamily="2" charset="-122"/>
                <a:ea typeface="宋体" panose="02010600030101010101" pitchFamily="2" charset="-122"/>
              </a:rPr>
              <a:t>DBMS</a:t>
            </a:r>
            <a:r>
              <a:rPr lang="zh-CN" altLang="en-US" sz="2400" dirty="0">
                <a:latin typeface="华文楷体" panose="02010600040101010101" pitchFamily="2" charset="-122"/>
                <a:ea typeface="宋体" panose="02010600030101010101" pitchFamily="2" charset="-122"/>
              </a:rPr>
              <a:t>应保证事务中所有步骤对数据的更新有效；若事务失败，</a:t>
            </a:r>
            <a:r>
              <a:rPr lang="en-US" altLang="x-none" sz="2400" dirty="0">
                <a:latin typeface="华文楷体" panose="02010600040101010101" pitchFamily="2" charset="-122"/>
                <a:ea typeface="宋体" panose="02010600030101010101" pitchFamily="2" charset="-122"/>
              </a:rPr>
              <a:t>DBMS</a:t>
            </a:r>
            <a:r>
              <a:rPr lang="zh-CN" altLang="en-US" sz="2400" dirty="0">
                <a:latin typeface="华文楷体" panose="02010600040101010101" pitchFamily="2" charset="-122"/>
                <a:ea typeface="宋体" panose="02010600030101010101" pitchFamily="2" charset="-122"/>
              </a:rPr>
              <a:t>应撤销“已执行步骤”对数据的更新。</a:t>
            </a:r>
            <a:endParaRPr lang="zh-CN" altLang="en-US" sz="2400" dirty="0">
              <a:latin typeface="华文楷体" panose="02010600040101010101" pitchFamily="2" charset="-122"/>
              <a:ea typeface="宋体" panose="02010600030101010101" pitchFamily="2" charset="-122"/>
            </a:endParaRPr>
          </a:p>
          <a:p>
            <a:pPr lvl="0" indent="0" eaLnBrk="0" hangingPunct="0">
              <a:lnSpc>
                <a:spcPct val="110000"/>
              </a:lnSpc>
              <a:spcBef>
                <a:spcPts val="3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 一个事务由应用程序中的一组操作序列组成，在程序中，</a:t>
            </a:r>
            <a:r>
              <a:rPr lang="zh-CN" altLang="en-US" sz="2400" u="sng" dirty="0">
                <a:solidFill>
                  <a:srgbClr val="0033CC"/>
                </a:solidFill>
                <a:latin typeface="华文楷体" panose="02010600040101010101" pitchFamily="2" charset="-122"/>
                <a:ea typeface="宋体" panose="02010600030101010101" pitchFamily="2" charset="-122"/>
              </a:rPr>
              <a:t>事务以</a:t>
            </a:r>
            <a:r>
              <a:rPr lang="en-US" altLang="x-none" sz="2400" u="sng" dirty="0">
                <a:solidFill>
                  <a:srgbClr val="0033CC"/>
                </a:solidFill>
                <a:latin typeface="华文楷体" panose="02010600040101010101" pitchFamily="2" charset="-122"/>
                <a:ea typeface="宋体" panose="02010600030101010101" pitchFamily="2" charset="-122"/>
              </a:rPr>
              <a:t>BEGIN TRANSACTION </a:t>
            </a:r>
            <a:r>
              <a:rPr lang="zh-CN" altLang="en-US" sz="2400" u="sng" dirty="0">
                <a:solidFill>
                  <a:srgbClr val="0033CC"/>
                </a:solidFill>
                <a:latin typeface="华文楷体" panose="02010600040101010101" pitchFamily="2" charset="-122"/>
                <a:ea typeface="宋体" panose="02010600030101010101" pitchFamily="2" charset="-122"/>
              </a:rPr>
              <a:t>开始，以</a:t>
            </a:r>
            <a:r>
              <a:rPr lang="en-US" altLang="x-none" sz="2400" u="sng" dirty="0">
                <a:solidFill>
                  <a:srgbClr val="0033CC"/>
                </a:solidFill>
                <a:latin typeface="华文楷体" panose="02010600040101010101" pitchFamily="2" charset="-122"/>
                <a:ea typeface="宋体" panose="02010600030101010101" pitchFamily="2" charset="-122"/>
              </a:rPr>
              <a:t>COMMIT</a:t>
            </a:r>
            <a:r>
              <a:rPr lang="zh-CN" altLang="en-US" sz="2400" u="sng" dirty="0">
                <a:solidFill>
                  <a:srgbClr val="0033CC"/>
                </a:solidFill>
                <a:latin typeface="华文楷体" panose="02010600040101010101" pitchFamily="2" charset="-122"/>
                <a:ea typeface="宋体" panose="02010600030101010101" pitchFamily="2" charset="-122"/>
              </a:rPr>
              <a:t>语句或</a:t>
            </a:r>
            <a:r>
              <a:rPr lang="en-US" altLang="x-none" sz="2400" u="sng" dirty="0">
                <a:solidFill>
                  <a:srgbClr val="0033CC"/>
                </a:solidFill>
                <a:latin typeface="华文楷体" panose="02010600040101010101" pitchFamily="2" charset="-122"/>
                <a:ea typeface="宋体" panose="02010600030101010101" pitchFamily="2" charset="-122"/>
              </a:rPr>
              <a:t>ROLLBACK</a:t>
            </a:r>
            <a:r>
              <a:rPr lang="zh-CN" altLang="en-US" sz="2400" u="sng" dirty="0">
                <a:solidFill>
                  <a:srgbClr val="0033CC"/>
                </a:solidFill>
                <a:latin typeface="华文楷体" panose="02010600040101010101" pitchFamily="2" charset="-122"/>
                <a:ea typeface="宋体" panose="02010600030101010101" pitchFamily="2" charset="-122"/>
              </a:rPr>
              <a:t>语句结束。</a:t>
            </a:r>
            <a:endParaRPr lang="zh-CN" altLang="en-US" sz="2400" u="sng" dirty="0">
              <a:solidFill>
                <a:srgbClr val="0033CC"/>
              </a:solidFill>
              <a:latin typeface="华文楷体" panose="02010600040101010101" pitchFamily="2" charset="-122"/>
              <a:ea typeface="宋体" panose="02010600030101010101" pitchFamily="2" charset="-122"/>
            </a:endParaRPr>
          </a:p>
          <a:p>
            <a:pPr lvl="0" indent="0" eaLnBrk="0" hangingPunct="0">
              <a:lnSpc>
                <a:spcPct val="120000"/>
              </a:lnSpc>
              <a:spcBef>
                <a:spcPts val="3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 </a:t>
            </a:r>
            <a:r>
              <a:rPr lang="en-US" altLang="x-none" sz="2400" dirty="0">
                <a:latin typeface="华文楷体" panose="02010600040101010101" pitchFamily="2" charset="-122"/>
                <a:ea typeface="宋体" panose="02010600030101010101" pitchFamily="2" charset="-122"/>
              </a:rPr>
              <a:t>Commit</a:t>
            </a:r>
            <a:r>
              <a:rPr lang="zh-CN" altLang="en-US" sz="2400" dirty="0">
                <a:latin typeface="华文楷体" panose="02010600040101010101" pitchFamily="2" charset="-122"/>
                <a:ea typeface="宋体" panose="02010600030101010101" pitchFamily="2" charset="-122"/>
              </a:rPr>
              <a:t>表示事务执行成功地结束（提交）。</a:t>
            </a:r>
            <a:endParaRPr lang="zh-CN" altLang="en-US" sz="2400" dirty="0">
              <a:latin typeface="华文楷体" panose="02010600040101010101" pitchFamily="2" charset="-122"/>
              <a:ea typeface="宋体" panose="02010600030101010101" pitchFamily="2" charset="-122"/>
            </a:endParaRPr>
          </a:p>
          <a:p>
            <a:pPr lvl="0" indent="0" eaLnBrk="0" hangingPunct="0">
              <a:lnSpc>
                <a:spcPct val="110000"/>
              </a:lnSpc>
              <a:spcBef>
                <a:spcPts val="3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 </a:t>
            </a:r>
            <a:r>
              <a:rPr lang="en-US" altLang="x-none" sz="2400" dirty="0">
                <a:latin typeface="华文楷体" panose="02010600040101010101" pitchFamily="2" charset="-122"/>
                <a:ea typeface="宋体" panose="02010600030101010101" pitchFamily="2" charset="-122"/>
              </a:rPr>
              <a:t>Rollback</a:t>
            </a:r>
            <a:r>
              <a:rPr lang="zh-CN" altLang="en-US" sz="2400" dirty="0">
                <a:latin typeface="华文楷体" panose="02010600040101010101" pitchFamily="2" charset="-122"/>
                <a:ea typeface="宋体" panose="02010600030101010101" pitchFamily="2" charset="-122"/>
              </a:rPr>
              <a:t>表示事务执行不成功（回退），</a:t>
            </a:r>
            <a:r>
              <a:rPr lang="en-US" altLang="x-none" sz="2400" dirty="0">
                <a:latin typeface="华文楷体" panose="02010600040101010101" pitchFamily="2" charset="-122"/>
                <a:ea typeface="宋体" panose="02010600030101010101" pitchFamily="2" charset="-122"/>
              </a:rPr>
              <a:t>DBMS</a:t>
            </a:r>
            <a:r>
              <a:rPr lang="zh-CN" altLang="en-US" sz="2400" dirty="0">
                <a:latin typeface="华文楷体" panose="02010600040101010101" pitchFamily="2" charset="-122"/>
                <a:ea typeface="宋体" panose="02010600030101010101" pitchFamily="2" charset="-122"/>
              </a:rPr>
              <a:t>将事务中对数据库的所有已完成的更新操作全部撤销，数据库应回退到该事务开始时的状态。 </a:t>
            </a:r>
            <a:endParaRPr lang="zh-CN" altLang="en-US" sz="2400" dirty="0">
              <a:latin typeface="华文楷体" panose="02010600040101010101" pitchFamily="2" charset="-122"/>
              <a:ea typeface="宋体" panose="02010600030101010101" pitchFamily="2" charset="-122"/>
            </a:endParaRPr>
          </a:p>
        </p:txBody>
      </p:sp>
      <p:sp>
        <p:nvSpPr>
          <p:cNvPr id="53251" name="Rectangle 7"/>
          <p:cNvSpPr/>
          <p:nvPr/>
        </p:nvSpPr>
        <p:spPr>
          <a:xfrm>
            <a:off x="501650" y="7810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1</a:t>
            </a:r>
            <a:r>
              <a:rPr lang="zh-CN" altLang="en-US" sz="2800" dirty="0">
                <a:solidFill>
                  <a:srgbClr val="FF0000"/>
                </a:solidFill>
                <a:latin typeface="黑体" panose="02010609060101010101" pitchFamily="1" charset="-122"/>
                <a:ea typeface="黑体" panose="02010609060101010101" pitchFamily="1" charset="-122"/>
              </a:rPr>
              <a:t>、事务管理概况</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53252"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四、数据库的故障恢复技术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5299"/>
                                        </p:tgtEl>
                                        <p:attrNameLst>
                                          <p:attrName>style.visibility</p:attrName>
                                        </p:attrNameLst>
                                      </p:cBhvr>
                                      <p:to>
                                        <p:strVal val="visible"/>
                                      </p:to>
                                    </p:set>
                                    <p:animEffect transition="in" filter="checkerboard(across)">
                                      <p:cBhvr>
                                        <p:cTn id="7" dur="500"/>
                                        <p:tgtEl>
                                          <p:spTgt spid="552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 Box 2"/>
          <p:cNvSpPr txBox="1"/>
          <p:nvPr/>
        </p:nvSpPr>
        <p:spPr>
          <a:xfrm>
            <a:off x="639763" y="1909763"/>
            <a:ext cx="7921625" cy="952500"/>
          </a:xfrm>
          <a:prstGeom prst="rect">
            <a:avLst/>
          </a:prstGeom>
          <a:noFill/>
          <a:ln w="9525">
            <a:noFill/>
          </a:ln>
        </p:spPr>
        <p:txBody>
          <a:bodyPr anchor="t">
            <a:spAutoFit/>
          </a:bodyPr>
          <a:lstStyle/>
          <a:p>
            <a:pPr lvl="0" indent="0">
              <a:lnSpc>
                <a:spcPct val="125000"/>
              </a:lnSpc>
              <a:spcBef>
                <a:spcPct val="50000"/>
              </a:spcBef>
              <a:buFont typeface="Wingdings" panose="05000000000000000000" pitchFamily="2" charset="2"/>
              <a:buChar char="Ø"/>
            </a:pPr>
            <a:r>
              <a:rPr lang="zh-CN" altLang="en-US" sz="2400" u="sng" dirty="0">
                <a:solidFill>
                  <a:srgbClr val="0033CC"/>
                </a:solidFill>
                <a:latin typeface="宋体" panose="02010600030101010101" pitchFamily="2" charset="-122"/>
                <a:ea typeface="宋体" panose="02010600030101010101" pitchFamily="2" charset="-122"/>
              </a:rPr>
              <a:t>事务状态有：</a:t>
            </a:r>
            <a:r>
              <a:rPr lang="zh-CN" altLang="en-US" sz="2400" dirty="0">
                <a:latin typeface="宋体" panose="02010600030101010101" pitchFamily="2" charset="-122"/>
                <a:ea typeface="宋体" panose="02010600030101010101" pitchFamily="2" charset="-122"/>
              </a:rPr>
              <a:t>活动状态、操作结束、事务提交、事务结束、事务失败、回退。</a:t>
            </a:r>
            <a:endParaRPr lang="zh-CN" altLang="en-US" sz="2400" dirty="0">
              <a:latin typeface="宋体" panose="02010600030101010101" pitchFamily="2" charset="-122"/>
              <a:ea typeface="宋体" panose="02010600030101010101" pitchFamily="2" charset="-122"/>
            </a:endParaRPr>
          </a:p>
        </p:txBody>
      </p:sp>
      <p:graphicFrame>
        <p:nvGraphicFramePr>
          <p:cNvPr id="56323" name="Object 2"/>
          <p:cNvGraphicFramePr>
            <a:graphicFrameLocks noGrp="1" noChangeAspect="1"/>
          </p:cNvGraphicFramePr>
          <p:nvPr/>
        </p:nvGraphicFramePr>
        <p:xfrm>
          <a:off x="352425" y="2978150"/>
          <a:ext cx="8461375" cy="2608263"/>
        </p:xfrm>
        <a:graphic>
          <a:graphicData uri="http://schemas.openxmlformats.org/presentationml/2006/ole">
            <mc:AlternateContent xmlns:mc="http://schemas.openxmlformats.org/markup-compatibility/2006">
              <mc:Choice xmlns:v="urn:schemas-microsoft-com:vml" Requires="v">
                <p:oleObj spid="_x0000_s9238" name="" r:id="rId1" imgW="5003800" imgH="1389380" progId="Word.Picture.8">
                  <p:embed/>
                </p:oleObj>
              </mc:Choice>
              <mc:Fallback>
                <p:oleObj name="" r:id="rId1" imgW="5003800" imgH="1389380" progId="Word.Picture.8">
                  <p:embed/>
                  <p:pic>
                    <p:nvPicPr>
                      <p:cNvPr id="0" name="图片 3078"/>
                      <p:cNvPicPr/>
                      <p:nvPr/>
                    </p:nvPicPr>
                    <p:blipFill>
                      <a:blip r:embed="rId2"/>
                      <a:stretch>
                        <a:fillRect/>
                      </a:stretch>
                    </p:blipFill>
                    <p:spPr>
                      <a:xfrm>
                        <a:off x="352425" y="2978150"/>
                        <a:ext cx="8461375" cy="2608263"/>
                      </a:xfrm>
                      <a:prstGeom prst="rect">
                        <a:avLst/>
                      </a:prstGeom>
                      <a:noFill/>
                      <a:ln w="38100">
                        <a:noFill/>
                        <a:miter/>
                      </a:ln>
                    </p:spPr>
                  </p:pic>
                </p:oleObj>
              </mc:Fallback>
            </mc:AlternateContent>
          </a:graphicData>
        </a:graphic>
      </p:graphicFrame>
      <p:sp>
        <p:nvSpPr>
          <p:cNvPr id="54275"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四、数据库的故障恢复技术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54276" name="Rectangle 7"/>
          <p:cNvSpPr/>
          <p:nvPr/>
        </p:nvSpPr>
        <p:spPr>
          <a:xfrm>
            <a:off x="414338" y="1344613"/>
            <a:ext cx="6261100" cy="609600"/>
          </a:xfrm>
          <a:prstGeom prst="rect">
            <a:avLst/>
          </a:prstGeom>
          <a:noFill/>
          <a:ln w="9525">
            <a:noFill/>
          </a:ln>
        </p:spPr>
        <p:txBody>
          <a:bodyPr wrap="none" anchor="ctr"/>
          <a:lstStyle/>
          <a:p>
            <a:pPr lvl="0" indent="0" algn="just">
              <a:spcBef>
                <a:spcPct val="20000"/>
              </a:spcBef>
              <a:buClr>
                <a:schemeClr val="folHlink"/>
              </a:buClr>
              <a:buSzPct val="75000"/>
            </a:pPr>
            <a:r>
              <a:rPr lang="zh-CN" altLang="en-US" sz="2600" dirty="0">
                <a:solidFill>
                  <a:srgbClr val="0033CC"/>
                </a:solidFill>
                <a:latin typeface="黑体" panose="02010609060101010101" pitchFamily="1" charset="-122"/>
                <a:ea typeface="黑体" panose="02010609060101010101" pitchFamily="1" charset="-122"/>
              </a:rPr>
              <a:t>（</a:t>
            </a:r>
            <a:r>
              <a:rPr lang="en-US" altLang="x-none" sz="2600" dirty="0">
                <a:solidFill>
                  <a:srgbClr val="0033CC"/>
                </a:solidFill>
                <a:latin typeface="黑体" panose="02010609060101010101" pitchFamily="1" charset="-122"/>
                <a:ea typeface="黑体" panose="02010609060101010101" pitchFamily="1" charset="-122"/>
              </a:rPr>
              <a:t>4</a:t>
            </a:r>
            <a:r>
              <a:rPr lang="zh-CN" altLang="en-US" sz="2600" dirty="0">
                <a:solidFill>
                  <a:srgbClr val="0033CC"/>
                </a:solidFill>
                <a:latin typeface="黑体" panose="02010609060101010101" pitchFamily="1" charset="-122"/>
                <a:ea typeface="黑体" panose="02010609060101010101" pitchFamily="1" charset="-122"/>
              </a:rPr>
              <a:t>）事务状态变迁</a:t>
            </a:r>
            <a:endParaRPr lang="zh-CN" altLang="en-US" sz="2600" dirty="0">
              <a:solidFill>
                <a:srgbClr val="0033CC"/>
              </a:solidFill>
              <a:latin typeface="Arial" panose="020B0604020202020204" pitchFamily="34" charset="0"/>
              <a:ea typeface="黑体" panose="02010609060101010101" pitchFamily="1" charset="-122"/>
            </a:endParaRPr>
          </a:p>
        </p:txBody>
      </p:sp>
      <p:sp>
        <p:nvSpPr>
          <p:cNvPr id="54277" name="Rectangle 7"/>
          <p:cNvSpPr/>
          <p:nvPr/>
        </p:nvSpPr>
        <p:spPr>
          <a:xfrm>
            <a:off x="501650" y="7810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1</a:t>
            </a:r>
            <a:r>
              <a:rPr lang="zh-CN" altLang="en-US" sz="2800" dirty="0">
                <a:solidFill>
                  <a:srgbClr val="FF0000"/>
                </a:solidFill>
                <a:latin typeface="黑体" panose="02010609060101010101" pitchFamily="1" charset="-122"/>
                <a:ea typeface="黑体" panose="02010609060101010101" pitchFamily="1" charset="-122"/>
              </a:rPr>
              <a:t>、事务管理概况</a:t>
            </a:r>
            <a:endParaRPr lang="en-US" altLang="x-none" sz="2800" dirty="0">
              <a:solidFill>
                <a:srgbClr val="FF0000"/>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56322"/>
                                        </p:tgtEl>
                                        <p:attrNameLst>
                                          <p:attrName>style.visibility</p:attrName>
                                        </p:attrNameLst>
                                      </p:cBhvr>
                                      <p:to>
                                        <p:strVal val="visible"/>
                                      </p:to>
                                    </p:set>
                                    <p:animEffect transition="in" filter="checkerboard(across)">
                                      <p:cBhvr>
                                        <p:cTn id="7" dur="500"/>
                                        <p:tgtEl>
                                          <p:spTgt spid="5632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499"/>
                                          </p:stCondLst>
                                        </p:cTn>
                                        <p:tgtEl>
                                          <p:spTgt spid="563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2"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4"/>
          <p:cNvSpPr txBox="1"/>
          <p:nvPr/>
        </p:nvSpPr>
        <p:spPr>
          <a:xfrm>
            <a:off x="590550" y="2706688"/>
            <a:ext cx="8067675" cy="1535112"/>
          </a:xfrm>
          <a:prstGeom prst="rect">
            <a:avLst/>
          </a:prstGeom>
          <a:noFill/>
          <a:ln w="9525" cap="flat" cmpd="sng">
            <a:solidFill>
              <a:srgbClr val="CC0000"/>
            </a:solidFill>
            <a:prstDash val="solid"/>
            <a:miter/>
            <a:headEnd type="none" w="med" len="med"/>
            <a:tailEnd type="none" w="med" len="med"/>
          </a:ln>
        </p:spPr>
        <p:txBody>
          <a:bodyPr anchor="t">
            <a:spAutoFit/>
          </a:bodyPr>
          <a:lstStyle/>
          <a:p>
            <a:pPr marL="186055" lvl="0" indent="-186055">
              <a:lnSpc>
                <a:spcPct val="105000"/>
              </a:lnSpc>
              <a:buFont typeface="Wingdings" panose="05000000000000000000" pitchFamily="2" charset="2"/>
              <a:buChar char="p"/>
            </a:pPr>
            <a:r>
              <a:rPr lang="zh-CN" altLang="en-US" sz="2400" u="sng" dirty="0">
                <a:solidFill>
                  <a:srgbClr val="FF0000"/>
                </a:solidFill>
                <a:latin typeface="Arial" panose="020B0604020202020204" pitchFamily="34" charset="0"/>
                <a:ea typeface="宋体" panose="02010600030101010101" pitchFamily="2" charset="-122"/>
              </a:rPr>
              <a:t>原子性</a:t>
            </a:r>
            <a:r>
              <a:rPr lang="en-US" altLang="x-none" sz="2400" u="sng" dirty="0">
                <a:solidFill>
                  <a:srgbClr val="FF0000"/>
                </a:solidFill>
                <a:latin typeface="Arial" panose="020B0604020202020204" pitchFamily="34" charset="0"/>
                <a:ea typeface="宋体" panose="02010600030101010101" pitchFamily="2" charset="-122"/>
              </a:rPr>
              <a:t>(Atomicity)</a:t>
            </a:r>
            <a:r>
              <a:rPr lang="zh-CN" altLang="en-US" sz="2400" dirty="0">
                <a:solidFill>
                  <a:srgbClr val="FF0000"/>
                </a:solidFill>
                <a:latin typeface="Arial" panose="020B0604020202020204" pitchFamily="34" charset="0"/>
                <a:ea typeface="宋体" panose="02010600030101010101" pitchFamily="2" charset="-122"/>
              </a:rPr>
              <a:t>：</a:t>
            </a:r>
            <a:r>
              <a:rPr lang="zh-CN" altLang="en-US" sz="2200" dirty="0">
                <a:latin typeface="华文楷体" panose="02010600040101010101" pitchFamily="2" charset="-122"/>
                <a:ea typeface="华文楷体" panose="02010600040101010101" pitchFamily="2" charset="-122"/>
              </a:rPr>
              <a:t>一个事务对数据库的所有操作是一个整体，要么成功执行，要么都不执行</a:t>
            </a:r>
            <a:r>
              <a:rPr lang="en-US" altLang="x-none" sz="2200" dirty="0">
                <a:latin typeface="华文楷体" panose="02010600040101010101" pitchFamily="2" charset="-122"/>
                <a:ea typeface="华文楷体" panose="02010600040101010101" pitchFamily="2" charset="-122"/>
              </a:rPr>
              <a:t>(Nothing or All)</a:t>
            </a:r>
            <a:r>
              <a:rPr lang="zh-CN" altLang="en-US" sz="2200" dirty="0">
                <a:latin typeface="华文楷体" panose="02010600040101010101" pitchFamily="2" charset="-122"/>
                <a:ea typeface="华文楷体" panose="02010600040101010101" pitchFamily="2" charset="-122"/>
              </a:rPr>
              <a:t>。保证原子性由</a:t>
            </a:r>
            <a:r>
              <a:rPr lang="en-US" altLang="x-none" sz="2200" dirty="0">
                <a:latin typeface="华文楷体" panose="02010600040101010101" pitchFamily="2" charset="-122"/>
                <a:ea typeface="华文楷体" panose="02010600040101010101" pitchFamily="2" charset="-122"/>
              </a:rPr>
              <a:t>DBMS</a:t>
            </a:r>
            <a:r>
              <a:rPr lang="zh-CN" altLang="en-US" sz="2200" dirty="0">
                <a:latin typeface="华文楷体" panose="02010600040101010101" pitchFamily="2" charset="-122"/>
                <a:ea typeface="华文楷体" panose="02010600040101010101" pitchFamily="2" charset="-122"/>
              </a:rPr>
              <a:t>的事务管理器</a:t>
            </a:r>
            <a:r>
              <a:rPr lang="en-US" altLang="x-none" sz="2200" dirty="0">
                <a:latin typeface="华文楷体" panose="02010600040101010101" pitchFamily="2" charset="-122"/>
                <a:ea typeface="华文楷体" panose="02010600040101010101" pitchFamily="2" charset="-122"/>
              </a:rPr>
              <a:t>(Transaction Manager)</a:t>
            </a:r>
            <a:r>
              <a:rPr lang="zh-CN" altLang="en-US" sz="2200" dirty="0">
                <a:latin typeface="华文楷体" panose="02010600040101010101" pitchFamily="2" charset="-122"/>
                <a:ea typeface="华文楷体" panose="02010600040101010101" pitchFamily="2" charset="-122"/>
              </a:rPr>
              <a:t>负责，“提交</a:t>
            </a:r>
            <a:r>
              <a:rPr lang="en-US" altLang="x-none" sz="2200" dirty="0">
                <a:latin typeface="华文楷体" panose="02010600040101010101" pitchFamily="2" charset="-122"/>
                <a:ea typeface="华文楷体" panose="02010600040101010101" pitchFamily="2" charset="-122"/>
              </a:rPr>
              <a:t>(Commit)”</a:t>
            </a:r>
            <a:r>
              <a:rPr lang="zh-CN" altLang="en-US" sz="2200" dirty="0">
                <a:latin typeface="华文楷体" panose="02010600040101010101" pitchFamily="2" charset="-122"/>
                <a:ea typeface="华文楷体" panose="02010600040101010101" pitchFamily="2" charset="-122"/>
              </a:rPr>
              <a:t>和“回退</a:t>
            </a:r>
            <a:r>
              <a:rPr lang="en-US" altLang="x-none" sz="2200" dirty="0">
                <a:latin typeface="华文楷体" panose="02010600040101010101" pitchFamily="2" charset="-122"/>
                <a:ea typeface="华文楷体" panose="02010600040101010101" pitchFamily="2" charset="-122"/>
              </a:rPr>
              <a:t>(Rollback)”</a:t>
            </a:r>
            <a:r>
              <a:rPr lang="zh-CN" altLang="en-US" sz="2200" dirty="0">
                <a:latin typeface="华文楷体" panose="02010600040101010101" pitchFamily="2" charset="-122"/>
                <a:ea typeface="华文楷体" panose="02010600040101010101" pitchFamily="2" charset="-122"/>
              </a:rPr>
              <a:t>操作是其中的关键。 </a:t>
            </a:r>
            <a:endParaRPr lang="zh-CN" altLang="en-US" sz="2200" dirty="0">
              <a:latin typeface="华文楷体" panose="02010600040101010101" pitchFamily="2" charset="-122"/>
              <a:ea typeface="华文楷体" panose="02010600040101010101" pitchFamily="2" charset="-122"/>
            </a:endParaRPr>
          </a:p>
        </p:txBody>
      </p:sp>
      <p:sp>
        <p:nvSpPr>
          <p:cNvPr id="57347" name="Text Box 5"/>
          <p:cNvSpPr txBox="1"/>
          <p:nvPr/>
        </p:nvSpPr>
        <p:spPr>
          <a:xfrm>
            <a:off x="533400" y="1770063"/>
            <a:ext cx="8124825" cy="825500"/>
          </a:xfrm>
          <a:prstGeom prst="rect">
            <a:avLst/>
          </a:prstGeom>
          <a:noFill/>
          <a:ln w="9525">
            <a:noFill/>
          </a:ln>
        </p:spPr>
        <p:txBody>
          <a:bodyPr anchor="t">
            <a:spAutoFit/>
          </a:bodyPr>
          <a:lstStyle/>
          <a:p>
            <a:pPr lvl="0" indent="0">
              <a:lnSpc>
                <a:spcPct val="110000"/>
              </a:lnSpc>
              <a:spcBef>
                <a:spcPts val="600"/>
              </a:spcBef>
            </a:pPr>
            <a:r>
              <a:rPr lang="en-US" altLang="x-none" sz="2400" dirty="0">
                <a:latin typeface="宋体" panose="02010600030101010101" pitchFamily="2" charset="-122"/>
                <a:ea typeface="宋体" panose="02010600030101010101" pitchFamily="2" charset="-122"/>
              </a:rPr>
              <a:t>    </a:t>
            </a:r>
            <a:r>
              <a:rPr lang="en-US" altLang="x-none" sz="2200" dirty="0">
                <a:latin typeface="宋体" panose="02010600030101010101" pitchFamily="2" charset="-122"/>
                <a:ea typeface="宋体" panose="02010600030101010101" pitchFamily="2" charset="-122"/>
              </a:rPr>
              <a:t>DBMS</a:t>
            </a:r>
            <a:r>
              <a:rPr lang="zh-CN" altLang="en-US" sz="2200" dirty="0">
                <a:latin typeface="宋体" panose="02010600030101010101" pitchFamily="2" charset="-122"/>
                <a:ea typeface="宋体" panose="02010600030101010101" pitchFamily="2" charset="-122"/>
              </a:rPr>
              <a:t>为保证在并发访问和故障情况下对数据的维护，要求事务有如下四个重要特征或准则</a:t>
            </a:r>
            <a:r>
              <a:rPr lang="en-US" altLang="x-none" sz="2200" dirty="0">
                <a:latin typeface="宋体" panose="02010600030101010101" pitchFamily="2" charset="-122"/>
                <a:ea typeface="宋体" panose="02010600030101010101" pitchFamily="2" charset="-122"/>
              </a:rPr>
              <a:t>(ACID)</a:t>
            </a:r>
            <a:r>
              <a:rPr lang="zh-CN" altLang="en-US" sz="2200" dirty="0">
                <a:latin typeface="宋体" panose="02010600030101010101" pitchFamily="2" charset="-122"/>
                <a:ea typeface="宋体" panose="02010600030101010101" pitchFamily="2" charset="-122"/>
              </a:rPr>
              <a:t>：</a:t>
            </a:r>
            <a:endParaRPr lang="zh-CN" altLang="en-US" sz="2200" dirty="0">
              <a:latin typeface="宋体" panose="02010600030101010101" pitchFamily="2" charset="-122"/>
              <a:ea typeface="宋体" panose="02010600030101010101" pitchFamily="2" charset="-122"/>
            </a:endParaRPr>
          </a:p>
        </p:txBody>
      </p:sp>
      <p:sp>
        <p:nvSpPr>
          <p:cNvPr id="57348" name="Rectangle 6" descr="Rectangle: Click to edit Master text styles&#10;Second level&#10;Third level&#10;Fourth level&#10;Fifth level"/>
          <p:cNvSpPr txBox="1"/>
          <p:nvPr/>
        </p:nvSpPr>
        <p:spPr>
          <a:xfrm>
            <a:off x="579438" y="4351338"/>
            <a:ext cx="8077200" cy="1816100"/>
          </a:xfrm>
          <a:prstGeom prst="rect">
            <a:avLst/>
          </a:prstGeom>
          <a:noFill/>
          <a:ln w="9525" cap="flat" cmpd="sng">
            <a:solidFill>
              <a:srgbClr val="CC0000"/>
            </a:solidFill>
            <a:prstDash val="solid"/>
            <a:miter/>
            <a:headEnd type="none" w="med" len="med"/>
            <a:tailEnd type="none" w="med" len="med"/>
          </a:ln>
        </p:spPr>
        <p:txBody>
          <a:bodyPr anchor="t"/>
          <a:lstStyle/>
          <a:p>
            <a:pPr marL="342900" lvl="0" indent="-342900" eaLnBrk="0" hangingPunct="0">
              <a:lnSpc>
                <a:spcPct val="105000"/>
              </a:lnSpc>
              <a:buClr>
                <a:srgbClr val="C00000"/>
              </a:buClr>
              <a:buFont typeface="Wingdings" panose="05000000000000000000" pitchFamily="2" charset="2"/>
              <a:buChar char="p"/>
            </a:pPr>
            <a:r>
              <a:rPr lang="zh-CN" altLang="en-US" sz="2400" u="sng" dirty="0">
                <a:solidFill>
                  <a:srgbClr val="FF0000"/>
                </a:solidFill>
                <a:latin typeface="Arial" panose="020B0604020202020204" pitchFamily="34" charset="0"/>
                <a:ea typeface="宋体" panose="02010600030101010101" pitchFamily="2" charset="-122"/>
              </a:rPr>
              <a:t>一致性</a:t>
            </a:r>
            <a:r>
              <a:rPr lang="en-US" altLang="x-none" sz="2400" u="sng" dirty="0">
                <a:solidFill>
                  <a:srgbClr val="FF0000"/>
                </a:solidFill>
                <a:latin typeface="Arial" panose="020B0604020202020204" pitchFamily="34" charset="0"/>
                <a:ea typeface="宋体" panose="02010600030101010101" pitchFamily="2" charset="-122"/>
              </a:rPr>
              <a:t>(Consistency)</a:t>
            </a:r>
            <a:r>
              <a:rPr lang="zh-CN" altLang="en-US" sz="2400" dirty="0">
                <a:solidFill>
                  <a:srgbClr val="FF0000"/>
                </a:solidFill>
                <a:latin typeface="Arial" panose="020B0604020202020204" pitchFamily="34" charset="0"/>
                <a:ea typeface="宋体" panose="02010600030101010101" pitchFamily="2" charset="-122"/>
              </a:rPr>
              <a:t>：</a:t>
            </a:r>
            <a:r>
              <a:rPr lang="zh-CN" altLang="en-US" sz="2100" dirty="0">
                <a:latin typeface="华文楷体" panose="02010600040101010101" pitchFamily="2" charset="-122"/>
                <a:ea typeface="华文楷体" panose="02010600040101010101" pitchFamily="2" charset="-122"/>
              </a:rPr>
              <a:t>在无其它事务并发执行时，单独运行</a:t>
            </a:r>
            <a:endParaRPr lang="en-US" altLang="x-none" sz="2100" dirty="0">
              <a:latin typeface="华文楷体" panose="02010600040101010101" pitchFamily="2" charset="-122"/>
              <a:ea typeface="华文楷体" panose="02010600040101010101" pitchFamily="2" charset="-122"/>
            </a:endParaRPr>
          </a:p>
          <a:p>
            <a:pPr marL="342900" lvl="0" indent="-342900" eaLnBrk="0" hangingPunct="0">
              <a:lnSpc>
                <a:spcPct val="105000"/>
              </a:lnSpc>
              <a:buClr>
                <a:srgbClr val="C00000"/>
              </a:buClr>
            </a:pPr>
            <a:r>
              <a:rPr lang="zh-CN" altLang="en-US" sz="2100" dirty="0">
                <a:latin typeface="华文楷体" panose="02010600040101010101" pitchFamily="2" charset="-122"/>
                <a:ea typeface="华文楷体" panose="02010600040101010101" pitchFamily="2" charset="-122"/>
              </a:rPr>
              <a:t>的事务应保证</a:t>
            </a:r>
            <a:r>
              <a:rPr lang="en-US" altLang="x-none" sz="2100" dirty="0">
                <a:latin typeface="华文楷体" panose="02010600040101010101" pitchFamily="2" charset="-122"/>
                <a:ea typeface="华文楷体" panose="02010600040101010101" pitchFamily="2" charset="-122"/>
              </a:rPr>
              <a:t>DB</a:t>
            </a:r>
            <a:r>
              <a:rPr lang="zh-CN" altLang="en-US" sz="2100" dirty="0">
                <a:latin typeface="华文楷体" panose="02010600040101010101" pitchFamily="2" charset="-122"/>
                <a:ea typeface="华文楷体" panose="02010600040101010101" pitchFamily="2" charset="-122"/>
              </a:rPr>
              <a:t>从一个一致状态转到另一个一致状态。但事务管理</a:t>
            </a:r>
            <a:endParaRPr lang="en-US" altLang="x-none" sz="2100" dirty="0">
              <a:latin typeface="华文楷体" panose="02010600040101010101" pitchFamily="2" charset="-122"/>
              <a:ea typeface="华文楷体" panose="02010600040101010101" pitchFamily="2" charset="-122"/>
            </a:endParaRPr>
          </a:p>
          <a:p>
            <a:pPr marL="342900" lvl="0" indent="-342900" eaLnBrk="0" hangingPunct="0">
              <a:lnSpc>
                <a:spcPct val="105000"/>
              </a:lnSpc>
              <a:buClr>
                <a:srgbClr val="C00000"/>
              </a:buClr>
            </a:pPr>
            <a:r>
              <a:rPr lang="zh-CN" altLang="en-US" sz="2100" dirty="0">
                <a:latin typeface="华文楷体" panose="02010600040101010101" pitchFamily="2" charset="-122"/>
                <a:ea typeface="华文楷体" panose="02010600040101010101" pitchFamily="2" charset="-122"/>
              </a:rPr>
              <a:t>器无法保证事务内的一致性，例如：如果系统用户在设计转帐事务</a:t>
            </a:r>
            <a:endParaRPr lang="en-US" altLang="x-none" sz="2100" dirty="0">
              <a:latin typeface="华文楷体" panose="02010600040101010101" pitchFamily="2" charset="-122"/>
              <a:ea typeface="华文楷体" panose="02010600040101010101" pitchFamily="2" charset="-122"/>
            </a:endParaRPr>
          </a:p>
          <a:p>
            <a:pPr marL="342900" lvl="0" indent="-342900" eaLnBrk="0" hangingPunct="0">
              <a:lnSpc>
                <a:spcPct val="105000"/>
              </a:lnSpc>
              <a:buClr>
                <a:srgbClr val="C00000"/>
              </a:buClr>
            </a:pPr>
            <a:r>
              <a:rPr lang="zh-CN" altLang="en-US" sz="2100" dirty="0">
                <a:latin typeface="华文楷体" panose="02010600040101010101" pitchFamily="2" charset="-122"/>
                <a:ea typeface="华文楷体" panose="02010600040101010101" pitchFamily="2" charset="-122"/>
              </a:rPr>
              <a:t>时，只编写了第一步代码（从</a:t>
            </a:r>
            <a:r>
              <a:rPr lang="en-US" altLang="x-none" sz="2100" dirty="0">
                <a:latin typeface="华文楷体" panose="02010600040101010101" pitchFamily="2" charset="-122"/>
                <a:ea typeface="华文楷体" panose="02010600040101010101" pitchFamily="2" charset="-122"/>
              </a:rPr>
              <a:t>A</a:t>
            </a:r>
            <a:r>
              <a:rPr lang="zh-CN" altLang="en-US" sz="2100" dirty="0">
                <a:latin typeface="华文楷体" panose="02010600040101010101" pitchFamily="2" charset="-122"/>
                <a:ea typeface="华文楷体" panose="02010600040101010101" pitchFamily="2" charset="-122"/>
              </a:rPr>
              <a:t>账户中转出</a:t>
            </a:r>
            <a:r>
              <a:rPr lang="en-US" altLang="x-none" sz="2100" dirty="0">
                <a:latin typeface="华文楷体" panose="02010600040101010101" pitchFamily="2" charset="-122"/>
                <a:ea typeface="华文楷体" panose="02010600040101010101" pitchFamily="2" charset="-122"/>
              </a:rPr>
              <a:t>90</a:t>
            </a:r>
            <a:r>
              <a:rPr lang="zh-CN" altLang="en-US" sz="2100" dirty="0">
                <a:latin typeface="华文楷体" panose="02010600040101010101" pitchFamily="2" charset="-122"/>
                <a:ea typeface="华文楷体" panose="02010600040101010101" pitchFamily="2" charset="-122"/>
              </a:rPr>
              <a:t>元），而没有编写了</a:t>
            </a:r>
            <a:endParaRPr lang="en-US" altLang="x-none" sz="2100" dirty="0">
              <a:latin typeface="华文楷体" panose="02010600040101010101" pitchFamily="2" charset="-122"/>
              <a:ea typeface="华文楷体" panose="02010600040101010101" pitchFamily="2" charset="-122"/>
            </a:endParaRPr>
          </a:p>
          <a:p>
            <a:pPr marL="342900" lvl="0" indent="-342900" eaLnBrk="0" hangingPunct="0">
              <a:lnSpc>
                <a:spcPct val="105000"/>
              </a:lnSpc>
              <a:buClr>
                <a:srgbClr val="C00000"/>
              </a:buClr>
            </a:pPr>
            <a:r>
              <a:rPr lang="zh-CN" altLang="en-US" sz="2100" dirty="0">
                <a:latin typeface="华文楷体" panose="02010600040101010101" pitchFamily="2" charset="-122"/>
                <a:ea typeface="华文楷体" panose="02010600040101010101" pitchFamily="2" charset="-122"/>
              </a:rPr>
              <a:t>第二步代码，这样造成的数据库不一致，需由系统用户负责。</a:t>
            </a:r>
            <a:endParaRPr lang="zh-CN" altLang="en-US" sz="2100" dirty="0">
              <a:latin typeface="华文楷体" panose="02010600040101010101" pitchFamily="2" charset="-122"/>
              <a:ea typeface="华文楷体" panose="02010600040101010101" pitchFamily="2" charset="-122"/>
            </a:endParaRPr>
          </a:p>
        </p:txBody>
      </p:sp>
      <p:sp>
        <p:nvSpPr>
          <p:cNvPr id="55300"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四、数据库的故障恢复技术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55301" name="Rectangle 7"/>
          <p:cNvSpPr/>
          <p:nvPr/>
        </p:nvSpPr>
        <p:spPr>
          <a:xfrm>
            <a:off x="501650" y="7810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1</a:t>
            </a:r>
            <a:r>
              <a:rPr lang="zh-CN" altLang="en-US" sz="2800" dirty="0">
                <a:solidFill>
                  <a:srgbClr val="FF0000"/>
                </a:solidFill>
                <a:latin typeface="黑体" panose="02010609060101010101" pitchFamily="1" charset="-122"/>
                <a:ea typeface="黑体" panose="02010609060101010101" pitchFamily="1" charset="-122"/>
              </a:rPr>
              <a:t>、事务管理概况</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55302" name="Rectangle 7"/>
          <p:cNvSpPr/>
          <p:nvPr/>
        </p:nvSpPr>
        <p:spPr>
          <a:xfrm>
            <a:off x="414338" y="1266825"/>
            <a:ext cx="6261100" cy="609600"/>
          </a:xfrm>
          <a:prstGeom prst="rect">
            <a:avLst/>
          </a:prstGeom>
          <a:noFill/>
          <a:ln w="9525">
            <a:noFill/>
          </a:ln>
        </p:spPr>
        <p:txBody>
          <a:bodyPr wrap="none" anchor="ctr"/>
          <a:lstStyle/>
          <a:p>
            <a:pPr lvl="0" indent="0" algn="just">
              <a:spcBef>
                <a:spcPct val="20000"/>
              </a:spcBef>
              <a:buClr>
                <a:schemeClr val="folHlink"/>
              </a:buClr>
              <a:buSzPct val="75000"/>
            </a:pPr>
            <a:r>
              <a:rPr lang="zh-CN" altLang="en-US" sz="2600" dirty="0">
                <a:solidFill>
                  <a:srgbClr val="0033CC"/>
                </a:solidFill>
                <a:latin typeface="黑体" panose="02010609060101010101" pitchFamily="1" charset="-122"/>
                <a:ea typeface="黑体" panose="02010609060101010101" pitchFamily="1" charset="-122"/>
              </a:rPr>
              <a:t>（</a:t>
            </a:r>
            <a:r>
              <a:rPr lang="en-US" altLang="x-none" sz="2600" dirty="0">
                <a:solidFill>
                  <a:srgbClr val="0033CC"/>
                </a:solidFill>
                <a:latin typeface="黑体" panose="02010609060101010101" pitchFamily="1" charset="-122"/>
                <a:ea typeface="黑体" panose="02010609060101010101" pitchFamily="1" charset="-122"/>
              </a:rPr>
              <a:t>5</a:t>
            </a:r>
            <a:r>
              <a:rPr lang="zh-CN" altLang="en-US" sz="2600" dirty="0">
                <a:solidFill>
                  <a:srgbClr val="0033CC"/>
                </a:solidFill>
                <a:latin typeface="黑体" panose="02010609060101010101" pitchFamily="1" charset="-122"/>
                <a:ea typeface="黑体" panose="02010609060101010101" pitchFamily="1" charset="-122"/>
              </a:rPr>
              <a:t>）事务的</a:t>
            </a:r>
            <a:r>
              <a:rPr lang="en-US" altLang="x-none" sz="2600" dirty="0">
                <a:solidFill>
                  <a:srgbClr val="0033CC"/>
                </a:solidFill>
                <a:latin typeface="黑体" panose="02010609060101010101" pitchFamily="1" charset="-122"/>
                <a:ea typeface="黑体" panose="02010609060101010101" pitchFamily="1" charset="-122"/>
              </a:rPr>
              <a:t>ACID</a:t>
            </a:r>
            <a:r>
              <a:rPr lang="zh-CN" altLang="en-US" sz="2600" dirty="0">
                <a:solidFill>
                  <a:srgbClr val="0033CC"/>
                </a:solidFill>
                <a:latin typeface="黑体" panose="02010609060101010101" pitchFamily="1" charset="-122"/>
                <a:ea typeface="黑体" panose="02010609060101010101" pitchFamily="1" charset="-122"/>
              </a:rPr>
              <a:t>准则</a:t>
            </a:r>
            <a:endParaRPr lang="zh-CN" altLang="en-US" sz="2600" dirty="0">
              <a:solidFill>
                <a:srgbClr val="0033CC"/>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7347"/>
                                        </p:tgtEl>
                                        <p:attrNameLst>
                                          <p:attrName>style.visibility</p:attrName>
                                        </p:attrNameLst>
                                      </p:cBhvr>
                                      <p:to>
                                        <p:strVal val="visible"/>
                                      </p:to>
                                    </p:set>
                                    <p:animEffect transition="in" filter="checkerboard(across)">
                                      <p:cBhvr>
                                        <p:cTn id="7" dur="500"/>
                                        <p:tgtEl>
                                          <p:spTgt spid="5734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57346"/>
                                        </p:tgtEl>
                                        <p:attrNameLst>
                                          <p:attrName>style.visibility</p:attrName>
                                        </p:attrNameLst>
                                      </p:cBhvr>
                                      <p:to>
                                        <p:strVal val="visible"/>
                                      </p:to>
                                    </p:set>
                                    <p:animEffect transition="in" filter="barn(outHorizontal)">
                                      <p:cBhvr>
                                        <p:cTn id="12" dur="500"/>
                                        <p:tgtEl>
                                          <p:spTgt spid="5734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57348"/>
                                        </p:tgtEl>
                                        <p:attrNameLst>
                                          <p:attrName>style.visibility</p:attrName>
                                        </p:attrNameLst>
                                      </p:cBhvr>
                                      <p:to>
                                        <p:strVal val="visible"/>
                                      </p:to>
                                    </p:set>
                                    <p:animEffect transition="in" filter="barn(outHorizontal)">
                                      <p:cBhvr>
                                        <p:cTn id="17" dur="500"/>
                                        <p:tgtEl>
                                          <p:spTgt spid="573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6" grpId="0" animBg="1"/>
      <p:bldP spid="57347" grpId="0"/>
      <p:bldP spid="57348"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3"/>
          <p:cNvSpPr txBox="1"/>
          <p:nvPr/>
        </p:nvSpPr>
        <p:spPr>
          <a:xfrm>
            <a:off x="523875" y="1958975"/>
            <a:ext cx="8137525" cy="1425575"/>
          </a:xfrm>
          <a:prstGeom prst="rect">
            <a:avLst/>
          </a:prstGeom>
          <a:noFill/>
          <a:ln w="9525" cap="flat" cmpd="sng">
            <a:solidFill>
              <a:srgbClr val="CC0000"/>
            </a:solidFill>
            <a:prstDash val="solid"/>
            <a:miter/>
            <a:headEnd type="none" w="med" len="med"/>
            <a:tailEnd type="none" w="med" len="med"/>
          </a:ln>
        </p:spPr>
        <p:txBody>
          <a:bodyPr anchor="t"/>
          <a:lstStyle/>
          <a:p>
            <a:pPr marL="186055" lvl="0" indent="-186055" eaLnBrk="0" hangingPunct="0">
              <a:lnSpc>
                <a:spcPct val="125000"/>
              </a:lnSpc>
              <a:buClr>
                <a:srgbClr val="FF0000"/>
              </a:buClr>
              <a:buFont typeface="Wingdings" panose="05000000000000000000" pitchFamily="2" charset="2"/>
              <a:buChar char="p"/>
            </a:pPr>
            <a:r>
              <a:rPr lang="zh-CN" altLang="en-US" sz="2400" u="sng" dirty="0">
                <a:solidFill>
                  <a:srgbClr val="FF0000"/>
                </a:solidFill>
                <a:latin typeface="Arial" panose="020B0604020202020204" pitchFamily="34" charset="0"/>
                <a:ea typeface="宋体" panose="02010600030101010101" pitchFamily="2" charset="-122"/>
              </a:rPr>
              <a:t>隔离性</a:t>
            </a:r>
            <a:r>
              <a:rPr lang="en-US" altLang="x-none" sz="2400" u="sng" dirty="0">
                <a:solidFill>
                  <a:srgbClr val="FF0000"/>
                </a:solidFill>
                <a:latin typeface="Arial" panose="020B0604020202020204" pitchFamily="34" charset="0"/>
                <a:ea typeface="宋体" panose="02010600030101010101" pitchFamily="2" charset="-122"/>
              </a:rPr>
              <a:t>(Isolation)</a:t>
            </a:r>
            <a:r>
              <a:rPr lang="zh-CN" altLang="en-US" sz="2400" u="sng" dirty="0">
                <a:solidFill>
                  <a:srgbClr val="FF0000"/>
                </a:solidFill>
                <a:latin typeface="Arial" panose="020B0604020202020204" pitchFamily="34" charset="0"/>
                <a:ea typeface="宋体" panose="02010600030101010101" pitchFamily="2" charset="-122"/>
              </a:rPr>
              <a:t>：</a:t>
            </a:r>
            <a:r>
              <a:rPr lang="en-US" altLang="x-none" sz="2200" dirty="0">
                <a:latin typeface="华文楷体" panose="02010600040101010101" pitchFamily="2" charset="-122"/>
                <a:ea typeface="华文楷体" panose="02010600040101010101" pitchFamily="2" charset="-122"/>
              </a:rPr>
              <a:t>DBMS</a:t>
            </a:r>
            <a:r>
              <a:rPr lang="zh-CN" altLang="en-US" sz="2200" dirty="0">
                <a:latin typeface="华文楷体" panose="02010600040101010101" pitchFamily="2" charset="-122"/>
                <a:ea typeface="华文楷体" panose="02010600040101010101" pitchFamily="2" charset="-122"/>
              </a:rPr>
              <a:t>为改善性能要交错执行几个事务的操作，但要求这些并发执行的事务，对用户而言象是单独执行一样。该特性由并发控制负责。</a:t>
            </a:r>
            <a:endParaRPr lang="zh-CN" altLang="en-US" sz="2200" dirty="0">
              <a:latin typeface="华文楷体" panose="02010600040101010101" pitchFamily="2" charset="-122"/>
              <a:ea typeface="华文楷体" panose="02010600040101010101" pitchFamily="2" charset="-122"/>
            </a:endParaRPr>
          </a:p>
        </p:txBody>
      </p:sp>
      <p:sp>
        <p:nvSpPr>
          <p:cNvPr id="58371" name="Text Box 4"/>
          <p:cNvSpPr txBox="1"/>
          <p:nvPr/>
        </p:nvSpPr>
        <p:spPr>
          <a:xfrm>
            <a:off x="536575" y="3590925"/>
            <a:ext cx="8159750" cy="1733550"/>
          </a:xfrm>
          <a:prstGeom prst="rect">
            <a:avLst/>
          </a:prstGeom>
          <a:noFill/>
          <a:ln w="9525" cap="flat" cmpd="sng">
            <a:solidFill>
              <a:srgbClr val="CC0000"/>
            </a:solidFill>
            <a:prstDash val="solid"/>
            <a:miter/>
            <a:headEnd type="none" w="med" len="med"/>
            <a:tailEnd type="none" w="med" len="med"/>
          </a:ln>
        </p:spPr>
        <p:txBody>
          <a:bodyPr lIns="90000" tIns="46800" rIns="90000" bIns="46800" anchor="t">
            <a:spAutoFit/>
          </a:bodyPr>
          <a:lstStyle/>
          <a:p>
            <a:pPr lvl="0" indent="0">
              <a:lnSpc>
                <a:spcPct val="120000"/>
              </a:lnSpc>
              <a:buFont typeface="Wingdings" panose="05000000000000000000" pitchFamily="2" charset="2"/>
              <a:buChar char="p"/>
            </a:pPr>
            <a:r>
              <a:rPr lang="zh-CN" altLang="en-US" sz="2400" u="sng" dirty="0">
                <a:solidFill>
                  <a:srgbClr val="FF0000"/>
                </a:solidFill>
                <a:latin typeface="Arial" panose="020B0604020202020204" pitchFamily="34" charset="0"/>
                <a:ea typeface="宋体" panose="02010600030101010101" pitchFamily="2" charset="-122"/>
              </a:rPr>
              <a:t>持久性</a:t>
            </a:r>
            <a:r>
              <a:rPr lang="en-US" altLang="x-none" sz="2400" u="sng" dirty="0">
                <a:solidFill>
                  <a:srgbClr val="FF0000"/>
                </a:solidFill>
                <a:latin typeface="Arial" panose="020B0604020202020204" pitchFamily="34" charset="0"/>
                <a:ea typeface="宋体" panose="02010600030101010101" pitchFamily="2" charset="-122"/>
              </a:rPr>
              <a:t>(Durability)</a:t>
            </a:r>
            <a:r>
              <a:rPr lang="zh-CN" altLang="en-US" sz="2400" u="sng" dirty="0">
                <a:solidFill>
                  <a:srgbClr val="FF0000"/>
                </a:solidFill>
                <a:latin typeface="Arial" panose="020B0604020202020204" pitchFamily="34" charset="0"/>
                <a:ea typeface="宋体" panose="02010600030101010101" pitchFamily="2" charset="-122"/>
              </a:rPr>
              <a:t>：</a:t>
            </a:r>
            <a:r>
              <a:rPr lang="zh-CN" altLang="en-US" sz="2200" dirty="0">
                <a:latin typeface="华文楷体" panose="02010600040101010101" pitchFamily="2" charset="-122"/>
                <a:ea typeface="华文楷体" panose="02010600040101010101" pitchFamily="2" charset="-122"/>
              </a:rPr>
              <a:t>一旦</a:t>
            </a:r>
            <a:r>
              <a:rPr lang="en-US" altLang="x-none" sz="2200" dirty="0">
                <a:latin typeface="华文楷体" panose="02010600040101010101" pitchFamily="2" charset="-122"/>
                <a:ea typeface="华文楷体" panose="02010600040101010101" pitchFamily="2" charset="-122"/>
              </a:rPr>
              <a:t>DBMS</a:t>
            </a:r>
            <a:r>
              <a:rPr lang="zh-CN" altLang="en-US" sz="2200" dirty="0">
                <a:latin typeface="华文楷体" panose="02010600040101010101" pitchFamily="2" charset="-122"/>
                <a:ea typeface="华文楷体" panose="02010600040101010101" pitchFamily="2" charset="-122"/>
              </a:rPr>
              <a:t>告诉用户事务成功执行，其</a:t>
            </a:r>
            <a:endParaRPr lang="en-US" altLang="x-none" sz="2200" dirty="0">
              <a:latin typeface="华文楷体" panose="02010600040101010101" pitchFamily="2" charset="-122"/>
              <a:ea typeface="华文楷体" panose="02010600040101010101" pitchFamily="2" charset="-122"/>
            </a:endParaRPr>
          </a:p>
          <a:p>
            <a:pPr lvl="0" indent="0">
              <a:lnSpc>
                <a:spcPct val="120000"/>
              </a:lnSpc>
            </a:pPr>
            <a:r>
              <a:rPr lang="en-US" altLang="x-none" sz="2200" dirty="0">
                <a:latin typeface="华文楷体" panose="02010600040101010101" pitchFamily="2" charset="-122"/>
                <a:ea typeface="华文楷体" panose="02010600040101010101" pitchFamily="2" charset="-122"/>
              </a:rPr>
              <a:t>    </a:t>
            </a:r>
            <a:r>
              <a:rPr lang="zh-CN" altLang="en-US" sz="2200" dirty="0">
                <a:latin typeface="华文楷体" panose="02010600040101010101" pitchFamily="2" charset="-122"/>
                <a:ea typeface="华文楷体" panose="02010600040101010101" pitchFamily="2" charset="-122"/>
              </a:rPr>
              <a:t>对数据库的影响应是持久的，即使在事务导致的变化写盘之前，</a:t>
            </a:r>
            <a:endParaRPr lang="en-US" altLang="x-none" sz="2200" dirty="0">
              <a:latin typeface="华文楷体" panose="02010600040101010101" pitchFamily="2" charset="-122"/>
              <a:ea typeface="华文楷体" panose="02010600040101010101" pitchFamily="2" charset="-122"/>
            </a:endParaRPr>
          </a:p>
          <a:p>
            <a:pPr lvl="0" indent="0">
              <a:lnSpc>
                <a:spcPct val="120000"/>
              </a:lnSpc>
            </a:pPr>
            <a:r>
              <a:rPr lang="en-US" altLang="x-none" sz="2200" dirty="0">
                <a:latin typeface="华文楷体" panose="02010600040101010101" pitchFamily="2" charset="-122"/>
                <a:ea typeface="华文楷体" panose="02010600040101010101" pitchFamily="2" charset="-122"/>
              </a:rPr>
              <a:t>    </a:t>
            </a:r>
            <a:r>
              <a:rPr lang="zh-CN" altLang="en-US" sz="2200" dirty="0">
                <a:latin typeface="华文楷体" panose="02010600040101010101" pitchFamily="2" charset="-122"/>
                <a:ea typeface="华文楷体" panose="02010600040101010101" pitchFamily="2" charset="-122"/>
              </a:rPr>
              <a:t>系统崩溃了仍应如此。该特性和第一个特性由故障恢复通过日</a:t>
            </a:r>
            <a:endParaRPr lang="en-US" altLang="x-none" sz="2200" dirty="0">
              <a:latin typeface="华文楷体" panose="02010600040101010101" pitchFamily="2" charset="-122"/>
              <a:ea typeface="华文楷体" panose="02010600040101010101" pitchFamily="2" charset="-122"/>
            </a:endParaRPr>
          </a:p>
          <a:p>
            <a:pPr lvl="0" indent="0">
              <a:lnSpc>
                <a:spcPct val="120000"/>
              </a:lnSpc>
            </a:pPr>
            <a:r>
              <a:rPr lang="en-US" altLang="x-none" sz="2200" dirty="0">
                <a:latin typeface="华文楷体" panose="02010600040101010101" pitchFamily="2" charset="-122"/>
                <a:ea typeface="华文楷体" panose="02010600040101010101" pitchFamily="2" charset="-122"/>
              </a:rPr>
              <a:t>    </a:t>
            </a:r>
            <a:r>
              <a:rPr lang="zh-CN" altLang="en-US" sz="2200" dirty="0">
                <a:latin typeface="华文楷体" panose="02010600040101010101" pitchFamily="2" charset="-122"/>
                <a:ea typeface="华文楷体" panose="02010600040101010101" pitchFamily="2" charset="-122"/>
              </a:rPr>
              <a:t>志负责。</a:t>
            </a:r>
            <a:endParaRPr lang="zh-CN" altLang="en-US" sz="2200" dirty="0">
              <a:latin typeface="华文楷体" panose="02010600040101010101" pitchFamily="2" charset="-122"/>
              <a:ea typeface="华文楷体" panose="02010600040101010101" pitchFamily="2" charset="-122"/>
            </a:endParaRPr>
          </a:p>
        </p:txBody>
      </p:sp>
      <p:sp>
        <p:nvSpPr>
          <p:cNvPr id="56323"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四、数据库的故障恢复技术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56324" name="Rectangle 7"/>
          <p:cNvSpPr/>
          <p:nvPr/>
        </p:nvSpPr>
        <p:spPr>
          <a:xfrm>
            <a:off x="501650" y="7810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1</a:t>
            </a:r>
            <a:r>
              <a:rPr lang="zh-CN" altLang="en-US" sz="2800" dirty="0">
                <a:solidFill>
                  <a:srgbClr val="FF0000"/>
                </a:solidFill>
                <a:latin typeface="黑体" panose="02010609060101010101" pitchFamily="1" charset="-122"/>
                <a:ea typeface="黑体" panose="02010609060101010101" pitchFamily="1" charset="-122"/>
              </a:rPr>
              <a:t>、事务管理概况</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56325" name="Rectangle 7"/>
          <p:cNvSpPr/>
          <p:nvPr/>
        </p:nvSpPr>
        <p:spPr>
          <a:xfrm>
            <a:off x="414338" y="1266825"/>
            <a:ext cx="6261100" cy="609600"/>
          </a:xfrm>
          <a:prstGeom prst="rect">
            <a:avLst/>
          </a:prstGeom>
          <a:noFill/>
          <a:ln w="9525">
            <a:noFill/>
          </a:ln>
        </p:spPr>
        <p:txBody>
          <a:bodyPr wrap="none" anchor="ctr"/>
          <a:lstStyle/>
          <a:p>
            <a:pPr lvl="0" indent="0" algn="just">
              <a:spcBef>
                <a:spcPct val="20000"/>
              </a:spcBef>
              <a:buClr>
                <a:schemeClr val="folHlink"/>
              </a:buClr>
              <a:buSzPct val="75000"/>
            </a:pPr>
            <a:r>
              <a:rPr lang="zh-CN" altLang="en-US" sz="2600" dirty="0">
                <a:solidFill>
                  <a:srgbClr val="0033CC"/>
                </a:solidFill>
                <a:latin typeface="黑体" panose="02010609060101010101" pitchFamily="1" charset="-122"/>
                <a:ea typeface="黑体" panose="02010609060101010101" pitchFamily="1" charset="-122"/>
              </a:rPr>
              <a:t>（</a:t>
            </a:r>
            <a:r>
              <a:rPr lang="en-US" altLang="x-none" sz="2600" dirty="0">
                <a:solidFill>
                  <a:srgbClr val="0033CC"/>
                </a:solidFill>
                <a:latin typeface="黑体" panose="02010609060101010101" pitchFamily="1" charset="-122"/>
                <a:ea typeface="黑体" panose="02010609060101010101" pitchFamily="1" charset="-122"/>
              </a:rPr>
              <a:t>5</a:t>
            </a:r>
            <a:r>
              <a:rPr lang="zh-CN" altLang="en-US" sz="2600" dirty="0">
                <a:solidFill>
                  <a:srgbClr val="0033CC"/>
                </a:solidFill>
                <a:latin typeface="黑体" panose="02010609060101010101" pitchFamily="1" charset="-122"/>
                <a:ea typeface="黑体" panose="02010609060101010101" pitchFamily="1" charset="-122"/>
              </a:rPr>
              <a:t>）事务的</a:t>
            </a:r>
            <a:r>
              <a:rPr lang="en-US" altLang="x-none" sz="2600" dirty="0">
                <a:solidFill>
                  <a:srgbClr val="0033CC"/>
                </a:solidFill>
                <a:latin typeface="黑体" panose="02010609060101010101" pitchFamily="1" charset="-122"/>
                <a:ea typeface="黑体" panose="02010609060101010101" pitchFamily="1" charset="-122"/>
              </a:rPr>
              <a:t>ACID</a:t>
            </a:r>
            <a:r>
              <a:rPr lang="zh-CN" altLang="en-US" sz="2600" dirty="0">
                <a:solidFill>
                  <a:srgbClr val="0033CC"/>
                </a:solidFill>
                <a:latin typeface="黑体" panose="02010609060101010101" pitchFamily="1" charset="-122"/>
                <a:ea typeface="黑体" panose="02010609060101010101" pitchFamily="1" charset="-122"/>
              </a:rPr>
              <a:t>准则</a:t>
            </a:r>
            <a:endParaRPr lang="zh-CN" altLang="en-US" sz="2600" dirty="0">
              <a:solidFill>
                <a:srgbClr val="0033CC"/>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58370"/>
                                        </p:tgtEl>
                                        <p:attrNameLst>
                                          <p:attrName>style.visibility</p:attrName>
                                        </p:attrNameLst>
                                      </p:cBhvr>
                                      <p:to>
                                        <p:strVal val="visible"/>
                                      </p:to>
                                    </p:set>
                                    <p:animEffect transition="in" filter="barn(outHorizontal)">
                                      <p:cBhvr>
                                        <p:cTn id="7" dur="500"/>
                                        <p:tgtEl>
                                          <p:spTgt spid="5837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58371"/>
                                        </p:tgtEl>
                                        <p:attrNameLst>
                                          <p:attrName>style.visibility</p:attrName>
                                        </p:attrNameLst>
                                      </p:cBhvr>
                                      <p:to>
                                        <p:strVal val="visible"/>
                                      </p:to>
                                    </p:set>
                                    <p:animEffect transition="in" filter="barn(outHorizontal)">
                                      <p:cBhvr>
                                        <p:cTn id="12" dur="500"/>
                                        <p:tgtEl>
                                          <p:spTgt spid="583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0" grpId="0" animBg="1"/>
      <p:bldP spid="58371"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4"/>
          <p:cNvSpPr txBox="1"/>
          <p:nvPr/>
        </p:nvSpPr>
        <p:spPr>
          <a:xfrm>
            <a:off x="519113" y="1381125"/>
            <a:ext cx="8316912" cy="4954588"/>
          </a:xfrm>
          <a:prstGeom prst="rect">
            <a:avLst/>
          </a:prstGeom>
          <a:noFill/>
          <a:ln w="9525">
            <a:noFill/>
          </a:ln>
        </p:spPr>
        <p:txBody>
          <a:bodyPr anchor="t">
            <a:spAutoFit/>
          </a:bodyPr>
          <a:lstStyle/>
          <a:p>
            <a:pPr lvl="0" indent="0">
              <a:lnSpc>
                <a:spcPct val="105000"/>
              </a:lnSpc>
              <a:spcBef>
                <a:spcPct val="50000"/>
              </a:spcBef>
            </a:pPr>
            <a:r>
              <a:rPr lang="en-US" altLang="x-none" sz="2400" dirty="0">
                <a:latin typeface="宋体" panose="02010600030101010101" pitchFamily="2" charset="-122"/>
                <a:ea typeface="宋体" panose="02010600030101010101" pitchFamily="2" charset="-122"/>
              </a:rPr>
              <a:t>DBMS</a:t>
            </a:r>
            <a:r>
              <a:rPr lang="zh-CN" altLang="en-US" sz="2400" dirty="0">
                <a:latin typeface="宋体" panose="02010600030101010101" pitchFamily="2" charset="-122"/>
                <a:ea typeface="宋体" panose="02010600030101010101" pitchFamily="2" charset="-122"/>
              </a:rPr>
              <a:t>对事务的控制有两种方法：</a:t>
            </a:r>
            <a:endParaRPr lang="zh-CN" altLang="en-US" sz="2400" dirty="0">
              <a:latin typeface="宋体" panose="02010600030101010101" pitchFamily="2" charset="-122"/>
              <a:ea typeface="宋体" panose="02010600030101010101" pitchFamily="2" charset="-122"/>
            </a:endParaRPr>
          </a:p>
          <a:p>
            <a:pPr lvl="0" indent="0">
              <a:lnSpc>
                <a:spcPct val="105000"/>
              </a:lnSpc>
              <a:spcBef>
                <a:spcPts val="600"/>
              </a:spcBef>
              <a:buFont typeface="Wingdings" panose="05000000000000000000" pitchFamily="2" charset="2"/>
              <a:buChar char="p"/>
            </a:pPr>
            <a:r>
              <a:rPr lang="zh-CN" altLang="en-US" sz="2400" u="sng" dirty="0">
                <a:solidFill>
                  <a:srgbClr val="0033CC"/>
                </a:solidFill>
                <a:latin typeface="宋体" panose="02010600030101010101" pitchFamily="2" charset="-122"/>
                <a:ea typeface="宋体" panose="02010600030101010101" pitchFamily="2" charset="-122"/>
              </a:rPr>
              <a:t>隐式的事务控制：</a:t>
            </a:r>
            <a:r>
              <a:rPr lang="zh-CN" altLang="en-US" sz="2200" dirty="0">
                <a:latin typeface="华文楷体" panose="02010600040101010101" pitchFamily="2" charset="-122"/>
                <a:ea typeface="华文楷体" panose="02010600040101010101" pitchFamily="2" charset="-122"/>
              </a:rPr>
              <a:t>默认情况下，</a:t>
            </a:r>
            <a:r>
              <a:rPr lang="en-US" altLang="x-none" sz="2200" dirty="0">
                <a:latin typeface="华文楷体" panose="02010600040101010101" pitchFamily="2" charset="-122"/>
                <a:ea typeface="华文楷体" panose="02010600040101010101" pitchFamily="2" charset="-122"/>
              </a:rPr>
              <a:t>DBMS</a:t>
            </a:r>
            <a:r>
              <a:rPr lang="zh-CN" altLang="en-US" sz="2200" dirty="0">
                <a:latin typeface="华文楷体" panose="02010600040101010101" pitchFamily="2" charset="-122"/>
                <a:ea typeface="华文楷体" panose="02010600040101010101" pitchFamily="2" charset="-122"/>
              </a:rPr>
              <a:t>一般将一个数据库操作（如一条</a:t>
            </a:r>
            <a:r>
              <a:rPr lang="en-US" altLang="x-none" sz="2200" dirty="0">
                <a:latin typeface="华文楷体" panose="02010600040101010101" pitchFamily="2" charset="-122"/>
                <a:ea typeface="华文楷体" panose="02010600040101010101" pitchFamily="2" charset="-122"/>
              </a:rPr>
              <a:t>SQL</a:t>
            </a:r>
            <a:r>
              <a:rPr lang="zh-CN" altLang="en-US" sz="2200" dirty="0">
                <a:latin typeface="华文楷体" panose="02010600040101010101" pitchFamily="2" charset="-122"/>
                <a:ea typeface="华文楷体" panose="02010600040101010101" pitchFamily="2" charset="-122"/>
              </a:rPr>
              <a:t>语句）当作一个事务来控制执行。</a:t>
            </a:r>
            <a:endParaRPr lang="en-US" altLang="x-none" sz="2200" dirty="0">
              <a:latin typeface="华文楷体" panose="02010600040101010101" pitchFamily="2" charset="-122"/>
              <a:ea typeface="华文楷体" panose="02010600040101010101" pitchFamily="2" charset="-122"/>
            </a:endParaRPr>
          </a:p>
          <a:p>
            <a:pPr lvl="0" indent="0">
              <a:lnSpc>
                <a:spcPct val="105000"/>
              </a:lnSpc>
              <a:spcBef>
                <a:spcPts val="600"/>
              </a:spcBef>
            </a:pPr>
            <a:r>
              <a:rPr lang="en-US" altLang="x-none" sz="2200" dirty="0">
                <a:latin typeface="华文楷体" panose="02010600040101010101" pitchFamily="2" charset="-122"/>
                <a:ea typeface="华文楷体" panose="02010600040101010101" pitchFamily="2" charset="-122"/>
              </a:rPr>
              <a:t>    </a:t>
            </a:r>
            <a:r>
              <a:rPr lang="en-US" altLang="x-none"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事实上，有时一条</a:t>
            </a:r>
            <a:r>
              <a:rPr lang="en-US" altLang="x-none" sz="2400" dirty="0">
                <a:latin typeface="华文楷体" panose="02010600040101010101" pitchFamily="2" charset="-122"/>
                <a:ea typeface="华文楷体" panose="02010600040101010101" pitchFamily="2" charset="-122"/>
              </a:rPr>
              <a:t>SQL</a:t>
            </a:r>
            <a:r>
              <a:rPr lang="zh-CN" altLang="en-US" sz="2400" dirty="0">
                <a:latin typeface="华文楷体" panose="02010600040101010101" pitchFamily="2" charset="-122"/>
                <a:ea typeface="华文楷体" panose="02010600040101010101" pitchFamily="2" charset="-122"/>
              </a:rPr>
              <a:t>语句的工作也有事务特点，例如一</a:t>
            </a:r>
            <a:endParaRPr lang="en-US" altLang="x-none" sz="2400" dirty="0">
              <a:latin typeface="华文楷体" panose="02010600040101010101" pitchFamily="2" charset="-122"/>
              <a:ea typeface="华文楷体" panose="02010600040101010101" pitchFamily="2" charset="-122"/>
            </a:endParaRPr>
          </a:p>
          <a:p>
            <a:pPr lvl="0" indent="0">
              <a:lnSpc>
                <a:spcPct val="105000"/>
              </a:lnSpc>
            </a:pPr>
            <a:r>
              <a:rPr lang="en-US" altLang="x-none"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条删除多行数据的</a:t>
            </a:r>
            <a:r>
              <a:rPr lang="en-US" altLang="x-none" sz="2400" dirty="0">
                <a:latin typeface="华文楷体" panose="02010600040101010101" pitchFamily="2" charset="-122"/>
                <a:ea typeface="华文楷体" panose="02010600040101010101" pitchFamily="2" charset="-122"/>
              </a:rPr>
              <a:t>SQL</a:t>
            </a:r>
            <a:r>
              <a:rPr lang="zh-CN" altLang="en-US" sz="2400" dirty="0">
                <a:latin typeface="华文楷体" panose="02010600040101010101" pitchFamily="2" charset="-122"/>
                <a:ea typeface="华文楷体" panose="02010600040101010101" pitchFamily="2" charset="-122"/>
              </a:rPr>
              <a:t>语句。</a:t>
            </a:r>
            <a:endParaRPr lang="zh-CN" altLang="en-US" sz="2400" dirty="0">
              <a:latin typeface="华文楷体" panose="02010600040101010101" pitchFamily="2" charset="-122"/>
              <a:ea typeface="华文楷体" panose="02010600040101010101" pitchFamily="2" charset="-122"/>
            </a:endParaRPr>
          </a:p>
          <a:p>
            <a:pPr lvl="0" indent="0">
              <a:lnSpc>
                <a:spcPct val="125000"/>
              </a:lnSpc>
              <a:spcBef>
                <a:spcPts val="600"/>
              </a:spcBef>
              <a:buFont typeface="Wingdings" panose="05000000000000000000" pitchFamily="2" charset="2"/>
              <a:buChar char="p"/>
            </a:pPr>
            <a:r>
              <a:rPr lang="zh-CN" altLang="en-US" sz="2400" u="sng" dirty="0">
                <a:solidFill>
                  <a:srgbClr val="0033CC"/>
                </a:solidFill>
                <a:latin typeface="宋体" panose="02010600030101010101" pitchFamily="2" charset="-122"/>
                <a:ea typeface="宋体" panose="02010600030101010101" pitchFamily="2" charset="-122"/>
              </a:rPr>
              <a:t>显式的事务控制：</a:t>
            </a:r>
            <a:r>
              <a:rPr lang="zh-CN" altLang="en-US" sz="2200" dirty="0">
                <a:latin typeface="华文楷体" panose="02010600040101010101" pitchFamily="2" charset="-122"/>
                <a:ea typeface="华文楷体" panose="02010600040101010101" pitchFamily="2" charset="-122"/>
              </a:rPr>
              <a:t>对涉及多步操作的（一般含多条</a:t>
            </a:r>
            <a:r>
              <a:rPr lang="en-US" altLang="x-none" sz="2200" dirty="0">
                <a:latin typeface="华文楷体" panose="02010600040101010101" pitchFamily="2" charset="-122"/>
                <a:ea typeface="华文楷体" panose="02010600040101010101" pitchFamily="2" charset="-122"/>
              </a:rPr>
              <a:t>SQL</a:t>
            </a:r>
            <a:r>
              <a:rPr lang="zh-CN" altLang="en-US" sz="2200" dirty="0">
                <a:latin typeface="华文楷体" panose="02010600040101010101" pitchFamily="2" charset="-122"/>
                <a:ea typeface="华文楷体" panose="02010600040101010101" pitchFamily="2" charset="-122"/>
              </a:rPr>
              <a:t>语句）、</a:t>
            </a:r>
            <a:endParaRPr lang="en-US" altLang="x-none" sz="2200" dirty="0">
              <a:latin typeface="华文楷体" panose="02010600040101010101" pitchFamily="2" charset="-122"/>
              <a:ea typeface="华文楷体" panose="02010600040101010101" pitchFamily="2" charset="-122"/>
            </a:endParaRPr>
          </a:p>
          <a:p>
            <a:pPr lvl="0" indent="0">
              <a:lnSpc>
                <a:spcPct val="105000"/>
              </a:lnSpc>
            </a:pPr>
            <a:r>
              <a:rPr lang="en-US" altLang="x-none" sz="2200" dirty="0">
                <a:latin typeface="华文楷体" panose="02010600040101010101" pitchFamily="2" charset="-122"/>
                <a:ea typeface="华文楷体" panose="02010600040101010101" pitchFamily="2" charset="-122"/>
              </a:rPr>
              <a:t>   </a:t>
            </a:r>
            <a:r>
              <a:rPr lang="zh-CN" altLang="en-US" sz="2200" dirty="0">
                <a:latin typeface="华文楷体" panose="02010600040101010101" pitchFamily="2" charset="-122"/>
                <a:ea typeface="华文楷体" panose="02010600040101010101" pitchFamily="2" charset="-122"/>
              </a:rPr>
              <a:t>有事务特点的工作，则需要人为地、显式地将这些操作“界定”</a:t>
            </a:r>
            <a:endParaRPr lang="en-US" altLang="x-none" sz="2200" dirty="0">
              <a:latin typeface="华文楷体" panose="02010600040101010101" pitchFamily="2" charset="-122"/>
              <a:ea typeface="华文楷体" panose="02010600040101010101" pitchFamily="2" charset="-122"/>
            </a:endParaRPr>
          </a:p>
          <a:p>
            <a:pPr lvl="0" indent="0">
              <a:lnSpc>
                <a:spcPct val="105000"/>
              </a:lnSpc>
            </a:pPr>
            <a:r>
              <a:rPr lang="en-US" altLang="x-none" sz="2200" dirty="0">
                <a:latin typeface="华文楷体" panose="02010600040101010101" pitchFamily="2" charset="-122"/>
                <a:ea typeface="华文楷体" panose="02010600040101010101" pitchFamily="2" charset="-122"/>
              </a:rPr>
              <a:t>   </a:t>
            </a:r>
            <a:r>
              <a:rPr lang="zh-CN" altLang="en-US" sz="2200" dirty="0">
                <a:latin typeface="华文楷体" panose="02010600040101010101" pitchFamily="2" charset="-122"/>
                <a:ea typeface="华文楷体" panose="02010600040101010101" pitchFamily="2" charset="-122"/>
              </a:rPr>
              <a:t>组合成一个事务交给</a:t>
            </a:r>
            <a:r>
              <a:rPr lang="en-US" altLang="x-none" sz="2200" dirty="0">
                <a:latin typeface="华文楷体" panose="02010600040101010101" pitchFamily="2" charset="-122"/>
                <a:ea typeface="华文楷体" panose="02010600040101010101" pitchFamily="2" charset="-122"/>
              </a:rPr>
              <a:t>DBMS</a:t>
            </a:r>
            <a:r>
              <a:rPr lang="zh-CN" altLang="en-US" sz="2200" dirty="0">
                <a:latin typeface="华文楷体" panose="02010600040101010101" pitchFamily="2" charset="-122"/>
                <a:ea typeface="华文楷体" panose="02010600040101010101" pitchFamily="2" charset="-122"/>
              </a:rPr>
              <a:t>控制执行。 </a:t>
            </a:r>
            <a:endParaRPr lang="zh-CN" altLang="en-US" sz="2200" dirty="0">
              <a:latin typeface="华文楷体" panose="02010600040101010101" pitchFamily="2" charset="-122"/>
              <a:ea typeface="华文楷体" panose="02010600040101010101" pitchFamily="2" charset="-122"/>
            </a:endParaRPr>
          </a:p>
          <a:p>
            <a:pPr lvl="0" indent="0">
              <a:lnSpc>
                <a:spcPct val="105000"/>
              </a:lnSpc>
              <a:buFont typeface="Wingdings" panose="05000000000000000000" pitchFamily="2" charset="2"/>
              <a:buChar char="Ø"/>
            </a:pPr>
            <a:r>
              <a:rPr lang="en-US" altLang="x-none" sz="2400" dirty="0">
                <a:solidFill>
                  <a:srgbClr val="FF0000"/>
                </a:solidFill>
                <a:latin typeface="华文楷体" panose="02010600040101010101" pitchFamily="2" charset="-122"/>
                <a:ea typeface="华文楷体" panose="02010600040101010101" pitchFamily="2" charset="-122"/>
              </a:rPr>
              <a:t>SQL SERVER</a:t>
            </a:r>
            <a:r>
              <a:rPr lang="zh-CN" altLang="en-US" sz="2400" dirty="0">
                <a:solidFill>
                  <a:srgbClr val="FF0000"/>
                </a:solidFill>
                <a:latin typeface="华文楷体" panose="02010600040101010101" pitchFamily="2" charset="-122"/>
                <a:ea typeface="华文楷体" panose="02010600040101010101" pitchFamily="2" charset="-122"/>
              </a:rPr>
              <a:t>提供的界定事务的常用语句： </a:t>
            </a:r>
            <a:endParaRPr lang="zh-CN" altLang="en-US" sz="2400" dirty="0">
              <a:solidFill>
                <a:srgbClr val="FF0000"/>
              </a:solidFill>
              <a:latin typeface="华文楷体" panose="02010600040101010101" pitchFamily="2" charset="-122"/>
              <a:ea typeface="华文楷体" panose="02010600040101010101" pitchFamily="2" charset="-122"/>
            </a:endParaRPr>
          </a:p>
          <a:p>
            <a:pPr lvl="0" indent="0">
              <a:lnSpc>
                <a:spcPct val="105000"/>
              </a:lnSpc>
            </a:pPr>
            <a:r>
              <a:rPr lang="en-US" altLang="x-none" sz="2200" dirty="0">
                <a:solidFill>
                  <a:srgbClr val="1E3A2B"/>
                </a:solidFill>
                <a:latin typeface="华文楷体" panose="02010600040101010101" pitchFamily="2" charset="-122"/>
                <a:ea typeface="华文楷体" panose="02010600040101010101" pitchFamily="2" charset="-122"/>
              </a:rPr>
              <a:t>BEGIN { TRANSACTION | TRAN | WORK } [</a:t>
            </a:r>
            <a:r>
              <a:rPr lang="zh-CN" altLang="en-US" sz="2200" dirty="0">
                <a:solidFill>
                  <a:srgbClr val="1E3A2B"/>
                </a:solidFill>
                <a:latin typeface="华文楷体" panose="02010600040101010101" pitchFamily="2" charset="-122"/>
                <a:ea typeface="华文楷体" panose="02010600040101010101" pitchFamily="2" charset="-122"/>
              </a:rPr>
              <a:t>事务名</a:t>
            </a:r>
            <a:r>
              <a:rPr lang="en-US" altLang="x-none" sz="2200" dirty="0">
                <a:solidFill>
                  <a:srgbClr val="1E3A2B"/>
                </a:solidFill>
                <a:latin typeface="华文楷体" panose="02010600040101010101" pitchFamily="2" charset="-122"/>
                <a:ea typeface="华文楷体" panose="02010600040101010101" pitchFamily="2" charset="-122"/>
              </a:rPr>
              <a:t>] </a:t>
            </a:r>
            <a:endParaRPr lang="en-US" altLang="x-none" sz="2200" dirty="0">
              <a:solidFill>
                <a:srgbClr val="1E3A2B"/>
              </a:solidFill>
              <a:latin typeface="华文楷体" panose="02010600040101010101" pitchFamily="2" charset="-122"/>
              <a:ea typeface="华文楷体" panose="02010600040101010101" pitchFamily="2" charset="-122"/>
            </a:endParaRPr>
          </a:p>
          <a:p>
            <a:pPr lvl="0" indent="0">
              <a:lnSpc>
                <a:spcPct val="105000"/>
              </a:lnSpc>
            </a:pPr>
            <a:r>
              <a:rPr lang="en-US" altLang="x-none" sz="2200" dirty="0">
                <a:solidFill>
                  <a:srgbClr val="1E3A2B"/>
                </a:solidFill>
                <a:latin typeface="华文楷体" panose="02010600040101010101" pitchFamily="2" charset="-122"/>
                <a:ea typeface="华文楷体" panose="02010600040101010101" pitchFamily="2" charset="-122"/>
              </a:rPr>
              <a:t>ROLLBACK { TRANSACTION | TRAN | WORK } [ </a:t>
            </a:r>
            <a:r>
              <a:rPr lang="zh-CN" altLang="en-US" sz="2200" dirty="0">
                <a:solidFill>
                  <a:srgbClr val="1E3A2B"/>
                </a:solidFill>
                <a:latin typeface="华文楷体" panose="02010600040101010101" pitchFamily="2" charset="-122"/>
                <a:ea typeface="华文楷体" panose="02010600040101010101" pitchFamily="2" charset="-122"/>
              </a:rPr>
              <a:t>事务名</a:t>
            </a:r>
            <a:r>
              <a:rPr lang="en-US" altLang="x-none" sz="2200" dirty="0">
                <a:solidFill>
                  <a:srgbClr val="1E3A2B"/>
                </a:solidFill>
                <a:latin typeface="华文楷体" panose="02010600040101010101" pitchFamily="2" charset="-122"/>
                <a:ea typeface="华文楷体" panose="02010600040101010101" pitchFamily="2" charset="-122"/>
              </a:rPr>
              <a:t>]</a:t>
            </a:r>
            <a:endParaRPr lang="en-US" altLang="x-none" sz="2200" dirty="0">
              <a:solidFill>
                <a:srgbClr val="1E3A2B"/>
              </a:solidFill>
              <a:latin typeface="华文楷体" panose="02010600040101010101" pitchFamily="2" charset="-122"/>
              <a:ea typeface="华文楷体" panose="02010600040101010101" pitchFamily="2" charset="-122"/>
            </a:endParaRPr>
          </a:p>
          <a:p>
            <a:pPr lvl="0" indent="0">
              <a:lnSpc>
                <a:spcPct val="105000"/>
              </a:lnSpc>
            </a:pPr>
            <a:r>
              <a:rPr lang="en-US" altLang="x-none" sz="2200" dirty="0">
                <a:solidFill>
                  <a:srgbClr val="1E3A2B"/>
                </a:solidFill>
                <a:latin typeface="华文楷体" panose="02010600040101010101" pitchFamily="2" charset="-122"/>
                <a:ea typeface="华文楷体" panose="02010600040101010101" pitchFamily="2" charset="-122"/>
              </a:rPr>
              <a:t>COMMIT { TRANSACTION | TRAN | WORK } [</a:t>
            </a:r>
            <a:r>
              <a:rPr lang="zh-CN" altLang="en-US" sz="2200" dirty="0">
                <a:solidFill>
                  <a:srgbClr val="1E3A2B"/>
                </a:solidFill>
                <a:latin typeface="华文楷体" panose="02010600040101010101" pitchFamily="2" charset="-122"/>
                <a:ea typeface="华文楷体" panose="02010600040101010101" pitchFamily="2" charset="-122"/>
              </a:rPr>
              <a:t>事务名</a:t>
            </a:r>
            <a:r>
              <a:rPr lang="en-US" altLang="x-none" sz="2200" dirty="0">
                <a:solidFill>
                  <a:srgbClr val="1E3A2B"/>
                </a:solidFill>
                <a:latin typeface="华文楷体" panose="02010600040101010101" pitchFamily="2" charset="-122"/>
                <a:ea typeface="华文楷体" panose="02010600040101010101" pitchFamily="2" charset="-122"/>
              </a:rPr>
              <a:t>] </a:t>
            </a:r>
            <a:endParaRPr lang="en-US" altLang="x-none" sz="2200" dirty="0">
              <a:solidFill>
                <a:srgbClr val="1E3A2B"/>
              </a:solidFill>
              <a:latin typeface="华文楷体" panose="02010600040101010101" pitchFamily="2" charset="-122"/>
              <a:ea typeface="华文楷体" panose="02010600040101010101" pitchFamily="2" charset="-122"/>
            </a:endParaRPr>
          </a:p>
        </p:txBody>
      </p:sp>
      <p:sp>
        <p:nvSpPr>
          <p:cNvPr id="57346"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四、数据库的故障恢复技术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57347" name="Rectangle 7"/>
          <p:cNvSpPr/>
          <p:nvPr/>
        </p:nvSpPr>
        <p:spPr>
          <a:xfrm>
            <a:off x="501650" y="7810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1</a:t>
            </a:r>
            <a:r>
              <a:rPr lang="zh-CN" altLang="en-US" sz="2800" dirty="0">
                <a:solidFill>
                  <a:srgbClr val="FF0000"/>
                </a:solidFill>
                <a:latin typeface="黑体" panose="02010609060101010101" pitchFamily="1" charset="-122"/>
                <a:ea typeface="黑体" panose="02010609060101010101" pitchFamily="1" charset="-122"/>
              </a:rPr>
              <a:t>、事务管理概况</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57348" name="Rectangle 7"/>
          <p:cNvSpPr/>
          <p:nvPr/>
        </p:nvSpPr>
        <p:spPr>
          <a:xfrm>
            <a:off x="4878388" y="790575"/>
            <a:ext cx="3662362" cy="609600"/>
          </a:xfrm>
          <a:prstGeom prst="rect">
            <a:avLst/>
          </a:prstGeom>
          <a:noFill/>
          <a:ln w="9525">
            <a:noFill/>
          </a:ln>
        </p:spPr>
        <p:txBody>
          <a:bodyPr wrap="none" anchor="ctr"/>
          <a:lstStyle/>
          <a:p>
            <a:pPr lvl="0" indent="0" algn="just">
              <a:spcBef>
                <a:spcPct val="20000"/>
              </a:spcBef>
              <a:buClr>
                <a:schemeClr val="folHlink"/>
              </a:buClr>
              <a:buSzPct val="75000"/>
            </a:pPr>
            <a:r>
              <a:rPr lang="zh-CN" altLang="en-US" sz="2600" dirty="0">
                <a:solidFill>
                  <a:srgbClr val="0033CC"/>
                </a:solidFill>
                <a:latin typeface="黑体" panose="02010609060101010101" pitchFamily="1" charset="-122"/>
                <a:ea typeface="黑体" panose="02010609060101010101" pitchFamily="1" charset="-122"/>
              </a:rPr>
              <a:t>（</a:t>
            </a:r>
            <a:r>
              <a:rPr lang="en-US" altLang="x-none" sz="2600" dirty="0">
                <a:solidFill>
                  <a:srgbClr val="0033CC"/>
                </a:solidFill>
                <a:latin typeface="黑体" panose="02010609060101010101" pitchFamily="1" charset="-122"/>
                <a:ea typeface="黑体" panose="02010609060101010101" pitchFamily="1" charset="-122"/>
              </a:rPr>
              <a:t>6</a:t>
            </a:r>
            <a:r>
              <a:rPr lang="zh-CN" altLang="en-US" sz="2600" dirty="0">
                <a:solidFill>
                  <a:srgbClr val="0033CC"/>
                </a:solidFill>
                <a:latin typeface="黑体" panose="02010609060101010101" pitchFamily="1" charset="-122"/>
                <a:ea typeface="黑体" panose="02010609060101010101" pitchFamily="1" charset="-122"/>
              </a:rPr>
              <a:t>）</a:t>
            </a:r>
            <a:r>
              <a:rPr lang="en-US" altLang="x-none" sz="2600" dirty="0">
                <a:solidFill>
                  <a:srgbClr val="0033CC"/>
                </a:solidFill>
                <a:latin typeface="黑体" panose="02010609060101010101" pitchFamily="1" charset="-122"/>
                <a:ea typeface="黑体" panose="02010609060101010101" pitchFamily="1" charset="-122"/>
              </a:rPr>
              <a:t>DBMS</a:t>
            </a:r>
            <a:r>
              <a:rPr lang="zh-CN" altLang="en-US" sz="2600" dirty="0">
                <a:solidFill>
                  <a:srgbClr val="0033CC"/>
                </a:solidFill>
                <a:latin typeface="黑体" panose="02010609060101010101" pitchFamily="1" charset="-122"/>
                <a:ea typeface="黑体" panose="02010609060101010101" pitchFamily="1" charset="-122"/>
              </a:rPr>
              <a:t>中的事务控制</a:t>
            </a:r>
            <a:endParaRPr lang="zh-CN" altLang="en-US" sz="2600" dirty="0">
              <a:solidFill>
                <a:srgbClr val="0033CC"/>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2" fill="hold" grpId="0" nodeType="clickEffect">
                                  <p:stCondLst>
                                    <p:cond delay="0"/>
                                  </p:stCondLst>
                                  <p:childTnLst>
                                    <p:set>
                                      <p:cBhvr>
                                        <p:cTn id="6" dur="1" fill="hold">
                                          <p:stCondLst>
                                            <p:cond delay="0"/>
                                          </p:stCondLst>
                                        </p:cTn>
                                        <p:tgtEl>
                                          <p:spTgt spid="59394"/>
                                        </p:tgtEl>
                                        <p:attrNameLst>
                                          <p:attrName>style.visibility</p:attrName>
                                        </p:attrNameLst>
                                      </p:cBhvr>
                                      <p:to>
                                        <p:strVal val="visible"/>
                                      </p:to>
                                    </p:set>
                                    <p:anim calcmode="lin" valueType="num">
                                      <p:cBhvr>
                                        <p:cTn id="7" dur="500" fill="hold"/>
                                        <p:tgtEl>
                                          <p:spTgt spid="59394"/>
                                        </p:tgtEl>
                                        <p:attrNameLst>
                                          <p:attrName>ppt_x</p:attrName>
                                        </p:attrNameLst>
                                      </p:cBhvr>
                                      <p:tavLst>
                                        <p:tav tm="0">
                                          <p:val>
                                            <p:strVal val="0-#ppt_w/2"/>
                                          </p:val>
                                        </p:tav>
                                        <p:tav tm="100000">
                                          <p:val>
                                            <p:strVal val="#ppt_x"/>
                                          </p:val>
                                        </p:tav>
                                      </p:tavLst>
                                    </p:anim>
                                    <p:anim calcmode="lin" valueType="num">
                                      <p:cBhvr>
                                        <p:cTn id="8" dur="500" fill="hold"/>
                                        <p:tgtEl>
                                          <p:spTgt spid="5939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4"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 Box 3"/>
          <p:cNvSpPr txBox="1"/>
          <p:nvPr/>
        </p:nvSpPr>
        <p:spPr>
          <a:xfrm>
            <a:off x="504825" y="1897063"/>
            <a:ext cx="8208963" cy="4340225"/>
          </a:xfrm>
          <a:prstGeom prst="rect">
            <a:avLst/>
          </a:prstGeom>
          <a:noFill/>
          <a:ln w="9525">
            <a:noFill/>
          </a:ln>
        </p:spPr>
        <p:txBody>
          <a:bodyPr anchor="t">
            <a:spAutoFit/>
          </a:bodyPr>
          <a:lstStyle/>
          <a:p>
            <a:pPr lvl="0" indent="0"/>
            <a:r>
              <a:rPr lang="en-US" altLang="x-none" sz="2300" dirty="0">
                <a:latin typeface="华文楷体" panose="02010600040101010101" pitchFamily="2" charset="-122"/>
                <a:ea typeface="华文楷体" panose="02010600040101010101" pitchFamily="2" charset="-122"/>
              </a:rPr>
              <a:t>BEGIN TRAN  accout_transfer</a:t>
            </a:r>
            <a:endParaRPr lang="en-US" altLang="x-none" sz="2300" dirty="0">
              <a:latin typeface="华文楷体" panose="02010600040101010101" pitchFamily="2" charset="-122"/>
              <a:ea typeface="华文楷体" panose="02010600040101010101" pitchFamily="2" charset="-122"/>
            </a:endParaRPr>
          </a:p>
          <a:p>
            <a:pPr lvl="0" indent="0"/>
            <a:r>
              <a:rPr lang="en-US" altLang="x-none" sz="2300" dirty="0">
                <a:latin typeface="华文楷体" panose="02010600040101010101" pitchFamily="2" charset="-122"/>
                <a:ea typeface="华文楷体" panose="02010600040101010101" pitchFamily="2" charset="-122"/>
              </a:rPr>
              <a:t>     UPDATE  Accounts</a:t>
            </a:r>
            <a:endParaRPr lang="en-US" altLang="x-none" sz="2300" dirty="0">
              <a:latin typeface="华文楷体" panose="02010600040101010101" pitchFamily="2" charset="-122"/>
              <a:ea typeface="华文楷体" panose="02010600040101010101" pitchFamily="2" charset="-122"/>
            </a:endParaRPr>
          </a:p>
          <a:p>
            <a:pPr lvl="0" indent="0"/>
            <a:r>
              <a:rPr lang="en-US" altLang="x-none" sz="2300" dirty="0">
                <a:latin typeface="华文楷体" panose="02010600040101010101" pitchFamily="2" charset="-122"/>
                <a:ea typeface="华文楷体" panose="02010600040101010101" pitchFamily="2" charset="-122"/>
              </a:rPr>
              <a:t>     SET balance = balance – 90</a:t>
            </a:r>
            <a:endParaRPr lang="en-US" altLang="x-none" sz="2300" dirty="0">
              <a:latin typeface="华文楷体" panose="02010600040101010101" pitchFamily="2" charset="-122"/>
              <a:ea typeface="华文楷体" panose="02010600040101010101" pitchFamily="2" charset="-122"/>
            </a:endParaRPr>
          </a:p>
          <a:p>
            <a:pPr lvl="0" indent="0"/>
            <a:r>
              <a:rPr lang="en-US" altLang="x-none" sz="2300" dirty="0">
                <a:latin typeface="华文楷体" panose="02010600040101010101" pitchFamily="2" charset="-122"/>
                <a:ea typeface="华文楷体" panose="02010600040101010101" pitchFamily="2" charset="-122"/>
              </a:rPr>
              <a:t>     WHERE account_id='A'</a:t>
            </a:r>
            <a:endParaRPr lang="en-US" altLang="x-none" sz="2300" dirty="0">
              <a:latin typeface="华文楷体" panose="02010600040101010101" pitchFamily="2" charset="-122"/>
              <a:ea typeface="华文楷体" panose="02010600040101010101" pitchFamily="2" charset="-122"/>
            </a:endParaRPr>
          </a:p>
          <a:p>
            <a:pPr lvl="0" indent="0"/>
            <a:r>
              <a:rPr lang="en-US" altLang="x-none" sz="2300" dirty="0">
                <a:latin typeface="华文楷体" panose="02010600040101010101" pitchFamily="2" charset="-122"/>
                <a:ea typeface="华文楷体" panose="02010600040101010101" pitchFamily="2" charset="-122"/>
              </a:rPr>
              <a:t>     IF @@transtate = 2			/* </a:t>
            </a:r>
            <a:r>
              <a:rPr lang="zh-CN" altLang="en-US" sz="2300" dirty="0">
                <a:latin typeface="华文楷体" panose="02010600040101010101" pitchFamily="2" charset="-122"/>
                <a:ea typeface="华文楷体" panose="02010600040101010101" pitchFamily="2" charset="-122"/>
              </a:rPr>
              <a:t>有错误出现 *</a:t>
            </a:r>
            <a:r>
              <a:rPr lang="en-US" altLang="x-none" sz="2300" dirty="0">
                <a:latin typeface="华文楷体" panose="02010600040101010101" pitchFamily="2" charset="-122"/>
                <a:ea typeface="华文楷体" panose="02010600040101010101" pitchFamily="2" charset="-122"/>
              </a:rPr>
              <a:t>/</a:t>
            </a:r>
            <a:endParaRPr lang="en-US" altLang="x-none" sz="2300" dirty="0">
              <a:latin typeface="华文楷体" panose="02010600040101010101" pitchFamily="2" charset="-122"/>
              <a:ea typeface="华文楷体" panose="02010600040101010101" pitchFamily="2" charset="-122"/>
            </a:endParaRPr>
          </a:p>
          <a:p>
            <a:pPr lvl="0" indent="0"/>
            <a:r>
              <a:rPr lang="en-US" altLang="x-none" sz="2300" dirty="0">
                <a:latin typeface="华文楷体" panose="02010600040101010101" pitchFamily="2" charset="-122"/>
                <a:ea typeface="华文楷体" panose="02010600040101010101" pitchFamily="2" charset="-122"/>
              </a:rPr>
              <a:t>	  ROLLBACK TRAN		           /* </a:t>
            </a:r>
            <a:r>
              <a:rPr lang="zh-CN" altLang="en-US" sz="2300" dirty="0">
                <a:latin typeface="华文楷体" panose="02010600040101010101" pitchFamily="2" charset="-122"/>
                <a:ea typeface="华文楷体" panose="02010600040101010101" pitchFamily="2" charset="-122"/>
              </a:rPr>
              <a:t>回退事务 *</a:t>
            </a:r>
            <a:r>
              <a:rPr lang="en-US" altLang="x-none" sz="2300" dirty="0">
                <a:latin typeface="华文楷体" panose="02010600040101010101" pitchFamily="2" charset="-122"/>
                <a:ea typeface="华文楷体" panose="02010600040101010101" pitchFamily="2" charset="-122"/>
              </a:rPr>
              <a:t>/</a:t>
            </a:r>
            <a:endParaRPr lang="en-US" altLang="x-none" sz="2300" dirty="0">
              <a:latin typeface="华文楷体" panose="02010600040101010101" pitchFamily="2" charset="-122"/>
              <a:ea typeface="华文楷体" panose="02010600040101010101" pitchFamily="2" charset="-122"/>
            </a:endParaRPr>
          </a:p>
          <a:p>
            <a:pPr lvl="0" indent="0"/>
            <a:r>
              <a:rPr lang="en-US" altLang="x-none" sz="2300" dirty="0">
                <a:latin typeface="华文楷体" panose="02010600040101010101" pitchFamily="2" charset="-122"/>
                <a:ea typeface="华文楷体" panose="02010600040101010101" pitchFamily="2" charset="-122"/>
              </a:rPr>
              <a:t>     UPDATE  Accounts</a:t>
            </a:r>
            <a:endParaRPr lang="en-US" altLang="x-none" sz="2300" dirty="0">
              <a:latin typeface="华文楷体" panose="02010600040101010101" pitchFamily="2" charset="-122"/>
              <a:ea typeface="华文楷体" panose="02010600040101010101" pitchFamily="2" charset="-122"/>
            </a:endParaRPr>
          </a:p>
          <a:p>
            <a:pPr lvl="0" indent="0"/>
            <a:r>
              <a:rPr lang="en-US" altLang="x-none" sz="2300" dirty="0">
                <a:latin typeface="华文楷体" panose="02010600040101010101" pitchFamily="2" charset="-122"/>
                <a:ea typeface="华文楷体" panose="02010600040101010101" pitchFamily="2" charset="-122"/>
              </a:rPr>
              <a:t>     SET balance = balance + 90</a:t>
            </a:r>
            <a:endParaRPr lang="en-US" altLang="x-none" sz="2300" dirty="0">
              <a:latin typeface="华文楷体" panose="02010600040101010101" pitchFamily="2" charset="-122"/>
              <a:ea typeface="华文楷体" panose="02010600040101010101" pitchFamily="2" charset="-122"/>
            </a:endParaRPr>
          </a:p>
          <a:p>
            <a:pPr lvl="0" indent="0"/>
            <a:r>
              <a:rPr lang="en-US" altLang="x-none" sz="2300" dirty="0">
                <a:latin typeface="华文楷体" panose="02010600040101010101" pitchFamily="2" charset="-122"/>
                <a:ea typeface="华文楷体" panose="02010600040101010101" pitchFamily="2" charset="-122"/>
              </a:rPr>
              <a:t>     WHERE account_id='B'</a:t>
            </a:r>
            <a:endParaRPr lang="en-US" altLang="x-none" sz="2300" dirty="0">
              <a:latin typeface="华文楷体" panose="02010600040101010101" pitchFamily="2" charset="-122"/>
              <a:ea typeface="华文楷体" panose="02010600040101010101" pitchFamily="2" charset="-122"/>
            </a:endParaRPr>
          </a:p>
          <a:p>
            <a:pPr lvl="0" indent="0"/>
            <a:r>
              <a:rPr lang="en-US" altLang="x-none" sz="2300" dirty="0">
                <a:latin typeface="华文楷体" panose="02010600040101010101" pitchFamily="2" charset="-122"/>
                <a:ea typeface="华文楷体" panose="02010600040101010101" pitchFamily="2" charset="-122"/>
              </a:rPr>
              <a:t>     IF @@transtate = 2			/* </a:t>
            </a:r>
            <a:r>
              <a:rPr lang="zh-CN" altLang="en-US" sz="2300" dirty="0">
                <a:latin typeface="华文楷体" panose="02010600040101010101" pitchFamily="2" charset="-122"/>
                <a:ea typeface="华文楷体" panose="02010600040101010101" pitchFamily="2" charset="-122"/>
              </a:rPr>
              <a:t>有错误出现 *</a:t>
            </a:r>
            <a:r>
              <a:rPr lang="en-US" altLang="x-none" sz="2300" dirty="0">
                <a:latin typeface="华文楷体" panose="02010600040101010101" pitchFamily="2" charset="-122"/>
                <a:ea typeface="华文楷体" panose="02010600040101010101" pitchFamily="2" charset="-122"/>
              </a:rPr>
              <a:t>/</a:t>
            </a:r>
            <a:endParaRPr lang="en-US" altLang="x-none" sz="2300" dirty="0">
              <a:latin typeface="华文楷体" panose="02010600040101010101" pitchFamily="2" charset="-122"/>
              <a:ea typeface="华文楷体" panose="02010600040101010101" pitchFamily="2" charset="-122"/>
            </a:endParaRPr>
          </a:p>
          <a:p>
            <a:pPr lvl="0" indent="0"/>
            <a:r>
              <a:rPr lang="en-US" altLang="x-none" sz="2300" dirty="0">
                <a:latin typeface="华文楷体" panose="02010600040101010101" pitchFamily="2" charset="-122"/>
                <a:ea typeface="华文楷体" panose="02010600040101010101" pitchFamily="2" charset="-122"/>
              </a:rPr>
              <a:t>	  ROLLBACK TRAN</a:t>
            </a:r>
            <a:endParaRPr lang="en-US" altLang="x-none" sz="2300" dirty="0">
              <a:latin typeface="华文楷体" panose="02010600040101010101" pitchFamily="2" charset="-122"/>
              <a:ea typeface="华文楷体" panose="02010600040101010101" pitchFamily="2" charset="-122"/>
            </a:endParaRPr>
          </a:p>
          <a:p>
            <a:pPr lvl="0" indent="0"/>
            <a:r>
              <a:rPr lang="en-US" altLang="x-none" sz="2300" dirty="0">
                <a:latin typeface="华文楷体" panose="02010600040101010101" pitchFamily="2" charset="-122"/>
                <a:ea typeface="华文楷体" panose="02010600040101010101" pitchFamily="2" charset="-122"/>
              </a:rPr>
              <a:t>     ELSE  COMMIT TRAN	           /* </a:t>
            </a:r>
            <a:r>
              <a:rPr lang="zh-CN" altLang="en-US" sz="2300" dirty="0">
                <a:latin typeface="华文楷体" panose="02010600040101010101" pitchFamily="2" charset="-122"/>
                <a:ea typeface="华文楷体" panose="02010600040101010101" pitchFamily="2" charset="-122"/>
              </a:rPr>
              <a:t>提交事务 *</a:t>
            </a:r>
            <a:r>
              <a:rPr lang="en-US" altLang="x-none" sz="2300" dirty="0">
                <a:latin typeface="华文楷体" panose="02010600040101010101" pitchFamily="2" charset="-122"/>
                <a:ea typeface="华文楷体" panose="02010600040101010101" pitchFamily="2" charset="-122"/>
              </a:rPr>
              <a:t>/ </a:t>
            </a:r>
            <a:endParaRPr lang="en-US" altLang="x-none" sz="2300" dirty="0">
              <a:latin typeface="华文楷体" panose="02010600040101010101" pitchFamily="2" charset="-122"/>
              <a:ea typeface="华文楷体" panose="02010600040101010101" pitchFamily="2" charset="-122"/>
            </a:endParaRPr>
          </a:p>
        </p:txBody>
      </p:sp>
      <p:sp>
        <p:nvSpPr>
          <p:cNvPr id="60419" name="Text Box 2"/>
          <p:cNvSpPr txBox="1"/>
          <p:nvPr/>
        </p:nvSpPr>
        <p:spPr>
          <a:xfrm>
            <a:off x="528638" y="1365250"/>
            <a:ext cx="7921625" cy="523875"/>
          </a:xfrm>
          <a:prstGeom prst="rect">
            <a:avLst/>
          </a:prstGeom>
          <a:noFill/>
          <a:ln w="9525">
            <a:noFill/>
          </a:ln>
        </p:spPr>
        <p:txBody>
          <a:bodyPr anchor="t">
            <a:spAutoFit/>
          </a:bodyPr>
          <a:lstStyle/>
          <a:p>
            <a:pPr lvl="0" indent="0">
              <a:buFont typeface="Wingdings" panose="05000000000000000000" pitchFamily="2" charset="2"/>
              <a:buChar char="p"/>
            </a:pPr>
            <a:r>
              <a:rPr lang="zh-CN" altLang="en-US" sz="2800" dirty="0">
                <a:solidFill>
                  <a:srgbClr val="FF0000"/>
                </a:solidFill>
                <a:latin typeface="黑体" panose="02010609060101010101" pitchFamily="1" charset="-122"/>
                <a:ea typeface="黑体" panose="02010609060101010101" pitchFamily="1" charset="-122"/>
              </a:rPr>
              <a:t> 事务控制语句使用示例 </a:t>
            </a:r>
            <a:endParaRPr lang="zh-CN" altLang="en-US" sz="2800" dirty="0">
              <a:solidFill>
                <a:srgbClr val="FF0000"/>
              </a:solidFill>
              <a:latin typeface="黑体" panose="02010609060101010101" pitchFamily="1" charset="-122"/>
              <a:ea typeface="黑体" panose="02010609060101010101" pitchFamily="1" charset="-122"/>
            </a:endParaRPr>
          </a:p>
        </p:txBody>
      </p:sp>
      <p:sp>
        <p:nvSpPr>
          <p:cNvPr id="58371" name="Rectangle 7"/>
          <p:cNvSpPr/>
          <p:nvPr/>
        </p:nvSpPr>
        <p:spPr>
          <a:xfrm>
            <a:off x="501650" y="7810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1</a:t>
            </a:r>
            <a:r>
              <a:rPr lang="zh-CN" altLang="en-US" sz="2800" dirty="0">
                <a:solidFill>
                  <a:srgbClr val="FF0000"/>
                </a:solidFill>
                <a:latin typeface="黑体" panose="02010609060101010101" pitchFamily="1" charset="-122"/>
                <a:ea typeface="黑体" panose="02010609060101010101" pitchFamily="1" charset="-122"/>
              </a:rPr>
              <a:t>、事务管理概况</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58372" name="Rectangle 7"/>
          <p:cNvSpPr/>
          <p:nvPr/>
        </p:nvSpPr>
        <p:spPr>
          <a:xfrm>
            <a:off x="4878388" y="790575"/>
            <a:ext cx="3662362" cy="609600"/>
          </a:xfrm>
          <a:prstGeom prst="rect">
            <a:avLst/>
          </a:prstGeom>
          <a:noFill/>
          <a:ln w="9525">
            <a:noFill/>
          </a:ln>
        </p:spPr>
        <p:txBody>
          <a:bodyPr wrap="none" anchor="ctr"/>
          <a:lstStyle/>
          <a:p>
            <a:pPr lvl="0" indent="0" algn="just">
              <a:spcBef>
                <a:spcPct val="20000"/>
              </a:spcBef>
              <a:buClr>
                <a:schemeClr val="folHlink"/>
              </a:buClr>
              <a:buSzPct val="75000"/>
            </a:pPr>
            <a:r>
              <a:rPr lang="zh-CN" altLang="en-US" sz="2600" dirty="0">
                <a:solidFill>
                  <a:srgbClr val="0033CC"/>
                </a:solidFill>
                <a:latin typeface="黑体" panose="02010609060101010101" pitchFamily="1" charset="-122"/>
                <a:ea typeface="黑体" panose="02010609060101010101" pitchFamily="1" charset="-122"/>
              </a:rPr>
              <a:t>（</a:t>
            </a:r>
            <a:r>
              <a:rPr lang="en-US" altLang="x-none" sz="2600" dirty="0">
                <a:solidFill>
                  <a:srgbClr val="0033CC"/>
                </a:solidFill>
                <a:latin typeface="黑体" panose="02010609060101010101" pitchFamily="1" charset="-122"/>
                <a:ea typeface="黑体" panose="02010609060101010101" pitchFamily="1" charset="-122"/>
              </a:rPr>
              <a:t>6</a:t>
            </a:r>
            <a:r>
              <a:rPr lang="zh-CN" altLang="en-US" sz="2600" dirty="0">
                <a:solidFill>
                  <a:srgbClr val="0033CC"/>
                </a:solidFill>
                <a:latin typeface="黑体" panose="02010609060101010101" pitchFamily="1" charset="-122"/>
                <a:ea typeface="黑体" panose="02010609060101010101" pitchFamily="1" charset="-122"/>
              </a:rPr>
              <a:t>）</a:t>
            </a:r>
            <a:r>
              <a:rPr lang="en-US" altLang="x-none" sz="2600" dirty="0">
                <a:solidFill>
                  <a:srgbClr val="0033CC"/>
                </a:solidFill>
                <a:latin typeface="黑体" panose="02010609060101010101" pitchFamily="1" charset="-122"/>
                <a:ea typeface="黑体" panose="02010609060101010101" pitchFamily="1" charset="-122"/>
              </a:rPr>
              <a:t>DBMS</a:t>
            </a:r>
            <a:r>
              <a:rPr lang="zh-CN" altLang="en-US" sz="2600" dirty="0">
                <a:solidFill>
                  <a:srgbClr val="0033CC"/>
                </a:solidFill>
                <a:latin typeface="黑体" panose="02010609060101010101" pitchFamily="1" charset="-122"/>
                <a:ea typeface="黑体" panose="02010609060101010101" pitchFamily="1" charset="-122"/>
              </a:rPr>
              <a:t>中的事务控制</a:t>
            </a:r>
            <a:endParaRPr lang="zh-CN" altLang="en-US" sz="2600" dirty="0">
              <a:solidFill>
                <a:srgbClr val="0033CC"/>
              </a:solidFill>
              <a:latin typeface="黑体" panose="02010609060101010101" pitchFamily="1" charset="-122"/>
              <a:ea typeface="黑体" panose="02010609060101010101" pitchFamily="1" charset="-122"/>
            </a:endParaRPr>
          </a:p>
        </p:txBody>
      </p:sp>
      <p:sp>
        <p:nvSpPr>
          <p:cNvPr id="58373"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四、数据库的故障恢复技术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0418"/>
                                        </p:tgtEl>
                                        <p:attrNameLst>
                                          <p:attrName>style.visibility</p:attrName>
                                        </p:attrNameLst>
                                      </p:cBhvr>
                                      <p:to>
                                        <p:strVal val="visible"/>
                                      </p:to>
                                    </p:set>
                                    <p:anim calcmode="lin" valueType="num">
                                      <p:cBhvr>
                                        <p:cTn id="7" dur="500" fill="hold"/>
                                        <p:tgtEl>
                                          <p:spTgt spid="60418"/>
                                        </p:tgtEl>
                                        <p:attrNameLst>
                                          <p:attrName>ppt_x</p:attrName>
                                        </p:attrNameLst>
                                      </p:cBhvr>
                                      <p:tavLst>
                                        <p:tav tm="0">
                                          <p:val>
                                            <p:strVal val="#ppt_x"/>
                                          </p:val>
                                        </p:tav>
                                        <p:tav tm="100000">
                                          <p:val>
                                            <p:strVal val="#ppt_x"/>
                                          </p:val>
                                        </p:tav>
                                      </p:tavLst>
                                    </p:anim>
                                    <p:anim calcmode="lin" valueType="num">
                                      <p:cBhvr>
                                        <p:cTn id="8" dur="500" fill="hold"/>
                                        <p:tgtEl>
                                          <p:spTgt spid="60418"/>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60419"/>
                                        </p:tgtEl>
                                        <p:attrNameLst>
                                          <p:attrName>style.visibility</p:attrName>
                                        </p:attrNameLst>
                                      </p:cBhvr>
                                      <p:to>
                                        <p:strVal val="visible"/>
                                      </p:to>
                                    </p:set>
                                    <p:anim calcmode="lin" valueType="num">
                                      <p:cBhvr>
                                        <p:cTn id="12" dur="500" fill="hold"/>
                                        <p:tgtEl>
                                          <p:spTgt spid="60419"/>
                                        </p:tgtEl>
                                        <p:attrNameLst>
                                          <p:attrName>ppt_x</p:attrName>
                                        </p:attrNameLst>
                                      </p:cBhvr>
                                      <p:tavLst>
                                        <p:tav tm="0">
                                          <p:val>
                                            <p:strVal val="0-#ppt_w/2"/>
                                          </p:val>
                                        </p:tav>
                                        <p:tav tm="100000">
                                          <p:val>
                                            <p:strVal val="#ppt_x"/>
                                          </p:val>
                                        </p:tav>
                                      </p:tavLst>
                                    </p:anim>
                                    <p:anim calcmode="lin" valueType="num">
                                      <p:cBhvr>
                                        <p:cTn id="13" dur="500" fill="hold"/>
                                        <p:tgtEl>
                                          <p:spTgt spid="604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8" grpId="0"/>
      <p:bldP spid="60419"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ext Box 4"/>
          <p:cNvSpPr txBox="1"/>
          <p:nvPr/>
        </p:nvSpPr>
        <p:spPr>
          <a:xfrm>
            <a:off x="493713" y="1838325"/>
            <a:ext cx="8232775" cy="4300538"/>
          </a:xfrm>
          <a:prstGeom prst="rect">
            <a:avLst/>
          </a:prstGeom>
          <a:noFill/>
          <a:ln w="9525">
            <a:noFill/>
          </a:ln>
        </p:spPr>
        <p:txBody>
          <a:bodyPr anchor="t">
            <a:spAutoFit/>
          </a:bodyPr>
          <a:lstStyle/>
          <a:p>
            <a:pPr lvl="0" indent="0">
              <a:lnSpc>
                <a:spcPct val="110000"/>
              </a:lnSpc>
              <a:buFont typeface="Wingdings" panose="05000000000000000000" pitchFamily="2" charset="2"/>
              <a:buChar char="p"/>
            </a:pPr>
            <a:r>
              <a:rPr lang="zh-CN" altLang="en-US" sz="2400" u="sng" dirty="0">
                <a:solidFill>
                  <a:srgbClr val="A50021"/>
                </a:solidFill>
                <a:latin typeface="宋体" panose="02010600030101010101" pitchFamily="2" charset="-122"/>
                <a:ea typeface="宋体" panose="02010600030101010101" pitchFamily="2" charset="-122"/>
              </a:rPr>
              <a:t>引起事务不完全的三个故障原因：</a:t>
            </a:r>
            <a:endParaRPr lang="en-US" altLang="x-none" sz="2400" u="sng" dirty="0">
              <a:solidFill>
                <a:srgbClr val="A50021"/>
              </a:solidFill>
              <a:latin typeface="宋体" panose="02010600030101010101" pitchFamily="2" charset="-122"/>
              <a:ea typeface="宋体" panose="02010600030101010101" pitchFamily="2" charset="-122"/>
            </a:endParaRPr>
          </a:p>
          <a:p>
            <a:pPr lvl="0" indent="0">
              <a:lnSpc>
                <a:spcPct val="110000"/>
              </a:lnSpc>
            </a:pPr>
            <a:r>
              <a:rPr lang="en-US" altLang="x-none" sz="2400" dirty="0">
                <a:solidFill>
                  <a:srgbClr val="A50021"/>
                </a:solidFill>
                <a:latin typeface="宋体" panose="02010600030101010101" pitchFamily="2" charset="-122"/>
                <a:ea typeface="宋体" panose="02010600030101010101" pitchFamily="2" charset="-122"/>
              </a:rPr>
              <a:t>  </a:t>
            </a:r>
            <a:r>
              <a:rPr lang="en-US" altLang="x-none" sz="2200" dirty="0">
                <a:latin typeface="华文楷体" panose="02010600040101010101" pitchFamily="2" charset="-122"/>
                <a:ea typeface="华文楷体" panose="02010600040101010101" pitchFamily="2" charset="-122"/>
              </a:rPr>
              <a:t>--</a:t>
            </a:r>
            <a:r>
              <a:rPr lang="zh-CN" altLang="en-US" sz="2200" dirty="0">
                <a:latin typeface="华文楷体" panose="02010600040101010101" pitchFamily="2" charset="-122"/>
                <a:ea typeface="华文楷体" panose="02010600040101010101" pitchFamily="2" charset="-122"/>
              </a:rPr>
              <a:t>由于出现异常，中途中止或不成功退出；</a:t>
            </a:r>
            <a:endParaRPr lang="en-US" altLang="x-none" sz="2200" dirty="0">
              <a:latin typeface="华文楷体" panose="02010600040101010101" pitchFamily="2" charset="-122"/>
              <a:ea typeface="华文楷体" panose="02010600040101010101" pitchFamily="2" charset="-122"/>
            </a:endParaRPr>
          </a:p>
          <a:p>
            <a:pPr lvl="0" indent="0">
              <a:lnSpc>
                <a:spcPct val="110000"/>
              </a:lnSpc>
            </a:pPr>
            <a:r>
              <a:rPr lang="en-US" altLang="x-none" sz="2200" dirty="0">
                <a:latin typeface="华文楷体" panose="02010600040101010101" pitchFamily="2" charset="-122"/>
                <a:ea typeface="华文楷体" panose="02010600040101010101" pitchFamily="2" charset="-122"/>
              </a:rPr>
              <a:t>    --</a:t>
            </a:r>
            <a:r>
              <a:rPr lang="zh-CN" altLang="en-US" sz="2200" dirty="0">
                <a:latin typeface="华文楷体" panose="02010600040101010101" pitchFamily="2" charset="-122"/>
                <a:ea typeface="华文楷体" panose="02010600040101010101" pitchFamily="2" charset="-122"/>
              </a:rPr>
              <a:t>可能因电源等故障，系统崩溃；</a:t>
            </a:r>
            <a:endParaRPr lang="en-US" altLang="x-none" sz="2200" dirty="0">
              <a:latin typeface="华文楷体" panose="02010600040101010101" pitchFamily="2" charset="-122"/>
              <a:ea typeface="华文楷体" panose="02010600040101010101" pitchFamily="2" charset="-122"/>
            </a:endParaRPr>
          </a:p>
          <a:p>
            <a:pPr lvl="0" indent="0">
              <a:lnSpc>
                <a:spcPct val="110000"/>
              </a:lnSpc>
              <a:spcAft>
                <a:spcPts val="300"/>
              </a:spcAft>
            </a:pPr>
            <a:r>
              <a:rPr lang="en-US" altLang="x-none" sz="2200" dirty="0">
                <a:latin typeface="华文楷体" panose="02010600040101010101" pitchFamily="2" charset="-122"/>
                <a:ea typeface="华文楷体" panose="02010600040101010101" pitchFamily="2" charset="-122"/>
              </a:rPr>
              <a:t>    --</a:t>
            </a:r>
            <a:r>
              <a:rPr lang="zh-CN" altLang="en-US" sz="2200" dirty="0">
                <a:latin typeface="华文楷体" panose="02010600040101010101" pitchFamily="2" charset="-122"/>
                <a:ea typeface="华文楷体" panose="02010600040101010101" pitchFamily="2" charset="-122"/>
              </a:rPr>
              <a:t>遇到如不能访盘等异常状态而中止。</a:t>
            </a:r>
            <a:endParaRPr lang="zh-CN" altLang="en-US" sz="2200" dirty="0">
              <a:latin typeface="华文楷体" panose="02010600040101010101" pitchFamily="2" charset="-122"/>
              <a:ea typeface="华文楷体" panose="02010600040101010101" pitchFamily="2" charset="-122"/>
            </a:endParaRPr>
          </a:p>
          <a:p>
            <a:pPr lvl="0" indent="0">
              <a:lnSpc>
                <a:spcPct val="105000"/>
              </a:lnSpc>
              <a:spcBef>
                <a:spcPts val="300"/>
              </a:spcBef>
              <a:buFont typeface="Wingdings" panose="05000000000000000000" pitchFamily="2" charset="2"/>
              <a:buChar char="p"/>
            </a:pPr>
            <a:r>
              <a:rPr lang="en-US" altLang="x-none" sz="2400" u="sng" dirty="0">
                <a:solidFill>
                  <a:srgbClr val="C00000"/>
                </a:solidFill>
                <a:latin typeface="宋体" panose="02010600030101010101" pitchFamily="2" charset="-122"/>
                <a:ea typeface="宋体" panose="02010600030101010101" pitchFamily="2" charset="-122"/>
              </a:rPr>
              <a:t>ACID</a:t>
            </a:r>
            <a:r>
              <a:rPr lang="zh-CN" altLang="en-US" sz="2400" u="sng" dirty="0">
                <a:solidFill>
                  <a:srgbClr val="C00000"/>
                </a:solidFill>
                <a:latin typeface="宋体" panose="02010600030101010101" pitchFamily="2" charset="-122"/>
                <a:ea typeface="宋体" panose="02010600030101010101" pitchFamily="2" charset="-122"/>
              </a:rPr>
              <a:t>准则不容破坏：</a:t>
            </a:r>
            <a:r>
              <a:rPr lang="zh-CN" altLang="en-US" sz="2400" dirty="0">
                <a:latin typeface="华文楷体" panose="02010600040101010101" pitchFamily="2" charset="-122"/>
                <a:ea typeface="华文楷体" panose="02010600040101010101" pitchFamily="2" charset="-122"/>
              </a:rPr>
              <a:t>不仅在系统正常如此，在系统故障</a:t>
            </a:r>
            <a:endParaRPr lang="en-US" altLang="x-none" sz="2400" dirty="0">
              <a:latin typeface="华文楷体" panose="02010600040101010101" pitchFamily="2" charset="-122"/>
              <a:ea typeface="华文楷体" panose="02010600040101010101" pitchFamily="2" charset="-122"/>
            </a:endParaRPr>
          </a:p>
          <a:p>
            <a:pPr lvl="0" indent="0">
              <a:lnSpc>
                <a:spcPct val="105000"/>
              </a:lnSpc>
              <a:spcBef>
                <a:spcPts val="300"/>
              </a:spcBef>
            </a:pPr>
            <a:r>
              <a:rPr lang="en-US" altLang="x-none"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时也应如此；在单个事务执行时如此，在事务并发执行</a:t>
            </a:r>
            <a:endParaRPr lang="en-US" altLang="x-none" sz="2400" dirty="0">
              <a:latin typeface="华文楷体" panose="02010600040101010101" pitchFamily="2" charset="-122"/>
              <a:ea typeface="华文楷体" panose="02010600040101010101" pitchFamily="2" charset="-122"/>
            </a:endParaRPr>
          </a:p>
          <a:p>
            <a:pPr lvl="0" indent="0">
              <a:lnSpc>
                <a:spcPct val="105000"/>
              </a:lnSpc>
              <a:spcBef>
                <a:spcPts val="300"/>
              </a:spcBef>
            </a:pPr>
            <a:r>
              <a:rPr lang="en-US" altLang="x-none"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时也应如此。</a:t>
            </a:r>
            <a:endParaRPr lang="zh-CN" altLang="en-US" sz="2400" dirty="0">
              <a:latin typeface="华文楷体" panose="02010600040101010101" pitchFamily="2" charset="-122"/>
              <a:ea typeface="华文楷体" panose="02010600040101010101" pitchFamily="2" charset="-122"/>
            </a:endParaRPr>
          </a:p>
          <a:p>
            <a:pPr lvl="0" indent="0">
              <a:lnSpc>
                <a:spcPct val="110000"/>
              </a:lnSpc>
              <a:spcBef>
                <a:spcPts val="300"/>
              </a:spcBef>
              <a:buFont typeface="Wingdings" panose="05000000000000000000" pitchFamily="2" charset="2"/>
              <a:buChar char="Ø"/>
            </a:pPr>
            <a:r>
              <a:rPr lang="zh-CN" altLang="en-US" sz="2200" u="sng" dirty="0">
                <a:solidFill>
                  <a:srgbClr val="A50021"/>
                </a:solidFill>
                <a:latin typeface="宋体" panose="02010600030101010101" pitchFamily="2" charset="-122"/>
                <a:ea typeface="宋体" panose="02010600030101010101" pitchFamily="2" charset="-122"/>
              </a:rPr>
              <a:t>故障恢复：</a:t>
            </a:r>
            <a:r>
              <a:rPr lang="zh-CN" altLang="en-US" sz="2400" dirty="0">
                <a:latin typeface="华文楷体" panose="02010600040101010101" pitchFamily="2" charset="-122"/>
                <a:ea typeface="华文楷体" panose="02010600040101010101" pitchFamily="2" charset="-122"/>
              </a:rPr>
              <a:t>保证事务在故障时满足</a:t>
            </a:r>
            <a:r>
              <a:rPr lang="en-US" altLang="x-none" sz="2400" dirty="0">
                <a:latin typeface="华文楷体" panose="02010600040101010101" pitchFamily="2" charset="-122"/>
                <a:ea typeface="华文楷体" panose="02010600040101010101" pitchFamily="2" charset="-122"/>
              </a:rPr>
              <a:t>ACID </a:t>
            </a:r>
            <a:r>
              <a:rPr lang="zh-CN" altLang="en-US" sz="2400" dirty="0">
                <a:latin typeface="华文楷体" panose="02010600040101010101" pitchFamily="2" charset="-122"/>
                <a:ea typeface="华文楷体" panose="02010600040101010101" pitchFamily="2" charset="-122"/>
              </a:rPr>
              <a:t>准则的技术；</a:t>
            </a:r>
            <a:endParaRPr lang="zh-CN" altLang="en-US" sz="2400" dirty="0">
              <a:latin typeface="华文楷体" panose="02010600040101010101" pitchFamily="2" charset="-122"/>
              <a:ea typeface="华文楷体" panose="02010600040101010101" pitchFamily="2" charset="-122"/>
            </a:endParaRPr>
          </a:p>
          <a:p>
            <a:pPr lvl="0" indent="0">
              <a:lnSpc>
                <a:spcPct val="110000"/>
              </a:lnSpc>
              <a:spcBef>
                <a:spcPts val="300"/>
              </a:spcBef>
              <a:buFont typeface="Wingdings" panose="05000000000000000000" pitchFamily="2" charset="2"/>
              <a:buChar char="Ø"/>
            </a:pPr>
            <a:r>
              <a:rPr lang="zh-CN" altLang="en-US" sz="2200" u="sng" dirty="0">
                <a:solidFill>
                  <a:srgbClr val="A50021"/>
                </a:solidFill>
                <a:latin typeface="宋体" panose="02010600030101010101" pitchFamily="2" charset="-122"/>
                <a:ea typeface="宋体" panose="02010600030101010101" pitchFamily="2" charset="-122"/>
              </a:rPr>
              <a:t>并发控制：</a:t>
            </a:r>
            <a:r>
              <a:rPr lang="zh-CN" altLang="en-US" sz="2400" dirty="0">
                <a:latin typeface="华文楷体" panose="02010600040101010101" pitchFamily="2" charset="-122"/>
                <a:ea typeface="华文楷体" panose="02010600040101010101" pitchFamily="2" charset="-122"/>
              </a:rPr>
              <a:t>保证事务在并发执行时满足</a:t>
            </a:r>
            <a:r>
              <a:rPr lang="en-US" altLang="x-none" sz="2400" dirty="0">
                <a:latin typeface="华文楷体" panose="02010600040101010101" pitchFamily="2" charset="-122"/>
                <a:ea typeface="华文楷体" panose="02010600040101010101" pitchFamily="2" charset="-122"/>
              </a:rPr>
              <a:t>ACID</a:t>
            </a:r>
            <a:r>
              <a:rPr lang="zh-CN" altLang="en-US" sz="2400" dirty="0">
                <a:latin typeface="华文楷体" panose="02010600040101010101" pitchFamily="2" charset="-122"/>
                <a:ea typeface="华文楷体" panose="02010600040101010101" pitchFamily="2" charset="-122"/>
              </a:rPr>
              <a:t>准则的技术；</a:t>
            </a:r>
            <a:endParaRPr lang="zh-CN" altLang="en-US" sz="2400" dirty="0">
              <a:latin typeface="华文楷体" panose="02010600040101010101" pitchFamily="2" charset="-122"/>
              <a:ea typeface="华文楷体" panose="02010600040101010101" pitchFamily="2" charset="-122"/>
            </a:endParaRPr>
          </a:p>
          <a:p>
            <a:pPr lvl="0" indent="0">
              <a:lnSpc>
                <a:spcPct val="110000"/>
              </a:lnSpc>
              <a:spcBef>
                <a:spcPts val="300"/>
              </a:spcBef>
              <a:buFont typeface="Wingdings" panose="05000000000000000000" pitchFamily="2" charset="2"/>
              <a:buChar char="Ø"/>
            </a:pPr>
            <a:r>
              <a:rPr lang="zh-CN" altLang="en-US" sz="2200" u="sng" dirty="0">
                <a:solidFill>
                  <a:srgbClr val="A50021"/>
                </a:solidFill>
                <a:latin typeface="宋体" panose="02010600030101010101" pitchFamily="2" charset="-122"/>
                <a:ea typeface="宋体" panose="02010600030101010101" pitchFamily="2" charset="-122"/>
              </a:rPr>
              <a:t>事务管理：</a:t>
            </a:r>
            <a:r>
              <a:rPr lang="zh-CN" altLang="en-US" sz="2400" dirty="0">
                <a:latin typeface="华文楷体" panose="02010600040101010101" pitchFamily="2" charset="-122"/>
                <a:ea typeface="华文楷体" panose="02010600040101010101" pitchFamily="2" charset="-122"/>
              </a:rPr>
              <a:t>故障恢复和并发控制的合称。</a:t>
            </a:r>
            <a:endParaRPr lang="zh-CN" altLang="en-US" sz="2400" dirty="0">
              <a:latin typeface="华文楷体" panose="02010600040101010101" pitchFamily="2" charset="-122"/>
              <a:ea typeface="华文楷体" panose="02010600040101010101" pitchFamily="2" charset="-122"/>
            </a:endParaRPr>
          </a:p>
        </p:txBody>
      </p:sp>
      <p:sp>
        <p:nvSpPr>
          <p:cNvPr id="59394" name="Rectangle 7"/>
          <p:cNvSpPr/>
          <p:nvPr/>
        </p:nvSpPr>
        <p:spPr>
          <a:xfrm>
            <a:off x="501650" y="771525"/>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1</a:t>
            </a:r>
            <a:r>
              <a:rPr lang="zh-CN" altLang="en-US" sz="2800" dirty="0">
                <a:solidFill>
                  <a:srgbClr val="FF0000"/>
                </a:solidFill>
                <a:latin typeface="黑体" panose="02010609060101010101" pitchFamily="1" charset="-122"/>
                <a:ea typeface="黑体" panose="02010609060101010101" pitchFamily="1" charset="-122"/>
              </a:rPr>
              <a:t>、事务管理概况</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59395" name="Rectangle 7"/>
          <p:cNvSpPr/>
          <p:nvPr/>
        </p:nvSpPr>
        <p:spPr>
          <a:xfrm>
            <a:off x="346075" y="1277938"/>
            <a:ext cx="3662363" cy="609600"/>
          </a:xfrm>
          <a:prstGeom prst="rect">
            <a:avLst/>
          </a:prstGeom>
          <a:noFill/>
          <a:ln w="9525">
            <a:noFill/>
          </a:ln>
        </p:spPr>
        <p:txBody>
          <a:bodyPr wrap="none" anchor="ctr"/>
          <a:lstStyle/>
          <a:p>
            <a:pPr lvl="0" indent="0" algn="just">
              <a:spcBef>
                <a:spcPct val="20000"/>
              </a:spcBef>
              <a:buClr>
                <a:schemeClr val="folHlink"/>
              </a:buClr>
              <a:buSzPct val="75000"/>
            </a:pPr>
            <a:r>
              <a:rPr lang="zh-CN" altLang="en-US" sz="2600" dirty="0">
                <a:solidFill>
                  <a:srgbClr val="0033CC"/>
                </a:solidFill>
                <a:latin typeface="黑体" panose="02010609060101010101" pitchFamily="1" charset="-122"/>
                <a:ea typeface="黑体" panose="02010609060101010101" pitchFamily="1" charset="-122"/>
              </a:rPr>
              <a:t>（</a:t>
            </a:r>
            <a:r>
              <a:rPr lang="en-US" altLang="x-none" sz="2600" dirty="0">
                <a:solidFill>
                  <a:srgbClr val="0033CC"/>
                </a:solidFill>
                <a:latin typeface="黑体" panose="02010609060101010101" pitchFamily="1" charset="-122"/>
                <a:ea typeface="黑体" panose="02010609060101010101" pitchFamily="1" charset="-122"/>
              </a:rPr>
              <a:t>7</a:t>
            </a:r>
            <a:r>
              <a:rPr lang="zh-CN" altLang="en-US" sz="2600" dirty="0">
                <a:solidFill>
                  <a:srgbClr val="0033CC"/>
                </a:solidFill>
                <a:latin typeface="黑体" panose="02010609060101010101" pitchFamily="1" charset="-122"/>
                <a:ea typeface="黑体" panose="02010609060101010101" pitchFamily="1" charset="-122"/>
              </a:rPr>
              <a:t>）事务管理的内容</a:t>
            </a:r>
            <a:endParaRPr lang="zh-CN" altLang="en-US" sz="2600" dirty="0">
              <a:solidFill>
                <a:srgbClr val="0033CC"/>
              </a:solidFill>
              <a:latin typeface="黑体" panose="02010609060101010101" pitchFamily="1" charset="-122"/>
              <a:ea typeface="黑体" panose="02010609060101010101" pitchFamily="1" charset="-122"/>
            </a:endParaRPr>
          </a:p>
        </p:txBody>
      </p:sp>
      <p:sp>
        <p:nvSpPr>
          <p:cNvPr id="59396"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四、数据库的故障恢复技术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1442"/>
                                        </p:tgtEl>
                                        <p:attrNameLst>
                                          <p:attrName>style.visibility</p:attrName>
                                        </p:attrNameLst>
                                      </p:cBhvr>
                                      <p:to>
                                        <p:strVal val="visible"/>
                                      </p:to>
                                    </p:set>
                                    <p:animEffect transition="in" filter="checkerboard(across)">
                                      <p:cBhvr>
                                        <p:cTn id="7" dur="500"/>
                                        <p:tgtEl>
                                          <p:spTgt spid="614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2"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p:cNvSpPr/>
          <p:nvPr/>
        </p:nvSpPr>
        <p:spPr>
          <a:xfrm>
            <a:off x="501650" y="752475"/>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2</a:t>
            </a:r>
            <a:r>
              <a:rPr lang="zh-CN" altLang="en-US" sz="2800" dirty="0">
                <a:solidFill>
                  <a:srgbClr val="FF0000"/>
                </a:solidFill>
                <a:latin typeface="黑体" panose="02010609060101010101" pitchFamily="1" charset="-122"/>
                <a:ea typeface="黑体" panose="02010609060101010101" pitchFamily="1" charset="-122"/>
              </a:rPr>
              <a:t>、故障恢复导论</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60418"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四、数据库的故障恢复技术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62468" name="Text Box 3"/>
          <p:cNvSpPr txBox="1"/>
          <p:nvPr/>
        </p:nvSpPr>
        <p:spPr>
          <a:xfrm>
            <a:off x="577850" y="1800225"/>
            <a:ext cx="8089900" cy="4400550"/>
          </a:xfrm>
          <a:prstGeom prst="rect">
            <a:avLst/>
          </a:prstGeom>
          <a:noFill/>
          <a:ln w="9525">
            <a:noFill/>
          </a:ln>
        </p:spPr>
        <p:txBody>
          <a:bodyPr anchor="t">
            <a:spAutoFit/>
          </a:bodyPr>
          <a:lstStyle/>
          <a:p>
            <a:pPr marL="457200" lvl="0" indent="-457200">
              <a:lnSpc>
                <a:spcPct val="105000"/>
              </a:lnSpc>
              <a:spcBef>
                <a:spcPct val="50000"/>
              </a:spcBef>
              <a:buClr>
                <a:srgbClr val="990033"/>
              </a:buClr>
              <a:buFont typeface="Wingdings" panose="05000000000000000000" pitchFamily="2" charset="2"/>
              <a:buChar char="p"/>
            </a:pPr>
            <a:r>
              <a:rPr lang="en-US" altLang="x-none" sz="2400" dirty="0">
                <a:latin typeface="宋体" panose="02010600030101010101" pitchFamily="2" charset="-122"/>
                <a:ea typeface="宋体" panose="02010600030101010101" pitchFamily="2" charset="-122"/>
              </a:rPr>
              <a:t>DBS</a:t>
            </a:r>
            <a:r>
              <a:rPr lang="zh-CN" altLang="en-US" sz="2400" dirty="0">
                <a:latin typeface="宋体" panose="02010600030101010101" pitchFamily="2" charset="-122"/>
                <a:ea typeface="宋体" panose="02010600030101010101" pitchFamily="2" charset="-122"/>
              </a:rPr>
              <a:t>运行时，各种故障 </a:t>
            </a:r>
            <a:r>
              <a:rPr lang="zh-CN" altLang="en-US" sz="2400" dirty="0">
                <a:latin typeface="宋体" panose="02010600030101010101" pitchFamily="2" charset="-122"/>
                <a:ea typeface="宋体" panose="02010600030101010101" pitchFamily="2" charset="-122"/>
                <a:sym typeface="Wingdings" panose="05000000000000000000" pitchFamily="2" charset="2"/>
              </a:rPr>
              <a:t>→ 数据丢失 → 数据恢复。</a:t>
            </a:r>
            <a:endParaRPr lang="zh-CN" altLang="en-US" sz="2400" dirty="0">
              <a:latin typeface="宋体" panose="02010600030101010101" pitchFamily="2" charset="-122"/>
              <a:ea typeface="宋体" panose="02010600030101010101" pitchFamily="2" charset="-122"/>
              <a:sym typeface="Wingdings" panose="05000000000000000000" pitchFamily="2" charset="2"/>
            </a:endParaRPr>
          </a:p>
          <a:p>
            <a:pPr marL="457200" lvl="0" indent="-457200">
              <a:lnSpc>
                <a:spcPct val="105000"/>
              </a:lnSpc>
              <a:spcBef>
                <a:spcPts val="600"/>
              </a:spcBef>
              <a:buClr>
                <a:srgbClr val="990033"/>
              </a:buClr>
              <a:buFont typeface="Wingdings" panose="05000000000000000000" pitchFamily="2" charset="2"/>
              <a:buChar char="p"/>
            </a:pPr>
            <a:r>
              <a:rPr lang="zh-CN" altLang="en-US" sz="2400" dirty="0">
                <a:latin typeface="宋体" panose="02010600030101010101" pitchFamily="2" charset="-122"/>
                <a:ea typeface="宋体" panose="02010600030101010101" pitchFamily="2" charset="-122"/>
              </a:rPr>
              <a:t>典型的恢复策略：</a:t>
            </a:r>
            <a:endParaRPr lang="zh-CN" altLang="en-US" sz="2400" dirty="0">
              <a:latin typeface="宋体" panose="02010600030101010101" pitchFamily="2" charset="-122"/>
              <a:ea typeface="宋体" panose="02010600030101010101" pitchFamily="2" charset="-122"/>
            </a:endParaRPr>
          </a:p>
          <a:p>
            <a:pPr marL="457200" lvl="0" indent="-457200">
              <a:spcBef>
                <a:spcPts val="300"/>
              </a:spcBef>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日常工作两件事：</a:t>
            </a:r>
            <a:r>
              <a:rPr lang="zh-CN" altLang="en-US" sz="2400" dirty="0">
                <a:solidFill>
                  <a:srgbClr val="A50021"/>
                </a:solidFill>
                <a:latin typeface="宋体" panose="02010600030101010101" pitchFamily="2" charset="-122"/>
                <a:ea typeface="宋体" panose="02010600030101010101" pitchFamily="2" charset="-122"/>
              </a:rPr>
              <a:t>转储和建立日志</a:t>
            </a:r>
            <a:endParaRPr lang="zh-CN" altLang="en-US" sz="2400" dirty="0">
              <a:solidFill>
                <a:srgbClr val="A50021"/>
              </a:solidFill>
              <a:latin typeface="宋体" panose="02010600030101010101" pitchFamily="2" charset="-122"/>
              <a:ea typeface="宋体" panose="02010600030101010101" pitchFamily="2" charset="-122"/>
            </a:endParaRPr>
          </a:p>
          <a:p>
            <a:pPr marL="914400" lvl="1" indent="-457200">
              <a:lnSpc>
                <a:spcPct val="114000"/>
              </a:lnSpc>
              <a:spcBef>
                <a:spcPts val="300"/>
              </a:spcBef>
            </a:pPr>
            <a:r>
              <a:rPr lang="en-US" altLang="x-none" sz="2400" dirty="0">
                <a:latin typeface="华文楷体" panose="02010600040101010101" pitchFamily="2" charset="-122"/>
                <a:ea typeface="华文楷体" panose="02010600040101010101" pitchFamily="2" charset="-122"/>
              </a:rPr>
              <a:t>  </a:t>
            </a:r>
            <a:r>
              <a:rPr lang="en-US" altLang="x-none" sz="2200" dirty="0">
                <a:latin typeface="华文楷体" panose="02010600040101010101" pitchFamily="2" charset="-122"/>
                <a:ea typeface="华文楷体" panose="02010600040101010101" pitchFamily="2" charset="-122"/>
              </a:rPr>
              <a:t>-- </a:t>
            </a:r>
            <a:r>
              <a:rPr lang="zh-CN" altLang="en-US" sz="2200" dirty="0">
                <a:latin typeface="华文楷体" panose="02010600040101010101" pitchFamily="2" charset="-122"/>
                <a:ea typeface="华文楷体" panose="02010600040101010101" pitchFamily="2" charset="-122"/>
              </a:rPr>
              <a:t>转储：周期地对整个数据库进行拷贝，转储到另一个磁盘或磁带上 </a:t>
            </a:r>
            <a:r>
              <a:rPr lang="en-US" altLang="x-none" sz="2200" dirty="0">
                <a:latin typeface="华文楷体" panose="02010600040101010101" pitchFamily="2" charset="-122"/>
                <a:ea typeface="华文楷体" panose="02010600040101010101" pitchFamily="2" charset="-122"/>
              </a:rPr>
              <a:t>- </a:t>
            </a:r>
            <a:r>
              <a:rPr lang="zh-CN" altLang="en-US" sz="2200" u="sng" dirty="0">
                <a:solidFill>
                  <a:srgbClr val="A50021"/>
                </a:solidFill>
                <a:latin typeface="华文楷体" panose="02010600040101010101" pitchFamily="2" charset="-122"/>
                <a:ea typeface="华文楷体" panose="02010600040101010101" pitchFamily="2" charset="-122"/>
              </a:rPr>
              <a:t>数据库备份</a:t>
            </a:r>
            <a:endParaRPr lang="zh-CN" altLang="en-US" sz="2200" u="sng" dirty="0">
              <a:solidFill>
                <a:srgbClr val="A50021"/>
              </a:solidFill>
              <a:latin typeface="华文楷体" panose="02010600040101010101" pitchFamily="2" charset="-122"/>
              <a:ea typeface="华文楷体" panose="02010600040101010101" pitchFamily="2" charset="-122"/>
            </a:endParaRPr>
          </a:p>
          <a:p>
            <a:pPr marL="914400" lvl="1" indent="-457200">
              <a:lnSpc>
                <a:spcPct val="114000"/>
              </a:lnSpc>
              <a:spcBef>
                <a:spcPts val="300"/>
              </a:spcBef>
            </a:pPr>
            <a:r>
              <a:rPr lang="zh-CN" altLang="en-US" sz="2200" dirty="0">
                <a:latin typeface="华文楷体" panose="02010600040101010101" pitchFamily="2" charset="-122"/>
                <a:ea typeface="华文楷体" panose="02010600040101010101" pitchFamily="2" charset="-122"/>
              </a:rPr>
              <a:t>  </a:t>
            </a:r>
            <a:r>
              <a:rPr lang="en-US" altLang="x-none" sz="2200" dirty="0">
                <a:latin typeface="华文楷体" panose="02010600040101010101" pitchFamily="2" charset="-122"/>
                <a:ea typeface="华文楷体" panose="02010600040101010101" pitchFamily="2" charset="-122"/>
              </a:rPr>
              <a:t>--</a:t>
            </a:r>
            <a:r>
              <a:rPr lang="zh-CN" altLang="en-US" sz="2200" dirty="0">
                <a:latin typeface="华文楷体" panose="02010600040101010101" pitchFamily="2" charset="-122"/>
                <a:ea typeface="华文楷体" panose="02010600040101010101" pitchFamily="2" charset="-122"/>
              </a:rPr>
              <a:t>建立</a:t>
            </a:r>
            <a:r>
              <a:rPr lang="zh-CN" altLang="en-US" sz="2200" u="sng" dirty="0">
                <a:solidFill>
                  <a:srgbClr val="A50021"/>
                </a:solidFill>
                <a:latin typeface="华文楷体" panose="02010600040101010101" pitchFamily="2" charset="-122"/>
                <a:ea typeface="华文楷体" panose="02010600040101010101" pitchFamily="2" charset="-122"/>
              </a:rPr>
              <a:t>日志数据库</a:t>
            </a:r>
            <a:r>
              <a:rPr lang="zh-CN" altLang="en-US" sz="2200" dirty="0">
                <a:latin typeface="华文楷体" panose="02010600040101010101" pitchFamily="2" charset="-122"/>
                <a:ea typeface="华文楷体" panose="02010600040101010101" pitchFamily="2" charset="-122"/>
              </a:rPr>
              <a:t>：记录事务的开始、结束。记录事务对数据库的每一次增、删、改。</a:t>
            </a:r>
            <a:endParaRPr lang="zh-CN" altLang="en-US" sz="2200" dirty="0">
              <a:latin typeface="华文楷体" panose="02010600040101010101" pitchFamily="2" charset="-122"/>
              <a:ea typeface="华文楷体" panose="02010600040101010101" pitchFamily="2" charset="-122"/>
            </a:endParaRPr>
          </a:p>
          <a:p>
            <a:pPr marL="457200" lvl="0" indent="-457200">
              <a:lnSpc>
                <a:spcPct val="95000"/>
              </a:lnSpc>
              <a:spcBef>
                <a:spcPts val="600"/>
              </a:spcBef>
              <a:buClr>
                <a:srgbClr val="990033"/>
              </a:buClr>
              <a:buFont typeface="Wingdings" panose="05000000000000000000" pitchFamily="2" charset="2"/>
              <a:buChar char="p"/>
            </a:pPr>
            <a:r>
              <a:rPr lang="zh-CN" altLang="en-US" sz="2400" dirty="0">
                <a:latin typeface="宋体" panose="02010600030101010101" pitchFamily="2" charset="-122"/>
                <a:ea typeface="宋体" panose="02010600030101010101" pitchFamily="2" charset="-122"/>
              </a:rPr>
              <a:t>一旦发生数据库故障，分两种情况处理：</a:t>
            </a:r>
            <a:endParaRPr lang="zh-CN" altLang="en-US" sz="2400" dirty="0">
              <a:latin typeface="宋体" panose="02010600030101010101" pitchFamily="2" charset="-122"/>
              <a:ea typeface="宋体" panose="02010600030101010101" pitchFamily="2" charset="-122"/>
            </a:endParaRPr>
          </a:p>
          <a:p>
            <a:pPr marL="914400" lvl="1" indent="-457200">
              <a:lnSpc>
                <a:spcPct val="114000"/>
              </a:lnSpc>
              <a:spcBef>
                <a:spcPts val="600"/>
              </a:spcBef>
              <a:buClr>
                <a:srgbClr val="003300"/>
              </a:buClr>
              <a:buSzPct val="70000"/>
            </a:pPr>
            <a:r>
              <a:rPr lang="en-US" altLang="x-none" sz="2200" dirty="0">
                <a:latin typeface="华文楷体" panose="02010600040101010101" pitchFamily="2" charset="-122"/>
                <a:ea typeface="华文楷体" panose="02010600040101010101" pitchFamily="2" charset="-122"/>
              </a:rPr>
              <a:t>--</a:t>
            </a:r>
            <a:r>
              <a:rPr lang="zh-CN" altLang="en-US" sz="2200" u="sng" dirty="0">
                <a:solidFill>
                  <a:srgbClr val="FF0000"/>
                </a:solidFill>
                <a:latin typeface="华文楷体" panose="02010600040101010101" pitchFamily="2" charset="-122"/>
                <a:ea typeface="华文楷体" panose="02010600040101010101" pitchFamily="2" charset="-122"/>
              </a:rPr>
              <a:t>遇到灾难性故障：</a:t>
            </a:r>
            <a:r>
              <a:rPr lang="zh-CN" altLang="en-US" sz="2200" dirty="0">
                <a:latin typeface="华文楷体" panose="02010600040101010101" pitchFamily="2" charset="-122"/>
                <a:ea typeface="华文楷体" panose="02010600040101010101" pitchFamily="2" charset="-122"/>
              </a:rPr>
              <a:t>使用数据库备份，再利用日志。</a:t>
            </a:r>
            <a:endParaRPr lang="zh-CN" altLang="en-US" sz="2200" dirty="0">
              <a:latin typeface="华文楷体" panose="02010600040101010101" pitchFamily="2" charset="-122"/>
              <a:ea typeface="华文楷体" panose="02010600040101010101" pitchFamily="2" charset="-122"/>
            </a:endParaRPr>
          </a:p>
          <a:p>
            <a:pPr marL="914400" lvl="1" indent="-457200">
              <a:lnSpc>
                <a:spcPct val="114000"/>
              </a:lnSpc>
              <a:spcBef>
                <a:spcPts val="600"/>
              </a:spcBef>
              <a:buClr>
                <a:srgbClr val="003300"/>
              </a:buClr>
              <a:buSzPct val="70000"/>
            </a:pPr>
            <a:r>
              <a:rPr lang="en-US" altLang="x-none" sz="2200" dirty="0">
                <a:latin typeface="华文楷体" panose="02010600040101010101" pitchFamily="2" charset="-122"/>
                <a:ea typeface="华文楷体" panose="02010600040101010101" pitchFamily="2" charset="-122"/>
              </a:rPr>
              <a:t>--</a:t>
            </a:r>
            <a:r>
              <a:rPr lang="zh-CN" altLang="en-US" sz="2200" dirty="0">
                <a:latin typeface="华文楷体" panose="02010600040101010101" pitchFamily="2" charset="-122"/>
                <a:ea typeface="华文楷体" panose="02010600040101010101" pitchFamily="2" charset="-122"/>
              </a:rPr>
              <a:t>未遇到物理破坏，但数据库一致性被破坏：仅使用日志库。</a:t>
            </a:r>
            <a:endParaRPr lang="zh-CN" altLang="en-US" sz="2200" dirty="0">
              <a:latin typeface="华文楷体" panose="02010600040101010101" pitchFamily="2" charset="-122"/>
              <a:ea typeface="华文楷体" panose="02010600040101010101" pitchFamily="2" charset="-122"/>
            </a:endParaRPr>
          </a:p>
        </p:txBody>
      </p:sp>
      <p:sp>
        <p:nvSpPr>
          <p:cNvPr id="60420" name="Rectangle 7"/>
          <p:cNvSpPr/>
          <p:nvPr/>
        </p:nvSpPr>
        <p:spPr>
          <a:xfrm>
            <a:off x="327025" y="1219200"/>
            <a:ext cx="3660775" cy="609600"/>
          </a:xfrm>
          <a:prstGeom prst="rect">
            <a:avLst/>
          </a:prstGeom>
          <a:noFill/>
          <a:ln w="9525">
            <a:noFill/>
          </a:ln>
        </p:spPr>
        <p:txBody>
          <a:bodyPr wrap="none" anchor="ctr"/>
          <a:lstStyle/>
          <a:p>
            <a:pPr lvl="0" indent="0" algn="just">
              <a:spcBef>
                <a:spcPct val="20000"/>
              </a:spcBef>
              <a:buClr>
                <a:schemeClr val="folHlink"/>
              </a:buClr>
              <a:buSzPct val="75000"/>
            </a:pPr>
            <a:r>
              <a:rPr lang="zh-CN" altLang="en-US" sz="2600" dirty="0">
                <a:solidFill>
                  <a:srgbClr val="0033CC"/>
                </a:solidFill>
                <a:latin typeface="黑体" panose="02010609060101010101" pitchFamily="1" charset="-122"/>
                <a:ea typeface="黑体" panose="02010609060101010101" pitchFamily="1" charset="-122"/>
              </a:rPr>
              <a:t>（</a:t>
            </a:r>
            <a:r>
              <a:rPr lang="en-US" altLang="x-none" sz="2600" dirty="0">
                <a:solidFill>
                  <a:srgbClr val="0033CC"/>
                </a:solidFill>
                <a:latin typeface="黑体" panose="02010609060101010101" pitchFamily="1" charset="-122"/>
                <a:ea typeface="黑体" panose="02010609060101010101" pitchFamily="1" charset="-122"/>
              </a:rPr>
              <a:t>1</a:t>
            </a:r>
            <a:r>
              <a:rPr lang="zh-CN" altLang="en-US" sz="2600" dirty="0">
                <a:solidFill>
                  <a:srgbClr val="0033CC"/>
                </a:solidFill>
                <a:latin typeface="黑体" panose="02010609060101010101" pitchFamily="1" charset="-122"/>
                <a:ea typeface="黑体" panose="02010609060101010101" pitchFamily="1" charset="-122"/>
              </a:rPr>
              <a:t>）典型的故障恢复策略</a:t>
            </a:r>
            <a:endParaRPr lang="zh-CN" altLang="en-US" sz="2600" dirty="0">
              <a:solidFill>
                <a:srgbClr val="0033CC"/>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2468">
                                            <p:txEl>
                                              <p:pRg st="0" end="0"/>
                                            </p:txEl>
                                          </p:spTgt>
                                        </p:tgtEl>
                                        <p:attrNameLst>
                                          <p:attrName>style.visibility</p:attrName>
                                        </p:attrNameLst>
                                      </p:cBhvr>
                                      <p:to>
                                        <p:strVal val="visible"/>
                                      </p:to>
                                    </p:set>
                                    <p:anim calcmode="lin" valueType="num">
                                      <p:cBhvr>
                                        <p:cTn id="7" dur="500" fill="hold"/>
                                        <p:tgtEl>
                                          <p:spTgt spid="62468">
                                            <p:txEl>
                                              <p:pRg st="0" end="0"/>
                                            </p:txEl>
                                          </p:spTgt>
                                        </p:tgtEl>
                                        <p:attrNameLst>
                                          <p:attrName>ppt_x</p:attrName>
                                        </p:attrNameLst>
                                      </p:cBhvr>
                                      <p:tavLst>
                                        <p:tav tm="0">
                                          <p:val>
                                            <p:strVal val="#ppt_x"/>
                                          </p:val>
                                        </p:tav>
                                        <p:tav tm="100000">
                                          <p:val>
                                            <p:strVal val="#ppt_x"/>
                                          </p:val>
                                        </p:tav>
                                      </p:tavLst>
                                    </p:anim>
                                    <p:anim calcmode="lin" valueType="num">
                                      <p:cBhvr>
                                        <p:cTn id="8" dur="500" fill="hold"/>
                                        <p:tgtEl>
                                          <p:spTgt spid="6246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2468">
                                            <p:txEl>
                                              <p:pRg st="1" end="1"/>
                                            </p:txEl>
                                          </p:spTgt>
                                        </p:tgtEl>
                                        <p:attrNameLst>
                                          <p:attrName>style.visibility</p:attrName>
                                        </p:attrNameLst>
                                      </p:cBhvr>
                                      <p:to>
                                        <p:strVal val="visible"/>
                                      </p:to>
                                    </p:set>
                                    <p:anim calcmode="lin" valueType="num">
                                      <p:cBhvr>
                                        <p:cTn id="13" dur="500" fill="hold"/>
                                        <p:tgtEl>
                                          <p:spTgt spid="62468">
                                            <p:txEl>
                                              <p:pRg st="1" end="1"/>
                                            </p:txEl>
                                          </p:spTgt>
                                        </p:tgtEl>
                                        <p:attrNameLst>
                                          <p:attrName>ppt_x</p:attrName>
                                        </p:attrNameLst>
                                      </p:cBhvr>
                                      <p:tavLst>
                                        <p:tav tm="0">
                                          <p:val>
                                            <p:strVal val="#ppt_x"/>
                                          </p:val>
                                        </p:tav>
                                        <p:tav tm="100000">
                                          <p:val>
                                            <p:strVal val="#ppt_x"/>
                                          </p:val>
                                        </p:tav>
                                      </p:tavLst>
                                    </p:anim>
                                    <p:anim calcmode="lin" valueType="num">
                                      <p:cBhvr>
                                        <p:cTn id="14" dur="500" fill="hold"/>
                                        <p:tgtEl>
                                          <p:spTgt spid="6246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2468">
                                            <p:txEl>
                                              <p:pRg st="2" end="2"/>
                                            </p:txEl>
                                          </p:spTgt>
                                        </p:tgtEl>
                                        <p:attrNameLst>
                                          <p:attrName>style.visibility</p:attrName>
                                        </p:attrNameLst>
                                      </p:cBhvr>
                                      <p:to>
                                        <p:strVal val="visible"/>
                                      </p:to>
                                    </p:set>
                                    <p:anim calcmode="lin" valueType="num">
                                      <p:cBhvr>
                                        <p:cTn id="19" dur="500" fill="hold"/>
                                        <p:tgtEl>
                                          <p:spTgt spid="62468">
                                            <p:txEl>
                                              <p:pRg st="2" end="2"/>
                                            </p:txEl>
                                          </p:spTgt>
                                        </p:tgtEl>
                                        <p:attrNameLst>
                                          <p:attrName>ppt_x</p:attrName>
                                        </p:attrNameLst>
                                      </p:cBhvr>
                                      <p:tavLst>
                                        <p:tav tm="0">
                                          <p:val>
                                            <p:strVal val="#ppt_x"/>
                                          </p:val>
                                        </p:tav>
                                        <p:tav tm="100000">
                                          <p:val>
                                            <p:strVal val="#ppt_x"/>
                                          </p:val>
                                        </p:tav>
                                      </p:tavLst>
                                    </p:anim>
                                    <p:anim calcmode="lin" valueType="num">
                                      <p:cBhvr>
                                        <p:cTn id="20" dur="500" fill="hold"/>
                                        <p:tgtEl>
                                          <p:spTgt spid="62468">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62468">
                                            <p:txEl>
                                              <p:pRg st="3" end="3"/>
                                            </p:txEl>
                                          </p:spTgt>
                                        </p:tgtEl>
                                        <p:attrNameLst>
                                          <p:attrName>style.visibility</p:attrName>
                                        </p:attrNameLst>
                                      </p:cBhvr>
                                      <p:to>
                                        <p:strVal val="visible"/>
                                      </p:to>
                                    </p:set>
                                    <p:anim calcmode="lin" valueType="num">
                                      <p:cBhvr>
                                        <p:cTn id="23" dur="500" fill="hold"/>
                                        <p:tgtEl>
                                          <p:spTgt spid="62468">
                                            <p:txEl>
                                              <p:pRg st="3" end="3"/>
                                            </p:txEl>
                                          </p:spTgt>
                                        </p:tgtEl>
                                        <p:attrNameLst>
                                          <p:attrName>ppt_x</p:attrName>
                                        </p:attrNameLst>
                                      </p:cBhvr>
                                      <p:tavLst>
                                        <p:tav tm="0">
                                          <p:val>
                                            <p:strVal val="#ppt_x"/>
                                          </p:val>
                                        </p:tav>
                                        <p:tav tm="100000">
                                          <p:val>
                                            <p:strVal val="#ppt_x"/>
                                          </p:val>
                                        </p:tav>
                                      </p:tavLst>
                                    </p:anim>
                                    <p:anim calcmode="lin" valueType="num">
                                      <p:cBhvr>
                                        <p:cTn id="24" dur="500" fill="hold"/>
                                        <p:tgtEl>
                                          <p:spTgt spid="62468">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62468">
                                            <p:txEl>
                                              <p:pRg st="4" end="4"/>
                                            </p:txEl>
                                          </p:spTgt>
                                        </p:tgtEl>
                                        <p:attrNameLst>
                                          <p:attrName>style.visibility</p:attrName>
                                        </p:attrNameLst>
                                      </p:cBhvr>
                                      <p:to>
                                        <p:strVal val="visible"/>
                                      </p:to>
                                    </p:set>
                                    <p:anim calcmode="lin" valueType="num">
                                      <p:cBhvr>
                                        <p:cTn id="27" dur="500" fill="hold"/>
                                        <p:tgtEl>
                                          <p:spTgt spid="62468">
                                            <p:txEl>
                                              <p:pRg st="4" end="4"/>
                                            </p:txEl>
                                          </p:spTgt>
                                        </p:tgtEl>
                                        <p:attrNameLst>
                                          <p:attrName>ppt_x</p:attrName>
                                        </p:attrNameLst>
                                      </p:cBhvr>
                                      <p:tavLst>
                                        <p:tav tm="0">
                                          <p:val>
                                            <p:strVal val="#ppt_x"/>
                                          </p:val>
                                        </p:tav>
                                        <p:tav tm="100000">
                                          <p:val>
                                            <p:strVal val="#ppt_x"/>
                                          </p:val>
                                        </p:tav>
                                      </p:tavLst>
                                    </p:anim>
                                    <p:anim calcmode="lin" valueType="num">
                                      <p:cBhvr>
                                        <p:cTn id="28" dur="500" fill="hold"/>
                                        <p:tgtEl>
                                          <p:spTgt spid="6246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62468">
                                            <p:txEl>
                                              <p:pRg st="5" end="5"/>
                                            </p:txEl>
                                          </p:spTgt>
                                        </p:tgtEl>
                                        <p:attrNameLst>
                                          <p:attrName>style.visibility</p:attrName>
                                        </p:attrNameLst>
                                      </p:cBhvr>
                                      <p:to>
                                        <p:strVal val="visible"/>
                                      </p:to>
                                    </p:set>
                                    <p:anim calcmode="lin" valueType="num">
                                      <p:cBhvr>
                                        <p:cTn id="33" dur="500" fill="hold"/>
                                        <p:tgtEl>
                                          <p:spTgt spid="62468">
                                            <p:txEl>
                                              <p:pRg st="5" end="5"/>
                                            </p:txEl>
                                          </p:spTgt>
                                        </p:tgtEl>
                                        <p:attrNameLst>
                                          <p:attrName>ppt_x</p:attrName>
                                        </p:attrNameLst>
                                      </p:cBhvr>
                                      <p:tavLst>
                                        <p:tav tm="0">
                                          <p:val>
                                            <p:strVal val="#ppt_x"/>
                                          </p:val>
                                        </p:tav>
                                        <p:tav tm="100000">
                                          <p:val>
                                            <p:strVal val="#ppt_x"/>
                                          </p:val>
                                        </p:tav>
                                      </p:tavLst>
                                    </p:anim>
                                    <p:anim calcmode="lin" valueType="num">
                                      <p:cBhvr>
                                        <p:cTn id="34" dur="500" fill="hold"/>
                                        <p:tgtEl>
                                          <p:spTgt spid="62468">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62468">
                                            <p:txEl>
                                              <p:pRg st="6" end="6"/>
                                            </p:txEl>
                                          </p:spTgt>
                                        </p:tgtEl>
                                        <p:attrNameLst>
                                          <p:attrName>style.visibility</p:attrName>
                                        </p:attrNameLst>
                                      </p:cBhvr>
                                      <p:to>
                                        <p:strVal val="visible"/>
                                      </p:to>
                                    </p:set>
                                    <p:anim calcmode="lin" valueType="num">
                                      <p:cBhvr>
                                        <p:cTn id="37" dur="500" fill="hold"/>
                                        <p:tgtEl>
                                          <p:spTgt spid="62468">
                                            <p:txEl>
                                              <p:pRg st="6" end="6"/>
                                            </p:txEl>
                                          </p:spTgt>
                                        </p:tgtEl>
                                        <p:attrNameLst>
                                          <p:attrName>ppt_x</p:attrName>
                                        </p:attrNameLst>
                                      </p:cBhvr>
                                      <p:tavLst>
                                        <p:tav tm="0">
                                          <p:val>
                                            <p:strVal val="#ppt_x"/>
                                          </p:val>
                                        </p:tav>
                                        <p:tav tm="100000">
                                          <p:val>
                                            <p:strVal val="#ppt_x"/>
                                          </p:val>
                                        </p:tav>
                                      </p:tavLst>
                                    </p:anim>
                                    <p:anim calcmode="lin" valueType="num">
                                      <p:cBhvr>
                                        <p:cTn id="38" dur="500" fill="hold"/>
                                        <p:tgtEl>
                                          <p:spTgt spid="62468">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62468">
                                            <p:txEl>
                                              <p:pRg st="7" end="7"/>
                                            </p:txEl>
                                          </p:spTgt>
                                        </p:tgtEl>
                                        <p:attrNameLst>
                                          <p:attrName>style.visibility</p:attrName>
                                        </p:attrNameLst>
                                      </p:cBhvr>
                                      <p:to>
                                        <p:strVal val="visible"/>
                                      </p:to>
                                    </p:set>
                                    <p:anim calcmode="lin" valueType="num">
                                      <p:cBhvr>
                                        <p:cTn id="41" dur="500" fill="hold"/>
                                        <p:tgtEl>
                                          <p:spTgt spid="62468">
                                            <p:txEl>
                                              <p:pRg st="7" end="7"/>
                                            </p:txEl>
                                          </p:spTgt>
                                        </p:tgtEl>
                                        <p:attrNameLst>
                                          <p:attrName>ppt_x</p:attrName>
                                        </p:attrNameLst>
                                      </p:cBhvr>
                                      <p:tavLst>
                                        <p:tav tm="0">
                                          <p:val>
                                            <p:strVal val="#ppt_x"/>
                                          </p:val>
                                        </p:tav>
                                        <p:tav tm="100000">
                                          <p:val>
                                            <p:strVal val="#ppt_x"/>
                                          </p:val>
                                        </p:tav>
                                      </p:tavLst>
                                    </p:anim>
                                    <p:anim calcmode="lin" valueType="num">
                                      <p:cBhvr>
                                        <p:cTn id="42" dur="500" fill="hold"/>
                                        <p:tgtEl>
                                          <p:spTgt spid="62468">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8" grpId="0" uiExpand="1"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p:cNvSpPr/>
          <p:nvPr/>
        </p:nvSpPr>
        <p:spPr>
          <a:xfrm>
            <a:off x="501650" y="752475"/>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2</a:t>
            </a:r>
            <a:r>
              <a:rPr lang="zh-CN" altLang="en-US" sz="2800" dirty="0">
                <a:solidFill>
                  <a:srgbClr val="FF0000"/>
                </a:solidFill>
                <a:latin typeface="黑体" panose="02010609060101010101" pitchFamily="1" charset="-122"/>
                <a:ea typeface="黑体" panose="02010609060101010101" pitchFamily="1" charset="-122"/>
              </a:rPr>
              <a:t>、故障恢复导论</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61442"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四、数据库的故障恢复技术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61443" name="Rectangle 7"/>
          <p:cNvSpPr/>
          <p:nvPr/>
        </p:nvSpPr>
        <p:spPr>
          <a:xfrm>
            <a:off x="374650" y="1296988"/>
            <a:ext cx="3662363" cy="609600"/>
          </a:xfrm>
          <a:prstGeom prst="rect">
            <a:avLst/>
          </a:prstGeom>
          <a:noFill/>
          <a:ln w="9525">
            <a:noFill/>
          </a:ln>
        </p:spPr>
        <p:txBody>
          <a:bodyPr wrap="none" anchor="ctr"/>
          <a:lstStyle/>
          <a:p>
            <a:pPr lvl="0" indent="0" algn="just">
              <a:spcBef>
                <a:spcPct val="20000"/>
              </a:spcBef>
              <a:buClr>
                <a:schemeClr val="folHlink"/>
              </a:buClr>
              <a:buSzPct val="75000"/>
            </a:pPr>
            <a:r>
              <a:rPr lang="zh-CN" altLang="en-US" sz="2600" dirty="0">
                <a:solidFill>
                  <a:srgbClr val="0033CC"/>
                </a:solidFill>
                <a:latin typeface="黑体" panose="02010609060101010101" pitchFamily="1" charset="-122"/>
                <a:ea typeface="黑体" panose="02010609060101010101" pitchFamily="1" charset="-122"/>
              </a:rPr>
              <a:t>（</a:t>
            </a:r>
            <a:r>
              <a:rPr lang="en-US" altLang="x-none" sz="2600" dirty="0">
                <a:solidFill>
                  <a:srgbClr val="0033CC"/>
                </a:solidFill>
                <a:latin typeface="黑体" panose="02010609060101010101" pitchFamily="1" charset="-122"/>
                <a:ea typeface="黑体" panose="02010609060101010101" pitchFamily="1" charset="-122"/>
              </a:rPr>
              <a:t>2</a:t>
            </a:r>
            <a:r>
              <a:rPr lang="zh-CN" altLang="en-US" sz="2600" dirty="0">
                <a:solidFill>
                  <a:srgbClr val="0033CC"/>
                </a:solidFill>
                <a:latin typeface="黑体" panose="02010609060101010101" pitchFamily="1" charset="-122"/>
                <a:ea typeface="黑体" panose="02010609060101010101" pitchFamily="1" charset="-122"/>
              </a:rPr>
              <a:t>）故障恢复技术</a:t>
            </a:r>
            <a:endParaRPr lang="zh-CN" altLang="en-US" sz="2600" dirty="0">
              <a:solidFill>
                <a:srgbClr val="0033CC"/>
              </a:solidFill>
              <a:latin typeface="黑体" panose="02010609060101010101" pitchFamily="1" charset="-122"/>
              <a:ea typeface="黑体" panose="02010609060101010101" pitchFamily="1" charset="-122"/>
            </a:endParaRPr>
          </a:p>
        </p:txBody>
      </p:sp>
      <p:sp>
        <p:nvSpPr>
          <p:cNvPr id="63493" name="Text Box 3"/>
          <p:cNvSpPr txBox="1"/>
          <p:nvPr/>
        </p:nvSpPr>
        <p:spPr>
          <a:xfrm>
            <a:off x="577850" y="2008188"/>
            <a:ext cx="8128000" cy="3451225"/>
          </a:xfrm>
          <a:prstGeom prst="rect">
            <a:avLst/>
          </a:prstGeom>
          <a:noFill/>
          <a:ln w="9525">
            <a:noFill/>
          </a:ln>
        </p:spPr>
        <p:txBody>
          <a:bodyPr anchor="t">
            <a:spAutoFit/>
          </a:bodyPr>
          <a:lstStyle/>
          <a:p>
            <a:pPr marL="457200" lvl="0" indent="-457200">
              <a:lnSpc>
                <a:spcPct val="105000"/>
              </a:lnSpc>
              <a:spcBef>
                <a:spcPct val="50000"/>
              </a:spcBef>
              <a:buFont typeface="Wingdings" panose="05000000000000000000" pitchFamily="2" charset="2"/>
              <a:buChar char="p"/>
            </a:pPr>
            <a:r>
              <a:rPr lang="zh-CN" altLang="en-US" sz="2600" u="sng" dirty="0">
                <a:solidFill>
                  <a:srgbClr val="FF0000"/>
                </a:solidFill>
                <a:latin typeface="宋体" panose="02010600030101010101" pitchFamily="2" charset="-122"/>
                <a:ea typeface="宋体" panose="02010600030101010101" pitchFamily="2" charset="-122"/>
              </a:rPr>
              <a:t>恢复：</a:t>
            </a:r>
            <a:r>
              <a:rPr lang="zh-CN" altLang="en-US" sz="2400" dirty="0">
                <a:latin typeface="华文楷体" panose="02010600040101010101" pitchFamily="2" charset="-122"/>
                <a:ea typeface="华文楷体" panose="02010600040101010101" pitchFamily="2" charset="-122"/>
              </a:rPr>
              <a:t>主要指恢复</a:t>
            </a:r>
            <a:r>
              <a:rPr lang="en-US" altLang="x-none" sz="2400" dirty="0">
                <a:latin typeface="华文楷体" panose="02010600040101010101" pitchFamily="2" charset="-122"/>
                <a:ea typeface="华文楷体" panose="02010600040101010101" pitchFamily="2" charset="-122"/>
              </a:rPr>
              <a:t>DB</a:t>
            </a:r>
            <a:r>
              <a:rPr lang="zh-CN" altLang="en-US" sz="2400" dirty="0">
                <a:latin typeface="华文楷体" panose="02010600040101010101" pitchFamily="2" charset="-122"/>
                <a:ea typeface="华文楷体" panose="02010600040101010101" pitchFamily="2" charset="-122"/>
              </a:rPr>
              <a:t>本身，即在故障引起</a:t>
            </a:r>
            <a:r>
              <a:rPr lang="en-US" altLang="x-none" sz="2400" dirty="0">
                <a:latin typeface="华文楷体" panose="02010600040101010101" pitchFamily="2" charset="-122"/>
                <a:ea typeface="华文楷体" panose="02010600040101010101" pitchFamily="2" charset="-122"/>
              </a:rPr>
              <a:t>DB</a:t>
            </a:r>
            <a:r>
              <a:rPr lang="zh-CN" altLang="en-US" sz="2400" dirty="0">
                <a:latin typeface="华文楷体" panose="02010600040101010101" pitchFamily="2" charset="-122"/>
                <a:ea typeface="华文楷体" panose="02010600040101010101" pitchFamily="2" charset="-122"/>
              </a:rPr>
              <a:t>当前状态不一致后，将</a:t>
            </a:r>
            <a:r>
              <a:rPr lang="en-US" altLang="x-none" sz="2400" dirty="0">
                <a:latin typeface="华文楷体" panose="02010600040101010101" pitchFamily="2" charset="-122"/>
                <a:ea typeface="华文楷体" panose="02010600040101010101" pitchFamily="2" charset="-122"/>
              </a:rPr>
              <a:t>DB</a:t>
            </a:r>
            <a:r>
              <a:rPr lang="zh-CN" altLang="en-US" sz="2400" dirty="0">
                <a:latin typeface="华文楷体" panose="02010600040101010101" pitchFamily="2" charset="-122"/>
                <a:ea typeface="华文楷体" panose="02010600040101010101" pitchFamily="2" charset="-122"/>
              </a:rPr>
              <a:t>恢复到某个正确状态或一致状态。要恢复，利用备份副本（</a:t>
            </a:r>
            <a:r>
              <a:rPr lang="en-US" altLang="x-none" sz="2400" dirty="0">
                <a:latin typeface="华文楷体" panose="02010600040101010101" pitchFamily="2" charset="-122"/>
                <a:ea typeface="华文楷体" panose="02010600040101010101" pitchFamily="2" charset="-122"/>
              </a:rPr>
              <a:t>Copy</a:t>
            </a:r>
            <a:r>
              <a:rPr lang="zh-CN" altLang="en-US" sz="2400" dirty="0">
                <a:latin typeface="华文楷体" panose="02010600040101010101" pitchFamily="2" charset="-122"/>
                <a:ea typeface="华文楷体" panose="02010600040101010101" pitchFamily="2" charset="-122"/>
              </a:rPr>
              <a:t>），必会有冗余</a:t>
            </a:r>
            <a:r>
              <a:rPr lang="en-US" altLang="x-none" sz="2400" dirty="0">
                <a:latin typeface="华文楷体" panose="02010600040101010101" pitchFamily="2" charset="-122"/>
                <a:ea typeface="华文楷体" panose="02010600040101010101" pitchFamily="2" charset="-122"/>
              </a:rPr>
              <a:t>(Redundancy)</a:t>
            </a:r>
            <a:r>
              <a:rPr lang="zh-CN" altLang="en-US" sz="2400" dirty="0">
                <a:latin typeface="华文楷体" panose="02010600040101010101" pitchFamily="2" charset="-122"/>
                <a:ea typeface="华文楷体" panose="02010600040101010101" pitchFamily="2" charset="-122"/>
              </a:rPr>
              <a:t>。</a:t>
            </a:r>
            <a:endParaRPr lang="zh-CN" altLang="en-US" sz="2800" dirty="0">
              <a:latin typeface="华文楷体" panose="02010600040101010101" pitchFamily="2" charset="-122"/>
              <a:ea typeface="华文楷体" panose="02010600040101010101" pitchFamily="2" charset="-122"/>
            </a:endParaRPr>
          </a:p>
          <a:p>
            <a:pPr marL="457200" lvl="0" indent="-457200">
              <a:lnSpc>
                <a:spcPct val="90000"/>
              </a:lnSpc>
              <a:spcBef>
                <a:spcPct val="50000"/>
              </a:spcBef>
              <a:buFont typeface="Wingdings" panose="05000000000000000000" pitchFamily="2" charset="2"/>
              <a:buChar char="p"/>
            </a:pPr>
            <a:r>
              <a:rPr lang="zh-CN" altLang="en-US" sz="2600" u="sng" dirty="0">
                <a:solidFill>
                  <a:srgbClr val="FF0000"/>
                </a:solidFill>
                <a:latin typeface="宋体" panose="02010600030101010101" pitchFamily="2" charset="-122"/>
                <a:ea typeface="宋体" panose="02010600030101010101" pitchFamily="2" charset="-122"/>
              </a:rPr>
              <a:t>故障恢复技术：</a:t>
            </a:r>
            <a:endParaRPr lang="zh-CN" altLang="en-US" sz="2600" u="sng" dirty="0">
              <a:solidFill>
                <a:srgbClr val="FF0000"/>
              </a:solidFill>
              <a:latin typeface="宋体" panose="02010600030101010101" pitchFamily="2" charset="-122"/>
              <a:ea typeface="宋体" panose="02010600030101010101" pitchFamily="2" charset="-122"/>
            </a:endParaRPr>
          </a:p>
          <a:p>
            <a:pPr marL="457200" lvl="0" indent="-457200">
              <a:lnSpc>
                <a:spcPct val="110000"/>
              </a:lnSpc>
              <a:spcBef>
                <a:spcPts val="1200"/>
              </a:spcBef>
            </a:pPr>
            <a:r>
              <a:rPr lang="en-US" altLang="x-none"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单纯以后备副本为基础的恢复技术</a:t>
            </a:r>
            <a:endParaRPr lang="zh-CN" altLang="en-US" sz="2400" dirty="0">
              <a:latin typeface="华文楷体" panose="02010600040101010101" pitchFamily="2" charset="-122"/>
              <a:ea typeface="华文楷体" panose="02010600040101010101" pitchFamily="2" charset="-122"/>
            </a:endParaRPr>
          </a:p>
          <a:p>
            <a:pPr marL="914400" lvl="1" indent="-457200">
              <a:lnSpc>
                <a:spcPct val="110000"/>
              </a:lnSpc>
              <a:spcBef>
                <a:spcPts val="600"/>
              </a:spcBef>
            </a:pPr>
            <a:r>
              <a:rPr lang="en-US" altLang="x-none"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以后备副本和日志为基础的恢复技术</a:t>
            </a:r>
            <a:endParaRPr lang="zh-CN" altLang="en-US" sz="2400" dirty="0">
              <a:latin typeface="华文楷体" panose="02010600040101010101" pitchFamily="2" charset="-122"/>
              <a:ea typeface="华文楷体" panose="02010600040101010101" pitchFamily="2" charset="-122"/>
            </a:endParaRPr>
          </a:p>
          <a:p>
            <a:pPr marL="914400" lvl="1" indent="-457200">
              <a:lnSpc>
                <a:spcPct val="110000"/>
              </a:lnSpc>
              <a:spcBef>
                <a:spcPts val="1200"/>
              </a:spcBef>
            </a:pPr>
            <a:r>
              <a:rPr lang="en-US" altLang="x-none"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基于多副本的恢复技术</a:t>
            </a:r>
            <a:endParaRPr lang="zh-CN" altLang="en-US" sz="2400" dirty="0">
              <a:latin typeface="华文楷体" panose="02010600040101010101" pitchFamily="2" charset="-122"/>
              <a:ea typeface="华文楷体" panose="02010600040101010101" pitchFamily="2" charset="-122"/>
            </a:endParaRPr>
          </a:p>
        </p:txBody>
      </p:sp>
      <p:sp>
        <p:nvSpPr>
          <p:cNvPr id="63494" name="AutoShape 4"/>
          <p:cNvSpPr/>
          <p:nvPr/>
        </p:nvSpPr>
        <p:spPr>
          <a:xfrm>
            <a:off x="677863" y="3968750"/>
            <a:ext cx="288925" cy="1368425"/>
          </a:xfrm>
          <a:prstGeom prst="leftBrace">
            <a:avLst>
              <a:gd name="adj1" fmla="val 39315"/>
              <a:gd name="adj2" fmla="val 50000"/>
            </a:avLst>
          </a:prstGeom>
          <a:noFill/>
          <a:ln w="38100" cap="flat" cmpd="sng">
            <a:solidFill>
              <a:srgbClr val="CC0000"/>
            </a:solidFill>
            <a:prstDash val="solid"/>
            <a:round/>
            <a:headEnd type="none" w="med" len="med"/>
            <a:tailEnd type="none" w="med" len="med"/>
          </a:ln>
        </p:spPr>
        <p:txBody>
          <a:bodyPr wrap="none" lIns="90000" tIns="46800" rIns="90000" bIns="46800" anchor="ctr"/>
          <a:lstStyle/>
          <a:p>
            <a:pPr lvl="0" indent="0"/>
            <a:endParaRPr lang="zh-CN" altLang="en-US" dirty="0">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3493">
                                            <p:txEl>
                                              <p:pRg st="0" end="0"/>
                                            </p:txEl>
                                          </p:spTgt>
                                        </p:tgtEl>
                                        <p:attrNameLst>
                                          <p:attrName>style.visibility</p:attrName>
                                        </p:attrNameLst>
                                      </p:cBhvr>
                                      <p:to>
                                        <p:strVal val="visible"/>
                                      </p:to>
                                    </p:set>
                                    <p:anim calcmode="lin" valueType="num">
                                      <p:cBhvr>
                                        <p:cTn id="7" dur="500" fill="hold"/>
                                        <p:tgtEl>
                                          <p:spTgt spid="63493">
                                            <p:txEl>
                                              <p:pRg st="0" end="0"/>
                                            </p:txEl>
                                          </p:spTgt>
                                        </p:tgtEl>
                                        <p:attrNameLst>
                                          <p:attrName>ppt_x</p:attrName>
                                        </p:attrNameLst>
                                      </p:cBhvr>
                                      <p:tavLst>
                                        <p:tav tm="0">
                                          <p:val>
                                            <p:strVal val="#ppt_x"/>
                                          </p:val>
                                        </p:tav>
                                        <p:tav tm="100000">
                                          <p:val>
                                            <p:strVal val="#ppt_x"/>
                                          </p:val>
                                        </p:tav>
                                      </p:tavLst>
                                    </p:anim>
                                    <p:anim calcmode="lin" valueType="num">
                                      <p:cBhvr>
                                        <p:cTn id="8" dur="500" fill="hold"/>
                                        <p:tgtEl>
                                          <p:spTgt spid="6349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3493">
                                            <p:txEl>
                                              <p:pRg st="1" end="1"/>
                                            </p:txEl>
                                          </p:spTgt>
                                        </p:tgtEl>
                                        <p:attrNameLst>
                                          <p:attrName>style.visibility</p:attrName>
                                        </p:attrNameLst>
                                      </p:cBhvr>
                                      <p:to>
                                        <p:strVal val="visible"/>
                                      </p:to>
                                    </p:set>
                                    <p:anim calcmode="lin" valueType="num">
                                      <p:cBhvr>
                                        <p:cTn id="13" dur="500" fill="hold"/>
                                        <p:tgtEl>
                                          <p:spTgt spid="63493">
                                            <p:txEl>
                                              <p:pRg st="1" end="1"/>
                                            </p:txEl>
                                          </p:spTgt>
                                        </p:tgtEl>
                                        <p:attrNameLst>
                                          <p:attrName>ppt_x</p:attrName>
                                        </p:attrNameLst>
                                      </p:cBhvr>
                                      <p:tavLst>
                                        <p:tav tm="0">
                                          <p:val>
                                            <p:strVal val="#ppt_x"/>
                                          </p:val>
                                        </p:tav>
                                        <p:tav tm="100000">
                                          <p:val>
                                            <p:strVal val="#ppt_x"/>
                                          </p:val>
                                        </p:tav>
                                      </p:tavLst>
                                    </p:anim>
                                    <p:anim calcmode="lin" valueType="num">
                                      <p:cBhvr>
                                        <p:cTn id="14" dur="500" fill="hold"/>
                                        <p:tgtEl>
                                          <p:spTgt spid="6349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3493">
                                            <p:txEl>
                                              <p:pRg st="2" end="2"/>
                                            </p:txEl>
                                          </p:spTgt>
                                        </p:tgtEl>
                                        <p:attrNameLst>
                                          <p:attrName>style.visibility</p:attrName>
                                        </p:attrNameLst>
                                      </p:cBhvr>
                                      <p:to>
                                        <p:strVal val="visible"/>
                                      </p:to>
                                    </p:set>
                                    <p:anim calcmode="lin" valueType="num">
                                      <p:cBhvr>
                                        <p:cTn id="19" dur="500" fill="hold"/>
                                        <p:tgtEl>
                                          <p:spTgt spid="63493">
                                            <p:txEl>
                                              <p:pRg st="2" end="2"/>
                                            </p:txEl>
                                          </p:spTgt>
                                        </p:tgtEl>
                                        <p:attrNameLst>
                                          <p:attrName>ppt_x</p:attrName>
                                        </p:attrNameLst>
                                      </p:cBhvr>
                                      <p:tavLst>
                                        <p:tav tm="0">
                                          <p:val>
                                            <p:strVal val="#ppt_x"/>
                                          </p:val>
                                        </p:tav>
                                        <p:tav tm="100000">
                                          <p:val>
                                            <p:strVal val="#ppt_x"/>
                                          </p:val>
                                        </p:tav>
                                      </p:tavLst>
                                    </p:anim>
                                    <p:anim calcmode="lin" valueType="num">
                                      <p:cBhvr>
                                        <p:cTn id="20" dur="500" fill="hold"/>
                                        <p:tgtEl>
                                          <p:spTgt spid="6349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63493">
                                            <p:txEl>
                                              <p:pRg st="3" end="3"/>
                                            </p:txEl>
                                          </p:spTgt>
                                        </p:tgtEl>
                                        <p:attrNameLst>
                                          <p:attrName>style.visibility</p:attrName>
                                        </p:attrNameLst>
                                      </p:cBhvr>
                                      <p:to>
                                        <p:strVal val="visible"/>
                                      </p:to>
                                    </p:set>
                                    <p:anim calcmode="lin" valueType="num">
                                      <p:cBhvr>
                                        <p:cTn id="23" dur="500" fill="hold"/>
                                        <p:tgtEl>
                                          <p:spTgt spid="63493">
                                            <p:txEl>
                                              <p:pRg st="3" end="3"/>
                                            </p:txEl>
                                          </p:spTgt>
                                        </p:tgtEl>
                                        <p:attrNameLst>
                                          <p:attrName>ppt_x</p:attrName>
                                        </p:attrNameLst>
                                      </p:cBhvr>
                                      <p:tavLst>
                                        <p:tav tm="0">
                                          <p:val>
                                            <p:strVal val="#ppt_x"/>
                                          </p:val>
                                        </p:tav>
                                        <p:tav tm="100000">
                                          <p:val>
                                            <p:strVal val="#ppt_x"/>
                                          </p:val>
                                        </p:tav>
                                      </p:tavLst>
                                    </p:anim>
                                    <p:anim calcmode="lin" valueType="num">
                                      <p:cBhvr>
                                        <p:cTn id="24" dur="500" fill="hold"/>
                                        <p:tgtEl>
                                          <p:spTgt spid="6349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63493">
                                            <p:txEl>
                                              <p:pRg st="4" end="4"/>
                                            </p:txEl>
                                          </p:spTgt>
                                        </p:tgtEl>
                                        <p:attrNameLst>
                                          <p:attrName>style.visibility</p:attrName>
                                        </p:attrNameLst>
                                      </p:cBhvr>
                                      <p:to>
                                        <p:strVal val="visible"/>
                                      </p:to>
                                    </p:set>
                                    <p:anim calcmode="lin" valueType="num">
                                      <p:cBhvr>
                                        <p:cTn id="27" dur="500" fill="hold"/>
                                        <p:tgtEl>
                                          <p:spTgt spid="63493">
                                            <p:txEl>
                                              <p:pRg st="4" end="4"/>
                                            </p:txEl>
                                          </p:spTgt>
                                        </p:tgtEl>
                                        <p:attrNameLst>
                                          <p:attrName>ppt_x</p:attrName>
                                        </p:attrNameLst>
                                      </p:cBhvr>
                                      <p:tavLst>
                                        <p:tav tm="0">
                                          <p:val>
                                            <p:strVal val="#ppt_x"/>
                                          </p:val>
                                        </p:tav>
                                        <p:tav tm="100000">
                                          <p:val>
                                            <p:strVal val="#ppt_x"/>
                                          </p:val>
                                        </p:tav>
                                      </p:tavLst>
                                    </p:anim>
                                    <p:anim calcmode="lin" valueType="num">
                                      <p:cBhvr>
                                        <p:cTn id="28" dur="500" fill="hold"/>
                                        <p:tgtEl>
                                          <p:spTgt spid="6349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63494"/>
                                        </p:tgtEl>
                                        <p:attrNameLst>
                                          <p:attrName>style.visibility</p:attrName>
                                        </p:attrNameLst>
                                      </p:cBhvr>
                                      <p:to>
                                        <p:strVal val="visible"/>
                                      </p:to>
                                    </p:set>
                                    <p:animEffect transition="in" filter="dissolve">
                                      <p:cBhvr>
                                        <p:cTn id="33" dur="500"/>
                                        <p:tgtEl>
                                          <p:spTgt spid="634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3" grpId="0" build="p"/>
      <p:bldP spid="63494"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p:cNvSpPr/>
          <p:nvPr/>
        </p:nvSpPr>
        <p:spPr>
          <a:xfrm>
            <a:off x="501650" y="7810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2</a:t>
            </a:r>
            <a:r>
              <a:rPr lang="zh-CN" altLang="en-US" sz="2800" dirty="0">
                <a:solidFill>
                  <a:srgbClr val="FF0000"/>
                </a:solidFill>
                <a:latin typeface="黑体" panose="02010609060101010101" pitchFamily="1" charset="-122"/>
                <a:ea typeface="黑体" panose="02010609060101010101" pitchFamily="1" charset="-122"/>
              </a:rPr>
              <a:t>、故障恢复导论</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62466"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四、数据库的故障恢复技术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62467" name="Rectangle 3"/>
          <p:cNvSpPr txBox="1"/>
          <p:nvPr/>
        </p:nvSpPr>
        <p:spPr>
          <a:xfrm>
            <a:off x="581025" y="1909763"/>
            <a:ext cx="8139113" cy="1931987"/>
          </a:xfrm>
          <a:prstGeom prst="rect">
            <a:avLst/>
          </a:prstGeom>
          <a:noFill/>
          <a:ln w="9525">
            <a:noFill/>
          </a:ln>
        </p:spPr>
        <p:txBody>
          <a:bodyPr anchor="t"/>
          <a:lstStyle/>
          <a:p>
            <a:pPr marL="342900" lvl="0" indent="-342900" eaLnBrk="0" hangingPunct="0">
              <a:lnSpc>
                <a:spcPct val="114000"/>
              </a:lnSpc>
              <a:spcBef>
                <a:spcPts val="3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周期性</a:t>
            </a:r>
            <a:r>
              <a:rPr lang="en-US" altLang="x-none" sz="2400" dirty="0">
                <a:latin typeface="华文楷体" panose="02010600040101010101" pitchFamily="2" charset="-122"/>
                <a:ea typeface="宋体" panose="02010600030101010101" pitchFamily="2" charset="-122"/>
              </a:rPr>
              <a:t>(</a:t>
            </a:r>
            <a:r>
              <a:rPr lang="zh-CN" altLang="en-US" sz="2400" dirty="0">
                <a:latin typeface="华文楷体" panose="02010600040101010101" pitchFamily="2" charset="-122"/>
                <a:ea typeface="宋体" panose="02010600030101010101" pitchFamily="2" charset="-122"/>
              </a:rPr>
              <a:t>天、周</a:t>
            </a:r>
            <a:r>
              <a:rPr lang="en-US" altLang="x-none" sz="2400" dirty="0">
                <a:latin typeface="华文楷体" panose="02010600040101010101" pitchFamily="2" charset="-122"/>
                <a:ea typeface="宋体" panose="02010600030101010101" pitchFamily="2" charset="-122"/>
              </a:rPr>
              <a:t>)</a:t>
            </a:r>
            <a:r>
              <a:rPr lang="zh-CN" altLang="en-US" sz="2400" dirty="0">
                <a:latin typeface="华文楷体" panose="02010600040101010101" pitchFamily="2" charset="-122"/>
                <a:ea typeface="宋体" panose="02010600030101010101" pitchFamily="2" charset="-122"/>
              </a:rPr>
              <a:t>转储（</a:t>
            </a:r>
            <a:r>
              <a:rPr lang="en-US" altLang="x-none" sz="2400" dirty="0">
                <a:latin typeface="华文楷体" panose="02010600040101010101" pitchFamily="2" charset="-122"/>
                <a:ea typeface="宋体" panose="02010600030101010101" pitchFamily="2" charset="-122"/>
              </a:rPr>
              <a:t>Dump)</a:t>
            </a:r>
            <a:r>
              <a:rPr lang="zh-CN" altLang="en-US" sz="2400" dirty="0">
                <a:latin typeface="华文楷体" panose="02010600040101010101" pitchFamily="2" charset="-122"/>
                <a:ea typeface="宋体" panose="02010600030101010101" pitchFamily="2" charset="-122"/>
              </a:rPr>
              <a:t>数据库到磁带上。备份时间一般在夜间、周末。</a:t>
            </a:r>
            <a:endParaRPr lang="zh-CN" altLang="en-US" sz="2400" dirty="0">
              <a:latin typeface="华文楷体" panose="02010600040101010101" pitchFamily="2" charset="-122"/>
              <a:ea typeface="宋体" panose="02010600030101010101" pitchFamily="2" charset="-122"/>
            </a:endParaRPr>
          </a:p>
          <a:p>
            <a:pPr marL="342900" lvl="0" indent="-342900" eaLnBrk="0" hangingPunct="0">
              <a:lnSpc>
                <a:spcPct val="114000"/>
              </a:lnSpc>
              <a:spcBef>
                <a:spcPts val="3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出现故障时，取离故障点最近的后备副本来恢复。</a:t>
            </a:r>
            <a:endParaRPr lang="zh-CN" altLang="en-US" sz="2400" dirty="0">
              <a:latin typeface="华文楷体" panose="02010600040101010101" pitchFamily="2" charset="-122"/>
              <a:ea typeface="宋体" panose="02010600030101010101" pitchFamily="2" charset="-122"/>
            </a:endParaRPr>
          </a:p>
          <a:p>
            <a:pPr marL="342900" lvl="0" indent="-342900" eaLnBrk="0" hangingPunct="0">
              <a:lnSpc>
                <a:spcPct val="114000"/>
              </a:lnSpc>
              <a:spcBef>
                <a:spcPts val="3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缺点是：丢失数据。</a:t>
            </a:r>
            <a:endParaRPr lang="zh-CN" altLang="en-US" sz="2400" dirty="0">
              <a:latin typeface="华文楷体" panose="02010600040101010101" pitchFamily="2" charset="-122"/>
              <a:ea typeface="宋体" panose="02010600030101010101" pitchFamily="2" charset="-122"/>
            </a:endParaRPr>
          </a:p>
        </p:txBody>
      </p:sp>
      <p:graphicFrame>
        <p:nvGraphicFramePr>
          <p:cNvPr id="64517" name="Object 2"/>
          <p:cNvGraphicFramePr>
            <a:graphicFrameLocks noChangeAspect="1"/>
          </p:cNvGraphicFramePr>
          <p:nvPr/>
        </p:nvGraphicFramePr>
        <p:xfrm>
          <a:off x="804863" y="3487738"/>
          <a:ext cx="7785100" cy="2938462"/>
        </p:xfrm>
        <a:graphic>
          <a:graphicData uri="http://schemas.openxmlformats.org/presentationml/2006/ole">
            <mc:AlternateContent xmlns:mc="http://schemas.openxmlformats.org/markup-compatibility/2006">
              <mc:Choice xmlns:v="urn:schemas-microsoft-com:vml" Requires="v">
                <p:oleObj spid="_x0000_s10262" name="" r:id="rId1" imgW="4472940" imgH="1684655" progId="Word.Picture.8">
                  <p:embed/>
                </p:oleObj>
              </mc:Choice>
              <mc:Fallback>
                <p:oleObj name="" r:id="rId1" imgW="4472940" imgH="1684655" progId="Word.Picture.8">
                  <p:embed/>
                  <p:pic>
                    <p:nvPicPr>
                      <p:cNvPr id="0" name="图片 3079"/>
                      <p:cNvPicPr/>
                      <p:nvPr/>
                    </p:nvPicPr>
                    <p:blipFill>
                      <a:blip r:embed="rId2"/>
                      <a:stretch>
                        <a:fillRect/>
                      </a:stretch>
                    </p:blipFill>
                    <p:spPr>
                      <a:xfrm>
                        <a:off x="804863" y="3487738"/>
                        <a:ext cx="7785100" cy="2938462"/>
                      </a:xfrm>
                      <a:prstGeom prst="rect">
                        <a:avLst/>
                      </a:prstGeom>
                      <a:noFill/>
                      <a:ln w="38100">
                        <a:noFill/>
                        <a:miter/>
                      </a:ln>
                    </p:spPr>
                  </p:pic>
                </p:oleObj>
              </mc:Fallback>
            </mc:AlternateContent>
          </a:graphicData>
        </a:graphic>
      </p:graphicFrame>
      <p:sp>
        <p:nvSpPr>
          <p:cNvPr id="62469" name="Rectangle 7"/>
          <p:cNvSpPr/>
          <p:nvPr/>
        </p:nvSpPr>
        <p:spPr>
          <a:xfrm>
            <a:off x="374650" y="1296988"/>
            <a:ext cx="3662363" cy="609600"/>
          </a:xfrm>
          <a:prstGeom prst="rect">
            <a:avLst/>
          </a:prstGeom>
          <a:noFill/>
          <a:ln w="9525">
            <a:noFill/>
          </a:ln>
        </p:spPr>
        <p:txBody>
          <a:bodyPr wrap="none" anchor="ctr"/>
          <a:lstStyle/>
          <a:p>
            <a:pPr lvl="0" indent="0" algn="just">
              <a:spcBef>
                <a:spcPct val="20000"/>
              </a:spcBef>
              <a:buClr>
                <a:schemeClr val="folHlink"/>
              </a:buClr>
              <a:buSzPct val="75000"/>
            </a:pPr>
            <a:r>
              <a:rPr lang="zh-CN" altLang="en-US" sz="2600" dirty="0">
                <a:solidFill>
                  <a:srgbClr val="0033CC"/>
                </a:solidFill>
                <a:latin typeface="黑体" panose="02010609060101010101" pitchFamily="1" charset="-122"/>
                <a:ea typeface="黑体" panose="02010609060101010101" pitchFamily="1" charset="-122"/>
              </a:rPr>
              <a:t>（</a:t>
            </a:r>
            <a:r>
              <a:rPr lang="en-US" altLang="x-none" sz="2600" dirty="0">
                <a:solidFill>
                  <a:srgbClr val="0033CC"/>
                </a:solidFill>
                <a:latin typeface="黑体" panose="02010609060101010101" pitchFamily="1" charset="-122"/>
                <a:ea typeface="黑体" panose="02010609060101010101" pitchFamily="1" charset="-122"/>
              </a:rPr>
              <a:t>3</a:t>
            </a:r>
            <a:r>
              <a:rPr lang="zh-CN" altLang="en-US" sz="2600" dirty="0">
                <a:solidFill>
                  <a:srgbClr val="0033CC"/>
                </a:solidFill>
                <a:latin typeface="黑体" panose="02010609060101010101" pitchFamily="1" charset="-122"/>
                <a:ea typeface="黑体" panose="02010609060101010101" pitchFamily="1" charset="-122"/>
              </a:rPr>
              <a:t>）单纯以后备副本为基础的恢复技术</a:t>
            </a:r>
            <a:endParaRPr lang="zh-CN" altLang="en-US" sz="2600" dirty="0">
              <a:solidFill>
                <a:srgbClr val="0033CC"/>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645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p:cNvSpPr/>
          <p:nvPr/>
        </p:nvSpPr>
        <p:spPr>
          <a:xfrm>
            <a:off x="501650" y="7810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2</a:t>
            </a:r>
            <a:r>
              <a:rPr lang="zh-CN" altLang="en-US" sz="2800" dirty="0">
                <a:solidFill>
                  <a:srgbClr val="FF0000"/>
                </a:solidFill>
                <a:latin typeface="黑体" panose="02010609060101010101" pitchFamily="1" charset="-122"/>
                <a:ea typeface="黑体" panose="02010609060101010101" pitchFamily="1" charset="-122"/>
              </a:rPr>
              <a:t>、故障恢复导论</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63490"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四、数据库的故障恢复技术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65540" name="Text Box 4"/>
          <p:cNvSpPr txBox="1"/>
          <p:nvPr/>
        </p:nvSpPr>
        <p:spPr>
          <a:xfrm>
            <a:off x="538163" y="1374775"/>
            <a:ext cx="8135937" cy="2074863"/>
          </a:xfrm>
          <a:prstGeom prst="rect">
            <a:avLst/>
          </a:prstGeom>
          <a:noFill/>
          <a:ln w="9525">
            <a:noFill/>
          </a:ln>
        </p:spPr>
        <p:txBody>
          <a:bodyPr anchor="t">
            <a:spAutoFit/>
          </a:bodyPr>
          <a:lstStyle/>
          <a:p>
            <a:pPr lvl="0" indent="0">
              <a:lnSpc>
                <a:spcPct val="110000"/>
              </a:lnSpc>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 备份点后增加几次增量转储。</a:t>
            </a:r>
            <a:endParaRPr lang="zh-CN" altLang="en-US" sz="2400" dirty="0">
              <a:latin typeface="宋体" panose="02010600030101010101" pitchFamily="2" charset="-122"/>
              <a:ea typeface="宋体" panose="02010600030101010101" pitchFamily="2" charset="-122"/>
            </a:endParaRPr>
          </a:p>
          <a:p>
            <a:pPr lvl="0" indent="0">
              <a:lnSpc>
                <a:spcPct val="110000"/>
              </a:lnSpc>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 </a:t>
            </a:r>
            <a:r>
              <a:rPr lang="zh-CN" altLang="en-US" sz="2400" u="sng" dirty="0">
                <a:solidFill>
                  <a:srgbClr val="0033CC"/>
                </a:solidFill>
                <a:latin typeface="宋体" panose="02010600030101010101" pitchFamily="2" charset="-122"/>
                <a:ea typeface="宋体" panose="02010600030101010101" pitchFamily="2" charset="-122"/>
              </a:rPr>
              <a:t>增量转储</a:t>
            </a:r>
            <a:r>
              <a:rPr lang="en-US" altLang="x-none" sz="2400" u="sng" dirty="0">
                <a:solidFill>
                  <a:srgbClr val="0033CC"/>
                </a:solidFill>
                <a:latin typeface="宋体" panose="02010600030101010101" pitchFamily="2" charset="-122"/>
                <a:ea typeface="宋体" panose="02010600030101010101" pitchFamily="2" charset="-122"/>
              </a:rPr>
              <a:t>(Incremental Dumping, ID)</a:t>
            </a:r>
            <a:r>
              <a:rPr lang="zh-CN" altLang="en-US" sz="2400" u="sng" dirty="0">
                <a:solidFill>
                  <a:srgbClr val="0033CC"/>
                </a:solidFill>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在某个时间转储修改过的物理块，减少转储时间、存储空间和数据丢失。</a:t>
            </a:r>
            <a:endParaRPr lang="zh-CN" altLang="en-US" sz="2400" dirty="0">
              <a:latin typeface="宋体" panose="02010600030101010101" pitchFamily="2" charset="-122"/>
              <a:ea typeface="宋体" panose="02010600030101010101" pitchFamily="2" charset="-122"/>
            </a:endParaRPr>
          </a:p>
          <a:p>
            <a:pPr lvl="0" indent="0">
              <a:lnSpc>
                <a:spcPct val="110000"/>
              </a:lnSpc>
              <a:buFont typeface="Wingdings" panose="05000000000000000000" pitchFamily="2" charset="2"/>
              <a:buChar char="Ø"/>
            </a:pPr>
            <a:r>
              <a:rPr lang="zh-CN" altLang="en-US" sz="2400" dirty="0">
                <a:solidFill>
                  <a:srgbClr val="0033CC"/>
                </a:solidFill>
                <a:latin typeface="宋体" panose="02010600030101010101" pitchFamily="2" charset="-122"/>
                <a:ea typeface="宋体" panose="02010600030101010101" pitchFamily="2" charset="-122"/>
              </a:rPr>
              <a:t> </a:t>
            </a:r>
            <a:r>
              <a:rPr lang="zh-CN" altLang="en-US" sz="2400" u="sng" dirty="0">
                <a:solidFill>
                  <a:srgbClr val="0033CC"/>
                </a:solidFill>
                <a:latin typeface="宋体" panose="02010600030101010101" pitchFamily="2" charset="-122"/>
                <a:ea typeface="宋体" panose="02010600030101010101" pitchFamily="2" charset="-122"/>
              </a:rPr>
              <a:t>技术特点：</a:t>
            </a:r>
            <a:r>
              <a:rPr lang="zh-CN" altLang="en-US" sz="2400" dirty="0">
                <a:latin typeface="宋体" panose="02010600030101010101" pitchFamily="2" charset="-122"/>
                <a:ea typeface="宋体" panose="02010600030101010101" pitchFamily="2" charset="-122"/>
              </a:rPr>
              <a:t>实现简单，缺点是不能恢复到尽可能近一点的一致状态。只适用于小型或不重要</a:t>
            </a:r>
            <a:r>
              <a:rPr lang="en-US" altLang="x-none" sz="2400" dirty="0">
                <a:latin typeface="宋体" panose="02010600030101010101" pitchFamily="2" charset="-122"/>
                <a:ea typeface="宋体" panose="02010600030101010101" pitchFamily="2" charset="-122"/>
              </a:rPr>
              <a:t>DBS</a:t>
            </a:r>
            <a:r>
              <a:rPr lang="zh-CN" altLang="en-US" sz="2400" dirty="0">
                <a:latin typeface="宋体" panose="02010600030101010101" pitchFamily="2" charset="-122"/>
                <a:ea typeface="宋体" panose="02010600030101010101" pitchFamily="2" charset="-122"/>
              </a:rPr>
              <a:t>。</a:t>
            </a:r>
            <a:endParaRPr lang="zh-CN" altLang="en-US" sz="2400" dirty="0">
              <a:latin typeface="宋体" panose="02010600030101010101" pitchFamily="2" charset="-122"/>
              <a:ea typeface="宋体" panose="02010600030101010101" pitchFamily="2" charset="-122"/>
            </a:endParaRPr>
          </a:p>
        </p:txBody>
      </p:sp>
      <p:graphicFrame>
        <p:nvGraphicFramePr>
          <p:cNvPr id="65541" name="Object 2"/>
          <p:cNvGraphicFramePr>
            <a:graphicFrameLocks noGrp="1" noChangeAspect="1"/>
          </p:cNvGraphicFramePr>
          <p:nvPr/>
        </p:nvGraphicFramePr>
        <p:xfrm>
          <a:off x="601663" y="3417888"/>
          <a:ext cx="8056562" cy="2895600"/>
        </p:xfrm>
        <a:graphic>
          <a:graphicData uri="http://schemas.openxmlformats.org/presentationml/2006/ole">
            <mc:AlternateContent xmlns:mc="http://schemas.openxmlformats.org/markup-compatibility/2006">
              <mc:Choice xmlns:v="urn:schemas-microsoft-com:vml" Requires="v">
                <p:oleObj spid="_x0000_s11286" name="" r:id="rId1" imgW="4472940" imgH="1646555" progId="Word.Picture.8">
                  <p:embed/>
                </p:oleObj>
              </mc:Choice>
              <mc:Fallback>
                <p:oleObj name="" r:id="rId1" imgW="4472940" imgH="1646555" progId="Word.Picture.8">
                  <p:embed/>
                  <p:pic>
                    <p:nvPicPr>
                      <p:cNvPr id="0" name="图片 3080"/>
                      <p:cNvPicPr/>
                      <p:nvPr/>
                    </p:nvPicPr>
                    <p:blipFill>
                      <a:blip r:embed="rId2"/>
                      <a:stretch>
                        <a:fillRect/>
                      </a:stretch>
                    </p:blipFill>
                    <p:spPr>
                      <a:xfrm>
                        <a:off x="601663" y="3417888"/>
                        <a:ext cx="8056562" cy="2895600"/>
                      </a:xfrm>
                      <a:prstGeom prst="rect">
                        <a:avLst/>
                      </a:prstGeom>
                      <a:noFill/>
                      <a:ln w="38100">
                        <a:noFill/>
                        <a:miter/>
                      </a:ln>
                    </p:spPr>
                  </p:pic>
                </p:oleObj>
              </mc:Fallback>
            </mc:AlternateContent>
          </a:graphicData>
        </a:graphic>
      </p:graphicFrame>
      <p:sp>
        <p:nvSpPr>
          <p:cNvPr id="63493" name="Rectangle 7"/>
          <p:cNvSpPr/>
          <p:nvPr/>
        </p:nvSpPr>
        <p:spPr>
          <a:xfrm>
            <a:off x="6162675" y="830263"/>
            <a:ext cx="2495550" cy="609600"/>
          </a:xfrm>
          <a:prstGeom prst="rect">
            <a:avLst/>
          </a:prstGeom>
          <a:noFill/>
          <a:ln w="9525">
            <a:noFill/>
          </a:ln>
        </p:spPr>
        <p:txBody>
          <a:bodyPr wrap="none" anchor="ctr"/>
          <a:lstStyle/>
          <a:p>
            <a:pPr lvl="0" indent="0" algn="just">
              <a:spcBef>
                <a:spcPct val="20000"/>
              </a:spcBef>
              <a:buClr>
                <a:schemeClr val="folHlink"/>
              </a:buClr>
              <a:buSzPct val="75000"/>
            </a:pPr>
            <a:r>
              <a:rPr lang="zh-CN" altLang="en-US" sz="2600" dirty="0">
                <a:solidFill>
                  <a:srgbClr val="0033CC"/>
                </a:solidFill>
                <a:latin typeface="黑体" panose="02010609060101010101" pitchFamily="1" charset="-122"/>
                <a:ea typeface="黑体" panose="02010609060101010101" pitchFamily="1" charset="-122"/>
              </a:rPr>
              <a:t>（</a:t>
            </a:r>
            <a:r>
              <a:rPr lang="en-US" altLang="x-none" sz="2600" dirty="0">
                <a:solidFill>
                  <a:srgbClr val="0033CC"/>
                </a:solidFill>
                <a:latin typeface="黑体" panose="02010609060101010101" pitchFamily="1" charset="-122"/>
                <a:ea typeface="黑体" panose="02010609060101010101" pitchFamily="1" charset="-122"/>
              </a:rPr>
              <a:t>4</a:t>
            </a:r>
            <a:r>
              <a:rPr lang="zh-CN" altLang="en-US" sz="2600" dirty="0">
                <a:solidFill>
                  <a:srgbClr val="0033CC"/>
                </a:solidFill>
                <a:latin typeface="黑体" panose="02010609060101010101" pitchFamily="1" charset="-122"/>
                <a:ea typeface="黑体" panose="02010609060101010101" pitchFamily="1" charset="-122"/>
              </a:rPr>
              <a:t>）改进方法</a:t>
            </a:r>
            <a:endParaRPr lang="zh-CN" altLang="en-US" sz="2600" dirty="0">
              <a:solidFill>
                <a:srgbClr val="0033CC"/>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5540"/>
                                        </p:tgtEl>
                                        <p:attrNameLst>
                                          <p:attrName>style.visibility</p:attrName>
                                        </p:attrNameLst>
                                      </p:cBhvr>
                                      <p:to>
                                        <p:strVal val="visible"/>
                                      </p:to>
                                    </p:set>
                                    <p:animEffect transition="in" filter="checkerboard(across)">
                                      <p:cBhvr>
                                        <p:cTn id="7" dur="500"/>
                                        <p:tgtEl>
                                          <p:spTgt spid="6554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5541"/>
                                        </p:tgtEl>
                                        <p:attrNameLst>
                                          <p:attrName>style.visibility</p:attrName>
                                        </p:attrNameLst>
                                      </p:cBhvr>
                                      <p:to>
                                        <p:strVal val="visible"/>
                                      </p:to>
                                    </p:set>
                                    <p:anim calcmode="lin" valueType="num">
                                      <p:cBhvr>
                                        <p:cTn id="12" dur="500" fill="hold"/>
                                        <p:tgtEl>
                                          <p:spTgt spid="65541"/>
                                        </p:tgtEl>
                                        <p:attrNameLst>
                                          <p:attrName>ppt_x</p:attrName>
                                        </p:attrNameLst>
                                      </p:cBhvr>
                                      <p:tavLst>
                                        <p:tav tm="0">
                                          <p:val>
                                            <p:strVal val="#ppt_x"/>
                                          </p:val>
                                        </p:tav>
                                        <p:tav tm="100000">
                                          <p:val>
                                            <p:strVal val="#ppt_x"/>
                                          </p:val>
                                        </p:tav>
                                      </p:tavLst>
                                    </p:anim>
                                    <p:anim calcmode="lin" valueType="num">
                                      <p:cBhvr>
                                        <p:cTn id="13" dur="500" fill="hold"/>
                                        <p:tgtEl>
                                          <p:spTgt spid="655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0"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3"/>
          <p:cNvSpPr txBox="1"/>
          <p:nvPr/>
        </p:nvSpPr>
        <p:spPr>
          <a:xfrm>
            <a:off x="579438" y="2027238"/>
            <a:ext cx="8147050" cy="3810000"/>
          </a:xfrm>
          <a:prstGeom prst="rect">
            <a:avLst/>
          </a:prstGeom>
          <a:noFill/>
          <a:ln w="9525">
            <a:noFill/>
          </a:ln>
        </p:spPr>
        <p:txBody>
          <a:bodyPr anchor="t">
            <a:spAutoFit/>
          </a:bodyPr>
          <a:lstStyle/>
          <a:p>
            <a:pPr lvl="0" indent="0">
              <a:lnSpc>
                <a:spcPct val="114000"/>
              </a:lnSpc>
              <a:spcBef>
                <a:spcPct val="50000"/>
              </a:spcBef>
              <a:buFont typeface="Wingdings" panose="05000000000000000000" pitchFamily="2" charset="2"/>
              <a:buChar char="Ø"/>
            </a:pPr>
            <a:r>
              <a:rPr lang="zh-CN" altLang="en-US" sz="2400" u="sng" dirty="0">
                <a:solidFill>
                  <a:srgbClr val="CC0000"/>
                </a:solidFill>
                <a:latin typeface="宋体" panose="02010600030101010101" pitchFamily="2" charset="-122"/>
                <a:ea typeface="宋体" panose="02010600030101010101" pitchFamily="2" charset="-122"/>
              </a:rPr>
              <a:t>日志（</a:t>
            </a:r>
            <a:r>
              <a:rPr lang="en-US" altLang="x-none" sz="2400" u="sng" dirty="0">
                <a:solidFill>
                  <a:srgbClr val="CC0000"/>
                </a:solidFill>
                <a:latin typeface="宋体" panose="02010600030101010101" pitchFamily="2" charset="-122"/>
                <a:ea typeface="宋体" panose="02010600030101010101" pitchFamily="2" charset="-122"/>
              </a:rPr>
              <a:t>Log</a:t>
            </a:r>
            <a:r>
              <a:rPr lang="zh-CN" altLang="en-US" sz="2400" u="sng" dirty="0">
                <a:solidFill>
                  <a:srgbClr val="CC0000"/>
                </a:solidFill>
                <a:latin typeface="宋体" panose="02010600030101010101" pitchFamily="2" charset="-122"/>
                <a:ea typeface="宋体" panose="02010600030101010101" pitchFamily="2" charset="-122"/>
              </a:rPr>
              <a:t>）：</a:t>
            </a:r>
            <a:r>
              <a:rPr lang="zh-CN" altLang="en-US" sz="2400" dirty="0">
                <a:latin typeface="华文楷体" panose="02010600040101010101" pitchFamily="2" charset="-122"/>
                <a:ea typeface="华文楷体" panose="02010600040101010101" pitchFamily="2" charset="-122"/>
              </a:rPr>
              <a:t>供恢复用的</a:t>
            </a:r>
            <a:r>
              <a:rPr lang="en-US" altLang="x-none" sz="2400" dirty="0">
                <a:latin typeface="华文楷体" panose="02010600040101010101" pitchFamily="2" charset="-122"/>
                <a:ea typeface="华文楷体" panose="02010600040101010101" pitchFamily="2" charset="-122"/>
              </a:rPr>
              <a:t>DB</a:t>
            </a:r>
            <a:r>
              <a:rPr lang="zh-CN" altLang="en-US" sz="2400" dirty="0">
                <a:latin typeface="华文楷体" panose="02010600040101010101" pitchFamily="2" charset="-122"/>
                <a:ea typeface="华文楷体" panose="02010600040101010101" pitchFamily="2" charset="-122"/>
              </a:rPr>
              <a:t>运行情况的记录。其内容有：前像、后像和事务状态（各种事务表）。</a:t>
            </a:r>
            <a:endParaRPr lang="zh-CN" altLang="en-US" sz="2400" dirty="0">
              <a:latin typeface="华文楷体" panose="02010600040101010101" pitchFamily="2" charset="-122"/>
              <a:ea typeface="华文楷体" panose="02010600040101010101" pitchFamily="2" charset="-122"/>
            </a:endParaRPr>
          </a:p>
          <a:p>
            <a:pPr lvl="0" indent="0">
              <a:lnSpc>
                <a:spcPct val="114000"/>
              </a:lnSpc>
              <a:spcBef>
                <a:spcPct val="50000"/>
              </a:spcBef>
              <a:buFont typeface="Wingdings" panose="05000000000000000000" pitchFamily="2" charset="2"/>
              <a:buChar char="Ø"/>
            </a:pPr>
            <a:r>
              <a:rPr lang="zh-CN" altLang="en-US" sz="2400" u="sng" dirty="0">
                <a:solidFill>
                  <a:srgbClr val="CC0000"/>
                </a:solidFill>
                <a:latin typeface="宋体" panose="02010600030101010101" pitchFamily="2" charset="-122"/>
                <a:ea typeface="宋体" panose="02010600030101010101" pitchFamily="2" charset="-122"/>
              </a:rPr>
              <a:t>前像（</a:t>
            </a:r>
            <a:r>
              <a:rPr lang="en-US" altLang="x-none" sz="2400" u="sng" dirty="0">
                <a:solidFill>
                  <a:srgbClr val="CC0000"/>
                </a:solidFill>
                <a:latin typeface="宋体" panose="02010600030101010101" pitchFamily="2" charset="-122"/>
                <a:ea typeface="宋体" panose="02010600030101010101" pitchFamily="2" charset="-122"/>
              </a:rPr>
              <a:t>BI</a:t>
            </a:r>
            <a:r>
              <a:rPr lang="zh-CN" altLang="en-US" sz="2400" u="sng" dirty="0">
                <a:solidFill>
                  <a:srgbClr val="CC0000"/>
                </a:solidFill>
                <a:latin typeface="宋体" panose="02010600030101010101" pitchFamily="2" charset="-122"/>
                <a:ea typeface="宋体" panose="02010600030101010101" pitchFamily="2" charset="-122"/>
              </a:rPr>
              <a:t>）：</a:t>
            </a:r>
            <a:r>
              <a:rPr lang="zh-CN" altLang="en-US" sz="2400" dirty="0">
                <a:latin typeface="华文楷体" panose="02010600040101010101" pitchFamily="2" charset="-122"/>
                <a:ea typeface="华文楷体" panose="02010600040101010101" pitchFamily="2" charset="-122"/>
              </a:rPr>
              <a:t>事务所更新的数据所在物理块在更新前的映象</a:t>
            </a:r>
            <a:r>
              <a:rPr lang="en-US" altLang="x-none" sz="2400" dirty="0">
                <a:latin typeface="华文楷体" panose="02010600040101010101" pitchFamily="2" charset="-122"/>
                <a:ea typeface="华文楷体" panose="02010600040101010101" pitchFamily="2" charset="-122"/>
              </a:rPr>
              <a:t>(Before Image, BI)</a:t>
            </a:r>
            <a:r>
              <a:rPr lang="zh-CN" altLang="en-US" sz="2400" dirty="0">
                <a:latin typeface="华文楷体" panose="02010600040101010101" pitchFamily="2" charset="-122"/>
                <a:ea typeface="华文楷体" panose="02010600040101010101" pitchFamily="2" charset="-122"/>
              </a:rPr>
              <a:t>。当撤销</a:t>
            </a:r>
            <a:r>
              <a:rPr lang="en-US" altLang="x-none" sz="2400" dirty="0">
                <a:latin typeface="华文楷体" panose="02010600040101010101" pitchFamily="2" charset="-122"/>
                <a:ea typeface="华文楷体" panose="02010600040101010101" pitchFamily="2" charset="-122"/>
              </a:rPr>
              <a:t>(Undo)</a:t>
            </a:r>
            <a:r>
              <a:rPr lang="zh-CN" altLang="en-US" sz="2400" dirty="0">
                <a:latin typeface="华文楷体" panose="02010600040101010101" pitchFamily="2" charset="-122"/>
                <a:ea typeface="华文楷体" panose="02010600040101010101" pitchFamily="2" charset="-122"/>
              </a:rPr>
              <a:t>更新，使</a:t>
            </a:r>
            <a:r>
              <a:rPr lang="en-US" altLang="x-none" sz="2400" dirty="0">
                <a:latin typeface="华文楷体" panose="02010600040101010101" pitchFamily="2" charset="-122"/>
                <a:ea typeface="华文楷体" panose="02010600040101010101" pitchFamily="2" charset="-122"/>
              </a:rPr>
              <a:t>DB</a:t>
            </a:r>
            <a:r>
              <a:rPr lang="zh-CN" altLang="en-US" sz="2400" dirty="0">
                <a:latin typeface="华文楷体" panose="02010600040101010101" pitchFamily="2" charset="-122"/>
                <a:ea typeface="华文楷体" panose="02010600040101010101" pitchFamily="2" charset="-122"/>
              </a:rPr>
              <a:t>恢复到更新前的状态时，用前像覆盖事务所做的更新。</a:t>
            </a:r>
            <a:endParaRPr lang="zh-CN" altLang="en-US" sz="2400" dirty="0">
              <a:latin typeface="华文楷体" panose="02010600040101010101" pitchFamily="2" charset="-122"/>
              <a:ea typeface="华文楷体" panose="02010600040101010101" pitchFamily="2" charset="-122"/>
            </a:endParaRPr>
          </a:p>
          <a:p>
            <a:pPr lvl="0" indent="0">
              <a:lnSpc>
                <a:spcPct val="114000"/>
              </a:lnSpc>
              <a:spcBef>
                <a:spcPct val="50000"/>
              </a:spcBef>
              <a:buFont typeface="Wingdings" panose="05000000000000000000" pitchFamily="2" charset="2"/>
              <a:buChar char="Ø"/>
            </a:pPr>
            <a:r>
              <a:rPr lang="zh-CN" altLang="en-US" sz="2400" u="sng" dirty="0">
                <a:solidFill>
                  <a:srgbClr val="CC0000"/>
                </a:solidFill>
                <a:latin typeface="宋体" panose="02010600030101010101" pitchFamily="2" charset="-122"/>
                <a:ea typeface="宋体" panose="02010600030101010101" pitchFamily="2" charset="-122"/>
              </a:rPr>
              <a:t>后像（</a:t>
            </a:r>
            <a:r>
              <a:rPr lang="en-US" altLang="x-none" sz="2400" u="sng" dirty="0">
                <a:solidFill>
                  <a:srgbClr val="CC0000"/>
                </a:solidFill>
                <a:latin typeface="宋体" panose="02010600030101010101" pitchFamily="2" charset="-122"/>
                <a:ea typeface="宋体" panose="02010600030101010101" pitchFamily="2" charset="-122"/>
              </a:rPr>
              <a:t>AI</a:t>
            </a:r>
            <a:r>
              <a:rPr lang="zh-CN" altLang="en-US" sz="2400" u="sng" dirty="0">
                <a:solidFill>
                  <a:srgbClr val="CC0000"/>
                </a:solidFill>
                <a:latin typeface="宋体" panose="02010600030101010101" pitchFamily="2" charset="-122"/>
                <a:ea typeface="宋体" panose="02010600030101010101" pitchFamily="2" charset="-122"/>
              </a:rPr>
              <a:t>）：</a:t>
            </a:r>
            <a:r>
              <a:rPr lang="zh-CN" altLang="en-US" sz="2400" dirty="0">
                <a:latin typeface="华文楷体" panose="02010600040101010101" pitchFamily="2" charset="-122"/>
                <a:ea typeface="华文楷体" panose="02010600040101010101" pitchFamily="2" charset="-122"/>
              </a:rPr>
              <a:t>所涉及物理块更新后的映象</a:t>
            </a:r>
            <a:r>
              <a:rPr lang="en-US" altLang="x-none" sz="2400" dirty="0">
                <a:latin typeface="华文楷体" panose="02010600040101010101" pitchFamily="2" charset="-122"/>
                <a:ea typeface="华文楷体" panose="02010600040101010101" pitchFamily="2" charset="-122"/>
              </a:rPr>
              <a:t>(After Image, AI)</a:t>
            </a:r>
            <a:r>
              <a:rPr lang="zh-CN" altLang="en-US" sz="2400" dirty="0">
                <a:latin typeface="华文楷体" panose="02010600040101010101" pitchFamily="2" charset="-122"/>
                <a:ea typeface="华文楷体" panose="02010600040101010101" pitchFamily="2" charset="-122"/>
              </a:rPr>
              <a:t>。如重做</a:t>
            </a:r>
            <a:r>
              <a:rPr lang="en-US" altLang="x-none" sz="2400" dirty="0">
                <a:latin typeface="华文楷体" panose="02010600040101010101" pitchFamily="2" charset="-122"/>
                <a:ea typeface="华文楷体" panose="02010600040101010101" pitchFamily="2" charset="-122"/>
              </a:rPr>
              <a:t>(Redo)</a:t>
            </a:r>
            <a:r>
              <a:rPr lang="zh-CN" altLang="en-US" sz="2400" dirty="0">
                <a:latin typeface="华文楷体" panose="02010600040101010101" pitchFamily="2" charset="-122"/>
                <a:ea typeface="华文楷体" panose="02010600040101010101" pitchFamily="2" charset="-122"/>
              </a:rPr>
              <a:t>更新，可使</a:t>
            </a:r>
            <a:r>
              <a:rPr lang="en-US" altLang="x-none" sz="2400" dirty="0">
                <a:latin typeface="华文楷体" panose="02010600040101010101" pitchFamily="2" charset="-122"/>
                <a:ea typeface="华文楷体" panose="02010600040101010101" pitchFamily="2" charset="-122"/>
              </a:rPr>
              <a:t>DB</a:t>
            </a:r>
            <a:r>
              <a:rPr lang="zh-CN" altLang="en-US" sz="2400" dirty="0">
                <a:latin typeface="华文楷体" panose="02010600040101010101" pitchFamily="2" charset="-122"/>
                <a:ea typeface="华文楷体" panose="02010600040101010101" pitchFamily="2" charset="-122"/>
              </a:rPr>
              <a:t>恢复到更新后的状态，即用后像覆盖所在的物理块，就能使数据库恢复到更新后的状态。</a:t>
            </a:r>
            <a:endParaRPr lang="zh-CN" altLang="en-US" sz="2400" dirty="0">
              <a:latin typeface="华文楷体" panose="02010600040101010101" pitchFamily="2" charset="-122"/>
              <a:ea typeface="华文楷体" panose="02010600040101010101" pitchFamily="2" charset="-122"/>
            </a:endParaRPr>
          </a:p>
        </p:txBody>
      </p:sp>
      <p:sp>
        <p:nvSpPr>
          <p:cNvPr id="64514" name="Rectangle 7"/>
          <p:cNvSpPr/>
          <p:nvPr/>
        </p:nvSpPr>
        <p:spPr>
          <a:xfrm>
            <a:off x="560388" y="7810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2</a:t>
            </a:r>
            <a:r>
              <a:rPr lang="zh-CN" altLang="en-US" sz="2800" dirty="0">
                <a:solidFill>
                  <a:srgbClr val="FF0000"/>
                </a:solidFill>
                <a:latin typeface="黑体" panose="02010609060101010101" pitchFamily="1" charset="-122"/>
                <a:ea typeface="黑体" panose="02010609060101010101" pitchFamily="1" charset="-122"/>
              </a:rPr>
              <a:t>、故障恢复导论</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64515"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四、数据库的故障恢复技术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64516" name="Rectangle 7"/>
          <p:cNvSpPr/>
          <p:nvPr/>
        </p:nvSpPr>
        <p:spPr>
          <a:xfrm>
            <a:off x="1736725" y="1365250"/>
            <a:ext cx="3662363" cy="609600"/>
          </a:xfrm>
          <a:prstGeom prst="rect">
            <a:avLst/>
          </a:prstGeom>
          <a:noFill/>
          <a:ln w="9525">
            <a:noFill/>
          </a:ln>
        </p:spPr>
        <p:txBody>
          <a:bodyPr wrap="none" anchor="ctr"/>
          <a:lstStyle/>
          <a:p>
            <a:pPr lvl="0" indent="0" algn="ctr"/>
            <a:r>
              <a:rPr lang="zh-CN" altLang="en-US" sz="2600" dirty="0">
                <a:solidFill>
                  <a:srgbClr val="0033CC"/>
                </a:solidFill>
                <a:latin typeface="黑体" panose="02010609060101010101" pitchFamily="1" charset="-122"/>
                <a:ea typeface="黑体" panose="02010609060101010101" pitchFamily="1" charset="-122"/>
              </a:rPr>
              <a:t>（</a:t>
            </a:r>
            <a:r>
              <a:rPr lang="en-US" altLang="x-none" sz="2600" dirty="0">
                <a:solidFill>
                  <a:srgbClr val="0033CC"/>
                </a:solidFill>
                <a:latin typeface="黑体" panose="02010609060101010101" pitchFamily="1" charset="-122"/>
                <a:ea typeface="黑体" panose="02010609060101010101" pitchFamily="1" charset="-122"/>
              </a:rPr>
              <a:t>4</a:t>
            </a:r>
            <a:r>
              <a:rPr lang="zh-CN" altLang="en-US" sz="2600" dirty="0">
                <a:solidFill>
                  <a:srgbClr val="0033CC"/>
                </a:solidFill>
                <a:latin typeface="黑体" panose="02010609060101010101" pitchFamily="1" charset="-122"/>
                <a:ea typeface="黑体" panose="02010609060101010101" pitchFamily="1" charset="-122"/>
              </a:rPr>
              <a:t>）以后备副本和日志为基础的恢复技术</a:t>
            </a:r>
            <a:endParaRPr lang="zh-CN" altLang="en-US" sz="2600" dirty="0">
              <a:solidFill>
                <a:srgbClr val="0033CC"/>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6562"/>
                                        </p:tgtEl>
                                        <p:attrNameLst>
                                          <p:attrName>style.visibility</p:attrName>
                                        </p:attrNameLst>
                                      </p:cBhvr>
                                      <p:to>
                                        <p:strVal val="visible"/>
                                      </p:to>
                                    </p:set>
                                    <p:animEffect transition="in" filter="checkerboard(across)">
                                      <p:cBhvr>
                                        <p:cTn id="7" dur="500"/>
                                        <p:tgtEl>
                                          <p:spTgt spid="665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2"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p:cNvSpPr/>
          <p:nvPr/>
        </p:nvSpPr>
        <p:spPr>
          <a:xfrm>
            <a:off x="560388" y="7810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2</a:t>
            </a:r>
            <a:r>
              <a:rPr lang="zh-CN" altLang="en-US" sz="2800" dirty="0">
                <a:solidFill>
                  <a:srgbClr val="FF0000"/>
                </a:solidFill>
                <a:latin typeface="黑体" panose="02010609060101010101" pitchFamily="1" charset="-122"/>
                <a:ea typeface="黑体" panose="02010609060101010101" pitchFamily="1" charset="-122"/>
              </a:rPr>
              <a:t>、故障恢复导论</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65538"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四、数据库的故障恢复技术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graphicFrame>
        <p:nvGraphicFramePr>
          <p:cNvPr id="67588" name="Object 2"/>
          <p:cNvGraphicFramePr>
            <a:graphicFrameLocks noGrp="1" noChangeAspect="1"/>
          </p:cNvGraphicFramePr>
          <p:nvPr/>
        </p:nvGraphicFramePr>
        <p:xfrm>
          <a:off x="650875" y="1009650"/>
          <a:ext cx="7880350" cy="2832100"/>
        </p:xfrm>
        <a:graphic>
          <a:graphicData uri="http://schemas.openxmlformats.org/presentationml/2006/ole">
            <mc:AlternateContent xmlns:mc="http://schemas.openxmlformats.org/markup-compatibility/2006">
              <mc:Choice xmlns:v="urn:schemas-microsoft-com:vml" Requires="v">
                <p:oleObj spid="_x0000_s12310" name="" r:id="rId1" imgW="4472940" imgH="1684655" progId="Word.Picture.8">
                  <p:embed/>
                </p:oleObj>
              </mc:Choice>
              <mc:Fallback>
                <p:oleObj name="" r:id="rId1" imgW="4472940" imgH="1684655" progId="Word.Picture.8">
                  <p:embed/>
                  <p:pic>
                    <p:nvPicPr>
                      <p:cNvPr id="0" name="图片 3081"/>
                      <p:cNvPicPr/>
                      <p:nvPr/>
                    </p:nvPicPr>
                    <p:blipFill>
                      <a:blip r:embed="rId2"/>
                      <a:stretch>
                        <a:fillRect/>
                      </a:stretch>
                    </p:blipFill>
                    <p:spPr>
                      <a:xfrm>
                        <a:off x="650875" y="1009650"/>
                        <a:ext cx="7880350" cy="2832100"/>
                      </a:xfrm>
                      <a:prstGeom prst="rect">
                        <a:avLst/>
                      </a:prstGeom>
                      <a:noFill/>
                      <a:ln w="38100">
                        <a:noFill/>
                        <a:miter/>
                      </a:ln>
                    </p:spPr>
                  </p:pic>
                </p:oleObj>
              </mc:Fallback>
            </mc:AlternateContent>
          </a:graphicData>
        </a:graphic>
      </p:graphicFrame>
      <p:sp>
        <p:nvSpPr>
          <p:cNvPr id="67589" name="Text Box 3"/>
          <p:cNvSpPr txBox="1"/>
          <p:nvPr/>
        </p:nvSpPr>
        <p:spPr>
          <a:xfrm>
            <a:off x="482600" y="3757613"/>
            <a:ext cx="8301038" cy="2555875"/>
          </a:xfrm>
          <a:prstGeom prst="rect">
            <a:avLst/>
          </a:prstGeom>
          <a:noFill/>
          <a:ln w="9525">
            <a:noFill/>
          </a:ln>
        </p:spPr>
        <p:txBody>
          <a:bodyPr anchor="t">
            <a:spAutoFit/>
          </a:bodyPr>
          <a:lstStyle/>
          <a:p>
            <a:pPr lvl="0" indent="0">
              <a:buFont typeface="Wingdings" panose="05000000000000000000" pitchFamily="2" charset="2"/>
              <a:buChar char="Ø"/>
            </a:pPr>
            <a:r>
              <a:rPr lang="zh-CN" altLang="en-US" sz="2400" u="sng" dirty="0">
                <a:solidFill>
                  <a:srgbClr val="0033CC"/>
                </a:solidFill>
                <a:latin typeface="宋体" panose="02010600030101010101" pitchFamily="2" charset="-122"/>
                <a:ea typeface="宋体" panose="02010600030101010101" pitchFamily="2" charset="-122"/>
              </a:rPr>
              <a:t>故障事务处理的依据：</a:t>
            </a:r>
            <a:r>
              <a:rPr lang="zh-CN" altLang="en-US" sz="2200" dirty="0">
                <a:latin typeface="宋体" panose="02010600030101010101" pitchFamily="2" charset="-122"/>
                <a:ea typeface="华文楷体" panose="02010600040101010101" pitchFamily="2" charset="-122"/>
              </a:rPr>
              <a:t>事务是已提交，还是未提交。</a:t>
            </a:r>
            <a:endParaRPr lang="zh-CN" altLang="en-US" sz="2200" dirty="0">
              <a:latin typeface="宋体" panose="02010600030101010101" pitchFamily="2" charset="-122"/>
              <a:ea typeface="华文楷体" panose="02010600040101010101" pitchFamily="2" charset="-122"/>
            </a:endParaRPr>
          </a:p>
          <a:p>
            <a:pPr lvl="0" indent="0">
              <a:buFont typeface="Wingdings" panose="05000000000000000000" pitchFamily="2" charset="2"/>
              <a:buChar char="Ø"/>
            </a:pPr>
            <a:r>
              <a:rPr lang="zh-CN" altLang="en-US" sz="2400" u="sng" dirty="0">
                <a:solidFill>
                  <a:srgbClr val="0033CC"/>
                </a:solidFill>
                <a:latin typeface="宋体" panose="02010600030101010101" pitchFamily="2" charset="-122"/>
                <a:ea typeface="宋体" panose="02010600030101010101" pitchFamily="2" charset="-122"/>
              </a:rPr>
              <a:t>系统处理：</a:t>
            </a:r>
            <a:r>
              <a:rPr lang="zh-CN" altLang="en-US" sz="2200" dirty="0">
                <a:latin typeface="方正姚体" panose="02010601030101010101" pitchFamily="2" charset="-122"/>
                <a:ea typeface="华文楷体" panose="02010600040101010101" pitchFamily="2" charset="-122"/>
              </a:rPr>
              <a:t>事务一旦开始，即记入日志，并跟踪事务两种状态，一是活动状态（记录正在执行的事务），二是提交状态（区分事务是否提交）。</a:t>
            </a:r>
            <a:endParaRPr lang="zh-CN" altLang="en-US" sz="2200" dirty="0">
              <a:latin typeface="方正姚体" panose="02010601030101010101" pitchFamily="2" charset="-122"/>
              <a:ea typeface="华文楷体" panose="02010600040101010101" pitchFamily="2" charset="-122"/>
            </a:endParaRPr>
          </a:p>
          <a:p>
            <a:pPr lvl="0" indent="0">
              <a:buFont typeface="Wingdings" panose="05000000000000000000" pitchFamily="2" charset="2"/>
              <a:buChar char="Ø"/>
            </a:pPr>
            <a:r>
              <a:rPr lang="zh-CN" altLang="en-US" sz="2400" u="sng" dirty="0">
                <a:solidFill>
                  <a:srgbClr val="0033CC"/>
                </a:solidFill>
                <a:latin typeface="宋体" panose="02010600030101010101" pitchFamily="2" charset="-122"/>
                <a:ea typeface="宋体" panose="02010600030101010101" pitchFamily="2" charset="-122"/>
              </a:rPr>
              <a:t>恢复方法：</a:t>
            </a:r>
            <a:r>
              <a:rPr lang="zh-CN" altLang="en-US" sz="2200" dirty="0">
                <a:latin typeface="宋体" panose="02010600030101010101" pitchFamily="2" charset="-122"/>
                <a:ea typeface="华文楷体" panose="02010600040101010101" pitchFamily="2" charset="-122"/>
              </a:rPr>
              <a:t>故障排除后，先取最近副本，然后根据日志中的事务是否提交作相应处理。对未提交事务，应用前像回退；对已提交事务一般用后像重做。</a:t>
            </a:r>
            <a:endParaRPr lang="zh-CN" altLang="en-US" sz="2200" dirty="0">
              <a:latin typeface="方正姚体" panose="02010601030101010101" pitchFamily="2" charset="-122"/>
              <a:ea typeface="华文楷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7588"/>
                                        </p:tgtEl>
                                        <p:attrNameLst>
                                          <p:attrName>style.visibility</p:attrName>
                                        </p:attrNameLst>
                                      </p:cBhvr>
                                      <p:to>
                                        <p:strVal val="visible"/>
                                      </p:to>
                                    </p:set>
                                    <p:animEffect transition="in" filter="box(in)">
                                      <p:cBhvr>
                                        <p:cTn id="7" dur="500"/>
                                        <p:tgtEl>
                                          <p:spTgt spid="67588"/>
                                        </p:tgtEl>
                                      </p:cBhvr>
                                    </p:animEffect>
                                  </p:childTnLst>
                                </p:cTn>
                              </p:par>
                            </p:childTnLst>
                          </p:cTn>
                        </p:par>
                        <p:par>
                          <p:cTn id="8" fill="hold">
                            <p:stCondLst>
                              <p:cond delay="500"/>
                            </p:stCondLst>
                            <p:childTnLst>
                              <p:par>
                                <p:cTn id="9" presetID="4" presetClass="entr" presetSubtype="16" fill="hold" grpId="0" nodeType="afterEffect">
                                  <p:stCondLst>
                                    <p:cond delay="0"/>
                                  </p:stCondLst>
                                  <p:childTnLst>
                                    <p:set>
                                      <p:cBhvr>
                                        <p:cTn id="10" dur="1" fill="hold">
                                          <p:stCondLst>
                                            <p:cond delay="0"/>
                                          </p:stCondLst>
                                        </p:cTn>
                                        <p:tgtEl>
                                          <p:spTgt spid="67589"/>
                                        </p:tgtEl>
                                        <p:attrNameLst>
                                          <p:attrName>style.visibility</p:attrName>
                                        </p:attrNameLst>
                                      </p:cBhvr>
                                      <p:to>
                                        <p:strVal val="visible"/>
                                      </p:to>
                                    </p:set>
                                    <p:animEffect transition="in" filter="box(in)">
                                      <p:cBhvr>
                                        <p:cTn id="11" dur="500"/>
                                        <p:tgtEl>
                                          <p:spTgt spid="675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9"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3"/>
          <p:cNvSpPr txBox="1"/>
          <p:nvPr/>
        </p:nvSpPr>
        <p:spPr>
          <a:xfrm>
            <a:off x="590550" y="1997075"/>
            <a:ext cx="8137525" cy="4219575"/>
          </a:xfrm>
          <a:prstGeom prst="rect">
            <a:avLst/>
          </a:prstGeom>
          <a:noFill/>
          <a:ln w="9525">
            <a:noFill/>
          </a:ln>
        </p:spPr>
        <p:txBody>
          <a:bodyPr anchor="t"/>
          <a:lstStyle/>
          <a:p>
            <a:pPr marL="342900" lvl="0" indent="-342900" eaLnBrk="0" hangingPunct="0">
              <a:spcBef>
                <a:spcPct val="20000"/>
              </a:spcBef>
              <a:buClr>
                <a:srgbClr val="0033CC"/>
              </a:buClr>
              <a:buSzPct val="80000"/>
              <a:buFont typeface="Wingdings" panose="05000000000000000000" pitchFamily="2" charset="2"/>
              <a:buChar char="p"/>
            </a:pPr>
            <a:r>
              <a:rPr lang="zh-CN" altLang="en-US" sz="2400" u="sng" dirty="0">
                <a:solidFill>
                  <a:srgbClr val="0033CC"/>
                </a:solidFill>
                <a:latin typeface="华文楷体" panose="02010600040101010101" pitchFamily="2" charset="-122"/>
                <a:ea typeface="宋体" panose="02010600030101010101" pitchFamily="2" charset="-122"/>
              </a:rPr>
              <a:t>方法：</a:t>
            </a:r>
            <a:r>
              <a:rPr lang="zh-CN" altLang="en-US" sz="2400" dirty="0">
                <a:latin typeface="华文楷体" panose="02010600040101010101" pitchFamily="2" charset="-122"/>
                <a:ea typeface="宋体" panose="02010600030101010101" pitchFamily="2" charset="-122"/>
              </a:rPr>
              <a:t>利用多副本互为备份、恢复。</a:t>
            </a:r>
            <a:endParaRPr lang="zh-CN" altLang="en-US" sz="2400" dirty="0">
              <a:latin typeface="华文楷体" panose="02010600040101010101" pitchFamily="2" charset="-122"/>
              <a:ea typeface="宋体" panose="02010600030101010101" pitchFamily="2" charset="-122"/>
            </a:endParaRPr>
          </a:p>
          <a:p>
            <a:pPr marL="342900" lvl="0" indent="-342900" eaLnBrk="0" hangingPunct="0">
              <a:spcBef>
                <a:spcPct val="20000"/>
              </a:spcBef>
              <a:buClr>
                <a:srgbClr val="0033CC"/>
              </a:buClr>
              <a:buSzPct val="80000"/>
            </a:pPr>
            <a:r>
              <a:rPr lang="zh-CN" altLang="en-US" sz="2000" dirty="0">
                <a:latin typeface="华文楷体" panose="02010600040101010101" pitchFamily="2" charset="-122"/>
                <a:ea typeface="宋体" panose="02010600030101010101" pitchFamily="2" charset="-122"/>
              </a:rPr>
              <a:t>                                        镜像磁盘</a:t>
            </a:r>
            <a:endParaRPr lang="zh-CN" altLang="en-US" sz="2000" dirty="0">
              <a:latin typeface="华文楷体" panose="02010600040101010101" pitchFamily="2" charset="-122"/>
              <a:ea typeface="宋体" panose="02010600030101010101" pitchFamily="2" charset="-122"/>
            </a:endParaRPr>
          </a:p>
          <a:p>
            <a:pPr marL="342900" lvl="0" indent="-342900" eaLnBrk="0" hangingPunct="0">
              <a:buClr>
                <a:srgbClr val="0033CC"/>
              </a:buClr>
              <a:buSzPct val="80000"/>
            </a:pPr>
            <a:r>
              <a:rPr lang="zh-CN" altLang="en-US" sz="2000" dirty="0">
                <a:latin typeface="华文楷体" panose="02010600040101010101" pitchFamily="2" charset="-122"/>
                <a:ea typeface="宋体" panose="02010600030101010101" pitchFamily="2" charset="-122"/>
              </a:rPr>
              <a:t>               操作系统级     双工磁盘</a:t>
            </a:r>
            <a:endParaRPr lang="zh-CN" altLang="en-US" sz="2000" dirty="0">
              <a:latin typeface="华文楷体" panose="02010600040101010101" pitchFamily="2" charset="-122"/>
              <a:ea typeface="宋体" panose="02010600030101010101" pitchFamily="2" charset="-122"/>
            </a:endParaRPr>
          </a:p>
          <a:p>
            <a:pPr marL="342900" lvl="0" indent="-342900" eaLnBrk="0" hangingPunct="0">
              <a:spcBef>
                <a:spcPct val="20000"/>
              </a:spcBef>
              <a:buClr>
                <a:srgbClr val="0033CC"/>
              </a:buClr>
              <a:buSzPct val="80000"/>
            </a:pPr>
            <a:r>
              <a:rPr lang="zh-CN" altLang="en-US" sz="2000" dirty="0">
                <a:latin typeface="华文楷体" panose="02010600040101010101" pitchFamily="2" charset="-122"/>
                <a:ea typeface="宋体" panose="02010600030101010101" pitchFamily="2" charset="-122"/>
              </a:rPr>
              <a:t>                                        镜像服务器</a:t>
            </a:r>
            <a:endParaRPr lang="zh-CN" altLang="en-US" sz="2000" dirty="0">
              <a:latin typeface="华文楷体" panose="02010600040101010101" pitchFamily="2" charset="-122"/>
              <a:ea typeface="宋体" panose="02010600030101010101" pitchFamily="2" charset="-122"/>
            </a:endParaRPr>
          </a:p>
          <a:p>
            <a:pPr marL="342900" lvl="0" indent="-342900" eaLnBrk="0" hangingPunct="0">
              <a:spcBef>
                <a:spcPct val="20000"/>
              </a:spcBef>
              <a:buClr>
                <a:srgbClr val="0033CC"/>
              </a:buClr>
              <a:buSzPct val="80000"/>
            </a:pPr>
            <a:r>
              <a:rPr lang="zh-CN" altLang="en-US" sz="2000" dirty="0">
                <a:latin typeface="华文楷体" panose="02010600040101010101" pitchFamily="2" charset="-122"/>
                <a:ea typeface="宋体" panose="02010600030101010101" pitchFamily="2" charset="-122"/>
              </a:rPr>
              <a:t>                                        群集系统</a:t>
            </a:r>
            <a:endParaRPr lang="zh-CN" altLang="en-US" sz="2000" dirty="0">
              <a:latin typeface="华文楷体" panose="02010600040101010101" pitchFamily="2" charset="-122"/>
              <a:ea typeface="宋体" panose="02010600030101010101" pitchFamily="2" charset="-122"/>
            </a:endParaRPr>
          </a:p>
          <a:p>
            <a:pPr marL="342900" lvl="0" indent="-342900" eaLnBrk="0" hangingPunct="0">
              <a:spcBef>
                <a:spcPct val="20000"/>
              </a:spcBef>
              <a:buClr>
                <a:srgbClr val="0033CC"/>
              </a:buClr>
              <a:buSzPct val="80000"/>
            </a:pPr>
            <a:r>
              <a:rPr lang="zh-CN" altLang="en-US" sz="2000" dirty="0">
                <a:latin typeface="华文楷体" panose="02010600040101010101" pitchFamily="2" charset="-122"/>
                <a:ea typeface="宋体" panose="02010600030101010101" pitchFamily="2" charset="-122"/>
              </a:rPr>
              <a:t>技术</a:t>
            </a:r>
            <a:endParaRPr lang="zh-CN" altLang="en-US" sz="2000" dirty="0">
              <a:latin typeface="华文楷体" panose="02010600040101010101" pitchFamily="2" charset="-122"/>
              <a:ea typeface="宋体" panose="02010600030101010101" pitchFamily="2" charset="-122"/>
            </a:endParaRPr>
          </a:p>
          <a:p>
            <a:pPr marL="342900" lvl="0" indent="-342900" eaLnBrk="0" hangingPunct="0">
              <a:spcBef>
                <a:spcPct val="20000"/>
              </a:spcBef>
              <a:buClr>
                <a:srgbClr val="0033CC"/>
              </a:buClr>
              <a:buSzPct val="80000"/>
            </a:pPr>
            <a:r>
              <a:rPr lang="zh-CN" altLang="en-US" sz="2000" dirty="0">
                <a:latin typeface="华文楷体" panose="02010600040101010101" pitchFamily="2" charset="-122"/>
                <a:ea typeface="宋体" panose="02010600030101010101" pitchFamily="2" charset="-122"/>
              </a:rPr>
              <a:t>                                        数据库复制</a:t>
            </a:r>
            <a:endParaRPr lang="zh-CN" altLang="en-US" sz="2000" dirty="0">
              <a:latin typeface="华文楷体" panose="02010600040101010101" pitchFamily="2" charset="-122"/>
              <a:ea typeface="宋体" panose="02010600030101010101" pitchFamily="2" charset="-122"/>
            </a:endParaRPr>
          </a:p>
          <a:p>
            <a:pPr marL="342900" lvl="0" indent="-342900" eaLnBrk="0" hangingPunct="0">
              <a:spcBef>
                <a:spcPct val="20000"/>
              </a:spcBef>
              <a:buClr>
                <a:srgbClr val="0033CC"/>
              </a:buClr>
              <a:buSzPct val="80000"/>
            </a:pPr>
            <a:r>
              <a:rPr lang="zh-CN" altLang="en-US" sz="2000" dirty="0">
                <a:latin typeface="华文楷体" panose="02010600040101010101" pitchFamily="2" charset="-122"/>
                <a:ea typeface="宋体" panose="02010600030101010101" pitchFamily="2" charset="-122"/>
              </a:rPr>
              <a:t>                </a:t>
            </a:r>
            <a:r>
              <a:rPr lang="en-US" altLang="x-none" sz="2000" dirty="0">
                <a:latin typeface="华文楷体" panose="02010600040101010101" pitchFamily="2" charset="-122"/>
                <a:ea typeface="宋体" panose="02010600030101010101" pitchFamily="2" charset="-122"/>
              </a:rPr>
              <a:t>DBMS</a:t>
            </a:r>
            <a:r>
              <a:rPr lang="zh-CN" altLang="en-US" sz="2000" dirty="0">
                <a:latin typeface="华文楷体" panose="02010600040101010101" pitchFamily="2" charset="-122"/>
                <a:ea typeface="宋体" panose="02010600030101010101" pitchFamily="2" charset="-122"/>
              </a:rPr>
              <a:t>级         数据库镜像</a:t>
            </a:r>
            <a:endParaRPr lang="zh-CN" altLang="en-US" sz="2000" dirty="0">
              <a:latin typeface="华文楷体" panose="02010600040101010101" pitchFamily="2" charset="-122"/>
              <a:ea typeface="宋体" panose="02010600030101010101" pitchFamily="2" charset="-122"/>
            </a:endParaRPr>
          </a:p>
          <a:p>
            <a:pPr marL="342900" lvl="0" indent="-342900" eaLnBrk="0" hangingPunct="0">
              <a:spcBef>
                <a:spcPct val="20000"/>
              </a:spcBef>
              <a:buClr>
                <a:srgbClr val="0033CC"/>
              </a:buClr>
              <a:buSzPct val="80000"/>
            </a:pPr>
            <a:r>
              <a:rPr lang="zh-CN" altLang="en-US" sz="2000" dirty="0">
                <a:latin typeface="华文楷体" panose="02010600040101010101" pitchFamily="2" charset="-122"/>
                <a:ea typeface="宋体" panose="02010600030101010101" pitchFamily="2" charset="-122"/>
              </a:rPr>
              <a:t>                                        日志镜像</a:t>
            </a:r>
            <a:endParaRPr lang="zh-CN" altLang="en-US" sz="2000" dirty="0">
              <a:latin typeface="华文楷体" panose="02010600040101010101" pitchFamily="2" charset="-122"/>
              <a:ea typeface="宋体" panose="02010600030101010101" pitchFamily="2" charset="-122"/>
            </a:endParaRPr>
          </a:p>
        </p:txBody>
      </p:sp>
      <p:sp>
        <p:nvSpPr>
          <p:cNvPr id="68611" name="AutoShape 4"/>
          <p:cNvSpPr/>
          <p:nvPr/>
        </p:nvSpPr>
        <p:spPr>
          <a:xfrm>
            <a:off x="1179513" y="3044825"/>
            <a:ext cx="434975" cy="2043113"/>
          </a:xfrm>
          <a:prstGeom prst="leftBrace">
            <a:avLst>
              <a:gd name="adj1" fmla="val 47036"/>
              <a:gd name="adj2" fmla="val 50000"/>
            </a:avLst>
          </a:prstGeom>
          <a:noFill/>
          <a:ln w="38100" cap="flat" cmpd="sng">
            <a:solidFill>
              <a:srgbClr val="CC0000"/>
            </a:solidFill>
            <a:prstDash val="solid"/>
            <a:round/>
            <a:headEnd type="none" w="med" len="med"/>
            <a:tailEnd type="none" w="med" len="med"/>
          </a:ln>
        </p:spPr>
        <p:txBody>
          <a:bodyPr wrap="none" lIns="90000" tIns="46800" rIns="90000" bIns="46800" anchor="ctr"/>
          <a:lstStyle/>
          <a:p>
            <a:pPr lvl="0" indent="0" algn="ctr"/>
            <a:endParaRPr lang="zh-CN" altLang="en-US" sz="3600" dirty="0">
              <a:solidFill>
                <a:srgbClr val="CC0000"/>
              </a:solidFill>
              <a:latin typeface="宋体" panose="02010600030101010101" pitchFamily="2" charset="-122"/>
              <a:ea typeface="宋体" panose="02010600030101010101" pitchFamily="2" charset="-122"/>
            </a:endParaRPr>
          </a:p>
        </p:txBody>
      </p:sp>
      <p:sp>
        <p:nvSpPr>
          <p:cNvPr id="68612" name="AutoShape 5"/>
          <p:cNvSpPr/>
          <p:nvPr/>
        </p:nvSpPr>
        <p:spPr>
          <a:xfrm>
            <a:off x="2924175" y="2559050"/>
            <a:ext cx="227013" cy="1235075"/>
          </a:xfrm>
          <a:prstGeom prst="leftBrace">
            <a:avLst>
              <a:gd name="adj1" fmla="val 43650"/>
              <a:gd name="adj2" fmla="val 50000"/>
            </a:avLst>
          </a:prstGeom>
          <a:noFill/>
          <a:ln w="38100" cap="flat" cmpd="sng">
            <a:solidFill>
              <a:srgbClr val="CC0000"/>
            </a:solidFill>
            <a:prstDash val="solid"/>
            <a:round/>
            <a:headEnd type="none" w="med" len="med"/>
            <a:tailEnd type="none" w="med" len="med"/>
          </a:ln>
        </p:spPr>
        <p:txBody>
          <a:bodyPr wrap="none" lIns="90000" tIns="46800" rIns="90000" bIns="46800" anchor="ctr"/>
          <a:lstStyle/>
          <a:p>
            <a:pPr lvl="0" indent="0" algn="ctr"/>
            <a:endParaRPr lang="zh-CN" altLang="en-US" sz="3600" dirty="0">
              <a:solidFill>
                <a:srgbClr val="CC0000"/>
              </a:solidFill>
              <a:latin typeface="宋体" panose="02010600030101010101" pitchFamily="2" charset="-122"/>
              <a:ea typeface="宋体" panose="02010600030101010101" pitchFamily="2" charset="-122"/>
            </a:endParaRPr>
          </a:p>
        </p:txBody>
      </p:sp>
      <p:sp>
        <p:nvSpPr>
          <p:cNvPr id="68613" name="AutoShape 6"/>
          <p:cNvSpPr/>
          <p:nvPr/>
        </p:nvSpPr>
        <p:spPr>
          <a:xfrm>
            <a:off x="2871788" y="4319588"/>
            <a:ext cx="269875" cy="960437"/>
          </a:xfrm>
          <a:prstGeom prst="leftBrace">
            <a:avLst>
              <a:gd name="adj1" fmla="val 29014"/>
              <a:gd name="adj2" fmla="val 50000"/>
            </a:avLst>
          </a:prstGeom>
          <a:noFill/>
          <a:ln w="38100" cap="flat" cmpd="sng">
            <a:solidFill>
              <a:srgbClr val="CC0000"/>
            </a:solidFill>
            <a:prstDash val="solid"/>
            <a:round/>
            <a:headEnd type="none" w="med" len="med"/>
            <a:tailEnd type="none" w="med" len="med"/>
          </a:ln>
        </p:spPr>
        <p:txBody>
          <a:bodyPr wrap="none" lIns="90000" tIns="46800" rIns="90000" bIns="46800" anchor="ctr"/>
          <a:lstStyle/>
          <a:p>
            <a:pPr lvl="0" indent="0" algn="ctr"/>
            <a:endParaRPr lang="zh-CN" altLang="en-US" sz="3600" dirty="0">
              <a:solidFill>
                <a:srgbClr val="CC0000"/>
              </a:solidFill>
              <a:latin typeface="宋体" panose="02010600030101010101" pitchFamily="2" charset="-122"/>
              <a:ea typeface="宋体" panose="02010600030101010101" pitchFamily="2" charset="-122"/>
            </a:endParaRPr>
          </a:p>
        </p:txBody>
      </p:sp>
      <p:sp>
        <p:nvSpPr>
          <p:cNvPr id="66565" name="Rectangle 7"/>
          <p:cNvSpPr/>
          <p:nvPr/>
        </p:nvSpPr>
        <p:spPr>
          <a:xfrm>
            <a:off x="560388" y="7810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2</a:t>
            </a:r>
            <a:r>
              <a:rPr lang="zh-CN" altLang="en-US" sz="2800" dirty="0">
                <a:solidFill>
                  <a:srgbClr val="FF0000"/>
                </a:solidFill>
                <a:latin typeface="黑体" panose="02010609060101010101" pitchFamily="1" charset="-122"/>
                <a:ea typeface="黑体" panose="02010609060101010101" pitchFamily="1" charset="-122"/>
              </a:rPr>
              <a:t>、故障恢复导论</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66566"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四、数据库的故障恢复技术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66567" name="Rectangle 7"/>
          <p:cNvSpPr/>
          <p:nvPr/>
        </p:nvSpPr>
        <p:spPr>
          <a:xfrm>
            <a:off x="374650" y="1316038"/>
            <a:ext cx="5403850" cy="609600"/>
          </a:xfrm>
          <a:prstGeom prst="rect">
            <a:avLst/>
          </a:prstGeom>
          <a:noFill/>
          <a:ln w="9525">
            <a:noFill/>
          </a:ln>
        </p:spPr>
        <p:txBody>
          <a:bodyPr wrap="none" anchor="ctr"/>
          <a:lstStyle/>
          <a:p>
            <a:pPr lvl="0" indent="0" algn="ctr"/>
            <a:r>
              <a:rPr lang="zh-CN" altLang="en-US" sz="2600" dirty="0">
                <a:solidFill>
                  <a:srgbClr val="0033CC"/>
                </a:solidFill>
                <a:latin typeface="黑体" panose="02010609060101010101" pitchFamily="1" charset="-122"/>
                <a:ea typeface="黑体" panose="02010609060101010101" pitchFamily="1" charset="-122"/>
              </a:rPr>
              <a:t>（</a:t>
            </a:r>
            <a:r>
              <a:rPr lang="en-US" altLang="x-none" sz="2600" dirty="0">
                <a:solidFill>
                  <a:srgbClr val="0033CC"/>
                </a:solidFill>
                <a:latin typeface="黑体" panose="02010609060101010101" pitchFamily="1" charset="-122"/>
                <a:ea typeface="黑体" panose="02010609060101010101" pitchFamily="1" charset="-122"/>
              </a:rPr>
              <a:t>5</a:t>
            </a:r>
            <a:r>
              <a:rPr lang="zh-CN" altLang="en-US" sz="2600" dirty="0">
                <a:solidFill>
                  <a:srgbClr val="0033CC"/>
                </a:solidFill>
                <a:latin typeface="黑体" panose="02010609060101010101" pitchFamily="1" charset="-122"/>
                <a:ea typeface="黑体" panose="02010609060101010101" pitchFamily="1" charset="-122"/>
              </a:rPr>
              <a:t>）基于多副本的数据库恢复技术</a:t>
            </a:r>
            <a:endParaRPr lang="zh-CN" altLang="en-US" sz="2600" dirty="0">
              <a:solidFill>
                <a:srgbClr val="0033CC"/>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68611"/>
                                        </p:tgtEl>
                                        <p:attrNameLst>
                                          <p:attrName>style.visibility</p:attrName>
                                        </p:attrNameLst>
                                      </p:cBhvr>
                                      <p:to>
                                        <p:strVal val="visible"/>
                                      </p:to>
                                    </p:set>
                                    <p:anim calcmode="lin" valueType="num">
                                      <p:cBhvr>
                                        <p:cTn id="7" dur="500" fill="hold"/>
                                        <p:tgtEl>
                                          <p:spTgt spid="68611"/>
                                        </p:tgtEl>
                                        <p:attrNameLst>
                                          <p:attrName>ppt_w</p:attrName>
                                        </p:attrNameLst>
                                      </p:cBhvr>
                                      <p:tavLst>
                                        <p:tav tm="0">
                                          <p:val>
                                            <p:fltVal val="0"/>
                                          </p:val>
                                        </p:tav>
                                        <p:tav tm="100000">
                                          <p:val>
                                            <p:strVal val="#ppt_w"/>
                                          </p:val>
                                        </p:tav>
                                      </p:tavLst>
                                    </p:anim>
                                    <p:anim calcmode="lin" valueType="num">
                                      <p:cBhvr>
                                        <p:cTn id="8" dur="500" fill="hold"/>
                                        <p:tgtEl>
                                          <p:spTgt spid="68611"/>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68612"/>
                                        </p:tgtEl>
                                        <p:attrNameLst>
                                          <p:attrName>style.visibility</p:attrName>
                                        </p:attrNameLst>
                                      </p:cBhvr>
                                      <p:to>
                                        <p:strVal val="visible"/>
                                      </p:to>
                                    </p:set>
                                    <p:anim calcmode="lin" valueType="num">
                                      <p:cBhvr>
                                        <p:cTn id="13" dur="500" fill="hold"/>
                                        <p:tgtEl>
                                          <p:spTgt spid="68612"/>
                                        </p:tgtEl>
                                        <p:attrNameLst>
                                          <p:attrName>ppt_w</p:attrName>
                                        </p:attrNameLst>
                                      </p:cBhvr>
                                      <p:tavLst>
                                        <p:tav tm="0">
                                          <p:val>
                                            <p:fltVal val="0"/>
                                          </p:val>
                                        </p:tav>
                                        <p:tav tm="100000">
                                          <p:val>
                                            <p:strVal val="#ppt_w"/>
                                          </p:val>
                                        </p:tav>
                                      </p:tavLst>
                                    </p:anim>
                                    <p:anim calcmode="lin" valueType="num">
                                      <p:cBhvr>
                                        <p:cTn id="14" dur="500" fill="hold"/>
                                        <p:tgtEl>
                                          <p:spTgt spid="68612"/>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68613"/>
                                        </p:tgtEl>
                                        <p:attrNameLst>
                                          <p:attrName>style.visibility</p:attrName>
                                        </p:attrNameLst>
                                      </p:cBhvr>
                                      <p:to>
                                        <p:strVal val="visible"/>
                                      </p:to>
                                    </p:set>
                                    <p:anim calcmode="lin" valueType="num">
                                      <p:cBhvr>
                                        <p:cTn id="19" dur="500" fill="hold"/>
                                        <p:tgtEl>
                                          <p:spTgt spid="68613"/>
                                        </p:tgtEl>
                                        <p:attrNameLst>
                                          <p:attrName>ppt_w</p:attrName>
                                        </p:attrNameLst>
                                      </p:cBhvr>
                                      <p:tavLst>
                                        <p:tav tm="0">
                                          <p:val>
                                            <p:fltVal val="0"/>
                                          </p:val>
                                        </p:tav>
                                        <p:tav tm="100000">
                                          <p:val>
                                            <p:strVal val="#ppt_w"/>
                                          </p:val>
                                        </p:tav>
                                      </p:tavLst>
                                    </p:anim>
                                    <p:anim calcmode="lin" valueType="num">
                                      <p:cBhvr>
                                        <p:cTn id="20" dur="500" fill="hold"/>
                                        <p:tgtEl>
                                          <p:spTgt spid="6861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1" grpId="0" animBg="1"/>
      <p:bldP spid="68612" grpId="0" animBg="1"/>
      <p:bldP spid="68613"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 Box 4"/>
          <p:cNvSpPr txBox="1"/>
          <p:nvPr/>
        </p:nvSpPr>
        <p:spPr>
          <a:xfrm>
            <a:off x="577850" y="1931988"/>
            <a:ext cx="8062913" cy="919162"/>
          </a:xfrm>
          <a:prstGeom prst="rect">
            <a:avLst/>
          </a:prstGeom>
          <a:noFill/>
          <a:ln w="9525">
            <a:noFill/>
          </a:ln>
        </p:spPr>
        <p:txBody>
          <a:bodyPr anchor="t">
            <a:spAutoFit/>
          </a:bodyPr>
          <a:lstStyle/>
          <a:p>
            <a:pPr lvl="0" indent="0">
              <a:lnSpc>
                <a:spcPct val="120000"/>
              </a:lnSpc>
              <a:spcBef>
                <a:spcPct val="50000"/>
              </a:spcBef>
            </a:pPr>
            <a:r>
              <a:rPr lang="zh-CN" altLang="en-US" sz="2400" dirty="0">
                <a:latin typeface="宋体" panose="02010600030101010101" pitchFamily="2" charset="-122"/>
                <a:ea typeface="宋体" panose="02010600030101010101" pitchFamily="2" charset="-122"/>
              </a:rPr>
              <a:t>镜像磁盘（</a:t>
            </a:r>
            <a:r>
              <a:rPr lang="en-US" altLang="x-none" sz="2400" dirty="0">
                <a:latin typeface="宋体" panose="02010600030101010101" pitchFamily="2" charset="-122"/>
                <a:ea typeface="宋体" panose="02010600030101010101" pitchFamily="2" charset="-122"/>
              </a:rPr>
              <a:t>Mirroring Disk</a:t>
            </a:r>
            <a:r>
              <a:rPr lang="zh-CN" altLang="en-US" sz="2400" dirty="0">
                <a:latin typeface="宋体" panose="02010600030101010101" pitchFamily="2" charset="-122"/>
                <a:ea typeface="宋体" panose="02010600030101010101" pitchFamily="2" charset="-122"/>
              </a:rPr>
              <a:t>）、双工磁盘（</a:t>
            </a:r>
            <a:r>
              <a:rPr lang="en-US" altLang="x-none" sz="2400" dirty="0">
                <a:latin typeface="宋体" panose="02010600030101010101" pitchFamily="2" charset="-122"/>
                <a:ea typeface="宋体" panose="02010600030101010101" pitchFamily="2" charset="-122"/>
              </a:rPr>
              <a:t>Duplex Disk</a:t>
            </a:r>
            <a:r>
              <a:rPr lang="zh-CN" altLang="en-US" sz="2400" dirty="0">
                <a:latin typeface="宋体" panose="02010600030101010101" pitchFamily="2" charset="-122"/>
                <a:ea typeface="宋体" panose="02010600030101010101" pitchFamily="2" charset="-122"/>
              </a:rPr>
              <a:t>）、镜像服务器（</a:t>
            </a:r>
            <a:r>
              <a:rPr lang="en-US" altLang="x-none" sz="2400" dirty="0">
                <a:latin typeface="宋体" panose="02010600030101010101" pitchFamily="2" charset="-122"/>
                <a:ea typeface="宋体" panose="02010600030101010101" pitchFamily="2" charset="-122"/>
              </a:rPr>
              <a:t>Mirroring Server</a:t>
            </a:r>
            <a:r>
              <a:rPr lang="zh-CN" altLang="en-US" sz="2400" dirty="0">
                <a:latin typeface="宋体" panose="02010600030101010101" pitchFamily="2" charset="-122"/>
                <a:ea typeface="宋体" panose="02010600030101010101" pitchFamily="2" charset="-122"/>
              </a:rPr>
              <a:t>）、群集（</a:t>
            </a:r>
            <a:r>
              <a:rPr lang="en-US" altLang="x-none" sz="2400" dirty="0">
                <a:latin typeface="宋体" panose="02010600030101010101" pitchFamily="2" charset="-122"/>
                <a:ea typeface="宋体" panose="02010600030101010101" pitchFamily="2" charset="-122"/>
              </a:rPr>
              <a:t>Cluster</a:t>
            </a:r>
            <a:r>
              <a:rPr lang="zh-CN" altLang="en-US" sz="2400" dirty="0">
                <a:latin typeface="宋体" panose="02010600030101010101" pitchFamily="2" charset="-122"/>
                <a:ea typeface="宋体" panose="02010600030101010101" pitchFamily="2" charset="-122"/>
              </a:rPr>
              <a:t>）系统。</a:t>
            </a:r>
            <a:endParaRPr lang="zh-CN" altLang="en-US" sz="2400" dirty="0">
              <a:latin typeface="宋体" panose="02010600030101010101" pitchFamily="2" charset="-122"/>
              <a:ea typeface="宋体" panose="02010600030101010101" pitchFamily="2" charset="-122"/>
            </a:endParaRPr>
          </a:p>
        </p:txBody>
      </p:sp>
      <p:graphicFrame>
        <p:nvGraphicFramePr>
          <p:cNvPr id="69635" name="Object 2"/>
          <p:cNvGraphicFramePr>
            <a:graphicFrameLocks noGrp="1" noChangeAspect="1"/>
          </p:cNvGraphicFramePr>
          <p:nvPr/>
        </p:nvGraphicFramePr>
        <p:xfrm>
          <a:off x="449263" y="3019425"/>
          <a:ext cx="8281987" cy="3263900"/>
        </p:xfrm>
        <a:graphic>
          <a:graphicData uri="http://schemas.openxmlformats.org/presentationml/2006/ole">
            <mc:AlternateContent xmlns:mc="http://schemas.openxmlformats.org/markup-compatibility/2006">
              <mc:Choice xmlns:v="urn:schemas-microsoft-com:vml" Requires="v">
                <p:oleObj spid="_x0000_s13334" name="" r:id="rId1" imgW="3290570" imgH="2330450" progId="Word.Picture.8">
                  <p:embed/>
                </p:oleObj>
              </mc:Choice>
              <mc:Fallback>
                <p:oleObj name="" r:id="rId1" imgW="3290570" imgH="2330450" progId="Word.Picture.8">
                  <p:embed/>
                  <p:pic>
                    <p:nvPicPr>
                      <p:cNvPr id="0" name="图片 3082"/>
                      <p:cNvPicPr/>
                      <p:nvPr/>
                    </p:nvPicPr>
                    <p:blipFill>
                      <a:blip r:embed="rId2"/>
                      <a:stretch>
                        <a:fillRect/>
                      </a:stretch>
                    </p:blipFill>
                    <p:spPr>
                      <a:xfrm>
                        <a:off x="449263" y="3019425"/>
                        <a:ext cx="8281987" cy="3263900"/>
                      </a:xfrm>
                      <a:prstGeom prst="rect">
                        <a:avLst/>
                      </a:prstGeom>
                      <a:noFill/>
                      <a:ln w="38100">
                        <a:noFill/>
                        <a:miter/>
                      </a:ln>
                    </p:spPr>
                  </p:pic>
                </p:oleObj>
              </mc:Fallback>
            </mc:AlternateContent>
          </a:graphicData>
        </a:graphic>
      </p:graphicFrame>
      <p:sp>
        <p:nvSpPr>
          <p:cNvPr id="67587" name="Rectangle 7"/>
          <p:cNvSpPr/>
          <p:nvPr/>
        </p:nvSpPr>
        <p:spPr>
          <a:xfrm>
            <a:off x="560388" y="7810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2</a:t>
            </a:r>
            <a:r>
              <a:rPr lang="zh-CN" altLang="en-US" sz="2800" dirty="0">
                <a:solidFill>
                  <a:srgbClr val="FF0000"/>
                </a:solidFill>
                <a:latin typeface="黑体" panose="02010609060101010101" pitchFamily="1" charset="-122"/>
                <a:ea typeface="黑体" panose="02010609060101010101" pitchFamily="1" charset="-122"/>
              </a:rPr>
              <a:t>、故障恢复导论</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67588"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四、数据库的故障恢复技术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67589" name="Rectangle 7"/>
          <p:cNvSpPr/>
          <p:nvPr/>
        </p:nvSpPr>
        <p:spPr>
          <a:xfrm>
            <a:off x="1677988" y="1316038"/>
            <a:ext cx="5403850" cy="609600"/>
          </a:xfrm>
          <a:prstGeom prst="rect">
            <a:avLst/>
          </a:prstGeom>
          <a:noFill/>
          <a:ln w="9525">
            <a:noFill/>
          </a:ln>
        </p:spPr>
        <p:txBody>
          <a:bodyPr wrap="none" anchor="ctr"/>
          <a:lstStyle/>
          <a:p>
            <a:pPr lvl="0" indent="0" algn="ctr"/>
            <a:r>
              <a:rPr lang="zh-CN" altLang="en-US" sz="2600" dirty="0">
                <a:solidFill>
                  <a:srgbClr val="0033CC"/>
                </a:solidFill>
                <a:latin typeface="黑体" panose="02010609060101010101" pitchFamily="1" charset="-122"/>
                <a:ea typeface="黑体" panose="02010609060101010101" pitchFamily="1" charset="-122"/>
              </a:rPr>
              <a:t>（</a:t>
            </a:r>
            <a:r>
              <a:rPr lang="en-US" altLang="x-none" sz="2600" dirty="0">
                <a:solidFill>
                  <a:srgbClr val="0033CC"/>
                </a:solidFill>
                <a:latin typeface="黑体" panose="02010609060101010101" pitchFamily="1" charset="-122"/>
                <a:ea typeface="黑体" panose="02010609060101010101" pitchFamily="1" charset="-122"/>
              </a:rPr>
              <a:t>5</a:t>
            </a:r>
            <a:r>
              <a:rPr lang="zh-CN" altLang="en-US" sz="2600" dirty="0">
                <a:solidFill>
                  <a:srgbClr val="0033CC"/>
                </a:solidFill>
                <a:latin typeface="黑体" panose="02010609060101010101" pitchFamily="1" charset="-122"/>
                <a:ea typeface="黑体" panose="02010609060101010101" pitchFamily="1" charset="-122"/>
              </a:rPr>
              <a:t>）基于多副本的恢复技术</a:t>
            </a:r>
            <a:r>
              <a:rPr lang="en-US" altLang="x-none" sz="2600" dirty="0">
                <a:solidFill>
                  <a:srgbClr val="0033CC"/>
                </a:solidFill>
                <a:latin typeface="黑体" panose="02010609060101010101" pitchFamily="1" charset="-122"/>
                <a:ea typeface="黑体" panose="02010609060101010101" pitchFamily="1" charset="-122"/>
              </a:rPr>
              <a:t>—</a:t>
            </a:r>
            <a:r>
              <a:rPr lang="zh-CN" altLang="en-US" sz="2600" dirty="0">
                <a:solidFill>
                  <a:srgbClr val="0033CC"/>
                </a:solidFill>
                <a:latin typeface="黑体" panose="02010609060101010101" pitchFamily="1" charset="-122"/>
                <a:ea typeface="黑体" panose="02010609060101010101" pitchFamily="1" charset="-122"/>
              </a:rPr>
              <a:t>操作系统级的恢复技术</a:t>
            </a:r>
            <a:endParaRPr lang="zh-CN" altLang="en-US" sz="2600" dirty="0">
              <a:solidFill>
                <a:srgbClr val="0033CC"/>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9634"/>
                                        </p:tgtEl>
                                        <p:attrNameLst>
                                          <p:attrName>style.visibility</p:attrName>
                                        </p:attrNameLst>
                                      </p:cBhvr>
                                      <p:to>
                                        <p:strVal val="visible"/>
                                      </p:to>
                                    </p:set>
                                    <p:animEffect transition="in" filter="checkerboard(across)">
                                      <p:cBhvr>
                                        <p:cTn id="7" dur="500"/>
                                        <p:tgtEl>
                                          <p:spTgt spid="6963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69635"/>
                                        </p:tgtEl>
                                        <p:attrNameLst>
                                          <p:attrName>style.visibility</p:attrName>
                                        </p:attrNameLst>
                                      </p:cBhvr>
                                      <p:to>
                                        <p:strVal val="visible"/>
                                      </p:to>
                                    </p:set>
                                    <p:animEffect transition="in" filter="box(in)">
                                      <p:cBhvr>
                                        <p:cTn id="12" dur="500"/>
                                        <p:tgtEl>
                                          <p:spTgt spid="696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4"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0658" name="Object 2"/>
          <p:cNvGraphicFramePr>
            <a:graphicFrameLocks noGrp="1" noChangeAspect="1"/>
          </p:cNvGraphicFramePr>
          <p:nvPr/>
        </p:nvGraphicFramePr>
        <p:xfrm>
          <a:off x="207963" y="2811463"/>
          <a:ext cx="3989387" cy="3482975"/>
        </p:xfrm>
        <a:graphic>
          <a:graphicData uri="http://schemas.openxmlformats.org/presentationml/2006/ole">
            <mc:AlternateContent xmlns:mc="http://schemas.openxmlformats.org/markup-compatibility/2006">
              <mc:Choice xmlns:v="urn:schemas-microsoft-com:vml" Requires="v">
                <p:oleObj spid="_x0000_s14400" name="" r:id="rId1" imgW="2250440" imgH="2321560" progId="Word.Picture.8">
                  <p:embed/>
                </p:oleObj>
              </mc:Choice>
              <mc:Fallback>
                <p:oleObj name="" r:id="rId1" imgW="2250440" imgH="2321560" progId="Word.Picture.8">
                  <p:embed/>
                  <p:pic>
                    <p:nvPicPr>
                      <p:cNvPr id="0" name="图片 3083"/>
                      <p:cNvPicPr/>
                      <p:nvPr/>
                    </p:nvPicPr>
                    <p:blipFill>
                      <a:blip r:embed="rId2"/>
                      <a:stretch>
                        <a:fillRect/>
                      </a:stretch>
                    </p:blipFill>
                    <p:spPr>
                      <a:xfrm>
                        <a:off x="207963" y="2811463"/>
                        <a:ext cx="3989387" cy="3482975"/>
                      </a:xfrm>
                      <a:prstGeom prst="rect">
                        <a:avLst/>
                      </a:prstGeom>
                      <a:noFill/>
                      <a:ln w="38100">
                        <a:noFill/>
                        <a:miter/>
                      </a:ln>
                    </p:spPr>
                  </p:pic>
                </p:oleObj>
              </mc:Fallback>
            </mc:AlternateContent>
          </a:graphicData>
        </a:graphic>
      </p:graphicFrame>
      <p:graphicFrame>
        <p:nvGraphicFramePr>
          <p:cNvPr id="70659" name="Object 3"/>
          <p:cNvGraphicFramePr>
            <a:graphicFrameLocks noGrp="1" noChangeAspect="1"/>
          </p:cNvGraphicFramePr>
          <p:nvPr/>
        </p:nvGraphicFramePr>
        <p:xfrm>
          <a:off x="4405313" y="963613"/>
          <a:ext cx="4543425" cy="2646362"/>
        </p:xfrm>
        <a:graphic>
          <a:graphicData uri="http://schemas.openxmlformats.org/presentationml/2006/ole">
            <mc:AlternateContent xmlns:mc="http://schemas.openxmlformats.org/markup-compatibility/2006">
              <mc:Choice xmlns:v="urn:schemas-microsoft-com:vml" Requires="v">
                <p:oleObj spid="_x0000_s14401" name="" r:id="rId3" imgW="2814955" imgH="1640840" progId="Word.Picture.8">
                  <p:embed/>
                </p:oleObj>
              </mc:Choice>
              <mc:Fallback>
                <p:oleObj name="" r:id="rId3" imgW="2814955" imgH="1640840" progId="Word.Picture.8">
                  <p:embed/>
                  <p:pic>
                    <p:nvPicPr>
                      <p:cNvPr id="0" name="图片 3084"/>
                      <p:cNvPicPr/>
                      <p:nvPr/>
                    </p:nvPicPr>
                    <p:blipFill>
                      <a:blip r:embed="rId4"/>
                      <a:stretch>
                        <a:fillRect/>
                      </a:stretch>
                    </p:blipFill>
                    <p:spPr>
                      <a:xfrm>
                        <a:off x="4405313" y="963613"/>
                        <a:ext cx="4543425" cy="2646362"/>
                      </a:xfrm>
                      <a:prstGeom prst="rect">
                        <a:avLst/>
                      </a:prstGeom>
                      <a:noFill/>
                      <a:ln w="38100">
                        <a:noFill/>
                        <a:miter/>
                      </a:ln>
                    </p:spPr>
                  </p:pic>
                </p:oleObj>
              </mc:Fallback>
            </mc:AlternateContent>
          </a:graphicData>
        </a:graphic>
      </p:graphicFrame>
      <p:graphicFrame>
        <p:nvGraphicFramePr>
          <p:cNvPr id="70660" name="Object 4"/>
          <p:cNvGraphicFramePr>
            <a:graphicFrameLocks noGrp="1" noChangeAspect="1"/>
          </p:cNvGraphicFramePr>
          <p:nvPr/>
        </p:nvGraphicFramePr>
        <p:xfrm>
          <a:off x="4181475" y="3551238"/>
          <a:ext cx="4813300" cy="2714625"/>
        </p:xfrm>
        <a:graphic>
          <a:graphicData uri="http://schemas.openxmlformats.org/presentationml/2006/ole">
            <mc:AlternateContent xmlns:mc="http://schemas.openxmlformats.org/markup-compatibility/2006">
              <mc:Choice xmlns:v="urn:schemas-microsoft-com:vml" Requires="v">
                <p:oleObj spid="_x0000_s14402" name="" r:id="rId5" imgW="3729355" imgH="1774825" progId="Word.Picture.8">
                  <p:embed/>
                </p:oleObj>
              </mc:Choice>
              <mc:Fallback>
                <p:oleObj name="" r:id="rId5" imgW="3729355" imgH="1774825" progId="Word.Picture.8">
                  <p:embed/>
                  <p:pic>
                    <p:nvPicPr>
                      <p:cNvPr id="0" name="图片 3085"/>
                      <p:cNvPicPr/>
                      <p:nvPr/>
                    </p:nvPicPr>
                    <p:blipFill>
                      <a:blip r:embed="rId6"/>
                      <a:stretch>
                        <a:fillRect/>
                      </a:stretch>
                    </p:blipFill>
                    <p:spPr>
                      <a:xfrm>
                        <a:off x="4181475" y="3551238"/>
                        <a:ext cx="4813300" cy="2714625"/>
                      </a:xfrm>
                      <a:prstGeom prst="rect">
                        <a:avLst/>
                      </a:prstGeom>
                      <a:noFill/>
                      <a:ln w="38100">
                        <a:noFill/>
                        <a:miter/>
                      </a:ln>
                    </p:spPr>
                  </p:pic>
                </p:oleObj>
              </mc:Fallback>
            </mc:AlternateContent>
          </a:graphicData>
        </a:graphic>
      </p:graphicFrame>
      <p:sp>
        <p:nvSpPr>
          <p:cNvPr id="68612" name="Rectangle 7"/>
          <p:cNvSpPr/>
          <p:nvPr/>
        </p:nvSpPr>
        <p:spPr>
          <a:xfrm>
            <a:off x="560388" y="7810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2</a:t>
            </a:r>
            <a:r>
              <a:rPr lang="zh-CN" altLang="en-US" sz="2800" dirty="0">
                <a:solidFill>
                  <a:srgbClr val="FF0000"/>
                </a:solidFill>
                <a:latin typeface="黑体" panose="02010609060101010101" pitchFamily="1" charset="-122"/>
                <a:ea typeface="黑体" panose="02010609060101010101" pitchFamily="1" charset="-122"/>
              </a:rPr>
              <a:t>、故障恢复导论</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68613"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四、数据库的故障恢复技术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68614" name="Rectangle 7"/>
          <p:cNvSpPr/>
          <p:nvPr/>
        </p:nvSpPr>
        <p:spPr>
          <a:xfrm>
            <a:off x="369888" y="1384300"/>
            <a:ext cx="4464050" cy="998538"/>
          </a:xfrm>
          <a:prstGeom prst="rect">
            <a:avLst/>
          </a:prstGeom>
          <a:noFill/>
          <a:ln w="9525">
            <a:noFill/>
          </a:ln>
        </p:spPr>
        <p:txBody>
          <a:bodyPr wrap="none" anchor="ctr"/>
          <a:lstStyle/>
          <a:p>
            <a:pPr lvl="0" indent="0" algn="ctr">
              <a:lnSpc>
                <a:spcPct val="120000"/>
              </a:lnSpc>
            </a:pPr>
            <a:r>
              <a:rPr lang="zh-CN" altLang="en-US" sz="2600" dirty="0">
                <a:solidFill>
                  <a:srgbClr val="0033CC"/>
                </a:solidFill>
                <a:latin typeface="黑体" panose="02010609060101010101" pitchFamily="1" charset="-122"/>
                <a:ea typeface="黑体" panose="02010609060101010101" pitchFamily="1" charset="-122"/>
              </a:rPr>
              <a:t>（</a:t>
            </a:r>
            <a:r>
              <a:rPr lang="en-US" altLang="x-none" sz="2600" dirty="0">
                <a:solidFill>
                  <a:srgbClr val="0033CC"/>
                </a:solidFill>
                <a:latin typeface="黑体" panose="02010609060101010101" pitchFamily="1" charset="-122"/>
                <a:ea typeface="黑体" panose="02010609060101010101" pitchFamily="1" charset="-122"/>
              </a:rPr>
              <a:t>5</a:t>
            </a:r>
            <a:r>
              <a:rPr lang="zh-CN" altLang="en-US" sz="2600" dirty="0">
                <a:solidFill>
                  <a:srgbClr val="0033CC"/>
                </a:solidFill>
                <a:latin typeface="黑体" panose="02010609060101010101" pitchFamily="1" charset="-122"/>
                <a:ea typeface="黑体" panose="02010609060101010101" pitchFamily="1" charset="-122"/>
              </a:rPr>
              <a:t>）基于多副本的恢复技术</a:t>
            </a:r>
            <a:endParaRPr lang="en-US" altLang="x-none" sz="2600" dirty="0">
              <a:solidFill>
                <a:srgbClr val="0033CC"/>
              </a:solidFill>
              <a:latin typeface="黑体" panose="02010609060101010101" pitchFamily="1" charset="-122"/>
              <a:ea typeface="黑体" panose="02010609060101010101" pitchFamily="1" charset="-122"/>
            </a:endParaRPr>
          </a:p>
          <a:p>
            <a:pPr lvl="0" indent="0" algn="ctr">
              <a:lnSpc>
                <a:spcPct val="120000"/>
              </a:lnSpc>
            </a:pPr>
            <a:r>
              <a:rPr lang="en-US" altLang="x-none" sz="2600" dirty="0">
                <a:solidFill>
                  <a:srgbClr val="0033CC"/>
                </a:solidFill>
                <a:latin typeface="黑体" panose="02010609060101010101" pitchFamily="1" charset="-122"/>
                <a:ea typeface="黑体" panose="02010609060101010101" pitchFamily="1" charset="-122"/>
              </a:rPr>
              <a:t>—</a:t>
            </a:r>
            <a:r>
              <a:rPr lang="zh-CN" altLang="en-US" sz="2600" dirty="0">
                <a:solidFill>
                  <a:srgbClr val="0033CC"/>
                </a:solidFill>
                <a:latin typeface="黑体" panose="02010609060101010101" pitchFamily="1" charset="-122"/>
                <a:ea typeface="黑体" panose="02010609060101010101" pitchFamily="1" charset="-122"/>
              </a:rPr>
              <a:t>操作系统级的恢复技术</a:t>
            </a:r>
            <a:endParaRPr lang="zh-CN" altLang="en-US" sz="2600" dirty="0">
              <a:solidFill>
                <a:srgbClr val="0033CC"/>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afterEffect">
                                  <p:stCondLst>
                                    <p:cond delay="0"/>
                                  </p:stCondLst>
                                  <p:childTnLst>
                                    <p:set>
                                      <p:cBhvr>
                                        <p:cTn id="6" dur="1" fill="hold">
                                          <p:stCondLst>
                                            <p:cond delay="0"/>
                                          </p:stCondLst>
                                        </p:cTn>
                                        <p:tgtEl>
                                          <p:spTgt spid="70658"/>
                                        </p:tgtEl>
                                        <p:attrNameLst>
                                          <p:attrName>style.visibility</p:attrName>
                                        </p:attrNameLst>
                                      </p:cBhvr>
                                      <p:to>
                                        <p:strVal val="visible"/>
                                      </p:to>
                                    </p:set>
                                    <p:animEffect transition="in" filter="box(in)">
                                      <p:cBhvr>
                                        <p:cTn id="7" dur="500"/>
                                        <p:tgtEl>
                                          <p:spTgt spid="70658"/>
                                        </p:tgtEl>
                                      </p:cBhvr>
                                    </p:animEffect>
                                  </p:childTnLst>
                                </p:cTn>
                              </p:par>
                            </p:childTnLst>
                          </p:cTn>
                        </p:par>
                        <p:par>
                          <p:cTn id="8" fill="hold">
                            <p:stCondLst>
                              <p:cond delay="500"/>
                            </p:stCondLst>
                            <p:childTnLst>
                              <p:par>
                                <p:cTn id="9" presetID="4" presetClass="entr" presetSubtype="16" fill="hold" nodeType="afterEffect">
                                  <p:stCondLst>
                                    <p:cond delay="0"/>
                                  </p:stCondLst>
                                  <p:childTnLst>
                                    <p:set>
                                      <p:cBhvr>
                                        <p:cTn id="10" dur="1" fill="hold">
                                          <p:stCondLst>
                                            <p:cond delay="0"/>
                                          </p:stCondLst>
                                        </p:cTn>
                                        <p:tgtEl>
                                          <p:spTgt spid="70659"/>
                                        </p:tgtEl>
                                        <p:attrNameLst>
                                          <p:attrName>style.visibility</p:attrName>
                                        </p:attrNameLst>
                                      </p:cBhvr>
                                      <p:to>
                                        <p:strVal val="visible"/>
                                      </p:to>
                                    </p:set>
                                    <p:animEffect transition="in" filter="box(in)">
                                      <p:cBhvr>
                                        <p:cTn id="11" dur="500"/>
                                        <p:tgtEl>
                                          <p:spTgt spid="70659"/>
                                        </p:tgtEl>
                                      </p:cBhvr>
                                    </p:animEffect>
                                  </p:childTnLst>
                                </p:cTn>
                              </p:par>
                            </p:childTnLst>
                          </p:cTn>
                        </p:par>
                        <p:par>
                          <p:cTn id="12" fill="hold">
                            <p:stCondLst>
                              <p:cond delay="1000"/>
                            </p:stCondLst>
                            <p:childTnLst>
                              <p:par>
                                <p:cTn id="13" presetID="4" presetClass="entr" presetSubtype="16" fill="hold" nodeType="afterEffect">
                                  <p:stCondLst>
                                    <p:cond delay="0"/>
                                  </p:stCondLst>
                                  <p:childTnLst>
                                    <p:set>
                                      <p:cBhvr>
                                        <p:cTn id="14" dur="1" fill="hold">
                                          <p:stCondLst>
                                            <p:cond delay="0"/>
                                          </p:stCondLst>
                                        </p:cTn>
                                        <p:tgtEl>
                                          <p:spTgt spid="70660"/>
                                        </p:tgtEl>
                                        <p:attrNameLst>
                                          <p:attrName>style.visibility</p:attrName>
                                        </p:attrNameLst>
                                      </p:cBhvr>
                                      <p:to>
                                        <p:strVal val="visible"/>
                                      </p:to>
                                    </p:set>
                                    <p:animEffect transition="in" filter="box(in)">
                                      <p:cBhvr>
                                        <p:cTn id="15" dur="500"/>
                                        <p:tgtEl>
                                          <p:spTgt spid="706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9633" name="Rectangle 7"/>
          <p:cNvSpPr/>
          <p:nvPr/>
        </p:nvSpPr>
        <p:spPr>
          <a:xfrm>
            <a:off x="560388" y="7810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2</a:t>
            </a:r>
            <a:r>
              <a:rPr lang="zh-CN" altLang="en-US" sz="2800" dirty="0">
                <a:solidFill>
                  <a:srgbClr val="FF0000"/>
                </a:solidFill>
                <a:latin typeface="黑体" panose="02010609060101010101" pitchFamily="1" charset="-122"/>
                <a:ea typeface="黑体" panose="02010609060101010101" pitchFamily="1" charset="-122"/>
              </a:rPr>
              <a:t>、故障恢复导论</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69634"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四、数据库的故障恢复技术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71684" name="Text Box 2"/>
          <p:cNvSpPr txBox="1"/>
          <p:nvPr/>
        </p:nvSpPr>
        <p:spPr>
          <a:xfrm>
            <a:off x="598488" y="1890713"/>
            <a:ext cx="7991475" cy="4237037"/>
          </a:xfrm>
          <a:prstGeom prst="rect">
            <a:avLst/>
          </a:prstGeom>
          <a:noFill/>
          <a:ln w="9525">
            <a:noFill/>
          </a:ln>
        </p:spPr>
        <p:txBody>
          <a:bodyPr anchor="t">
            <a:spAutoFit/>
          </a:bodyPr>
          <a:lstStyle/>
          <a:p>
            <a:pPr lvl="0" indent="0">
              <a:lnSpc>
                <a:spcPct val="105000"/>
              </a:lnSpc>
              <a:spcBef>
                <a:spcPts val="300"/>
              </a:spcBef>
              <a:buFont typeface="Wingdings" panose="05000000000000000000" pitchFamily="2" charset="2"/>
              <a:buChar char="Ø"/>
            </a:pPr>
            <a:r>
              <a:rPr lang="en-US" altLang="x-none" sz="2400" u="sng" dirty="0">
                <a:solidFill>
                  <a:srgbClr val="CC3300"/>
                </a:solidFill>
                <a:latin typeface="宋体" panose="02010600030101010101" pitchFamily="2" charset="-122"/>
                <a:ea typeface="宋体" panose="02010600030101010101" pitchFamily="2" charset="-122"/>
              </a:rPr>
              <a:t>DBMS</a:t>
            </a:r>
            <a:r>
              <a:rPr lang="zh-CN" altLang="en-US" sz="2400" u="sng" dirty="0">
                <a:solidFill>
                  <a:srgbClr val="CC3300"/>
                </a:solidFill>
                <a:latin typeface="宋体" panose="02010600030101010101" pitchFamily="2" charset="-122"/>
                <a:ea typeface="宋体" panose="02010600030101010101" pitchFamily="2" charset="-122"/>
              </a:rPr>
              <a:t>级的可靠性技术：</a:t>
            </a:r>
            <a:r>
              <a:rPr lang="zh-CN" altLang="en-US" sz="2200" dirty="0">
                <a:latin typeface="华文楷体" panose="02010600040101010101" pitchFamily="2" charset="-122"/>
                <a:ea typeface="华文楷体" panose="02010600040101010101" pitchFamily="2" charset="-122"/>
              </a:rPr>
              <a:t>数据库复制</a:t>
            </a:r>
            <a:r>
              <a:rPr lang="en-US" altLang="x-none" sz="2200" dirty="0">
                <a:latin typeface="华文楷体" panose="02010600040101010101" pitchFamily="2" charset="-122"/>
                <a:ea typeface="华文楷体" panose="02010600040101010101" pitchFamily="2" charset="-122"/>
              </a:rPr>
              <a:t>(Replication)</a:t>
            </a:r>
            <a:r>
              <a:rPr lang="zh-CN" altLang="en-US" sz="2200" dirty="0">
                <a:latin typeface="华文楷体" panose="02010600040101010101" pitchFamily="2" charset="-122"/>
                <a:ea typeface="华文楷体" panose="02010600040101010101" pitchFamily="2" charset="-122"/>
              </a:rPr>
              <a:t>、数据库镜像、日志镜像。</a:t>
            </a:r>
            <a:endParaRPr lang="zh-CN" altLang="en-US" sz="2200" dirty="0">
              <a:latin typeface="华文楷体" panose="02010600040101010101" pitchFamily="2" charset="-122"/>
              <a:ea typeface="华文楷体" panose="02010600040101010101" pitchFamily="2" charset="-122"/>
            </a:endParaRPr>
          </a:p>
          <a:p>
            <a:pPr lvl="0" indent="0">
              <a:lnSpc>
                <a:spcPct val="105000"/>
              </a:lnSpc>
              <a:spcBef>
                <a:spcPts val="300"/>
              </a:spcBef>
              <a:buFont typeface="Wingdings" panose="05000000000000000000" pitchFamily="2" charset="2"/>
              <a:buChar char="Ø"/>
            </a:pPr>
            <a:r>
              <a:rPr lang="zh-CN" altLang="en-US" sz="2400" u="sng" dirty="0">
                <a:solidFill>
                  <a:srgbClr val="CC3300"/>
                </a:solidFill>
                <a:latin typeface="宋体" panose="02010600030101010101" pitchFamily="2" charset="-122"/>
                <a:ea typeface="宋体" panose="02010600030101010101" pitchFamily="2" charset="-122"/>
              </a:rPr>
              <a:t>数据复制技术：</a:t>
            </a:r>
            <a:r>
              <a:rPr lang="zh-CN" altLang="en-US" sz="2200" dirty="0">
                <a:latin typeface="华文楷体" panose="02010600040101010101" pitchFamily="2" charset="-122"/>
                <a:ea typeface="华文楷体" panose="02010600040101010101" pitchFamily="2" charset="-122"/>
              </a:rPr>
              <a:t>在多个场地保留多个数据库副本，各个场地的用户可以并发地存取不同的数据库副本。通过分布式的复制服务器（</a:t>
            </a:r>
            <a:r>
              <a:rPr lang="en-US" altLang="x-none" sz="2200" dirty="0">
                <a:latin typeface="华文楷体" panose="02010600040101010101" pitchFamily="2" charset="-122"/>
                <a:ea typeface="华文楷体" panose="02010600040101010101" pitchFamily="2" charset="-122"/>
              </a:rPr>
              <a:t>Replication Server</a:t>
            </a:r>
            <a:r>
              <a:rPr lang="zh-CN" altLang="en-US" sz="2200" dirty="0">
                <a:latin typeface="华文楷体" panose="02010600040101010101" pitchFamily="2" charset="-122"/>
                <a:ea typeface="华文楷体" panose="02010600040101010101" pitchFamily="2" charset="-122"/>
              </a:rPr>
              <a:t>）实现。</a:t>
            </a:r>
            <a:endParaRPr lang="zh-CN" altLang="en-US" sz="2200" dirty="0">
              <a:latin typeface="华文楷体" panose="02010600040101010101" pitchFamily="2" charset="-122"/>
              <a:ea typeface="华文楷体" panose="02010600040101010101" pitchFamily="2" charset="-122"/>
            </a:endParaRPr>
          </a:p>
          <a:p>
            <a:pPr lvl="0" indent="0">
              <a:lnSpc>
                <a:spcPct val="105000"/>
              </a:lnSpc>
              <a:spcBef>
                <a:spcPts val="300"/>
              </a:spcBef>
              <a:buFont typeface="Wingdings" panose="05000000000000000000" pitchFamily="2" charset="2"/>
              <a:buChar char="Ø"/>
            </a:pPr>
            <a:r>
              <a:rPr lang="zh-CN" altLang="en-US" sz="2400" u="sng" dirty="0">
                <a:solidFill>
                  <a:srgbClr val="CC3300"/>
                </a:solidFill>
                <a:latin typeface="宋体" panose="02010600030101010101" pitchFamily="2" charset="-122"/>
                <a:ea typeface="宋体" panose="02010600030101010101" pitchFamily="2" charset="-122"/>
              </a:rPr>
              <a:t>数据复制要求</a:t>
            </a:r>
            <a:r>
              <a:rPr lang="en-US" altLang="x-none" sz="2400" u="sng" dirty="0">
                <a:solidFill>
                  <a:srgbClr val="CC3300"/>
                </a:solidFill>
                <a:latin typeface="宋体" panose="02010600030101010101" pitchFamily="2" charset="-122"/>
                <a:ea typeface="宋体" panose="02010600030101010101" pitchFamily="2" charset="-122"/>
                <a:sym typeface="Wingdings" panose="05000000000000000000" pitchFamily="2" charset="2"/>
              </a:rPr>
              <a:t>: </a:t>
            </a:r>
            <a:r>
              <a:rPr lang="en-US" altLang="x-none" sz="2200" dirty="0">
                <a:latin typeface="华文楷体" panose="02010600040101010101" pitchFamily="2" charset="-122"/>
                <a:ea typeface="华文楷体" panose="02010600040101010101" pitchFamily="2" charset="-122"/>
              </a:rPr>
              <a:t>DBMS</a:t>
            </a:r>
            <a:r>
              <a:rPr lang="zh-CN" altLang="en-US" sz="2200" dirty="0">
                <a:latin typeface="华文楷体" panose="02010600040101010101" pitchFamily="2" charset="-122"/>
                <a:ea typeface="华文楷体" panose="02010600040101010101" pitchFamily="2" charset="-122"/>
              </a:rPr>
              <a:t>须采取一定手段用户对</a:t>
            </a:r>
            <a:r>
              <a:rPr lang="en-US" altLang="x-none" sz="2200" dirty="0">
                <a:latin typeface="华文楷体" panose="02010600040101010101" pitchFamily="2" charset="-122"/>
                <a:ea typeface="华文楷体" panose="02010600040101010101" pitchFamily="2" charset="-122"/>
              </a:rPr>
              <a:t>DB</a:t>
            </a:r>
            <a:r>
              <a:rPr lang="zh-CN" altLang="en-US" sz="2200" dirty="0">
                <a:latin typeface="华文楷体" panose="02010600040101010101" pitchFamily="2" charset="-122"/>
                <a:ea typeface="华文楷体" panose="02010600040101010101" pitchFamily="2" charset="-122"/>
              </a:rPr>
              <a:t>的修改能及时反映到所有副本上。</a:t>
            </a:r>
            <a:endParaRPr lang="zh-CN" altLang="en-US" sz="2200" dirty="0">
              <a:latin typeface="华文楷体" panose="02010600040101010101" pitchFamily="2" charset="-122"/>
              <a:ea typeface="华文楷体" panose="02010600040101010101" pitchFamily="2" charset="-122"/>
            </a:endParaRPr>
          </a:p>
          <a:p>
            <a:pPr lvl="0" indent="0">
              <a:lnSpc>
                <a:spcPct val="105000"/>
              </a:lnSpc>
              <a:spcBef>
                <a:spcPts val="300"/>
              </a:spcBef>
              <a:buFont typeface="Wingdings" panose="05000000000000000000" pitchFamily="2" charset="2"/>
              <a:buChar char="Ø"/>
            </a:pPr>
            <a:r>
              <a:rPr lang="zh-CN" altLang="en-US" sz="2400" u="sng" dirty="0">
                <a:solidFill>
                  <a:srgbClr val="CC3300"/>
                </a:solidFill>
                <a:latin typeface="宋体" panose="02010600030101010101" pitchFamily="2" charset="-122"/>
                <a:ea typeface="宋体" panose="02010600030101010101" pitchFamily="2" charset="-122"/>
              </a:rPr>
              <a:t>数据复制优点</a:t>
            </a:r>
            <a:r>
              <a:rPr lang="en-US" altLang="x-none" sz="2400" u="sng" dirty="0">
                <a:solidFill>
                  <a:srgbClr val="CC3300"/>
                </a:solidFill>
                <a:latin typeface="宋体" panose="02010600030101010101" pitchFamily="2" charset="-122"/>
                <a:ea typeface="宋体" panose="02010600030101010101" pitchFamily="2" charset="-122"/>
                <a:sym typeface="Wingdings" panose="05000000000000000000" pitchFamily="2" charset="2"/>
              </a:rPr>
              <a:t>: </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a:t>
            </a:r>
            <a:r>
              <a:rPr lang="en-US" altLang="x-none" sz="2200" dirty="0">
                <a:latin typeface="华文楷体" panose="02010600040101010101" pitchFamily="2" charset="-122"/>
                <a:ea typeface="华文楷体" panose="02010600040101010101" pitchFamily="2" charset="-122"/>
                <a:sym typeface="Wingdings" panose="05000000000000000000" pitchFamily="2" charset="2"/>
              </a:rPr>
              <a:t>1</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a:t>
            </a:r>
            <a:r>
              <a:rPr lang="zh-CN" altLang="en-US" sz="2200" dirty="0">
                <a:latin typeface="华文楷体" panose="02010600040101010101" pitchFamily="2" charset="-122"/>
                <a:ea typeface="华文楷体" panose="02010600040101010101" pitchFamily="2" charset="-122"/>
              </a:rPr>
              <a:t>当一个用户为修改数据加锁时，其他用户可访问数据库副本；（</a:t>
            </a:r>
            <a:r>
              <a:rPr lang="en-US" altLang="x-none" sz="2200" dirty="0">
                <a:latin typeface="华文楷体" panose="02010600040101010101" pitchFamily="2" charset="-122"/>
                <a:ea typeface="华文楷体" panose="02010600040101010101" pitchFamily="2" charset="-122"/>
              </a:rPr>
              <a:t>2</a:t>
            </a:r>
            <a:r>
              <a:rPr lang="zh-CN" altLang="en-US" sz="2200" dirty="0">
                <a:latin typeface="华文楷体" panose="02010600040101010101" pitchFamily="2" charset="-122"/>
                <a:ea typeface="华文楷体" panose="02010600040101010101" pitchFamily="2" charset="-122"/>
              </a:rPr>
              <a:t>）当数据库出现故障时，系统可用副本进行联机恢复，恢复过程中，用户可继续访问副本而不中断应用。</a:t>
            </a:r>
            <a:endParaRPr lang="zh-CN" altLang="en-US" sz="2200" dirty="0">
              <a:latin typeface="华文楷体" panose="02010600040101010101" pitchFamily="2" charset="-122"/>
              <a:ea typeface="华文楷体" panose="02010600040101010101" pitchFamily="2" charset="-122"/>
            </a:endParaRPr>
          </a:p>
        </p:txBody>
      </p:sp>
      <p:sp>
        <p:nvSpPr>
          <p:cNvPr id="69636" name="Rectangle 7"/>
          <p:cNvSpPr/>
          <p:nvPr/>
        </p:nvSpPr>
        <p:spPr>
          <a:xfrm>
            <a:off x="311150" y="1287463"/>
            <a:ext cx="7840663" cy="609600"/>
          </a:xfrm>
          <a:prstGeom prst="rect">
            <a:avLst/>
          </a:prstGeom>
          <a:noFill/>
          <a:ln w="9525">
            <a:noFill/>
          </a:ln>
        </p:spPr>
        <p:txBody>
          <a:bodyPr wrap="none" anchor="ctr"/>
          <a:lstStyle/>
          <a:p>
            <a:pPr lvl="0" indent="0" algn="ctr"/>
            <a:r>
              <a:rPr lang="zh-CN" altLang="en-US" sz="2600" dirty="0">
                <a:solidFill>
                  <a:srgbClr val="0033CC"/>
                </a:solidFill>
                <a:latin typeface="黑体" panose="02010609060101010101" pitchFamily="1" charset="-122"/>
                <a:ea typeface="黑体" panose="02010609060101010101" pitchFamily="1" charset="-122"/>
              </a:rPr>
              <a:t>（</a:t>
            </a:r>
            <a:r>
              <a:rPr lang="en-US" altLang="x-none" sz="2600" dirty="0">
                <a:solidFill>
                  <a:srgbClr val="0033CC"/>
                </a:solidFill>
                <a:latin typeface="黑体" panose="02010609060101010101" pitchFamily="1" charset="-122"/>
                <a:ea typeface="黑体" panose="02010609060101010101" pitchFamily="1" charset="-122"/>
              </a:rPr>
              <a:t>6</a:t>
            </a:r>
            <a:r>
              <a:rPr lang="zh-CN" altLang="en-US" sz="2600" dirty="0">
                <a:solidFill>
                  <a:srgbClr val="0033CC"/>
                </a:solidFill>
                <a:latin typeface="黑体" panose="02010609060101010101" pitchFamily="1" charset="-122"/>
                <a:ea typeface="黑体" panose="02010609060101010101" pitchFamily="1" charset="-122"/>
              </a:rPr>
              <a:t>）基于多副本的恢复技术</a:t>
            </a:r>
            <a:r>
              <a:rPr lang="en-US" altLang="x-none" sz="2600" dirty="0">
                <a:solidFill>
                  <a:srgbClr val="0033CC"/>
                </a:solidFill>
                <a:latin typeface="黑体" panose="02010609060101010101" pitchFamily="1" charset="-122"/>
                <a:ea typeface="黑体" panose="02010609060101010101" pitchFamily="1" charset="-122"/>
              </a:rPr>
              <a:t>—</a:t>
            </a:r>
            <a:r>
              <a:rPr lang="zh-CN" altLang="en-US" sz="2600" dirty="0">
                <a:solidFill>
                  <a:srgbClr val="0033CC"/>
                </a:solidFill>
                <a:latin typeface="黑体" panose="02010609060101010101" pitchFamily="1" charset="-122"/>
                <a:ea typeface="黑体" panose="02010609060101010101" pitchFamily="1" charset="-122"/>
              </a:rPr>
              <a:t>数据库级的恢复技术</a:t>
            </a:r>
            <a:endParaRPr lang="zh-CN" altLang="en-US" sz="2600" dirty="0">
              <a:solidFill>
                <a:srgbClr val="0033CC"/>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1684">
                                            <p:txEl>
                                              <p:pRg st="0" end="0"/>
                                            </p:txEl>
                                          </p:spTgt>
                                        </p:tgtEl>
                                        <p:attrNameLst>
                                          <p:attrName>style.visibility</p:attrName>
                                        </p:attrNameLst>
                                      </p:cBhvr>
                                      <p:to>
                                        <p:strVal val="visible"/>
                                      </p:to>
                                    </p:set>
                                    <p:animEffect transition="in" filter="box(in)">
                                      <p:cBhvr>
                                        <p:cTn id="7" dur="500"/>
                                        <p:tgtEl>
                                          <p:spTgt spid="7168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71684">
                                            <p:txEl>
                                              <p:pRg st="1" end="1"/>
                                            </p:txEl>
                                          </p:spTgt>
                                        </p:tgtEl>
                                        <p:attrNameLst>
                                          <p:attrName>style.visibility</p:attrName>
                                        </p:attrNameLst>
                                      </p:cBhvr>
                                      <p:to>
                                        <p:strVal val="visible"/>
                                      </p:to>
                                    </p:set>
                                    <p:animEffect transition="in" filter="box(in)">
                                      <p:cBhvr>
                                        <p:cTn id="12" dur="500"/>
                                        <p:tgtEl>
                                          <p:spTgt spid="7168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71684">
                                            <p:txEl>
                                              <p:pRg st="2" end="2"/>
                                            </p:txEl>
                                          </p:spTgt>
                                        </p:tgtEl>
                                        <p:attrNameLst>
                                          <p:attrName>style.visibility</p:attrName>
                                        </p:attrNameLst>
                                      </p:cBhvr>
                                      <p:to>
                                        <p:strVal val="visible"/>
                                      </p:to>
                                    </p:set>
                                    <p:animEffect transition="in" filter="box(in)">
                                      <p:cBhvr>
                                        <p:cTn id="17" dur="500"/>
                                        <p:tgtEl>
                                          <p:spTgt spid="7168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71684">
                                            <p:txEl>
                                              <p:pRg st="3" end="3"/>
                                            </p:txEl>
                                          </p:spTgt>
                                        </p:tgtEl>
                                        <p:attrNameLst>
                                          <p:attrName>style.visibility</p:attrName>
                                        </p:attrNameLst>
                                      </p:cBhvr>
                                      <p:to>
                                        <p:strVal val="visible"/>
                                      </p:to>
                                    </p:set>
                                    <p:animEffect transition="in" filter="box(in)">
                                      <p:cBhvr>
                                        <p:cTn id="22" dur="500"/>
                                        <p:tgtEl>
                                          <p:spTgt spid="7168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4" grpId="0" build="p"/>
    </p:bldLst>
  </p:timing>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0657" name="Rectangle 3"/>
          <p:cNvSpPr txBox="1"/>
          <p:nvPr/>
        </p:nvSpPr>
        <p:spPr>
          <a:xfrm>
            <a:off x="484188" y="1452563"/>
            <a:ext cx="8137525" cy="2635250"/>
          </a:xfrm>
          <a:prstGeom prst="rect">
            <a:avLst/>
          </a:prstGeom>
          <a:noFill/>
          <a:ln w="9525">
            <a:noFill/>
          </a:ln>
        </p:spPr>
        <p:txBody>
          <a:bodyPr anchor="t"/>
          <a:lstStyle/>
          <a:p>
            <a:pPr marL="342900" lvl="0" indent="-342900" eaLnBrk="0" hangingPunct="0">
              <a:spcBef>
                <a:spcPct val="50000"/>
              </a:spcBef>
              <a:buClr>
                <a:srgbClr val="0033CC"/>
              </a:buClr>
              <a:buSzPct val="80000"/>
              <a:buFont typeface="Wingdings" panose="05000000000000000000" pitchFamily="2" charset="2"/>
              <a:buChar char="Ø"/>
            </a:pPr>
            <a:r>
              <a:rPr lang="zh-CN" altLang="en-US" sz="2600" u="sng" dirty="0">
                <a:solidFill>
                  <a:srgbClr val="CC3300"/>
                </a:solidFill>
                <a:latin typeface="华文楷体" panose="02010600040101010101" pitchFamily="2" charset="-122"/>
                <a:ea typeface="宋体" panose="02010600030101010101" pitchFamily="2" charset="-122"/>
              </a:rPr>
              <a:t>数据库复制的三种方式：</a:t>
            </a:r>
            <a:r>
              <a:rPr lang="zh-CN" altLang="en-US" sz="2200" dirty="0">
                <a:latin typeface="楷体_GB2312"/>
                <a:ea typeface="楷体_GB2312"/>
              </a:rPr>
              <a:t>对等</a:t>
            </a:r>
            <a:r>
              <a:rPr lang="en-US" altLang="x-none" sz="2200" dirty="0">
                <a:latin typeface="楷体_GB2312"/>
                <a:ea typeface="楷体_GB2312"/>
              </a:rPr>
              <a:t>(peer-to-peer)</a:t>
            </a:r>
            <a:r>
              <a:rPr lang="zh-CN" altLang="en-US" sz="2200" dirty="0">
                <a:latin typeface="楷体_GB2312"/>
                <a:ea typeface="楷体_GB2312"/>
              </a:rPr>
              <a:t>复制、主从</a:t>
            </a:r>
            <a:r>
              <a:rPr lang="en-US" altLang="x-none" sz="2200" dirty="0">
                <a:latin typeface="楷体_GB2312"/>
                <a:ea typeface="楷体_GB2312"/>
              </a:rPr>
              <a:t>(master/slave)</a:t>
            </a:r>
            <a:r>
              <a:rPr lang="zh-CN" altLang="en-US" sz="2200" dirty="0">
                <a:latin typeface="楷体_GB2312"/>
                <a:ea typeface="楷体_GB2312"/>
              </a:rPr>
              <a:t>复制和级联</a:t>
            </a:r>
            <a:r>
              <a:rPr lang="en-US" altLang="x-none" sz="2200" dirty="0">
                <a:latin typeface="楷体_GB2312"/>
                <a:ea typeface="楷体_GB2312"/>
              </a:rPr>
              <a:t>(cascade)</a:t>
            </a:r>
            <a:r>
              <a:rPr lang="zh-CN" altLang="en-US" sz="2200" dirty="0">
                <a:latin typeface="楷体_GB2312"/>
                <a:ea typeface="楷体_GB2312"/>
              </a:rPr>
              <a:t>复制。</a:t>
            </a:r>
            <a:endParaRPr lang="zh-CN" altLang="en-US" sz="2200" dirty="0">
              <a:latin typeface="楷体_GB2312"/>
              <a:ea typeface="楷体_GB2312"/>
            </a:endParaRPr>
          </a:p>
          <a:p>
            <a:pPr marL="342900" lvl="0" indent="-342900" eaLnBrk="0" hangingPunct="0">
              <a:spcBef>
                <a:spcPts val="600"/>
              </a:spcBef>
              <a:buClr>
                <a:srgbClr val="0033CC"/>
              </a:buClr>
              <a:buSzPct val="80000"/>
              <a:buFont typeface="Wingdings" panose="05000000000000000000" pitchFamily="2" charset="2"/>
              <a:buChar char="Ø"/>
            </a:pPr>
            <a:r>
              <a:rPr lang="zh-CN" altLang="en-US" sz="2600" u="sng" dirty="0">
                <a:solidFill>
                  <a:srgbClr val="CC3300"/>
                </a:solidFill>
                <a:latin typeface="华文楷体" panose="02010600040101010101" pitchFamily="2" charset="-122"/>
                <a:ea typeface="宋体" panose="02010600030101010101" pitchFamily="2" charset="-122"/>
              </a:rPr>
              <a:t>对等复制：</a:t>
            </a:r>
            <a:r>
              <a:rPr lang="zh-CN" altLang="en-US" sz="2200" dirty="0">
                <a:latin typeface="楷体_GB2312"/>
                <a:ea typeface="楷体_GB2312"/>
              </a:rPr>
              <a:t>是理想的复制方式。各场地</a:t>
            </a:r>
            <a:r>
              <a:rPr lang="en-US" altLang="x-none" sz="2200" dirty="0">
                <a:latin typeface="楷体_GB2312"/>
                <a:ea typeface="楷体_GB2312"/>
              </a:rPr>
              <a:t>DB</a:t>
            </a:r>
            <a:r>
              <a:rPr lang="zh-CN" altLang="en-US" sz="2200" dirty="0">
                <a:latin typeface="楷体_GB2312"/>
                <a:ea typeface="楷体_GB2312"/>
              </a:rPr>
              <a:t>地位平等，可互相复制数据。用户可在任一场地读取</a:t>
            </a:r>
            <a:r>
              <a:rPr lang="en-US" altLang="x-none" sz="2200" dirty="0">
                <a:latin typeface="楷体_GB2312"/>
                <a:ea typeface="楷体_GB2312"/>
              </a:rPr>
              <a:t>/</a:t>
            </a:r>
            <a:r>
              <a:rPr lang="zh-CN" altLang="en-US" sz="2200" dirty="0">
                <a:latin typeface="楷体_GB2312"/>
                <a:ea typeface="楷体_GB2312"/>
              </a:rPr>
              <a:t>更新公共数据，</a:t>
            </a:r>
            <a:r>
              <a:rPr lang="en-US" altLang="x-none" sz="2200" dirty="0">
                <a:latin typeface="楷体_GB2312"/>
                <a:ea typeface="楷体_GB2312"/>
              </a:rPr>
              <a:t>DBMS</a:t>
            </a:r>
            <a:r>
              <a:rPr lang="zh-CN" altLang="en-US" sz="2200" dirty="0">
                <a:latin typeface="楷体_GB2312"/>
                <a:ea typeface="楷体_GB2312"/>
              </a:rPr>
              <a:t>应将更新数据复制到所有副本。（</a:t>
            </a:r>
            <a:r>
              <a:rPr lang="en-US" altLang="x-none" sz="2200" dirty="0">
                <a:latin typeface="楷体_GB2312"/>
                <a:ea typeface="楷体_GB2312"/>
              </a:rPr>
              <a:t>p239)</a:t>
            </a:r>
            <a:endParaRPr lang="en-US" altLang="x-none" sz="2200" dirty="0">
              <a:latin typeface="楷体_GB2312"/>
              <a:ea typeface="楷体_GB2312"/>
            </a:endParaRPr>
          </a:p>
        </p:txBody>
      </p:sp>
      <p:graphicFrame>
        <p:nvGraphicFramePr>
          <p:cNvPr id="72707" name="Object 2"/>
          <p:cNvGraphicFramePr>
            <a:graphicFrameLocks noChangeAspect="1"/>
          </p:cNvGraphicFramePr>
          <p:nvPr/>
        </p:nvGraphicFramePr>
        <p:xfrm>
          <a:off x="954088" y="3571875"/>
          <a:ext cx="7235825" cy="2762250"/>
        </p:xfrm>
        <a:graphic>
          <a:graphicData uri="http://schemas.openxmlformats.org/presentationml/2006/ole">
            <mc:AlternateContent xmlns:mc="http://schemas.openxmlformats.org/markup-compatibility/2006">
              <mc:Choice xmlns:v="urn:schemas-microsoft-com:vml" Requires="v">
                <p:oleObj spid="_x0000_s15382" name="" r:id="rId1" imgW="4094480" imgH="1788160" progId="Word.Picture.8">
                  <p:embed/>
                </p:oleObj>
              </mc:Choice>
              <mc:Fallback>
                <p:oleObj name="" r:id="rId1" imgW="4094480" imgH="1788160" progId="Word.Picture.8">
                  <p:embed/>
                  <p:pic>
                    <p:nvPicPr>
                      <p:cNvPr id="0" name="图片 3086"/>
                      <p:cNvPicPr/>
                      <p:nvPr/>
                    </p:nvPicPr>
                    <p:blipFill>
                      <a:blip r:embed="rId2"/>
                      <a:stretch>
                        <a:fillRect/>
                      </a:stretch>
                    </p:blipFill>
                    <p:spPr>
                      <a:xfrm>
                        <a:off x="954088" y="3571875"/>
                        <a:ext cx="7235825" cy="2762250"/>
                      </a:xfrm>
                      <a:prstGeom prst="rect">
                        <a:avLst/>
                      </a:prstGeom>
                      <a:noFill/>
                      <a:ln w="38100">
                        <a:noFill/>
                        <a:miter/>
                      </a:ln>
                    </p:spPr>
                  </p:pic>
                </p:oleObj>
              </mc:Fallback>
            </mc:AlternateContent>
          </a:graphicData>
        </a:graphic>
      </p:graphicFrame>
      <p:sp>
        <p:nvSpPr>
          <p:cNvPr id="70659" name="Rectangle 7"/>
          <p:cNvSpPr/>
          <p:nvPr/>
        </p:nvSpPr>
        <p:spPr>
          <a:xfrm>
            <a:off x="560388" y="7810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2</a:t>
            </a:r>
            <a:r>
              <a:rPr lang="zh-CN" altLang="en-US" sz="2800" dirty="0">
                <a:solidFill>
                  <a:srgbClr val="FF0000"/>
                </a:solidFill>
                <a:latin typeface="黑体" panose="02010609060101010101" pitchFamily="1" charset="-122"/>
                <a:ea typeface="黑体" panose="02010609060101010101" pitchFamily="1" charset="-122"/>
              </a:rPr>
              <a:t>、故障恢复导论</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70660"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四、数据库的故障恢复技术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70661" name="Rectangle 7"/>
          <p:cNvSpPr/>
          <p:nvPr/>
        </p:nvSpPr>
        <p:spPr>
          <a:xfrm>
            <a:off x="6391275" y="820738"/>
            <a:ext cx="2100263" cy="609600"/>
          </a:xfrm>
          <a:prstGeom prst="rect">
            <a:avLst/>
          </a:prstGeom>
          <a:noFill/>
          <a:ln w="9525">
            <a:noFill/>
          </a:ln>
        </p:spPr>
        <p:txBody>
          <a:bodyPr wrap="none" anchor="ctr"/>
          <a:lstStyle/>
          <a:p>
            <a:pPr lvl="0" indent="0" algn="ctr">
              <a:buFont typeface="Wingdings" panose="05000000000000000000" pitchFamily="2" charset="2"/>
              <a:buChar char="p"/>
            </a:pPr>
            <a:r>
              <a:rPr lang="zh-CN" altLang="en-US" sz="2600" dirty="0">
                <a:solidFill>
                  <a:srgbClr val="0033CC"/>
                </a:solidFill>
                <a:latin typeface="黑体" panose="02010609060101010101" pitchFamily="1" charset="-122"/>
                <a:ea typeface="黑体" panose="02010609060101010101" pitchFamily="1" charset="-122"/>
              </a:rPr>
              <a:t> 数据库复制</a:t>
            </a:r>
            <a:endParaRPr lang="zh-CN" altLang="en-US" sz="2600" dirty="0">
              <a:solidFill>
                <a:srgbClr val="0033CC"/>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727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681" name="Rectangle 7"/>
          <p:cNvSpPr/>
          <p:nvPr/>
        </p:nvSpPr>
        <p:spPr>
          <a:xfrm>
            <a:off x="560388" y="7810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2</a:t>
            </a:r>
            <a:r>
              <a:rPr lang="zh-CN" altLang="en-US" sz="2800" dirty="0">
                <a:solidFill>
                  <a:srgbClr val="FF0000"/>
                </a:solidFill>
                <a:latin typeface="黑体" panose="02010609060101010101" pitchFamily="1" charset="-122"/>
                <a:ea typeface="黑体" panose="02010609060101010101" pitchFamily="1" charset="-122"/>
              </a:rPr>
              <a:t>、故障恢复导论</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71682"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四、数据库的故障恢复技术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73732" name="Text Box 2"/>
          <p:cNvSpPr txBox="1"/>
          <p:nvPr/>
        </p:nvSpPr>
        <p:spPr>
          <a:xfrm>
            <a:off x="596900" y="1519238"/>
            <a:ext cx="8153400" cy="1295400"/>
          </a:xfrm>
          <a:prstGeom prst="rect">
            <a:avLst/>
          </a:prstGeom>
          <a:noFill/>
          <a:ln w="9525">
            <a:noFill/>
          </a:ln>
        </p:spPr>
        <p:txBody>
          <a:bodyPr anchor="t">
            <a:spAutoFit/>
          </a:bodyPr>
          <a:lstStyle/>
          <a:p>
            <a:pPr lvl="0" indent="0">
              <a:lnSpc>
                <a:spcPct val="110000"/>
              </a:lnSpc>
              <a:buFont typeface="Wingdings" panose="05000000000000000000" pitchFamily="2" charset="2"/>
              <a:buChar char="Ø"/>
            </a:pPr>
            <a:r>
              <a:rPr lang="zh-CN" altLang="en-US" sz="2400" u="sng" dirty="0">
                <a:solidFill>
                  <a:srgbClr val="FF0000"/>
                </a:solidFill>
                <a:latin typeface="宋体" panose="02010600030101010101" pitchFamily="2" charset="-122"/>
                <a:ea typeface="宋体" panose="02010600030101010101" pitchFamily="2" charset="-122"/>
              </a:rPr>
              <a:t>主从复制：</a:t>
            </a:r>
            <a:r>
              <a:rPr lang="zh-CN" altLang="en-US" sz="2400" dirty="0">
                <a:latin typeface="华文楷体" panose="02010600040101010101" pitchFamily="2" charset="-122"/>
                <a:ea typeface="华文楷体" panose="02010600040101010101" pitchFamily="2" charset="-122"/>
              </a:rPr>
              <a:t>数据只能从主</a:t>
            </a:r>
            <a:r>
              <a:rPr lang="en-US" altLang="x-none" sz="2400" dirty="0">
                <a:latin typeface="华文楷体" panose="02010600040101010101" pitchFamily="2" charset="-122"/>
                <a:ea typeface="华文楷体" panose="02010600040101010101" pitchFamily="2" charset="-122"/>
              </a:rPr>
              <a:t>DB</a:t>
            </a:r>
            <a:r>
              <a:rPr lang="zh-CN" altLang="en-US" sz="2400" dirty="0">
                <a:latin typeface="华文楷体" panose="02010600040101010101" pitchFamily="2" charset="-122"/>
                <a:ea typeface="华文楷体" panose="02010600040101010101" pitchFamily="2" charset="-122"/>
              </a:rPr>
              <a:t>复制到从</a:t>
            </a:r>
            <a:r>
              <a:rPr lang="en-US" altLang="x-none" sz="2400" dirty="0">
                <a:latin typeface="华文楷体" panose="02010600040101010101" pitchFamily="2" charset="-122"/>
                <a:ea typeface="华文楷体" panose="02010600040101010101" pitchFamily="2" charset="-122"/>
              </a:rPr>
              <a:t>DB</a:t>
            </a:r>
            <a:r>
              <a:rPr lang="zh-CN" altLang="en-US" sz="2400" dirty="0">
                <a:latin typeface="华文楷体" panose="02010600040101010101" pitchFamily="2" charset="-122"/>
                <a:ea typeface="华文楷体" panose="02010600040101010101" pitchFamily="2" charset="-122"/>
              </a:rPr>
              <a:t>。更新数据也只能在主场地进行，从场地供用户读数据。当主场地出现故障时，更新数据的应用可转到某一从场地。</a:t>
            </a:r>
            <a:endParaRPr lang="zh-CN" altLang="en-US" sz="2400" dirty="0">
              <a:latin typeface="华文楷体" panose="02010600040101010101" pitchFamily="2" charset="-122"/>
              <a:ea typeface="华文楷体" panose="02010600040101010101" pitchFamily="2" charset="-122"/>
            </a:endParaRPr>
          </a:p>
        </p:txBody>
      </p:sp>
      <p:graphicFrame>
        <p:nvGraphicFramePr>
          <p:cNvPr id="73733" name="Object 2"/>
          <p:cNvGraphicFramePr>
            <a:graphicFrameLocks noChangeAspect="1"/>
          </p:cNvGraphicFramePr>
          <p:nvPr/>
        </p:nvGraphicFramePr>
        <p:xfrm>
          <a:off x="182563" y="2814638"/>
          <a:ext cx="4300537" cy="2146300"/>
        </p:xfrm>
        <a:graphic>
          <a:graphicData uri="http://schemas.openxmlformats.org/presentationml/2006/ole">
            <mc:AlternateContent xmlns:mc="http://schemas.openxmlformats.org/markup-compatibility/2006">
              <mc:Choice xmlns:v="urn:schemas-microsoft-com:vml" Requires="v">
                <p:oleObj spid="_x0000_s16427" name="" r:id="rId1" imgW="3422015" imgH="1783080" progId="Word.Picture.8">
                  <p:embed/>
                </p:oleObj>
              </mc:Choice>
              <mc:Fallback>
                <p:oleObj name="" r:id="rId1" imgW="3422015" imgH="1783080" progId="Word.Picture.8">
                  <p:embed/>
                  <p:pic>
                    <p:nvPicPr>
                      <p:cNvPr id="0" name="图片 3087"/>
                      <p:cNvPicPr/>
                      <p:nvPr/>
                    </p:nvPicPr>
                    <p:blipFill>
                      <a:blip r:embed="rId2"/>
                      <a:stretch>
                        <a:fillRect/>
                      </a:stretch>
                    </p:blipFill>
                    <p:spPr>
                      <a:xfrm>
                        <a:off x="182563" y="2814638"/>
                        <a:ext cx="4300537" cy="2146300"/>
                      </a:xfrm>
                      <a:prstGeom prst="rect">
                        <a:avLst/>
                      </a:prstGeom>
                      <a:noFill/>
                      <a:ln w="38100">
                        <a:noFill/>
                        <a:miter/>
                      </a:ln>
                    </p:spPr>
                  </p:pic>
                </p:oleObj>
              </mc:Fallback>
            </mc:AlternateContent>
          </a:graphicData>
        </a:graphic>
      </p:graphicFrame>
      <p:sp>
        <p:nvSpPr>
          <p:cNvPr id="71685" name="Rectangle 7"/>
          <p:cNvSpPr/>
          <p:nvPr/>
        </p:nvSpPr>
        <p:spPr>
          <a:xfrm>
            <a:off x="6391275" y="820738"/>
            <a:ext cx="2100263" cy="609600"/>
          </a:xfrm>
          <a:prstGeom prst="rect">
            <a:avLst/>
          </a:prstGeom>
          <a:noFill/>
          <a:ln w="9525">
            <a:noFill/>
          </a:ln>
        </p:spPr>
        <p:txBody>
          <a:bodyPr wrap="none" anchor="ctr"/>
          <a:lstStyle/>
          <a:p>
            <a:pPr lvl="0" indent="0" algn="ctr">
              <a:buFont typeface="Wingdings" panose="05000000000000000000" pitchFamily="2" charset="2"/>
              <a:buChar char="p"/>
            </a:pPr>
            <a:r>
              <a:rPr lang="zh-CN" altLang="en-US" sz="2600" dirty="0">
                <a:solidFill>
                  <a:srgbClr val="0033CC"/>
                </a:solidFill>
                <a:latin typeface="黑体" panose="02010609060101010101" pitchFamily="1" charset="-122"/>
                <a:ea typeface="黑体" panose="02010609060101010101" pitchFamily="1" charset="-122"/>
              </a:rPr>
              <a:t> 数据库复制</a:t>
            </a:r>
            <a:endParaRPr lang="zh-CN" altLang="en-US" sz="2600" dirty="0">
              <a:solidFill>
                <a:srgbClr val="0033CC"/>
              </a:solidFill>
              <a:latin typeface="黑体" panose="02010609060101010101" pitchFamily="1" charset="-122"/>
              <a:ea typeface="黑体" panose="02010609060101010101" pitchFamily="1" charset="-122"/>
            </a:endParaRPr>
          </a:p>
        </p:txBody>
      </p:sp>
      <p:sp>
        <p:nvSpPr>
          <p:cNvPr id="74756" name="Text Box 2"/>
          <p:cNvSpPr txBox="1"/>
          <p:nvPr/>
        </p:nvSpPr>
        <p:spPr>
          <a:xfrm>
            <a:off x="487363" y="4960938"/>
            <a:ext cx="8004175" cy="1335087"/>
          </a:xfrm>
          <a:prstGeom prst="rect">
            <a:avLst/>
          </a:prstGeom>
          <a:noFill/>
          <a:ln w="9525">
            <a:noFill/>
          </a:ln>
        </p:spPr>
        <p:txBody>
          <a:bodyPr anchor="t">
            <a:spAutoFit/>
          </a:bodyPr>
          <a:lstStyle/>
          <a:p>
            <a:pPr lvl="0" indent="0">
              <a:lnSpc>
                <a:spcPct val="114000"/>
              </a:lnSpc>
              <a:buFont typeface="Wingdings" panose="05000000000000000000" pitchFamily="2" charset="2"/>
              <a:buChar char="Ø"/>
            </a:pPr>
            <a:r>
              <a:rPr lang="zh-CN" altLang="en-US" sz="2400" u="sng" dirty="0">
                <a:solidFill>
                  <a:srgbClr val="FF0000"/>
                </a:solidFill>
                <a:latin typeface="宋体" panose="02010600030101010101" pitchFamily="2" charset="-122"/>
                <a:ea typeface="宋体" panose="02010600030101010101" pitchFamily="2" charset="-122"/>
              </a:rPr>
              <a:t>级联复制</a:t>
            </a:r>
            <a:r>
              <a:rPr lang="en-US" altLang="x-none" sz="2400" u="sng" dirty="0">
                <a:solidFill>
                  <a:srgbClr val="FF0000"/>
                </a:solidFill>
                <a:latin typeface="宋体" panose="02010600030101010101" pitchFamily="2" charset="-122"/>
                <a:ea typeface="宋体" panose="02010600030101010101" pitchFamily="2" charset="-122"/>
                <a:sym typeface="Wingdings" panose="05000000000000000000" pitchFamily="2" charset="2"/>
              </a:rPr>
              <a:t>: </a:t>
            </a:r>
            <a:r>
              <a:rPr lang="zh-CN" altLang="en-US" sz="2400" dirty="0">
                <a:latin typeface="华文楷体" panose="02010600040101010101" pitchFamily="2" charset="-122"/>
                <a:ea typeface="华文楷体" panose="02010600040101010101" pitchFamily="2" charset="-122"/>
              </a:rPr>
              <a:t>从主场地复制来的数据又从该场地复制到其他场地。级联复制可平衡当前各种数据需求对网络流量的压力。</a:t>
            </a:r>
            <a:endParaRPr lang="zh-CN" altLang="en-US" sz="2400" dirty="0">
              <a:latin typeface="华文楷体" panose="02010600040101010101" pitchFamily="2" charset="-122"/>
              <a:ea typeface="华文楷体" panose="02010600040101010101" pitchFamily="2" charset="-122"/>
            </a:endParaRPr>
          </a:p>
        </p:txBody>
      </p:sp>
      <p:graphicFrame>
        <p:nvGraphicFramePr>
          <p:cNvPr id="74757" name="Object 2"/>
          <p:cNvGraphicFramePr>
            <a:graphicFrameLocks noGrp="1" noChangeAspect="1"/>
          </p:cNvGraphicFramePr>
          <p:nvPr/>
        </p:nvGraphicFramePr>
        <p:xfrm>
          <a:off x="4222750" y="2754313"/>
          <a:ext cx="4856163" cy="2266950"/>
        </p:xfrm>
        <a:graphic>
          <a:graphicData uri="http://schemas.openxmlformats.org/presentationml/2006/ole">
            <mc:AlternateContent xmlns:mc="http://schemas.openxmlformats.org/markup-compatibility/2006">
              <mc:Choice xmlns:v="urn:schemas-microsoft-com:vml" Requires="v">
                <p:oleObj spid="_x0000_s16428" name="" r:id="rId3" imgW="4676140" imgH="1897380" progId="Word.Picture.8">
                  <p:embed/>
                </p:oleObj>
              </mc:Choice>
              <mc:Fallback>
                <p:oleObj name="" r:id="rId3" imgW="4676140" imgH="1897380" progId="Word.Picture.8">
                  <p:embed/>
                  <p:pic>
                    <p:nvPicPr>
                      <p:cNvPr id="0" name="图片 3088"/>
                      <p:cNvPicPr/>
                      <p:nvPr/>
                    </p:nvPicPr>
                    <p:blipFill>
                      <a:blip r:embed="rId4"/>
                      <a:stretch>
                        <a:fillRect/>
                      </a:stretch>
                    </p:blipFill>
                    <p:spPr>
                      <a:xfrm>
                        <a:off x="4222750" y="2754313"/>
                        <a:ext cx="4856163" cy="226695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3732"/>
                                        </p:tgtEl>
                                        <p:attrNameLst>
                                          <p:attrName>style.visibility</p:attrName>
                                        </p:attrNameLst>
                                      </p:cBhvr>
                                      <p:to>
                                        <p:strVal val="visible"/>
                                      </p:to>
                                    </p:set>
                                    <p:animEffect transition="in" filter="box(in)">
                                      <p:cBhvr>
                                        <p:cTn id="7" dur="500"/>
                                        <p:tgtEl>
                                          <p:spTgt spid="7373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499"/>
                                          </p:stCondLst>
                                        </p:cTn>
                                        <p:tgtEl>
                                          <p:spTgt spid="7373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grpId="0" nodeType="clickEffect">
                                  <p:stCondLst>
                                    <p:cond delay="0"/>
                                  </p:stCondLst>
                                  <p:childTnLst>
                                    <p:set>
                                      <p:cBhvr>
                                        <p:cTn id="15" dur="1" fill="hold">
                                          <p:stCondLst>
                                            <p:cond delay="0"/>
                                          </p:stCondLst>
                                        </p:cTn>
                                        <p:tgtEl>
                                          <p:spTgt spid="74756"/>
                                        </p:tgtEl>
                                        <p:attrNameLst>
                                          <p:attrName>style.visibility</p:attrName>
                                        </p:attrNameLst>
                                      </p:cBhvr>
                                      <p:to>
                                        <p:strVal val="visible"/>
                                      </p:to>
                                    </p:set>
                                    <p:animEffect transition="in" filter="box(in)">
                                      <p:cBhvr>
                                        <p:cTn id="16" dur="500"/>
                                        <p:tgtEl>
                                          <p:spTgt spid="74756"/>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499"/>
                                          </p:stCondLst>
                                        </p:cTn>
                                        <p:tgtEl>
                                          <p:spTgt spid="747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2" grpId="0"/>
      <p:bldP spid="74756" grpId="0"/>
    </p:bldLst>
  </p:timing>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2705" name="Rectangle 7"/>
          <p:cNvSpPr/>
          <p:nvPr/>
        </p:nvSpPr>
        <p:spPr>
          <a:xfrm>
            <a:off x="560388" y="7810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2</a:t>
            </a:r>
            <a:r>
              <a:rPr lang="zh-CN" altLang="en-US" sz="2800" dirty="0">
                <a:solidFill>
                  <a:srgbClr val="FF0000"/>
                </a:solidFill>
                <a:latin typeface="黑体" panose="02010609060101010101" pitchFamily="1" charset="-122"/>
                <a:ea typeface="黑体" panose="02010609060101010101" pitchFamily="1" charset="-122"/>
              </a:rPr>
              <a:t>、故障恢复导论</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72706"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四、数据库的故障恢复技术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75780" name="Text Box 2"/>
          <p:cNvSpPr txBox="1"/>
          <p:nvPr/>
        </p:nvSpPr>
        <p:spPr>
          <a:xfrm>
            <a:off x="598488" y="1474788"/>
            <a:ext cx="8201025" cy="2278062"/>
          </a:xfrm>
          <a:prstGeom prst="rect">
            <a:avLst/>
          </a:prstGeom>
          <a:noFill/>
          <a:ln w="9525">
            <a:noFill/>
          </a:ln>
        </p:spPr>
        <p:txBody>
          <a:bodyPr anchor="t">
            <a:spAutoFit/>
          </a:bodyPr>
          <a:lstStyle/>
          <a:p>
            <a:pPr lvl="0" indent="0">
              <a:lnSpc>
                <a:spcPct val="110000"/>
              </a:lnSpc>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sym typeface="Wingdings" panose="05000000000000000000" pitchFamily="2" charset="2"/>
              </a:rPr>
              <a:t> 由</a:t>
            </a:r>
            <a:r>
              <a:rPr lang="en-US" altLang="x-none" sz="2400" dirty="0">
                <a:latin typeface="宋体" panose="02010600030101010101" pitchFamily="2" charset="-122"/>
                <a:ea typeface="宋体" panose="02010600030101010101" pitchFamily="2" charset="-122"/>
                <a:sym typeface="Wingdings" panose="05000000000000000000" pitchFamily="2" charset="2"/>
              </a:rPr>
              <a:t>DBMS</a:t>
            </a:r>
            <a:r>
              <a:rPr lang="zh-CN" altLang="en-US" sz="2400" dirty="0">
                <a:latin typeface="宋体" panose="02010600030101010101" pitchFamily="2" charset="-122"/>
                <a:ea typeface="宋体" panose="02010600030101010101" pitchFamily="2" charset="-122"/>
                <a:sym typeface="Wingdings" panose="05000000000000000000" pitchFamily="2" charset="2"/>
              </a:rPr>
              <a:t>根据</a:t>
            </a:r>
            <a:r>
              <a:rPr lang="en-US" altLang="x-none" sz="2400" dirty="0">
                <a:latin typeface="宋体" panose="02010600030101010101" pitchFamily="2" charset="-122"/>
                <a:ea typeface="宋体" panose="02010600030101010101" pitchFamily="2" charset="-122"/>
                <a:sym typeface="Wingdings" panose="05000000000000000000" pitchFamily="2" charset="2"/>
              </a:rPr>
              <a:t>DBA</a:t>
            </a:r>
            <a:r>
              <a:rPr lang="zh-CN" altLang="en-US" sz="2400" dirty="0">
                <a:latin typeface="宋体" panose="02010600030101010101" pitchFamily="2" charset="-122"/>
                <a:ea typeface="宋体" panose="02010600030101010101" pitchFamily="2" charset="-122"/>
                <a:sym typeface="Wingdings" panose="05000000000000000000" pitchFamily="2" charset="2"/>
              </a:rPr>
              <a:t>要求，自动将整个</a:t>
            </a:r>
            <a:r>
              <a:rPr lang="en-US" altLang="x-none" sz="2400" dirty="0">
                <a:latin typeface="宋体" panose="02010600030101010101" pitchFamily="2" charset="-122"/>
                <a:ea typeface="宋体" panose="02010600030101010101" pitchFamily="2" charset="-122"/>
                <a:sym typeface="Wingdings" panose="05000000000000000000" pitchFamily="2" charset="2"/>
              </a:rPr>
              <a:t>DB</a:t>
            </a:r>
            <a:r>
              <a:rPr lang="zh-CN" altLang="en-US" sz="2400" dirty="0">
                <a:latin typeface="宋体" panose="02010600030101010101" pitchFamily="2" charset="-122"/>
                <a:ea typeface="宋体" panose="02010600030101010101" pitchFamily="2" charset="-122"/>
                <a:sym typeface="Wingdings" panose="05000000000000000000" pitchFamily="2" charset="2"/>
              </a:rPr>
              <a:t>或其中关键数据复制</a:t>
            </a:r>
            <a:endParaRPr lang="en-US" altLang="x-none" sz="2400" dirty="0">
              <a:latin typeface="宋体" panose="02010600030101010101" pitchFamily="2" charset="-122"/>
              <a:ea typeface="宋体" panose="02010600030101010101" pitchFamily="2" charset="-122"/>
              <a:sym typeface="Wingdings" panose="05000000000000000000" pitchFamily="2" charset="2"/>
            </a:endParaRPr>
          </a:p>
          <a:p>
            <a:pPr lvl="0" indent="0">
              <a:lnSpc>
                <a:spcPct val="110000"/>
              </a:lnSpc>
            </a:pPr>
            <a:r>
              <a:rPr lang="en-US" altLang="x-none" sz="2400" dirty="0">
                <a:latin typeface="宋体" panose="02010600030101010101" pitchFamily="2" charset="-122"/>
                <a:ea typeface="宋体" panose="02010600030101010101" pitchFamily="2" charset="-122"/>
                <a:sym typeface="Wingdings" panose="05000000000000000000" pitchFamily="2" charset="2"/>
              </a:rPr>
              <a:t>  </a:t>
            </a:r>
            <a:r>
              <a:rPr lang="zh-CN" altLang="en-US" sz="2400" dirty="0">
                <a:latin typeface="宋体" panose="02010600030101010101" pitchFamily="2" charset="-122"/>
                <a:ea typeface="宋体" panose="02010600030101010101" pitchFamily="2" charset="-122"/>
                <a:sym typeface="Wingdings" panose="05000000000000000000" pitchFamily="2" charset="2"/>
              </a:rPr>
              <a:t>到另一个磁盘上。当主</a:t>
            </a:r>
            <a:r>
              <a:rPr lang="en-US" altLang="x-none" sz="2400" dirty="0">
                <a:latin typeface="宋体" panose="02010600030101010101" pitchFamily="2" charset="-122"/>
                <a:ea typeface="宋体" panose="02010600030101010101" pitchFamily="2" charset="-122"/>
                <a:sym typeface="Wingdings" panose="05000000000000000000" pitchFamily="2" charset="2"/>
              </a:rPr>
              <a:t>DB</a:t>
            </a:r>
            <a:r>
              <a:rPr lang="zh-CN" altLang="en-US" sz="2400" dirty="0">
                <a:latin typeface="宋体" panose="02010600030101010101" pitchFamily="2" charset="-122"/>
                <a:ea typeface="宋体" panose="02010600030101010101" pitchFamily="2" charset="-122"/>
                <a:sym typeface="Wingdings" panose="05000000000000000000" pitchFamily="2" charset="2"/>
              </a:rPr>
              <a:t>更新时，</a:t>
            </a:r>
            <a:r>
              <a:rPr lang="en-US" altLang="x-none" sz="2400" dirty="0">
                <a:latin typeface="宋体" panose="02010600030101010101" pitchFamily="2" charset="-122"/>
                <a:ea typeface="宋体" panose="02010600030101010101" pitchFamily="2" charset="-122"/>
                <a:sym typeface="Wingdings" panose="05000000000000000000" pitchFamily="2" charset="2"/>
              </a:rPr>
              <a:t>DBMS</a:t>
            </a:r>
            <a:r>
              <a:rPr lang="zh-CN" altLang="en-US" sz="2400" dirty="0">
                <a:latin typeface="宋体" panose="02010600030101010101" pitchFamily="2" charset="-122"/>
                <a:ea typeface="宋体" panose="02010600030101010101" pitchFamily="2" charset="-122"/>
                <a:sym typeface="Wingdings" panose="05000000000000000000" pitchFamily="2" charset="2"/>
              </a:rPr>
              <a:t>自动将更新后的数</a:t>
            </a:r>
            <a:endParaRPr lang="en-US" altLang="x-none" sz="2400" dirty="0">
              <a:latin typeface="宋体" panose="02010600030101010101" pitchFamily="2" charset="-122"/>
              <a:ea typeface="宋体" panose="02010600030101010101" pitchFamily="2" charset="-122"/>
              <a:sym typeface="Wingdings" panose="05000000000000000000" pitchFamily="2" charset="2"/>
            </a:endParaRPr>
          </a:p>
          <a:p>
            <a:pPr lvl="0" indent="0">
              <a:lnSpc>
                <a:spcPct val="110000"/>
              </a:lnSpc>
            </a:pPr>
            <a:r>
              <a:rPr lang="en-US" altLang="x-none" sz="2400" dirty="0">
                <a:latin typeface="宋体" panose="02010600030101010101" pitchFamily="2" charset="-122"/>
                <a:ea typeface="宋体" panose="02010600030101010101" pitchFamily="2" charset="-122"/>
                <a:sym typeface="Wingdings" panose="05000000000000000000" pitchFamily="2" charset="2"/>
              </a:rPr>
              <a:t>  </a:t>
            </a:r>
            <a:r>
              <a:rPr lang="zh-CN" altLang="en-US" sz="2400" dirty="0">
                <a:latin typeface="宋体" panose="02010600030101010101" pitchFamily="2" charset="-122"/>
                <a:ea typeface="宋体" panose="02010600030101010101" pitchFamily="2" charset="-122"/>
                <a:sym typeface="Wingdings" panose="05000000000000000000" pitchFamily="2" charset="2"/>
              </a:rPr>
              <a:t>据复制过去。</a:t>
            </a:r>
            <a:endParaRPr lang="zh-CN" altLang="en-US" sz="2400" dirty="0">
              <a:latin typeface="宋体" panose="02010600030101010101" pitchFamily="2" charset="-122"/>
              <a:ea typeface="宋体" panose="02010600030101010101" pitchFamily="2" charset="-122"/>
              <a:sym typeface="Wingdings" panose="05000000000000000000" pitchFamily="2" charset="2"/>
            </a:endParaRPr>
          </a:p>
          <a:p>
            <a:pPr lvl="0" indent="0">
              <a:lnSpc>
                <a:spcPct val="110000"/>
              </a:lnSpc>
              <a:spcBef>
                <a:spcPts val="600"/>
              </a:spcBef>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sym typeface="Wingdings" panose="05000000000000000000" pitchFamily="2" charset="2"/>
              </a:rPr>
              <a:t> 当出现介质故障时，可由镜像磁盘提供应用服务，并利</a:t>
            </a:r>
            <a:endParaRPr lang="en-US" altLang="x-none" sz="2400" dirty="0">
              <a:latin typeface="宋体" panose="02010600030101010101" pitchFamily="2" charset="-122"/>
              <a:ea typeface="宋体" panose="02010600030101010101" pitchFamily="2" charset="-122"/>
              <a:sym typeface="Wingdings" panose="05000000000000000000" pitchFamily="2" charset="2"/>
            </a:endParaRPr>
          </a:p>
          <a:p>
            <a:pPr lvl="0" indent="0">
              <a:lnSpc>
                <a:spcPct val="110000"/>
              </a:lnSpc>
            </a:pPr>
            <a:r>
              <a:rPr lang="zh-CN" altLang="en-US" sz="2400" dirty="0">
                <a:latin typeface="宋体" panose="02010600030101010101" pitchFamily="2" charset="-122"/>
                <a:ea typeface="宋体" panose="02010600030101010101" pitchFamily="2" charset="-122"/>
                <a:sym typeface="Wingdings" panose="05000000000000000000" pitchFamily="2" charset="2"/>
              </a:rPr>
              <a:t>  用它进行数据库恢复。其实现是通过复制数据进行。</a:t>
            </a:r>
            <a:endParaRPr lang="zh-CN" altLang="en-US" sz="2400" dirty="0">
              <a:latin typeface="宋体" panose="02010600030101010101" pitchFamily="2" charset="-122"/>
              <a:ea typeface="宋体" panose="02010600030101010101" pitchFamily="2" charset="-122"/>
            </a:endParaRPr>
          </a:p>
        </p:txBody>
      </p:sp>
      <p:graphicFrame>
        <p:nvGraphicFramePr>
          <p:cNvPr id="75781" name="Object 2"/>
          <p:cNvGraphicFramePr>
            <a:graphicFrameLocks noGrp="1" noChangeAspect="1"/>
          </p:cNvGraphicFramePr>
          <p:nvPr/>
        </p:nvGraphicFramePr>
        <p:xfrm>
          <a:off x="701675" y="3687763"/>
          <a:ext cx="8018463" cy="2647950"/>
        </p:xfrm>
        <a:graphic>
          <a:graphicData uri="http://schemas.openxmlformats.org/presentationml/2006/ole">
            <mc:AlternateContent xmlns:mc="http://schemas.openxmlformats.org/markup-compatibility/2006">
              <mc:Choice xmlns:v="urn:schemas-microsoft-com:vml" Requires="v">
                <p:oleObj spid="_x0000_s17430" name="" r:id="rId1" imgW="4448175" imgH="1583055" progId="Word.Picture.8">
                  <p:embed/>
                </p:oleObj>
              </mc:Choice>
              <mc:Fallback>
                <p:oleObj name="" r:id="rId1" imgW="4448175" imgH="1583055" progId="Word.Picture.8">
                  <p:embed/>
                  <p:pic>
                    <p:nvPicPr>
                      <p:cNvPr id="0" name="图片 3089"/>
                      <p:cNvPicPr/>
                      <p:nvPr/>
                    </p:nvPicPr>
                    <p:blipFill>
                      <a:blip r:embed="rId2"/>
                      <a:stretch>
                        <a:fillRect/>
                      </a:stretch>
                    </p:blipFill>
                    <p:spPr>
                      <a:xfrm>
                        <a:off x="701675" y="3687763"/>
                        <a:ext cx="8018463" cy="2647950"/>
                      </a:xfrm>
                      <a:prstGeom prst="rect">
                        <a:avLst/>
                      </a:prstGeom>
                      <a:noFill/>
                      <a:ln w="38100">
                        <a:noFill/>
                        <a:miter/>
                      </a:ln>
                    </p:spPr>
                  </p:pic>
                </p:oleObj>
              </mc:Fallback>
            </mc:AlternateContent>
          </a:graphicData>
        </a:graphic>
      </p:graphicFrame>
      <p:sp>
        <p:nvSpPr>
          <p:cNvPr id="72709" name="Rectangle 7"/>
          <p:cNvSpPr/>
          <p:nvPr/>
        </p:nvSpPr>
        <p:spPr>
          <a:xfrm>
            <a:off x="6284913" y="820738"/>
            <a:ext cx="2101850" cy="609600"/>
          </a:xfrm>
          <a:prstGeom prst="rect">
            <a:avLst/>
          </a:prstGeom>
          <a:noFill/>
          <a:ln w="9525">
            <a:noFill/>
          </a:ln>
        </p:spPr>
        <p:txBody>
          <a:bodyPr wrap="none" anchor="ctr"/>
          <a:lstStyle/>
          <a:p>
            <a:pPr lvl="0" indent="0" algn="ctr">
              <a:buFont typeface="Wingdings" panose="05000000000000000000" pitchFamily="2" charset="2"/>
              <a:buChar char="p"/>
            </a:pPr>
            <a:r>
              <a:rPr lang="zh-CN" altLang="en-US" sz="2600" dirty="0">
                <a:solidFill>
                  <a:srgbClr val="0033CC"/>
                </a:solidFill>
                <a:latin typeface="黑体" panose="02010609060101010101" pitchFamily="1" charset="-122"/>
                <a:ea typeface="黑体" panose="02010609060101010101" pitchFamily="1" charset="-122"/>
              </a:rPr>
              <a:t> 数据库镜像</a:t>
            </a:r>
            <a:endParaRPr lang="zh-CN" altLang="en-US" sz="2600" dirty="0">
              <a:solidFill>
                <a:srgbClr val="0033CC"/>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5780"/>
                                        </p:tgtEl>
                                        <p:attrNameLst>
                                          <p:attrName>style.visibility</p:attrName>
                                        </p:attrNameLst>
                                      </p:cBhvr>
                                      <p:to>
                                        <p:strVal val="visible"/>
                                      </p:to>
                                    </p:set>
                                    <p:animEffect transition="in" filter="box(in)">
                                      <p:cBhvr>
                                        <p:cTn id="7" dur="500"/>
                                        <p:tgtEl>
                                          <p:spTgt spid="7578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499"/>
                                          </p:stCondLst>
                                        </p:cTn>
                                        <p:tgtEl>
                                          <p:spTgt spid="757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0"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p:cNvSpPr/>
          <p:nvPr/>
        </p:nvSpPr>
        <p:spPr>
          <a:xfrm>
            <a:off x="560388" y="7810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3</a:t>
            </a:r>
            <a:r>
              <a:rPr lang="zh-CN" altLang="en-US" sz="2800" dirty="0">
                <a:solidFill>
                  <a:srgbClr val="FF0000"/>
                </a:solidFill>
                <a:latin typeface="黑体" panose="02010609060101010101" pitchFamily="1" charset="-122"/>
                <a:ea typeface="黑体" panose="02010609060101010101" pitchFamily="1" charset="-122"/>
              </a:rPr>
              <a:t>、数据库日志</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73730"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四、数据库的故障恢复技术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73731" name="Text Box 4"/>
          <p:cNvSpPr txBox="1"/>
          <p:nvPr/>
        </p:nvSpPr>
        <p:spPr>
          <a:xfrm>
            <a:off x="576263" y="1431925"/>
            <a:ext cx="8275637" cy="1630363"/>
          </a:xfrm>
          <a:prstGeom prst="rect">
            <a:avLst/>
          </a:prstGeom>
          <a:noFill/>
          <a:ln w="9525">
            <a:noFill/>
          </a:ln>
        </p:spPr>
        <p:txBody>
          <a:bodyPr anchor="t">
            <a:spAutoFit/>
          </a:bodyPr>
          <a:lstStyle/>
          <a:p>
            <a:pPr lvl="0" indent="0">
              <a:spcBef>
                <a:spcPts val="300"/>
              </a:spcBef>
              <a:buFont typeface="Wingdings" panose="05000000000000000000" pitchFamily="2" charset="2"/>
              <a:buChar char="p"/>
            </a:pPr>
            <a:r>
              <a:rPr lang="zh-CN" altLang="en-US" sz="2400" u="sng" dirty="0">
                <a:solidFill>
                  <a:srgbClr val="A50021"/>
                </a:solidFill>
                <a:latin typeface="宋体" panose="02010600030101010101" pitchFamily="2" charset="-122"/>
                <a:ea typeface="宋体" panose="02010600030101010101" pitchFamily="2" charset="-122"/>
              </a:rPr>
              <a:t>日志</a:t>
            </a:r>
            <a:r>
              <a:rPr lang="en-US" altLang="x-none" sz="2400" u="sng" dirty="0">
                <a:solidFill>
                  <a:srgbClr val="A50021"/>
                </a:solidFill>
                <a:latin typeface="宋体" panose="02010600030101010101" pitchFamily="2" charset="-122"/>
                <a:ea typeface="宋体" panose="02010600030101010101" pitchFamily="2" charset="-122"/>
              </a:rPr>
              <a:t>(Log)</a:t>
            </a:r>
            <a:r>
              <a:rPr lang="zh-CN" altLang="en-US" sz="2400" u="sng" dirty="0">
                <a:solidFill>
                  <a:srgbClr val="A50021"/>
                </a:solidFill>
                <a:latin typeface="宋体" panose="02010600030101010101" pitchFamily="2" charset="-122"/>
                <a:ea typeface="宋体" panose="02010600030101010101" pitchFamily="2" charset="-122"/>
              </a:rPr>
              <a:t>记录</a:t>
            </a:r>
            <a:r>
              <a:rPr lang="zh-CN" altLang="en-US" sz="2400" u="sng" dirty="0">
                <a:latin typeface="宋体" panose="02010600030101010101" pitchFamily="2" charset="-122"/>
                <a:ea typeface="宋体" panose="02010600030101010101" pitchFamily="2" charset="-122"/>
              </a:rPr>
              <a:t>：</a:t>
            </a:r>
            <a:r>
              <a:rPr lang="en-US" altLang="x-none" sz="2400" dirty="0">
                <a:latin typeface="华文楷体" panose="02010600040101010101" pitchFamily="2" charset="-122"/>
                <a:ea typeface="华文楷体" panose="02010600040101010101" pitchFamily="2" charset="-122"/>
              </a:rPr>
              <a:t>DB</a:t>
            </a:r>
            <a:r>
              <a:rPr lang="zh-CN" altLang="en-US" sz="2400" dirty="0">
                <a:latin typeface="华文楷体" panose="02010600040101010101" pitchFamily="2" charset="-122"/>
                <a:ea typeface="华文楷体" panose="02010600040101010101" pitchFamily="2" charset="-122"/>
              </a:rPr>
              <a:t>恢复所必需的数据。</a:t>
            </a:r>
            <a:endParaRPr lang="zh-CN" altLang="en-US" sz="2400" dirty="0">
              <a:latin typeface="华文楷体" panose="02010600040101010101" pitchFamily="2" charset="-122"/>
              <a:ea typeface="华文楷体" panose="02010600040101010101" pitchFamily="2" charset="-122"/>
            </a:endParaRPr>
          </a:p>
          <a:p>
            <a:pPr lvl="0" indent="0">
              <a:spcBef>
                <a:spcPts val="300"/>
              </a:spcBef>
            </a:pPr>
            <a:r>
              <a:rPr lang="zh-CN" altLang="en-US" sz="2400" dirty="0">
                <a:latin typeface="华文楷体" panose="02010600040101010101" pitchFamily="2" charset="-122"/>
                <a:ea typeface="华文楷体" panose="02010600040101010101" pitchFamily="2" charset="-122"/>
              </a:rPr>
              <a:t>日志及</a:t>
            </a:r>
            <a:r>
              <a:rPr lang="en-US" altLang="x-none" sz="2400" dirty="0">
                <a:latin typeface="华文楷体" panose="02010600040101010101" pitchFamily="2" charset="-122"/>
                <a:ea typeface="华文楷体" panose="02010600040101010101" pitchFamily="2" charset="-122"/>
              </a:rPr>
              <a:t>DB</a:t>
            </a:r>
            <a:r>
              <a:rPr lang="zh-CN" altLang="en-US" sz="2400" dirty="0">
                <a:latin typeface="华文楷体" panose="02010600040101010101" pitchFamily="2" charset="-122"/>
                <a:ea typeface="华文楷体" panose="02010600040101010101" pitchFamily="2" charset="-122"/>
              </a:rPr>
              <a:t>的存放：日志丢失，</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DB</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就无法恢复。因此，日志和</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DB</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要分别存放在不同的</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分区、磁盘、磁带副本</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a:p>
            <a:pPr lvl="0" indent="0">
              <a:spcBef>
                <a:spcPts val="300"/>
              </a:spcBef>
              <a:buFont typeface="Wingdings" panose="05000000000000000000" pitchFamily="2" charset="2"/>
              <a:buNone/>
            </a:pP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p:txBody>
      </p:sp>
      <p:grpSp>
        <p:nvGrpSpPr>
          <p:cNvPr id="76805" name="组合 76804"/>
          <p:cNvGrpSpPr/>
          <p:nvPr/>
        </p:nvGrpSpPr>
        <p:grpSpPr>
          <a:xfrm>
            <a:off x="604838" y="2636838"/>
            <a:ext cx="7921625" cy="3678237"/>
            <a:chOff x="0" y="0"/>
            <a:chExt cx="12476" cy="5792"/>
          </a:xfrm>
        </p:grpSpPr>
        <p:sp>
          <p:nvSpPr>
            <p:cNvPr id="73733" name="Rectangle 8"/>
            <p:cNvSpPr txBox="1"/>
            <p:nvPr/>
          </p:nvSpPr>
          <p:spPr>
            <a:xfrm>
              <a:off x="0" y="0"/>
              <a:ext cx="12477" cy="5792"/>
            </a:xfrm>
            <a:prstGeom prst="rect">
              <a:avLst/>
            </a:prstGeom>
            <a:noFill/>
            <a:ln w="9525">
              <a:noFill/>
            </a:ln>
          </p:spPr>
          <p:txBody>
            <a:bodyPr wrap="square" anchor="t"/>
            <a:lstStyle/>
            <a:p>
              <a:pPr marL="342900" lvl="0" indent="-342900">
                <a:lnSpc>
                  <a:spcPct val="90000"/>
                </a:lnSpc>
                <a:buClr>
                  <a:srgbClr val="0033CC"/>
                </a:buClr>
                <a:buSzPct val="80000"/>
              </a:pPr>
              <a:r>
                <a:rPr lang="en-US" altLang="x-none" sz="2000" dirty="0">
                  <a:solidFill>
                    <a:srgbClr val="CC0000"/>
                  </a:solidFill>
                  <a:latin typeface="方正姚体" panose="02010601030101010101" pitchFamily="2" charset="-122"/>
                  <a:ea typeface="方正姚体" panose="02010601030101010101" pitchFamily="2" charset="-122"/>
                </a:rPr>
                <a:t>Create Database StuData</a:t>
              </a:r>
              <a:endParaRPr lang="en-US" altLang="x-none" sz="2000" dirty="0">
                <a:solidFill>
                  <a:srgbClr val="CC0000"/>
                </a:solidFill>
                <a:latin typeface="方正姚体" panose="02010601030101010101" pitchFamily="2" charset="-122"/>
                <a:ea typeface="方正姚体" panose="02010601030101010101" pitchFamily="2" charset="-122"/>
              </a:endParaRPr>
            </a:p>
            <a:p>
              <a:pPr marL="342900" lvl="0" indent="-342900">
                <a:lnSpc>
                  <a:spcPct val="90000"/>
                </a:lnSpc>
                <a:buClr>
                  <a:srgbClr val="0033CC"/>
                </a:buClr>
                <a:buSzPct val="80000"/>
              </a:pPr>
              <a:r>
                <a:rPr lang="en-US" altLang="x-none" sz="2000" dirty="0">
                  <a:solidFill>
                    <a:srgbClr val="0033CC"/>
                  </a:solidFill>
                  <a:latin typeface="方正姚体" panose="02010601030101010101" pitchFamily="2" charset="-122"/>
                  <a:ea typeface="方正姚体" panose="02010601030101010101" pitchFamily="2" charset="-122"/>
                </a:rPr>
                <a:t>          On Primary      </a:t>
              </a:r>
              <a:endParaRPr lang="en-US" altLang="x-none" sz="2000" dirty="0">
                <a:solidFill>
                  <a:srgbClr val="0033CC"/>
                </a:solidFill>
                <a:latin typeface="方正姚体" panose="02010601030101010101" pitchFamily="2" charset="-122"/>
                <a:ea typeface="方正姚体" panose="02010601030101010101" pitchFamily="2" charset="-122"/>
              </a:endParaRPr>
            </a:p>
            <a:p>
              <a:pPr marL="342900" lvl="0" indent="-342900">
                <a:lnSpc>
                  <a:spcPct val="90000"/>
                </a:lnSpc>
                <a:buClr>
                  <a:srgbClr val="0033CC"/>
                </a:buClr>
                <a:buSzPct val="80000"/>
              </a:pPr>
              <a:r>
                <a:rPr lang="en-US" altLang="x-none" sz="2000" dirty="0">
                  <a:solidFill>
                    <a:srgbClr val="0033CC"/>
                  </a:solidFill>
                  <a:latin typeface="方正姚体" panose="02010601030101010101" pitchFamily="2" charset="-122"/>
                  <a:ea typeface="方正姚体" panose="02010601030101010101" pitchFamily="2" charset="-122"/>
                </a:rPr>
                <a:t>             (  Name       = StuFile1,</a:t>
              </a:r>
              <a:endParaRPr lang="en-US" altLang="x-none" sz="2000" dirty="0">
                <a:solidFill>
                  <a:srgbClr val="0033CC"/>
                </a:solidFill>
                <a:latin typeface="方正姚体" panose="02010601030101010101" pitchFamily="2" charset="-122"/>
                <a:ea typeface="方正姚体" panose="02010601030101010101" pitchFamily="2" charset="-122"/>
              </a:endParaRPr>
            </a:p>
            <a:p>
              <a:pPr marL="342900" lvl="0" indent="-342900">
                <a:lnSpc>
                  <a:spcPct val="90000"/>
                </a:lnSpc>
                <a:buClr>
                  <a:srgbClr val="0033CC"/>
                </a:buClr>
                <a:buSzPct val="80000"/>
              </a:pPr>
              <a:r>
                <a:rPr lang="en-US" altLang="x-none" sz="2000" dirty="0">
                  <a:solidFill>
                    <a:srgbClr val="0033CC"/>
                  </a:solidFill>
                  <a:latin typeface="方正姚体" panose="02010601030101010101" pitchFamily="2" charset="-122"/>
                  <a:ea typeface="方正姚体" panose="02010601030101010101" pitchFamily="2" charset="-122"/>
                </a:rPr>
                <a:t>                 Filename   = 'c:\data\StuFile1.mdf', </a:t>
              </a:r>
              <a:endParaRPr lang="en-US" altLang="x-none" sz="2000" dirty="0">
                <a:solidFill>
                  <a:srgbClr val="0033CC"/>
                </a:solidFill>
                <a:latin typeface="方正姚体" panose="02010601030101010101" pitchFamily="2" charset="-122"/>
                <a:ea typeface="方正姚体" panose="02010601030101010101" pitchFamily="2" charset="-122"/>
              </a:endParaRPr>
            </a:p>
            <a:p>
              <a:pPr marL="342900" lvl="0" indent="-342900">
                <a:lnSpc>
                  <a:spcPct val="90000"/>
                </a:lnSpc>
                <a:buClr>
                  <a:srgbClr val="0033CC"/>
                </a:buClr>
                <a:buSzPct val="80000"/>
              </a:pPr>
              <a:r>
                <a:rPr lang="en-US" altLang="x-none" sz="2000" dirty="0">
                  <a:solidFill>
                    <a:srgbClr val="0033CC"/>
                  </a:solidFill>
                  <a:latin typeface="方正姚体" panose="02010601030101010101" pitchFamily="2" charset="-122"/>
                  <a:ea typeface="方正姚体" panose="02010601030101010101" pitchFamily="2" charset="-122"/>
                </a:rPr>
                <a:t>                 Size       = 10MB,</a:t>
              </a:r>
              <a:endParaRPr lang="en-US" altLang="x-none" sz="2000" dirty="0">
                <a:solidFill>
                  <a:srgbClr val="0033CC"/>
                </a:solidFill>
                <a:latin typeface="方正姚体" panose="02010601030101010101" pitchFamily="2" charset="-122"/>
                <a:ea typeface="方正姚体" panose="02010601030101010101" pitchFamily="2" charset="-122"/>
              </a:endParaRPr>
            </a:p>
            <a:p>
              <a:pPr marL="342900" lvl="0" indent="-342900">
                <a:lnSpc>
                  <a:spcPct val="90000"/>
                </a:lnSpc>
                <a:buClr>
                  <a:srgbClr val="0033CC"/>
                </a:buClr>
                <a:buSzPct val="80000"/>
              </a:pPr>
              <a:r>
                <a:rPr lang="en-US" altLang="x-none" sz="2000" dirty="0">
                  <a:solidFill>
                    <a:srgbClr val="0033CC"/>
                  </a:solidFill>
                  <a:latin typeface="方正姚体" panose="02010601030101010101" pitchFamily="2" charset="-122"/>
                  <a:ea typeface="方正姚体" panose="02010601030101010101" pitchFamily="2" charset="-122"/>
                </a:rPr>
                <a:t>                 MaxSize    = 1000MB,</a:t>
              </a:r>
              <a:endParaRPr lang="en-US" altLang="x-none" sz="2000" dirty="0">
                <a:solidFill>
                  <a:srgbClr val="0033CC"/>
                </a:solidFill>
                <a:latin typeface="方正姚体" panose="02010601030101010101" pitchFamily="2" charset="-122"/>
                <a:ea typeface="方正姚体" panose="02010601030101010101" pitchFamily="2" charset="-122"/>
              </a:endParaRPr>
            </a:p>
            <a:p>
              <a:pPr marL="342900" lvl="0" indent="-342900">
                <a:lnSpc>
                  <a:spcPct val="90000"/>
                </a:lnSpc>
                <a:buClr>
                  <a:srgbClr val="0033CC"/>
                </a:buClr>
                <a:buSzPct val="80000"/>
              </a:pPr>
              <a:r>
                <a:rPr lang="en-US" altLang="x-none" sz="2000" dirty="0">
                  <a:solidFill>
                    <a:srgbClr val="0033CC"/>
                  </a:solidFill>
                  <a:latin typeface="方正姚体" panose="02010601030101010101" pitchFamily="2" charset="-122"/>
                  <a:ea typeface="方正姚体" panose="02010601030101010101" pitchFamily="2" charset="-122"/>
                </a:rPr>
                <a:t>                 FileGrowth = 5MB)</a:t>
              </a:r>
              <a:endParaRPr lang="en-US" altLang="x-none" sz="2000" dirty="0">
                <a:solidFill>
                  <a:srgbClr val="0033CC"/>
                </a:solidFill>
                <a:latin typeface="方正姚体" panose="02010601030101010101" pitchFamily="2" charset="-122"/>
                <a:ea typeface="方正姚体" panose="02010601030101010101" pitchFamily="2" charset="-122"/>
              </a:endParaRPr>
            </a:p>
            <a:p>
              <a:pPr marL="342900" lvl="0" indent="-342900">
                <a:lnSpc>
                  <a:spcPct val="90000"/>
                </a:lnSpc>
                <a:buClr>
                  <a:srgbClr val="0033CC"/>
                </a:buClr>
                <a:buSzPct val="80000"/>
              </a:pPr>
              <a:r>
                <a:rPr lang="en-US" altLang="x-none" sz="2000" dirty="0">
                  <a:solidFill>
                    <a:srgbClr val="0033CC"/>
                  </a:solidFill>
                  <a:latin typeface="方正姚体" panose="02010601030101010101" pitchFamily="2" charset="-122"/>
                  <a:ea typeface="方正姚体" panose="02010601030101010101" pitchFamily="2" charset="-122"/>
                </a:rPr>
                <a:t>          Log On</a:t>
              </a:r>
              <a:endParaRPr lang="en-US" altLang="x-none" sz="2000" dirty="0">
                <a:solidFill>
                  <a:srgbClr val="0033CC"/>
                </a:solidFill>
                <a:latin typeface="方正姚体" panose="02010601030101010101" pitchFamily="2" charset="-122"/>
                <a:ea typeface="方正姚体" panose="02010601030101010101" pitchFamily="2" charset="-122"/>
              </a:endParaRPr>
            </a:p>
            <a:p>
              <a:pPr marL="342900" lvl="0" indent="-342900">
                <a:lnSpc>
                  <a:spcPct val="90000"/>
                </a:lnSpc>
                <a:buClr>
                  <a:srgbClr val="0033CC"/>
                </a:buClr>
                <a:buSzPct val="80000"/>
              </a:pPr>
              <a:r>
                <a:rPr lang="en-US" altLang="x-none" sz="2000" dirty="0">
                  <a:solidFill>
                    <a:srgbClr val="0033CC"/>
                  </a:solidFill>
                  <a:latin typeface="方正姚体" panose="02010601030101010101" pitchFamily="2" charset="-122"/>
                  <a:ea typeface="方正姚体" panose="02010601030101010101" pitchFamily="2" charset="-122"/>
                </a:rPr>
                <a:t>           (  Name       = Stulog,</a:t>
              </a:r>
              <a:endParaRPr lang="en-US" altLang="x-none" sz="2000" dirty="0">
                <a:solidFill>
                  <a:srgbClr val="0033CC"/>
                </a:solidFill>
                <a:latin typeface="方正姚体" panose="02010601030101010101" pitchFamily="2" charset="-122"/>
                <a:ea typeface="方正姚体" panose="02010601030101010101" pitchFamily="2" charset="-122"/>
              </a:endParaRPr>
            </a:p>
            <a:p>
              <a:pPr marL="342900" lvl="0" indent="-342900">
                <a:lnSpc>
                  <a:spcPct val="90000"/>
                </a:lnSpc>
                <a:buClr>
                  <a:srgbClr val="0033CC"/>
                </a:buClr>
                <a:buSzPct val="80000"/>
              </a:pPr>
              <a:r>
                <a:rPr lang="en-US" altLang="x-none" sz="2000" dirty="0">
                  <a:solidFill>
                    <a:srgbClr val="0033CC"/>
                  </a:solidFill>
                  <a:latin typeface="方正姚体" panose="02010601030101010101" pitchFamily="2" charset="-122"/>
                  <a:ea typeface="方正姚体" panose="02010601030101010101" pitchFamily="2" charset="-122"/>
                </a:rPr>
                <a:t>                Filename   = 'd:\data\Stulog.ldf', </a:t>
              </a:r>
              <a:endParaRPr lang="en-US" altLang="x-none" sz="2000" dirty="0">
                <a:solidFill>
                  <a:srgbClr val="0033CC"/>
                </a:solidFill>
                <a:latin typeface="方正姚体" panose="02010601030101010101" pitchFamily="2" charset="-122"/>
                <a:ea typeface="方正姚体" panose="02010601030101010101" pitchFamily="2" charset="-122"/>
              </a:endParaRPr>
            </a:p>
            <a:p>
              <a:pPr marL="342900" lvl="0" indent="-342900">
                <a:lnSpc>
                  <a:spcPct val="90000"/>
                </a:lnSpc>
                <a:buClr>
                  <a:srgbClr val="0033CC"/>
                </a:buClr>
                <a:buSzPct val="80000"/>
              </a:pPr>
              <a:r>
                <a:rPr lang="en-US" altLang="x-none" sz="2000" dirty="0">
                  <a:solidFill>
                    <a:srgbClr val="0033CC"/>
                  </a:solidFill>
                  <a:latin typeface="方正姚体" panose="02010601030101010101" pitchFamily="2" charset="-122"/>
                  <a:ea typeface="方正姚体" panose="02010601030101010101" pitchFamily="2" charset="-122"/>
                </a:rPr>
                <a:t>                Size       = 10MB,</a:t>
              </a:r>
              <a:endParaRPr lang="en-US" altLang="x-none" sz="2000" dirty="0">
                <a:solidFill>
                  <a:srgbClr val="0033CC"/>
                </a:solidFill>
                <a:latin typeface="方正姚体" panose="02010601030101010101" pitchFamily="2" charset="-122"/>
                <a:ea typeface="方正姚体" panose="02010601030101010101" pitchFamily="2" charset="-122"/>
              </a:endParaRPr>
            </a:p>
            <a:p>
              <a:pPr marL="342900" lvl="0" indent="-342900">
                <a:lnSpc>
                  <a:spcPct val="90000"/>
                </a:lnSpc>
                <a:buClr>
                  <a:srgbClr val="0033CC"/>
                </a:buClr>
                <a:buSzPct val="80000"/>
              </a:pPr>
              <a:r>
                <a:rPr lang="en-US" altLang="x-none" sz="2000" dirty="0">
                  <a:solidFill>
                    <a:srgbClr val="0033CC"/>
                  </a:solidFill>
                  <a:latin typeface="方正姚体" panose="02010601030101010101" pitchFamily="2" charset="-122"/>
                  <a:ea typeface="方正姚体" panose="02010601030101010101" pitchFamily="2" charset="-122"/>
                </a:rPr>
                <a:t>                MaxSize    = 1000MB,</a:t>
              </a:r>
              <a:endParaRPr lang="en-US" altLang="x-none" sz="2000" dirty="0">
                <a:solidFill>
                  <a:srgbClr val="0033CC"/>
                </a:solidFill>
                <a:latin typeface="方正姚体" panose="02010601030101010101" pitchFamily="2" charset="-122"/>
                <a:ea typeface="方正姚体" panose="02010601030101010101" pitchFamily="2" charset="-122"/>
              </a:endParaRPr>
            </a:p>
            <a:p>
              <a:pPr marL="342900" lvl="0" indent="-342900">
                <a:lnSpc>
                  <a:spcPct val="90000"/>
                </a:lnSpc>
                <a:buClr>
                  <a:srgbClr val="0033CC"/>
                </a:buClr>
                <a:buSzPct val="80000"/>
              </a:pPr>
              <a:r>
                <a:rPr lang="en-US" altLang="x-none" sz="2000" dirty="0">
                  <a:solidFill>
                    <a:srgbClr val="0033CC"/>
                  </a:solidFill>
                  <a:latin typeface="方正姚体" panose="02010601030101010101" pitchFamily="2" charset="-122"/>
                  <a:ea typeface="方正姚体" panose="02010601030101010101" pitchFamily="2" charset="-122"/>
                </a:rPr>
                <a:t>                FileGrowth = 5MB) </a:t>
              </a:r>
              <a:endParaRPr lang="en-GB" altLang="en-US" sz="2000" dirty="0">
                <a:solidFill>
                  <a:srgbClr val="0033CC"/>
                </a:solidFill>
                <a:latin typeface="Times New Roman" panose="02020603050405020304" pitchFamily="2" charset="0"/>
                <a:ea typeface="宋体" panose="02010600030101010101" pitchFamily="2" charset="-122"/>
              </a:endParaRPr>
            </a:p>
          </p:txBody>
        </p:sp>
        <p:grpSp>
          <p:nvGrpSpPr>
            <p:cNvPr id="73734" name="Group 9"/>
            <p:cNvGrpSpPr/>
            <p:nvPr/>
          </p:nvGrpSpPr>
          <p:grpSpPr>
            <a:xfrm>
              <a:off x="4951" y="172"/>
              <a:ext cx="2335" cy="1042"/>
              <a:chOff x="0" y="0"/>
              <a:chExt cx="934" cy="417"/>
            </a:xfrm>
          </p:grpSpPr>
          <p:sp>
            <p:nvSpPr>
              <p:cNvPr id="73735" name="AutoShape 10"/>
              <p:cNvSpPr/>
              <p:nvPr/>
            </p:nvSpPr>
            <p:spPr>
              <a:xfrm>
                <a:off x="26" y="0"/>
                <a:ext cx="908" cy="288"/>
              </a:xfrm>
              <a:prstGeom prst="roundRect">
                <a:avLst>
                  <a:gd name="adj" fmla="val 16667"/>
                </a:avLst>
              </a:prstGeom>
              <a:solidFill>
                <a:srgbClr val="FBE2B1"/>
              </a:solidFill>
              <a:ln w="9525" cap="flat" cmpd="sng">
                <a:solidFill>
                  <a:schemeClr val="tx1"/>
                </a:solidFill>
                <a:prstDash val="solid"/>
                <a:round/>
                <a:headEnd type="none" w="med" len="med"/>
                <a:tailEnd type="none" w="med" len="med"/>
              </a:ln>
            </p:spPr>
            <p:txBody>
              <a:bodyPr wrap="none" anchor="ctr"/>
              <a:lstStyle/>
              <a:p>
                <a:pPr lvl="0" indent="0" algn="ctr">
                  <a:lnSpc>
                    <a:spcPct val="135000"/>
                  </a:lnSpc>
                </a:pPr>
                <a:r>
                  <a:rPr lang="zh-CN" altLang="en-US" sz="2400" dirty="0">
                    <a:solidFill>
                      <a:srgbClr val="003300"/>
                    </a:solidFill>
                    <a:latin typeface="宋体" panose="02010600030101010101" pitchFamily="2" charset="-122"/>
                    <a:ea typeface="宋体" panose="02010600030101010101" pitchFamily="2" charset="-122"/>
                  </a:rPr>
                  <a:t>主文件</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73736" name="Line 11"/>
              <p:cNvSpPr/>
              <p:nvPr/>
            </p:nvSpPr>
            <p:spPr>
              <a:xfrm flipV="1">
                <a:off x="0" y="305"/>
                <a:ext cx="528" cy="112"/>
              </a:xfrm>
              <a:prstGeom prst="line">
                <a:avLst/>
              </a:prstGeom>
              <a:ln w="25400" cap="flat" cmpd="sng">
                <a:solidFill>
                  <a:schemeClr val="tx1"/>
                </a:solidFill>
                <a:prstDash val="solid"/>
                <a:round/>
                <a:headEnd type="triangle" w="med" len="med"/>
                <a:tailEnd type="none" w="med" len="med"/>
              </a:ln>
            </p:spPr>
          </p:sp>
        </p:grpSp>
        <p:grpSp>
          <p:nvGrpSpPr>
            <p:cNvPr id="73737" name="Group 18"/>
            <p:cNvGrpSpPr/>
            <p:nvPr/>
          </p:nvGrpSpPr>
          <p:grpSpPr>
            <a:xfrm>
              <a:off x="7048" y="82"/>
              <a:ext cx="4965" cy="1515"/>
              <a:chOff x="0" y="0"/>
              <a:chExt cx="1986" cy="606"/>
            </a:xfrm>
          </p:grpSpPr>
          <p:sp>
            <p:nvSpPr>
              <p:cNvPr id="73738" name="AutoShape 19"/>
              <p:cNvSpPr/>
              <p:nvPr/>
            </p:nvSpPr>
            <p:spPr>
              <a:xfrm>
                <a:off x="354" y="0"/>
                <a:ext cx="1632" cy="334"/>
              </a:xfrm>
              <a:prstGeom prst="roundRect">
                <a:avLst>
                  <a:gd name="adj" fmla="val 16667"/>
                </a:avLst>
              </a:prstGeom>
              <a:solidFill>
                <a:srgbClr val="CCFFFF">
                  <a:alpha val="29999"/>
                </a:srgbClr>
              </a:solidFill>
              <a:ln w="9525" cap="flat" cmpd="sng">
                <a:solidFill>
                  <a:schemeClr val="tx1"/>
                </a:solidFill>
                <a:prstDash val="solid"/>
                <a:round/>
                <a:headEnd type="none" w="med" len="med"/>
                <a:tailEnd type="none" w="med" len="med"/>
              </a:ln>
            </p:spPr>
            <p:txBody>
              <a:bodyPr wrap="none" anchor="ctr"/>
              <a:lstStyle/>
              <a:p>
                <a:pPr lvl="0" indent="0" algn="ctr">
                  <a:lnSpc>
                    <a:spcPct val="135000"/>
                  </a:lnSpc>
                </a:pPr>
                <a:r>
                  <a:rPr lang="zh-CN" altLang="en-US" sz="2400" dirty="0">
                    <a:solidFill>
                      <a:srgbClr val="003300"/>
                    </a:solidFill>
                    <a:latin typeface="宋体" panose="02010600030101010101" pitchFamily="2" charset="-122"/>
                    <a:ea typeface="宋体" panose="02010600030101010101" pitchFamily="2" charset="-122"/>
                  </a:rPr>
                  <a:t>主数据文件扩展名</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73739" name="Line 20"/>
              <p:cNvSpPr/>
              <p:nvPr/>
            </p:nvSpPr>
            <p:spPr>
              <a:xfrm flipH="1">
                <a:off x="0" y="339"/>
                <a:ext cx="1495" cy="267"/>
              </a:xfrm>
              <a:prstGeom prst="line">
                <a:avLst/>
              </a:prstGeom>
              <a:ln w="38100" cap="flat" cmpd="sng">
                <a:solidFill>
                  <a:schemeClr val="tx1"/>
                </a:solidFill>
                <a:prstDash val="solid"/>
                <a:round/>
                <a:headEnd type="none" w="med" len="med"/>
                <a:tailEnd type="triangle" w="med" len="med"/>
              </a:ln>
            </p:spPr>
          </p:sp>
        </p:grpSp>
        <p:grpSp>
          <p:nvGrpSpPr>
            <p:cNvPr id="73740" name="Group 15"/>
            <p:cNvGrpSpPr/>
            <p:nvPr/>
          </p:nvGrpSpPr>
          <p:grpSpPr>
            <a:xfrm>
              <a:off x="4467" y="2816"/>
              <a:ext cx="2972" cy="977"/>
              <a:chOff x="0" y="0"/>
              <a:chExt cx="1189" cy="391"/>
            </a:xfrm>
          </p:grpSpPr>
          <p:sp>
            <p:nvSpPr>
              <p:cNvPr id="73741" name="AutoShape 16"/>
              <p:cNvSpPr/>
              <p:nvPr/>
            </p:nvSpPr>
            <p:spPr>
              <a:xfrm>
                <a:off x="281" y="0"/>
                <a:ext cx="908" cy="288"/>
              </a:xfrm>
              <a:prstGeom prst="roundRect">
                <a:avLst>
                  <a:gd name="adj" fmla="val 16667"/>
                </a:avLst>
              </a:prstGeom>
              <a:solidFill>
                <a:srgbClr val="FBE2B1"/>
              </a:solidFill>
              <a:ln w="9525" cap="flat" cmpd="sng">
                <a:solidFill>
                  <a:schemeClr val="tx1"/>
                </a:solidFill>
                <a:prstDash val="solid"/>
                <a:round/>
                <a:headEnd type="none" w="med" len="med"/>
                <a:tailEnd type="none" w="med" len="med"/>
              </a:ln>
            </p:spPr>
            <p:txBody>
              <a:bodyPr wrap="none" anchor="ctr"/>
              <a:lstStyle/>
              <a:p>
                <a:pPr lvl="0" indent="0" algn="ctr">
                  <a:lnSpc>
                    <a:spcPct val="135000"/>
                  </a:lnSpc>
                </a:pPr>
                <a:r>
                  <a:rPr lang="zh-CN" altLang="en-US" sz="2400" dirty="0">
                    <a:solidFill>
                      <a:srgbClr val="003300"/>
                    </a:solidFill>
                    <a:latin typeface="宋体" panose="02010600030101010101" pitchFamily="2" charset="-122"/>
                    <a:ea typeface="宋体" panose="02010600030101010101" pitchFamily="2" charset="-122"/>
                  </a:rPr>
                  <a:t>日志文件</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73742" name="Line 17"/>
              <p:cNvSpPr/>
              <p:nvPr/>
            </p:nvSpPr>
            <p:spPr>
              <a:xfrm flipV="1">
                <a:off x="0" y="289"/>
                <a:ext cx="511" cy="102"/>
              </a:xfrm>
              <a:prstGeom prst="line">
                <a:avLst/>
              </a:prstGeom>
              <a:ln w="25400" cap="flat" cmpd="sng">
                <a:solidFill>
                  <a:schemeClr val="tx1"/>
                </a:solidFill>
                <a:prstDash val="solid"/>
                <a:round/>
                <a:headEnd type="triangle" w="med" len="med"/>
                <a:tailEnd type="none" w="med" len="med"/>
              </a:ln>
            </p:spPr>
          </p:sp>
        </p:grpSp>
        <p:grpSp>
          <p:nvGrpSpPr>
            <p:cNvPr id="73743" name="Group 24"/>
            <p:cNvGrpSpPr/>
            <p:nvPr/>
          </p:nvGrpSpPr>
          <p:grpSpPr>
            <a:xfrm>
              <a:off x="6819" y="2896"/>
              <a:ext cx="5233" cy="1417"/>
              <a:chOff x="0" y="0"/>
              <a:chExt cx="2093" cy="567"/>
            </a:xfrm>
          </p:grpSpPr>
          <p:sp>
            <p:nvSpPr>
              <p:cNvPr id="73744" name="AutoShape 25"/>
              <p:cNvSpPr/>
              <p:nvPr/>
            </p:nvSpPr>
            <p:spPr>
              <a:xfrm>
                <a:off x="610" y="0"/>
                <a:ext cx="1483" cy="334"/>
              </a:xfrm>
              <a:prstGeom prst="roundRect">
                <a:avLst>
                  <a:gd name="adj" fmla="val 16667"/>
                </a:avLst>
              </a:prstGeom>
              <a:solidFill>
                <a:srgbClr val="CCFFFF">
                  <a:alpha val="29999"/>
                </a:srgbClr>
              </a:solidFill>
              <a:ln w="9525" cap="flat" cmpd="sng">
                <a:solidFill>
                  <a:schemeClr val="tx1"/>
                </a:solidFill>
                <a:prstDash val="solid"/>
                <a:round/>
                <a:headEnd type="none" w="med" len="med"/>
                <a:tailEnd type="none" w="med" len="med"/>
              </a:ln>
            </p:spPr>
            <p:txBody>
              <a:bodyPr wrap="none" anchor="ctr"/>
              <a:lstStyle/>
              <a:p>
                <a:pPr lvl="0" indent="0" algn="ctr">
                  <a:lnSpc>
                    <a:spcPct val="135000"/>
                  </a:lnSpc>
                </a:pPr>
                <a:r>
                  <a:rPr lang="zh-CN" altLang="en-US" sz="2400" dirty="0">
                    <a:solidFill>
                      <a:srgbClr val="003300"/>
                    </a:solidFill>
                    <a:latin typeface="宋体" panose="02010600030101010101" pitchFamily="2" charset="-122"/>
                    <a:ea typeface="宋体" panose="02010600030101010101" pitchFamily="2" charset="-122"/>
                  </a:rPr>
                  <a:t>日志文件扩展名</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73745" name="Line 26"/>
              <p:cNvSpPr/>
              <p:nvPr/>
            </p:nvSpPr>
            <p:spPr>
              <a:xfrm flipH="1">
                <a:off x="0" y="329"/>
                <a:ext cx="1186" cy="238"/>
              </a:xfrm>
              <a:prstGeom prst="line">
                <a:avLst/>
              </a:prstGeom>
              <a:ln w="38100" cap="flat" cmpd="sng">
                <a:solidFill>
                  <a:schemeClr val="tx1"/>
                </a:solidFill>
                <a:prstDash val="solid"/>
                <a:round/>
                <a:headEnd type="none" w="med" len="med"/>
                <a:tailEnd type="triangle" w="med" len="med"/>
              </a:ln>
            </p:spPr>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6805"/>
                                        </p:tgtEl>
                                        <p:attrNameLst>
                                          <p:attrName>style.visibility</p:attrName>
                                        </p:attrNameLst>
                                      </p:cBhvr>
                                      <p:to>
                                        <p:strVal val="visible"/>
                                      </p:to>
                                    </p:set>
                                    <p:anim calcmode="lin" valueType="num">
                                      <p:cBhvr>
                                        <p:cTn id="7" dur="500" fill="hold"/>
                                        <p:tgtEl>
                                          <p:spTgt spid="76805"/>
                                        </p:tgtEl>
                                        <p:attrNameLst>
                                          <p:attrName>ppt_x</p:attrName>
                                        </p:attrNameLst>
                                      </p:cBhvr>
                                      <p:tavLst>
                                        <p:tav tm="0">
                                          <p:val>
                                            <p:strVal val="#ppt_x"/>
                                          </p:val>
                                        </p:tav>
                                        <p:tav tm="100000">
                                          <p:val>
                                            <p:strVal val="#ppt_x"/>
                                          </p:val>
                                        </p:tav>
                                      </p:tavLst>
                                    </p:anim>
                                    <p:anim calcmode="lin" valueType="num">
                                      <p:cBhvr>
                                        <p:cTn id="8" dur="500" fill="hold"/>
                                        <p:tgtEl>
                                          <p:spTgt spid="7680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Text Box 4"/>
          <p:cNvSpPr txBox="1"/>
          <p:nvPr/>
        </p:nvSpPr>
        <p:spPr>
          <a:xfrm>
            <a:off x="479425" y="962025"/>
            <a:ext cx="8274050" cy="952500"/>
          </a:xfrm>
          <a:prstGeom prst="rect">
            <a:avLst/>
          </a:prstGeom>
          <a:noFill/>
          <a:ln w="9525">
            <a:noFill/>
          </a:ln>
        </p:spPr>
        <p:txBody>
          <a:bodyPr wrap="square" anchor="t">
            <a:spAutoFit/>
          </a:bodyPr>
          <a:lstStyle/>
          <a:p>
            <a:pPr lvl="0" indent="0">
              <a:spcBef>
                <a:spcPts val="300"/>
              </a:spcBef>
              <a:buFont typeface="Wingdings" panose="05000000000000000000" pitchFamily="2" charset="2"/>
              <a:buNone/>
            </a:pP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a:p>
            <a:pPr lvl="0" indent="0">
              <a:lnSpc>
                <a:spcPct val="125000"/>
              </a:lnSpc>
              <a:spcBef>
                <a:spcPts val="300"/>
              </a:spcBef>
              <a:spcAft>
                <a:spcPct val="10000"/>
              </a:spcAft>
              <a:buFont typeface="Wingdings" panose="05000000000000000000" pitchFamily="2" charset="2"/>
              <a:buChar char="p"/>
            </a:pPr>
            <a:r>
              <a:rPr lang="zh-CN" altLang="en-US" sz="2400" u="sng" dirty="0">
                <a:solidFill>
                  <a:srgbClr val="A50021"/>
                </a:solidFill>
                <a:latin typeface="宋体" panose="02010600030101010101" pitchFamily="2" charset="-122"/>
                <a:ea typeface="宋体" panose="02010600030101010101" pitchFamily="2" charset="-122"/>
                <a:sym typeface="Wingdings" panose="05000000000000000000" pitchFamily="2" charset="2"/>
              </a:rPr>
              <a:t>日志基本内容</a:t>
            </a:r>
            <a:r>
              <a:rPr lang="en-US" altLang="x-none" sz="2400" u="sng" dirty="0">
                <a:solidFill>
                  <a:srgbClr val="A50021"/>
                </a:solidFill>
                <a:latin typeface="宋体" panose="02010600030101010101" pitchFamily="2" charset="-122"/>
                <a:ea typeface="宋体" panose="02010600030101010101" pitchFamily="2" charset="-122"/>
                <a:sym typeface="Wingdings" panose="05000000000000000000" pitchFamily="2" charset="2"/>
              </a:rPr>
              <a:t>(</a:t>
            </a:r>
            <a:r>
              <a:rPr lang="zh-CN" altLang="en-US" sz="2400" dirty="0">
                <a:latin typeface="宋体" panose="02010600030101010101" pitchFamily="2" charset="-122"/>
                <a:ea typeface="宋体" panose="02010600030101010101" pitchFamily="2" charset="-122"/>
                <a:sym typeface="Wingdings" panose="05000000000000000000" pitchFamily="2" charset="2"/>
              </a:rPr>
              <a:t>不同的</a:t>
            </a:r>
            <a:r>
              <a:rPr lang="en-US" altLang="x-none" sz="2400" dirty="0">
                <a:latin typeface="宋体" panose="02010600030101010101" pitchFamily="2" charset="-122"/>
                <a:ea typeface="宋体" panose="02010600030101010101" pitchFamily="2" charset="-122"/>
                <a:sym typeface="Wingdings" panose="05000000000000000000" pitchFamily="2" charset="2"/>
              </a:rPr>
              <a:t>DBMS</a:t>
            </a:r>
            <a:r>
              <a:rPr lang="zh-CN" altLang="en-US" sz="2400" dirty="0">
                <a:latin typeface="宋体" panose="02010600030101010101" pitchFamily="2" charset="-122"/>
                <a:ea typeface="宋体" panose="02010600030101010101" pitchFamily="2" charset="-122"/>
                <a:sym typeface="Wingdings" panose="05000000000000000000" pitchFamily="2" charset="2"/>
              </a:rPr>
              <a:t>略有差别</a:t>
            </a:r>
            <a:r>
              <a:rPr lang="en-US" altLang="x-none" sz="2400" dirty="0">
                <a:latin typeface="宋体" panose="02010600030101010101" pitchFamily="2" charset="-122"/>
                <a:ea typeface="宋体" panose="02010600030101010101" pitchFamily="2" charset="-122"/>
                <a:sym typeface="Wingdings" panose="05000000000000000000" pitchFamily="2" charset="2"/>
              </a:rPr>
              <a:t>)</a:t>
            </a:r>
            <a:r>
              <a:rPr lang="zh-CN" altLang="en-US" sz="2400" dirty="0">
                <a:latin typeface="宋体" panose="02010600030101010101" pitchFamily="2" charset="-122"/>
                <a:ea typeface="宋体" panose="02010600030101010101" pitchFamily="2" charset="-122"/>
                <a:sym typeface="Wingdings" panose="05000000000000000000" pitchFamily="2" charset="2"/>
              </a:rPr>
              <a:t>： </a:t>
            </a:r>
            <a:endParaRPr lang="zh-CN" altLang="en-US" sz="2400" dirty="0">
              <a:latin typeface="宋体" panose="02010600030101010101" pitchFamily="2" charset="-122"/>
              <a:ea typeface="宋体" panose="02010600030101010101" pitchFamily="2" charset="-122"/>
              <a:sym typeface="Wingdings" panose="05000000000000000000" pitchFamily="2" charset="2"/>
            </a:endParaRPr>
          </a:p>
        </p:txBody>
      </p:sp>
      <p:sp>
        <p:nvSpPr>
          <p:cNvPr id="74754" name="Rectangle 2"/>
          <p:cNvSpPr/>
          <p:nvPr/>
        </p:nvSpPr>
        <p:spPr>
          <a:xfrm>
            <a:off x="457200" y="68263"/>
            <a:ext cx="8229600" cy="692150"/>
          </a:xfrm>
          <a:prstGeom prst="rect">
            <a:avLst/>
          </a:prstGeom>
          <a:noFill/>
          <a:ln w="9525">
            <a:noFill/>
          </a:ln>
        </p:spPr>
        <p:txBody>
          <a:bodyPr wrap="square"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四、数据库的故障恢复技术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77828" name="Text Box 4"/>
          <p:cNvSpPr txBox="1"/>
          <p:nvPr/>
        </p:nvSpPr>
        <p:spPr>
          <a:xfrm>
            <a:off x="646113" y="1612900"/>
            <a:ext cx="8275637" cy="1373188"/>
          </a:xfrm>
          <a:prstGeom prst="rect">
            <a:avLst/>
          </a:prstGeom>
          <a:noFill/>
          <a:ln w="9525">
            <a:noFill/>
          </a:ln>
        </p:spPr>
        <p:txBody>
          <a:bodyPr wrap="square" anchor="t">
            <a:spAutoFit/>
          </a:bodyPr>
          <a:lstStyle/>
          <a:p>
            <a:pPr lvl="0" indent="0">
              <a:spcBef>
                <a:spcPts val="300"/>
              </a:spcBef>
              <a:buFont typeface="Wingdings" panose="05000000000000000000" pitchFamily="2" charset="2"/>
              <a:buNone/>
            </a:pPr>
            <a:endParaRPr lang="zh-CN" altLang="en-US" sz="2400" dirty="0">
              <a:latin typeface="宋体" panose="02010600030101010101" pitchFamily="2" charset="-122"/>
              <a:ea typeface="宋体" panose="02010600030101010101" pitchFamily="2" charset="-122"/>
              <a:sym typeface="Wingdings" panose="05000000000000000000" pitchFamily="2" charset="2"/>
            </a:endParaRPr>
          </a:p>
          <a:p>
            <a:pPr lvl="0" indent="0">
              <a:lnSpc>
                <a:spcPct val="120000"/>
              </a:lnSpc>
              <a:spcBef>
                <a:spcPts val="300"/>
              </a:spcBef>
              <a:buFont typeface="Wingdings" panose="05000000000000000000" pitchFamily="2" charset="2"/>
              <a:buChar char="ü"/>
            </a:pPr>
            <a:r>
              <a:rPr lang="zh-CN" altLang="en-US" sz="2400" u="sng" dirty="0">
                <a:solidFill>
                  <a:srgbClr val="A50021"/>
                </a:solidFill>
                <a:latin typeface="宋体" panose="02010600030101010101" pitchFamily="2" charset="-122"/>
                <a:ea typeface="宋体" panose="02010600030101010101" pitchFamily="2" charset="-122"/>
                <a:sym typeface="Wingdings" panose="05000000000000000000" pitchFamily="2" charset="2"/>
              </a:rPr>
              <a:t>活动事务表</a:t>
            </a:r>
            <a:r>
              <a:rPr lang="en-US" altLang="x-none" sz="2400" u="sng" dirty="0">
                <a:solidFill>
                  <a:srgbClr val="A50021"/>
                </a:solidFill>
                <a:latin typeface="宋体" panose="02010600030101010101" pitchFamily="2" charset="-122"/>
                <a:ea typeface="宋体" panose="02010600030101010101" pitchFamily="2" charset="-122"/>
                <a:sym typeface="Wingdings" panose="05000000000000000000" pitchFamily="2" charset="2"/>
              </a:rPr>
              <a:t>(Active Transaction List, ATL)</a:t>
            </a:r>
            <a:r>
              <a:rPr lang="zh-CN" altLang="en-US" sz="2400" u="sng" dirty="0">
                <a:solidFill>
                  <a:srgbClr val="A50021"/>
                </a:solidFill>
                <a:latin typeface="宋体" panose="02010600030101010101" pitchFamily="2" charset="-122"/>
                <a:ea typeface="宋体" panose="02010600030101010101" pitchFamily="2" charset="-122"/>
                <a:sym typeface="Wingdings" panose="05000000000000000000" pitchFamily="2" charset="2"/>
              </a:rPr>
              <a:t>：</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记录正在执行、尚未提交的事务标识符（</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TID)</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p:txBody>
      </p:sp>
      <p:sp>
        <p:nvSpPr>
          <p:cNvPr id="74756" name="Rectangle 7"/>
          <p:cNvSpPr/>
          <p:nvPr/>
        </p:nvSpPr>
        <p:spPr>
          <a:xfrm>
            <a:off x="560388" y="7810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3</a:t>
            </a:r>
            <a:r>
              <a:rPr lang="zh-CN" altLang="en-US" sz="2800" dirty="0">
                <a:solidFill>
                  <a:srgbClr val="FF0000"/>
                </a:solidFill>
                <a:latin typeface="黑体" panose="02010609060101010101" pitchFamily="1" charset="-122"/>
                <a:ea typeface="黑体" panose="02010609060101010101" pitchFamily="1" charset="-122"/>
              </a:rPr>
              <a:t>、数据库日志</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77830" name="Text Box 4"/>
          <p:cNvSpPr txBox="1"/>
          <p:nvPr/>
        </p:nvSpPr>
        <p:spPr>
          <a:xfrm>
            <a:off x="647700" y="3992563"/>
            <a:ext cx="8274050" cy="1373187"/>
          </a:xfrm>
          <a:prstGeom prst="rect">
            <a:avLst/>
          </a:prstGeom>
          <a:noFill/>
          <a:ln w="9525">
            <a:noFill/>
          </a:ln>
        </p:spPr>
        <p:txBody>
          <a:bodyPr wrap="square" anchor="t">
            <a:spAutoFit/>
          </a:bodyPr>
          <a:lstStyle/>
          <a:p>
            <a:pPr lvl="0" indent="0">
              <a:spcBef>
                <a:spcPts val="300"/>
              </a:spcBef>
              <a:buFont typeface="Wingdings" panose="05000000000000000000" pitchFamily="2" charset="2"/>
              <a:buNone/>
            </a:pP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a:p>
            <a:pPr lvl="0" indent="0">
              <a:lnSpc>
                <a:spcPct val="120000"/>
              </a:lnSpc>
              <a:spcBef>
                <a:spcPts val="300"/>
              </a:spcBef>
              <a:buFont typeface="Wingdings" panose="05000000000000000000" pitchFamily="2" charset="2"/>
              <a:buChar char="ü"/>
            </a:pPr>
            <a:r>
              <a:rPr lang="zh-CN" altLang="en-US" sz="2400" u="sng" dirty="0">
                <a:solidFill>
                  <a:srgbClr val="A50021"/>
                </a:solidFill>
                <a:latin typeface="宋体" panose="02010600030101010101" pitchFamily="2" charset="-122"/>
                <a:ea typeface="宋体" panose="02010600030101010101" pitchFamily="2" charset="-122"/>
                <a:sym typeface="Wingdings" panose="05000000000000000000" pitchFamily="2" charset="2"/>
              </a:rPr>
              <a:t>前像</a:t>
            </a:r>
            <a:r>
              <a:rPr lang="en-US" altLang="x-none" sz="2400" u="sng" dirty="0">
                <a:solidFill>
                  <a:srgbClr val="A50021"/>
                </a:solidFill>
                <a:latin typeface="宋体" panose="02010600030101010101" pitchFamily="2" charset="-122"/>
                <a:ea typeface="宋体" panose="02010600030101010101" pitchFamily="2" charset="-122"/>
                <a:sym typeface="Wingdings" panose="05000000000000000000" pitchFamily="2" charset="2"/>
              </a:rPr>
              <a:t>(BI)</a:t>
            </a:r>
            <a:r>
              <a:rPr lang="zh-CN" altLang="en-US" sz="2400" u="sng" dirty="0">
                <a:solidFill>
                  <a:srgbClr val="A50021"/>
                </a:solidFill>
                <a:latin typeface="宋体" panose="02010600030101010101" pitchFamily="2" charset="-122"/>
                <a:ea typeface="宋体" panose="02010600030101010101" pitchFamily="2" charset="-122"/>
                <a:sym typeface="Wingdings" panose="05000000000000000000" pitchFamily="2" charset="2"/>
              </a:rPr>
              <a:t>文件：</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可看成堆</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(Heap)</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文件，每个物理块有块标识符</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(Block Identifier, BID)</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p:txBody>
      </p:sp>
      <p:sp>
        <p:nvSpPr>
          <p:cNvPr id="77831" name="Text Box 4"/>
          <p:cNvSpPr txBox="1"/>
          <p:nvPr/>
        </p:nvSpPr>
        <p:spPr>
          <a:xfrm>
            <a:off x="647700" y="2536825"/>
            <a:ext cx="8275638" cy="1849438"/>
          </a:xfrm>
          <a:prstGeom prst="rect">
            <a:avLst/>
          </a:prstGeom>
          <a:noFill/>
          <a:ln w="9525">
            <a:noFill/>
          </a:ln>
        </p:spPr>
        <p:txBody>
          <a:bodyPr wrap="square" anchor="t">
            <a:spAutoFit/>
          </a:bodyPr>
          <a:lstStyle/>
          <a:p>
            <a:pPr lvl="0" indent="0">
              <a:spcBef>
                <a:spcPts val="300"/>
              </a:spcBef>
              <a:buFont typeface="Wingdings" panose="05000000000000000000" pitchFamily="2" charset="2"/>
              <a:buNone/>
            </a:pP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a:p>
            <a:pPr lvl="0" indent="0">
              <a:lnSpc>
                <a:spcPct val="120000"/>
              </a:lnSpc>
              <a:spcBef>
                <a:spcPts val="300"/>
              </a:spcBef>
              <a:buFont typeface="Wingdings" panose="05000000000000000000" pitchFamily="2" charset="2"/>
              <a:buChar char="ü"/>
            </a:pPr>
            <a:r>
              <a:rPr lang="zh-CN" altLang="en-US" sz="2400" u="sng" dirty="0">
                <a:solidFill>
                  <a:srgbClr val="A50021"/>
                </a:solidFill>
                <a:latin typeface="宋体" panose="02010600030101010101" pitchFamily="2" charset="-122"/>
                <a:ea typeface="宋体" panose="02010600030101010101" pitchFamily="2" charset="-122"/>
                <a:sym typeface="Wingdings" panose="05000000000000000000" pitchFamily="2" charset="2"/>
              </a:rPr>
              <a:t>提交事务表</a:t>
            </a:r>
            <a:r>
              <a:rPr lang="en-US" altLang="x-none" sz="2400" u="sng" dirty="0">
                <a:solidFill>
                  <a:srgbClr val="A50021"/>
                </a:solidFill>
                <a:latin typeface="宋体" panose="02010600030101010101" pitchFamily="2" charset="-122"/>
                <a:ea typeface="宋体" panose="02010600030101010101" pitchFamily="2" charset="-122"/>
                <a:sym typeface="Wingdings" panose="05000000000000000000" pitchFamily="2" charset="2"/>
              </a:rPr>
              <a:t>(Committed Transaction List, CTL)</a:t>
            </a:r>
            <a:r>
              <a:rPr lang="zh-CN" altLang="en-US" sz="2400" u="sng" dirty="0">
                <a:solidFill>
                  <a:srgbClr val="A50021"/>
                </a:solidFill>
                <a:latin typeface="宋体" panose="02010600030101010101" pitchFamily="2" charset="-122"/>
                <a:ea typeface="宋体" panose="02010600030101010101" pitchFamily="2" charset="-122"/>
                <a:sym typeface="Wingdings" panose="05000000000000000000" pitchFamily="2" charset="2"/>
              </a:rPr>
              <a:t>：</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记录已提交事务的标识符。</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a:p>
            <a:pPr lvl="0" indent="0">
              <a:lnSpc>
                <a:spcPct val="120000"/>
              </a:lnSpc>
              <a:spcBef>
                <a:spcPts val="300"/>
              </a:spcBef>
            </a:pPr>
            <a:r>
              <a:rPr lang="zh-CN" altLang="en-US" sz="2400" dirty="0">
                <a:latin typeface="华文楷体" panose="02010600040101010101" pitchFamily="2" charset="-122"/>
                <a:ea typeface="华文楷体" panose="02010600040101010101" pitchFamily="2" charset="-122"/>
                <a:sym typeface="Wingdings" panose="05000000000000000000" pitchFamily="2" charset="2"/>
              </a:rPr>
              <a:t>注意：提交时，要提交的</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TID → CTL</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，从</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ATL</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中删除该</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TID</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p:txBody>
      </p:sp>
      <p:sp>
        <p:nvSpPr>
          <p:cNvPr id="77832" name="Text Box 4"/>
          <p:cNvSpPr txBox="1"/>
          <p:nvPr/>
        </p:nvSpPr>
        <p:spPr>
          <a:xfrm>
            <a:off x="635000" y="4968875"/>
            <a:ext cx="8275638" cy="933450"/>
          </a:xfrm>
          <a:prstGeom prst="rect">
            <a:avLst/>
          </a:prstGeom>
          <a:noFill/>
          <a:ln w="9525">
            <a:noFill/>
          </a:ln>
        </p:spPr>
        <p:txBody>
          <a:bodyPr wrap="square" anchor="t">
            <a:spAutoFit/>
          </a:bodyPr>
          <a:lstStyle/>
          <a:p>
            <a:pPr lvl="0" indent="0">
              <a:spcBef>
                <a:spcPts val="300"/>
              </a:spcBef>
              <a:buFont typeface="Wingdings" panose="05000000000000000000" pitchFamily="2" charset="2"/>
              <a:buNone/>
            </a:pP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a:p>
            <a:pPr lvl="0" indent="0">
              <a:lnSpc>
                <a:spcPct val="120000"/>
              </a:lnSpc>
              <a:spcBef>
                <a:spcPts val="300"/>
              </a:spcBef>
              <a:buFont typeface="Wingdings" panose="05000000000000000000" pitchFamily="2" charset="2"/>
              <a:buChar char="ü"/>
            </a:pPr>
            <a:r>
              <a:rPr lang="zh-CN" altLang="en-US" sz="2400" u="sng" dirty="0">
                <a:solidFill>
                  <a:srgbClr val="A50021"/>
                </a:solidFill>
                <a:latin typeface="宋体" panose="02010600030101010101" pitchFamily="2" charset="-122"/>
                <a:ea typeface="宋体" panose="02010600030101010101" pitchFamily="2" charset="-122"/>
                <a:sym typeface="Wingdings" panose="05000000000000000000" pitchFamily="2" charset="2"/>
              </a:rPr>
              <a:t>后像</a:t>
            </a:r>
            <a:r>
              <a:rPr lang="en-US" altLang="x-none" sz="2400" u="sng" dirty="0">
                <a:solidFill>
                  <a:srgbClr val="A50021"/>
                </a:solidFill>
                <a:latin typeface="宋体" panose="02010600030101010101" pitchFamily="2" charset="-122"/>
                <a:ea typeface="宋体" panose="02010600030101010101" pitchFamily="2" charset="-122"/>
                <a:sym typeface="Wingdings" panose="05000000000000000000" pitchFamily="2" charset="2"/>
              </a:rPr>
              <a:t>(AI)</a:t>
            </a:r>
            <a:r>
              <a:rPr lang="zh-CN" altLang="en-US" sz="2400" u="sng" dirty="0">
                <a:solidFill>
                  <a:srgbClr val="A50021"/>
                </a:solidFill>
                <a:latin typeface="宋体" panose="02010600030101010101" pitchFamily="2" charset="-122"/>
                <a:ea typeface="宋体" panose="02010600030101010101" pitchFamily="2" charset="-122"/>
                <a:sym typeface="Wingdings" panose="05000000000000000000" pitchFamily="2" charset="2"/>
              </a:rPr>
              <a:t>文件：</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结构类似前像文件，但其记录的是后像。</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7828"/>
                                        </p:tgtEl>
                                        <p:attrNameLst>
                                          <p:attrName>style.visibility</p:attrName>
                                        </p:attrNameLst>
                                      </p:cBhvr>
                                      <p:to>
                                        <p:strVal val="visible"/>
                                      </p:to>
                                    </p:set>
                                    <p:anim calcmode="lin" valueType="num">
                                      <p:cBhvr>
                                        <p:cTn id="7" dur="500" fill="hold"/>
                                        <p:tgtEl>
                                          <p:spTgt spid="77828"/>
                                        </p:tgtEl>
                                        <p:attrNameLst>
                                          <p:attrName>ppt_x</p:attrName>
                                        </p:attrNameLst>
                                      </p:cBhvr>
                                      <p:tavLst>
                                        <p:tav tm="0">
                                          <p:val>
                                            <p:strVal val="#ppt_x"/>
                                          </p:val>
                                        </p:tav>
                                        <p:tav tm="100000">
                                          <p:val>
                                            <p:strVal val="#ppt_x"/>
                                          </p:val>
                                        </p:tav>
                                      </p:tavLst>
                                    </p:anim>
                                    <p:anim calcmode="lin" valueType="num">
                                      <p:cBhvr>
                                        <p:cTn id="8" dur="500" fill="hold"/>
                                        <p:tgtEl>
                                          <p:spTgt spid="7782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7831"/>
                                        </p:tgtEl>
                                        <p:attrNameLst>
                                          <p:attrName>style.visibility</p:attrName>
                                        </p:attrNameLst>
                                      </p:cBhvr>
                                      <p:to>
                                        <p:strVal val="visible"/>
                                      </p:to>
                                    </p:set>
                                    <p:anim calcmode="lin" valueType="num">
                                      <p:cBhvr>
                                        <p:cTn id="13" dur="500" fill="hold"/>
                                        <p:tgtEl>
                                          <p:spTgt spid="77831"/>
                                        </p:tgtEl>
                                        <p:attrNameLst>
                                          <p:attrName>ppt_x</p:attrName>
                                        </p:attrNameLst>
                                      </p:cBhvr>
                                      <p:tavLst>
                                        <p:tav tm="0">
                                          <p:val>
                                            <p:strVal val="#ppt_x"/>
                                          </p:val>
                                        </p:tav>
                                        <p:tav tm="100000">
                                          <p:val>
                                            <p:strVal val="#ppt_x"/>
                                          </p:val>
                                        </p:tav>
                                      </p:tavLst>
                                    </p:anim>
                                    <p:anim calcmode="lin" valueType="num">
                                      <p:cBhvr>
                                        <p:cTn id="14" dur="500" fill="hold"/>
                                        <p:tgtEl>
                                          <p:spTgt spid="7783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7830"/>
                                        </p:tgtEl>
                                        <p:attrNameLst>
                                          <p:attrName>style.visibility</p:attrName>
                                        </p:attrNameLst>
                                      </p:cBhvr>
                                      <p:to>
                                        <p:strVal val="visible"/>
                                      </p:to>
                                    </p:set>
                                    <p:anim calcmode="lin" valueType="num">
                                      <p:cBhvr>
                                        <p:cTn id="19" dur="500" fill="hold"/>
                                        <p:tgtEl>
                                          <p:spTgt spid="77830"/>
                                        </p:tgtEl>
                                        <p:attrNameLst>
                                          <p:attrName>ppt_x</p:attrName>
                                        </p:attrNameLst>
                                      </p:cBhvr>
                                      <p:tavLst>
                                        <p:tav tm="0">
                                          <p:val>
                                            <p:strVal val="#ppt_x"/>
                                          </p:val>
                                        </p:tav>
                                        <p:tav tm="100000">
                                          <p:val>
                                            <p:strVal val="#ppt_x"/>
                                          </p:val>
                                        </p:tav>
                                      </p:tavLst>
                                    </p:anim>
                                    <p:anim calcmode="lin" valueType="num">
                                      <p:cBhvr>
                                        <p:cTn id="20" dur="500" fill="hold"/>
                                        <p:tgtEl>
                                          <p:spTgt spid="7783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7832"/>
                                        </p:tgtEl>
                                        <p:attrNameLst>
                                          <p:attrName>style.visibility</p:attrName>
                                        </p:attrNameLst>
                                      </p:cBhvr>
                                      <p:to>
                                        <p:strVal val="visible"/>
                                      </p:to>
                                    </p:set>
                                    <p:anim calcmode="lin" valueType="num">
                                      <p:cBhvr>
                                        <p:cTn id="25" dur="500" fill="hold"/>
                                        <p:tgtEl>
                                          <p:spTgt spid="77832"/>
                                        </p:tgtEl>
                                        <p:attrNameLst>
                                          <p:attrName>ppt_x</p:attrName>
                                        </p:attrNameLst>
                                      </p:cBhvr>
                                      <p:tavLst>
                                        <p:tav tm="0">
                                          <p:val>
                                            <p:strVal val="#ppt_x"/>
                                          </p:val>
                                        </p:tav>
                                        <p:tav tm="100000">
                                          <p:val>
                                            <p:strVal val="#ppt_x"/>
                                          </p:val>
                                        </p:tav>
                                      </p:tavLst>
                                    </p:anim>
                                    <p:anim calcmode="lin" valueType="num">
                                      <p:cBhvr>
                                        <p:cTn id="26" dur="500" fill="hold"/>
                                        <p:tgtEl>
                                          <p:spTgt spid="778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8" grpId="0" bldLvl="0"/>
      <p:bldP spid="77830" grpId="0" bldLvl="0"/>
      <p:bldP spid="77831" grpId="0" bldLvl="0"/>
      <p:bldP spid="77832" grpId="0" bldLvl="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p:cNvSpPr/>
          <p:nvPr/>
        </p:nvSpPr>
        <p:spPr>
          <a:xfrm>
            <a:off x="560388" y="7810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3</a:t>
            </a:r>
            <a:r>
              <a:rPr lang="zh-CN" altLang="en-US" sz="2800" dirty="0">
                <a:solidFill>
                  <a:srgbClr val="FF0000"/>
                </a:solidFill>
                <a:latin typeface="黑体" panose="02010609060101010101" pitchFamily="1" charset="-122"/>
                <a:ea typeface="黑体" panose="02010609060101010101" pitchFamily="1" charset="-122"/>
              </a:rPr>
              <a:t>、数据库日志</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75778"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四、数据库的故障恢复技术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75779" name="Rectangle 7"/>
          <p:cNvSpPr/>
          <p:nvPr/>
        </p:nvSpPr>
        <p:spPr>
          <a:xfrm>
            <a:off x="311150" y="1287463"/>
            <a:ext cx="5665788" cy="609600"/>
          </a:xfrm>
          <a:prstGeom prst="rect">
            <a:avLst/>
          </a:prstGeom>
          <a:noFill/>
          <a:ln w="9525">
            <a:noFill/>
          </a:ln>
        </p:spPr>
        <p:txBody>
          <a:bodyPr wrap="none" anchor="ctr"/>
          <a:lstStyle/>
          <a:p>
            <a:pPr lvl="0" indent="0" algn="ctr"/>
            <a:r>
              <a:rPr lang="zh-CN" altLang="en-US" sz="2600" dirty="0">
                <a:solidFill>
                  <a:srgbClr val="0033CC"/>
                </a:solidFill>
                <a:latin typeface="黑体" panose="02010609060101010101" pitchFamily="1" charset="-122"/>
                <a:ea typeface="黑体" panose="02010609060101010101" pitchFamily="1" charset="-122"/>
              </a:rPr>
              <a:t>（</a:t>
            </a:r>
            <a:r>
              <a:rPr lang="en-US" altLang="x-none" sz="2600" dirty="0">
                <a:solidFill>
                  <a:srgbClr val="0033CC"/>
                </a:solidFill>
                <a:latin typeface="黑体" panose="02010609060101010101" pitchFamily="1" charset="-122"/>
                <a:ea typeface="黑体" panose="02010609060101010101" pitchFamily="1" charset="-122"/>
              </a:rPr>
              <a:t>1</a:t>
            </a:r>
            <a:r>
              <a:rPr lang="zh-CN" altLang="en-US" sz="2600" dirty="0">
                <a:solidFill>
                  <a:srgbClr val="0033CC"/>
                </a:solidFill>
                <a:latin typeface="黑体" panose="02010609060101010101" pitchFamily="1" charset="-122"/>
                <a:ea typeface="黑体" panose="02010609060101010101" pitchFamily="1" charset="-122"/>
              </a:rPr>
              <a:t>）</a:t>
            </a:r>
            <a:r>
              <a:rPr lang="en-US" altLang="x-none" sz="2600" dirty="0">
                <a:solidFill>
                  <a:srgbClr val="0033CC"/>
                </a:solidFill>
                <a:latin typeface="黑体" panose="02010609060101010101" pitchFamily="1" charset="-122"/>
                <a:ea typeface="黑体" panose="02010609060101010101" pitchFamily="1" charset="-122"/>
              </a:rPr>
              <a:t>BI</a:t>
            </a:r>
            <a:r>
              <a:rPr lang="zh-CN" altLang="en-US" sz="2600" dirty="0">
                <a:solidFill>
                  <a:srgbClr val="0033CC"/>
                </a:solidFill>
                <a:latin typeface="黑体" panose="02010609060101010101" pitchFamily="1" charset="-122"/>
                <a:ea typeface="黑体" panose="02010609060101010101" pitchFamily="1" charset="-122"/>
              </a:rPr>
              <a:t>和</a:t>
            </a:r>
            <a:r>
              <a:rPr lang="en-US" altLang="x-none" sz="2600" dirty="0">
                <a:solidFill>
                  <a:srgbClr val="0033CC"/>
                </a:solidFill>
                <a:latin typeface="黑体" panose="02010609060101010101" pitchFamily="1" charset="-122"/>
                <a:ea typeface="黑体" panose="02010609060101010101" pitchFamily="1" charset="-122"/>
              </a:rPr>
              <a:t>AI</a:t>
            </a:r>
            <a:r>
              <a:rPr lang="zh-CN" altLang="en-US" sz="2600" dirty="0">
                <a:solidFill>
                  <a:srgbClr val="0033CC"/>
                </a:solidFill>
                <a:latin typeface="黑体" panose="02010609060101010101" pitchFamily="1" charset="-122"/>
                <a:ea typeface="黑体" panose="02010609060101010101" pitchFamily="1" charset="-122"/>
              </a:rPr>
              <a:t>在数据库恢复中的作用</a:t>
            </a:r>
            <a:endParaRPr lang="zh-CN" altLang="en-US" sz="2600" dirty="0">
              <a:solidFill>
                <a:srgbClr val="0033CC"/>
              </a:solidFill>
              <a:latin typeface="黑体" panose="02010609060101010101" pitchFamily="1" charset="-122"/>
              <a:ea typeface="黑体" panose="02010609060101010101" pitchFamily="1" charset="-122"/>
            </a:endParaRPr>
          </a:p>
        </p:txBody>
      </p:sp>
      <p:sp>
        <p:nvSpPr>
          <p:cNvPr id="75780" name="Rectangle 3"/>
          <p:cNvSpPr txBox="1"/>
          <p:nvPr/>
        </p:nvSpPr>
        <p:spPr>
          <a:xfrm>
            <a:off x="693738" y="1957388"/>
            <a:ext cx="8145462" cy="2879725"/>
          </a:xfrm>
          <a:prstGeom prst="rect">
            <a:avLst/>
          </a:prstGeom>
          <a:noFill/>
          <a:ln w="9525">
            <a:noFill/>
          </a:ln>
        </p:spPr>
        <p:txBody>
          <a:bodyPr anchor="t"/>
          <a:lstStyle/>
          <a:p>
            <a:pPr marL="342900" lvl="0" indent="-342900" eaLnBrk="0" hangingPunct="0">
              <a:lnSpc>
                <a:spcPct val="110000"/>
              </a:lnSpc>
              <a:spcBef>
                <a:spcPct val="20000"/>
              </a:spcBef>
              <a:buClr>
                <a:srgbClr val="0033CC"/>
              </a:buClr>
              <a:buFont typeface="Wingdings" panose="05000000000000000000" pitchFamily="2" charset="2"/>
              <a:buChar char="p"/>
            </a:pPr>
            <a:r>
              <a:rPr lang="zh-CN" altLang="en-US" sz="2400" u="sng" dirty="0">
                <a:solidFill>
                  <a:srgbClr val="0033CC"/>
                </a:solidFill>
                <a:latin typeface="华文楷体" panose="02010600040101010101" pitchFamily="2" charset="-122"/>
                <a:ea typeface="宋体" panose="02010600030101010101" pitchFamily="2" charset="-122"/>
              </a:rPr>
              <a:t>发生故障时</a:t>
            </a:r>
            <a:r>
              <a:rPr lang="en-US" altLang="x-none" sz="2400" u="sng" dirty="0">
                <a:solidFill>
                  <a:srgbClr val="0033CC"/>
                </a:solidFill>
                <a:latin typeface="华文楷体" panose="02010600040101010101" pitchFamily="2" charset="-122"/>
                <a:ea typeface="宋体" panose="02010600030101010101" pitchFamily="2" charset="-122"/>
              </a:rPr>
              <a:t>:</a:t>
            </a:r>
            <a:endParaRPr lang="en-US" altLang="x-none" sz="2400" u="sng" dirty="0">
              <a:solidFill>
                <a:srgbClr val="0033CC"/>
              </a:solidFill>
              <a:latin typeface="华文楷体" panose="02010600040101010101" pitchFamily="2" charset="-122"/>
              <a:ea typeface="宋体" panose="02010600030101010101" pitchFamily="2" charset="-122"/>
            </a:endParaRPr>
          </a:p>
          <a:p>
            <a:pPr marL="742950" lvl="1" indent="-285750" eaLnBrk="0" hangingPunct="0">
              <a:lnSpc>
                <a:spcPct val="110000"/>
              </a:lnSpc>
              <a:spcBef>
                <a:spcPct val="20000"/>
              </a:spcBef>
              <a:buClr>
                <a:srgbClr val="0033CC"/>
              </a:buClr>
              <a:buSzPct val="80000"/>
            </a:pPr>
            <a:r>
              <a:rPr lang="en-US" altLang="x-none" sz="2800" dirty="0">
                <a:latin typeface="华文楷体" panose="02010600040101010101" pitchFamily="2" charset="-122"/>
                <a:ea typeface="宋体" panose="02010600030101010101" pitchFamily="2" charset="-122"/>
              </a:rPr>
              <a:t>--</a:t>
            </a:r>
            <a:r>
              <a:rPr lang="zh-CN" altLang="en-US" sz="2400" dirty="0">
                <a:latin typeface="楷体_GB2312"/>
                <a:ea typeface="楷体_GB2312"/>
              </a:rPr>
              <a:t>如果事务未提交（没有</a:t>
            </a:r>
            <a:r>
              <a:rPr lang="en-US" altLang="x-none" sz="2400" dirty="0">
                <a:latin typeface="楷体_GB2312"/>
                <a:ea typeface="楷体_GB2312"/>
              </a:rPr>
              <a:t>commit, Tid</a:t>
            </a:r>
            <a:r>
              <a:rPr lang="zh-CN" altLang="en-US" sz="2400" dirty="0">
                <a:latin typeface="楷体_GB2312"/>
                <a:ea typeface="楷体_GB2312"/>
              </a:rPr>
              <a:t>没有写入</a:t>
            </a:r>
            <a:r>
              <a:rPr lang="en-US" altLang="x-none" sz="2400" dirty="0">
                <a:latin typeface="楷体_GB2312"/>
                <a:ea typeface="楷体_GB2312"/>
              </a:rPr>
              <a:t>CTL</a:t>
            </a:r>
            <a:r>
              <a:rPr lang="zh-CN" altLang="en-US" sz="2400" dirty="0">
                <a:latin typeface="楷体_GB2312"/>
                <a:ea typeface="楷体_GB2312"/>
              </a:rPr>
              <a:t>）：</a:t>
            </a:r>
            <a:endParaRPr lang="zh-CN" altLang="en-US" sz="2400" dirty="0">
              <a:latin typeface="楷体_GB2312"/>
              <a:ea typeface="楷体_GB2312"/>
            </a:endParaRPr>
          </a:p>
          <a:p>
            <a:pPr marL="742950" lvl="1" indent="-285750" eaLnBrk="0" hangingPunct="0">
              <a:lnSpc>
                <a:spcPct val="110000"/>
              </a:lnSpc>
              <a:spcBef>
                <a:spcPct val="20000"/>
              </a:spcBef>
              <a:buClr>
                <a:srgbClr val="0033CC"/>
              </a:buClr>
              <a:buSzPct val="80000"/>
            </a:pPr>
            <a:r>
              <a:rPr lang="zh-CN" altLang="en-US" sz="2400" dirty="0">
                <a:latin typeface="楷体_GB2312"/>
                <a:ea typeface="楷体_GB2312"/>
              </a:rPr>
              <a:t>    用</a:t>
            </a:r>
            <a:r>
              <a:rPr lang="en-US" altLang="x-none" sz="2400" dirty="0">
                <a:latin typeface="楷体_GB2312"/>
                <a:ea typeface="楷体_GB2312"/>
              </a:rPr>
              <a:t>BI</a:t>
            </a:r>
            <a:r>
              <a:rPr lang="zh-CN" altLang="en-US" sz="2400" dirty="0">
                <a:latin typeface="楷体_GB2312"/>
                <a:ea typeface="楷体_GB2312"/>
              </a:rPr>
              <a:t>恢复 </a:t>
            </a:r>
            <a:r>
              <a:rPr lang="en-US" altLang="x-none" sz="2400" dirty="0">
                <a:latin typeface="楷体_GB2312"/>
                <a:ea typeface="楷体_GB2312"/>
              </a:rPr>
              <a:t>= undo</a:t>
            </a:r>
            <a:r>
              <a:rPr lang="zh-CN" altLang="en-US" sz="2400" dirty="0">
                <a:latin typeface="楷体_GB2312"/>
                <a:ea typeface="楷体_GB2312"/>
              </a:rPr>
              <a:t>。</a:t>
            </a:r>
            <a:endParaRPr lang="zh-CN" altLang="en-US" sz="2400" dirty="0">
              <a:latin typeface="楷体_GB2312"/>
              <a:ea typeface="楷体_GB2312"/>
            </a:endParaRPr>
          </a:p>
          <a:p>
            <a:pPr marL="742950" lvl="1" indent="-285750" eaLnBrk="0" hangingPunct="0">
              <a:lnSpc>
                <a:spcPct val="110000"/>
              </a:lnSpc>
              <a:spcBef>
                <a:spcPct val="20000"/>
              </a:spcBef>
              <a:buClr>
                <a:srgbClr val="0033CC"/>
              </a:buClr>
              <a:buSzPct val="80000"/>
            </a:pPr>
            <a:r>
              <a:rPr lang="en-US" altLang="x-none" sz="2400" dirty="0">
                <a:latin typeface="楷体_GB2312"/>
                <a:ea typeface="楷体_GB2312"/>
              </a:rPr>
              <a:t>--</a:t>
            </a:r>
            <a:r>
              <a:rPr lang="zh-CN" altLang="en-US" sz="2400" dirty="0">
                <a:latin typeface="楷体_GB2312"/>
                <a:ea typeface="楷体_GB2312"/>
              </a:rPr>
              <a:t>如果事务已提交（已经</a:t>
            </a:r>
            <a:r>
              <a:rPr lang="en-US" altLang="x-none" sz="2400" dirty="0">
                <a:latin typeface="楷体_GB2312"/>
                <a:ea typeface="楷体_GB2312"/>
              </a:rPr>
              <a:t>commit, Tid</a:t>
            </a:r>
            <a:r>
              <a:rPr lang="zh-CN" altLang="en-US" sz="2400" dirty="0">
                <a:latin typeface="楷体_GB2312"/>
                <a:ea typeface="楷体_GB2312"/>
              </a:rPr>
              <a:t>写入了</a:t>
            </a:r>
            <a:r>
              <a:rPr lang="en-US" altLang="x-none" sz="2400" dirty="0">
                <a:latin typeface="楷体_GB2312"/>
                <a:ea typeface="楷体_GB2312"/>
              </a:rPr>
              <a:t>CTL</a:t>
            </a:r>
            <a:r>
              <a:rPr lang="zh-CN" altLang="en-US" sz="2400" dirty="0">
                <a:latin typeface="楷体_GB2312"/>
                <a:ea typeface="楷体_GB2312"/>
              </a:rPr>
              <a:t>）：</a:t>
            </a:r>
            <a:endParaRPr lang="zh-CN" altLang="en-US" sz="2400" dirty="0">
              <a:latin typeface="楷体_GB2312"/>
              <a:ea typeface="楷体_GB2312"/>
            </a:endParaRPr>
          </a:p>
          <a:p>
            <a:pPr marL="742950" lvl="1" indent="-285750" eaLnBrk="0" hangingPunct="0">
              <a:lnSpc>
                <a:spcPct val="110000"/>
              </a:lnSpc>
              <a:spcBef>
                <a:spcPct val="20000"/>
              </a:spcBef>
              <a:buClr>
                <a:srgbClr val="0033CC"/>
              </a:buClr>
              <a:buSzPct val="80000"/>
            </a:pPr>
            <a:r>
              <a:rPr lang="zh-CN" altLang="en-US" sz="2400" dirty="0">
                <a:latin typeface="楷体_GB2312"/>
                <a:ea typeface="楷体_GB2312"/>
              </a:rPr>
              <a:t>    用</a:t>
            </a:r>
            <a:r>
              <a:rPr lang="en-US" altLang="x-none" sz="2400" dirty="0">
                <a:latin typeface="楷体_GB2312"/>
                <a:ea typeface="楷体_GB2312"/>
              </a:rPr>
              <a:t>AI</a:t>
            </a:r>
            <a:r>
              <a:rPr lang="zh-CN" altLang="en-US" sz="2400" dirty="0">
                <a:latin typeface="楷体_GB2312"/>
                <a:ea typeface="楷体_GB2312"/>
              </a:rPr>
              <a:t>恢复 </a:t>
            </a:r>
            <a:r>
              <a:rPr lang="en-US" altLang="x-none" sz="2400" dirty="0">
                <a:latin typeface="楷体_GB2312"/>
                <a:ea typeface="楷体_GB2312"/>
              </a:rPr>
              <a:t>= redo</a:t>
            </a:r>
            <a:endParaRPr lang="en-US" altLang="x-none" sz="2400" dirty="0">
              <a:latin typeface="楷体_GB2312"/>
              <a:ea typeface="楷体_GB2312"/>
            </a:endParaRPr>
          </a:p>
          <a:p>
            <a:pPr marL="342900" lvl="0" indent="-342900" eaLnBrk="0" hangingPunct="0">
              <a:spcBef>
                <a:spcPct val="20000"/>
              </a:spcBef>
              <a:buClr>
                <a:srgbClr val="0033CC"/>
              </a:buClr>
              <a:buSzPct val="80000"/>
              <a:buFont typeface="Wingdings" panose="05000000000000000000" pitchFamily="2" charset="2"/>
              <a:buChar char="u"/>
            </a:pPr>
            <a:endParaRPr lang="en-US" altLang="x-none" sz="2400" dirty="0">
              <a:latin typeface="华文楷体" panose="02010600040101010101" pitchFamily="2" charset="-122"/>
              <a:ea typeface="宋体" panose="02010600030101010101" pitchFamily="2" charset="-122"/>
            </a:endParaRPr>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6801" name="Rectangle 7"/>
          <p:cNvSpPr/>
          <p:nvPr/>
        </p:nvSpPr>
        <p:spPr>
          <a:xfrm>
            <a:off x="560388" y="7810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3</a:t>
            </a:r>
            <a:r>
              <a:rPr lang="zh-CN" altLang="en-US" sz="2800" dirty="0">
                <a:solidFill>
                  <a:srgbClr val="FF0000"/>
                </a:solidFill>
                <a:latin typeface="黑体" panose="02010609060101010101" pitchFamily="1" charset="-122"/>
                <a:ea typeface="黑体" panose="02010609060101010101" pitchFamily="1" charset="-122"/>
              </a:rPr>
              <a:t>、数据库日志</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76802"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四、数据库的故障恢复技术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79876" name="Text Box 3"/>
          <p:cNvSpPr txBox="1"/>
          <p:nvPr/>
        </p:nvSpPr>
        <p:spPr>
          <a:xfrm>
            <a:off x="623888" y="2014538"/>
            <a:ext cx="8108950" cy="2973387"/>
          </a:xfrm>
          <a:prstGeom prst="rect">
            <a:avLst/>
          </a:prstGeom>
          <a:noFill/>
          <a:ln w="9525">
            <a:noFill/>
          </a:ln>
        </p:spPr>
        <p:txBody>
          <a:bodyPr anchor="t">
            <a:spAutoFit/>
          </a:bodyPr>
          <a:lstStyle/>
          <a:p>
            <a:pPr lvl="0" indent="0">
              <a:lnSpc>
                <a:spcPct val="105000"/>
              </a:lnSpc>
              <a:spcBef>
                <a:spcPct val="50000"/>
              </a:spcBef>
              <a:buFont typeface="Wingdings" panose="05000000000000000000" pitchFamily="2" charset="2"/>
              <a:buChar char="ü"/>
            </a:pPr>
            <a:r>
              <a:rPr lang="zh-CN" altLang="en-US" sz="2400" dirty="0">
                <a:latin typeface="华文楷体" panose="02010600040101010101" pitchFamily="2" charset="-122"/>
                <a:ea typeface="华文楷体" panose="02010600040101010101" pitchFamily="2" charset="-122"/>
                <a:sym typeface="Wingdings" panose="05000000000000000000" pitchFamily="2" charset="2"/>
              </a:rPr>
              <a:t>不保留已提交事务的前像：</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a:p>
            <a:pPr lvl="0" indent="0">
              <a:lnSpc>
                <a:spcPct val="105000"/>
              </a:lnSpc>
              <a:spcBef>
                <a:spcPct val="50000"/>
              </a:spcBef>
              <a:buFont typeface="Wingdings" panose="05000000000000000000" pitchFamily="2" charset="2"/>
              <a:buChar char="ü"/>
            </a:pPr>
            <a:r>
              <a:rPr lang="zh-CN" altLang="en-US" sz="2400" dirty="0">
                <a:latin typeface="华文楷体" panose="02010600040101010101" pitchFamily="2" charset="-122"/>
                <a:ea typeface="华文楷体" panose="02010600040101010101" pitchFamily="2" charset="-122"/>
                <a:sym typeface="Wingdings" panose="05000000000000000000" pitchFamily="2" charset="2"/>
              </a:rPr>
              <a:t>已提交事务，只会做</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redo,</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不会做</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undo</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，故其前像可不保留；</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a:p>
            <a:pPr lvl="0" indent="0">
              <a:lnSpc>
                <a:spcPct val="105000"/>
              </a:lnSpc>
              <a:spcBef>
                <a:spcPct val="50000"/>
              </a:spcBef>
              <a:buFont typeface="Wingdings" panose="05000000000000000000" pitchFamily="2" charset="2"/>
              <a:buChar char="ü"/>
            </a:pPr>
            <a:r>
              <a:rPr lang="zh-CN" altLang="en-US" sz="2400" dirty="0">
                <a:latin typeface="华文楷体" panose="02010600040101010101" pitchFamily="2" charset="-122"/>
                <a:ea typeface="华文楷体" panose="02010600040101010101" pitchFamily="2" charset="-122"/>
                <a:sym typeface="Wingdings" panose="05000000000000000000" pitchFamily="2" charset="2"/>
              </a:rPr>
              <a:t>有选择地保留后像：当更新内容写入</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DB</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后，如磁盘不出故障，后像可不保留。而磁盘故障机率小，故有些</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DBMS(</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如</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ORACLE)</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允许用户作出是否保留后像的选择；</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a:p>
            <a:pPr lvl="0" indent="0">
              <a:lnSpc>
                <a:spcPct val="105000"/>
              </a:lnSpc>
              <a:spcBef>
                <a:spcPct val="50000"/>
              </a:spcBef>
              <a:buFont typeface="Wingdings" panose="05000000000000000000" pitchFamily="2" charset="2"/>
              <a:buChar char="ü"/>
            </a:pPr>
            <a:r>
              <a:rPr lang="zh-CN" altLang="en-US" sz="2400" dirty="0">
                <a:latin typeface="华文楷体" panose="02010600040101010101" pitchFamily="2" charset="-122"/>
                <a:ea typeface="华文楷体" panose="02010600040101010101" pitchFamily="2" charset="-122"/>
                <a:sym typeface="Wingdings" panose="05000000000000000000" pitchFamily="2" charset="2"/>
              </a:rPr>
              <a:t>合并后像：对给定逻辑块号，只需保留最近的后像即可。</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p:txBody>
      </p:sp>
      <p:sp>
        <p:nvSpPr>
          <p:cNvPr id="76804" name="Rectangle 7"/>
          <p:cNvSpPr/>
          <p:nvPr/>
        </p:nvSpPr>
        <p:spPr>
          <a:xfrm>
            <a:off x="311150" y="1339850"/>
            <a:ext cx="5307013" cy="609600"/>
          </a:xfrm>
          <a:prstGeom prst="rect">
            <a:avLst/>
          </a:prstGeom>
          <a:noFill/>
          <a:ln w="9525">
            <a:noFill/>
          </a:ln>
        </p:spPr>
        <p:txBody>
          <a:bodyPr wrap="none" anchor="ctr"/>
          <a:lstStyle/>
          <a:p>
            <a:pPr lvl="0" indent="0" algn="ctr"/>
            <a:r>
              <a:rPr lang="zh-CN" altLang="en-US" sz="2600" dirty="0">
                <a:solidFill>
                  <a:srgbClr val="0033CC"/>
                </a:solidFill>
                <a:latin typeface="黑体" panose="02010609060101010101" pitchFamily="1" charset="-122"/>
                <a:ea typeface="黑体" panose="02010609060101010101" pitchFamily="1" charset="-122"/>
              </a:rPr>
              <a:t>（</a:t>
            </a:r>
            <a:r>
              <a:rPr lang="en-US" altLang="x-none" sz="2600" dirty="0">
                <a:solidFill>
                  <a:srgbClr val="0033CC"/>
                </a:solidFill>
                <a:latin typeface="黑体" panose="02010609060101010101" pitchFamily="1" charset="-122"/>
                <a:ea typeface="黑体" panose="02010609060101010101" pitchFamily="1" charset="-122"/>
              </a:rPr>
              <a:t>2</a:t>
            </a:r>
            <a:r>
              <a:rPr lang="zh-CN" altLang="en-US" sz="2600" dirty="0">
                <a:solidFill>
                  <a:srgbClr val="0033CC"/>
                </a:solidFill>
                <a:latin typeface="黑体" panose="02010609060101010101" pitchFamily="1" charset="-122"/>
                <a:ea typeface="黑体" panose="02010609060101010101" pitchFamily="1" charset="-122"/>
              </a:rPr>
              <a:t>）</a:t>
            </a:r>
            <a:r>
              <a:rPr lang="zh-CN" altLang="en-US" sz="2600" dirty="0">
                <a:solidFill>
                  <a:srgbClr val="0033CC"/>
                </a:solidFill>
                <a:latin typeface="黑体" panose="02010609060101010101" pitchFamily="1" charset="-122"/>
                <a:ea typeface="黑体" panose="02010609060101010101" pitchFamily="1" charset="-122"/>
                <a:sym typeface="Wingdings" panose="05000000000000000000" pitchFamily="2" charset="2"/>
              </a:rPr>
              <a:t>数据库恢复后对日志的处理</a:t>
            </a:r>
            <a:endParaRPr lang="zh-CN" altLang="en-US" sz="2600" dirty="0">
              <a:solidFill>
                <a:srgbClr val="0033CC"/>
              </a:solidFill>
              <a:latin typeface="黑体" panose="02010609060101010101" pitchFamily="1" charset="-122"/>
              <a:ea typeface="黑体" panose="02010609060101010101" pitchFamily="1" charset="-122"/>
              <a:sym typeface="Wingdings" panose="05000000000000000000" pitchFamily="2" charset="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9876"/>
                                        </p:tgtEl>
                                        <p:attrNameLst>
                                          <p:attrName>style.visibility</p:attrName>
                                        </p:attrNameLst>
                                      </p:cBhvr>
                                      <p:to>
                                        <p:strVal val="visible"/>
                                      </p:to>
                                    </p:set>
                                    <p:animEffect transition="in" filter="checkerboard(across)">
                                      <p:cBhvr>
                                        <p:cTn id="7" dur="500"/>
                                        <p:tgtEl>
                                          <p:spTgt spid="798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6"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p:cNvSpPr/>
          <p:nvPr/>
        </p:nvSpPr>
        <p:spPr>
          <a:xfrm>
            <a:off x="560388" y="7810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4</a:t>
            </a:r>
            <a:r>
              <a:rPr lang="zh-CN" altLang="en-US" sz="2800" dirty="0">
                <a:solidFill>
                  <a:srgbClr val="FF0000"/>
                </a:solidFill>
                <a:latin typeface="黑体" panose="02010609060101010101" pitchFamily="1" charset="-122"/>
                <a:ea typeface="黑体" panose="02010609060101010101" pitchFamily="1" charset="-122"/>
              </a:rPr>
              <a:t>、</a:t>
            </a:r>
            <a:r>
              <a:rPr lang="en-US" altLang="x-none" sz="2800" dirty="0">
                <a:solidFill>
                  <a:srgbClr val="FF0000"/>
                </a:solidFill>
                <a:latin typeface="黑体" panose="02010609060101010101" pitchFamily="1" charset="-122"/>
                <a:ea typeface="黑体" panose="02010609060101010101" pitchFamily="1" charset="-122"/>
              </a:rPr>
              <a:t>DBMS</a:t>
            </a:r>
            <a:r>
              <a:rPr lang="zh-CN" altLang="en-US" sz="2800" dirty="0">
                <a:solidFill>
                  <a:srgbClr val="FF0000"/>
                </a:solidFill>
                <a:latin typeface="黑体" panose="02010609060101010101" pitchFamily="1" charset="-122"/>
                <a:ea typeface="黑体" panose="02010609060101010101" pitchFamily="1" charset="-122"/>
              </a:rPr>
              <a:t>围绕更新事务的工作</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77826"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四、数据库的故障恢复技术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80900" name="Text Box 4"/>
          <p:cNvSpPr txBox="1"/>
          <p:nvPr/>
        </p:nvSpPr>
        <p:spPr>
          <a:xfrm>
            <a:off x="531813" y="1404938"/>
            <a:ext cx="8228012" cy="3325812"/>
          </a:xfrm>
          <a:prstGeom prst="rect">
            <a:avLst/>
          </a:prstGeom>
          <a:noFill/>
          <a:ln w="9525">
            <a:noFill/>
          </a:ln>
        </p:spPr>
        <p:txBody>
          <a:bodyPr anchor="t">
            <a:spAutoFit/>
          </a:bodyPr>
          <a:lstStyle/>
          <a:p>
            <a:pPr lvl="0" indent="0">
              <a:lnSpc>
                <a:spcPct val="110000"/>
              </a:lnSpc>
              <a:spcBef>
                <a:spcPts val="600"/>
              </a:spcBef>
            </a:pPr>
            <a:r>
              <a:rPr lang="zh-CN" altLang="en-US" sz="2400" dirty="0">
                <a:solidFill>
                  <a:srgbClr val="A50021"/>
                </a:solidFill>
                <a:latin typeface="宋体" panose="02010600030101010101" pitchFamily="2" charset="-122"/>
                <a:ea typeface="宋体" panose="02010600030101010101" pitchFamily="2" charset="-122"/>
                <a:sym typeface="Wingdings" panose="05000000000000000000" pitchFamily="2" charset="2"/>
              </a:rPr>
              <a:t>（</a:t>
            </a:r>
            <a:r>
              <a:rPr lang="en-US" altLang="x-none" sz="2400" dirty="0">
                <a:solidFill>
                  <a:srgbClr val="A50021"/>
                </a:solidFill>
                <a:latin typeface="宋体" panose="02010600030101010101" pitchFamily="2" charset="-122"/>
                <a:ea typeface="宋体" panose="02010600030101010101" pitchFamily="2" charset="-122"/>
                <a:sym typeface="Wingdings" panose="05000000000000000000" pitchFamily="2" charset="2"/>
              </a:rPr>
              <a:t>1</a:t>
            </a:r>
            <a:r>
              <a:rPr lang="zh-CN" altLang="en-US" sz="2400" dirty="0">
                <a:solidFill>
                  <a:srgbClr val="A50021"/>
                </a:solidFill>
                <a:latin typeface="宋体" panose="02010600030101010101" pitchFamily="2" charset="-122"/>
                <a:ea typeface="宋体" panose="02010600030101010101" pitchFamily="2" charset="-122"/>
                <a:sym typeface="Wingdings" panose="05000000000000000000" pitchFamily="2" charset="2"/>
              </a:rPr>
              <a:t>）提交规则</a:t>
            </a:r>
            <a:r>
              <a:rPr lang="en-US" altLang="x-none" sz="2400" dirty="0">
                <a:solidFill>
                  <a:srgbClr val="A50021"/>
                </a:solidFill>
                <a:latin typeface="宋体" panose="02010600030101010101" pitchFamily="2" charset="-122"/>
                <a:ea typeface="宋体" panose="02010600030101010101" pitchFamily="2" charset="-122"/>
                <a:sym typeface="Wingdings" panose="05000000000000000000" pitchFamily="2" charset="2"/>
              </a:rPr>
              <a:t>(Commit Rule)</a:t>
            </a:r>
            <a:endParaRPr lang="en-US" altLang="x-none" sz="2400" dirty="0">
              <a:solidFill>
                <a:srgbClr val="A50021"/>
              </a:solidFill>
              <a:latin typeface="宋体" panose="02010600030101010101" pitchFamily="2" charset="-122"/>
              <a:ea typeface="宋体" panose="02010600030101010101" pitchFamily="2" charset="-122"/>
              <a:sym typeface="Wingdings" panose="05000000000000000000" pitchFamily="2" charset="2"/>
            </a:endParaRPr>
          </a:p>
          <a:p>
            <a:pPr lvl="0" indent="0">
              <a:lnSpc>
                <a:spcPct val="110000"/>
              </a:lnSpc>
              <a:spcBef>
                <a:spcPts val="600"/>
              </a:spcBef>
              <a:buFont typeface="Wingdings" panose="05000000000000000000" pitchFamily="2" charset="2"/>
              <a:buChar char="Ø"/>
            </a:pPr>
            <a:r>
              <a:rPr lang="zh-CN" altLang="en-US" sz="2400" u="sng" dirty="0">
                <a:solidFill>
                  <a:srgbClr val="0033CC"/>
                </a:solidFill>
                <a:latin typeface="宋体" panose="02010600030101010101" pitchFamily="2" charset="-122"/>
                <a:ea typeface="宋体" panose="02010600030101010101" pitchFamily="2" charset="-122"/>
                <a:sym typeface="Wingdings" panose="05000000000000000000" pitchFamily="2" charset="2"/>
              </a:rPr>
              <a:t>该规则要求：</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后像应在提交前写入</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DB</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或日志</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均在不易失存储器上</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中。</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a:p>
            <a:pPr lvl="0" indent="0">
              <a:lnSpc>
                <a:spcPct val="110000"/>
              </a:lnSpc>
              <a:spcBef>
                <a:spcPts val="600"/>
              </a:spcBef>
              <a:buFont typeface="Wingdings" panose="05000000000000000000" pitchFamily="2" charset="2"/>
              <a:buChar char="Ø"/>
            </a:pPr>
            <a:r>
              <a:rPr lang="zh-CN" altLang="en-US" sz="2400" u="sng" dirty="0">
                <a:solidFill>
                  <a:srgbClr val="0033CC"/>
                </a:solidFill>
                <a:latin typeface="宋体" panose="02010600030101010101" pitchFamily="2" charset="-122"/>
                <a:ea typeface="宋体" panose="02010600030101010101" pitchFamily="2" charset="-122"/>
                <a:sym typeface="Wingdings" panose="05000000000000000000" pitchFamily="2" charset="2"/>
              </a:rPr>
              <a:t>说明</a:t>
            </a:r>
            <a:r>
              <a:rPr lang="en-US" altLang="x-none" sz="2400" u="sng" dirty="0">
                <a:solidFill>
                  <a:srgbClr val="0033CC"/>
                </a:solidFill>
                <a:latin typeface="宋体" panose="02010600030101010101" pitchFamily="2" charset="-122"/>
                <a:ea typeface="宋体" panose="02010600030101010101" pitchFamily="2" charset="-122"/>
                <a:sym typeface="Wingdings" panose="05000000000000000000" pitchFamily="2" charset="2"/>
              </a:rPr>
              <a:t>: </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这是</a:t>
            </a:r>
            <a:r>
              <a:rPr lang="en-US" altLang="x-none" sz="2200" dirty="0">
                <a:latin typeface="华文楷体" panose="02010600040101010101" pitchFamily="2" charset="-122"/>
                <a:ea typeface="华文楷体" panose="02010600040101010101" pitchFamily="2" charset="-122"/>
                <a:sym typeface="Wingdings" panose="05000000000000000000" pitchFamily="2" charset="2"/>
              </a:rPr>
              <a:t>ACID</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中持久性要求。提交规则不要求后像一定在提交前写入</a:t>
            </a:r>
            <a:r>
              <a:rPr lang="en-US" altLang="x-none" sz="2200" dirty="0">
                <a:latin typeface="华文楷体" panose="02010600040101010101" pitchFamily="2" charset="-122"/>
                <a:ea typeface="华文楷体" panose="02010600040101010101" pitchFamily="2" charset="-122"/>
                <a:sym typeface="Wingdings" panose="05000000000000000000" pitchFamily="2" charset="2"/>
              </a:rPr>
              <a:t>DB</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，写入日志中亦可，即：如后像已写入日志，即使未写入</a:t>
            </a:r>
            <a:r>
              <a:rPr lang="en-US" altLang="x-none" sz="2200" dirty="0">
                <a:latin typeface="华文楷体" panose="02010600040101010101" pitchFamily="2" charset="-122"/>
                <a:ea typeface="华文楷体" panose="02010600040101010101" pitchFamily="2" charset="-122"/>
                <a:sym typeface="Wingdings" panose="05000000000000000000" pitchFamily="2" charset="2"/>
              </a:rPr>
              <a:t>DB</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或未完全写入</a:t>
            </a:r>
            <a:r>
              <a:rPr lang="en-US" altLang="x-none" sz="2200" dirty="0">
                <a:latin typeface="华文楷体" panose="02010600040101010101" pitchFamily="2" charset="-122"/>
                <a:ea typeface="华文楷体" panose="02010600040101010101" pitchFamily="2" charset="-122"/>
                <a:sym typeface="Wingdings" panose="05000000000000000000" pitchFamily="2" charset="2"/>
              </a:rPr>
              <a:t>DB</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，事务仍可提交，待事务提交后再继续写入</a:t>
            </a:r>
            <a:r>
              <a:rPr lang="en-US" altLang="x-none" sz="2200" dirty="0">
                <a:latin typeface="华文楷体" panose="02010600040101010101" pitchFamily="2" charset="-122"/>
                <a:ea typeface="华文楷体" panose="02010600040101010101" pitchFamily="2" charset="-122"/>
                <a:sym typeface="Wingdings" panose="05000000000000000000" pitchFamily="2" charset="2"/>
              </a:rPr>
              <a:t>DB</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。如此期间出现故障，可用日志的后像重做；其它事务可从缓冲区</a:t>
            </a:r>
            <a:r>
              <a:rPr lang="en-US" altLang="x-none" sz="2200" dirty="0">
                <a:latin typeface="华文楷体" panose="02010600040101010101" pitchFamily="2" charset="-122"/>
                <a:ea typeface="华文楷体" panose="02010600040101010101" pitchFamily="2" charset="-122"/>
                <a:sym typeface="Wingdings" panose="05000000000000000000" pitchFamily="2" charset="2"/>
              </a:rPr>
              <a:t>(</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未写入</a:t>
            </a:r>
            <a:r>
              <a:rPr lang="en-US" altLang="x-none" sz="2200" dirty="0">
                <a:latin typeface="华文楷体" panose="02010600040101010101" pitchFamily="2" charset="-122"/>
                <a:ea typeface="华文楷体" panose="02010600040101010101" pitchFamily="2" charset="-122"/>
                <a:sym typeface="Wingdings" panose="05000000000000000000" pitchFamily="2" charset="2"/>
              </a:rPr>
              <a:t>DB</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前更新内容仍在缓冲区</a:t>
            </a:r>
            <a:r>
              <a:rPr lang="en-US" altLang="x-none" sz="2200" dirty="0">
                <a:latin typeface="华文楷体" panose="02010600040101010101" pitchFamily="2" charset="-122"/>
                <a:ea typeface="华文楷体" panose="02010600040101010101" pitchFamily="2" charset="-122"/>
                <a:sym typeface="Wingdings" panose="05000000000000000000" pitchFamily="2" charset="2"/>
              </a:rPr>
              <a:t>)</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访问更新后的内容。</a:t>
            </a:r>
            <a:endParaRPr lang="zh-CN" altLang="en-US" sz="2200" dirty="0">
              <a:latin typeface="华文楷体" panose="02010600040101010101" pitchFamily="2" charset="-122"/>
              <a:ea typeface="华文楷体" panose="02010600040101010101" pitchFamily="2" charset="-122"/>
              <a:sym typeface="Wingdings" panose="05000000000000000000" pitchFamily="2" charset="2"/>
            </a:endParaRPr>
          </a:p>
        </p:txBody>
      </p:sp>
      <p:sp>
        <p:nvSpPr>
          <p:cNvPr id="80901" name="Text Box 4"/>
          <p:cNvSpPr txBox="1"/>
          <p:nvPr/>
        </p:nvSpPr>
        <p:spPr>
          <a:xfrm>
            <a:off x="552450" y="4751388"/>
            <a:ext cx="8228013" cy="1339850"/>
          </a:xfrm>
          <a:prstGeom prst="rect">
            <a:avLst/>
          </a:prstGeom>
          <a:noFill/>
          <a:ln w="9525">
            <a:noFill/>
          </a:ln>
        </p:spPr>
        <p:txBody>
          <a:bodyPr wrap="square" anchor="t">
            <a:spAutoFit/>
          </a:bodyPr>
          <a:lstStyle/>
          <a:p>
            <a:pPr lvl="0" indent="0">
              <a:lnSpc>
                <a:spcPct val="110000"/>
              </a:lnSpc>
              <a:spcBef>
                <a:spcPts val="600"/>
              </a:spcBef>
            </a:pPr>
            <a:r>
              <a:rPr lang="zh-CN" altLang="en-US" sz="2400" dirty="0">
                <a:solidFill>
                  <a:srgbClr val="A50021"/>
                </a:solidFill>
                <a:latin typeface="宋体" panose="02010600030101010101" pitchFamily="2" charset="-122"/>
                <a:ea typeface="宋体" panose="02010600030101010101" pitchFamily="2" charset="-122"/>
                <a:sym typeface="Wingdings" panose="05000000000000000000" pitchFamily="2" charset="2"/>
              </a:rPr>
              <a:t>（</a:t>
            </a:r>
            <a:r>
              <a:rPr lang="en-US" altLang="x-none" sz="2400" dirty="0">
                <a:solidFill>
                  <a:srgbClr val="A50021"/>
                </a:solidFill>
                <a:latin typeface="宋体" panose="02010600030101010101" pitchFamily="2" charset="-122"/>
                <a:ea typeface="宋体" panose="02010600030101010101" pitchFamily="2" charset="-122"/>
                <a:sym typeface="Wingdings" panose="05000000000000000000" pitchFamily="2" charset="2"/>
              </a:rPr>
              <a:t>2</a:t>
            </a:r>
            <a:r>
              <a:rPr lang="zh-CN" altLang="en-US" sz="2400" dirty="0">
                <a:solidFill>
                  <a:srgbClr val="A50021"/>
                </a:solidFill>
                <a:latin typeface="宋体" panose="02010600030101010101" pitchFamily="2" charset="-122"/>
                <a:ea typeface="宋体" panose="02010600030101010101" pitchFamily="2" charset="-122"/>
                <a:sym typeface="Wingdings" panose="05000000000000000000" pitchFamily="2" charset="2"/>
              </a:rPr>
              <a:t>）先记后写规则</a:t>
            </a:r>
            <a:r>
              <a:rPr lang="en-US" altLang="x-none" sz="2400" dirty="0">
                <a:solidFill>
                  <a:srgbClr val="A50021"/>
                </a:solidFill>
                <a:latin typeface="宋体" panose="02010600030101010101" pitchFamily="2" charset="-122"/>
                <a:ea typeface="宋体" panose="02010600030101010101" pitchFamily="2" charset="-122"/>
                <a:sym typeface="Wingdings" panose="05000000000000000000" pitchFamily="2" charset="2"/>
              </a:rPr>
              <a:t>(Log Ahead Rule)</a:t>
            </a:r>
            <a:endParaRPr lang="en-US" altLang="x-none" sz="2400" dirty="0">
              <a:solidFill>
                <a:srgbClr val="A50021"/>
              </a:solidFill>
              <a:latin typeface="宋体" panose="02010600030101010101" pitchFamily="2" charset="-122"/>
              <a:ea typeface="宋体" panose="02010600030101010101" pitchFamily="2" charset="-122"/>
              <a:sym typeface="Wingdings" panose="05000000000000000000" pitchFamily="2" charset="2"/>
            </a:endParaRPr>
          </a:p>
          <a:p>
            <a:pPr lvl="0" indent="0">
              <a:lnSpc>
                <a:spcPct val="110000"/>
              </a:lnSpc>
              <a:spcBef>
                <a:spcPts val="600"/>
              </a:spcBef>
              <a:buFont typeface="Wingdings" panose="05000000000000000000" pitchFamily="2" charset="2"/>
              <a:buChar char="Ø"/>
            </a:pPr>
            <a:r>
              <a:rPr lang="zh-CN" altLang="en-US" sz="2400" u="sng" dirty="0">
                <a:solidFill>
                  <a:srgbClr val="0033CC"/>
                </a:solidFill>
                <a:latin typeface="宋体" panose="02010600030101010101" pitchFamily="2" charset="-122"/>
                <a:ea typeface="宋体" panose="02010600030101010101" pitchFamily="2" charset="-122"/>
                <a:sym typeface="Wingdings" panose="05000000000000000000" pitchFamily="2" charset="2"/>
              </a:rPr>
              <a:t>该规则要求：</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如后像在事务提交前写入</a:t>
            </a:r>
            <a:r>
              <a:rPr lang="en-US" altLang="x-none" sz="2200" dirty="0">
                <a:latin typeface="华文楷体" panose="02010600040101010101" pitchFamily="2" charset="-122"/>
                <a:ea typeface="华文楷体" panose="02010600040101010101" pitchFamily="2" charset="-122"/>
                <a:sym typeface="Wingdings" panose="05000000000000000000" pitchFamily="2" charset="2"/>
              </a:rPr>
              <a:t>DB</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，需先将前像写入日志，以便事务失败后，撤销事务所做的更新。</a:t>
            </a:r>
            <a:endParaRPr lang="zh-CN" altLang="en-US" sz="2200" dirty="0">
              <a:latin typeface="华文楷体" panose="02010600040101010101" pitchFamily="2" charset="-122"/>
              <a:ea typeface="华文楷体" panose="02010600040101010101" pitchFamily="2" charset="-122"/>
              <a:sym typeface="Wingdings" panose="05000000000000000000" pitchFamily="2" charset="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0900"/>
                                        </p:tgtEl>
                                        <p:attrNameLst>
                                          <p:attrName>style.visibility</p:attrName>
                                        </p:attrNameLst>
                                      </p:cBhvr>
                                      <p:to>
                                        <p:strVal val="visible"/>
                                      </p:to>
                                    </p:set>
                                    <p:anim calcmode="lin" valueType="num">
                                      <p:cBhvr>
                                        <p:cTn id="7" dur="500" fill="hold"/>
                                        <p:tgtEl>
                                          <p:spTgt spid="80900"/>
                                        </p:tgtEl>
                                        <p:attrNameLst>
                                          <p:attrName>ppt_x</p:attrName>
                                        </p:attrNameLst>
                                      </p:cBhvr>
                                      <p:tavLst>
                                        <p:tav tm="0">
                                          <p:val>
                                            <p:strVal val="#ppt_x"/>
                                          </p:val>
                                        </p:tav>
                                        <p:tav tm="100000">
                                          <p:val>
                                            <p:strVal val="#ppt_x"/>
                                          </p:val>
                                        </p:tav>
                                      </p:tavLst>
                                    </p:anim>
                                    <p:anim calcmode="lin" valueType="num">
                                      <p:cBhvr>
                                        <p:cTn id="8" dur="500" fill="hold"/>
                                        <p:tgtEl>
                                          <p:spTgt spid="8090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0901"/>
                                        </p:tgtEl>
                                        <p:attrNameLst>
                                          <p:attrName>style.visibility</p:attrName>
                                        </p:attrNameLst>
                                      </p:cBhvr>
                                      <p:to>
                                        <p:strVal val="visible"/>
                                      </p:to>
                                    </p:set>
                                    <p:anim calcmode="lin" valueType="num">
                                      <p:cBhvr>
                                        <p:cTn id="13" dur="500" fill="hold"/>
                                        <p:tgtEl>
                                          <p:spTgt spid="80901"/>
                                        </p:tgtEl>
                                        <p:attrNameLst>
                                          <p:attrName>ppt_x</p:attrName>
                                        </p:attrNameLst>
                                      </p:cBhvr>
                                      <p:tavLst>
                                        <p:tav tm="0">
                                          <p:val>
                                            <p:strVal val="#ppt_x"/>
                                          </p:val>
                                        </p:tav>
                                        <p:tav tm="100000">
                                          <p:val>
                                            <p:strVal val="#ppt_x"/>
                                          </p:val>
                                        </p:tav>
                                      </p:tavLst>
                                    </p:anim>
                                    <p:anim calcmode="lin" valueType="num">
                                      <p:cBhvr>
                                        <p:cTn id="14" dur="500" fill="hold"/>
                                        <p:tgtEl>
                                          <p:spTgt spid="809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00" grpId="0" bldLvl="0"/>
      <p:bldP spid="80901" grpId="0" bldLvl="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7"/>
          <p:cNvSpPr/>
          <p:nvPr/>
        </p:nvSpPr>
        <p:spPr>
          <a:xfrm>
            <a:off x="454025" y="728663"/>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4</a:t>
            </a:r>
            <a:r>
              <a:rPr lang="zh-CN" altLang="en-US" sz="2800" dirty="0">
                <a:solidFill>
                  <a:srgbClr val="FF0000"/>
                </a:solidFill>
                <a:latin typeface="黑体" panose="02010609060101010101" pitchFamily="1" charset="-122"/>
                <a:ea typeface="黑体" panose="02010609060101010101" pitchFamily="1" charset="-122"/>
              </a:rPr>
              <a:t>、</a:t>
            </a:r>
            <a:r>
              <a:rPr lang="en-US" altLang="x-none" sz="2800" dirty="0">
                <a:solidFill>
                  <a:srgbClr val="FF0000"/>
                </a:solidFill>
                <a:latin typeface="黑体" panose="02010609060101010101" pitchFamily="1" charset="-122"/>
                <a:ea typeface="黑体" panose="02010609060101010101" pitchFamily="1" charset="-122"/>
              </a:rPr>
              <a:t>DBMS</a:t>
            </a:r>
            <a:r>
              <a:rPr lang="zh-CN" altLang="en-US" sz="2800" dirty="0">
                <a:solidFill>
                  <a:srgbClr val="FF0000"/>
                </a:solidFill>
                <a:latin typeface="黑体" panose="02010609060101010101" pitchFamily="1" charset="-122"/>
                <a:ea typeface="黑体" panose="02010609060101010101" pitchFamily="1" charset="-122"/>
              </a:rPr>
              <a:t>围绕更新事务的工作</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78850"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四、数据库的故障恢复技术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78851" name="Text Box 4"/>
          <p:cNvSpPr txBox="1"/>
          <p:nvPr/>
        </p:nvSpPr>
        <p:spPr>
          <a:xfrm>
            <a:off x="2054225" y="1816100"/>
            <a:ext cx="6188075" cy="460375"/>
          </a:xfrm>
          <a:prstGeom prst="rect">
            <a:avLst/>
          </a:prstGeom>
          <a:noFill/>
          <a:ln w="9525">
            <a:noFill/>
          </a:ln>
        </p:spPr>
        <p:txBody>
          <a:bodyPr anchor="t">
            <a:spAutoFit/>
          </a:bodyPr>
          <a:lstStyle/>
          <a:p>
            <a:pPr lvl="0" indent="0">
              <a:spcBef>
                <a:spcPct val="50000"/>
              </a:spcBef>
            </a:pPr>
            <a:r>
              <a:rPr lang="zh-CN" altLang="en-US" sz="2400" dirty="0">
                <a:solidFill>
                  <a:srgbClr val="0000CC"/>
                </a:solidFill>
                <a:latin typeface="宋体" panose="02010600030101010101" pitchFamily="2" charset="-122"/>
                <a:ea typeface="宋体" panose="02010600030101010101" pitchFamily="2" charset="-122"/>
                <a:sym typeface="Wingdings" panose="05000000000000000000" pitchFamily="2" charset="2"/>
              </a:rPr>
              <a:t>方案</a:t>
            </a:r>
            <a:r>
              <a:rPr lang="en-US" altLang="x-none" sz="2400" dirty="0">
                <a:solidFill>
                  <a:srgbClr val="0000CC"/>
                </a:solidFill>
                <a:latin typeface="宋体" panose="02010600030101010101" pitchFamily="2" charset="-122"/>
                <a:ea typeface="宋体" panose="02010600030101010101" pitchFamily="2" charset="-122"/>
                <a:sym typeface="Wingdings" panose="05000000000000000000" pitchFamily="2" charset="2"/>
              </a:rPr>
              <a:t>1</a:t>
            </a:r>
            <a:r>
              <a:rPr lang="zh-CN" altLang="en-US" sz="2400" dirty="0">
                <a:solidFill>
                  <a:srgbClr val="0000CC"/>
                </a:solidFill>
                <a:latin typeface="宋体" panose="02010600030101010101" pitchFamily="2" charset="-122"/>
                <a:ea typeface="宋体" panose="02010600030101010101" pitchFamily="2" charset="-122"/>
                <a:sym typeface="Wingdings" panose="05000000000000000000" pitchFamily="2" charset="2"/>
              </a:rPr>
              <a:t>：后像在事务提交前完全写入</a:t>
            </a:r>
            <a:r>
              <a:rPr lang="en-US" altLang="x-none" sz="2400" dirty="0">
                <a:solidFill>
                  <a:srgbClr val="0000CC"/>
                </a:solidFill>
                <a:latin typeface="宋体" panose="02010600030101010101" pitchFamily="2" charset="-122"/>
                <a:ea typeface="宋体" panose="02010600030101010101" pitchFamily="2" charset="-122"/>
                <a:sym typeface="Wingdings" panose="05000000000000000000" pitchFamily="2" charset="2"/>
              </a:rPr>
              <a:t>DB</a:t>
            </a:r>
            <a:endParaRPr lang="en-US" altLang="x-none" sz="2400" dirty="0">
              <a:solidFill>
                <a:srgbClr val="0000CC"/>
              </a:solidFill>
              <a:latin typeface="宋体" panose="02010600030101010101" pitchFamily="2" charset="-122"/>
              <a:ea typeface="宋体" panose="02010600030101010101" pitchFamily="2" charset="-122"/>
              <a:sym typeface="Wingdings" panose="05000000000000000000" pitchFamily="2" charset="2"/>
            </a:endParaRPr>
          </a:p>
        </p:txBody>
      </p:sp>
      <p:graphicFrame>
        <p:nvGraphicFramePr>
          <p:cNvPr id="81925" name="表格 81924"/>
          <p:cNvGraphicFramePr/>
          <p:nvPr/>
        </p:nvGraphicFramePr>
        <p:xfrm>
          <a:off x="423863" y="2322513"/>
          <a:ext cx="8547100" cy="3997325"/>
        </p:xfrm>
        <a:graphic>
          <a:graphicData uri="http://schemas.openxmlformats.org/drawingml/2006/table">
            <a:tbl>
              <a:tblPr/>
              <a:tblGrid>
                <a:gridCol w="1736725"/>
                <a:gridCol w="6810375"/>
              </a:tblGrid>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42900" lvl="0" indent="-342900" algn="ctr" eaLnBrk="1" hangingPunct="1">
                        <a:spcBef>
                          <a:spcPct val="0"/>
                        </a:spcBef>
                        <a:buClr>
                          <a:srgbClr val="000000"/>
                        </a:buClr>
                        <a:buFont typeface="Arial" panose="020B0604020202020204" pitchFamily="34" charset="0"/>
                        <a:buNone/>
                      </a:pPr>
                      <a:r>
                        <a:rPr lang="zh-CN" altLang="en-US" sz="2000">
                          <a:ea typeface="Times New Roman" panose="02020603050405020304" pitchFamily="2" charset="0"/>
                        </a:rPr>
                        <a:t>事务执行状态</a:t>
                      </a:r>
                      <a:endParaRPr lang="zh-CN" altLang="en-US" sz="2000">
                        <a:ea typeface="Times New Roman" panose="02020603050405020304" pitchFamily="2" charset="0"/>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254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42900" lvl="0" indent="-342900" algn="ctr" eaLnBrk="1" hangingPunct="1">
                        <a:spcBef>
                          <a:spcPct val="0"/>
                        </a:spcBef>
                        <a:buClr>
                          <a:srgbClr val="000000"/>
                        </a:buClr>
                        <a:buFont typeface="Arial" panose="020B0604020202020204" pitchFamily="34" charset="0"/>
                        <a:buNone/>
                      </a:pPr>
                      <a:r>
                        <a:rPr lang="en-US" altLang="x-none" sz="2000" dirty="0">
                          <a:ea typeface="Times New Roman" panose="02020603050405020304" pitchFamily="2" charset="0"/>
                        </a:rPr>
                        <a:t>DBMS</a:t>
                      </a:r>
                      <a:r>
                        <a:rPr lang="zh-CN" altLang="en-US" sz="2000" dirty="0">
                          <a:ea typeface="Times New Roman" panose="02020603050405020304" pitchFamily="2" charset="0"/>
                        </a:rPr>
                        <a:t>应做的工作</a:t>
                      </a:r>
                      <a:endParaRPr lang="zh-CN" altLang="en-US" sz="2000" dirty="0">
                        <a:ea typeface="Times New Roman" panose="02020603050405020304" pitchFamily="2" charset="0"/>
                      </a:endParaRP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254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r>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42900" lvl="0" indent="-342900" algn="ctr" eaLnBrk="1" hangingPunct="1">
                        <a:spcBef>
                          <a:spcPct val="0"/>
                        </a:spcBef>
                        <a:buClr>
                          <a:srgbClr val="000000"/>
                        </a:buClr>
                        <a:buFont typeface="Arial" panose="020B0604020202020204" pitchFamily="34" charset="0"/>
                        <a:buNone/>
                      </a:pPr>
                      <a:r>
                        <a:rPr lang="zh-CN" altLang="en-US" sz="2000">
                          <a:latin typeface="华文楷体" panose="02010600040101010101" pitchFamily="2" charset="-122"/>
                          <a:ea typeface="华文楷体" panose="02010600040101010101" pitchFamily="2" charset="-122"/>
                        </a:rPr>
                        <a:t>开始状态</a:t>
                      </a:r>
                      <a:endParaRPr lang="zh-CN" altLang="en-US" sz="2000">
                        <a:latin typeface="华文楷体" panose="02010600040101010101" pitchFamily="2" charset="-122"/>
                        <a:ea typeface="华文楷体" panose="02010600040101010101" pitchFamily="2" charset="-122"/>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42900" lvl="0" indent="-342900" eaLnBrk="1" hangingPunct="1">
                        <a:spcBef>
                          <a:spcPct val="0"/>
                        </a:spcBef>
                        <a:buClr>
                          <a:srgbClr val="000000"/>
                        </a:buClr>
                        <a:buFont typeface="Arial" panose="020B0604020202020204" pitchFamily="34" charset="0"/>
                        <a:buNone/>
                      </a:pPr>
                      <a:r>
                        <a:rPr lang="zh-CN" altLang="en-US" sz="2000" dirty="0">
                          <a:latin typeface="华文楷体" panose="02010600040101010101" pitchFamily="2" charset="-122"/>
                          <a:ea typeface="华文楷体" panose="02010600040101010101" pitchFamily="2" charset="-122"/>
                        </a:rPr>
                        <a:t>步骤</a:t>
                      </a:r>
                      <a:r>
                        <a:rPr lang="en-US" altLang="x-none" sz="2000" dirty="0">
                          <a:latin typeface="华文楷体" panose="02010600040101010101" pitchFamily="2" charset="-122"/>
                          <a:ea typeface="华文楷体" panose="02010600040101010101" pitchFamily="2" charset="-122"/>
                        </a:rPr>
                        <a:t>1</a:t>
                      </a:r>
                      <a:r>
                        <a:rPr lang="zh-CN" altLang="en-US" sz="2000" dirty="0">
                          <a:latin typeface="华文楷体" panose="02010600040101010101" pitchFamily="2" charset="-122"/>
                          <a:ea typeface="华文楷体" panose="02010600040101010101" pitchFamily="2" charset="-122"/>
                        </a:rPr>
                        <a:t>：</a:t>
                      </a:r>
                      <a:r>
                        <a:rPr lang="en-US" altLang="x-none" sz="2000" dirty="0">
                          <a:latin typeface="华文楷体" panose="02010600040101010101" pitchFamily="2" charset="-122"/>
                          <a:ea typeface="华文楷体" panose="02010600040101010101" pitchFamily="2" charset="-122"/>
                        </a:rPr>
                        <a:t>TID → ATL    /* </a:t>
                      </a:r>
                      <a:r>
                        <a:rPr lang="zh-CN" altLang="en-US" sz="2000" dirty="0">
                          <a:latin typeface="华文楷体" panose="02010600040101010101" pitchFamily="2" charset="-122"/>
                          <a:ea typeface="华文楷体" panose="02010600040101010101" pitchFamily="2" charset="-122"/>
                        </a:rPr>
                        <a:t>将事务</a:t>
                      </a:r>
                      <a:r>
                        <a:rPr lang="en-US" altLang="x-none" sz="2000" dirty="0">
                          <a:latin typeface="华文楷体" panose="02010600040101010101" pitchFamily="2" charset="-122"/>
                          <a:ea typeface="华文楷体" panose="02010600040101010101" pitchFamily="2" charset="-122"/>
                        </a:rPr>
                        <a:t>TID</a:t>
                      </a:r>
                      <a:r>
                        <a:rPr lang="zh-CN" altLang="en-US" sz="2000" dirty="0">
                          <a:latin typeface="华文楷体" panose="02010600040101010101" pitchFamily="2" charset="-122"/>
                          <a:ea typeface="华文楷体" panose="02010600040101010101" pitchFamily="2" charset="-122"/>
                        </a:rPr>
                        <a:t>记入日志的</a:t>
                      </a:r>
                      <a:r>
                        <a:rPr lang="en-US" altLang="x-none" sz="2000" dirty="0">
                          <a:latin typeface="华文楷体" panose="02010600040101010101" pitchFamily="2" charset="-122"/>
                          <a:ea typeface="华文楷体" panose="02010600040101010101" pitchFamily="2" charset="-122"/>
                        </a:rPr>
                        <a:t>ATL */</a:t>
                      </a:r>
                      <a:endParaRPr lang="en-US" altLang="x-none" sz="2000" dirty="0">
                        <a:latin typeface="华文楷体" panose="02010600040101010101" pitchFamily="2" charset="-122"/>
                        <a:ea typeface="华文楷体" panose="02010600040101010101" pitchFamily="2" charset="-122"/>
                      </a:endParaRP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r>
              <a:tr h="7016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2000">
                          <a:latin typeface="华文楷体" panose="02010600040101010101" pitchFamily="2" charset="-122"/>
                          <a:ea typeface="华文楷体" panose="02010600040101010101" pitchFamily="2" charset="-122"/>
                        </a:rPr>
                        <a:t>事务内的操作执行状态</a:t>
                      </a:r>
                      <a:endParaRPr lang="zh-CN" altLang="en-US" sz="2000">
                        <a:latin typeface="华文楷体" panose="02010600040101010101" pitchFamily="2" charset="-122"/>
                        <a:ea typeface="华文楷体" panose="02010600040101010101" pitchFamily="2" charset="-122"/>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42900" lvl="0" indent="-342900" eaLnBrk="1" hangingPunct="1">
                        <a:spcBef>
                          <a:spcPct val="0"/>
                        </a:spcBef>
                        <a:buClr>
                          <a:srgbClr val="000000"/>
                        </a:buClr>
                        <a:buFont typeface="Arial" panose="020B0604020202020204" pitchFamily="34" charset="0"/>
                        <a:buNone/>
                      </a:pPr>
                      <a:r>
                        <a:rPr lang="zh-CN" altLang="en-US" sz="2000">
                          <a:latin typeface="华文楷体" panose="02010600040101010101" pitchFamily="2" charset="-122"/>
                          <a:ea typeface="华文楷体" panose="02010600040101010101" pitchFamily="2" charset="-122"/>
                        </a:rPr>
                        <a:t>无</a:t>
                      </a:r>
                      <a:endParaRPr lang="zh-CN" altLang="en-US" sz="2000">
                        <a:latin typeface="华文楷体" panose="02010600040101010101" pitchFamily="2" charset="-122"/>
                        <a:ea typeface="华文楷体" panose="02010600040101010101" pitchFamily="2" charset="-122"/>
                      </a:endParaRP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r>
              <a:tr h="1006475">
                <a:tc rowSpan="2">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42900" lvl="0" indent="-342900" algn="ctr" eaLnBrk="1" hangingPunct="1">
                        <a:spcBef>
                          <a:spcPct val="0"/>
                        </a:spcBef>
                        <a:buClr>
                          <a:srgbClr val="000000"/>
                        </a:buClr>
                        <a:buFont typeface="Arial" panose="020B0604020202020204" pitchFamily="34" charset="0"/>
                        <a:buNone/>
                      </a:pPr>
                      <a:r>
                        <a:rPr lang="zh-CN" altLang="en-US" sz="2000">
                          <a:latin typeface="华文楷体" panose="02010600040101010101" pitchFamily="2" charset="-122"/>
                          <a:ea typeface="华文楷体" panose="02010600040101010101" pitchFamily="2" charset="-122"/>
                        </a:rPr>
                        <a:t>提交前</a:t>
                      </a:r>
                      <a:endParaRPr lang="zh-CN" altLang="en-US" sz="2000">
                        <a:latin typeface="华文楷体" panose="02010600040101010101" pitchFamily="2" charset="-122"/>
                        <a:ea typeface="华文楷体" panose="02010600040101010101" pitchFamily="2" charset="-122"/>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2868930" lvl="0" indent="-2868930" eaLnBrk="1" hangingPunct="1">
                        <a:spcBef>
                          <a:spcPct val="0"/>
                        </a:spcBef>
                        <a:buClr>
                          <a:srgbClr val="000000"/>
                        </a:buClr>
                        <a:buFont typeface="Arial" panose="020B0604020202020204" pitchFamily="34" charset="0"/>
                        <a:buNone/>
                      </a:pPr>
                      <a:r>
                        <a:rPr lang="zh-CN" altLang="en-US" sz="2000" dirty="0">
                          <a:latin typeface="华文楷体" panose="02010600040101010101" pitchFamily="2" charset="-122"/>
                          <a:ea typeface="华文楷体" panose="02010600040101010101" pitchFamily="2" charset="-122"/>
                        </a:rPr>
                        <a:t>步骤</a:t>
                      </a:r>
                      <a:r>
                        <a:rPr lang="en-US" altLang="x-none" sz="2000" dirty="0">
                          <a:latin typeface="华文楷体" panose="02010600040101010101" pitchFamily="2" charset="-122"/>
                          <a:ea typeface="华文楷体" panose="02010600040101010101" pitchFamily="2" charset="-122"/>
                        </a:rPr>
                        <a:t>2</a:t>
                      </a:r>
                      <a:r>
                        <a:rPr lang="zh-CN" altLang="en-US" sz="2000" dirty="0">
                          <a:latin typeface="华文楷体" panose="02010600040101010101" pitchFamily="2" charset="-122"/>
                          <a:ea typeface="华文楷体" panose="02010600040101010101" pitchFamily="2" charset="-122"/>
                        </a:rPr>
                        <a:t>：</a:t>
                      </a:r>
                      <a:r>
                        <a:rPr lang="en-US" altLang="x-none" sz="2000" dirty="0">
                          <a:latin typeface="华文楷体" panose="02010600040101010101" pitchFamily="2" charset="-122"/>
                          <a:ea typeface="华文楷体" panose="02010600040101010101" pitchFamily="2" charset="-122"/>
                        </a:rPr>
                        <a:t>BI → Log   </a:t>
                      </a:r>
                      <a:endParaRPr lang="en-US" altLang="x-none" sz="2000" dirty="0">
                        <a:latin typeface="华文楷体" panose="02010600040101010101" pitchFamily="2" charset="-122"/>
                        <a:ea typeface="华文楷体" panose="02010600040101010101" pitchFamily="2" charset="-122"/>
                      </a:endParaRPr>
                    </a:p>
                    <a:p>
                      <a:pPr marL="2868930" lvl="0" indent="-2868930" eaLnBrk="1" hangingPunct="1">
                        <a:spcBef>
                          <a:spcPct val="0"/>
                        </a:spcBef>
                        <a:buClr>
                          <a:srgbClr val="000000"/>
                        </a:buClr>
                        <a:buFont typeface="Arial" panose="020B0604020202020204" pitchFamily="34" charset="0"/>
                        <a:buNone/>
                      </a:pPr>
                      <a:r>
                        <a:rPr lang="en-US" altLang="x-none" sz="2000" dirty="0">
                          <a:latin typeface="华文楷体" panose="02010600040101010101" pitchFamily="2" charset="-122"/>
                          <a:ea typeface="华文楷体" panose="02010600040101010101" pitchFamily="2" charset="-122"/>
                        </a:rPr>
                        <a:t>/* </a:t>
                      </a:r>
                      <a:r>
                        <a:rPr lang="zh-CN" altLang="en-US" sz="2000" dirty="0">
                          <a:latin typeface="华文楷体" panose="02010600040101010101" pitchFamily="2" charset="-122"/>
                          <a:ea typeface="华文楷体" panose="02010600040101010101" pitchFamily="2" charset="-122"/>
                        </a:rPr>
                        <a:t>一旦事物中有更新操作，就将</a:t>
                      </a:r>
                      <a:r>
                        <a:rPr lang="en-US" altLang="x-none" sz="2000" dirty="0">
                          <a:latin typeface="华文楷体" panose="02010600040101010101" pitchFamily="2" charset="-122"/>
                          <a:ea typeface="华文楷体" panose="02010600040101010101" pitchFamily="2" charset="-122"/>
                        </a:rPr>
                        <a:t>BI</a:t>
                      </a:r>
                      <a:r>
                        <a:rPr lang="zh-CN" altLang="en-US" sz="2000" dirty="0">
                          <a:latin typeface="华文楷体" panose="02010600040101010101" pitchFamily="2" charset="-122"/>
                          <a:ea typeface="华文楷体" panose="02010600040101010101" pitchFamily="2" charset="-122"/>
                        </a:rPr>
                        <a:t>写入日志。先记后写规则的要求 *</a:t>
                      </a:r>
                      <a:r>
                        <a:rPr lang="en-US" altLang="x-none" sz="2000" dirty="0">
                          <a:latin typeface="华文楷体" panose="02010600040101010101" pitchFamily="2" charset="-122"/>
                          <a:ea typeface="华文楷体" panose="02010600040101010101" pitchFamily="2" charset="-122"/>
                        </a:rPr>
                        <a:t>/</a:t>
                      </a:r>
                      <a:endParaRPr lang="en-US" altLang="x-none" sz="2000" dirty="0">
                        <a:latin typeface="华文楷体" panose="02010600040101010101" pitchFamily="2" charset="-122"/>
                        <a:ea typeface="华文楷体" panose="02010600040101010101" pitchFamily="2" charset="-122"/>
                      </a:endParaRP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r>
              <a:tr h="701675">
                <a:tc vMerge="1">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2695575" lvl="0" indent="-2695575" eaLnBrk="1" hangingPunct="1">
                        <a:spcBef>
                          <a:spcPct val="0"/>
                        </a:spcBef>
                        <a:buClr>
                          <a:srgbClr val="000000"/>
                        </a:buClr>
                        <a:buFont typeface="Arial" panose="020B0604020202020204" pitchFamily="34" charset="0"/>
                        <a:buNone/>
                      </a:pPr>
                      <a:r>
                        <a:rPr lang="zh-CN" altLang="en-US" sz="2000" dirty="0">
                          <a:latin typeface="华文楷体" panose="02010600040101010101" pitchFamily="2" charset="-122"/>
                          <a:ea typeface="华文楷体" panose="02010600040101010101" pitchFamily="2" charset="-122"/>
                        </a:rPr>
                        <a:t>步骤</a:t>
                      </a:r>
                      <a:r>
                        <a:rPr lang="en-US" altLang="x-none" sz="2000" dirty="0">
                          <a:latin typeface="华文楷体" panose="02010600040101010101" pitchFamily="2" charset="-122"/>
                          <a:ea typeface="华文楷体" panose="02010600040101010101" pitchFamily="2" charset="-122"/>
                        </a:rPr>
                        <a:t>3</a:t>
                      </a:r>
                      <a:r>
                        <a:rPr lang="zh-CN" altLang="en-US" sz="2000" dirty="0">
                          <a:latin typeface="华文楷体" panose="02010600040101010101" pitchFamily="2" charset="-122"/>
                          <a:ea typeface="华文楷体" panose="02010600040101010101" pitchFamily="2" charset="-122"/>
                        </a:rPr>
                        <a:t>：</a:t>
                      </a:r>
                      <a:r>
                        <a:rPr lang="en-US" altLang="x-none" sz="2000" dirty="0">
                          <a:latin typeface="华文楷体" panose="02010600040101010101" pitchFamily="2" charset="-122"/>
                          <a:ea typeface="华文楷体" panose="02010600040101010101" pitchFamily="2" charset="-122"/>
                        </a:rPr>
                        <a:t>AI → DB   </a:t>
                      </a:r>
                      <a:endParaRPr lang="en-US" altLang="x-none" sz="2000" dirty="0">
                        <a:latin typeface="华文楷体" panose="02010600040101010101" pitchFamily="2" charset="-122"/>
                        <a:ea typeface="华文楷体" panose="02010600040101010101" pitchFamily="2" charset="-122"/>
                      </a:endParaRPr>
                    </a:p>
                    <a:p>
                      <a:pPr marL="2695575" lvl="0" indent="-2695575" eaLnBrk="1" hangingPunct="1">
                        <a:spcBef>
                          <a:spcPct val="0"/>
                        </a:spcBef>
                        <a:buClr>
                          <a:srgbClr val="000000"/>
                        </a:buClr>
                        <a:buFont typeface="Arial" panose="020B0604020202020204" pitchFamily="34" charset="0"/>
                        <a:buNone/>
                      </a:pPr>
                      <a:r>
                        <a:rPr lang="en-US" altLang="x-none" sz="2000" dirty="0">
                          <a:latin typeface="华文楷体" panose="02010600040101010101" pitchFamily="2" charset="-122"/>
                          <a:ea typeface="华文楷体" panose="02010600040101010101" pitchFamily="2" charset="-122"/>
                        </a:rPr>
                        <a:t>/* </a:t>
                      </a:r>
                      <a:r>
                        <a:rPr lang="zh-CN" altLang="en-US" sz="2000" dirty="0">
                          <a:latin typeface="华文楷体" panose="02010600040101010101" pitchFamily="2" charset="-122"/>
                          <a:ea typeface="华文楷体" panose="02010600040101010101" pitchFamily="2" charset="-122"/>
                        </a:rPr>
                        <a:t>将</a:t>
                      </a:r>
                      <a:r>
                        <a:rPr lang="en-US" altLang="x-none" sz="2000" dirty="0">
                          <a:latin typeface="华文楷体" panose="02010600040101010101" pitchFamily="2" charset="-122"/>
                          <a:ea typeface="华文楷体" panose="02010600040101010101" pitchFamily="2" charset="-122"/>
                        </a:rPr>
                        <a:t>AI</a:t>
                      </a:r>
                      <a:r>
                        <a:rPr lang="zh-CN" altLang="en-US" sz="2000" dirty="0">
                          <a:latin typeface="华文楷体" panose="02010600040101010101" pitchFamily="2" charset="-122"/>
                          <a:ea typeface="华文楷体" panose="02010600040101010101" pitchFamily="2" charset="-122"/>
                        </a:rPr>
                        <a:t>写入</a:t>
                      </a:r>
                      <a:r>
                        <a:rPr lang="en-US" altLang="x-none" sz="2000" dirty="0">
                          <a:latin typeface="华文楷体" panose="02010600040101010101" pitchFamily="2" charset="-122"/>
                          <a:ea typeface="华文楷体" panose="02010600040101010101" pitchFamily="2" charset="-122"/>
                        </a:rPr>
                        <a:t>DB</a:t>
                      </a:r>
                      <a:r>
                        <a:rPr lang="zh-CN" altLang="en-US" sz="2000" dirty="0">
                          <a:latin typeface="华文楷体" panose="02010600040101010101" pitchFamily="2" charset="-122"/>
                          <a:ea typeface="华文楷体" panose="02010600040101010101" pitchFamily="2" charset="-122"/>
                        </a:rPr>
                        <a:t>，提交前后像完全写入</a:t>
                      </a:r>
                      <a:r>
                        <a:rPr lang="en-US" altLang="x-none" sz="2000" dirty="0">
                          <a:latin typeface="华文楷体" panose="02010600040101010101" pitchFamily="2" charset="-122"/>
                          <a:ea typeface="华文楷体" panose="02010600040101010101" pitchFamily="2" charset="-122"/>
                        </a:rPr>
                        <a:t>DB</a:t>
                      </a:r>
                      <a:r>
                        <a:rPr lang="zh-CN" altLang="en-US" sz="2000" dirty="0">
                          <a:latin typeface="华文楷体" panose="02010600040101010101" pitchFamily="2" charset="-122"/>
                          <a:ea typeface="华文楷体" panose="02010600040101010101" pitchFamily="2" charset="-122"/>
                        </a:rPr>
                        <a:t>，本方案的要求*</a:t>
                      </a:r>
                      <a:r>
                        <a:rPr lang="en-US" altLang="x-none" sz="2000" dirty="0">
                          <a:latin typeface="华文楷体" panose="02010600040101010101" pitchFamily="2" charset="-122"/>
                          <a:ea typeface="华文楷体" panose="02010600040101010101" pitchFamily="2" charset="-122"/>
                        </a:rPr>
                        <a:t>/</a:t>
                      </a:r>
                      <a:endParaRPr lang="en-US" altLang="x-none" sz="2000" dirty="0">
                        <a:latin typeface="华文楷体" panose="02010600040101010101" pitchFamily="2" charset="-122"/>
                        <a:ea typeface="华文楷体" panose="02010600040101010101" pitchFamily="2"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r>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42900" lvl="0" indent="-342900" algn="ctr" eaLnBrk="1" hangingPunct="1">
                        <a:spcBef>
                          <a:spcPct val="0"/>
                        </a:spcBef>
                        <a:buClr>
                          <a:srgbClr val="000000"/>
                        </a:buClr>
                        <a:buFont typeface="Arial" panose="020B0604020202020204" pitchFamily="34" charset="0"/>
                        <a:buNone/>
                      </a:pPr>
                      <a:r>
                        <a:rPr lang="zh-CN" altLang="en-US" sz="2000">
                          <a:latin typeface="华文楷体" panose="02010600040101010101" pitchFamily="2" charset="-122"/>
                          <a:ea typeface="华文楷体" panose="02010600040101010101" pitchFamily="2" charset="-122"/>
                        </a:rPr>
                        <a:t>提交状态</a:t>
                      </a:r>
                      <a:endParaRPr lang="zh-CN" altLang="en-US" sz="2000">
                        <a:latin typeface="华文楷体" panose="02010600040101010101" pitchFamily="2" charset="-122"/>
                        <a:ea typeface="华文楷体" panose="02010600040101010101" pitchFamily="2" charset="-122"/>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42900" lvl="0" indent="-342900" eaLnBrk="1" hangingPunct="1">
                        <a:spcBef>
                          <a:spcPct val="0"/>
                        </a:spcBef>
                        <a:buClr>
                          <a:srgbClr val="000000"/>
                        </a:buClr>
                        <a:buFont typeface="Arial" panose="020B0604020202020204" pitchFamily="34" charset="0"/>
                        <a:buNone/>
                      </a:pPr>
                      <a:r>
                        <a:rPr lang="zh-CN" altLang="en-US" sz="2000" dirty="0">
                          <a:latin typeface="华文楷体" panose="02010600040101010101" pitchFamily="2" charset="-122"/>
                          <a:ea typeface="华文楷体" panose="02010600040101010101" pitchFamily="2" charset="-122"/>
                        </a:rPr>
                        <a:t>步骤</a:t>
                      </a:r>
                      <a:r>
                        <a:rPr lang="en-US" altLang="x-none" sz="2000" dirty="0">
                          <a:latin typeface="华文楷体" panose="02010600040101010101" pitchFamily="2" charset="-122"/>
                          <a:ea typeface="华文楷体" panose="02010600040101010101" pitchFamily="2" charset="-122"/>
                        </a:rPr>
                        <a:t>4</a:t>
                      </a:r>
                      <a:r>
                        <a:rPr lang="zh-CN" altLang="en-US" sz="2000" dirty="0">
                          <a:latin typeface="华文楷体" panose="02010600040101010101" pitchFamily="2" charset="-122"/>
                          <a:ea typeface="华文楷体" panose="02010600040101010101" pitchFamily="2" charset="-122"/>
                        </a:rPr>
                        <a:t>：</a:t>
                      </a:r>
                      <a:r>
                        <a:rPr lang="en-US" altLang="x-none" sz="2000" dirty="0">
                          <a:latin typeface="华文楷体" panose="02010600040101010101" pitchFamily="2" charset="-122"/>
                          <a:ea typeface="华文楷体" panose="02010600040101010101" pitchFamily="2" charset="-122"/>
                        </a:rPr>
                        <a:t>TID → CTL     /* </a:t>
                      </a:r>
                      <a:r>
                        <a:rPr lang="zh-CN" altLang="en-US" sz="2000" dirty="0">
                          <a:latin typeface="华文楷体" panose="02010600040101010101" pitchFamily="2" charset="-122"/>
                          <a:ea typeface="华文楷体" panose="02010600040101010101" pitchFamily="2" charset="-122"/>
                        </a:rPr>
                        <a:t>提交更新事务 *</a:t>
                      </a:r>
                      <a:r>
                        <a:rPr lang="en-US" altLang="x-none" sz="2000" dirty="0">
                          <a:latin typeface="华文楷体" panose="02010600040101010101" pitchFamily="2" charset="-122"/>
                          <a:ea typeface="华文楷体" panose="02010600040101010101" pitchFamily="2" charset="-122"/>
                        </a:rPr>
                        <a:t>/</a:t>
                      </a:r>
                      <a:endParaRPr lang="en-US" altLang="x-none" sz="2000" dirty="0">
                        <a:latin typeface="华文楷体" panose="02010600040101010101" pitchFamily="2" charset="-122"/>
                        <a:ea typeface="华文楷体" panose="02010600040101010101" pitchFamily="2" charset="-122"/>
                      </a:endParaRP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r>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42900" lvl="0" indent="-342900" algn="ctr" eaLnBrk="1" hangingPunct="1">
                        <a:spcBef>
                          <a:spcPct val="0"/>
                        </a:spcBef>
                        <a:buClr>
                          <a:srgbClr val="000000"/>
                        </a:buClr>
                        <a:buFont typeface="Arial" panose="020B0604020202020204" pitchFamily="34" charset="0"/>
                        <a:buNone/>
                      </a:pPr>
                      <a:r>
                        <a:rPr lang="zh-CN" altLang="en-US" sz="2000">
                          <a:latin typeface="华文楷体" panose="02010600040101010101" pitchFamily="2" charset="-122"/>
                          <a:ea typeface="华文楷体" panose="02010600040101010101" pitchFamily="2" charset="-122"/>
                        </a:rPr>
                        <a:t>提交后</a:t>
                      </a:r>
                      <a:endParaRPr lang="zh-CN" altLang="en-US" sz="2000">
                        <a:latin typeface="华文楷体" panose="02010600040101010101" pitchFamily="2" charset="-122"/>
                        <a:ea typeface="华文楷体" panose="02010600040101010101" pitchFamily="2" charset="-122"/>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54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42900" lvl="0" indent="-342900" eaLnBrk="1" hangingPunct="1">
                        <a:spcBef>
                          <a:spcPct val="0"/>
                        </a:spcBef>
                        <a:buClr>
                          <a:srgbClr val="000000"/>
                        </a:buClr>
                        <a:buFont typeface="Arial" panose="020B0604020202020204" pitchFamily="34" charset="0"/>
                        <a:buNone/>
                      </a:pPr>
                      <a:r>
                        <a:rPr lang="zh-CN" altLang="en-US" sz="2000" dirty="0">
                          <a:latin typeface="华文楷体" panose="02010600040101010101" pitchFamily="2" charset="-122"/>
                          <a:ea typeface="华文楷体" panose="02010600040101010101" pitchFamily="2" charset="-122"/>
                        </a:rPr>
                        <a:t>步骤</a:t>
                      </a:r>
                      <a:r>
                        <a:rPr lang="en-US" altLang="x-none" sz="2000" dirty="0">
                          <a:latin typeface="华文楷体" panose="02010600040101010101" pitchFamily="2" charset="-122"/>
                          <a:ea typeface="华文楷体" panose="02010600040101010101" pitchFamily="2" charset="-122"/>
                        </a:rPr>
                        <a:t>5</a:t>
                      </a:r>
                      <a:r>
                        <a:rPr lang="zh-CN" altLang="en-US" sz="2000" dirty="0">
                          <a:latin typeface="华文楷体" panose="02010600040101010101" pitchFamily="2" charset="-122"/>
                          <a:ea typeface="华文楷体" panose="02010600040101010101" pitchFamily="2" charset="-122"/>
                        </a:rPr>
                        <a:t>：从</a:t>
                      </a:r>
                      <a:r>
                        <a:rPr lang="en-US" altLang="x-none" sz="2000" dirty="0">
                          <a:latin typeface="华文楷体" panose="02010600040101010101" pitchFamily="2" charset="-122"/>
                          <a:ea typeface="华文楷体" panose="02010600040101010101" pitchFamily="2" charset="-122"/>
                        </a:rPr>
                        <a:t>ATL</a:t>
                      </a:r>
                      <a:r>
                        <a:rPr lang="zh-CN" altLang="en-US" sz="2000" dirty="0">
                          <a:latin typeface="华文楷体" panose="02010600040101010101" pitchFamily="2" charset="-122"/>
                          <a:ea typeface="华文楷体" panose="02010600040101010101" pitchFamily="2" charset="-122"/>
                        </a:rPr>
                        <a:t>删除</a:t>
                      </a:r>
                      <a:r>
                        <a:rPr lang="en-US" altLang="x-none" sz="2000" dirty="0">
                          <a:latin typeface="华文楷体" panose="02010600040101010101" pitchFamily="2" charset="-122"/>
                          <a:ea typeface="华文楷体" panose="02010600040101010101" pitchFamily="2" charset="-122"/>
                        </a:rPr>
                        <a:t>TID</a:t>
                      </a:r>
                      <a:endParaRPr lang="en-US" altLang="x-none" sz="2000" dirty="0">
                        <a:latin typeface="华文楷体" panose="02010600040101010101" pitchFamily="2" charset="-122"/>
                        <a:ea typeface="华文楷体" panose="02010600040101010101" pitchFamily="2" charset="-122"/>
                      </a:endParaRP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54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r>
            </a:tbl>
          </a:graphicData>
        </a:graphic>
      </p:graphicFrame>
      <p:sp>
        <p:nvSpPr>
          <p:cNvPr id="78879" name="Text Box 3"/>
          <p:cNvSpPr txBox="1"/>
          <p:nvPr/>
        </p:nvSpPr>
        <p:spPr>
          <a:xfrm>
            <a:off x="473075" y="1293813"/>
            <a:ext cx="8497888" cy="492125"/>
          </a:xfrm>
          <a:prstGeom prst="rect">
            <a:avLst/>
          </a:prstGeom>
          <a:noFill/>
          <a:ln w="9525">
            <a:noFill/>
          </a:ln>
        </p:spPr>
        <p:txBody>
          <a:bodyPr anchor="t">
            <a:spAutoFit/>
          </a:bodyPr>
          <a:lstStyle/>
          <a:p>
            <a:pPr lvl="0" indent="0">
              <a:spcBef>
                <a:spcPct val="50000"/>
              </a:spcBef>
              <a:buFont typeface="Wingdings" panose="05000000000000000000" pitchFamily="2" charset="2"/>
              <a:buChar char="p"/>
            </a:pPr>
            <a:r>
              <a:rPr lang="zh-CN" altLang="en-US" sz="2600" dirty="0">
                <a:solidFill>
                  <a:srgbClr val="A50021"/>
                </a:solidFill>
                <a:latin typeface="宋体" panose="02010600030101010101" pitchFamily="2" charset="-122"/>
                <a:ea typeface="宋体" panose="02010600030101010101" pitchFamily="2" charset="-122"/>
                <a:sym typeface="Wingdings" panose="05000000000000000000" pitchFamily="2" charset="2"/>
              </a:rPr>
              <a:t> 事务状态及</a:t>
            </a:r>
            <a:r>
              <a:rPr lang="en-US" altLang="x-none" sz="2600" dirty="0">
                <a:solidFill>
                  <a:srgbClr val="A50021"/>
                </a:solidFill>
                <a:latin typeface="宋体" panose="02010600030101010101" pitchFamily="2" charset="-122"/>
                <a:ea typeface="宋体" panose="02010600030101010101" pitchFamily="2" charset="-122"/>
                <a:sym typeface="Wingdings" panose="05000000000000000000" pitchFamily="2" charset="2"/>
              </a:rPr>
              <a:t>DBMS</a:t>
            </a:r>
            <a:r>
              <a:rPr lang="zh-CN" altLang="en-US" sz="2600" dirty="0">
                <a:solidFill>
                  <a:srgbClr val="A50021"/>
                </a:solidFill>
                <a:latin typeface="宋体" panose="02010600030101010101" pitchFamily="2" charset="-122"/>
                <a:ea typeface="宋体" panose="02010600030101010101" pitchFamily="2" charset="-122"/>
                <a:sym typeface="Wingdings" panose="05000000000000000000" pitchFamily="2" charset="2"/>
              </a:rPr>
              <a:t>对应的工作安排</a:t>
            </a:r>
            <a:endParaRPr lang="zh-CN" altLang="en-US" sz="2600" dirty="0">
              <a:solidFill>
                <a:srgbClr val="A50021"/>
              </a:solidFill>
              <a:latin typeface="宋体" panose="02010600030101010101" pitchFamily="2" charset="-122"/>
              <a:ea typeface="宋体" panose="02010600030101010101" pitchFamily="2" charset="-122"/>
              <a:sym typeface="Wingdings" panose="05000000000000000000" pitchFamily="2" charset="2"/>
            </a:endParaRP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p:cNvSpPr/>
          <p:nvPr/>
        </p:nvSpPr>
        <p:spPr>
          <a:xfrm>
            <a:off x="454025" y="728663"/>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4</a:t>
            </a:r>
            <a:r>
              <a:rPr lang="zh-CN" altLang="en-US" sz="2800" dirty="0">
                <a:solidFill>
                  <a:srgbClr val="FF0000"/>
                </a:solidFill>
                <a:latin typeface="黑体" panose="02010609060101010101" pitchFamily="1" charset="-122"/>
                <a:ea typeface="黑体" panose="02010609060101010101" pitchFamily="1" charset="-122"/>
              </a:rPr>
              <a:t>、</a:t>
            </a:r>
            <a:r>
              <a:rPr lang="en-US" altLang="x-none" sz="2800" dirty="0">
                <a:solidFill>
                  <a:srgbClr val="FF0000"/>
                </a:solidFill>
                <a:latin typeface="黑体" panose="02010609060101010101" pitchFamily="1" charset="-122"/>
                <a:ea typeface="黑体" panose="02010609060101010101" pitchFamily="1" charset="-122"/>
              </a:rPr>
              <a:t>DBMS</a:t>
            </a:r>
            <a:r>
              <a:rPr lang="zh-CN" altLang="en-US" sz="2800" dirty="0">
                <a:solidFill>
                  <a:srgbClr val="FF0000"/>
                </a:solidFill>
                <a:latin typeface="黑体" panose="02010609060101010101" pitchFamily="1" charset="-122"/>
                <a:ea typeface="黑体" panose="02010609060101010101" pitchFamily="1" charset="-122"/>
              </a:rPr>
              <a:t>围绕更新事务的工作</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79874"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四、数据库的故障恢复技术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79875" name="Text Box 4"/>
          <p:cNvSpPr txBox="1"/>
          <p:nvPr/>
        </p:nvSpPr>
        <p:spPr>
          <a:xfrm>
            <a:off x="422275" y="1778000"/>
            <a:ext cx="8424863" cy="427038"/>
          </a:xfrm>
          <a:prstGeom prst="rect">
            <a:avLst/>
          </a:prstGeom>
          <a:noFill/>
          <a:ln w="9525">
            <a:noFill/>
          </a:ln>
        </p:spPr>
        <p:txBody>
          <a:bodyPr anchor="t">
            <a:spAutoFit/>
          </a:bodyPr>
          <a:lstStyle/>
          <a:p>
            <a:pPr lvl="0" indent="0">
              <a:spcBef>
                <a:spcPct val="50000"/>
              </a:spcBef>
            </a:pPr>
            <a:r>
              <a:rPr lang="zh-CN" altLang="en-US" sz="2200" dirty="0">
                <a:latin typeface="华文楷体" panose="02010600040101010101" pitchFamily="2" charset="-122"/>
                <a:ea typeface="华文楷体" panose="02010600040101010101" pitchFamily="2" charset="-122"/>
                <a:sym typeface="Wingdings" panose="05000000000000000000" pitchFamily="2" charset="2"/>
              </a:rPr>
              <a:t>如果事务按以上步骤执行过程中发生故障，可根据下表进行恢复</a:t>
            </a:r>
            <a:r>
              <a:rPr lang="zh-CN" altLang="en-US" sz="2200" dirty="0">
                <a:latin typeface="宋体" panose="02010600030101010101" pitchFamily="2" charset="-122"/>
                <a:ea typeface="华文楷体" panose="02010600040101010101" pitchFamily="2" charset="-122"/>
                <a:sym typeface="Wingdings" panose="05000000000000000000" pitchFamily="2" charset="2"/>
              </a:rPr>
              <a:t>。</a:t>
            </a:r>
            <a:endParaRPr lang="zh-CN" altLang="en-US" sz="2200" dirty="0">
              <a:latin typeface="宋体" panose="02010600030101010101" pitchFamily="2" charset="-122"/>
              <a:ea typeface="华文楷体" panose="02010600040101010101" pitchFamily="2" charset="-122"/>
              <a:sym typeface="Wingdings" panose="05000000000000000000" pitchFamily="2" charset="2"/>
            </a:endParaRPr>
          </a:p>
        </p:txBody>
      </p:sp>
      <p:graphicFrame>
        <p:nvGraphicFramePr>
          <p:cNvPr id="82949" name="表格 82948"/>
          <p:cNvGraphicFramePr/>
          <p:nvPr/>
        </p:nvGraphicFramePr>
        <p:xfrm>
          <a:off x="442913" y="2349500"/>
          <a:ext cx="8356600" cy="3084513"/>
        </p:xfrm>
        <a:graphic>
          <a:graphicData uri="http://schemas.openxmlformats.org/drawingml/2006/table">
            <a:tbl>
              <a:tblPr/>
              <a:tblGrid>
                <a:gridCol w="822325"/>
                <a:gridCol w="1565275"/>
                <a:gridCol w="2070100"/>
                <a:gridCol w="3898900"/>
              </a:tblGrid>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x-none" sz="2000" dirty="0">
                          <a:solidFill>
                            <a:srgbClr val="3333FF"/>
                          </a:solidFill>
                        </a:rPr>
                        <a:t>ATL</a:t>
                      </a:r>
                      <a:endParaRPr lang="en-US" altLang="x-none" sz="2000" dirty="0">
                        <a:solidFill>
                          <a:srgbClr val="3333FF"/>
                        </a:solidFill>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EEC">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x-none" sz="2000" dirty="0">
                          <a:solidFill>
                            <a:srgbClr val="3333FF"/>
                          </a:solidFill>
                        </a:rPr>
                        <a:t>CTL</a:t>
                      </a:r>
                      <a:endParaRPr lang="en-US" altLang="x-none" sz="2000" dirty="0">
                        <a:solidFill>
                          <a:srgbClr val="3333FF"/>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EEC">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a:solidFill>
                            <a:srgbClr val="3333FF"/>
                          </a:solidFill>
                        </a:rPr>
                        <a:t>事务所处状态</a:t>
                      </a:r>
                      <a:endParaRPr lang="zh-CN" altLang="en-US" sz="2000">
                        <a:solidFill>
                          <a:srgbClr val="3333FF"/>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EEC">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a:solidFill>
                            <a:srgbClr val="3333FF"/>
                          </a:solidFill>
                        </a:rPr>
                        <a:t>恢复措施</a:t>
                      </a:r>
                      <a:endParaRPr lang="zh-CN" altLang="en-US" sz="2000">
                        <a:solidFill>
                          <a:srgbClr val="3333FF"/>
                        </a:solidFill>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EEC">
                        <a:alpha val="100000"/>
                      </a:srgbClr>
                    </a:solidFill>
                  </a:tcPr>
                </a:tc>
              </a:tr>
              <a:tr h="16764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dirty="0"/>
                        <a:t>有</a:t>
                      </a:r>
                      <a:r>
                        <a:rPr lang="en-US" altLang="x-none" sz="2000" dirty="0"/>
                        <a:t>TID</a:t>
                      </a:r>
                      <a:endParaRPr lang="en-US" altLang="x-none" sz="2000" dirty="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EEC">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dirty="0"/>
                        <a:t>无</a:t>
                      </a:r>
                      <a:r>
                        <a:rPr lang="en-US" altLang="x-none" sz="2000" dirty="0"/>
                        <a:t>TID</a:t>
                      </a:r>
                      <a:endParaRPr lang="en-US" altLang="x-none" sz="2000" dirty="0"/>
                    </a:p>
                    <a:p>
                      <a:pPr marL="0" lvl="0" indent="0" algn="ctr" eaLnBrk="1" hangingPunct="1">
                        <a:spcBef>
                          <a:spcPct val="20000"/>
                        </a:spcBef>
                        <a:buClr>
                          <a:srgbClr val="000000"/>
                        </a:buClr>
                        <a:buFont typeface="Arial" panose="020B0604020202020204" pitchFamily="34" charset="0"/>
                        <a:buNone/>
                      </a:pPr>
                      <a:r>
                        <a:rPr lang="en-US" altLang="x-none" sz="2000" dirty="0"/>
                        <a:t>(</a:t>
                      </a:r>
                      <a:r>
                        <a:rPr lang="zh-CN" altLang="en-US" sz="2000" dirty="0"/>
                        <a:t>未提交</a:t>
                      </a:r>
                      <a:r>
                        <a:rPr lang="en-US" altLang="x-none" sz="2000" dirty="0"/>
                        <a:t>)</a:t>
                      </a:r>
                      <a:endParaRPr lang="en-US" altLang="x-none" sz="20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EEC">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000" dirty="0"/>
                        <a:t>步骤</a:t>
                      </a:r>
                      <a:r>
                        <a:rPr lang="en-US" altLang="x-none" sz="2000" dirty="0"/>
                        <a:t>1</a:t>
                      </a:r>
                      <a:r>
                        <a:rPr lang="zh-CN" altLang="en-US" sz="2000" dirty="0"/>
                        <a:t>已完成，但步骤</a:t>
                      </a:r>
                      <a:r>
                        <a:rPr lang="en-US" altLang="x-none" sz="2000" dirty="0"/>
                        <a:t>4</a:t>
                      </a:r>
                      <a:r>
                        <a:rPr lang="zh-CN" altLang="en-US" sz="2000" dirty="0"/>
                        <a:t>尚未完成</a:t>
                      </a:r>
                      <a:endParaRPr lang="zh-CN" altLang="en-US" sz="20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EEC">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en-US" altLang="x-none" sz="2000" dirty="0"/>
                        <a:t>① </a:t>
                      </a:r>
                      <a:r>
                        <a:rPr lang="zh-CN" altLang="en-US" sz="2000" dirty="0">
                          <a:sym typeface="+mn-ea"/>
                        </a:rPr>
                        <a:t>若</a:t>
                      </a:r>
                      <a:r>
                        <a:rPr lang="en-US" altLang="x-none" sz="2000" dirty="0">
                          <a:sym typeface="+mn-ea"/>
                        </a:rPr>
                        <a:t>AI</a:t>
                      </a:r>
                      <a:r>
                        <a:rPr lang="en-US" altLang="x-none" sz="2000" dirty="0">
                          <a:sym typeface="Wingdings" panose="05000000000000000000" pitchFamily="2" charset="2"/>
                        </a:rPr>
                        <a:t>DB</a:t>
                      </a:r>
                      <a:r>
                        <a:rPr lang="zh-CN" altLang="en-US" sz="2000" dirty="0">
                          <a:sym typeface="Wingdings" panose="05000000000000000000" pitchFamily="2" charset="2"/>
                        </a:rPr>
                        <a:t>，无须</a:t>
                      </a:r>
                      <a:r>
                        <a:rPr lang="en-US" altLang="x-none" sz="2000" dirty="0">
                          <a:sym typeface="Wingdings" panose="05000000000000000000" pitchFamily="2" charset="2"/>
                        </a:rPr>
                        <a:t>redo,</a:t>
                      </a:r>
                      <a:r>
                        <a:rPr lang="zh-CN" altLang="en-US" sz="2000" dirty="0">
                          <a:sym typeface="Wingdings" panose="05000000000000000000" pitchFamily="2" charset="2"/>
                        </a:rPr>
                        <a:t>直接提交</a:t>
                      </a:r>
                      <a:r>
                        <a:rPr lang="en-US" altLang="x-none" sz="2000" dirty="0">
                          <a:sym typeface="Wingdings" panose="05000000000000000000" pitchFamily="2" charset="2"/>
                        </a:rPr>
                        <a:t>, </a:t>
                      </a:r>
                      <a:r>
                        <a:rPr lang="en-US" altLang="x-none" sz="2000" dirty="0">
                          <a:sym typeface="+mn-ea"/>
                        </a:rPr>
                        <a:t>TID </a:t>
                      </a:r>
                      <a:r>
                        <a:rPr lang="en-US" altLang="x-none" sz="2000" dirty="0">
                          <a:sym typeface="Wingdings" panose="05000000000000000000" pitchFamily="2" charset="2"/>
                        </a:rPr>
                        <a:t></a:t>
                      </a:r>
                      <a:r>
                        <a:rPr lang="en-US" altLang="x-none" sz="2000" dirty="0">
                          <a:sym typeface="+mn-ea"/>
                        </a:rPr>
                        <a:t> CLT;</a:t>
                      </a:r>
                      <a:r>
                        <a:rPr lang="zh-CN" altLang="en-US" sz="2000" dirty="0">
                          <a:sym typeface="+mn-ea"/>
                        </a:rPr>
                        <a:t>从</a:t>
                      </a:r>
                      <a:r>
                        <a:rPr lang="en-US" altLang="x-none" sz="2000" dirty="0">
                          <a:sym typeface="+mn-ea"/>
                        </a:rPr>
                        <a:t>ALT</a:t>
                      </a:r>
                      <a:r>
                        <a:rPr lang="zh-CN" altLang="en-US" sz="2000" dirty="0">
                          <a:sym typeface="+mn-ea"/>
                        </a:rPr>
                        <a:t>删除</a:t>
                      </a:r>
                      <a:r>
                        <a:rPr lang="en-US" altLang="x-none" sz="2000" dirty="0">
                          <a:sym typeface="+mn-ea"/>
                        </a:rPr>
                        <a:t>TID</a:t>
                      </a:r>
                      <a:r>
                        <a:rPr lang="zh-CN" altLang="en-US" sz="2000" dirty="0">
                          <a:sym typeface="+mn-ea"/>
                        </a:rPr>
                        <a:t>。</a:t>
                      </a:r>
                      <a:r>
                        <a:rPr lang="zh-CN" altLang="en-US" sz="2000" dirty="0"/>
                        <a:t>②</a:t>
                      </a:r>
                      <a:r>
                        <a:rPr lang="zh-CN" altLang="en-US" sz="2000" dirty="0">
                          <a:sym typeface="+mn-ea"/>
                        </a:rPr>
                        <a:t>若</a:t>
                      </a:r>
                      <a:r>
                        <a:rPr lang="en-US" altLang="x-none" sz="2000" dirty="0">
                          <a:sym typeface="+mn-ea"/>
                        </a:rPr>
                        <a:t>BI</a:t>
                      </a:r>
                      <a:r>
                        <a:rPr lang="zh-CN" altLang="en-US" sz="2000" dirty="0">
                          <a:sym typeface="+mn-ea"/>
                        </a:rPr>
                        <a:t>已</a:t>
                      </a:r>
                      <a:r>
                        <a:rPr lang="zh-CN" altLang="en-US" sz="2000" dirty="0">
                          <a:sym typeface="Wingdings" panose="05000000000000000000" pitchFamily="2" charset="2"/>
                        </a:rPr>
                        <a:t></a:t>
                      </a:r>
                      <a:r>
                        <a:rPr lang="en-US" altLang="x-none" sz="2000" dirty="0">
                          <a:sym typeface="Wingdings" panose="05000000000000000000" pitchFamily="2" charset="2"/>
                        </a:rPr>
                        <a:t>Log,</a:t>
                      </a:r>
                      <a:r>
                        <a:rPr lang="zh-CN" altLang="en-US" sz="2000" dirty="0">
                          <a:sym typeface="Wingdings" panose="05000000000000000000" pitchFamily="2" charset="2"/>
                        </a:rPr>
                        <a:t>则</a:t>
                      </a:r>
                      <a:r>
                        <a:rPr lang="en-US" altLang="x-none" sz="2000" dirty="0">
                          <a:sym typeface="Wingdings" panose="05000000000000000000" pitchFamily="2" charset="2"/>
                        </a:rPr>
                        <a:t>undo</a:t>
                      </a:r>
                      <a:r>
                        <a:rPr lang="zh-CN" altLang="en-US" sz="2000" dirty="0">
                          <a:sym typeface="Wingdings" panose="05000000000000000000" pitchFamily="2" charset="2"/>
                        </a:rPr>
                        <a:t>；否则勿需</a:t>
                      </a:r>
                      <a:r>
                        <a:rPr lang="en-US" altLang="x-none" sz="2000" dirty="0">
                          <a:sym typeface="Wingdings" panose="05000000000000000000" pitchFamily="2" charset="2"/>
                        </a:rPr>
                        <a:t>undo</a:t>
                      </a:r>
                      <a:r>
                        <a:rPr lang="zh-CN" altLang="en-US" sz="2000" dirty="0">
                          <a:sym typeface="Wingdings" panose="05000000000000000000" pitchFamily="2" charset="2"/>
                        </a:rPr>
                        <a:t>，因为此时对</a:t>
                      </a:r>
                      <a:r>
                        <a:rPr lang="en-US" altLang="x-none" sz="2000" dirty="0">
                          <a:sym typeface="Wingdings" panose="05000000000000000000" pitchFamily="2" charset="2"/>
                        </a:rPr>
                        <a:t>DB</a:t>
                      </a:r>
                      <a:r>
                        <a:rPr lang="zh-CN" altLang="en-US" sz="2000" dirty="0">
                          <a:sym typeface="Wingdings" panose="05000000000000000000" pitchFamily="2" charset="2"/>
                        </a:rPr>
                        <a:t>数据还未更新；</a:t>
                      </a:r>
                      <a:r>
                        <a:rPr lang="zh-CN" altLang="en-US" sz="2000" dirty="0">
                          <a:sym typeface="+mn-ea"/>
                        </a:rPr>
                        <a:t>从</a:t>
                      </a:r>
                      <a:r>
                        <a:rPr lang="en-US" altLang="x-none" sz="2000" dirty="0">
                          <a:sym typeface="+mn-ea"/>
                        </a:rPr>
                        <a:t>ALT</a:t>
                      </a:r>
                      <a:r>
                        <a:rPr lang="zh-CN" altLang="en-US" sz="2000" dirty="0">
                          <a:sym typeface="+mn-ea"/>
                        </a:rPr>
                        <a:t>删除</a:t>
                      </a:r>
                      <a:r>
                        <a:rPr lang="en-US" altLang="x-none" sz="2000" dirty="0">
                          <a:sym typeface="+mn-ea"/>
                        </a:rPr>
                        <a:t>TID</a:t>
                      </a:r>
                      <a:r>
                        <a:rPr lang="zh-CN" altLang="en-US" sz="2000" dirty="0">
                          <a:sym typeface="+mn-ea"/>
                        </a:rPr>
                        <a:t>。</a:t>
                      </a:r>
                      <a:endParaRPr lang="zh-CN" altLang="en-US" sz="2000"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EEC">
                        <a:alpha val="100000"/>
                      </a:srgbClr>
                    </a:solidFill>
                  </a:tcPr>
                </a:tc>
              </a:tr>
              <a:tr h="49371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a:t>有</a:t>
                      </a:r>
                      <a:endParaRPr lang="zh-CN" altLang="en-US" sz="200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EEC">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2000" dirty="0"/>
                        <a:t>有</a:t>
                      </a:r>
                      <a:r>
                        <a:rPr lang="en-US" altLang="x-none" sz="2000" dirty="0"/>
                        <a:t>(</a:t>
                      </a:r>
                      <a:r>
                        <a:rPr lang="zh-CN" altLang="en-US" sz="2000" dirty="0"/>
                        <a:t>已提交</a:t>
                      </a:r>
                      <a:r>
                        <a:rPr lang="en-US" altLang="x-none" sz="2000" dirty="0"/>
                        <a:t>)</a:t>
                      </a:r>
                      <a:endParaRPr lang="en-US" altLang="x-none" sz="20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EEC">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000" dirty="0"/>
                        <a:t>步骤</a:t>
                      </a:r>
                      <a:r>
                        <a:rPr lang="en-US" altLang="x-none" sz="2000" dirty="0"/>
                        <a:t>4</a:t>
                      </a:r>
                      <a:r>
                        <a:rPr lang="zh-CN" altLang="en-US" sz="2000" dirty="0"/>
                        <a:t>已完成</a:t>
                      </a:r>
                      <a:endParaRPr lang="zh-CN" altLang="en-US" sz="20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EEC">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000" dirty="0"/>
                        <a:t>从</a:t>
                      </a:r>
                      <a:r>
                        <a:rPr lang="en-US" altLang="x-none" sz="2000" dirty="0"/>
                        <a:t>ALT</a:t>
                      </a:r>
                      <a:r>
                        <a:rPr lang="zh-CN" altLang="en-US" sz="2000" dirty="0"/>
                        <a:t>删除</a:t>
                      </a:r>
                      <a:r>
                        <a:rPr lang="en-US" altLang="x-none" sz="2000" dirty="0"/>
                        <a:t>TID</a:t>
                      </a:r>
                      <a:endParaRPr lang="en-US" altLang="x-none" sz="2000"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EEC">
                        <a:alpha val="100000"/>
                      </a:srgbClr>
                    </a:solidFill>
                  </a:tcPr>
                </a:tc>
              </a:tr>
              <a:tr h="51752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a:t>无</a:t>
                      </a:r>
                      <a:endParaRPr lang="zh-CN" altLang="en-US" sz="200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DFEEC">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2000" dirty="0"/>
                        <a:t>有</a:t>
                      </a:r>
                      <a:r>
                        <a:rPr lang="en-US" altLang="x-none" sz="2000" dirty="0"/>
                        <a:t>(</a:t>
                      </a:r>
                      <a:r>
                        <a:rPr lang="zh-CN" altLang="en-US" sz="2000" dirty="0"/>
                        <a:t>已提交</a:t>
                      </a:r>
                      <a:r>
                        <a:rPr lang="en-US" altLang="x-none" sz="2000" dirty="0"/>
                        <a:t>)</a:t>
                      </a:r>
                      <a:endParaRPr lang="en-US" altLang="x-none" sz="20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DFEEC">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000" dirty="0"/>
                        <a:t>步骤</a:t>
                      </a:r>
                      <a:r>
                        <a:rPr lang="en-US" altLang="x-none" sz="2000" dirty="0"/>
                        <a:t>5</a:t>
                      </a:r>
                      <a:r>
                        <a:rPr lang="zh-CN" altLang="en-US" sz="2000" dirty="0"/>
                        <a:t>已完成</a:t>
                      </a:r>
                      <a:endParaRPr lang="zh-CN" altLang="en-US" sz="20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DFEEC">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000">
                          <a:sym typeface="Wingdings" panose="05000000000000000000" pitchFamily="2" charset="2"/>
                        </a:rPr>
                        <a:t>勿需处理</a:t>
                      </a:r>
                      <a:endParaRPr lang="zh-CN" altLang="en-US" sz="2000">
                        <a:sym typeface="Wingdings" panose="05000000000000000000" pitchFamily="2" charset="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DFEEC">
                        <a:alpha val="100000"/>
                      </a:srgbClr>
                    </a:solidFill>
                  </a:tcPr>
                </a:tc>
              </a:tr>
            </a:tbl>
          </a:graphicData>
        </a:graphic>
      </p:graphicFrame>
      <p:sp>
        <p:nvSpPr>
          <p:cNvPr id="79903" name="Text Box 32"/>
          <p:cNvSpPr txBox="1"/>
          <p:nvPr/>
        </p:nvSpPr>
        <p:spPr>
          <a:xfrm>
            <a:off x="452438" y="5505450"/>
            <a:ext cx="8208962" cy="708025"/>
          </a:xfrm>
          <a:prstGeom prst="rect">
            <a:avLst/>
          </a:prstGeom>
          <a:noFill/>
          <a:ln w="9525">
            <a:noFill/>
          </a:ln>
        </p:spPr>
        <p:txBody>
          <a:bodyPr anchor="t">
            <a:spAutoFit/>
          </a:bodyPr>
          <a:lstStyle/>
          <a:p>
            <a:pPr lvl="0" indent="0"/>
            <a:r>
              <a:rPr lang="zh-CN" altLang="en-US" sz="2000" dirty="0">
                <a:latin typeface="华文楷体" panose="02010600040101010101" pitchFamily="2" charset="-122"/>
                <a:ea typeface="华文楷体" panose="02010600040101010101" pitchFamily="2" charset="-122"/>
              </a:rPr>
              <a:t>表中，“有”与“无”</a:t>
            </a:r>
            <a:r>
              <a:rPr lang="en-US" altLang="x-none" sz="2000" dirty="0">
                <a:latin typeface="华文楷体" panose="02010600040101010101" pitchFamily="2" charset="-122"/>
                <a:ea typeface="华文楷体" panose="02010600040101010101" pitchFamily="2" charset="-122"/>
              </a:rPr>
              <a:t>,</a:t>
            </a:r>
            <a:r>
              <a:rPr lang="zh-CN" altLang="en-US" sz="2000" dirty="0">
                <a:latin typeface="华文楷体" panose="02010600040101010101" pitchFamily="2" charset="-122"/>
                <a:ea typeface="华文楷体" panose="02010600040101010101" pitchFamily="2" charset="-122"/>
              </a:rPr>
              <a:t>表示事务标识符</a:t>
            </a:r>
            <a:r>
              <a:rPr lang="en-US" altLang="x-none" sz="2000" dirty="0">
                <a:latin typeface="华文楷体" panose="02010600040101010101" pitchFamily="2" charset="-122"/>
                <a:ea typeface="华文楷体" panose="02010600040101010101" pitchFamily="2" charset="-122"/>
              </a:rPr>
              <a:t>TID</a:t>
            </a:r>
            <a:r>
              <a:rPr lang="zh-CN" altLang="en-US" sz="2000" dirty="0">
                <a:latin typeface="华文楷体" panose="02010600040101010101" pitchFamily="2" charset="-122"/>
                <a:ea typeface="华文楷体" panose="02010600040101010101" pitchFamily="2" charset="-122"/>
              </a:rPr>
              <a:t>是否在</a:t>
            </a:r>
            <a:r>
              <a:rPr lang="en-US" altLang="x-none" sz="2000" dirty="0">
                <a:latin typeface="华文楷体" panose="02010600040101010101" pitchFamily="2" charset="-122"/>
                <a:ea typeface="华文楷体" panose="02010600040101010101" pitchFamily="2" charset="-122"/>
              </a:rPr>
              <a:t>ATL</a:t>
            </a:r>
            <a:r>
              <a:rPr lang="zh-CN" altLang="en-US" sz="2000" dirty="0">
                <a:latin typeface="华文楷体" panose="02010600040101010101" pitchFamily="2" charset="-122"/>
                <a:ea typeface="华文楷体" panose="02010600040101010101" pitchFamily="2" charset="-122"/>
              </a:rPr>
              <a:t>或</a:t>
            </a:r>
            <a:r>
              <a:rPr lang="en-US" altLang="x-none" sz="2000" dirty="0">
                <a:latin typeface="华文楷体" panose="02010600040101010101" pitchFamily="2" charset="-122"/>
                <a:ea typeface="华文楷体" panose="02010600040101010101" pitchFamily="2" charset="-122"/>
              </a:rPr>
              <a:t>CTL</a:t>
            </a:r>
            <a:r>
              <a:rPr lang="zh-CN" altLang="en-US" sz="2000" dirty="0">
                <a:latin typeface="华文楷体" panose="02010600040101010101" pitchFamily="2" charset="-122"/>
                <a:ea typeface="华文楷体" panose="02010600040101010101" pitchFamily="2" charset="-122"/>
              </a:rPr>
              <a:t>表中。</a:t>
            </a:r>
            <a:endParaRPr lang="zh-CN" altLang="en-US" sz="2000" dirty="0">
              <a:latin typeface="华文楷体" panose="02010600040101010101" pitchFamily="2" charset="-122"/>
              <a:ea typeface="华文楷体" panose="02010600040101010101" pitchFamily="2" charset="-122"/>
            </a:endParaRPr>
          </a:p>
          <a:p>
            <a:pPr lvl="0" indent="0"/>
            <a:r>
              <a:rPr lang="en-US" altLang="x-none" sz="2000" dirty="0">
                <a:latin typeface="华文楷体" panose="02010600040101010101" pitchFamily="2" charset="-122"/>
                <a:ea typeface="华文楷体" panose="02010600040101010101" pitchFamily="2" charset="-122"/>
              </a:rPr>
              <a:t>CTL</a:t>
            </a:r>
            <a:r>
              <a:rPr lang="zh-CN" altLang="en-US" sz="2000" dirty="0">
                <a:latin typeface="华文楷体" panose="02010600040101010101" pitchFamily="2" charset="-122"/>
                <a:ea typeface="华文楷体" panose="02010600040101010101" pitchFamily="2" charset="-122"/>
              </a:rPr>
              <a:t>表中的“有”与“无”</a:t>
            </a:r>
            <a:r>
              <a:rPr lang="en-US" altLang="x-none" sz="2000" dirty="0">
                <a:latin typeface="华文楷体" panose="02010600040101010101" pitchFamily="2" charset="-122"/>
                <a:ea typeface="华文楷体" panose="02010600040101010101" pitchFamily="2" charset="-122"/>
              </a:rPr>
              <a:t>,</a:t>
            </a:r>
            <a:r>
              <a:rPr lang="zh-CN" altLang="en-US" sz="2000" dirty="0">
                <a:latin typeface="华文楷体" panose="02010600040101010101" pitchFamily="2" charset="-122"/>
                <a:ea typeface="华文楷体" panose="02010600040101010101" pitchFamily="2" charset="-122"/>
              </a:rPr>
              <a:t>表示事务“已提交”与“未提交”</a:t>
            </a:r>
            <a:r>
              <a:rPr lang="zh-CN" altLang="en-US" sz="2000" dirty="0">
                <a:solidFill>
                  <a:srgbClr val="0000CC"/>
                </a:solidFill>
                <a:latin typeface="宋体" panose="02010600030101010101" pitchFamily="2" charset="-122"/>
                <a:ea typeface="宋体" panose="02010600030101010101" pitchFamily="2" charset="-122"/>
              </a:rPr>
              <a:t> </a:t>
            </a:r>
            <a:endParaRPr lang="zh-CN" altLang="en-US" sz="2000" dirty="0">
              <a:solidFill>
                <a:srgbClr val="0000CC"/>
              </a:solidFill>
              <a:latin typeface="宋体" panose="02010600030101010101" pitchFamily="2" charset="-122"/>
              <a:ea typeface="宋体" panose="02010600030101010101" pitchFamily="2" charset="-122"/>
            </a:endParaRPr>
          </a:p>
        </p:txBody>
      </p:sp>
      <p:sp>
        <p:nvSpPr>
          <p:cNvPr id="79904" name="Text Box 3"/>
          <p:cNvSpPr txBox="1"/>
          <p:nvPr/>
        </p:nvSpPr>
        <p:spPr>
          <a:xfrm>
            <a:off x="1804988" y="1325563"/>
            <a:ext cx="5641975" cy="461962"/>
          </a:xfrm>
          <a:prstGeom prst="rect">
            <a:avLst/>
          </a:prstGeom>
          <a:noFill/>
          <a:ln w="9525">
            <a:noFill/>
          </a:ln>
        </p:spPr>
        <p:txBody>
          <a:bodyPr anchor="t">
            <a:spAutoFit/>
          </a:bodyPr>
          <a:lstStyle/>
          <a:p>
            <a:pPr lvl="0" indent="0">
              <a:spcBef>
                <a:spcPct val="50000"/>
              </a:spcBef>
            </a:pPr>
            <a:r>
              <a:rPr lang="zh-CN" altLang="en-US" sz="2400" dirty="0">
                <a:solidFill>
                  <a:srgbClr val="0000CC"/>
                </a:solidFill>
                <a:latin typeface="宋体" panose="02010600030101010101" pitchFamily="2" charset="-122"/>
                <a:ea typeface="宋体" panose="02010600030101010101" pitchFamily="2" charset="-122"/>
                <a:sym typeface="Wingdings" panose="05000000000000000000" pitchFamily="2" charset="2"/>
              </a:rPr>
              <a:t>方案一中发生故障时的事务恢复措施</a:t>
            </a:r>
            <a:endParaRPr lang="zh-CN" altLang="en-US" sz="2400" dirty="0">
              <a:solidFill>
                <a:srgbClr val="0000CC"/>
              </a:solidFill>
              <a:latin typeface="宋体" panose="02010600030101010101" pitchFamily="2" charset="-122"/>
              <a:ea typeface="宋体" panose="02010600030101010101" pitchFamily="2" charset="-122"/>
              <a:sym typeface="Wingdings" panose="05000000000000000000" pitchFamily="2" charset="2"/>
            </a:endParaRPr>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7"/>
          <p:cNvSpPr/>
          <p:nvPr/>
        </p:nvSpPr>
        <p:spPr>
          <a:xfrm>
            <a:off x="454025" y="728663"/>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4</a:t>
            </a:r>
            <a:r>
              <a:rPr lang="zh-CN" altLang="en-US" sz="2800" dirty="0">
                <a:solidFill>
                  <a:srgbClr val="FF0000"/>
                </a:solidFill>
                <a:latin typeface="黑体" panose="02010609060101010101" pitchFamily="1" charset="-122"/>
                <a:ea typeface="黑体" panose="02010609060101010101" pitchFamily="1" charset="-122"/>
              </a:rPr>
              <a:t>、</a:t>
            </a:r>
            <a:r>
              <a:rPr lang="en-US" altLang="x-none" sz="2800" dirty="0">
                <a:solidFill>
                  <a:srgbClr val="FF0000"/>
                </a:solidFill>
                <a:latin typeface="黑体" panose="02010609060101010101" pitchFamily="1" charset="-122"/>
                <a:ea typeface="黑体" panose="02010609060101010101" pitchFamily="1" charset="-122"/>
              </a:rPr>
              <a:t>DBMS</a:t>
            </a:r>
            <a:r>
              <a:rPr lang="zh-CN" altLang="en-US" sz="2800" dirty="0">
                <a:solidFill>
                  <a:srgbClr val="FF0000"/>
                </a:solidFill>
                <a:latin typeface="黑体" panose="02010609060101010101" pitchFamily="1" charset="-122"/>
                <a:ea typeface="黑体" panose="02010609060101010101" pitchFamily="1" charset="-122"/>
              </a:rPr>
              <a:t>围绕更新事务的工作</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80898"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四、数据库的故障恢复技术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80899" name="Rectangle 4"/>
          <p:cNvSpPr txBox="1"/>
          <p:nvPr/>
        </p:nvSpPr>
        <p:spPr>
          <a:xfrm>
            <a:off x="546100" y="1836738"/>
            <a:ext cx="8137525" cy="757237"/>
          </a:xfrm>
          <a:prstGeom prst="rect">
            <a:avLst/>
          </a:prstGeom>
          <a:noFill/>
          <a:ln w="9525">
            <a:noFill/>
          </a:ln>
        </p:spPr>
        <p:txBody>
          <a:bodyPr anchor="t"/>
          <a:lstStyle/>
          <a:p>
            <a:pPr marL="342900" lvl="0" indent="-342900" algn="ctr" eaLnBrk="0" hangingPunct="0">
              <a:spcBef>
                <a:spcPct val="50000"/>
              </a:spcBef>
              <a:buClr>
                <a:srgbClr val="0033CC"/>
              </a:buClr>
              <a:buSzPct val="80000"/>
            </a:pPr>
            <a:r>
              <a:rPr lang="zh-CN" altLang="en-US" sz="2400" dirty="0">
                <a:solidFill>
                  <a:srgbClr val="0000CC"/>
                </a:solidFill>
                <a:latin typeface="宋体" panose="02010600030101010101" pitchFamily="2" charset="-122"/>
                <a:ea typeface="宋体" panose="02010600030101010101" pitchFamily="2" charset="-122"/>
                <a:sym typeface="Wingdings" panose="05000000000000000000" pitchFamily="2" charset="2"/>
              </a:rPr>
              <a:t>方案</a:t>
            </a:r>
            <a:r>
              <a:rPr lang="en-US" altLang="x-none" sz="2400" dirty="0">
                <a:solidFill>
                  <a:srgbClr val="0000CC"/>
                </a:solidFill>
                <a:latin typeface="宋体" panose="02010600030101010101" pitchFamily="2" charset="-122"/>
                <a:ea typeface="宋体" panose="02010600030101010101" pitchFamily="2" charset="-122"/>
                <a:sym typeface="Wingdings" panose="05000000000000000000" pitchFamily="2" charset="2"/>
              </a:rPr>
              <a:t>2</a:t>
            </a:r>
            <a:r>
              <a:rPr lang="zh-CN" altLang="en-US" sz="2400" dirty="0">
                <a:solidFill>
                  <a:srgbClr val="0000CC"/>
                </a:solidFill>
                <a:latin typeface="宋体" panose="02010600030101010101" pitchFamily="2" charset="-122"/>
                <a:ea typeface="宋体" panose="02010600030101010101" pitchFamily="2" charset="-122"/>
                <a:sym typeface="Wingdings" panose="05000000000000000000" pitchFamily="2" charset="2"/>
              </a:rPr>
              <a:t>：后像在事务提交后才写入</a:t>
            </a:r>
            <a:r>
              <a:rPr lang="en-US" altLang="x-none" sz="2400" dirty="0">
                <a:solidFill>
                  <a:srgbClr val="0000CC"/>
                </a:solidFill>
                <a:latin typeface="宋体" panose="02010600030101010101" pitchFamily="2" charset="-122"/>
                <a:ea typeface="宋体" panose="02010600030101010101" pitchFamily="2" charset="-122"/>
                <a:sym typeface="Wingdings" panose="05000000000000000000" pitchFamily="2" charset="2"/>
              </a:rPr>
              <a:t>DB</a:t>
            </a:r>
            <a:endParaRPr lang="en-US" altLang="x-none" sz="2400" dirty="0">
              <a:solidFill>
                <a:srgbClr val="0000CC"/>
              </a:solidFill>
              <a:latin typeface="宋体" panose="02010600030101010101" pitchFamily="2" charset="-122"/>
              <a:ea typeface="宋体" panose="02010600030101010101" pitchFamily="2" charset="-122"/>
              <a:sym typeface="Wingdings" panose="05000000000000000000" pitchFamily="2" charset="2"/>
            </a:endParaRPr>
          </a:p>
        </p:txBody>
      </p:sp>
      <p:graphicFrame>
        <p:nvGraphicFramePr>
          <p:cNvPr id="83973" name="表格 83972"/>
          <p:cNvGraphicFramePr/>
          <p:nvPr/>
        </p:nvGraphicFramePr>
        <p:xfrm>
          <a:off x="533400" y="2341563"/>
          <a:ext cx="8318500" cy="3889375"/>
        </p:xfrm>
        <a:graphic>
          <a:graphicData uri="http://schemas.openxmlformats.org/drawingml/2006/table">
            <a:tbl>
              <a:tblPr/>
              <a:tblGrid>
                <a:gridCol w="1881188"/>
                <a:gridCol w="6437312"/>
              </a:tblGrid>
              <a:tr h="4889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2200">
                          <a:ea typeface="Times New Roman" panose="02020603050405020304" pitchFamily="2" charset="0"/>
                        </a:rPr>
                        <a:t>事务执行状态</a:t>
                      </a:r>
                      <a:endParaRPr lang="zh-CN" altLang="en-US" sz="2200">
                        <a:ea typeface="Times New Roman" panose="02020603050405020304" pitchFamily="2" charset="0"/>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254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en-US" altLang="x-none" sz="2200" dirty="0">
                          <a:ea typeface="Times New Roman" panose="02020603050405020304" pitchFamily="2" charset="0"/>
                        </a:rPr>
                        <a:t>DBMS</a:t>
                      </a:r>
                      <a:r>
                        <a:rPr lang="zh-CN" altLang="en-US" sz="2200" dirty="0">
                          <a:ea typeface="Times New Roman" panose="02020603050405020304" pitchFamily="2" charset="0"/>
                        </a:rPr>
                        <a:t>应做的工作</a:t>
                      </a:r>
                      <a:endParaRPr lang="zh-CN" altLang="en-US" sz="2200" dirty="0">
                        <a:ea typeface="Times New Roman" panose="02020603050405020304" pitchFamily="2" charset="0"/>
                      </a:endParaRP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254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73183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2200">
                          <a:ea typeface="Times New Roman" panose="02020603050405020304" pitchFamily="2" charset="0"/>
                        </a:rPr>
                        <a:t>开始状态</a:t>
                      </a:r>
                      <a:endParaRPr lang="zh-CN" altLang="en-US" sz="2200">
                        <a:ea typeface="Times New Roman" panose="02020603050405020304" pitchFamily="2" charset="0"/>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136900" lvl="0" indent="-3136900" eaLnBrk="1" hangingPunct="1">
                        <a:spcBef>
                          <a:spcPct val="0"/>
                        </a:spcBef>
                        <a:buClr>
                          <a:srgbClr val="000000"/>
                        </a:buClr>
                        <a:buFont typeface="Arial" panose="020B0604020202020204" pitchFamily="34" charset="0"/>
                        <a:buNone/>
                      </a:pPr>
                      <a:r>
                        <a:rPr lang="zh-CN" altLang="en-US" sz="2200" dirty="0">
                          <a:ea typeface="Times New Roman" panose="02020603050405020304" pitchFamily="2" charset="0"/>
                        </a:rPr>
                        <a:t>步骤</a:t>
                      </a:r>
                      <a:r>
                        <a:rPr lang="en-US" altLang="x-none" sz="2200" dirty="0">
                          <a:ea typeface="Times New Roman" panose="02020603050405020304" pitchFamily="2" charset="0"/>
                        </a:rPr>
                        <a:t>1</a:t>
                      </a:r>
                      <a:r>
                        <a:rPr lang="zh-CN" altLang="en-US" sz="2200" dirty="0">
                          <a:ea typeface="Times New Roman" panose="02020603050405020304" pitchFamily="2" charset="0"/>
                        </a:rPr>
                        <a:t>：</a:t>
                      </a:r>
                      <a:r>
                        <a:rPr lang="en-US" altLang="x-none" sz="2200" dirty="0">
                          <a:ea typeface="Times New Roman" panose="02020603050405020304" pitchFamily="2" charset="0"/>
                        </a:rPr>
                        <a:t>TID → ATL  </a:t>
                      </a:r>
                      <a:r>
                        <a:rPr lang="en-US" altLang="x-none" sz="2000" dirty="0">
                          <a:ea typeface="Times New Roman" panose="02020603050405020304" pitchFamily="2" charset="0"/>
                        </a:rPr>
                        <a:t>/* </a:t>
                      </a:r>
                      <a:r>
                        <a:rPr lang="zh-CN" altLang="en-US" sz="2000" dirty="0">
                          <a:ea typeface="Times New Roman" panose="02020603050405020304" pitchFamily="2" charset="0"/>
                        </a:rPr>
                        <a:t>将事务的</a:t>
                      </a:r>
                      <a:r>
                        <a:rPr lang="en-US" altLang="x-none" sz="2000" dirty="0">
                          <a:ea typeface="Times New Roman" panose="02020603050405020304" pitchFamily="2" charset="0"/>
                        </a:rPr>
                        <a:t>TID</a:t>
                      </a:r>
                      <a:r>
                        <a:rPr lang="zh-CN" altLang="en-US" sz="2000" dirty="0">
                          <a:ea typeface="Times New Roman" panose="02020603050405020304" pitchFamily="2" charset="0"/>
                        </a:rPr>
                        <a:t>记入日志的   </a:t>
                      </a:r>
                      <a:r>
                        <a:rPr lang="en-US" altLang="x-none" sz="2000" dirty="0">
                          <a:ea typeface="Times New Roman" panose="02020603050405020304" pitchFamily="2" charset="0"/>
                        </a:rPr>
                        <a:t>ATL */</a:t>
                      </a:r>
                      <a:endParaRPr lang="en-US" altLang="x-none" sz="2000" dirty="0">
                        <a:ea typeface="Times New Roman" panose="02020603050405020304" pitchFamily="2" charset="0"/>
                      </a:endParaRPr>
                    </a:p>
                  </a:txBody>
                  <a:tcPr marL="36000" marR="36000">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77628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2200">
                          <a:ea typeface="Times New Roman" panose="02020603050405020304" pitchFamily="2" charset="0"/>
                        </a:rPr>
                        <a:t>事务内的操作执行状态</a:t>
                      </a:r>
                      <a:endParaRPr lang="zh-CN" altLang="en-US" sz="2200">
                        <a:ea typeface="Times New Roman" panose="02020603050405020304" pitchFamily="2" charset="0"/>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2200">
                          <a:ea typeface="Times New Roman" panose="02020603050405020304" pitchFamily="2" charset="0"/>
                        </a:rPr>
                        <a:t>无</a:t>
                      </a:r>
                      <a:endParaRPr lang="zh-CN" altLang="en-US" sz="2200">
                        <a:ea typeface="Times New Roman" panose="02020603050405020304" pitchFamily="2" charset="0"/>
                      </a:endParaRP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857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2200">
                          <a:ea typeface="Times New Roman" panose="02020603050405020304" pitchFamily="2" charset="0"/>
                        </a:rPr>
                        <a:t>提交前</a:t>
                      </a:r>
                      <a:endParaRPr lang="zh-CN" altLang="en-US" sz="2200">
                        <a:ea typeface="Times New Roman" panose="02020603050405020304" pitchFamily="2" charset="0"/>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2200" dirty="0">
                          <a:ea typeface="Times New Roman" panose="02020603050405020304" pitchFamily="2" charset="0"/>
                        </a:rPr>
                        <a:t>步骤</a:t>
                      </a:r>
                      <a:r>
                        <a:rPr lang="en-US" altLang="x-none" sz="2200" dirty="0">
                          <a:ea typeface="Times New Roman" panose="02020603050405020304" pitchFamily="2" charset="0"/>
                        </a:rPr>
                        <a:t>2</a:t>
                      </a:r>
                      <a:r>
                        <a:rPr lang="zh-CN" altLang="en-US" sz="2200" dirty="0">
                          <a:ea typeface="Times New Roman" panose="02020603050405020304" pitchFamily="2" charset="0"/>
                        </a:rPr>
                        <a:t>：</a:t>
                      </a:r>
                      <a:r>
                        <a:rPr lang="en-US" altLang="x-none" sz="2200" dirty="0">
                          <a:ea typeface="Times New Roman" panose="02020603050405020304" pitchFamily="2" charset="0"/>
                        </a:rPr>
                        <a:t>AI → Log    </a:t>
                      </a:r>
                      <a:r>
                        <a:rPr lang="en-US" altLang="x-none" sz="2000" dirty="0">
                          <a:ea typeface="Times New Roman" panose="02020603050405020304" pitchFamily="2" charset="0"/>
                        </a:rPr>
                        <a:t>/* </a:t>
                      </a:r>
                      <a:r>
                        <a:rPr lang="zh-CN" altLang="en-US" sz="2000" dirty="0">
                          <a:ea typeface="Times New Roman" panose="02020603050405020304" pitchFamily="2" charset="0"/>
                        </a:rPr>
                        <a:t>遵循提交规则的要求 *</a:t>
                      </a:r>
                      <a:r>
                        <a:rPr lang="en-US" altLang="x-none" sz="2000" dirty="0">
                          <a:ea typeface="Times New Roman" panose="02020603050405020304" pitchFamily="2" charset="0"/>
                        </a:rPr>
                        <a:t>/</a:t>
                      </a:r>
                      <a:endParaRPr lang="en-US" altLang="x-none" sz="2000" dirty="0">
                        <a:ea typeface="Times New Roman" panose="02020603050405020304" pitchFamily="2" charset="0"/>
                      </a:endParaRP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889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2200">
                          <a:ea typeface="Times New Roman" panose="02020603050405020304" pitchFamily="2" charset="0"/>
                        </a:rPr>
                        <a:t>提交状态</a:t>
                      </a:r>
                      <a:endParaRPr lang="zh-CN" altLang="en-US" sz="2200">
                        <a:ea typeface="Times New Roman" panose="02020603050405020304" pitchFamily="2" charset="0"/>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2200" dirty="0">
                          <a:ea typeface="Times New Roman" panose="02020603050405020304" pitchFamily="2" charset="0"/>
                        </a:rPr>
                        <a:t>步骤</a:t>
                      </a:r>
                      <a:r>
                        <a:rPr lang="en-US" altLang="x-none" sz="2200" dirty="0">
                          <a:ea typeface="Times New Roman" panose="02020603050405020304" pitchFamily="2" charset="0"/>
                        </a:rPr>
                        <a:t>3</a:t>
                      </a:r>
                      <a:r>
                        <a:rPr lang="zh-CN" altLang="en-US" sz="2200" dirty="0">
                          <a:ea typeface="Times New Roman" panose="02020603050405020304" pitchFamily="2" charset="0"/>
                        </a:rPr>
                        <a:t>：</a:t>
                      </a:r>
                      <a:r>
                        <a:rPr lang="en-US" altLang="x-none" sz="2200" dirty="0">
                          <a:ea typeface="Times New Roman" panose="02020603050405020304" pitchFamily="2" charset="0"/>
                        </a:rPr>
                        <a:t>TID → CTL  /* </a:t>
                      </a:r>
                      <a:r>
                        <a:rPr lang="zh-CN" altLang="en-US" sz="2200" dirty="0">
                          <a:ea typeface="Times New Roman" panose="02020603050405020304" pitchFamily="2" charset="0"/>
                        </a:rPr>
                        <a:t>提交更新事务 *</a:t>
                      </a:r>
                      <a:r>
                        <a:rPr lang="en-US" altLang="x-none" sz="2200" dirty="0">
                          <a:ea typeface="Times New Roman" panose="02020603050405020304" pitchFamily="2" charset="0"/>
                        </a:rPr>
                        <a:t>/</a:t>
                      </a:r>
                      <a:endParaRPr lang="en-US" altLang="x-none" sz="2200" dirty="0">
                        <a:ea typeface="Times New Roman" panose="02020603050405020304" pitchFamily="2" charset="0"/>
                      </a:endParaRP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33388">
                <a:tc rowSpan="2">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2200">
                          <a:ea typeface="Times New Roman" panose="02020603050405020304" pitchFamily="2" charset="0"/>
                        </a:rPr>
                        <a:t>提交后</a:t>
                      </a:r>
                      <a:endParaRPr lang="zh-CN" altLang="en-US" sz="2200">
                        <a:ea typeface="Times New Roman" panose="02020603050405020304" pitchFamily="2" charset="0"/>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54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2200" dirty="0">
                          <a:ea typeface="Times New Roman" panose="02020603050405020304" pitchFamily="2" charset="0"/>
                        </a:rPr>
                        <a:t>步骤</a:t>
                      </a:r>
                      <a:r>
                        <a:rPr lang="en-US" altLang="x-none" sz="2200" dirty="0">
                          <a:ea typeface="Times New Roman" panose="02020603050405020304" pitchFamily="2" charset="0"/>
                        </a:rPr>
                        <a:t>4</a:t>
                      </a:r>
                      <a:r>
                        <a:rPr lang="zh-CN" altLang="en-US" sz="2200" dirty="0">
                          <a:ea typeface="Times New Roman" panose="02020603050405020304" pitchFamily="2" charset="0"/>
                        </a:rPr>
                        <a:t>：</a:t>
                      </a:r>
                      <a:r>
                        <a:rPr lang="en-US" altLang="x-none" sz="2200" dirty="0">
                          <a:ea typeface="Times New Roman" panose="02020603050405020304" pitchFamily="2" charset="0"/>
                        </a:rPr>
                        <a:t>AI → DB    /* </a:t>
                      </a:r>
                      <a:r>
                        <a:rPr lang="zh-CN" altLang="en-US" sz="2200" dirty="0">
                          <a:ea typeface="Times New Roman" panose="02020603050405020304" pitchFamily="2" charset="0"/>
                        </a:rPr>
                        <a:t>本方案的要求 *</a:t>
                      </a:r>
                      <a:r>
                        <a:rPr lang="en-US" altLang="x-none" sz="2200" dirty="0">
                          <a:ea typeface="Times New Roman" panose="02020603050405020304" pitchFamily="2" charset="0"/>
                        </a:rPr>
                        <a:t>/</a:t>
                      </a:r>
                      <a:endParaRPr lang="en-US" altLang="x-none" sz="2200" dirty="0">
                        <a:ea typeface="Times New Roman" panose="02020603050405020304" pitchFamily="2" charset="0"/>
                      </a:endParaRP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84187">
                <a:tc vMerge="1">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25400" cap="flat" cmpd="sng">
                      <a:solidFill>
                        <a:srgbClr val="000000"/>
                      </a:solidFill>
                      <a:prstDash val="solid"/>
                      <a:headEnd type="none" w="med" len="med"/>
                      <a:tailEnd type="none" w="med" len="med"/>
                    </a:lnB>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2200" dirty="0">
                          <a:ea typeface="Times New Roman" panose="02020603050405020304" pitchFamily="2" charset="0"/>
                        </a:rPr>
                        <a:t>步骤</a:t>
                      </a:r>
                      <a:r>
                        <a:rPr lang="en-US" altLang="x-none" sz="2200" dirty="0">
                          <a:ea typeface="Times New Roman" panose="02020603050405020304" pitchFamily="2" charset="0"/>
                        </a:rPr>
                        <a:t>5</a:t>
                      </a:r>
                      <a:r>
                        <a:rPr lang="zh-CN" altLang="en-US" sz="2200" dirty="0">
                          <a:ea typeface="Times New Roman" panose="02020603050405020304" pitchFamily="2" charset="0"/>
                        </a:rPr>
                        <a:t>：从</a:t>
                      </a:r>
                      <a:r>
                        <a:rPr lang="en-US" altLang="x-none" sz="2200" dirty="0">
                          <a:ea typeface="Times New Roman" panose="02020603050405020304" pitchFamily="2" charset="0"/>
                        </a:rPr>
                        <a:t>ATL</a:t>
                      </a:r>
                      <a:r>
                        <a:rPr lang="zh-CN" altLang="en-US" sz="2200" dirty="0">
                          <a:ea typeface="Times New Roman" panose="02020603050405020304" pitchFamily="2" charset="0"/>
                        </a:rPr>
                        <a:t>删除</a:t>
                      </a:r>
                      <a:r>
                        <a:rPr lang="en-US" altLang="x-none" sz="2200" dirty="0">
                          <a:ea typeface="Times New Roman" panose="02020603050405020304" pitchFamily="2" charset="0"/>
                        </a:rPr>
                        <a:t>TID</a:t>
                      </a:r>
                      <a:endParaRPr lang="en-US" altLang="x-none" sz="2200" dirty="0">
                        <a:ea typeface="Times New Roman" panose="02020603050405020304" pitchFamily="2"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540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80926" name="Text Box 3"/>
          <p:cNvSpPr txBox="1"/>
          <p:nvPr/>
        </p:nvSpPr>
        <p:spPr>
          <a:xfrm>
            <a:off x="487363" y="1320800"/>
            <a:ext cx="8497887" cy="492125"/>
          </a:xfrm>
          <a:prstGeom prst="rect">
            <a:avLst/>
          </a:prstGeom>
          <a:noFill/>
          <a:ln w="9525">
            <a:noFill/>
          </a:ln>
        </p:spPr>
        <p:txBody>
          <a:bodyPr anchor="t">
            <a:spAutoFit/>
          </a:bodyPr>
          <a:lstStyle/>
          <a:p>
            <a:pPr lvl="0" indent="0">
              <a:spcBef>
                <a:spcPct val="50000"/>
              </a:spcBef>
              <a:buFont typeface="Wingdings" panose="05000000000000000000" pitchFamily="2" charset="2"/>
              <a:buChar char="p"/>
            </a:pPr>
            <a:r>
              <a:rPr lang="zh-CN" altLang="en-US" sz="2600" dirty="0">
                <a:solidFill>
                  <a:srgbClr val="A50021"/>
                </a:solidFill>
                <a:latin typeface="宋体" panose="02010600030101010101" pitchFamily="2" charset="-122"/>
                <a:ea typeface="宋体" panose="02010600030101010101" pitchFamily="2" charset="-122"/>
                <a:sym typeface="Wingdings" panose="05000000000000000000" pitchFamily="2" charset="2"/>
              </a:rPr>
              <a:t> 事务状态及</a:t>
            </a:r>
            <a:r>
              <a:rPr lang="en-US" altLang="x-none" sz="2600" dirty="0">
                <a:solidFill>
                  <a:srgbClr val="A50021"/>
                </a:solidFill>
                <a:latin typeface="宋体" panose="02010600030101010101" pitchFamily="2" charset="-122"/>
                <a:ea typeface="宋体" panose="02010600030101010101" pitchFamily="2" charset="-122"/>
                <a:sym typeface="Wingdings" panose="05000000000000000000" pitchFamily="2" charset="2"/>
              </a:rPr>
              <a:t>DBMS</a:t>
            </a:r>
            <a:r>
              <a:rPr lang="zh-CN" altLang="en-US" sz="2600" dirty="0">
                <a:solidFill>
                  <a:srgbClr val="A50021"/>
                </a:solidFill>
                <a:latin typeface="宋体" panose="02010600030101010101" pitchFamily="2" charset="-122"/>
                <a:ea typeface="宋体" panose="02010600030101010101" pitchFamily="2" charset="-122"/>
                <a:sym typeface="Wingdings" panose="05000000000000000000" pitchFamily="2" charset="2"/>
              </a:rPr>
              <a:t>对应的工作安排</a:t>
            </a:r>
            <a:endParaRPr lang="zh-CN" altLang="en-US" sz="2600" dirty="0">
              <a:solidFill>
                <a:srgbClr val="A50021"/>
              </a:solidFill>
              <a:latin typeface="宋体" panose="02010600030101010101" pitchFamily="2" charset="-122"/>
              <a:ea typeface="宋体" panose="02010600030101010101" pitchFamily="2" charset="-122"/>
              <a:sym typeface="Wingdings" panose="05000000000000000000" pitchFamily="2" charset="2"/>
            </a:endParaRPr>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p:cNvSpPr/>
          <p:nvPr/>
        </p:nvSpPr>
        <p:spPr>
          <a:xfrm>
            <a:off x="454025" y="7810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4</a:t>
            </a:r>
            <a:r>
              <a:rPr lang="zh-CN" altLang="en-US" sz="2800" dirty="0">
                <a:solidFill>
                  <a:srgbClr val="FF0000"/>
                </a:solidFill>
                <a:latin typeface="黑体" panose="02010609060101010101" pitchFamily="1" charset="-122"/>
                <a:ea typeface="黑体" panose="02010609060101010101" pitchFamily="1" charset="-122"/>
              </a:rPr>
              <a:t>、</a:t>
            </a:r>
            <a:r>
              <a:rPr lang="en-US" altLang="x-none" sz="2800" dirty="0">
                <a:solidFill>
                  <a:srgbClr val="FF0000"/>
                </a:solidFill>
                <a:latin typeface="黑体" panose="02010609060101010101" pitchFamily="1" charset="-122"/>
                <a:ea typeface="黑体" panose="02010609060101010101" pitchFamily="1" charset="-122"/>
              </a:rPr>
              <a:t>DBMS</a:t>
            </a:r>
            <a:r>
              <a:rPr lang="zh-CN" altLang="en-US" sz="2800" dirty="0">
                <a:solidFill>
                  <a:srgbClr val="FF0000"/>
                </a:solidFill>
                <a:latin typeface="黑体" panose="02010609060101010101" pitchFamily="1" charset="-122"/>
                <a:ea typeface="黑体" panose="02010609060101010101" pitchFamily="1" charset="-122"/>
              </a:rPr>
              <a:t>围绕更新事务的工作</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81922"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四、数据库的故障恢复技术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81923" name="Text Box 4"/>
          <p:cNvSpPr txBox="1"/>
          <p:nvPr/>
        </p:nvSpPr>
        <p:spPr>
          <a:xfrm>
            <a:off x="596900" y="1954213"/>
            <a:ext cx="8153400" cy="854075"/>
          </a:xfrm>
          <a:prstGeom prst="rect">
            <a:avLst/>
          </a:prstGeom>
          <a:noFill/>
          <a:ln w="9525">
            <a:noFill/>
          </a:ln>
        </p:spPr>
        <p:txBody>
          <a:bodyPr anchor="t">
            <a:spAutoFit/>
          </a:bodyPr>
          <a:lstStyle/>
          <a:p>
            <a:pPr lvl="0" indent="0">
              <a:spcBef>
                <a:spcPct val="50000"/>
              </a:spcBef>
            </a:pPr>
            <a:r>
              <a:rPr lang="zh-CN" altLang="en-US" sz="2400" dirty="0">
                <a:solidFill>
                  <a:srgbClr val="0000CC"/>
                </a:solidFill>
                <a:latin typeface="宋体" panose="02010600030101010101" pitchFamily="2" charset="-122"/>
                <a:ea typeface="宋体" panose="02010600030101010101" pitchFamily="2" charset="-122"/>
                <a:sym typeface="Wingdings" panose="05000000000000000000" pitchFamily="2" charset="2"/>
              </a:rPr>
              <a:t>    如果事务按以上步骤执行过程中发生故障，可根据下表进行恢复。</a:t>
            </a:r>
            <a:endParaRPr lang="zh-CN" altLang="en-US" sz="2400" dirty="0">
              <a:solidFill>
                <a:srgbClr val="0000CC"/>
              </a:solidFill>
              <a:latin typeface="宋体" panose="02010600030101010101" pitchFamily="2" charset="-122"/>
              <a:ea typeface="宋体" panose="02010600030101010101" pitchFamily="2" charset="-122"/>
              <a:sym typeface="Wingdings" panose="05000000000000000000" pitchFamily="2" charset="2"/>
            </a:endParaRPr>
          </a:p>
        </p:txBody>
      </p:sp>
      <p:graphicFrame>
        <p:nvGraphicFramePr>
          <p:cNvPr id="84997" name="表格 84996"/>
          <p:cNvGraphicFramePr/>
          <p:nvPr/>
        </p:nvGraphicFramePr>
        <p:xfrm>
          <a:off x="622300" y="2955925"/>
          <a:ext cx="8070850" cy="2960688"/>
        </p:xfrm>
        <a:graphic>
          <a:graphicData uri="http://schemas.openxmlformats.org/drawingml/2006/table">
            <a:tbl>
              <a:tblPr/>
              <a:tblGrid>
                <a:gridCol w="919163"/>
                <a:gridCol w="892175"/>
                <a:gridCol w="2859087"/>
                <a:gridCol w="3400425"/>
              </a:tblGrid>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x-none" sz="2400" dirty="0"/>
                        <a:t>ATL</a:t>
                      </a:r>
                      <a:endParaRPr lang="en-US" altLang="x-none" sz="2400" dirty="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x-none" sz="2400" dirty="0"/>
                        <a:t>CTL</a:t>
                      </a:r>
                      <a:endParaRPr lang="en-US" altLang="x-none" sz="24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a:t>事务所处状态</a:t>
                      </a:r>
                      <a:endParaRPr lang="zh-CN" altLang="en-US" sz="24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a:t>恢复措施</a:t>
                      </a:r>
                      <a:endParaRPr lang="zh-CN" altLang="en-US" sz="240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r>
              <a:tr h="109696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200"/>
                        <a:t>有</a:t>
                      </a:r>
                      <a:endParaRPr lang="zh-CN" altLang="en-US" sz="220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200"/>
                        <a:t>无</a:t>
                      </a:r>
                      <a:endParaRPr lang="zh-CN" altLang="en-US" sz="22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dirty="0"/>
                        <a:t>步骤</a:t>
                      </a:r>
                      <a:r>
                        <a:rPr lang="en-US" altLang="x-none" sz="2200" dirty="0"/>
                        <a:t>1</a:t>
                      </a:r>
                      <a:r>
                        <a:rPr lang="zh-CN" altLang="en-US" sz="2200" dirty="0"/>
                        <a:t>已完成，但步骤</a:t>
                      </a:r>
                      <a:r>
                        <a:rPr lang="en-US" altLang="x-none" sz="2200" dirty="0"/>
                        <a:t>3</a:t>
                      </a:r>
                      <a:r>
                        <a:rPr lang="zh-CN" altLang="en-US" sz="2200" dirty="0"/>
                        <a:t>未完成</a:t>
                      </a:r>
                      <a:endParaRPr lang="zh-CN" altLang="en-US" sz="22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dirty="0"/>
                        <a:t>从</a:t>
                      </a:r>
                      <a:r>
                        <a:rPr lang="en-US" altLang="x-none" sz="2200" dirty="0"/>
                        <a:t>ALT</a:t>
                      </a:r>
                      <a:r>
                        <a:rPr lang="zh-CN" altLang="en-US" sz="2200" dirty="0"/>
                        <a:t>删除</a:t>
                      </a:r>
                      <a:r>
                        <a:rPr lang="en-US" altLang="x-none" sz="2200" dirty="0"/>
                        <a:t>TID</a:t>
                      </a:r>
                      <a:r>
                        <a:rPr lang="zh-CN" altLang="en-US" sz="2200" dirty="0"/>
                        <a:t>。因为</a:t>
                      </a:r>
                      <a:r>
                        <a:rPr lang="en-US" altLang="zh-CN" sz="2200" dirty="0"/>
                        <a:t>A</a:t>
                      </a:r>
                      <a:r>
                        <a:rPr lang="en-US" altLang="x-none" sz="2200" dirty="0"/>
                        <a:t>I</a:t>
                      </a:r>
                      <a:r>
                        <a:rPr lang="zh-CN" altLang="en-US" sz="2200" dirty="0"/>
                        <a:t>没有放在</a:t>
                      </a:r>
                      <a:r>
                        <a:rPr lang="en-US" altLang="x-none" sz="2200" dirty="0"/>
                        <a:t>Log</a:t>
                      </a:r>
                      <a:r>
                        <a:rPr lang="zh-CN" altLang="en-US" sz="2200" dirty="0"/>
                        <a:t>中，说明，此时没有更新操作。</a:t>
                      </a:r>
                      <a:endParaRPr lang="zh-CN" altLang="en-US" sz="2200"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r>
              <a:tr h="8286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200"/>
                        <a:t>有</a:t>
                      </a:r>
                      <a:endParaRPr lang="zh-CN" altLang="en-US" sz="220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200"/>
                        <a:t>有</a:t>
                      </a:r>
                      <a:endParaRPr lang="zh-CN" altLang="en-US" sz="22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dirty="0"/>
                        <a:t>步骤</a:t>
                      </a:r>
                      <a:r>
                        <a:rPr lang="en-US" altLang="x-none" sz="2200" dirty="0"/>
                        <a:t>3</a:t>
                      </a:r>
                      <a:r>
                        <a:rPr lang="zh-CN" altLang="en-US" sz="2200" dirty="0"/>
                        <a:t>已完成，步骤</a:t>
                      </a:r>
                      <a:r>
                        <a:rPr lang="en-US" altLang="x-none" sz="2200" dirty="0"/>
                        <a:t>5</a:t>
                      </a:r>
                      <a:r>
                        <a:rPr lang="zh-CN" altLang="en-US" sz="2200" dirty="0"/>
                        <a:t>未完成</a:t>
                      </a:r>
                      <a:endParaRPr lang="zh-CN" altLang="en-US" sz="22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en-US" altLang="x-none" sz="2200" dirty="0"/>
                        <a:t>① re</a:t>
                      </a:r>
                      <a:r>
                        <a:rPr lang="en-US" altLang="x-none" sz="2200" dirty="0">
                          <a:sym typeface="Wingdings" panose="05000000000000000000" pitchFamily="2" charset="2"/>
                        </a:rPr>
                        <a:t>do</a:t>
                      </a:r>
                      <a:r>
                        <a:rPr lang="zh-CN" altLang="en-US" sz="2200" dirty="0">
                          <a:sym typeface="Wingdings" panose="05000000000000000000" pitchFamily="2" charset="2"/>
                        </a:rPr>
                        <a:t>；</a:t>
                      </a:r>
                      <a:endParaRPr lang="zh-CN" altLang="en-US" sz="2200" dirty="0">
                        <a:sym typeface="Wingdings" panose="05000000000000000000" pitchFamily="2" charset="2"/>
                      </a:endParaRPr>
                    </a:p>
                    <a:p>
                      <a:pPr marL="0" lvl="0" indent="0" eaLnBrk="1" hangingPunct="1">
                        <a:spcBef>
                          <a:spcPct val="20000"/>
                        </a:spcBef>
                        <a:buClr>
                          <a:srgbClr val="000000"/>
                        </a:buClr>
                        <a:buFont typeface="Arial" panose="020B0604020202020204" pitchFamily="34" charset="0"/>
                        <a:buNone/>
                      </a:pPr>
                      <a:r>
                        <a:rPr lang="zh-CN" altLang="en-US" sz="2200" dirty="0"/>
                        <a:t>②从</a:t>
                      </a:r>
                      <a:r>
                        <a:rPr lang="en-US" altLang="x-none" sz="2200" dirty="0"/>
                        <a:t>ALT</a:t>
                      </a:r>
                      <a:r>
                        <a:rPr lang="zh-CN" altLang="en-US" sz="2200" dirty="0"/>
                        <a:t>删除</a:t>
                      </a:r>
                      <a:r>
                        <a:rPr lang="en-US" altLang="x-none" sz="2200" dirty="0"/>
                        <a:t>TID</a:t>
                      </a:r>
                      <a:r>
                        <a:rPr lang="zh-CN" altLang="en-US" sz="2200" dirty="0"/>
                        <a:t>。</a:t>
                      </a:r>
                      <a:endParaRPr lang="zh-CN" altLang="en-US" sz="2200"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r>
              <a:tr h="5778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200"/>
                        <a:t>无</a:t>
                      </a:r>
                      <a:endParaRPr lang="zh-CN" altLang="en-US" sz="220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200"/>
                        <a:t>有</a:t>
                      </a:r>
                      <a:endParaRPr lang="zh-CN" altLang="en-US" sz="22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dirty="0"/>
                        <a:t>步骤</a:t>
                      </a:r>
                      <a:r>
                        <a:rPr lang="en-US" altLang="x-none" sz="2200" dirty="0"/>
                        <a:t>5</a:t>
                      </a:r>
                      <a:r>
                        <a:rPr lang="zh-CN" altLang="en-US" sz="2200" dirty="0"/>
                        <a:t>已完成</a:t>
                      </a:r>
                      <a:endParaRPr lang="zh-CN" altLang="en-US" sz="22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a:sym typeface="Wingdings" panose="05000000000000000000" pitchFamily="2" charset="2"/>
                        </a:rPr>
                        <a:t>勿需处理</a:t>
                      </a:r>
                      <a:endParaRPr lang="zh-CN" altLang="en-US" sz="2200">
                        <a:sym typeface="Wingdings" panose="05000000000000000000" pitchFamily="2" charset="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6F7FA">
                        <a:alpha val="100000"/>
                      </a:srgbClr>
                    </a:solidFill>
                  </a:tcPr>
                </a:tc>
              </a:tr>
            </a:tbl>
          </a:graphicData>
        </a:graphic>
      </p:graphicFrame>
      <p:sp>
        <p:nvSpPr>
          <p:cNvPr id="81951" name="Text Box 3"/>
          <p:cNvSpPr txBox="1"/>
          <p:nvPr/>
        </p:nvSpPr>
        <p:spPr>
          <a:xfrm>
            <a:off x="1790700" y="1471613"/>
            <a:ext cx="5643563" cy="1014412"/>
          </a:xfrm>
          <a:prstGeom prst="rect">
            <a:avLst/>
          </a:prstGeom>
          <a:noFill/>
          <a:ln w="9525">
            <a:noFill/>
          </a:ln>
        </p:spPr>
        <p:txBody>
          <a:bodyPr anchor="t">
            <a:spAutoFit/>
          </a:bodyPr>
          <a:lstStyle/>
          <a:p>
            <a:pPr lvl="0" indent="0">
              <a:spcBef>
                <a:spcPct val="50000"/>
              </a:spcBef>
            </a:pPr>
            <a:r>
              <a:rPr lang="zh-CN" altLang="en-US" sz="2400" dirty="0">
                <a:solidFill>
                  <a:srgbClr val="FF0000"/>
                </a:solidFill>
                <a:latin typeface="宋体" panose="02010600030101010101" pitchFamily="2" charset="-122"/>
                <a:ea typeface="宋体" panose="02010600030101010101" pitchFamily="2" charset="-122"/>
                <a:sym typeface="Wingdings" panose="05000000000000000000" pitchFamily="2" charset="2"/>
              </a:rPr>
              <a:t>方案二中发生故障时的事务恢复措施</a:t>
            </a:r>
            <a:endParaRPr lang="zh-CN" altLang="en-US" sz="2400" dirty="0">
              <a:solidFill>
                <a:srgbClr val="FF0000"/>
              </a:solidFill>
              <a:latin typeface="宋体" panose="02010600030101010101" pitchFamily="2" charset="-122"/>
              <a:ea typeface="宋体" panose="02010600030101010101" pitchFamily="2" charset="-122"/>
              <a:sym typeface="Wingdings" panose="05000000000000000000" pitchFamily="2" charset="2"/>
            </a:endParaRPr>
          </a:p>
          <a:p>
            <a:pPr lvl="0" indent="0">
              <a:spcBef>
                <a:spcPct val="50000"/>
              </a:spcBef>
            </a:pPr>
            <a:endParaRPr lang="zh-CN" altLang="en-US" sz="2400" dirty="0">
              <a:solidFill>
                <a:srgbClr val="0000CC"/>
              </a:solidFill>
              <a:latin typeface="宋体" panose="02010600030101010101" pitchFamily="2" charset="-122"/>
              <a:ea typeface="宋体" panose="02010600030101010101" pitchFamily="2" charset="-122"/>
              <a:sym typeface="Wingdings" panose="05000000000000000000" pitchFamily="2" charset="2"/>
            </a:endParaRPr>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7"/>
          <p:cNvSpPr/>
          <p:nvPr/>
        </p:nvSpPr>
        <p:spPr>
          <a:xfrm>
            <a:off x="454025" y="728663"/>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4</a:t>
            </a:r>
            <a:r>
              <a:rPr lang="zh-CN" altLang="en-US" sz="2800" dirty="0">
                <a:solidFill>
                  <a:srgbClr val="FF0000"/>
                </a:solidFill>
                <a:latin typeface="黑体" panose="02010609060101010101" pitchFamily="1" charset="-122"/>
                <a:ea typeface="黑体" panose="02010609060101010101" pitchFamily="1" charset="-122"/>
              </a:rPr>
              <a:t>、</a:t>
            </a:r>
            <a:r>
              <a:rPr lang="en-US" altLang="x-none" sz="2800" dirty="0">
                <a:solidFill>
                  <a:srgbClr val="FF0000"/>
                </a:solidFill>
                <a:latin typeface="黑体" panose="02010609060101010101" pitchFamily="1" charset="-122"/>
                <a:ea typeface="黑体" panose="02010609060101010101" pitchFamily="1" charset="-122"/>
              </a:rPr>
              <a:t>DBMS</a:t>
            </a:r>
            <a:r>
              <a:rPr lang="zh-CN" altLang="en-US" sz="2800" dirty="0">
                <a:solidFill>
                  <a:srgbClr val="FF0000"/>
                </a:solidFill>
                <a:latin typeface="黑体" panose="02010609060101010101" pitchFamily="1" charset="-122"/>
                <a:ea typeface="黑体" panose="02010609060101010101" pitchFamily="1" charset="-122"/>
              </a:rPr>
              <a:t>围绕更新事务的工作</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82946"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四、数据库的故障恢复技术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82947" name="Rectangle 4"/>
          <p:cNvSpPr txBox="1"/>
          <p:nvPr/>
        </p:nvSpPr>
        <p:spPr>
          <a:xfrm>
            <a:off x="450850" y="1812925"/>
            <a:ext cx="8077200" cy="300038"/>
          </a:xfrm>
          <a:prstGeom prst="rect">
            <a:avLst/>
          </a:prstGeom>
          <a:noFill/>
          <a:ln w="9525">
            <a:noFill/>
          </a:ln>
        </p:spPr>
        <p:txBody>
          <a:bodyPr anchor="t"/>
          <a:lstStyle/>
          <a:p>
            <a:pPr marL="342900" lvl="0" indent="-342900" eaLnBrk="0" hangingPunct="0">
              <a:spcBef>
                <a:spcPct val="50000"/>
              </a:spcBef>
              <a:buClr>
                <a:srgbClr val="0033CC"/>
              </a:buClr>
              <a:buSzPct val="80000"/>
            </a:pPr>
            <a:r>
              <a:rPr lang="zh-CN" altLang="en-US" sz="2400" dirty="0">
                <a:solidFill>
                  <a:srgbClr val="FF3399"/>
                </a:solidFill>
                <a:latin typeface="Arial" panose="020B0604020202020204" pitchFamily="34" charset="0"/>
                <a:ea typeface="宋体" panose="02010600030101010101" pitchFamily="2" charset="-122"/>
                <a:sym typeface="Wingdings" panose="05000000000000000000" pitchFamily="2" charset="2"/>
              </a:rPr>
              <a:t>方案</a:t>
            </a:r>
            <a:r>
              <a:rPr lang="en-US" altLang="x-none" sz="2400" dirty="0">
                <a:solidFill>
                  <a:srgbClr val="FF3399"/>
                </a:solidFill>
                <a:latin typeface="Arial" panose="020B0604020202020204" pitchFamily="34" charset="0"/>
                <a:ea typeface="宋体" panose="02010600030101010101" pitchFamily="2" charset="-122"/>
                <a:sym typeface="Wingdings" panose="05000000000000000000" pitchFamily="2" charset="2"/>
              </a:rPr>
              <a:t>3</a:t>
            </a:r>
            <a:r>
              <a:rPr lang="zh-CN" altLang="en-US" sz="2400" dirty="0">
                <a:solidFill>
                  <a:srgbClr val="FF3399"/>
                </a:solidFill>
                <a:latin typeface="Arial" panose="020B0604020202020204" pitchFamily="34" charset="0"/>
                <a:ea typeface="宋体" panose="02010600030101010101" pitchFamily="2" charset="-122"/>
                <a:sym typeface="Wingdings" panose="05000000000000000000" pitchFamily="2" charset="2"/>
              </a:rPr>
              <a:t>：</a:t>
            </a:r>
            <a:r>
              <a:rPr lang="zh-CN" altLang="en-US" sz="2400" dirty="0">
                <a:solidFill>
                  <a:srgbClr val="3333FF"/>
                </a:solidFill>
                <a:latin typeface="Arial" panose="020B0604020202020204" pitchFamily="34" charset="0"/>
                <a:ea typeface="宋体" panose="02010600030101010101" pitchFamily="2" charset="-122"/>
                <a:sym typeface="Wingdings" panose="05000000000000000000" pitchFamily="2" charset="2"/>
              </a:rPr>
              <a:t>后像在事务提交前后写入</a:t>
            </a:r>
            <a:r>
              <a:rPr lang="en-US" altLang="x-none" sz="2400" dirty="0">
                <a:solidFill>
                  <a:srgbClr val="3333FF"/>
                </a:solidFill>
                <a:latin typeface="Arial" panose="020B0604020202020204" pitchFamily="34" charset="0"/>
                <a:ea typeface="宋体" panose="02010600030101010101" pitchFamily="2" charset="-122"/>
                <a:sym typeface="Wingdings" panose="05000000000000000000" pitchFamily="2" charset="2"/>
              </a:rPr>
              <a:t>DB</a:t>
            </a:r>
            <a:endParaRPr lang="en-US" altLang="x-none" sz="2400" dirty="0">
              <a:latin typeface="Arial" panose="020B0604020202020204" pitchFamily="34" charset="0"/>
              <a:ea typeface="宋体" panose="02010600030101010101" pitchFamily="2" charset="-122"/>
            </a:endParaRPr>
          </a:p>
        </p:txBody>
      </p:sp>
      <p:graphicFrame>
        <p:nvGraphicFramePr>
          <p:cNvPr id="86021" name="表格 86020"/>
          <p:cNvGraphicFramePr/>
          <p:nvPr/>
        </p:nvGraphicFramePr>
        <p:xfrm>
          <a:off x="490538" y="2332038"/>
          <a:ext cx="8348663" cy="3956050"/>
        </p:xfrm>
        <a:graphic>
          <a:graphicData uri="http://schemas.openxmlformats.org/drawingml/2006/table">
            <a:tbl>
              <a:tblPr/>
              <a:tblGrid>
                <a:gridCol w="1981200"/>
                <a:gridCol w="6367463"/>
              </a:tblGrid>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42900" lvl="0" indent="-342900" algn="ctr" eaLnBrk="1" hangingPunct="1">
                        <a:spcBef>
                          <a:spcPct val="0"/>
                        </a:spcBef>
                        <a:buClr>
                          <a:srgbClr val="000000"/>
                        </a:buClr>
                        <a:buFont typeface="Arial" panose="020B0604020202020204" pitchFamily="34" charset="0"/>
                        <a:buNone/>
                      </a:pPr>
                      <a:r>
                        <a:rPr lang="zh-CN" altLang="en-US" sz="2000">
                          <a:ea typeface="Times New Roman" panose="02020603050405020304" pitchFamily="2" charset="0"/>
                        </a:rPr>
                        <a:t>事务执行状态</a:t>
                      </a:r>
                      <a:endParaRPr lang="zh-CN" altLang="en-US" sz="2000">
                        <a:ea typeface="Times New Roman" panose="02020603050405020304" pitchFamily="2" charset="0"/>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254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42900" lvl="0" indent="-342900" algn="ctr" eaLnBrk="1" hangingPunct="1">
                        <a:spcBef>
                          <a:spcPct val="0"/>
                        </a:spcBef>
                        <a:buClr>
                          <a:srgbClr val="000000"/>
                        </a:buClr>
                        <a:buFont typeface="Arial" panose="020B0604020202020204" pitchFamily="34" charset="0"/>
                        <a:buNone/>
                      </a:pPr>
                      <a:r>
                        <a:rPr lang="en-US" altLang="x-none" sz="2000" dirty="0">
                          <a:ea typeface="Times New Roman" panose="02020603050405020304" pitchFamily="2" charset="0"/>
                        </a:rPr>
                        <a:t>DBMS</a:t>
                      </a:r>
                      <a:r>
                        <a:rPr lang="zh-CN" altLang="en-US" sz="2000" dirty="0">
                          <a:ea typeface="Times New Roman" panose="02020603050405020304" pitchFamily="2" charset="0"/>
                        </a:rPr>
                        <a:t>应做的工作</a:t>
                      </a:r>
                      <a:endParaRPr lang="zh-CN" altLang="en-US" sz="2000" dirty="0">
                        <a:ea typeface="Times New Roman" panose="02020603050405020304" pitchFamily="2" charset="0"/>
                      </a:endParaRP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254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42900" lvl="0" indent="-342900" algn="ctr" eaLnBrk="1" hangingPunct="1">
                        <a:spcBef>
                          <a:spcPct val="0"/>
                        </a:spcBef>
                        <a:buClr>
                          <a:srgbClr val="000000"/>
                        </a:buClr>
                        <a:buFont typeface="Arial" panose="020B0604020202020204" pitchFamily="34" charset="0"/>
                        <a:buNone/>
                      </a:pPr>
                      <a:r>
                        <a:rPr lang="zh-CN" altLang="en-US" sz="2000">
                          <a:ea typeface="Times New Roman" panose="02020603050405020304" pitchFamily="2" charset="0"/>
                        </a:rPr>
                        <a:t>开始状态</a:t>
                      </a:r>
                      <a:endParaRPr lang="zh-CN" altLang="en-US" sz="2000">
                        <a:ea typeface="Times New Roman" panose="02020603050405020304" pitchFamily="2" charset="0"/>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42900" lvl="0" indent="-342900" eaLnBrk="1" hangingPunct="1">
                        <a:spcBef>
                          <a:spcPct val="0"/>
                        </a:spcBef>
                        <a:buClr>
                          <a:srgbClr val="000000"/>
                        </a:buClr>
                        <a:buFont typeface="Arial" panose="020B0604020202020204" pitchFamily="34" charset="0"/>
                        <a:buNone/>
                      </a:pPr>
                      <a:r>
                        <a:rPr lang="zh-CN" altLang="en-US" sz="2000" dirty="0">
                          <a:ea typeface="Times New Roman" panose="02020603050405020304" pitchFamily="2" charset="0"/>
                        </a:rPr>
                        <a:t>步骤</a:t>
                      </a:r>
                      <a:r>
                        <a:rPr lang="en-US" altLang="x-none" sz="2000" dirty="0">
                          <a:ea typeface="Times New Roman" panose="02020603050405020304" pitchFamily="2" charset="0"/>
                        </a:rPr>
                        <a:t>1</a:t>
                      </a:r>
                      <a:r>
                        <a:rPr lang="zh-CN" altLang="en-US" sz="2000" dirty="0">
                          <a:ea typeface="Times New Roman" panose="02020603050405020304" pitchFamily="2" charset="0"/>
                        </a:rPr>
                        <a:t>：</a:t>
                      </a:r>
                      <a:r>
                        <a:rPr lang="en-US" altLang="x-none" sz="2000" dirty="0">
                          <a:ea typeface="Times New Roman" panose="02020603050405020304" pitchFamily="2" charset="0"/>
                        </a:rPr>
                        <a:t>TID → ATL  /* </a:t>
                      </a:r>
                      <a:r>
                        <a:rPr lang="zh-CN" altLang="en-US" sz="2000" dirty="0">
                          <a:ea typeface="Times New Roman" panose="02020603050405020304" pitchFamily="2" charset="0"/>
                        </a:rPr>
                        <a:t>将事务的</a:t>
                      </a:r>
                      <a:r>
                        <a:rPr lang="en-US" altLang="x-none" sz="2000" dirty="0">
                          <a:ea typeface="Times New Roman" panose="02020603050405020304" pitchFamily="2" charset="0"/>
                        </a:rPr>
                        <a:t>TID</a:t>
                      </a:r>
                      <a:r>
                        <a:rPr lang="zh-CN" altLang="en-US" sz="2000" dirty="0">
                          <a:ea typeface="Times New Roman" panose="02020603050405020304" pitchFamily="2" charset="0"/>
                        </a:rPr>
                        <a:t>记入日志的</a:t>
                      </a:r>
                      <a:r>
                        <a:rPr lang="en-US" altLang="x-none" sz="2000" dirty="0">
                          <a:ea typeface="Times New Roman" panose="02020603050405020304" pitchFamily="2" charset="0"/>
                        </a:rPr>
                        <a:t>ATL */</a:t>
                      </a:r>
                      <a:endParaRPr lang="en-US" altLang="x-none" sz="2000" dirty="0">
                        <a:ea typeface="Times New Roman" panose="02020603050405020304" pitchFamily="2" charset="0"/>
                      </a:endParaRP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7016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42900" lvl="0" indent="-342900" algn="ctr" eaLnBrk="1" hangingPunct="1">
                        <a:spcBef>
                          <a:spcPct val="0"/>
                        </a:spcBef>
                        <a:buClr>
                          <a:srgbClr val="000000"/>
                        </a:buClr>
                        <a:buFont typeface="Arial" panose="020B0604020202020204" pitchFamily="34" charset="0"/>
                        <a:buNone/>
                      </a:pPr>
                      <a:r>
                        <a:rPr lang="zh-CN" altLang="en-US" sz="2000">
                          <a:ea typeface="Times New Roman" panose="02020603050405020304" pitchFamily="2" charset="0"/>
                        </a:rPr>
                        <a:t>事务内的操作执行状态</a:t>
                      </a:r>
                      <a:endParaRPr lang="zh-CN" altLang="en-US" sz="2000">
                        <a:ea typeface="Times New Roman" panose="02020603050405020304" pitchFamily="2" charset="0"/>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42900" lvl="0" indent="-342900" eaLnBrk="1" hangingPunct="1">
                        <a:spcBef>
                          <a:spcPct val="0"/>
                        </a:spcBef>
                        <a:buClr>
                          <a:srgbClr val="000000"/>
                        </a:buClr>
                        <a:buFont typeface="Arial" panose="020B0604020202020204" pitchFamily="34" charset="0"/>
                        <a:buNone/>
                      </a:pPr>
                      <a:r>
                        <a:rPr lang="zh-CN" altLang="en-US" sz="2000">
                          <a:ea typeface="Times New Roman" panose="02020603050405020304" pitchFamily="2" charset="0"/>
                        </a:rPr>
                        <a:t>无</a:t>
                      </a:r>
                      <a:endParaRPr lang="zh-CN" altLang="en-US" sz="2000">
                        <a:ea typeface="Times New Roman" panose="02020603050405020304" pitchFamily="2" charset="0"/>
                      </a:endParaRP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701675">
                <a:tc rowSpan="2">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42900" lvl="0" indent="-342900" algn="ctr" eaLnBrk="1" hangingPunct="1">
                        <a:spcBef>
                          <a:spcPct val="0"/>
                        </a:spcBef>
                        <a:buClr>
                          <a:srgbClr val="000000"/>
                        </a:buClr>
                        <a:buFont typeface="Arial" panose="020B0604020202020204" pitchFamily="34" charset="0"/>
                        <a:buNone/>
                      </a:pPr>
                      <a:r>
                        <a:rPr lang="zh-CN" altLang="en-US" sz="2000">
                          <a:ea typeface="Times New Roman" panose="02020603050405020304" pitchFamily="2" charset="0"/>
                        </a:rPr>
                        <a:t>提交前</a:t>
                      </a:r>
                      <a:endParaRPr lang="zh-CN" altLang="en-US" sz="2000">
                        <a:ea typeface="Times New Roman" panose="02020603050405020304" pitchFamily="2" charset="0"/>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311525" lvl="0" indent="-3311525" eaLnBrk="1" hangingPunct="1">
                        <a:spcBef>
                          <a:spcPct val="0"/>
                        </a:spcBef>
                        <a:buClr>
                          <a:srgbClr val="000000"/>
                        </a:buClr>
                        <a:buFont typeface="Arial" panose="020B0604020202020204" pitchFamily="34" charset="0"/>
                        <a:buNone/>
                      </a:pPr>
                      <a:r>
                        <a:rPr lang="zh-CN" altLang="en-US" sz="2000" dirty="0">
                          <a:ea typeface="Times New Roman" panose="02020603050405020304" pitchFamily="2" charset="0"/>
                        </a:rPr>
                        <a:t>步骤</a:t>
                      </a:r>
                      <a:r>
                        <a:rPr lang="en-US" altLang="x-none" sz="2000" dirty="0">
                          <a:ea typeface="Times New Roman" panose="02020603050405020304" pitchFamily="2" charset="0"/>
                        </a:rPr>
                        <a:t>2</a:t>
                      </a:r>
                      <a:r>
                        <a:rPr lang="zh-CN" altLang="en-US" sz="2000" dirty="0">
                          <a:ea typeface="Times New Roman" panose="02020603050405020304" pitchFamily="2" charset="0"/>
                        </a:rPr>
                        <a:t>： </a:t>
                      </a:r>
                      <a:r>
                        <a:rPr lang="en-US" altLang="x-none" sz="2000" dirty="0">
                          <a:ea typeface="Times New Roman" panose="02020603050405020304" pitchFamily="2" charset="0"/>
                        </a:rPr>
                        <a:t>BI</a:t>
                      </a:r>
                      <a:r>
                        <a:rPr lang="zh-CN" altLang="en-US" sz="2000" dirty="0">
                          <a:ea typeface="Times New Roman" panose="02020603050405020304" pitchFamily="2" charset="0"/>
                        </a:rPr>
                        <a:t>，</a:t>
                      </a:r>
                      <a:r>
                        <a:rPr lang="en-US" altLang="x-none" sz="2000" dirty="0">
                          <a:ea typeface="Times New Roman" panose="02020603050405020304" pitchFamily="2" charset="0"/>
                        </a:rPr>
                        <a:t>AI → Log    /* </a:t>
                      </a:r>
                      <a:r>
                        <a:rPr lang="zh-CN" altLang="en-US" sz="2000" dirty="0">
                          <a:ea typeface="Times New Roman" panose="02020603050405020304" pitchFamily="2" charset="0"/>
                        </a:rPr>
                        <a:t>遵循提交规则和先记后写规则的要求 *</a:t>
                      </a:r>
                      <a:r>
                        <a:rPr lang="en-US" altLang="x-none" sz="2000" dirty="0">
                          <a:ea typeface="Times New Roman" panose="02020603050405020304" pitchFamily="2" charset="0"/>
                        </a:rPr>
                        <a:t>/</a:t>
                      </a:r>
                      <a:endParaRPr lang="en-US" altLang="x-none" sz="2000" dirty="0">
                        <a:ea typeface="Times New Roman" panose="02020603050405020304" pitchFamily="2" charset="0"/>
                      </a:endParaRP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82600">
                <a:tc vMerge="1">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42900" lvl="0" indent="-342900" eaLnBrk="1" hangingPunct="1">
                        <a:spcBef>
                          <a:spcPct val="0"/>
                        </a:spcBef>
                        <a:buClr>
                          <a:srgbClr val="000000"/>
                        </a:buClr>
                        <a:buFont typeface="Arial" panose="020B0604020202020204" pitchFamily="34" charset="0"/>
                        <a:buNone/>
                      </a:pPr>
                      <a:r>
                        <a:rPr lang="zh-CN" altLang="en-US" sz="2000" dirty="0">
                          <a:ea typeface="Times New Roman" panose="02020603050405020304" pitchFamily="2" charset="0"/>
                        </a:rPr>
                        <a:t>步骤</a:t>
                      </a:r>
                      <a:r>
                        <a:rPr lang="en-US" altLang="x-none" sz="2000" dirty="0">
                          <a:ea typeface="Times New Roman" panose="02020603050405020304" pitchFamily="2" charset="0"/>
                        </a:rPr>
                        <a:t>3</a:t>
                      </a:r>
                      <a:r>
                        <a:rPr lang="zh-CN" altLang="en-US" sz="2000" dirty="0">
                          <a:ea typeface="Times New Roman" panose="02020603050405020304" pitchFamily="2" charset="0"/>
                        </a:rPr>
                        <a:t>：</a:t>
                      </a:r>
                      <a:r>
                        <a:rPr lang="en-US" altLang="x-none" sz="2000" dirty="0">
                          <a:ea typeface="Times New Roman" panose="02020603050405020304" pitchFamily="2" charset="0"/>
                        </a:rPr>
                        <a:t>AI → DB        /* </a:t>
                      </a:r>
                      <a:r>
                        <a:rPr lang="zh-CN" altLang="en-US" sz="2000" dirty="0">
                          <a:ea typeface="Times New Roman" panose="02020603050405020304" pitchFamily="2" charset="0"/>
                        </a:rPr>
                        <a:t>部分</a:t>
                      </a:r>
                      <a:r>
                        <a:rPr lang="en-US" altLang="x-none" sz="2000" dirty="0">
                          <a:ea typeface="Times New Roman" panose="02020603050405020304" pitchFamily="2" charset="0"/>
                        </a:rPr>
                        <a:t>AI</a:t>
                      </a:r>
                      <a:r>
                        <a:rPr lang="zh-CN" altLang="en-US" sz="2000" dirty="0">
                          <a:ea typeface="Times New Roman" panose="02020603050405020304" pitchFamily="2" charset="0"/>
                        </a:rPr>
                        <a:t>写入</a:t>
                      </a:r>
                      <a:r>
                        <a:rPr lang="en-US" altLang="x-none" sz="2000" dirty="0">
                          <a:ea typeface="Times New Roman" panose="02020603050405020304" pitchFamily="2" charset="0"/>
                        </a:rPr>
                        <a:t>DB</a:t>
                      </a:r>
                      <a:r>
                        <a:rPr lang="zh-CN" altLang="en-US" sz="2000" dirty="0">
                          <a:ea typeface="Times New Roman" panose="02020603050405020304" pitchFamily="2" charset="0"/>
                        </a:rPr>
                        <a:t>，本方案要求 *</a:t>
                      </a:r>
                      <a:r>
                        <a:rPr lang="en-US" altLang="x-none" sz="2000" dirty="0">
                          <a:ea typeface="Times New Roman" panose="02020603050405020304" pitchFamily="2" charset="0"/>
                        </a:rPr>
                        <a:t>/</a:t>
                      </a:r>
                      <a:endParaRPr lang="en-US" altLang="x-none" sz="2000" dirty="0">
                        <a:ea typeface="Times New Roman" panose="02020603050405020304" pitchFamily="2"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42900" lvl="0" indent="-342900" algn="ctr" eaLnBrk="1" hangingPunct="1">
                        <a:spcBef>
                          <a:spcPct val="0"/>
                        </a:spcBef>
                        <a:buClr>
                          <a:srgbClr val="000000"/>
                        </a:buClr>
                        <a:buFont typeface="Arial" panose="020B0604020202020204" pitchFamily="34" charset="0"/>
                        <a:buNone/>
                      </a:pPr>
                      <a:r>
                        <a:rPr lang="zh-CN" altLang="en-US" sz="2000">
                          <a:ea typeface="Times New Roman" panose="02020603050405020304" pitchFamily="2" charset="0"/>
                        </a:rPr>
                        <a:t>提交状态</a:t>
                      </a:r>
                      <a:endParaRPr lang="zh-CN" altLang="en-US" sz="2000">
                        <a:ea typeface="Times New Roman" panose="02020603050405020304" pitchFamily="2" charset="0"/>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42900" lvl="0" indent="-342900" eaLnBrk="1" hangingPunct="1">
                        <a:spcBef>
                          <a:spcPct val="0"/>
                        </a:spcBef>
                        <a:buClr>
                          <a:srgbClr val="000000"/>
                        </a:buClr>
                        <a:buFont typeface="Arial" panose="020B0604020202020204" pitchFamily="34" charset="0"/>
                        <a:buNone/>
                      </a:pPr>
                      <a:r>
                        <a:rPr lang="zh-CN" altLang="en-US" sz="2000" dirty="0">
                          <a:ea typeface="Times New Roman" panose="02020603050405020304" pitchFamily="2" charset="0"/>
                        </a:rPr>
                        <a:t>步骤</a:t>
                      </a:r>
                      <a:r>
                        <a:rPr lang="en-US" altLang="x-none" sz="2000" dirty="0">
                          <a:ea typeface="Times New Roman" panose="02020603050405020304" pitchFamily="2" charset="0"/>
                        </a:rPr>
                        <a:t>4</a:t>
                      </a:r>
                      <a:r>
                        <a:rPr lang="zh-CN" altLang="en-US" sz="2000" dirty="0">
                          <a:ea typeface="Times New Roman" panose="02020603050405020304" pitchFamily="2" charset="0"/>
                        </a:rPr>
                        <a:t>：</a:t>
                      </a:r>
                      <a:r>
                        <a:rPr lang="en-US" altLang="x-none" sz="2000" dirty="0">
                          <a:ea typeface="Times New Roman" panose="02020603050405020304" pitchFamily="2" charset="0"/>
                        </a:rPr>
                        <a:t>TID → CTL      /* </a:t>
                      </a:r>
                      <a:r>
                        <a:rPr lang="zh-CN" altLang="en-US" sz="2000" dirty="0">
                          <a:ea typeface="Times New Roman" panose="02020603050405020304" pitchFamily="2" charset="0"/>
                        </a:rPr>
                        <a:t>提交更新事务 *</a:t>
                      </a:r>
                      <a:r>
                        <a:rPr lang="en-US" altLang="x-none" sz="2000" dirty="0">
                          <a:ea typeface="Times New Roman" panose="02020603050405020304" pitchFamily="2" charset="0"/>
                        </a:rPr>
                        <a:t>/</a:t>
                      </a:r>
                      <a:endParaRPr lang="en-US" altLang="x-none" sz="2000" dirty="0">
                        <a:ea typeface="Times New Roman" panose="02020603050405020304" pitchFamily="2" charset="0"/>
                      </a:endParaRP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82600">
                <a:tc rowSpan="2">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42900" lvl="0" indent="-342900" algn="ctr" eaLnBrk="1" hangingPunct="1">
                        <a:spcBef>
                          <a:spcPct val="0"/>
                        </a:spcBef>
                        <a:buClr>
                          <a:srgbClr val="000000"/>
                        </a:buClr>
                        <a:buFont typeface="Arial" panose="020B0604020202020204" pitchFamily="34" charset="0"/>
                        <a:buNone/>
                      </a:pPr>
                      <a:r>
                        <a:rPr lang="zh-CN" altLang="en-US" sz="2000">
                          <a:ea typeface="Times New Roman" panose="02020603050405020304" pitchFamily="2" charset="0"/>
                        </a:rPr>
                        <a:t>提交后</a:t>
                      </a:r>
                      <a:endParaRPr lang="zh-CN" altLang="en-US" sz="2000">
                        <a:ea typeface="Times New Roman" panose="02020603050405020304" pitchFamily="2" charset="0"/>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54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42900" lvl="0" indent="-342900" eaLnBrk="1" hangingPunct="1">
                        <a:spcBef>
                          <a:spcPct val="0"/>
                        </a:spcBef>
                        <a:buClr>
                          <a:srgbClr val="000000"/>
                        </a:buClr>
                        <a:buFont typeface="Arial" panose="020B0604020202020204" pitchFamily="34" charset="0"/>
                        <a:buNone/>
                      </a:pPr>
                      <a:r>
                        <a:rPr lang="zh-CN" altLang="en-US" sz="2000" dirty="0">
                          <a:ea typeface="Times New Roman" panose="02020603050405020304" pitchFamily="2" charset="0"/>
                        </a:rPr>
                        <a:t>步骤</a:t>
                      </a:r>
                      <a:r>
                        <a:rPr lang="en-US" altLang="x-none" sz="2000" dirty="0">
                          <a:ea typeface="Times New Roman" panose="02020603050405020304" pitchFamily="2" charset="0"/>
                        </a:rPr>
                        <a:t>5</a:t>
                      </a:r>
                      <a:r>
                        <a:rPr lang="zh-CN" altLang="en-US" sz="2000" dirty="0">
                          <a:ea typeface="Times New Roman" panose="02020603050405020304" pitchFamily="2" charset="0"/>
                        </a:rPr>
                        <a:t>：</a:t>
                      </a:r>
                      <a:r>
                        <a:rPr lang="en-US" altLang="x-none" sz="2000" dirty="0">
                          <a:ea typeface="Times New Roman" panose="02020603050405020304" pitchFamily="2" charset="0"/>
                        </a:rPr>
                        <a:t>AI → DB      /* </a:t>
                      </a:r>
                      <a:r>
                        <a:rPr lang="zh-CN" altLang="en-US" sz="2000" dirty="0">
                          <a:ea typeface="Times New Roman" panose="02020603050405020304" pitchFamily="2" charset="0"/>
                        </a:rPr>
                        <a:t>将剩余</a:t>
                      </a:r>
                      <a:r>
                        <a:rPr lang="en-US" altLang="x-none" sz="2000" dirty="0">
                          <a:ea typeface="Times New Roman" panose="02020603050405020304" pitchFamily="2" charset="0"/>
                        </a:rPr>
                        <a:t>AI</a:t>
                      </a:r>
                      <a:r>
                        <a:rPr lang="zh-CN" altLang="en-US" sz="2000" dirty="0">
                          <a:ea typeface="Times New Roman" panose="02020603050405020304" pitchFamily="2" charset="0"/>
                        </a:rPr>
                        <a:t>写入</a:t>
                      </a:r>
                      <a:r>
                        <a:rPr lang="en-US" altLang="x-none" sz="2000" dirty="0">
                          <a:ea typeface="Times New Roman" panose="02020603050405020304" pitchFamily="2" charset="0"/>
                        </a:rPr>
                        <a:t>DB</a:t>
                      </a:r>
                      <a:r>
                        <a:rPr lang="zh-CN" altLang="en-US" sz="2000" dirty="0">
                          <a:ea typeface="Times New Roman" panose="02020603050405020304" pitchFamily="2" charset="0"/>
                        </a:rPr>
                        <a:t>，本方案要求*</a:t>
                      </a:r>
                      <a:r>
                        <a:rPr lang="en-US" altLang="x-none" sz="2000" dirty="0">
                          <a:ea typeface="Times New Roman" panose="02020603050405020304" pitchFamily="2" charset="0"/>
                        </a:rPr>
                        <a:t>/</a:t>
                      </a:r>
                      <a:endParaRPr lang="en-US" altLang="x-none" sz="2000" dirty="0">
                        <a:ea typeface="Times New Roman" panose="02020603050405020304" pitchFamily="2" charset="0"/>
                      </a:endParaRP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96875">
                <a:tc vMerge="1">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25400" cap="flat" cmpd="sng">
                      <a:solidFill>
                        <a:srgbClr val="000000"/>
                      </a:solidFill>
                      <a:prstDash val="solid"/>
                      <a:headEnd type="none" w="med" len="med"/>
                      <a:tailEnd type="none" w="med" len="med"/>
                    </a:lnB>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42900" lvl="0" indent="-342900" eaLnBrk="1" hangingPunct="1">
                        <a:spcBef>
                          <a:spcPct val="0"/>
                        </a:spcBef>
                        <a:buClr>
                          <a:srgbClr val="000000"/>
                        </a:buClr>
                        <a:buFont typeface="Arial" panose="020B0604020202020204" pitchFamily="34" charset="0"/>
                        <a:buNone/>
                      </a:pPr>
                      <a:r>
                        <a:rPr lang="zh-CN" altLang="en-US" sz="2000" dirty="0">
                          <a:ea typeface="Times New Roman" panose="02020603050405020304" pitchFamily="2" charset="0"/>
                        </a:rPr>
                        <a:t>步骤</a:t>
                      </a:r>
                      <a:r>
                        <a:rPr lang="en-US" altLang="x-none" sz="2000" dirty="0">
                          <a:ea typeface="Times New Roman" panose="02020603050405020304" pitchFamily="2" charset="0"/>
                        </a:rPr>
                        <a:t>6</a:t>
                      </a:r>
                      <a:r>
                        <a:rPr lang="zh-CN" altLang="en-US" sz="2000" dirty="0">
                          <a:ea typeface="Times New Roman" panose="02020603050405020304" pitchFamily="2" charset="0"/>
                        </a:rPr>
                        <a:t>：从</a:t>
                      </a:r>
                      <a:r>
                        <a:rPr lang="en-US" altLang="x-none" sz="2000" dirty="0">
                          <a:ea typeface="Times New Roman" panose="02020603050405020304" pitchFamily="2" charset="0"/>
                        </a:rPr>
                        <a:t>ATL</a:t>
                      </a:r>
                      <a:r>
                        <a:rPr lang="zh-CN" altLang="en-US" sz="2000" dirty="0">
                          <a:ea typeface="Times New Roman" panose="02020603050405020304" pitchFamily="2" charset="0"/>
                        </a:rPr>
                        <a:t>删除</a:t>
                      </a:r>
                      <a:r>
                        <a:rPr lang="en-US" altLang="x-none" sz="2000" dirty="0">
                          <a:ea typeface="Times New Roman" panose="02020603050405020304" pitchFamily="2" charset="0"/>
                        </a:rPr>
                        <a:t>TID</a:t>
                      </a:r>
                      <a:endParaRPr lang="en-US" altLang="x-none" sz="2000" dirty="0">
                        <a:ea typeface="Times New Roman" panose="02020603050405020304" pitchFamily="2"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540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82978" name="Text Box 3"/>
          <p:cNvSpPr txBox="1"/>
          <p:nvPr/>
        </p:nvSpPr>
        <p:spPr>
          <a:xfrm>
            <a:off x="487363" y="1320800"/>
            <a:ext cx="8497887" cy="492125"/>
          </a:xfrm>
          <a:prstGeom prst="rect">
            <a:avLst/>
          </a:prstGeom>
          <a:noFill/>
          <a:ln w="9525">
            <a:noFill/>
          </a:ln>
        </p:spPr>
        <p:txBody>
          <a:bodyPr anchor="t">
            <a:spAutoFit/>
          </a:bodyPr>
          <a:lstStyle/>
          <a:p>
            <a:pPr lvl="0" indent="0">
              <a:spcBef>
                <a:spcPct val="50000"/>
              </a:spcBef>
              <a:buFont typeface="Wingdings" panose="05000000000000000000" pitchFamily="2" charset="2"/>
              <a:buChar char="p"/>
            </a:pPr>
            <a:r>
              <a:rPr lang="zh-CN" altLang="en-US" sz="2600" dirty="0">
                <a:solidFill>
                  <a:srgbClr val="A50021"/>
                </a:solidFill>
                <a:latin typeface="宋体" panose="02010600030101010101" pitchFamily="2" charset="-122"/>
                <a:ea typeface="宋体" panose="02010600030101010101" pitchFamily="2" charset="-122"/>
                <a:sym typeface="Wingdings" panose="05000000000000000000" pitchFamily="2" charset="2"/>
              </a:rPr>
              <a:t> 事务状态及</a:t>
            </a:r>
            <a:r>
              <a:rPr lang="en-US" altLang="x-none" sz="2600" dirty="0">
                <a:solidFill>
                  <a:srgbClr val="A50021"/>
                </a:solidFill>
                <a:latin typeface="宋体" panose="02010600030101010101" pitchFamily="2" charset="-122"/>
                <a:ea typeface="宋体" panose="02010600030101010101" pitchFamily="2" charset="-122"/>
                <a:sym typeface="Wingdings" panose="05000000000000000000" pitchFamily="2" charset="2"/>
              </a:rPr>
              <a:t>DBMS</a:t>
            </a:r>
            <a:r>
              <a:rPr lang="zh-CN" altLang="en-US" sz="2600" dirty="0">
                <a:solidFill>
                  <a:srgbClr val="A50021"/>
                </a:solidFill>
                <a:latin typeface="宋体" panose="02010600030101010101" pitchFamily="2" charset="-122"/>
                <a:ea typeface="宋体" panose="02010600030101010101" pitchFamily="2" charset="-122"/>
                <a:sym typeface="Wingdings" panose="05000000000000000000" pitchFamily="2" charset="2"/>
              </a:rPr>
              <a:t>对应的工作安排</a:t>
            </a:r>
            <a:endParaRPr lang="zh-CN" altLang="en-US" sz="2600" dirty="0">
              <a:solidFill>
                <a:srgbClr val="A50021"/>
              </a:solidFill>
              <a:latin typeface="宋体" panose="02010600030101010101" pitchFamily="2" charset="-122"/>
              <a:ea typeface="宋体" panose="02010600030101010101" pitchFamily="2" charset="-122"/>
              <a:sym typeface="Wingdings" panose="05000000000000000000" pitchFamily="2" charset="2"/>
            </a:endParaRPr>
          </a:p>
        </p:txBody>
      </p:sp>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p:cNvSpPr/>
          <p:nvPr/>
        </p:nvSpPr>
        <p:spPr>
          <a:xfrm>
            <a:off x="454025" y="7810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4</a:t>
            </a:r>
            <a:r>
              <a:rPr lang="zh-CN" altLang="en-US" sz="2800" dirty="0">
                <a:solidFill>
                  <a:srgbClr val="FF0000"/>
                </a:solidFill>
                <a:latin typeface="黑体" panose="02010609060101010101" pitchFamily="1" charset="-122"/>
                <a:ea typeface="黑体" panose="02010609060101010101" pitchFamily="1" charset="-122"/>
              </a:rPr>
              <a:t>、</a:t>
            </a:r>
            <a:r>
              <a:rPr lang="en-US" altLang="x-none" sz="2800" dirty="0">
                <a:solidFill>
                  <a:srgbClr val="FF0000"/>
                </a:solidFill>
                <a:latin typeface="黑体" panose="02010609060101010101" pitchFamily="1" charset="-122"/>
                <a:ea typeface="黑体" panose="02010609060101010101" pitchFamily="1" charset="-122"/>
              </a:rPr>
              <a:t>DBMS</a:t>
            </a:r>
            <a:r>
              <a:rPr lang="zh-CN" altLang="en-US" sz="2800" dirty="0">
                <a:solidFill>
                  <a:srgbClr val="FF0000"/>
                </a:solidFill>
                <a:latin typeface="黑体" panose="02010609060101010101" pitchFamily="1" charset="-122"/>
                <a:ea typeface="黑体" panose="02010609060101010101" pitchFamily="1" charset="-122"/>
              </a:rPr>
              <a:t>围绕更新事务的工作</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83970"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四、数据库的故障恢复技术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83971" name="Text Box 3"/>
          <p:cNvSpPr txBox="1"/>
          <p:nvPr/>
        </p:nvSpPr>
        <p:spPr>
          <a:xfrm>
            <a:off x="688975" y="1947863"/>
            <a:ext cx="8153400" cy="854075"/>
          </a:xfrm>
          <a:prstGeom prst="rect">
            <a:avLst/>
          </a:prstGeom>
          <a:noFill/>
          <a:ln w="9525">
            <a:noFill/>
          </a:ln>
        </p:spPr>
        <p:txBody>
          <a:bodyPr anchor="t">
            <a:spAutoFit/>
          </a:bodyPr>
          <a:lstStyle/>
          <a:p>
            <a:pPr lvl="0" indent="0">
              <a:spcBef>
                <a:spcPct val="50000"/>
              </a:spcBef>
            </a:pPr>
            <a:r>
              <a:rPr lang="en-US" altLang="x-none" sz="2600" dirty="0">
                <a:latin typeface="仿宋_GB2312"/>
                <a:ea typeface="仿宋_GB2312"/>
                <a:sym typeface="Wingdings" panose="05000000000000000000" pitchFamily="2" charset="2"/>
              </a:rPr>
              <a:t>    </a:t>
            </a:r>
            <a:r>
              <a:rPr lang="zh-CN" altLang="en-US" sz="2400" dirty="0">
                <a:solidFill>
                  <a:srgbClr val="0000CC"/>
                </a:solidFill>
                <a:latin typeface="宋体" panose="02010600030101010101" pitchFamily="2" charset="-122"/>
                <a:ea typeface="宋体" panose="02010600030101010101" pitchFamily="2" charset="-122"/>
                <a:sym typeface="Wingdings" panose="05000000000000000000" pitchFamily="2" charset="2"/>
              </a:rPr>
              <a:t>如果事务按以上步骤执行过程中发生故障，可根据下表进行恢复。</a:t>
            </a:r>
            <a:endParaRPr lang="zh-CN" altLang="en-US" sz="2400" dirty="0">
              <a:solidFill>
                <a:srgbClr val="0000CC"/>
              </a:solidFill>
              <a:latin typeface="宋体" panose="02010600030101010101" pitchFamily="2" charset="-122"/>
              <a:ea typeface="宋体" panose="02010600030101010101" pitchFamily="2" charset="-122"/>
              <a:sym typeface="Wingdings" panose="05000000000000000000" pitchFamily="2" charset="2"/>
            </a:endParaRPr>
          </a:p>
        </p:txBody>
      </p:sp>
      <p:graphicFrame>
        <p:nvGraphicFramePr>
          <p:cNvPr id="87045" name="表格 87044"/>
          <p:cNvGraphicFramePr/>
          <p:nvPr/>
        </p:nvGraphicFramePr>
        <p:xfrm>
          <a:off x="609600" y="2995613"/>
          <a:ext cx="8229600" cy="3011488"/>
        </p:xfrm>
        <a:graphic>
          <a:graphicData uri="http://schemas.openxmlformats.org/drawingml/2006/table">
            <a:tbl>
              <a:tblPr/>
              <a:tblGrid>
                <a:gridCol w="1004888"/>
                <a:gridCol w="971550"/>
                <a:gridCol w="2527300"/>
                <a:gridCol w="3725862"/>
              </a:tblGrid>
              <a:tr h="42386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x-none" sz="2000" dirty="0"/>
                        <a:t>ATL</a:t>
                      </a:r>
                      <a:endParaRPr lang="en-US" altLang="x-none" sz="2000" dirty="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x-none" sz="2000" dirty="0"/>
                        <a:t>CTL</a:t>
                      </a:r>
                      <a:endParaRPr lang="en-US" altLang="x-none" sz="20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a:t>事务所处状态</a:t>
                      </a:r>
                      <a:endParaRPr lang="zh-CN" altLang="en-US" sz="20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a:t>恢复措施</a:t>
                      </a:r>
                      <a:endParaRPr lang="zh-CN" altLang="en-US" sz="200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r>
              <a:tr h="11430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a:t>有</a:t>
                      </a:r>
                      <a:endParaRPr lang="zh-CN" altLang="en-US" sz="200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a:t>无</a:t>
                      </a:r>
                      <a:endParaRPr lang="zh-CN" altLang="en-US" sz="20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000" dirty="0"/>
                        <a:t>步骤</a:t>
                      </a:r>
                      <a:r>
                        <a:rPr lang="en-US" altLang="x-none" sz="2000" dirty="0"/>
                        <a:t>1</a:t>
                      </a:r>
                      <a:r>
                        <a:rPr lang="zh-CN" altLang="en-US" sz="2000" dirty="0"/>
                        <a:t>已完成，但步骤</a:t>
                      </a:r>
                      <a:r>
                        <a:rPr lang="en-US" altLang="x-none" sz="2000" dirty="0"/>
                        <a:t>4</a:t>
                      </a:r>
                      <a:r>
                        <a:rPr lang="zh-CN" altLang="en-US" sz="2000" dirty="0"/>
                        <a:t>尚未完成</a:t>
                      </a:r>
                      <a:endParaRPr lang="zh-CN" altLang="en-US" sz="20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en-US" altLang="x-none" sz="2000" dirty="0"/>
                        <a:t>① </a:t>
                      </a:r>
                      <a:r>
                        <a:rPr lang="zh-CN" altLang="en-US" sz="2000" dirty="0"/>
                        <a:t>若</a:t>
                      </a:r>
                      <a:r>
                        <a:rPr lang="en-US" altLang="x-none" sz="2000" dirty="0"/>
                        <a:t>BI</a:t>
                      </a:r>
                      <a:r>
                        <a:rPr lang="zh-CN" altLang="en-US" sz="2000" dirty="0"/>
                        <a:t>已</a:t>
                      </a:r>
                      <a:r>
                        <a:rPr lang="zh-CN" altLang="en-US" sz="2000" dirty="0">
                          <a:sym typeface="Wingdings" panose="05000000000000000000" pitchFamily="2" charset="2"/>
                        </a:rPr>
                        <a:t></a:t>
                      </a:r>
                      <a:r>
                        <a:rPr lang="en-US" altLang="x-none" sz="2000" dirty="0">
                          <a:sym typeface="Wingdings" panose="05000000000000000000" pitchFamily="2" charset="2"/>
                        </a:rPr>
                        <a:t>Log,</a:t>
                      </a:r>
                      <a:r>
                        <a:rPr lang="zh-CN" altLang="en-US" sz="2000" dirty="0">
                          <a:sym typeface="Wingdings" panose="05000000000000000000" pitchFamily="2" charset="2"/>
                        </a:rPr>
                        <a:t>则</a:t>
                      </a:r>
                      <a:r>
                        <a:rPr lang="en-US" altLang="x-none" sz="2000" dirty="0">
                          <a:sym typeface="Wingdings" panose="05000000000000000000" pitchFamily="2" charset="2"/>
                        </a:rPr>
                        <a:t>undo</a:t>
                      </a:r>
                      <a:r>
                        <a:rPr lang="zh-CN" altLang="en-US" sz="2000" dirty="0">
                          <a:sym typeface="Wingdings" panose="05000000000000000000" pitchFamily="2" charset="2"/>
                        </a:rPr>
                        <a:t>；否则勿需</a:t>
                      </a:r>
                      <a:r>
                        <a:rPr lang="en-US" altLang="x-none" sz="2000" dirty="0">
                          <a:sym typeface="Wingdings" panose="05000000000000000000" pitchFamily="2" charset="2"/>
                        </a:rPr>
                        <a:t>undo</a:t>
                      </a:r>
                      <a:r>
                        <a:rPr lang="zh-CN" altLang="en-US" sz="2000" dirty="0">
                          <a:sym typeface="Wingdings" panose="05000000000000000000" pitchFamily="2" charset="2"/>
                        </a:rPr>
                        <a:t>；</a:t>
                      </a:r>
                      <a:endParaRPr lang="zh-CN" altLang="en-US" sz="2000" dirty="0">
                        <a:sym typeface="Wingdings" panose="05000000000000000000" pitchFamily="2" charset="2"/>
                      </a:endParaRPr>
                    </a:p>
                    <a:p>
                      <a:pPr marL="0" lvl="0" indent="0" eaLnBrk="1" hangingPunct="1">
                        <a:spcBef>
                          <a:spcPct val="20000"/>
                        </a:spcBef>
                        <a:buClr>
                          <a:srgbClr val="000000"/>
                        </a:buClr>
                        <a:buFont typeface="Arial" panose="020B0604020202020204" pitchFamily="34" charset="0"/>
                        <a:buNone/>
                      </a:pPr>
                      <a:r>
                        <a:rPr lang="zh-CN" altLang="en-US" sz="2000" dirty="0"/>
                        <a:t>② 从</a:t>
                      </a:r>
                      <a:r>
                        <a:rPr lang="en-US" altLang="x-none" sz="2000" dirty="0"/>
                        <a:t>ALT</a:t>
                      </a:r>
                      <a:r>
                        <a:rPr lang="zh-CN" altLang="en-US" sz="2000" dirty="0"/>
                        <a:t>删除</a:t>
                      </a:r>
                      <a:r>
                        <a:rPr lang="en-US" altLang="x-none" sz="2000" dirty="0"/>
                        <a:t>TID</a:t>
                      </a:r>
                      <a:r>
                        <a:rPr lang="zh-CN" altLang="en-US" sz="2000" dirty="0"/>
                        <a:t>。</a:t>
                      </a:r>
                      <a:endParaRPr lang="zh-CN" altLang="en-US" sz="2000"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r>
              <a:tr h="81756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a:t>有</a:t>
                      </a:r>
                      <a:endParaRPr lang="zh-CN" altLang="en-US" sz="200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a:t>有</a:t>
                      </a:r>
                      <a:endParaRPr lang="zh-CN" altLang="en-US" sz="20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000" dirty="0"/>
                        <a:t>步骤</a:t>
                      </a:r>
                      <a:r>
                        <a:rPr lang="en-US" altLang="x-none" sz="2000" dirty="0"/>
                        <a:t>4</a:t>
                      </a:r>
                      <a:r>
                        <a:rPr lang="zh-CN" altLang="en-US" sz="2000" dirty="0"/>
                        <a:t>已完成，但步骤</a:t>
                      </a:r>
                      <a:r>
                        <a:rPr lang="en-US" altLang="x-none" sz="2000" dirty="0"/>
                        <a:t>6</a:t>
                      </a:r>
                      <a:r>
                        <a:rPr lang="zh-CN" altLang="en-US" sz="2000" dirty="0"/>
                        <a:t>未完成</a:t>
                      </a:r>
                      <a:endParaRPr lang="en-US" altLang="x-none" sz="20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en-US" altLang="x-none" sz="2000" dirty="0"/>
                        <a:t>①AI</a:t>
                      </a:r>
                      <a:r>
                        <a:rPr lang="zh-CN" altLang="en-US" sz="2000" dirty="0"/>
                        <a:t>已</a:t>
                      </a:r>
                      <a:r>
                        <a:rPr lang="zh-CN" altLang="en-US" sz="2000" dirty="0">
                          <a:sym typeface="Wingdings" panose="05000000000000000000" pitchFamily="2" charset="2"/>
                        </a:rPr>
                        <a:t></a:t>
                      </a:r>
                      <a:r>
                        <a:rPr lang="en-US" altLang="x-none" sz="2000" dirty="0">
                          <a:sym typeface="Wingdings" panose="05000000000000000000" pitchFamily="2" charset="2"/>
                        </a:rPr>
                        <a:t>Log,</a:t>
                      </a:r>
                      <a:r>
                        <a:rPr lang="en-US" altLang="x-none" sz="2000" dirty="0"/>
                        <a:t>re</a:t>
                      </a:r>
                      <a:r>
                        <a:rPr lang="en-US" altLang="x-none" sz="2000" dirty="0">
                          <a:sym typeface="Wingdings" panose="05000000000000000000" pitchFamily="2" charset="2"/>
                        </a:rPr>
                        <a:t>do</a:t>
                      </a:r>
                      <a:r>
                        <a:rPr lang="zh-CN" altLang="en-US" sz="2000" dirty="0">
                          <a:sym typeface="Wingdings" panose="05000000000000000000" pitchFamily="2" charset="2"/>
                        </a:rPr>
                        <a:t>；</a:t>
                      </a:r>
                      <a:endParaRPr lang="zh-CN" altLang="en-US" sz="2000" dirty="0">
                        <a:sym typeface="Wingdings" panose="05000000000000000000" pitchFamily="2" charset="2"/>
                      </a:endParaRPr>
                    </a:p>
                    <a:p>
                      <a:pPr marL="0" lvl="0" indent="0" eaLnBrk="1" hangingPunct="1">
                        <a:spcBef>
                          <a:spcPct val="20000"/>
                        </a:spcBef>
                        <a:buClr>
                          <a:srgbClr val="000000"/>
                        </a:buClr>
                        <a:buFont typeface="Arial" panose="020B0604020202020204" pitchFamily="34" charset="0"/>
                        <a:buNone/>
                      </a:pPr>
                      <a:r>
                        <a:rPr lang="zh-CN" altLang="en-US" sz="2000" dirty="0"/>
                        <a:t>②从</a:t>
                      </a:r>
                      <a:r>
                        <a:rPr lang="en-US" altLang="x-none" sz="2000" dirty="0"/>
                        <a:t>ALT</a:t>
                      </a:r>
                      <a:r>
                        <a:rPr lang="zh-CN" altLang="en-US" sz="2000" dirty="0"/>
                        <a:t>删除</a:t>
                      </a:r>
                      <a:r>
                        <a:rPr lang="en-US" altLang="x-none" sz="2000" dirty="0"/>
                        <a:t>TID</a:t>
                      </a:r>
                      <a:r>
                        <a:rPr lang="zh-CN" altLang="en-US" sz="2000" dirty="0"/>
                        <a:t>。</a:t>
                      </a:r>
                      <a:endParaRPr lang="zh-CN" altLang="en-US" sz="2000"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r>
              <a:tr h="62706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a:t>无</a:t>
                      </a:r>
                      <a:endParaRPr lang="zh-CN" altLang="en-US" sz="200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a:t>有</a:t>
                      </a:r>
                      <a:endParaRPr lang="zh-CN" altLang="en-US" sz="20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000" dirty="0"/>
                        <a:t>步骤</a:t>
                      </a:r>
                      <a:r>
                        <a:rPr lang="en-US" altLang="x-none" sz="2000" dirty="0"/>
                        <a:t>6</a:t>
                      </a:r>
                      <a:r>
                        <a:rPr lang="zh-CN" altLang="en-US" sz="2000" dirty="0"/>
                        <a:t>已完成</a:t>
                      </a:r>
                      <a:endParaRPr lang="zh-CN" altLang="en-US" sz="20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000">
                          <a:sym typeface="Wingdings" panose="05000000000000000000" pitchFamily="2" charset="2"/>
                        </a:rPr>
                        <a:t>勿需处理</a:t>
                      </a:r>
                      <a:endParaRPr lang="zh-CN" altLang="en-US" sz="2000">
                        <a:sym typeface="Wingdings" panose="05000000000000000000" pitchFamily="2" charset="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6F7FA">
                        <a:alpha val="100000"/>
                      </a:srgbClr>
                    </a:solidFill>
                  </a:tcPr>
                </a:tc>
              </a:tr>
            </a:tbl>
          </a:graphicData>
        </a:graphic>
      </p:graphicFrame>
      <p:sp>
        <p:nvSpPr>
          <p:cNvPr id="83999" name="Text Box 3"/>
          <p:cNvSpPr txBox="1"/>
          <p:nvPr/>
        </p:nvSpPr>
        <p:spPr>
          <a:xfrm>
            <a:off x="1790700" y="1471613"/>
            <a:ext cx="5643563" cy="1014412"/>
          </a:xfrm>
          <a:prstGeom prst="rect">
            <a:avLst/>
          </a:prstGeom>
          <a:noFill/>
          <a:ln w="9525">
            <a:noFill/>
          </a:ln>
        </p:spPr>
        <p:txBody>
          <a:bodyPr anchor="t">
            <a:spAutoFit/>
          </a:bodyPr>
          <a:lstStyle/>
          <a:p>
            <a:pPr lvl="0" indent="0">
              <a:spcBef>
                <a:spcPct val="50000"/>
              </a:spcBef>
            </a:pPr>
            <a:r>
              <a:rPr lang="zh-CN" altLang="en-US" sz="2400" dirty="0">
                <a:solidFill>
                  <a:srgbClr val="FF0000"/>
                </a:solidFill>
                <a:latin typeface="宋体" panose="02010600030101010101" pitchFamily="2" charset="-122"/>
                <a:ea typeface="宋体" panose="02010600030101010101" pitchFamily="2" charset="-122"/>
                <a:sym typeface="Wingdings" panose="05000000000000000000" pitchFamily="2" charset="2"/>
              </a:rPr>
              <a:t>方案三中发生故障时的事务恢复措施</a:t>
            </a:r>
            <a:endParaRPr lang="zh-CN" altLang="en-US" sz="2400" dirty="0">
              <a:solidFill>
                <a:srgbClr val="FF0000"/>
              </a:solidFill>
              <a:latin typeface="宋体" panose="02010600030101010101" pitchFamily="2" charset="-122"/>
              <a:ea typeface="宋体" panose="02010600030101010101" pitchFamily="2" charset="-122"/>
              <a:sym typeface="Wingdings" panose="05000000000000000000" pitchFamily="2" charset="2"/>
            </a:endParaRPr>
          </a:p>
          <a:p>
            <a:pPr lvl="0" indent="0">
              <a:spcBef>
                <a:spcPct val="50000"/>
              </a:spcBef>
            </a:pPr>
            <a:endParaRPr lang="zh-CN" altLang="en-US" sz="2400" dirty="0">
              <a:solidFill>
                <a:srgbClr val="0000CC"/>
              </a:solidFill>
              <a:latin typeface="宋体" panose="02010600030101010101" pitchFamily="2" charset="-122"/>
              <a:ea typeface="宋体" panose="02010600030101010101" pitchFamily="2" charset="-122"/>
              <a:sym typeface="Wingdings" panose="05000000000000000000" pitchFamily="2" charset="2"/>
            </a:endParaRPr>
          </a:p>
        </p:txBody>
      </p:sp>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7"/>
          <p:cNvSpPr/>
          <p:nvPr/>
        </p:nvSpPr>
        <p:spPr>
          <a:xfrm>
            <a:off x="454025" y="7683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5</a:t>
            </a:r>
            <a:r>
              <a:rPr lang="zh-CN" altLang="en-US" sz="2800" dirty="0">
                <a:solidFill>
                  <a:srgbClr val="FF0000"/>
                </a:solidFill>
                <a:latin typeface="黑体" panose="02010609060101010101" pitchFamily="1" charset="-122"/>
                <a:ea typeface="黑体" panose="02010609060101010101" pitchFamily="1" charset="-122"/>
              </a:rPr>
              <a:t>、故障类型及恢复对策</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84994"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四、数据库的故障恢复技术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84995" name="Rectangle 3"/>
          <p:cNvSpPr txBox="1"/>
          <p:nvPr/>
        </p:nvSpPr>
        <p:spPr>
          <a:xfrm>
            <a:off x="515938" y="1449388"/>
            <a:ext cx="8137525" cy="4676775"/>
          </a:xfrm>
          <a:prstGeom prst="rect">
            <a:avLst/>
          </a:prstGeom>
          <a:noFill/>
          <a:ln w="9525">
            <a:noFill/>
          </a:ln>
        </p:spPr>
        <p:txBody>
          <a:bodyPr anchor="t"/>
          <a:lstStyle/>
          <a:p>
            <a:pPr lvl="0" indent="0" eaLnBrk="0" hangingPunct="0">
              <a:lnSpc>
                <a:spcPct val="110000"/>
              </a:lnSpc>
              <a:spcBef>
                <a:spcPct val="50000"/>
              </a:spcBef>
              <a:buClr>
                <a:srgbClr val="0033CC"/>
              </a:buClr>
              <a:buSzPct val="80000"/>
              <a:buFont typeface="Wingdings" panose="05000000000000000000" pitchFamily="2" charset="2"/>
              <a:buChar char="u"/>
            </a:pPr>
            <a:r>
              <a:rPr lang="zh-CN" altLang="en-US" sz="2400" u="sng" dirty="0">
                <a:solidFill>
                  <a:srgbClr val="CC0000"/>
                </a:solidFill>
                <a:latin typeface="华文楷体" panose="02010600040101010101" pitchFamily="2" charset="-122"/>
                <a:ea typeface="宋体" panose="02010600030101010101" pitchFamily="2" charset="-122"/>
                <a:sym typeface="Wingdings" panose="05000000000000000000" pitchFamily="2" charset="2"/>
              </a:rPr>
              <a:t>事务的成功执行与结束</a:t>
            </a:r>
            <a:r>
              <a:rPr lang="zh-CN" altLang="en-US" sz="2400" u="sng" dirty="0">
                <a:latin typeface="华文楷体" panose="02010600040101010101" pitchFamily="2" charset="-122"/>
                <a:ea typeface="宋体" panose="02010600030101010101" pitchFamily="2" charset="-122"/>
                <a:sym typeface="Wingdings" panose="05000000000000000000" pitchFamily="2" charset="2"/>
              </a:rPr>
              <a:t>：</a:t>
            </a:r>
            <a:r>
              <a:rPr lang="zh-CN" altLang="en-US" sz="2200" dirty="0">
                <a:latin typeface="华文楷体" panose="02010600040101010101" pitchFamily="2" charset="-122"/>
                <a:ea typeface="宋体" panose="02010600030101010101" pitchFamily="2" charset="-122"/>
                <a:sym typeface="Wingdings" panose="05000000000000000000" pitchFamily="2" charset="2"/>
              </a:rPr>
              <a:t>一个事务以</a:t>
            </a:r>
            <a:r>
              <a:rPr lang="en-US" altLang="x-none" sz="2200" dirty="0">
                <a:latin typeface="华文楷体" panose="02010600040101010101" pitchFamily="2" charset="-122"/>
                <a:ea typeface="宋体" panose="02010600030101010101" pitchFamily="2" charset="-122"/>
                <a:sym typeface="Wingdings" panose="05000000000000000000" pitchFamily="2" charset="2"/>
              </a:rPr>
              <a:t>BEGIN TRANSACTION</a:t>
            </a:r>
            <a:endParaRPr lang="en-US" altLang="x-none" sz="2200" dirty="0">
              <a:latin typeface="华文楷体" panose="02010600040101010101" pitchFamily="2" charset="-122"/>
              <a:ea typeface="宋体" panose="02010600030101010101" pitchFamily="2" charset="-122"/>
              <a:sym typeface="Wingdings" panose="05000000000000000000" pitchFamily="2" charset="2"/>
            </a:endParaRPr>
          </a:p>
          <a:p>
            <a:pPr lvl="0" indent="0" eaLnBrk="0" hangingPunct="0">
              <a:lnSpc>
                <a:spcPct val="110000"/>
              </a:lnSpc>
              <a:buClr>
                <a:srgbClr val="0033CC"/>
              </a:buClr>
              <a:buSzPct val="80000"/>
            </a:pPr>
            <a:r>
              <a:rPr lang="en-US" altLang="x-none" sz="2200" dirty="0">
                <a:latin typeface="华文楷体" panose="02010600040101010101" pitchFamily="2" charset="-122"/>
                <a:ea typeface="宋体" panose="02010600030101010101" pitchFamily="2" charset="-122"/>
                <a:sym typeface="Wingdings" panose="05000000000000000000" pitchFamily="2" charset="2"/>
              </a:rPr>
              <a:t>    </a:t>
            </a:r>
            <a:r>
              <a:rPr lang="zh-CN" altLang="en-US" sz="2200" dirty="0">
                <a:latin typeface="华文楷体" panose="02010600040101010101" pitchFamily="2" charset="-122"/>
                <a:ea typeface="宋体" panose="02010600030101010101" pitchFamily="2" charset="-122"/>
                <a:sym typeface="Wingdings" panose="05000000000000000000" pitchFamily="2" charset="2"/>
              </a:rPr>
              <a:t>语句的成功执行开始，以</a:t>
            </a:r>
            <a:r>
              <a:rPr lang="en-US" altLang="x-none" sz="2200" u="sng" dirty="0">
                <a:solidFill>
                  <a:srgbClr val="0033CC"/>
                </a:solidFill>
                <a:latin typeface="华文楷体" panose="02010600040101010101" pitchFamily="2" charset="-122"/>
                <a:ea typeface="宋体" panose="02010600030101010101" pitchFamily="2" charset="-122"/>
                <a:sym typeface="Wingdings" panose="05000000000000000000" pitchFamily="2" charset="2"/>
              </a:rPr>
              <a:t>COMMIT</a:t>
            </a:r>
            <a:r>
              <a:rPr lang="zh-CN" altLang="en-US" sz="2200" dirty="0">
                <a:latin typeface="华文楷体" panose="02010600040101010101" pitchFamily="2" charset="-122"/>
                <a:ea typeface="宋体" panose="02010600030101010101" pitchFamily="2" charset="-122"/>
                <a:sym typeface="Wingdings" panose="05000000000000000000" pitchFamily="2" charset="2"/>
              </a:rPr>
              <a:t>或</a:t>
            </a:r>
            <a:r>
              <a:rPr lang="en-US" altLang="x-none" sz="2200" u="sng" dirty="0">
                <a:solidFill>
                  <a:srgbClr val="0033CC"/>
                </a:solidFill>
                <a:latin typeface="华文楷体" panose="02010600040101010101" pitchFamily="2" charset="-122"/>
                <a:ea typeface="宋体" panose="02010600030101010101" pitchFamily="2" charset="-122"/>
                <a:sym typeface="Wingdings" panose="05000000000000000000" pitchFamily="2" charset="2"/>
              </a:rPr>
              <a:t>ROLLBACK</a:t>
            </a:r>
            <a:r>
              <a:rPr lang="zh-CN" altLang="en-US" sz="2200" dirty="0">
                <a:latin typeface="华文楷体" panose="02010600040101010101" pitchFamily="2" charset="-122"/>
                <a:ea typeface="宋体" panose="02010600030101010101" pitchFamily="2" charset="-122"/>
                <a:sym typeface="Wingdings" panose="05000000000000000000" pitchFamily="2" charset="2"/>
              </a:rPr>
              <a:t>语句的成功执</a:t>
            </a:r>
            <a:endParaRPr lang="en-US" altLang="x-none" sz="2200" dirty="0">
              <a:latin typeface="华文楷体" panose="02010600040101010101" pitchFamily="2" charset="-122"/>
              <a:ea typeface="宋体" panose="02010600030101010101" pitchFamily="2" charset="-122"/>
              <a:sym typeface="Wingdings" panose="05000000000000000000" pitchFamily="2" charset="2"/>
            </a:endParaRPr>
          </a:p>
          <a:p>
            <a:pPr lvl="0" indent="0" eaLnBrk="0" hangingPunct="0">
              <a:lnSpc>
                <a:spcPct val="110000"/>
              </a:lnSpc>
              <a:buClr>
                <a:srgbClr val="0033CC"/>
              </a:buClr>
              <a:buSzPct val="80000"/>
            </a:pPr>
            <a:r>
              <a:rPr lang="en-US" altLang="x-none" sz="2200" dirty="0">
                <a:latin typeface="华文楷体" panose="02010600040101010101" pitchFamily="2" charset="-122"/>
                <a:ea typeface="宋体" panose="02010600030101010101" pitchFamily="2" charset="-122"/>
                <a:sym typeface="Wingdings" panose="05000000000000000000" pitchFamily="2" charset="2"/>
              </a:rPr>
              <a:t>    </a:t>
            </a:r>
            <a:r>
              <a:rPr lang="zh-CN" altLang="en-US" sz="2200" dirty="0">
                <a:latin typeface="华文楷体" panose="02010600040101010101" pitchFamily="2" charset="-122"/>
                <a:ea typeface="宋体" panose="02010600030101010101" pitchFamily="2" charset="-122"/>
                <a:sym typeface="Wingdings" panose="05000000000000000000" pitchFamily="2" charset="2"/>
              </a:rPr>
              <a:t>行结束。</a:t>
            </a:r>
            <a:endParaRPr lang="zh-CN" altLang="en-US" sz="2200" dirty="0">
              <a:latin typeface="华文楷体" panose="02010600040101010101" pitchFamily="2" charset="-122"/>
              <a:ea typeface="宋体" panose="02010600030101010101" pitchFamily="2" charset="-122"/>
              <a:sym typeface="Wingdings" panose="05000000000000000000" pitchFamily="2" charset="2"/>
            </a:endParaRPr>
          </a:p>
          <a:p>
            <a:pPr lvl="0" indent="0" eaLnBrk="0" hangingPunct="0">
              <a:lnSpc>
                <a:spcPct val="110000"/>
              </a:lnSpc>
              <a:spcBef>
                <a:spcPct val="50000"/>
              </a:spcBef>
              <a:buClr>
                <a:srgbClr val="0033CC"/>
              </a:buClr>
              <a:buSzPct val="80000"/>
              <a:buFont typeface="Wingdings" panose="05000000000000000000" pitchFamily="2" charset="2"/>
              <a:buChar char="u"/>
            </a:pPr>
            <a:r>
              <a:rPr lang="zh-CN" altLang="en-US" sz="2400" u="sng" dirty="0">
                <a:solidFill>
                  <a:srgbClr val="CC0000"/>
                </a:solidFill>
                <a:latin typeface="华文楷体" panose="02010600040101010101" pitchFamily="2" charset="-122"/>
                <a:ea typeface="宋体" panose="02010600030101010101" pitchFamily="2" charset="-122"/>
                <a:sym typeface="Wingdings" panose="05000000000000000000" pitchFamily="2" charset="2"/>
              </a:rPr>
              <a:t>提交点</a:t>
            </a:r>
            <a:r>
              <a:rPr lang="zh-CN" altLang="en-US" sz="2400" u="sng" dirty="0">
                <a:latin typeface="华文楷体" panose="02010600040101010101" pitchFamily="2" charset="-122"/>
                <a:ea typeface="宋体" panose="02010600030101010101" pitchFamily="2" charset="-122"/>
                <a:sym typeface="Wingdings" panose="05000000000000000000" pitchFamily="2" charset="2"/>
              </a:rPr>
              <a:t>：</a:t>
            </a:r>
            <a:r>
              <a:rPr lang="en-US" altLang="x-none" sz="2400" dirty="0">
                <a:latin typeface="华文楷体" panose="02010600040101010101" pitchFamily="2" charset="-122"/>
                <a:ea typeface="宋体" panose="02010600030101010101" pitchFamily="2" charset="-122"/>
                <a:sym typeface="Wingdings" panose="05000000000000000000" pitchFamily="2" charset="2"/>
              </a:rPr>
              <a:t>COMMIT</a:t>
            </a:r>
            <a:r>
              <a:rPr lang="zh-CN" altLang="en-US" sz="2400" dirty="0">
                <a:latin typeface="华文楷体" panose="02010600040101010101" pitchFamily="2" charset="-122"/>
                <a:ea typeface="宋体" panose="02010600030101010101" pitchFamily="2" charset="-122"/>
                <a:sym typeface="Wingdings" panose="05000000000000000000" pitchFamily="2" charset="2"/>
              </a:rPr>
              <a:t>建立了一个提交点</a:t>
            </a:r>
            <a:r>
              <a:rPr lang="en-US" altLang="x-none" sz="2400" dirty="0">
                <a:latin typeface="华文楷体" panose="02010600040101010101" pitchFamily="2" charset="-122"/>
                <a:ea typeface="宋体" panose="02010600030101010101" pitchFamily="2" charset="-122"/>
                <a:sym typeface="Wingdings" panose="05000000000000000000" pitchFamily="2" charset="2"/>
              </a:rPr>
              <a:t>(Commit Point)</a:t>
            </a:r>
            <a:r>
              <a:rPr lang="zh-CN" altLang="en-US" sz="2400" dirty="0">
                <a:latin typeface="华文楷体" panose="02010600040101010101" pitchFamily="2" charset="-122"/>
                <a:ea typeface="宋体" panose="02010600030101010101" pitchFamily="2" charset="-122"/>
                <a:sym typeface="Wingdings" panose="05000000000000000000" pitchFamily="2" charset="2"/>
              </a:rPr>
              <a:t>，</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lvl="0" indent="0" eaLnBrk="0" hangingPunct="0">
              <a:lnSpc>
                <a:spcPct val="110000"/>
              </a:lnSpc>
              <a:spcBef>
                <a:spcPts val="600"/>
              </a:spcBef>
              <a:buClr>
                <a:srgbClr val="0033CC"/>
              </a:buClr>
              <a:buSzPct val="80000"/>
            </a:pPr>
            <a:r>
              <a:rPr lang="en-US" altLang="x-none" sz="2400" dirty="0">
                <a:latin typeface="华文楷体" panose="02010600040101010101" pitchFamily="2" charset="-122"/>
                <a:ea typeface="宋体" panose="02010600030101010101" pitchFamily="2" charset="-122"/>
                <a:sym typeface="Wingdings" panose="05000000000000000000" pitchFamily="2" charset="2"/>
              </a:rPr>
              <a:t>    --</a:t>
            </a:r>
            <a:r>
              <a:rPr lang="zh-CN" altLang="en-US" sz="2200" dirty="0">
                <a:latin typeface="楷体_GB2312"/>
                <a:ea typeface="楷体_GB2312"/>
                <a:sym typeface="Wingdings" panose="05000000000000000000" pitchFamily="2" charset="2"/>
              </a:rPr>
              <a:t>在商用</a:t>
            </a:r>
            <a:r>
              <a:rPr lang="en-US" altLang="x-none" sz="2200" dirty="0">
                <a:latin typeface="楷体_GB2312"/>
                <a:ea typeface="楷体_GB2312"/>
                <a:sym typeface="Wingdings" panose="05000000000000000000" pitchFamily="2" charset="2"/>
              </a:rPr>
              <a:t>DBMS</a:t>
            </a:r>
            <a:r>
              <a:rPr lang="zh-CN" altLang="en-US" sz="2200" dirty="0">
                <a:latin typeface="楷体_GB2312"/>
                <a:ea typeface="楷体_GB2312"/>
                <a:sym typeface="Wingdings" panose="05000000000000000000" pitchFamily="2" charset="2"/>
              </a:rPr>
              <a:t>产品中也叫同步点</a:t>
            </a:r>
            <a:r>
              <a:rPr lang="en-US" altLang="x-none" sz="2200" dirty="0">
                <a:latin typeface="楷体_GB2312"/>
                <a:ea typeface="楷体_GB2312"/>
                <a:sym typeface="Wingdings" panose="05000000000000000000" pitchFamily="2" charset="2"/>
              </a:rPr>
              <a:t>(Syncpoint)</a:t>
            </a:r>
            <a:r>
              <a:rPr lang="zh-CN" altLang="en-US" sz="2200" dirty="0">
                <a:latin typeface="楷体_GB2312"/>
                <a:ea typeface="楷体_GB2312"/>
                <a:sym typeface="Wingdings" panose="05000000000000000000" pitchFamily="2" charset="2"/>
              </a:rPr>
              <a:t>。提交点标志着逻辑工作单元的结束，要求</a:t>
            </a:r>
            <a:r>
              <a:rPr lang="en-US" altLang="x-none" sz="2200" dirty="0">
                <a:latin typeface="楷体_GB2312"/>
                <a:ea typeface="楷体_GB2312"/>
                <a:sym typeface="Wingdings" panose="05000000000000000000" pitchFamily="2" charset="2"/>
              </a:rPr>
              <a:t>DB</a:t>
            </a:r>
            <a:r>
              <a:rPr lang="zh-CN" altLang="en-US" sz="2200" dirty="0">
                <a:latin typeface="楷体_GB2312"/>
                <a:ea typeface="楷体_GB2312"/>
                <a:sym typeface="Wingdings" panose="05000000000000000000" pitchFamily="2" charset="2"/>
              </a:rPr>
              <a:t>处于一致状态。</a:t>
            </a:r>
            <a:endParaRPr lang="zh-CN" altLang="en-US" sz="2200" dirty="0">
              <a:latin typeface="楷体_GB2312"/>
              <a:ea typeface="楷体_GB2312"/>
              <a:sym typeface="Wingdings" panose="05000000000000000000" pitchFamily="2" charset="2"/>
            </a:endParaRPr>
          </a:p>
          <a:p>
            <a:pPr lvl="0" indent="0" eaLnBrk="0" hangingPunct="0">
              <a:lnSpc>
                <a:spcPct val="110000"/>
              </a:lnSpc>
              <a:spcBef>
                <a:spcPct val="50000"/>
              </a:spcBef>
              <a:buClr>
                <a:srgbClr val="0033CC"/>
              </a:buClr>
              <a:buSzPct val="80000"/>
              <a:buFont typeface="Wingdings" panose="05000000000000000000" pitchFamily="2" charset="2"/>
              <a:buChar char="u"/>
            </a:pPr>
            <a:r>
              <a:rPr lang="zh-CN" altLang="en-US" sz="2400" u="sng" dirty="0">
                <a:solidFill>
                  <a:srgbClr val="CC0000"/>
                </a:solidFill>
                <a:latin typeface="华文楷体" panose="02010600040101010101" pitchFamily="2" charset="-122"/>
                <a:ea typeface="宋体" panose="02010600030101010101" pitchFamily="2" charset="-122"/>
              </a:rPr>
              <a:t>可恢复的故障</a:t>
            </a:r>
            <a:endParaRPr lang="zh-CN" altLang="en-US" sz="2400" u="sng" dirty="0">
              <a:solidFill>
                <a:srgbClr val="CC0000"/>
              </a:solidFill>
              <a:latin typeface="华文楷体" panose="02010600040101010101" pitchFamily="2" charset="-122"/>
              <a:ea typeface="宋体" panose="02010600030101010101" pitchFamily="2" charset="-122"/>
            </a:endParaRPr>
          </a:p>
          <a:p>
            <a:pPr lvl="0" indent="0" eaLnBrk="0" hangingPunct="0">
              <a:lnSpc>
                <a:spcPct val="110000"/>
              </a:lnSpc>
              <a:spcBef>
                <a:spcPts val="300"/>
              </a:spcBef>
              <a:buClr>
                <a:srgbClr val="0033CC"/>
              </a:buClr>
              <a:buSzPct val="80000"/>
            </a:pPr>
            <a:r>
              <a:rPr lang="zh-CN" altLang="en-US" sz="2400" dirty="0">
                <a:latin typeface="华文楷体" panose="02010600040101010101" pitchFamily="2" charset="-122"/>
                <a:ea typeface="宋体" panose="02010600030101010101" pitchFamily="2" charset="-122"/>
                <a:sym typeface="Wingdings" panose="05000000000000000000" pitchFamily="2" charset="2"/>
              </a:rPr>
              <a:t>     </a:t>
            </a:r>
            <a:r>
              <a:rPr lang="en-US" altLang="x-none" sz="2200" dirty="0">
                <a:latin typeface="楷体_GB2312"/>
                <a:ea typeface="楷体_GB2312"/>
                <a:sym typeface="Wingdings" panose="05000000000000000000" pitchFamily="2" charset="2"/>
              </a:rPr>
              <a:t>--</a:t>
            </a:r>
            <a:r>
              <a:rPr lang="zh-CN" altLang="en-US" sz="2200" dirty="0">
                <a:latin typeface="楷体_GB2312"/>
                <a:ea typeface="楷体_GB2312"/>
                <a:sym typeface="Wingdings" panose="05000000000000000000" pitchFamily="2" charset="2"/>
              </a:rPr>
              <a:t>事务故障</a:t>
            </a:r>
            <a:endParaRPr lang="en-US" altLang="x-none" sz="2200" dirty="0">
              <a:latin typeface="楷体_GB2312"/>
              <a:ea typeface="楷体_GB2312"/>
              <a:sym typeface="Wingdings" panose="05000000000000000000" pitchFamily="2" charset="2"/>
            </a:endParaRPr>
          </a:p>
          <a:p>
            <a:pPr lvl="0" indent="0" eaLnBrk="0" hangingPunct="0">
              <a:lnSpc>
                <a:spcPct val="110000"/>
              </a:lnSpc>
              <a:spcBef>
                <a:spcPts val="300"/>
              </a:spcBef>
              <a:buClr>
                <a:srgbClr val="0033CC"/>
              </a:buClr>
              <a:buSzPct val="80000"/>
            </a:pPr>
            <a:r>
              <a:rPr lang="en-US" altLang="x-none" sz="2200" dirty="0">
                <a:latin typeface="楷体_GB2312"/>
                <a:ea typeface="楷体_GB2312"/>
                <a:sym typeface="Wingdings" panose="05000000000000000000" pitchFamily="2" charset="2"/>
              </a:rPr>
              <a:t>   --</a:t>
            </a:r>
            <a:r>
              <a:rPr lang="zh-CN" altLang="en-US" sz="2200" dirty="0">
                <a:latin typeface="楷体_GB2312"/>
                <a:ea typeface="楷体_GB2312"/>
                <a:sym typeface="Wingdings" panose="05000000000000000000" pitchFamily="2" charset="2"/>
              </a:rPr>
              <a:t>系统故障</a:t>
            </a:r>
            <a:endParaRPr lang="en-US" altLang="x-none" sz="2200" dirty="0">
              <a:latin typeface="楷体_GB2312"/>
              <a:ea typeface="楷体_GB2312"/>
              <a:sym typeface="Wingdings" panose="05000000000000000000" pitchFamily="2" charset="2"/>
            </a:endParaRPr>
          </a:p>
          <a:p>
            <a:pPr lvl="0" indent="0" eaLnBrk="0" hangingPunct="0">
              <a:lnSpc>
                <a:spcPct val="110000"/>
              </a:lnSpc>
              <a:spcBef>
                <a:spcPts val="300"/>
              </a:spcBef>
              <a:buClr>
                <a:srgbClr val="0033CC"/>
              </a:buClr>
              <a:buSzPct val="80000"/>
            </a:pPr>
            <a:r>
              <a:rPr lang="zh-CN" altLang="en-US" sz="2200" dirty="0">
                <a:latin typeface="楷体_GB2312"/>
                <a:ea typeface="楷体_GB2312"/>
                <a:sym typeface="Wingdings" panose="05000000000000000000" pitchFamily="2" charset="2"/>
              </a:rPr>
              <a:t>   </a:t>
            </a:r>
            <a:r>
              <a:rPr lang="en-US" altLang="x-none" sz="2200" dirty="0">
                <a:latin typeface="楷体_GB2312"/>
                <a:ea typeface="楷体_GB2312"/>
                <a:sym typeface="Wingdings" panose="05000000000000000000" pitchFamily="2" charset="2"/>
              </a:rPr>
              <a:t>--</a:t>
            </a:r>
            <a:r>
              <a:rPr lang="zh-CN" altLang="en-US" sz="2200" dirty="0">
                <a:latin typeface="楷体_GB2312"/>
                <a:ea typeface="楷体_GB2312"/>
                <a:sym typeface="Wingdings" panose="05000000000000000000" pitchFamily="2" charset="2"/>
              </a:rPr>
              <a:t>介质故障</a:t>
            </a:r>
            <a:endParaRPr lang="zh-CN" altLang="en-US" sz="2200" dirty="0">
              <a:latin typeface="楷体_GB2312"/>
              <a:ea typeface="楷体_GB2312"/>
              <a:sym typeface="Wingdings" panose="05000000000000000000" pitchFamily="2" charset="2"/>
            </a:endParaRPr>
          </a:p>
        </p:txBody>
      </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7"/>
          <p:cNvSpPr/>
          <p:nvPr/>
        </p:nvSpPr>
        <p:spPr>
          <a:xfrm>
            <a:off x="6284913" y="966788"/>
            <a:ext cx="2395537"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600" dirty="0">
                <a:solidFill>
                  <a:srgbClr val="0033CC"/>
                </a:solidFill>
                <a:latin typeface="黑体" panose="02010609060101010101" pitchFamily="1" charset="-122"/>
                <a:ea typeface="黑体" panose="02010609060101010101" pitchFamily="1" charset="-122"/>
              </a:rPr>
              <a:t>(1)</a:t>
            </a:r>
            <a:r>
              <a:rPr lang="zh-CN" altLang="en-US" sz="2600" dirty="0">
                <a:solidFill>
                  <a:srgbClr val="0033CC"/>
                </a:solidFill>
                <a:latin typeface="黑体" panose="02010609060101010101" pitchFamily="1" charset="-122"/>
                <a:ea typeface="黑体" panose="02010609060101010101" pitchFamily="1" charset="-122"/>
              </a:rPr>
              <a:t>事务故障</a:t>
            </a:r>
            <a:endParaRPr lang="en-US" altLang="x-none" sz="2600" dirty="0">
              <a:solidFill>
                <a:srgbClr val="0033CC"/>
              </a:solidFill>
              <a:latin typeface="黑体" panose="02010609060101010101" pitchFamily="1" charset="-122"/>
              <a:ea typeface="黑体" panose="02010609060101010101" pitchFamily="1" charset="-122"/>
            </a:endParaRPr>
          </a:p>
        </p:txBody>
      </p:sp>
      <p:sp>
        <p:nvSpPr>
          <p:cNvPr id="86018"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四、数据库的故障恢复技术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89092" name="Text Box 6"/>
          <p:cNvSpPr txBox="1"/>
          <p:nvPr/>
        </p:nvSpPr>
        <p:spPr>
          <a:xfrm>
            <a:off x="563563" y="1414463"/>
            <a:ext cx="5761037" cy="2516187"/>
          </a:xfrm>
          <a:prstGeom prst="rect">
            <a:avLst/>
          </a:prstGeom>
          <a:noFill/>
          <a:ln w="9525">
            <a:noFill/>
          </a:ln>
        </p:spPr>
        <p:txBody>
          <a:bodyPr anchor="t">
            <a:spAutoFit/>
          </a:bodyPr>
          <a:lstStyle/>
          <a:p>
            <a:pPr lvl="0" indent="0">
              <a:spcBef>
                <a:spcPct val="50000"/>
              </a:spcBef>
              <a:buFont typeface="Wingdings" panose="05000000000000000000" pitchFamily="2" charset="2"/>
              <a:buChar char="Ø"/>
            </a:pPr>
            <a:r>
              <a:rPr lang="zh-CN" altLang="en-US" sz="2400" dirty="0">
                <a:solidFill>
                  <a:srgbClr val="FF0000"/>
                </a:solidFill>
                <a:latin typeface="宋体" panose="02010600030101010101" pitchFamily="2" charset="-122"/>
                <a:ea typeface="宋体" panose="02010600030101010101" pitchFamily="2" charset="-122"/>
                <a:sym typeface="Wingdings" panose="05000000000000000000" pitchFamily="2" charset="2"/>
              </a:rPr>
              <a:t>事务失效的原因</a:t>
            </a:r>
            <a:r>
              <a:rPr lang="en-US" altLang="x-none" sz="2400" dirty="0">
                <a:solidFill>
                  <a:srgbClr val="FF0000"/>
                </a:solidFill>
                <a:latin typeface="宋体" panose="02010600030101010101" pitchFamily="2" charset="-122"/>
                <a:ea typeface="宋体" panose="02010600030101010101" pitchFamily="2" charset="-122"/>
                <a:sym typeface="Wingdings" panose="05000000000000000000" pitchFamily="2" charset="2"/>
              </a:rPr>
              <a:t>:</a:t>
            </a:r>
            <a:endParaRPr lang="zh-CN" altLang="en-US" sz="2400" dirty="0">
              <a:solidFill>
                <a:srgbClr val="FF0000"/>
              </a:solidFill>
              <a:latin typeface="宋体" panose="02010600030101010101" pitchFamily="2" charset="-122"/>
              <a:ea typeface="宋体" panose="02010600030101010101" pitchFamily="2" charset="-122"/>
              <a:sym typeface="Wingdings" panose="05000000000000000000" pitchFamily="2" charset="2"/>
            </a:endParaRPr>
          </a:p>
          <a:p>
            <a:pPr lvl="0" indent="0">
              <a:lnSpc>
                <a:spcPct val="110000"/>
              </a:lnSpc>
              <a:spcBef>
                <a:spcPts val="300"/>
              </a:spcBef>
            </a:pPr>
            <a:r>
              <a:rPr lang="zh-CN" altLang="en-US" sz="2200" dirty="0">
                <a:latin typeface="华文楷体" panose="02010600040101010101" pitchFamily="2" charset="-122"/>
                <a:ea typeface="华文楷体" panose="02010600040101010101" pitchFamily="2" charset="-122"/>
                <a:sym typeface="Wingdings" panose="05000000000000000000" pitchFamily="2" charset="2"/>
              </a:rPr>
              <a:t>   ① 事务无法执行而中止。 </a:t>
            </a:r>
            <a:endParaRPr lang="zh-CN" altLang="en-US" sz="2200" dirty="0">
              <a:latin typeface="华文楷体" panose="02010600040101010101" pitchFamily="2" charset="-122"/>
              <a:ea typeface="华文楷体" panose="02010600040101010101" pitchFamily="2" charset="-122"/>
              <a:sym typeface="Wingdings" panose="05000000000000000000" pitchFamily="2" charset="2"/>
            </a:endParaRPr>
          </a:p>
          <a:p>
            <a:pPr lvl="0" indent="0">
              <a:lnSpc>
                <a:spcPct val="110000"/>
              </a:lnSpc>
              <a:spcBef>
                <a:spcPts val="300"/>
              </a:spcBef>
            </a:pPr>
            <a:r>
              <a:rPr lang="zh-CN" altLang="en-US" sz="2200" dirty="0">
                <a:latin typeface="华文楷体" panose="02010600040101010101" pitchFamily="2" charset="-122"/>
                <a:ea typeface="华文楷体" panose="02010600040101010101" pitchFamily="2" charset="-122"/>
                <a:sym typeface="Wingdings" panose="05000000000000000000" pitchFamily="2" charset="2"/>
              </a:rPr>
              <a:t>   ② 用户主动撤销事务。</a:t>
            </a:r>
            <a:endParaRPr lang="zh-CN" altLang="en-US" sz="2200" dirty="0">
              <a:latin typeface="华文楷体" panose="02010600040101010101" pitchFamily="2" charset="-122"/>
              <a:ea typeface="华文楷体" panose="02010600040101010101" pitchFamily="2" charset="-122"/>
              <a:sym typeface="Wingdings" panose="05000000000000000000" pitchFamily="2" charset="2"/>
            </a:endParaRPr>
          </a:p>
          <a:p>
            <a:pPr lvl="0" indent="0">
              <a:lnSpc>
                <a:spcPct val="110000"/>
              </a:lnSpc>
              <a:spcBef>
                <a:spcPts val="300"/>
              </a:spcBef>
            </a:pPr>
            <a:r>
              <a:rPr lang="zh-CN" altLang="en-US" sz="2200" dirty="0">
                <a:latin typeface="华文楷体" panose="02010600040101010101" pitchFamily="2" charset="-122"/>
                <a:ea typeface="华文楷体" panose="02010600040101010101" pitchFamily="2" charset="-122"/>
                <a:sym typeface="Wingdings" panose="05000000000000000000" pitchFamily="2" charset="2"/>
              </a:rPr>
              <a:t>   ③ 因系统调度差错而中止。 </a:t>
            </a:r>
            <a:endParaRPr lang="zh-CN" altLang="en-US" sz="2200" dirty="0">
              <a:latin typeface="华文楷体" panose="02010600040101010101" pitchFamily="2" charset="-122"/>
              <a:ea typeface="华文楷体" panose="02010600040101010101" pitchFamily="2" charset="-122"/>
              <a:sym typeface="Wingdings" panose="05000000000000000000" pitchFamily="2" charset="2"/>
            </a:endParaRPr>
          </a:p>
          <a:p>
            <a:pPr lvl="0" indent="0">
              <a:lnSpc>
                <a:spcPct val="110000"/>
              </a:lnSpc>
              <a:spcBef>
                <a:spcPts val="300"/>
              </a:spcBef>
            </a:pPr>
            <a:r>
              <a:rPr lang="zh-CN" altLang="en-US" sz="2200" dirty="0">
                <a:latin typeface="华文楷体" panose="02010600040101010101" pitchFamily="2" charset="-122"/>
                <a:ea typeface="华文楷体" panose="02010600040101010101" pitchFamily="2" charset="-122"/>
                <a:sym typeface="Wingdings" panose="05000000000000000000" pitchFamily="2" charset="2"/>
              </a:rPr>
              <a:t>   ④ 因电源故障而中止。 </a:t>
            </a:r>
            <a:endParaRPr lang="zh-CN" altLang="en-US" sz="2200" dirty="0">
              <a:latin typeface="华文楷体" panose="02010600040101010101" pitchFamily="2" charset="-122"/>
              <a:ea typeface="华文楷体" panose="02010600040101010101" pitchFamily="2" charset="-122"/>
              <a:sym typeface="Wingdings" panose="05000000000000000000" pitchFamily="2" charset="2"/>
            </a:endParaRPr>
          </a:p>
          <a:p>
            <a:pPr lvl="0" indent="0">
              <a:lnSpc>
                <a:spcPct val="110000"/>
              </a:lnSpc>
              <a:spcBef>
                <a:spcPts val="300"/>
              </a:spcBef>
            </a:pPr>
            <a:r>
              <a:rPr lang="zh-CN" altLang="en-US" sz="2200" dirty="0">
                <a:latin typeface="华文楷体" panose="02010600040101010101" pitchFamily="2" charset="-122"/>
                <a:ea typeface="华文楷体" panose="02010600040101010101" pitchFamily="2" charset="-122"/>
                <a:sym typeface="Wingdings" panose="05000000000000000000" pitchFamily="2" charset="2"/>
              </a:rPr>
              <a:t>   ⑤ 因介质故障而中止。</a:t>
            </a:r>
            <a:endParaRPr lang="zh-CN" altLang="en-US" sz="2200" dirty="0">
              <a:latin typeface="华文楷体" panose="02010600040101010101" pitchFamily="2" charset="-122"/>
              <a:ea typeface="华文楷体" panose="02010600040101010101" pitchFamily="2" charset="-122"/>
              <a:sym typeface="Wingdings" panose="05000000000000000000" pitchFamily="2" charset="2"/>
            </a:endParaRPr>
          </a:p>
        </p:txBody>
      </p:sp>
      <p:sp>
        <p:nvSpPr>
          <p:cNvPr id="89093" name="Text Box 7"/>
          <p:cNvSpPr txBox="1"/>
          <p:nvPr/>
        </p:nvSpPr>
        <p:spPr>
          <a:xfrm>
            <a:off x="596900" y="3938588"/>
            <a:ext cx="8001000" cy="2154237"/>
          </a:xfrm>
          <a:prstGeom prst="rect">
            <a:avLst/>
          </a:prstGeom>
          <a:noFill/>
          <a:ln w="9525">
            <a:noFill/>
          </a:ln>
        </p:spPr>
        <p:txBody>
          <a:bodyPr anchor="t">
            <a:spAutoFit/>
          </a:bodyPr>
          <a:lstStyle/>
          <a:p>
            <a:pPr marL="457200" lvl="0" indent="-457200">
              <a:spcBef>
                <a:spcPct val="50000"/>
              </a:spcBef>
            </a:pPr>
            <a:r>
              <a:rPr lang="zh-CN" altLang="en-US" sz="2400" dirty="0">
                <a:latin typeface="宋体" panose="02010600030101010101" pitchFamily="2" charset="-122"/>
                <a:ea typeface="宋体" panose="02010600030101010101" pitchFamily="2" charset="-122"/>
                <a:sym typeface="Wingdings" panose="05000000000000000000" pitchFamily="2" charset="2"/>
              </a:rPr>
              <a:t>一般，失败的事务都是未提交的事务。</a:t>
            </a:r>
            <a:endParaRPr lang="zh-CN" altLang="en-US" sz="2400" dirty="0">
              <a:latin typeface="宋体" panose="02010600030101010101" pitchFamily="2" charset="-122"/>
              <a:ea typeface="宋体" panose="02010600030101010101" pitchFamily="2" charset="-122"/>
              <a:sym typeface="Wingdings" panose="05000000000000000000" pitchFamily="2" charset="2"/>
            </a:endParaRPr>
          </a:p>
          <a:p>
            <a:pPr marL="457200" lvl="0" indent="-457200">
              <a:spcBef>
                <a:spcPts val="600"/>
              </a:spcBef>
              <a:buFont typeface="Wingdings" panose="05000000000000000000" pitchFamily="2" charset="2"/>
              <a:buChar char="Ø"/>
            </a:pPr>
            <a:r>
              <a:rPr lang="zh-CN" altLang="en-US" sz="2400" dirty="0">
                <a:solidFill>
                  <a:srgbClr val="FF0000"/>
                </a:solidFill>
                <a:latin typeface="宋体" panose="02010600030101010101" pitchFamily="2" charset="-122"/>
                <a:ea typeface="宋体" panose="02010600030101010101" pitchFamily="2" charset="-122"/>
                <a:sym typeface="Wingdings" panose="05000000000000000000" pitchFamily="2" charset="2"/>
              </a:rPr>
              <a:t>事务故障的恢复措施</a:t>
            </a:r>
            <a:r>
              <a:rPr lang="en-US" altLang="x-none" sz="2400" dirty="0">
                <a:solidFill>
                  <a:srgbClr val="FF0000"/>
                </a:solidFill>
                <a:latin typeface="宋体" panose="02010600030101010101" pitchFamily="2" charset="-122"/>
                <a:ea typeface="宋体" panose="02010600030101010101" pitchFamily="2" charset="-122"/>
                <a:sym typeface="Wingdings" panose="05000000000000000000" pitchFamily="2" charset="2"/>
              </a:rPr>
              <a:t>:</a:t>
            </a:r>
            <a:endParaRPr lang="zh-CN" altLang="en-US" sz="2400" dirty="0">
              <a:solidFill>
                <a:srgbClr val="FF0000"/>
              </a:solidFill>
              <a:latin typeface="宋体" panose="02010600030101010101" pitchFamily="2" charset="-122"/>
              <a:ea typeface="宋体" panose="02010600030101010101" pitchFamily="2" charset="-122"/>
              <a:sym typeface="Wingdings" panose="05000000000000000000" pitchFamily="2" charset="2"/>
            </a:endParaRPr>
          </a:p>
          <a:p>
            <a:pPr marL="457200" lvl="0" indent="-457200">
              <a:spcBef>
                <a:spcPts val="600"/>
              </a:spcBef>
              <a:buAutoNum type="circleNumDbPlain"/>
            </a:pPr>
            <a:r>
              <a:rPr lang="zh-CN" altLang="en-US" sz="2200" dirty="0">
                <a:latin typeface="华文楷体" panose="02010600040101010101" pitchFamily="2" charset="-122"/>
                <a:ea typeface="华文楷体" panose="02010600040101010101" pitchFamily="2" charset="-122"/>
                <a:sym typeface="Wingdings" panose="05000000000000000000" pitchFamily="2" charset="2"/>
              </a:rPr>
              <a:t>丢弃该事务的消息队列；</a:t>
            </a:r>
            <a:endParaRPr lang="zh-CN" altLang="en-US" sz="2200" dirty="0">
              <a:latin typeface="华文楷体" panose="02010600040101010101" pitchFamily="2" charset="-122"/>
              <a:ea typeface="华文楷体" panose="02010600040101010101" pitchFamily="2" charset="-122"/>
              <a:sym typeface="Wingdings" panose="05000000000000000000" pitchFamily="2" charset="2"/>
            </a:endParaRPr>
          </a:p>
          <a:p>
            <a:pPr marL="457200" lvl="0" indent="-457200">
              <a:spcBef>
                <a:spcPts val="600"/>
              </a:spcBef>
              <a:buAutoNum type="circleNumDbPlain"/>
            </a:pPr>
            <a:r>
              <a:rPr lang="zh-CN" altLang="en-US" sz="2200" dirty="0">
                <a:latin typeface="华文楷体" panose="02010600040101010101" pitchFamily="2" charset="-122"/>
                <a:ea typeface="华文楷体" panose="02010600040101010101" pitchFamily="2" charset="-122"/>
                <a:sym typeface="Wingdings" panose="05000000000000000000" pitchFamily="2" charset="2"/>
              </a:rPr>
              <a:t>扫描日志，撤销（</a:t>
            </a:r>
            <a:r>
              <a:rPr lang="en-US" altLang="x-none" sz="2200" dirty="0">
                <a:latin typeface="华文楷体" panose="02010600040101010101" pitchFamily="2" charset="-122"/>
                <a:ea typeface="华文楷体" panose="02010600040101010101" pitchFamily="2" charset="-122"/>
                <a:sym typeface="Wingdings" panose="05000000000000000000" pitchFamily="2" charset="2"/>
              </a:rPr>
              <a:t>undo) </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所有不可靠的修改。 </a:t>
            </a:r>
            <a:endParaRPr lang="zh-CN" altLang="en-US" sz="2200" dirty="0">
              <a:latin typeface="华文楷体" panose="02010600040101010101" pitchFamily="2" charset="-122"/>
              <a:ea typeface="华文楷体" panose="02010600040101010101" pitchFamily="2" charset="-122"/>
              <a:sym typeface="Wingdings" panose="05000000000000000000" pitchFamily="2" charset="2"/>
            </a:endParaRPr>
          </a:p>
          <a:p>
            <a:pPr marL="457200" lvl="0" indent="-457200">
              <a:spcBef>
                <a:spcPts val="600"/>
              </a:spcBef>
            </a:pPr>
            <a:r>
              <a:rPr lang="zh-CN" altLang="en-US" sz="2200" dirty="0">
                <a:latin typeface="华文楷体" panose="02010600040101010101" pitchFamily="2" charset="-122"/>
                <a:ea typeface="华文楷体" panose="02010600040101010101" pitchFamily="2" charset="-122"/>
                <a:sym typeface="Wingdings" panose="05000000000000000000" pitchFamily="2" charset="2"/>
              </a:rPr>
              <a:t>③  从</a:t>
            </a:r>
            <a:r>
              <a:rPr lang="en-US" altLang="x-none" sz="2200" dirty="0">
                <a:latin typeface="华文楷体" panose="02010600040101010101" pitchFamily="2" charset="-122"/>
                <a:ea typeface="华文楷体" panose="02010600040101010101" pitchFamily="2" charset="-122"/>
                <a:sym typeface="Wingdings" panose="05000000000000000000" pitchFamily="2" charset="2"/>
              </a:rPr>
              <a:t>ATL</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删除该事务</a:t>
            </a:r>
            <a:r>
              <a:rPr lang="en-US" altLang="x-none" sz="2200" dirty="0">
                <a:latin typeface="华文楷体" panose="02010600040101010101" pitchFamily="2" charset="-122"/>
                <a:ea typeface="华文楷体" panose="02010600040101010101" pitchFamily="2" charset="-122"/>
                <a:sym typeface="Wingdings" panose="05000000000000000000" pitchFamily="2" charset="2"/>
              </a:rPr>
              <a:t>TID</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，释放该事务所占资源。</a:t>
            </a:r>
            <a:endParaRPr lang="zh-CN" altLang="en-US" sz="2200" dirty="0">
              <a:latin typeface="华文楷体" panose="02010600040101010101" pitchFamily="2" charset="-122"/>
              <a:ea typeface="华文楷体" panose="02010600040101010101" pitchFamily="2" charset="-122"/>
              <a:sym typeface="Wingdings" panose="05000000000000000000" pitchFamily="2" charset="2"/>
            </a:endParaRPr>
          </a:p>
        </p:txBody>
      </p:sp>
      <p:sp>
        <p:nvSpPr>
          <p:cNvPr id="86021" name="Rectangle 7"/>
          <p:cNvSpPr/>
          <p:nvPr/>
        </p:nvSpPr>
        <p:spPr>
          <a:xfrm>
            <a:off x="454025" y="7683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5</a:t>
            </a:r>
            <a:r>
              <a:rPr lang="zh-CN" altLang="en-US" sz="2800" dirty="0">
                <a:solidFill>
                  <a:srgbClr val="FF0000"/>
                </a:solidFill>
                <a:latin typeface="黑体" panose="02010609060101010101" pitchFamily="1" charset="-122"/>
                <a:ea typeface="黑体" panose="02010609060101010101" pitchFamily="1" charset="-122"/>
              </a:rPr>
              <a:t>、故障类型及恢复对策</a:t>
            </a:r>
            <a:endParaRPr lang="en-US" altLang="x-none" sz="2800" dirty="0">
              <a:solidFill>
                <a:srgbClr val="FF0000"/>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89092"/>
                                        </p:tgtEl>
                                        <p:attrNameLst>
                                          <p:attrName>style.visibility</p:attrName>
                                        </p:attrNameLst>
                                      </p:cBhvr>
                                      <p:to>
                                        <p:strVal val="visible"/>
                                      </p:to>
                                    </p:set>
                                    <p:animEffect transition="in" filter="checkerboard(across)">
                                      <p:cBhvr>
                                        <p:cTn id="7" dur="500"/>
                                        <p:tgtEl>
                                          <p:spTgt spid="8909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89093"/>
                                        </p:tgtEl>
                                        <p:attrNameLst>
                                          <p:attrName>style.visibility</p:attrName>
                                        </p:attrNameLst>
                                      </p:cBhvr>
                                      <p:to>
                                        <p:strVal val="visible"/>
                                      </p:to>
                                    </p:set>
                                    <p:animEffect transition="in" filter="checkerboard(across)">
                                      <p:cBhvr>
                                        <p:cTn id="12" dur="500"/>
                                        <p:tgtEl>
                                          <p:spTgt spid="890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2" grpId="0"/>
      <p:bldP spid="89093"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四、数据库的故障恢复技术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87042" name="Rectangle 7"/>
          <p:cNvSpPr/>
          <p:nvPr/>
        </p:nvSpPr>
        <p:spPr>
          <a:xfrm>
            <a:off x="454025" y="7683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5</a:t>
            </a:r>
            <a:r>
              <a:rPr lang="zh-CN" altLang="en-US" sz="2800" dirty="0">
                <a:solidFill>
                  <a:srgbClr val="FF0000"/>
                </a:solidFill>
                <a:latin typeface="黑体" panose="02010609060101010101" pitchFamily="1" charset="-122"/>
                <a:ea typeface="黑体" panose="02010609060101010101" pitchFamily="1" charset="-122"/>
              </a:rPr>
              <a:t>、故障类型及恢复对策</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87043" name="Rectangle 3"/>
          <p:cNvSpPr txBox="1"/>
          <p:nvPr/>
        </p:nvSpPr>
        <p:spPr>
          <a:xfrm>
            <a:off x="511175" y="1947863"/>
            <a:ext cx="8129588" cy="3114675"/>
          </a:xfrm>
          <a:prstGeom prst="rect">
            <a:avLst/>
          </a:prstGeom>
          <a:noFill/>
          <a:ln w="9525">
            <a:noFill/>
          </a:ln>
        </p:spPr>
        <p:txBody>
          <a:bodyPr anchor="t"/>
          <a:lstStyle/>
          <a:p>
            <a:pPr marL="342900" lvl="0" indent="-342900" eaLnBrk="0" hangingPunct="0">
              <a:spcBef>
                <a:spcPct val="50000"/>
              </a:spcBef>
              <a:buClr>
                <a:srgbClr val="0033CC"/>
              </a:buClr>
              <a:buFont typeface="Wingdings" panose="05000000000000000000" pitchFamily="2" charset="2"/>
              <a:buChar char="Ø"/>
            </a:pPr>
            <a:r>
              <a:rPr lang="zh-CN" altLang="en-US" sz="2400" dirty="0">
                <a:solidFill>
                  <a:srgbClr val="0033CC"/>
                </a:solidFill>
                <a:latin typeface="华文楷体" panose="02010600040101010101" pitchFamily="2" charset="-122"/>
                <a:ea typeface="宋体" panose="02010600030101010101" pitchFamily="2" charset="-122"/>
                <a:sym typeface="Wingdings" panose="05000000000000000000" pitchFamily="2" charset="2"/>
              </a:rPr>
              <a:t>系统故障包括：</a:t>
            </a:r>
            <a:endParaRPr lang="zh-CN" altLang="en-US" sz="2400" dirty="0">
              <a:solidFill>
                <a:srgbClr val="0033CC"/>
              </a:solidFill>
              <a:latin typeface="华文楷体" panose="02010600040101010101" pitchFamily="2" charset="-122"/>
              <a:ea typeface="宋体" panose="02010600030101010101" pitchFamily="2" charset="-122"/>
              <a:sym typeface="Wingdings" panose="05000000000000000000" pitchFamily="2" charset="2"/>
            </a:endParaRPr>
          </a:p>
          <a:p>
            <a:pPr marL="342900" lvl="0" indent="-342900" eaLnBrk="0" hangingPunct="0">
              <a:spcBef>
                <a:spcPts val="600"/>
              </a:spcBef>
              <a:buClr>
                <a:srgbClr val="0033CC"/>
              </a:buClr>
              <a:buSzPct val="80000"/>
            </a:pPr>
            <a:r>
              <a:rPr lang="zh-CN" altLang="en-US" sz="2400" dirty="0">
                <a:latin typeface="华文楷体" panose="02010600040101010101" pitchFamily="2" charset="-122"/>
                <a:ea typeface="宋体" panose="02010600030101010101" pitchFamily="2" charset="-122"/>
                <a:sym typeface="Wingdings" panose="05000000000000000000" pitchFamily="2" charset="2"/>
              </a:rPr>
              <a:t>① 掉电；② 除</a:t>
            </a:r>
            <a:r>
              <a:rPr lang="en-US" altLang="x-none" sz="2400" dirty="0">
                <a:latin typeface="华文楷体" panose="02010600040101010101" pitchFamily="2" charset="-122"/>
                <a:ea typeface="宋体" panose="02010600030101010101" pitchFamily="2" charset="-122"/>
                <a:sym typeface="Wingdings" panose="05000000000000000000" pitchFamily="2" charset="2"/>
              </a:rPr>
              <a:t>DB</a:t>
            </a:r>
            <a:r>
              <a:rPr lang="zh-CN" altLang="en-US" sz="2400" dirty="0">
                <a:latin typeface="华文楷体" panose="02010600040101010101" pitchFamily="2" charset="-122"/>
                <a:ea typeface="宋体" panose="02010600030101010101" pitchFamily="2" charset="-122"/>
                <a:sym typeface="Wingdings" panose="05000000000000000000" pitchFamily="2" charset="2"/>
              </a:rPr>
              <a:t>存储介质故障之外的软硬件故障。</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marL="342900" lvl="0" indent="-342900" eaLnBrk="0" hangingPunct="0">
              <a:spcBef>
                <a:spcPts val="600"/>
              </a:spcBef>
              <a:buClr>
                <a:srgbClr val="0033CC"/>
              </a:buClr>
              <a:buFont typeface="Wingdings" panose="05000000000000000000" pitchFamily="2" charset="2"/>
              <a:buChar char="Ø"/>
            </a:pPr>
            <a:r>
              <a:rPr lang="zh-CN" altLang="en-US" sz="2400" dirty="0">
                <a:solidFill>
                  <a:srgbClr val="0033CC"/>
                </a:solidFill>
                <a:latin typeface="华文楷体" panose="02010600040101010101" pitchFamily="2" charset="-122"/>
                <a:ea typeface="宋体" panose="02010600030101010101" pitchFamily="2" charset="-122"/>
                <a:sym typeface="Wingdings" panose="05000000000000000000" pitchFamily="2" charset="2"/>
              </a:rPr>
              <a:t> 系统失效的恢复措施：</a:t>
            </a:r>
            <a:endParaRPr lang="zh-CN" altLang="en-US" sz="2400" dirty="0">
              <a:solidFill>
                <a:srgbClr val="0033CC"/>
              </a:solidFill>
              <a:latin typeface="华文楷体" panose="02010600040101010101" pitchFamily="2" charset="-122"/>
              <a:ea typeface="宋体" panose="02010600030101010101" pitchFamily="2" charset="-122"/>
              <a:sym typeface="Wingdings" panose="05000000000000000000" pitchFamily="2" charset="2"/>
            </a:endParaRPr>
          </a:p>
          <a:p>
            <a:pPr marL="342900" lvl="0" indent="-342900" eaLnBrk="0" hangingPunct="0">
              <a:spcBef>
                <a:spcPts val="600"/>
              </a:spcBef>
              <a:buClr>
                <a:srgbClr val="0033CC"/>
              </a:buClr>
              <a:buSzPct val="80000"/>
            </a:pPr>
            <a:r>
              <a:rPr lang="zh-CN" altLang="en-US" sz="2400" dirty="0">
                <a:latin typeface="华文楷体" panose="02010600040101010101" pitchFamily="2" charset="-122"/>
                <a:ea typeface="宋体" panose="02010600030101010101" pitchFamily="2" charset="-122"/>
                <a:sym typeface="Wingdings" panose="05000000000000000000" pitchFamily="2" charset="2"/>
              </a:rPr>
              <a:t>① 重新启动</a:t>
            </a:r>
            <a:r>
              <a:rPr lang="en-US" altLang="x-none" sz="2400" dirty="0">
                <a:latin typeface="华文楷体" panose="02010600040101010101" pitchFamily="2" charset="-122"/>
                <a:ea typeface="宋体" panose="02010600030101010101" pitchFamily="2" charset="-122"/>
                <a:sym typeface="Wingdings" panose="05000000000000000000" pitchFamily="2" charset="2"/>
              </a:rPr>
              <a:t>OS</a:t>
            </a:r>
            <a:r>
              <a:rPr lang="zh-CN" altLang="en-US" sz="2400" dirty="0">
                <a:latin typeface="华文楷体" panose="02010600040101010101" pitchFamily="2" charset="-122"/>
                <a:ea typeface="宋体" panose="02010600030101010101" pitchFamily="2" charset="-122"/>
                <a:sym typeface="Wingdings" panose="05000000000000000000" pitchFamily="2" charset="2"/>
              </a:rPr>
              <a:t>和</a:t>
            </a:r>
            <a:r>
              <a:rPr lang="en-US" altLang="x-none" sz="2400" dirty="0">
                <a:latin typeface="华文楷体" panose="02010600040101010101" pitchFamily="2" charset="-122"/>
                <a:ea typeface="宋体" panose="02010600030101010101" pitchFamily="2" charset="-122"/>
                <a:sym typeface="Wingdings" panose="05000000000000000000" pitchFamily="2" charset="2"/>
              </a:rPr>
              <a:t>DBMS</a:t>
            </a:r>
            <a:r>
              <a:rPr lang="zh-CN" altLang="en-US" sz="2400" dirty="0">
                <a:latin typeface="华文楷体" panose="02010600040101010101" pitchFamily="2" charset="-122"/>
                <a:ea typeface="宋体" panose="02010600030101010101" pitchFamily="2" charset="-122"/>
                <a:sym typeface="Wingdings" panose="05000000000000000000" pitchFamily="2" charset="2"/>
              </a:rPr>
              <a:t>；</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marL="342900" lvl="0" indent="-342900" eaLnBrk="0" hangingPunct="0">
              <a:spcBef>
                <a:spcPts val="600"/>
              </a:spcBef>
              <a:buClr>
                <a:srgbClr val="0033CC"/>
              </a:buClr>
              <a:buSzPct val="80000"/>
            </a:pPr>
            <a:r>
              <a:rPr lang="zh-CN" altLang="en-US" sz="2400" dirty="0">
                <a:latin typeface="华文楷体" panose="02010600040101010101" pitchFamily="2" charset="-122"/>
                <a:ea typeface="宋体" panose="02010600030101010101" pitchFamily="2" charset="-122"/>
                <a:sym typeface="Wingdings" panose="05000000000000000000" pitchFamily="2" charset="2"/>
              </a:rPr>
              <a:t>② 恢复</a:t>
            </a:r>
            <a:r>
              <a:rPr lang="en-US" altLang="x-none" sz="2400" dirty="0">
                <a:latin typeface="华文楷体" panose="02010600040101010101" pitchFamily="2" charset="-122"/>
                <a:ea typeface="宋体" panose="02010600030101010101" pitchFamily="2" charset="-122"/>
                <a:sym typeface="Wingdings" panose="05000000000000000000" pitchFamily="2" charset="2"/>
              </a:rPr>
              <a:t>DB</a:t>
            </a:r>
            <a:r>
              <a:rPr lang="zh-CN" altLang="en-US" sz="2400" dirty="0">
                <a:latin typeface="华文楷体" panose="02010600040101010101" pitchFamily="2" charset="-122"/>
                <a:ea typeface="宋体" panose="02010600030101010101" pitchFamily="2" charset="-122"/>
                <a:sym typeface="Wingdings" panose="05000000000000000000" pitchFamily="2" charset="2"/>
              </a:rPr>
              <a:t>到一致状态（未提交事务进行</a:t>
            </a:r>
            <a:r>
              <a:rPr lang="en-US" altLang="x-none" sz="2400" dirty="0">
                <a:latin typeface="华文楷体" panose="02010600040101010101" pitchFamily="2" charset="-122"/>
                <a:ea typeface="宋体" panose="02010600030101010101" pitchFamily="2" charset="-122"/>
                <a:sym typeface="Wingdings" panose="05000000000000000000" pitchFamily="2" charset="2"/>
              </a:rPr>
              <a:t>undo</a:t>
            </a:r>
            <a:r>
              <a:rPr lang="zh-CN" altLang="en-US" sz="2400" dirty="0">
                <a:latin typeface="华文楷体" panose="02010600040101010101" pitchFamily="2" charset="-122"/>
                <a:ea typeface="宋体" panose="02010600030101010101" pitchFamily="2" charset="-122"/>
                <a:sym typeface="Wingdings" panose="05000000000000000000" pitchFamily="2" charset="2"/>
              </a:rPr>
              <a:t>，对已提交事务进行</a:t>
            </a:r>
            <a:r>
              <a:rPr lang="en-US" altLang="x-none" sz="2400" dirty="0">
                <a:latin typeface="华文楷体" panose="02010600040101010101" pitchFamily="2" charset="-122"/>
                <a:ea typeface="宋体" panose="02010600030101010101" pitchFamily="2" charset="-122"/>
                <a:sym typeface="Wingdings" panose="05000000000000000000" pitchFamily="2" charset="2"/>
              </a:rPr>
              <a:t>redo</a:t>
            </a:r>
            <a:r>
              <a:rPr lang="zh-CN" altLang="en-US" sz="2400" dirty="0">
                <a:latin typeface="华文楷体" panose="02010600040101010101" pitchFamily="2" charset="-122"/>
                <a:ea typeface="宋体" panose="02010600030101010101" pitchFamily="2" charset="-122"/>
                <a:sym typeface="Wingdings" panose="05000000000000000000" pitchFamily="2" charset="2"/>
              </a:rPr>
              <a:t>）。</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p:txBody>
      </p:sp>
      <p:sp>
        <p:nvSpPr>
          <p:cNvPr id="87044" name="Rectangle 7"/>
          <p:cNvSpPr/>
          <p:nvPr/>
        </p:nvSpPr>
        <p:spPr>
          <a:xfrm>
            <a:off x="481013" y="1323975"/>
            <a:ext cx="239395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600" dirty="0">
                <a:solidFill>
                  <a:srgbClr val="0033CC"/>
                </a:solidFill>
                <a:latin typeface="黑体" panose="02010609060101010101" pitchFamily="1" charset="-122"/>
                <a:ea typeface="黑体" panose="02010609060101010101" pitchFamily="1" charset="-122"/>
              </a:rPr>
              <a:t>(2)</a:t>
            </a:r>
            <a:r>
              <a:rPr lang="zh-CN" altLang="en-US" sz="2600" dirty="0">
                <a:solidFill>
                  <a:srgbClr val="0033CC"/>
                </a:solidFill>
                <a:latin typeface="黑体" panose="02010609060101010101" pitchFamily="1" charset="-122"/>
                <a:ea typeface="黑体" panose="02010609060101010101" pitchFamily="1" charset="-122"/>
              </a:rPr>
              <a:t>系统故障</a:t>
            </a:r>
            <a:endParaRPr lang="en-US" altLang="x-none" sz="2600" dirty="0">
              <a:solidFill>
                <a:srgbClr val="0033CC"/>
              </a:solidFill>
              <a:latin typeface="黑体" panose="02010609060101010101" pitchFamily="1" charset="-122"/>
              <a:ea typeface="黑体" panose="02010609060101010101" pitchFamily="1" charset="-122"/>
            </a:endParaRPr>
          </a:p>
        </p:txBody>
      </p:sp>
      <p:sp>
        <p:nvSpPr>
          <p:cNvPr id="87045" name="Rectangle 7"/>
          <p:cNvSpPr/>
          <p:nvPr/>
        </p:nvSpPr>
        <p:spPr>
          <a:xfrm>
            <a:off x="588963" y="4684713"/>
            <a:ext cx="239395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600" dirty="0">
                <a:solidFill>
                  <a:srgbClr val="0033CC"/>
                </a:solidFill>
                <a:latin typeface="黑体" panose="02010609060101010101" pitchFamily="1" charset="-122"/>
                <a:ea typeface="黑体" panose="02010609060101010101" pitchFamily="1" charset="-122"/>
              </a:rPr>
              <a:t>(3)</a:t>
            </a:r>
            <a:r>
              <a:rPr lang="zh-CN" altLang="en-US" sz="2600" dirty="0">
                <a:solidFill>
                  <a:srgbClr val="0033CC"/>
                </a:solidFill>
                <a:latin typeface="黑体" panose="02010609060101010101" pitchFamily="1" charset="-122"/>
                <a:ea typeface="黑体" panose="02010609060101010101" pitchFamily="1" charset="-122"/>
              </a:rPr>
              <a:t>磁盘故障</a:t>
            </a:r>
            <a:endParaRPr lang="en-US" altLang="x-none" sz="2600" dirty="0">
              <a:solidFill>
                <a:srgbClr val="0033CC"/>
              </a:solidFill>
              <a:latin typeface="黑体" panose="02010609060101010101" pitchFamily="1" charset="-122"/>
              <a:ea typeface="黑体" panose="02010609060101010101" pitchFamily="1" charset="-122"/>
            </a:endParaRPr>
          </a:p>
        </p:txBody>
      </p:sp>
      <p:sp>
        <p:nvSpPr>
          <p:cNvPr id="87046" name="矩形 6"/>
          <p:cNvSpPr/>
          <p:nvPr/>
        </p:nvSpPr>
        <p:spPr>
          <a:xfrm>
            <a:off x="322263" y="5368925"/>
            <a:ext cx="8281987" cy="831850"/>
          </a:xfrm>
          <a:prstGeom prst="rect">
            <a:avLst/>
          </a:prstGeom>
          <a:noFill/>
          <a:ln w="9525">
            <a:noFill/>
          </a:ln>
        </p:spPr>
        <p:txBody>
          <a:bodyPr anchor="t">
            <a:spAutoFit/>
          </a:bodyPr>
          <a:lstStyle/>
          <a:p>
            <a:pPr marL="342900" lvl="0" indent="-342900" eaLnBrk="0" hangingPunct="0">
              <a:spcBef>
                <a:spcPct val="50000"/>
              </a:spcBef>
              <a:buClr>
                <a:srgbClr val="0033CC"/>
              </a:buClr>
              <a:buSzPct val="80000"/>
            </a:pPr>
            <a:r>
              <a:rPr lang="zh-CN" altLang="en-US" sz="2400" dirty="0">
                <a:latin typeface="华文楷体" panose="02010600040101010101" pitchFamily="2" charset="-122"/>
                <a:ea typeface="宋体" panose="02010600030101010101" pitchFamily="2" charset="-122"/>
                <a:sym typeface="Wingdings" panose="05000000000000000000" pitchFamily="2" charset="2"/>
              </a:rPr>
              <a:t>         更换或修复磁盘后，重新启动系统后需要用数据库后备副本恢复数据库，再装入日志副本，重做已提交的事务。</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四、数据库的故障恢复技术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88066" name="Rectangle 7"/>
          <p:cNvSpPr/>
          <p:nvPr/>
        </p:nvSpPr>
        <p:spPr>
          <a:xfrm>
            <a:off x="454025" y="7683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5</a:t>
            </a:r>
            <a:r>
              <a:rPr lang="zh-CN" altLang="en-US" sz="2800" dirty="0">
                <a:solidFill>
                  <a:srgbClr val="FF0000"/>
                </a:solidFill>
                <a:latin typeface="黑体" panose="02010609060101010101" pitchFamily="1" charset="-122"/>
                <a:ea typeface="黑体" panose="02010609060101010101" pitchFamily="1" charset="-122"/>
              </a:rPr>
              <a:t>、故障类型及恢复对策</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88067" name="Rectangle 4"/>
          <p:cNvSpPr txBox="1"/>
          <p:nvPr/>
        </p:nvSpPr>
        <p:spPr>
          <a:xfrm>
            <a:off x="554038" y="1431925"/>
            <a:ext cx="8166100" cy="4765675"/>
          </a:xfrm>
          <a:prstGeom prst="rect">
            <a:avLst/>
          </a:prstGeom>
          <a:noFill/>
          <a:ln w="9525">
            <a:noFill/>
          </a:ln>
        </p:spPr>
        <p:txBody>
          <a:bodyPr anchor="t"/>
          <a:lstStyle/>
          <a:p>
            <a:pPr marL="342900" lvl="0" indent="-342900" eaLnBrk="0" hangingPunct="0">
              <a:lnSpc>
                <a:spcPct val="90000"/>
              </a:lnSpc>
              <a:spcBef>
                <a:spcPct val="500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sym typeface="Wingdings" panose="05000000000000000000" pitchFamily="2" charset="2"/>
              </a:rPr>
              <a:t>如果未提交的事务在系统中不多，故恢复时</a:t>
            </a:r>
            <a:r>
              <a:rPr lang="en-US" altLang="x-none" sz="2400" dirty="0">
                <a:latin typeface="华文楷体" panose="02010600040101010101" pitchFamily="2" charset="-122"/>
                <a:ea typeface="宋体" panose="02010600030101010101" pitchFamily="2" charset="-122"/>
                <a:sym typeface="Wingdings" panose="05000000000000000000" pitchFamily="2" charset="2"/>
              </a:rPr>
              <a:t>undo</a:t>
            </a:r>
            <a:r>
              <a:rPr lang="zh-CN" altLang="en-US" sz="2400" dirty="0">
                <a:latin typeface="华文楷体" panose="02010600040101010101" pitchFamily="2" charset="-122"/>
                <a:ea typeface="宋体" panose="02010600030101010101" pitchFamily="2" charset="-122"/>
                <a:sym typeface="Wingdings" panose="05000000000000000000" pitchFamily="2" charset="2"/>
              </a:rPr>
              <a:t>的工作量不大；已提交的事务很多，因不能肯定其后像是否已写入</a:t>
            </a:r>
            <a:r>
              <a:rPr lang="en-US" altLang="x-none" sz="2400" dirty="0">
                <a:latin typeface="华文楷体" panose="02010600040101010101" pitchFamily="2" charset="-122"/>
                <a:ea typeface="宋体" panose="02010600030101010101" pitchFamily="2" charset="-122"/>
                <a:sym typeface="Wingdings" panose="05000000000000000000" pitchFamily="2" charset="2"/>
              </a:rPr>
              <a:t>DB</a:t>
            </a:r>
            <a:r>
              <a:rPr lang="zh-CN" altLang="en-US" sz="2400" dirty="0">
                <a:latin typeface="华文楷体" panose="02010600040101010101" pitchFamily="2" charset="-122"/>
                <a:ea typeface="宋体" panose="02010600030101010101" pitchFamily="2" charset="-122"/>
                <a:sym typeface="Wingdings" panose="05000000000000000000" pitchFamily="2" charset="2"/>
              </a:rPr>
              <a:t>，只得做</a:t>
            </a:r>
            <a:r>
              <a:rPr lang="en-US" altLang="x-none" sz="2400" dirty="0">
                <a:latin typeface="华文楷体" panose="02010600040101010101" pitchFamily="2" charset="-122"/>
                <a:ea typeface="宋体" panose="02010600030101010101" pitchFamily="2" charset="-122"/>
                <a:sym typeface="Wingdings" panose="05000000000000000000" pitchFamily="2" charset="2"/>
              </a:rPr>
              <a:t>redo</a:t>
            </a:r>
            <a:r>
              <a:rPr lang="zh-CN" altLang="en-US" sz="2400" dirty="0">
                <a:latin typeface="华文楷体" panose="02010600040101010101" pitchFamily="2" charset="-122"/>
                <a:ea typeface="宋体" panose="02010600030101010101" pitchFamily="2" charset="-122"/>
                <a:sym typeface="Wingdings" panose="05000000000000000000" pitchFamily="2" charset="2"/>
              </a:rPr>
              <a:t>，而</a:t>
            </a:r>
            <a:r>
              <a:rPr lang="en-US" altLang="x-none" sz="2400" dirty="0">
                <a:latin typeface="华文楷体" panose="02010600040101010101" pitchFamily="2" charset="-122"/>
                <a:ea typeface="宋体" panose="02010600030101010101" pitchFamily="2" charset="-122"/>
                <a:sym typeface="Wingdings" panose="05000000000000000000" pitchFamily="2" charset="2"/>
              </a:rPr>
              <a:t>redo</a:t>
            </a:r>
            <a:r>
              <a:rPr lang="zh-CN" altLang="en-US" sz="2400" dirty="0">
                <a:latin typeface="华文楷体" panose="02010600040101010101" pitchFamily="2" charset="-122"/>
                <a:ea typeface="宋体" panose="02010600030101010101" pitchFamily="2" charset="-122"/>
                <a:sym typeface="Wingdings" panose="05000000000000000000" pitchFamily="2" charset="2"/>
              </a:rPr>
              <a:t>相当费时。</a:t>
            </a:r>
            <a:endParaRPr lang="zh-CN" altLang="en-US" sz="2400" dirty="0">
              <a:latin typeface="华文楷体" panose="02010600040101010101" pitchFamily="2" charset="-122"/>
              <a:ea typeface="宋体" panose="02010600030101010101" pitchFamily="2" charset="-122"/>
            </a:endParaRPr>
          </a:p>
          <a:p>
            <a:pPr marL="342900" lvl="0" indent="-342900" eaLnBrk="0" hangingPunct="0">
              <a:lnSpc>
                <a:spcPct val="95000"/>
              </a:lnSpc>
              <a:spcBef>
                <a:spcPts val="600"/>
              </a:spcBef>
              <a:buClr>
                <a:srgbClr val="0033CC"/>
              </a:buClr>
              <a:buSzPct val="80000"/>
              <a:buFont typeface="Wingdings" panose="05000000000000000000" pitchFamily="2" charset="2"/>
              <a:buChar char="u"/>
            </a:pPr>
            <a:r>
              <a:rPr lang="zh-CN" altLang="en-US" sz="2400" u="sng" dirty="0">
                <a:solidFill>
                  <a:srgbClr val="0000CC"/>
                </a:solidFill>
                <a:latin typeface="华文楷体" panose="02010600040101010101" pitchFamily="2" charset="-122"/>
                <a:ea typeface="宋体" panose="02010600030101010101" pitchFamily="2" charset="-122"/>
                <a:sym typeface="Wingdings" panose="05000000000000000000" pitchFamily="2" charset="2"/>
              </a:rPr>
              <a:t>改进方法：</a:t>
            </a:r>
            <a:r>
              <a:rPr lang="zh-CN" altLang="en-US" sz="2200" dirty="0">
                <a:latin typeface="楷体_GB2312"/>
                <a:ea typeface="楷体_GB2312"/>
                <a:sym typeface="Wingdings" panose="05000000000000000000" pitchFamily="2" charset="2"/>
              </a:rPr>
              <a:t>为减少</a:t>
            </a:r>
            <a:r>
              <a:rPr lang="en-US" altLang="x-none" sz="2200" dirty="0">
                <a:latin typeface="楷体_GB2312"/>
                <a:ea typeface="楷体_GB2312"/>
                <a:sym typeface="Wingdings" panose="05000000000000000000" pitchFamily="2" charset="2"/>
              </a:rPr>
              <a:t>redo</a:t>
            </a:r>
            <a:r>
              <a:rPr lang="zh-CN" altLang="en-US" sz="2200" dirty="0">
                <a:latin typeface="楷体_GB2312"/>
                <a:ea typeface="楷体_GB2312"/>
                <a:sym typeface="Wingdings" panose="05000000000000000000" pitchFamily="2" charset="2"/>
              </a:rPr>
              <a:t>工作量，</a:t>
            </a:r>
            <a:r>
              <a:rPr lang="en-US" altLang="x-none" sz="2200" dirty="0">
                <a:latin typeface="楷体_GB2312"/>
                <a:ea typeface="楷体_GB2312"/>
                <a:sym typeface="Wingdings" panose="05000000000000000000" pitchFamily="2" charset="2"/>
              </a:rPr>
              <a:t>DBMS</a:t>
            </a:r>
            <a:r>
              <a:rPr lang="zh-CN" altLang="en-US" sz="2200" dirty="0">
                <a:latin typeface="楷体_GB2312"/>
                <a:ea typeface="楷体_GB2312"/>
                <a:sym typeface="Wingdings" panose="05000000000000000000" pitchFamily="2" charset="2"/>
              </a:rPr>
              <a:t>一般每隔一定间隔在日志中设置一个检查点</a:t>
            </a:r>
            <a:r>
              <a:rPr lang="en-US" altLang="x-none" sz="2200" dirty="0">
                <a:latin typeface="楷体_GB2312"/>
                <a:ea typeface="楷体_GB2312"/>
                <a:sym typeface="Wingdings" panose="05000000000000000000" pitchFamily="2" charset="2"/>
              </a:rPr>
              <a:t>(CheckPoint, CP)</a:t>
            </a:r>
            <a:r>
              <a:rPr lang="zh-CN" altLang="en-US" sz="2200" dirty="0">
                <a:latin typeface="楷体_GB2312"/>
                <a:ea typeface="楷体_GB2312"/>
                <a:sym typeface="Wingdings" panose="05000000000000000000" pitchFamily="2" charset="2"/>
              </a:rPr>
              <a:t>。在检查点，</a:t>
            </a:r>
            <a:r>
              <a:rPr lang="en-US" altLang="x-none" sz="2200" dirty="0">
                <a:latin typeface="楷体_GB2312"/>
                <a:ea typeface="楷体_GB2312"/>
                <a:sym typeface="Wingdings" panose="05000000000000000000" pitchFamily="2" charset="2"/>
              </a:rPr>
              <a:t>DBMS</a:t>
            </a:r>
            <a:r>
              <a:rPr lang="zh-CN" altLang="en-US" sz="2200" dirty="0">
                <a:latin typeface="楷体_GB2312"/>
                <a:ea typeface="楷体_GB2312"/>
                <a:sym typeface="Wingdings" panose="05000000000000000000" pitchFamily="2" charset="2"/>
              </a:rPr>
              <a:t>强制将所有已提交事务的后像写入</a:t>
            </a:r>
            <a:r>
              <a:rPr lang="en-US" altLang="x-none" sz="2200" dirty="0">
                <a:latin typeface="楷体_GB2312"/>
                <a:ea typeface="楷体_GB2312"/>
                <a:sym typeface="Wingdings" panose="05000000000000000000" pitchFamily="2" charset="2"/>
              </a:rPr>
              <a:t>DB</a:t>
            </a:r>
            <a:r>
              <a:rPr lang="zh-CN" altLang="en-US" sz="2200" dirty="0">
                <a:latin typeface="楷体_GB2312"/>
                <a:ea typeface="楷体_GB2312"/>
                <a:sym typeface="Wingdings" panose="05000000000000000000" pitchFamily="2" charset="2"/>
              </a:rPr>
              <a:t>。这样，在检查点以前提交的事务，恢复时勿需</a:t>
            </a:r>
            <a:r>
              <a:rPr lang="en-US" altLang="x-none" sz="2200" dirty="0">
                <a:latin typeface="楷体_GB2312"/>
                <a:ea typeface="楷体_GB2312"/>
                <a:sym typeface="Wingdings" panose="05000000000000000000" pitchFamily="2" charset="2"/>
              </a:rPr>
              <a:t>redo</a:t>
            </a:r>
            <a:r>
              <a:rPr lang="zh-CN" altLang="en-US" sz="2200" dirty="0">
                <a:latin typeface="楷体_GB2312"/>
                <a:ea typeface="楷体_GB2312"/>
                <a:sym typeface="Wingdings" panose="05000000000000000000" pitchFamily="2" charset="2"/>
              </a:rPr>
              <a:t>。  </a:t>
            </a:r>
            <a:endParaRPr lang="zh-CN" altLang="en-US" sz="2200" dirty="0">
              <a:latin typeface="楷体_GB2312"/>
              <a:ea typeface="楷体_GB2312"/>
              <a:sym typeface="Wingdings" panose="05000000000000000000" pitchFamily="2" charset="2"/>
            </a:endParaRPr>
          </a:p>
          <a:p>
            <a:pPr marL="342900" lvl="0" indent="-342900" eaLnBrk="0" hangingPunct="0">
              <a:spcBef>
                <a:spcPts val="600"/>
              </a:spcBef>
              <a:buClr>
                <a:srgbClr val="0033CC"/>
              </a:buClr>
              <a:buSzPct val="80000"/>
              <a:buFont typeface="Wingdings" panose="05000000000000000000" pitchFamily="2" charset="2"/>
              <a:buChar char="u"/>
            </a:pPr>
            <a:r>
              <a:rPr lang="zh-CN" altLang="en-US" sz="2400" u="sng" dirty="0">
                <a:solidFill>
                  <a:srgbClr val="0000CC"/>
                </a:solidFill>
                <a:latin typeface="华文楷体" panose="02010600040101010101" pitchFamily="2" charset="-122"/>
                <a:ea typeface="宋体" panose="02010600030101010101" pitchFamily="2" charset="-122"/>
                <a:sym typeface="Wingdings" panose="05000000000000000000" pitchFamily="2" charset="2"/>
              </a:rPr>
              <a:t>取</a:t>
            </a:r>
            <a:r>
              <a:rPr lang="en-US" altLang="x-none" sz="2400" u="sng" dirty="0">
                <a:solidFill>
                  <a:srgbClr val="0000CC"/>
                </a:solidFill>
                <a:latin typeface="华文楷体" panose="02010600040101010101" pitchFamily="2" charset="-122"/>
                <a:ea typeface="宋体" panose="02010600030101010101" pitchFamily="2" charset="-122"/>
                <a:sym typeface="Wingdings" panose="05000000000000000000" pitchFamily="2" charset="2"/>
              </a:rPr>
              <a:t>CP</a:t>
            </a:r>
            <a:r>
              <a:rPr lang="zh-CN" altLang="en-US" sz="2400" u="sng" dirty="0">
                <a:solidFill>
                  <a:srgbClr val="0000CC"/>
                </a:solidFill>
                <a:latin typeface="华文楷体" panose="02010600040101010101" pitchFamily="2" charset="-122"/>
                <a:ea typeface="宋体" panose="02010600030101010101" pitchFamily="2" charset="-122"/>
                <a:sym typeface="Wingdings" panose="05000000000000000000" pitchFamily="2" charset="2"/>
              </a:rPr>
              <a:t>过程：</a:t>
            </a:r>
            <a:r>
              <a:rPr lang="zh-CN" altLang="en-US" sz="2200" dirty="0">
                <a:latin typeface="楷体_GB2312"/>
                <a:ea typeface="楷体_GB2312"/>
                <a:sym typeface="Wingdings" panose="05000000000000000000" pitchFamily="2" charset="2"/>
              </a:rPr>
              <a:t>① 暂停事务执行；② 写入上一个</a:t>
            </a:r>
            <a:r>
              <a:rPr lang="en-US" altLang="x-none" sz="2200" dirty="0">
                <a:latin typeface="楷体_GB2312"/>
                <a:ea typeface="楷体_GB2312"/>
                <a:sym typeface="Wingdings" panose="05000000000000000000" pitchFamily="2" charset="2"/>
              </a:rPr>
              <a:t>CP</a:t>
            </a:r>
            <a:r>
              <a:rPr lang="zh-CN" altLang="en-US" sz="2200" dirty="0">
                <a:latin typeface="楷体_GB2312"/>
                <a:ea typeface="楷体_GB2312"/>
                <a:sym typeface="Wingdings" panose="05000000000000000000" pitchFamily="2" charset="2"/>
              </a:rPr>
              <a:t>以后所提交事务留在内存中的后像③ 在日志的提交事务表中记下检查点；④ 恢复事务的执行。</a:t>
            </a:r>
            <a:endParaRPr lang="zh-CN" altLang="en-US" sz="2200" dirty="0">
              <a:latin typeface="楷体_GB2312"/>
              <a:ea typeface="楷体_GB2312"/>
              <a:sym typeface="Wingdings" panose="05000000000000000000" pitchFamily="2" charset="2"/>
            </a:endParaRPr>
          </a:p>
        </p:txBody>
      </p:sp>
      <p:sp>
        <p:nvSpPr>
          <p:cNvPr id="88068" name="Rectangle 7"/>
          <p:cNvSpPr/>
          <p:nvPr/>
        </p:nvSpPr>
        <p:spPr>
          <a:xfrm>
            <a:off x="5397500" y="741363"/>
            <a:ext cx="2395538"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600" dirty="0">
                <a:solidFill>
                  <a:srgbClr val="0033CC"/>
                </a:solidFill>
                <a:latin typeface="黑体" panose="02010609060101010101" pitchFamily="1" charset="-122"/>
                <a:ea typeface="黑体" panose="02010609060101010101" pitchFamily="1" charset="-122"/>
              </a:rPr>
              <a:t>(3)</a:t>
            </a:r>
            <a:r>
              <a:rPr lang="zh-CN" altLang="en-US" sz="2600" dirty="0">
                <a:solidFill>
                  <a:srgbClr val="0033CC"/>
                </a:solidFill>
                <a:latin typeface="黑体" panose="02010609060101010101" pitchFamily="1" charset="-122"/>
                <a:ea typeface="黑体" panose="02010609060101010101" pitchFamily="1" charset="-122"/>
                <a:sym typeface="Wingdings" panose="05000000000000000000" pitchFamily="2" charset="2"/>
              </a:rPr>
              <a:t> 恢复措施的改进</a:t>
            </a:r>
            <a:endParaRPr lang="en-US" altLang="x-none" sz="2600" dirty="0">
              <a:solidFill>
                <a:srgbClr val="0033CC"/>
              </a:solidFill>
              <a:latin typeface="黑体" panose="02010609060101010101" pitchFamily="1" charset="-122"/>
              <a:ea typeface="黑体" panose="02010609060101010101" pitchFamily="1" charset="-122"/>
            </a:endParaRPr>
          </a:p>
        </p:txBody>
      </p:sp>
      <p:sp>
        <p:nvSpPr>
          <p:cNvPr id="91142" name="文本框 91141"/>
          <p:cNvSpPr txBox="1"/>
          <p:nvPr/>
        </p:nvSpPr>
        <p:spPr>
          <a:xfrm>
            <a:off x="601663" y="4976813"/>
            <a:ext cx="7993063" cy="1262063"/>
          </a:xfrm>
          <a:prstGeom prst="rect">
            <a:avLst/>
          </a:prstGeom>
          <a:noFill/>
          <a:ln w="9525">
            <a:noFill/>
          </a:ln>
        </p:spPr>
        <p:txBody>
          <a:bodyPr wrap="square" anchor="t">
            <a:spAutoFit/>
          </a:bodyPr>
          <a:lstStyle/>
          <a:p>
            <a:pPr marL="1905" lvl="0" indent="340995" eaLnBrk="1" fontAlgn="base" hangingPunct="1">
              <a:lnSpc>
                <a:spcPct val="120000"/>
              </a:lnSpc>
              <a:buFont typeface="Wingdings" panose="05000000000000000000" pitchFamily="2" charset="2"/>
              <a:buChar char="n"/>
            </a:pPr>
            <a:r>
              <a:rPr lang="zh-CN" altLang="en-US" sz="2400" strike="noStrike" noProof="1">
                <a:solidFill>
                  <a:srgbClr val="0033CC"/>
                </a:solidFill>
                <a:latin typeface="Arial" panose="020B0604020202020204" pitchFamily="34" charset="0"/>
                <a:ea typeface="宋体" panose="02010600030101010101" pitchFamily="2" charset="-122"/>
                <a:cs typeface="+mn-ea"/>
              </a:rPr>
              <a:t>设置检查点的方法：</a:t>
            </a:r>
            <a:r>
              <a:rPr lang="zh-CN" altLang="en-US" sz="2000" strike="noStrike" noProof="1">
                <a:solidFill>
                  <a:srgbClr val="0033CC"/>
                </a:solidFill>
                <a:latin typeface="Arial" panose="020B0604020202020204" pitchFamily="34" charset="0"/>
                <a:ea typeface="宋体" panose="02010600030101010101" pitchFamily="2" charset="-122"/>
                <a:cs typeface="+mn-ea"/>
              </a:rPr>
              <a:t>CHECKPOINT [ checkpoint_duration ]</a:t>
            </a:r>
            <a:endParaRPr lang="zh-CN" altLang="en-US" sz="2000" strike="noStrike" noProof="1">
              <a:solidFill>
                <a:srgbClr val="0033CC"/>
              </a:solidFill>
              <a:latin typeface="Arial" panose="020B0604020202020204" pitchFamily="34" charset="0"/>
              <a:ea typeface="宋体" panose="02010600030101010101" pitchFamily="2" charset="-122"/>
            </a:endParaRPr>
          </a:p>
          <a:p>
            <a:pPr marL="1905" lvl="0" indent="-1905" eaLnBrk="1" fontAlgn="base" hangingPunct="1">
              <a:lnSpc>
                <a:spcPct val="120000"/>
              </a:lnSpc>
            </a:pPr>
            <a:r>
              <a:rPr lang="zh-CN" altLang="en-US" sz="2000" strike="noStrike" noProof="1">
                <a:solidFill>
                  <a:srgbClr val="000000"/>
                </a:solidFill>
                <a:latin typeface="Calibri" panose="020F0502020204030204" pitchFamily="34" charset="0"/>
                <a:ea typeface="宋体" panose="02010600030101010101" pitchFamily="2" charset="-122"/>
                <a:cs typeface="+mn-ea"/>
              </a:rPr>
              <a:t>以秒为单位指定手动检查点完成所需的时间。如果指定了参数值，则 SQL Server 数据库引擎会在请求的持续时间内尝试执行检查点。 </a:t>
            </a:r>
            <a:endParaRPr lang="zh-CN" altLang="en-US" sz="2000" strike="noStrike" noProof="1">
              <a:solidFill>
                <a:srgbClr val="000000"/>
              </a:solidFill>
              <a:latin typeface="Calibri" panose="020F0502020204030204" pitchFamily="34" charset="0"/>
              <a:ea typeface="宋体" panose="02010600030101010101" pitchFamily="2" charset="-122"/>
            </a:endParaRPr>
          </a:p>
        </p:txBody>
      </p:sp>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五、数据库系统中的并发</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89090" name="Rectangle 3"/>
          <p:cNvSpPr txBox="1"/>
          <p:nvPr/>
        </p:nvSpPr>
        <p:spPr>
          <a:xfrm>
            <a:off x="479425" y="1373188"/>
            <a:ext cx="8137525" cy="925512"/>
          </a:xfrm>
          <a:prstGeom prst="rect">
            <a:avLst/>
          </a:prstGeom>
          <a:noFill/>
          <a:ln w="9525">
            <a:noFill/>
          </a:ln>
        </p:spPr>
        <p:txBody>
          <a:bodyPr anchor="t"/>
          <a:lstStyle/>
          <a:p>
            <a:pPr marL="342900" lvl="0" indent="-342900" eaLnBrk="0" hangingPunct="0">
              <a:lnSpc>
                <a:spcPct val="120000"/>
              </a:lnSpc>
              <a:spcBef>
                <a:spcPct val="20000"/>
              </a:spcBef>
              <a:buClr>
                <a:srgbClr val="0033CC"/>
              </a:buClr>
              <a:buSzPct val="80000"/>
              <a:buFont typeface="Wingdings" panose="05000000000000000000" pitchFamily="2" charset="2"/>
              <a:buChar char="u"/>
            </a:pPr>
            <a:r>
              <a:rPr lang="zh-CN" altLang="en-US" sz="2400" u="sng" dirty="0">
                <a:solidFill>
                  <a:srgbClr val="000099"/>
                </a:solidFill>
                <a:latin typeface="Arial" panose="020B0604020202020204" pitchFamily="34" charset="0"/>
                <a:ea typeface="宋体" panose="02010600030101010101" pitchFamily="2" charset="-122"/>
              </a:rPr>
              <a:t>事务的串行执行（</a:t>
            </a:r>
            <a:r>
              <a:rPr lang="en-US" altLang="x-none" sz="2400" u="sng" dirty="0">
                <a:solidFill>
                  <a:srgbClr val="000099"/>
                </a:solidFill>
                <a:latin typeface="Arial" panose="020B0604020202020204" pitchFamily="34" charset="0"/>
                <a:ea typeface="宋体" panose="02010600030101010101" pitchFamily="2" charset="-122"/>
              </a:rPr>
              <a:t>serial excution</a:t>
            </a:r>
            <a:r>
              <a:rPr lang="zh-CN" altLang="en-US" sz="2400" u="sng" dirty="0">
                <a:solidFill>
                  <a:srgbClr val="000099"/>
                </a:solidFill>
                <a:latin typeface="Arial" panose="020B0604020202020204" pitchFamily="34" charset="0"/>
                <a:ea typeface="宋体" panose="02010600030101010101" pitchFamily="2" charset="-122"/>
              </a:rPr>
              <a:t>）：</a:t>
            </a:r>
            <a:r>
              <a:rPr lang="en-US" altLang="x-none" sz="2000" dirty="0">
                <a:latin typeface="Arial" panose="020B0604020202020204" pitchFamily="34" charset="0"/>
                <a:ea typeface="宋体" panose="02010600030101010101" pitchFamily="2" charset="-122"/>
              </a:rPr>
              <a:t>DBMS</a:t>
            </a:r>
            <a:r>
              <a:rPr lang="zh-CN" altLang="en-US" sz="2000" dirty="0">
                <a:latin typeface="Arial" panose="020B0604020202020204" pitchFamily="34" charset="0"/>
                <a:ea typeface="宋体" panose="02010600030101010101" pitchFamily="2" charset="-122"/>
              </a:rPr>
              <a:t>按顺序一次执行一个事务，执行完一个事务后才开始另一事务的执行。类似于现实生活中排队售票。事务的串行执行，容易控制，不易出错。</a:t>
            </a:r>
            <a:endParaRPr lang="en-US" altLang="x-none" sz="2000" dirty="0">
              <a:latin typeface="Arial" panose="020B0604020202020204" pitchFamily="34" charset="0"/>
              <a:ea typeface="宋体" panose="02010600030101010101" pitchFamily="2" charset="-122"/>
            </a:endParaRPr>
          </a:p>
        </p:txBody>
      </p:sp>
      <p:sp>
        <p:nvSpPr>
          <p:cNvPr id="89091" name="Rectangle 7"/>
          <p:cNvSpPr/>
          <p:nvPr/>
        </p:nvSpPr>
        <p:spPr>
          <a:xfrm>
            <a:off x="454025" y="7683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1</a:t>
            </a:r>
            <a:r>
              <a:rPr lang="zh-CN" altLang="en-US" sz="2800" dirty="0">
                <a:solidFill>
                  <a:srgbClr val="FF0000"/>
                </a:solidFill>
                <a:latin typeface="黑体" panose="02010609060101010101" pitchFamily="1" charset="-122"/>
                <a:ea typeface="黑体" panose="02010609060101010101" pitchFamily="1" charset="-122"/>
              </a:rPr>
              <a:t>、并发控制导论</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89092" name="Rectangle 3"/>
          <p:cNvSpPr txBox="1"/>
          <p:nvPr/>
        </p:nvSpPr>
        <p:spPr>
          <a:xfrm>
            <a:off x="492125" y="2651125"/>
            <a:ext cx="8137525" cy="925513"/>
          </a:xfrm>
          <a:prstGeom prst="rect">
            <a:avLst/>
          </a:prstGeom>
          <a:noFill/>
          <a:ln w="9525">
            <a:noFill/>
          </a:ln>
        </p:spPr>
        <p:txBody>
          <a:bodyPr anchor="t"/>
          <a:lstStyle/>
          <a:p>
            <a:pPr marL="342900" lvl="0" indent="-342900" eaLnBrk="0" hangingPunct="0">
              <a:lnSpc>
                <a:spcPct val="120000"/>
              </a:lnSpc>
              <a:spcBef>
                <a:spcPct val="20000"/>
              </a:spcBef>
              <a:buClr>
                <a:srgbClr val="0033CC"/>
              </a:buClr>
              <a:buSzPct val="80000"/>
              <a:buFont typeface="Wingdings" panose="05000000000000000000" pitchFamily="2" charset="2"/>
              <a:buChar char="u"/>
            </a:pPr>
            <a:r>
              <a:rPr lang="zh-CN" altLang="en-US" sz="2400" u="sng" dirty="0">
                <a:solidFill>
                  <a:srgbClr val="000099"/>
                </a:solidFill>
                <a:latin typeface="Arial" panose="020B0604020202020204" pitchFamily="34" charset="0"/>
                <a:ea typeface="宋体" panose="02010600030101010101" pitchFamily="2" charset="-122"/>
              </a:rPr>
              <a:t>事务的并行执行（</a:t>
            </a:r>
            <a:r>
              <a:rPr lang="en-US" altLang="x-none" sz="2400" u="sng" dirty="0">
                <a:solidFill>
                  <a:srgbClr val="000099"/>
                </a:solidFill>
                <a:latin typeface="Arial" panose="020B0604020202020204" pitchFamily="34" charset="0"/>
                <a:ea typeface="宋体" panose="02010600030101010101" pitchFamily="2" charset="-122"/>
              </a:rPr>
              <a:t>concurrent excution</a:t>
            </a:r>
            <a:r>
              <a:rPr lang="zh-CN" altLang="en-US" sz="2400" u="sng" dirty="0">
                <a:solidFill>
                  <a:srgbClr val="000099"/>
                </a:solidFill>
                <a:latin typeface="Arial" panose="020B0604020202020204" pitchFamily="34" charset="0"/>
                <a:ea typeface="宋体" panose="02010600030101010101" pitchFamily="2" charset="-122"/>
              </a:rPr>
              <a:t>）：</a:t>
            </a:r>
            <a:r>
              <a:rPr lang="en-US" altLang="x-none" sz="2000" dirty="0">
                <a:latin typeface="Arial" panose="020B0604020202020204" pitchFamily="34" charset="0"/>
                <a:ea typeface="宋体" panose="02010600030101010101" pitchFamily="2" charset="-122"/>
              </a:rPr>
              <a:t>DBMS</a:t>
            </a:r>
            <a:r>
              <a:rPr lang="zh-CN" altLang="en-US" sz="2000" dirty="0">
                <a:latin typeface="Arial" panose="020B0604020202020204" pitchFamily="34" charset="0"/>
                <a:ea typeface="宋体" panose="02010600030101010101" pitchFamily="2" charset="-122"/>
              </a:rPr>
              <a:t>同时执行多个事务，为此，</a:t>
            </a:r>
            <a:r>
              <a:rPr lang="en-US" altLang="x-none" sz="2000" dirty="0">
                <a:latin typeface="Arial" panose="020B0604020202020204" pitchFamily="34" charset="0"/>
                <a:ea typeface="宋体" panose="02010600030101010101" pitchFamily="2" charset="-122"/>
              </a:rPr>
              <a:t>DBMS</a:t>
            </a:r>
            <a:r>
              <a:rPr lang="zh-CN" altLang="en-US" sz="2000" dirty="0">
                <a:latin typeface="Arial" panose="020B0604020202020204" pitchFamily="34" charset="0"/>
                <a:ea typeface="宋体" panose="02010600030101010101" pitchFamily="2" charset="-122"/>
              </a:rPr>
              <a:t>须对各事务中的操作进行调度（</a:t>
            </a:r>
            <a:r>
              <a:rPr lang="en-US" altLang="x-none" sz="2000" dirty="0">
                <a:latin typeface="Arial" panose="020B0604020202020204" pitchFamily="34" charset="0"/>
                <a:ea typeface="宋体" panose="02010600030101010101" pitchFamily="2" charset="-122"/>
              </a:rPr>
              <a:t>schedule</a:t>
            </a:r>
            <a:r>
              <a:rPr lang="zh-CN" altLang="en-US" sz="2000" dirty="0">
                <a:latin typeface="Arial" panose="020B0604020202020204" pitchFamily="34" charset="0"/>
                <a:ea typeface="宋体" panose="02010600030101010101" pitchFamily="2" charset="-122"/>
              </a:rPr>
              <a:t>），令其交错执行，以达到同时运行多个事务的目的。</a:t>
            </a:r>
            <a:endParaRPr lang="en-US" altLang="x-none" sz="2000" dirty="0">
              <a:latin typeface="Arial" panose="020B0604020202020204" pitchFamily="34" charset="0"/>
              <a:ea typeface="宋体" panose="02010600030101010101" pitchFamily="2" charset="-122"/>
            </a:endParaRPr>
          </a:p>
        </p:txBody>
      </p:sp>
      <p:sp>
        <p:nvSpPr>
          <p:cNvPr id="92166" name="矩形 6"/>
          <p:cNvSpPr/>
          <p:nvPr/>
        </p:nvSpPr>
        <p:spPr>
          <a:xfrm>
            <a:off x="744538" y="3952875"/>
            <a:ext cx="7942262" cy="876300"/>
          </a:xfrm>
          <a:prstGeom prst="rect">
            <a:avLst/>
          </a:prstGeom>
          <a:noFill/>
          <a:ln w="9525">
            <a:noFill/>
          </a:ln>
        </p:spPr>
        <p:txBody>
          <a:bodyPr anchor="t">
            <a:spAutoFit/>
          </a:bodyPr>
          <a:lstStyle/>
          <a:p>
            <a:pPr lvl="0" indent="0">
              <a:spcBef>
                <a:spcPct val="50000"/>
              </a:spcBef>
            </a:pPr>
            <a:r>
              <a:rPr lang="en-US" altLang="x-none" sz="2400" u="sng" dirty="0">
                <a:solidFill>
                  <a:srgbClr val="CC0000"/>
                </a:solidFill>
                <a:latin typeface="华文楷体" panose="02010600040101010101" pitchFamily="2" charset="-122"/>
                <a:ea typeface="华文楷体" panose="02010600040101010101" pitchFamily="2" charset="-122"/>
                <a:sym typeface="Wingdings" panose="05000000000000000000" pitchFamily="2" charset="2"/>
              </a:rPr>
              <a:t>--</a:t>
            </a:r>
            <a:r>
              <a:rPr lang="zh-CN" altLang="en-US" sz="2400" u="sng" dirty="0">
                <a:solidFill>
                  <a:srgbClr val="CC0000"/>
                </a:solidFill>
                <a:latin typeface="华文楷体" panose="02010600040101010101" pitchFamily="2" charset="-122"/>
                <a:ea typeface="华文楷体" panose="02010600040101010101" pitchFamily="2" charset="-122"/>
                <a:sym typeface="Wingdings" panose="05000000000000000000" pitchFamily="2" charset="2"/>
              </a:rPr>
              <a:t>事务并发执行的好处：</a:t>
            </a:r>
            <a:endParaRPr lang="zh-CN" altLang="en-US" sz="2400" u="sng" dirty="0">
              <a:solidFill>
                <a:srgbClr val="CC0000"/>
              </a:solidFill>
              <a:latin typeface="华文楷体" panose="02010600040101010101" pitchFamily="2" charset="-122"/>
              <a:ea typeface="华文楷体" panose="02010600040101010101" pitchFamily="2" charset="-122"/>
              <a:sym typeface="Wingdings" panose="05000000000000000000" pitchFamily="2" charset="2"/>
            </a:endParaRPr>
          </a:p>
          <a:p>
            <a:pPr lvl="0" indent="0">
              <a:spcBef>
                <a:spcPts val="600"/>
              </a:spcBef>
            </a:pPr>
            <a:r>
              <a:rPr lang="zh-CN" altLang="en-US" sz="2200" dirty="0">
                <a:latin typeface="华文楷体" panose="02010600040101010101" pitchFamily="2" charset="-122"/>
                <a:ea typeface="华文楷体" panose="02010600040101010101" pitchFamily="2" charset="-122"/>
                <a:sym typeface="Wingdings" panose="05000000000000000000" pitchFamily="2" charset="2"/>
              </a:rPr>
              <a:t>（</a:t>
            </a:r>
            <a:r>
              <a:rPr lang="en-US" altLang="x-none" sz="2200" dirty="0">
                <a:latin typeface="华文楷体" panose="02010600040101010101" pitchFamily="2" charset="-122"/>
                <a:ea typeface="华文楷体" panose="02010600040101010101" pitchFamily="2" charset="-122"/>
                <a:sym typeface="Wingdings" panose="05000000000000000000" pitchFamily="2" charset="2"/>
              </a:rPr>
              <a:t>1</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）改善系统的资源利用率； （</a:t>
            </a:r>
            <a:r>
              <a:rPr lang="en-US" altLang="x-none" sz="2200" dirty="0">
                <a:latin typeface="华文楷体" panose="02010600040101010101" pitchFamily="2" charset="-122"/>
                <a:ea typeface="华文楷体" panose="02010600040101010101" pitchFamily="2" charset="-122"/>
                <a:sym typeface="Wingdings" panose="05000000000000000000" pitchFamily="2" charset="2"/>
              </a:rPr>
              <a:t>2</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）改善短事务的响应时间。</a:t>
            </a:r>
            <a:endParaRPr lang="zh-CN" altLang="en-US" sz="2200" dirty="0">
              <a:latin typeface="华文楷体" panose="02010600040101010101" pitchFamily="2" charset="-122"/>
              <a:ea typeface="华文楷体" panose="02010600040101010101" pitchFamily="2" charset="-122"/>
              <a:sym typeface="Wingdings" panose="05000000000000000000" pitchFamily="2" charset="2"/>
            </a:endParaRPr>
          </a:p>
        </p:txBody>
      </p:sp>
      <p:sp>
        <p:nvSpPr>
          <p:cNvPr id="92167" name="矩形 7"/>
          <p:cNvSpPr/>
          <p:nvPr/>
        </p:nvSpPr>
        <p:spPr>
          <a:xfrm>
            <a:off x="808038" y="4876800"/>
            <a:ext cx="7848600" cy="1138238"/>
          </a:xfrm>
          <a:prstGeom prst="rect">
            <a:avLst/>
          </a:prstGeom>
          <a:noFill/>
          <a:ln w="9525">
            <a:noFill/>
          </a:ln>
        </p:spPr>
        <p:txBody>
          <a:bodyPr anchor="t">
            <a:spAutoFit/>
          </a:bodyPr>
          <a:lstStyle/>
          <a:p>
            <a:pPr lvl="0" indent="0">
              <a:spcBef>
                <a:spcPct val="50000"/>
              </a:spcBef>
            </a:pPr>
            <a:r>
              <a:rPr lang="en-US" altLang="x-none" sz="2400" u="sng" dirty="0">
                <a:solidFill>
                  <a:srgbClr val="CC0000"/>
                </a:solidFill>
                <a:latin typeface="华文楷体" panose="02010600040101010101" pitchFamily="2" charset="-122"/>
                <a:ea typeface="华文楷体" panose="02010600040101010101" pitchFamily="2" charset="-122"/>
                <a:sym typeface="Wingdings" panose="05000000000000000000" pitchFamily="2" charset="2"/>
              </a:rPr>
              <a:t>--</a:t>
            </a:r>
            <a:r>
              <a:rPr lang="zh-CN" altLang="en-US" sz="2400" u="sng" dirty="0">
                <a:solidFill>
                  <a:srgbClr val="CC0000"/>
                </a:solidFill>
                <a:latin typeface="华文楷体" panose="02010600040101010101" pitchFamily="2" charset="-122"/>
                <a:ea typeface="华文楷体" panose="02010600040101010101" pitchFamily="2" charset="-122"/>
                <a:sym typeface="Wingdings" panose="05000000000000000000" pitchFamily="2" charset="2"/>
              </a:rPr>
              <a:t>事务并发执行的可能引起的问题：</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可能会同时存取数据库中同一数据的情况，如果不加控制，可能会引起读写数据的冲突，对数据库的一致性造成破坏。</a:t>
            </a:r>
            <a:endParaRPr lang="zh-CN" altLang="en-US" sz="2200" dirty="0">
              <a:latin typeface="华文楷体" panose="02010600040101010101" pitchFamily="2" charset="-122"/>
              <a:ea typeface="华文楷体" panose="02010600040101010101" pitchFamily="2" charset="-122"/>
              <a:sym typeface="Wingdings" panose="05000000000000000000" pitchFamily="2" charset="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2166"/>
                                        </p:tgtEl>
                                        <p:attrNameLst>
                                          <p:attrName>style.visibility</p:attrName>
                                        </p:attrNameLst>
                                      </p:cBhvr>
                                      <p:to>
                                        <p:strVal val="visible"/>
                                      </p:to>
                                    </p:set>
                                    <p:anim calcmode="lin" valueType="num">
                                      <p:cBhvr>
                                        <p:cTn id="7" dur="500" fill="hold"/>
                                        <p:tgtEl>
                                          <p:spTgt spid="92166"/>
                                        </p:tgtEl>
                                        <p:attrNameLst>
                                          <p:attrName>ppt_x</p:attrName>
                                        </p:attrNameLst>
                                      </p:cBhvr>
                                      <p:tavLst>
                                        <p:tav tm="0">
                                          <p:val>
                                            <p:strVal val="#ppt_x"/>
                                          </p:val>
                                        </p:tav>
                                        <p:tav tm="100000">
                                          <p:val>
                                            <p:strVal val="#ppt_x"/>
                                          </p:val>
                                        </p:tav>
                                      </p:tavLst>
                                    </p:anim>
                                    <p:anim calcmode="lin" valueType="num">
                                      <p:cBhvr>
                                        <p:cTn id="8" dur="500" fill="hold"/>
                                        <p:tgtEl>
                                          <p:spTgt spid="9216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2167"/>
                                        </p:tgtEl>
                                        <p:attrNameLst>
                                          <p:attrName>style.visibility</p:attrName>
                                        </p:attrNameLst>
                                      </p:cBhvr>
                                      <p:to>
                                        <p:strVal val="visible"/>
                                      </p:to>
                                    </p:set>
                                    <p:anim calcmode="lin" valueType="num">
                                      <p:cBhvr>
                                        <p:cTn id="13" dur="500" fill="hold"/>
                                        <p:tgtEl>
                                          <p:spTgt spid="92167"/>
                                        </p:tgtEl>
                                        <p:attrNameLst>
                                          <p:attrName>ppt_x</p:attrName>
                                        </p:attrNameLst>
                                      </p:cBhvr>
                                      <p:tavLst>
                                        <p:tav tm="0">
                                          <p:val>
                                            <p:strVal val="#ppt_x"/>
                                          </p:val>
                                        </p:tav>
                                        <p:tav tm="100000">
                                          <p:val>
                                            <p:strVal val="#ppt_x"/>
                                          </p:val>
                                        </p:tav>
                                      </p:tavLst>
                                    </p:anim>
                                    <p:anim calcmode="lin" valueType="num">
                                      <p:cBhvr>
                                        <p:cTn id="14" dur="500" fill="hold"/>
                                        <p:tgtEl>
                                          <p:spTgt spid="921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6" grpId="0" bldLvl="0"/>
      <p:bldP spid="92167" grpId="0" bldLvl="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五、数据库系统中的并发</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90114" name="Rectangle 7"/>
          <p:cNvSpPr/>
          <p:nvPr/>
        </p:nvSpPr>
        <p:spPr>
          <a:xfrm>
            <a:off x="454025" y="7683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1</a:t>
            </a:r>
            <a:r>
              <a:rPr lang="zh-CN" altLang="en-US" sz="2800" dirty="0">
                <a:solidFill>
                  <a:srgbClr val="FF0000"/>
                </a:solidFill>
                <a:latin typeface="黑体" panose="02010609060101010101" pitchFamily="1" charset="-122"/>
                <a:ea typeface="黑体" panose="02010609060101010101" pitchFamily="1" charset="-122"/>
              </a:rPr>
              <a:t>、并发控制导论</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90115" name="Rectangle 4"/>
          <p:cNvSpPr txBox="1"/>
          <p:nvPr/>
        </p:nvSpPr>
        <p:spPr>
          <a:xfrm>
            <a:off x="541338" y="1417638"/>
            <a:ext cx="8053387" cy="554037"/>
          </a:xfrm>
          <a:prstGeom prst="rect">
            <a:avLst/>
          </a:prstGeom>
          <a:noFill/>
          <a:ln w="9525">
            <a:noFill/>
          </a:ln>
        </p:spPr>
        <p:txBody>
          <a:bodyPr anchor="t"/>
          <a:lstStyle/>
          <a:p>
            <a:pPr lvl="0" indent="0" eaLnBrk="0" hangingPunct="0">
              <a:spcBef>
                <a:spcPct val="50000"/>
              </a:spcBef>
              <a:buClr>
                <a:srgbClr val="0033CC"/>
              </a:buClr>
              <a:buFont typeface="Wingdings" panose="05000000000000000000" pitchFamily="2" charset="2"/>
              <a:buChar char="p"/>
            </a:pPr>
            <a:r>
              <a:rPr lang="zh-CN" altLang="en-US" sz="2400" u="sng" dirty="0">
                <a:solidFill>
                  <a:srgbClr val="000099"/>
                </a:solidFill>
                <a:latin typeface="华文楷体" panose="02010600040101010101" pitchFamily="2" charset="-122"/>
                <a:ea typeface="宋体" panose="02010600030101010101" pitchFamily="2" charset="-122"/>
                <a:sym typeface="Wingdings" panose="05000000000000000000" pitchFamily="2" charset="2"/>
              </a:rPr>
              <a:t> 调度：</a:t>
            </a:r>
            <a:r>
              <a:rPr lang="zh-CN" altLang="en-US" sz="2400" dirty="0">
                <a:latin typeface="华文楷体" panose="02010600040101010101" pitchFamily="2" charset="-122"/>
                <a:ea typeface="宋体" panose="02010600030101010101" pitchFamily="2" charset="-122"/>
                <a:sym typeface="Wingdings" panose="05000000000000000000" pitchFamily="2" charset="2"/>
              </a:rPr>
              <a:t>“事务集”中的一串有序操作集。</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lvl="0" indent="0" eaLnBrk="0" hangingPunct="0">
              <a:lnSpc>
                <a:spcPct val="120000"/>
              </a:lnSpc>
              <a:spcBef>
                <a:spcPts val="600"/>
              </a:spcBef>
              <a:buClr>
                <a:srgbClr val="0033CC"/>
              </a:buClr>
              <a:buFont typeface="Wingdings" panose="05000000000000000000" pitchFamily="2" charset="2"/>
              <a:buNone/>
            </a:pP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p:txBody>
      </p:sp>
      <p:graphicFrame>
        <p:nvGraphicFramePr>
          <p:cNvPr id="93189" name="Object 2"/>
          <p:cNvGraphicFramePr>
            <a:graphicFrameLocks noChangeAspect="1"/>
          </p:cNvGraphicFramePr>
          <p:nvPr/>
        </p:nvGraphicFramePr>
        <p:xfrm>
          <a:off x="6202363" y="1782763"/>
          <a:ext cx="2636837" cy="3867150"/>
        </p:xfrm>
        <a:graphic>
          <a:graphicData uri="http://schemas.openxmlformats.org/presentationml/2006/ole">
            <mc:AlternateContent xmlns:mc="http://schemas.openxmlformats.org/markup-compatibility/2006">
              <mc:Choice xmlns:v="urn:schemas-microsoft-com:vml" Requires="v">
                <p:oleObj spid="_x0000_s18454" name="" r:id="rId1" imgW="1366520" imgH="2073910" progId="Word.Picture.8">
                  <p:embed/>
                </p:oleObj>
              </mc:Choice>
              <mc:Fallback>
                <p:oleObj name="" r:id="rId1" imgW="1366520" imgH="2073910" progId="Word.Picture.8">
                  <p:embed/>
                  <p:pic>
                    <p:nvPicPr>
                      <p:cNvPr id="0" name="图片 3090"/>
                      <p:cNvPicPr/>
                      <p:nvPr/>
                    </p:nvPicPr>
                    <p:blipFill>
                      <a:blip r:embed="rId2"/>
                      <a:stretch>
                        <a:fillRect/>
                      </a:stretch>
                    </p:blipFill>
                    <p:spPr>
                      <a:xfrm>
                        <a:off x="6202363" y="1782763"/>
                        <a:ext cx="2636837" cy="3867150"/>
                      </a:xfrm>
                      <a:prstGeom prst="rect">
                        <a:avLst/>
                      </a:prstGeom>
                      <a:solidFill>
                        <a:schemeClr val="bg1"/>
                      </a:solidFill>
                      <a:ln w="38100">
                        <a:noFill/>
                        <a:miter/>
                      </a:ln>
                    </p:spPr>
                  </p:pic>
                </p:oleObj>
              </mc:Fallback>
            </mc:AlternateContent>
          </a:graphicData>
        </a:graphic>
      </p:graphicFrame>
      <p:sp>
        <p:nvSpPr>
          <p:cNvPr id="93190" name="Rectangle 4"/>
          <p:cNvSpPr txBox="1"/>
          <p:nvPr/>
        </p:nvSpPr>
        <p:spPr>
          <a:xfrm>
            <a:off x="617538" y="1868488"/>
            <a:ext cx="5584825" cy="3367087"/>
          </a:xfrm>
          <a:prstGeom prst="rect">
            <a:avLst/>
          </a:prstGeom>
          <a:noFill/>
          <a:ln w="9525">
            <a:noFill/>
          </a:ln>
        </p:spPr>
        <p:txBody>
          <a:bodyPr anchor="t"/>
          <a:lstStyle/>
          <a:p>
            <a:pPr lvl="0" indent="0" eaLnBrk="0" hangingPunct="0">
              <a:lnSpc>
                <a:spcPct val="120000"/>
              </a:lnSpc>
              <a:spcBef>
                <a:spcPts val="600"/>
              </a:spcBef>
              <a:buClr>
                <a:srgbClr val="0033CC"/>
              </a:buClr>
              <a:buFont typeface="Wingdings" panose="05000000000000000000" pitchFamily="2" charset="2"/>
              <a:buNone/>
            </a:pPr>
            <a:r>
              <a:rPr lang="zh-CN" altLang="en-US" sz="2400" dirty="0">
                <a:solidFill>
                  <a:srgbClr val="A50021"/>
                </a:solidFill>
                <a:latin typeface="华文楷体" panose="02010600040101010101" pitchFamily="2" charset="-122"/>
                <a:ea typeface="宋体" panose="02010600030101010101" pitchFamily="2" charset="-122"/>
                <a:sym typeface="Wingdings" panose="05000000000000000000" pitchFamily="2" charset="2"/>
              </a:rPr>
              <a:t>调度的表示（如图示）</a:t>
            </a:r>
            <a:r>
              <a:rPr lang="zh-CN" altLang="en-US" sz="2400" dirty="0">
                <a:latin typeface="华文楷体" panose="02010600040101010101" pitchFamily="2" charset="-122"/>
                <a:ea typeface="宋体" panose="02010600030101010101" pitchFamily="2" charset="-122"/>
                <a:sym typeface="Wingdings" panose="05000000000000000000" pitchFamily="2" charset="2"/>
              </a:rPr>
              <a:t>：</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lvl="0" indent="0" eaLnBrk="0" hangingPunct="0">
              <a:lnSpc>
                <a:spcPct val="120000"/>
              </a:lnSpc>
              <a:spcBef>
                <a:spcPts val="600"/>
              </a:spcBef>
              <a:buClr>
                <a:srgbClr val="0033CC"/>
              </a:buClr>
              <a:buSzPct val="80000"/>
            </a:pPr>
            <a:r>
              <a:rPr lang="en-US" altLang="x-none" sz="2400" dirty="0">
                <a:latin typeface="华文楷体" panose="02010600040101010101" pitchFamily="2" charset="-122"/>
                <a:ea typeface="宋体" panose="02010600030101010101" pitchFamily="2" charset="-122"/>
              </a:rPr>
              <a:t>S</a:t>
            </a:r>
            <a:r>
              <a:rPr lang="zh-CN" altLang="en-US" sz="2400" dirty="0">
                <a:latin typeface="华文楷体" panose="02010600040101010101" pitchFamily="2" charset="-122"/>
                <a:ea typeface="宋体" panose="02010600030101010101" pitchFamily="2" charset="-122"/>
              </a:rPr>
              <a:t>＝</a:t>
            </a:r>
            <a:r>
              <a:rPr lang="en-US" altLang="x-none" sz="2400" dirty="0">
                <a:latin typeface="华文楷体" panose="02010600040101010101" pitchFamily="2" charset="-122"/>
                <a:ea typeface="宋体" panose="02010600030101010101" pitchFamily="2" charset="-122"/>
              </a:rPr>
              <a:t>R</a:t>
            </a:r>
            <a:r>
              <a:rPr lang="en-US" altLang="x-none" sz="2400" baseline="-25000" dirty="0">
                <a:latin typeface="华文楷体" panose="02010600040101010101" pitchFamily="2" charset="-122"/>
                <a:ea typeface="宋体" panose="02010600030101010101" pitchFamily="2" charset="-122"/>
              </a:rPr>
              <a:t>T1</a:t>
            </a:r>
            <a:r>
              <a:rPr lang="en-US" altLang="x-none" sz="2400" dirty="0">
                <a:latin typeface="华文楷体" panose="02010600040101010101" pitchFamily="2" charset="-122"/>
                <a:ea typeface="宋体" panose="02010600030101010101" pitchFamily="2" charset="-122"/>
              </a:rPr>
              <a:t>(A)W</a:t>
            </a:r>
            <a:r>
              <a:rPr lang="en-US" altLang="x-none" sz="2400" baseline="-25000" dirty="0">
                <a:latin typeface="华文楷体" panose="02010600040101010101" pitchFamily="2" charset="-122"/>
                <a:ea typeface="宋体" panose="02010600030101010101" pitchFamily="2" charset="-122"/>
              </a:rPr>
              <a:t>T1</a:t>
            </a:r>
            <a:r>
              <a:rPr lang="en-US" altLang="x-none" sz="2400" dirty="0">
                <a:latin typeface="华文楷体" panose="02010600040101010101" pitchFamily="2" charset="-122"/>
                <a:ea typeface="宋体" panose="02010600030101010101" pitchFamily="2" charset="-122"/>
              </a:rPr>
              <a:t>(A)R</a:t>
            </a:r>
            <a:r>
              <a:rPr lang="en-US" altLang="x-none" sz="2400" baseline="-25000" dirty="0">
                <a:latin typeface="华文楷体" panose="02010600040101010101" pitchFamily="2" charset="-122"/>
                <a:ea typeface="宋体" panose="02010600030101010101" pitchFamily="2" charset="-122"/>
              </a:rPr>
              <a:t>T2</a:t>
            </a:r>
            <a:r>
              <a:rPr lang="en-US" altLang="x-none" sz="2400" dirty="0">
                <a:latin typeface="华文楷体" panose="02010600040101010101" pitchFamily="2" charset="-122"/>
                <a:ea typeface="宋体" panose="02010600030101010101" pitchFamily="2" charset="-122"/>
              </a:rPr>
              <a:t>(B)W</a:t>
            </a:r>
            <a:r>
              <a:rPr lang="en-US" altLang="x-none" sz="2400" baseline="-25000" dirty="0">
                <a:latin typeface="华文楷体" panose="02010600040101010101" pitchFamily="2" charset="-122"/>
                <a:ea typeface="宋体" panose="02010600030101010101" pitchFamily="2" charset="-122"/>
              </a:rPr>
              <a:t>T2</a:t>
            </a:r>
            <a:r>
              <a:rPr lang="en-US" altLang="x-none" sz="2400" dirty="0">
                <a:latin typeface="华文楷体" panose="02010600040101010101" pitchFamily="2" charset="-122"/>
                <a:ea typeface="宋体" panose="02010600030101010101" pitchFamily="2" charset="-122"/>
              </a:rPr>
              <a:t>(B)R</a:t>
            </a:r>
            <a:r>
              <a:rPr lang="en-US" altLang="x-none" sz="2400" baseline="-25000" dirty="0">
                <a:latin typeface="华文楷体" panose="02010600040101010101" pitchFamily="2" charset="-122"/>
                <a:ea typeface="宋体" panose="02010600030101010101" pitchFamily="2" charset="-122"/>
              </a:rPr>
              <a:t>T1</a:t>
            </a:r>
            <a:r>
              <a:rPr lang="en-US" altLang="x-none" sz="2400" dirty="0">
                <a:latin typeface="华文楷体" panose="02010600040101010101" pitchFamily="2" charset="-122"/>
                <a:ea typeface="宋体" panose="02010600030101010101" pitchFamily="2" charset="-122"/>
              </a:rPr>
              <a:t>(C)W</a:t>
            </a:r>
            <a:r>
              <a:rPr lang="en-US" altLang="x-none" sz="2400" baseline="-25000" dirty="0">
                <a:latin typeface="华文楷体" panose="02010600040101010101" pitchFamily="2" charset="-122"/>
                <a:ea typeface="宋体" panose="02010600030101010101" pitchFamily="2" charset="-122"/>
              </a:rPr>
              <a:t>T1</a:t>
            </a:r>
            <a:r>
              <a:rPr lang="en-US" altLang="x-none" sz="2400" dirty="0">
                <a:latin typeface="华文楷体" panose="02010600040101010101" pitchFamily="2" charset="-122"/>
                <a:ea typeface="宋体" panose="02010600030101010101" pitchFamily="2" charset="-122"/>
              </a:rPr>
              <a:t>(C)</a:t>
            </a:r>
            <a:endParaRPr lang="en-US" altLang="x-none" sz="2400" dirty="0">
              <a:latin typeface="华文楷体" panose="02010600040101010101" pitchFamily="2" charset="-122"/>
              <a:ea typeface="宋体" panose="02010600030101010101" pitchFamily="2" charset="-122"/>
            </a:endParaRPr>
          </a:p>
          <a:p>
            <a:pPr lvl="0" indent="0" eaLnBrk="0" hangingPunct="0">
              <a:lnSpc>
                <a:spcPct val="120000"/>
              </a:lnSpc>
              <a:spcBef>
                <a:spcPts val="600"/>
              </a:spcBef>
              <a:buClr>
                <a:srgbClr val="0033CC"/>
              </a:buClr>
              <a:buSzPct val="80000"/>
            </a:pPr>
            <a:r>
              <a:rPr lang="zh-CN" altLang="en-US" sz="2400" dirty="0">
                <a:latin typeface="华文楷体" panose="02010600040101010101" pitchFamily="2" charset="-122"/>
                <a:ea typeface="宋体" panose="02010600030101010101" pitchFamily="2" charset="-122"/>
              </a:rPr>
              <a:t>其中，</a:t>
            </a:r>
            <a:r>
              <a:rPr lang="en-US" altLang="x-none" sz="2400" dirty="0">
                <a:latin typeface="华文楷体" panose="02010600040101010101" pitchFamily="2" charset="-122"/>
                <a:ea typeface="宋体" panose="02010600030101010101" pitchFamily="2" charset="-122"/>
              </a:rPr>
              <a:t>R(X)</a:t>
            </a:r>
            <a:r>
              <a:rPr lang="zh-CN" altLang="en-US" sz="2400" dirty="0">
                <a:latin typeface="华文楷体" panose="02010600040101010101" pitchFamily="2" charset="-122"/>
                <a:ea typeface="宋体" panose="02010600030101010101" pitchFamily="2" charset="-122"/>
              </a:rPr>
              <a:t>和</a:t>
            </a:r>
            <a:r>
              <a:rPr lang="en-US" altLang="x-none" sz="2400" dirty="0">
                <a:latin typeface="华文楷体" panose="02010600040101010101" pitchFamily="2" charset="-122"/>
                <a:ea typeface="宋体" panose="02010600030101010101" pitchFamily="2" charset="-122"/>
              </a:rPr>
              <a:t>W</a:t>
            </a:r>
            <a:r>
              <a:rPr lang="zh-CN" altLang="en-US" sz="2400" dirty="0">
                <a:latin typeface="华文楷体" panose="02010600040101010101" pitchFamily="2" charset="-122"/>
                <a:ea typeface="宋体" panose="02010600030101010101" pitchFamily="2" charset="-122"/>
              </a:rPr>
              <a:t>（</a:t>
            </a:r>
            <a:r>
              <a:rPr lang="en-US" altLang="x-none" sz="2400" dirty="0">
                <a:latin typeface="华文楷体" panose="02010600040101010101" pitchFamily="2" charset="-122"/>
                <a:ea typeface="宋体" panose="02010600030101010101" pitchFamily="2" charset="-122"/>
              </a:rPr>
              <a:t>X</a:t>
            </a:r>
            <a:r>
              <a:rPr lang="zh-CN" altLang="en-US" sz="2400" dirty="0">
                <a:latin typeface="华文楷体" panose="02010600040101010101" pitchFamily="2" charset="-122"/>
                <a:ea typeface="宋体" panose="02010600030101010101" pitchFamily="2" charset="-122"/>
              </a:rPr>
              <a:t>）分别表示对</a:t>
            </a:r>
            <a:r>
              <a:rPr lang="en-US" altLang="x-none" sz="2400" dirty="0">
                <a:latin typeface="华文楷体" panose="02010600040101010101" pitchFamily="2" charset="-122"/>
                <a:ea typeface="宋体" panose="02010600030101010101" pitchFamily="2" charset="-122"/>
              </a:rPr>
              <a:t>X</a:t>
            </a:r>
            <a:r>
              <a:rPr lang="zh-CN" altLang="en-US" sz="2400" dirty="0">
                <a:latin typeface="华文楷体" panose="02010600040101010101" pitchFamily="2" charset="-122"/>
                <a:ea typeface="宋体" panose="02010600030101010101" pitchFamily="2" charset="-122"/>
              </a:rPr>
              <a:t>对象的读和写。</a:t>
            </a:r>
            <a:r>
              <a:rPr lang="en-US" altLang="x-none" sz="2400" dirty="0">
                <a:latin typeface="华文楷体" panose="02010600040101010101" pitchFamily="2" charset="-122"/>
                <a:ea typeface="宋体" panose="02010600030101010101" pitchFamily="2" charset="-122"/>
              </a:rPr>
              <a:t>R</a:t>
            </a:r>
            <a:r>
              <a:rPr lang="en-US" altLang="x-none" sz="2400" baseline="-25000" dirty="0">
                <a:latin typeface="华文楷体" panose="02010600040101010101" pitchFamily="2" charset="-122"/>
                <a:ea typeface="宋体" panose="02010600030101010101" pitchFamily="2" charset="-122"/>
              </a:rPr>
              <a:t>T1</a:t>
            </a:r>
            <a:r>
              <a:rPr lang="en-US" altLang="x-none" sz="2400" dirty="0">
                <a:latin typeface="华文楷体" panose="02010600040101010101" pitchFamily="2" charset="-122"/>
                <a:ea typeface="宋体" panose="02010600030101010101" pitchFamily="2" charset="-122"/>
              </a:rPr>
              <a:t>(A)</a:t>
            </a:r>
            <a:r>
              <a:rPr lang="zh-CN" altLang="en-US" sz="2400" dirty="0">
                <a:latin typeface="华文楷体" panose="02010600040101010101" pitchFamily="2" charset="-122"/>
                <a:ea typeface="宋体" panose="02010600030101010101" pitchFamily="2" charset="-122"/>
              </a:rPr>
              <a:t>表示</a:t>
            </a:r>
            <a:r>
              <a:rPr lang="en-US" altLang="x-none" sz="2400" dirty="0">
                <a:latin typeface="华文楷体" panose="02010600040101010101" pitchFamily="2" charset="-122"/>
                <a:ea typeface="宋体" panose="02010600030101010101" pitchFamily="2" charset="-122"/>
              </a:rPr>
              <a:t>R</a:t>
            </a:r>
            <a:r>
              <a:rPr lang="zh-CN" altLang="en-US" sz="2400" dirty="0">
                <a:latin typeface="华文楷体" panose="02010600040101010101" pitchFamily="2" charset="-122"/>
                <a:ea typeface="宋体" panose="02010600030101010101" pitchFamily="2" charset="-122"/>
              </a:rPr>
              <a:t>（</a:t>
            </a:r>
            <a:r>
              <a:rPr lang="en-US" altLang="x-none" sz="2400" dirty="0">
                <a:latin typeface="华文楷体" panose="02010600040101010101" pitchFamily="2" charset="-122"/>
                <a:ea typeface="宋体" panose="02010600030101010101" pitchFamily="2" charset="-122"/>
              </a:rPr>
              <a:t>A</a:t>
            </a:r>
            <a:r>
              <a:rPr lang="zh-CN" altLang="en-US" sz="2400" dirty="0">
                <a:latin typeface="华文楷体" panose="02010600040101010101" pitchFamily="2" charset="-122"/>
                <a:ea typeface="宋体" panose="02010600030101010101" pitchFamily="2" charset="-122"/>
              </a:rPr>
              <a:t>）操作是事务</a:t>
            </a:r>
            <a:r>
              <a:rPr lang="en-US" altLang="x-none" sz="2400" dirty="0">
                <a:latin typeface="华文楷体" panose="02010600040101010101" pitchFamily="2" charset="-122"/>
                <a:ea typeface="宋体" panose="02010600030101010101" pitchFamily="2" charset="-122"/>
              </a:rPr>
              <a:t>T</a:t>
            </a:r>
            <a:r>
              <a:rPr lang="en-US" altLang="x-none" sz="2400" baseline="-25000" dirty="0">
                <a:latin typeface="华文楷体" panose="02010600040101010101" pitchFamily="2" charset="-122"/>
                <a:ea typeface="宋体" panose="02010600030101010101" pitchFamily="2" charset="-122"/>
              </a:rPr>
              <a:t>1</a:t>
            </a:r>
            <a:r>
              <a:rPr lang="zh-CN" altLang="en-US" sz="2400" dirty="0">
                <a:latin typeface="华文楷体" panose="02010600040101010101" pitchFamily="2" charset="-122"/>
                <a:ea typeface="宋体" panose="02010600030101010101" pitchFamily="2" charset="-122"/>
              </a:rPr>
              <a:t>发出的。</a:t>
            </a:r>
            <a:endParaRPr lang="zh-CN" altLang="en-US" sz="2400" baseline="-25000" dirty="0">
              <a:latin typeface="华文楷体" panose="02010600040101010101" pitchFamily="2" charset="-122"/>
              <a:ea typeface="宋体" panose="02010600030101010101" pitchFamily="2" charset="-122"/>
              <a:sym typeface="Wingdings" panose="05000000000000000000" pitchFamily="2" charset="2"/>
            </a:endParaRPr>
          </a:p>
        </p:txBody>
      </p:sp>
      <p:sp>
        <p:nvSpPr>
          <p:cNvPr id="93191" name="Text Box 5"/>
          <p:cNvSpPr txBox="1"/>
          <p:nvPr/>
        </p:nvSpPr>
        <p:spPr>
          <a:xfrm>
            <a:off x="3962400" y="863600"/>
            <a:ext cx="4770438" cy="457200"/>
          </a:xfrm>
          <a:prstGeom prst="rect">
            <a:avLst/>
          </a:prstGeom>
          <a:noFill/>
          <a:ln w="9525">
            <a:noFill/>
          </a:ln>
        </p:spPr>
        <p:txBody>
          <a:bodyPr anchor="t">
            <a:spAutoFit/>
          </a:bodyPr>
          <a:lstStyle/>
          <a:p>
            <a:pPr lvl="0" indent="0">
              <a:spcBef>
                <a:spcPct val="50000"/>
              </a:spcBef>
            </a:pPr>
            <a:r>
              <a:rPr lang="en-US" altLang="x-none" sz="2400" dirty="0">
                <a:solidFill>
                  <a:srgbClr val="3333FF"/>
                </a:solidFill>
                <a:latin typeface="方正姚体" panose="02010601030101010101" pitchFamily="2" charset="-122"/>
                <a:ea typeface="方正姚体" panose="02010601030101010101" pitchFamily="2" charset="-122"/>
                <a:sym typeface="Wingdings" panose="05000000000000000000" pitchFamily="2" charset="2"/>
              </a:rPr>
              <a:t>        </a:t>
            </a:r>
            <a:r>
              <a:rPr lang="zh-CN" altLang="en-US" sz="2400" dirty="0">
                <a:solidFill>
                  <a:srgbClr val="CC3300"/>
                </a:solidFill>
                <a:latin typeface="方正姚体" panose="02010601030101010101" pitchFamily="2" charset="-122"/>
                <a:ea typeface="方正姚体" panose="02010601030101010101" pitchFamily="2" charset="-122"/>
                <a:sym typeface="Wingdings" panose="05000000000000000000" pitchFamily="2" charset="2"/>
              </a:rPr>
              <a:t>操作的交错执行：</a:t>
            </a:r>
            <a:r>
              <a:rPr lang="zh-CN" altLang="en-US" sz="2400" dirty="0">
                <a:latin typeface="方正姚体" panose="02010601030101010101" pitchFamily="2" charset="-122"/>
                <a:ea typeface="方正姚体" panose="02010601030101010101" pitchFamily="2" charset="-122"/>
                <a:sym typeface="Wingdings" panose="05000000000000000000" pitchFamily="2" charset="2"/>
              </a:rPr>
              <a:t>需要</a:t>
            </a:r>
            <a:r>
              <a:rPr lang="zh-CN" altLang="en-US" sz="2400" dirty="0">
                <a:solidFill>
                  <a:schemeClr val="accent2"/>
                </a:solidFill>
                <a:latin typeface="方正姚体" panose="02010601030101010101" pitchFamily="2" charset="-122"/>
                <a:ea typeface="方正姚体" panose="02010601030101010101" pitchFamily="2" charset="-122"/>
                <a:sym typeface="Wingdings" panose="05000000000000000000" pitchFamily="2" charset="2"/>
              </a:rPr>
              <a:t>调度</a:t>
            </a:r>
            <a:r>
              <a:rPr lang="zh-CN" altLang="en-US" sz="2400" dirty="0">
                <a:latin typeface="方正姚体" panose="02010601030101010101" pitchFamily="2" charset="-122"/>
                <a:ea typeface="方正姚体" panose="02010601030101010101" pitchFamily="2" charset="-122"/>
                <a:sym typeface="Wingdings" panose="05000000000000000000" pitchFamily="2" charset="2"/>
              </a:rPr>
              <a:t>。</a:t>
            </a:r>
            <a:endParaRPr lang="zh-CN" altLang="en-US" sz="2400" dirty="0">
              <a:latin typeface="方正姚体" panose="02010601030101010101" pitchFamily="2" charset="-122"/>
              <a:ea typeface="方正姚体" panose="02010601030101010101" pitchFamily="2" charset="-122"/>
              <a:sym typeface="Wingdings" panose="05000000000000000000" pitchFamily="2" charset="2"/>
            </a:endParaRPr>
          </a:p>
        </p:txBody>
      </p:sp>
      <p:sp>
        <p:nvSpPr>
          <p:cNvPr id="90119" name="Rectangle 4"/>
          <p:cNvSpPr txBox="1"/>
          <p:nvPr/>
        </p:nvSpPr>
        <p:spPr>
          <a:xfrm>
            <a:off x="517525" y="5649913"/>
            <a:ext cx="7204075" cy="682625"/>
          </a:xfrm>
          <a:prstGeom prst="rect">
            <a:avLst/>
          </a:prstGeom>
          <a:noFill/>
          <a:ln w="9525">
            <a:noFill/>
          </a:ln>
        </p:spPr>
        <p:txBody>
          <a:bodyPr anchor="t"/>
          <a:lstStyle/>
          <a:p>
            <a:pPr lvl="0" indent="0" eaLnBrk="0" hangingPunct="0">
              <a:lnSpc>
                <a:spcPct val="120000"/>
              </a:lnSpc>
              <a:spcBef>
                <a:spcPts val="600"/>
              </a:spcBef>
              <a:buClr>
                <a:srgbClr val="0033CC"/>
              </a:buClr>
              <a:buFont typeface="Wingdings" panose="05000000000000000000" pitchFamily="2" charset="2"/>
              <a:buChar char="p"/>
            </a:pPr>
            <a:r>
              <a:rPr lang="zh-CN" altLang="en-US" sz="2400" u="sng" dirty="0">
                <a:solidFill>
                  <a:srgbClr val="000099"/>
                </a:solidFill>
                <a:latin typeface="华文楷体" panose="02010600040101010101" pitchFamily="2" charset="-122"/>
                <a:ea typeface="宋体" panose="02010600030101010101" pitchFamily="2" charset="-122"/>
                <a:sym typeface="Wingdings" panose="05000000000000000000" pitchFamily="2" charset="2"/>
              </a:rPr>
              <a:t>每个事务最后的行动：</a:t>
            </a:r>
            <a:r>
              <a:rPr lang="en-US" altLang="x-none" sz="2400" dirty="0">
                <a:latin typeface="华文楷体" panose="02010600040101010101" pitchFamily="2" charset="-122"/>
                <a:ea typeface="宋体" panose="02010600030101010101" pitchFamily="2" charset="-122"/>
                <a:sym typeface="Wingdings" panose="05000000000000000000" pitchFamily="2" charset="2"/>
              </a:rPr>
              <a:t>COMMIT</a:t>
            </a:r>
            <a:r>
              <a:rPr lang="zh-CN" altLang="en-US" sz="2400" dirty="0">
                <a:latin typeface="华文楷体" panose="02010600040101010101" pitchFamily="2" charset="-122"/>
                <a:ea typeface="宋体" panose="02010600030101010101" pitchFamily="2" charset="-122"/>
                <a:sym typeface="Wingdings" panose="05000000000000000000" pitchFamily="2" charset="2"/>
              </a:rPr>
              <a:t>和</a:t>
            </a:r>
            <a:r>
              <a:rPr lang="en-US" altLang="x-none" sz="2400" dirty="0">
                <a:latin typeface="华文楷体" panose="02010600040101010101" pitchFamily="2" charset="-122"/>
                <a:ea typeface="宋体" panose="02010600030101010101" pitchFamily="2" charset="-122"/>
                <a:sym typeface="Wingdings" panose="05000000000000000000" pitchFamily="2" charset="2"/>
              </a:rPr>
              <a:t>ROLLBACK</a:t>
            </a:r>
            <a:r>
              <a:rPr lang="zh-CN" altLang="en-US" sz="2400" dirty="0">
                <a:latin typeface="华文楷体" panose="02010600040101010101" pitchFamily="2" charset="-122"/>
                <a:ea typeface="宋体" panose="02010600030101010101" pitchFamily="2" charset="-122"/>
                <a:sym typeface="Wingdings" panose="05000000000000000000" pitchFamily="2" charset="2"/>
              </a:rPr>
              <a:t>。</a:t>
            </a:r>
            <a:endParaRPr lang="zh-CN" altLang="en-US" sz="2400" baseline="-25000" dirty="0">
              <a:latin typeface="华文楷体" panose="02010600040101010101" pitchFamily="2" charset="-122"/>
              <a:ea typeface="宋体" panose="02010600030101010101" pitchFamily="2" charset="-122"/>
              <a:sym typeface="Wingdings" panose="05000000000000000000" pitchFamily="2" charset="2"/>
            </a:endParaRPr>
          </a:p>
        </p:txBody>
      </p:sp>
      <p:sp>
        <p:nvSpPr>
          <p:cNvPr id="90120" name="Rectangle 4"/>
          <p:cNvSpPr txBox="1"/>
          <p:nvPr/>
        </p:nvSpPr>
        <p:spPr>
          <a:xfrm>
            <a:off x="541338" y="3863975"/>
            <a:ext cx="5661025" cy="1371600"/>
          </a:xfrm>
          <a:prstGeom prst="rect">
            <a:avLst/>
          </a:prstGeom>
          <a:noFill/>
          <a:ln w="9525">
            <a:noFill/>
          </a:ln>
        </p:spPr>
        <p:txBody>
          <a:bodyPr anchor="t"/>
          <a:lstStyle/>
          <a:p>
            <a:pPr lvl="0" indent="0" eaLnBrk="0" hangingPunct="0">
              <a:spcBef>
                <a:spcPct val="50000"/>
              </a:spcBef>
              <a:buClr>
                <a:srgbClr val="0033CC"/>
              </a:buClr>
              <a:buFont typeface="Wingdings" panose="05000000000000000000" pitchFamily="2" charset="2"/>
              <a:buNone/>
            </a:pP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lvl="0" indent="0" eaLnBrk="0" hangingPunct="0">
              <a:lnSpc>
                <a:spcPct val="120000"/>
              </a:lnSpc>
              <a:spcBef>
                <a:spcPts val="600"/>
              </a:spcBef>
              <a:buClr>
                <a:srgbClr val="0033CC"/>
              </a:buClr>
              <a:buFont typeface="Wingdings" panose="05000000000000000000" pitchFamily="2" charset="2"/>
              <a:buChar char="p"/>
            </a:pPr>
            <a:r>
              <a:rPr lang="zh-CN" altLang="en-US" sz="2400" u="sng" dirty="0">
                <a:solidFill>
                  <a:srgbClr val="000099"/>
                </a:solidFill>
                <a:latin typeface="华文楷体" panose="02010600040101010101" pitchFamily="2" charset="-122"/>
                <a:ea typeface="宋体" panose="02010600030101010101" pitchFamily="2" charset="-122"/>
                <a:sym typeface="Wingdings" panose="05000000000000000000" pitchFamily="2" charset="2"/>
              </a:rPr>
              <a:t> 对调度的要求：</a:t>
            </a:r>
            <a:r>
              <a:rPr lang="zh-CN" altLang="en-US" sz="2400" dirty="0">
                <a:latin typeface="华文楷体" panose="02010600040101010101" pitchFamily="2" charset="-122"/>
                <a:ea typeface="宋体" panose="02010600030101010101" pitchFamily="2" charset="-122"/>
                <a:sym typeface="Wingdings" panose="05000000000000000000" pitchFamily="2" charset="2"/>
              </a:rPr>
              <a:t>一个事务中的操作在调度中的顺序应该与它们在事务中的顺序一致。 </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9318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nodeType="clickEffect">
                                  <p:stCondLst>
                                    <p:cond delay="0"/>
                                  </p:stCondLst>
                                  <p:childTnLst>
                                    <p:set>
                                      <p:cBhvr>
                                        <p:cTn id="10" dur="1" fill="hold">
                                          <p:stCondLst>
                                            <p:cond delay="0"/>
                                          </p:stCondLst>
                                        </p:cTn>
                                        <p:tgtEl>
                                          <p:spTgt spid="93190">
                                            <p:txEl>
                                              <p:charRg st="27" end="39"/>
                                            </p:txEl>
                                          </p:spTgt>
                                        </p:tgtEl>
                                        <p:attrNameLst>
                                          <p:attrName>style.visibility</p:attrName>
                                        </p:attrNameLst>
                                      </p:cBhvr>
                                      <p:to>
                                        <p:strVal val="visible"/>
                                      </p:to>
                                    </p:set>
                                    <p:animEffect transition="in" filter="dissolve">
                                      <p:cBhvr>
                                        <p:cTn id="11" dur="500"/>
                                        <p:tgtEl>
                                          <p:spTgt spid="93190">
                                            <p:txEl>
                                              <p:charRg st="27" end="39"/>
                                            </p:txEl>
                                          </p:spTgt>
                                        </p:tgtEl>
                                      </p:cBhvr>
                                    </p:animEffect>
                                  </p:childTnLst>
                                </p:cTn>
                              </p:par>
                              <p:par>
                                <p:cTn id="12" presetID="9" presetClass="entr" presetSubtype="0" fill="hold" nodeType="withEffect">
                                  <p:stCondLst>
                                    <p:cond delay="0"/>
                                  </p:stCondLst>
                                  <p:childTnLst>
                                    <p:set>
                                      <p:cBhvr>
                                        <p:cTn id="13" dur="1" fill="hold">
                                          <p:stCondLst>
                                            <p:cond delay="0"/>
                                          </p:stCondLst>
                                        </p:cTn>
                                        <p:tgtEl>
                                          <p:spTgt spid="93190">
                                            <p:txEl>
                                              <p:charRg st="39" end="78"/>
                                            </p:txEl>
                                          </p:spTgt>
                                        </p:tgtEl>
                                        <p:attrNameLst>
                                          <p:attrName>style.visibility</p:attrName>
                                        </p:attrNameLst>
                                      </p:cBhvr>
                                      <p:to>
                                        <p:strVal val="visible"/>
                                      </p:to>
                                    </p:set>
                                    <p:animEffect transition="in" filter="dissolve">
                                      <p:cBhvr>
                                        <p:cTn id="14" dur="500"/>
                                        <p:tgtEl>
                                          <p:spTgt spid="93190">
                                            <p:txEl>
                                              <p:charRg st="39" end="78"/>
                                            </p:txEl>
                                          </p:spTgt>
                                        </p:tgtEl>
                                      </p:cBhvr>
                                    </p:animEffect>
                                  </p:childTnLst>
                                </p:cTn>
                              </p:par>
                              <p:par>
                                <p:cTn id="15" presetID="9" presetClass="entr" presetSubtype="0" fill="hold" nodeType="withEffect">
                                  <p:stCondLst>
                                    <p:cond delay="0"/>
                                  </p:stCondLst>
                                  <p:childTnLst>
                                    <p:set>
                                      <p:cBhvr>
                                        <p:cTn id="16" dur="1" fill="hold">
                                          <p:stCondLst>
                                            <p:cond delay="0"/>
                                          </p:stCondLst>
                                        </p:cTn>
                                        <p:tgtEl>
                                          <p:spTgt spid="93190">
                                            <p:txEl>
                                              <p:charRg st="78" end="100"/>
                                            </p:txEl>
                                          </p:spTgt>
                                        </p:tgtEl>
                                        <p:attrNameLst>
                                          <p:attrName>style.visibility</p:attrName>
                                        </p:attrNameLst>
                                      </p:cBhvr>
                                      <p:to>
                                        <p:strVal val="visible"/>
                                      </p:to>
                                    </p:set>
                                    <p:animEffect transition="in" filter="dissolve">
                                      <p:cBhvr>
                                        <p:cTn id="17" dur="500"/>
                                        <p:tgtEl>
                                          <p:spTgt spid="93190">
                                            <p:txEl>
                                              <p:charRg st="78" end="10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93191"/>
                                        </p:tgtEl>
                                        <p:attrNameLst>
                                          <p:attrName>style.visibility</p:attrName>
                                        </p:attrNameLst>
                                      </p:cBhvr>
                                      <p:to>
                                        <p:strVal val="visible"/>
                                      </p:to>
                                    </p:set>
                                    <p:animEffect transition="in" filter="checkerboard(across)">
                                      <p:cBhvr>
                                        <p:cTn id="22" dur="500"/>
                                        <p:tgtEl>
                                          <p:spTgt spid="931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91"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五、数据库系统中的并发</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91138" name="Rectangle 7"/>
          <p:cNvSpPr/>
          <p:nvPr/>
        </p:nvSpPr>
        <p:spPr>
          <a:xfrm>
            <a:off x="454025" y="7683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2</a:t>
            </a:r>
            <a:r>
              <a:rPr lang="zh-CN" altLang="en-US" sz="2800" dirty="0">
                <a:solidFill>
                  <a:srgbClr val="FF0000"/>
                </a:solidFill>
                <a:latin typeface="黑体" panose="02010609060101010101" pitchFamily="1" charset="-122"/>
                <a:ea typeface="黑体" panose="02010609060101010101" pitchFamily="1" charset="-122"/>
              </a:rPr>
              <a:t>、并发执行可行引起的问题</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94212" name="Text Box 4"/>
          <p:cNvSpPr txBox="1"/>
          <p:nvPr/>
        </p:nvSpPr>
        <p:spPr>
          <a:xfrm>
            <a:off x="333375" y="1412875"/>
            <a:ext cx="8377238" cy="1882775"/>
          </a:xfrm>
          <a:prstGeom prst="rect">
            <a:avLst/>
          </a:prstGeom>
          <a:noFill/>
          <a:ln w="9525">
            <a:noFill/>
          </a:ln>
        </p:spPr>
        <p:txBody>
          <a:bodyPr anchor="t">
            <a:spAutoFit/>
          </a:bodyPr>
          <a:lstStyle/>
          <a:p>
            <a:pPr marL="342900" lvl="0" indent="-342900">
              <a:lnSpc>
                <a:spcPct val="120000"/>
              </a:lnSpc>
              <a:spcBef>
                <a:spcPts val="600"/>
              </a:spcBef>
            </a:pPr>
            <a:r>
              <a:rPr lang="en-US" altLang="x-none" sz="2400" dirty="0">
                <a:latin typeface="宋体" panose="02010600030101010101" pitchFamily="2" charset="-122"/>
                <a:ea typeface="宋体" panose="02010600030101010101" pitchFamily="2" charset="-122"/>
                <a:sym typeface="Wingdings" panose="05000000000000000000" pitchFamily="2" charset="2"/>
              </a:rPr>
              <a:t>      DBMS</a:t>
            </a:r>
            <a:r>
              <a:rPr lang="zh-CN" altLang="en-US" sz="2400" dirty="0">
                <a:latin typeface="宋体" panose="02010600030101010101" pitchFamily="2" charset="-122"/>
                <a:ea typeface="宋体" panose="02010600030101010101" pitchFamily="2" charset="-122"/>
                <a:sym typeface="Wingdings" panose="05000000000000000000" pitchFamily="2" charset="2"/>
              </a:rPr>
              <a:t>对事务并发的控制，可归结为对数据访问冲突的控制，以保证并发事务间数据访问上的互不干扰。</a:t>
            </a:r>
            <a:endParaRPr lang="en-US" altLang="x-none" sz="2400" dirty="0">
              <a:latin typeface="宋体" panose="02010600030101010101" pitchFamily="2" charset="-122"/>
              <a:ea typeface="宋体" panose="02010600030101010101" pitchFamily="2" charset="-122"/>
              <a:sym typeface="Wingdings" panose="05000000000000000000" pitchFamily="2" charset="2"/>
            </a:endParaRPr>
          </a:p>
          <a:p>
            <a:pPr marL="342900" lvl="0" indent="-342900">
              <a:lnSpc>
                <a:spcPct val="120000"/>
              </a:lnSpc>
              <a:spcBef>
                <a:spcPts val="600"/>
              </a:spcBef>
            </a:pPr>
            <a:r>
              <a:rPr lang="zh-CN" altLang="en-US" sz="2400" dirty="0">
                <a:latin typeface="宋体" panose="02010600030101010101" pitchFamily="2" charset="-122"/>
                <a:ea typeface="宋体" panose="02010600030101010101" pitchFamily="2" charset="-122"/>
                <a:sym typeface="Wingdings" panose="05000000000000000000" pitchFamily="2" charset="2"/>
              </a:rPr>
              <a:t>      事务如不加控制地并发执行，会产生如下三个问题：</a:t>
            </a:r>
            <a:r>
              <a:rPr lang="zh-CN" altLang="en-US" sz="2400" u="sng" dirty="0">
                <a:solidFill>
                  <a:srgbClr val="0000CC"/>
                </a:solidFill>
                <a:latin typeface="宋体" panose="02010600030101010101" pitchFamily="2" charset="-122"/>
                <a:ea typeface="宋体" panose="02010600030101010101" pitchFamily="2" charset="-122"/>
                <a:sym typeface="Wingdings" panose="05000000000000000000" pitchFamily="2" charset="2"/>
              </a:rPr>
              <a:t>丢失更新</a:t>
            </a:r>
            <a:r>
              <a:rPr lang="zh-CN" altLang="en-US" sz="2400" dirty="0">
                <a:solidFill>
                  <a:srgbClr val="0000CC"/>
                </a:solidFill>
                <a:latin typeface="宋体" panose="02010600030101010101" pitchFamily="2" charset="-122"/>
                <a:ea typeface="宋体" panose="02010600030101010101" pitchFamily="2" charset="-122"/>
                <a:sym typeface="Wingdings" panose="05000000000000000000" pitchFamily="2" charset="2"/>
              </a:rPr>
              <a:t>；</a:t>
            </a:r>
            <a:r>
              <a:rPr lang="zh-CN" altLang="en-US" sz="2400" u="sng" dirty="0">
                <a:solidFill>
                  <a:srgbClr val="0000CC"/>
                </a:solidFill>
                <a:latin typeface="宋体" panose="02010600030101010101" pitchFamily="2" charset="-122"/>
                <a:ea typeface="宋体" panose="02010600030101010101" pitchFamily="2" charset="-122"/>
                <a:sym typeface="Wingdings" panose="05000000000000000000" pitchFamily="2" charset="2"/>
              </a:rPr>
              <a:t>读“脏数据”</a:t>
            </a:r>
            <a:r>
              <a:rPr lang="zh-CN" altLang="en-US" sz="2400" dirty="0">
                <a:solidFill>
                  <a:srgbClr val="0000CC"/>
                </a:solidFill>
                <a:latin typeface="宋体" panose="02010600030101010101" pitchFamily="2" charset="-122"/>
                <a:ea typeface="宋体" panose="02010600030101010101" pitchFamily="2" charset="-122"/>
                <a:sym typeface="Wingdings" panose="05000000000000000000" pitchFamily="2" charset="2"/>
              </a:rPr>
              <a:t>；</a:t>
            </a:r>
            <a:r>
              <a:rPr lang="zh-CN" altLang="en-US" sz="2400" u="sng" dirty="0">
                <a:solidFill>
                  <a:srgbClr val="0000CC"/>
                </a:solidFill>
                <a:latin typeface="宋体" panose="02010600030101010101" pitchFamily="2" charset="-122"/>
                <a:ea typeface="宋体" panose="02010600030101010101" pitchFamily="2" charset="-122"/>
                <a:sym typeface="Wingdings" panose="05000000000000000000" pitchFamily="2" charset="2"/>
              </a:rPr>
              <a:t>读值不可复现</a:t>
            </a:r>
            <a:r>
              <a:rPr lang="zh-CN" altLang="en-US" sz="2400" dirty="0">
                <a:solidFill>
                  <a:srgbClr val="0000CC"/>
                </a:solidFill>
                <a:latin typeface="宋体" panose="02010600030101010101" pitchFamily="2" charset="-122"/>
                <a:ea typeface="宋体" panose="02010600030101010101" pitchFamily="2" charset="-122"/>
                <a:sym typeface="Wingdings" panose="05000000000000000000" pitchFamily="2" charset="2"/>
              </a:rPr>
              <a:t>。</a:t>
            </a:r>
            <a:endParaRPr lang="zh-CN" altLang="en-US" sz="2400" dirty="0">
              <a:solidFill>
                <a:srgbClr val="0000CC"/>
              </a:solidFill>
              <a:latin typeface="宋体" panose="02010600030101010101" pitchFamily="2" charset="-122"/>
              <a:ea typeface="宋体" panose="02010600030101010101" pitchFamily="2" charset="-122"/>
              <a:sym typeface="Wingdings" panose="05000000000000000000" pitchFamily="2" charset="2"/>
            </a:endParaRPr>
          </a:p>
        </p:txBody>
      </p:sp>
      <p:sp>
        <p:nvSpPr>
          <p:cNvPr id="94213" name="Text Box 4"/>
          <p:cNvSpPr txBox="1"/>
          <p:nvPr/>
        </p:nvSpPr>
        <p:spPr>
          <a:xfrm>
            <a:off x="574675" y="2919413"/>
            <a:ext cx="8389938" cy="3084512"/>
          </a:xfrm>
          <a:prstGeom prst="rect">
            <a:avLst/>
          </a:prstGeom>
          <a:noFill/>
          <a:ln w="9525">
            <a:noFill/>
          </a:ln>
        </p:spPr>
        <p:txBody>
          <a:bodyPr anchor="t">
            <a:spAutoFit/>
          </a:bodyPr>
          <a:lstStyle/>
          <a:p>
            <a:pPr marL="342900" lvl="0" indent="-342900">
              <a:lnSpc>
                <a:spcPct val="110000"/>
              </a:lnSpc>
              <a:spcBef>
                <a:spcPct val="50000"/>
              </a:spcBef>
            </a:pPr>
            <a:r>
              <a:rPr lang="zh-CN" altLang="en-US" sz="2400" dirty="0">
                <a:latin typeface="华文楷体" panose="02010600040101010101" pitchFamily="2" charset="-122"/>
                <a:ea typeface="华文楷体" panose="02010600040101010101" pitchFamily="2" charset="-122"/>
                <a:sym typeface="Wingdings" panose="05000000000000000000" pitchFamily="2" charset="2"/>
              </a:rPr>
              <a:t>            </a:t>
            </a:r>
            <a:endParaRPr lang="zh-CN" altLang="en-US" sz="2400" dirty="0">
              <a:solidFill>
                <a:srgbClr val="0000CC"/>
              </a:solidFill>
              <a:latin typeface="华文楷体" panose="02010600040101010101" pitchFamily="2" charset="-122"/>
              <a:ea typeface="华文楷体" panose="02010600040101010101" pitchFamily="2" charset="-122"/>
              <a:sym typeface="Wingdings" panose="05000000000000000000" pitchFamily="2" charset="2"/>
            </a:endParaRPr>
          </a:p>
          <a:p>
            <a:pPr marL="342900" lvl="0" indent="-342900">
              <a:lnSpc>
                <a:spcPct val="110000"/>
              </a:lnSpc>
              <a:spcBef>
                <a:spcPct val="50000"/>
              </a:spcBef>
            </a:pPr>
            <a:r>
              <a:rPr lang="zh-CN" altLang="en-US" sz="2400" dirty="0">
                <a:solidFill>
                  <a:srgbClr val="0000CC"/>
                </a:solidFill>
                <a:latin typeface="宋体" panose="02010600030101010101" pitchFamily="2" charset="-122"/>
                <a:ea typeface="宋体" panose="02010600030101010101" pitchFamily="2" charset="-122"/>
                <a:sym typeface="Wingdings" panose="05000000000000000000" pitchFamily="2" charset="2"/>
              </a:rPr>
              <a:t>（</a:t>
            </a:r>
            <a:r>
              <a:rPr lang="en-US" altLang="x-none" sz="2400" dirty="0">
                <a:solidFill>
                  <a:srgbClr val="0000CC"/>
                </a:solidFill>
                <a:latin typeface="宋体" panose="02010600030101010101" pitchFamily="2" charset="-122"/>
                <a:ea typeface="宋体" panose="02010600030101010101" pitchFamily="2" charset="-122"/>
                <a:sym typeface="Wingdings" panose="05000000000000000000" pitchFamily="2" charset="2"/>
              </a:rPr>
              <a:t>1</a:t>
            </a:r>
            <a:r>
              <a:rPr lang="zh-CN" altLang="en-US" sz="2400" dirty="0">
                <a:solidFill>
                  <a:srgbClr val="0000CC"/>
                </a:solidFill>
                <a:latin typeface="宋体" panose="02010600030101010101" pitchFamily="2" charset="-122"/>
                <a:ea typeface="宋体" panose="02010600030101010101" pitchFamily="2" charset="-122"/>
                <a:sym typeface="Wingdings" panose="05000000000000000000" pitchFamily="2" charset="2"/>
              </a:rPr>
              <a:t>）丢失更新，亦称：覆盖未提交的数据 </a:t>
            </a:r>
            <a:r>
              <a:rPr lang="en-US" altLang="x-none" sz="2400" dirty="0">
                <a:solidFill>
                  <a:srgbClr val="0000CC"/>
                </a:solidFill>
                <a:latin typeface="宋体" panose="02010600030101010101" pitchFamily="2" charset="-122"/>
                <a:ea typeface="宋体" panose="02010600030101010101" pitchFamily="2" charset="-122"/>
                <a:sym typeface="Wingdings" panose="05000000000000000000" pitchFamily="2" charset="2"/>
              </a:rPr>
              <a:t>(Overwriting Uncommitted Data)</a:t>
            </a:r>
            <a:endParaRPr lang="zh-CN" altLang="en-US" sz="2400" dirty="0">
              <a:solidFill>
                <a:srgbClr val="0000CC"/>
              </a:solidFill>
              <a:latin typeface="宋体" panose="02010600030101010101" pitchFamily="2" charset="-122"/>
              <a:ea typeface="宋体" panose="02010600030101010101" pitchFamily="2" charset="-122"/>
              <a:sym typeface="Wingdings" panose="05000000000000000000" pitchFamily="2" charset="2"/>
            </a:endParaRPr>
          </a:p>
          <a:p>
            <a:pPr marL="342900" lvl="0" indent="-342900">
              <a:lnSpc>
                <a:spcPct val="120000"/>
              </a:lnSpc>
              <a:spcBef>
                <a:spcPts val="600"/>
              </a:spcBef>
            </a:pP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原因：因两个事务对同一数据并发地写入引起，称</a:t>
            </a:r>
            <a:r>
              <a:rPr lang="zh-CN" altLang="en-US" sz="2400" dirty="0">
                <a:solidFill>
                  <a:srgbClr val="A50021"/>
                </a:solidFill>
                <a:latin typeface="华文楷体" panose="02010600040101010101" pitchFamily="2" charset="-122"/>
                <a:ea typeface="华文楷体" panose="02010600040101010101" pitchFamily="2" charset="-122"/>
                <a:sym typeface="Wingdings" panose="05000000000000000000" pitchFamily="2" charset="2"/>
              </a:rPr>
              <a:t>写</a:t>
            </a:r>
            <a:r>
              <a:rPr lang="en-US" altLang="x-none" sz="2400" dirty="0">
                <a:solidFill>
                  <a:srgbClr val="A50021"/>
                </a:solidFill>
                <a:latin typeface="华文楷体" panose="02010600040101010101" pitchFamily="2" charset="-122"/>
                <a:ea typeface="华文楷体" panose="02010600040101010101" pitchFamily="2" charset="-122"/>
                <a:sym typeface="Wingdings" panose="05000000000000000000" pitchFamily="2" charset="2"/>
              </a:rPr>
              <a:t>-</a:t>
            </a:r>
            <a:r>
              <a:rPr lang="zh-CN" altLang="en-US" sz="2400" dirty="0">
                <a:solidFill>
                  <a:srgbClr val="A50021"/>
                </a:solidFill>
                <a:latin typeface="华文楷体" panose="02010600040101010101" pitchFamily="2" charset="-122"/>
                <a:ea typeface="华文楷体" panose="02010600040101010101" pitchFamily="2" charset="-122"/>
                <a:sym typeface="Wingdings" panose="05000000000000000000" pitchFamily="2" charset="2"/>
              </a:rPr>
              <a:t>写冲突 </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(write-write conflict)</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a:p>
            <a:pPr marL="342900" lvl="0" indent="-342900">
              <a:lnSpc>
                <a:spcPct val="120000"/>
              </a:lnSpc>
              <a:spcBef>
                <a:spcPts val="600"/>
              </a:spcBef>
            </a:pP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结果：与串行地执行两个事务的结果不一致。</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4212"/>
                                        </p:tgtEl>
                                        <p:attrNameLst>
                                          <p:attrName>style.visibility</p:attrName>
                                        </p:attrNameLst>
                                      </p:cBhvr>
                                      <p:to>
                                        <p:strVal val="visible"/>
                                      </p:to>
                                    </p:set>
                                    <p:animEffect transition="in" filter="checkerboard(across)">
                                      <p:cBhvr>
                                        <p:cTn id="7" dur="500"/>
                                        <p:tgtEl>
                                          <p:spTgt spid="9421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94213"/>
                                        </p:tgtEl>
                                        <p:attrNameLst>
                                          <p:attrName>style.visibility</p:attrName>
                                        </p:attrNameLst>
                                      </p:cBhvr>
                                      <p:to>
                                        <p:strVal val="visible"/>
                                      </p:to>
                                    </p:set>
                                    <p:animEffect transition="in" filter="checkerboard(across)">
                                      <p:cBhvr>
                                        <p:cTn id="12" dur="500"/>
                                        <p:tgtEl>
                                          <p:spTgt spid="942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2" grpId="0"/>
      <p:bldP spid="94213"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五、数据库系统中的并发</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92162" name="Rectangle 7"/>
          <p:cNvSpPr/>
          <p:nvPr/>
        </p:nvSpPr>
        <p:spPr>
          <a:xfrm>
            <a:off x="454025" y="7683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2</a:t>
            </a:r>
            <a:r>
              <a:rPr lang="zh-CN" altLang="en-US" sz="2800" dirty="0">
                <a:solidFill>
                  <a:srgbClr val="FF0000"/>
                </a:solidFill>
                <a:latin typeface="黑体" panose="02010609060101010101" pitchFamily="1" charset="-122"/>
                <a:ea typeface="黑体" panose="02010609060101010101" pitchFamily="1" charset="-122"/>
              </a:rPr>
              <a:t>、并发执行可行引起的问题</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95236" name="AutoShape 2"/>
          <p:cNvSpPr/>
          <p:nvPr/>
        </p:nvSpPr>
        <p:spPr>
          <a:xfrm>
            <a:off x="365125" y="2011363"/>
            <a:ext cx="3455988" cy="4175125"/>
          </a:xfrm>
          <a:prstGeom prst="roundRect">
            <a:avLst>
              <a:gd name="adj" fmla="val 16667"/>
            </a:avLst>
          </a:prstGeom>
          <a:solidFill>
            <a:srgbClr val="CCFFFF">
              <a:alpha val="62999"/>
            </a:srgbClr>
          </a:solidFill>
          <a:ln w="9525" cap="flat" cmpd="sng">
            <a:solidFill>
              <a:schemeClr val="tx1"/>
            </a:solidFill>
            <a:prstDash val="solid"/>
            <a:round/>
            <a:headEnd type="none" w="med" len="med"/>
            <a:tailEnd type="none" w="med" len="med"/>
          </a:ln>
        </p:spPr>
        <p:txBody>
          <a:bodyPr wrap="none" lIns="90000" tIns="46800" rIns="90000" bIns="46800" anchor="ctr"/>
          <a:lstStyle/>
          <a:p>
            <a:pPr lvl="0" indent="0"/>
            <a:endParaRPr lang="zh-CN" altLang="en-US" dirty="0">
              <a:latin typeface="Arial" panose="020B0604020202020204" pitchFamily="34" charset="0"/>
              <a:ea typeface="宋体" panose="02010600030101010101" pitchFamily="2" charset="-122"/>
            </a:endParaRPr>
          </a:p>
        </p:txBody>
      </p:sp>
      <p:sp>
        <p:nvSpPr>
          <p:cNvPr id="92164" name="Rectangle 4"/>
          <p:cNvSpPr/>
          <p:nvPr/>
        </p:nvSpPr>
        <p:spPr>
          <a:xfrm>
            <a:off x="687388" y="1430338"/>
            <a:ext cx="7921625" cy="525462"/>
          </a:xfrm>
          <a:prstGeom prst="rect">
            <a:avLst/>
          </a:prstGeom>
          <a:noFill/>
          <a:ln w="9525">
            <a:noFill/>
          </a:ln>
        </p:spPr>
        <p:txBody>
          <a:bodyPr lIns="90000" tIns="46800" rIns="90000" bIns="46800" anchor="t">
            <a:spAutoFit/>
          </a:bodyPr>
          <a:lstStyle/>
          <a:p>
            <a:pPr lvl="0" indent="0" algn="ctr">
              <a:spcBef>
                <a:spcPct val="50000"/>
              </a:spcBef>
            </a:pPr>
            <a:r>
              <a:rPr lang="zh-CN" altLang="en-US" sz="2800" dirty="0">
                <a:solidFill>
                  <a:srgbClr val="A50021"/>
                </a:solidFill>
                <a:latin typeface="宋体" panose="02010600030101010101" pitchFamily="2" charset="-122"/>
                <a:ea typeface="宋体" panose="02010600030101010101" pitchFamily="2" charset="-122"/>
                <a:sym typeface="Wingdings" panose="05000000000000000000" pitchFamily="2" charset="2"/>
              </a:rPr>
              <a:t>丢失更新图示</a:t>
            </a:r>
            <a:endParaRPr lang="zh-CN" altLang="en-US" sz="2800" dirty="0">
              <a:solidFill>
                <a:srgbClr val="A50021"/>
              </a:solidFill>
              <a:latin typeface="宋体" panose="02010600030101010101" pitchFamily="2" charset="-122"/>
              <a:ea typeface="宋体" panose="02010600030101010101" pitchFamily="2" charset="-122"/>
              <a:sym typeface="Wingdings" panose="05000000000000000000" pitchFamily="2" charset="2"/>
            </a:endParaRPr>
          </a:p>
        </p:txBody>
      </p:sp>
      <p:graphicFrame>
        <p:nvGraphicFramePr>
          <p:cNvPr id="95238" name="Object 2"/>
          <p:cNvGraphicFramePr>
            <a:graphicFrameLocks noGrp="1" noChangeAspect="1"/>
          </p:cNvGraphicFramePr>
          <p:nvPr/>
        </p:nvGraphicFramePr>
        <p:xfrm>
          <a:off x="654050" y="2154238"/>
          <a:ext cx="8135938" cy="4454525"/>
        </p:xfrm>
        <a:graphic>
          <a:graphicData uri="http://schemas.openxmlformats.org/presentationml/2006/ole">
            <mc:AlternateContent xmlns:mc="http://schemas.openxmlformats.org/markup-compatibility/2006">
              <mc:Choice xmlns:v="urn:schemas-microsoft-com:vml" Requires="v">
                <p:oleObj spid="_x0000_s19478" name="" r:id="rId1" imgW="2933700" imgH="1609725" progId="Word.Picture.8">
                  <p:embed/>
                </p:oleObj>
              </mc:Choice>
              <mc:Fallback>
                <p:oleObj name="" r:id="rId1" imgW="2933700" imgH="1609725" progId="Word.Picture.8">
                  <p:embed/>
                  <p:pic>
                    <p:nvPicPr>
                      <p:cNvPr id="0" name="图片 3091"/>
                      <p:cNvPicPr/>
                      <p:nvPr/>
                    </p:nvPicPr>
                    <p:blipFill>
                      <a:blip r:embed="rId2"/>
                      <a:stretch>
                        <a:fillRect/>
                      </a:stretch>
                    </p:blipFill>
                    <p:spPr>
                      <a:xfrm>
                        <a:off x="654050" y="2154238"/>
                        <a:ext cx="8135938" cy="4454525"/>
                      </a:xfrm>
                      <a:prstGeom prst="rect">
                        <a:avLst/>
                      </a:prstGeom>
                      <a:noFill/>
                      <a:ln w="38100">
                        <a:noFill/>
                        <a:miter/>
                      </a:ln>
                    </p:spPr>
                  </p:pic>
                </p:oleObj>
              </mc:Fallback>
            </mc:AlternateContent>
          </a:graphicData>
        </a:graphic>
      </p:graphicFrame>
      <p:sp>
        <p:nvSpPr>
          <p:cNvPr id="95239" name="Oval 6"/>
          <p:cNvSpPr/>
          <p:nvPr/>
        </p:nvSpPr>
        <p:spPr>
          <a:xfrm>
            <a:off x="6197600" y="3019425"/>
            <a:ext cx="647700" cy="504825"/>
          </a:xfrm>
          <a:prstGeom prst="ellipse">
            <a:avLst/>
          </a:prstGeom>
          <a:noFill/>
          <a:ln w="38100" cap="flat" cmpd="sng">
            <a:solidFill>
              <a:srgbClr val="CC0000"/>
            </a:solidFill>
            <a:prstDash val="solid"/>
            <a:round/>
            <a:headEnd type="none" w="med" len="med"/>
            <a:tailEnd type="none" w="med" len="med"/>
          </a:ln>
        </p:spPr>
        <p:txBody>
          <a:bodyPr wrap="none" lIns="90000" tIns="46800" rIns="90000" bIns="46800" anchor="ctr"/>
          <a:lstStyle/>
          <a:p>
            <a:pPr lvl="0" indent="0"/>
            <a:endParaRPr lang="zh-CN" altLang="en-US" dirty="0">
              <a:latin typeface="Arial" panose="020B0604020202020204" pitchFamily="34" charset="0"/>
              <a:ea typeface="宋体" panose="02010600030101010101" pitchFamily="2" charset="-122"/>
            </a:endParaRPr>
          </a:p>
        </p:txBody>
      </p:sp>
      <p:sp>
        <p:nvSpPr>
          <p:cNvPr id="95240" name="Oval 7"/>
          <p:cNvSpPr/>
          <p:nvPr/>
        </p:nvSpPr>
        <p:spPr>
          <a:xfrm>
            <a:off x="5334000" y="3738563"/>
            <a:ext cx="1295400" cy="792162"/>
          </a:xfrm>
          <a:prstGeom prst="ellipse">
            <a:avLst/>
          </a:prstGeom>
          <a:noFill/>
          <a:ln w="38100" cap="flat" cmpd="sng">
            <a:solidFill>
              <a:srgbClr val="CC0000"/>
            </a:solidFill>
            <a:prstDash val="solid"/>
            <a:round/>
            <a:headEnd type="none" w="med" len="med"/>
            <a:tailEnd type="none" w="med" len="med"/>
          </a:ln>
        </p:spPr>
        <p:txBody>
          <a:bodyPr wrap="none" lIns="90000" tIns="46800" rIns="90000" bIns="46800" anchor="ctr"/>
          <a:lstStyle/>
          <a:p>
            <a:pPr lvl="0" indent="0"/>
            <a:endParaRPr lang="zh-CN" altLang="en-US" dirty="0">
              <a:latin typeface="Arial" panose="020B0604020202020204" pitchFamily="34" charset="0"/>
              <a:ea typeface="宋体" panose="02010600030101010101" pitchFamily="2" charset="-122"/>
            </a:endParaRPr>
          </a:p>
        </p:txBody>
      </p:sp>
      <p:sp>
        <p:nvSpPr>
          <p:cNvPr id="95241" name="Oval 8"/>
          <p:cNvSpPr/>
          <p:nvPr/>
        </p:nvSpPr>
        <p:spPr>
          <a:xfrm>
            <a:off x="7854950" y="3451225"/>
            <a:ext cx="647700" cy="504825"/>
          </a:xfrm>
          <a:prstGeom prst="ellipse">
            <a:avLst/>
          </a:prstGeom>
          <a:noFill/>
          <a:ln w="38100" cap="flat" cmpd="sng">
            <a:solidFill>
              <a:srgbClr val="CC0000"/>
            </a:solidFill>
            <a:prstDash val="solid"/>
            <a:round/>
            <a:headEnd type="none" w="med" len="med"/>
            <a:tailEnd type="none" w="med" len="med"/>
          </a:ln>
        </p:spPr>
        <p:txBody>
          <a:bodyPr wrap="none" lIns="90000" tIns="46800" rIns="90000" bIns="46800" anchor="ctr"/>
          <a:lstStyle/>
          <a:p>
            <a:pPr lvl="0" indent="0"/>
            <a:endParaRPr lang="zh-CN" altLang="en-US" dirty="0">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952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3" presetClass="entr" presetSubtype="16" fill="hold" grpId="0" nodeType="clickEffect">
                                  <p:stCondLst>
                                    <p:cond delay="0"/>
                                  </p:stCondLst>
                                  <p:childTnLst>
                                    <p:set>
                                      <p:cBhvr>
                                        <p:cTn id="10" dur="1" fill="hold">
                                          <p:stCondLst>
                                            <p:cond delay="0"/>
                                          </p:stCondLst>
                                        </p:cTn>
                                        <p:tgtEl>
                                          <p:spTgt spid="95236"/>
                                        </p:tgtEl>
                                        <p:attrNameLst>
                                          <p:attrName>style.visibility</p:attrName>
                                        </p:attrNameLst>
                                      </p:cBhvr>
                                      <p:to>
                                        <p:strVal val="visible"/>
                                      </p:to>
                                    </p:set>
                                    <p:animEffect transition="in" filter="plus(in)">
                                      <p:cBhvr>
                                        <p:cTn id="11" dur="2000"/>
                                        <p:tgtEl>
                                          <p:spTgt spid="95236"/>
                                        </p:tgtEl>
                                      </p:cBhvr>
                                    </p:animEffect>
                                  </p:childTnLst>
                                </p:cTn>
                              </p:par>
                            </p:childTnLst>
                          </p:cTn>
                        </p:par>
                      </p:childTnLst>
                    </p:cTn>
                  </p:par>
                  <p:par>
                    <p:cTn id="12" fill="hold">
                      <p:stCondLst>
                        <p:cond delay="indefinite"/>
                      </p:stCondLst>
                      <p:childTnLst>
                        <p:par>
                          <p:cTn id="13" fill="hold">
                            <p:stCondLst>
                              <p:cond delay="0"/>
                            </p:stCondLst>
                            <p:childTnLst>
                              <p:par>
                                <p:cTn id="14" presetID="20" presetClass="entr" presetSubtype="0" fill="hold" grpId="0" nodeType="clickEffect">
                                  <p:stCondLst>
                                    <p:cond delay="0"/>
                                  </p:stCondLst>
                                  <p:childTnLst>
                                    <p:set>
                                      <p:cBhvr>
                                        <p:cTn id="15" dur="1" fill="hold">
                                          <p:stCondLst>
                                            <p:cond delay="0"/>
                                          </p:stCondLst>
                                        </p:cTn>
                                        <p:tgtEl>
                                          <p:spTgt spid="95239"/>
                                        </p:tgtEl>
                                        <p:attrNameLst>
                                          <p:attrName>style.visibility</p:attrName>
                                        </p:attrNameLst>
                                      </p:cBhvr>
                                      <p:to>
                                        <p:strVal val="visible"/>
                                      </p:to>
                                    </p:set>
                                    <p:animEffect transition="in" filter="wedge">
                                      <p:cBhvr>
                                        <p:cTn id="16" dur="2000"/>
                                        <p:tgtEl>
                                          <p:spTgt spid="95239"/>
                                        </p:tgtEl>
                                      </p:cBhvr>
                                    </p:animEffect>
                                  </p:childTnLst>
                                </p:cTn>
                              </p:par>
                            </p:childTnLst>
                          </p:cTn>
                        </p:par>
                      </p:childTnLst>
                    </p:cTn>
                  </p:par>
                  <p:par>
                    <p:cTn id="17" fill="hold">
                      <p:stCondLst>
                        <p:cond delay="indefinite"/>
                      </p:stCondLst>
                      <p:childTnLst>
                        <p:par>
                          <p:cTn id="18" fill="hold">
                            <p:stCondLst>
                              <p:cond delay="0"/>
                            </p:stCondLst>
                            <p:childTnLst>
                              <p:par>
                                <p:cTn id="19" presetID="20" presetClass="entr" presetSubtype="0" fill="hold" grpId="0" nodeType="clickEffect">
                                  <p:stCondLst>
                                    <p:cond delay="0"/>
                                  </p:stCondLst>
                                  <p:childTnLst>
                                    <p:set>
                                      <p:cBhvr>
                                        <p:cTn id="20" dur="1" fill="hold">
                                          <p:stCondLst>
                                            <p:cond delay="0"/>
                                          </p:stCondLst>
                                        </p:cTn>
                                        <p:tgtEl>
                                          <p:spTgt spid="95240"/>
                                        </p:tgtEl>
                                        <p:attrNameLst>
                                          <p:attrName>style.visibility</p:attrName>
                                        </p:attrNameLst>
                                      </p:cBhvr>
                                      <p:to>
                                        <p:strVal val="visible"/>
                                      </p:to>
                                    </p:set>
                                    <p:animEffect transition="in" filter="wedge">
                                      <p:cBhvr>
                                        <p:cTn id="21" dur="2000"/>
                                        <p:tgtEl>
                                          <p:spTgt spid="95240"/>
                                        </p:tgtEl>
                                      </p:cBhvr>
                                    </p:animEffect>
                                  </p:childTnLst>
                                </p:cTn>
                              </p:par>
                            </p:childTnLst>
                          </p:cTn>
                        </p:par>
                      </p:childTnLst>
                    </p:cTn>
                  </p:par>
                  <p:par>
                    <p:cTn id="22" fill="hold">
                      <p:stCondLst>
                        <p:cond delay="indefinite"/>
                      </p:stCondLst>
                      <p:childTnLst>
                        <p:par>
                          <p:cTn id="23" fill="hold">
                            <p:stCondLst>
                              <p:cond delay="0"/>
                            </p:stCondLst>
                            <p:childTnLst>
                              <p:par>
                                <p:cTn id="24" presetID="20" presetClass="entr" presetSubtype="0" fill="hold" grpId="0" nodeType="clickEffect">
                                  <p:stCondLst>
                                    <p:cond delay="0"/>
                                  </p:stCondLst>
                                  <p:childTnLst>
                                    <p:set>
                                      <p:cBhvr>
                                        <p:cTn id="25" dur="1" fill="hold">
                                          <p:stCondLst>
                                            <p:cond delay="0"/>
                                          </p:stCondLst>
                                        </p:cTn>
                                        <p:tgtEl>
                                          <p:spTgt spid="95241"/>
                                        </p:tgtEl>
                                        <p:attrNameLst>
                                          <p:attrName>style.visibility</p:attrName>
                                        </p:attrNameLst>
                                      </p:cBhvr>
                                      <p:to>
                                        <p:strVal val="visible"/>
                                      </p:to>
                                    </p:set>
                                    <p:animEffect transition="in" filter="wedge">
                                      <p:cBhvr>
                                        <p:cTn id="26" dur="2000"/>
                                        <p:tgtEl>
                                          <p:spTgt spid="952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6" grpId="0" animBg="1"/>
      <p:bldP spid="95239" grpId="0" animBg="1"/>
      <p:bldP spid="95240" grpId="0" animBg="1"/>
      <p:bldP spid="95241"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五、数据库系统中的并发</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93186" name="Rectangle 7"/>
          <p:cNvSpPr/>
          <p:nvPr/>
        </p:nvSpPr>
        <p:spPr>
          <a:xfrm>
            <a:off x="454025" y="7683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2</a:t>
            </a:r>
            <a:r>
              <a:rPr lang="zh-CN" altLang="en-US" sz="2800" dirty="0">
                <a:solidFill>
                  <a:srgbClr val="FF0000"/>
                </a:solidFill>
                <a:latin typeface="黑体" panose="02010609060101010101" pitchFamily="1" charset="-122"/>
                <a:ea typeface="黑体" panose="02010609060101010101" pitchFamily="1" charset="-122"/>
              </a:rPr>
              <a:t>、并发执行可行引起的问题</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93187" name="矩形 4"/>
          <p:cNvSpPr/>
          <p:nvPr/>
        </p:nvSpPr>
        <p:spPr>
          <a:xfrm>
            <a:off x="457200" y="1401763"/>
            <a:ext cx="5622925" cy="566737"/>
          </a:xfrm>
          <a:prstGeom prst="rect">
            <a:avLst/>
          </a:prstGeom>
          <a:noFill/>
          <a:ln w="9525">
            <a:noFill/>
          </a:ln>
        </p:spPr>
        <p:txBody>
          <a:bodyPr anchor="t">
            <a:spAutoFit/>
          </a:bodyPr>
          <a:lstStyle/>
          <a:p>
            <a:pPr marL="342900" lvl="0" indent="-342900">
              <a:lnSpc>
                <a:spcPct val="110000"/>
              </a:lnSpc>
              <a:spcBef>
                <a:spcPct val="50000"/>
              </a:spcBef>
            </a:pPr>
            <a:r>
              <a:rPr lang="zh-CN" altLang="en-US" sz="2800" dirty="0">
                <a:solidFill>
                  <a:srgbClr val="0000CC"/>
                </a:solidFill>
                <a:latin typeface="宋体" panose="02010600030101010101" pitchFamily="2" charset="-122"/>
                <a:ea typeface="宋体" panose="02010600030101010101" pitchFamily="2" charset="-122"/>
                <a:sym typeface="Wingdings" panose="05000000000000000000" pitchFamily="2" charset="2"/>
              </a:rPr>
              <a:t>（</a:t>
            </a:r>
            <a:r>
              <a:rPr lang="en-US" altLang="x-none" sz="2800" dirty="0">
                <a:solidFill>
                  <a:srgbClr val="0000CC"/>
                </a:solidFill>
                <a:latin typeface="宋体" panose="02010600030101010101" pitchFamily="2" charset="-122"/>
                <a:ea typeface="宋体" panose="02010600030101010101" pitchFamily="2" charset="-122"/>
                <a:sym typeface="Wingdings" panose="05000000000000000000" pitchFamily="2" charset="2"/>
              </a:rPr>
              <a:t>2</a:t>
            </a:r>
            <a:r>
              <a:rPr lang="zh-CN" altLang="en-US" sz="2800" dirty="0">
                <a:solidFill>
                  <a:srgbClr val="0000CC"/>
                </a:solidFill>
                <a:latin typeface="宋体" panose="02010600030101010101" pitchFamily="2" charset="-122"/>
                <a:ea typeface="宋体" panose="02010600030101010101" pitchFamily="2" charset="-122"/>
                <a:sym typeface="Wingdings" panose="05000000000000000000" pitchFamily="2" charset="2"/>
              </a:rPr>
              <a:t>）读脏数据（</a:t>
            </a:r>
            <a:r>
              <a:rPr lang="en-US" altLang="x-none" sz="2800" dirty="0">
                <a:solidFill>
                  <a:srgbClr val="0000CC"/>
                </a:solidFill>
                <a:latin typeface="宋体" panose="02010600030101010101" pitchFamily="2" charset="-122"/>
                <a:ea typeface="宋体" panose="02010600030101010101" pitchFamily="2" charset="-122"/>
                <a:sym typeface="Wingdings" panose="05000000000000000000" pitchFamily="2" charset="2"/>
              </a:rPr>
              <a:t>Dirty Read</a:t>
            </a:r>
            <a:r>
              <a:rPr lang="zh-CN" altLang="en-US" sz="2800" dirty="0">
                <a:solidFill>
                  <a:srgbClr val="0000CC"/>
                </a:solidFill>
                <a:latin typeface="宋体" panose="02010600030101010101" pitchFamily="2" charset="-122"/>
                <a:ea typeface="宋体" panose="02010600030101010101" pitchFamily="2" charset="-122"/>
                <a:sym typeface="Wingdings" panose="05000000000000000000" pitchFamily="2" charset="2"/>
              </a:rPr>
              <a:t>）</a:t>
            </a:r>
            <a:endParaRPr lang="zh-CN" altLang="en-US" sz="2800" dirty="0">
              <a:solidFill>
                <a:srgbClr val="0000CC"/>
              </a:solidFill>
              <a:latin typeface="宋体" panose="02010600030101010101" pitchFamily="2" charset="-122"/>
              <a:ea typeface="宋体" panose="02010600030101010101" pitchFamily="2" charset="-122"/>
              <a:sym typeface="Wingdings" panose="05000000000000000000" pitchFamily="2" charset="2"/>
            </a:endParaRPr>
          </a:p>
        </p:txBody>
      </p:sp>
      <p:sp>
        <p:nvSpPr>
          <p:cNvPr id="96261" name="Text Box 2"/>
          <p:cNvSpPr txBox="1"/>
          <p:nvPr/>
        </p:nvSpPr>
        <p:spPr>
          <a:xfrm>
            <a:off x="682625" y="2022475"/>
            <a:ext cx="8232775" cy="2540000"/>
          </a:xfrm>
          <a:prstGeom prst="rect">
            <a:avLst/>
          </a:prstGeom>
          <a:noFill/>
          <a:ln w="9525">
            <a:noFill/>
          </a:ln>
        </p:spPr>
        <p:txBody>
          <a:bodyPr anchor="t">
            <a:spAutoFit/>
          </a:bodyPr>
          <a:lstStyle/>
          <a:p>
            <a:pPr lvl="0" indent="0">
              <a:lnSpc>
                <a:spcPct val="120000"/>
              </a:lnSpc>
              <a:spcBef>
                <a:spcPts val="600"/>
              </a:spcBef>
              <a:buFont typeface="Wingdings" panose="05000000000000000000" pitchFamily="2" charset="2"/>
              <a:buChar char="p"/>
            </a:pPr>
            <a:r>
              <a:rPr lang="zh-CN" altLang="en-US" sz="2400" u="sng" dirty="0">
                <a:solidFill>
                  <a:srgbClr val="000099"/>
                </a:solidFill>
                <a:latin typeface="华文楷体" panose="02010600040101010101" pitchFamily="2" charset="-122"/>
                <a:ea typeface="华文楷体" panose="02010600040101010101" pitchFamily="2" charset="-122"/>
                <a:sym typeface="Wingdings" panose="05000000000000000000" pitchFamily="2" charset="2"/>
              </a:rPr>
              <a:t>亦称：</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读未提交的数据 </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(Reading Uncommitted Data)</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a:p>
            <a:pPr lvl="0" indent="0">
              <a:lnSpc>
                <a:spcPct val="120000"/>
              </a:lnSpc>
              <a:spcBef>
                <a:spcPts val="600"/>
              </a:spcBef>
              <a:buFont typeface="Wingdings" panose="05000000000000000000" pitchFamily="2" charset="2"/>
              <a:buChar char="p"/>
            </a:pPr>
            <a:r>
              <a:rPr lang="zh-CN" altLang="en-US" sz="2400" u="sng" dirty="0">
                <a:solidFill>
                  <a:srgbClr val="000099"/>
                </a:solidFill>
                <a:latin typeface="华文楷体" panose="02010600040101010101" pitchFamily="2" charset="-122"/>
                <a:ea typeface="华文楷体" panose="02010600040101010101" pitchFamily="2" charset="-122"/>
                <a:sym typeface="Wingdings" panose="05000000000000000000" pitchFamily="2" charset="2"/>
              </a:rPr>
              <a:t>原因：</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一事务读取了另一事务尚未提交的数据引起，称为</a:t>
            </a:r>
            <a:r>
              <a:rPr lang="zh-CN" altLang="en-US" sz="2400" dirty="0">
                <a:solidFill>
                  <a:srgbClr val="A50021"/>
                </a:solidFill>
                <a:latin typeface="华文楷体" panose="02010600040101010101" pitchFamily="2" charset="-122"/>
                <a:ea typeface="华文楷体" panose="02010600040101010101" pitchFamily="2" charset="-122"/>
                <a:sym typeface="Wingdings" panose="05000000000000000000" pitchFamily="2" charset="2"/>
              </a:rPr>
              <a:t>写</a:t>
            </a:r>
            <a:r>
              <a:rPr lang="en-US" altLang="x-none" sz="2400" dirty="0">
                <a:solidFill>
                  <a:srgbClr val="A50021"/>
                </a:solidFill>
                <a:latin typeface="华文楷体" panose="02010600040101010101" pitchFamily="2" charset="-122"/>
                <a:ea typeface="华文楷体" panose="02010600040101010101" pitchFamily="2" charset="-122"/>
                <a:sym typeface="Wingdings" panose="05000000000000000000" pitchFamily="2" charset="2"/>
              </a:rPr>
              <a:t>-</a:t>
            </a:r>
            <a:r>
              <a:rPr lang="zh-CN" altLang="en-US" sz="2400" dirty="0">
                <a:solidFill>
                  <a:srgbClr val="A50021"/>
                </a:solidFill>
                <a:latin typeface="华文楷体" panose="02010600040101010101" pitchFamily="2" charset="-122"/>
                <a:ea typeface="华文楷体" panose="02010600040101010101" pitchFamily="2" charset="-122"/>
                <a:sym typeface="Wingdings" panose="05000000000000000000" pitchFamily="2" charset="2"/>
              </a:rPr>
              <a:t>读冲突 </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(write-read conflict)</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a:p>
            <a:pPr lvl="0" indent="0">
              <a:lnSpc>
                <a:spcPct val="120000"/>
              </a:lnSpc>
              <a:spcBef>
                <a:spcPts val="600"/>
              </a:spcBef>
              <a:buFont typeface="Wingdings" panose="05000000000000000000" pitchFamily="2" charset="2"/>
              <a:buChar char="p"/>
            </a:pPr>
            <a:r>
              <a:rPr lang="zh-CN" altLang="en-US" sz="2400" u="sng" dirty="0">
                <a:solidFill>
                  <a:srgbClr val="000099"/>
                </a:solidFill>
                <a:latin typeface="华文楷体" panose="02010600040101010101" pitchFamily="2" charset="-122"/>
                <a:ea typeface="华文楷体" panose="02010600040101010101" pitchFamily="2" charset="-122"/>
                <a:sym typeface="Wingdings" panose="05000000000000000000" pitchFamily="2" charset="2"/>
              </a:rPr>
              <a:t>结果：</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有可能读到要回退的数据。</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a:p>
            <a:pPr lvl="0" indent="0">
              <a:lnSpc>
                <a:spcPct val="120000"/>
              </a:lnSpc>
              <a:spcBef>
                <a:spcPts val="600"/>
              </a:spcBef>
              <a:buFont typeface="Wingdings" panose="05000000000000000000" pitchFamily="2" charset="2"/>
              <a:buChar char="p"/>
            </a:pPr>
            <a:r>
              <a:rPr lang="zh-CN" altLang="en-US" sz="2400" dirty="0">
                <a:latin typeface="华文楷体" panose="02010600040101010101" pitchFamily="2" charset="-122"/>
                <a:ea typeface="华文楷体" panose="02010600040101010101" pitchFamily="2" charset="-122"/>
                <a:sym typeface="Wingdings" panose="05000000000000000000" pitchFamily="2" charset="2"/>
              </a:rPr>
              <a:t>读“脏数据”有两种情况。 </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6261"/>
                                        </p:tgtEl>
                                        <p:attrNameLst>
                                          <p:attrName>style.visibility</p:attrName>
                                        </p:attrNameLst>
                                      </p:cBhvr>
                                      <p:to>
                                        <p:strVal val="visible"/>
                                      </p:to>
                                    </p:set>
                                    <p:animEffect transition="in" filter="checkerboard(across)">
                                      <p:cBhvr>
                                        <p:cTn id="7" dur="500"/>
                                        <p:tgtEl>
                                          <p:spTgt spid="962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1"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7282" name="Object 2"/>
          <p:cNvGraphicFramePr>
            <a:graphicFrameLocks noGrp="1" noChangeAspect="1"/>
          </p:cNvGraphicFramePr>
          <p:nvPr/>
        </p:nvGraphicFramePr>
        <p:xfrm>
          <a:off x="307975" y="1271588"/>
          <a:ext cx="8448675" cy="5176837"/>
        </p:xfrm>
        <a:graphic>
          <a:graphicData uri="http://schemas.openxmlformats.org/presentationml/2006/ole">
            <mc:AlternateContent xmlns:mc="http://schemas.openxmlformats.org/markup-compatibility/2006">
              <mc:Choice xmlns:v="urn:schemas-microsoft-com:vml" Requires="v">
                <p:oleObj spid="_x0000_s20502" name="" r:id="rId1" imgW="3981450" imgH="2738755" progId="Word.Picture.8">
                  <p:embed/>
                </p:oleObj>
              </mc:Choice>
              <mc:Fallback>
                <p:oleObj name="" r:id="rId1" imgW="3981450" imgH="2738755" progId="Word.Picture.8">
                  <p:embed/>
                  <p:pic>
                    <p:nvPicPr>
                      <p:cNvPr id="0" name="图片 3092"/>
                      <p:cNvPicPr/>
                      <p:nvPr/>
                    </p:nvPicPr>
                    <p:blipFill>
                      <a:blip r:embed="rId2"/>
                      <a:stretch>
                        <a:fillRect/>
                      </a:stretch>
                    </p:blipFill>
                    <p:spPr>
                      <a:xfrm>
                        <a:off x="307975" y="1271588"/>
                        <a:ext cx="8448675" cy="5176837"/>
                      </a:xfrm>
                      <a:prstGeom prst="rect">
                        <a:avLst/>
                      </a:prstGeom>
                      <a:solidFill>
                        <a:schemeClr val="bg1"/>
                      </a:solidFill>
                      <a:ln w="38100">
                        <a:noFill/>
                        <a:miter/>
                      </a:ln>
                    </p:spPr>
                  </p:pic>
                </p:oleObj>
              </mc:Fallback>
            </mc:AlternateContent>
          </a:graphicData>
        </a:graphic>
      </p:graphicFrame>
      <p:sp>
        <p:nvSpPr>
          <p:cNvPr id="97283" name="Text Box 4"/>
          <p:cNvSpPr txBox="1"/>
          <p:nvPr/>
        </p:nvSpPr>
        <p:spPr>
          <a:xfrm>
            <a:off x="382588" y="5807075"/>
            <a:ext cx="7993062" cy="523875"/>
          </a:xfrm>
          <a:prstGeom prst="rect">
            <a:avLst/>
          </a:prstGeom>
          <a:noFill/>
          <a:ln w="9525">
            <a:noFill/>
          </a:ln>
        </p:spPr>
        <p:txBody>
          <a:bodyPr anchor="t">
            <a:spAutoFit/>
          </a:bodyPr>
          <a:lstStyle/>
          <a:p>
            <a:pPr lvl="0" indent="0" algn="ctr">
              <a:spcBef>
                <a:spcPct val="50000"/>
              </a:spcBef>
            </a:pPr>
            <a:r>
              <a:rPr lang="zh-CN" altLang="en-US" sz="2800" dirty="0">
                <a:solidFill>
                  <a:srgbClr val="A50021"/>
                </a:solidFill>
                <a:latin typeface="宋体" panose="02010600030101010101" pitchFamily="2" charset="-122"/>
                <a:ea typeface="宋体" panose="02010600030101010101" pitchFamily="2" charset="-122"/>
                <a:sym typeface="Wingdings" panose="05000000000000000000" pitchFamily="2" charset="2"/>
              </a:rPr>
              <a:t>读脏数据图示一</a:t>
            </a:r>
            <a:endParaRPr lang="zh-CN" altLang="en-US" sz="2800" dirty="0">
              <a:solidFill>
                <a:srgbClr val="A50021"/>
              </a:solidFill>
              <a:latin typeface="宋体" panose="02010600030101010101" pitchFamily="2" charset="-122"/>
              <a:ea typeface="宋体" panose="02010600030101010101" pitchFamily="2" charset="-122"/>
              <a:sym typeface="Wingdings" panose="05000000000000000000" pitchFamily="2" charset="2"/>
            </a:endParaRPr>
          </a:p>
        </p:txBody>
      </p:sp>
      <p:sp>
        <p:nvSpPr>
          <p:cNvPr id="94211"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五、数据库系统中的并发</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94212" name="Rectangle 7"/>
          <p:cNvSpPr/>
          <p:nvPr/>
        </p:nvSpPr>
        <p:spPr>
          <a:xfrm>
            <a:off x="454025" y="7683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2</a:t>
            </a:r>
            <a:r>
              <a:rPr lang="zh-CN" altLang="en-US" sz="2800" dirty="0">
                <a:solidFill>
                  <a:srgbClr val="FF0000"/>
                </a:solidFill>
                <a:latin typeface="黑体" panose="02010609060101010101" pitchFamily="1" charset="-122"/>
                <a:ea typeface="黑体" panose="02010609060101010101" pitchFamily="1" charset="-122"/>
              </a:rPr>
              <a:t>、并发执行可行引起的问题</a:t>
            </a:r>
            <a:endParaRPr lang="en-US" altLang="x-none" sz="2800" dirty="0">
              <a:solidFill>
                <a:srgbClr val="FF0000"/>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97283"/>
                                        </p:tgtEl>
                                        <p:attrNameLst>
                                          <p:attrName>style.visibility</p:attrName>
                                        </p:attrNameLst>
                                      </p:cBhvr>
                                      <p:to>
                                        <p:strVal val="visible"/>
                                      </p:to>
                                    </p:set>
                                    <p:animEffect transition="in" filter="checkerboard(across)">
                                      <p:cBhvr>
                                        <p:cTn id="7" dur="500"/>
                                        <p:tgtEl>
                                          <p:spTgt spid="9728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97282"/>
                                        </p:tgtEl>
                                        <p:attrNameLst>
                                          <p:attrName>style.visibility</p:attrName>
                                        </p:attrNameLst>
                                      </p:cBhvr>
                                      <p:to>
                                        <p:strVal val="visible"/>
                                      </p:to>
                                    </p:set>
                                    <p:anim calcmode="lin" valueType="num">
                                      <p:cBhvr>
                                        <p:cTn id="12" dur="500" fill="hold"/>
                                        <p:tgtEl>
                                          <p:spTgt spid="97282"/>
                                        </p:tgtEl>
                                        <p:attrNameLst>
                                          <p:attrName>ppt_x</p:attrName>
                                        </p:attrNameLst>
                                      </p:cBhvr>
                                      <p:tavLst>
                                        <p:tav tm="0">
                                          <p:val>
                                            <p:strVal val="#ppt_x"/>
                                          </p:val>
                                        </p:tav>
                                        <p:tav tm="100000">
                                          <p:val>
                                            <p:strVal val="#ppt_x"/>
                                          </p:val>
                                        </p:tav>
                                      </p:tavLst>
                                    </p:anim>
                                    <p:anim calcmode="lin" valueType="num">
                                      <p:cBhvr>
                                        <p:cTn id="13" dur="500" fill="hold"/>
                                        <p:tgtEl>
                                          <p:spTgt spid="9728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3"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五、数据库系统中的并发</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95234" name="Rectangle 7"/>
          <p:cNvSpPr/>
          <p:nvPr/>
        </p:nvSpPr>
        <p:spPr>
          <a:xfrm>
            <a:off x="454025" y="7683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2</a:t>
            </a:r>
            <a:r>
              <a:rPr lang="zh-CN" altLang="en-US" sz="2800" dirty="0">
                <a:solidFill>
                  <a:srgbClr val="FF0000"/>
                </a:solidFill>
                <a:latin typeface="黑体" panose="02010609060101010101" pitchFamily="1" charset="-122"/>
                <a:ea typeface="黑体" panose="02010609060101010101" pitchFamily="1" charset="-122"/>
              </a:rPr>
              <a:t>、并发执行可行引起的问题</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95235" name="AutoShape 3"/>
          <p:cNvSpPr>
            <a:spLocks noChangeAspect="1" noTextEdit="1"/>
          </p:cNvSpPr>
          <p:nvPr/>
        </p:nvSpPr>
        <p:spPr>
          <a:xfrm>
            <a:off x="419100" y="1433513"/>
            <a:ext cx="8526463" cy="4799012"/>
          </a:xfrm>
          <a:prstGeom prst="rect">
            <a:avLst/>
          </a:prstGeom>
          <a:solidFill>
            <a:schemeClr val="bg1"/>
          </a:solidFill>
          <a:ln w="9525">
            <a:noFill/>
          </a:ln>
        </p:spPr>
        <p:txBody>
          <a:bodyPr anchor="t"/>
          <a:lstStyle/>
          <a:p>
            <a:pPr lvl="0" indent="0"/>
            <a:endParaRPr lang="zh-CN" altLang="en-US">
              <a:latin typeface="Arial" panose="020B0604020202020204" pitchFamily="34" charset="0"/>
              <a:ea typeface="宋体" panose="02010600030101010101" pitchFamily="2" charset="-122"/>
            </a:endParaRPr>
          </a:p>
        </p:txBody>
      </p:sp>
      <p:sp>
        <p:nvSpPr>
          <p:cNvPr id="98309" name="AutoShape 4"/>
          <p:cNvSpPr/>
          <p:nvPr/>
        </p:nvSpPr>
        <p:spPr>
          <a:xfrm>
            <a:off x="4156075" y="1431925"/>
            <a:ext cx="4514850" cy="4694238"/>
          </a:xfrm>
          <a:prstGeom prst="roundRect">
            <a:avLst>
              <a:gd name="adj" fmla="val 16667"/>
            </a:avLst>
          </a:prstGeom>
          <a:solidFill>
            <a:srgbClr val="CCFFFF">
              <a:alpha val="62999"/>
            </a:srgbClr>
          </a:solidFill>
          <a:ln w="9525" cap="flat" cmpd="sng">
            <a:solidFill>
              <a:schemeClr val="tx1"/>
            </a:solidFill>
            <a:prstDash val="solid"/>
            <a:round/>
            <a:headEnd type="none" w="med" len="med"/>
            <a:tailEnd type="none" w="med" len="med"/>
          </a:ln>
        </p:spPr>
        <p:txBody>
          <a:bodyPr wrap="none" lIns="90000" tIns="46800" rIns="90000" bIns="46800" anchor="ctr"/>
          <a:lstStyle/>
          <a:p>
            <a:pPr lvl="0" indent="0"/>
            <a:endParaRPr lang="zh-CN" altLang="en-US" dirty="0">
              <a:latin typeface="Arial" panose="020B0604020202020204" pitchFamily="34" charset="0"/>
              <a:ea typeface="宋体" panose="02010600030101010101" pitchFamily="2" charset="-122"/>
            </a:endParaRPr>
          </a:p>
        </p:txBody>
      </p:sp>
      <p:sp>
        <p:nvSpPr>
          <p:cNvPr id="95237" name="Text Box 5"/>
          <p:cNvSpPr txBox="1"/>
          <p:nvPr/>
        </p:nvSpPr>
        <p:spPr>
          <a:xfrm>
            <a:off x="671513" y="5792788"/>
            <a:ext cx="3367087" cy="522287"/>
          </a:xfrm>
          <a:prstGeom prst="rect">
            <a:avLst/>
          </a:prstGeom>
          <a:noFill/>
          <a:ln w="9525">
            <a:noFill/>
          </a:ln>
        </p:spPr>
        <p:txBody>
          <a:bodyPr anchor="t">
            <a:spAutoFit/>
          </a:bodyPr>
          <a:lstStyle/>
          <a:p>
            <a:pPr lvl="0" indent="0" algn="ctr">
              <a:spcBef>
                <a:spcPct val="50000"/>
              </a:spcBef>
            </a:pPr>
            <a:r>
              <a:rPr lang="zh-CN" altLang="en-US" sz="2800" dirty="0">
                <a:solidFill>
                  <a:srgbClr val="A50021"/>
                </a:solidFill>
                <a:latin typeface="宋体" panose="02010600030101010101" pitchFamily="2" charset="-122"/>
                <a:ea typeface="宋体" panose="02010600030101010101" pitchFamily="2" charset="-122"/>
                <a:sym typeface="Wingdings" panose="05000000000000000000" pitchFamily="2" charset="2"/>
              </a:rPr>
              <a:t>读脏数据图示二</a:t>
            </a:r>
            <a:endParaRPr lang="zh-CN" altLang="en-US" sz="2800" dirty="0">
              <a:solidFill>
                <a:srgbClr val="A50021"/>
              </a:solidFill>
              <a:latin typeface="宋体" panose="02010600030101010101" pitchFamily="2" charset="-122"/>
              <a:ea typeface="宋体" panose="02010600030101010101" pitchFamily="2" charset="-122"/>
              <a:sym typeface="Wingdings" panose="05000000000000000000" pitchFamily="2" charset="2"/>
            </a:endParaRPr>
          </a:p>
        </p:txBody>
      </p:sp>
      <p:sp>
        <p:nvSpPr>
          <p:cNvPr id="95238" name="Rectangle 7"/>
          <p:cNvSpPr/>
          <p:nvPr/>
        </p:nvSpPr>
        <p:spPr>
          <a:xfrm>
            <a:off x="1387475" y="1714500"/>
            <a:ext cx="482600" cy="288925"/>
          </a:xfrm>
          <a:prstGeom prst="rect">
            <a:avLst/>
          </a:prstGeom>
          <a:noFill/>
          <a:ln w="9525">
            <a:noFill/>
          </a:ln>
        </p:spPr>
        <p:txBody>
          <a:bodyPr wrap="none" lIns="0" tIns="0" rIns="0" bIns="0" anchor="t">
            <a:spAutoFit/>
          </a:bodyPr>
          <a:lstStyle/>
          <a:p>
            <a:pPr lvl="0" indent="0"/>
            <a:r>
              <a:rPr lang="zh-CN" altLang="en-US" sz="1900" dirty="0">
                <a:solidFill>
                  <a:srgbClr val="000000"/>
                </a:solidFill>
                <a:latin typeface="宋体" panose="02010600030101010101" pitchFamily="2" charset="-122"/>
                <a:ea typeface="宋体" panose="02010600030101010101" pitchFamily="2" charset="-122"/>
              </a:rPr>
              <a:t>事务</a:t>
            </a:r>
            <a:endParaRPr lang="zh-CN" altLang="en-US" sz="3600" dirty="0">
              <a:latin typeface="宋体" panose="02010600030101010101" pitchFamily="2" charset="-122"/>
              <a:ea typeface="宋体" panose="02010600030101010101" pitchFamily="2" charset="-122"/>
            </a:endParaRPr>
          </a:p>
        </p:txBody>
      </p:sp>
      <p:sp>
        <p:nvSpPr>
          <p:cNvPr id="95239" name="Rectangle 8"/>
          <p:cNvSpPr/>
          <p:nvPr/>
        </p:nvSpPr>
        <p:spPr>
          <a:xfrm>
            <a:off x="1939925" y="1706563"/>
            <a:ext cx="449263" cy="288925"/>
          </a:xfrm>
          <a:prstGeom prst="rect">
            <a:avLst/>
          </a:prstGeom>
          <a:noFill/>
          <a:ln w="9525">
            <a:noFill/>
          </a:ln>
        </p:spPr>
        <p:txBody>
          <a:bodyPr wrap="none" lIns="0" tIns="0" rIns="0" bIns="0" anchor="t">
            <a:spAutoFit/>
          </a:bodyPr>
          <a:lstStyle/>
          <a:p>
            <a:pPr lvl="0" indent="0"/>
            <a:r>
              <a:rPr lang="en-US" altLang="x-none" sz="1900" dirty="0">
                <a:solidFill>
                  <a:srgbClr val="000000"/>
                </a:solidFill>
                <a:latin typeface="Times New Roman" panose="02020603050405020304" pitchFamily="2" charset="0"/>
                <a:ea typeface="宋体" panose="02010600030101010101" pitchFamily="2" charset="-122"/>
              </a:rPr>
              <a:t>T1   </a:t>
            </a:r>
            <a:endParaRPr lang="en-US" altLang="x-none" sz="3600" dirty="0">
              <a:latin typeface="宋体" panose="02010600030101010101" pitchFamily="2" charset="-122"/>
              <a:ea typeface="宋体" panose="02010600030101010101" pitchFamily="2" charset="-122"/>
            </a:endParaRPr>
          </a:p>
        </p:txBody>
      </p:sp>
      <p:sp>
        <p:nvSpPr>
          <p:cNvPr id="95240" name="Rectangle 9"/>
          <p:cNvSpPr/>
          <p:nvPr/>
        </p:nvSpPr>
        <p:spPr>
          <a:xfrm>
            <a:off x="2582863" y="1714500"/>
            <a:ext cx="482600" cy="288925"/>
          </a:xfrm>
          <a:prstGeom prst="rect">
            <a:avLst/>
          </a:prstGeom>
          <a:noFill/>
          <a:ln w="9525">
            <a:noFill/>
          </a:ln>
        </p:spPr>
        <p:txBody>
          <a:bodyPr wrap="none" lIns="0" tIns="0" rIns="0" bIns="0" anchor="t">
            <a:spAutoFit/>
          </a:bodyPr>
          <a:lstStyle/>
          <a:p>
            <a:pPr lvl="0" indent="0"/>
            <a:r>
              <a:rPr lang="zh-CN" altLang="en-US" sz="1900" dirty="0">
                <a:solidFill>
                  <a:srgbClr val="000000"/>
                </a:solidFill>
                <a:latin typeface="宋体" panose="02010600030101010101" pitchFamily="2" charset="-122"/>
                <a:ea typeface="宋体" panose="02010600030101010101" pitchFamily="2" charset="-122"/>
              </a:rPr>
              <a:t>事务</a:t>
            </a:r>
            <a:endParaRPr lang="zh-CN" altLang="en-US" sz="3600" dirty="0">
              <a:latin typeface="宋体" panose="02010600030101010101" pitchFamily="2" charset="-122"/>
              <a:ea typeface="宋体" panose="02010600030101010101" pitchFamily="2" charset="-122"/>
            </a:endParaRPr>
          </a:p>
        </p:txBody>
      </p:sp>
      <p:sp>
        <p:nvSpPr>
          <p:cNvPr id="95241" name="Rectangle 10"/>
          <p:cNvSpPr/>
          <p:nvPr/>
        </p:nvSpPr>
        <p:spPr>
          <a:xfrm>
            <a:off x="3136900" y="1706563"/>
            <a:ext cx="268288" cy="288925"/>
          </a:xfrm>
          <a:prstGeom prst="rect">
            <a:avLst/>
          </a:prstGeom>
          <a:noFill/>
          <a:ln w="9525">
            <a:noFill/>
          </a:ln>
        </p:spPr>
        <p:txBody>
          <a:bodyPr wrap="none" lIns="0" tIns="0" rIns="0" bIns="0" anchor="t">
            <a:spAutoFit/>
          </a:bodyPr>
          <a:lstStyle/>
          <a:p>
            <a:pPr lvl="0" indent="0"/>
            <a:r>
              <a:rPr lang="en-US" altLang="x-none" sz="1900" dirty="0">
                <a:solidFill>
                  <a:srgbClr val="000000"/>
                </a:solidFill>
                <a:latin typeface="Times New Roman" panose="02020603050405020304" pitchFamily="2" charset="0"/>
                <a:ea typeface="宋体" panose="02010600030101010101" pitchFamily="2" charset="-122"/>
              </a:rPr>
              <a:t>T2</a:t>
            </a:r>
            <a:endParaRPr lang="en-US" altLang="x-none" sz="3600" dirty="0">
              <a:latin typeface="宋体" panose="02010600030101010101" pitchFamily="2" charset="-122"/>
              <a:ea typeface="宋体" panose="02010600030101010101" pitchFamily="2" charset="-122"/>
            </a:endParaRPr>
          </a:p>
        </p:txBody>
      </p:sp>
      <p:sp>
        <p:nvSpPr>
          <p:cNvPr id="95242" name="Rectangle 11"/>
          <p:cNvSpPr/>
          <p:nvPr/>
        </p:nvSpPr>
        <p:spPr>
          <a:xfrm>
            <a:off x="3409950" y="1706563"/>
            <a:ext cx="60325" cy="288925"/>
          </a:xfrm>
          <a:prstGeom prst="rect">
            <a:avLst/>
          </a:prstGeom>
          <a:noFill/>
          <a:ln w="9525">
            <a:noFill/>
          </a:ln>
        </p:spPr>
        <p:txBody>
          <a:bodyPr wrap="none" lIns="0" tIns="0" rIns="0" bIns="0" anchor="t">
            <a:spAutoFit/>
          </a:bodyPr>
          <a:lstStyle/>
          <a:p>
            <a:pPr lvl="0" indent="0"/>
            <a:r>
              <a:rPr lang="en-US" altLang="x-none" sz="1900" dirty="0">
                <a:solidFill>
                  <a:srgbClr val="000000"/>
                </a:solidFill>
                <a:latin typeface="Times New Roman" panose="02020603050405020304" pitchFamily="2" charset="0"/>
                <a:ea typeface="宋体" panose="02010600030101010101" pitchFamily="2" charset="-122"/>
              </a:rPr>
              <a:t> </a:t>
            </a:r>
            <a:endParaRPr lang="en-US" altLang="x-none" sz="3600" dirty="0">
              <a:latin typeface="宋体" panose="02010600030101010101" pitchFamily="2" charset="-122"/>
              <a:ea typeface="宋体" panose="02010600030101010101" pitchFamily="2" charset="-122"/>
            </a:endParaRPr>
          </a:p>
        </p:txBody>
      </p:sp>
      <p:sp>
        <p:nvSpPr>
          <p:cNvPr id="95243" name="Rectangle 12"/>
          <p:cNvSpPr/>
          <p:nvPr/>
        </p:nvSpPr>
        <p:spPr>
          <a:xfrm>
            <a:off x="1441450" y="2187575"/>
            <a:ext cx="796925" cy="304800"/>
          </a:xfrm>
          <a:prstGeom prst="rect">
            <a:avLst/>
          </a:prstGeom>
          <a:noFill/>
          <a:ln w="9525">
            <a:noFill/>
          </a:ln>
        </p:spPr>
        <p:txBody>
          <a:bodyPr lIns="0" tIns="0" rIns="0" bIns="0" anchor="t">
            <a:spAutoFit/>
          </a:bodyPr>
          <a:lstStyle/>
          <a:p>
            <a:pPr lvl="0" indent="0"/>
            <a:r>
              <a:rPr lang="en-US" altLang="x-none" sz="2000" dirty="0">
                <a:latin typeface="Times New Roman" panose="02020603050405020304" pitchFamily="2" charset="0"/>
                <a:ea typeface="宋体" panose="02010600030101010101" pitchFamily="2" charset="-122"/>
              </a:rPr>
              <a:t>R(A)</a:t>
            </a:r>
            <a:endParaRPr lang="en-US" altLang="x-none" sz="2000" dirty="0">
              <a:latin typeface="宋体" panose="02010600030101010101" pitchFamily="2" charset="-122"/>
              <a:ea typeface="宋体" panose="02010600030101010101" pitchFamily="2" charset="-122"/>
            </a:endParaRPr>
          </a:p>
        </p:txBody>
      </p:sp>
      <p:sp>
        <p:nvSpPr>
          <p:cNvPr id="95244" name="Rectangle 13"/>
          <p:cNvSpPr/>
          <p:nvPr/>
        </p:nvSpPr>
        <p:spPr>
          <a:xfrm>
            <a:off x="2082800" y="2522538"/>
            <a:ext cx="60325" cy="288925"/>
          </a:xfrm>
          <a:prstGeom prst="rect">
            <a:avLst/>
          </a:prstGeom>
          <a:noFill/>
          <a:ln w="9525">
            <a:noFill/>
          </a:ln>
        </p:spPr>
        <p:txBody>
          <a:bodyPr wrap="none" lIns="0" tIns="0" rIns="0" bIns="0" anchor="t">
            <a:spAutoFit/>
          </a:bodyPr>
          <a:lstStyle/>
          <a:p>
            <a:pPr lvl="0" indent="0"/>
            <a:r>
              <a:rPr lang="en-US" altLang="x-none" sz="1900" dirty="0">
                <a:solidFill>
                  <a:srgbClr val="000000"/>
                </a:solidFill>
                <a:latin typeface="Times New Roman" panose="02020603050405020304" pitchFamily="2" charset="0"/>
                <a:ea typeface="宋体" panose="02010600030101010101" pitchFamily="2" charset="-122"/>
              </a:rPr>
              <a:t> </a:t>
            </a:r>
            <a:endParaRPr lang="en-US" altLang="x-none" sz="3600" dirty="0">
              <a:latin typeface="宋体" panose="02010600030101010101" pitchFamily="2" charset="-122"/>
              <a:ea typeface="宋体" panose="02010600030101010101" pitchFamily="2" charset="-122"/>
            </a:endParaRPr>
          </a:p>
        </p:txBody>
      </p:sp>
      <p:sp>
        <p:nvSpPr>
          <p:cNvPr id="95245" name="Rectangle 14"/>
          <p:cNvSpPr/>
          <p:nvPr/>
        </p:nvSpPr>
        <p:spPr>
          <a:xfrm>
            <a:off x="1633538" y="2933700"/>
            <a:ext cx="422275" cy="288925"/>
          </a:xfrm>
          <a:prstGeom prst="rect">
            <a:avLst/>
          </a:prstGeom>
          <a:noFill/>
          <a:ln w="9525">
            <a:noFill/>
          </a:ln>
        </p:spPr>
        <p:txBody>
          <a:bodyPr wrap="none" lIns="0" tIns="0" rIns="0" bIns="0" anchor="t">
            <a:spAutoFit/>
          </a:bodyPr>
          <a:lstStyle/>
          <a:p>
            <a:pPr lvl="0" indent="0"/>
            <a:r>
              <a:rPr lang="en-US" altLang="x-none" sz="1900" dirty="0">
                <a:solidFill>
                  <a:srgbClr val="000000"/>
                </a:solidFill>
                <a:latin typeface="Times New Roman" panose="02020603050405020304" pitchFamily="2" charset="0"/>
                <a:ea typeface="宋体" panose="02010600030101010101" pitchFamily="2" charset="-122"/>
              </a:rPr>
              <a:t>       </a:t>
            </a:r>
            <a:endParaRPr lang="en-US" altLang="x-none" sz="3600" dirty="0">
              <a:latin typeface="宋体" panose="02010600030101010101" pitchFamily="2" charset="-122"/>
              <a:ea typeface="宋体" panose="02010600030101010101" pitchFamily="2" charset="-122"/>
            </a:endParaRPr>
          </a:p>
        </p:txBody>
      </p:sp>
      <p:sp>
        <p:nvSpPr>
          <p:cNvPr id="95246" name="Rectangle 15"/>
          <p:cNvSpPr/>
          <p:nvPr/>
        </p:nvSpPr>
        <p:spPr>
          <a:xfrm>
            <a:off x="2522538" y="3268663"/>
            <a:ext cx="720725" cy="304800"/>
          </a:xfrm>
          <a:prstGeom prst="rect">
            <a:avLst/>
          </a:prstGeom>
          <a:noFill/>
          <a:ln w="9525">
            <a:noFill/>
          </a:ln>
        </p:spPr>
        <p:txBody>
          <a:bodyPr lIns="0" tIns="0" rIns="0" bIns="0" anchor="t">
            <a:spAutoFit/>
          </a:bodyPr>
          <a:lstStyle/>
          <a:p>
            <a:pPr lvl="0" indent="0"/>
            <a:r>
              <a:rPr lang="en-US" altLang="x-none" sz="2000" dirty="0">
                <a:solidFill>
                  <a:srgbClr val="000000"/>
                </a:solidFill>
                <a:latin typeface="Times New Roman" panose="02020603050405020304" pitchFamily="2" charset="0"/>
                <a:ea typeface="宋体" panose="02010600030101010101" pitchFamily="2" charset="-122"/>
              </a:rPr>
              <a:t> </a:t>
            </a:r>
            <a:r>
              <a:rPr lang="en-US" altLang="x-none" sz="2000" dirty="0">
                <a:latin typeface="Times New Roman" panose="02020603050405020304" pitchFamily="2" charset="0"/>
                <a:ea typeface="宋体" panose="02010600030101010101" pitchFamily="2" charset="-122"/>
              </a:rPr>
              <a:t>R(A)</a:t>
            </a:r>
            <a:endParaRPr lang="en-US" altLang="x-none" sz="2000" dirty="0">
              <a:latin typeface="宋体" panose="02010600030101010101" pitchFamily="2" charset="-122"/>
              <a:ea typeface="宋体" panose="02010600030101010101" pitchFamily="2" charset="-122"/>
            </a:endParaRPr>
          </a:p>
        </p:txBody>
      </p:sp>
      <p:sp>
        <p:nvSpPr>
          <p:cNvPr id="95247" name="Rectangle 16"/>
          <p:cNvSpPr/>
          <p:nvPr/>
        </p:nvSpPr>
        <p:spPr>
          <a:xfrm>
            <a:off x="1370013" y="4492625"/>
            <a:ext cx="958850" cy="304800"/>
          </a:xfrm>
          <a:prstGeom prst="rect">
            <a:avLst/>
          </a:prstGeom>
          <a:noFill/>
          <a:ln w="9525">
            <a:noFill/>
          </a:ln>
        </p:spPr>
        <p:txBody>
          <a:bodyPr wrap="none" lIns="0" tIns="0" rIns="0" bIns="0" anchor="t">
            <a:spAutoFit/>
          </a:bodyPr>
          <a:lstStyle/>
          <a:p>
            <a:pPr lvl="0" indent="0"/>
            <a:r>
              <a:rPr lang="en-US" altLang="x-none" sz="2000" dirty="0">
                <a:latin typeface="Times New Roman" panose="02020603050405020304" pitchFamily="2" charset="0"/>
                <a:ea typeface="宋体" panose="02010600030101010101" pitchFamily="2" charset="-122"/>
              </a:rPr>
              <a:t>RollBack</a:t>
            </a:r>
            <a:endParaRPr lang="en-US" altLang="x-none" sz="2000" dirty="0">
              <a:latin typeface="宋体" panose="02010600030101010101" pitchFamily="2" charset="-122"/>
              <a:ea typeface="宋体" panose="02010600030101010101" pitchFamily="2" charset="-122"/>
            </a:endParaRPr>
          </a:p>
        </p:txBody>
      </p:sp>
      <p:sp>
        <p:nvSpPr>
          <p:cNvPr id="95248" name="Rectangle 17"/>
          <p:cNvSpPr/>
          <p:nvPr/>
        </p:nvSpPr>
        <p:spPr>
          <a:xfrm>
            <a:off x="2319338" y="3343275"/>
            <a:ext cx="60325" cy="288925"/>
          </a:xfrm>
          <a:prstGeom prst="rect">
            <a:avLst/>
          </a:prstGeom>
          <a:noFill/>
          <a:ln w="9525">
            <a:noFill/>
          </a:ln>
        </p:spPr>
        <p:txBody>
          <a:bodyPr wrap="none" lIns="0" tIns="0" rIns="0" bIns="0" anchor="t">
            <a:spAutoFit/>
          </a:bodyPr>
          <a:lstStyle/>
          <a:p>
            <a:pPr lvl="0" indent="0"/>
            <a:r>
              <a:rPr lang="en-US" altLang="x-none" sz="1900" dirty="0">
                <a:solidFill>
                  <a:srgbClr val="000000"/>
                </a:solidFill>
                <a:latin typeface="Times New Roman" panose="02020603050405020304" pitchFamily="2" charset="0"/>
                <a:ea typeface="宋体" panose="02010600030101010101" pitchFamily="2" charset="-122"/>
              </a:rPr>
              <a:t> </a:t>
            </a:r>
            <a:endParaRPr lang="en-US" altLang="x-none" sz="3600" dirty="0">
              <a:latin typeface="宋体" panose="02010600030101010101" pitchFamily="2" charset="-122"/>
              <a:ea typeface="宋体" panose="02010600030101010101" pitchFamily="2" charset="-122"/>
            </a:endParaRPr>
          </a:p>
        </p:txBody>
      </p:sp>
      <p:sp>
        <p:nvSpPr>
          <p:cNvPr id="95249" name="Line 18"/>
          <p:cNvSpPr/>
          <p:nvPr/>
        </p:nvSpPr>
        <p:spPr>
          <a:xfrm>
            <a:off x="1189038" y="2066925"/>
            <a:ext cx="2289175" cy="1588"/>
          </a:xfrm>
          <a:prstGeom prst="line">
            <a:avLst/>
          </a:prstGeom>
          <a:ln w="20638" cap="flat" cmpd="sng">
            <a:solidFill>
              <a:srgbClr val="000000"/>
            </a:solidFill>
            <a:prstDash val="solid"/>
            <a:round/>
            <a:headEnd type="none" w="med" len="med"/>
            <a:tailEnd type="none" w="med" len="med"/>
          </a:ln>
        </p:spPr>
      </p:sp>
      <p:sp>
        <p:nvSpPr>
          <p:cNvPr id="95250" name="Line 19"/>
          <p:cNvSpPr/>
          <p:nvPr/>
        </p:nvSpPr>
        <p:spPr>
          <a:xfrm>
            <a:off x="2419350" y="1730375"/>
            <a:ext cx="1588" cy="3103563"/>
          </a:xfrm>
          <a:prstGeom prst="line">
            <a:avLst/>
          </a:prstGeom>
          <a:ln w="20638" cap="flat" cmpd="sng">
            <a:solidFill>
              <a:srgbClr val="000000"/>
            </a:solidFill>
            <a:prstDash val="solid"/>
            <a:round/>
            <a:headEnd type="none" w="med" len="med"/>
            <a:tailEnd type="none" w="med" len="med"/>
          </a:ln>
        </p:spPr>
      </p:sp>
      <p:sp>
        <p:nvSpPr>
          <p:cNvPr id="95251" name="Freeform 21"/>
          <p:cNvSpPr>
            <a:spLocks noEditPoints="1"/>
          </p:cNvSpPr>
          <p:nvPr/>
        </p:nvSpPr>
        <p:spPr>
          <a:xfrm>
            <a:off x="971550" y="2076450"/>
            <a:ext cx="111125" cy="2771775"/>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0"/>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70" h="3492">
                <a:moveTo>
                  <a:pt x="37" y="4"/>
                </a:moveTo>
                <a:lnTo>
                  <a:pt x="37" y="3424"/>
                </a:lnTo>
                <a:lnTo>
                  <a:pt x="37" y="3426"/>
                </a:lnTo>
                <a:lnTo>
                  <a:pt x="37" y="3428"/>
                </a:lnTo>
                <a:lnTo>
                  <a:pt x="36" y="3428"/>
                </a:lnTo>
                <a:lnTo>
                  <a:pt x="35" y="3428"/>
                </a:lnTo>
                <a:lnTo>
                  <a:pt x="34" y="3428"/>
                </a:lnTo>
                <a:lnTo>
                  <a:pt x="33" y="3426"/>
                </a:lnTo>
                <a:lnTo>
                  <a:pt x="33" y="3424"/>
                </a:lnTo>
                <a:lnTo>
                  <a:pt x="33" y="4"/>
                </a:lnTo>
                <a:lnTo>
                  <a:pt x="33" y="2"/>
                </a:lnTo>
                <a:lnTo>
                  <a:pt x="34" y="2"/>
                </a:lnTo>
                <a:lnTo>
                  <a:pt x="34" y="0"/>
                </a:lnTo>
                <a:lnTo>
                  <a:pt x="35" y="0"/>
                </a:lnTo>
                <a:lnTo>
                  <a:pt x="36" y="0"/>
                </a:lnTo>
                <a:lnTo>
                  <a:pt x="37" y="2"/>
                </a:lnTo>
                <a:lnTo>
                  <a:pt x="37" y="4"/>
                </a:lnTo>
                <a:close/>
                <a:moveTo>
                  <a:pt x="35" y="3424"/>
                </a:moveTo>
                <a:lnTo>
                  <a:pt x="70" y="3359"/>
                </a:lnTo>
                <a:lnTo>
                  <a:pt x="35" y="3492"/>
                </a:lnTo>
                <a:lnTo>
                  <a:pt x="0" y="3359"/>
                </a:lnTo>
                <a:lnTo>
                  <a:pt x="35" y="3424"/>
                </a:lnTo>
                <a:close/>
              </a:path>
            </a:pathLst>
          </a:custGeom>
          <a:solidFill>
            <a:srgbClr val="000000"/>
          </a:solidFill>
          <a:ln w="1588" cap="flat" cmpd="sng">
            <a:solidFill>
              <a:srgbClr val="000000"/>
            </a:solidFill>
            <a:prstDash val="solid"/>
            <a:miter/>
            <a:headEnd type="none" w="med" len="med"/>
            <a:tailEnd type="none" w="med" len="med"/>
          </a:ln>
        </p:spPr>
        <p:txBody>
          <a:bodyPr/>
          <a:lstStyle/>
          <a:p>
            <a:endParaRPr lang="zh-CN" altLang="en-US"/>
          </a:p>
        </p:txBody>
      </p:sp>
      <p:sp>
        <p:nvSpPr>
          <p:cNvPr id="95252" name="Rectangle 22"/>
          <p:cNvSpPr/>
          <p:nvPr/>
        </p:nvSpPr>
        <p:spPr>
          <a:xfrm rot="5400000">
            <a:off x="-215900" y="3889375"/>
            <a:ext cx="1828800" cy="365125"/>
          </a:xfrm>
          <a:prstGeom prst="rect">
            <a:avLst/>
          </a:prstGeom>
          <a:noFill/>
          <a:ln w="9525">
            <a:noFill/>
          </a:ln>
        </p:spPr>
        <p:txBody>
          <a:bodyPr wrap="none" lIns="0" tIns="0" rIns="0" bIns="0" anchor="t">
            <a:spAutoFit/>
          </a:bodyPr>
          <a:lstStyle/>
          <a:p>
            <a:pPr lvl="0" indent="0"/>
            <a:r>
              <a:rPr lang="zh-CN" altLang="en-US" sz="2400" dirty="0">
                <a:solidFill>
                  <a:srgbClr val="000000"/>
                </a:solidFill>
                <a:latin typeface="宋体" panose="02010600030101010101" pitchFamily="2" charset="-122"/>
                <a:ea typeface="宋体" panose="02010600030101010101" pitchFamily="2" charset="-122"/>
              </a:rPr>
              <a:t>操作执行次序</a:t>
            </a:r>
            <a:endParaRPr lang="zh-CN" altLang="en-US" sz="2400" dirty="0">
              <a:latin typeface="宋体" panose="02010600030101010101" pitchFamily="2" charset="-122"/>
              <a:ea typeface="宋体" panose="02010600030101010101" pitchFamily="2" charset="-122"/>
            </a:endParaRPr>
          </a:p>
        </p:txBody>
      </p:sp>
      <p:sp>
        <p:nvSpPr>
          <p:cNvPr id="95253" name="Rectangle 23"/>
          <p:cNvSpPr/>
          <p:nvPr/>
        </p:nvSpPr>
        <p:spPr>
          <a:xfrm>
            <a:off x="4884738" y="1501775"/>
            <a:ext cx="482600" cy="288925"/>
          </a:xfrm>
          <a:prstGeom prst="rect">
            <a:avLst/>
          </a:prstGeom>
          <a:noFill/>
          <a:ln w="9525">
            <a:noFill/>
          </a:ln>
        </p:spPr>
        <p:txBody>
          <a:bodyPr wrap="none" lIns="0" tIns="0" rIns="0" bIns="0" anchor="t">
            <a:spAutoFit/>
          </a:bodyPr>
          <a:lstStyle/>
          <a:p>
            <a:pPr lvl="0" indent="0"/>
            <a:r>
              <a:rPr lang="zh-CN" altLang="en-US" sz="1900" dirty="0">
                <a:solidFill>
                  <a:srgbClr val="000000"/>
                </a:solidFill>
                <a:latin typeface="宋体" panose="02010600030101010101" pitchFamily="2" charset="-122"/>
                <a:ea typeface="宋体" panose="02010600030101010101" pitchFamily="2" charset="-122"/>
              </a:rPr>
              <a:t>事务</a:t>
            </a:r>
            <a:endParaRPr lang="zh-CN" altLang="en-US" sz="3600" dirty="0">
              <a:latin typeface="宋体" panose="02010600030101010101" pitchFamily="2" charset="-122"/>
              <a:ea typeface="宋体" panose="02010600030101010101" pitchFamily="2" charset="-122"/>
            </a:endParaRPr>
          </a:p>
        </p:txBody>
      </p:sp>
      <p:sp>
        <p:nvSpPr>
          <p:cNvPr id="95254" name="Rectangle 24"/>
          <p:cNvSpPr/>
          <p:nvPr/>
        </p:nvSpPr>
        <p:spPr>
          <a:xfrm>
            <a:off x="5437188" y="1493838"/>
            <a:ext cx="449262" cy="288925"/>
          </a:xfrm>
          <a:prstGeom prst="rect">
            <a:avLst/>
          </a:prstGeom>
          <a:noFill/>
          <a:ln w="9525">
            <a:noFill/>
          </a:ln>
        </p:spPr>
        <p:txBody>
          <a:bodyPr wrap="none" lIns="0" tIns="0" rIns="0" bIns="0" anchor="t">
            <a:spAutoFit/>
          </a:bodyPr>
          <a:lstStyle/>
          <a:p>
            <a:pPr lvl="0" indent="0"/>
            <a:r>
              <a:rPr lang="en-US" altLang="x-none" sz="1900" dirty="0">
                <a:solidFill>
                  <a:srgbClr val="000000"/>
                </a:solidFill>
                <a:latin typeface="Times New Roman" panose="02020603050405020304" pitchFamily="2" charset="0"/>
                <a:ea typeface="宋体" panose="02010600030101010101" pitchFamily="2" charset="-122"/>
              </a:rPr>
              <a:t>T1   </a:t>
            </a:r>
            <a:endParaRPr lang="en-US" altLang="x-none" sz="3600" dirty="0">
              <a:latin typeface="宋体" panose="02010600030101010101" pitchFamily="2" charset="-122"/>
              <a:ea typeface="宋体" panose="02010600030101010101" pitchFamily="2" charset="-122"/>
            </a:endParaRPr>
          </a:p>
        </p:txBody>
      </p:sp>
      <p:sp>
        <p:nvSpPr>
          <p:cNvPr id="95255" name="Rectangle 25"/>
          <p:cNvSpPr/>
          <p:nvPr/>
        </p:nvSpPr>
        <p:spPr>
          <a:xfrm>
            <a:off x="6572250" y="1501775"/>
            <a:ext cx="482600" cy="288925"/>
          </a:xfrm>
          <a:prstGeom prst="rect">
            <a:avLst/>
          </a:prstGeom>
          <a:noFill/>
          <a:ln w="9525">
            <a:noFill/>
          </a:ln>
        </p:spPr>
        <p:txBody>
          <a:bodyPr wrap="none" lIns="0" tIns="0" rIns="0" bIns="0" anchor="t">
            <a:spAutoFit/>
          </a:bodyPr>
          <a:lstStyle/>
          <a:p>
            <a:pPr lvl="0" indent="0"/>
            <a:r>
              <a:rPr lang="zh-CN" altLang="en-US" sz="1900" dirty="0">
                <a:solidFill>
                  <a:srgbClr val="000000"/>
                </a:solidFill>
                <a:latin typeface="宋体" panose="02010600030101010101" pitchFamily="2" charset="-122"/>
                <a:ea typeface="宋体" panose="02010600030101010101" pitchFamily="2" charset="-122"/>
              </a:rPr>
              <a:t>事务</a:t>
            </a:r>
            <a:endParaRPr lang="zh-CN" altLang="en-US" sz="3600" dirty="0">
              <a:latin typeface="宋体" panose="02010600030101010101" pitchFamily="2" charset="-122"/>
              <a:ea typeface="宋体" panose="02010600030101010101" pitchFamily="2" charset="-122"/>
            </a:endParaRPr>
          </a:p>
        </p:txBody>
      </p:sp>
      <p:sp>
        <p:nvSpPr>
          <p:cNvPr id="95256" name="Rectangle 26"/>
          <p:cNvSpPr/>
          <p:nvPr/>
        </p:nvSpPr>
        <p:spPr>
          <a:xfrm>
            <a:off x="7124700" y="1493838"/>
            <a:ext cx="268288" cy="288925"/>
          </a:xfrm>
          <a:prstGeom prst="rect">
            <a:avLst/>
          </a:prstGeom>
          <a:noFill/>
          <a:ln w="9525">
            <a:noFill/>
          </a:ln>
        </p:spPr>
        <p:txBody>
          <a:bodyPr wrap="none" lIns="0" tIns="0" rIns="0" bIns="0" anchor="t">
            <a:spAutoFit/>
          </a:bodyPr>
          <a:lstStyle/>
          <a:p>
            <a:pPr lvl="0" indent="0"/>
            <a:r>
              <a:rPr lang="en-US" altLang="x-none" sz="1900" dirty="0">
                <a:solidFill>
                  <a:srgbClr val="000000"/>
                </a:solidFill>
                <a:latin typeface="Times New Roman" panose="02020603050405020304" pitchFamily="2" charset="0"/>
                <a:ea typeface="宋体" panose="02010600030101010101" pitchFamily="2" charset="-122"/>
              </a:rPr>
              <a:t>T2</a:t>
            </a:r>
            <a:endParaRPr lang="en-US" altLang="x-none" sz="3600" dirty="0">
              <a:latin typeface="宋体" panose="02010600030101010101" pitchFamily="2" charset="-122"/>
              <a:ea typeface="宋体" panose="02010600030101010101" pitchFamily="2" charset="-122"/>
            </a:endParaRPr>
          </a:p>
        </p:txBody>
      </p:sp>
      <p:sp>
        <p:nvSpPr>
          <p:cNvPr id="95257" name="Rectangle 27"/>
          <p:cNvSpPr/>
          <p:nvPr/>
        </p:nvSpPr>
        <p:spPr>
          <a:xfrm>
            <a:off x="7399338" y="1493838"/>
            <a:ext cx="60325" cy="288925"/>
          </a:xfrm>
          <a:prstGeom prst="rect">
            <a:avLst/>
          </a:prstGeom>
          <a:noFill/>
          <a:ln w="9525">
            <a:noFill/>
          </a:ln>
        </p:spPr>
        <p:txBody>
          <a:bodyPr wrap="none" lIns="0" tIns="0" rIns="0" bIns="0" anchor="t">
            <a:spAutoFit/>
          </a:bodyPr>
          <a:lstStyle/>
          <a:p>
            <a:pPr lvl="0" indent="0"/>
            <a:r>
              <a:rPr lang="en-US" altLang="x-none" sz="1900" dirty="0">
                <a:solidFill>
                  <a:srgbClr val="000000"/>
                </a:solidFill>
                <a:latin typeface="Times New Roman" panose="02020603050405020304" pitchFamily="2" charset="0"/>
                <a:ea typeface="宋体" panose="02010600030101010101" pitchFamily="2" charset="-122"/>
              </a:rPr>
              <a:t> </a:t>
            </a:r>
            <a:endParaRPr lang="en-US" altLang="x-none" sz="3600" dirty="0">
              <a:latin typeface="宋体" panose="02010600030101010101" pitchFamily="2" charset="-122"/>
              <a:ea typeface="宋体" panose="02010600030101010101" pitchFamily="2" charset="-122"/>
            </a:endParaRPr>
          </a:p>
        </p:txBody>
      </p:sp>
      <p:sp>
        <p:nvSpPr>
          <p:cNvPr id="95258" name="Rectangle 28"/>
          <p:cNvSpPr/>
          <p:nvPr/>
        </p:nvSpPr>
        <p:spPr>
          <a:xfrm>
            <a:off x="4486275" y="1928813"/>
            <a:ext cx="1036638" cy="304800"/>
          </a:xfrm>
          <a:prstGeom prst="rect">
            <a:avLst/>
          </a:prstGeom>
          <a:noFill/>
          <a:ln w="9525">
            <a:noFill/>
          </a:ln>
        </p:spPr>
        <p:txBody>
          <a:bodyPr wrap="none" lIns="0" tIns="0" rIns="0" bIns="0" anchor="t">
            <a:spAutoFit/>
          </a:bodyPr>
          <a:lstStyle/>
          <a:p>
            <a:pPr lvl="0" indent="0"/>
            <a:r>
              <a:rPr lang="en-US" altLang="x-none" sz="2000" dirty="0">
                <a:latin typeface="Times New Roman" panose="02020603050405020304" pitchFamily="2" charset="0"/>
                <a:ea typeface="宋体" panose="02010600030101010101" pitchFamily="2" charset="-122"/>
              </a:rPr>
              <a:t>R(A): 100</a:t>
            </a:r>
            <a:endParaRPr lang="en-US" altLang="x-none" sz="2000" dirty="0">
              <a:latin typeface="宋体" panose="02010600030101010101" pitchFamily="2" charset="-122"/>
              <a:ea typeface="宋体" panose="02010600030101010101" pitchFamily="2" charset="-122"/>
            </a:endParaRPr>
          </a:p>
        </p:txBody>
      </p:sp>
      <p:sp>
        <p:nvSpPr>
          <p:cNvPr id="95259" name="Rectangle 29"/>
          <p:cNvSpPr/>
          <p:nvPr/>
        </p:nvSpPr>
        <p:spPr>
          <a:xfrm>
            <a:off x="6646863" y="2894013"/>
            <a:ext cx="1289050" cy="914400"/>
          </a:xfrm>
          <a:prstGeom prst="rect">
            <a:avLst/>
          </a:prstGeom>
          <a:noFill/>
          <a:ln w="9525">
            <a:noFill/>
          </a:ln>
        </p:spPr>
        <p:txBody>
          <a:bodyPr wrap="none" lIns="0" tIns="0" rIns="0" bIns="0" anchor="t">
            <a:spAutoFit/>
          </a:bodyPr>
          <a:lstStyle/>
          <a:p>
            <a:pPr lvl="0" indent="0"/>
            <a:r>
              <a:rPr lang="en-US" altLang="x-none" sz="2000" dirty="0">
                <a:latin typeface="Times New Roman" panose="02020603050405020304" pitchFamily="2" charset="0"/>
                <a:ea typeface="宋体" panose="02010600030101010101" pitchFamily="2" charset="-122"/>
              </a:rPr>
              <a:t>R(A): 70</a:t>
            </a:r>
            <a:endParaRPr lang="en-US" altLang="x-none" sz="2000" dirty="0">
              <a:latin typeface="Times New Roman" panose="02020603050405020304" pitchFamily="2" charset="0"/>
              <a:ea typeface="宋体" panose="02010600030101010101" pitchFamily="2" charset="-122"/>
            </a:endParaRPr>
          </a:p>
          <a:p>
            <a:pPr lvl="0" indent="0"/>
            <a:r>
              <a:rPr lang="en-US" altLang="x-none" sz="2000" dirty="0">
                <a:latin typeface="Times New Roman" panose="02020603050405020304" pitchFamily="2" charset="0"/>
                <a:ea typeface="宋体" panose="02010600030101010101" pitchFamily="2" charset="-122"/>
              </a:rPr>
              <a:t>A=A*2=140</a:t>
            </a:r>
            <a:endParaRPr lang="en-US" altLang="x-none" sz="2000" dirty="0">
              <a:latin typeface="Times New Roman" panose="02020603050405020304" pitchFamily="2" charset="0"/>
              <a:ea typeface="宋体" panose="02010600030101010101" pitchFamily="2" charset="-122"/>
            </a:endParaRPr>
          </a:p>
          <a:p>
            <a:pPr lvl="0" indent="0"/>
            <a:r>
              <a:rPr lang="en-US" altLang="x-none" sz="2000" dirty="0">
                <a:latin typeface="Times New Roman" panose="02020603050405020304" pitchFamily="2" charset="0"/>
                <a:ea typeface="宋体" panose="02010600030101010101" pitchFamily="2" charset="-122"/>
              </a:rPr>
              <a:t>W(A)</a:t>
            </a:r>
            <a:endParaRPr lang="en-US" altLang="x-none" sz="2000" dirty="0">
              <a:latin typeface="宋体" panose="02010600030101010101" pitchFamily="2" charset="-122"/>
              <a:ea typeface="宋体" panose="02010600030101010101" pitchFamily="2" charset="-122"/>
            </a:endParaRPr>
          </a:p>
        </p:txBody>
      </p:sp>
      <p:sp>
        <p:nvSpPr>
          <p:cNvPr id="95260" name="Rectangle 30"/>
          <p:cNvSpPr/>
          <p:nvPr/>
        </p:nvSpPr>
        <p:spPr>
          <a:xfrm>
            <a:off x="4559300" y="3903663"/>
            <a:ext cx="1152525" cy="304800"/>
          </a:xfrm>
          <a:prstGeom prst="rect">
            <a:avLst/>
          </a:prstGeom>
          <a:noFill/>
          <a:ln w="9525">
            <a:noFill/>
          </a:ln>
        </p:spPr>
        <p:txBody>
          <a:bodyPr lIns="0" tIns="0" rIns="0" bIns="0" anchor="t">
            <a:spAutoFit/>
          </a:bodyPr>
          <a:lstStyle/>
          <a:p>
            <a:pPr lvl="0" indent="0"/>
            <a:r>
              <a:rPr lang="en-US" altLang="x-none" sz="2000" dirty="0">
                <a:latin typeface="Times New Roman" panose="02020603050405020304" pitchFamily="2" charset="0"/>
                <a:ea typeface="宋体" panose="02010600030101010101" pitchFamily="2" charset="-122"/>
              </a:rPr>
              <a:t>RollBack</a:t>
            </a:r>
            <a:endParaRPr lang="en-US" altLang="x-none" sz="2000" dirty="0">
              <a:latin typeface="Times New Roman" panose="02020603050405020304" pitchFamily="2" charset="0"/>
              <a:ea typeface="宋体" panose="02010600030101010101" pitchFamily="2" charset="-122"/>
            </a:endParaRPr>
          </a:p>
        </p:txBody>
      </p:sp>
      <p:sp>
        <p:nvSpPr>
          <p:cNvPr id="95261" name="Rectangle 31"/>
          <p:cNvSpPr/>
          <p:nvPr/>
        </p:nvSpPr>
        <p:spPr>
          <a:xfrm>
            <a:off x="4559300" y="4838700"/>
            <a:ext cx="1655763" cy="304800"/>
          </a:xfrm>
          <a:prstGeom prst="rect">
            <a:avLst/>
          </a:prstGeom>
          <a:noFill/>
          <a:ln w="9525">
            <a:noFill/>
          </a:ln>
        </p:spPr>
        <p:txBody>
          <a:bodyPr lIns="0" tIns="0" rIns="0" bIns="0" anchor="t">
            <a:spAutoFit/>
          </a:bodyPr>
          <a:lstStyle/>
          <a:p>
            <a:pPr lvl="0" indent="0"/>
            <a:r>
              <a:rPr lang="en-US" altLang="x-none" sz="2000" dirty="0">
                <a:latin typeface="Times New Roman" panose="02020603050405020304" pitchFamily="2" charset="0"/>
                <a:ea typeface="宋体" panose="02010600030101010101" pitchFamily="2" charset="-122"/>
              </a:rPr>
              <a:t>A</a:t>
            </a:r>
            <a:r>
              <a:rPr lang="zh-CN" altLang="en-US" sz="2000" dirty="0">
                <a:latin typeface="Times New Roman" panose="02020603050405020304" pitchFamily="2" charset="0"/>
                <a:ea typeface="宋体" panose="02010600030101010101" pitchFamily="2" charset="-122"/>
              </a:rPr>
              <a:t>值恢复为</a:t>
            </a:r>
            <a:r>
              <a:rPr lang="en-US" altLang="x-none" sz="2000" dirty="0">
                <a:latin typeface="Times New Roman" panose="02020603050405020304" pitchFamily="2" charset="0"/>
                <a:ea typeface="宋体" panose="02010600030101010101" pitchFamily="2" charset="-122"/>
              </a:rPr>
              <a:t>100</a:t>
            </a:r>
            <a:endParaRPr lang="en-US" altLang="x-none" sz="2000" dirty="0">
              <a:latin typeface="Times New Roman" panose="02020603050405020304" pitchFamily="2" charset="0"/>
              <a:ea typeface="宋体" panose="02010600030101010101" pitchFamily="2" charset="-122"/>
            </a:endParaRPr>
          </a:p>
        </p:txBody>
      </p:sp>
      <p:sp>
        <p:nvSpPr>
          <p:cNvPr id="98335" name="Rectangle 32"/>
          <p:cNvSpPr/>
          <p:nvPr/>
        </p:nvSpPr>
        <p:spPr>
          <a:xfrm>
            <a:off x="6502400" y="4046538"/>
            <a:ext cx="2078038" cy="1230312"/>
          </a:xfrm>
          <a:prstGeom prst="rect">
            <a:avLst/>
          </a:prstGeom>
          <a:noFill/>
          <a:ln w="9525">
            <a:noFill/>
          </a:ln>
        </p:spPr>
        <p:txBody>
          <a:bodyPr lIns="0" tIns="0" rIns="0" bIns="0" anchor="t">
            <a:spAutoFit/>
          </a:bodyPr>
          <a:lstStyle/>
          <a:p>
            <a:pPr lvl="0" indent="0"/>
            <a:r>
              <a:rPr lang="en-US" altLang="x-none" sz="2000" dirty="0">
                <a:solidFill>
                  <a:srgbClr val="000000"/>
                </a:solidFill>
                <a:latin typeface="宋体" panose="02010600030101010101" pitchFamily="2" charset="-122"/>
                <a:ea typeface="宋体" panose="02010600030101010101" pitchFamily="2" charset="-122"/>
              </a:rPr>
              <a:t> </a:t>
            </a:r>
            <a:r>
              <a:rPr lang="en-US" altLang="x-none" sz="2000" dirty="0">
                <a:latin typeface="宋体" panose="02010600030101010101" pitchFamily="2" charset="-122"/>
                <a:ea typeface="宋体" panose="02010600030101010101" pitchFamily="2" charset="-122"/>
              </a:rPr>
              <a:t>T2</a:t>
            </a:r>
            <a:r>
              <a:rPr lang="zh-CN" altLang="en-US" sz="2000" dirty="0">
                <a:latin typeface="宋体" panose="02010600030101010101" pitchFamily="2" charset="-122"/>
                <a:ea typeface="宋体" panose="02010600030101010101" pitchFamily="2" charset="-122"/>
              </a:rPr>
              <a:t>既读了脏数据，又丢失了自己的更新操作。破坏了数据库完整性。</a:t>
            </a:r>
            <a:endParaRPr lang="zh-CN" altLang="en-US" sz="2000" dirty="0">
              <a:latin typeface="宋体" panose="02010600030101010101" pitchFamily="2" charset="-122"/>
              <a:ea typeface="宋体" panose="02010600030101010101" pitchFamily="2" charset="-122"/>
            </a:endParaRPr>
          </a:p>
        </p:txBody>
      </p:sp>
      <p:sp>
        <p:nvSpPr>
          <p:cNvPr id="95263" name="Line 33"/>
          <p:cNvSpPr/>
          <p:nvPr/>
        </p:nvSpPr>
        <p:spPr>
          <a:xfrm>
            <a:off x="4410075" y="1884363"/>
            <a:ext cx="3917950" cy="1587"/>
          </a:xfrm>
          <a:prstGeom prst="line">
            <a:avLst/>
          </a:prstGeom>
          <a:ln w="20638" cap="flat" cmpd="sng">
            <a:solidFill>
              <a:srgbClr val="000000"/>
            </a:solidFill>
            <a:prstDash val="solid"/>
            <a:round/>
            <a:headEnd type="none" w="med" len="med"/>
            <a:tailEnd type="none" w="med" len="med"/>
          </a:ln>
        </p:spPr>
      </p:sp>
      <p:sp>
        <p:nvSpPr>
          <p:cNvPr id="95264" name="Line 34"/>
          <p:cNvSpPr/>
          <p:nvPr/>
        </p:nvSpPr>
        <p:spPr>
          <a:xfrm>
            <a:off x="6365875" y="1531938"/>
            <a:ext cx="1588" cy="4237037"/>
          </a:xfrm>
          <a:prstGeom prst="line">
            <a:avLst/>
          </a:prstGeom>
          <a:ln w="20638" cap="flat" cmpd="sng">
            <a:solidFill>
              <a:srgbClr val="000000"/>
            </a:solidFill>
            <a:prstDash val="solid"/>
            <a:round/>
            <a:headEnd type="none" w="med" len="med"/>
            <a:tailEnd type="none" w="med" len="med"/>
          </a:ln>
        </p:spPr>
      </p:sp>
      <p:sp>
        <p:nvSpPr>
          <p:cNvPr id="95265" name="Rectangle 35"/>
          <p:cNvSpPr/>
          <p:nvPr/>
        </p:nvSpPr>
        <p:spPr>
          <a:xfrm>
            <a:off x="1441450" y="5356225"/>
            <a:ext cx="1360488" cy="304800"/>
          </a:xfrm>
          <a:prstGeom prst="rect">
            <a:avLst/>
          </a:prstGeom>
          <a:noFill/>
          <a:ln w="9525">
            <a:noFill/>
          </a:ln>
        </p:spPr>
        <p:txBody>
          <a:bodyPr wrap="none" lIns="0" tIns="0" rIns="0" bIns="0" anchor="t">
            <a:spAutoFit/>
          </a:bodyPr>
          <a:lstStyle/>
          <a:p>
            <a:pPr lvl="0" indent="0"/>
            <a:r>
              <a:rPr lang="en-US" altLang="x-none" sz="2000" dirty="0">
                <a:latin typeface="Times New Roman" panose="02020603050405020304" pitchFamily="2" charset="0"/>
                <a:ea typeface="宋体" panose="02010600030101010101" pitchFamily="2" charset="-122"/>
              </a:rPr>
              <a:t>(a) </a:t>
            </a:r>
            <a:r>
              <a:rPr lang="zh-CN" altLang="en-US" sz="2000" dirty="0">
                <a:latin typeface="Times New Roman" panose="02020603050405020304" pitchFamily="2" charset="0"/>
                <a:ea typeface="宋体" panose="02010600030101010101" pitchFamily="2" charset="-122"/>
              </a:rPr>
              <a:t>事务调度</a:t>
            </a:r>
            <a:endParaRPr lang="zh-CN" altLang="en-US" sz="2000" dirty="0">
              <a:latin typeface="Times New Roman" panose="02020603050405020304" pitchFamily="2" charset="0"/>
              <a:ea typeface="宋体" panose="02010600030101010101" pitchFamily="2" charset="-122"/>
            </a:endParaRPr>
          </a:p>
        </p:txBody>
      </p:sp>
      <p:sp>
        <p:nvSpPr>
          <p:cNvPr id="95266" name="Rectangle 36"/>
          <p:cNvSpPr/>
          <p:nvPr/>
        </p:nvSpPr>
        <p:spPr>
          <a:xfrm>
            <a:off x="4918075" y="5703888"/>
            <a:ext cx="2312988" cy="304800"/>
          </a:xfrm>
          <a:prstGeom prst="rect">
            <a:avLst/>
          </a:prstGeom>
          <a:noFill/>
          <a:ln w="9525">
            <a:noFill/>
          </a:ln>
        </p:spPr>
        <p:txBody>
          <a:bodyPr wrap="none" lIns="0" tIns="0" rIns="0" bIns="0" anchor="t">
            <a:spAutoFit/>
          </a:bodyPr>
          <a:lstStyle/>
          <a:p>
            <a:pPr lvl="0" indent="0"/>
            <a:r>
              <a:rPr lang="zh-CN" altLang="en-US" sz="2000" dirty="0">
                <a:latin typeface="Times New Roman" panose="02020603050405020304" pitchFamily="2" charset="0"/>
                <a:ea typeface="宋体" panose="02010600030101010101" pitchFamily="2" charset="-122"/>
              </a:rPr>
              <a:t>按</a:t>
            </a:r>
            <a:r>
              <a:rPr lang="en-US" altLang="x-none" sz="2000" dirty="0">
                <a:latin typeface="Times New Roman" panose="02020603050405020304" pitchFamily="2" charset="0"/>
                <a:ea typeface="宋体" panose="02010600030101010101" pitchFamily="2" charset="-122"/>
              </a:rPr>
              <a:t>(a)</a:t>
            </a:r>
            <a:r>
              <a:rPr lang="zh-CN" altLang="en-US" sz="2000" dirty="0">
                <a:latin typeface="Times New Roman" panose="02020603050405020304" pitchFamily="2" charset="0"/>
                <a:ea typeface="宋体" panose="02010600030101010101" pitchFamily="2" charset="-122"/>
              </a:rPr>
              <a:t>调度执行的结果</a:t>
            </a:r>
            <a:endParaRPr lang="zh-CN" altLang="en-US" sz="2000" dirty="0">
              <a:latin typeface="Times New Roman" panose="02020603050405020304" pitchFamily="2" charset="0"/>
              <a:ea typeface="宋体" panose="02010600030101010101" pitchFamily="2" charset="-122"/>
            </a:endParaRPr>
          </a:p>
        </p:txBody>
      </p:sp>
      <p:sp>
        <p:nvSpPr>
          <p:cNvPr id="95267" name="Rectangle 37"/>
          <p:cNvSpPr/>
          <p:nvPr/>
        </p:nvSpPr>
        <p:spPr>
          <a:xfrm>
            <a:off x="1441450" y="2908300"/>
            <a:ext cx="592138" cy="304800"/>
          </a:xfrm>
          <a:prstGeom prst="rect">
            <a:avLst/>
          </a:prstGeom>
          <a:noFill/>
          <a:ln w="9525">
            <a:noFill/>
          </a:ln>
        </p:spPr>
        <p:txBody>
          <a:bodyPr wrap="none" lIns="0" tIns="0" rIns="0" bIns="0" anchor="t">
            <a:spAutoFit/>
          </a:bodyPr>
          <a:lstStyle/>
          <a:p>
            <a:pPr lvl="0" indent="0"/>
            <a:r>
              <a:rPr lang="en-US" altLang="x-none" sz="2000" dirty="0">
                <a:latin typeface="Times New Roman" panose="02020603050405020304" pitchFamily="2" charset="0"/>
                <a:ea typeface="宋体" panose="02010600030101010101" pitchFamily="2" charset="-122"/>
              </a:rPr>
              <a:t>W(A)</a:t>
            </a:r>
            <a:endParaRPr lang="en-US" altLang="x-none" sz="2000" dirty="0">
              <a:latin typeface="宋体" panose="02010600030101010101" pitchFamily="2" charset="-122"/>
              <a:ea typeface="宋体" panose="02010600030101010101" pitchFamily="2" charset="-122"/>
            </a:endParaRPr>
          </a:p>
        </p:txBody>
      </p:sp>
      <p:sp>
        <p:nvSpPr>
          <p:cNvPr id="95268" name="Rectangle 38"/>
          <p:cNvSpPr/>
          <p:nvPr/>
        </p:nvSpPr>
        <p:spPr>
          <a:xfrm>
            <a:off x="1441450" y="2547938"/>
            <a:ext cx="771525" cy="304800"/>
          </a:xfrm>
          <a:prstGeom prst="rect">
            <a:avLst/>
          </a:prstGeom>
          <a:noFill/>
          <a:ln w="9525">
            <a:noFill/>
          </a:ln>
        </p:spPr>
        <p:txBody>
          <a:bodyPr wrap="none" lIns="0" tIns="0" rIns="0" bIns="0" anchor="t">
            <a:spAutoFit/>
          </a:bodyPr>
          <a:lstStyle/>
          <a:p>
            <a:pPr lvl="0" indent="0"/>
            <a:r>
              <a:rPr lang="en-US" altLang="x-none" sz="2000" dirty="0">
                <a:latin typeface="宋体" panose="02010600030101010101" pitchFamily="2" charset="-122"/>
                <a:ea typeface="宋体" panose="02010600030101010101" pitchFamily="2" charset="-122"/>
              </a:rPr>
              <a:t>A=A-30</a:t>
            </a:r>
            <a:endParaRPr lang="en-US" altLang="x-none" sz="2000" dirty="0">
              <a:latin typeface="宋体" panose="02010600030101010101" pitchFamily="2" charset="-122"/>
              <a:ea typeface="宋体" panose="02010600030101010101" pitchFamily="2" charset="-122"/>
            </a:endParaRPr>
          </a:p>
        </p:txBody>
      </p:sp>
      <p:sp>
        <p:nvSpPr>
          <p:cNvPr id="95269" name="Rectangle 39"/>
          <p:cNvSpPr/>
          <p:nvPr/>
        </p:nvSpPr>
        <p:spPr>
          <a:xfrm>
            <a:off x="2593975" y="3629025"/>
            <a:ext cx="642938" cy="304800"/>
          </a:xfrm>
          <a:prstGeom prst="rect">
            <a:avLst/>
          </a:prstGeom>
          <a:noFill/>
          <a:ln w="9525">
            <a:noFill/>
          </a:ln>
        </p:spPr>
        <p:txBody>
          <a:bodyPr wrap="none" lIns="0" tIns="0" rIns="0" bIns="0" anchor="t">
            <a:spAutoFit/>
          </a:bodyPr>
          <a:lstStyle/>
          <a:p>
            <a:pPr lvl="0" indent="0"/>
            <a:r>
              <a:rPr lang="en-US" altLang="x-none" sz="2000" dirty="0">
                <a:latin typeface="宋体" panose="02010600030101010101" pitchFamily="2" charset="-122"/>
                <a:ea typeface="宋体" panose="02010600030101010101" pitchFamily="2" charset="-122"/>
              </a:rPr>
              <a:t>A=A*2</a:t>
            </a:r>
            <a:endParaRPr lang="en-US" altLang="x-none" sz="2000" dirty="0">
              <a:latin typeface="宋体" panose="02010600030101010101" pitchFamily="2" charset="-122"/>
              <a:ea typeface="宋体" panose="02010600030101010101" pitchFamily="2" charset="-122"/>
            </a:endParaRPr>
          </a:p>
        </p:txBody>
      </p:sp>
      <p:sp>
        <p:nvSpPr>
          <p:cNvPr id="95270" name="Rectangle 40"/>
          <p:cNvSpPr/>
          <p:nvPr/>
        </p:nvSpPr>
        <p:spPr>
          <a:xfrm>
            <a:off x="2593975" y="3987800"/>
            <a:ext cx="514350" cy="304800"/>
          </a:xfrm>
          <a:prstGeom prst="rect">
            <a:avLst/>
          </a:prstGeom>
          <a:noFill/>
          <a:ln w="9525">
            <a:noFill/>
          </a:ln>
        </p:spPr>
        <p:txBody>
          <a:bodyPr wrap="none" lIns="0" tIns="0" rIns="0" bIns="0" anchor="t">
            <a:spAutoFit/>
          </a:bodyPr>
          <a:lstStyle/>
          <a:p>
            <a:pPr lvl="0" indent="0"/>
            <a:r>
              <a:rPr lang="en-US" altLang="x-none" sz="2000" dirty="0">
                <a:latin typeface="宋体" panose="02010600030101010101" pitchFamily="2" charset="-122"/>
                <a:ea typeface="宋体" panose="02010600030101010101" pitchFamily="2" charset="-122"/>
              </a:rPr>
              <a:t>W(A)</a:t>
            </a:r>
            <a:endParaRPr lang="en-US" altLang="x-none" sz="2000" dirty="0">
              <a:latin typeface="宋体" panose="02010600030101010101" pitchFamily="2" charset="-122"/>
              <a:ea typeface="宋体" panose="02010600030101010101" pitchFamily="2" charset="-122"/>
            </a:endParaRPr>
          </a:p>
        </p:txBody>
      </p:sp>
      <p:sp>
        <p:nvSpPr>
          <p:cNvPr id="95271" name="Rectangle 41"/>
          <p:cNvSpPr/>
          <p:nvPr/>
        </p:nvSpPr>
        <p:spPr>
          <a:xfrm>
            <a:off x="4486275" y="2362200"/>
            <a:ext cx="1246188" cy="304800"/>
          </a:xfrm>
          <a:prstGeom prst="rect">
            <a:avLst/>
          </a:prstGeom>
          <a:noFill/>
          <a:ln w="9525">
            <a:noFill/>
          </a:ln>
        </p:spPr>
        <p:txBody>
          <a:bodyPr wrap="none" lIns="0" tIns="0" rIns="0" bIns="0" anchor="t">
            <a:spAutoFit/>
          </a:bodyPr>
          <a:lstStyle/>
          <a:p>
            <a:pPr lvl="0" indent="0"/>
            <a:r>
              <a:rPr lang="en-US" altLang="x-none" sz="2000" dirty="0">
                <a:latin typeface="Times New Roman" panose="02020603050405020304" pitchFamily="2" charset="0"/>
                <a:ea typeface="宋体" panose="02010600030101010101" pitchFamily="2" charset="-122"/>
              </a:rPr>
              <a:t>A=A-30=70</a:t>
            </a:r>
            <a:endParaRPr lang="en-US" altLang="x-none" sz="2000" dirty="0">
              <a:latin typeface="宋体" panose="02010600030101010101" pitchFamily="2" charset="-122"/>
              <a:ea typeface="宋体" panose="02010600030101010101" pitchFamily="2" charset="-122"/>
            </a:endParaRPr>
          </a:p>
        </p:txBody>
      </p:sp>
      <p:sp>
        <p:nvSpPr>
          <p:cNvPr id="95272" name="Rectangle 42"/>
          <p:cNvSpPr/>
          <p:nvPr/>
        </p:nvSpPr>
        <p:spPr>
          <a:xfrm>
            <a:off x="4486275" y="2733675"/>
            <a:ext cx="1223963" cy="304800"/>
          </a:xfrm>
          <a:prstGeom prst="rect">
            <a:avLst/>
          </a:prstGeom>
          <a:noFill/>
          <a:ln w="9525">
            <a:noFill/>
          </a:ln>
        </p:spPr>
        <p:txBody>
          <a:bodyPr lIns="0" tIns="0" rIns="0" bIns="0" anchor="t">
            <a:spAutoFit/>
          </a:bodyPr>
          <a:lstStyle/>
          <a:p>
            <a:pPr lvl="0" indent="0"/>
            <a:r>
              <a:rPr lang="en-US" altLang="x-none" sz="2000" dirty="0">
                <a:latin typeface="Times New Roman" panose="02020603050405020304" pitchFamily="2" charset="0"/>
                <a:ea typeface="宋体" panose="02010600030101010101" pitchFamily="2" charset="-122"/>
              </a:rPr>
              <a:t>W(A)  </a:t>
            </a:r>
            <a:endParaRPr lang="en-US" altLang="x-none" sz="2000" dirty="0">
              <a:latin typeface="宋体" panose="02010600030101010101" pitchFamily="2" charset="-122"/>
              <a:ea typeface="宋体" panose="02010600030101010101" pitchFamily="2" charset="-122"/>
            </a:endParaRPr>
          </a:p>
        </p:txBody>
      </p:sp>
      <p:sp>
        <p:nvSpPr>
          <p:cNvPr id="98346" name="Oval 43"/>
          <p:cNvSpPr/>
          <p:nvPr/>
        </p:nvSpPr>
        <p:spPr>
          <a:xfrm>
            <a:off x="6430963" y="2751138"/>
            <a:ext cx="1727200" cy="1079500"/>
          </a:xfrm>
          <a:prstGeom prst="ellipse">
            <a:avLst/>
          </a:prstGeom>
          <a:noFill/>
          <a:ln w="28575" cap="flat" cmpd="sng">
            <a:solidFill>
              <a:srgbClr val="CC0000"/>
            </a:solidFill>
            <a:prstDash val="solid"/>
            <a:round/>
            <a:headEnd type="none" w="med" len="med"/>
            <a:tailEnd type="none" w="med" len="med"/>
          </a:ln>
        </p:spPr>
        <p:txBody>
          <a:bodyPr wrap="none" lIns="90000" tIns="46800" rIns="90000" bIns="46800" anchor="ctr"/>
          <a:lstStyle/>
          <a:p>
            <a:pPr lvl="0" indent="0"/>
            <a:endParaRPr lang="zh-CN" altLang="en-US" dirty="0">
              <a:latin typeface="Arial" panose="020B0604020202020204" pitchFamily="34" charset="0"/>
              <a:ea typeface="宋体" panose="02010600030101010101" pitchFamily="2" charset="-122"/>
            </a:endParaRPr>
          </a:p>
        </p:txBody>
      </p:sp>
      <p:sp>
        <p:nvSpPr>
          <p:cNvPr id="98347" name="Oval 44"/>
          <p:cNvSpPr/>
          <p:nvPr/>
        </p:nvSpPr>
        <p:spPr>
          <a:xfrm>
            <a:off x="4559300" y="4406900"/>
            <a:ext cx="1727200" cy="1079500"/>
          </a:xfrm>
          <a:prstGeom prst="ellipse">
            <a:avLst/>
          </a:prstGeom>
          <a:noFill/>
          <a:ln w="28575" cap="flat" cmpd="sng">
            <a:solidFill>
              <a:srgbClr val="CC0000"/>
            </a:solidFill>
            <a:prstDash val="solid"/>
            <a:round/>
            <a:headEnd type="none" w="med" len="med"/>
            <a:tailEnd type="none" w="med" len="med"/>
          </a:ln>
        </p:spPr>
        <p:txBody>
          <a:bodyPr wrap="none" lIns="90000" tIns="46800" rIns="90000" bIns="46800" anchor="ctr"/>
          <a:lstStyle/>
          <a:p>
            <a:pPr lvl="0" indent="0"/>
            <a:endParaRPr lang="zh-CN" altLang="en-US" dirty="0">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grpId="0" nodeType="clickEffect">
                                  <p:stCondLst>
                                    <p:cond delay="0"/>
                                  </p:stCondLst>
                                  <p:childTnLst>
                                    <p:set>
                                      <p:cBhvr>
                                        <p:cTn id="6" dur="1" fill="hold">
                                          <p:stCondLst>
                                            <p:cond delay="0"/>
                                          </p:stCondLst>
                                        </p:cTn>
                                        <p:tgtEl>
                                          <p:spTgt spid="98309"/>
                                        </p:tgtEl>
                                        <p:attrNameLst>
                                          <p:attrName>style.visibility</p:attrName>
                                        </p:attrNameLst>
                                      </p:cBhvr>
                                      <p:to>
                                        <p:strVal val="visible"/>
                                      </p:to>
                                    </p:set>
                                    <p:animEffect transition="in" filter="plus(in)">
                                      <p:cBhvr>
                                        <p:cTn id="7" dur="2000"/>
                                        <p:tgtEl>
                                          <p:spTgt spid="98309"/>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grpId="0" nodeType="clickEffect">
                                  <p:stCondLst>
                                    <p:cond delay="0"/>
                                  </p:stCondLst>
                                  <p:childTnLst>
                                    <p:set>
                                      <p:cBhvr>
                                        <p:cTn id="11" dur="1" fill="hold">
                                          <p:stCondLst>
                                            <p:cond delay="0"/>
                                          </p:stCondLst>
                                        </p:cTn>
                                        <p:tgtEl>
                                          <p:spTgt spid="98346"/>
                                        </p:tgtEl>
                                        <p:attrNameLst>
                                          <p:attrName>style.visibility</p:attrName>
                                        </p:attrNameLst>
                                      </p:cBhvr>
                                      <p:to>
                                        <p:strVal val="visible"/>
                                      </p:to>
                                    </p:set>
                                    <p:animEffect transition="in" filter="wedge">
                                      <p:cBhvr>
                                        <p:cTn id="12" dur="2000"/>
                                        <p:tgtEl>
                                          <p:spTgt spid="98346"/>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grpId="0" nodeType="clickEffect">
                                  <p:stCondLst>
                                    <p:cond delay="0"/>
                                  </p:stCondLst>
                                  <p:childTnLst>
                                    <p:set>
                                      <p:cBhvr>
                                        <p:cTn id="16" dur="1" fill="hold">
                                          <p:stCondLst>
                                            <p:cond delay="0"/>
                                          </p:stCondLst>
                                        </p:cTn>
                                        <p:tgtEl>
                                          <p:spTgt spid="98347"/>
                                        </p:tgtEl>
                                        <p:attrNameLst>
                                          <p:attrName>style.visibility</p:attrName>
                                        </p:attrNameLst>
                                      </p:cBhvr>
                                      <p:to>
                                        <p:strVal val="visible"/>
                                      </p:to>
                                    </p:set>
                                    <p:animEffect transition="in" filter="wedge">
                                      <p:cBhvr>
                                        <p:cTn id="17" dur="2000"/>
                                        <p:tgtEl>
                                          <p:spTgt spid="9834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98335"/>
                                        </p:tgtEl>
                                        <p:attrNameLst>
                                          <p:attrName>style.visibility</p:attrName>
                                        </p:attrNameLst>
                                      </p:cBhvr>
                                      <p:to>
                                        <p:strVal val="visible"/>
                                      </p:to>
                                    </p:set>
                                    <p:animEffect transition="in" filter="dissolve">
                                      <p:cBhvr>
                                        <p:cTn id="22" dur="500"/>
                                        <p:tgtEl>
                                          <p:spTgt spid="983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9" grpId="0" animBg="1"/>
      <p:bldP spid="98335" grpId="0"/>
      <p:bldP spid="98346" grpId="0" animBg="1"/>
      <p:bldP spid="98347"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Text Box 2"/>
          <p:cNvSpPr txBox="1"/>
          <p:nvPr/>
        </p:nvSpPr>
        <p:spPr>
          <a:xfrm>
            <a:off x="615950" y="2133600"/>
            <a:ext cx="7415213" cy="933450"/>
          </a:xfrm>
          <a:prstGeom prst="rect">
            <a:avLst/>
          </a:prstGeom>
          <a:noFill/>
          <a:ln w="9525">
            <a:noFill/>
          </a:ln>
        </p:spPr>
        <p:txBody>
          <a:bodyPr wrap="square" anchor="t">
            <a:spAutoFit/>
          </a:bodyPr>
          <a:lstStyle/>
          <a:p>
            <a:pPr lvl="0" indent="0">
              <a:lnSpc>
                <a:spcPct val="110000"/>
              </a:lnSpc>
              <a:spcBef>
                <a:spcPts val="300"/>
              </a:spcBef>
              <a:buFont typeface="Wingdings" panose="05000000000000000000" pitchFamily="2" charset="2"/>
              <a:buChar char="p"/>
            </a:pPr>
            <a:r>
              <a:rPr lang="zh-CN" altLang="en-US" sz="2400" u="sng" dirty="0">
                <a:solidFill>
                  <a:srgbClr val="CC0000"/>
                </a:solidFill>
                <a:latin typeface="华文楷体" panose="02010600040101010101" pitchFamily="2" charset="-122"/>
                <a:ea typeface="华文楷体" panose="02010600040101010101" pitchFamily="2" charset="-122"/>
                <a:sym typeface="Wingdings" panose="05000000000000000000" pitchFamily="2" charset="2"/>
              </a:rPr>
              <a:t> 原因：</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该问题因</a:t>
            </a:r>
            <a:r>
              <a:rPr lang="zh-CN" altLang="en-US" sz="2400" dirty="0">
                <a:solidFill>
                  <a:srgbClr val="A50021"/>
                </a:solidFill>
                <a:latin typeface="华文楷体" panose="02010600040101010101" pitchFamily="2" charset="-122"/>
                <a:ea typeface="华文楷体" panose="02010600040101010101" pitchFamily="2" charset="-122"/>
                <a:sym typeface="Wingdings" panose="05000000000000000000" pitchFamily="2" charset="2"/>
              </a:rPr>
              <a:t>读</a:t>
            </a:r>
            <a:r>
              <a:rPr lang="en-US" altLang="x-none" sz="2400" dirty="0">
                <a:solidFill>
                  <a:srgbClr val="A50021"/>
                </a:solidFill>
                <a:latin typeface="华文楷体" panose="02010600040101010101" pitchFamily="2" charset="-122"/>
                <a:ea typeface="华文楷体" panose="02010600040101010101" pitchFamily="2" charset="-122"/>
                <a:sym typeface="Wingdings" panose="05000000000000000000" pitchFamily="2" charset="2"/>
              </a:rPr>
              <a:t>-</a:t>
            </a:r>
            <a:r>
              <a:rPr lang="zh-CN" altLang="en-US" sz="2400" dirty="0">
                <a:solidFill>
                  <a:srgbClr val="A50021"/>
                </a:solidFill>
                <a:latin typeface="华文楷体" panose="02010600040101010101" pitchFamily="2" charset="-122"/>
                <a:ea typeface="华文楷体" panose="02010600040101010101" pitchFamily="2" charset="-122"/>
                <a:sym typeface="Wingdings" panose="05000000000000000000" pitchFamily="2" charset="2"/>
              </a:rPr>
              <a:t>写冲突</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(read-write conflict)</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引起。</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a:p>
            <a:pPr lvl="0" indent="0">
              <a:lnSpc>
                <a:spcPct val="110000"/>
              </a:lnSpc>
              <a:spcBef>
                <a:spcPts val="300"/>
              </a:spcBef>
              <a:buFont typeface="Wingdings" panose="05000000000000000000" pitchFamily="2" charset="2"/>
              <a:buChar char="p"/>
            </a:pPr>
            <a:r>
              <a:rPr lang="zh-CN" altLang="en-US" sz="2400" u="sng" dirty="0">
                <a:solidFill>
                  <a:srgbClr val="CC0000"/>
                </a:solidFill>
                <a:latin typeface="华文楷体" panose="02010600040101010101" pitchFamily="2" charset="-122"/>
                <a:ea typeface="华文楷体" panose="02010600040101010101" pitchFamily="2" charset="-122"/>
                <a:sym typeface="Wingdings" panose="05000000000000000000" pitchFamily="2" charset="2"/>
              </a:rPr>
              <a:t> 结果：</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第二次读的值与前次读的值不同。</a:t>
            </a:r>
            <a:endParaRPr lang="en-US" altLang="x-none" sz="2800" dirty="0">
              <a:latin typeface="华文楷体" panose="02010600040101010101" pitchFamily="2" charset="-122"/>
              <a:ea typeface="华文楷体" panose="02010600040101010101" pitchFamily="2" charset="-122"/>
              <a:sym typeface="Wingdings" panose="05000000000000000000" pitchFamily="2" charset="2"/>
            </a:endParaRPr>
          </a:p>
        </p:txBody>
      </p:sp>
      <p:sp>
        <p:nvSpPr>
          <p:cNvPr id="96258"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五、数据库系统中的并发</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96259" name="Rectangle 7"/>
          <p:cNvSpPr/>
          <p:nvPr/>
        </p:nvSpPr>
        <p:spPr>
          <a:xfrm>
            <a:off x="454025" y="7683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2</a:t>
            </a:r>
            <a:r>
              <a:rPr lang="zh-CN" altLang="en-US" sz="2800" dirty="0">
                <a:solidFill>
                  <a:srgbClr val="FF0000"/>
                </a:solidFill>
                <a:latin typeface="黑体" panose="02010609060101010101" pitchFamily="1" charset="-122"/>
                <a:ea typeface="黑体" panose="02010609060101010101" pitchFamily="1" charset="-122"/>
              </a:rPr>
              <a:t>、并发执行可行引起的问题</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96260" name="矩形 4"/>
          <p:cNvSpPr/>
          <p:nvPr/>
        </p:nvSpPr>
        <p:spPr>
          <a:xfrm>
            <a:off x="5275263" y="792163"/>
            <a:ext cx="3640137" cy="560387"/>
          </a:xfrm>
          <a:prstGeom prst="rect">
            <a:avLst/>
          </a:prstGeom>
          <a:noFill/>
          <a:ln w="9525">
            <a:noFill/>
          </a:ln>
        </p:spPr>
        <p:txBody>
          <a:bodyPr wrap="square" anchor="t">
            <a:spAutoFit/>
          </a:bodyPr>
          <a:lstStyle/>
          <a:p>
            <a:pPr marL="342900" lvl="0" indent="-342900">
              <a:lnSpc>
                <a:spcPct val="110000"/>
              </a:lnSpc>
              <a:spcBef>
                <a:spcPct val="50000"/>
              </a:spcBef>
            </a:pPr>
            <a:r>
              <a:rPr lang="zh-CN" altLang="en-US" sz="2800" dirty="0">
                <a:solidFill>
                  <a:srgbClr val="0000CC"/>
                </a:solidFill>
                <a:latin typeface="宋体" panose="02010600030101010101" pitchFamily="2" charset="-122"/>
                <a:ea typeface="宋体" panose="02010600030101010101" pitchFamily="2" charset="-122"/>
                <a:sym typeface="Wingdings" panose="05000000000000000000" pitchFamily="2" charset="2"/>
              </a:rPr>
              <a:t>（</a:t>
            </a:r>
            <a:r>
              <a:rPr lang="en-US" altLang="x-none" sz="2800" dirty="0">
                <a:solidFill>
                  <a:srgbClr val="0000CC"/>
                </a:solidFill>
                <a:latin typeface="宋体" panose="02010600030101010101" pitchFamily="2" charset="-122"/>
                <a:ea typeface="宋体" panose="02010600030101010101" pitchFamily="2" charset="-122"/>
                <a:sym typeface="Wingdings" panose="05000000000000000000" pitchFamily="2" charset="2"/>
              </a:rPr>
              <a:t>3</a:t>
            </a:r>
            <a:r>
              <a:rPr lang="zh-CN" altLang="en-US" sz="2800" dirty="0">
                <a:solidFill>
                  <a:srgbClr val="0000CC"/>
                </a:solidFill>
                <a:latin typeface="宋体" panose="02010600030101010101" pitchFamily="2" charset="-122"/>
                <a:ea typeface="宋体" panose="02010600030101010101" pitchFamily="2" charset="-122"/>
                <a:sym typeface="Wingdings" panose="05000000000000000000" pitchFamily="2" charset="2"/>
              </a:rPr>
              <a:t>）读值不可复现</a:t>
            </a:r>
            <a:endParaRPr lang="zh-CN" altLang="en-US" sz="2800" dirty="0">
              <a:solidFill>
                <a:srgbClr val="0000CC"/>
              </a:solidFill>
              <a:latin typeface="宋体" panose="02010600030101010101" pitchFamily="2" charset="-122"/>
              <a:ea typeface="宋体" panose="02010600030101010101" pitchFamily="2" charset="-122"/>
              <a:sym typeface="Wingdings" panose="05000000000000000000" pitchFamily="2" charset="2"/>
            </a:endParaRPr>
          </a:p>
        </p:txBody>
      </p:sp>
      <p:sp>
        <p:nvSpPr>
          <p:cNvPr id="96261" name="Text Box 2"/>
          <p:cNvSpPr txBox="1"/>
          <p:nvPr/>
        </p:nvSpPr>
        <p:spPr>
          <a:xfrm>
            <a:off x="615950" y="1339850"/>
            <a:ext cx="8232775" cy="895350"/>
          </a:xfrm>
          <a:prstGeom prst="rect">
            <a:avLst/>
          </a:prstGeom>
          <a:noFill/>
          <a:ln w="9525">
            <a:noFill/>
          </a:ln>
        </p:spPr>
        <p:txBody>
          <a:bodyPr anchor="t">
            <a:spAutoFit/>
          </a:bodyPr>
          <a:lstStyle/>
          <a:p>
            <a:pPr lvl="0" indent="0">
              <a:lnSpc>
                <a:spcPct val="110000"/>
              </a:lnSpc>
              <a:spcBef>
                <a:spcPts val="500"/>
              </a:spcBef>
              <a:buFont typeface="Wingdings" panose="05000000000000000000" pitchFamily="2" charset="2"/>
              <a:buChar char="p"/>
            </a:pPr>
            <a:r>
              <a:rPr lang="zh-CN" altLang="en-US" sz="2400" u="sng" dirty="0">
                <a:solidFill>
                  <a:srgbClr val="CC0000"/>
                </a:solidFill>
                <a:latin typeface="华文楷体" panose="02010600040101010101" pitchFamily="2" charset="-122"/>
                <a:ea typeface="华文楷体" panose="02010600040101010101" pitchFamily="2" charset="-122"/>
                <a:sym typeface="Wingdings" panose="05000000000000000000" pitchFamily="2" charset="2"/>
              </a:rPr>
              <a:t>又称不可重复读，</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由于另一事务对同一数据的写入，一个事务对该数据两次读到的值不一样。</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p:txBody>
      </p:sp>
      <p:graphicFrame>
        <p:nvGraphicFramePr>
          <p:cNvPr id="100356" name="Object 1"/>
          <p:cNvGraphicFramePr>
            <a:graphicFrameLocks noGrp="1" noChangeAspect="1"/>
          </p:cNvGraphicFramePr>
          <p:nvPr/>
        </p:nvGraphicFramePr>
        <p:xfrm>
          <a:off x="603250" y="3089275"/>
          <a:ext cx="8229600" cy="4244975"/>
        </p:xfrm>
        <a:graphic>
          <a:graphicData uri="http://schemas.openxmlformats.org/presentationml/2006/ole">
            <mc:AlternateContent xmlns:mc="http://schemas.openxmlformats.org/markup-compatibility/2006">
              <mc:Choice xmlns:v="urn:schemas-microsoft-com:vml" Requires="v">
                <p:oleObj spid="_x0000_s21526" name="" r:id="rId1" imgW="3991610" imgH="2301240" progId="Word.Picture.8">
                  <p:embed/>
                </p:oleObj>
              </mc:Choice>
              <mc:Fallback>
                <p:oleObj name="" r:id="rId1" imgW="3991610" imgH="2301240" progId="Word.Picture.8">
                  <p:embed/>
                  <p:pic>
                    <p:nvPicPr>
                      <p:cNvPr id="0" name="图片 3093"/>
                      <p:cNvPicPr/>
                      <p:nvPr/>
                    </p:nvPicPr>
                    <p:blipFill>
                      <a:blip r:embed="rId2"/>
                      <a:stretch>
                        <a:fillRect/>
                      </a:stretch>
                    </p:blipFill>
                    <p:spPr>
                      <a:xfrm>
                        <a:off x="603250" y="3089275"/>
                        <a:ext cx="8229600" cy="4244975"/>
                      </a:xfrm>
                      <a:prstGeom prst="rect">
                        <a:avLst/>
                      </a:prstGeom>
                      <a:noFill/>
                      <a:ln w="38100">
                        <a:noFill/>
                        <a:miter/>
                      </a:ln>
                    </p:spPr>
                  </p:pic>
                </p:oleObj>
              </mc:Fallback>
            </mc:AlternateContent>
          </a:graphicData>
        </a:graphic>
      </p:graphicFrame>
      <p:sp>
        <p:nvSpPr>
          <p:cNvPr id="100357" name="Rectangle 5"/>
          <p:cNvSpPr/>
          <p:nvPr/>
        </p:nvSpPr>
        <p:spPr>
          <a:xfrm>
            <a:off x="411163" y="4921250"/>
            <a:ext cx="8291512" cy="1263650"/>
          </a:xfrm>
          <a:prstGeom prst="rect">
            <a:avLst/>
          </a:prstGeom>
          <a:solidFill>
            <a:srgbClr val="CCFFFF"/>
          </a:solidFill>
          <a:ln w="9525">
            <a:noFill/>
          </a:ln>
        </p:spPr>
        <p:txBody>
          <a:bodyPr lIns="90000" tIns="46800" rIns="90000" bIns="46800" anchor="t">
            <a:spAutoFit/>
          </a:bodyPr>
          <a:lstStyle/>
          <a:p>
            <a:pPr lvl="0" indent="0"/>
            <a:r>
              <a:rPr lang="zh-CN" altLang="en-US" sz="2800" dirty="0">
                <a:latin typeface="华文楷体" panose="02010600040101010101" pitchFamily="2" charset="-122"/>
                <a:ea typeface="华文楷体" panose="02010600040101010101" pitchFamily="2" charset="-122"/>
              </a:rPr>
              <a:t>结论：</a:t>
            </a:r>
            <a:r>
              <a:rPr lang="zh-CN" altLang="en-US" sz="2400" dirty="0">
                <a:latin typeface="华文楷体" panose="02010600040101010101" pitchFamily="2" charset="-122"/>
                <a:ea typeface="华文楷体" panose="02010600040101010101" pitchFamily="2" charset="-122"/>
              </a:rPr>
              <a:t>由上可以看出，把不同事务中对同一对象进行</a:t>
            </a:r>
            <a:r>
              <a:rPr lang="en-US" altLang="x-none" sz="2400" dirty="0">
                <a:latin typeface="华文楷体" panose="02010600040101010101" pitchFamily="2" charset="-122"/>
                <a:ea typeface="华文楷体" panose="02010600040101010101" pitchFamily="2" charset="-122"/>
              </a:rPr>
              <a:t>WW</a:t>
            </a:r>
            <a:r>
              <a:rPr lang="zh-CN" altLang="en-US" sz="2400" dirty="0">
                <a:latin typeface="华文楷体" panose="02010600040101010101" pitchFamily="2" charset="-122"/>
                <a:ea typeface="华文楷体" panose="02010600040101010101" pitchFamily="2" charset="-122"/>
              </a:rPr>
              <a:t>、</a:t>
            </a:r>
            <a:r>
              <a:rPr lang="en-US" altLang="x-none" sz="2400" dirty="0">
                <a:latin typeface="华文楷体" panose="02010600040101010101" pitchFamily="2" charset="-122"/>
                <a:ea typeface="华文楷体" panose="02010600040101010101" pitchFamily="2" charset="-122"/>
              </a:rPr>
              <a:t>RW</a:t>
            </a:r>
            <a:r>
              <a:rPr lang="zh-CN" altLang="en-US" sz="2400" dirty="0">
                <a:latin typeface="华文楷体" panose="02010600040101010101" pitchFamily="2" charset="-122"/>
                <a:ea typeface="华文楷体" panose="02010600040101010101" pitchFamily="2" charset="-122"/>
              </a:rPr>
              <a:t>或</a:t>
            </a:r>
            <a:r>
              <a:rPr lang="en-US" altLang="x-none" sz="2400" dirty="0">
                <a:latin typeface="华文楷体" panose="02010600040101010101" pitchFamily="2" charset="-122"/>
                <a:ea typeface="华文楷体" panose="02010600040101010101" pitchFamily="2" charset="-122"/>
              </a:rPr>
              <a:t>WR</a:t>
            </a:r>
            <a:r>
              <a:rPr lang="zh-CN" altLang="en-US" sz="2400" dirty="0">
                <a:latin typeface="华文楷体" panose="02010600040101010101" pitchFamily="2" charset="-122"/>
                <a:ea typeface="华文楷体" panose="02010600040101010101" pitchFamily="2" charset="-122"/>
              </a:rPr>
              <a:t>的操作进行交错都会造成冲突，因此，在安排事务操作交错（即并发执行）时，应避免把这类操作放在一起。</a:t>
            </a:r>
            <a:endParaRPr lang="zh-CN" altLang="en-US" sz="2400" dirty="0">
              <a:latin typeface="华文楷体" panose="02010600040101010101" pitchFamily="2" charset="-122"/>
              <a:ea typeface="华文楷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100356"/>
                                        </p:tgtEl>
                                        <p:attrNameLst>
                                          <p:attrName>style.visibility</p:attrName>
                                        </p:attrNameLst>
                                      </p:cBhvr>
                                      <p:to>
                                        <p:strVal val="visible"/>
                                      </p:to>
                                    </p:set>
                                    <p:animEffect transition="in" filter="wedge">
                                      <p:cBhvr>
                                        <p:cTn id="7" dur="500"/>
                                        <p:tgtEl>
                                          <p:spTgt spid="100356"/>
                                        </p:tgtEl>
                                      </p:cBhvr>
                                    </p:animEffect>
                                  </p:childTnLst>
                                </p:cTn>
                              </p:par>
                            </p:childTnLst>
                          </p:cTn>
                        </p:par>
                      </p:childTnLst>
                    </p:cTn>
                  </p:par>
                  <p:par>
                    <p:cTn id="8" fill="hold">
                      <p:stCondLst>
                        <p:cond delay="indefinite"/>
                      </p:stCondLst>
                      <p:childTnLst>
                        <p:par>
                          <p:cTn id="9" fill="hold">
                            <p:stCondLst>
                              <p:cond delay="0"/>
                            </p:stCondLst>
                            <p:childTnLst>
                              <p:par>
                                <p:cTn id="10" presetID="13" presetClass="entr" presetSubtype="16" fill="hold" grpId="0" nodeType="clickEffect">
                                  <p:stCondLst>
                                    <p:cond delay="0"/>
                                  </p:stCondLst>
                                  <p:childTnLst>
                                    <p:set>
                                      <p:cBhvr>
                                        <p:cTn id="11" dur="1" fill="hold">
                                          <p:stCondLst>
                                            <p:cond delay="0"/>
                                          </p:stCondLst>
                                        </p:cTn>
                                        <p:tgtEl>
                                          <p:spTgt spid="100357"/>
                                        </p:tgtEl>
                                        <p:attrNameLst>
                                          <p:attrName>style.visibility</p:attrName>
                                        </p:attrNameLst>
                                      </p:cBhvr>
                                      <p:to>
                                        <p:strVal val="visible"/>
                                      </p:to>
                                    </p:set>
                                    <p:animEffect transition="in" filter="plus(in)">
                                      <p:cBhvr>
                                        <p:cTn id="12" dur="2000"/>
                                        <p:tgtEl>
                                          <p:spTgt spid="1003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7" grpId="0" bldLvl="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3"/>
          <p:cNvSpPr txBox="1"/>
          <p:nvPr/>
        </p:nvSpPr>
        <p:spPr>
          <a:xfrm>
            <a:off x="517525" y="854075"/>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3</a:t>
            </a:r>
            <a:r>
              <a:rPr lang="zh-CN" altLang="en-US" sz="2800" dirty="0">
                <a:solidFill>
                  <a:srgbClr val="FF0000"/>
                </a:solidFill>
                <a:latin typeface="黑体" panose="02010609060101010101" pitchFamily="1" charset="-122"/>
                <a:ea typeface="黑体" panose="02010609060101010101" pitchFamily="1" charset="-122"/>
              </a:rPr>
              <a:t>、并发执行的正确性准则</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97282" name="Rectangle 4"/>
          <p:cNvSpPr txBox="1"/>
          <p:nvPr/>
        </p:nvSpPr>
        <p:spPr>
          <a:xfrm>
            <a:off x="514350" y="1447800"/>
            <a:ext cx="8355013" cy="4794250"/>
          </a:xfrm>
          <a:prstGeom prst="rect">
            <a:avLst/>
          </a:prstGeom>
          <a:noFill/>
          <a:ln w="9525">
            <a:noFill/>
          </a:ln>
        </p:spPr>
        <p:txBody>
          <a:bodyPr anchor="t"/>
          <a:lstStyle/>
          <a:p>
            <a:pPr marL="342900" lvl="0" indent="-342900" eaLnBrk="0" hangingPunct="0">
              <a:lnSpc>
                <a:spcPct val="110000"/>
              </a:lnSpc>
              <a:spcBef>
                <a:spcPct val="20000"/>
              </a:spcBef>
              <a:buClr>
                <a:srgbClr val="0033CC"/>
              </a:buClr>
              <a:buSzPct val="80000"/>
              <a:buFont typeface="Wingdings" panose="05000000000000000000" pitchFamily="2" charset="2"/>
              <a:buChar char="u"/>
            </a:pPr>
            <a:r>
              <a:rPr lang="zh-CN" altLang="en-US" sz="2400" u="sng" dirty="0">
                <a:solidFill>
                  <a:srgbClr val="000099"/>
                </a:solidFill>
                <a:latin typeface="华文楷体" panose="02010600040101010101" pitchFamily="2" charset="-122"/>
                <a:ea typeface="宋体" panose="02010600030101010101" pitchFamily="2" charset="-122"/>
                <a:sym typeface="Wingdings" panose="05000000000000000000" pitchFamily="2" charset="2"/>
              </a:rPr>
              <a:t>调度</a:t>
            </a:r>
            <a:r>
              <a:rPr lang="en-US" altLang="x-none" sz="2400" u="sng" dirty="0">
                <a:solidFill>
                  <a:srgbClr val="000099"/>
                </a:solidFill>
                <a:latin typeface="华文楷体" panose="02010600040101010101" pitchFamily="2" charset="-122"/>
                <a:ea typeface="宋体" panose="02010600030101010101" pitchFamily="2" charset="-122"/>
                <a:sym typeface="Wingdings" panose="05000000000000000000" pitchFamily="2" charset="2"/>
              </a:rPr>
              <a:t>(Schedule)</a:t>
            </a:r>
            <a:r>
              <a:rPr lang="zh-CN" altLang="en-US" sz="2400" u="sng" dirty="0">
                <a:solidFill>
                  <a:srgbClr val="000099"/>
                </a:solidFill>
                <a:latin typeface="华文楷体" panose="02010600040101010101" pitchFamily="2" charset="-122"/>
                <a:ea typeface="宋体" panose="02010600030101010101" pitchFamily="2" charset="-122"/>
                <a:sym typeface="Wingdings" panose="05000000000000000000" pitchFamily="2" charset="2"/>
              </a:rPr>
              <a:t>：</a:t>
            </a:r>
            <a:r>
              <a:rPr lang="zh-CN" altLang="en-US" sz="2400" dirty="0">
                <a:latin typeface="华文楷体" panose="02010600040101010101" pitchFamily="2" charset="-122"/>
                <a:ea typeface="宋体" panose="02010600030101010101" pitchFamily="2" charset="-122"/>
                <a:sym typeface="Wingdings" panose="05000000000000000000" pitchFamily="2" charset="2"/>
              </a:rPr>
              <a:t>事务中所有操作的执行序列。</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marL="742950" lvl="1" indent="-285750" eaLnBrk="0" hangingPunct="0">
              <a:lnSpc>
                <a:spcPct val="110000"/>
              </a:lnSpc>
              <a:spcBef>
                <a:spcPct val="20000"/>
              </a:spcBef>
              <a:buClr>
                <a:schemeClr val="accent2"/>
              </a:buClr>
              <a:buSzPct val="70000"/>
            </a:pPr>
            <a:r>
              <a:rPr lang="en-US" altLang="x-none" sz="2400" dirty="0">
                <a:latin typeface="华文楷体" panose="02010600040101010101" pitchFamily="2" charset="-122"/>
                <a:ea typeface="宋体" panose="02010600030101010101" pitchFamily="2" charset="-122"/>
                <a:sym typeface="Wingdings" panose="05000000000000000000" pitchFamily="2" charset="2"/>
              </a:rPr>
              <a:t>---</a:t>
            </a:r>
            <a:r>
              <a:rPr lang="zh-CN" altLang="en-US" sz="2400" dirty="0">
                <a:latin typeface="华文楷体" panose="02010600040101010101" pitchFamily="2" charset="-122"/>
                <a:ea typeface="宋体" panose="02010600030101010101" pitchFamily="2" charset="-122"/>
                <a:sym typeface="Wingdings" panose="05000000000000000000" pitchFamily="2" charset="2"/>
              </a:rPr>
              <a:t>如果多个事物依次执行，则称为事物的</a:t>
            </a:r>
            <a:r>
              <a:rPr lang="zh-CN" altLang="en-US" sz="2400" u="sng" dirty="0">
                <a:solidFill>
                  <a:srgbClr val="0033CC"/>
                </a:solidFill>
                <a:latin typeface="华文楷体" panose="02010600040101010101" pitchFamily="2" charset="-122"/>
                <a:ea typeface="宋体" panose="02010600030101010101" pitchFamily="2" charset="-122"/>
                <a:sym typeface="Wingdings" panose="05000000000000000000" pitchFamily="2" charset="2"/>
              </a:rPr>
              <a:t>串行调度</a:t>
            </a:r>
            <a:r>
              <a:rPr lang="zh-CN" altLang="en-US" sz="2400" dirty="0">
                <a:latin typeface="华文楷体" panose="02010600040101010101" pitchFamily="2" charset="-122"/>
                <a:ea typeface="宋体" panose="02010600030101010101" pitchFamily="2" charset="-122"/>
                <a:sym typeface="Wingdings" panose="05000000000000000000" pitchFamily="2" charset="2"/>
              </a:rPr>
              <a:t>。如果利用分时法，同时处理多个事物，则称为</a:t>
            </a:r>
            <a:r>
              <a:rPr lang="zh-CN" altLang="en-US" sz="2400" u="sng" dirty="0">
                <a:solidFill>
                  <a:srgbClr val="0033CC"/>
                </a:solidFill>
                <a:latin typeface="华文楷体" panose="02010600040101010101" pitchFamily="2" charset="-122"/>
                <a:ea typeface="宋体" panose="02010600030101010101" pitchFamily="2" charset="-122"/>
                <a:sym typeface="Wingdings" panose="05000000000000000000" pitchFamily="2" charset="2"/>
              </a:rPr>
              <a:t>并发调度</a:t>
            </a:r>
            <a:r>
              <a:rPr lang="zh-CN" altLang="en-US" sz="2400" dirty="0">
                <a:latin typeface="华文楷体" panose="02010600040101010101" pitchFamily="2" charset="-122"/>
                <a:ea typeface="宋体" panose="02010600030101010101" pitchFamily="2" charset="-122"/>
                <a:sym typeface="Wingdings" panose="05000000000000000000" pitchFamily="2" charset="2"/>
              </a:rPr>
              <a:t>。</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marL="342900" lvl="0" indent="-342900" eaLnBrk="0" hangingPunct="0">
              <a:lnSpc>
                <a:spcPct val="110000"/>
              </a:lnSpc>
              <a:spcBef>
                <a:spcPct val="50000"/>
              </a:spcBef>
              <a:buClr>
                <a:srgbClr val="0033CC"/>
              </a:buClr>
              <a:buSzPct val="80000"/>
              <a:buFont typeface="Wingdings" panose="05000000000000000000" pitchFamily="2" charset="2"/>
              <a:buChar char="u"/>
            </a:pPr>
            <a:r>
              <a:rPr lang="zh-CN" altLang="en-US" sz="2400" u="sng" dirty="0">
                <a:solidFill>
                  <a:srgbClr val="000099"/>
                </a:solidFill>
                <a:latin typeface="华文楷体" panose="02010600040101010101" pitchFamily="2" charset="-122"/>
                <a:ea typeface="宋体" panose="02010600030101010101" pitchFamily="2" charset="-122"/>
                <a:sym typeface="Wingdings" panose="05000000000000000000" pitchFamily="2" charset="2"/>
              </a:rPr>
              <a:t>调度描述：</a:t>
            </a:r>
            <a:r>
              <a:rPr lang="en-US" altLang="x-none" sz="2400" dirty="0">
                <a:latin typeface="华文楷体" panose="02010600040101010101" pitchFamily="2" charset="-122"/>
                <a:ea typeface="宋体" panose="02010600030101010101" pitchFamily="2" charset="-122"/>
                <a:sym typeface="Wingdings" panose="05000000000000000000" pitchFamily="2" charset="2"/>
              </a:rPr>
              <a:t>S=….R</a:t>
            </a:r>
            <a:r>
              <a:rPr lang="en-US" altLang="x-none" sz="2400" baseline="-25000" dirty="0">
                <a:latin typeface="华文楷体" panose="02010600040101010101" pitchFamily="2" charset="-122"/>
                <a:ea typeface="宋体" panose="02010600030101010101" pitchFamily="2" charset="-122"/>
                <a:sym typeface="Wingdings" panose="05000000000000000000" pitchFamily="2" charset="2"/>
              </a:rPr>
              <a:t>T1</a:t>
            </a:r>
            <a:r>
              <a:rPr lang="en-US" altLang="x-none" sz="2400" dirty="0">
                <a:latin typeface="华文楷体" panose="02010600040101010101" pitchFamily="2" charset="-122"/>
                <a:ea typeface="宋体" panose="02010600030101010101" pitchFamily="2" charset="-122"/>
                <a:sym typeface="Wingdings" panose="05000000000000000000" pitchFamily="2" charset="2"/>
              </a:rPr>
              <a:t>(x)….W</a:t>
            </a:r>
            <a:r>
              <a:rPr lang="en-US" altLang="x-none" sz="2400" baseline="-25000" dirty="0">
                <a:latin typeface="华文楷体" panose="02010600040101010101" pitchFamily="2" charset="-122"/>
                <a:ea typeface="宋体" panose="02010600030101010101" pitchFamily="2" charset="-122"/>
                <a:sym typeface="Wingdings" panose="05000000000000000000" pitchFamily="2" charset="2"/>
              </a:rPr>
              <a:t>T2</a:t>
            </a:r>
            <a:r>
              <a:rPr lang="en-US" altLang="x-none" sz="2400" dirty="0">
                <a:latin typeface="华文楷体" panose="02010600040101010101" pitchFamily="2" charset="-122"/>
                <a:ea typeface="宋体" panose="02010600030101010101" pitchFamily="2" charset="-122"/>
                <a:sym typeface="Wingdings" panose="05000000000000000000" pitchFamily="2" charset="2"/>
              </a:rPr>
              <a:t>(x)…..R</a:t>
            </a:r>
            <a:r>
              <a:rPr lang="en-US" altLang="x-none" sz="2400" baseline="-25000" dirty="0">
                <a:latin typeface="华文楷体" panose="02010600040101010101" pitchFamily="2" charset="-122"/>
                <a:ea typeface="宋体" panose="02010600030101010101" pitchFamily="2" charset="-122"/>
                <a:sym typeface="Wingdings" panose="05000000000000000000" pitchFamily="2" charset="2"/>
              </a:rPr>
              <a:t>T1</a:t>
            </a:r>
            <a:r>
              <a:rPr lang="en-US" altLang="x-none" sz="2400" dirty="0">
                <a:latin typeface="华文楷体" panose="02010600040101010101" pitchFamily="2" charset="-122"/>
                <a:ea typeface="宋体" panose="02010600030101010101" pitchFamily="2" charset="-122"/>
                <a:sym typeface="Wingdings" panose="05000000000000000000" pitchFamily="2" charset="2"/>
              </a:rPr>
              <a:t>(x)…</a:t>
            </a:r>
            <a:endParaRPr lang="en-US" altLang="x-none" sz="2400" dirty="0">
              <a:latin typeface="华文楷体" panose="02010600040101010101" pitchFamily="2" charset="-122"/>
              <a:ea typeface="宋体" panose="02010600030101010101" pitchFamily="2" charset="-122"/>
              <a:sym typeface="Wingdings" panose="05000000000000000000" pitchFamily="2" charset="2"/>
            </a:endParaRPr>
          </a:p>
          <a:p>
            <a:pPr marL="342900" lvl="0" indent="-342900" eaLnBrk="0" hangingPunct="0">
              <a:lnSpc>
                <a:spcPct val="110000"/>
              </a:lnSpc>
              <a:spcBef>
                <a:spcPct val="20000"/>
              </a:spcBef>
              <a:buClr>
                <a:srgbClr val="0033CC"/>
              </a:buClr>
              <a:buSzPct val="80000"/>
            </a:pPr>
            <a:r>
              <a:rPr lang="zh-CN" altLang="en-US" sz="2400" dirty="0">
                <a:latin typeface="华文楷体" panose="02010600040101010101" pitchFamily="2" charset="-122"/>
                <a:ea typeface="宋体" panose="02010600030101010101" pitchFamily="2" charset="-122"/>
              </a:rPr>
              <a:t>例：设事务</a:t>
            </a:r>
            <a:r>
              <a:rPr lang="en-US" altLang="x-none" sz="2400" dirty="0">
                <a:latin typeface="华文楷体" panose="02010600040101010101" pitchFamily="2" charset="-122"/>
                <a:ea typeface="宋体" panose="02010600030101010101" pitchFamily="2" charset="-122"/>
              </a:rPr>
              <a:t>1</a:t>
            </a:r>
            <a:r>
              <a:rPr lang="zh-CN" altLang="en-US" sz="2400" dirty="0">
                <a:latin typeface="华文楷体" panose="02010600040101010101" pitchFamily="2" charset="-122"/>
                <a:ea typeface="宋体" panose="02010600030101010101" pitchFamily="2" charset="-122"/>
              </a:rPr>
              <a:t>中的操作为</a:t>
            </a:r>
            <a:r>
              <a:rPr lang="en-US" altLang="x-none" sz="2400" dirty="0">
                <a:latin typeface="华文楷体" panose="02010600040101010101" pitchFamily="2" charset="-122"/>
                <a:ea typeface="宋体" panose="02010600030101010101" pitchFamily="2" charset="-122"/>
              </a:rPr>
              <a:t>ABC</a:t>
            </a:r>
            <a:r>
              <a:rPr lang="zh-CN" altLang="en-US" sz="2400" dirty="0">
                <a:latin typeface="华文楷体" panose="02010600040101010101" pitchFamily="2" charset="-122"/>
                <a:ea typeface="宋体" panose="02010600030101010101" pitchFamily="2" charset="-122"/>
              </a:rPr>
              <a:t>，事务</a:t>
            </a:r>
            <a:r>
              <a:rPr lang="en-US" altLang="x-none" sz="2400" dirty="0">
                <a:latin typeface="华文楷体" panose="02010600040101010101" pitchFamily="2" charset="-122"/>
                <a:ea typeface="宋体" panose="02010600030101010101" pitchFamily="2" charset="-122"/>
              </a:rPr>
              <a:t>2</a:t>
            </a:r>
            <a:r>
              <a:rPr lang="zh-CN" altLang="en-US" sz="2400" dirty="0">
                <a:latin typeface="华文楷体" panose="02010600040101010101" pitchFamily="2" charset="-122"/>
                <a:ea typeface="宋体" panose="02010600030101010101" pitchFamily="2" charset="-122"/>
              </a:rPr>
              <a:t>为</a:t>
            </a:r>
            <a:r>
              <a:rPr lang="en-US" altLang="x-none" sz="2400" dirty="0">
                <a:latin typeface="华文楷体" panose="02010600040101010101" pitchFamily="2" charset="-122"/>
                <a:ea typeface="宋体" panose="02010600030101010101" pitchFamily="2" charset="-122"/>
              </a:rPr>
              <a:t>PQR</a:t>
            </a:r>
            <a:r>
              <a:rPr lang="zh-CN" altLang="en-US" sz="2400" dirty="0">
                <a:latin typeface="华文楷体" panose="02010600040101010101" pitchFamily="2" charset="-122"/>
                <a:ea typeface="宋体" panose="02010600030101010101" pitchFamily="2" charset="-122"/>
              </a:rPr>
              <a:t>，</a:t>
            </a:r>
            <a:endParaRPr lang="zh-CN" altLang="en-US" sz="2400" dirty="0">
              <a:latin typeface="华文楷体" panose="02010600040101010101" pitchFamily="2" charset="-122"/>
              <a:ea typeface="宋体" panose="02010600030101010101" pitchFamily="2" charset="-122"/>
            </a:endParaRPr>
          </a:p>
          <a:p>
            <a:pPr marL="342900" lvl="0" indent="-342900" eaLnBrk="0" hangingPunct="0">
              <a:lnSpc>
                <a:spcPct val="110000"/>
              </a:lnSpc>
              <a:spcBef>
                <a:spcPct val="20000"/>
              </a:spcBef>
              <a:buClr>
                <a:srgbClr val="0033CC"/>
              </a:buClr>
              <a:buSzPct val="80000"/>
            </a:pPr>
            <a:r>
              <a:rPr lang="zh-CN" altLang="en-US" sz="2400" dirty="0">
                <a:latin typeface="华文楷体" panose="02010600040101010101" pitchFamily="2" charset="-122"/>
                <a:ea typeface="宋体" panose="02010600030101010101" pitchFamily="2" charset="-122"/>
              </a:rPr>
              <a:t>    </a:t>
            </a:r>
            <a:r>
              <a:rPr lang="zh-CN" altLang="en-US" sz="2400" dirty="0">
                <a:solidFill>
                  <a:srgbClr val="CC0000"/>
                </a:solidFill>
                <a:latin typeface="华文楷体" panose="02010600040101010101" pitchFamily="2" charset="-122"/>
                <a:ea typeface="宋体" panose="02010600030101010101" pitchFamily="2" charset="-122"/>
              </a:rPr>
              <a:t>则</a:t>
            </a:r>
            <a:r>
              <a:rPr lang="en-US" altLang="x-none" sz="2400" dirty="0">
                <a:solidFill>
                  <a:srgbClr val="CC0000"/>
                </a:solidFill>
                <a:latin typeface="华文楷体" panose="02010600040101010101" pitchFamily="2" charset="-122"/>
                <a:ea typeface="宋体" panose="02010600030101010101" pitchFamily="2" charset="-122"/>
              </a:rPr>
              <a:t>ABCPQR </a:t>
            </a:r>
            <a:r>
              <a:rPr lang="zh-CN" altLang="en-US" sz="2400" dirty="0">
                <a:solidFill>
                  <a:srgbClr val="CC0000"/>
                </a:solidFill>
                <a:latin typeface="华文楷体" panose="02010600040101010101" pitchFamily="2" charset="-122"/>
                <a:ea typeface="宋体" panose="02010600030101010101" pitchFamily="2" charset="-122"/>
              </a:rPr>
              <a:t>和 </a:t>
            </a:r>
            <a:r>
              <a:rPr lang="en-US" altLang="x-none" sz="2400" dirty="0">
                <a:solidFill>
                  <a:srgbClr val="CC0000"/>
                </a:solidFill>
                <a:latin typeface="华文楷体" panose="02010600040101010101" pitchFamily="2" charset="-122"/>
                <a:ea typeface="宋体" panose="02010600030101010101" pitchFamily="2" charset="-122"/>
              </a:rPr>
              <a:t>PQRABC </a:t>
            </a:r>
            <a:r>
              <a:rPr lang="zh-CN" altLang="en-US" sz="2400" dirty="0">
                <a:solidFill>
                  <a:srgbClr val="CC0000"/>
                </a:solidFill>
                <a:latin typeface="华文楷体" panose="02010600040101010101" pitchFamily="2" charset="-122"/>
                <a:ea typeface="宋体" panose="02010600030101010101" pitchFamily="2" charset="-122"/>
              </a:rPr>
              <a:t>都是串行调度；</a:t>
            </a:r>
            <a:endParaRPr lang="zh-CN" altLang="en-US" sz="2400" dirty="0">
              <a:solidFill>
                <a:srgbClr val="CC0000"/>
              </a:solidFill>
              <a:latin typeface="华文楷体" panose="02010600040101010101" pitchFamily="2" charset="-122"/>
              <a:ea typeface="宋体" panose="02010600030101010101" pitchFamily="2" charset="-122"/>
            </a:endParaRPr>
          </a:p>
          <a:p>
            <a:pPr marL="342900" lvl="0" indent="-342900" eaLnBrk="0" hangingPunct="0">
              <a:lnSpc>
                <a:spcPct val="110000"/>
              </a:lnSpc>
              <a:spcBef>
                <a:spcPct val="20000"/>
              </a:spcBef>
              <a:buClr>
                <a:srgbClr val="0033CC"/>
              </a:buClr>
              <a:buSzPct val="80000"/>
            </a:pPr>
            <a:r>
              <a:rPr lang="zh-CN" altLang="en-US" sz="2400" dirty="0">
                <a:solidFill>
                  <a:srgbClr val="CC0000"/>
                </a:solidFill>
                <a:latin typeface="华文楷体" panose="02010600040101010101" pitchFamily="2" charset="-122"/>
                <a:ea typeface="宋体" panose="02010600030101010101" pitchFamily="2" charset="-122"/>
              </a:rPr>
              <a:t>    </a:t>
            </a:r>
            <a:r>
              <a:rPr lang="en-US" altLang="x-none" sz="2400" dirty="0">
                <a:solidFill>
                  <a:srgbClr val="CC0000"/>
                </a:solidFill>
                <a:latin typeface="华文楷体" panose="02010600040101010101" pitchFamily="2" charset="-122"/>
                <a:ea typeface="宋体" panose="02010600030101010101" pitchFamily="2" charset="-122"/>
              </a:rPr>
              <a:t>ABPCPQ  </a:t>
            </a:r>
            <a:r>
              <a:rPr lang="zh-CN" altLang="en-US" sz="2400" dirty="0">
                <a:solidFill>
                  <a:srgbClr val="CC0000"/>
                </a:solidFill>
                <a:latin typeface="华文楷体" panose="02010600040101010101" pitchFamily="2" charset="-122"/>
                <a:ea typeface="宋体" panose="02010600030101010101" pitchFamily="2" charset="-122"/>
              </a:rPr>
              <a:t>和 </a:t>
            </a:r>
            <a:r>
              <a:rPr lang="en-US" altLang="x-none" sz="2400" dirty="0">
                <a:solidFill>
                  <a:srgbClr val="CC0000"/>
                </a:solidFill>
                <a:latin typeface="华文楷体" panose="02010600040101010101" pitchFamily="2" charset="-122"/>
                <a:ea typeface="宋体" panose="02010600030101010101" pitchFamily="2" charset="-122"/>
              </a:rPr>
              <a:t>PAQBCR </a:t>
            </a:r>
            <a:r>
              <a:rPr lang="zh-CN" altLang="en-US" sz="2400" dirty="0">
                <a:solidFill>
                  <a:srgbClr val="CC0000"/>
                </a:solidFill>
                <a:latin typeface="华文楷体" panose="02010600040101010101" pitchFamily="2" charset="-122"/>
                <a:ea typeface="宋体" panose="02010600030101010101" pitchFamily="2" charset="-122"/>
              </a:rPr>
              <a:t>都是并发调度；</a:t>
            </a:r>
            <a:endParaRPr lang="zh-CN" altLang="en-US" sz="2400" dirty="0">
              <a:solidFill>
                <a:srgbClr val="CC0000"/>
              </a:solidFill>
              <a:latin typeface="华文楷体" panose="02010600040101010101" pitchFamily="2" charset="-122"/>
              <a:ea typeface="宋体" panose="02010600030101010101" pitchFamily="2" charset="-122"/>
            </a:endParaRPr>
          </a:p>
          <a:p>
            <a:pPr marL="342900" lvl="0" indent="-342900" eaLnBrk="0" hangingPunct="0">
              <a:lnSpc>
                <a:spcPct val="110000"/>
              </a:lnSpc>
              <a:spcBef>
                <a:spcPct val="20000"/>
              </a:spcBef>
              <a:buClr>
                <a:srgbClr val="0033CC"/>
              </a:buClr>
              <a:buSzPct val="80000"/>
            </a:pPr>
            <a:r>
              <a:rPr lang="zh-CN" altLang="en-US" sz="2400" dirty="0">
                <a:solidFill>
                  <a:srgbClr val="CC0000"/>
                </a:solidFill>
                <a:latin typeface="华文楷体" panose="02010600040101010101" pitchFamily="2" charset="-122"/>
                <a:ea typeface="宋体" panose="02010600030101010101" pitchFamily="2" charset="-122"/>
              </a:rPr>
              <a:t>    </a:t>
            </a:r>
            <a:r>
              <a:rPr lang="en-US" altLang="x-none" sz="2400" dirty="0">
                <a:solidFill>
                  <a:srgbClr val="CC0000"/>
                </a:solidFill>
                <a:latin typeface="华文楷体" panose="02010600040101010101" pitchFamily="2" charset="-122"/>
                <a:ea typeface="宋体" panose="02010600030101010101" pitchFamily="2" charset="-122"/>
              </a:rPr>
              <a:t>ACPBQR  </a:t>
            </a:r>
            <a:r>
              <a:rPr lang="zh-CN" altLang="en-US" sz="2400" dirty="0">
                <a:solidFill>
                  <a:srgbClr val="CC0000"/>
                </a:solidFill>
                <a:latin typeface="华文楷体" panose="02010600040101010101" pitchFamily="2" charset="-122"/>
                <a:ea typeface="宋体" panose="02010600030101010101" pitchFamily="2" charset="-122"/>
              </a:rPr>
              <a:t>和 </a:t>
            </a:r>
            <a:r>
              <a:rPr lang="en-US" altLang="x-none" sz="2400" dirty="0">
                <a:solidFill>
                  <a:srgbClr val="CC0000"/>
                </a:solidFill>
                <a:latin typeface="华文楷体" panose="02010600040101010101" pitchFamily="2" charset="-122"/>
                <a:ea typeface="宋体" panose="02010600030101010101" pitchFamily="2" charset="-122"/>
              </a:rPr>
              <a:t>PABCRQ </a:t>
            </a:r>
            <a:r>
              <a:rPr lang="zh-CN" altLang="en-US" sz="2400" dirty="0">
                <a:solidFill>
                  <a:srgbClr val="CC0000"/>
                </a:solidFill>
                <a:latin typeface="华文楷体" panose="02010600040101010101" pitchFamily="2" charset="-122"/>
                <a:ea typeface="宋体" panose="02010600030101010101" pitchFamily="2" charset="-122"/>
              </a:rPr>
              <a:t>都不是调度。</a:t>
            </a:r>
            <a:endParaRPr lang="zh-CN" altLang="en-US" sz="2400" dirty="0">
              <a:solidFill>
                <a:srgbClr val="CC0000"/>
              </a:solidFill>
              <a:latin typeface="华文楷体" panose="02010600040101010101" pitchFamily="2" charset="-122"/>
              <a:ea typeface="宋体" panose="02010600030101010101" pitchFamily="2" charset="-122"/>
            </a:endParaRPr>
          </a:p>
          <a:p>
            <a:pPr marL="342900" lvl="0" indent="-342900" eaLnBrk="0" hangingPunct="0">
              <a:lnSpc>
                <a:spcPct val="110000"/>
              </a:lnSpc>
              <a:spcBef>
                <a:spcPct val="200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如果事物的程序正确，串行调度运行的结果总是正确的。</a:t>
            </a:r>
            <a:endParaRPr lang="zh-CN" altLang="en-US" sz="2400" dirty="0">
              <a:latin typeface="华文楷体" panose="02010600040101010101" pitchFamily="2" charset="-122"/>
              <a:ea typeface="宋体" panose="02010600030101010101" pitchFamily="2" charset="-122"/>
            </a:endParaRPr>
          </a:p>
          <a:p>
            <a:pPr marL="342900" lvl="0" indent="-342900" eaLnBrk="0" hangingPunct="0">
              <a:lnSpc>
                <a:spcPct val="110000"/>
              </a:lnSpc>
              <a:spcBef>
                <a:spcPct val="200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希望并发调度也能获得正确结果。</a:t>
            </a:r>
            <a:endParaRPr lang="zh-CN" altLang="en-US" sz="2400" dirty="0">
              <a:latin typeface="华文楷体" panose="02010600040101010101" pitchFamily="2" charset="-122"/>
              <a:ea typeface="宋体" panose="02010600030101010101" pitchFamily="2" charset="-122"/>
            </a:endParaRPr>
          </a:p>
        </p:txBody>
      </p:sp>
      <p:sp>
        <p:nvSpPr>
          <p:cNvPr id="97283"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五、数据库系统中的并发</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97284" name="Rectangle 3"/>
          <p:cNvSpPr txBox="1"/>
          <p:nvPr/>
        </p:nvSpPr>
        <p:spPr>
          <a:xfrm>
            <a:off x="6537325" y="808038"/>
            <a:ext cx="2195513" cy="706437"/>
          </a:xfrm>
          <a:prstGeom prst="rect">
            <a:avLst/>
          </a:prstGeom>
          <a:noFill/>
          <a:ln w="9525">
            <a:noFill/>
          </a:ln>
        </p:spPr>
        <p:txBody>
          <a:bodyPr anchor="t"/>
          <a:lstStyle/>
          <a:p>
            <a:pPr lvl="0" indent="0" eaLnBrk="0" hangingPunct="0">
              <a:buFont typeface="Wingdings" panose="05000000000000000000" pitchFamily="2" charset="2"/>
              <a:buChar char="p"/>
            </a:pPr>
            <a:r>
              <a:rPr lang="zh-CN" altLang="en-US" sz="2800" dirty="0">
                <a:solidFill>
                  <a:srgbClr val="000099"/>
                </a:solidFill>
                <a:latin typeface="黑体" panose="02010609060101010101" pitchFamily="1" charset="-122"/>
                <a:ea typeface="黑体" panose="02010609060101010101" pitchFamily="1" charset="-122"/>
              </a:rPr>
              <a:t>事务调度</a:t>
            </a:r>
            <a:endParaRPr lang="en-US" altLang="x-none" sz="2800" dirty="0">
              <a:solidFill>
                <a:srgbClr val="000099"/>
              </a:solidFill>
              <a:latin typeface="黑体" panose="02010609060101010101" pitchFamily="1" charset="-122"/>
              <a:ea typeface="黑体" panose="02010609060101010101" pitchFamily="1" charset="-122"/>
            </a:endParaRPr>
          </a:p>
        </p:txBody>
      </p:sp>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五、数据库系统中的并发</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103427" name="Text Box 3"/>
          <p:cNvSpPr txBox="1"/>
          <p:nvPr/>
        </p:nvSpPr>
        <p:spPr>
          <a:xfrm>
            <a:off x="406400" y="1466850"/>
            <a:ext cx="8772525" cy="4487863"/>
          </a:xfrm>
          <a:prstGeom prst="rect">
            <a:avLst/>
          </a:prstGeom>
          <a:noFill/>
          <a:ln w="9525">
            <a:noFill/>
          </a:ln>
        </p:spPr>
        <p:txBody>
          <a:bodyPr wrap="square" anchor="t">
            <a:spAutoFit/>
          </a:bodyPr>
          <a:lstStyle/>
          <a:p>
            <a:pPr lvl="0" indent="0">
              <a:spcBef>
                <a:spcPts val="300"/>
              </a:spcBef>
              <a:buClr>
                <a:srgbClr val="0000CC"/>
              </a:buClr>
              <a:buFont typeface="Wingdings" panose="05000000000000000000" pitchFamily="2" charset="2"/>
              <a:buChar char="p"/>
            </a:pPr>
            <a:r>
              <a:rPr lang="zh-CN" altLang="en-US" sz="2400" u="sng" dirty="0">
                <a:solidFill>
                  <a:srgbClr val="000099"/>
                </a:solidFill>
                <a:latin typeface="华文楷体" panose="02010600040101010101" pitchFamily="2" charset="-122"/>
                <a:ea typeface="华文楷体" panose="02010600040101010101" pitchFamily="2" charset="-122"/>
                <a:sym typeface="Wingdings" panose="05000000000000000000" pitchFamily="2" charset="2"/>
              </a:rPr>
              <a:t>并发原则：</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既要交错执行，以充分利用系统资源、加快短事务响应时间；又要避免访问冲突。</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a:p>
            <a:pPr lvl="0" indent="0">
              <a:spcBef>
                <a:spcPts val="300"/>
              </a:spcBef>
              <a:buClr>
                <a:srgbClr val="0000CC"/>
              </a:buClr>
              <a:buFont typeface="Wingdings" panose="05000000000000000000" pitchFamily="2" charset="2"/>
              <a:buChar char="p"/>
            </a:pPr>
            <a:r>
              <a:rPr lang="zh-CN" altLang="en-US" sz="2400" u="sng" dirty="0">
                <a:solidFill>
                  <a:srgbClr val="000099"/>
                </a:solidFill>
                <a:latin typeface="华文楷体" panose="02010600040101010101" pitchFamily="2" charset="-122"/>
                <a:ea typeface="华文楷体" panose="02010600040101010101" pitchFamily="2" charset="-122"/>
                <a:sym typeface="Wingdings" panose="05000000000000000000" pitchFamily="2" charset="2"/>
              </a:rPr>
              <a:t>事务调度原则：</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调度中，不同事务的操作可以交叉，但需保持各个事务的操作次序。</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a:p>
            <a:pPr lvl="0" indent="0">
              <a:spcBef>
                <a:spcPts val="300"/>
              </a:spcBef>
            </a:pPr>
            <a:r>
              <a:rPr lang="en-US" altLang="x-none"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需要建立能保证与串行调度具有相同效果的控制方法，那么如何形成并发调度才与串行调度等效？</a:t>
            </a:r>
            <a:r>
              <a:rPr lang="zh-CN" altLang="en-US" sz="3600" dirty="0">
                <a:latin typeface="华文楷体" panose="02010600040101010101" pitchFamily="2" charset="-122"/>
                <a:ea typeface="华文楷体" panose="02010600040101010101" pitchFamily="2" charset="-122"/>
                <a:sym typeface="Wingdings" panose="05000000000000000000" pitchFamily="2" charset="2"/>
              </a:rPr>
              <a:t> </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可用“</a:t>
            </a:r>
            <a:r>
              <a:rPr lang="zh-CN" altLang="en-US" sz="2400" dirty="0">
                <a:solidFill>
                  <a:srgbClr val="CC0000"/>
                </a:solidFill>
                <a:latin typeface="华文楷体" panose="02010600040101010101" pitchFamily="2" charset="-122"/>
                <a:ea typeface="华文楷体" panose="02010600040101010101" pitchFamily="2" charset="-122"/>
                <a:sym typeface="Wingdings" panose="05000000000000000000" pitchFamily="2" charset="2"/>
              </a:rPr>
              <a:t>并发调度的可串行化</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 来解决。</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a:p>
            <a:pPr lvl="0" indent="0">
              <a:spcBef>
                <a:spcPts val="300"/>
              </a:spcBef>
              <a:buClr>
                <a:srgbClr val="0000CC"/>
              </a:buClr>
              <a:buFont typeface="Wingdings" panose="05000000000000000000" pitchFamily="2" charset="2"/>
              <a:buChar char="p"/>
            </a:pPr>
            <a:r>
              <a:rPr lang="zh-CN" altLang="en-US" sz="2400" u="sng" dirty="0">
                <a:solidFill>
                  <a:srgbClr val="000099"/>
                </a:solidFill>
                <a:latin typeface="华文楷体" panose="02010600040101010101" pitchFamily="2" charset="-122"/>
                <a:ea typeface="华文楷体" panose="02010600040101010101" pitchFamily="2" charset="-122"/>
              </a:rPr>
              <a:t>可串行化理论有两个要点：</a:t>
            </a:r>
            <a:endParaRPr lang="zh-CN" altLang="en-US" sz="2400" u="sng" dirty="0">
              <a:solidFill>
                <a:srgbClr val="000099"/>
              </a:solidFill>
              <a:latin typeface="华文楷体" panose="02010600040101010101" pitchFamily="2" charset="-122"/>
              <a:ea typeface="华文楷体" panose="02010600040101010101" pitchFamily="2" charset="-122"/>
            </a:endParaRPr>
          </a:p>
          <a:p>
            <a:pPr lvl="1" indent="0">
              <a:spcBef>
                <a:spcPts val="300"/>
              </a:spcBef>
              <a:buClr>
                <a:srgbClr val="0000CC"/>
              </a:buClr>
              <a:buFont typeface="Wingdings" panose="05000000000000000000" pitchFamily="2" charset="2"/>
              <a:buChar char="ü"/>
            </a:pPr>
            <a:r>
              <a:rPr lang="zh-CN" altLang="en-US" sz="2400" dirty="0">
                <a:latin typeface="华文楷体" panose="02010600040101010101" pitchFamily="2" charset="-122"/>
                <a:ea typeface="华文楷体" panose="02010600040101010101" pitchFamily="2" charset="-122"/>
              </a:rPr>
              <a:t>它主要关心对数据库对象的读写操作，即</a:t>
            </a:r>
            <a:r>
              <a:rPr lang="en-US" altLang="x-none" sz="2400" dirty="0">
                <a:latin typeface="华文楷体" panose="02010600040101010101" pitchFamily="2" charset="-122"/>
                <a:ea typeface="华文楷体" panose="02010600040101010101" pitchFamily="2" charset="-122"/>
              </a:rPr>
              <a:t>read</a:t>
            </a:r>
            <a:r>
              <a:rPr lang="zh-CN" altLang="en-US" sz="2400" dirty="0">
                <a:latin typeface="华文楷体" panose="02010600040101010101" pitchFamily="2" charset="-122"/>
                <a:ea typeface="华文楷体" panose="02010600040101010101" pitchFamily="2" charset="-122"/>
              </a:rPr>
              <a:t>和</a:t>
            </a:r>
            <a:r>
              <a:rPr lang="en-US" altLang="x-none" sz="2400" dirty="0">
                <a:latin typeface="华文楷体" panose="02010600040101010101" pitchFamily="2" charset="-122"/>
                <a:ea typeface="华文楷体" panose="02010600040101010101" pitchFamily="2" charset="-122"/>
              </a:rPr>
              <a:t>write</a:t>
            </a:r>
            <a:r>
              <a:rPr lang="zh-CN" altLang="en-US" sz="2400" dirty="0">
                <a:latin typeface="华文楷体" panose="02010600040101010101" pitchFamily="2" charset="-122"/>
                <a:ea typeface="华文楷体" panose="02010600040101010101" pitchFamily="2" charset="-122"/>
              </a:rPr>
              <a:t>操作；</a:t>
            </a:r>
            <a:endParaRPr lang="zh-CN" altLang="en-US" sz="2400" dirty="0">
              <a:latin typeface="华文楷体" panose="02010600040101010101" pitchFamily="2" charset="-122"/>
              <a:ea typeface="华文楷体" panose="02010600040101010101" pitchFamily="2" charset="-122"/>
            </a:endParaRPr>
          </a:p>
          <a:p>
            <a:pPr lvl="1" indent="0">
              <a:spcBef>
                <a:spcPts val="300"/>
              </a:spcBef>
              <a:buClr>
                <a:srgbClr val="0000CC"/>
              </a:buClr>
              <a:buFont typeface="Wingdings" panose="05000000000000000000" pitchFamily="2" charset="2"/>
              <a:buChar char="ü"/>
            </a:pPr>
            <a:r>
              <a:rPr lang="zh-CN" altLang="en-US" sz="2400" dirty="0">
                <a:latin typeface="华文楷体" panose="02010600040101010101" pitchFamily="2" charset="-122"/>
                <a:ea typeface="华文楷体" panose="02010600040101010101" pitchFamily="2" charset="-122"/>
              </a:rPr>
              <a:t>它的目的是研究如何形成一个可串行的并发调度，即‘等价’于一个串行调度的并发调度。</a:t>
            </a:r>
            <a:r>
              <a:rPr lang="zh-CN" altLang="en-US" sz="2400" dirty="0">
                <a:solidFill>
                  <a:srgbClr val="0000CC"/>
                </a:solidFill>
                <a:latin typeface="华文楷体" panose="02010600040101010101" pitchFamily="2" charset="-122"/>
                <a:ea typeface="华文楷体" panose="02010600040101010101" pitchFamily="2" charset="-122"/>
              </a:rPr>
              <a:t> </a:t>
            </a:r>
            <a:endParaRPr lang="zh-CN" altLang="en-US" sz="2400" dirty="0">
              <a:solidFill>
                <a:srgbClr val="0000CC"/>
              </a:solidFill>
              <a:latin typeface="华文楷体" panose="02010600040101010101" pitchFamily="2" charset="-122"/>
              <a:ea typeface="华文楷体" panose="02010600040101010101" pitchFamily="2" charset="-122"/>
              <a:sym typeface="Wingdings" panose="05000000000000000000" pitchFamily="2" charset="2"/>
            </a:endParaRPr>
          </a:p>
        </p:txBody>
      </p:sp>
      <p:sp>
        <p:nvSpPr>
          <p:cNvPr id="99331" name="Rectangle 3"/>
          <p:cNvSpPr txBox="1"/>
          <p:nvPr/>
        </p:nvSpPr>
        <p:spPr>
          <a:xfrm>
            <a:off x="6537325" y="808038"/>
            <a:ext cx="2195513" cy="706437"/>
          </a:xfrm>
          <a:prstGeom prst="rect">
            <a:avLst/>
          </a:prstGeom>
          <a:noFill/>
          <a:ln w="9525">
            <a:noFill/>
          </a:ln>
        </p:spPr>
        <p:txBody>
          <a:bodyPr anchor="t"/>
          <a:lstStyle/>
          <a:p>
            <a:pPr lvl="0" indent="0" eaLnBrk="0" hangingPunct="0">
              <a:buFont typeface="Wingdings" panose="05000000000000000000" pitchFamily="2" charset="2"/>
              <a:buChar char="p"/>
            </a:pPr>
            <a:r>
              <a:rPr lang="zh-CN" altLang="en-US" sz="2800" dirty="0">
                <a:solidFill>
                  <a:srgbClr val="000099"/>
                </a:solidFill>
                <a:latin typeface="黑体" panose="02010609060101010101" pitchFamily="1" charset="-122"/>
                <a:ea typeface="黑体" panose="02010609060101010101" pitchFamily="1" charset="-122"/>
              </a:rPr>
              <a:t>事务调度</a:t>
            </a:r>
            <a:endParaRPr lang="en-US" altLang="x-none" sz="2800" dirty="0">
              <a:solidFill>
                <a:srgbClr val="000099"/>
              </a:solidFill>
              <a:latin typeface="黑体" panose="02010609060101010101" pitchFamily="1" charset="-122"/>
              <a:ea typeface="黑体" panose="02010609060101010101" pitchFamily="1" charset="-122"/>
            </a:endParaRPr>
          </a:p>
        </p:txBody>
      </p:sp>
      <p:sp>
        <p:nvSpPr>
          <p:cNvPr id="99332" name="Rectangle 3"/>
          <p:cNvSpPr txBox="1"/>
          <p:nvPr/>
        </p:nvSpPr>
        <p:spPr>
          <a:xfrm>
            <a:off x="517525" y="854075"/>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3</a:t>
            </a:r>
            <a:r>
              <a:rPr lang="zh-CN" altLang="en-US" sz="2800" dirty="0">
                <a:solidFill>
                  <a:srgbClr val="FF0000"/>
                </a:solidFill>
                <a:latin typeface="黑体" panose="02010609060101010101" pitchFamily="1" charset="-122"/>
                <a:ea typeface="黑体" panose="02010609060101010101" pitchFamily="1" charset="-122"/>
              </a:rPr>
              <a:t>、并发执行的正确性准则</a:t>
            </a:r>
            <a:endParaRPr lang="en-US" altLang="x-none" sz="2800" dirty="0">
              <a:solidFill>
                <a:srgbClr val="FF0000"/>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3427"/>
                                        </p:tgtEl>
                                        <p:attrNameLst>
                                          <p:attrName>style.visibility</p:attrName>
                                        </p:attrNameLst>
                                      </p:cBhvr>
                                      <p:to>
                                        <p:strVal val="visible"/>
                                      </p:to>
                                    </p:set>
                                    <p:anim calcmode="lin" valueType="num">
                                      <p:cBhvr>
                                        <p:cTn id="7" dur="500" fill="hold"/>
                                        <p:tgtEl>
                                          <p:spTgt spid="103427"/>
                                        </p:tgtEl>
                                        <p:attrNameLst>
                                          <p:attrName>ppt_x</p:attrName>
                                        </p:attrNameLst>
                                      </p:cBhvr>
                                      <p:tavLst>
                                        <p:tav tm="0">
                                          <p:val>
                                            <p:strVal val="#ppt_x"/>
                                          </p:val>
                                        </p:tav>
                                        <p:tav tm="100000">
                                          <p:val>
                                            <p:strVal val="#ppt_x"/>
                                          </p:val>
                                        </p:tav>
                                      </p:tavLst>
                                    </p:anim>
                                    <p:anim calcmode="lin" valueType="num">
                                      <p:cBhvr>
                                        <p:cTn id="8" dur="500" fill="hold"/>
                                        <p:tgtEl>
                                          <p:spTgt spid="1034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7"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4"/>
          <p:cNvSpPr txBox="1"/>
          <p:nvPr/>
        </p:nvSpPr>
        <p:spPr>
          <a:xfrm>
            <a:off x="555625" y="1404938"/>
            <a:ext cx="8137525" cy="4568825"/>
          </a:xfrm>
          <a:prstGeom prst="rect">
            <a:avLst/>
          </a:prstGeom>
          <a:noFill/>
          <a:ln w="9525">
            <a:noFill/>
          </a:ln>
        </p:spPr>
        <p:txBody>
          <a:bodyPr anchor="t"/>
          <a:lstStyle/>
          <a:p>
            <a:pPr lvl="0" indent="0" eaLnBrk="0" hangingPunct="0">
              <a:spcBef>
                <a:spcPct val="200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sym typeface="Wingdings" panose="05000000000000000000" pitchFamily="2" charset="2"/>
              </a:rPr>
              <a:t>对同一事务集，可能有多种调度。如有两个调度</a:t>
            </a:r>
            <a:r>
              <a:rPr lang="en-US" altLang="x-none" sz="2400" dirty="0">
                <a:latin typeface="华文楷体" panose="02010600040101010101" pitchFamily="2" charset="-122"/>
                <a:ea typeface="宋体" panose="02010600030101010101" pitchFamily="2" charset="-122"/>
                <a:sym typeface="Wingdings" panose="05000000000000000000" pitchFamily="2" charset="2"/>
              </a:rPr>
              <a:t>S1</a:t>
            </a:r>
            <a:r>
              <a:rPr lang="zh-CN" altLang="en-US" sz="2400" dirty="0">
                <a:latin typeface="华文楷体" panose="02010600040101010101" pitchFamily="2" charset="-122"/>
                <a:ea typeface="宋体" panose="02010600030101010101" pitchFamily="2" charset="-122"/>
                <a:sym typeface="Wingdings" panose="05000000000000000000" pitchFamily="2" charset="2"/>
              </a:rPr>
              <a:t>和</a:t>
            </a:r>
            <a:r>
              <a:rPr lang="en-US" altLang="x-none" sz="2400" dirty="0">
                <a:latin typeface="华文楷体" panose="02010600040101010101" pitchFamily="2" charset="-122"/>
                <a:ea typeface="宋体" panose="02010600030101010101" pitchFamily="2" charset="-122"/>
                <a:sym typeface="Wingdings" panose="05000000000000000000" pitchFamily="2" charset="2"/>
              </a:rPr>
              <a:t>S2</a:t>
            </a:r>
            <a:r>
              <a:rPr lang="zh-CN" altLang="en-US" sz="2400" dirty="0">
                <a:latin typeface="华文楷体" panose="02010600040101010101" pitchFamily="2" charset="-122"/>
                <a:ea typeface="宋体" panose="02010600030101010101" pitchFamily="2" charset="-122"/>
                <a:sym typeface="Wingdings" panose="05000000000000000000" pitchFamily="2" charset="2"/>
              </a:rPr>
              <a:t>，在</a:t>
            </a:r>
            <a:r>
              <a:rPr lang="en-US" altLang="x-none" sz="2400" dirty="0">
                <a:latin typeface="华文楷体" panose="02010600040101010101" pitchFamily="2" charset="-122"/>
                <a:ea typeface="宋体" panose="02010600030101010101" pitchFamily="2" charset="-122"/>
                <a:sym typeface="Wingdings" panose="05000000000000000000" pitchFamily="2" charset="2"/>
              </a:rPr>
              <a:t>DB</a:t>
            </a:r>
            <a:r>
              <a:rPr lang="zh-CN" altLang="en-US" sz="2400" dirty="0">
                <a:latin typeface="华文楷体" panose="02010600040101010101" pitchFamily="2" charset="-122"/>
                <a:ea typeface="宋体" panose="02010600030101010101" pitchFamily="2" charset="-122"/>
                <a:sym typeface="Wingdings" panose="05000000000000000000" pitchFamily="2" charset="2"/>
              </a:rPr>
              <a:t>的任一初始状态下，所有读出的数据都是一样的，留给</a:t>
            </a:r>
            <a:r>
              <a:rPr lang="en-US" altLang="x-none" sz="2400" dirty="0">
                <a:latin typeface="华文楷体" panose="02010600040101010101" pitchFamily="2" charset="-122"/>
                <a:ea typeface="宋体" panose="02010600030101010101" pitchFamily="2" charset="-122"/>
                <a:sym typeface="Wingdings" panose="05000000000000000000" pitchFamily="2" charset="2"/>
              </a:rPr>
              <a:t>DB</a:t>
            </a:r>
            <a:r>
              <a:rPr lang="zh-CN" altLang="en-US" sz="2400" dirty="0">
                <a:latin typeface="华文楷体" panose="02010600040101010101" pitchFamily="2" charset="-122"/>
                <a:ea typeface="宋体" panose="02010600030101010101" pitchFamily="2" charset="-122"/>
                <a:sym typeface="Wingdings" panose="05000000000000000000" pitchFamily="2" charset="2"/>
              </a:rPr>
              <a:t>的最终状态也是一样的，则称</a:t>
            </a:r>
            <a:r>
              <a:rPr lang="en-US" altLang="x-none" sz="2400" dirty="0">
                <a:latin typeface="华文楷体" panose="02010600040101010101" pitchFamily="2" charset="-122"/>
                <a:ea typeface="宋体" panose="02010600030101010101" pitchFamily="2" charset="-122"/>
                <a:sym typeface="Wingdings" panose="05000000000000000000" pitchFamily="2" charset="2"/>
              </a:rPr>
              <a:t>S1</a:t>
            </a:r>
            <a:r>
              <a:rPr lang="zh-CN" altLang="en-US" sz="2400" dirty="0">
                <a:latin typeface="华文楷体" panose="02010600040101010101" pitchFamily="2" charset="-122"/>
                <a:ea typeface="宋体" panose="02010600030101010101" pitchFamily="2" charset="-122"/>
                <a:sym typeface="Wingdings" panose="05000000000000000000" pitchFamily="2" charset="2"/>
              </a:rPr>
              <a:t>和</a:t>
            </a:r>
            <a:r>
              <a:rPr lang="en-US" altLang="x-none" sz="2400" dirty="0">
                <a:latin typeface="华文楷体" panose="02010600040101010101" pitchFamily="2" charset="-122"/>
                <a:ea typeface="宋体" panose="02010600030101010101" pitchFamily="2" charset="-122"/>
                <a:sym typeface="Wingdings" panose="05000000000000000000" pitchFamily="2" charset="2"/>
              </a:rPr>
              <a:t>S2</a:t>
            </a:r>
            <a:r>
              <a:rPr lang="zh-CN" altLang="en-US" sz="2400" dirty="0">
                <a:latin typeface="华文楷体" panose="02010600040101010101" pitchFamily="2" charset="-122"/>
                <a:ea typeface="宋体" panose="02010600030101010101" pitchFamily="2" charset="-122"/>
                <a:sym typeface="Wingdings" panose="05000000000000000000" pitchFamily="2" charset="2"/>
              </a:rPr>
              <a:t>是</a:t>
            </a:r>
            <a:r>
              <a:rPr lang="zh-CN" altLang="en-US" sz="2400" dirty="0">
                <a:solidFill>
                  <a:srgbClr val="A50021"/>
                </a:solidFill>
                <a:latin typeface="华文楷体" panose="02010600040101010101" pitchFamily="2" charset="-122"/>
                <a:ea typeface="宋体" panose="02010600030101010101" pitchFamily="2" charset="-122"/>
                <a:sym typeface="Wingdings" panose="05000000000000000000" pitchFamily="2" charset="2"/>
              </a:rPr>
              <a:t>等价（</a:t>
            </a:r>
            <a:r>
              <a:rPr lang="en-US" altLang="x-none" sz="2400" dirty="0">
                <a:solidFill>
                  <a:srgbClr val="A50021"/>
                </a:solidFill>
                <a:latin typeface="华文楷体" panose="02010600040101010101" pitchFamily="2" charset="-122"/>
                <a:ea typeface="宋体" panose="02010600030101010101" pitchFamily="2" charset="-122"/>
                <a:sym typeface="Wingdings" panose="05000000000000000000" pitchFamily="2" charset="2"/>
              </a:rPr>
              <a:t>Equivalence</a:t>
            </a:r>
            <a:r>
              <a:rPr lang="zh-CN" altLang="en-US" sz="2400" dirty="0">
                <a:solidFill>
                  <a:srgbClr val="A50021"/>
                </a:solidFill>
                <a:latin typeface="华文楷体" panose="02010600040101010101" pitchFamily="2" charset="-122"/>
                <a:ea typeface="宋体" panose="02010600030101010101" pitchFamily="2" charset="-122"/>
                <a:sym typeface="Wingdings" panose="05000000000000000000" pitchFamily="2" charset="2"/>
              </a:rPr>
              <a:t>）</a:t>
            </a:r>
            <a:r>
              <a:rPr lang="zh-CN" altLang="en-US" sz="2400" dirty="0">
                <a:latin typeface="华文楷体" panose="02010600040101010101" pitchFamily="2" charset="-122"/>
                <a:ea typeface="宋体" panose="02010600030101010101" pitchFamily="2" charset="-122"/>
                <a:sym typeface="Wingdings" panose="05000000000000000000" pitchFamily="2" charset="2"/>
              </a:rPr>
              <a:t>的。</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marL="535305" lvl="1" indent="-268605" eaLnBrk="0" hangingPunct="0">
              <a:lnSpc>
                <a:spcPct val="120000"/>
              </a:lnSpc>
              <a:spcBef>
                <a:spcPts val="600"/>
              </a:spcBef>
              <a:buClr>
                <a:schemeClr val="accent2"/>
              </a:buClr>
              <a:buSzPct val="70000"/>
            </a:pPr>
            <a:r>
              <a:rPr lang="en-US" altLang="x-none" sz="2400" dirty="0">
                <a:latin typeface="华文楷体" panose="02010600040101010101" pitchFamily="2" charset="-122"/>
                <a:ea typeface="宋体" panose="02010600030101010101" pitchFamily="2" charset="-122"/>
                <a:sym typeface="Wingdings" panose="05000000000000000000" pitchFamily="2" charset="2"/>
              </a:rPr>
              <a:t>--</a:t>
            </a:r>
            <a:r>
              <a:rPr lang="zh-CN" altLang="en-US" sz="2400" dirty="0">
                <a:latin typeface="华文楷体" panose="02010600040101010101" pitchFamily="2" charset="-122"/>
                <a:ea typeface="宋体" panose="02010600030101010101" pitchFamily="2" charset="-122"/>
                <a:sym typeface="Wingdings" panose="05000000000000000000" pitchFamily="2" charset="2"/>
              </a:rPr>
              <a:t>以上的调度等价定义是一个普遍定义，亦称为</a:t>
            </a:r>
            <a:r>
              <a:rPr lang="zh-CN" altLang="en-US" sz="2400" dirty="0">
                <a:solidFill>
                  <a:srgbClr val="A50021"/>
                </a:solidFill>
                <a:latin typeface="华文楷体" panose="02010600040101010101" pitchFamily="2" charset="-122"/>
                <a:ea typeface="宋体" panose="02010600030101010101" pitchFamily="2" charset="-122"/>
                <a:sym typeface="Wingdings" panose="05000000000000000000" pitchFamily="2" charset="2"/>
              </a:rPr>
              <a:t>目标等价</a:t>
            </a:r>
            <a:r>
              <a:rPr lang="en-US" altLang="x-none" sz="2400" dirty="0">
                <a:solidFill>
                  <a:srgbClr val="A50021"/>
                </a:solidFill>
                <a:latin typeface="华文楷体" panose="02010600040101010101" pitchFamily="2" charset="-122"/>
                <a:ea typeface="宋体" panose="02010600030101010101" pitchFamily="2" charset="-122"/>
                <a:sym typeface="Wingdings" panose="05000000000000000000" pitchFamily="2" charset="2"/>
              </a:rPr>
              <a:t>(View Equivalence)</a:t>
            </a:r>
            <a:r>
              <a:rPr lang="zh-CN" altLang="en-US" sz="2400" dirty="0">
                <a:solidFill>
                  <a:srgbClr val="A50021"/>
                </a:solidFill>
                <a:latin typeface="华文楷体" panose="02010600040101010101" pitchFamily="2" charset="-122"/>
                <a:ea typeface="宋体" panose="02010600030101010101" pitchFamily="2" charset="-122"/>
                <a:sym typeface="Wingdings" panose="05000000000000000000" pitchFamily="2" charset="2"/>
              </a:rPr>
              <a:t>。</a:t>
            </a:r>
            <a:endParaRPr lang="zh-CN" altLang="en-US" sz="2400" dirty="0">
              <a:solidFill>
                <a:srgbClr val="A50021"/>
              </a:solidFill>
              <a:latin typeface="华文楷体" panose="02010600040101010101" pitchFamily="2" charset="-122"/>
              <a:ea typeface="宋体" panose="02010600030101010101" pitchFamily="2" charset="-122"/>
              <a:sym typeface="Wingdings" panose="05000000000000000000" pitchFamily="2" charset="2"/>
            </a:endParaRPr>
          </a:p>
          <a:p>
            <a:pPr lvl="0" indent="0" eaLnBrk="0" hangingPunct="0">
              <a:lnSpc>
                <a:spcPct val="120000"/>
              </a:lnSpc>
              <a:spcBef>
                <a:spcPts val="6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sym typeface="Wingdings" panose="05000000000000000000" pitchFamily="2" charset="2"/>
              </a:rPr>
              <a:t>不同事务的一对操作，有些是冲突的，有些是不冲突的。</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marL="535305" lvl="1" indent="-268605" eaLnBrk="0" hangingPunct="0">
              <a:lnSpc>
                <a:spcPct val="120000"/>
              </a:lnSpc>
              <a:spcBef>
                <a:spcPts val="600"/>
              </a:spcBef>
              <a:buClr>
                <a:schemeClr val="accent2"/>
              </a:buClr>
              <a:buSzPct val="70000"/>
            </a:pPr>
            <a:r>
              <a:rPr lang="en-US" altLang="x-none" sz="2400" dirty="0">
                <a:solidFill>
                  <a:srgbClr val="A50021"/>
                </a:solidFill>
                <a:latin typeface="华文楷体" panose="02010600040101010101" pitchFamily="2" charset="-122"/>
                <a:ea typeface="宋体" panose="02010600030101010101" pitchFamily="2" charset="-122"/>
                <a:sym typeface="Wingdings" panose="05000000000000000000" pitchFamily="2" charset="2"/>
              </a:rPr>
              <a:t>--</a:t>
            </a:r>
            <a:r>
              <a:rPr lang="zh-CN" altLang="en-US" sz="2400" dirty="0">
                <a:solidFill>
                  <a:srgbClr val="A50021"/>
                </a:solidFill>
                <a:latin typeface="华文楷体" panose="02010600040101010101" pitchFamily="2" charset="-122"/>
                <a:ea typeface="宋体" panose="02010600030101010101" pitchFamily="2" charset="-122"/>
                <a:sym typeface="Wingdings" panose="05000000000000000000" pitchFamily="2" charset="2"/>
              </a:rPr>
              <a:t>冲突等价（</a:t>
            </a:r>
            <a:r>
              <a:rPr lang="en-US" altLang="x-none" sz="2400" dirty="0">
                <a:solidFill>
                  <a:srgbClr val="A50021"/>
                </a:solidFill>
                <a:latin typeface="华文楷体" panose="02010600040101010101" pitchFamily="2" charset="-122"/>
                <a:ea typeface="宋体" panose="02010600030101010101" pitchFamily="2" charset="-122"/>
                <a:sym typeface="Wingdings" panose="05000000000000000000" pitchFamily="2" charset="2"/>
              </a:rPr>
              <a:t>Conflict Equivalence</a:t>
            </a:r>
            <a:r>
              <a:rPr lang="zh-CN" altLang="en-US" sz="2400" dirty="0">
                <a:solidFill>
                  <a:srgbClr val="A50021"/>
                </a:solidFill>
                <a:latin typeface="华文楷体" panose="02010600040101010101" pitchFamily="2" charset="-122"/>
                <a:ea typeface="宋体" panose="02010600030101010101" pitchFamily="2" charset="-122"/>
                <a:sym typeface="Wingdings" panose="05000000000000000000" pitchFamily="2" charset="2"/>
              </a:rPr>
              <a:t>）：</a:t>
            </a:r>
            <a:r>
              <a:rPr lang="zh-CN" altLang="en-US" sz="2400" dirty="0">
                <a:latin typeface="华文楷体" panose="02010600040101010101" pitchFamily="2" charset="-122"/>
                <a:ea typeface="宋体" panose="02010600030101010101" pitchFamily="2" charset="-122"/>
                <a:sym typeface="Wingdings" panose="05000000000000000000" pitchFamily="2" charset="2"/>
              </a:rPr>
              <a:t>凡是通过调换</a:t>
            </a:r>
            <a:r>
              <a:rPr lang="en-US" altLang="x-none" sz="2400" dirty="0">
                <a:latin typeface="华文楷体" panose="02010600040101010101" pitchFamily="2" charset="-122"/>
                <a:ea typeface="宋体" panose="02010600030101010101" pitchFamily="2" charset="-122"/>
                <a:sym typeface="Wingdings" panose="05000000000000000000" pitchFamily="2" charset="2"/>
              </a:rPr>
              <a:t>S</a:t>
            </a:r>
            <a:r>
              <a:rPr lang="zh-CN" altLang="en-US" sz="2400" dirty="0">
                <a:latin typeface="华文楷体" panose="02010600040101010101" pitchFamily="2" charset="-122"/>
                <a:ea typeface="宋体" panose="02010600030101010101" pitchFamily="2" charset="-122"/>
                <a:sym typeface="Wingdings" panose="05000000000000000000" pitchFamily="2" charset="2"/>
              </a:rPr>
              <a:t>中</a:t>
            </a:r>
            <a:r>
              <a:rPr lang="zh-CN" altLang="en-US" sz="2400" u="sng" dirty="0">
                <a:solidFill>
                  <a:srgbClr val="A50021"/>
                </a:solidFill>
                <a:latin typeface="华文楷体" panose="02010600040101010101" pitchFamily="2" charset="-122"/>
                <a:ea typeface="宋体" panose="02010600030101010101" pitchFamily="2" charset="-122"/>
                <a:sym typeface="Wingdings" panose="05000000000000000000" pitchFamily="2" charset="2"/>
              </a:rPr>
              <a:t>不冲突操作</a:t>
            </a:r>
            <a:r>
              <a:rPr lang="zh-CN" altLang="en-US" sz="2400" dirty="0">
                <a:latin typeface="华文楷体" panose="02010600040101010101" pitchFamily="2" charset="-122"/>
                <a:ea typeface="宋体" panose="02010600030101010101" pitchFamily="2" charset="-122"/>
                <a:sym typeface="Wingdings" panose="05000000000000000000" pitchFamily="2" charset="2"/>
              </a:rPr>
              <a:t>所得的新调度，称为</a:t>
            </a:r>
            <a:r>
              <a:rPr lang="en-US" altLang="x-none" sz="2400" dirty="0">
                <a:latin typeface="华文楷体" panose="02010600040101010101" pitchFamily="2" charset="-122"/>
                <a:ea typeface="宋体" panose="02010600030101010101" pitchFamily="2" charset="-122"/>
                <a:sym typeface="Wingdings" panose="05000000000000000000" pitchFamily="2" charset="2"/>
              </a:rPr>
              <a:t>S</a:t>
            </a:r>
            <a:r>
              <a:rPr lang="zh-CN" altLang="en-US" sz="2400" dirty="0">
                <a:latin typeface="华文楷体" panose="02010600040101010101" pitchFamily="2" charset="-122"/>
                <a:ea typeface="宋体" panose="02010600030101010101" pitchFamily="2" charset="-122"/>
                <a:sym typeface="Wingdings" panose="05000000000000000000" pitchFamily="2" charset="2"/>
              </a:rPr>
              <a:t>的冲突等价调度。</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lvl="0" indent="0" eaLnBrk="0" hangingPunct="0">
              <a:lnSpc>
                <a:spcPct val="120000"/>
              </a:lnSpc>
              <a:spcBef>
                <a:spcPts val="600"/>
              </a:spcBef>
              <a:buClr>
                <a:srgbClr val="0033CC"/>
              </a:buClr>
              <a:buSzPct val="80000"/>
              <a:buFont typeface="Wingdings" panose="05000000000000000000" pitchFamily="2" charset="2"/>
              <a:buChar char="u"/>
            </a:pPr>
            <a:r>
              <a:rPr lang="zh-CN" altLang="en-US" sz="2400" dirty="0">
                <a:solidFill>
                  <a:srgbClr val="A50021"/>
                </a:solidFill>
                <a:latin typeface="华文楷体" panose="02010600040101010101" pitchFamily="2" charset="-122"/>
                <a:ea typeface="宋体" panose="02010600030101010101" pitchFamily="2" charset="-122"/>
                <a:sym typeface="Wingdings" panose="05000000000000000000" pitchFamily="2" charset="2"/>
              </a:rPr>
              <a:t>结论：</a:t>
            </a:r>
            <a:r>
              <a:rPr lang="zh-CN" altLang="en-US" sz="2400" dirty="0">
                <a:latin typeface="华文楷体" panose="02010600040101010101" pitchFamily="2" charset="-122"/>
                <a:ea typeface="宋体" panose="02010600030101010101" pitchFamily="2" charset="-122"/>
                <a:sym typeface="Wingdings" panose="05000000000000000000" pitchFamily="2" charset="2"/>
              </a:rPr>
              <a:t>如两个调度是冲突等价的，则一定是目标等价的；反之不亦然。</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p:txBody>
      </p:sp>
      <p:sp>
        <p:nvSpPr>
          <p:cNvPr id="100354"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五、数据库系统中的并发</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100355" name="Rectangle 3"/>
          <p:cNvSpPr txBox="1"/>
          <p:nvPr/>
        </p:nvSpPr>
        <p:spPr>
          <a:xfrm>
            <a:off x="6537325" y="854075"/>
            <a:ext cx="2225675" cy="706438"/>
          </a:xfrm>
          <a:prstGeom prst="rect">
            <a:avLst/>
          </a:prstGeom>
          <a:noFill/>
          <a:ln w="9525">
            <a:noFill/>
          </a:ln>
        </p:spPr>
        <p:txBody>
          <a:bodyPr anchor="t"/>
          <a:lstStyle/>
          <a:p>
            <a:pPr lvl="0" indent="0" eaLnBrk="0" hangingPunct="0">
              <a:buFont typeface="Wingdings" panose="05000000000000000000" pitchFamily="2" charset="2"/>
              <a:buChar char="p"/>
            </a:pPr>
            <a:r>
              <a:rPr lang="zh-CN" altLang="en-US" sz="2800" dirty="0">
                <a:solidFill>
                  <a:srgbClr val="000099"/>
                </a:solidFill>
                <a:latin typeface="黑体" panose="02010609060101010101" pitchFamily="1" charset="-122"/>
                <a:ea typeface="黑体" panose="02010609060101010101" pitchFamily="1" charset="-122"/>
              </a:rPr>
              <a:t>等价调度</a:t>
            </a:r>
            <a:endParaRPr lang="en-US" altLang="x-none" sz="2800" dirty="0">
              <a:solidFill>
                <a:srgbClr val="000099"/>
              </a:solidFill>
              <a:latin typeface="黑体" panose="02010609060101010101" pitchFamily="1" charset="-122"/>
              <a:ea typeface="黑体" panose="02010609060101010101" pitchFamily="1" charset="-122"/>
            </a:endParaRPr>
          </a:p>
        </p:txBody>
      </p:sp>
      <p:sp>
        <p:nvSpPr>
          <p:cNvPr id="100356" name="Rectangle 3"/>
          <p:cNvSpPr txBox="1"/>
          <p:nvPr/>
        </p:nvSpPr>
        <p:spPr>
          <a:xfrm>
            <a:off x="517525" y="854075"/>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3</a:t>
            </a:r>
            <a:r>
              <a:rPr lang="zh-CN" altLang="en-US" sz="2800" dirty="0">
                <a:solidFill>
                  <a:srgbClr val="FF0000"/>
                </a:solidFill>
                <a:latin typeface="黑体" panose="02010609060101010101" pitchFamily="1" charset="-122"/>
                <a:ea typeface="黑体" panose="02010609060101010101" pitchFamily="1" charset="-122"/>
              </a:rPr>
              <a:t>、并发执行的正确性准则</a:t>
            </a:r>
            <a:endParaRPr lang="en-US" altLang="x-none" sz="2800" dirty="0">
              <a:solidFill>
                <a:srgbClr val="FF0000"/>
              </a:solidFill>
              <a:latin typeface="黑体" panose="02010609060101010101" pitchFamily="1" charset="-122"/>
              <a:ea typeface="黑体" panose="02010609060101010101" pitchFamily="1" charset="-122"/>
            </a:endParaRPr>
          </a:p>
        </p:txBody>
      </p:sp>
    </p:spTree>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600" dirty="0">
                <a:solidFill>
                  <a:srgbClr val="0033CC"/>
                </a:solidFill>
                <a:latin typeface="Arial" panose="020B0604020202020204" pitchFamily="34" charset="0"/>
                <a:ea typeface="黑体" panose="02010609060101010101" pitchFamily="1" charset="-122"/>
              </a:rPr>
              <a:t>五、数据库系统中的并发</a:t>
            </a:r>
            <a:endParaRPr lang="zh-CN" altLang="en-US" sz="3600" dirty="0">
              <a:solidFill>
                <a:srgbClr val="0033CC"/>
              </a:solidFill>
              <a:latin typeface="Arial" panose="020B0604020202020204" pitchFamily="34" charset="0"/>
              <a:ea typeface="黑体" panose="02010609060101010101" pitchFamily="1" charset="-122"/>
            </a:endParaRPr>
          </a:p>
        </p:txBody>
      </p:sp>
      <p:sp>
        <p:nvSpPr>
          <p:cNvPr id="101378" name="Rectangle 2"/>
          <p:cNvSpPr txBox="1"/>
          <p:nvPr/>
        </p:nvSpPr>
        <p:spPr>
          <a:xfrm>
            <a:off x="503238" y="1357313"/>
            <a:ext cx="5805487" cy="439737"/>
          </a:xfrm>
          <a:prstGeom prst="rect">
            <a:avLst/>
          </a:prstGeom>
          <a:noFill/>
          <a:ln w="9525">
            <a:noFill/>
          </a:ln>
        </p:spPr>
        <p:txBody>
          <a:bodyPr anchor="t"/>
          <a:lstStyle/>
          <a:p>
            <a:pPr lvl="0" indent="0" eaLnBrk="0" hangingPunct="0">
              <a:buFont typeface="Wingdings" panose="05000000000000000000" pitchFamily="2" charset="2"/>
              <a:buChar char="p"/>
            </a:pPr>
            <a:r>
              <a:rPr lang="zh-CN" altLang="en-US" sz="2800" dirty="0">
                <a:solidFill>
                  <a:srgbClr val="3333CC"/>
                </a:solidFill>
                <a:latin typeface="宋体" panose="02010600030101010101" pitchFamily="2" charset="-122"/>
                <a:ea typeface="黑体" panose="02010609060101010101" pitchFamily="1" charset="-122"/>
              </a:rPr>
              <a:t> 可串行化（</a:t>
            </a:r>
            <a:r>
              <a:rPr lang="en-US" altLang="x-none" sz="2800" dirty="0">
                <a:solidFill>
                  <a:srgbClr val="3333CC"/>
                </a:solidFill>
                <a:latin typeface="宋体" panose="02010600030101010101" pitchFamily="2" charset="-122"/>
                <a:ea typeface="黑体" panose="02010609060101010101" pitchFamily="1" charset="-122"/>
              </a:rPr>
              <a:t>Serializability</a:t>
            </a:r>
            <a:r>
              <a:rPr lang="zh-CN" altLang="en-US" sz="2800" dirty="0">
                <a:solidFill>
                  <a:srgbClr val="3333CC"/>
                </a:solidFill>
                <a:latin typeface="宋体" panose="02010600030101010101" pitchFamily="2" charset="-122"/>
                <a:ea typeface="黑体" panose="02010609060101010101" pitchFamily="1" charset="-122"/>
              </a:rPr>
              <a:t>）</a:t>
            </a:r>
            <a:endParaRPr lang="zh-CN" altLang="en-US" sz="2800" dirty="0">
              <a:solidFill>
                <a:srgbClr val="3333CC"/>
              </a:solidFill>
              <a:latin typeface="宋体" panose="02010600030101010101" pitchFamily="2" charset="-122"/>
              <a:ea typeface="黑体" panose="02010609060101010101" pitchFamily="1" charset="-122"/>
            </a:endParaRPr>
          </a:p>
        </p:txBody>
      </p:sp>
      <p:sp>
        <p:nvSpPr>
          <p:cNvPr id="101379" name="Rectangle 3"/>
          <p:cNvSpPr txBox="1"/>
          <p:nvPr/>
        </p:nvSpPr>
        <p:spPr>
          <a:xfrm>
            <a:off x="592138" y="1909763"/>
            <a:ext cx="8018462" cy="3408362"/>
          </a:xfrm>
          <a:prstGeom prst="rect">
            <a:avLst/>
          </a:prstGeom>
          <a:noFill/>
          <a:ln w="9525">
            <a:noFill/>
          </a:ln>
        </p:spPr>
        <p:txBody>
          <a:bodyPr anchor="t"/>
          <a:lstStyle/>
          <a:p>
            <a:pPr lvl="0" indent="0" eaLnBrk="0" hangingPunct="0">
              <a:lnSpc>
                <a:spcPct val="120000"/>
              </a:lnSpc>
              <a:spcBef>
                <a:spcPts val="6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sym typeface="Wingdings" panose="05000000000000000000" pitchFamily="2" charset="2"/>
              </a:rPr>
              <a:t>对一事务集，如一个并发调度与一个串行调度等价，则称此并发调度是可串行化的</a:t>
            </a:r>
            <a:r>
              <a:rPr lang="en-US" altLang="x-none" sz="2400" dirty="0">
                <a:latin typeface="华文楷体" panose="02010600040101010101" pitchFamily="2" charset="-122"/>
                <a:ea typeface="宋体" panose="02010600030101010101" pitchFamily="2" charset="-122"/>
                <a:sym typeface="Wingdings" panose="05000000000000000000" pitchFamily="2" charset="2"/>
              </a:rPr>
              <a:t>(Serializable)</a:t>
            </a:r>
            <a:r>
              <a:rPr lang="zh-CN" altLang="en-US" sz="2400" dirty="0">
                <a:latin typeface="华文楷体" panose="02010600040101010101" pitchFamily="2" charset="-122"/>
                <a:ea typeface="宋体" panose="02010600030101010101" pitchFamily="2" charset="-122"/>
                <a:sym typeface="Wingdings" panose="05000000000000000000" pitchFamily="2" charset="2"/>
              </a:rPr>
              <a:t>。</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lvl="0" indent="0" eaLnBrk="0" hangingPunct="0">
              <a:lnSpc>
                <a:spcPct val="120000"/>
              </a:lnSpc>
              <a:spcBef>
                <a:spcPts val="6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sym typeface="Wingdings" panose="05000000000000000000" pitchFamily="2" charset="2"/>
              </a:rPr>
              <a:t>可串行化分类：目标可串行化和冲突可串行化。</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lvl="0" indent="0" eaLnBrk="0" hangingPunct="0">
              <a:lnSpc>
                <a:spcPct val="114000"/>
              </a:lnSpc>
              <a:spcBef>
                <a:spcPts val="600"/>
              </a:spcBef>
              <a:buClr>
                <a:srgbClr val="0033CC"/>
              </a:buClr>
              <a:buSzPct val="80000"/>
              <a:buFont typeface="Wingdings" panose="05000000000000000000" pitchFamily="2" charset="2"/>
              <a:buChar char="ü"/>
            </a:pPr>
            <a:r>
              <a:rPr lang="zh-CN" altLang="en-US" sz="2400" u="sng" dirty="0">
                <a:solidFill>
                  <a:srgbClr val="CC0000"/>
                </a:solidFill>
                <a:latin typeface="华文楷体" panose="02010600040101010101" pitchFamily="2" charset="-122"/>
                <a:ea typeface="宋体" panose="02010600030101010101" pitchFamily="2" charset="-122"/>
                <a:sym typeface="Wingdings" panose="05000000000000000000" pitchFamily="2" charset="2"/>
              </a:rPr>
              <a:t>推论</a:t>
            </a:r>
            <a:r>
              <a:rPr lang="en-US" altLang="x-none" sz="2400" u="sng" dirty="0">
                <a:solidFill>
                  <a:srgbClr val="CC0000"/>
                </a:solidFill>
                <a:latin typeface="华文楷体" panose="02010600040101010101" pitchFamily="2" charset="-122"/>
                <a:ea typeface="宋体" panose="02010600030101010101" pitchFamily="2" charset="-122"/>
                <a:sym typeface="Wingdings" panose="05000000000000000000" pitchFamily="2" charset="2"/>
              </a:rPr>
              <a:t>1 </a:t>
            </a:r>
            <a:r>
              <a:rPr lang="zh-CN" altLang="en-US" sz="2400" u="sng" dirty="0">
                <a:solidFill>
                  <a:srgbClr val="CC0000"/>
                </a:solidFill>
                <a:latin typeface="华文楷体" panose="02010600040101010101" pitchFamily="2" charset="-122"/>
                <a:ea typeface="宋体" panose="02010600030101010101" pitchFamily="2" charset="-122"/>
                <a:sym typeface="Wingdings" panose="05000000000000000000" pitchFamily="2" charset="2"/>
              </a:rPr>
              <a:t>：</a:t>
            </a:r>
            <a:r>
              <a:rPr lang="zh-CN" altLang="en-US" sz="2400" dirty="0">
                <a:latin typeface="华文楷体" panose="02010600040101010101" pitchFamily="2" charset="-122"/>
                <a:ea typeface="宋体" panose="02010600030101010101" pitchFamily="2" charset="-122"/>
                <a:sym typeface="Wingdings" panose="05000000000000000000" pitchFamily="2" charset="2"/>
              </a:rPr>
              <a:t>因冲突等价一定是目标等价，故冲突可串行化调度也一定是目标可串行化调度。</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lvl="0" indent="0" eaLnBrk="0" hangingPunct="0">
              <a:lnSpc>
                <a:spcPct val="114000"/>
              </a:lnSpc>
              <a:spcBef>
                <a:spcPts val="600"/>
              </a:spcBef>
              <a:buClr>
                <a:srgbClr val="0033CC"/>
              </a:buClr>
              <a:buSzPct val="80000"/>
              <a:buFont typeface="Wingdings" panose="05000000000000000000" pitchFamily="2" charset="2"/>
              <a:buChar char="ü"/>
            </a:pPr>
            <a:r>
              <a:rPr lang="zh-CN" altLang="en-US" sz="2400" u="sng" dirty="0">
                <a:solidFill>
                  <a:srgbClr val="CC0000"/>
                </a:solidFill>
                <a:latin typeface="华文楷体" panose="02010600040101010101" pitchFamily="2" charset="-122"/>
                <a:ea typeface="宋体" panose="02010600030101010101" pitchFamily="2" charset="-122"/>
                <a:sym typeface="Wingdings" panose="05000000000000000000" pitchFamily="2" charset="2"/>
              </a:rPr>
              <a:t>推论</a:t>
            </a:r>
            <a:r>
              <a:rPr lang="en-US" altLang="x-none" sz="2400" u="sng" dirty="0">
                <a:solidFill>
                  <a:srgbClr val="CC0000"/>
                </a:solidFill>
                <a:latin typeface="华文楷体" panose="02010600040101010101" pitchFamily="2" charset="-122"/>
                <a:ea typeface="宋体" panose="02010600030101010101" pitchFamily="2" charset="-122"/>
                <a:sym typeface="Wingdings" panose="05000000000000000000" pitchFamily="2" charset="2"/>
              </a:rPr>
              <a:t>2</a:t>
            </a:r>
            <a:r>
              <a:rPr lang="zh-CN" altLang="en-US" sz="2400" u="sng" dirty="0">
                <a:solidFill>
                  <a:srgbClr val="CC0000"/>
                </a:solidFill>
                <a:latin typeface="华文楷体" panose="02010600040101010101" pitchFamily="2" charset="-122"/>
                <a:ea typeface="宋体" panose="02010600030101010101" pitchFamily="2" charset="-122"/>
                <a:sym typeface="Wingdings" panose="05000000000000000000" pitchFamily="2" charset="2"/>
              </a:rPr>
              <a:t>：</a:t>
            </a:r>
            <a:r>
              <a:rPr lang="zh-CN" altLang="en-US" sz="2400" dirty="0">
                <a:latin typeface="华文楷体" panose="02010600040101010101" pitchFamily="2" charset="-122"/>
                <a:ea typeface="宋体" panose="02010600030101010101" pitchFamily="2" charset="-122"/>
                <a:sym typeface="Wingdings" panose="05000000000000000000" pitchFamily="2" charset="2"/>
              </a:rPr>
              <a:t>可串行化调度与某一串行调度等价，故也不会产生并发所引起的问题。</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lvl="0" indent="0" eaLnBrk="0" hangingPunct="0">
              <a:lnSpc>
                <a:spcPct val="120000"/>
              </a:lnSpc>
              <a:spcBef>
                <a:spcPts val="600"/>
              </a:spcBef>
              <a:buClr>
                <a:srgbClr val="0033CC"/>
              </a:buClr>
              <a:buSzPct val="80000"/>
            </a:pPr>
            <a:r>
              <a:rPr lang="zh-CN" altLang="en-US" sz="2400" dirty="0">
                <a:solidFill>
                  <a:srgbClr val="CC0000"/>
                </a:solidFill>
                <a:latin typeface="华文楷体" panose="02010600040101010101" pitchFamily="2" charset="-122"/>
                <a:ea typeface="宋体" panose="02010600030101010101" pitchFamily="2" charset="-122"/>
                <a:sym typeface="Wingdings" panose="05000000000000000000" pitchFamily="2" charset="2"/>
              </a:rPr>
              <a:t>并发执行的正确性准则：</a:t>
            </a:r>
            <a:r>
              <a:rPr lang="zh-CN" altLang="en-US" sz="2400" dirty="0">
                <a:latin typeface="华文楷体" panose="02010600040101010101" pitchFamily="2" charset="-122"/>
                <a:ea typeface="宋体" panose="02010600030101010101" pitchFamily="2" charset="-122"/>
                <a:sym typeface="Wingdings" panose="05000000000000000000" pitchFamily="2" charset="2"/>
              </a:rPr>
              <a:t>在当前的</a:t>
            </a:r>
            <a:r>
              <a:rPr lang="en-US" altLang="x-none" sz="2400" dirty="0">
                <a:latin typeface="华文楷体" panose="02010600040101010101" pitchFamily="2" charset="-122"/>
                <a:ea typeface="宋体" panose="02010600030101010101" pitchFamily="2" charset="-122"/>
                <a:sym typeface="Wingdings" panose="05000000000000000000" pitchFamily="2" charset="2"/>
              </a:rPr>
              <a:t>DBMS</a:t>
            </a:r>
            <a:r>
              <a:rPr lang="zh-CN" altLang="en-US" sz="2400" dirty="0">
                <a:latin typeface="华文楷体" panose="02010600040101010101" pitchFamily="2" charset="-122"/>
                <a:ea typeface="宋体" panose="02010600030101010101" pitchFamily="2" charset="-122"/>
                <a:sym typeface="Wingdings" panose="05000000000000000000" pitchFamily="2" charset="2"/>
              </a:rPr>
              <a:t>中，均以“冲突可串行化”作为并发执行的正确性准则。</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p:txBody>
      </p:sp>
      <p:sp>
        <p:nvSpPr>
          <p:cNvPr id="101380" name="Rectangle 3"/>
          <p:cNvSpPr txBox="1"/>
          <p:nvPr/>
        </p:nvSpPr>
        <p:spPr>
          <a:xfrm>
            <a:off x="517525" y="854075"/>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3</a:t>
            </a:r>
            <a:r>
              <a:rPr lang="zh-CN" altLang="en-US" sz="2800" dirty="0">
                <a:solidFill>
                  <a:srgbClr val="FF0000"/>
                </a:solidFill>
                <a:latin typeface="黑体" panose="02010609060101010101" pitchFamily="1" charset="-122"/>
                <a:ea typeface="黑体" panose="02010609060101010101" pitchFamily="1" charset="-122"/>
              </a:rPr>
              <a:t>、并发执行的正确性准则</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101381" name="Rectangle 3"/>
          <p:cNvSpPr txBox="1"/>
          <p:nvPr/>
        </p:nvSpPr>
        <p:spPr>
          <a:xfrm>
            <a:off x="6567488" y="854075"/>
            <a:ext cx="2225675" cy="706438"/>
          </a:xfrm>
          <a:prstGeom prst="rect">
            <a:avLst/>
          </a:prstGeom>
          <a:noFill/>
          <a:ln w="9525">
            <a:noFill/>
          </a:ln>
        </p:spPr>
        <p:txBody>
          <a:bodyPr anchor="t"/>
          <a:lstStyle/>
          <a:p>
            <a:pPr lvl="0" indent="0" eaLnBrk="0" hangingPunct="0">
              <a:buFont typeface="Wingdings" panose="05000000000000000000" pitchFamily="2" charset="2"/>
              <a:buChar char="p"/>
            </a:pPr>
            <a:r>
              <a:rPr lang="zh-CN" altLang="en-US" sz="2800" dirty="0">
                <a:solidFill>
                  <a:srgbClr val="000099"/>
                </a:solidFill>
                <a:latin typeface="黑体" panose="02010609060101010101" pitchFamily="1" charset="-122"/>
                <a:ea typeface="黑体" panose="02010609060101010101" pitchFamily="1" charset="-122"/>
              </a:rPr>
              <a:t>可串行化</a:t>
            </a:r>
            <a:endParaRPr lang="en-US" altLang="x-none" sz="2800" dirty="0">
              <a:solidFill>
                <a:srgbClr val="000099"/>
              </a:solidFill>
              <a:latin typeface="黑体" panose="02010609060101010101" pitchFamily="1" charset="-122"/>
              <a:ea typeface="黑体" panose="02010609060101010101" pitchFamily="1" charset="-122"/>
            </a:endParaRPr>
          </a:p>
        </p:txBody>
      </p:sp>
    </p:spTree>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ext Box 2"/>
          <p:cNvSpPr txBox="1"/>
          <p:nvPr/>
        </p:nvSpPr>
        <p:spPr>
          <a:xfrm>
            <a:off x="584200" y="1589088"/>
            <a:ext cx="7994650" cy="3108325"/>
          </a:xfrm>
          <a:prstGeom prst="rect">
            <a:avLst/>
          </a:prstGeom>
          <a:noFill/>
          <a:ln w="9525">
            <a:noFill/>
          </a:ln>
        </p:spPr>
        <p:txBody>
          <a:bodyPr anchor="t">
            <a:spAutoFit/>
          </a:bodyPr>
          <a:lstStyle/>
          <a:p>
            <a:pPr lvl="0" indent="0">
              <a:spcBef>
                <a:spcPct val="50000"/>
              </a:spcBef>
            </a:pPr>
            <a:r>
              <a:rPr lang="zh-CN" altLang="en-US" sz="2800" dirty="0">
                <a:latin typeface="华文楷体" panose="02010600040101010101" pitchFamily="2" charset="-122"/>
                <a:ea typeface="华文楷体" panose="02010600040101010101" pitchFamily="2" charset="-122"/>
              </a:rPr>
              <a:t>注意：</a:t>
            </a:r>
            <a:r>
              <a:rPr lang="zh-CN" altLang="en-US" sz="2800" dirty="0">
                <a:latin typeface="华文楷体" panose="02010600040101010101" pitchFamily="2" charset="-122"/>
                <a:ea typeface="华文楷体" panose="02010600040101010101" pitchFamily="2" charset="-122"/>
                <a:sym typeface="Wingdings" panose="05000000000000000000" pitchFamily="2" charset="2"/>
              </a:rPr>
              <a:t> </a:t>
            </a:r>
            <a:endParaRPr lang="zh-CN" altLang="en-US" sz="2800" dirty="0">
              <a:latin typeface="华文楷体" panose="02010600040101010101" pitchFamily="2" charset="-122"/>
              <a:ea typeface="华文楷体" panose="02010600040101010101" pitchFamily="2" charset="-122"/>
              <a:sym typeface="Wingdings" panose="05000000000000000000" pitchFamily="2" charset="2"/>
            </a:endParaRPr>
          </a:p>
          <a:p>
            <a:pPr lvl="0" indent="0">
              <a:spcBef>
                <a:spcPct val="50000"/>
              </a:spcBef>
            </a:pPr>
            <a:r>
              <a:rPr lang="zh-CN" altLang="en-US" sz="2400" dirty="0">
                <a:latin typeface="华文楷体" panose="02010600040101010101" pitchFamily="2" charset="-122"/>
                <a:ea typeface="华文楷体" panose="02010600040101010101" pitchFamily="2" charset="-122"/>
                <a:sym typeface="Wingdings" panose="05000000000000000000" pitchFamily="2" charset="2"/>
              </a:rPr>
              <a:t>① 对</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n</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个事务，可有</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n</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！种排列，即有</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n</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！种串行调度。每个串行调度执行的结果可能不一样，可串行化准则只要求调度和其中一个串行调度等价即可。</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a:p>
            <a:pPr lvl="0" indent="0">
              <a:spcBef>
                <a:spcPct val="50000"/>
              </a:spcBef>
            </a:pPr>
            <a:r>
              <a:rPr lang="zh-CN" altLang="en-US" sz="2400" dirty="0">
                <a:latin typeface="华文楷体" panose="02010600040101010101" pitchFamily="2" charset="-122"/>
                <a:ea typeface="华文楷体" panose="02010600040101010101" pitchFamily="2" charset="-122"/>
                <a:sym typeface="Wingdings" panose="05000000000000000000" pitchFamily="2" charset="2"/>
              </a:rPr>
              <a:t>② 不同的可串行化调度是不一定等价的，即</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n</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个事务交付系统执行后，由于调度不同，可能产生不同的结果，这是允许的。 </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p:txBody>
      </p:sp>
      <p:sp>
        <p:nvSpPr>
          <p:cNvPr id="102402"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600" dirty="0">
                <a:solidFill>
                  <a:srgbClr val="0033CC"/>
                </a:solidFill>
                <a:latin typeface="Arial" panose="020B0604020202020204" pitchFamily="34" charset="0"/>
                <a:ea typeface="黑体" panose="02010609060101010101" pitchFamily="1" charset="-122"/>
              </a:rPr>
              <a:t>五、数据库系统中的并发</a:t>
            </a:r>
            <a:endParaRPr lang="zh-CN" altLang="en-US" sz="3600" dirty="0">
              <a:solidFill>
                <a:srgbClr val="0033CC"/>
              </a:solidFill>
              <a:latin typeface="Arial" panose="020B0604020202020204" pitchFamily="34" charset="0"/>
              <a:ea typeface="黑体" panose="02010609060101010101" pitchFamily="1" charset="-122"/>
            </a:endParaRPr>
          </a:p>
        </p:txBody>
      </p:sp>
      <p:sp>
        <p:nvSpPr>
          <p:cNvPr id="102403" name="Rectangle 3"/>
          <p:cNvSpPr txBox="1"/>
          <p:nvPr/>
        </p:nvSpPr>
        <p:spPr>
          <a:xfrm>
            <a:off x="517525" y="854075"/>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3</a:t>
            </a:r>
            <a:r>
              <a:rPr lang="zh-CN" altLang="en-US" sz="2800" dirty="0">
                <a:solidFill>
                  <a:srgbClr val="FF0000"/>
                </a:solidFill>
                <a:latin typeface="黑体" panose="02010609060101010101" pitchFamily="1" charset="-122"/>
                <a:ea typeface="黑体" panose="02010609060101010101" pitchFamily="1" charset="-122"/>
              </a:rPr>
              <a:t>、并发执行的正确性准则</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102404" name="Rectangle 3"/>
          <p:cNvSpPr txBox="1"/>
          <p:nvPr/>
        </p:nvSpPr>
        <p:spPr>
          <a:xfrm>
            <a:off x="6567488" y="854075"/>
            <a:ext cx="2225675" cy="706438"/>
          </a:xfrm>
          <a:prstGeom prst="rect">
            <a:avLst/>
          </a:prstGeom>
          <a:noFill/>
          <a:ln w="9525">
            <a:noFill/>
          </a:ln>
        </p:spPr>
        <p:txBody>
          <a:bodyPr anchor="t"/>
          <a:lstStyle/>
          <a:p>
            <a:pPr lvl="0" indent="0" eaLnBrk="0" hangingPunct="0">
              <a:buFont typeface="Wingdings" panose="05000000000000000000" pitchFamily="2" charset="2"/>
              <a:buChar char="p"/>
            </a:pPr>
            <a:r>
              <a:rPr lang="zh-CN" altLang="en-US" sz="2800" dirty="0">
                <a:solidFill>
                  <a:srgbClr val="000099"/>
                </a:solidFill>
                <a:latin typeface="黑体" panose="02010609060101010101" pitchFamily="1" charset="-122"/>
                <a:ea typeface="黑体" panose="02010609060101010101" pitchFamily="1" charset="-122"/>
              </a:rPr>
              <a:t>可串行化</a:t>
            </a:r>
            <a:endParaRPr lang="en-US" altLang="x-none" sz="2800" dirty="0">
              <a:solidFill>
                <a:srgbClr val="000099"/>
              </a:solidFill>
              <a:latin typeface="黑体" panose="02010609060101010101" pitchFamily="1" charset="-122"/>
              <a:ea typeface="黑体" panose="02010609060101010101" pitchFamily="1" charset="-122"/>
            </a:endParaRPr>
          </a:p>
        </p:txBody>
      </p:sp>
      <p:sp>
        <p:nvSpPr>
          <p:cNvPr id="102405" name="矩形 9"/>
          <p:cNvSpPr/>
          <p:nvPr/>
        </p:nvSpPr>
        <p:spPr>
          <a:xfrm>
            <a:off x="822325" y="4965700"/>
            <a:ext cx="7940675" cy="460375"/>
          </a:xfrm>
          <a:prstGeom prst="rect">
            <a:avLst/>
          </a:prstGeom>
          <a:noFill/>
          <a:ln w="9525">
            <a:noFill/>
          </a:ln>
        </p:spPr>
        <p:txBody>
          <a:bodyPr anchor="t">
            <a:spAutoFit/>
          </a:bodyPr>
          <a:lstStyle/>
          <a:p>
            <a:pPr lvl="0" indent="0">
              <a:spcBef>
                <a:spcPts val="600"/>
              </a:spcBef>
            </a:pPr>
            <a:r>
              <a:rPr lang="zh-CN" altLang="en-US" sz="2400" dirty="0">
                <a:latin typeface="华文楷体" panose="02010600040101010101" pitchFamily="2" charset="-122"/>
                <a:ea typeface="华文楷体" panose="02010600040101010101" pitchFamily="2" charset="-122"/>
                <a:sym typeface="Wingdings" panose="05000000000000000000" pitchFamily="2" charset="2"/>
              </a:rPr>
              <a:t>一个调度是否可串行化，可用其前趋图来测试。</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6498"/>
                                        </p:tgtEl>
                                        <p:attrNameLst>
                                          <p:attrName>style.visibility</p:attrName>
                                        </p:attrNameLst>
                                      </p:cBhvr>
                                      <p:to>
                                        <p:strVal val="visible"/>
                                      </p:to>
                                    </p:set>
                                    <p:anim calcmode="lin" valueType="num">
                                      <p:cBhvr>
                                        <p:cTn id="7" dur="500" fill="hold"/>
                                        <p:tgtEl>
                                          <p:spTgt spid="106498"/>
                                        </p:tgtEl>
                                        <p:attrNameLst>
                                          <p:attrName>ppt_x</p:attrName>
                                        </p:attrNameLst>
                                      </p:cBhvr>
                                      <p:tavLst>
                                        <p:tav tm="0">
                                          <p:val>
                                            <p:strVal val="#ppt_x"/>
                                          </p:val>
                                        </p:tav>
                                        <p:tav tm="100000">
                                          <p:val>
                                            <p:strVal val="#ppt_x"/>
                                          </p:val>
                                        </p:tav>
                                      </p:tavLst>
                                    </p:anim>
                                    <p:anim calcmode="lin" valueType="num">
                                      <p:cBhvr>
                                        <p:cTn id="8" dur="500" fill="hold"/>
                                        <p:tgtEl>
                                          <p:spTgt spid="1064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8"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ext Box 4"/>
          <p:cNvSpPr txBox="1"/>
          <p:nvPr/>
        </p:nvSpPr>
        <p:spPr>
          <a:xfrm>
            <a:off x="550863" y="1485900"/>
            <a:ext cx="8208962" cy="1189038"/>
          </a:xfrm>
          <a:prstGeom prst="rect">
            <a:avLst/>
          </a:prstGeom>
          <a:solidFill>
            <a:schemeClr val="bg1"/>
          </a:solidFill>
          <a:ln w="9525">
            <a:noFill/>
          </a:ln>
        </p:spPr>
        <p:txBody>
          <a:bodyPr anchor="t">
            <a:spAutoFit/>
          </a:bodyPr>
          <a:lstStyle/>
          <a:p>
            <a:pPr lvl="0" indent="0">
              <a:spcBef>
                <a:spcPts val="600"/>
              </a:spcBef>
              <a:buFont typeface="Wingdings" panose="05000000000000000000" pitchFamily="2" charset="2"/>
              <a:buChar char="p"/>
            </a:pPr>
            <a:r>
              <a:rPr lang="zh-CN" altLang="en-US" sz="2400" u="sng" dirty="0">
                <a:solidFill>
                  <a:srgbClr val="A50021"/>
                </a:solidFill>
                <a:latin typeface="华文楷体" panose="02010600040101010101" pitchFamily="2" charset="-122"/>
                <a:ea typeface="华文楷体" panose="02010600040101010101" pitchFamily="2" charset="-122"/>
                <a:sym typeface="Wingdings" panose="05000000000000000000" pitchFamily="2" charset="2"/>
              </a:rPr>
              <a:t>前趋图：</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是一有向图</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G=</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V</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E</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V</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Vertex</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）为顶点集合，</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E</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Edge</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）为边集合。在此，</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V</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包含所有参与调度的事务，而边可通过分析冲突操作来决定（</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pp256)</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p:txBody>
      </p:sp>
      <p:sp>
        <p:nvSpPr>
          <p:cNvPr id="103426"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600" dirty="0">
                <a:solidFill>
                  <a:srgbClr val="0033CC"/>
                </a:solidFill>
                <a:latin typeface="Arial" panose="020B0604020202020204" pitchFamily="34" charset="0"/>
                <a:ea typeface="黑体" panose="02010609060101010101" pitchFamily="1" charset="-122"/>
              </a:rPr>
              <a:t>五、数据库系统中的并发</a:t>
            </a:r>
            <a:endParaRPr lang="zh-CN" altLang="en-US" sz="3600" dirty="0">
              <a:solidFill>
                <a:srgbClr val="0033CC"/>
              </a:solidFill>
              <a:latin typeface="Arial" panose="020B0604020202020204" pitchFamily="34" charset="0"/>
              <a:ea typeface="黑体" panose="02010609060101010101" pitchFamily="1" charset="-122"/>
            </a:endParaRPr>
          </a:p>
        </p:txBody>
      </p:sp>
      <p:sp>
        <p:nvSpPr>
          <p:cNvPr id="103427" name="Rectangle 3"/>
          <p:cNvSpPr txBox="1"/>
          <p:nvPr/>
        </p:nvSpPr>
        <p:spPr>
          <a:xfrm>
            <a:off x="517525" y="823913"/>
            <a:ext cx="7178675" cy="706437"/>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3</a:t>
            </a:r>
            <a:r>
              <a:rPr lang="zh-CN" altLang="en-US" sz="2800" dirty="0">
                <a:solidFill>
                  <a:srgbClr val="FF0000"/>
                </a:solidFill>
                <a:latin typeface="黑体" panose="02010609060101010101" pitchFamily="1" charset="-122"/>
                <a:ea typeface="黑体" panose="02010609060101010101" pitchFamily="1" charset="-122"/>
              </a:rPr>
              <a:t>、并发执行的正确性准则</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103428" name="Rectangle 3"/>
          <p:cNvSpPr txBox="1"/>
          <p:nvPr/>
        </p:nvSpPr>
        <p:spPr>
          <a:xfrm>
            <a:off x="5821363" y="854075"/>
            <a:ext cx="2971800" cy="706438"/>
          </a:xfrm>
          <a:prstGeom prst="rect">
            <a:avLst/>
          </a:prstGeom>
          <a:noFill/>
          <a:ln w="9525">
            <a:noFill/>
          </a:ln>
        </p:spPr>
        <p:txBody>
          <a:bodyPr anchor="t"/>
          <a:lstStyle/>
          <a:p>
            <a:pPr lvl="0" indent="0" eaLnBrk="0" hangingPunct="0">
              <a:buFont typeface="Wingdings" panose="05000000000000000000" pitchFamily="2" charset="2"/>
              <a:buChar char="p"/>
            </a:pPr>
            <a:r>
              <a:rPr lang="zh-CN" altLang="en-US" sz="2800" dirty="0">
                <a:solidFill>
                  <a:srgbClr val="000099"/>
                </a:solidFill>
                <a:latin typeface="黑体" panose="02010609060101010101" pitchFamily="1" charset="-122"/>
                <a:ea typeface="黑体" panose="02010609060101010101" pitchFamily="1" charset="-122"/>
              </a:rPr>
              <a:t>可串行化测试</a:t>
            </a:r>
            <a:endParaRPr lang="en-US" altLang="x-none" sz="2800" dirty="0">
              <a:solidFill>
                <a:srgbClr val="000099"/>
              </a:solidFill>
              <a:latin typeface="黑体" panose="02010609060101010101" pitchFamily="1" charset="-122"/>
              <a:ea typeface="黑体" panose="02010609060101010101" pitchFamily="1" charset="-122"/>
            </a:endParaRPr>
          </a:p>
        </p:txBody>
      </p:sp>
      <p:sp>
        <p:nvSpPr>
          <p:cNvPr id="107526" name="Text Box 2"/>
          <p:cNvSpPr txBox="1"/>
          <p:nvPr/>
        </p:nvSpPr>
        <p:spPr>
          <a:xfrm>
            <a:off x="601663" y="2828925"/>
            <a:ext cx="8208962" cy="1552575"/>
          </a:xfrm>
          <a:prstGeom prst="rect">
            <a:avLst/>
          </a:prstGeom>
          <a:noFill/>
          <a:ln w="9525">
            <a:noFill/>
          </a:ln>
        </p:spPr>
        <p:txBody>
          <a:bodyPr wrap="square" anchor="t">
            <a:spAutoFit/>
          </a:bodyPr>
          <a:lstStyle/>
          <a:p>
            <a:pPr lvl="0" indent="0"/>
            <a:r>
              <a:rPr lang="zh-CN" altLang="en-US" sz="2400" dirty="0">
                <a:latin typeface="华文楷体" panose="02010600040101010101" pitchFamily="2" charset="-122"/>
                <a:ea typeface="华文楷体" panose="02010600040101010101" pitchFamily="2" charset="-122"/>
                <a:sym typeface="Wingdings" panose="05000000000000000000" pitchFamily="2" charset="2"/>
              </a:rPr>
              <a:t>事务集</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={T1</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T2</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T3</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T4}         </a:t>
            </a:r>
            <a:endParaRPr lang="en-US" altLang="x-none" sz="2400" dirty="0">
              <a:latin typeface="华文楷体" panose="02010600040101010101" pitchFamily="2" charset="-122"/>
              <a:ea typeface="华文楷体" panose="02010600040101010101" pitchFamily="2" charset="-122"/>
              <a:sym typeface="Wingdings" panose="05000000000000000000" pitchFamily="2" charset="2"/>
            </a:endParaRPr>
          </a:p>
          <a:p>
            <a:pPr lvl="0" indent="0"/>
            <a:r>
              <a:rPr lang="en-US" altLang="x-none" sz="2400" dirty="0">
                <a:latin typeface="华文楷体" panose="02010600040101010101" pitchFamily="2" charset="-122"/>
                <a:ea typeface="华文楷体" panose="02010600040101010101" pitchFamily="2" charset="-122"/>
                <a:sym typeface="Wingdings" panose="05000000000000000000" pitchFamily="2" charset="2"/>
              </a:rPr>
              <a:t>S=W</a:t>
            </a:r>
            <a:r>
              <a:rPr lang="en-US" altLang="x-none" sz="2400" baseline="-25000" dirty="0">
                <a:latin typeface="华文楷体" panose="02010600040101010101" pitchFamily="2" charset="-122"/>
                <a:ea typeface="华文楷体" panose="02010600040101010101" pitchFamily="2" charset="-122"/>
                <a:sym typeface="Wingdings" panose="05000000000000000000" pitchFamily="2" charset="2"/>
              </a:rPr>
              <a:t>T3</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(y)R</a:t>
            </a:r>
            <a:r>
              <a:rPr lang="en-US" altLang="x-none" sz="2400" baseline="-25000" dirty="0">
                <a:latin typeface="华文楷体" panose="02010600040101010101" pitchFamily="2" charset="-122"/>
                <a:ea typeface="华文楷体" panose="02010600040101010101" pitchFamily="2" charset="-122"/>
                <a:sym typeface="Wingdings" panose="05000000000000000000" pitchFamily="2" charset="2"/>
              </a:rPr>
              <a:t>T1</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(x)R</a:t>
            </a:r>
            <a:r>
              <a:rPr lang="en-US" altLang="x-none" sz="2400" baseline="-25000" dirty="0">
                <a:latin typeface="华文楷体" panose="02010600040101010101" pitchFamily="2" charset="-122"/>
                <a:ea typeface="华文楷体" panose="02010600040101010101" pitchFamily="2" charset="-122"/>
                <a:sym typeface="Wingdings" panose="05000000000000000000" pitchFamily="2" charset="2"/>
              </a:rPr>
              <a:t>T2</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(y)W</a:t>
            </a:r>
            <a:r>
              <a:rPr lang="en-US" altLang="x-none" sz="2400" baseline="-25000" dirty="0">
                <a:latin typeface="华文楷体" panose="02010600040101010101" pitchFamily="2" charset="-122"/>
                <a:ea typeface="华文楷体" panose="02010600040101010101" pitchFamily="2" charset="-122"/>
                <a:sym typeface="Wingdings" panose="05000000000000000000" pitchFamily="2" charset="2"/>
              </a:rPr>
              <a:t>T3</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(x)W</a:t>
            </a:r>
            <a:r>
              <a:rPr lang="en-US" altLang="x-none" sz="2400" baseline="-25000" dirty="0">
                <a:latin typeface="华文楷体" panose="02010600040101010101" pitchFamily="2" charset="-122"/>
                <a:ea typeface="华文楷体" panose="02010600040101010101" pitchFamily="2" charset="-122"/>
                <a:sym typeface="Wingdings" panose="05000000000000000000" pitchFamily="2" charset="2"/>
              </a:rPr>
              <a:t>T2</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(x)W</a:t>
            </a:r>
            <a:r>
              <a:rPr lang="en-US" altLang="x-none" sz="2400" baseline="-25000" dirty="0">
                <a:latin typeface="华文楷体" panose="02010600040101010101" pitchFamily="2" charset="-122"/>
                <a:ea typeface="华文楷体" panose="02010600040101010101" pitchFamily="2" charset="-122"/>
                <a:sym typeface="Wingdings" panose="05000000000000000000" pitchFamily="2" charset="2"/>
              </a:rPr>
              <a:t>T3</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(z)R</a:t>
            </a:r>
            <a:r>
              <a:rPr lang="en-US" altLang="x-none" sz="2400" baseline="-25000" dirty="0">
                <a:latin typeface="华文楷体" panose="02010600040101010101" pitchFamily="2" charset="-122"/>
                <a:ea typeface="华文楷体" panose="02010600040101010101" pitchFamily="2" charset="-122"/>
                <a:sym typeface="Wingdings" panose="05000000000000000000" pitchFamily="2" charset="2"/>
              </a:rPr>
              <a:t>T4</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(z)W</a:t>
            </a:r>
            <a:r>
              <a:rPr lang="en-US" altLang="x-none" sz="2400" baseline="-25000" dirty="0">
                <a:latin typeface="华文楷体" panose="02010600040101010101" pitchFamily="2" charset="-122"/>
                <a:ea typeface="华文楷体" panose="02010600040101010101" pitchFamily="2" charset="-122"/>
                <a:sym typeface="Wingdings" panose="05000000000000000000" pitchFamily="2" charset="2"/>
              </a:rPr>
              <a:t>T4</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(x)</a:t>
            </a:r>
            <a:endParaRPr lang="en-US" altLang="x-none" sz="2400" dirty="0">
              <a:latin typeface="华文楷体" panose="02010600040101010101" pitchFamily="2" charset="-122"/>
              <a:ea typeface="华文楷体" panose="02010600040101010101" pitchFamily="2" charset="-122"/>
              <a:sym typeface="Wingdings" panose="05000000000000000000" pitchFamily="2" charset="2"/>
            </a:endParaRPr>
          </a:p>
          <a:p>
            <a:pPr lvl="0" indent="0"/>
            <a:r>
              <a:rPr lang="zh-CN" altLang="en-US" sz="2400" dirty="0">
                <a:latin typeface="华文楷体" panose="02010600040101010101" pitchFamily="2" charset="-122"/>
                <a:ea typeface="华文楷体" panose="02010600040101010101" pitchFamily="2" charset="-122"/>
                <a:sym typeface="Wingdings" panose="05000000000000000000" pitchFamily="2" charset="2"/>
              </a:rPr>
              <a:t>问题：① 该调度是否可串行化？② 如是，与其等价的串行调度是什么？</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p:txBody>
      </p:sp>
      <p:grpSp>
        <p:nvGrpSpPr>
          <p:cNvPr id="107527" name="Group 7"/>
          <p:cNvGrpSpPr/>
          <p:nvPr/>
        </p:nvGrpSpPr>
        <p:grpSpPr>
          <a:xfrm>
            <a:off x="395288" y="4437063"/>
            <a:ext cx="3132137" cy="2073275"/>
            <a:chOff x="0" y="0"/>
            <a:chExt cx="1927" cy="1496"/>
          </a:xfrm>
        </p:grpSpPr>
        <p:sp>
          <p:nvSpPr>
            <p:cNvPr id="103431" name="Oval 8"/>
            <p:cNvSpPr/>
            <p:nvPr/>
          </p:nvSpPr>
          <p:spPr>
            <a:xfrm>
              <a:off x="340" y="199"/>
              <a:ext cx="170" cy="14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3432" name="Oval 9"/>
            <p:cNvSpPr/>
            <p:nvPr/>
          </p:nvSpPr>
          <p:spPr>
            <a:xfrm>
              <a:off x="1473" y="227"/>
              <a:ext cx="170" cy="14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3433" name="Oval 10"/>
            <p:cNvSpPr/>
            <p:nvPr/>
          </p:nvSpPr>
          <p:spPr>
            <a:xfrm>
              <a:off x="340" y="1162"/>
              <a:ext cx="170" cy="14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3434" name="Oval 11"/>
            <p:cNvSpPr/>
            <p:nvPr/>
          </p:nvSpPr>
          <p:spPr>
            <a:xfrm>
              <a:off x="1502" y="1162"/>
              <a:ext cx="170" cy="14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3435" name="Text Box 12"/>
            <p:cNvSpPr txBox="1"/>
            <p:nvPr/>
          </p:nvSpPr>
          <p:spPr>
            <a:xfrm>
              <a:off x="0" y="7"/>
              <a:ext cx="198" cy="220"/>
            </a:xfrm>
            <a:prstGeom prst="rect">
              <a:avLst/>
            </a:prstGeom>
            <a:noFill/>
            <a:ln w="9525">
              <a:noFill/>
            </a:ln>
          </p:spPr>
          <p:txBody>
            <a:bodyPr wrap="square" lIns="0" tIns="0" rIns="0" bIns="0" anchor="t">
              <a:spAutoFit/>
            </a:bodyPr>
            <a:lstStyle/>
            <a:p>
              <a:pPr lvl="0" indent="0" algn="ctr">
                <a:spcBef>
                  <a:spcPct val="50000"/>
                </a:spcBef>
              </a:pPr>
              <a:r>
                <a:rPr lang="en-US" altLang="x-none" sz="2000" dirty="0">
                  <a:latin typeface="Arial" panose="020B0604020202020204" pitchFamily="34" charset="0"/>
                  <a:ea typeface="宋体" panose="02010600030101010101" pitchFamily="2" charset="-122"/>
                </a:rPr>
                <a:t>T1</a:t>
              </a:r>
              <a:endParaRPr lang="en-US" altLang="x-none" sz="2000" dirty="0">
                <a:latin typeface="Arial" panose="020B0604020202020204" pitchFamily="34" charset="0"/>
                <a:ea typeface="宋体" panose="02010600030101010101" pitchFamily="2" charset="-122"/>
              </a:endParaRPr>
            </a:p>
          </p:txBody>
        </p:sp>
        <p:sp>
          <p:nvSpPr>
            <p:cNvPr id="103436" name="Text Box 13"/>
            <p:cNvSpPr txBox="1"/>
            <p:nvPr/>
          </p:nvSpPr>
          <p:spPr>
            <a:xfrm>
              <a:off x="1729" y="1276"/>
              <a:ext cx="198" cy="220"/>
            </a:xfrm>
            <a:prstGeom prst="rect">
              <a:avLst/>
            </a:prstGeom>
            <a:noFill/>
            <a:ln w="9525">
              <a:noFill/>
            </a:ln>
          </p:spPr>
          <p:txBody>
            <a:bodyPr wrap="square" lIns="0" tIns="0" rIns="0" bIns="0" anchor="t">
              <a:spAutoFit/>
            </a:bodyPr>
            <a:lstStyle/>
            <a:p>
              <a:pPr lvl="0" indent="0" algn="ctr">
                <a:spcBef>
                  <a:spcPct val="50000"/>
                </a:spcBef>
              </a:pPr>
              <a:r>
                <a:rPr lang="en-US" altLang="x-none" sz="2000" dirty="0">
                  <a:latin typeface="Arial" panose="020B0604020202020204" pitchFamily="34" charset="0"/>
                  <a:ea typeface="宋体" panose="02010600030101010101" pitchFamily="2" charset="-122"/>
                </a:rPr>
                <a:t>T4</a:t>
              </a:r>
              <a:endParaRPr lang="en-US" altLang="x-none" sz="2000" dirty="0">
                <a:latin typeface="Arial" panose="020B0604020202020204" pitchFamily="34" charset="0"/>
                <a:ea typeface="宋体" panose="02010600030101010101" pitchFamily="2" charset="-122"/>
              </a:endParaRPr>
            </a:p>
          </p:txBody>
        </p:sp>
        <p:sp>
          <p:nvSpPr>
            <p:cNvPr id="103437" name="Text Box 14"/>
            <p:cNvSpPr txBox="1"/>
            <p:nvPr/>
          </p:nvSpPr>
          <p:spPr>
            <a:xfrm>
              <a:off x="28" y="1276"/>
              <a:ext cx="198" cy="220"/>
            </a:xfrm>
            <a:prstGeom prst="rect">
              <a:avLst/>
            </a:prstGeom>
            <a:noFill/>
            <a:ln w="9525">
              <a:noFill/>
            </a:ln>
          </p:spPr>
          <p:txBody>
            <a:bodyPr wrap="square" lIns="0" tIns="0" rIns="0" bIns="0" anchor="t">
              <a:spAutoFit/>
            </a:bodyPr>
            <a:lstStyle/>
            <a:p>
              <a:pPr lvl="0" indent="0" algn="ctr">
                <a:spcBef>
                  <a:spcPct val="50000"/>
                </a:spcBef>
              </a:pPr>
              <a:r>
                <a:rPr lang="en-US" altLang="x-none" sz="2000" dirty="0">
                  <a:latin typeface="Arial" panose="020B0604020202020204" pitchFamily="34" charset="0"/>
                  <a:ea typeface="宋体" panose="02010600030101010101" pitchFamily="2" charset="-122"/>
                </a:rPr>
                <a:t>T3</a:t>
              </a:r>
              <a:endParaRPr lang="en-US" altLang="x-none" sz="2000" dirty="0">
                <a:latin typeface="Arial" panose="020B0604020202020204" pitchFamily="34" charset="0"/>
                <a:ea typeface="宋体" panose="02010600030101010101" pitchFamily="2" charset="-122"/>
              </a:endParaRPr>
            </a:p>
          </p:txBody>
        </p:sp>
        <p:sp>
          <p:nvSpPr>
            <p:cNvPr id="103438" name="Text Box 15"/>
            <p:cNvSpPr txBox="1"/>
            <p:nvPr/>
          </p:nvSpPr>
          <p:spPr>
            <a:xfrm>
              <a:off x="1672" y="0"/>
              <a:ext cx="198" cy="220"/>
            </a:xfrm>
            <a:prstGeom prst="rect">
              <a:avLst/>
            </a:prstGeom>
            <a:noFill/>
            <a:ln w="9525">
              <a:noFill/>
            </a:ln>
          </p:spPr>
          <p:txBody>
            <a:bodyPr wrap="square" lIns="0" tIns="0" rIns="0" bIns="0" anchor="t">
              <a:spAutoFit/>
            </a:bodyPr>
            <a:lstStyle/>
            <a:p>
              <a:pPr lvl="0" indent="0" algn="ctr">
                <a:spcBef>
                  <a:spcPct val="50000"/>
                </a:spcBef>
              </a:pPr>
              <a:r>
                <a:rPr lang="en-US" altLang="x-none" sz="2000" dirty="0">
                  <a:latin typeface="Arial" panose="020B0604020202020204" pitchFamily="34" charset="0"/>
                  <a:ea typeface="宋体" panose="02010600030101010101" pitchFamily="2" charset="-122"/>
                </a:rPr>
                <a:t>T2</a:t>
              </a:r>
              <a:endParaRPr lang="en-US" altLang="x-none" sz="2000" dirty="0">
                <a:latin typeface="Arial" panose="020B0604020202020204" pitchFamily="34" charset="0"/>
                <a:ea typeface="宋体" panose="02010600030101010101" pitchFamily="2" charset="-122"/>
              </a:endParaRPr>
            </a:p>
          </p:txBody>
        </p:sp>
        <p:sp>
          <p:nvSpPr>
            <p:cNvPr id="103439" name="Line 16"/>
            <p:cNvSpPr/>
            <p:nvPr/>
          </p:nvSpPr>
          <p:spPr>
            <a:xfrm>
              <a:off x="510" y="284"/>
              <a:ext cx="963" cy="0"/>
            </a:xfrm>
            <a:prstGeom prst="line">
              <a:avLst/>
            </a:prstGeom>
            <a:ln w="28575" cap="flat" cmpd="sng">
              <a:solidFill>
                <a:schemeClr val="tx1"/>
              </a:solidFill>
              <a:prstDash val="solid"/>
              <a:round/>
              <a:headEnd type="none" w="med" len="med"/>
              <a:tailEnd type="arrow" w="lg" len="med"/>
            </a:ln>
          </p:spPr>
        </p:sp>
        <p:sp>
          <p:nvSpPr>
            <p:cNvPr id="103440" name="Line 17"/>
            <p:cNvSpPr/>
            <p:nvPr/>
          </p:nvSpPr>
          <p:spPr>
            <a:xfrm>
              <a:off x="425" y="340"/>
              <a:ext cx="0" cy="822"/>
            </a:xfrm>
            <a:prstGeom prst="line">
              <a:avLst/>
            </a:prstGeom>
            <a:ln w="38100" cap="flat" cmpd="sng">
              <a:solidFill>
                <a:schemeClr val="tx1"/>
              </a:solidFill>
              <a:prstDash val="solid"/>
              <a:round/>
              <a:headEnd type="none" w="med" len="med"/>
              <a:tailEnd type="arrow" w="lg" len="med"/>
            </a:ln>
          </p:spPr>
        </p:sp>
        <p:sp>
          <p:nvSpPr>
            <p:cNvPr id="103441" name="Line 18"/>
            <p:cNvSpPr/>
            <p:nvPr/>
          </p:nvSpPr>
          <p:spPr>
            <a:xfrm>
              <a:off x="481" y="313"/>
              <a:ext cx="1021" cy="879"/>
            </a:xfrm>
            <a:prstGeom prst="line">
              <a:avLst/>
            </a:prstGeom>
            <a:ln w="38100" cap="flat" cmpd="sng">
              <a:solidFill>
                <a:schemeClr val="tx1"/>
              </a:solidFill>
              <a:prstDash val="solid"/>
              <a:round/>
              <a:headEnd type="none" w="med" len="med"/>
              <a:tailEnd type="arrow" w="lg" len="med"/>
            </a:ln>
          </p:spPr>
        </p:sp>
        <p:sp>
          <p:nvSpPr>
            <p:cNvPr id="103442" name="Line 19"/>
            <p:cNvSpPr/>
            <p:nvPr/>
          </p:nvSpPr>
          <p:spPr>
            <a:xfrm>
              <a:off x="510" y="1248"/>
              <a:ext cx="992" cy="0"/>
            </a:xfrm>
            <a:prstGeom prst="line">
              <a:avLst/>
            </a:prstGeom>
            <a:ln w="38100" cap="flat" cmpd="sng">
              <a:solidFill>
                <a:schemeClr val="tx1"/>
              </a:solidFill>
              <a:prstDash val="solid"/>
              <a:round/>
              <a:headEnd type="none" w="med" len="med"/>
              <a:tailEnd type="arrow" w="lg" len="med"/>
            </a:ln>
          </p:spPr>
        </p:sp>
        <p:sp>
          <p:nvSpPr>
            <p:cNvPr id="103443" name="Line 20"/>
            <p:cNvSpPr/>
            <p:nvPr/>
          </p:nvSpPr>
          <p:spPr>
            <a:xfrm>
              <a:off x="1559" y="369"/>
              <a:ext cx="0" cy="793"/>
            </a:xfrm>
            <a:prstGeom prst="line">
              <a:avLst/>
            </a:prstGeom>
            <a:ln w="38100" cap="flat" cmpd="sng">
              <a:solidFill>
                <a:schemeClr val="tx1"/>
              </a:solidFill>
              <a:prstDash val="solid"/>
              <a:round/>
              <a:headEnd type="none" w="med" len="med"/>
              <a:tailEnd type="arrow" w="lg" len="med"/>
            </a:ln>
          </p:spPr>
        </p:sp>
        <p:sp>
          <p:nvSpPr>
            <p:cNvPr id="103444" name="Line 21"/>
            <p:cNvSpPr/>
            <p:nvPr/>
          </p:nvSpPr>
          <p:spPr>
            <a:xfrm flipV="1">
              <a:off x="481" y="369"/>
              <a:ext cx="1021" cy="793"/>
            </a:xfrm>
            <a:prstGeom prst="line">
              <a:avLst/>
            </a:prstGeom>
            <a:ln w="38100" cap="flat" cmpd="sng">
              <a:solidFill>
                <a:schemeClr val="tx1"/>
              </a:solidFill>
              <a:prstDash val="solid"/>
              <a:round/>
              <a:headEnd type="none" w="med" len="med"/>
              <a:tailEnd type="arrow" w="lg" len="med"/>
            </a:ln>
          </p:spPr>
        </p:sp>
      </p:grpSp>
      <p:sp>
        <p:nvSpPr>
          <p:cNvPr id="107542" name="Oval 25"/>
          <p:cNvSpPr/>
          <p:nvPr/>
        </p:nvSpPr>
        <p:spPr>
          <a:xfrm>
            <a:off x="755650" y="4568825"/>
            <a:ext cx="576263" cy="503238"/>
          </a:xfrm>
          <a:prstGeom prst="ellipse">
            <a:avLst/>
          </a:prstGeom>
          <a:noFill/>
          <a:ln w="38100" cap="flat" cmpd="sng">
            <a:solidFill>
              <a:srgbClr val="CC0000"/>
            </a:solidFill>
            <a:prstDash val="solid"/>
            <a:round/>
            <a:headEnd type="none" w="med" len="med"/>
            <a:tailEnd type="none" w="med" len="med"/>
          </a:ln>
        </p:spPr>
        <p:txBody>
          <a:bodyPr wrap="none" lIns="90000" tIns="46800" rIns="90000" bIns="46800" anchor="ctr"/>
          <a:lstStyle/>
          <a:p>
            <a:pPr lvl="0" indent="0"/>
            <a:endParaRPr lang="zh-CN" altLang="en-US" dirty="0">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107522">
                                            <p:txEl>
                                              <p:pRg st="0" end="0"/>
                                            </p:txEl>
                                          </p:spTgt>
                                        </p:tgtEl>
                                        <p:attrNameLst>
                                          <p:attrName>style.visibility</p:attrName>
                                        </p:attrNameLst>
                                      </p:cBhvr>
                                      <p:to>
                                        <p:strVal val="visible"/>
                                      </p:to>
                                    </p:set>
                                    <p:animEffect transition="in" filter="dissolve">
                                      <p:cBhvr>
                                        <p:cTn id="7" dur="500"/>
                                        <p:tgtEl>
                                          <p:spTgt spid="1075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07526"/>
                                        </p:tgtEl>
                                        <p:attrNameLst>
                                          <p:attrName>style.visibility</p:attrName>
                                        </p:attrNameLst>
                                      </p:cBhvr>
                                      <p:to>
                                        <p:strVal val="visible"/>
                                      </p:to>
                                    </p:set>
                                    <p:animEffect transition="in" filter="checkerboard(across)">
                                      <p:cBhvr>
                                        <p:cTn id="12" dur="500"/>
                                        <p:tgtEl>
                                          <p:spTgt spid="107526"/>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752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0" presetClass="entr" presetSubtype="0" fill="hold" grpId="0" nodeType="clickEffect">
                                  <p:stCondLst>
                                    <p:cond delay="0"/>
                                  </p:stCondLst>
                                  <p:childTnLst>
                                    <p:set>
                                      <p:cBhvr>
                                        <p:cTn id="20" dur="1" fill="hold">
                                          <p:stCondLst>
                                            <p:cond delay="0"/>
                                          </p:stCondLst>
                                        </p:cTn>
                                        <p:tgtEl>
                                          <p:spTgt spid="107542"/>
                                        </p:tgtEl>
                                        <p:attrNameLst>
                                          <p:attrName>style.visibility</p:attrName>
                                        </p:attrNameLst>
                                      </p:cBhvr>
                                      <p:to>
                                        <p:strVal val="visible"/>
                                      </p:to>
                                    </p:set>
                                    <p:animEffect transition="in" filter="wedge">
                                      <p:cBhvr>
                                        <p:cTn id="21" dur="2000"/>
                                        <p:tgtEl>
                                          <p:spTgt spid="1075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6" grpId="0"/>
      <p:bldP spid="107542" grpId="0" bldLvl="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ext Box 4"/>
          <p:cNvSpPr txBox="1"/>
          <p:nvPr/>
        </p:nvSpPr>
        <p:spPr>
          <a:xfrm>
            <a:off x="620713" y="1520825"/>
            <a:ext cx="7964487" cy="4283075"/>
          </a:xfrm>
          <a:prstGeom prst="rect">
            <a:avLst/>
          </a:prstGeom>
          <a:solidFill>
            <a:schemeClr val="bg1"/>
          </a:solidFill>
          <a:ln w="9525">
            <a:noFill/>
          </a:ln>
        </p:spPr>
        <p:txBody>
          <a:bodyPr wrap="square" anchor="t">
            <a:spAutoFit/>
          </a:bodyPr>
          <a:lstStyle/>
          <a:p>
            <a:pPr lvl="0" indent="0">
              <a:lnSpc>
                <a:spcPct val="125000"/>
              </a:lnSpc>
              <a:spcBef>
                <a:spcPts val="600"/>
              </a:spcBef>
              <a:buFont typeface="Wingdings" panose="05000000000000000000" pitchFamily="2" charset="2"/>
              <a:buChar char="p"/>
            </a:pPr>
            <a:r>
              <a:rPr lang="zh-CN" altLang="en-US" sz="2400" u="sng" dirty="0">
                <a:solidFill>
                  <a:srgbClr val="A50021"/>
                </a:solidFill>
                <a:latin typeface="华文楷体" panose="02010600040101010101" pitchFamily="2" charset="-122"/>
                <a:ea typeface="华文楷体" panose="02010600040101010101" pitchFamily="2" charset="-122"/>
                <a:sym typeface="Wingdings" panose="05000000000000000000" pitchFamily="2" charset="2"/>
              </a:rPr>
              <a:t>是否可串行化测试方法</a:t>
            </a:r>
            <a:r>
              <a:rPr lang="zh-CN" altLang="en-US" sz="2400" u="sng" dirty="0">
                <a:latin typeface="华文楷体" panose="02010600040101010101" pitchFamily="2" charset="-122"/>
                <a:ea typeface="华文楷体" panose="02010600040101010101" pitchFamily="2" charset="-122"/>
                <a:sym typeface="Wingdings" panose="05000000000000000000" pitchFamily="2" charset="2"/>
              </a:rPr>
              <a:t>：</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如前趋图中有回路，则</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S</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不可能等价于任何串行调度；如前趋图无回路，则可找到</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S</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的一个等价的串行调度。</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a:p>
            <a:pPr lvl="0" indent="0">
              <a:lnSpc>
                <a:spcPct val="125000"/>
              </a:lnSpc>
              <a:spcBef>
                <a:spcPts val="600"/>
              </a:spcBef>
              <a:buFont typeface="Wingdings" panose="05000000000000000000" pitchFamily="2" charset="2"/>
              <a:buChar char="p"/>
            </a:pPr>
            <a:r>
              <a:rPr lang="zh-CN" altLang="en-US" sz="2400" u="sng" dirty="0">
                <a:solidFill>
                  <a:srgbClr val="A50021"/>
                </a:solidFill>
                <a:latin typeface="华文楷体" panose="02010600040101010101" pitchFamily="2" charset="-122"/>
                <a:ea typeface="华文楷体" panose="02010600040101010101" pitchFamily="2" charset="-122"/>
                <a:sym typeface="Wingdings" panose="05000000000000000000" pitchFamily="2" charset="2"/>
              </a:rPr>
              <a:t>寻找等价串行调度的方法：</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因图中无回路，必有一入度为零的结点，将这些结点及其边从图中移去存放于一个队列中（次序任意），对所剩图作同样处理，不过，移去的结点要放在队列中已存结点的后面，如此继续下去，直到所有结点移入队列中。按队中结点次序串行排列各事务操作，即可得到一个等价的串行调度。 </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p:txBody>
      </p:sp>
      <p:sp>
        <p:nvSpPr>
          <p:cNvPr id="104450" name="Rectangle 2"/>
          <p:cNvSpPr/>
          <p:nvPr/>
        </p:nvSpPr>
        <p:spPr>
          <a:xfrm>
            <a:off x="417513" y="42863"/>
            <a:ext cx="8229600" cy="692150"/>
          </a:xfrm>
          <a:prstGeom prst="rect">
            <a:avLst/>
          </a:prstGeom>
          <a:noFill/>
          <a:ln w="9525">
            <a:noFill/>
          </a:ln>
        </p:spPr>
        <p:txBody>
          <a:bodyPr wrap="square" anchor="ctr"/>
          <a:lstStyle/>
          <a:p>
            <a:pPr lvl="0" indent="0">
              <a:buFont typeface="Wingdings" panose="05000000000000000000" pitchFamily="2" charset="2"/>
              <a:buNone/>
            </a:pPr>
            <a:r>
              <a:rPr lang="zh-CN" altLang="en-US" sz="3600" dirty="0">
                <a:solidFill>
                  <a:srgbClr val="0033CC"/>
                </a:solidFill>
                <a:latin typeface="Arial" panose="020B0604020202020204" pitchFamily="34" charset="0"/>
                <a:ea typeface="黑体" panose="02010609060101010101" pitchFamily="1" charset="-122"/>
              </a:rPr>
              <a:t>五、数据库系统中的并发</a:t>
            </a:r>
            <a:endParaRPr lang="zh-CN" altLang="en-US" sz="3600" dirty="0">
              <a:solidFill>
                <a:srgbClr val="0033CC"/>
              </a:solidFill>
              <a:latin typeface="Arial" panose="020B0604020202020204" pitchFamily="34" charset="0"/>
              <a:ea typeface="黑体" panose="02010609060101010101" pitchFamily="1" charset="-122"/>
            </a:endParaRPr>
          </a:p>
        </p:txBody>
      </p:sp>
      <p:sp>
        <p:nvSpPr>
          <p:cNvPr id="104451" name="Rectangle 3"/>
          <p:cNvSpPr txBox="1"/>
          <p:nvPr/>
        </p:nvSpPr>
        <p:spPr>
          <a:xfrm>
            <a:off x="517525" y="811213"/>
            <a:ext cx="7178675" cy="706437"/>
          </a:xfrm>
          <a:prstGeom prst="rect">
            <a:avLst/>
          </a:prstGeom>
          <a:noFill/>
          <a:ln w="9525">
            <a:noFill/>
          </a:ln>
        </p:spPr>
        <p:txBody>
          <a:bodyPr wrap="square"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3</a:t>
            </a:r>
            <a:r>
              <a:rPr lang="zh-CN" altLang="en-US" sz="2800" dirty="0">
                <a:solidFill>
                  <a:srgbClr val="FF0000"/>
                </a:solidFill>
                <a:latin typeface="黑体" panose="02010609060101010101" pitchFamily="1" charset="-122"/>
                <a:ea typeface="黑体" panose="02010609060101010101" pitchFamily="1" charset="-122"/>
              </a:rPr>
              <a:t>、并发执行的正确性准则</a:t>
            </a:r>
            <a:endParaRPr lang="en-US" altLang="x-none" sz="2800" dirty="0">
              <a:solidFill>
                <a:srgbClr val="FF0000"/>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08546">
                                            <p:txEl>
                                              <p:pRg st="0" end="0"/>
                                            </p:txEl>
                                          </p:spTgt>
                                        </p:tgtEl>
                                        <p:attrNameLst>
                                          <p:attrName>style.visibility</p:attrName>
                                        </p:attrNameLst>
                                      </p:cBhvr>
                                      <p:to>
                                        <p:strVal val="visible"/>
                                      </p:to>
                                    </p:set>
                                    <p:anim calcmode="lin" valueType="num">
                                      <p:cBhvr>
                                        <p:cTn id="7" dur="1000" fill="hold"/>
                                        <p:tgtEl>
                                          <p:spTgt spid="108546">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08546">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08546">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6" presetClass="entr" presetSubtype="26" fill="hold" nodeType="clickEffect">
                                  <p:stCondLst>
                                    <p:cond delay="0"/>
                                  </p:stCondLst>
                                  <p:childTnLst>
                                    <p:set>
                                      <p:cBhvr>
                                        <p:cTn id="13" dur="1" fill="hold">
                                          <p:stCondLst>
                                            <p:cond delay="0"/>
                                          </p:stCondLst>
                                        </p:cTn>
                                        <p:tgtEl>
                                          <p:spTgt spid="108546">
                                            <p:txEl>
                                              <p:pRg st="1" end="1"/>
                                            </p:txEl>
                                          </p:spTgt>
                                        </p:tgtEl>
                                        <p:attrNameLst>
                                          <p:attrName>style.visibility</p:attrName>
                                        </p:attrNameLst>
                                      </p:cBhvr>
                                      <p:to>
                                        <p:strVal val="visible"/>
                                      </p:to>
                                    </p:set>
                                    <p:animEffect transition="in" filter="barn(inHorizontal)">
                                      <p:cBhvr>
                                        <p:cTn id="14" dur="500"/>
                                        <p:tgtEl>
                                          <p:spTgt spid="10854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ext Box 5"/>
          <p:cNvSpPr txBox="1"/>
          <p:nvPr/>
        </p:nvSpPr>
        <p:spPr>
          <a:xfrm>
            <a:off x="519113" y="2420938"/>
            <a:ext cx="3275012" cy="1200150"/>
          </a:xfrm>
          <a:prstGeom prst="rect">
            <a:avLst/>
          </a:prstGeom>
          <a:noFill/>
          <a:ln w="9525">
            <a:noFill/>
          </a:ln>
        </p:spPr>
        <p:txBody>
          <a:bodyPr anchor="t">
            <a:spAutoFit/>
          </a:bodyPr>
          <a:lstStyle/>
          <a:p>
            <a:pPr lvl="0" indent="0" algn="just"/>
            <a:r>
              <a:rPr lang="zh-CN" altLang="en-US" sz="2400" dirty="0">
                <a:solidFill>
                  <a:srgbClr val="CC0000"/>
                </a:solidFill>
                <a:latin typeface="华文楷体" panose="02010600040101010101" pitchFamily="2" charset="-122"/>
                <a:ea typeface="华文楷体" panose="02010600040101010101" pitchFamily="2" charset="-122"/>
                <a:sym typeface="Wingdings" panose="05000000000000000000" pitchFamily="2" charset="2"/>
              </a:rPr>
              <a:t>问题</a:t>
            </a:r>
            <a:r>
              <a:rPr lang="en-US" altLang="x-none" sz="2400" dirty="0">
                <a:solidFill>
                  <a:srgbClr val="CC0000"/>
                </a:solidFill>
                <a:latin typeface="华文楷体" panose="02010600040101010101" pitchFamily="2" charset="-122"/>
                <a:ea typeface="华文楷体" panose="02010600040101010101" pitchFamily="2" charset="-122"/>
                <a:sym typeface="Wingdings" panose="05000000000000000000" pitchFamily="2" charset="2"/>
              </a:rPr>
              <a:t>1</a:t>
            </a:r>
            <a:r>
              <a:rPr lang="zh-CN" altLang="en-US" sz="2400" dirty="0">
                <a:solidFill>
                  <a:srgbClr val="CC0000"/>
                </a:solidFill>
                <a:latin typeface="华文楷体" panose="02010600040101010101" pitchFamily="2" charset="-122"/>
                <a:ea typeface="华文楷体" panose="02010600040101010101" pitchFamily="2" charset="-122"/>
                <a:sym typeface="Wingdings" panose="05000000000000000000" pitchFamily="2" charset="2"/>
              </a:rPr>
              <a:t>答案：</a:t>
            </a:r>
            <a:endParaRPr lang="zh-CN" altLang="en-US" sz="2400" dirty="0">
              <a:solidFill>
                <a:srgbClr val="CC0000"/>
              </a:solidFill>
              <a:latin typeface="华文楷体" panose="02010600040101010101" pitchFamily="2" charset="-122"/>
              <a:ea typeface="华文楷体" panose="02010600040101010101" pitchFamily="2" charset="-122"/>
              <a:sym typeface="Wingdings" panose="05000000000000000000" pitchFamily="2" charset="2"/>
            </a:endParaRPr>
          </a:p>
          <a:p>
            <a:pPr lvl="0" indent="0" algn="just"/>
            <a:r>
              <a:rPr lang="zh-CN" altLang="en-US" sz="2400" dirty="0">
                <a:latin typeface="华文楷体" panose="02010600040101010101" pitchFamily="2" charset="-122"/>
                <a:ea typeface="华文楷体" panose="02010600040101010101" pitchFamily="2" charset="-122"/>
                <a:sym typeface="Wingdings" panose="05000000000000000000" pitchFamily="2" charset="2"/>
              </a:rPr>
              <a:t>图中无回路，因此，该并发调度为可串行调度！</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p:txBody>
      </p:sp>
      <p:sp>
        <p:nvSpPr>
          <p:cNvPr id="105474" name="Rectangle 6"/>
          <p:cNvSpPr/>
          <p:nvPr/>
        </p:nvSpPr>
        <p:spPr>
          <a:xfrm>
            <a:off x="250825" y="5470525"/>
            <a:ext cx="8642350" cy="765175"/>
          </a:xfrm>
          <a:prstGeom prst="rect">
            <a:avLst/>
          </a:prstGeom>
          <a:solidFill>
            <a:schemeClr val="bg1"/>
          </a:solidFill>
          <a:ln w="9525">
            <a:noFill/>
          </a:ln>
        </p:spPr>
        <p:txBody>
          <a:bodyPr wrap="none" lIns="90000" tIns="46800" rIns="90000" bIns="46800" anchor="ctr"/>
          <a:lstStyle/>
          <a:p>
            <a:pPr lvl="0" indent="0"/>
            <a:endParaRPr lang="zh-CN" altLang="en-US" dirty="0">
              <a:latin typeface="Arial" panose="020B0604020202020204" pitchFamily="34" charset="0"/>
              <a:ea typeface="宋体" panose="02010600030101010101" pitchFamily="2" charset="-122"/>
            </a:endParaRPr>
          </a:p>
        </p:txBody>
      </p:sp>
      <p:grpSp>
        <p:nvGrpSpPr>
          <p:cNvPr id="109572" name="Group 7"/>
          <p:cNvGrpSpPr/>
          <p:nvPr/>
        </p:nvGrpSpPr>
        <p:grpSpPr>
          <a:xfrm>
            <a:off x="395288" y="3814763"/>
            <a:ext cx="3132137" cy="2073275"/>
            <a:chOff x="0" y="0"/>
            <a:chExt cx="1927" cy="1496"/>
          </a:xfrm>
        </p:grpSpPr>
        <p:sp>
          <p:nvSpPr>
            <p:cNvPr id="105476" name="Oval 8"/>
            <p:cNvSpPr/>
            <p:nvPr/>
          </p:nvSpPr>
          <p:spPr>
            <a:xfrm>
              <a:off x="340" y="199"/>
              <a:ext cx="170" cy="14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5477" name="Oval 9"/>
            <p:cNvSpPr/>
            <p:nvPr/>
          </p:nvSpPr>
          <p:spPr>
            <a:xfrm>
              <a:off x="1473" y="227"/>
              <a:ext cx="170" cy="14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5478" name="Oval 10"/>
            <p:cNvSpPr/>
            <p:nvPr/>
          </p:nvSpPr>
          <p:spPr>
            <a:xfrm>
              <a:off x="340" y="1162"/>
              <a:ext cx="170" cy="14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5479" name="Oval 11"/>
            <p:cNvSpPr/>
            <p:nvPr/>
          </p:nvSpPr>
          <p:spPr>
            <a:xfrm>
              <a:off x="1502" y="1162"/>
              <a:ext cx="170" cy="14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5480" name="Text Box 12"/>
            <p:cNvSpPr txBox="1"/>
            <p:nvPr/>
          </p:nvSpPr>
          <p:spPr>
            <a:xfrm>
              <a:off x="0" y="7"/>
              <a:ext cx="198" cy="220"/>
            </a:xfrm>
            <a:prstGeom prst="rect">
              <a:avLst/>
            </a:prstGeom>
            <a:noFill/>
            <a:ln w="9525">
              <a:noFill/>
            </a:ln>
          </p:spPr>
          <p:txBody>
            <a:bodyPr lIns="0" tIns="0" rIns="0" bIns="0" anchor="t">
              <a:spAutoFit/>
            </a:bodyPr>
            <a:lstStyle/>
            <a:p>
              <a:pPr lvl="0" indent="0" algn="ctr">
                <a:spcBef>
                  <a:spcPct val="50000"/>
                </a:spcBef>
              </a:pPr>
              <a:r>
                <a:rPr lang="en-US" altLang="x-none" sz="2000" dirty="0">
                  <a:latin typeface="Arial" panose="020B0604020202020204" pitchFamily="34" charset="0"/>
                  <a:ea typeface="宋体" panose="02010600030101010101" pitchFamily="2" charset="-122"/>
                </a:rPr>
                <a:t>T1</a:t>
              </a:r>
              <a:endParaRPr lang="en-US" altLang="x-none" sz="2000" dirty="0">
                <a:latin typeface="Arial" panose="020B0604020202020204" pitchFamily="34" charset="0"/>
                <a:ea typeface="宋体" panose="02010600030101010101" pitchFamily="2" charset="-122"/>
              </a:endParaRPr>
            </a:p>
          </p:txBody>
        </p:sp>
        <p:sp>
          <p:nvSpPr>
            <p:cNvPr id="105481" name="Text Box 13"/>
            <p:cNvSpPr txBox="1"/>
            <p:nvPr/>
          </p:nvSpPr>
          <p:spPr>
            <a:xfrm>
              <a:off x="1729" y="1276"/>
              <a:ext cx="198" cy="220"/>
            </a:xfrm>
            <a:prstGeom prst="rect">
              <a:avLst/>
            </a:prstGeom>
            <a:noFill/>
            <a:ln w="9525">
              <a:noFill/>
            </a:ln>
          </p:spPr>
          <p:txBody>
            <a:bodyPr lIns="0" tIns="0" rIns="0" bIns="0" anchor="t">
              <a:spAutoFit/>
            </a:bodyPr>
            <a:lstStyle/>
            <a:p>
              <a:pPr lvl="0" indent="0" algn="ctr">
                <a:spcBef>
                  <a:spcPct val="50000"/>
                </a:spcBef>
              </a:pPr>
              <a:r>
                <a:rPr lang="en-US" altLang="x-none" sz="2000" dirty="0">
                  <a:latin typeface="Arial" panose="020B0604020202020204" pitchFamily="34" charset="0"/>
                  <a:ea typeface="宋体" panose="02010600030101010101" pitchFamily="2" charset="-122"/>
                </a:rPr>
                <a:t>T4</a:t>
              </a:r>
              <a:endParaRPr lang="en-US" altLang="x-none" sz="2000" dirty="0">
                <a:latin typeface="Arial" panose="020B0604020202020204" pitchFamily="34" charset="0"/>
                <a:ea typeface="宋体" panose="02010600030101010101" pitchFamily="2" charset="-122"/>
              </a:endParaRPr>
            </a:p>
          </p:txBody>
        </p:sp>
        <p:sp>
          <p:nvSpPr>
            <p:cNvPr id="105482" name="Text Box 14"/>
            <p:cNvSpPr txBox="1"/>
            <p:nvPr/>
          </p:nvSpPr>
          <p:spPr>
            <a:xfrm>
              <a:off x="28" y="1276"/>
              <a:ext cx="198" cy="220"/>
            </a:xfrm>
            <a:prstGeom prst="rect">
              <a:avLst/>
            </a:prstGeom>
            <a:noFill/>
            <a:ln w="9525">
              <a:noFill/>
            </a:ln>
          </p:spPr>
          <p:txBody>
            <a:bodyPr lIns="0" tIns="0" rIns="0" bIns="0" anchor="t">
              <a:spAutoFit/>
            </a:bodyPr>
            <a:lstStyle/>
            <a:p>
              <a:pPr lvl="0" indent="0" algn="ctr">
                <a:spcBef>
                  <a:spcPct val="50000"/>
                </a:spcBef>
              </a:pPr>
              <a:r>
                <a:rPr lang="en-US" altLang="x-none" sz="2000" dirty="0">
                  <a:latin typeface="Arial" panose="020B0604020202020204" pitchFamily="34" charset="0"/>
                  <a:ea typeface="宋体" panose="02010600030101010101" pitchFamily="2" charset="-122"/>
                </a:rPr>
                <a:t>T3</a:t>
              </a:r>
              <a:endParaRPr lang="en-US" altLang="x-none" sz="2000" dirty="0">
                <a:latin typeface="Arial" panose="020B0604020202020204" pitchFamily="34" charset="0"/>
                <a:ea typeface="宋体" panose="02010600030101010101" pitchFamily="2" charset="-122"/>
              </a:endParaRPr>
            </a:p>
          </p:txBody>
        </p:sp>
        <p:sp>
          <p:nvSpPr>
            <p:cNvPr id="105483" name="Text Box 15"/>
            <p:cNvSpPr txBox="1"/>
            <p:nvPr/>
          </p:nvSpPr>
          <p:spPr>
            <a:xfrm>
              <a:off x="1672" y="0"/>
              <a:ext cx="198" cy="220"/>
            </a:xfrm>
            <a:prstGeom prst="rect">
              <a:avLst/>
            </a:prstGeom>
            <a:noFill/>
            <a:ln w="9525">
              <a:noFill/>
            </a:ln>
          </p:spPr>
          <p:txBody>
            <a:bodyPr lIns="0" tIns="0" rIns="0" bIns="0" anchor="t">
              <a:spAutoFit/>
            </a:bodyPr>
            <a:lstStyle/>
            <a:p>
              <a:pPr lvl="0" indent="0" algn="ctr">
                <a:spcBef>
                  <a:spcPct val="50000"/>
                </a:spcBef>
              </a:pPr>
              <a:r>
                <a:rPr lang="en-US" altLang="x-none" sz="2000" dirty="0">
                  <a:latin typeface="Arial" panose="020B0604020202020204" pitchFamily="34" charset="0"/>
                  <a:ea typeface="宋体" panose="02010600030101010101" pitchFamily="2" charset="-122"/>
                </a:rPr>
                <a:t>T2</a:t>
              </a:r>
              <a:endParaRPr lang="en-US" altLang="x-none" sz="2000" dirty="0">
                <a:latin typeface="Arial" panose="020B0604020202020204" pitchFamily="34" charset="0"/>
                <a:ea typeface="宋体" panose="02010600030101010101" pitchFamily="2" charset="-122"/>
              </a:endParaRPr>
            </a:p>
          </p:txBody>
        </p:sp>
        <p:sp>
          <p:nvSpPr>
            <p:cNvPr id="105484" name="Line 16"/>
            <p:cNvSpPr/>
            <p:nvPr/>
          </p:nvSpPr>
          <p:spPr>
            <a:xfrm>
              <a:off x="510" y="284"/>
              <a:ext cx="963" cy="0"/>
            </a:xfrm>
            <a:prstGeom prst="line">
              <a:avLst/>
            </a:prstGeom>
            <a:ln w="28575" cap="flat" cmpd="sng">
              <a:solidFill>
                <a:schemeClr val="tx1"/>
              </a:solidFill>
              <a:prstDash val="solid"/>
              <a:round/>
              <a:headEnd type="none" w="med" len="med"/>
              <a:tailEnd type="arrow" w="lg" len="med"/>
            </a:ln>
          </p:spPr>
        </p:sp>
        <p:sp>
          <p:nvSpPr>
            <p:cNvPr id="105485" name="Line 17"/>
            <p:cNvSpPr/>
            <p:nvPr/>
          </p:nvSpPr>
          <p:spPr>
            <a:xfrm>
              <a:off x="425" y="340"/>
              <a:ext cx="0" cy="822"/>
            </a:xfrm>
            <a:prstGeom prst="line">
              <a:avLst/>
            </a:prstGeom>
            <a:ln w="38100" cap="flat" cmpd="sng">
              <a:solidFill>
                <a:schemeClr val="tx1"/>
              </a:solidFill>
              <a:prstDash val="solid"/>
              <a:round/>
              <a:headEnd type="none" w="med" len="med"/>
              <a:tailEnd type="arrow" w="lg" len="med"/>
            </a:ln>
          </p:spPr>
        </p:sp>
        <p:sp>
          <p:nvSpPr>
            <p:cNvPr id="105486" name="Line 18"/>
            <p:cNvSpPr/>
            <p:nvPr/>
          </p:nvSpPr>
          <p:spPr>
            <a:xfrm>
              <a:off x="481" y="313"/>
              <a:ext cx="1021" cy="879"/>
            </a:xfrm>
            <a:prstGeom prst="line">
              <a:avLst/>
            </a:prstGeom>
            <a:ln w="38100" cap="flat" cmpd="sng">
              <a:solidFill>
                <a:schemeClr val="tx1"/>
              </a:solidFill>
              <a:prstDash val="solid"/>
              <a:round/>
              <a:headEnd type="none" w="med" len="med"/>
              <a:tailEnd type="arrow" w="lg" len="med"/>
            </a:ln>
          </p:spPr>
        </p:sp>
        <p:sp>
          <p:nvSpPr>
            <p:cNvPr id="105487" name="Line 19"/>
            <p:cNvSpPr/>
            <p:nvPr/>
          </p:nvSpPr>
          <p:spPr>
            <a:xfrm>
              <a:off x="510" y="1248"/>
              <a:ext cx="992" cy="0"/>
            </a:xfrm>
            <a:prstGeom prst="line">
              <a:avLst/>
            </a:prstGeom>
            <a:ln w="38100" cap="flat" cmpd="sng">
              <a:solidFill>
                <a:schemeClr val="tx1"/>
              </a:solidFill>
              <a:prstDash val="solid"/>
              <a:round/>
              <a:headEnd type="none" w="med" len="med"/>
              <a:tailEnd type="arrow" w="lg" len="med"/>
            </a:ln>
          </p:spPr>
        </p:sp>
        <p:sp>
          <p:nvSpPr>
            <p:cNvPr id="105488" name="Line 20"/>
            <p:cNvSpPr/>
            <p:nvPr/>
          </p:nvSpPr>
          <p:spPr>
            <a:xfrm>
              <a:off x="1559" y="369"/>
              <a:ext cx="0" cy="793"/>
            </a:xfrm>
            <a:prstGeom prst="line">
              <a:avLst/>
            </a:prstGeom>
            <a:ln w="38100" cap="flat" cmpd="sng">
              <a:solidFill>
                <a:schemeClr val="tx1"/>
              </a:solidFill>
              <a:prstDash val="solid"/>
              <a:round/>
              <a:headEnd type="none" w="med" len="med"/>
              <a:tailEnd type="arrow" w="lg" len="med"/>
            </a:ln>
          </p:spPr>
        </p:sp>
        <p:sp>
          <p:nvSpPr>
            <p:cNvPr id="105489" name="Line 21"/>
            <p:cNvSpPr/>
            <p:nvPr/>
          </p:nvSpPr>
          <p:spPr>
            <a:xfrm flipV="1">
              <a:off x="481" y="369"/>
              <a:ext cx="1021" cy="793"/>
            </a:xfrm>
            <a:prstGeom prst="line">
              <a:avLst/>
            </a:prstGeom>
            <a:ln w="38100" cap="flat" cmpd="sng">
              <a:solidFill>
                <a:schemeClr val="tx1"/>
              </a:solidFill>
              <a:prstDash val="solid"/>
              <a:round/>
              <a:headEnd type="none" w="med" len="med"/>
              <a:tailEnd type="arrow" w="lg" len="med"/>
            </a:ln>
          </p:spPr>
        </p:sp>
      </p:grpSp>
      <p:graphicFrame>
        <p:nvGraphicFramePr>
          <p:cNvPr id="109587" name="Object 2"/>
          <p:cNvGraphicFramePr>
            <a:graphicFrameLocks noChangeAspect="1"/>
          </p:cNvGraphicFramePr>
          <p:nvPr/>
        </p:nvGraphicFramePr>
        <p:xfrm>
          <a:off x="3276600" y="2951163"/>
          <a:ext cx="2641600" cy="2870200"/>
        </p:xfrm>
        <a:graphic>
          <a:graphicData uri="http://schemas.openxmlformats.org/presentationml/2006/ole">
            <mc:AlternateContent xmlns:mc="http://schemas.openxmlformats.org/markup-compatibility/2006">
              <mc:Choice xmlns:v="urn:schemas-microsoft-com:vml" Requires="v">
                <p:oleObj spid="_x0000_s22571" name="" r:id="rId1" imgW="1644650" imgH="1790700" progId="Word.Picture.8">
                  <p:embed/>
                </p:oleObj>
              </mc:Choice>
              <mc:Fallback>
                <p:oleObj name="" r:id="rId1" imgW="1644650" imgH="1790700" progId="Word.Picture.8">
                  <p:embed/>
                  <p:pic>
                    <p:nvPicPr>
                      <p:cNvPr id="0" name="图片 3094"/>
                      <p:cNvPicPr/>
                      <p:nvPr/>
                    </p:nvPicPr>
                    <p:blipFill>
                      <a:blip r:embed="rId2"/>
                      <a:stretch>
                        <a:fillRect/>
                      </a:stretch>
                    </p:blipFill>
                    <p:spPr>
                      <a:xfrm>
                        <a:off x="3276600" y="2951163"/>
                        <a:ext cx="2641600" cy="2870200"/>
                      </a:xfrm>
                      <a:prstGeom prst="rect">
                        <a:avLst/>
                      </a:prstGeom>
                      <a:noFill/>
                      <a:ln w="38100">
                        <a:noFill/>
                        <a:miter/>
                      </a:ln>
                    </p:spPr>
                  </p:pic>
                </p:oleObj>
              </mc:Fallback>
            </mc:AlternateContent>
          </a:graphicData>
        </a:graphic>
      </p:graphicFrame>
      <p:graphicFrame>
        <p:nvGraphicFramePr>
          <p:cNvPr id="109588" name="Object 3"/>
          <p:cNvGraphicFramePr>
            <a:graphicFrameLocks noChangeAspect="1"/>
          </p:cNvGraphicFramePr>
          <p:nvPr/>
        </p:nvGraphicFramePr>
        <p:xfrm>
          <a:off x="5724525" y="3167063"/>
          <a:ext cx="3419475" cy="2560637"/>
        </p:xfrm>
        <a:graphic>
          <a:graphicData uri="http://schemas.openxmlformats.org/presentationml/2006/ole">
            <mc:AlternateContent xmlns:mc="http://schemas.openxmlformats.org/markup-compatibility/2006">
              <mc:Choice xmlns:v="urn:schemas-microsoft-com:vml" Requires="v">
                <p:oleObj spid="_x0000_s22572" name="" r:id="rId3" imgW="2386330" imgH="1790700" progId="Word.Picture.8">
                  <p:embed/>
                </p:oleObj>
              </mc:Choice>
              <mc:Fallback>
                <p:oleObj name="" r:id="rId3" imgW="2386330" imgH="1790700" progId="Word.Picture.8">
                  <p:embed/>
                  <p:pic>
                    <p:nvPicPr>
                      <p:cNvPr id="0" name="图片 3095"/>
                      <p:cNvPicPr/>
                      <p:nvPr/>
                    </p:nvPicPr>
                    <p:blipFill>
                      <a:blip r:embed="rId4"/>
                      <a:stretch>
                        <a:fillRect/>
                      </a:stretch>
                    </p:blipFill>
                    <p:spPr>
                      <a:xfrm>
                        <a:off x="5724525" y="3167063"/>
                        <a:ext cx="3419475" cy="2560637"/>
                      </a:xfrm>
                      <a:prstGeom prst="rect">
                        <a:avLst/>
                      </a:prstGeom>
                      <a:solidFill>
                        <a:srgbClr val="FFFFFF"/>
                      </a:solidFill>
                      <a:ln w="38100">
                        <a:noFill/>
                        <a:miter/>
                      </a:ln>
                    </p:spPr>
                  </p:pic>
                </p:oleObj>
              </mc:Fallback>
            </mc:AlternateContent>
          </a:graphicData>
        </a:graphic>
      </p:graphicFrame>
      <p:sp>
        <p:nvSpPr>
          <p:cNvPr id="109589" name="Text Box 24"/>
          <p:cNvSpPr txBox="1"/>
          <p:nvPr/>
        </p:nvSpPr>
        <p:spPr>
          <a:xfrm>
            <a:off x="4343400" y="2027238"/>
            <a:ext cx="4446588" cy="1200150"/>
          </a:xfrm>
          <a:prstGeom prst="rect">
            <a:avLst/>
          </a:prstGeom>
          <a:noFill/>
          <a:ln w="9525">
            <a:noFill/>
          </a:ln>
        </p:spPr>
        <p:txBody>
          <a:bodyPr anchor="t">
            <a:spAutoFit/>
          </a:bodyPr>
          <a:lstStyle/>
          <a:p>
            <a:pPr lvl="0" indent="0" algn="just"/>
            <a:r>
              <a:rPr lang="zh-CN" altLang="en-US" sz="2400" dirty="0">
                <a:solidFill>
                  <a:srgbClr val="CC0000"/>
                </a:solidFill>
                <a:latin typeface="华文楷体" panose="02010600040101010101" pitchFamily="2" charset="-122"/>
                <a:ea typeface="华文楷体" panose="02010600040101010101" pitchFamily="2" charset="-122"/>
                <a:sym typeface="Wingdings" panose="05000000000000000000" pitchFamily="2" charset="2"/>
              </a:rPr>
              <a:t>问题</a:t>
            </a:r>
            <a:r>
              <a:rPr lang="en-US" altLang="x-none" sz="2400" dirty="0">
                <a:solidFill>
                  <a:srgbClr val="CC0000"/>
                </a:solidFill>
                <a:latin typeface="华文楷体" panose="02010600040101010101" pitchFamily="2" charset="-122"/>
                <a:ea typeface="华文楷体" panose="02010600040101010101" pitchFamily="2" charset="-122"/>
                <a:sym typeface="Wingdings" panose="05000000000000000000" pitchFamily="2" charset="2"/>
              </a:rPr>
              <a:t>2</a:t>
            </a:r>
            <a:r>
              <a:rPr lang="zh-CN" altLang="en-US" sz="2400" dirty="0">
                <a:solidFill>
                  <a:srgbClr val="CC0000"/>
                </a:solidFill>
                <a:latin typeface="华文楷体" panose="02010600040101010101" pitchFamily="2" charset="-122"/>
                <a:ea typeface="华文楷体" panose="02010600040101010101" pitchFamily="2" charset="-122"/>
                <a:sym typeface="Wingdings" panose="05000000000000000000" pitchFamily="2" charset="2"/>
              </a:rPr>
              <a:t>答案：</a:t>
            </a:r>
            <a:endParaRPr lang="zh-CN" altLang="en-US" sz="2400" dirty="0">
              <a:solidFill>
                <a:srgbClr val="CC0000"/>
              </a:solidFill>
              <a:latin typeface="华文楷体" panose="02010600040101010101" pitchFamily="2" charset="-122"/>
              <a:ea typeface="华文楷体" panose="02010600040101010101" pitchFamily="2" charset="-122"/>
              <a:sym typeface="Wingdings" panose="05000000000000000000" pitchFamily="2" charset="2"/>
            </a:endParaRPr>
          </a:p>
          <a:p>
            <a:pPr lvl="0" indent="0" algn="just"/>
            <a:r>
              <a:rPr lang="zh-CN" altLang="en-US" sz="2400" dirty="0">
                <a:latin typeface="华文楷体" panose="02010600040101010101" pitchFamily="2" charset="-122"/>
                <a:ea typeface="华文楷体" panose="02010600040101010101" pitchFamily="2" charset="-122"/>
                <a:sym typeface="Wingdings" panose="05000000000000000000" pitchFamily="2" charset="2"/>
              </a:rPr>
              <a:t>与该并发调度等价的串行调度为：</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T1</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T3</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T2</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T4</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p:txBody>
      </p:sp>
      <p:sp>
        <p:nvSpPr>
          <p:cNvPr id="109590" name="Oval 25"/>
          <p:cNvSpPr/>
          <p:nvPr/>
        </p:nvSpPr>
        <p:spPr>
          <a:xfrm>
            <a:off x="755650" y="3946525"/>
            <a:ext cx="576263" cy="503238"/>
          </a:xfrm>
          <a:prstGeom prst="ellipse">
            <a:avLst/>
          </a:prstGeom>
          <a:noFill/>
          <a:ln w="38100" cap="flat" cmpd="sng">
            <a:solidFill>
              <a:srgbClr val="CC0000"/>
            </a:solidFill>
            <a:prstDash val="solid"/>
            <a:round/>
            <a:headEnd type="none" w="med" len="med"/>
            <a:tailEnd type="none" w="med" len="med"/>
          </a:ln>
        </p:spPr>
        <p:txBody>
          <a:bodyPr wrap="none" lIns="90000" tIns="46800" rIns="90000" bIns="46800" anchor="ctr"/>
          <a:lstStyle/>
          <a:p>
            <a:pPr lvl="0" indent="0"/>
            <a:endParaRPr lang="zh-CN" altLang="en-US" dirty="0">
              <a:latin typeface="Arial" panose="020B0604020202020204" pitchFamily="34" charset="0"/>
              <a:ea typeface="宋体" panose="02010600030101010101" pitchFamily="2" charset="-122"/>
            </a:endParaRPr>
          </a:p>
        </p:txBody>
      </p:sp>
      <p:sp>
        <p:nvSpPr>
          <p:cNvPr id="109591" name="Oval 26"/>
          <p:cNvSpPr/>
          <p:nvPr/>
        </p:nvSpPr>
        <p:spPr>
          <a:xfrm>
            <a:off x="4067175" y="5327650"/>
            <a:ext cx="576263" cy="503238"/>
          </a:xfrm>
          <a:prstGeom prst="ellipse">
            <a:avLst/>
          </a:prstGeom>
          <a:noFill/>
          <a:ln w="38100" cap="flat" cmpd="sng">
            <a:solidFill>
              <a:srgbClr val="CC0000"/>
            </a:solidFill>
            <a:prstDash val="solid"/>
            <a:round/>
            <a:headEnd type="none" w="med" len="med"/>
            <a:tailEnd type="none" w="med" len="med"/>
          </a:ln>
        </p:spPr>
        <p:txBody>
          <a:bodyPr wrap="none" lIns="90000" tIns="46800" rIns="90000" bIns="46800" anchor="ctr"/>
          <a:lstStyle/>
          <a:p>
            <a:pPr lvl="0" indent="0"/>
            <a:endParaRPr lang="zh-CN" altLang="en-US" dirty="0">
              <a:latin typeface="Arial" panose="020B0604020202020204" pitchFamily="34" charset="0"/>
              <a:ea typeface="宋体" panose="02010600030101010101" pitchFamily="2" charset="-122"/>
            </a:endParaRPr>
          </a:p>
        </p:txBody>
      </p:sp>
      <p:sp>
        <p:nvSpPr>
          <p:cNvPr id="109592" name="Oval 27"/>
          <p:cNvSpPr/>
          <p:nvPr/>
        </p:nvSpPr>
        <p:spPr>
          <a:xfrm>
            <a:off x="3708400" y="4391025"/>
            <a:ext cx="431800" cy="431800"/>
          </a:xfrm>
          <a:prstGeom prst="ellipse">
            <a:avLst/>
          </a:prstGeom>
          <a:noFill/>
          <a:ln w="38100" cap="flat" cmpd="sng">
            <a:solidFill>
              <a:srgbClr val="CC0000"/>
            </a:solidFill>
            <a:prstDash val="solid"/>
            <a:round/>
            <a:headEnd type="none" w="med" len="med"/>
            <a:tailEnd type="none" w="med" len="med"/>
          </a:ln>
        </p:spPr>
        <p:txBody>
          <a:bodyPr wrap="none" lIns="90000" tIns="46800" rIns="90000" bIns="46800" anchor="ctr"/>
          <a:lstStyle/>
          <a:p>
            <a:pPr lvl="0" indent="0"/>
            <a:endParaRPr lang="zh-CN" altLang="en-US" dirty="0">
              <a:latin typeface="Arial" panose="020B0604020202020204" pitchFamily="34" charset="0"/>
              <a:ea typeface="宋体" panose="02010600030101010101" pitchFamily="2" charset="-122"/>
            </a:endParaRPr>
          </a:p>
        </p:txBody>
      </p:sp>
      <p:sp>
        <p:nvSpPr>
          <p:cNvPr id="109593" name="Text Box 28"/>
          <p:cNvSpPr txBox="1"/>
          <p:nvPr/>
        </p:nvSpPr>
        <p:spPr>
          <a:xfrm>
            <a:off x="684213" y="4894263"/>
            <a:ext cx="8137525" cy="1004887"/>
          </a:xfrm>
          <a:prstGeom prst="rect">
            <a:avLst/>
          </a:prstGeom>
          <a:solidFill>
            <a:srgbClr val="000099"/>
          </a:solidFill>
          <a:ln w="9525">
            <a:noFill/>
          </a:ln>
        </p:spPr>
        <p:txBody>
          <a:bodyPr lIns="90000" tIns="46800" rIns="90000" bIns="46800" anchor="t">
            <a:spAutoFit/>
          </a:bodyPr>
          <a:lstStyle/>
          <a:p>
            <a:pPr lvl="0" indent="0">
              <a:spcBef>
                <a:spcPct val="50000"/>
              </a:spcBef>
            </a:pPr>
            <a:r>
              <a:rPr lang="en-US" altLang="x-none" sz="2400" dirty="0">
                <a:solidFill>
                  <a:srgbClr val="FFFFFF"/>
                </a:solidFill>
                <a:latin typeface="宋体" panose="02010600030101010101" pitchFamily="2" charset="-122"/>
                <a:ea typeface="宋体" panose="02010600030101010101" pitchFamily="2" charset="-122"/>
                <a:sym typeface="Wingdings" panose="05000000000000000000" pitchFamily="2" charset="2"/>
              </a:rPr>
              <a:t>S=R</a:t>
            </a:r>
            <a:r>
              <a:rPr lang="en-US" altLang="x-none" sz="2400" baseline="-25000" dirty="0">
                <a:solidFill>
                  <a:srgbClr val="FFFFFF"/>
                </a:solidFill>
                <a:latin typeface="宋体" panose="02010600030101010101" pitchFamily="2" charset="-122"/>
                <a:ea typeface="宋体" panose="02010600030101010101" pitchFamily="2" charset="-122"/>
                <a:sym typeface="Wingdings" panose="05000000000000000000" pitchFamily="2" charset="2"/>
              </a:rPr>
              <a:t>T1</a:t>
            </a:r>
            <a:r>
              <a:rPr lang="en-US" altLang="x-none" sz="2400" dirty="0">
                <a:solidFill>
                  <a:srgbClr val="FFFFFF"/>
                </a:solidFill>
                <a:latin typeface="宋体" panose="02010600030101010101" pitchFamily="2" charset="-122"/>
                <a:ea typeface="宋体" panose="02010600030101010101" pitchFamily="2" charset="-122"/>
                <a:sym typeface="Wingdings" panose="05000000000000000000" pitchFamily="2" charset="2"/>
              </a:rPr>
              <a:t>(x)W</a:t>
            </a:r>
            <a:r>
              <a:rPr lang="en-US" altLang="x-none" sz="2400" baseline="-25000" dirty="0">
                <a:solidFill>
                  <a:srgbClr val="FFFFFF"/>
                </a:solidFill>
                <a:latin typeface="宋体" panose="02010600030101010101" pitchFamily="2" charset="-122"/>
                <a:ea typeface="宋体" panose="02010600030101010101" pitchFamily="2" charset="-122"/>
                <a:sym typeface="Wingdings" panose="05000000000000000000" pitchFamily="2" charset="2"/>
              </a:rPr>
              <a:t>T3</a:t>
            </a:r>
            <a:r>
              <a:rPr lang="en-US" altLang="x-none" sz="2400" dirty="0">
                <a:solidFill>
                  <a:srgbClr val="FFFFFF"/>
                </a:solidFill>
                <a:latin typeface="宋体" panose="02010600030101010101" pitchFamily="2" charset="-122"/>
                <a:ea typeface="宋体" panose="02010600030101010101" pitchFamily="2" charset="-122"/>
                <a:sym typeface="Wingdings" panose="05000000000000000000" pitchFamily="2" charset="2"/>
              </a:rPr>
              <a:t>(y) W</a:t>
            </a:r>
            <a:r>
              <a:rPr lang="en-US" altLang="x-none" sz="2400" baseline="-25000" dirty="0">
                <a:solidFill>
                  <a:srgbClr val="FFFFFF"/>
                </a:solidFill>
                <a:latin typeface="宋体" panose="02010600030101010101" pitchFamily="2" charset="-122"/>
                <a:ea typeface="宋体" panose="02010600030101010101" pitchFamily="2" charset="-122"/>
                <a:sym typeface="Wingdings" panose="05000000000000000000" pitchFamily="2" charset="2"/>
              </a:rPr>
              <a:t>T3</a:t>
            </a:r>
            <a:r>
              <a:rPr lang="en-US" altLang="x-none" sz="2400" dirty="0">
                <a:solidFill>
                  <a:srgbClr val="FFFFFF"/>
                </a:solidFill>
                <a:latin typeface="宋体" panose="02010600030101010101" pitchFamily="2" charset="-122"/>
                <a:ea typeface="宋体" panose="02010600030101010101" pitchFamily="2" charset="-122"/>
                <a:sym typeface="Wingdings" panose="05000000000000000000" pitchFamily="2" charset="2"/>
              </a:rPr>
              <a:t>(x) W</a:t>
            </a:r>
            <a:r>
              <a:rPr lang="en-US" altLang="x-none" sz="2400" baseline="-25000" dirty="0">
                <a:solidFill>
                  <a:srgbClr val="FFFFFF"/>
                </a:solidFill>
                <a:latin typeface="宋体" panose="02010600030101010101" pitchFamily="2" charset="-122"/>
                <a:ea typeface="宋体" panose="02010600030101010101" pitchFamily="2" charset="-122"/>
                <a:sym typeface="Wingdings" panose="05000000000000000000" pitchFamily="2" charset="2"/>
              </a:rPr>
              <a:t>T3</a:t>
            </a:r>
            <a:r>
              <a:rPr lang="en-US" altLang="x-none" sz="2400" dirty="0">
                <a:solidFill>
                  <a:srgbClr val="FFFFFF"/>
                </a:solidFill>
                <a:latin typeface="宋体" panose="02010600030101010101" pitchFamily="2" charset="-122"/>
                <a:ea typeface="宋体" panose="02010600030101010101" pitchFamily="2" charset="-122"/>
                <a:sym typeface="Wingdings" panose="05000000000000000000" pitchFamily="2" charset="2"/>
              </a:rPr>
              <a:t>(z) R</a:t>
            </a:r>
            <a:r>
              <a:rPr lang="en-US" altLang="x-none" sz="2400" baseline="-25000" dirty="0">
                <a:solidFill>
                  <a:srgbClr val="FFFFFF"/>
                </a:solidFill>
                <a:latin typeface="宋体" panose="02010600030101010101" pitchFamily="2" charset="-122"/>
                <a:ea typeface="宋体" panose="02010600030101010101" pitchFamily="2" charset="-122"/>
                <a:sym typeface="Wingdings" panose="05000000000000000000" pitchFamily="2" charset="2"/>
              </a:rPr>
              <a:t>T2</a:t>
            </a:r>
            <a:r>
              <a:rPr lang="en-US" altLang="x-none" sz="2400" dirty="0">
                <a:solidFill>
                  <a:srgbClr val="FFFFFF"/>
                </a:solidFill>
                <a:latin typeface="宋体" panose="02010600030101010101" pitchFamily="2" charset="-122"/>
                <a:ea typeface="宋体" panose="02010600030101010101" pitchFamily="2" charset="-122"/>
                <a:sym typeface="Wingdings" panose="05000000000000000000" pitchFamily="2" charset="2"/>
              </a:rPr>
              <a:t>(y) W</a:t>
            </a:r>
            <a:r>
              <a:rPr lang="en-US" altLang="x-none" sz="2400" baseline="-25000" dirty="0">
                <a:solidFill>
                  <a:srgbClr val="FFFFFF"/>
                </a:solidFill>
                <a:latin typeface="宋体" panose="02010600030101010101" pitchFamily="2" charset="-122"/>
                <a:ea typeface="宋体" panose="02010600030101010101" pitchFamily="2" charset="-122"/>
                <a:sym typeface="Wingdings" panose="05000000000000000000" pitchFamily="2" charset="2"/>
              </a:rPr>
              <a:t>T2</a:t>
            </a:r>
            <a:r>
              <a:rPr lang="en-US" altLang="x-none" sz="2400" dirty="0">
                <a:solidFill>
                  <a:srgbClr val="FFFFFF"/>
                </a:solidFill>
                <a:latin typeface="宋体" panose="02010600030101010101" pitchFamily="2" charset="-122"/>
                <a:ea typeface="宋体" panose="02010600030101010101" pitchFamily="2" charset="-122"/>
                <a:sym typeface="Wingdings" panose="05000000000000000000" pitchFamily="2" charset="2"/>
              </a:rPr>
              <a:t>(x) R</a:t>
            </a:r>
            <a:r>
              <a:rPr lang="en-US" altLang="x-none" sz="2400" baseline="-25000" dirty="0">
                <a:solidFill>
                  <a:srgbClr val="FFFFFF"/>
                </a:solidFill>
                <a:latin typeface="宋体" panose="02010600030101010101" pitchFamily="2" charset="-122"/>
                <a:ea typeface="宋体" panose="02010600030101010101" pitchFamily="2" charset="-122"/>
                <a:sym typeface="Wingdings" panose="05000000000000000000" pitchFamily="2" charset="2"/>
              </a:rPr>
              <a:t>T4</a:t>
            </a:r>
            <a:r>
              <a:rPr lang="en-US" altLang="x-none" sz="2400" dirty="0">
                <a:solidFill>
                  <a:srgbClr val="FFFFFF"/>
                </a:solidFill>
                <a:latin typeface="宋体" panose="02010600030101010101" pitchFamily="2" charset="-122"/>
                <a:ea typeface="宋体" panose="02010600030101010101" pitchFamily="2" charset="-122"/>
                <a:sym typeface="Wingdings" panose="05000000000000000000" pitchFamily="2" charset="2"/>
              </a:rPr>
              <a:t>(z)W</a:t>
            </a:r>
            <a:r>
              <a:rPr lang="en-US" altLang="x-none" sz="2400" baseline="-25000" dirty="0">
                <a:solidFill>
                  <a:srgbClr val="FFFFFF"/>
                </a:solidFill>
                <a:latin typeface="宋体" panose="02010600030101010101" pitchFamily="2" charset="-122"/>
                <a:ea typeface="宋体" panose="02010600030101010101" pitchFamily="2" charset="-122"/>
                <a:sym typeface="Wingdings" panose="05000000000000000000" pitchFamily="2" charset="2"/>
              </a:rPr>
              <a:t>T4</a:t>
            </a:r>
            <a:r>
              <a:rPr lang="en-US" altLang="x-none" sz="2400" dirty="0">
                <a:solidFill>
                  <a:srgbClr val="FFFFFF"/>
                </a:solidFill>
                <a:latin typeface="宋体" panose="02010600030101010101" pitchFamily="2" charset="-122"/>
                <a:ea typeface="宋体" panose="02010600030101010101" pitchFamily="2" charset="-122"/>
                <a:sym typeface="Wingdings" panose="05000000000000000000" pitchFamily="2" charset="2"/>
              </a:rPr>
              <a:t>(x)</a:t>
            </a:r>
            <a:endParaRPr lang="en-US" altLang="x-none" sz="2400" dirty="0">
              <a:solidFill>
                <a:srgbClr val="FFFFFF"/>
              </a:solidFill>
              <a:latin typeface="宋体" panose="02010600030101010101" pitchFamily="2" charset="-122"/>
              <a:ea typeface="宋体" panose="02010600030101010101" pitchFamily="2" charset="-122"/>
              <a:sym typeface="Wingdings" panose="05000000000000000000" pitchFamily="2" charset="2"/>
            </a:endParaRPr>
          </a:p>
          <a:p>
            <a:pPr lvl="0" indent="0">
              <a:spcBef>
                <a:spcPct val="50000"/>
              </a:spcBef>
            </a:pPr>
            <a:endParaRPr lang="en-US" altLang="x-none" sz="2400" dirty="0">
              <a:solidFill>
                <a:srgbClr val="FFFFFF"/>
              </a:solidFill>
              <a:latin typeface="宋体" panose="02010600030101010101" pitchFamily="2" charset="-122"/>
              <a:ea typeface="宋体" panose="02010600030101010101" pitchFamily="2" charset="-122"/>
              <a:sym typeface="Wingdings" panose="05000000000000000000" pitchFamily="2" charset="2"/>
            </a:endParaRPr>
          </a:p>
        </p:txBody>
      </p:sp>
      <p:sp>
        <p:nvSpPr>
          <p:cNvPr id="105497" name="Rectangle 2"/>
          <p:cNvSpPr/>
          <p:nvPr/>
        </p:nvSpPr>
        <p:spPr>
          <a:xfrm>
            <a:off x="417513" y="428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600" dirty="0">
                <a:solidFill>
                  <a:srgbClr val="0033CC"/>
                </a:solidFill>
                <a:latin typeface="Arial" panose="020B0604020202020204" pitchFamily="34" charset="0"/>
                <a:ea typeface="黑体" panose="02010609060101010101" pitchFamily="1" charset="-122"/>
              </a:rPr>
              <a:t>五、数据库系统中的并发</a:t>
            </a:r>
            <a:endParaRPr lang="zh-CN" altLang="en-US" sz="3600" dirty="0">
              <a:solidFill>
                <a:srgbClr val="0033CC"/>
              </a:solidFill>
              <a:latin typeface="Arial" panose="020B0604020202020204" pitchFamily="34" charset="0"/>
              <a:ea typeface="黑体" panose="02010609060101010101" pitchFamily="1" charset="-122"/>
            </a:endParaRPr>
          </a:p>
        </p:txBody>
      </p:sp>
      <p:sp>
        <p:nvSpPr>
          <p:cNvPr id="105498" name="Rectangle 3"/>
          <p:cNvSpPr txBox="1"/>
          <p:nvPr/>
        </p:nvSpPr>
        <p:spPr>
          <a:xfrm>
            <a:off x="517525" y="811213"/>
            <a:ext cx="7178675" cy="706437"/>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3</a:t>
            </a:r>
            <a:r>
              <a:rPr lang="zh-CN" altLang="en-US" sz="2800" dirty="0">
                <a:solidFill>
                  <a:srgbClr val="FF0000"/>
                </a:solidFill>
                <a:latin typeface="黑体" panose="02010609060101010101" pitchFamily="1" charset="-122"/>
                <a:ea typeface="黑体" panose="02010609060101010101" pitchFamily="1" charset="-122"/>
              </a:rPr>
              <a:t>、并发执行的正确性准则</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105499" name="Rectangle 3"/>
          <p:cNvSpPr txBox="1"/>
          <p:nvPr/>
        </p:nvSpPr>
        <p:spPr>
          <a:xfrm>
            <a:off x="565150" y="1422400"/>
            <a:ext cx="3382963" cy="708025"/>
          </a:xfrm>
          <a:prstGeom prst="rect">
            <a:avLst/>
          </a:prstGeom>
          <a:noFill/>
          <a:ln w="9525">
            <a:noFill/>
          </a:ln>
        </p:spPr>
        <p:txBody>
          <a:bodyPr anchor="t"/>
          <a:lstStyle/>
          <a:p>
            <a:pPr lvl="0" indent="0" eaLnBrk="0" hangingPunct="0">
              <a:buFont typeface="Wingdings" panose="05000000000000000000" pitchFamily="2" charset="2"/>
              <a:buChar char="p"/>
            </a:pPr>
            <a:r>
              <a:rPr lang="zh-CN" altLang="en-US" sz="2800" dirty="0">
                <a:solidFill>
                  <a:srgbClr val="000099"/>
                </a:solidFill>
                <a:latin typeface="黑体" panose="02010609060101010101" pitchFamily="1" charset="-122"/>
                <a:ea typeface="黑体" panose="02010609060101010101" pitchFamily="1" charset="-122"/>
              </a:rPr>
              <a:t>可串行化测试示例</a:t>
            </a:r>
            <a:endParaRPr lang="en-US" altLang="x-none" sz="2800" dirty="0">
              <a:solidFill>
                <a:srgbClr val="000099"/>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957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 presetClass="entr" presetSubtype="10" fill="hold" grpId="0" nodeType="clickEffect">
                                  <p:stCondLst>
                                    <p:cond delay="0"/>
                                  </p:stCondLst>
                                  <p:childTnLst>
                                    <p:set>
                                      <p:cBhvr>
                                        <p:cTn id="10" dur="1" fill="hold">
                                          <p:stCondLst>
                                            <p:cond delay="0"/>
                                          </p:stCondLst>
                                        </p:cTn>
                                        <p:tgtEl>
                                          <p:spTgt spid="109570"/>
                                        </p:tgtEl>
                                        <p:attrNameLst>
                                          <p:attrName>style.visibility</p:attrName>
                                        </p:attrNameLst>
                                      </p:cBhvr>
                                      <p:to>
                                        <p:strVal val="visible"/>
                                      </p:to>
                                    </p:set>
                                    <p:animEffect transition="in" filter="checkerboard(across)">
                                      <p:cBhvr>
                                        <p:cTn id="11" dur="500"/>
                                        <p:tgtEl>
                                          <p:spTgt spid="109570"/>
                                        </p:tgtEl>
                                      </p:cBhvr>
                                    </p:animEffect>
                                  </p:childTnLst>
                                </p:cTn>
                              </p:par>
                            </p:childTnLst>
                          </p:cTn>
                        </p:par>
                      </p:childTnLst>
                    </p:cTn>
                  </p:par>
                  <p:par>
                    <p:cTn id="12" fill="hold">
                      <p:stCondLst>
                        <p:cond delay="indefinite"/>
                      </p:stCondLst>
                      <p:childTnLst>
                        <p:par>
                          <p:cTn id="13" fill="hold">
                            <p:stCondLst>
                              <p:cond delay="0"/>
                            </p:stCondLst>
                            <p:childTnLst>
                              <p:par>
                                <p:cTn id="14" presetID="20" presetClass="entr" presetSubtype="0" fill="hold" grpId="0" nodeType="clickEffect">
                                  <p:stCondLst>
                                    <p:cond delay="0"/>
                                  </p:stCondLst>
                                  <p:childTnLst>
                                    <p:set>
                                      <p:cBhvr>
                                        <p:cTn id="15" dur="1" fill="hold">
                                          <p:stCondLst>
                                            <p:cond delay="0"/>
                                          </p:stCondLst>
                                        </p:cTn>
                                        <p:tgtEl>
                                          <p:spTgt spid="109590"/>
                                        </p:tgtEl>
                                        <p:attrNameLst>
                                          <p:attrName>style.visibility</p:attrName>
                                        </p:attrNameLst>
                                      </p:cBhvr>
                                      <p:to>
                                        <p:strVal val="visible"/>
                                      </p:to>
                                    </p:set>
                                    <p:animEffect transition="in" filter="wedge">
                                      <p:cBhvr>
                                        <p:cTn id="16" dur="2000"/>
                                        <p:tgtEl>
                                          <p:spTgt spid="109590"/>
                                        </p:tgtEl>
                                      </p:cBhvr>
                                    </p:animEffect>
                                  </p:childTnLst>
                                </p:cTn>
                              </p:par>
                            </p:childTnLst>
                          </p:cTn>
                        </p:par>
                      </p:childTnLst>
                    </p:cTn>
                  </p:par>
                  <p:par>
                    <p:cTn id="17" fill="hold">
                      <p:stCondLst>
                        <p:cond delay="indefinite"/>
                      </p:stCondLst>
                      <p:childTnLst>
                        <p:par>
                          <p:cTn id="18" fill="hold">
                            <p:stCondLst>
                              <p:cond delay="0"/>
                            </p:stCondLst>
                            <p:childTnLst>
                              <p:par>
                                <p:cTn id="19" presetID="20" presetClass="entr" presetSubtype="0" fill="hold" grpId="0" nodeType="clickEffect">
                                  <p:stCondLst>
                                    <p:cond delay="0"/>
                                  </p:stCondLst>
                                  <p:childTnLst>
                                    <p:set>
                                      <p:cBhvr>
                                        <p:cTn id="20" dur="1" fill="hold">
                                          <p:stCondLst>
                                            <p:cond delay="0"/>
                                          </p:stCondLst>
                                        </p:cTn>
                                        <p:tgtEl>
                                          <p:spTgt spid="109591"/>
                                        </p:tgtEl>
                                        <p:attrNameLst>
                                          <p:attrName>style.visibility</p:attrName>
                                        </p:attrNameLst>
                                      </p:cBhvr>
                                      <p:to>
                                        <p:strVal val="visible"/>
                                      </p:to>
                                    </p:set>
                                    <p:animEffect transition="in" filter="wedge">
                                      <p:cBhvr>
                                        <p:cTn id="21" dur="2000"/>
                                        <p:tgtEl>
                                          <p:spTgt spid="109591"/>
                                        </p:tgtEl>
                                      </p:cBhvr>
                                    </p:animEffec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nodeType="clickEffect">
                                  <p:stCondLst>
                                    <p:cond delay="0"/>
                                  </p:stCondLst>
                                  <p:childTnLst>
                                    <p:set>
                                      <p:cBhvr>
                                        <p:cTn id="25" dur="1" fill="hold">
                                          <p:stCondLst>
                                            <p:cond delay="0"/>
                                          </p:stCondLst>
                                        </p:cTn>
                                        <p:tgtEl>
                                          <p:spTgt spid="109587"/>
                                        </p:tgtEl>
                                        <p:attrNameLst>
                                          <p:attrName>style.visibility</p:attrName>
                                        </p:attrNameLst>
                                      </p:cBhvr>
                                      <p:to>
                                        <p:strVal val="visible"/>
                                      </p:to>
                                    </p:set>
                                    <p:animEffect transition="in" filter="checkerboard(across)">
                                      <p:cBhvr>
                                        <p:cTn id="26" dur="500"/>
                                        <p:tgtEl>
                                          <p:spTgt spid="109587"/>
                                        </p:tgtEl>
                                      </p:cBhvr>
                                    </p:animEffect>
                                  </p:childTnLst>
                                </p:cTn>
                              </p:par>
                            </p:childTnLst>
                          </p:cTn>
                        </p:par>
                      </p:childTnLst>
                    </p:cTn>
                  </p:par>
                  <p:par>
                    <p:cTn id="27" fill="hold">
                      <p:stCondLst>
                        <p:cond delay="indefinite"/>
                      </p:stCondLst>
                      <p:childTnLst>
                        <p:par>
                          <p:cTn id="28" fill="hold">
                            <p:stCondLst>
                              <p:cond delay="0"/>
                            </p:stCondLst>
                            <p:childTnLst>
                              <p:par>
                                <p:cTn id="29" presetID="20" presetClass="entr" presetSubtype="0" fill="hold" grpId="0" nodeType="clickEffect">
                                  <p:stCondLst>
                                    <p:cond delay="0"/>
                                  </p:stCondLst>
                                  <p:childTnLst>
                                    <p:set>
                                      <p:cBhvr>
                                        <p:cTn id="30" dur="1" fill="hold">
                                          <p:stCondLst>
                                            <p:cond delay="0"/>
                                          </p:stCondLst>
                                        </p:cTn>
                                        <p:tgtEl>
                                          <p:spTgt spid="109592"/>
                                        </p:tgtEl>
                                        <p:attrNameLst>
                                          <p:attrName>style.visibility</p:attrName>
                                        </p:attrNameLst>
                                      </p:cBhvr>
                                      <p:to>
                                        <p:strVal val="visible"/>
                                      </p:to>
                                    </p:set>
                                    <p:animEffect transition="in" filter="wedge">
                                      <p:cBhvr>
                                        <p:cTn id="31" dur="2000"/>
                                        <p:tgtEl>
                                          <p:spTgt spid="109592"/>
                                        </p:tgtEl>
                                      </p:cBhvr>
                                    </p:animEffect>
                                  </p:childTnLst>
                                </p:cTn>
                              </p:par>
                            </p:childTnLst>
                          </p:cTn>
                        </p:par>
                      </p:childTnLst>
                    </p:cTn>
                  </p:par>
                  <p:par>
                    <p:cTn id="32" fill="hold">
                      <p:stCondLst>
                        <p:cond delay="indefinite"/>
                      </p:stCondLst>
                      <p:childTnLst>
                        <p:par>
                          <p:cTn id="33" fill="hold">
                            <p:stCondLst>
                              <p:cond delay="0"/>
                            </p:stCondLst>
                            <p:childTnLst>
                              <p:par>
                                <p:cTn id="34" presetID="5" presetClass="entr" presetSubtype="10" fill="hold" nodeType="clickEffect">
                                  <p:stCondLst>
                                    <p:cond delay="0"/>
                                  </p:stCondLst>
                                  <p:childTnLst>
                                    <p:set>
                                      <p:cBhvr>
                                        <p:cTn id="35" dur="1" fill="hold">
                                          <p:stCondLst>
                                            <p:cond delay="0"/>
                                          </p:stCondLst>
                                        </p:cTn>
                                        <p:tgtEl>
                                          <p:spTgt spid="109588"/>
                                        </p:tgtEl>
                                        <p:attrNameLst>
                                          <p:attrName>style.visibility</p:attrName>
                                        </p:attrNameLst>
                                      </p:cBhvr>
                                      <p:to>
                                        <p:strVal val="visible"/>
                                      </p:to>
                                    </p:set>
                                    <p:animEffect transition="in" filter="checkerboard(across)">
                                      <p:cBhvr>
                                        <p:cTn id="36" dur="500"/>
                                        <p:tgtEl>
                                          <p:spTgt spid="109588"/>
                                        </p:tgtEl>
                                      </p:cBhvr>
                                    </p:animEffect>
                                  </p:childTnLst>
                                </p:cTn>
                              </p:par>
                            </p:childTnLst>
                          </p:cTn>
                        </p:par>
                      </p:childTnLst>
                    </p:cTn>
                  </p:par>
                  <p:par>
                    <p:cTn id="37" fill="hold">
                      <p:stCondLst>
                        <p:cond delay="indefinite"/>
                      </p:stCondLst>
                      <p:childTnLst>
                        <p:par>
                          <p:cTn id="38" fill="hold">
                            <p:stCondLst>
                              <p:cond delay="0"/>
                            </p:stCondLst>
                            <p:childTnLst>
                              <p:par>
                                <p:cTn id="39" presetID="5" presetClass="entr" presetSubtype="10" fill="hold" grpId="0" nodeType="clickEffect">
                                  <p:stCondLst>
                                    <p:cond delay="0"/>
                                  </p:stCondLst>
                                  <p:childTnLst>
                                    <p:set>
                                      <p:cBhvr>
                                        <p:cTn id="40" dur="1" fill="hold">
                                          <p:stCondLst>
                                            <p:cond delay="0"/>
                                          </p:stCondLst>
                                        </p:cTn>
                                        <p:tgtEl>
                                          <p:spTgt spid="109589"/>
                                        </p:tgtEl>
                                        <p:attrNameLst>
                                          <p:attrName>style.visibility</p:attrName>
                                        </p:attrNameLst>
                                      </p:cBhvr>
                                      <p:to>
                                        <p:strVal val="visible"/>
                                      </p:to>
                                    </p:set>
                                    <p:animEffect transition="in" filter="checkerboard(across)">
                                      <p:cBhvr>
                                        <p:cTn id="41" dur="500"/>
                                        <p:tgtEl>
                                          <p:spTgt spid="109589"/>
                                        </p:tgtEl>
                                      </p:cBhvr>
                                    </p:animEffect>
                                  </p:childTnLst>
                                </p:cTn>
                              </p:par>
                            </p:childTnLst>
                          </p:cTn>
                        </p:par>
                      </p:childTnLst>
                    </p:cTn>
                  </p:par>
                  <p:par>
                    <p:cTn id="42" fill="hold">
                      <p:stCondLst>
                        <p:cond delay="indefinite"/>
                      </p:stCondLst>
                      <p:childTnLst>
                        <p:par>
                          <p:cTn id="43" fill="hold">
                            <p:stCondLst>
                              <p:cond delay="0"/>
                            </p:stCondLst>
                            <p:childTnLst>
                              <p:par>
                                <p:cTn id="44" presetID="55" presetClass="entr" presetSubtype="0" fill="hold" grpId="0" nodeType="clickEffect">
                                  <p:stCondLst>
                                    <p:cond delay="0"/>
                                  </p:stCondLst>
                                  <p:childTnLst>
                                    <p:set>
                                      <p:cBhvr>
                                        <p:cTn id="45" dur="1" fill="hold">
                                          <p:stCondLst>
                                            <p:cond delay="0"/>
                                          </p:stCondLst>
                                        </p:cTn>
                                        <p:tgtEl>
                                          <p:spTgt spid="109593"/>
                                        </p:tgtEl>
                                        <p:attrNameLst>
                                          <p:attrName>style.visibility</p:attrName>
                                        </p:attrNameLst>
                                      </p:cBhvr>
                                      <p:to>
                                        <p:strVal val="visible"/>
                                      </p:to>
                                    </p:set>
                                    <p:anim calcmode="lin" valueType="num">
                                      <p:cBhvr>
                                        <p:cTn id="46" dur="1000" fill="hold"/>
                                        <p:tgtEl>
                                          <p:spTgt spid="109593"/>
                                        </p:tgtEl>
                                        <p:attrNameLst>
                                          <p:attrName>ppt_w</p:attrName>
                                        </p:attrNameLst>
                                      </p:cBhvr>
                                      <p:tavLst>
                                        <p:tav tm="0">
                                          <p:val>
                                            <p:strVal val="#ppt_w*0.70"/>
                                          </p:val>
                                        </p:tav>
                                        <p:tav tm="100000">
                                          <p:val>
                                            <p:strVal val="#ppt_w"/>
                                          </p:val>
                                        </p:tav>
                                      </p:tavLst>
                                    </p:anim>
                                    <p:anim calcmode="lin" valueType="num">
                                      <p:cBhvr>
                                        <p:cTn id="47" dur="1000" fill="hold"/>
                                        <p:tgtEl>
                                          <p:spTgt spid="109593"/>
                                        </p:tgtEl>
                                        <p:attrNameLst>
                                          <p:attrName>ppt_h</p:attrName>
                                        </p:attrNameLst>
                                      </p:cBhvr>
                                      <p:tavLst>
                                        <p:tav tm="0">
                                          <p:val>
                                            <p:strVal val="#ppt_h"/>
                                          </p:val>
                                        </p:tav>
                                        <p:tav tm="100000">
                                          <p:val>
                                            <p:strVal val="#ppt_h"/>
                                          </p:val>
                                        </p:tav>
                                      </p:tavLst>
                                    </p:anim>
                                    <p:animEffect transition="in" filter="fade">
                                      <p:cBhvr>
                                        <p:cTn id="48" dur="1000"/>
                                        <p:tgtEl>
                                          <p:spTgt spid="1095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0" grpId="0"/>
      <p:bldP spid="109589" grpId="0"/>
      <p:bldP spid="109590" grpId="0" bldLvl="0" animBg="1"/>
      <p:bldP spid="109591" grpId="0" bldLvl="0" animBg="1"/>
      <p:bldP spid="109592" grpId="0" bldLvl="0" animBg="1"/>
      <p:bldP spid="109593" grpId="0" bldLvl="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ext Box 3"/>
          <p:cNvSpPr txBox="1"/>
          <p:nvPr/>
        </p:nvSpPr>
        <p:spPr>
          <a:xfrm>
            <a:off x="566738" y="1497013"/>
            <a:ext cx="8135937" cy="4344987"/>
          </a:xfrm>
          <a:prstGeom prst="rect">
            <a:avLst/>
          </a:prstGeom>
          <a:noFill/>
          <a:ln w="9525">
            <a:noFill/>
          </a:ln>
        </p:spPr>
        <p:txBody>
          <a:bodyPr anchor="t">
            <a:spAutoFit/>
          </a:bodyPr>
          <a:lstStyle/>
          <a:p>
            <a:pPr lvl="0" indent="0">
              <a:lnSpc>
                <a:spcPct val="120000"/>
              </a:lnSpc>
              <a:spcBef>
                <a:spcPts val="600"/>
              </a:spcBef>
              <a:buFont typeface="Wingdings" panose="05000000000000000000" pitchFamily="2" charset="2"/>
              <a:buChar char="p"/>
            </a:pPr>
            <a:r>
              <a:rPr lang="zh-CN" altLang="en-US" sz="2400" u="sng" dirty="0">
                <a:solidFill>
                  <a:srgbClr val="CC0000"/>
                </a:solidFill>
                <a:latin typeface="宋体" panose="02010600030101010101" pitchFamily="2" charset="-122"/>
                <a:ea typeface="宋体" panose="02010600030101010101" pitchFamily="2" charset="-122"/>
              </a:rPr>
              <a:t>问题提出：</a:t>
            </a:r>
            <a:r>
              <a:rPr lang="en-US" altLang="x-none" sz="2400" dirty="0">
                <a:latin typeface="宋体" panose="02010600030101010101" pitchFamily="2" charset="-122"/>
                <a:ea typeface="宋体" panose="02010600030101010101" pitchFamily="2" charset="-122"/>
                <a:sym typeface="Wingdings" panose="05000000000000000000" pitchFamily="2" charset="2"/>
              </a:rPr>
              <a:t>DBMS</a:t>
            </a:r>
            <a:r>
              <a:rPr lang="zh-CN" altLang="en-US" sz="2400" dirty="0">
                <a:latin typeface="宋体" panose="02010600030101010101" pitchFamily="2" charset="-122"/>
                <a:ea typeface="宋体" panose="02010600030101010101" pitchFamily="2" charset="-122"/>
                <a:sym typeface="Wingdings" panose="05000000000000000000" pitchFamily="2" charset="2"/>
              </a:rPr>
              <a:t>并发控制的任务是要保证事务执行的可串行化。但用前面的测试方法来保证调度可串行化是不现实的：一是事务集随机、不固定。二是不可能事先定好调度。</a:t>
            </a:r>
            <a:endParaRPr lang="zh-CN" altLang="en-US" sz="2400" dirty="0">
              <a:latin typeface="宋体" panose="02010600030101010101" pitchFamily="2" charset="-122"/>
              <a:ea typeface="宋体" panose="02010600030101010101" pitchFamily="2" charset="-122"/>
              <a:sym typeface="Wingdings" panose="05000000000000000000" pitchFamily="2" charset="2"/>
            </a:endParaRPr>
          </a:p>
          <a:p>
            <a:pPr lvl="0" indent="0">
              <a:lnSpc>
                <a:spcPct val="120000"/>
              </a:lnSpc>
              <a:spcBef>
                <a:spcPts val="600"/>
              </a:spcBef>
              <a:buFont typeface="Wingdings" panose="05000000000000000000" pitchFamily="2" charset="2"/>
              <a:buChar char="p"/>
            </a:pPr>
            <a:r>
              <a:rPr lang="en-US" altLang="x-none" sz="2400" dirty="0">
                <a:latin typeface="宋体" panose="02010600030101010101" pitchFamily="2" charset="-122"/>
                <a:ea typeface="宋体" panose="02010600030101010101" pitchFamily="2" charset="-122"/>
                <a:sym typeface="Wingdings" panose="05000000000000000000" pitchFamily="2" charset="2"/>
              </a:rPr>
              <a:t>DBMS</a:t>
            </a:r>
            <a:r>
              <a:rPr lang="zh-CN" altLang="en-US" sz="2400" dirty="0">
                <a:latin typeface="宋体" panose="02010600030101010101" pitchFamily="2" charset="-122"/>
                <a:ea typeface="宋体" panose="02010600030101010101" pitchFamily="2" charset="-122"/>
              </a:rPr>
              <a:t>如何实现事务的并发控制呢？</a:t>
            </a:r>
            <a:endParaRPr lang="zh-CN" altLang="en-US" sz="2400" dirty="0">
              <a:latin typeface="宋体" panose="02010600030101010101" pitchFamily="2" charset="-122"/>
              <a:ea typeface="宋体" panose="02010600030101010101" pitchFamily="2" charset="-122"/>
            </a:endParaRPr>
          </a:p>
          <a:p>
            <a:pPr lvl="0" indent="0">
              <a:lnSpc>
                <a:spcPct val="120000"/>
              </a:lnSpc>
              <a:spcBef>
                <a:spcPts val="600"/>
              </a:spcBef>
              <a:buFont typeface="Wingdings" panose="05000000000000000000" pitchFamily="2" charset="2"/>
              <a:buChar char="p"/>
            </a:pPr>
            <a:r>
              <a:rPr lang="zh-CN" altLang="en-US" sz="2400" u="sng" dirty="0">
                <a:solidFill>
                  <a:srgbClr val="FF0000"/>
                </a:solidFill>
                <a:latin typeface="宋体" panose="02010600030101010101" pitchFamily="2" charset="-122"/>
                <a:ea typeface="宋体" panose="02010600030101010101" pitchFamily="2" charset="-122"/>
                <a:sym typeface="Wingdings" panose="05000000000000000000" pitchFamily="2" charset="2"/>
              </a:rPr>
              <a:t>并发控制通常的实现方法：</a:t>
            </a:r>
            <a:r>
              <a:rPr lang="zh-CN" altLang="en-US" sz="2400" dirty="0">
                <a:latin typeface="宋体" panose="02010600030101010101" pitchFamily="2" charset="-122"/>
                <a:ea typeface="宋体" panose="02010600030101010101" pitchFamily="2" charset="-122"/>
                <a:sym typeface="Wingdings" panose="05000000000000000000" pitchFamily="2" charset="2"/>
              </a:rPr>
              <a:t>由</a:t>
            </a:r>
            <a:r>
              <a:rPr lang="en-US" altLang="x-none" sz="2400" dirty="0">
                <a:latin typeface="宋体" panose="02010600030101010101" pitchFamily="2" charset="-122"/>
                <a:ea typeface="宋体" panose="02010600030101010101" pitchFamily="2" charset="-122"/>
                <a:sym typeface="Wingdings" panose="05000000000000000000" pitchFamily="2" charset="2"/>
              </a:rPr>
              <a:t>DBMS</a:t>
            </a:r>
            <a:r>
              <a:rPr lang="zh-CN" altLang="en-US" sz="2400" dirty="0">
                <a:latin typeface="宋体" panose="02010600030101010101" pitchFamily="2" charset="-122"/>
                <a:ea typeface="宋体" panose="02010600030101010101" pitchFamily="2" charset="-122"/>
                <a:sym typeface="Wingdings" panose="05000000000000000000" pitchFamily="2" charset="2"/>
              </a:rPr>
              <a:t>定好一个协议，按此协议执行事务，即可保证可串行化，而不必关心具体的调度。</a:t>
            </a:r>
            <a:endParaRPr lang="zh-CN" altLang="en-US" sz="2400" dirty="0">
              <a:latin typeface="宋体" panose="02010600030101010101" pitchFamily="2" charset="-122"/>
              <a:ea typeface="宋体" panose="02010600030101010101" pitchFamily="2" charset="-122"/>
              <a:sym typeface="Wingdings" panose="05000000000000000000" pitchFamily="2" charset="2"/>
            </a:endParaRPr>
          </a:p>
          <a:p>
            <a:pPr lvl="0" indent="0">
              <a:lnSpc>
                <a:spcPct val="120000"/>
              </a:lnSpc>
              <a:spcBef>
                <a:spcPts val="600"/>
              </a:spcBef>
              <a:buFont typeface="Wingdings" panose="05000000000000000000" pitchFamily="2" charset="2"/>
              <a:buChar char="p"/>
            </a:pPr>
            <a:r>
              <a:rPr lang="zh-CN" altLang="en-US" sz="2400" dirty="0">
                <a:solidFill>
                  <a:srgbClr val="C00000"/>
                </a:solidFill>
                <a:latin typeface="宋体" panose="02010600030101010101" pitchFamily="2" charset="-122"/>
                <a:ea typeface="宋体" panose="02010600030101010101" pitchFamily="2" charset="-122"/>
                <a:sym typeface="Wingdings" panose="05000000000000000000" pitchFamily="2" charset="2"/>
              </a:rPr>
              <a:t>加锁协议</a:t>
            </a:r>
            <a:r>
              <a:rPr lang="en-US" altLang="x-none" sz="2400" dirty="0">
                <a:solidFill>
                  <a:srgbClr val="C00000"/>
                </a:solidFill>
                <a:latin typeface="宋体" panose="02010600030101010101" pitchFamily="2" charset="-122"/>
                <a:ea typeface="宋体" panose="02010600030101010101" pitchFamily="2" charset="-122"/>
                <a:sym typeface="Wingdings" panose="05000000000000000000" pitchFamily="2" charset="2"/>
              </a:rPr>
              <a:t>(Locking Protocol)</a:t>
            </a:r>
            <a:r>
              <a:rPr lang="zh-CN" altLang="en-US" sz="2400" dirty="0">
                <a:solidFill>
                  <a:srgbClr val="C00000"/>
                </a:solidFill>
                <a:latin typeface="宋体" panose="02010600030101010101" pitchFamily="2" charset="-122"/>
                <a:ea typeface="宋体" panose="02010600030101010101" pitchFamily="2" charset="-122"/>
                <a:sym typeface="Wingdings" panose="05000000000000000000" pitchFamily="2" charset="2"/>
              </a:rPr>
              <a:t>：</a:t>
            </a:r>
            <a:r>
              <a:rPr lang="zh-CN" altLang="en-US" sz="2400" dirty="0">
                <a:latin typeface="宋体" panose="02010600030101010101" pitchFamily="2" charset="-122"/>
                <a:ea typeface="宋体" panose="02010600030101010101" pitchFamily="2" charset="-122"/>
                <a:sym typeface="Wingdings" panose="05000000000000000000" pitchFamily="2" charset="2"/>
              </a:rPr>
              <a:t>是这类协议中的一种，它是用加锁来实现并发控制，即是在操作前对操作对象加锁。</a:t>
            </a:r>
            <a:endParaRPr lang="zh-CN" altLang="en-US" sz="2400" dirty="0">
              <a:latin typeface="宋体" panose="02010600030101010101" pitchFamily="2" charset="-122"/>
              <a:ea typeface="宋体" panose="02010600030101010101" pitchFamily="2" charset="-122"/>
              <a:sym typeface="Wingdings" panose="05000000000000000000" pitchFamily="2" charset="2"/>
            </a:endParaRPr>
          </a:p>
          <a:p>
            <a:pPr lvl="0" indent="0">
              <a:lnSpc>
                <a:spcPct val="120000"/>
              </a:lnSpc>
              <a:spcBef>
                <a:spcPts val="600"/>
              </a:spcBef>
              <a:buFont typeface="Wingdings" panose="05000000000000000000" pitchFamily="2" charset="2"/>
              <a:buChar char="p"/>
            </a:pPr>
            <a:r>
              <a:rPr lang="zh-CN" altLang="en-US" sz="2400" u="sng" dirty="0">
                <a:solidFill>
                  <a:srgbClr val="C00000"/>
                </a:solidFill>
                <a:latin typeface="宋体" panose="02010600030101010101" pitchFamily="2" charset="-122"/>
                <a:ea typeface="宋体" panose="02010600030101010101" pitchFamily="2" charset="-122"/>
                <a:sym typeface="Wingdings" panose="05000000000000000000" pitchFamily="2" charset="2"/>
              </a:rPr>
              <a:t>定理：</a:t>
            </a:r>
            <a:r>
              <a:rPr lang="zh-CN" altLang="en-US" sz="2400" dirty="0">
                <a:latin typeface="宋体" panose="02010600030101010101" pitchFamily="2" charset="-122"/>
                <a:ea typeface="宋体" panose="02010600030101010101" pitchFamily="2" charset="-122"/>
                <a:sym typeface="Wingdings" panose="05000000000000000000" pitchFamily="2" charset="2"/>
              </a:rPr>
              <a:t>事务只要遵守加锁协议，即可保证调度的可串行化。</a:t>
            </a:r>
            <a:endParaRPr lang="zh-CN" altLang="en-US" sz="2400" dirty="0">
              <a:latin typeface="宋体" panose="02010600030101010101" pitchFamily="2" charset="-122"/>
              <a:ea typeface="宋体" panose="02010600030101010101" pitchFamily="2" charset="-122"/>
              <a:sym typeface="Wingdings" panose="05000000000000000000" pitchFamily="2" charset="2"/>
            </a:endParaRPr>
          </a:p>
        </p:txBody>
      </p:sp>
      <p:sp>
        <p:nvSpPr>
          <p:cNvPr id="106498"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600" dirty="0">
                <a:solidFill>
                  <a:srgbClr val="0033CC"/>
                </a:solidFill>
                <a:latin typeface="Arial" panose="020B0604020202020204" pitchFamily="34" charset="0"/>
                <a:ea typeface="黑体" panose="02010609060101010101" pitchFamily="1" charset="-122"/>
              </a:rPr>
              <a:t>五、数据库系统中的并发</a:t>
            </a:r>
            <a:endParaRPr lang="zh-CN" altLang="en-US" sz="3600" dirty="0">
              <a:solidFill>
                <a:srgbClr val="0033CC"/>
              </a:solidFill>
              <a:latin typeface="Arial" panose="020B0604020202020204" pitchFamily="34" charset="0"/>
              <a:ea typeface="黑体" panose="02010609060101010101" pitchFamily="1" charset="-122"/>
            </a:endParaRPr>
          </a:p>
        </p:txBody>
      </p:sp>
      <p:sp>
        <p:nvSpPr>
          <p:cNvPr id="106499" name="Rectangle 3"/>
          <p:cNvSpPr txBox="1"/>
          <p:nvPr/>
        </p:nvSpPr>
        <p:spPr>
          <a:xfrm>
            <a:off x="517525" y="823913"/>
            <a:ext cx="7178675" cy="706437"/>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4</a:t>
            </a:r>
            <a:r>
              <a:rPr lang="zh-CN" altLang="en-US" sz="2800" dirty="0">
                <a:solidFill>
                  <a:srgbClr val="FF0000"/>
                </a:solidFill>
                <a:latin typeface="黑体" panose="02010609060101010101" pitchFamily="1" charset="-122"/>
                <a:ea typeface="黑体" panose="02010609060101010101" pitchFamily="1" charset="-122"/>
              </a:rPr>
              <a:t>、基于锁的并发控制协议</a:t>
            </a:r>
            <a:endParaRPr lang="en-US" altLang="x-none" sz="2800" dirty="0">
              <a:solidFill>
                <a:srgbClr val="FF0000"/>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0594">
                                            <p:txEl>
                                              <p:pRg st="0" end="0"/>
                                            </p:txEl>
                                          </p:spTgt>
                                        </p:tgtEl>
                                        <p:attrNameLst>
                                          <p:attrName>style.visibility</p:attrName>
                                        </p:attrNameLst>
                                      </p:cBhvr>
                                      <p:to>
                                        <p:strVal val="visible"/>
                                      </p:to>
                                    </p:set>
                                    <p:animEffect transition="in" filter="dissolve">
                                      <p:cBhvr>
                                        <p:cTn id="7" dur="500"/>
                                        <p:tgtEl>
                                          <p:spTgt spid="11059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0594">
                                            <p:txEl>
                                              <p:pRg st="1" end="1"/>
                                            </p:txEl>
                                          </p:spTgt>
                                        </p:tgtEl>
                                        <p:attrNameLst>
                                          <p:attrName>style.visibility</p:attrName>
                                        </p:attrNameLst>
                                      </p:cBhvr>
                                      <p:to>
                                        <p:strVal val="visible"/>
                                      </p:to>
                                    </p:set>
                                    <p:animEffect transition="in" filter="dissolve">
                                      <p:cBhvr>
                                        <p:cTn id="12" dur="500"/>
                                        <p:tgtEl>
                                          <p:spTgt spid="11059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10594">
                                            <p:txEl>
                                              <p:pRg st="2" end="2"/>
                                            </p:txEl>
                                          </p:spTgt>
                                        </p:tgtEl>
                                        <p:attrNameLst>
                                          <p:attrName>style.visibility</p:attrName>
                                        </p:attrNameLst>
                                      </p:cBhvr>
                                      <p:to>
                                        <p:strVal val="visible"/>
                                      </p:to>
                                    </p:set>
                                    <p:animEffect transition="in" filter="dissolve">
                                      <p:cBhvr>
                                        <p:cTn id="17" dur="500"/>
                                        <p:tgtEl>
                                          <p:spTgt spid="11059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10594">
                                            <p:txEl>
                                              <p:pRg st="3" end="3"/>
                                            </p:txEl>
                                          </p:spTgt>
                                        </p:tgtEl>
                                        <p:attrNameLst>
                                          <p:attrName>style.visibility</p:attrName>
                                        </p:attrNameLst>
                                      </p:cBhvr>
                                      <p:to>
                                        <p:strVal val="visible"/>
                                      </p:to>
                                    </p:set>
                                    <p:animEffect transition="in" filter="dissolve">
                                      <p:cBhvr>
                                        <p:cTn id="22" dur="500"/>
                                        <p:tgtEl>
                                          <p:spTgt spid="11059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10594">
                                            <p:txEl>
                                              <p:pRg st="4" end="4"/>
                                            </p:txEl>
                                          </p:spTgt>
                                        </p:tgtEl>
                                        <p:attrNameLst>
                                          <p:attrName>style.visibility</p:attrName>
                                        </p:attrNameLst>
                                      </p:cBhvr>
                                      <p:to>
                                        <p:strVal val="visible"/>
                                      </p:to>
                                    </p:set>
                                    <p:animEffect transition="in" filter="dissolve">
                                      <p:cBhvr>
                                        <p:cTn id="27" dur="500"/>
                                        <p:tgtEl>
                                          <p:spTgt spid="11059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4" grpId="0" build="p"/>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600" dirty="0">
                <a:solidFill>
                  <a:srgbClr val="0033CC"/>
                </a:solidFill>
                <a:latin typeface="Arial" panose="020B0604020202020204" pitchFamily="34" charset="0"/>
                <a:ea typeface="黑体" panose="02010609060101010101" pitchFamily="1" charset="-122"/>
              </a:rPr>
              <a:t>五、数据库系统中的并发</a:t>
            </a:r>
            <a:endParaRPr lang="zh-CN" altLang="en-US" sz="3600" dirty="0">
              <a:solidFill>
                <a:srgbClr val="0033CC"/>
              </a:solidFill>
              <a:latin typeface="Arial" panose="020B0604020202020204" pitchFamily="34" charset="0"/>
              <a:ea typeface="黑体" panose="02010609060101010101" pitchFamily="1" charset="-122"/>
            </a:endParaRPr>
          </a:p>
        </p:txBody>
      </p:sp>
      <p:sp>
        <p:nvSpPr>
          <p:cNvPr id="107522" name="Rectangle 3"/>
          <p:cNvSpPr txBox="1"/>
          <p:nvPr/>
        </p:nvSpPr>
        <p:spPr>
          <a:xfrm>
            <a:off x="517525" y="8382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4</a:t>
            </a:r>
            <a:r>
              <a:rPr lang="zh-CN" altLang="en-US" sz="2800" dirty="0">
                <a:solidFill>
                  <a:srgbClr val="FF0000"/>
                </a:solidFill>
                <a:latin typeface="黑体" panose="02010609060101010101" pitchFamily="1" charset="-122"/>
                <a:ea typeface="黑体" panose="02010609060101010101" pitchFamily="1" charset="-122"/>
              </a:rPr>
              <a:t>、基于锁的并发控制协议</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111620" name="Rectangle 3"/>
          <p:cNvSpPr txBox="1"/>
          <p:nvPr/>
        </p:nvSpPr>
        <p:spPr>
          <a:xfrm>
            <a:off x="525463" y="2014538"/>
            <a:ext cx="8137525" cy="3792537"/>
          </a:xfrm>
          <a:prstGeom prst="rect">
            <a:avLst/>
          </a:prstGeom>
          <a:noFill/>
          <a:ln w="9525">
            <a:noFill/>
          </a:ln>
        </p:spPr>
        <p:txBody>
          <a:bodyPr anchor="t"/>
          <a:lstStyle/>
          <a:p>
            <a:pPr marL="342900" lvl="0" indent="-342900" eaLnBrk="0" hangingPunct="0">
              <a:lnSpc>
                <a:spcPct val="120000"/>
              </a:lnSpc>
              <a:spcBef>
                <a:spcPct val="20000"/>
              </a:spcBef>
              <a:buClr>
                <a:srgbClr val="0033CC"/>
              </a:buClr>
              <a:buSzPct val="80000"/>
              <a:buFont typeface="Wingdings" panose="05000000000000000000" pitchFamily="2" charset="2"/>
              <a:buChar char="Ø"/>
            </a:pPr>
            <a:r>
              <a:rPr lang="zh-CN" altLang="en-US" sz="2400" dirty="0">
                <a:solidFill>
                  <a:srgbClr val="CC0000"/>
                </a:solidFill>
                <a:latin typeface="华文楷体" panose="02010600040101010101" pitchFamily="2" charset="-122"/>
                <a:ea typeface="宋体" panose="02010600030101010101" pitchFamily="2" charset="-122"/>
                <a:sym typeface="Wingdings" panose="05000000000000000000" pitchFamily="2" charset="2"/>
              </a:rPr>
              <a:t>锁（</a:t>
            </a:r>
            <a:r>
              <a:rPr lang="en-US" altLang="x-none" sz="2400" dirty="0">
                <a:solidFill>
                  <a:srgbClr val="CC0000"/>
                </a:solidFill>
                <a:latin typeface="华文楷体" panose="02010600040101010101" pitchFamily="2" charset="-122"/>
                <a:ea typeface="宋体" panose="02010600030101010101" pitchFamily="2" charset="-122"/>
                <a:sym typeface="Wingdings" panose="05000000000000000000" pitchFamily="2" charset="2"/>
              </a:rPr>
              <a:t>Lock</a:t>
            </a:r>
            <a:r>
              <a:rPr lang="zh-CN" altLang="en-US" sz="2400" dirty="0">
                <a:solidFill>
                  <a:srgbClr val="CC0000"/>
                </a:solidFill>
                <a:latin typeface="华文楷体" panose="02010600040101010101" pitchFamily="2" charset="-122"/>
                <a:ea typeface="宋体" panose="02010600030101010101" pitchFamily="2" charset="-122"/>
                <a:sym typeface="Wingdings" panose="05000000000000000000" pitchFamily="2" charset="2"/>
              </a:rPr>
              <a:t>）是一个与数据项相关的变量，对可能应用于该数据项上的操作而言，锁描述了该数据项的状态。</a:t>
            </a:r>
            <a:endParaRPr lang="zh-CN" altLang="en-US" sz="2400" dirty="0">
              <a:solidFill>
                <a:srgbClr val="CC0000"/>
              </a:solidFill>
              <a:latin typeface="华文楷体" panose="02010600040101010101" pitchFamily="2" charset="-122"/>
              <a:ea typeface="宋体" panose="02010600030101010101" pitchFamily="2" charset="-122"/>
              <a:sym typeface="Wingdings" panose="05000000000000000000" pitchFamily="2" charset="2"/>
            </a:endParaRPr>
          </a:p>
          <a:p>
            <a:pPr marL="342900" lvl="0" indent="-342900" eaLnBrk="0" hangingPunct="0">
              <a:lnSpc>
                <a:spcPct val="120000"/>
              </a:lnSpc>
              <a:spcBef>
                <a:spcPct val="20000"/>
              </a:spcBef>
              <a:buClr>
                <a:srgbClr val="0033CC"/>
              </a:buClr>
              <a:buSzPct val="80000"/>
              <a:buFont typeface="Wingdings" panose="05000000000000000000" pitchFamily="2" charset="2"/>
              <a:buChar char="Ø"/>
            </a:pPr>
            <a:r>
              <a:rPr lang="zh-CN" altLang="en-US" sz="2400" dirty="0">
                <a:latin typeface="华文楷体" panose="02010600040101010101" pitchFamily="2" charset="-122"/>
                <a:ea typeface="宋体" panose="02010600030101010101" pitchFamily="2" charset="-122"/>
                <a:sym typeface="Wingdings" panose="05000000000000000000" pitchFamily="2" charset="2"/>
              </a:rPr>
              <a:t>加锁协议类型： </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marL="742950" lvl="1" indent="-285750" eaLnBrk="0" hangingPunct="0">
              <a:lnSpc>
                <a:spcPct val="120000"/>
              </a:lnSpc>
              <a:spcBef>
                <a:spcPct val="20000"/>
              </a:spcBef>
              <a:buClr>
                <a:schemeClr val="accent2"/>
              </a:buClr>
              <a:buSzPct val="70000"/>
            </a:pPr>
            <a:r>
              <a:rPr lang="zh-CN" altLang="en-US" sz="2400" dirty="0">
                <a:latin typeface="华文楷体" panose="02010600040101010101" pitchFamily="2" charset="-122"/>
                <a:ea typeface="宋体" panose="02010600030101010101" pitchFamily="2" charset="-122"/>
                <a:sym typeface="Wingdings" panose="05000000000000000000" pitchFamily="2" charset="2"/>
              </a:rPr>
              <a:t>① </a:t>
            </a:r>
            <a:r>
              <a:rPr lang="en-US" altLang="x-none" sz="2400" dirty="0">
                <a:latin typeface="华文楷体" panose="02010600040101010101" pitchFamily="2" charset="-122"/>
                <a:ea typeface="宋体" panose="02010600030101010101" pitchFamily="2" charset="-122"/>
                <a:sym typeface="Wingdings" panose="05000000000000000000" pitchFamily="2" charset="2"/>
              </a:rPr>
              <a:t>X</a:t>
            </a:r>
            <a:r>
              <a:rPr lang="zh-CN" altLang="en-US" sz="2400" dirty="0">
                <a:latin typeface="华文楷体" panose="02010600040101010101" pitchFamily="2" charset="-122"/>
                <a:ea typeface="宋体" panose="02010600030101010101" pitchFamily="2" charset="-122"/>
                <a:sym typeface="Wingdings" panose="05000000000000000000" pitchFamily="2" charset="2"/>
              </a:rPr>
              <a:t>锁 （排他锁）</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marL="742950" lvl="1" indent="-285750" eaLnBrk="0" hangingPunct="0">
              <a:lnSpc>
                <a:spcPct val="120000"/>
              </a:lnSpc>
              <a:spcBef>
                <a:spcPct val="20000"/>
              </a:spcBef>
              <a:buClr>
                <a:schemeClr val="accent2"/>
              </a:buClr>
              <a:buSzPct val="70000"/>
            </a:pPr>
            <a:r>
              <a:rPr lang="zh-CN" altLang="en-US" sz="2400" dirty="0">
                <a:latin typeface="华文楷体" panose="02010600040101010101" pitchFamily="2" charset="-122"/>
                <a:ea typeface="宋体" panose="02010600030101010101" pitchFamily="2" charset="-122"/>
                <a:sym typeface="Wingdings" panose="05000000000000000000" pitchFamily="2" charset="2"/>
              </a:rPr>
              <a:t>② 两阶段加锁协议</a:t>
            </a:r>
            <a:r>
              <a:rPr lang="en-US" altLang="x-none" sz="2400" dirty="0">
                <a:latin typeface="华文楷体" panose="02010600040101010101" pitchFamily="2" charset="-122"/>
                <a:ea typeface="宋体" panose="02010600030101010101" pitchFamily="2" charset="-122"/>
                <a:sym typeface="Wingdings" panose="05000000000000000000" pitchFamily="2" charset="2"/>
              </a:rPr>
              <a:t>(2PL</a:t>
            </a:r>
            <a:r>
              <a:rPr lang="zh-CN" altLang="en-US" sz="2400" dirty="0">
                <a:latin typeface="华文楷体" panose="02010600040101010101" pitchFamily="2" charset="-122"/>
                <a:ea typeface="宋体" panose="02010600030101010101" pitchFamily="2" charset="-122"/>
                <a:sym typeface="Wingdings" panose="05000000000000000000" pitchFamily="2" charset="2"/>
              </a:rPr>
              <a:t>协议</a:t>
            </a:r>
            <a:r>
              <a:rPr lang="en-US" altLang="x-none" sz="2400" dirty="0">
                <a:latin typeface="华文楷体" panose="02010600040101010101" pitchFamily="2" charset="-122"/>
                <a:ea typeface="宋体" panose="02010600030101010101" pitchFamily="2" charset="-122"/>
                <a:sym typeface="Wingdings" panose="05000000000000000000" pitchFamily="2" charset="2"/>
              </a:rPr>
              <a:t>) </a:t>
            </a:r>
            <a:endParaRPr lang="en-US" altLang="x-none" sz="2400" dirty="0">
              <a:latin typeface="华文楷体" panose="02010600040101010101" pitchFamily="2" charset="-122"/>
              <a:ea typeface="宋体" panose="02010600030101010101" pitchFamily="2" charset="-122"/>
              <a:sym typeface="Wingdings" panose="05000000000000000000" pitchFamily="2" charset="2"/>
            </a:endParaRPr>
          </a:p>
          <a:p>
            <a:pPr marL="742950" lvl="1" indent="-285750" eaLnBrk="0" hangingPunct="0">
              <a:lnSpc>
                <a:spcPct val="120000"/>
              </a:lnSpc>
              <a:spcBef>
                <a:spcPct val="20000"/>
              </a:spcBef>
              <a:buClr>
                <a:schemeClr val="accent2"/>
              </a:buClr>
              <a:buSzPct val="70000"/>
            </a:pPr>
            <a:r>
              <a:rPr lang="en-US" altLang="x-none" sz="2400" dirty="0">
                <a:latin typeface="华文楷体" panose="02010600040101010101" pitchFamily="2" charset="-122"/>
                <a:ea typeface="宋体" panose="02010600030101010101" pitchFamily="2" charset="-122"/>
                <a:sym typeface="Wingdings" panose="05000000000000000000" pitchFamily="2" charset="2"/>
              </a:rPr>
              <a:t>③</a:t>
            </a:r>
            <a:r>
              <a:rPr lang="zh-CN" altLang="en-US" sz="2400" dirty="0">
                <a:latin typeface="华文楷体" panose="02010600040101010101" pitchFamily="2" charset="-122"/>
                <a:ea typeface="宋体" panose="02010600030101010101" pitchFamily="2" charset="-122"/>
                <a:sym typeface="Wingdings" panose="05000000000000000000" pitchFamily="2" charset="2"/>
              </a:rPr>
              <a:t>（</a:t>
            </a:r>
            <a:r>
              <a:rPr lang="en-US" altLang="x-none" sz="2400" dirty="0">
                <a:latin typeface="华文楷体" panose="02010600040101010101" pitchFamily="2" charset="-122"/>
                <a:ea typeface="宋体" panose="02010600030101010101" pitchFamily="2" charset="-122"/>
                <a:sym typeface="Wingdings" panose="05000000000000000000" pitchFamily="2" charset="2"/>
              </a:rPr>
              <a:t>S</a:t>
            </a:r>
            <a:r>
              <a:rPr lang="zh-CN" altLang="en-US" sz="2400" dirty="0">
                <a:latin typeface="华文楷体" panose="02010600040101010101" pitchFamily="2" charset="-122"/>
                <a:ea typeface="宋体" panose="02010600030101010101" pitchFamily="2" charset="-122"/>
                <a:sym typeface="Wingdings" panose="05000000000000000000" pitchFamily="2" charset="2"/>
              </a:rPr>
              <a:t>，</a:t>
            </a:r>
            <a:r>
              <a:rPr lang="en-US" altLang="x-none" sz="2400" dirty="0">
                <a:latin typeface="华文楷体" panose="02010600040101010101" pitchFamily="2" charset="-122"/>
                <a:ea typeface="宋体" panose="02010600030101010101" pitchFamily="2" charset="-122"/>
                <a:sym typeface="Wingdings" panose="05000000000000000000" pitchFamily="2" charset="2"/>
              </a:rPr>
              <a:t>X</a:t>
            </a:r>
            <a:r>
              <a:rPr lang="zh-CN" altLang="en-US" sz="2400" dirty="0">
                <a:latin typeface="华文楷体" panose="02010600040101010101" pitchFamily="2" charset="-122"/>
                <a:ea typeface="宋体" panose="02010600030101010101" pitchFamily="2" charset="-122"/>
                <a:sym typeface="Wingdings" panose="05000000000000000000" pitchFamily="2" charset="2"/>
              </a:rPr>
              <a:t>）锁</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marL="742950" lvl="1" indent="-285750" eaLnBrk="0" hangingPunct="0">
              <a:lnSpc>
                <a:spcPct val="120000"/>
              </a:lnSpc>
              <a:spcBef>
                <a:spcPct val="20000"/>
              </a:spcBef>
              <a:buClr>
                <a:schemeClr val="accent2"/>
              </a:buClr>
              <a:buSzPct val="70000"/>
            </a:pPr>
            <a:r>
              <a:rPr lang="zh-CN" altLang="en-US" sz="2400" dirty="0">
                <a:latin typeface="华文楷体" panose="02010600040101010101" pitchFamily="2" charset="-122"/>
                <a:ea typeface="宋体" panose="02010600030101010101" pitchFamily="2" charset="-122"/>
                <a:sym typeface="Wingdings" panose="05000000000000000000" pitchFamily="2" charset="2"/>
              </a:rPr>
              <a:t>④（</a:t>
            </a:r>
            <a:r>
              <a:rPr lang="en-US" altLang="x-none" sz="2400" dirty="0">
                <a:latin typeface="华文楷体" panose="02010600040101010101" pitchFamily="2" charset="-122"/>
                <a:ea typeface="宋体" panose="02010600030101010101" pitchFamily="2" charset="-122"/>
                <a:sym typeface="Wingdings" panose="05000000000000000000" pitchFamily="2" charset="2"/>
              </a:rPr>
              <a:t>S</a:t>
            </a:r>
            <a:r>
              <a:rPr lang="zh-CN" altLang="en-US" sz="2400" dirty="0">
                <a:latin typeface="华文楷体" panose="02010600040101010101" pitchFamily="2" charset="-122"/>
                <a:ea typeface="宋体" panose="02010600030101010101" pitchFamily="2" charset="-122"/>
                <a:sym typeface="Wingdings" panose="05000000000000000000" pitchFamily="2" charset="2"/>
              </a:rPr>
              <a:t>，</a:t>
            </a:r>
            <a:r>
              <a:rPr lang="en-US" altLang="x-none" sz="2400" dirty="0">
                <a:latin typeface="华文楷体" panose="02010600040101010101" pitchFamily="2" charset="-122"/>
                <a:ea typeface="宋体" panose="02010600030101010101" pitchFamily="2" charset="-122"/>
                <a:sym typeface="Wingdings" panose="05000000000000000000" pitchFamily="2" charset="2"/>
              </a:rPr>
              <a:t>U</a:t>
            </a:r>
            <a:r>
              <a:rPr lang="zh-CN" altLang="en-US" sz="2400" dirty="0">
                <a:latin typeface="华文楷体" panose="02010600040101010101" pitchFamily="2" charset="-122"/>
                <a:ea typeface="宋体" panose="02010600030101010101" pitchFamily="2" charset="-122"/>
                <a:sym typeface="Wingdings" panose="05000000000000000000" pitchFamily="2" charset="2"/>
              </a:rPr>
              <a:t>，</a:t>
            </a:r>
            <a:r>
              <a:rPr lang="en-US" altLang="x-none" sz="2400" dirty="0">
                <a:latin typeface="华文楷体" panose="02010600040101010101" pitchFamily="2" charset="-122"/>
                <a:ea typeface="宋体" panose="02010600030101010101" pitchFamily="2" charset="-122"/>
                <a:sym typeface="Wingdings" panose="05000000000000000000" pitchFamily="2" charset="2"/>
              </a:rPr>
              <a:t>X</a:t>
            </a:r>
            <a:r>
              <a:rPr lang="zh-CN" altLang="en-US" sz="2400" dirty="0">
                <a:latin typeface="华文楷体" panose="02010600040101010101" pitchFamily="2" charset="-122"/>
                <a:ea typeface="宋体" panose="02010600030101010101" pitchFamily="2" charset="-122"/>
                <a:sym typeface="Wingdings" panose="05000000000000000000" pitchFamily="2" charset="2"/>
              </a:rPr>
              <a:t>）锁</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marL="742950" lvl="1" indent="-285750" eaLnBrk="0" hangingPunct="0">
              <a:lnSpc>
                <a:spcPct val="120000"/>
              </a:lnSpc>
              <a:spcBef>
                <a:spcPct val="20000"/>
              </a:spcBef>
              <a:buClr>
                <a:schemeClr val="accent2"/>
              </a:buClr>
              <a:buSzPct val="70000"/>
            </a:pPr>
            <a:r>
              <a:rPr lang="zh-CN" altLang="en-US" sz="2400" dirty="0">
                <a:latin typeface="华文楷体" panose="02010600040101010101" pitchFamily="2" charset="-122"/>
                <a:ea typeface="宋体" panose="02010600030101010101" pitchFamily="2" charset="-122"/>
                <a:sym typeface="Wingdings" panose="05000000000000000000" pitchFamily="2" charset="2"/>
              </a:rPr>
              <a:t>⑤ 多粒度加锁或封锁</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marL="342900" lvl="0" indent="-342900" eaLnBrk="0" hangingPunct="0">
              <a:spcBef>
                <a:spcPct val="20000"/>
              </a:spcBef>
              <a:buClr>
                <a:srgbClr val="0033CC"/>
              </a:buClr>
              <a:buSzPct val="80000"/>
              <a:buFont typeface="Wingdings" panose="05000000000000000000" pitchFamily="2" charset="2"/>
              <a:buChar char="u"/>
            </a:pPr>
            <a:endParaRPr lang="en-US" altLang="x-none" sz="2000" dirty="0">
              <a:latin typeface="华文楷体" panose="02010600040101010101" pitchFamily="2" charset="-122"/>
              <a:ea typeface="宋体" panose="02010600030101010101" pitchFamily="2" charset="-122"/>
            </a:endParaRPr>
          </a:p>
        </p:txBody>
      </p:sp>
      <p:sp>
        <p:nvSpPr>
          <p:cNvPr id="107524" name="Rectangle 3"/>
          <p:cNvSpPr txBox="1"/>
          <p:nvPr/>
        </p:nvSpPr>
        <p:spPr>
          <a:xfrm>
            <a:off x="549275" y="1387475"/>
            <a:ext cx="3382963" cy="706438"/>
          </a:xfrm>
          <a:prstGeom prst="rect">
            <a:avLst/>
          </a:prstGeom>
          <a:noFill/>
          <a:ln w="9525">
            <a:noFill/>
          </a:ln>
        </p:spPr>
        <p:txBody>
          <a:bodyPr anchor="t"/>
          <a:lstStyle/>
          <a:p>
            <a:pPr lvl="0" indent="0" eaLnBrk="0" hangingPunct="0">
              <a:buFont typeface="Wingdings" panose="05000000000000000000" pitchFamily="2" charset="2"/>
              <a:buChar char="p"/>
            </a:pPr>
            <a:r>
              <a:rPr lang="zh-CN" altLang="en-US" sz="2800" dirty="0">
                <a:solidFill>
                  <a:srgbClr val="000099"/>
                </a:solidFill>
                <a:latin typeface="黑体" panose="02010609060101010101" pitchFamily="1" charset="-122"/>
                <a:ea typeface="黑体" panose="02010609060101010101" pitchFamily="1" charset="-122"/>
              </a:rPr>
              <a:t> 封锁技术</a:t>
            </a:r>
            <a:endParaRPr lang="en-US" altLang="x-none" sz="2800" dirty="0">
              <a:solidFill>
                <a:srgbClr val="000099"/>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1620">
                                            <p:txEl>
                                              <p:pRg st="0" end="0"/>
                                            </p:txEl>
                                          </p:spTgt>
                                        </p:tgtEl>
                                        <p:attrNameLst>
                                          <p:attrName>style.visibility</p:attrName>
                                        </p:attrNameLst>
                                      </p:cBhvr>
                                      <p:to>
                                        <p:strVal val="visible"/>
                                      </p:to>
                                    </p:set>
                                    <p:animEffect transition="in" filter="dissolve">
                                      <p:cBhvr>
                                        <p:cTn id="7" dur="500"/>
                                        <p:tgtEl>
                                          <p:spTgt spid="11162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1620">
                                            <p:txEl>
                                              <p:pRg st="1" end="1"/>
                                            </p:txEl>
                                          </p:spTgt>
                                        </p:tgtEl>
                                        <p:attrNameLst>
                                          <p:attrName>style.visibility</p:attrName>
                                        </p:attrNameLst>
                                      </p:cBhvr>
                                      <p:to>
                                        <p:strVal val="visible"/>
                                      </p:to>
                                    </p:set>
                                    <p:animEffect transition="in" filter="dissolve">
                                      <p:cBhvr>
                                        <p:cTn id="12" dur="500"/>
                                        <p:tgtEl>
                                          <p:spTgt spid="111620">
                                            <p:txEl>
                                              <p:pRg st="1" end="1"/>
                                            </p:txEl>
                                          </p:spTgt>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111620">
                                            <p:txEl>
                                              <p:pRg st="2" end="2"/>
                                            </p:txEl>
                                          </p:spTgt>
                                        </p:tgtEl>
                                        <p:attrNameLst>
                                          <p:attrName>style.visibility</p:attrName>
                                        </p:attrNameLst>
                                      </p:cBhvr>
                                      <p:to>
                                        <p:strVal val="visible"/>
                                      </p:to>
                                    </p:set>
                                    <p:animEffect transition="in" filter="dissolve">
                                      <p:cBhvr>
                                        <p:cTn id="15" dur="500"/>
                                        <p:tgtEl>
                                          <p:spTgt spid="111620">
                                            <p:txEl>
                                              <p:pRg st="2" end="2"/>
                                            </p:txEl>
                                          </p:spTgt>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11620">
                                            <p:txEl>
                                              <p:pRg st="3" end="3"/>
                                            </p:txEl>
                                          </p:spTgt>
                                        </p:tgtEl>
                                        <p:attrNameLst>
                                          <p:attrName>style.visibility</p:attrName>
                                        </p:attrNameLst>
                                      </p:cBhvr>
                                      <p:to>
                                        <p:strVal val="visible"/>
                                      </p:to>
                                    </p:set>
                                    <p:animEffect transition="in" filter="dissolve">
                                      <p:cBhvr>
                                        <p:cTn id="18" dur="500"/>
                                        <p:tgtEl>
                                          <p:spTgt spid="111620">
                                            <p:txEl>
                                              <p:pRg st="3" end="3"/>
                                            </p:txEl>
                                          </p:spTgt>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111620">
                                            <p:txEl>
                                              <p:pRg st="4" end="4"/>
                                            </p:txEl>
                                          </p:spTgt>
                                        </p:tgtEl>
                                        <p:attrNameLst>
                                          <p:attrName>style.visibility</p:attrName>
                                        </p:attrNameLst>
                                      </p:cBhvr>
                                      <p:to>
                                        <p:strVal val="visible"/>
                                      </p:to>
                                    </p:set>
                                    <p:animEffect transition="in" filter="dissolve">
                                      <p:cBhvr>
                                        <p:cTn id="21" dur="500"/>
                                        <p:tgtEl>
                                          <p:spTgt spid="111620">
                                            <p:txEl>
                                              <p:pRg st="4" end="4"/>
                                            </p:txEl>
                                          </p:spTgt>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111620">
                                            <p:txEl>
                                              <p:pRg st="5" end="5"/>
                                            </p:txEl>
                                          </p:spTgt>
                                        </p:tgtEl>
                                        <p:attrNameLst>
                                          <p:attrName>style.visibility</p:attrName>
                                        </p:attrNameLst>
                                      </p:cBhvr>
                                      <p:to>
                                        <p:strVal val="visible"/>
                                      </p:to>
                                    </p:set>
                                    <p:animEffect transition="in" filter="dissolve">
                                      <p:cBhvr>
                                        <p:cTn id="24" dur="500"/>
                                        <p:tgtEl>
                                          <p:spTgt spid="111620">
                                            <p:txEl>
                                              <p:pRg st="5" end="5"/>
                                            </p:txEl>
                                          </p:spTgt>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111620">
                                            <p:txEl>
                                              <p:pRg st="6" end="6"/>
                                            </p:txEl>
                                          </p:spTgt>
                                        </p:tgtEl>
                                        <p:attrNameLst>
                                          <p:attrName>style.visibility</p:attrName>
                                        </p:attrNameLst>
                                      </p:cBhvr>
                                      <p:to>
                                        <p:strVal val="visible"/>
                                      </p:to>
                                    </p:set>
                                    <p:animEffect transition="in" filter="dissolve">
                                      <p:cBhvr>
                                        <p:cTn id="27" dur="500"/>
                                        <p:tgtEl>
                                          <p:spTgt spid="11162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20" grpId="0" uiExpand="1" build="p"/>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600" dirty="0">
                <a:solidFill>
                  <a:srgbClr val="0033CC"/>
                </a:solidFill>
                <a:latin typeface="Arial" panose="020B0604020202020204" pitchFamily="34" charset="0"/>
                <a:ea typeface="黑体" panose="02010609060101010101" pitchFamily="1" charset="-122"/>
              </a:rPr>
              <a:t>五、数据库系统中的并发</a:t>
            </a:r>
            <a:endParaRPr lang="zh-CN" altLang="en-US" sz="3600" dirty="0">
              <a:solidFill>
                <a:srgbClr val="0033CC"/>
              </a:solidFill>
              <a:latin typeface="Arial" panose="020B0604020202020204" pitchFamily="34" charset="0"/>
              <a:ea typeface="黑体" panose="02010609060101010101" pitchFamily="1" charset="-122"/>
            </a:endParaRPr>
          </a:p>
        </p:txBody>
      </p:sp>
      <p:sp>
        <p:nvSpPr>
          <p:cNvPr id="108546" name="Rectangle 3"/>
          <p:cNvSpPr txBox="1"/>
          <p:nvPr/>
        </p:nvSpPr>
        <p:spPr>
          <a:xfrm>
            <a:off x="517525" y="8382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4</a:t>
            </a:r>
            <a:r>
              <a:rPr lang="zh-CN" altLang="en-US" sz="2800" dirty="0">
                <a:solidFill>
                  <a:srgbClr val="FF0000"/>
                </a:solidFill>
                <a:latin typeface="黑体" panose="02010609060101010101" pitchFamily="1" charset="-122"/>
                <a:ea typeface="黑体" panose="02010609060101010101" pitchFamily="1" charset="-122"/>
              </a:rPr>
              <a:t>、基于锁的并发控制协议</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108547" name="Rectangle 2"/>
          <p:cNvSpPr txBox="1"/>
          <p:nvPr/>
        </p:nvSpPr>
        <p:spPr>
          <a:xfrm>
            <a:off x="503238" y="1371600"/>
            <a:ext cx="5303837" cy="706438"/>
          </a:xfrm>
          <a:prstGeom prst="rect">
            <a:avLst/>
          </a:prstGeom>
          <a:noFill/>
          <a:ln w="9525">
            <a:noFill/>
          </a:ln>
        </p:spPr>
        <p:txBody>
          <a:bodyPr anchor="t"/>
          <a:lstStyle/>
          <a:p>
            <a:pPr lvl="0" indent="0" eaLnBrk="0" hangingPunct="0">
              <a:buFont typeface="Wingdings" panose="05000000000000000000" pitchFamily="2" charset="2"/>
              <a:buChar char="p"/>
            </a:pPr>
            <a:r>
              <a:rPr lang="en-US" altLang="x-none" sz="2800" dirty="0">
                <a:solidFill>
                  <a:srgbClr val="3333CC"/>
                </a:solidFill>
                <a:latin typeface="宋体" panose="02010600030101010101" pitchFamily="2" charset="-122"/>
                <a:ea typeface="黑体" panose="02010609060101010101" pitchFamily="1" charset="-122"/>
              </a:rPr>
              <a:t> X</a:t>
            </a:r>
            <a:r>
              <a:rPr lang="zh-CN" altLang="en-US" sz="2800" dirty="0">
                <a:solidFill>
                  <a:srgbClr val="3333CC"/>
                </a:solidFill>
                <a:latin typeface="宋体" panose="02010600030101010101" pitchFamily="2" charset="-122"/>
                <a:ea typeface="黑体" panose="02010609060101010101" pitchFamily="1" charset="-122"/>
              </a:rPr>
              <a:t>锁加锁协议</a:t>
            </a:r>
            <a:endParaRPr lang="zh-CN" altLang="en-US" sz="2800" dirty="0">
              <a:solidFill>
                <a:srgbClr val="3333CC"/>
              </a:solidFill>
              <a:latin typeface="宋体" panose="02010600030101010101" pitchFamily="2" charset="-122"/>
              <a:ea typeface="黑体" panose="02010609060101010101" pitchFamily="1" charset="-122"/>
            </a:endParaRPr>
          </a:p>
        </p:txBody>
      </p:sp>
      <p:sp>
        <p:nvSpPr>
          <p:cNvPr id="112645" name="Rectangle 3"/>
          <p:cNvSpPr txBox="1"/>
          <p:nvPr/>
        </p:nvSpPr>
        <p:spPr>
          <a:xfrm>
            <a:off x="523875" y="1892300"/>
            <a:ext cx="8239125" cy="4219575"/>
          </a:xfrm>
          <a:prstGeom prst="rect">
            <a:avLst/>
          </a:prstGeom>
          <a:noFill/>
          <a:ln w="9525">
            <a:noFill/>
          </a:ln>
        </p:spPr>
        <p:txBody>
          <a:bodyPr anchor="t"/>
          <a:lstStyle/>
          <a:p>
            <a:pPr lvl="0" indent="0" eaLnBrk="0" hangingPunct="0">
              <a:lnSpc>
                <a:spcPct val="114000"/>
              </a:lnSpc>
              <a:spcBef>
                <a:spcPct val="50000"/>
              </a:spcBef>
              <a:buClr>
                <a:srgbClr val="0033CC"/>
              </a:buClr>
              <a:buSzPct val="80000"/>
              <a:buFont typeface="Wingdings" panose="05000000000000000000" pitchFamily="2" charset="2"/>
              <a:buChar char="u"/>
            </a:pPr>
            <a:r>
              <a:rPr lang="en-US" altLang="x-none" sz="2400" u="sng" dirty="0">
                <a:solidFill>
                  <a:srgbClr val="CC3300"/>
                </a:solidFill>
                <a:latin typeface="华文楷体" panose="02010600040101010101" pitchFamily="2" charset="-122"/>
                <a:ea typeface="宋体" panose="02010600030101010101" pitchFamily="2" charset="-122"/>
              </a:rPr>
              <a:t>X</a:t>
            </a:r>
            <a:r>
              <a:rPr lang="zh-CN" altLang="en-US" sz="2400" u="sng" dirty="0">
                <a:solidFill>
                  <a:srgbClr val="CC3300"/>
                </a:solidFill>
                <a:latin typeface="华文楷体" panose="02010600040101010101" pitchFamily="2" charset="-122"/>
                <a:ea typeface="宋体" panose="02010600030101010101" pitchFamily="2" charset="-122"/>
              </a:rPr>
              <a:t>锁协议：</a:t>
            </a:r>
            <a:r>
              <a:rPr lang="zh-CN" altLang="en-US" sz="2400" dirty="0">
                <a:latin typeface="华文楷体" panose="02010600040101010101" pitchFamily="2" charset="-122"/>
                <a:ea typeface="宋体" panose="02010600030101010101" pitchFamily="2" charset="-122"/>
                <a:sym typeface="Wingdings" panose="05000000000000000000" pitchFamily="2" charset="2"/>
              </a:rPr>
              <a:t>该协议中，只有一种锁，即</a:t>
            </a:r>
            <a:r>
              <a:rPr lang="en-US" altLang="x-none" sz="2400" dirty="0">
                <a:latin typeface="华文楷体" panose="02010600040101010101" pitchFamily="2" charset="-122"/>
                <a:ea typeface="宋体" panose="02010600030101010101" pitchFamily="2" charset="-122"/>
                <a:sym typeface="Wingdings" panose="05000000000000000000" pitchFamily="2" charset="2"/>
              </a:rPr>
              <a:t>X</a:t>
            </a:r>
            <a:r>
              <a:rPr lang="zh-CN" altLang="en-US" sz="2400" dirty="0">
                <a:latin typeface="华文楷体" panose="02010600040101010101" pitchFamily="2" charset="-122"/>
                <a:ea typeface="宋体" panose="02010600030101010101" pitchFamily="2" charset="-122"/>
                <a:sym typeface="Wingdings" panose="05000000000000000000" pitchFamily="2" charset="2"/>
              </a:rPr>
              <a:t>（</a:t>
            </a:r>
            <a:r>
              <a:rPr lang="en-US" altLang="x-none" sz="2400" dirty="0">
                <a:latin typeface="华文楷体" panose="02010600040101010101" pitchFamily="2" charset="-122"/>
                <a:ea typeface="宋体" panose="02010600030101010101" pitchFamily="2" charset="-122"/>
                <a:sym typeface="Wingdings" panose="05000000000000000000" pitchFamily="2" charset="2"/>
              </a:rPr>
              <a:t>eXclusive</a:t>
            </a:r>
            <a:r>
              <a:rPr lang="zh-CN" altLang="en-US" sz="2400" dirty="0">
                <a:latin typeface="华文楷体" panose="02010600040101010101" pitchFamily="2" charset="-122"/>
                <a:ea typeface="宋体" panose="02010600030101010101" pitchFamily="2" charset="-122"/>
                <a:sym typeface="Wingdings" panose="05000000000000000000" pitchFamily="2" charset="2"/>
              </a:rPr>
              <a:t>）锁，亦称排他</a:t>
            </a:r>
            <a:r>
              <a:rPr lang="en-US" altLang="x-none" sz="2400" dirty="0">
                <a:latin typeface="华文楷体" panose="02010600040101010101" pitchFamily="2" charset="-122"/>
                <a:ea typeface="宋体" panose="02010600030101010101" pitchFamily="2" charset="-122"/>
                <a:sym typeface="Wingdings" panose="05000000000000000000" pitchFamily="2" charset="2"/>
              </a:rPr>
              <a:t>/</a:t>
            </a:r>
            <a:r>
              <a:rPr lang="zh-CN" altLang="en-US" sz="2400" dirty="0">
                <a:latin typeface="华文楷体" panose="02010600040101010101" pitchFamily="2" charset="-122"/>
                <a:ea typeface="宋体" panose="02010600030101010101" pitchFamily="2" charset="-122"/>
                <a:sym typeface="Wingdings" panose="05000000000000000000" pitchFamily="2" charset="2"/>
              </a:rPr>
              <a:t>独占锁，既可用于读操作，亦可用于写操作。一个事务对某个数据对象加排他锁后，其它事务就不能对该数据对象加锁，必须等到该数据对象上的</a:t>
            </a:r>
            <a:r>
              <a:rPr lang="en-US" altLang="x-none" sz="2400" dirty="0">
                <a:latin typeface="华文楷体" panose="02010600040101010101" pitchFamily="2" charset="-122"/>
                <a:ea typeface="宋体" panose="02010600030101010101" pitchFamily="2" charset="-122"/>
                <a:sym typeface="Wingdings" panose="05000000000000000000" pitchFamily="2" charset="2"/>
              </a:rPr>
              <a:t>X</a:t>
            </a:r>
            <a:r>
              <a:rPr lang="zh-CN" altLang="en-US" sz="2400" dirty="0">
                <a:latin typeface="华文楷体" panose="02010600040101010101" pitchFamily="2" charset="-122"/>
                <a:ea typeface="宋体" panose="02010600030101010101" pitchFamily="2" charset="-122"/>
                <a:sym typeface="Wingdings" panose="05000000000000000000" pitchFamily="2" charset="2"/>
              </a:rPr>
              <a:t>锁被“解锁”（</a:t>
            </a:r>
            <a:r>
              <a:rPr lang="en-US" altLang="x-none" sz="2400" dirty="0">
                <a:latin typeface="华文楷体" panose="02010600040101010101" pitchFamily="2" charset="-122"/>
                <a:ea typeface="宋体" panose="02010600030101010101" pitchFamily="2" charset="-122"/>
                <a:sym typeface="Wingdings" panose="05000000000000000000" pitchFamily="2" charset="2"/>
              </a:rPr>
              <a:t>Unlock</a:t>
            </a:r>
            <a:r>
              <a:rPr lang="zh-CN" altLang="en-US" sz="2400" dirty="0">
                <a:latin typeface="华文楷体" panose="02010600040101010101" pitchFamily="2" charset="-122"/>
                <a:ea typeface="宋体" panose="02010600030101010101" pitchFamily="2" charset="-122"/>
                <a:sym typeface="Wingdings" panose="05000000000000000000" pitchFamily="2" charset="2"/>
              </a:rPr>
              <a:t>），或“释放”后，才可能再加锁。</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lvl="0" indent="0" eaLnBrk="0" hangingPunct="0">
              <a:lnSpc>
                <a:spcPct val="114000"/>
              </a:lnSpc>
              <a:spcBef>
                <a:spcPct val="50000"/>
              </a:spcBef>
              <a:buClr>
                <a:srgbClr val="0033CC"/>
              </a:buClr>
              <a:buSzPct val="80000"/>
              <a:buFont typeface="Wingdings" panose="05000000000000000000" pitchFamily="2" charset="2"/>
              <a:buChar char="u"/>
            </a:pPr>
            <a:r>
              <a:rPr lang="zh-CN" altLang="en-US" sz="2400" u="sng" dirty="0">
                <a:solidFill>
                  <a:srgbClr val="CC3300"/>
                </a:solidFill>
                <a:latin typeface="华文楷体" panose="02010600040101010101" pitchFamily="2" charset="-122"/>
                <a:ea typeface="宋体" panose="02010600030101010101" pitchFamily="2" charset="-122"/>
                <a:sym typeface="Wingdings" panose="05000000000000000000" pitchFamily="2" charset="2"/>
              </a:rPr>
              <a:t>相容矩阵：</a:t>
            </a:r>
            <a:r>
              <a:rPr lang="zh-CN" altLang="en-US" sz="2400" dirty="0">
                <a:latin typeface="华文楷体" panose="02010600040101010101" pitchFamily="2" charset="-122"/>
                <a:ea typeface="宋体" panose="02010600030101010101" pitchFamily="2" charset="-122"/>
                <a:sym typeface="Wingdings" panose="05000000000000000000" pitchFamily="2" charset="2"/>
              </a:rPr>
              <a:t>加锁协议可用相容矩阵描述。所谓相容矩阵，是说明锁请求在什么情况下可获准或被拒绝。</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marL="742950" lvl="1" indent="-285750" eaLnBrk="0" hangingPunct="0">
              <a:lnSpc>
                <a:spcPct val="105000"/>
              </a:lnSpc>
              <a:spcBef>
                <a:spcPts val="600"/>
              </a:spcBef>
              <a:buClr>
                <a:schemeClr val="accent2"/>
              </a:buClr>
              <a:buSzPct val="70000"/>
            </a:pPr>
            <a:r>
              <a:rPr lang="en-US" altLang="x-none" sz="2400" dirty="0">
                <a:latin typeface="华文楷体" panose="02010600040101010101" pitchFamily="2" charset="-122"/>
                <a:ea typeface="宋体" panose="02010600030101010101" pitchFamily="2" charset="-122"/>
              </a:rPr>
              <a:t>--</a:t>
            </a:r>
            <a:r>
              <a:rPr lang="zh-CN" altLang="en-US" sz="2400" dirty="0">
                <a:latin typeface="华文楷体" panose="02010600040101010101" pitchFamily="2" charset="-122"/>
                <a:ea typeface="宋体" panose="02010600030101010101" pitchFamily="2" charset="-122"/>
              </a:rPr>
              <a:t>如果获准，即已有锁与申请锁相容；</a:t>
            </a:r>
            <a:endParaRPr lang="zh-CN" altLang="en-US" sz="2400" dirty="0">
              <a:latin typeface="华文楷体" panose="02010600040101010101" pitchFamily="2" charset="-122"/>
              <a:ea typeface="宋体" panose="02010600030101010101" pitchFamily="2" charset="-122"/>
            </a:endParaRPr>
          </a:p>
          <a:p>
            <a:pPr marL="742950" lvl="1" indent="-285750" eaLnBrk="0" hangingPunct="0">
              <a:lnSpc>
                <a:spcPct val="105000"/>
              </a:lnSpc>
              <a:spcBef>
                <a:spcPts val="600"/>
              </a:spcBef>
              <a:buClr>
                <a:schemeClr val="accent2"/>
              </a:buClr>
              <a:buSzPct val="70000"/>
            </a:pPr>
            <a:r>
              <a:rPr lang="en-US" altLang="x-none" sz="2400" dirty="0">
                <a:latin typeface="华文楷体" panose="02010600040101010101" pitchFamily="2" charset="-122"/>
                <a:ea typeface="宋体" panose="02010600030101010101" pitchFamily="2" charset="-122"/>
              </a:rPr>
              <a:t>--</a:t>
            </a:r>
            <a:r>
              <a:rPr lang="zh-CN" altLang="en-US" sz="2400" dirty="0">
                <a:latin typeface="华文楷体" panose="02010600040101010101" pitchFamily="2" charset="-122"/>
                <a:ea typeface="宋体" panose="02010600030101010101" pitchFamily="2" charset="-122"/>
              </a:rPr>
              <a:t>如果被拒绝，即已有锁与申请锁“冲突”或“相斥”。</a:t>
            </a:r>
            <a:endParaRPr lang="zh-CN" altLang="en-US" sz="2400" dirty="0">
              <a:latin typeface="华文楷体" panose="0201060004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2645">
                                            <p:txEl>
                                              <p:pRg st="0" end="0"/>
                                            </p:txEl>
                                          </p:spTgt>
                                        </p:tgtEl>
                                        <p:attrNameLst>
                                          <p:attrName>style.visibility</p:attrName>
                                        </p:attrNameLst>
                                      </p:cBhvr>
                                      <p:to>
                                        <p:strVal val="visible"/>
                                      </p:to>
                                    </p:set>
                                    <p:animEffect transition="in" filter="dissolve">
                                      <p:cBhvr>
                                        <p:cTn id="7" dur="500"/>
                                        <p:tgtEl>
                                          <p:spTgt spid="11264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2645">
                                            <p:txEl>
                                              <p:pRg st="1" end="1"/>
                                            </p:txEl>
                                          </p:spTgt>
                                        </p:tgtEl>
                                        <p:attrNameLst>
                                          <p:attrName>style.visibility</p:attrName>
                                        </p:attrNameLst>
                                      </p:cBhvr>
                                      <p:to>
                                        <p:strVal val="visible"/>
                                      </p:to>
                                    </p:set>
                                    <p:animEffect transition="in" filter="dissolve">
                                      <p:cBhvr>
                                        <p:cTn id="12" dur="500"/>
                                        <p:tgtEl>
                                          <p:spTgt spid="11264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12645">
                                            <p:txEl>
                                              <p:pRg st="2" end="2"/>
                                            </p:txEl>
                                          </p:spTgt>
                                        </p:tgtEl>
                                        <p:attrNameLst>
                                          <p:attrName>style.visibility</p:attrName>
                                        </p:attrNameLst>
                                      </p:cBhvr>
                                      <p:to>
                                        <p:strVal val="visible"/>
                                      </p:to>
                                    </p:set>
                                    <p:animEffect transition="in" filter="dissolve">
                                      <p:cBhvr>
                                        <p:cTn id="17" dur="500"/>
                                        <p:tgtEl>
                                          <p:spTgt spid="11264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12645">
                                            <p:txEl>
                                              <p:pRg st="3" end="3"/>
                                            </p:txEl>
                                          </p:spTgt>
                                        </p:tgtEl>
                                        <p:attrNameLst>
                                          <p:attrName>style.visibility</p:attrName>
                                        </p:attrNameLst>
                                      </p:cBhvr>
                                      <p:to>
                                        <p:strVal val="visible"/>
                                      </p:to>
                                    </p:set>
                                    <p:animEffect transition="in" filter="dissolve">
                                      <p:cBhvr>
                                        <p:cTn id="22" dur="500"/>
                                        <p:tgtEl>
                                          <p:spTgt spid="11264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5" grpId="0" uiExpand="1" build="p"/>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600" dirty="0">
                <a:solidFill>
                  <a:srgbClr val="0033CC"/>
                </a:solidFill>
                <a:latin typeface="Arial" panose="020B0604020202020204" pitchFamily="34" charset="0"/>
                <a:ea typeface="黑体" panose="02010609060101010101" pitchFamily="1" charset="-122"/>
              </a:rPr>
              <a:t>五、数据库系统中的并发</a:t>
            </a:r>
            <a:endParaRPr lang="zh-CN" altLang="en-US" sz="3600" dirty="0">
              <a:solidFill>
                <a:srgbClr val="0033CC"/>
              </a:solidFill>
              <a:latin typeface="Arial" panose="020B0604020202020204" pitchFamily="34" charset="0"/>
              <a:ea typeface="黑体" panose="02010609060101010101" pitchFamily="1" charset="-122"/>
            </a:endParaRPr>
          </a:p>
        </p:txBody>
      </p:sp>
      <p:sp>
        <p:nvSpPr>
          <p:cNvPr id="109570" name="Rectangle 3"/>
          <p:cNvSpPr txBox="1"/>
          <p:nvPr/>
        </p:nvSpPr>
        <p:spPr>
          <a:xfrm>
            <a:off x="517525" y="8382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4</a:t>
            </a:r>
            <a:r>
              <a:rPr lang="zh-CN" altLang="en-US" sz="2800" dirty="0">
                <a:solidFill>
                  <a:srgbClr val="FF0000"/>
                </a:solidFill>
                <a:latin typeface="黑体" panose="02010609060101010101" pitchFamily="1" charset="-122"/>
                <a:ea typeface="黑体" panose="02010609060101010101" pitchFamily="1" charset="-122"/>
              </a:rPr>
              <a:t>、基于锁的并发控制协议</a:t>
            </a:r>
            <a:endParaRPr lang="en-US" altLang="x-none" sz="2800" dirty="0">
              <a:solidFill>
                <a:srgbClr val="FF0000"/>
              </a:solidFill>
              <a:latin typeface="黑体" panose="02010609060101010101" pitchFamily="1" charset="-122"/>
              <a:ea typeface="黑体" panose="02010609060101010101" pitchFamily="1" charset="-122"/>
            </a:endParaRPr>
          </a:p>
        </p:txBody>
      </p:sp>
      <p:graphicFrame>
        <p:nvGraphicFramePr>
          <p:cNvPr id="113668" name="Object 2"/>
          <p:cNvGraphicFramePr>
            <a:graphicFrameLocks noGrp="1" noChangeAspect="1"/>
          </p:cNvGraphicFramePr>
          <p:nvPr/>
        </p:nvGraphicFramePr>
        <p:xfrm>
          <a:off x="1304925" y="3306763"/>
          <a:ext cx="6916738" cy="2925762"/>
        </p:xfrm>
        <a:graphic>
          <a:graphicData uri="http://schemas.openxmlformats.org/presentationml/2006/ole">
            <mc:AlternateContent xmlns:mc="http://schemas.openxmlformats.org/markup-compatibility/2006">
              <mc:Choice xmlns:v="urn:schemas-microsoft-com:vml" Requires="v">
                <p:oleObj spid="_x0000_s23574" name="" r:id="rId1" imgW="1831340" imgH="894080" progId="Word.Picture.8">
                  <p:embed/>
                </p:oleObj>
              </mc:Choice>
              <mc:Fallback>
                <p:oleObj name="" r:id="rId1" imgW="1831340" imgH="894080" progId="Word.Picture.8">
                  <p:embed/>
                  <p:pic>
                    <p:nvPicPr>
                      <p:cNvPr id="0" name="图片 3096"/>
                      <p:cNvPicPr/>
                      <p:nvPr/>
                    </p:nvPicPr>
                    <p:blipFill>
                      <a:blip r:embed="rId2"/>
                      <a:stretch>
                        <a:fillRect/>
                      </a:stretch>
                    </p:blipFill>
                    <p:spPr>
                      <a:xfrm>
                        <a:off x="1304925" y="3306763"/>
                        <a:ext cx="6916738" cy="2925762"/>
                      </a:xfrm>
                      <a:prstGeom prst="rect">
                        <a:avLst/>
                      </a:prstGeom>
                      <a:noFill/>
                      <a:ln w="38100">
                        <a:noFill/>
                        <a:miter/>
                      </a:ln>
                    </p:spPr>
                  </p:pic>
                </p:oleObj>
              </mc:Fallback>
            </mc:AlternateContent>
          </a:graphicData>
        </a:graphic>
      </p:graphicFrame>
      <p:sp>
        <p:nvSpPr>
          <p:cNvPr id="109572" name="Rectangle 3"/>
          <p:cNvSpPr txBox="1"/>
          <p:nvPr/>
        </p:nvSpPr>
        <p:spPr>
          <a:xfrm>
            <a:off x="563563" y="1433513"/>
            <a:ext cx="8229600" cy="706437"/>
          </a:xfrm>
          <a:prstGeom prst="rect">
            <a:avLst/>
          </a:prstGeom>
          <a:noFill/>
          <a:ln w="9525">
            <a:noFill/>
          </a:ln>
        </p:spPr>
        <p:txBody>
          <a:bodyPr anchor="t"/>
          <a:lstStyle/>
          <a:p>
            <a:pPr lvl="0" indent="0" eaLnBrk="0" hangingPunct="0">
              <a:buFont typeface="Wingdings" panose="05000000000000000000" pitchFamily="2" charset="2"/>
              <a:buChar char="p"/>
            </a:pPr>
            <a:r>
              <a:rPr lang="en-US" altLang="x-none" sz="2800" dirty="0">
                <a:solidFill>
                  <a:srgbClr val="3333CC"/>
                </a:solidFill>
                <a:latin typeface="宋体" panose="02010600030101010101" pitchFamily="2" charset="-122"/>
                <a:ea typeface="黑体" panose="02010609060101010101" pitchFamily="1" charset="-122"/>
                <a:sym typeface="Wingdings" panose="05000000000000000000" pitchFamily="2" charset="2"/>
              </a:rPr>
              <a:t> X</a:t>
            </a:r>
            <a:r>
              <a:rPr lang="zh-CN" altLang="en-US" sz="2800" dirty="0">
                <a:solidFill>
                  <a:srgbClr val="3333CC"/>
                </a:solidFill>
                <a:latin typeface="宋体" panose="02010600030101010101" pitchFamily="2" charset="-122"/>
                <a:ea typeface="黑体" panose="02010609060101010101" pitchFamily="1" charset="-122"/>
                <a:sym typeface="Wingdings" panose="05000000000000000000" pitchFamily="2" charset="2"/>
              </a:rPr>
              <a:t>锁协议的相容（或冲突）矩阵</a:t>
            </a:r>
            <a:endParaRPr lang="zh-CN" altLang="en-US" sz="2800" dirty="0">
              <a:solidFill>
                <a:srgbClr val="3333CC"/>
              </a:solidFill>
              <a:latin typeface="宋体" panose="02010600030101010101" pitchFamily="2" charset="-122"/>
              <a:ea typeface="黑体" panose="02010609060101010101" pitchFamily="1" charset="-122"/>
              <a:sym typeface="Wingdings" panose="05000000000000000000" pitchFamily="2" charset="2"/>
            </a:endParaRPr>
          </a:p>
        </p:txBody>
      </p:sp>
      <p:sp>
        <p:nvSpPr>
          <p:cNvPr id="113670" name="Rectangle 4"/>
          <p:cNvSpPr/>
          <p:nvPr/>
        </p:nvSpPr>
        <p:spPr>
          <a:xfrm>
            <a:off x="627063" y="2030413"/>
            <a:ext cx="7923212" cy="1263650"/>
          </a:xfrm>
          <a:prstGeom prst="rect">
            <a:avLst/>
          </a:prstGeom>
          <a:noFill/>
          <a:ln w="9525">
            <a:noFill/>
          </a:ln>
        </p:spPr>
        <p:txBody>
          <a:bodyPr lIns="90000" tIns="46800" rIns="90000" bIns="46800" anchor="t">
            <a:spAutoFit/>
          </a:bodyPr>
          <a:lstStyle/>
          <a:p>
            <a:pPr lvl="0" indent="0">
              <a:spcBef>
                <a:spcPct val="50000"/>
              </a:spcBef>
            </a:pPr>
            <a:r>
              <a:rPr lang="zh-CN" altLang="en-US" sz="2800" dirty="0">
                <a:solidFill>
                  <a:srgbClr val="CC3300"/>
                </a:solidFill>
                <a:latin typeface="华文楷体" panose="02010600040101010101" pitchFamily="2" charset="-122"/>
                <a:ea typeface="华文楷体" panose="02010600040101010101" pitchFamily="2" charset="-122"/>
              </a:rPr>
              <a:t>说明：</a:t>
            </a:r>
            <a:r>
              <a:rPr lang="en-US" altLang="x-none" sz="2400" dirty="0">
                <a:latin typeface="华文楷体" panose="02010600040101010101" pitchFamily="2" charset="-122"/>
                <a:ea typeface="华文楷体" panose="02010600040101010101" pitchFamily="2" charset="-122"/>
              </a:rPr>
              <a:t>1</a:t>
            </a:r>
            <a:r>
              <a:rPr lang="zh-CN" altLang="en-US" sz="2400" dirty="0">
                <a:latin typeface="华文楷体" panose="02010600040101010101" pitchFamily="2" charset="-122"/>
                <a:ea typeface="华文楷体" panose="02010600040101010101" pitchFamily="2" charset="-122"/>
              </a:rPr>
              <a:t>）锁是否相容，实际上就是看对同一数据对象的加锁是否存在有冲突。</a:t>
            </a:r>
            <a:r>
              <a:rPr lang="en-US" altLang="x-none" sz="2400" dirty="0">
                <a:latin typeface="华文楷体" panose="02010600040101010101" pitchFamily="2" charset="-122"/>
                <a:ea typeface="华文楷体" panose="02010600040101010101" pitchFamily="2" charset="-122"/>
              </a:rPr>
              <a:t>Y</a:t>
            </a:r>
            <a:r>
              <a:rPr lang="zh-CN" altLang="en-US" sz="2400" dirty="0">
                <a:latin typeface="华文楷体" panose="02010600040101010101" pitchFamily="2" charset="-122"/>
                <a:ea typeface="华文楷体" panose="02010600040101010101" pitchFamily="2" charset="-122"/>
              </a:rPr>
              <a:t>表示相容，</a:t>
            </a:r>
            <a:r>
              <a:rPr lang="en-US" altLang="x-none" sz="2400" dirty="0">
                <a:latin typeface="华文楷体" panose="02010600040101010101" pitchFamily="2" charset="-122"/>
                <a:ea typeface="华文楷体" panose="02010600040101010101" pitchFamily="2" charset="-122"/>
              </a:rPr>
              <a:t>N</a:t>
            </a:r>
            <a:r>
              <a:rPr lang="zh-CN" altLang="en-US" sz="2400" dirty="0">
                <a:latin typeface="华文楷体" panose="02010600040101010101" pitchFamily="2" charset="-122"/>
                <a:ea typeface="华文楷体" panose="02010600040101010101" pitchFamily="2" charset="-122"/>
              </a:rPr>
              <a:t>表示冲突。</a:t>
            </a:r>
            <a:r>
              <a:rPr lang="en-US" altLang="x-none" sz="2400" dirty="0">
                <a:latin typeface="华文楷体" panose="02010600040101010101" pitchFamily="2" charset="-122"/>
                <a:ea typeface="华文楷体" panose="02010600040101010101" pitchFamily="2" charset="-122"/>
                <a:sym typeface="Wingdings 2" panose="05020102010507070707" pitchFamily="2" charset="2"/>
              </a:rPr>
              <a:t>2</a:t>
            </a:r>
            <a:r>
              <a:rPr lang="zh-CN" altLang="en-US" sz="2400" dirty="0">
                <a:latin typeface="华文楷体" panose="02010600040101010101" pitchFamily="2" charset="-122"/>
                <a:ea typeface="华文楷体" panose="02010600040101010101" pitchFamily="2" charset="-122"/>
                <a:sym typeface="Wingdings 2" panose="05020102010507070707" pitchFamily="2" charset="2"/>
              </a:rPr>
              <a:t>）</a:t>
            </a:r>
            <a:r>
              <a:rPr lang="en-US" altLang="x-none" sz="2400" dirty="0">
                <a:latin typeface="华文楷体" panose="02010600040101010101" pitchFamily="2" charset="-122"/>
                <a:ea typeface="华文楷体" panose="02010600040101010101" pitchFamily="2" charset="-122"/>
                <a:sym typeface="Wingdings 2" panose="05020102010507070707" pitchFamily="2" charset="2"/>
              </a:rPr>
              <a:t>NL</a:t>
            </a:r>
            <a:r>
              <a:rPr lang="zh-CN" altLang="en-US" sz="2400" dirty="0">
                <a:latin typeface="华文楷体" panose="02010600040101010101" pitchFamily="2" charset="-122"/>
                <a:ea typeface="华文楷体" panose="02010600040101010101" pitchFamily="2" charset="-122"/>
                <a:sym typeface="Wingdings 2" panose="05020102010507070707" pitchFamily="2" charset="2"/>
              </a:rPr>
              <a:t>表示未加锁，已加</a:t>
            </a:r>
            <a:r>
              <a:rPr lang="en-US" altLang="x-none" sz="2400" dirty="0">
                <a:latin typeface="华文楷体" panose="02010600040101010101" pitchFamily="2" charset="-122"/>
                <a:ea typeface="华文楷体" panose="02010600040101010101" pitchFamily="2" charset="-122"/>
                <a:sym typeface="Wingdings 2" panose="05020102010507070707" pitchFamily="2" charset="2"/>
              </a:rPr>
              <a:t>X</a:t>
            </a:r>
            <a:r>
              <a:rPr lang="zh-CN" altLang="en-US" sz="2400" dirty="0">
                <a:latin typeface="华文楷体" panose="02010600040101010101" pitchFamily="2" charset="-122"/>
                <a:ea typeface="华文楷体" panose="02010600040101010101" pitchFamily="2" charset="-122"/>
                <a:sym typeface="Wingdings 2" panose="05020102010507070707" pitchFamily="2" charset="2"/>
              </a:rPr>
              <a:t>锁。</a:t>
            </a:r>
            <a:endParaRPr lang="zh-CN" altLang="en-US" sz="2400" dirty="0">
              <a:latin typeface="华文楷体" panose="02010600040101010101" pitchFamily="2" charset="-122"/>
              <a:ea typeface="华文楷体" panose="02010600040101010101" pitchFamily="2" charset="-122"/>
              <a:sym typeface="Wingdings 2" panose="05020102010507070707" pitchFamily="2" charset="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3670"/>
                                        </p:tgtEl>
                                        <p:attrNameLst>
                                          <p:attrName>style.visibility</p:attrName>
                                        </p:attrNameLst>
                                      </p:cBhvr>
                                      <p:to>
                                        <p:strVal val="visible"/>
                                      </p:to>
                                    </p:set>
                                    <p:animEffect transition="in" filter="blinds(horizontal)">
                                      <p:cBhvr>
                                        <p:cTn id="7" dur="500"/>
                                        <p:tgtEl>
                                          <p:spTgt spid="11367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499"/>
                                          </p:stCondLst>
                                        </p:cTn>
                                        <p:tgtEl>
                                          <p:spTgt spid="1136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70"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600" dirty="0">
                <a:solidFill>
                  <a:srgbClr val="0033CC"/>
                </a:solidFill>
                <a:latin typeface="Arial" panose="020B0604020202020204" pitchFamily="34" charset="0"/>
                <a:ea typeface="黑体" panose="02010609060101010101" pitchFamily="1" charset="-122"/>
              </a:rPr>
              <a:t>五、数据库系统中的并发</a:t>
            </a:r>
            <a:endParaRPr lang="zh-CN" altLang="en-US" sz="3600" dirty="0">
              <a:solidFill>
                <a:srgbClr val="0033CC"/>
              </a:solidFill>
              <a:latin typeface="Arial" panose="020B0604020202020204" pitchFamily="34" charset="0"/>
              <a:ea typeface="黑体" panose="02010609060101010101" pitchFamily="1" charset="-122"/>
            </a:endParaRPr>
          </a:p>
        </p:txBody>
      </p:sp>
      <p:sp>
        <p:nvSpPr>
          <p:cNvPr id="110594" name="Rectangle 3"/>
          <p:cNvSpPr txBox="1"/>
          <p:nvPr/>
        </p:nvSpPr>
        <p:spPr>
          <a:xfrm>
            <a:off x="517525" y="8382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4</a:t>
            </a:r>
            <a:r>
              <a:rPr lang="zh-CN" altLang="en-US" sz="2800" dirty="0">
                <a:solidFill>
                  <a:srgbClr val="FF0000"/>
                </a:solidFill>
                <a:latin typeface="黑体" panose="02010609060101010101" pitchFamily="1" charset="-122"/>
                <a:ea typeface="黑体" panose="02010609060101010101" pitchFamily="1" charset="-122"/>
              </a:rPr>
              <a:t>、基于锁的并发控制协议</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114692" name="Rectangle 4"/>
          <p:cNvSpPr txBox="1"/>
          <p:nvPr/>
        </p:nvSpPr>
        <p:spPr>
          <a:xfrm>
            <a:off x="455613" y="1935163"/>
            <a:ext cx="4789487" cy="4435475"/>
          </a:xfrm>
          <a:prstGeom prst="rect">
            <a:avLst/>
          </a:prstGeom>
          <a:noFill/>
          <a:ln w="9525">
            <a:noFill/>
          </a:ln>
        </p:spPr>
        <p:txBody>
          <a:bodyPr anchor="t"/>
          <a:lstStyle/>
          <a:p>
            <a:pPr marL="342900" lvl="0" indent="-342900" eaLnBrk="0" hangingPunct="0">
              <a:spcBef>
                <a:spcPct val="20000"/>
              </a:spcBef>
              <a:buClr>
                <a:srgbClr val="0033CC"/>
              </a:buClr>
              <a:buSzPct val="80000"/>
              <a:buFont typeface="Wingdings" panose="05000000000000000000" pitchFamily="2" charset="2"/>
              <a:buChar char="u"/>
            </a:pPr>
            <a:r>
              <a:rPr lang="zh-CN" altLang="en-US" sz="2200" dirty="0">
                <a:latin typeface="华文楷体" panose="02010600040101010101" pitchFamily="2" charset="-122"/>
                <a:ea typeface="宋体" panose="02010600030101010101" pitchFamily="2" charset="-122"/>
              </a:rPr>
              <a:t>能够消除</a:t>
            </a:r>
            <a:r>
              <a:rPr lang="zh-CN" altLang="en-US" sz="2200" dirty="0">
                <a:solidFill>
                  <a:srgbClr val="A50021"/>
                </a:solidFill>
                <a:latin typeface="华文楷体" panose="02010600040101010101" pitchFamily="2" charset="-122"/>
                <a:ea typeface="宋体" panose="02010600030101010101" pitchFamily="2" charset="-122"/>
              </a:rPr>
              <a:t>“写</a:t>
            </a:r>
            <a:r>
              <a:rPr lang="en-US" altLang="x-none" sz="2200" dirty="0">
                <a:solidFill>
                  <a:srgbClr val="A50021"/>
                </a:solidFill>
                <a:latin typeface="华文楷体" panose="02010600040101010101" pitchFamily="2" charset="-122"/>
                <a:ea typeface="宋体" panose="02010600030101010101" pitchFamily="2" charset="-122"/>
              </a:rPr>
              <a:t>-</a:t>
            </a:r>
            <a:r>
              <a:rPr lang="zh-CN" altLang="en-US" sz="2200" dirty="0">
                <a:solidFill>
                  <a:srgbClr val="A50021"/>
                </a:solidFill>
                <a:latin typeface="华文楷体" panose="02010600040101010101" pitchFamily="2" charset="-122"/>
                <a:ea typeface="宋体" panose="02010600030101010101" pitchFamily="2" charset="-122"/>
              </a:rPr>
              <a:t>写”、“写</a:t>
            </a:r>
            <a:r>
              <a:rPr lang="en-US" altLang="x-none" sz="2200" dirty="0">
                <a:solidFill>
                  <a:srgbClr val="A50021"/>
                </a:solidFill>
                <a:latin typeface="华文楷体" panose="02010600040101010101" pitchFamily="2" charset="-122"/>
                <a:ea typeface="宋体" panose="02010600030101010101" pitchFamily="2" charset="-122"/>
              </a:rPr>
              <a:t>-</a:t>
            </a:r>
            <a:r>
              <a:rPr lang="zh-CN" altLang="en-US" sz="2200" dirty="0">
                <a:solidFill>
                  <a:srgbClr val="A50021"/>
                </a:solidFill>
                <a:latin typeface="华文楷体" panose="02010600040101010101" pitchFamily="2" charset="-122"/>
                <a:ea typeface="宋体" panose="02010600030101010101" pitchFamily="2" charset="-122"/>
              </a:rPr>
              <a:t>读”、“读</a:t>
            </a:r>
            <a:r>
              <a:rPr lang="en-US" altLang="x-none" sz="2200" dirty="0">
                <a:solidFill>
                  <a:srgbClr val="A50021"/>
                </a:solidFill>
                <a:latin typeface="华文楷体" panose="02010600040101010101" pitchFamily="2" charset="-122"/>
                <a:ea typeface="宋体" panose="02010600030101010101" pitchFamily="2" charset="-122"/>
              </a:rPr>
              <a:t>-</a:t>
            </a:r>
            <a:r>
              <a:rPr lang="zh-CN" altLang="en-US" sz="2200" dirty="0">
                <a:solidFill>
                  <a:srgbClr val="A50021"/>
                </a:solidFill>
                <a:latin typeface="华文楷体" panose="02010600040101010101" pitchFamily="2" charset="-122"/>
                <a:ea typeface="宋体" panose="02010600030101010101" pitchFamily="2" charset="-122"/>
              </a:rPr>
              <a:t>写”</a:t>
            </a:r>
            <a:r>
              <a:rPr lang="zh-CN" altLang="en-US" sz="2200" dirty="0">
                <a:latin typeface="华文楷体" panose="02010600040101010101" pitchFamily="2" charset="-122"/>
                <a:ea typeface="宋体" panose="02010600030101010101" pitchFamily="2" charset="-122"/>
              </a:rPr>
              <a:t>冲突，因为，不论是“写”或“读”都要加</a:t>
            </a:r>
            <a:r>
              <a:rPr lang="en-US" altLang="x-none" sz="2200" dirty="0">
                <a:latin typeface="华文楷体" panose="02010600040101010101" pitchFamily="2" charset="-122"/>
                <a:ea typeface="宋体" panose="02010600030101010101" pitchFamily="2" charset="-122"/>
              </a:rPr>
              <a:t>X</a:t>
            </a:r>
            <a:r>
              <a:rPr lang="zh-CN" altLang="en-US" sz="2200" dirty="0">
                <a:latin typeface="华文楷体" panose="02010600040101010101" pitchFamily="2" charset="-122"/>
                <a:ea typeface="宋体" panose="02010600030101010101" pitchFamily="2" charset="-122"/>
              </a:rPr>
              <a:t>锁，加了</a:t>
            </a:r>
            <a:r>
              <a:rPr lang="en-US" altLang="x-none" sz="2200" dirty="0">
                <a:latin typeface="华文楷体" panose="02010600040101010101" pitchFamily="2" charset="-122"/>
                <a:ea typeface="宋体" panose="02010600030101010101" pitchFamily="2" charset="-122"/>
              </a:rPr>
              <a:t>X</a:t>
            </a:r>
            <a:r>
              <a:rPr lang="zh-CN" altLang="en-US" sz="2200" dirty="0">
                <a:latin typeface="华文楷体" panose="02010600040101010101" pitchFamily="2" charset="-122"/>
                <a:ea typeface="宋体" panose="02010600030101010101" pitchFamily="2" charset="-122"/>
              </a:rPr>
              <a:t>锁后，就排斥了对同一对象的任何操作，甚至包括</a:t>
            </a:r>
            <a:r>
              <a:rPr lang="zh-CN" altLang="en-US" sz="2200" dirty="0">
                <a:solidFill>
                  <a:srgbClr val="A50021"/>
                </a:solidFill>
                <a:latin typeface="华文楷体" panose="02010600040101010101" pitchFamily="2" charset="-122"/>
                <a:ea typeface="宋体" panose="02010600030101010101" pitchFamily="2" charset="-122"/>
              </a:rPr>
              <a:t>不冲突的“读</a:t>
            </a:r>
            <a:r>
              <a:rPr lang="en-US" altLang="x-none" sz="2200" dirty="0">
                <a:solidFill>
                  <a:srgbClr val="A50021"/>
                </a:solidFill>
                <a:latin typeface="华文楷体" panose="02010600040101010101" pitchFamily="2" charset="-122"/>
                <a:ea typeface="宋体" panose="02010600030101010101" pitchFamily="2" charset="-122"/>
              </a:rPr>
              <a:t>-</a:t>
            </a:r>
            <a:r>
              <a:rPr lang="zh-CN" altLang="en-US" sz="2200" dirty="0">
                <a:solidFill>
                  <a:srgbClr val="A50021"/>
                </a:solidFill>
                <a:latin typeface="华文楷体" panose="02010600040101010101" pitchFamily="2" charset="-122"/>
                <a:ea typeface="宋体" panose="02010600030101010101" pitchFamily="2" charset="-122"/>
              </a:rPr>
              <a:t>读”</a:t>
            </a:r>
            <a:r>
              <a:rPr lang="zh-CN" altLang="en-US" sz="2200" dirty="0">
                <a:latin typeface="华文楷体" panose="02010600040101010101" pitchFamily="2" charset="-122"/>
                <a:ea typeface="宋体" panose="02010600030101010101" pitchFamily="2" charset="-122"/>
              </a:rPr>
              <a:t>操作。</a:t>
            </a:r>
            <a:endParaRPr lang="zh-CN" altLang="en-US" sz="2200" dirty="0">
              <a:latin typeface="华文楷体" panose="02010600040101010101" pitchFamily="2" charset="-122"/>
              <a:ea typeface="宋体" panose="02010600030101010101" pitchFamily="2" charset="-122"/>
            </a:endParaRPr>
          </a:p>
          <a:p>
            <a:pPr marL="342900" lvl="0" indent="-342900" eaLnBrk="0" hangingPunct="0">
              <a:spcBef>
                <a:spcPct val="20000"/>
              </a:spcBef>
              <a:buClr>
                <a:srgbClr val="0033CC"/>
              </a:buClr>
              <a:buSzPct val="80000"/>
              <a:buFont typeface="Wingdings" panose="05000000000000000000" pitchFamily="2" charset="2"/>
              <a:buChar char="u"/>
            </a:pPr>
            <a:r>
              <a:rPr lang="zh-CN" altLang="en-US" sz="2200" dirty="0">
                <a:latin typeface="华文楷体" panose="02010600040101010101" pitchFamily="2" charset="-122"/>
                <a:ea typeface="宋体" panose="02010600030101010101" pitchFamily="2" charset="-122"/>
              </a:rPr>
              <a:t>但</a:t>
            </a:r>
            <a:r>
              <a:rPr lang="en-US" altLang="x-none" sz="2200" dirty="0">
                <a:latin typeface="华文楷体" panose="02010600040101010101" pitchFamily="2" charset="-122"/>
                <a:ea typeface="宋体" panose="02010600030101010101" pitchFamily="2" charset="-122"/>
              </a:rPr>
              <a:t>X</a:t>
            </a:r>
            <a:r>
              <a:rPr lang="zh-CN" altLang="en-US" sz="2200" dirty="0">
                <a:latin typeface="华文楷体" panose="02010600040101010101" pitchFamily="2" charset="-122"/>
                <a:ea typeface="宋体" panose="02010600030101010101" pitchFamily="2" charset="-122"/>
              </a:rPr>
              <a:t>锁协议可能引起</a:t>
            </a:r>
            <a:r>
              <a:rPr lang="zh-CN" altLang="en-US" sz="2200" dirty="0">
                <a:solidFill>
                  <a:srgbClr val="A50021"/>
                </a:solidFill>
                <a:latin typeface="华文楷体" panose="02010600040101010101" pitchFamily="2" charset="-122"/>
                <a:ea typeface="宋体" panose="02010600030101010101" pitchFamily="2" charset="-122"/>
              </a:rPr>
              <a:t>“级联回退</a:t>
            </a:r>
            <a:r>
              <a:rPr lang="zh-CN" altLang="en-US" sz="2200" dirty="0">
                <a:latin typeface="华文楷体" panose="02010600040101010101" pitchFamily="2" charset="-122"/>
                <a:ea typeface="宋体" panose="02010600030101010101" pitchFamily="2" charset="-122"/>
              </a:rPr>
              <a:t>” 现象。即一事物还未结束，就把锁释放了，其中又由于其他原因，该事物需要回退，为了避免其他事物读到“脏”数据，要求读了该事物更新数据的其他事物也要回退。</a:t>
            </a:r>
            <a:endParaRPr lang="zh-CN" altLang="en-US" sz="2200" dirty="0">
              <a:latin typeface="华文楷体" panose="02010600040101010101" pitchFamily="2" charset="-122"/>
              <a:ea typeface="宋体" panose="02010600030101010101" pitchFamily="2" charset="-122"/>
            </a:endParaRPr>
          </a:p>
        </p:txBody>
      </p:sp>
      <p:graphicFrame>
        <p:nvGraphicFramePr>
          <p:cNvPr id="114693" name="Object 2"/>
          <p:cNvGraphicFramePr>
            <a:graphicFrameLocks noChangeAspect="1"/>
          </p:cNvGraphicFramePr>
          <p:nvPr/>
        </p:nvGraphicFramePr>
        <p:xfrm>
          <a:off x="5181600" y="1052513"/>
          <a:ext cx="3962400" cy="5329237"/>
        </p:xfrm>
        <a:graphic>
          <a:graphicData uri="http://schemas.openxmlformats.org/presentationml/2006/ole">
            <mc:AlternateContent xmlns:mc="http://schemas.openxmlformats.org/markup-compatibility/2006">
              <mc:Choice xmlns:v="urn:schemas-microsoft-com:vml" Requires="v">
                <p:oleObj spid="_x0000_s24598" name="" r:id="rId1" imgW="2168525" imgH="2879725" progId="Word.Picture.8">
                  <p:embed/>
                </p:oleObj>
              </mc:Choice>
              <mc:Fallback>
                <p:oleObj name="" r:id="rId1" imgW="2168525" imgH="2879725" progId="Word.Picture.8">
                  <p:embed/>
                  <p:pic>
                    <p:nvPicPr>
                      <p:cNvPr id="0" name="图片 3097"/>
                      <p:cNvPicPr/>
                      <p:nvPr/>
                    </p:nvPicPr>
                    <p:blipFill>
                      <a:blip r:embed="rId2"/>
                      <a:stretch>
                        <a:fillRect/>
                      </a:stretch>
                    </p:blipFill>
                    <p:spPr>
                      <a:xfrm>
                        <a:off x="5181600" y="1052513"/>
                        <a:ext cx="3962400" cy="5329237"/>
                      </a:xfrm>
                      <a:prstGeom prst="rect">
                        <a:avLst/>
                      </a:prstGeom>
                      <a:solidFill>
                        <a:schemeClr val="bg1"/>
                      </a:solidFill>
                      <a:ln w="38100">
                        <a:noFill/>
                        <a:miter/>
                      </a:ln>
                    </p:spPr>
                  </p:pic>
                </p:oleObj>
              </mc:Fallback>
            </mc:AlternateContent>
          </a:graphicData>
        </a:graphic>
      </p:graphicFrame>
      <p:sp>
        <p:nvSpPr>
          <p:cNvPr id="110597" name="Rectangle 3"/>
          <p:cNvSpPr txBox="1"/>
          <p:nvPr/>
        </p:nvSpPr>
        <p:spPr>
          <a:xfrm>
            <a:off x="549275" y="1357313"/>
            <a:ext cx="2909888" cy="706437"/>
          </a:xfrm>
          <a:prstGeom prst="rect">
            <a:avLst/>
          </a:prstGeom>
          <a:noFill/>
          <a:ln w="9525">
            <a:noFill/>
          </a:ln>
        </p:spPr>
        <p:txBody>
          <a:bodyPr anchor="t"/>
          <a:lstStyle/>
          <a:p>
            <a:pPr lvl="0" indent="0" eaLnBrk="0" hangingPunct="0">
              <a:buFont typeface="Wingdings" panose="05000000000000000000" pitchFamily="2" charset="2"/>
              <a:buChar char="p"/>
            </a:pPr>
            <a:r>
              <a:rPr lang="en-US" altLang="x-none" sz="2800" dirty="0">
                <a:solidFill>
                  <a:srgbClr val="3333CC"/>
                </a:solidFill>
                <a:latin typeface="宋体" panose="02010600030101010101" pitchFamily="2" charset="-122"/>
                <a:ea typeface="黑体" panose="02010609060101010101" pitchFamily="1" charset="-122"/>
                <a:sym typeface="Wingdings" panose="05000000000000000000" pitchFamily="2" charset="2"/>
              </a:rPr>
              <a:t> X</a:t>
            </a:r>
            <a:r>
              <a:rPr lang="zh-CN" altLang="en-US" sz="2800" dirty="0">
                <a:solidFill>
                  <a:srgbClr val="3333CC"/>
                </a:solidFill>
                <a:latin typeface="宋体" panose="02010600030101010101" pitchFamily="2" charset="-122"/>
                <a:ea typeface="黑体" panose="02010609060101010101" pitchFamily="1" charset="-122"/>
                <a:sym typeface="Wingdings" panose="05000000000000000000" pitchFamily="2" charset="2"/>
              </a:rPr>
              <a:t>锁的作用</a:t>
            </a:r>
            <a:endParaRPr lang="zh-CN" altLang="en-US" sz="2800" dirty="0">
              <a:solidFill>
                <a:srgbClr val="3333CC"/>
              </a:solidFill>
              <a:latin typeface="宋体" panose="02010600030101010101" pitchFamily="2" charset="-122"/>
              <a:ea typeface="黑体" panose="02010609060101010101" pitchFamily="1" charset="-122"/>
              <a:sym typeface="Wingdings" panose="05000000000000000000" pitchFamily="2" charset="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4692">
                                            <p:txEl>
                                              <p:pRg st="0" end="0"/>
                                            </p:txEl>
                                          </p:spTgt>
                                        </p:tgtEl>
                                        <p:attrNameLst>
                                          <p:attrName>style.visibility</p:attrName>
                                        </p:attrNameLst>
                                      </p:cBhvr>
                                      <p:to>
                                        <p:strVal val="visible"/>
                                      </p:to>
                                    </p:set>
                                    <p:animEffect transition="in" filter="blinds(horizontal)">
                                      <p:cBhvr>
                                        <p:cTn id="7" dur="500"/>
                                        <p:tgtEl>
                                          <p:spTgt spid="11469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4692">
                                            <p:txEl>
                                              <p:pRg st="1" end="1"/>
                                            </p:txEl>
                                          </p:spTgt>
                                        </p:tgtEl>
                                        <p:attrNameLst>
                                          <p:attrName>style.visibility</p:attrName>
                                        </p:attrNameLst>
                                      </p:cBhvr>
                                      <p:to>
                                        <p:strVal val="visible"/>
                                      </p:to>
                                    </p:set>
                                    <p:animEffect transition="in" filter="blinds(horizontal)">
                                      <p:cBhvr>
                                        <p:cTn id="12" dur="500"/>
                                        <p:tgtEl>
                                          <p:spTgt spid="11469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3" presetClass="entr" presetSubtype="16" fill="hold" nodeType="clickEffect">
                                  <p:stCondLst>
                                    <p:cond delay="0"/>
                                  </p:stCondLst>
                                  <p:childTnLst>
                                    <p:set>
                                      <p:cBhvr>
                                        <p:cTn id="16" dur="1" fill="hold">
                                          <p:stCondLst>
                                            <p:cond delay="0"/>
                                          </p:stCondLst>
                                        </p:cTn>
                                        <p:tgtEl>
                                          <p:spTgt spid="114693"/>
                                        </p:tgtEl>
                                        <p:attrNameLst>
                                          <p:attrName>style.visibility</p:attrName>
                                        </p:attrNameLst>
                                      </p:cBhvr>
                                      <p:to>
                                        <p:strVal val="visible"/>
                                      </p:to>
                                    </p:set>
                                    <p:animEffect transition="in" filter="plus(in)">
                                      <p:cBhvr>
                                        <p:cTn id="17" dur="2000"/>
                                        <p:tgtEl>
                                          <p:spTgt spid="1146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2" grpId="0" build="p"/>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600" dirty="0">
                <a:solidFill>
                  <a:srgbClr val="0033CC"/>
                </a:solidFill>
                <a:latin typeface="Arial" panose="020B0604020202020204" pitchFamily="34" charset="0"/>
                <a:ea typeface="黑体" panose="02010609060101010101" pitchFamily="1" charset="-122"/>
              </a:rPr>
              <a:t>五、数据库系统中的并发</a:t>
            </a:r>
            <a:endParaRPr lang="zh-CN" altLang="en-US" sz="3600" dirty="0">
              <a:solidFill>
                <a:srgbClr val="0033CC"/>
              </a:solidFill>
              <a:latin typeface="Arial" panose="020B0604020202020204" pitchFamily="34" charset="0"/>
              <a:ea typeface="黑体" panose="02010609060101010101" pitchFamily="1" charset="-122"/>
            </a:endParaRPr>
          </a:p>
        </p:txBody>
      </p:sp>
      <p:sp>
        <p:nvSpPr>
          <p:cNvPr id="111618" name="Rectangle 3"/>
          <p:cNvSpPr txBox="1"/>
          <p:nvPr/>
        </p:nvSpPr>
        <p:spPr>
          <a:xfrm>
            <a:off x="517525" y="8382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4</a:t>
            </a:r>
            <a:r>
              <a:rPr lang="zh-CN" altLang="en-US" sz="2800" dirty="0">
                <a:solidFill>
                  <a:srgbClr val="FF0000"/>
                </a:solidFill>
                <a:latin typeface="黑体" panose="02010609060101010101" pitchFamily="1" charset="-122"/>
                <a:ea typeface="黑体" panose="02010609060101010101" pitchFamily="1" charset="-122"/>
              </a:rPr>
              <a:t>、基于锁的并发控制协议</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115716" name="Text Box 2"/>
          <p:cNvSpPr txBox="1"/>
          <p:nvPr/>
        </p:nvSpPr>
        <p:spPr>
          <a:xfrm>
            <a:off x="744538" y="2728913"/>
            <a:ext cx="7667625" cy="1449387"/>
          </a:xfrm>
          <a:prstGeom prst="rect">
            <a:avLst/>
          </a:prstGeom>
          <a:noFill/>
          <a:ln w="9525">
            <a:noFill/>
          </a:ln>
        </p:spPr>
        <p:txBody>
          <a:bodyPr anchor="t">
            <a:spAutoFit/>
          </a:bodyPr>
          <a:lstStyle/>
          <a:p>
            <a:pPr lvl="0" indent="0">
              <a:lnSpc>
                <a:spcPct val="105000"/>
              </a:lnSpc>
              <a:spcBef>
                <a:spcPct val="50000"/>
              </a:spcBef>
            </a:pPr>
            <a:r>
              <a:rPr lang="zh-CN" altLang="en-US" sz="2800" dirty="0">
                <a:latin typeface="华文楷体" panose="02010600040101010101" pitchFamily="2" charset="-122"/>
                <a:ea typeface="华文楷体" panose="02010600040101010101" pitchFamily="2" charset="-122"/>
                <a:sym typeface="Wingdings" panose="05000000000000000000" pitchFamily="2" charset="2"/>
              </a:rPr>
              <a:t>为避免级联回退，要求不管是写操作锁还是读操作锁都应保持到事务结束</a:t>
            </a:r>
            <a:r>
              <a:rPr lang="en-US" altLang="x-none" sz="2800" dirty="0">
                <a:latin typeface="华文楷体" panose="02010600040101010101" pitchFamily="2" charset="-122"/>
                <a:ea typeface="华文楷体" panose="02010600040101010101" pitchFamily="2" charset="-122"/>
                <a:sym typeface="Wingdings" panose="05000000000000000000" pitchFamily="2" charset="2"/>
              </a:rPr>
              <a:t>(End of Transaction, EOT)</a:t>
            </a:r>
            <a:r>
              <a:rPr lang="zh-CN" altLang="en-US" sz="2800" dirty="0">
                <a:latin typeface="华文楷体" panose="02010600040101010101" pitchFamily="2" charset="-122"/>
                <a:ea typeface="华文楷体" panose="02010600040101010101" pitchFamily="2" charset="-122"/>
                <a:sym typeface="Wingdings" panose="05000000000000000000" pitchFamily="2" charset="2"/>
              </a:rPr>
              <a:t>才释放。该补丁对其后的加锁协议也适用。</a:t>
            </a:r>
            <a:endParaRPr lang="zh-CN" altLang="en-US" sz="2800" dirty="0">
              <a:latin typeface="华文楷体" panose="02010600040101010101" pitchFamily="2" charset="-122"/>
              <a:ea typeface="华文楷体" panose="02010600040101010101" pitchFamily="2" charset="-122"/>
              <a:sym typeface="Wingdings" panose="05000000000000000000" pitchFamily="2" charset="2"/>
            </a:endParaRPr>
          </a:p>
        </p:txBody>
      </p:sp>
      <p:sp>
        <p:nvSpPr>
          <p:cNvPr id="111620" name="Rectangle 3"/>
          <p:cNvSpPr/>
          <p:nvPr/>
        </p:nvSpPr>
        <p:spPr>
          <a:xfrm>
            <a:off x="1968500" y="1720850"/>
            <a:ext cx="5232400" cy="641350"/>
          </a:xfrm>
          <a:prstGeom prst="rect">
            <a:avLst/>
          </a:prstGeom>
          <a:noFill/>
          <a:ln w="9525">
            <a:noFill/>
          </a:ln>
        </p:spPr>
        <p:txBody>
          <a:bodyPr wrap="none" lIns="90000" tIns="46800" rIns="90000" bIns="46800" anchor="t">
            <a:spAutoFit/>
          </a:bodyPr>
          <a:lstStyle/>
          <a:p>
            <a:pPr lvl="0" indent="0" algn="ctr"/>
            <a:r>
              <a:rPr lang="zh-CN" altLang="en-US" sz="3600" dirty="0">
                <a:solidFill>
                  <a:srgbClr val="A50021"/>
                </a:solidFill>
                <a:latin typeface="宋体" panose="02010600030101010101" pitchFamily="2" charset="-122"/>
                <a:ea typeface="宋体" panose="02010600030101010101" pitchFamily="2" charset="-122"/>
                <a:sym typeface="Wingdings" panose="05000000000000000000" pitchFamily="2" charset="2"/>
              </a:rPr>
              <a:t>加锁协议补丁</a:t>
            </a:r>
            <a:r>
              <a:rPr lang="en-US" altLang="x-none" sz="3600" dirty="0">
                <a:solidFill>
                  <a:srgbClr val="A50021"/>
                </a:solidFill>
                <a:latin typeface="宋体" panose="02010600030101010101" pitchFamily="2" charset="-122"/>
                <a:ea typeface="宋体" panose="02010600030101010101" pitchFamily="2" charset="-122"/>
                <a:sym typeface="Wingdings" panose="05000000000000000000" pitchFamily="2" charset="2"/>
              </a:rPr>
              <a:t>1</a:t>
            </a:r>
            <a:r>
              <a:rPr lang="zh-CN" altLang="en-US" sz="3600" dirty="0">
                <a:solidFill>
                  <a:srgbClr val="A50021"/>
                </a:solidFill>
                <a:latin typeface="宋体" panose="02010600030101010101" pitchFamily="2" charset="-122"/>
                <a:ea typeface="宋体" panose="02010600030101010101" pitchFamily="2" charset="-122"/>
                <a:sym typeface="Wingdings" panose="05000000000000000000" pitchFamily="2" charset="2"/>
              </a:rPr>
              <a:t>（</a:t>
            </a:r>
            <a:r>
              <a:rPr lang="en-US" altLang="x-none" sz="3600" dirty="0">
                <a:solidFill>
                  <a:srgbClr val="A50021"/>
                </a:solidFill>
                <a:latin typeface="宋体" panose="02010600030101010101" pitchFamily="2" charset="-122"/>
                <a:ea typeface="宋体" panose="02010600030101010101" pitchFamily="2" charset="-122"/>
                <a:sym typeface="Wingdings" panose="05000000000000000000" pitchFamily="2" charset="2"/>
              </a:rPr>
              <a:t>Patch</a:t>
            </a:r>
            <a:r>
              <a:rPr lang="zh-CN" altLang="en-US" sz="3600" dirty="0">
                <a:solidFill>
                  <a:srgbClr val="A50021"/>
                </a:solidFill>
                <a:latin typeface="宋体" panose="02010600030101010101" pitchFamily="2" charset="-122"/>
                <a:ea typeface="宋体" panose="02010600030101010101" pitchFamily="2" charset="-122"/>
                <a:sym typeface="Wingdings" panose="05000000000000000000" pitchFamily="2" charset="2"/>
              </a:rPr>
              <a:t>）</a:t>
            </a:r>
            <a:endParaRPr lang="zh-CN" altLang="en-US" sz="3600" dirty="0">
              <a:solidFill>
                <a:srgbClr val="A50021"/>
              </a:solidFill>
              <a:latin typeface="宋体" panose="02010600030101010101" pitchFamily="2" charset="-122"/>
              <a:ea typeface="宋体" panose="02010600030101010101" pitchFamily="2" charset="-122"/>
              <a:sym typeface="Wingdings" panose="05000000000000000000" pitchFamily="2" charset="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15716"/>
                                        </p:tgtEl>
                                        <p:attrNameLst>
                                          <p:attrName>style.visibility</p:attrName>
                                        </p:attrNameLst>
                                      </p:cBhvr>
                                      <p:to>
                                        <p:strVal val="visible"/>
                                      </p:to>
                                    </p:set>
                                    <p:animEffect transition="in" filter="checkerboard(across)">
                                      <p:cBhvr>
                                        <p:cTn id="7" dur="500"/>
                                        <p:tgtEl>
                                          <p:spTgt spid="1157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6"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600" dirty="0">
                <a:solidFill>
                  <a:srgbClr val="0033CC"/>
                </a:solidFill>
                <a:latin typeface="Arial" panose="020B0604020202020204" pitchFamily="34" charset="0"/>
                <a:ea typeface="黑体" panose="02010609060101010101" pitchFamily="1" charset="-122"/>
              </a:rPr>
              <a:t>五、数据库系统中的并发</a:t>
            </a:r>
            <a:endParaRPr lang="zh-CN" altLang="en-US" sz="3600" dirty="0">
              <a:solidFill>
                <a:srgbClr val="0033CC"/>
              </a:solidFill>
              <a:latin typeface="Arial" panose="020B0604020202020204" pitchFamily="34" charset="0"/>
              <a:ea typeface="黑体" panose="02010609060101010101" pitchFamily="1" charset="-122"/>
            </a:endParaRPr>
          </a:p>
        </p:txBody>
      </p:sp>
      <p:sp>
        <p:nvSpPr>
          <p:cNvPr id="112642" name="Rectangle 3"/>
          <p:cNvSpPr txBox="1"/>
          <p:nvPr/>
        </p:nvSpPr>
        <p:spPr>
          <a:xfrm>
            <a:off x="517525" y="8382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4</a:t>
            </a:r>
            <a:r>
              <a:rPr lang="zh-CN" altLang="en-US" sz="2800" dirty="0">
                <a:solidFill>
                  <a:srgbClr val="FF0000"/>
                </a:solidFill>
                <a:latin typeface="黑体" panose="02010609060101010101" pitchFamily="1" charset="-122"/>
                <a:ea typeface="黑体" panose="02010609060101010101" pitchFamily="1" charset="-122"/>
              </a:rPr>
              <a:t>、基于锁的并发控制协议</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112643" name="Rectangle 3"/>
          <p:cNvSpPr txBox="1"/>
          <p:nvPr/>
        </p:nvSpPr>
        <p:spPr>
          <a:xfrm>
            <a:off x="549275" y="1357313"/>
            <a:ext cx="3763963" cy="706437"/>
          </a:xfrm>
          <a:prstGeom prst="rect">
            <a:avLst/>
          </a:prstGeom>
          <a:noFill/>
          <a:ln w="9525">
            <a:noFill/>
          </a:ln>
        </p:spPr>
        <p:txBody>
          <a:bodyPr anchor="t"/>
          <a:lstStyle/>
          <a:p>
            <a:pPr lvl="0" indent="0" eaLnBrk="0" hangingPunct="0">
              <a:buFont typeface="Wingdings" panose="05000000000000000000" pitchFamily="2" charset="2"/>
              <a:buChar char="p"/>
            </a:pPr>
            <a:r>
              <a:rPr lang="en-US" altLang="x-none" sz="2800" dirty="0">
                <a:solidFill>
                  <a:srgbClr val="3333CC"/>
                </a:solidFill>
                <a:latin typeface="宋体" panose="02010600030101010101" pitchFamily="2" charset="-122"/>
                <a:ea typeface="黑体" panose="02010609060101010101" pitchFamily="1" charset="-122"/>
                <a:sym typeface="Wingdings" panose="05000000000000000000" pitchFamily="2" charset="2"/>
              </a:rPr>
              <a:t> </a:t>
            </a:r>
            <a:r>
              <a:rPr lang="zh-CN" altLang="en-US" sz="2800" dirty="0">
                <a:solidFill>
                  <a:srgbClr val="3333CC"/>
                </a:solidFill>
                <a:latin typeface="宋体" panose="02010600030101010101" pitchFamily="2" charset="-122"/>
                <a:ea typeface="黑体" panose="02010609060101010101" pitchFamily="1" charset="-122"/>
                <a:sym typeface="Wingdings" panose="05000000000000000000" pitchFamily="2" charset="2"/>
              </a:rPr>
              <a:t>两阶段加锁协议</a:t>
            </a:r>
            <a:endParaRPr lang="zh-CN" altLang="en-US" sz="2800" dirty="0">
              <a:solidFill>
                <a:srgbClr val="3333CC"/>
              </a:solidFill>
              <a:latin typeface="宋体" panose="02010600030101010101" pitchFamily="2" charset="-122"/>
              <a:ea typeface="黑体" panose="02010609060101010101" pitchFamily="1" charset="-122"/>
              <a:sym typeface="Wingdings" panose="05000000000000000000" pitchFamily="2" charset="2"/>
            </a:endParaRPr>
          </a:p>
        </p:txBody>
      </p:sp>
      <p:sp>
        <p:nvSpPr>
          <p:cNvPr id="116741" name="Rectangle 4"/>
          <p:cNvSpPr txBox="1"/>
          <p:nvPr/>
        </p:nvSpPr>
        <p:spPr>
          <a:xfrm>
            <a:off x="565150" y="1920875"/>
            <a:ext cx="8289925" cy="4356100"/>
          </a:xfrm>
          <a:prstGeom prst="rect">
            <a:avLst/>
          </a:prstGeom>
          <a:noFill/>
          <a:ln w="9525">
            <a:noFill/>
          </a:ln>
        </p:spPr>
        <p:txBody>
          <a:bodyPr anchor="t"/>
          <a:lstStyle/>
          <a:p>
            <a:pPr marL="186055" lvl="0" indent="-186055" eaLnBrk="0" hangingPunct="0">
              <a:lnSpc>
                <a:spcPct val="110000"/>
              </a:lnSpc>
              <a:spcBef>
                <a:spcPts val="400"/>
              </a:spcBef>
              <a:buClr>
                <a:srgbClr val="0033CC"/>
              </a:buClr>
              <a:buSzPct val="80000"/>
              <a:buFont typeface="Wingdings" panose="05000000000000000000" pitchFamily="2" charset="2"/>
              <a:buChar char="u"/>
            </a:pPr>
            <a:r>
              <a:rPr lang="zh-CN" altLang="en-US" sz="2400" u="sng" dirty="0">
                <a:solidFill>
                  <a:srgbClr val="CC3300"/>
                </a:solidFill>
                <a:latin typeface="华文楷体" panose="02010600040101010101" pitchFamily="2" charset="-122"/>
                <a:ea typeface="宋体" panose="02010600030101010101" pitchFamily="2" charset="-122"/>
                <a:sym typeface="Wingdings" panose="05000000000000000000" pitchFamily="2" charset="2"/>
              </a:rPr>
              <a:t>两阶段事务：</a:t>
            </a:r>
            <a:r>
              <a:rPr lang="zh-CN" altLang="en-US" sz="2400" dirty="0">
                <a:latin typeface="华文楷体" panose="02010600040101010101" pitchFamily="2" charset="-122"/>
                <a:ea typeface="宋体" panose="02010600030101010101" pitchFamily="2" charset="-122"/>
                <a:sym typeface="Wingdings" panose="05000000000000000000" pitchFamily="2" charset="2"/>
              </a:rPr>
              <a:t>在一个事务中，如加锁都在所有释放锁之前，则此事务为两阶段事务。其中的加锁限制称为两阶段加锁协议</a:t>
            </a:r>
            <a:r>
              <a:rPr lang="en-US" altLang="x-none" sz="2400" dirty="0">
                <a:latin typeface="华文楷体" panose="02010600040101010101" pitchFamily="2" charset="-122"/>
                <a:ea typeface="宋体" panose="02010600030101010101" pitchFamily="2" charset="-122"/>
                <a:sym typeface="Wingdings" panose="05000000000000000000" pitchFamily="2" charset="2"/>
              </a:rPr>
              <a:t>( Two-Phase Locking protocol, </a:t>
            </a:r>
            <a:r>
              <a:rPr lang="en-US" altLang="x-none" sz="2400" dirty="0">
                <a:solidFill>
                  <a:srgbClr val="CC0000"/>
                </a:solidFill>
                <a:latin typeface="华文楷体" panose="02010600040101010101" pitchFamily="2" charset="-122"/>
                <a:ea typeface="宋体" panose="02010600030101010101" pitchFamily="2" charset="-122"/>
                <a:sym typeface="Wingdings" panose="05000000000000000000" pitchFamily="2" charset="2"/>
              </a:rPr>
              <a:t>2PL</a:t>
            </a:r>
            <a:r>
              <a:rPr lang="zh-CN" altLang="en-US" sz="2400" dirty="0">
                <a:solidFill>
                  <a:srgbClr val="CC0000"/>
                </a:solidFill>
                <a:latin typeface="华文楷体" panose="02010600040101010101" pitchFamily="2" charset="-122"/>
                <a:ea typeface="宋体" panose="02010600030101010101" pitchFamily="2" charset="-122"/>
                <a:sym typeface="Wingdings" panose="05000000000000000000" pitchFamily="2" charset="2"/>
              </a:rPr>
              <a:t>协议</a:t>
            </a:r>
            <a:r>
              <a:rPr lang="en-US" altLang="x-none" sz="2400" dirty="0">
                <a:latin typeface="华文楷体" panose="02010600040101010101" pitchFamily="2" charset="-122"/>
                <a:ea typeface="宋体" panose="02010600030101010101" pitchFamily="2" charset="-122"/>
                <a:sym typeface="Wingdings" panose="05000000000000000000" pitchFamily="2" charset="2"/>
              </a:rPr>
              <a:t>) </a:t>
            </a:r>
            <a:endParaRPr lang="en-US" altLang="x-none" sz="2400" dirty="0">
              <a:latin typeface="华文楷体" panose="02010600040101010101" pitchFamily="2" charset="-122"/>
              <a:ea typeface="宋体" panose="02010600030101010101" pitchFamily="2" charset="-122"/>
              <a:sym typeface="Wingdings" panose="05000000000000000000" pitchFamily="2" charset="2"/>
            </a:endParaRPr>
          </a:p>
          <a:p>
            <a:pPr marL="186055" lvl="0" indent="-186055" eaLnBrk="0" hangingPunct="0">
              <a:lnSpc>
                <a:spcPct val="110000"/>
              </a:lnSpc>
              <a:spcBef>
                <a:spcPts val="400"/>
              </a:spcBef>
              <a:buClr>
                <a:srgbClr val="0033CC"/>
              </a:buClr>
              <a:buSzPct val="80000"/>
              <a:buFont typeface="Wingdings" panose="05000000000000000000" pitchFamily="2" charset="2"/>
              <a:buChar char="u"/>
            </a:pPr>
            <a:r>
              <a:rPr lang="zh-CN" altLang="en-US" sz="2400" u="sng" dirty="0">
                <a:solidFill>
                  <a:srgbClr val="C00000"/>
                </a:solidFill>
                <a:latin typeface="华文楷体" panose="02010600040101010101" pitchFamily="2" charset="-122"/>
                <a:ea typeface="宋体" panose="02010600030101010101" pitchFamily="2" charset="-122"/>
                <a:sym typeface="Wingdings" panose="05000000000000000000" pitchFamily="2" charset="2"/>
              </a:rPr>
              <a:t>说明：</a:t>
            </a:r>
            <a:r>
              <a:rPr lang="en-US" altLang="x-none" sz="2400" dirty="0">
                <a:latin typeface="华文楷体" panose="02010600040101010101" pitchFamily="2" charset="-122"/>
                <a:ea typeface="宋体" panose="02010600030101010101" pitchFamily="2" charset="-122"/>
                <a:sym typeface="Wingdings" panose="05000000000000000000" pitchFamily="2" charset="2"/>
              </a:rPr>
              <a:t>(1)</a:t>
            </a:r>
            <a:r>
              <a:rPr lang="zh-CN" altLang="en-US" sz="2400" dirty="0">
                <a:latin typeface="华文楷体" panose="02010600040101010101" pitchFamily="2" charset="-122"/>
                <a:ea typeface="宋体" panose="02010600030101010101" pitchFamily="2" charset="-122"/>
                <a:sym typeface="Wingdings" panose="05000000000000000000" pitchFamily="2" charset="2"/>
              </a:rPr>
              <a:t>每个事务分为两阶段，前阶段加锁而不解锁（扩展阶段），后阶段解锁而不加锁（收缩阶段）。</a:t>
            </a:r>
            <a:r>
              <a:rPr lang="en-US" altLang="x-none" sz="2400" dirty="0">
                <a:latin typeface="华文楷体" panose="02010600040101010101" pitchFamily="2" charset="-122"/>
                <a:ea typeface="宋体" panose="02010600030101010101" pitchFamily="2" charset="-122"/>
                <a:sym typeface="Wingdings" panose="05000000000000000000" pitchFamily="2" charset="2"/>
              </a:rPr>
              <a:t>(2) </a:t>
            </a:r>
            <a:r>
              <a:rPr lang="zh-CN" altLang="en-US" sz="2400" dirty="0">
                <a:latin typeface="华文楷体" panose="02010600040101010101" pitchFamily="2" charset="-122"/>
                <a:ea typeface="宋体" panose="02010600030101010101" pitchFamily="2" charset="-122"/>
                <a:sym typeface="Wingdings" panose="05000000000000000000" pitchFamily="2" charset="2"/>
              </a:rPr>
              <a:t>两阶段事务中，一旦开始解锁，就不能再对任何数据对象加锁。</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marL="186055" lvl="0" indent="-186055" eaLnBrk="0" hangingPunct="0">
              <a:lnSpc>
                <a:spcPct val="110000"/>
              </a:lnSpc>
              <a:spcBef>
                <a:spcPts val="400"/>
              </a:spcBef>
              <a:buClr>
                <a:srgbClr val="0033CC"/>
              </a:buClr>
              <a:buSzPct val="80000"/>
              <a:buFont typeface="Wingdings" panose="05000000000000000000" pitchFamily="2" charset="2"/>
              <a:buChar char="u"/>
            </a:pPr>
            <a:r>
              <a:rPr lang="zh-CN" altLang="en-US" sz="2400" u="sng" dirty="0">
                <a:solidFill>
                  <a:srgbClr val="C00000"/>
                </a:solidFill>
                <a:latin typeface="华文楷体" panose="02010600040101010101" pitchFamily="2" charset="-122"/>
                <a:ea typeface="宋体" panose="02010600030101010101" pitchFamily="2" charset="-122"/>
                <a:sym typeface="Wingdings" panose="05000000000000000000" pitchFamily="2" charset="2"/>
              </a:rPr>
              <a:t>合式</a:t>
            </a:r>
            <a:r>
              <a:rPr lang="en-US" altLang="x-none" sz="2400" u="sng" dirty="0">
                <a:solidFill>
                  <a:srgbClr val="C00000"/>
                </a:solidFill>
                <a:latin typeface="华文楷体" panose="02010600040101010101" pitchFamily="2" charset="-122"/>
                <a:ea typeface="宋体" panose="02010600030101010101" pitchFamily="2" charset="-122"/>
                <a:sym typeface="Wingdings" panose="05000000000000000000" pitchFamily="2" charset="2"/>
              </a:rPr>
              <a:t>(Well Formed)</a:t>
            </a:r>
            <a:r>
              <a:rPr lang="zh-CN" altLang="en-US" sz="2400" u="sng" dirty="0">
                <a:solidFill>
                  <a:srgbClr val="C00000"/>
                </a:solidFill>
                <a:latin typeface="华文楷体" panose="02010600040101010101" pitchFamily="2" charset="-122"/>
                <a:ea typeface="宋体" panose="02010600030101010101" pitchFamily="2" charset="-122"/>
                <a:sym typeface="Wingdings" panose="05000000000000000000" pitchFamily="2" charset="2"/>
              </a:rPr>
              <a:t>事务：</a:t>
            </a:r>
            <a:r>
              <a:rPr lang="zh-CN" altLang="en-US" sz="2400" dirty="0">
                <a:latin typeface="华文楷体" panose="02010600040101010101" pitchFamily="2" charset="-122"/>
                <a:ea typeface="宋体" panose="02010600030101010101" pitchFamily="2" charset="-122"/>
                <a:sym typeface="Wingdings" panose="05000000000000000000" pitchFamily="2" charset="2"/>
              </a:rPr>
              <a:t>一个事务如遵守先加锁，后操作原则，此事务即为合式事务。</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marL="186055" lvl="0" indent="-186055" eaLnBrk="0" hangingPunct="0">
              <a:lnSpc>
                <a:spcPct val="110000"/>
              </a:lnSpc>
              <a:spcBef>
                <a:spcPts val="400"/>
              </a:spcBef>
              <a:buClr>
                <a:srgbClr val="0033CC"/>
              </a:buClr>
              <a:buSzPct val="80000"/>
              <a:buFont typeface="Wingdings" panose="05000000000000000000" pitchFamily="2" charset="2"/>
              <a:buChar char="u"/>
            </a:pPr>
            <a:r>
              <a:rPr lang="zh-CN" altLang="en-US" sz="2400" u="sng" dirty="0">
                <a:solidFill>
                  <a:srgbClr val="CC0000"/>
                </a:solidFill>
                <a:latin typeface="华文楷体" panose="02010600040101010101" pitchFamily="2" charset="-122"/>
                <a:ea typeface="宋体" panose="02010600030101010101" pitchFamily="2" charset="-122"/>
                <a:sym typeface="Wingdings" panose="05000000000000000000" pitchFamily="2" charset="2"/>
              </a:rPr>
              <a:t>定理：</a:t>
            </a:r>
            <a:r>
              <a:rPr lang="zh-CN" altLang="en-US" sz="2400" dirty="0">
                <a:solidFill>
                  <a:srgbClr val="CC0000"/>
                </a:solidFill>
                <a:latin typeface="华文楷体" panose="02010600040101010101" pitchFamily="2" charset="-122"/>
                <a:ea typeface="宋体" panose="02010600030101010101" pitchFamily="2" charset="-122"/>
                <a:sym typeface="Wingdings" panose="05000000000000000000" pitchFamily="2" charset="2"/>
              </a:rPr>
              <a:t>如所有事务都是合式、两阶段事务，则它们的任何调度都是可串行化的。</a:t>
            </a:r>
            <a:endParaRPr lang="zh-CN" altLang="en-US" sz="2400" dirty="0">
              <a:solidFill>
                <a:srgbClr val="CC0000"/>
              </a:solidFill>
              <a:latin typeface="华文楷体" panose="0201060004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6741">
                                            <p:txEl>
                                              <p:pRg st="0" end="0"/>
                                            </p:txEl>
                                          </p:spTgt>
                                        </p:tgtEl>
                                        <p:attrNameLst>
                                          <p:attrName>style.visibility</p:attrName>
                                        </p:attrNameLst>
                                      </p:cBhvr>
                                      <p:to>
                                        <p:strVal val="visible"/>
                                      </p:to>
                                    </p:set>
                                    <p:animEffect transition="in" filter="dissolve">
                                      <p:cBhvr>
                                        <p:cTn id="7" dur="500"/>
                                        <p:tgtEl>
                                          <p:spTgt spid="11674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6741">
                                            <p:txEl>
                                              <p:pRg st="1" end="1"/>
                                            </p:txEl>
                                          </p:spTgt>
                                        </p:tgtEl>
                                        <p:attrNameLst>
                                          <p:attrName>style.visibility</p:attrName>
                                        </p:attrNameLst>
                                      </p:cBhvr>
                                      <p:to>
                                        <p:strVal val="visible"/>
                                      </p:to>
                                    </p:set>
                                    <p:animEffect transition="in" filter="dissolve">
                                      <p:cBhvr>
                                        <p:cTn id="12" dur="500"/>
                                        <p:tgtEl>
                                          <p:spTgt spid="11674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16741">
                                            <p:txEl>
                                              <p:pRg st="2" end="2"/>
                                            </p:txEl>
                                          </p:spTgt>
                                        </p:tgtEl>
                                        <p:attrNameLst>
                                          <p:attrName>style.visibility</p:attrName>
                                        </p:attrNameLst>
                                      </p:cBhvr>
                                      <p:to>
                                        <p:strVal val="visible"/>
                                      </p:to>
                                    </p:set>
                                    <p:animEffect transition="in" filter="dissolve">
                                      <p:cBhvr>
                                        <p:cTn id="17" dur="500"/>
                                        <p:tgtEl>
                                          <p:spTgt spid="11674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16741">
                                            <p:txEl>
                                              <p:pRg st="3" end="3"/>
                                            </p:txEl>
                                          </p:spTgt>
                                        </p:tgtEl>
                                        <p:attrNameLst>
                                          <p:attrName>style.visibility</p:attrName>
                                        </p:attrNameLst>
                                      </p:cBhvr>
                                      <p:to>
                                        <p:strVal val="visible"/>
                                      </p:to>
                                    </p:set>
                                    <p:animEffect transition="in" filter="dissolve">
                                      <p:cBhvr>
                                        <p:cTn id="22" dur="500"/>
                                        <p:tgtEl>
                                          <p:spTgt spid="11674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41" grpId="0" build="p"/>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600" dirty="0">
                <a:solidFill>
                  <a:srgbClr val="0033CC"/>
                </a:solidFill>
                <a:latin typeface="Arial" panose="020B0604020202020204" pitchFamily="34" charset="0"/>
                <a:ea typeface="黑体" panose="02010609060101010101" pitchFamily="1" charset="-122"/>
              </a:rPr>
              <a:t>五、数据库系统中的并发</a:t>
            </a:r>
            <a:endParaRPr lang="zh-CN" altLang="en-US" sz="3600" dirty="0">
              <a:solidFill>
                <a:srgbClr val="0033CC"/>
              </a:solidFill>
              <a:latin typeface="Arial" panose="020B0604020202020204" pitchFamily="34" charset="0"/>
              <a:ea typeface="黑体" panose="02010609060101010101" pitchFamily="1" charset="-122"/>
            </a:endParaRPr>
          </a:p>
        </p:txBody>
      </p:sp>
      <p:sp>
        <p:nvSpPr>
          <p:cNvPr id="113666" name="Rectangle 3"/>
          <p:cNvSpPr txBox="1"/>
          <p:nvPr/>
        </p:nvSpPr>
        <p:spPr>
          <a:xfrm>
            <a:off x="517525" y="8382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4</a:t>
            </a:r>
            <a:r>
              <a:rPr lang="zh-CN" altLang="en-US" sz="2800" dirty="0">
                <a:solidFill>
                  <a:srgbClr val="FF0000"/>
                </a:solidFill>
                <a:latin typeface="黑体" panose="02010609060101010101" pitchFamily="1" charset="-122"/>
                <a:ea typeface="黑体" panose="02010609060101010101" pitchFamily="1" charset="-122"/>
              </a:rPr>
              <a:t>、基于锁的并发控制协议</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113667" name="Rectangle 2"/>
          <p:cNvSpPr txBox="1"/>
          <p:nvPr/>
        </p:nvSpPr>
        <p:spPr>
          <a:xfrm>
            <a:off x="563563" y="1341438"/>
            <a:ext cx="5973762" cy="706437"/>
          </a:xfrm>
          <a:prstGeom prst="rect">
            <a:avLst/>
          </a:prstGeom>
          <a:noFill/>
          <a:ln w="9525">
            <a:noFill/>
          </a:ln>
        </p:spPr>
        <p:txBody>
          <a:bodyPr anchor="t"/>
          <a:lstStyle/>
          <a:p>
            <a:pPr lvl="0" indent="0" eaLnBrk="0" hangingPunct="0">
              <a:buFont typeface="Wingdings" panose="05000000000000000000" pitchFamily="2" charset="2"/>
              <a:buChar char="p"/>
            </a:pPr>
            <a:r>
              <a:rPr lang="zh-CN" altLang="en-US" sz="2800" dirty="0">
                <a:solidFill>
                  <a:srgbClr val="3333CC"/>
                </a:solidFill>
                <a:latin typeface="宋体" panose="02010600030101010101" pitchFamily="2" charset="-122"/>
                <a:ea typeface="黑体" panose="02010609060101010101" pitchFamily="1" charset="-122"/>
              </a:rPr>
              <a:t>（</a:t>
            </a:r>
            <a:r>
              <a:rPr lang="en-US" altLang="x-none" sz="2800" dirty="0">
                <a:solidFill>
                  <a:srgbClr val="3333CC"/>
                </a:solidFill>
                <a:latin typeface="宋体" panose="02010600030101010101" pitchFamily="2" charset="-122"/>
                <a:ea typeface="黑体" panose="02010609060101010101" pitchFamily="1" charset="-122"/>
              </a:rPr>
              <a:t>S</a:t>
            </a:r>
            <a:r>
              <a:rPr lang="zh-CN" altLang="en-US" sz="2800" dirty="0">
                <a:solidFill>
                  <a:srgbClr val="3333CC"/>
                </a:solidFill>
                <a:latin typeface="宋体" panose="02010600030101010101" pitchFamily="2" charset="-122"/>
                <a:ea typeface="黑体" panose="02010609060101010101" pitchFamily="1" charset="-122"/>
              </a:rPr>
              <a:t>，</a:t>
            </a:r>
            <a:r>
              <a:rPr lang="en-US" altLang="x-none" sz="2800" dirty="0">
                <a:solidFill>
                  <a:srgbClr val="3333CC"/>
                </a:solidFill>
                <a:latin typeface="宋体" panose="02010600030101010101" pitchFamily="2" charset="-122"/>
                <a:ea typeface="黑体" panose="02010609060101010101" pitchFamily="1" charset="-122"/>
              </a:rPr>
              <a:t>X</a:t>
            </a:r>
            <a:r>
              <a:rPr lang="zh-CN" altLang="en-US" sz="2800" dirty="0">
                <a:solidFill>
                  <a:srgbClr val="3333CC"/>
                </a:solidFill>
                <a:latin typeface="宋体" panose="02010600030101010101" pitchFamily="2" charset="-122"/>
                <a:ea typeface="黑体" panose="02010609060101010101" pitchFamily="1" charset="-122"/>
              </a:rPr>
              <a:t>）加锁协议</a:t>
            </a:r>
            <a:endParaRPr lang="zh-CN" altLang="en-US" sz="2800" dirty="0">
              <a:solidFill>
                <a:srgbClr val="3333CC"/>
              </a:solidFill>
              <a:latin typeface="宋体" panose="02010600030101010101" pitchFamily="2" charset="-122"/>
              <a:ea typeface="黑体" panose="02010609060101010101" pitchFamily="1" charset="-122"/>
            </a:endParaRPr>
          </a:p>
        </p:txBody>
      </p:sp>
      <p:sp>
        <p:nvSpPr>
          <p:cNvPr id="113668" name="Rectangle 3"/>
          <p:cNvSpPr txBox="1"/>
          <p:nvPr/>
        </p:nvSpPr>
        <p:spPr>
          <a:xfrm>
            <a:off x="641350" y="1966913"/>
            <a:ext cx="4251325" cy="4144962"/>
          </a:xfrm>
          <a:prstGeom prst="rect">
            <a:avLst/>
          </a:prstGeom>
          <a:noFill/>
          <a:ln w="9525">
            <a:noFill/>
          </a:ln>
        </p:spPr>
        <p:txBody>
          <a:bodyPr anchor="t"/>
          <a:lstStyle/>
          <a:p>
            <a:pPr marL="342900" lvl="0" indent="-342900" eaLnBrk="0" hangingPunct="0">
              <a:lnSpc>
                <a:spcPct val="105000"/>
              </a:lnSpc>
              <a:buClr>
                <a:srgbClr val="0033CC"/>
              </a:buClr>
              <a:buSzPct val="80000"/>
              <a:buFont typeface="Wingdings" panose="05000000000000000000" pitchFamily="2" charset="2"/>
              <a:buChar char="u"/>
            </a:pPr>
            <a:r>
              <a:rPr lang="zh-CN" altLang="en-US" sz="2200" u="sng" dirty="0">
                <a:solidFill>
                  <a:srgbClr val="A50021"/>
                </a:solidFill>
                <a:latin typeface="华文楷体" panose="02010600040101010101" pitchFamily="2" charset="-122"/>
                <a:ea typeface="宋体" panose="02010600030101010101" pitchFamily="2" charset="-122"/>
              </a:rPr>
              <a:t>（</a:t>
            </a:r>
            <a:r>
              <a:rPr lang="en-US" altLang="x-none" sz="2200" u="sng" dirty="0">
                <a:solidFill>
                  <a:srgbClr val="A50021"/>
                </a:solidFill>
                <a:latin typeface="华文楷体" panose="02010600040101010101" pitchFamily="2" charset="-122"/>
                <a:ea typeface="宋体" panose="02010600030101010101" pitchFamily="2" charset="-122"/>
              </a:rPr>
              <a:t>S</a:t>
            </a:r>
            <a:r>
              <a:rPr lang="zh-CN" altLang="en-US" sz="2200" u="sng" dirty="0">
                <a:solidFill>
                  <a:srgbClr val="A50021"/>
                </a:solidFill>
                <a:latin typeface="华文楷体" panose="02010600040101010101" pitchFamily="2" charset="-122"/>
                <a:ea typeface="宋体" panose="02010600030101010101" pitchFamily="2" charset="-122"/>
              </a:rPr>
              <a:t>，</a:t>
            </a:r>
            <a:r>
              <a:rPr lang="en-US" altLang="x-none" sz="2200" u="sng" dirty="0">
                <a:solidFill>
                  <a:srgbClr val="A50021"/>
                </a:solidFill>
                <a:latin typeface="华文楷体" panose="02010600040101010101" pitchFamily="2" charset="-122"/>
                <a:ea typeface="宋体" panose="02010600030101010101" pitchFamily="2" charset="-122"/>
              </a:rPr>
              <a:t>X</a:t>
            </a:r>
            <a:r>
              <a:rPr lang="zh-CN" altLang="en-US" sz="2200" u="sng" dirty="0">
                <a:solidFill>
                  <a:srgbClr val="A50021"/>
                </a:solidFill>
                <a:latin typeface="华文楷体" panose="02010600040101010101" pitchFamily="2" charset="-122"/>
                <a:ea typeface="宋体" panose="02010600030101010101" pitchFamily="2" charset="-122"/>
              </a:rPr>
              <a:t>）协议</a:t>
            </a:r>
            <a:r>
              <a:rPr lang="zh-CN" altLang="en-US" sz="2200" u="sng" dirty="0">
                <a:solidFill>
                  <a:srgbClr val="CC3300"/>
                </a:solidFill>
                <a:latin typeface="华文楷体" panose="02010600040101010101" pitchFamily="2" charset="-122"/>
                <a:ea typeface="宋体" panose="02010600030101010101" pitchFamily="2" charset="-122"/>
              </a:rPr>
              <a:t>：</a:t>
            </a:r>
            <a:r>
              <a:rPr lang="zh-CN" altLang="en-US" sz="2200" dirty="0">
                <a:latin typeface="华文楷体" panose="02010600040101010101" pitchFamily="2" charset="-122"/>
                <a:ea typeface="宋体" panose="02010600030101010101" pitchFamily="2" charset="-122"/>
                <a:sym typeface="Wingdings" panose="05000000000000000000" pitchFamily="2" charset="2"/>
              </a:rPr>
              <a:t>该加锁协议中，有两把锁，即：① </a:t>
            </a:r>
            <a:r>
              <a:rPr lang="en-US" altLang="x-none" sz="2200" dirty="0">
                <a:latin typeface="华文楷体" panose="02010600040101010101" pitchFamily="2" charset="-122"/>
                <a:ea typeface="宋体" panose="02010600030101010101" pitchFamily="2" charset="-122"/>
                <a:sym typeface="Wingdings" panose="05000000000000000000" pitchFamily="2" charset="2"/>
              </a:rPr>
              <a:t>S</a:t>
            </a:r>
            <a:r>
              <a:rPr lang="zh-CN" altLang="en-US" sz="2200" dirty="0">
                <a:latin typeface="华文楷体" panose="02010600040101010101" pitchFamily="2" charset="-122"/>
                <a:ea typeface="宋体" panose="02010600030101010101" pitchFamily="2" charset="-122"/>
                <a:sym typeface="Wingdings" panose="05000000000000000000" pitchFamily="2" charset="2"/>
              </a:rPr>
              <a:t>锁</a:t>
            </a:r>
            <a:r>
              <a:rPr lang="en-US" altLang="x-none" sz="2200" dirty="0">
                <a:latin typeface="华文楷体" panose="02010600040101010101" pitchFamily="2" charset="-122"/>
                <a:ea typeface="宋体" panose="02010600030101010101" pitchFamily="2" charset="-122"/>
                <a:sym typeface="Wingdings" panose="05000000000000000000" pitchFamily="2" charset="2"/>
              </a:rPr>
              <a:t>(Sharing locks)</a:t>
            </a:r>
            <a:r>
              <a:rPr lang="zh-CN" altLang="en-US" sz="2200" dirty="0">
                <a:latin typeface="华文楷体" panose="02010600040101010101" pitchFamily="2" charset="-122"/>
                <a:ea typeface="宋体" panose="02010600030101010101" pitchFamily="2" charset="-122"/>
                <a:sym typeface="Wingdings" panose="05000000000000000000" pitchFamily="2" charset="2"/>
              </a:rPr>
              <a:t>：用于读操作； ② </a:t>
            </a:r>
            <a:r>
              <a:rPr lang="en-US" altLang="x-none" sz="2200" dirty="0">
                <a:latin typeface="华文楷体" panose="02010600040101010101" pitchFamily="2" charset="-122"/>
                <a:ea typeface="宋体" panose="02010600030101010101" pitchFamily="2" charset="-122"/>
                <a:sym typeface="Wingdings" panose="05000000000000000000" pitchFamily="2" charset="2"/>
              </a:rPr>
              <a:t>X</a:t>
            </a:r>
            <a:r>
              <a:rPr lang="zh-CN" altLang="en-US" sz="2200" dirty="0">
                <a:latin typeface="华文楷体" panose="02010600040101010101" pitchFamily="2" charset="-122"/>
                <a:ea typeface="宋体" panose="02010600030101010101" pitchFamily="2" charset="-122"/>
                <a:sym typeface="Wingdings" panose="05000000000000000000" pitchFamily="2" charset="2"/>
              </a:rPr>
              <a:t>锁</a:t>
            </a:r>
            <a:r>
              <a:rPr lang="en-US" altLang="x-none" sz="2200" dirty="0">
                <a:latin typeface="华文楷体" panose="02010600040101010101" pitchFamily="2" charset="-122"/>
                <a:ea typeface="宋体" panose="02010600030101010101" pitchFamily="2" charset="-122"/>
                <a:sym typeface="Wingdings" panose="05000000000000000000" pitchFamily="2" charset="2"/>
              </a:rPr>
              <a:t>(eXcusive locks)</a:t>
            </a:r>
            <a:r>
              <a:rPr lang="zh-CN" altLang="en-US" sz="2200" dirty="0">
                <a:latin typeface="华文楷体" panose="02010600040101010101" pitchFamily="2" charset="-122"/>
                <a:ea typeface="宋体" panose="02010600030101010101" pitchFamily="2" charset="-122"/>
                <a:sym typeface="Wingdings" panose="05000000000000000000" pitchFamily="2" charset="2"/>
              </a:rPr>
              <a:t>：用于写操作。</a:t>
            </a:r>
            <a:endParaRPr lang="zh-CN" altLang="en-US" sz="2200" dirty="0">
              <a:latin typeface="华文楷体" panose="02010600040101010101" pitchFamily="2" charset="-122"/>
              <a:ea typeface="宋体" panose="02010600030101010101" pitchFamily="2" charset="-122"/>
              <a:sym typeface="Wingdings" panose="05000000000000000000" pitchFamily="2" charset="2"/>
            </a:endParaRPr>
          </a:p>
          <a:p>
            <a:pPr marL="342900" lvl="0" indent="-342900" eaLnBrk="0" hangingPunct="0">
              <a:lnSpc>
                <a:spcPct val="105000"/>
              </a:lnSpc>
              <a:spcBef>
                <a:spcPct val="50000"/>
              </a:spcBef>
              <a:buClr>
                <a:srgbClr val="0033CC"/>
              </a:buClr>
              <a:buSzPct val="80000"/>
              <a:buFont typeface="Wingdings" panose="05000000000000000000" pitchFamily="2" charset="2"/>
              <a:buChar char="u"/>
            </a:pPr>
            <a:r>
              <a:rPr lang="zh-CN" altLang="en-US" sz="2200" u="sng" dirty="0">
                <a:solidFill>
                  <a:srgbClr val="A50021"/>
                </a:solidFill>
                <a:latin typeface="华文楷体" panose="02010600040101010101" pitchFamily="2" charset="-122"/>
                <a:ea typeface="宋体" panose="02010600030101010101" pitchFamily="2" charset="-122"/>
                <a:sym typeface="Wingdings" panose="05000000000000000000" pitchFamily="2" charset="2"/>
              </a:rPr>
              <a:t>（</a:t>
            </a:r>
            <a:r>
              <a:rPr lang="en-US" altLang="x-none" sz="2200" u="sng" dirty="0">
                <a:solidFill>
                  <a:srgbClr val="A50021"/>
                </a:solidFill>
                <a:latin typeface="华文楷体" panose="02010600040101010101" pitchFamily="2" charset="-122"/>
                <a:ea typeface="宋体" panose="02010600030101010101" pitchFamily="2" charset="-122"/>
                <a:sym typeface="Wingdings" panose="05000000000000000000" pitchFamily="2" charset="2"/>
              </a:rPr>
              <a:t>S</a:t>
            </a:r>
            <a:r>
              <a:rPr lang="zh-CN" altLang="en-US" sz="2200" u="sng" dirty="0">
                <a:solidFill>
                  <a:srgbClr val="A50021"/>
                </a:solidFill>
                <a:latin typeface="华文楷体" panose="02010600040101010101" pitchFamily="2" charset="-122"/>
                <a:ea typeface="宋体" panose="02010600030101010101" pitchFamily="2" charset="-122"/>
                <a:sym typeface="Wingdings" panose="05000000000000000000" pitchFamily="2" charset="2"/>
              </a:rPr>
              <a:t>，</a:t>
            </a:r>
            <a:r>
              <a:rPr lang="en-US" altLang="x-none" sz="2200" u="sng" dirty="0">
                <a:solidFill>
                  <a:srgbClr val="A50021"/>
                </a:solidFill>
                <a:latin typeface="华文楷体" panose="02010600040101010101" pitchFamily="2" charset="-122"/>
                <a:ea typeface="宋体" panose="02010600030101010101" pitchFamily="2" charset="-122"/>
                <a:sym typeface="Wingdings" panose="05000000000000000000" pitchFamily="2" charset="2"/>
              </a:rPr>
              <a:t>X</a:t>
            </a:r>
            <a:r>
              <a:rPr lang="zh-CN" altLang="en-US" sz="2200" u="sng" dirty="0">
                <a:solidFill>
                  <a:srgbClr val="A50021"/>
                </a:solidFill>
                <a:latin typeface="华文楷体" panose="02010600040101010101" pitchFamily="2" charset="-122"/>
                <a:ea typeface="宋体" panose="02010600030101010101" pitchFamily="2" charset="-122"/>
                <a:sym typeface="Wingdings" panose="05000000000000000000" pitchFamily="2" charset="2"/>
              </a:rPr>
              <a:t>）协议的相容矩阵</a:t>
            </a:r>
            <a:r>
              <a:rPr lang="zh-CN" altLang="en-US" sz="2200" u="sng" dirty="0">
                <a:solidFill>
                  <a:srgbClr val="CC3300"/>
                </a:solidFill>
                <a:latin typeface="华文楷体" panose="02010600040101010101" pitchFamily="2" charset="-122"/>
                <a:ea typeface="宋体" panose="02010600030101010101" pitchFamily="2" charset="-122"/>
                <a:sym typeface="Wingdings" panose="05000000000000000000" pitchFamily="2" charset="2"/>
              </a:rPr>
              <a:t>：</a:t>
            </a:r>
            <a:r>
              <a:rPr lang="zh-CN" altLang="en-US" sz="2200" dirty="0">
                <a:latin typeface="华文楷体" panose="02010600040101010101" pitchFamily="2" charset="-122"/>
                <a:ea typeface="宋体" panose="02010600030101010101" pitchFamily="2" charset="-122"/>
                <a:sym typeface="Wingdings" panose="05000000000000000000" pitchFamily="2" charset="2"/>
              </a:rPr>
              <a:t>与</a:t>
            </a:r>
            <a:r>
              <a:rPr lang="en-US" altLang="x-none" sz="2200" dirty="0">
                <a:latin typeface="华文楷体" panose="02010600040101010101" pitchFamily="2" charset="-122"/>
                <a:ea typeface="宋体" panose="02010600030101010101" pitchFamily="2" charset="-122"/>
                <a:sym typeface="Wingdings" panose="05000000000000000000" pitchFamily="2" charset="2"/>
              </a:rPr>
              <a:t>X</a:t>
            </a:r>
            <a:r>
              <a:rPr lang="zh-CN" altLang="en-US" sz="2200" dirty="0">
                <a:latin typeface="华文楷体" panose="02010600040101010101" pitchFamily="2" charset="-122"/>
                <a:ea typeface="宋体" panose="02010600030101010101" pitchFamily="2" charset="-122"/>
                <a:sym typeface="Wingdings" panose="05000000000000000000" pitchFamily="2" charset="2"/>
              </a:rPr>
              <a:t>锁协议比较，由于这里的</a:t>
            </a:r>
            <a:r>
              <a:rPr lang="en-US" altLang="x-none" sz="2200" dirty="0">
                <a:latin typeface="华文楷体" panose="02010600040101010101" pitchFamily="2" charset="-122"/>
                <a:ea typeface="宋体" panose="02010600030101010101" pitchFamily="2" charset="-122"/>
                <a:sym typeface="Wingdings" panose="05000000000000000000" pitchFamily="2" charset="2"/>
              </a:rPr>
              <a:t>S</a:t>
            </a:r>
            <a:r>
              <a:rPr lang="zh-CN" altLang="en-US" sz="2200" dirty="0">
                <a:latin typeface="华文楷体" panose="02010600040101010101" pitchFamily="2" charset="-122"/>
                <a:ea typeface="宋体" panose="02010600030101010101" pitchFamily="2" charset="-122"/>
                <a:sym typeface="Wingdings" panose="05000000000000000000" pitchFamily="2" charset="2"/>
              </a:rPr>
              <a:t>锁只用于读，故</a:t>
            </a:r>
            <a:r>
              <a:rPr lang="en-US" altLang="x-none" sz="2200" dirty="0">
                <a:latin typeface="华文楷体" panose="02010600040101010101" pitchFamily="2" charset="-122"/>
                <a:ea typeface="宋体" panose="02010600030101010101" pitchFamily="2" charset="-122"/>
                <a:sym typeface="Wingdings" panose="05000000000000000000" pitchFamily="2" charset="2"/>
              </a:rPr>
              <a:t>S</a:t>
            </a:r>
            <a:r>
              <a:rPr lang="zh-CN" altLang="en-US" sz="2200" dirty="0">
                <a:latin typeface="华文楷体" panose="02010600040101010101" pitchFamily="2" charset="-122"/>
                <a:ea typeface="宋体" panose="02010600030101010101" pitchFamily="2" charset="-122"/>
                <a:sym typeface="Wingdings" panose="05000000000000000000" pitchFamily="2" charset="2"/>
              </a:rPr>
              <a:t>锁与</a:t>
            </a:r>
            <a:r>
              <a:rPr lang="en-US" altLang="x-none" sz="2200" dirty="0">
                <a:latin typeface="华文楷体" panose="02010600040101010101" pitchFamily="2" charset="-122"/>
                <a:ea typeface="宋体" panose="02010600030101010101" pitchFamily="2" charset="-122"/>
                <a:sym typeface="Wingdings" panose="05000000000000000000" pitchFamily="2" charset="2"/>
              </a:rPr>
              <a:t>S</a:t>
            </a:r>
            <a:r>
              <a:rPr lang="zh-CN" altLang="en-US" sz="2200" dirty="0">
                <a:latin typeface="华文楷体" panose="02010600040101010101" pitchFamily="2" charset="-122"/>
                <a:ea typeface="宋体" panose="02010600030101010101" pitchFamily="2" charset="-122"/>
                <a:sym typeface="Wingdings" panose="05000000000000000000" pitchFamily="2" charset="2"/>
              </a:rPr>
              <a:t>锁是相容的。即：同一数据对象可允许多个事务并发读，这样比单一的</a:t>
            </a:r>
            <a:r>
              <a:rPr lang="en-US" altLang="x-none" sz="2200" dirty="0">
                <a:latin typeface="华文楷体" panose="02010600040101010101" pitchFamily="2" charset="-122"/>
                <a:ea typeface="宋体" panose="02010600030101010101" pitchFamily="2" charset="-122"/>
                <a:sym typeface="Wingdings" panose="05000000000000000000" pitchFamily="2" charset="2"/>
              </a:rPr>
              <a:t>X</a:t>
            </a:r>
            <a:r>
              <a:rPr lang="zh-CN" altLang="en-US" sz="2200" dirty="0">
                <a:latin typeface="华文楷体" panose="02010600040101010101" pitchFamily="2" charset="-122"/>
                <a:ea typeface="宋体" panose="02010600030101010101" pitchFamily="2" charset="-122"/>
                <a:sym typeface="Wingdings" panose="05000000000000000000" pitchFamily="2" charset="2"/>
              </a:rPr>
              <a:t>锁提高了并发度。</a:t>
            </a:r>
            <a:endParaRPr lang="zh-CN" altLang="en-US" sz="2200" dirty="0">
              <a:latin typeface="华文楷体" panose="02010600040101010101" pitchFamily="2" charset="-122"/>
              <a:ea typeface="宋体" panose="02010600030101010101" pitchFamily="2" charset="-122"/>
            </a:endParaRPr>
          </a:p>
        </p:txBody>
      </p:sp>
      <p:graphicFrame>
        <p:nvGraphicFramePr>
          <p:cNvPr id="117766" name="Object 2"/>
          <p:cNvGraphicFramePr>
            <a:graphicFrameLocks noChangeAspect="1"/>
          </p:cNvGraphicFramePr>
          <p:nvPr/>
        </p:nvGraphicFramePr>
        <p:xfrm>
          <a:off x="4967288" y="2190750"/>
          <a:ext cx="4176712" cy="3116263"/>
        </p:xfrm>
        <a:graphic>
          <a:graphicData uri="http://schemas.openxmlformats.org/presentationml/2006/ole">
            <mc:AlternateContent xmlns:mc="http://schemas.openxmlformats.org/markup-compatibility/2006">
              <mc:Choice xmlns:v="urn:schemas-microsoft-com:vml" Requires="v">
                <p:oleObj spid="_x0000_s25622" name="" r:id="rId1" imgW="2162175" imgH="1285875" progId="Word.Picture.8">
                  <p:embed/>
                </p:oleObj>
              </mc:Choice>
              <mc:Fallback>
                <p:oleObj name="" r:id="rId1" imgW="2162175" imgH="1285875" progId="Word.Picture.8">
                  <p:embed/>
                  <p:pic>
                    <p:nvPicPr>
                      <p:cNvPr id="0" name="图片 3098"/>
                      <p:cNvPicPr/>
                      <p:nvPr/>
                    </p:nvPicPr>
                    <p:blipFill>
                      <a:blip r:embed="rId2"/>
                      <a:stretch>
                        <a:fillRect/>
                      </a:stretch>
                    </p:blipFill>
                    <p:spPr>
                      <a:xfrm>
                        <a:off x="4967288" y="2190750"/>
                        <a:ext cx="4176712" cy="3116263"/>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177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600" dirty="0">
                <a:solidFill>
                  <a:srgbClr val="0033CC"/>
                </a:solidFill>
                <a:latin typeface="Arial" panose="020B0604020202020204" pitchFamily="34" charset="0"/>
                <a:ea typeface="黑体" panose="02010609060101010101" pitchFamily="1" charset="-122"/>
              </a:rPr>
              <a:t>五、数据库系统中的并发</a:t>
            </a:r>
            <a:endParaRPr lang="zh-CN" altLang="en-US" sz="3600" dirty="0">
              <a:solidFill>
                <a:srgbClr val="0033CC"/>
              </a:solidFill>
              <a:latin typeface="Arial" panose="020B0604020202020204" pitchFamily="34" charset="0"/>
              <a:ea typeface="黑体" panose="02010609060101010101" pitchFamily="1" charset="-122"/>
            </a:endParaRPr>
          </a:p>
        </p:txBody>
      </p:sp>
      <p:sp>
        <p:nvSpPr>
          <p:cNvPr id="114690" name="Rectangle 3"/>
          <p:cNvSpPr txBox="1"/>
          <p:nvPr/>
        </p:nvSpPr>
        <p:spPr>
          <a:xfrm>
            <a:off x="517525" y="8382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4</a:t>
            </a:r>
            <a:r>
              <a:rPr lang="zh-CN" altLang="en-US" sz="2800" dirty="0">
                <a:solidFill>
                  <a:srgbClr val="FF0000"/>
                </a:solidFill>
                <a:latin typeface="黑体" panose="02010609060101010101" pitchFamily="1" charset="-122"/>
                <a:ea typeface="黑体" panose="02010609060101010101" pitchFamily="1" charset="-122"/>
              </a:rPr>
              <a:t>、基于锁的并发控制协议</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118788" name="Text Box 2"/>
          <p:cNvSpPr txBox="1"/>
          <p:nvPr/>
        </p:nvSpPr>
        <p:spPr>
          <a:xfrm>
            <a:off x="641350" y="1441450"/>
            <a:ext cx="7993063" cy="1476375"/>
          </a:xfrm>
          <a:prstGeom prst="rect">
            <a:avLst/>
          </a:prstGeom>
          <a:noFill/>
          <a:ln w="9525">
            <a:noFill/>
          </a:ln>
        </p:spPr>
        <p:txBody>
          <a:bodyPr anchor="t">
            <a:spAutoFit/>
          </a:bodyPr>
          <a:lstStyle/>
          <a:p>
            <a:pPr lvl="0" indent="0">
              <a:spcBef>
                <a:spcPct val="50000"/>
              </a:spcBef>
              <a:buFont typeface="Wingdings" panose="05000000000000000000" pitchFamily="2" charset="2"/>
              <a:buChar char="p"/>
            </a:pPr>
            <a:r>
              <a:rPr lang="zh-CN" altLang="en-US" sz="2400" u="sng" dirty="0">
                <a:solidFill>
                  <a:srgbClr val="A50021"/>
                </a:solidFill>
                <a:latin typeface="宋体" panose="02010600030101010101" pitchFamily="2" charset="-122"/>
                <a:ea typeface="宋体" panose="02010600030101010101" pitchFamily="2" charset="-122"/>
                <a:sym typeface="Wingdings" panose="05000000000000000000" pitchFamily="2" charset="2"/>
              </a:rPr>
              <a:t>活锁：</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如一数据对象已被加</a:t>
            </a:r>
            <a:r>
              <a:rPr lang="en-US" altLang="x-none" sz="2200" dirty="0">
                <a:latin typeface="华文楷体" panose="02010600040101010101" pitchFamily="2" charset="-122"/>
                <a:ea typeface="华文楷体" panose="02010600040101010101" pitchFamily="2" charset="-122"/>
                <a:sym typeface="Wingdings" panose="05000000000000000000" pitchFamily="2" charset="2"/>
              </a:rPr>
              <a:t>S</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锁，其他事务要申请对它的</a:t>
            </a:r>
            <a:r>
              <a:rPr lang="en-US" altLang="x-none" sz="2200" dirty="0">
                <a:latin typeface="华文楷体" panose="02010600040101010101" pitchFamily="2" charset="-122"/>
                <a:ea typeface="华文楷体" panose="02010600040101010101" pitchFamily="2" charset="-122"/>
                <a:sym typeface="Wingdings" panose="05000000000000000000" pitchFamily="2" charset="2"/>
              </a:rPr>
              <a:t>X</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锁，需等待。若此时有其他事务申请对它的</a:t>
            </a:r>
            <a:r>
              <a:rPr lang="en-US" altLang="x-none" sz="2200" dirty="0">
                <a:latin typeface="华文楷体" panose="02010600040101010101" pitchFamily="2" charset="-122"/>
                <a:ea typeface="华文楷体" panose="02010600040101010101" pitchFamily="2" charset="-122"/>
                <a:sym typeface="Wingdings" panose="05000000000000000000" pitchFamily="2" charset="2"/>
              </a:rPr>
              <a:t>S</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锁，按相容矩阵，应可获准。如不断有事务对它申请</a:t>
            </a:r>
            <a:r>
              <a:rPr lang="en-US" altLang="x-none" sz="2200" dirty="0">
                <a:latin typeface="华文楷体" panose="02010600040101010101" pitchFamily="2" charset="-122"/>
                <a:ea typeface="华文楷体" panose="02010600040101010101" pitchFamily="2" charset="-122"/>
                <a:sym typeface="Wingdings" panose="05000000000000000000" pitchFamily="2" charset="2"/>
              </a:rPr>
              <a:t>S</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锁，以致该数据对象一直被</a:t>
            </a:r>
            <a:r>
              <a:rPr lang="en-US" altLang="x-none" sz="2200" dirty="0">
                <a:latin typeface="华文楷体" panose="02010600040101010101" pitchFamily="2" charset="-122"/>
                <a:ea typeface="华文楷体" panose="02010600040101010101" pitchFamily="2" charset="-122"/>
                <a:sym typeface="Wingdings" panose="05000000000000000000" pitchFamily="2" charset="2"/>
              </a:rPr>
              <a:t>S</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锁占据，而</a:t>
            </a:r>
            <a:r>
              <a:rPr lang="en-US" altLang="x-none" sz="2200" dirty="0">
                <a:latin typeface="华文楷体" panose="02010600040101010101" pitchFamily="2" charset="-122"/>
                <a:ea typeface="华文楷体" panose="02010600040101010101" pitchFamily="2" charset="-122"/>
                <a:sym typeface="Wingdings" panose="05000000000000000000" pitchFamily="2" charset="2"/>
              </a:rPr>
              <a:t>X</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锁的申请迟迟得不到获准，此现象称作活锁。</a:t>
            </a:r>
            <a:endParaRPr lang="zh-CN" altLang="en-US" sz="2200" dirty="0">
              <a:latin typeface="华文楷体" panose="02010600040101010101" pitchFamily="2" charset="-122"/>
              <a:ea typeface="华文楷体" panose="02010600040101010101" pitchFamily="2" charset="-122"/>
              <a:sym typeface="Wingdings" panose="05000000000000000000" pitchFamily="2" charset="2"/>
            </a:endParaRPr>
          </a:p>
        </p:txBody>
      </p:sp>
      <p:graphicFrame>
        <p:nvGraphicFramePr>
          <p:cNvPr id="118789" name="Object 2"/>
          <p:cNvGraphicFramePr>
            <a:graphicFrameLocks noGrp="1" noChangeAspect="1"/>
          </p:cNvGraphicFramePr>
          <p:nvPr/>
        </p:nvGraphicFramePr>
        <p:xfrm>
          <a:off x="357188" y="2636838"/>
          <a:ext cx="5221287" cy="3641725"/>
        </p:xfrm>
        <a:graphic>
          <a:graphicData uri="http://schemas.openxmlformats.org/presentationml/2006/ole">
            <mc:AlternateContent xmlns:mc="http://schemas.openxmlformats.org/markup-compatibility/2006">
              <mc:Choice xmlns:v="urn:schemas-microsoft-com:vml" Requires="v">
                <p:oleObj spid="_x0000_s26667" name="" r:id="rId1" imgW="2632710" imgH="1685925" progId="Word.Picture.8">
                  <p:embed/>
                </p:oleObj>
              </mc:Choice>
              <mc:Fallback>
                <p:oleObj name="" r:id="rId1" imgW="2632710" imgH="1685925" progId="Word.Picture.8">
                  <p:embed/>
                  <p:pic>
                    <p:nvPicPr>
                      <p:cNvPr id="0" name="图片 3099"/>
                      <p:cNvPicPr/>
                      <p:nvPr/>
                    </p:nvPicPr>
                    <p:blipFill>
                      <a:blip r:embed="rId2"/>
                      <a:stretch>
                        <a:fillRect/>
                      </a:stretch>
                    </p:blipFill>
                    <p:spPr>
                      <a:xfrm>
                        <a:off x="357188" y="2636838"/>
                        <a:ext cx="5221287" cy="3641725"/>
                      </a:xfrm>
                      <a:prstGeom prst="rect">
                        <a:avLst/>
                      </a:prstGeom>
                      <a:noFill/>
                      <a:ln w="38100">
                        <a:noFill/>
                        <a:miter/>
                      </a:ln>
                    </p:spPr>
                  </p:pic>
                </p:oleObj>
              </mc:Fallback>
            </mc:AlternateContent>
          </a:graphicData>
        </a:graphic>
      </p:graphicFrame>
      <p:graphicFrame>
        <p:nvGraphicFramePr>
          <p:cNvPr id="118790" name="Object 3"/>
          <p:cNvGraphicFramePr>
            <a:graphicFrameLocks noGrp="1" noChangeAspect="1"/>
          </p:cNvGraphicFramePr>
          <p:nvPr/>
        </p:nvGraphicFramePr>
        <p:xfrm>
          <a:off x="5651500" y="2852738"/>
          <a:ext cx="3084513" cy="3105150"/>
        </p:xfrm>
        <a:graphic>
          <a:graphicData uri="http://schemas.openxmlformats.org/presentationml/2006/ole">
            <mc:AlternateContent xmlns:mc="http://schemas.openxmlformats.org/markup-compatibility/2006">
              <mc:Choice xmlns:v="urn:schemas-microsoft-com:vml" Requires="v">
                <p:oleObj spid="_x0000_s26668" name="" r:id="rId3" imgW="1464310" imgH="1476375" progId="Word.Picture.8">
                  <p:embed/>
                </p:oleObj>
              </mc:Choice>
              <mc:Fallback>
                <p:oleObj name="" r:id="rId3" imgW="1464310" imgH="1476375" progId="Word.Picture.8">
                  <p:embed/>
                  <p:pic>
                    <p:nvPicPr>
                      <p:cNvPr id="0" name="图片 3100"/>
                      <p:cNvPicPr/>
                      <p:nvPr/>
                    </p:nvPicPr>
                    <p:blipFill>
                      <a:blip r:embed="rId4"/>
                      <a:stretch>
                        <a:fillRect/>
                      </a:stretch>
                    </p:blipFill>
                    <p:spPr>
                      <a:xfrm>
                        <a:off x="5651500" y="2852738"/>
                        <a:ext cx="3084513" cy="310515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118788"/>
                                        </p:tgtEl>
                                        <p:attrNameLst>
                                          <p:attrName>style.visibility</p:attrName>
                                        </p:attrNameLst>
                                      </p:cBhvr>
                                      <p:to>
                                        <p:strVal val="visible"/>
                                      </p:to>
                                    </p:set>
                                    <p:animEffect transition="in" filter="checkerboard(across)">
                                      <p:cBhvr>
                                        <p:cTn id="7" dur="500"/>
                                        <p:tgtEl>
                                          <p:spTgt spid="11878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8789"/>
                                        </p:tgtEl>
                                        <p:attrNameLst>
                                          <p:attrName>style.visibility</p:attrName>
                                        </p:attrNameLst>
                                      </p:cBhvr>
                                      <p:to>
                                        <p:strVal val="visible"/>
                                      </p:to>
                                    </p:set>
                                    <p:animEffect transition="in" filter="blinds(horizontal)">
                                      <p:cBhvr>
                                        <p:cTn id="12" dur="500"/>
                                        <p:tgtEl>
                                          <p:spTgt spid="118789"/>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nodeType="clickEffect">
                                  <p:stCondLst>
                                    <p:cond delay="0"/>
                                  </p:stCondLst>
                                  <p:childTnLst>
                                    <p:set>
                                      <p:cBhvr>
                                        <p:cTn id="16" dur="1" fill="hold">
                                          <p:stCondLst>
                                            <p:cond delay="0"/>
                                          </p:stCondLst>
                                        </p:cTn>
                                        <p:tgtEl>
                                          <p:spTgt spid="118790"/>
                                        </p:tgtEl>
                                        <p:attrNameLst>
                                          <p:attrName>style.visibility</p:attrName>
                                        </p:attrNameLst>
                                      </p:cBhvr>
                                      <p:to>
                                        <p:strVal val="visible"/>
                                      </p:to>
                                    </p:set>
                                    <p:animEffect transition="in" filter="wedge">
                                      <p:cBhvr>
                                        <p:cTn id="17" dur="500"/>
                                        <p:tgtEl>
                                          <p:spTgt spid="1187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8"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600" dirty="0">
                <a:solidFill>
                  <a:srgbClr val="0033CC"/>
                </a:solidFill>
                <a:latin typeface="Arial" panose="020B0604020202020204" pitchFamily="34" charset="0"/>
                <a:ea typeface="黑体" panose="02010609060101010101" pitchFamily="1" charset="-122"/>
              </a:rPr>
              <a:t>五、数据库系统中的并发</a:t>
            </a:r>
            <a:endParaRPr lang="zh-CN" altLang="en-US" sz="3600" dirty="0">
              <a:solidFill>
                <a:srgbClr val="0033CC"/>
              </a:solidFill>
              <a:latin typeface="Arial" panose="020B0604020202020204" pitchFamily="34" charset="0"/>
              <a:ea typeface="黑体" panose="02010609060101010101" pitchFamily="1" charset="-122"/>
            </a:endParaRPr>
          </a:p>
        </p:txBody>
      </p:sp>
      <p:sp>
        <p:nvSpPr>
          <p:cNvPr id="115714" name="Rectangle 3"/>
          <p:cNvSpPr txBox="1"/>
          <p:nvPr/>
        </p:nvSpPr>
        <p:spPr>
          <a:xfrm>
            <a:off x="517525" y="8382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4</a:t>
            </a:r>
            <a:r>
              <a:rPr lang="zh-CN" altLang="en-US" sz="2800" dirty="0">
                <a:solidFill>
                  <a:srgbClr val="FF0000"/>
                </a:solidFill>
                <a:latin typeface="黑体" panose="02010609060101010101" pitchFamily="1" charset="-122"/>
                <a:ea typeface="黑体" panose="02010609060101010101" pitchFamily="1" charset="-122"/>
              </a:rPr>
              <a:t>、基于锁的并发控制协议</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119812" name="Text Box 3"/>
          <p:cNvSpPr txBox="1"/>
          <p:nvPr/>
        </p:nvSpPr>
        <p:spPr>
          <a:xfrm>
            <a:off x="641350" y="2398713"/>
            <a:ext cx="7993063" cy="3022600"/>
          </a:xfrm>
          <a:prstGeom prst="rect">
            <a:avLst/>
          </a:prstGeom>
          <a:noFill/>
          <a:ln w="9525">
            <a:noFill/>
          </a:ln>
        </p:spPr>
        <p:txBody>
          <a:bodyPr anchor="t">
            <a:spAutoFit/>
          </a:bodyPr>
          <a:lstStyle/>
          <a:p>
            <a:pPr lvl="0" indent="0">
              <a:lnSpc>
                <a:spcPct val="105000"/>
              </a:lnSpc>
              <a:spcBef>
                <a:spcPct val="50000"/>
              </a:spcBef>
            </a:pPr>
            <a:r>
              <a:rPr lang="en-US" altLang="x-none" sz="2800" dirty="0">
                <a:latin typeface="华文楷体" panose="02010600040101010101" pitchFamily="2" charset="-122"/>
                <a:ea typeface="华文楷体" panose="02010600040101010101" pitchFamily="2" charset="-122"/>
                <a:sym typeface="Wingdings" panose="05000000000000000000" pitchFamily="2" charset="2"/>
              </a:rPr>
              <a:t>--</a:t>
            </a:r>
            <a:r>
              <a:rPr lang="zh-CN" altLang="en-US" sz="2800" dirty="0">
                <a:latin typeface="华文楷体" panose="02010600040101010101" pitchFamily="2" charset="-122"/>
                <a:ea typeface="华文楷体" panose="02010600040101010101" pitchFamily="2" charset="-122"/>
                <a:sym typeface="Wingdings" panose="05000000000000000000" pitchFamily="2" charset="2"/>
              </a:rPr>
              <a:t>活锁虽不会导致“死等”，但对系统性能有不良影响。为避免活锁，在加锁协议中应规定“先申请先服务（</a:t>
            </a:r>
            <a:r>
              <a:rPr lang="en-US" altLang="x-none" sz="2800" dirty="0">
                <a:latin typeface="华文楷体" panose="02010600040101010101" pitchFamily="2" charset="-122"/>
                <a:ea typeface="华文楷体" panose="02010600040101010101" pitchFamily="2" charset="-122"/>
                <a:sym typeface="Wingdings" panose="05000000000000000000" pitchFamily="2" charset="2"/>
              </a:rPr>
              <a:t>First Come, First Served</a:t>
            </a:r>
            <a:r>
              <a:rPr lang="zh-CN" altLang="en-US" sz="2800" dirty="0">
                <a:latin typeface="华文楷体" panose="02010600040101010101" pitchFamily="2" charset="-122"/>
                <a:ea typeface="华文楷体" panose="02010600040101010101" pitchFamily="2" charset="-122"/>
                <a:sym typeface="Wingdings" panose="05000000000000000000" pitchFamily="2" charset="2"/>
              </a:rPr>
              <a:t>）”原则。</a:t>
            </a:r>
            <a:endParaRPr lang="zh-CN" altLang="en-US" sz="2800" dirty="0">
              <a:latin typeface="华文楷体" panose="02010600040101010101" pitchFamily="2" charset="-122"/>
              <a:ea typeface="华文楷体" panose="02010600040101010101" pitchFamily="2" charset="-122"/>
              <a:sym typeface="Wingdings" panose="05000000000000000000" pitchFamily="2" charset="2"/>
            </a:endParaRPr>
          </a:p>
          <a:p>
            <a:pPr lvl="0" indent="0">
              <a:lnSpc>
                <a:spcPct val="105000"/>
              </a:lnSpc>
              <a:spcBef>
                <a:spcPct val="50000"/>
              </a:spcBef>
            </a:pPr>
            <a:r>
              <a:rPr lang="en-US" altLang="x-none" sz="2800" dirty="0">
                <a:latin typeface="华文楷体" panose="02010600040101010101" pitchFamily="2" charset="-122"/>
                <a:ea typeface="华文楷体" panose="02010600040101010101" pitchFamily="2" charset="-122"/>
                <a:sym typeface="Wingdings" panose="05000000000000000000" pitchFamily="2" charset="2"/>
              </a:rPr>
              <a:t>--</a:t>
            </a:r>
            <a:r>
              <a:rPr lang="zh-CN" altLang="en-US" sz="2800" dirty="0">
                <a:latin typeface="华文楷体" panose="02010600040101010101" pitchFamily="2" charset="-122"/>
                <a:ea typeface="华文楷体" panose="02010600040101010101" pitchFamily="2" charset="-122"/>
                <a:sym typeface="Wingdings" panose="05000000000000000000" pitchFamily="2" charset="2"/>
              </a:rPr>
              <a:t>说明：为保证可串行化和避免级联回退现象，（</a:t>
            </a:r>
            <a:r>
              <a:rPr lang="en-US" altLang="x-none" sz="2800" dirty="0">
                <a:latin typeface="华文楷体" panose="02010600040101010101" pitchFamily="2" charset="-122"/>
                <a:ea typeface="华文楷体" panose="02010600040101010101" pitchFamily="2" charset="-122"/>
                <a:sym typeface="Wingdings" panose="05000000000000000000" pitchFamily="2" charset="2"/>
              </a:rPr>
              <a:t>S</a:t>
            </a:r>
            <a:r>
              <a:rPr lang="zh-CN" altLang="en-US" sz="2800" dirty="0">
                <a:latin typeface="华文楷体" panose="02010600040101010101" pitchFamily="2" charset="-122"/>
                <a:ea typeface="华文楷体" panose="02010600040101010101" pitchFamily="2" charset="-122"/>
                <a:sym typeface="Wingdings" panose="05000000000000000000" pitchFamily="2" charset="2"/>
              </a:rPr>
              <a:t>，</a:t>
            </a:r>
            <a:r>
              <a:rPr lang="en-US" altLang="x-none" sz="2800" dirty="0">
                <a:latin typeface="华文楷体" panose="02010600040101010101" pitchFamily="2" charset="-122"/>
                <a:ea typeface="华文楷体" panose="02010600040101010101" pitchFamily="2" charset="-122"/>
                <a:sym typeface="Wingdings" panose="05000000000000000000" pitchFamily="2" charset="2"/>
              </a:rPr>
              <a:t>X</a:t>
            </a:r>
            <a:r>
              <a:rPr lang="zh-CN" altLang="en-US" sz="2800" dirty="0">
                <a:latin typeface="华文楷体" panose="02010600040101010101" pitchFamily="2" charset="-122"/>
                <a:ea typeface="华文楷体" panose="02010600040101010101" pitchFamily="2" charset="-122"/>
                <a:sym typeface="Wingdings" panose="05000000000000000000" pitchFamily="2" charset="2"/>
              </a:rPr>
              <a:t>）锁一般应保持到</a:t>
            </a:r>
            <a:r>
              <a:rPr lang="en-US" altLang="x-none" sz="2800" dirty="0">
                <a:latin typeface="华文楷体" panose="02010600040101010101" pitchFamily="2" charset="-122"/>
                <a:ea typeface="华文楷体" panose="02010600040101010101" pitchFamily="2" charset="-122"/>
                <a:sym typeface="Wingdings" panose="05000000000000000000" pitchFamily="2" charset="2"/>
              </a:rPr>
              <a:t>EOT</a:t>
            </a:r>
            <a:r>
              <a:rPr lang="zh-CN" altLang="en-US" sz="2800" dirty="0">
                <a:latin typeface="华文楷体" panose="02010600040101010101" pitchFamily="2" charset="-122"/>
                <a:ea typeface="华文楷体" panose="02010600040101010101" pitchFamily="2" charset="-122"/>
                <a:sym typeface="Wingdings" panose="05000000000000000000" pitchFamily="2" charset="2"/>
              </a:rPr>
              <a:t>才释放。该加锁协议繁简适当，有相当多的</a:t>
            </a:r>
            <a:r>
              <a:rPr lang="en-US" altLang="x-none" sz="2800" dirty="0">
                <a:latin typeface="华文楷体" panose="02010600040101010101" pitchFamily="2" charset="-122"/>
                <a:ea typeface="华文楷体" panose="02010600040101010101" pitchFamily="2" charset="-122"/>
                <a:sym typeface="Wingdings" panose="05000000000000000000" pitchFamily="2" charset="2"/>
              </a:rPr>
              <a:t>DBMS</a:t>
            </a:r>
            <a:r>
              <a:rPr lang="zh-CN" altLang="en-US" sz="2800" dirty="0">
                <a:latin typeface="华文楷体" panose="02010600040101010101" pitchFamily="2" charset="-122"/>
                <a:ea typeface="华文楷体" panose="02010600040101010101" pitchFamily="2" charset="-122"/>
                <a:sym typeface="Wingdings" panose="05000000000000000000" pitchFamily="2" charset="2"/>
              </a:rPr>
              <a:t>采用此协议。</a:t>
            </a:r>
            <a:endParaRPr lang="zh-CN" altLang="en-US" sz="2800" dirty="0">
              <a:latin typeface="华文楷体" panose="02010600040101010101" pitchFamily="2" charset="-122"/>
              <a:ea typeface="华文楷体" panose="02010600040101010101" pitchFamily="2" charset="-122"/>
              <a:sym typeface="Wingdings" panose="05000000000000000000" pitchFamily="2" charset="2"/>
            </a:endParaRPr>
          </a:p>
        </p:txBody>
      </p:sp>
      <p:sp>
        <p:nvSpPr>
          <p:cNvPr id="115716" name="Rectangle 4"/>
          <p:cNvSpPr/>
          <p:nvPr/>
        </p:nvSpPr>
        <p:spPr>
          <a:xfrm>
            <a:off x="1784350" y="1536700"/>
            <a:ext cx="5692775" cy="641350"/>
          </a:xfrm>
          <a:prstGeom prst="rect">
            <a:avLst/>
          </a:prstGeom>
          <a:noFill/>
          <a:ln w="9525">
            <a:noFill/>
          </a:ln>
        </p:spPr>
        <p:txBody>
          <a:bodyPr wrap="none" lIns="90000" tIns="46800" rIns="90000" bIns="46800" anchor="t">
            <a:spAutoFit/>
          </a:bodyPr>
          <a:lstStyle/>
          <a:p>
            <a:pPr lvl="0" indent="0"/>
            <a:r>
              <a:rPr lang="zh-CN" altLang="en-US" sz="3600" dirty="0">
                <a:solidFill>
                  <a:srgbClr val="A50021"/>
                </a:solidFill>
                <a:latin typeface="宋体" panose="02010600030101010101" pitchFamily="2" charset="-122"/>
                <a:ea typeface="宋体" panose="02010600030101010101" pitchFamily="2" charset="-122"/>
                <a:sym typeface="Wingdings" panose="05000000000000000000" pitchFamily="2" charset="2"/>
              </a:rPr>
              <a:t>加锁协议补丁</a:t>
            </a:r>
            <a:r>
              <a:rPr lang="en-US" altLang="x-none" sz="3600" dirty="0">
                <a:solidFill>
                  <a:srgbClr val="A50021"/>
                </a:solidFill>
                <a:latin typeface="宋体" panose="02010600030101010101" pitchFamily="2" charset="-122"/>
                <a:ea typeface="宋体" panose="02010600030101010101" pitchFamily="2" charset="-122"/>
                <a:sym typeface="Wingdings" panose="05000000000000000000" pitchFamily="2" charset="2"/>
              </a:rPr>
              <a:t>2</a:t>
            </a:r>
            <a:r>
              <a:rPr lang="zh-CN" altLang="en-US" sz="3600" dirty="0">
                <a:solidFill>
                  <a:srgbClr val="A50021"/>
                </a:solidFill>
                <a:latin typeface="宋体" panose="02010600030101010101" pitchFamily="2" charset="-122"/>
                <a:ea typeface="宋体" panose="02010600030101010101" pitchFamily="2" charset="-122"/>
                <a:sym typeface="Wingdings" panose="05000000000000000000" pitchFamily="2" charset="2"/>
              </a:rPr>
              <a:t>（</a:t>
            </a:r>
            <a:r>
              <a:rPr lang="en-US" altLang="x-none" sz="3600" dirty="0">
                <a:solidFill>
                  <a:srgbClr val="A50021"/>
                </a:solidFill>
                <a:latin typeface="宋体" panose="02010600030101010101" pitchFamily="2" charset="-122"/>
                <a:ea typeface="宋体" panose="02010600030101010101" pitchFamily="2" charset="-122"/>
                <a:sym typeface="Wingdings" panose="05000000000000000000" pitchFamily="2" charset="2"/>
              </a:rPr>
              <a:t>Patch 2</a:t>
            </a:r>
            <a:r>
              <a:rPr lang="zh-CN" altLang="en-US" sz="3600" dirty="0">
                <a:solidFill>
                  <a:srgbClr val="A50021"/>
                </a:solidFill>
                <a:latin typeface="宋体" panose="02010600030101010101" pitchFamily="2" charset="-122"/>
                <a:ea typeface="宋体" panose="02010600030101010101" pitchFamily="2" charset="-122"/>
                <a:sym typeface="Wingdings" panose="05000000000000000000" pitchFamily="2" charset="2"/>
              </a:rPr>
              <a:t>）</a:t>
            </a:r>
            <a:endParaRPr lang="zh-CN" altLang="en-US" sz="3600" dirty="0">
              <a:solidFill>
                <a:srgbClr val="A50021"/>
              </a:solidFill>
              <a:latin typeface="宋体" panose="02010600030101010101" pitchFamily="2" charset="-122"/>
              <a:ea typeface="宋体" panose="02010600030101010101" pitchFamily="2" charset="-122"/>
              <a:sym typeface="Wingdings" panose="05000000000000000000" pitchFamily="2" charset="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119812"/>
                                        </p:tgtEl>
                                        <p:attrNameLst>
                                          <p:attrName>style.visibility</p:attrName>
                                        </p:attrNameLst>
                                      </p:cBhvr>
                                      <p:to>
                                        <p:strVal val="visible"/>
                                      </p:to>
                                    </p:set>
                                    <p:animEffect transition="in" filter="checkerboard(across)">
                                      <p:cBhvr>
                                        <p:cTn id="7" dur="500"/>
                                        <p:tgtEl>
                                          <p:spTgt spid="1198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2"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Rectangle 3"/>
          <p:cNvSpPr txBox="1"/>
          <p:nvPr/>
        </p:nvSpPr>
        <p:spPr>
          <a:xfrm>
            <a:off x="609600" y="1371600"/>
            <a:ext cx="8001000" cy="439738"/>
          </a:xfrm>
          <a:prstGeom prst="rect">
            <a:avLst/>
          </a:prstGeom>
          <a:noFill/>
          <a:ln w="9525">
            <a:noFill/>
          </a:ln>
        </p:spPr>
        <p:txBody>
          <a:bodyPr anchor="t"/>
          <a:lstStyle/>
          <a:p>
            <a:pPr lvl="0" indent="0" eaLnBrk="0" hangingPunct="0">
              <a:buFont typeface="Wingdings" panose="05000000000000000000" pitchFamily="2" charset="2"/>
              <a:buChar char="p"/>
            </a:pPr>
            <a:r>
              <a:rPr lang="zh-CN" altLang="en-US" sz="2800" dirty="0">
                <a:solidFill>
                  <a:srgbClr val="3333CC"/>
                </a:solidFill>
                <a:latin typeface="宋体" panose="02010600030101010101" pitchFamily="2" charset="-122"/>
                <a:ea typeface="黑体" panose="02010609060101010101" pitchFamily="1" charset="-122"/>
              </a:rPr>
              <a:t>（</a:t>
            </a:r>
            <a:r>
              <a:rPr lang="en-US" altLang="x-none" sz="2800" dirty="0">
                <a:solidFill>
                  <a:srgbClr val="3333CC"/>
                </a:solidFill>
                <a:latin typeface="宋体" panose="02010600030101010101" pitchFamily="2" charset="-122"/>
                <a:ea typeface="黑体" panose="02010609060101010101" pitchFamily="1" charset="-122"/>
              </a:rPr>
              <a:t>S</a:t>
            </a:r>
            <a:r>
              <a:rPr lang="zh-CN" altLang="en-US" sz="2800" dirty="0">
                <a:solidFill>
                  <a:srgbClr val="3333CC"/>
                </a:solidFill>
                <a:latin typeface="宋体" panose="02010600030101010101" pitchFamily="2" charset="-122"/>
                <a:ea typeface="黑体" panose="02010609060101010101" pitchFamily="1" charset="-122"/>
              </a:rPr>
              <a:t>，</a:t>
            </a:r>
            <a:r>
              <a:rPr lang="en-US" altLang="x-none" sz="2800" dirty="0">
                <a:solidFill>
                  <a:srgbClr val="3333CC"/>
                </a:solidFill>
                <a:latin typeface="宋体" panose="02010600030101010101" pitchFamily="2" charset="-122"/>
                <a:ea typeface="黑体" panose="02010609060101010101" pitchFamily="1" charset="-122"/>
              </a:rPr>
              <a:t>U</a:t>
            </a:r>
            <a:r>
              <a:rPr lang="zh-CN" altLang="en-US" sz="2800" dirty="0">
                <a:solidFill>
                  <a:srgbClr val="3333CC"/>
                </a:solidFill>
                <a:latin typeface="宋体" panose="02010600030101010101" pitchFamily="2" charset="-122"/>
                <a:ea typeface="黑体" panose="02010609060101010101" pitchFamily="1" charset="-122"/>
              </a:rPr>
              <a:t>，</a:t>
            </a:r>
            <a:r>
              <a:rPr lang="en-US" altLang="x-none" sz="2800" dirty="0">
                <a:solidFill>
                  <a:srgbClr val="3333CC"/>
                </a:solidFill>
                <a:latin typeface="宋体" panose="02010600030101010101" pitchFamily="2" charset="-122"/>
                <a:ea typeface="黑体" panose="02010609060101010101" pitchFamily="1" charset="-122"/>
              </a:rPr>
              <a:t>X</a:t>
            </a:r>
            <a:r>
              <a:rPr lang="zh-CN" altLang="en-US" sz="2800" dirty="0">
                <a:solidFill>
                  <a:srgbClr val="3333CC"/>
                </a:solidFill>
                <a:latin typeface="宋体" panose="02010600030101010101" pitchFamily="2" charset="-122"/>
                <a:ea typeface="黑体" panose="02010609060101010101" pitchFamily="1" charset="-122"/>
              </a:rPr>
              <a:t>）加锁协议</a:t>
            </a:r>
            <a:endParaRPr lang="zh-CN" altLang="en-US" sz="2800" dirty="0">
              <a:solidFill>
                <a:srgbClr val="3333CC"/>
              </a:solidFill>
              <a:latin typeface="宋体" panose="02010600030101010101" pitchFamily="2" charset="-122"/>
              <a:ea typeface="黑体" panose="02010609060101010101" pitchFamily="1" charset="-122"/>
            </a:endParaRPr>
          </a:p>
        </p:txBody>
      </p:sp>
      <p:sp>
        <p:nvSpPr>
          <p:cNvPr id="120835" name="Rectangle 4"/>
          <p:cNvSpPr txBox="1"/>
          <p:nvPr/>
        </p:nvSpPr>
        <p:spPr>
          <a:xfrm>
            <a:off x="682625" y="1912938"/>
            <a:ext cx="7912100" cy="4275137"/>
          </a:xfrm>
          <a:prstGeom prst="rect">
            <a:avLst/>
          </a:prstGeom>
          <a:noFill/>
          <a:ln w="9525">
            <a:noFill/>
          </a:ln>
        </p:spPr>
        <p:txBody>
          <a:bodyPr anchor="t"/>
          <a:lstStyle/>
          <a:p>
            <a:pPr marL="342900" lvl="0" indent="-342900" eaLnBrk="0" hangingPunct="0">
              <a:lnSpc>
                <a:spcPct val="114000"/>
              </a:lnSpc>
              <a:buClr>
                <a:srgbClr val="0033CC"/>
              </a:buClr>
              <a:buSzPct val="80000"/>
              <a:buFont typeface="Wingdings" panose="05000000000000000000" pitchFamily="2" charset="2"/>
              <a:buChar char="u"/>
            </a:pPr>
            <a:r>
              <a:rPr lang="zh-CN" altLang="en-US" sz="2400" u="sng" dirty="0">
                <a:solidFill>
                  <a:srgbClr val="A50021"/>
                </a:solidFill>
                <a:latin typeface="华文楷体" panose="02010600040101010101" pitchFamily="2" charset="-122"/>
                <a:ea typeface="宋体" panose="02010600030101010101" pitchFamily="2" charset="-122"/>
              </a:rPr>
              <a:t>（</a:t>
            </a:r>
            <a:r>
              <a:rPr lang="en-US" altLang="x-none" sz="2400" u="sng" dirty="0">
                <a:solidFill>
                  <a:srgbClr val="A50021"/>
                </a:solidFill>
                <a:latin typeface="华文楷体" panose="02010600040101010101" pitchFamily="2" charset="-122"/>
                <a:ea typeface="宋体" panose="02010600030101010101" pitchFamily="2" charset="-122"/>
              </a:rPr>
              <a:t>S</a:t>
            </a:r>
            <a:r>
              <a:rPr lang="zh-CN" altLang="en-US" sz="2400" u="sng" dirty="0">
                <a:solidFill>
                  <a:srgbClr val="A50021"/>
                </a:solidFill>
                <a:latin typeface="华文楷体" panose="02010600040101010101" pitchFamily="2" charset="-122"/>
                <a:ea typeface="宋体" panose="02010600030101010101" pitchFamily="2" charset="-122"/>
              </a:rPr>
              <a:t>，</a:t>
            </a:r>
            <a:r>
              <a:rPr lang="en-US" altLang="x-none" sz="2400" u="sng" dirty="0">
                <a:solidFill>
                  <a:srgbClr val="A50021"/>
                </a:solidFill>
                <a:latin typeface="华文楷体" panose="02010600040101010101" pitchFamily="2" charset="-122"/>
                <a:ea typeface="宋体" panose="02010600030101010101" pitchFamily="2" charset="-122"/>
              </a:rPr>
              <a:t>U</a:t>
            </a:r>
            <a:r>
              <a:rPr lang="zh-CN" altLang="en-US" sz="2400" u="sng" dirty="0">
                <a:solidFill>
                  <a:srgbClr val="A50021"/>
                </a:solidFill>
                <a:latin typeface="华文楷体" panose="02010600040101010101" pitchFamily="2" charset="-122"/>
                <a:ea typeface="宋体" panose="02010600030101010101" pitchFamily="2" charset="-122"/>
              </a:rPr>
              <a:t>，</a:t>
            </a:r>
            <a:r>
              <a:rPr lang="en-US" altLang="x-none" sz="2400" u="sng" dirty="0">
                <a:solidFill>
                  <a:srgbClr val="A50021"/>
                </a:solidFill>
                <a:latin typeface="华文楷体" panose="02010600040101010101" pitchFamily="2" charset="-122"/>
                <a:ea typeface="宋体" panose="02010600030101010101" pitchFamily="2" charset="-122"/>
              </a:rPr>
              <a:t>X</a:t>
            </a:r>
            <a:r>
              <a:rPr lang="zh-CN" altLang="en-US" sz="2400" u="sng" dirty="0">
                <a:solidFill>
                  <a:srgbClr val="A50021"/>
                </a:solidFill>
                <a:latin typeface="华文楷体" panose="02010600040101010101" pitchFamily="2" charset="-122"/>
                <a:ea typeface="宋体" panose="02010600030101010101" pitchFamily="2" charset="-122"/>
              </a:rPr>
              <a:t>）协议：</a:t>
            </a:r>
            <a:r>
              <a:rPr lang="zh-CN" altLang="en-US" sz="2200" dirty="0">
                <a:latin typeface="华文楷体" panose="02010600040101010101" pitchFamily="2" charset="-122"/>
                <a:ea typeface="宋体" panose="02010600030101010101" pitchFamily="2" charset="-122"/>
                <a:sym typeface="Wingdings" panose="05000000000000000000" pitchFamily="2" charset="2"/>
              </a:rPr>
              <a:t>该加锁协议中，除</a:t>
            </a:r>
            <a:r>
              <a:rPr lang="en-US" altLang="x-none" sz="2200" dirty="0">
                <a:latin typeface="华文楷体" panose="02010600040101010101" pitchFamily="2" charset="-122"/>
                <a:ea typeface="宋体" panose="02010600030101010101" pitchFamily="2" charset="-122"/>
                <a:sym typeface="Wingdings" panose="05000000000000000000" pitchFamily="2" charset="2"/>
              </a:rPr>
              <a:t>S</a:t>
            </a:r>
            <a:r>
              <a:rPr lang="zh-CN" altLang="en-US" sz="2200" dirty="0">
                <a:latin typeface="华文楷体" panose="02010600040101010101" pitchFamily="2" charset="-122"/>
                <a:ea typeface="宋体" panose="02010600030101010101" pitchFamily="2" charset="-122"/>
                <a:sym typeface="Wingdings" panose="05000000000000000000" pitchFamily="2" charset="2"/>
              </a:rPr>
              <a:t>，</a:t>
            </a:r>
            <a:r>
              <a:rPr lang="en-US" altLang="x-none" sz="2200" dirty="0">
                <a:latin typeface="华文楷体" panose="02010600040101010101" pitchFamily="2" charset="-122"/>
                <a:ea typeface="宋体" panose="02010600030101010101" pitchFamily="2" charset="-122"/>
                <a:sym typeface="Wingdings" panose="05000000000000000000" pitchFamily="2" charset="2"/>
              </a:rPr>
              <a:t>X</a:t>
            </a:r>
            <a:r>
              <a:rPr lang="zh-CN" altLang="en-US" sz="2200" dirty="0">
                <a:latin typeface="华文楷体" panose="02010600040101010101" pitchFamily="2" charset="-122"/>
                <a:ea typeface="宋体" panose="02010600030101010101" pitchFamily="2" charset="-122"/>
                <a:sym typeface="Wingdings" panose="05000000000000000000" pitchFamily="2" charset="2"/>
              </a:rPr>
              <a:t>两种锁外，又增加了</a:t>
            </a:r>
            <a:r>
              <a:rPr lang="en-US" altLang="x-none" sz="2200" dirty="0">
                <a:latin typeface="华文楷体" panose="02010600040101010101" pitchFamily="2" charset="-122"/>
                <a:ea typeface="宋体" panose="02010600030101010101" pitchFamily="2" charset="-122"/>
                <a:sym typeface="Wingdings" panose="05000000000000000000" pitchFamily="2" charset="2"/>
              </a:rPr>
              <a:t>U</a:t>
            </a:r>
            <a:r>
              <a:rPr lang="zh-CN" altLang="en-US" sz="2200" dirty="0">
                <a:latin typeface="华文楷体" panose="02010600040101010101" pitchFamily="2" charset="-122"/>
                <a:ea typeface="宋体" panose="02010600030101010101" pitchFamily="2" charset="-122"/>
                <a:sym typeface="Wingdings" panose="05000000000000000000" pitchFamily="2" charset="2"/>
              </a:rPr>
              <a:t>锁（</a:t>
            </a:r>
            <a:r>
              <a:rPr lang="en-US" altLang="x-none" sz="2200" dirty="0">
                <a:latin typeface="华文楷体" panose="02010600040101010101" pitchFamily="2" charset="-122"/>
                <a:ea typeface="宋体" panose="02010600030101010101" pitchFamily="2" charset="-122"/>
                <a:sym typeface="Wingdings" panose="05000000000000000000" pitchFamily="2" charset="2"/>
              </a:rPr>
              <a:t>Update lock</a:t>
            </a:r>
            <a:r>
              <a:rPr lang="zh-CN" altLang="en-US" sz="2200" dirty="0">
                <a:latin typeface="华文楷体" panose="02010600040101010101" pitchFamily="2" charset="-122"/>
                <a:ea typeface="宋体" panose="02010600030101010101" pitchFamily="2" charset="-122"/>
                <a:sym typeface="Wingdings" panose="05000000000000000000" pitchFamily="2" charset="2"/>
              </a:rPr>
              <a:t>）。</a:t>
            </a:r>
            <a:endParaRPr lang="zh-CN" altLang="en-US" sz="2200" dirty="0">
              <a:latin typeface="华文楷体" panose="02010600040101010101" pitchFamily="2" charset="-122"/>
              <a:ea typeface="宋体" panose="02010600030101010101" pitchFamily="2" charset="-122"/>
              <a:sym typeface="Wingdings" panose="05000000000000000000" pitchFamily="2" charset="2"/>
            </a:endParaRPr>
          </a:p>
          <a:p>
            <a:pPr marL="342900" lvl="0" indent="-342900" eaLnBrk="0" hangingPunct="0">
              <a:lnSpc>
                <a:spcPct val="114000"/>
              </a:lnSpc>
              <a:spcBef>
                <a:spcPts val="600"/>
              </a:spcBef>
              <a:buClr>
                <a:srgbClr val="0033CC"/>
              </a:buClr>
              <a:buSzPct val="80000"/>
              <a:buFont typeface="Wingdings" panose="05000000000000000000" pitchFamily="2" charset="2"/>
              <a:buChar char="u"/>
            </a:pPr>
            <a:r>
              <a:rPr lang="zh-CN" altLang="en-US" sz="2400" u="sng" dirty="0">
                <a:solidFill>
                  <a:srgbClr val="A50021"/>
                </a:solidFill>
                <a:latin typeface="华文楷体" panose="02010600040101010101" pitchFamily="2" charset="-122"/>
                <a:ea typeface="宋体" panose="02010600030101010101" pitchFamily="2" charset="-122"/>
                <a:sym typeface="Wingdings" panose="05000000000000000000" pitchFamily="2" charset="2"/>
              </a:rPr>
              <a:t>增设</a:t>
            </a:r>
            <a:r>
              <a:rPr lang="en-US" altLang="x-none" sz="2400" u="sng" dirty="0">
                <a:solidFill>
                  <a:srgbClr val="A50021"/>
                </a:solidFill>
                <a:latin typeface="华文楷体" panose="02010600040101010101" pitchFamily="2" charset="-122"/>
                <a:ea typeface="宋体" panose="02010600030101010101" pitchFamily="2" charset="-122"/>
                <a:sym typeface="Wingdings" panose="05000000000000000000" pitchFamily="2" charset="2"/>
              </a:rPr>
              <a:t>U</a:t>
            </a:r>
            <a:r>
              <a:rPr lang="zh-CN" altLang="en-US" sz="2400" u="sng" dirty="0">
                <a:solidFill>
                  <a:srgbClr val="A50021"/>
                </a:solidFill>
                <a:latin typeface="华文楷体" panose="02010600040101010101" pitchFamily="2" charset="-122"/>
                <a:ea typeface="宋体" panose="02010600030101010101" pitchFamily="2" charset="-122"/>
                <a:sym typeface="Wingdings" panose="05000000000000000000" pitchFamily="2" charset="2"/>
              </a:rPr>
              <a:t>锁原因：</a:t>
            </a:r>
            <a:r>
              <a:rPr lang="zh-CN" altLang="en-US" sz="2200" dirty="0">
                <a:latin typeface="华文楷体" panose="02010600040101010101" pitchFamily="2" charset="-122"/>
                <a:ea typeface="宋体" panose="02010600030101010101" pitchFamily="2" charset="-122"/>
                <a:sym typeface="Wingdings" panose="05000000000000000000" pitchFamily="2" charset="2"/>
              </a:rPr>
              <a:t>事务在做更新时，一般分两个步骤：先读后写。即先读老内容，在内存中修改后；然后再写入修改后的内容。此过程中，除最后的写入阶段外，为保证需更新的数据对象仍可被其它事务访问，而新增此更新锁。</a:t>
            </a:r>
            <a:endParaRPr lang="zh-CN" altLang="en-US" sz="2200" dirty="0">
              <a:latin typeface="华文楷体" panose="02010600040101010101" pitchFamily="2" charset="-122"/>
              <a:ea typeface="宋体" panose="02010600030101010101" pitchFamily="2" charset="-122"/>
              <a:sym typeface="Wingdings" panose="05000000000000000000" pitchFamily="2" charset="2"/>
            </a:endParaRPr>
          </a:p>
          <a:p>
            <a:pPr marL="342900" lvl="0" indent="-342900" eaLnBrk="0" hangingPunct="0">
              <a:lnSpc>
                <a:spcPct val="114000"/>
              </a:lnSpc>
              <a:spcBef>
                <a:spcPts val="600"/>
              </a:spcBef>
              <a:buClr>
                <a:srgbClr val="0033CC"/>
              </a:buClr>
              <a:buSzPct val="80000"/>
              <a:buFont typeface="Wingdings" panose="05000000000000000000" pitchFamily="2" charset="2"/>
              <a:buChar char="u"/>
            </a:pPr>
            <a:r>
              <a:rPr lang="en-US" altLang="x-none" sz="2400" u="sng" dirty="0">
                <a:solidFill>
                  <a:srgbClr val="A50021"/>
                </a:solidFill>
                <a:latin typeface="华文楷体" panose="02010600040101010101" pitchFamily="2" charset="-122"/>
                <a:ea typeface="宋体" panose="02010600030101010101" pitchFamily="2" charset="-122"/>
                <a:sym typeface="Wingdings" panose="05000000000000000000" pitchFamily="2" charset="2"/>
              </a:rPr>
              <a:t>U</a:t>
            </a:r>
            <a:r>
              <a:rPr lang="zh-CN" altLang="en-US" sz="2400" u="sng" dirty="0">
                <a:solidFill>
                  <a:srgbClr val="A50021"/>
                </a:solidFill>
                <a:latin typeface="华文楷体" panose="02010600040101010101" pitchFamily="2" charset="-122"/>
                <a:ea typeface="宋体" panose="02010600030101010101" pitchFamily="2" charset="-122"/>
                <a:sym typeface="Wingdings" panose="05000000000000000000" pitchFamily="2" charset="2"/>
              </a:rPr>
              <a:t>锁的使用及作用：</a:t>
            </a:r>
            <a:r>
              <a:rPr lang="zh-CN" altLang="en-US" sz="2200" dirty="0">
                <a:latin typeface="华文楷体" panose="02010600040101010101" pitchFamily="2" charset="-122"/>
                <a:ea typeface="宋体" panose="02010600030101010101" pitchFamily="2" charset="-122"/>
                <a:sym typeface="Wingdings" panose="05000000000000000000" pitchFamily="2" charset="2"/>
              </a:rPr>
              <a:t>事务要更新数据对象时，先申请该对象的</a:t>
            </a:r>
            <a:r>
              <a:rPr lang="en-US" altLang="x-none" sz="2200" dirty="0">
                <a:latin typeface="华文楷体" panose="02010600040101010101" pitchFamily="2" charset="-122"/>
                <a:ea typeface="宋体" panose="02010600030101010101" pitchFamily="2" charset="-122"/>
                <a:sym typeface="Wingdings" panose="05000000000000000000" pitchFamily="2" charset="2"/>
              </a:rPr>
              <a:t>U</a:t>
            </a:r>
            <a:r>
              <a:rPr lang="zh-CN" altLang="en-US" sz="2200" dirty="0">
                <a:latin typeface="华文楷体" panose="02010600040101010101" pitchFamily="2" charset="-122"/>
                <a:ea typeface="宋体" panose="02010600030101010101" pitchFamily="2" charset="-122"/>
                <a:sym typeface="Wingdings" panose="05000000000000000000" pitchFamily="2" charset="2"/>
              </a:rPr>
              <a:t>锁。数据对象加了</a:t>
            </a:r>
            <a:r>
              <a:rPr lang="en-US" altLang="x-none" sz="2200" dirty="0">
                <a:latin typeface="华文楷体" panose="02010600040101010101" pitchFamily="2" charset="-122"/>
                <a:ea typeface="宋体" panose="02010600030101010101" pitchFamily="2" charset="-122"/>
                <a:sym typeface="Wingdings" panose="05000000000000000000" pitchFamily="2" charset="2"/>
              </a:rPr>
              <a:t>U</a:t>
            </a:r>
            <a:r>
              <a:rPr lang="zh-CN" altLang="en-US" sz="2200" dirty="0">
                <a:latin typeface="华文楷体" panose="02010600040101010101" pitchFamily="2" charset="-122"/>
                <a:ea typeface="宋体" panose="02010600030101010101" pitchFamily="2" charset="-122"/>
                <a:sym typeface="Wingdings" panose="05000000000000000000" pitchFamily="2" charset="2"/>
              </a:rPr>
              <a:t>锁后，仍允许其他事务对它加</a:t>
            </a:r>
            <a:r>
              <a:rPr lang="en-US" altLang="x-none" sz="2200" dirty="0">
                <a:latin typeface="华文楷体" panose="02010600040101010101" pitchFamily="2" charset="-122"/>
                <a:ea typeface="宋体" panose="02010600030101010101" pitchFamily="2" charset="-122"/>
                <a:sym typeface="Wingdings" panose="05000000000000000000" pitchFamily="2" charset="2"/>
              </a:rPr>
              <a:t>S</a:t>
            </a:r>
            <a:r>
              <a:rPr lang="zh-CN" altLang="en-US" sz="2200" dirty="0">
                <a:latin typeface="华文楷体" panose="02010600040101010101" pitchFamily="2" charset="-122"/>
                <a:ea typeface="宋体" panose="02010600030101010101" pitchFamily="2" charset="-122"/>
                <a:sym typeface="Wingdings" panose="05000000000000000000" pitchFamily="2" charset="2"/>
              </a:rPr>
              <a:t>锁。在最后写入时，事务再申请将</a:t>
            </a:r>
            <a:r>
              <a:rPr lang="en-US" altLang="x-none" sz="2200" dirty="0">
                <a:latin typeface="华文楷体" panose="02010600040101010101" pitchFamily="2" charset="-122"/>
                <a:ea typeface="宋体" panose="02010600030101010101" pitchFamily="2" charset="-122"/>
                <a:sym typeface="Wingdings" panose="05000000000000000000" pitchFamily="2" charset="2"/>
              </a:rPr>
              <a:t>U</a:t>
            </a:r>
            <a:r>
              <a:rPr lang="zh-CN" altLang="en-US" sz="2200" dirty="0">
                <a:latin typeface="华文楷体" panose="02010600040101010101" pitchFamily="2" charset="-122"/>
                <a:ea typeface="宋体" panose="02010600030101010101" pitchFamily="2" charset="-122"/>
                <a:sym typeface="Wingdings" panose="05000000000000000000" pitchFamily="2" charset="2"/>
              </a:rPr>
              <a:t>锁升级为</a:t>
            </a:r>
            <a:r>
              <a:rPr lang="en-US" altLang="x-none" sz="2200" dirty="0">
                <a:latin typeface="华文楷体" panose="02010600040101010101" pitchFamily="2" charset="-122"/>
                <a:ea typeface="宋体" panose="02010600030101010101" pitchFamily="2" charset="-122"/>
                <a:sym typeface="Wingdings" panose="05000000000000000000" pitchFamily="2" charset="2"/>
              </a:rPr>
              <a:t>X</a:t>
            </a:r>
            <a:r>
              <a:rPr lang="zh-CN" altLang="en-US" sz="2200" dirty="0">
                <a:latin typeface="华文楷体" panose="02010600040101010101" pitchFamily="2" charset="-122"/>
                <a:ea typeface="宋体" panose="02010600030101010101" pitchFamily="2" charset="-122"/>
                <a:sym typeface="Wingdings" panose="05000000000000000000" pitchFamily="2" charset="2"/>
              </a:rPr>
              <a:t>锁。由于不必在事务执行的全过程中加</a:t>
            </a:r>
            <a:r>
              <a:rPr lang="en-US" altLang="x-none" sz="2200" dirty="0">
                <a:latin typeface="华文楷体" panose="02010600040101010101" pitchFamily="2" charset="-122"/>
                <a:ea typeface="宋体" panose="02010600030101010101" pitchFamily="2" charset="-122"/>
                <a:sym typeface="Wingdings" panose="05000000000000000000" pitchFamily="2" charset="2"/>
              </a:rPr>
              <a:t>X</a:t>
            </a:r>
            <a:r>
              <a:rPr lang="zh-CN" altLang="en-US" sz="2200" dirty="0">
                <a:latin typeface="华文楷体" panose="02010600040101010101" pitchFamily="2" charset="-122"/>
                <a:ea typeface="宋体" panose="02010600030101010101" pitchFamily="2" charset="-122"/>
                <a:sym typeface="Wingdings" panose="05000000000000000000" pitchFamily="2" charset="2"/>
              </a:rPr>
              <a:t>锁，可进一步提高并发度。</a:t>
            </a:r>
            <a:endParaRPr lang="zh-CN" altLang="en-US" sz="2200" dirty="0">
              <a:latin typeface="华文楷体" panose="02010600040101010101" pitchFamily="2" charset="-122"/>
              <a:ea typeface="宋体" panose="02010600030101010101" pitchFamily="2" charset="-122"/>
              <a:sym typeface="Wingdings" panose="05000000000000000000" pitchFamily="2" charset="2"/>
            </a:endParaRPr>
          </a:p>
        </p:txBody>
      </p:sp>
      <p:sp>
        <p:nvSpPr>
          <p:cNvPr id="116739"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600" dirty="0">
                <a:solidFill>
                  <a:srgbClr val="0033CC"/>
                </a:solidFill>
                <a:latin typeface="Arial" panose="020B0604020202020204" pitchFamily="34" charset="0"/>
                <a:ea typeface="黑体" panose="02010609060101010101" pitchFamily="1" charset="-122"/>
              </a:rPr>
              <a:t>五、数据库系统中的并发</a:t>
            </a:r>
            <a:endParaRPr lang="zh-CN" altLang="en-US" sz="3600" dirty="0">
              <a:solidFill>
                <a:srgbClr val="0033CC"/>
              </a:solidFill>
              <a:latin typeface="Arial" panose="020B0604020202020204" pitchFamily="34" charset="0"/>
              <a:ea typeface="黑体" panose="02010609060101010101" pitchFamily="1" charset="-122"/>
            </a:endParaRPr>
          </a:p>
        </p:txBody>
      </p:sp>
      <p:sp>
        <p:nvSpPr>
          <p:cNvPr id="116740" name="Rectangle 3"/>
          <p:cNvSpPr txBox="1"/>
          <p:nvPr/>
        </p:nvSpPr>
        <p:spPr>
          <a:xfrm>
            <a:off x="517525" y="8382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4</a:t>
            </a:r>
            <a:r>
              <a:rPr lang="zh-CN" altLang="en-US" sz="2800" dirty="0">
                <a:solidFill>
                  <a:srgbClr val="FF0000"/>
                </a:solidFill>
                <a:latin typeface="黑体" panose="02010609060101010101" pitchFamily="1" charset="-122"/>
                <a:ea typeface="黑体" panose="02010609060101010101" pitchFamily="1" charset="-122"/>
              </a:rPr>
              <a:t>、基于锁的并发控制协议</a:t>
            </a:r>
            <a:endParaRPr lang="en-US" altLang="x-none" sz="2800" dirty="0">
              <a:solidFill>
                <a:srgbClr val="FF0000"/>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0835">
                                            <p:txEl>
                                              <p:pRg st="0" end="0"/>
                                            </p:txEl>
                                          </p:spTgt>
                                        </p:tgtEl>
                                        <p:attrNameLst>
                                          <p:attrName>style.visibility</p:attrName>
                                        </p:attrNameLst>
                                      </p:cBhvr>
                                      <p:to>
                                        <p:strVal val="visible"/>
                                      </p:to>
                                    </p:set>
                                    <p:animEffect transition="in" filter="dissolve">
                                      <p:cBhvr>
                                        <p:cTn id="7" dur="500"/>
                                        <p:tgtEl>
                                          <p:spTgt spid="1208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0835">
                                            <p:txEl>
                                              <p:pRg st="1" end="1"/>
                                            </p:txEl>
                                          </p:spTgt>
                                        </p:tgtEl>
                                        <p:attrNameLst>
                                          <p:attrName>style.visibility</p:attrName>
                                        </p:attrNameLst>
                                      </p:cBhvr>
                                      <p:to>
                                        <p:strVal val="visible"/>
                                      </p:to>
                                    </p:set>
                                    <p:animEffect transition="in" filter="dissolve">
                                      <p:cBhvr>
                                        <p:cTn id="12" dur="500"/>
                                        <p:tgtEl>
                                          <p:spTgt spid="1208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20835">
                                            <p:txEl>
                                              <p:pRg st="2" end="2"/>
                                            </p:txEl>
                                          </p:spTgt>
                                        </p:tgtEl>
                                        <p:attrNameLst>
                                          <p:attrName>style.visibility</p:attrName>
                                        </p:attrNameLst>
                                      </p:cBhvr>
                                      <p:to>
                                        <p:strVal val="visible"/>
                                      </p:to>
                                    </p:set>
                                    <p:animEffect transition="in" filter="dissolve">
                                      <p:cBhvr>
                                        <p:cTn id="17" dur="500"/>
                                        <p:tgtEl>
                                          <p:spTgt spid="12083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5" grpId="0" build="p"/>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600" dirty="0">
                <a:solidFill>
                  <a:srgbClr val="0033CC"/>
                </a:solidFill>
                <a:latin typeface="Arial" panose="020B0604020202020204" pitchFamily="34" charset="0"/>
                <a:ea typeface="黑体" panose="02010609060101010101" pitchFamily="1" charset="-122"/>
              </a:rPr>
              <a:t>五、数据库系统中的并发</a:t>
            </a:r>
            <a:endParaRPr lang="zh-CN" altLang="en-US" sz="3600" dirty="0">
              <a:solidFill>
                <a:srgbClr val="0033CC"/>
              </a:solidFill>
              <a:latin typeface="Arial" panose="020B0604020202020204" pitchFamily="34" charset="0"/>
              <a:ea typeface="黑体" panose="02010609060101010101" pitchFamily="1" charset="-122"/>
            </a:endParaRPr>
          </a:p>
        </p:txBody>
      </p:sp>
      <p:sp>
        <p:nvSpPr>
          <p:cNvPr id="117762" name="Rectangle 3"/>
          <p:cNvSpPr txBox="1"/>
          <p:nvPr/>
        </p:nvSpPr>
        <p:spPr>
          <a:xfrm>
            <a:off x="517525" y="8382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4</a:t>
            </a:r>
            <a:r>
              <a:rPr lang="zh-CN" altLang="en-US" sz="2800" dirty="0">
                <a:solidFill>
                  <a:srgbClr val="FF0000"/>
                </a:solidFill>
                <a:latin typeface="黑体" panose="02010609060101010101" pitchFamily="1" charset="-122"/>
                <a:ea typeface="黑体" panose="02010609060101010101" pitchFamily="1" charset="-122"/>
              </a:rPr>
              <a:t>、基于锁的并发控制协议</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117763" name="Text Box 3"/>
          <p:cNvSpPr txBox="1"/>
          <p:nvPr/>
        </p:nvSpPr>
        <p:spPr>
          <a:xfrm>
            <a:off x="887413" y="1509713"/>
            <a:ext cx="7345362" cy="585787"/>
          </a:xfrm>
          <a:prstGeom prst="rect">
            <a:avLst/>
          </a:prstGeom>
          <a:noFill/>
          <a:ln w="9525">
            <a:noFill/>
          </a:ln>
        </p:spPr>
        <p:txBody>
          <a:bodyPr anchor="t">
            <a:spAutoFit/>
          </a:bodyPr>
          <a:lstStyle/>
          <a:p>
            <a:pPr lvl="0" indent="0" algn="ctr">
              <a:spcBef>
                <a:spcPct val="50000"/>
              </a:spcBef>
            </a:pPr>
            <a:r>
              <a:rPr lang="zh-CN" altLang="en-US" sz="3200" dirty="0">
                <a:solidFill>
                  <a:srgbClr val="A50021"/>
                </a:solidFill>
                <a:latin typeface="宋体" panose="02010600030101010101" pitchFamily="2" charset="-122"/>
                <a:ea typeface="宋体" panose="02010600030101010101" pitchFamily="2" charset="-122"/>
                <a:sym typeface="Wingdings" panose="05000000000000000000" pitchFamily="2" charset="2"/>
              </a:rPr>
              <a:t>（</a:t>
            </a:r>
            <a:r>
              <a:rPr lang="en-US" altLang="x-none" sz="3200" dirty="0">
                <a:solidFill>
                  <a:srgbClr val="A50021"/>
                </a:solidFill>
                <a:latin typeface="宋体" panose="02010600030101010101" pitchFamily="2" charset="-122"/>
                <a:ea typeface="宋体" panose="02010600030101010101" pitchFamily="2" charset="-122"/>
                <a:sym typeface="Wingdings" panose="05000000000000000000" pitchFamily="2" charset="2"/>
              </a:rPr>
              <a:t>S</a:t>
            </a:r>
            <a:r>
              <a:rPr lang="zh-CN" altLang="en-US" sz="3200" dirty="0">
                <a:solidFill>
                  <a:srgbClr val="A50021"/>
                </a:solidFill>
                <a:latin typeface="宋体" panose="02010600030101010101" pitchFamily="2" charset="-122"/>
                <a:ea typeface="宋体" panose="02010600030101010101" pitchFamily="2" charset="-122"/>
                <a:sym typeface="Wingdings" panose="05000000000000000000" pitchFamily="2" charset="2"/>
              </a:rPr>
              <a:t>，</a:t>
            </a:r>
            <a:r>
              <a:rPr lang="en-US" altLang="x-none" sz="3200" dirty="0">
                <a:solidFill>
                  <a:srgbClr val="A50021"/>
                </a:solidFill>
                <a:latin typeface="宋体" panose="02010600030101010101" pitchFamily="2" charset="-122"/>
                <a:ea typeface="宋体" panose="02010600030101010101" pitchFamily="2" charset="-122"/>
                <a:sym typeface="Wingdings" panose="05000000000000000000" pitchFamily="2" charset="2"/>
              </a:rPr>
              <a:t>U</a:t>
            </a:r>
            <a:r>
              <a:rPr lang="zh-CN" altLang="en-US" sz="3200" dirty="0">
                <a:solidFill>
                  <a:srgbClr val="A50021"/>
                </a:solidFill>
                <a:latin typeface="宋体" panose="02010600030101010101" pitchFamily="2" charset="-122"/>
                <a:ea typeface="宋体" panose="02010600030101010101" pitchFamily="2" charset="-122"/>
                <a:sym typeface="Wingdings" panose="05000000000000000000" pitchFamily="2" charset="2"/>
              </a:rPr>
              <a:t>，</a:t>
            </a:r>
            <a:r>
              <a:rPr lang="en-US" altLang="x-none" sz="3200" dirty="0">
                <a:solidFill>
                  <a:srgbClr val="A50021"/>
                </a:solidFill>
                <a:latin typeface="宋体" panose="02010600030101010101" pitchFamily="2" charset="-122"/>
                <a:ea typeface="宋体" panose="02010600030101010101" pitchFamily="2" charset="-122"/>
                <a:sym typeface="Wingdings" panose="05000000000000000000" pitchFamily="2" charset="2"/>
              </a:rPr>
              <a:t>X</a:t>
            </a:r>
            <a:r>
              <a:rPr lang="zh-CN" altLang="en-US" sz="3200" dirty="0">
                <a:solidFill>
                  <a:srgbClr val="A50021"/>
                </a:solidFill>
                <a:latin typeface="宋体" panose="02010600030101010101" pitchFamily="2" charset="-122"/>
                <a:ea typeface="宋体" panose="02010600030101010101" pitchFamily="2" charset="-122"/>
                <a:sym typeface="Wingdings" panose="05000000000000000000" pitchFamily="2" charset="2"/>
              </a:rPr>
              <a:t>）协议的相容矩阵</a:t>
            </a:r>
            <a:endParaRPr lang="zh-CN" altLang="en-US" sz="3200" dirty="0">
              <a:solidFill>
                <a:srgbClr val="A50021"/>
              </a:solidFill>
              <a:latin typeface="宋体" panose="02010600030101010101" pitchFamily="2" charset="-122"/>
              <a:ea typeface="宋体" panose="02010600030101010101" pitchFamily="2" charset="-122"/>
              <a:sym typeface="Wingdings" panose="05000000000000000000" pitchFamily="2" charset="2"/>
            </a:endParaRPr>
          </a:p>
        </p:txBody>
      </p:sp>
      <p:graphicFrame>
        <p:nvGraphicFramePr>
          <p:cNvPr id="121861" name="Object 2"/>
          <p:cNvGraphicFramePr>
            <a:graphicFrameLocks noGrp="1" noChangeAspect="1"/>
          </p:cNvGraphicFramePr>
          <p:nvPr/>
        </p:nvGraphicFramePr>
        <p:xfrm>
          <a:off x="384175" y="2232025"/>
          <a:ext cx="8208963" cy="3816350"/>
        </p:xfrm>
        <a:graphic>
          <a:graphicData uri="http://schemas.openxmlformats.org/presentationml/2006/ole">
            <mc:AlternateContent xmlns:mc="http://schemas.openxmlformats.org/markup-compatibility/2006">
              <mc:Choice xmlns:v="urn:schemas-microsoft-com:vml" Requires="v">
                <p:oleObj spid="_x0000_s27670" name="" r:id="rId1" imgW="2503170" imgH="1485265" progId="Word.Picture.8">
                  <p:embed/>
                </p:oleObj>
              </mc:Choice>
              <mc:Fallback>
                <p:oleObj name="" r:id="rId1" imgW="2503170" imgH="1485265" progId="Word.Picture.8">
                  <p:embed/>
                  <p:pic>
                    <p:nvPicPr>
                      <p:cNvPr id="0" name="图片 3101"/>
                      <p:cNvPicPr/>
                      <p:nvPr/>
                    </p:nvPicPr>
                    <p:blipFill>
                      <a:blip r:embed="rId2"/>
                      <a:stretch>
                        <a:fillRect/>
                      </a:stretch>
                    </p:blipFill>
                    <p:spPr>
                      <a:xfrm>
                        <a:off x="384175" y="2232025"/>
                        <a:ext cx="8208963" cy="381635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218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600" dirty="0">
                <a:solidFill>
                  <a:srgbClr val="0033CC"/>
                </a:solidFill>
                <a:latin typeface="Arial" panose="020B0604020202020204" pitchFamily="34" charset="0"/>
                <a:ea typeface="黑体" panose="02010609060101010101" pitchFamily="1" charset="-122"/>
              </a:rPr>
              <a:t>五、数据库系统中的并发</a:t>
            </a:r>
            <a:endParaRPr lang="zh-CN" altLang="en-US" sz="3600" dirty="0">
              <a:solidFill>
                <a:srgbClr val="0033CC"/>
              </a:solidFill>
              <a:latin typeface="Arial" panose="020B0604020202020204" pitchFamily="34" charset="0"/>
              <a:ea typeface="黑体" panose="02010609060101010101" pitchFamily="1" charset="-122"/>
            </a:endParaRPr>
          </a:p>
        </p:txBody>
      </p:sp>
      <p:sp>
        <p:nvSpPr>
          <p:cNvPr id="118786" name="Rectangle 3"/>
          <p:cNvSpPr txBox="1"/>
          <p:nvPr/>
        </p:nvSpPr>
        <p:spPr>
          <a:xfrm>
            <a:off x="517525" y="8382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4</a:t>
            </a:r>
            <a:r>
              <a:rPr lang="zh-CN" altLang="en-US" sz="2800" dirty="0">
                <a:solidFill>
                  <a:srgbClr val="FF0000"/>
                </a:solidFill>
                <a:latin typeface="黑体" panose="02010609060101010101" pitchFamily="1" charset="-122"/>
                <a:ea typeface="黑体" panose="02010609060101010101" pitchFamily="1" charset="-122"/>
              </a:rPr>
              <a:t>、基于锁的并发控制协议</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118787" name="Rectangle 2"/>
          <p:cNvSpPr txBox="1"/>
          <p:nvPr/>
        </p:nvSpPr>
        <p:spPr>
          <a:xfrm>
            <a:off x="487363" y="1371600"/>
            <a:ext cx="6049962" cy="706438"/>
          </a:xfrm>
          <a:prstGeom prst="rect">
            <a:avLst/>
          </a:prstGeom>
          <a:noFill/>
          <a:ln w="9525">
            <a:noFill/>
          </a:ln>
        </p:spPr>
        <p:txBody>
          <a:bodyPr anchor="t"/>
          <a:lstStyle/>
          <a:p>
            <a:pPr lvl="0" indent="0" eaLnBrk="0" hangingPunct="0">
              <a:buFont typeface="Wingdings" panose="05000000000000000000" pitchFamily="2" charset="2"/>
              <a:buChar char="p"/>
            </a:pPr>
            <a:r>
              <a:rPr lang="zh-CN" altLang="en-US" sz="2800" dirty="0">
                <a:solidFill>
                  <a:srgbClr val="3333CC"/>
                </a:solidFill>
                <a:latin typeface="宋体" panose="02010600030101010101" pitchFamily="2" charset="-122"/>
                <a:ea typeface="黑体" panose="02010609060101010101" pitchFamily="1" charset="-122"/>
                <a:sym typeface="Wingdings" panose="05000000000000000000" pitchFamily="2" charset="2"/>
              </a:rPr>
              <a:t>（</a:t>
            </a:r>
            <a:r>
              <a:rPr lang="en-US" altLang="x-none" sz="2800" dirty="0">
                <a:solidFill>
                  <a:srgbClr val="3333CC"/>
                </a:solidFill>
                <a:latin typeface="宋体" panose="02010600030101010101" pitchFamily="2" charset="-122"/>
                <a:ea typeface="黑体" panose="02010609060101010101" pitchFamily="1" charset="-122"/>
                <a:sym typeface="Wingdings" panose="05000000000000000000" pitchFamily="2" charset="2"/>
              </a:rPr>
              <a:t>S</a:t>
            </a:r>
            <a:r>
              <a:rPr lang="zh-CN" altLang="en-US" sz="2800" dirty="0">
                <a:solidFill>
                  <a:srgbClr val="3333CC"/>
                </a:solidFill>
                <a:latin typeface="宋体" panose="02010600030101010101" pitchFamily="2" charset="-122"/>
                <a:ea typeface="黑体" panose="02010609060101010101" pitchFamily="1" charset="-122"/>
                <a:sym typeface="Wingdings" panose="05000000000000000000" pitchFamily="2" charset="2"/>
              </a:rPr>
              <a:t>，</a:t>
            </a:r>
            <a:r>
              <a:rPr lang="en-US" altLang="x-none" sz="2800" dirty="0">
                <a:solidFill>
                  <a:srgbClr val="3333CC"/>
                </a:solidFill>
                <a:latin typeface="宋体" panose="02010600030101010101" pitchFamily="2" charset="-122"/>
                <a:ea typeface="黑体" panose="02010609060101010101" pitchFamily="1" charset="-122"/>
                <a:sym typeface="Wingdings" panose="05000000000000000000" pitchFamily="2" charset="2"/>
              </a:rPr>
              <a:t>U</a:t>
            </a:r>
            <a:r>
              <a:rPr lang="zh-CN" altLang="en-US" sz="2800" dirty="0">
                <a:solidFill>
                  <a:srgbClr val="3333CC"/>
                </a:solidFill>
                <a:latin typeface="宋体" panose="02010600030101010101" pitchFamily="2" charset="-122"/>
                <a:ea typeface="黑体" panose="02010609060101010101" pitchFamily="1" charset="-122"/>
                <a:sym typeface="Wingdings" panose="05000000000000000000" pitchFamily="2" charset="2"/>
              </a:rPr>
              <a:t>，</a:t>
            </a:r>
            <a:r>
              <a:rPr lang="en-US" altLang="x-none" sz="2800" dirty="0">
                <a:solidFill>
                  <a:srgbClr val="3333CC"/>
                </a:solidFill>
                <a:latin typeface="宋体" panose="02010600030101010101" pitchFamily="2" charset="-122"/>
                <a:ea typeface="黑体" panose="02010609060101010101" pitchFamily="1" charset="-122"/>
                <a:sym typeface="Wingdings" panose="05000000000000000000" pitchFamily="2" charset="2"/>
              </a:rPr>
              <a:t>X</a:t>
            </a:r>
            <a:r>
              <a:rPr lang="zh-CN" altLang="en-US" sz="2800" dirty="0">
                <a:solidFill>
                  <a:srgbClr val="3333CC"/>
                </a:solidFill>
                <a:latin typeface="宋体" panose="02010600030101010101" pitchFamily="2" charset="-122"/>
                <a:ea typeface="黑体" panose="02010609060101010101" pitchFamily="1" charset="-122"/>
                <a:sym typeface="Wingdings" panose="05000000000000000000" pitchFamily="2" charset="2"/>
              </a:rPr>
              <a:t>）协议遵守补丁</a:t>
            </a:r>
            <a:r>
              <a:rPr lang="en-US" altLang="x-none" sz="2800" dirty="0">
                <a:solidFill>
                  <a:srgbClr val="3333CC"/>
                </a:solidFill>
                <a:latin typeface="宋体" panose="02010600030101010101" pitchFamily="2" charset="-122"/>
                <a:ea typeface="黑体" panose="02010609060101010101" pitchFamily="1" charset="-122"/>
                <a:sym typeface="Wingdings" panose="05000000000000000000" pitchFamily="2" charset="2"/>
              </a:rPr>
              <a:t>1</a:t>
            </a:r>
            <a:r>
              <a:rPr lang="zh-CN" altLang="en-US" sz="2800" dirty="0">
                <a:solidFill>
                  <a:srgbClr val="3333CC"/>
                </a:solidFill>
                <a:latin typeface="宋体" panose="02010600030101010101" pitchFamily="2" charset="-122"/>
                <a:ea typeface="黑体" panose="02010609060101010101" pitchFamily="1" charset="-122"/>
                <a:sym typeface="Wingdings" panose="05000000000000000000" pitchFamily="2" charset="2"/>
              </a:rPr>
              <a:t>，</a:t>
            </a:r>
            <a:r>
              <a:rPr lang="en-US" altLang="x-none" sz="2800" dirty="0">
                <a:solidFill>
                  <a:srgbClr val="3333CC"/>
                </a:solidFill>
                <a:latin typeface="宋体" panose="02010600030101010101" pitchFamily="2" charset="-122"/>
                <a:ea typeface="黑体" panose="02010609060101010101" pitchFamily="1" charset="-122"/>
                <a:sym typeface="Wingdings" panose="05000000000000000000" pitchFamily="2" charset="2"/>
              </a:rPr>
              <a:t>2</a:t>
            </a:r>
            <a:endParaRPr lang="en-US" altLang="x-none" sz="2800" dirty="0">
              <a:solidFill>
                <a:srgbClr val="3333CC"/>
              </a:solidFill>
              <a:latin typeface="宋体" panose="02010600030101010101" pitchFamily="2" charset="-122"/>
              <a:ea typeface="黑体" panose="02010609060101010101" pitchFamily="1" charset="-122"/>
              <a:sym typeface="Wingdings" panose="05000000000000000000" pitchFamily="2" charset="2"/>
            </a:endParaRPr>
          </a:p>
        </p:txBody>
      </p:sp>
      <p:sp>
        <p:nvSpPr>
          <p:cNvPr id="118788" name="Rectangle 3"/>
          <p:cNvSpPr txBox="1"/>
          <p:nvPr/>
        </p:nvSpPr>
        <p:spPr>
          <a:xfrm>
            <a:off x="615950" y="1906588"/>
            <a:ext cx="8137525" cy="4067175"/>
          </a:xfrm>
          <a:prstGeom prst="rect">
            <a:avLst/>
          </a:prstGeom>
          <a:noFill/>
          <a:ln w="9525">
            <a:noFill/>
          </a:ln>
        </p:spPr>
        <p:txBody>
          <a:bodyPr anchor="t"/>
          <a:lstStyle/>
          <a:p>
            <a:pPr marL="342900" lvl="0" indent="-342900" eaLnBrk="0" hangingPunct="0">
              <a:lnSpc>
                <a:spcPct val="120000"/>
              </a:lnSpc>
              <a:spcBef>
                <a:spcPct val="20000"/>
              </a:spcBef>
              <a:buClr>
                <a:srgbClr val="0033CC"/>
              </a:buClr>
              <a:buSzPct val="80000"/>
            </a:pPr>
            <a:r>
              <a:rPr lang="en-US" altLang="x-none" sz="2400" dirty="0">
                <a:latin typeface="Arial" panose="020B0604020202020204" pitchFamily="34" charset="0"/>
                <a:ea typeface="宋体" panose="02010600030101010101" pitchFamily="2" charset="-122"/>
                <a:sym typeface="Wingdings" panose="05000000000000000000" pitchFamily="2" charset="2"/>
              </a:rPr>
              <a:t>① </a:t>
            </a:r>
            <a:r>
              <a:rPr lang="zh-CN" altLang="en-US" sz="2400" dirty="0">
                <a:latin typeface="华文楷体" panose="02010600040101010101" pitchFamily="2" charset="-122"/>
                <a:ea typeface="宋体" panose="02010600030101010101" pitchFamily="2" charset="-122"/>
                <a:sym typeface="Wingdings" panose="05000000000000000000" pitchFamily="2" charset="2"/>
              </a:rPr>
              <a:t>为保证可串行化和避免级联回退等现象，除</a:t>
            </a:r>
            <a:r>
              <a:rPr lang="en-US" altLang="x-none" sz="2400" dirty="0">
                <a:latin typeface="华文楷体" panose="02010600040101010101" pitchFamily="2" charset="-122"/>
                <a:ea typeface="宋体" panose="02010600030101010101" pitchFamily="2" charset="-122"/>
                <a:sym typeface="Wingdings" panose="05000000000000000000" pitchFamily="2" charset="2"/>
              </a:rPr>
              <a:t>U</a:t>
            </a:r>
            <a:r>
              <a:rPr lang="zh-CN" altLang="en-US" sz="2400" dirty="0">
                <a:latin typeface="华文楷体" panose="02010600040101010101" pitchFamily="2" charset="-122"/>
                <a:ea typeface="宋体" panose="02010600030101010101" pitchFamily="2" charset="-122"/>
                <a:sym typeface="Wingdings" panose="05000000000000000000" pitchFamily="2" charset="2"/>
              </a:rPr>
              <a:t>锁后来升级为</a:t>
            </a:r>
            <a:r>
              <a:rPr lang="en-US" altLang="x-none" sz="2400" dirty="0">
                <a:latin typeface="华文楷体" panose="02010600040101010101" pitchFamily="2" charset="-122"/>
                <a:ea typeface="宋体" panose="02010600030101010101" pitchFamily="2" charset="-122"/>
                <a:sym typeface="Wingdings" panose="05000000000000000000" pitchFamily="2" charset="2"/>
              </a:rPr>
              <a:t>X</a:t>
            </a:r>
            <a:r>
              <a:rPr lang="zh-CN" altLang="en-US" sz="2400" dirty="0">
                <a:latin typeface="华文楷体" panose="02010600040101010101" pitchFamily="2" charset="-122"/>
                <a:ea typeface="宋体" panose="02010600030101010101" pitchFamily="2" charset="-122"/>
                <a:sym typeface="Wingdings" panose="05000000000000000000" pitchFamily="2" charset="2"/>
              </a:rPr>
              <a:t>锁外，</a:t>
            </a:r>
            <a:r>
              <a:rPr lang="en-US" altLang="x-none" sz="2400" dirty="0">
                <a:latin typeface="华文楷体" panose="02010600040101010101" pitchFamily="2" charset="-122"/>
                <a:ea typeface="宋体" panose="02010600030101010101" pitchFamily="2" charset="-122"/>
                <a:sym typeface="Wingdings" panose="05000000000000000000" pitchFamily="2" charset="2"/>
              </a:rPr>
              <a:t>S</a:t>
            </a:r>
            <a:r>
              <a:rPr lang="zh-CN" altLang="en-US" sz="2400" dirty="0">
                <a:latin typeface="华文楷体" panose="02010600040101010101" pitchFamily="2" charset="-122"/>
                <a:ea typeface="宋体" panose="02010600030101010101" pitchFamily="2" charset="-122"/>
                <a:sym typeface="Wingdings" panose="05000000000000000000" pitchFamily="2" charset="2"/>
              </a:rPr>
              <a:t>、</a:t>
            </a:r>
            <a:r>
              <a:rPr lang="en-US" altLang="x-none" sz="2400" dirty="0">
                <a:latin typeface="华文楷体" panose="02010600040101010101" pitchFamily="2" charset="-122"/>
                <a:ea typeface="宋体" panose="02010600030101010101" pitchFamily="2" charset="-122"/>
                <a:sym typeface="Wingdings" panose="05000000000000000000" pitchFamily="2" charset="2"/>
              </a:rPr>
              <a:t>X</a:t>
            </a:r>
            <a:r>
              <a:rPr lang="zh-CN" altLang="en-US" sz="2400" dirty="0">
                <a:latin typeface="华文楷体" panose="02010600040101010101" pitchFamily="2" charset="-122"/>
                <a:ea typeface="宋体" panose="02010600030101010101" pitchFamily="2" charset="-122"/>
                <a:sym typeface="Wingdings" panose="05000000000000000000" pitchFamily="2" charset="2"/>
              </a:rPr>
              <a:t>锁一般应保持到</a:t>
            </a:r>
            <a:r>
              <a:rPr lang="en-US" altLang="x-none" sz="2400" dirty="0">
                <a:latin typeface="华文楷体" panose="02010600040101010101" pitchFamily="2" charset="-122"/>
                <a:ea typeface="宋体" panose="02010600030101010101" pitchFamily="2" charset="-122"/>
                <a:sym typeface="Wingdings" panose="05000000000000000000" pitchFamily="2" charset="2"/>
              </a:rPr>
              <a:t>EOT</a:t>
            </a:r>
            <a:r>
              <a:rPr lang="zh-CN" altLang="en-US" sz="2400" dirty="0">
                <a:latin typeface="华文楷体" panose="02010600040101010101" pitchFamily="2" charset="-122"/>
                <a:ea typeface="宋体" panose="02010600030101010101" pitchFamily="2" charset="-122"/>
                <a:sym typeface="Wingdings" panose="05000000000000000000" pitchFamily="2" charset="2"/>
              </a:rPr>
              <a:t>才释放。</a:t>
            </a:r>
            <a:endParaRPr lang="en-US" altLang="x-none" sz="2400" dirty="0">
              <a:latin typeface="华文楷体" panose="02010600040101010101" pitchFamily="2" charset="-122"/>
              <a:ea typeface="宋体" panose="02010600030101010101" pitchFamily="2" charset="-122"/>
              <a:sym typeface="Wingdings" panose="05000000000000000000" pitchFamily="2" charset="2"/>
            </a:endParaRPr>
          </a:p>
          <a:p>
            <a:pPr marL="342900" lvl="0" indent="-342900" eaLnBrk="0" hangingPunct="0">
              <a:lnSpc>
                <a:spcPct val="120000"/>
              </a:lnSpc>
              <a:spcBef>
                <a:spcPct val="20000"/>
              </a:spcBef>
              <a:buClr>
                <a:srgbClr val="0033CC"/>
              </a:buClr>
              <a:buSzPct val="80000"/>
            </a:pPr>
            <a:r>
              <a:rPr lang="en-US" altLang="x-none" sz="2400" dirty="0">
                <a:latin typeface="华文楷体" panose="02010600040101010101" pitchFamily="2" charset="-122"/>
                <a:ea typeface="宋体" panose="02010600030101010101" pitchFamily="2" charset="-122"/>
                <a:sym typeface="Wingdings" panose="05000000000000000000" pitchFamily="2" charset="2"/>
              </a:rPr>
              <a:t>   --</a:t>
            </a:r>
            <a:r>
              <a:rPr lang="zh-CN" altLang="en-US" sz="2400" dirty="0">
                <a:latin typeface="华文楷体" panose="02010600040101010101" pitchFamily="2" charset="-122"/>
                <a:ea typeface="宋体" panose="02010600030101010101" pitchFamily="2" charset="-122"/>
                <a:sym typeface="Wingdings" panose="05000000000000000000" pitchFamily="2" charset="2"/>
              </a:rPr>
              <a:t>在（</a:t>
            </a:r>
            <a:r>
              <a:rPr lang="en-US" altLang="x-none" sz="2400" dirty="0">
                <a:latin typeface="华文楷体" panose="02010600040101010101" pitchFamily="2" charset="-122"/>
                <a:ea typeface="宋体" panose="02010600030101010101" pitchFamily="2" charset="-122"/>
                <a:sym typeface="Wingdings" panose="05000000000000000000" pitchFamily="2" charset="2"/>
              </a:rPr>
              <a:t>S, U, X</a:t>
            </a:r>
            <a:r>
              <a:rPr lang="zh-CN" altLang="en-US" sz="2400" dirty="0">
                <a:latin typeface="华文楷体" panose="02010600040101010101" pitchFamily="2" charset="-122"/>
                <a:ea typeface="宋体" panose="02010600030101010101" pitchFamily="2" charset="-122"/>
                <a:sym typeface="Wingdings" panose="05000000000000000000" pitchFamily="2" charset="2"/>
              </a:rPr>
              <a:t>）加锁协议中，为防止级联回退，</a:t>
            </a:r>
            <a:r>
              <a:rPr lang="en-US" altLang="x-none" sz="2400" dirty="0">
                <a:latin typeface="华文楷体" panose="02010600040101010101" pitchFamily="2" charset="-122"/>
                <a:ea typeface="宋体" panose="02010600030101010101" pitchFamily="2" charset="-122"/>
                <a:sym typeface="Wingdings" panose="05000000000000000000" pitchFamily="2" charset="2"/>
              </a:rPr>
              <a:t>S</a:t>
            </a:r>
            <a:r>
              <a:rPr lang="zh-CN" altLang="en-US" sz="2400" dirty="0">
                <a:latin typeface="华文楷体" panose="02010600040101010101" pitchFamily="2" charset="-122"/>
                <a:ea typeface="宋体" panose="02010600030101010101" pitchFamily="2" charset="-122"/>
                <a:sym typeface="Wingdings" panose="05000000000000000000" pitchFamily="2" charset="2"/>
              </a:rPr>
              <a:t>、</a:t>
            </a:r>
            <a:r>
              <a:rPr lang="en-US" altLang="x-none" sz="2400" dirty="0">
                <a:latin typeface="华文楷体" panose="02010600040101010101" pitchFamily="2" charset="-122"/>
                <a:ea typeface="宋体" panose="02010600030101010101" pitchFamily="2" charset="-122"/>
                <a:sym typeface="Wingdings" panose="05000000000000000000" pitchFamily="2" charset="2"/>
              </a:rPr>
              <a:t>U</a:t>
            </a:r>
            <a:r>
              <a:rPr lang="zh-CN" altLang="en-US" sz="2400" dirty="0">
                <a:latin typeface="华文楷体" panose="02010600040101010101" pitchFamily="2" charset="-122"/>
                <a:ea typeface="宋体" panose="02010600030101010101" pitchFamily="2" charset="-122"/>
                <a:sym typeface="Wingdings" panose="05000000000000000000" pitchFamily="2" charset="2"/>
              </a:rPr>
              <a:t>和</a:t>
            </a:r>
            <a:r>
              <a:rPr lang="en-US" altLang="x-none" sz="2400" dirty="0">
                <a:latin typeface="华文楷体" panose="02010600040101010101" pitchFamily="2" charset="-122"/>
                <a:ea typeface="宋体" panose="02010600030101010101" pitchFamily="2" charset="-122"/>
                <a:sym typeface="Wingdings" panose="05000000000000000000" pitchFamily="2" charset="2"/>
              </a:rPr>
              <a:t>X</a:t>
            </a:r>
            <a:r>
              <a:rPr lang="zh-CN" altLang="en-US" sz="2400" dirty="0">
                <a:latin typeface="华文楷体" panose="02010600040101010101" pitchFamily="2" charset="-122"/>
                <a:ea typeface="宋体" panose="02010600030101010101" pitchFamily="2" charset="-122"/>
                <a:sym typeface="Wingdings" panose="05000000000000000000" pitchFamily="2" charset="2"/>
              </a:rPr>
              <a:t>这三种锁是否都应保持到事务结束时才释放？为什么？</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marL="342900" lvl="0" indent="-342900" eaLnBrk="0" hangingPunct="0">
              <a:lnSpc>
                <a:spcPct val="120000"/>
              </a:lnSpc>
              <a:spcBef>
                <a:spcPct val="20000"/>
              </a:spcBef>
              <a:buClr>
                <a:srgbClr val="0033CC"/>
              </a:buClr>
              <a:buSzPct val="80000"/>
            </a:pPr>
            <a:r>
              <a:rPr lang="en-US" altLang="x-none" sz="2400" dirty="0">
                <a:solidFill>
                  <a:srgbClr val="A50021"/>
                </a:solidFill>
                <a:latin typeface="华文楷体" panose="02010600040101010101" pitchFamily="2" charset="-122"/>
                <a:ea typeface="宋体" panose="02010600030101010101" pitchFamily="2" charset="-122"/>
                <a:sym typeface="Wingdings" panose="05000000000000000000" pitchFamily="2" charset="2"/>
              </a:rPr>
              <a:t>    --S</a:t>
            </a:r>
            <a:r>
              <a:rPr lang="zh-CN" altLang="en-US" sz="2400" dirty="0">
                <a:solidFill>
                  <a:srgbClr val="A50021"/>
                </a:solidFill>
                <a:latin typeface="华文楷体" panose="02010600040101010101" pitchFamily="2" charset="-122"/>
                <a:ea typeface="宋体" panose="02010600030101010101" pitchFamily="2" charset="-122"/>
                <a:sym typeface="Wingdings" panose="05000000000000000000" pitchFamily="2" charset="2"/>
              </a:rPr>
              <a:t>和</a:t>
            </a:r>
            <a:r>
              <a:rPr lang="en-US" altLang="x-none" sz="2400" dirty="0">
                <a:solidFill>
                  <a:srgbClr val="A50021"/>
                </a:solidFill>
                <a:latin typeface="华文楷体" panose="02010600040101010101" pitchFamily="2" charset="-122"/>
                <a:ea typeface="宋体" panose="02010600030101010101" pitchFamily="2" charset="-122"/>
                <a:sym typeface="Wingdings" panose="05000000000000000000" pitchFamily="2" charset="2"/>
              </a:rPr>
              <a:t>X</a:t>
            </a:r>
            <a:r>
              <a:rPr lang="zh-CN" altLang="en-US" sz="2400" dirty="0">
                <a:solidFill>
                  <a:srgbClr val="A50021"/>
                </a:solidFill>
                <a:latin typeface="华文楷体" panose="02010600040101010101" pitchFamily="2" charset="-122"/>
                <a:ea typeface="宋体" panose="02010600030101010101" pitchFamily="2" charset="-122"/>
                <a:sym typeface="Wingdings" panose="05000000000000000000" pitchFamily="2" charset="2"/>
              </a:rPr>
              <a:t>锁应保持到事务结束时才释放，但</a:t>
            </a:r>
            <a:r>
              <a:rPr lang="en-US" altLang="x-none" sz="2400" dirty="0">
                <a:solidFill>
                  <a:srgbClr val="A50021"/>
                </a:solidFill>
                <a:latin typeface="华文楷体" panose="02010600040101010101" pitchFamily="2" charset="-122"/>
                <a:ea typeface="宋体" panose="02010600030101010101" pitchFamily="2" charset="-122"/>
                <a:sym typeface="Wingdings" panose="05000000000000000000" pitchFamily="2" charset="2"/>
              </a:rPr>
              <a:t>U</a:t>
            </a:r>
            <a:r>
              <a:rPr lang="zh-CN" altLang="en-US" sz="2400" dirty="0">
                <a:solidFill>
                  <a:srgbClr val="A50021"/>
                </a:solidFill>
                <a:latin typeface="华文楷体" panose="02010600040101010101" pitchFamily="2" charset="-122"/>
                <a:ea typeface="宋体" panose="02010600030101010101" pitchFamily="2" charset="-122"/>
                <a:sym typeface="Wingdings" panose="05000000000000000000" pitchFamily="2" charset="2"/>
              </a:rPr>
              <a:t>锁则不必。因为</a:t>
            </a:r>
            <a:r>
              <a:rPr lang="en-US" altLang="x-none" sz="2400" dirty="0">
                <a:solidFill>
                  <a:srgbClr val="A50021"/>
                </a:solidFill>
                <a:latin typeface="华文楷体" panose="02010600040101010101" pitchFamily="2" charset="-122"/>
                <a:ea typeface="宋体" panose="02010600030101010101" pitchFamily="2" charset="-122"/>
                <a:sym typeface="Wingdings" panose="05000000000000000000" pitchFamily="2" charset="2"/>
              </a:rPr>
              <a:t>U</a:t>
            </a:r>
            <a:r>
              <a:rPr lang="zh-CN" altLang="en-US" sz="2400" dirty="0">
                <a:solidFill>
                  <a:srgbClr val="A50021"/>
                </a:solidFill>
                <a:latin typeface="华文楷体" panose="02010600040101010101" pitchFamily="2" charset="-122"/>
                <a:ea typeface="宋体" panose="02010600030101010101" pitchFamily="2" charset="-122"/>
                <a:sym typeface="Wingdings" panose="05000000000000000000" pitchFamily="2" charset="2"/>
              </a:rPr>
              <a:t>锁需要在事务内升级为</a:t>
            </a:r>
            <a:r>
              <a:rPr lang="en-US" altLang="x-none" sz="2400" dirty="0">
                <a:solidFill>
                  <a:srgbClr val="A50021"/>
                </a:solidFill>
                <a:latin typeface="华文楷体" panose="02010600040101010101" pitchFamily="2" charset="-122"/>
                <a:ea typeface="宋体" panose="02010600030101010101" pitchFamily="2" charset="-122"/>
                <a:sym typeface="Wingdings" panose="05000000000000000000" pitchFamily="2" charset="2"/>
              </a:rPr>
              <a:t>X</a:t>
            </a:r>
            <a:r>
              <a:rPr lang="zh-CN" altLang="en-US" sz="2400" dirty="0">
                <a:solidFill>
                  <a:srgbClr val="A50021"/>
                </a:solidFill>
                <a:latin typeface="华文楷体" panose="02010600040101010101" pitchFamily="2" charset="-122"/>
                <a:ea typeface="宋体" panose="02010600030101010101" pitchFamily="2" charset="-122"/>
                <a:sym typeface="Wingdings" panose="05000000000000000000" pitchFamily="2" charset="2"/>
              </a:rPr>
              <a:t>锁。</a:t>
            </a:r>
            <a:endParaRPr lang="zh-CN" altLang="en-US" sz="2400" dirty="0">
              <a:solidFill>
                <a:srgbClr val="A50021"/>
              </a:solidFill>
              <a:latin typeface="华文楷体" panose="02010600040101010101" pitchFamily="2" charset="-122"/>
              <a:ea typeface="宋体" panose="02010600030101010101" pitchFamily="2" charset="-122"/>
              <a:sym typeface="Wingdings" panose="05000000000000000000" pitchFamily="2" charset="2"/>
            </a:endParaRPr>
          </a:p>
          <a:p>
            <a:pPr marL="342900" lvl="0" indent="-342900" eaLnBrk="0" hangingPunct="0">
              <a:lnSpc>
                <a:spcPct val="120000"/>
              </a:lnSpc>
              <a:spcBef>
                <a:spcPct val="20000"/>
              </a:spcBef>
              <a:buClr>
                <a:srgbClr val="0033CC"/>
              </a:buClr>
              <a:buSzPct val="80000"/>
            </a:pPr>
            <a:r>
              <a:rPr lang="zh-CN" altLang="en-US" sz="2400" dirty="0">
                <a:latin typeface="华文楷体" panose="02010600040101010101" pitchFamily="2" charset="-122"/>
                <a:ea typeface="宋体" panose="02010600030101010101" pitchFamily="2" charset="-122"/>
                <a:sym typeface="Wingdings" panose="05000000000000000000" pitchFamily="2" charset="2"/>
              </a:rPr>
              <a:t>② 数据对象加了</a:t>
            </a:r>
            <a:r>
              <a:rPr lang="en-US" altLang="x-none" sz="2400" dirty="0">
                <a:latin typeface="华文楷体" panose="02010600040101010101" pitchFamily="2" charset="-122"/>
                <a:ea typeface="宋体" panose="02010600030101010101" pitchFamily="2" charset="-122"/>
                <a:sym typeface="Wingdings" panose="05000000000000000000" pitchFamily="2" charset="2"/>
              </a:rPr>
              <a:t>U</a:t>
            </a:r>
            <a:r>
              <a:rPr lang="zh-CN" altLang="en-US" sz="2400" dirty="0">
                <a:latin typeface="华文楷体" panose="02010600040101010101" pitchFamily="2" charset="-122"/>
                <a:ea typeface="宋体" panose="02010600030101010101" pitchFamily="2" charset="-122"/>
                <a:sym typeface="Wingdings" panose="05000000000000000000" pitchFamily="2" charset="2"/>
              </a:rPr>
              <a:t>锁后，其他事务可能连续不断地对它加</a:t>
            </a:r>
            <a:r>
              <a:rPr lang="en-US" altLang="x-none" sz="2400" dirty="0">
                <a:latin typeface="华文楷体" panose="02010600040101010101" pitchFamily="2" charset="-122"/>
                <a:ea typeface="宋体" panose="02010600030101010101" pitchFamily="2" charset="-122"/>
                <a:sym typeface="Wingdings" panose="05000000000000000000" pitchFamily="2" charset="2"/>
              </a:rPr>
              <a:t>S</a:t>
            </a:r>
            <a:r>
              <a:rPr lang="zh-CN" altLang="en-US" sz="2400" dirty="0">
                <a:latin typeface="华文楷体" panose="02010600040101010101" pitchFamily="2" charset="-122"/>
                <a:ea typeface="宋体" panose="02010600030101010101" pitchFamily="2" charset="-122"/>
                <a:sym typeface="Wingdings" panose="05000000000000000000" pitchFamily="2" charset="2"/>
              </a:rPr>
              <a:t>锁，使</a:t>
            </a:r>
            <a:r>
              <a:rPr lang="en-US" altLang="x-none" sz="2400" dirty="0">
                <a:latin typeface="华文楷体" panose="02010600040101010101" pitchFamily="2" charset="-122"/>
                <a:ea typeface="宋体" panose="02010600030101010101" pitchFamily="2" charset="-122"/>
                <a:sym typeface="Wingdings" panose="05000000000000000000" pitchFamily="2" charset="2"/>
              </a:rPr>
              <a:t>U</a:t>
            </a:r>
            <a:r>
              <a:rPr lang="zh-CN" altLang="en-US" sz="2400" dirty="0">
                <a:latin typeface="华文楷体" panose="02010600040101010101" pitchFamily="2" charset="-122"/>
                <a:ea typeface="宋体" panose="02010600030101010101" pitchFamily="2" charset="-122"/>
                <a:sym typeface="Wingdings" panose="05000000000000000000" pitchFamily="2" charset="2"/>
              </a:rPr>
              <a:t>锁迟迟不能升级为</a:t>
            </a:r>
            <a:r>
              <a:rPr lang="en-US" altLang="x-none" sz="2400" dirty="0">
                <a:latin typeface="华文楷体" panose="02010600040101010101" pitchFamily="2" charset="-122"/>
                <a:ea typeface="宋体" panose="02010600030101010101" pitchFamily="2" charset="-122"/>
                <a:sym typeface="Wingdings" panose="05000000000000000000" pitchFamily="2" charset="2"/>
              </a:rPr>
              <a:t>X</a:t>
            </a:r>
            <a:r>
              <a:rPr lang="zh-CN" altLang="en-US" sz="2400" dirty="0">
                <a:latin typeface="华文楷体" panose="02010600040101010101" pitchFamily="2" charset="-122"/>
                <a:ea typeface="宋体" panose="02010600030101010101" pitchFamily="2" charset="-122"/>
                <a:sym typeface="Wingdings" panose="05000000000000000000" pitchFamily="2" charset="2"/>
              </a:rPr>
              <a:t>锁。为避免这种活锁，同样也要求遵守“先申请先服务”原则。</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p:txBody>
      </p:sp>
    </p:spTree>
  </p:cSld>
  <p:clrMapOvr>
    <a:masterClrMapping/>
  </p:clrMapOv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600" dirty="0">
                <a:solidFill>
                  <a:srgbClr val="0033CC"/>
                </a:solidFill>
                <a:latin typeface="Arial" panose="020B0604020202020204" pitchFamily="34" charset="0"/>
                <a:ea typeface="黑体" panose="02010609060101010101" pitchFamily="1" charset="-122"/>
              </a:rPr>
              <a:t>五、数据库系统中的并发</a:t>
            </a:r>
            <a:endParaRPr lang="zh-CN" altLang="en-US" sz="3600" dirty="0">
              <a:solidFill>
                <a:srgbClr val="0033CC"/>
              </a:solidFill>
              <a:latin typeface="Arial" panose="020B0604020202020204" pitchFamily="34" charset="0"/>
              <a:ea typeface="黑体" panose="02010609060101010101" pitchFamily="1" charset="-122"/>
            </a:endParaRPr>
          </a:p>
        </p:txBody>
      </p:sp>
      <p:sp>
        <p:nvSpPr>
          <p:cNvPr id="119810" name="Rectangle 3"/>
          <p:cNvSpPr txBox="1"/>
          <p:nvPr/>
        </p:nvSpPr>
        <p:spPr>
          <a:xfrm>
            <a:off x="517525" y="8382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5</a:t>
            </a:r>
            <a:r>
              <a:rPr lang="zh-CN" altLang="en-US" sz="2800" dirty="0">
                <a:solidFill>
                  <a:srgbClr val="FF0000"/>
                </a:solidFill>
                <a:latin typeface="黑体" panose="02010609060101010101" pitchFamily="1" charset="-122"/>
                <a:ea typeface="黑体" panose="02010609060101010101" pitchFamily="1" charset="-122"/>
              </a:rPr>
              <a:t>、多粒度加锁协议</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123908" name="Rectangle 3"/>
          <p:cNvSpPr txBox="1"/>
          <p:nvPr/>
        </p:nvSpPr>
        <p:spPr>
          <a:xfrm>
            <a:off x="474663" y="1333500"/>
            <a:ext cx="8364537" cy="4503738"/>
          </a:xfrm>
          <a:prstGeom prst="rect">
            <a:avLst/>
          </a:prstGeom>
          <a:noFill/>
          <a:ln w="9525">
            <a:noFill/>
          </a:ln>
        </p:spPr>
        <p:txBody>
          <a:bodyPr anchor="t"/>
          <a:lstStyle/>
          <a:p>
            <a:pPr marL="342900" lvl="0" indent="-342900" eaLnBrk="0" hangingPunct="0">
              <a:spcBef>
                <a:spcPts val="3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sym typeface="Wingdings" panose="05000000000000000000" pitchFamily="2" charset="2"/>
              </a:rPr>
              <a:t>在数据库中，一个数据对象的大小可以大到整个数据库、一页、一个表，也可以小到一行</a:t>
            </a:r>
            <a:r>
              <a:rPr lang="en-US" altLang="x-none" sz="2400" dirty="0">
                <a:latin typeface="华文楷体" panose="02010600040101010101" pitchFamily="2" charset="-122"/>
                <a:ea typeface="宋体" panose="02010600030101010101" pitchFamily="2" charset="-122"/>
                <a:sym typeface="Wingdings" panose="05000000000000000000" pitchFamily="2" charset="2"/>
              </a:rPr>
              <a:t>(</a:t>
            </a:r>
            <a:r>
              <a:rPr lang="zh-CN" altLang="en-US" sz="2400" dirty="0">
                <a:latin typeface="华文楷体" panose="02010600040101010101" pitchFamily="2" charset="-122"/>
                <a:ea typeface="宋体" panose="02010600030101010101" pitchFamily="2" charset="-122"/>
                <a:sym typeface="Wingdings" panose="05000000000000000000" pitchFamily="2" charset="2"/>
              </a:rPr>
              <a:t>即元组</a:t>
            </a:r>
            <a:r>
              <a:rPr lang="en-US" altLang="x-none" sz="2400" dirty="0">
                <a:latin typeface="华文楷体" panose="02010600040101010101" pitchFamily="2" charset="-122"/>
                <a:ea typeface="宋体" panose="02010600030101010101" pitchFamily="2" charset="-122"/>
                <a:sym typeface="Wingdings" panose="05000000000000000000" pitchFamily="2" charset="2"/>
              </a:rPr>
              <a:t>)</a:t>
            </a:r>
            <a:r>
              <a:rPr lang="zh-CN" altLang="en-US" sz="2400" dirty="0">
                <a:latin typeface="华文楷体" panose="02010600040101010101" pitchFamily="2" charset="-122"/>
                <a:ea typeface="宋体" panose="02010600030101010101" pitchFamily="2" charset="-122"/>
                <a:sym typeface="Wingdings" panose="05000000000000000000" pitchFamily="2" charset="2"/>
              </a:rPr>
              <a:t>。 对加锁来说，数据对象的大小即是加锁的粒度。</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marL="342900" lvl="0" indent="-342900" eaLnBrk="0" hangingPunct="0">
              <a:spcBef>
                <a:spcPts val="300"/>
              </a:spcBef>
              <a:buClr>
                <a:srgbClr val="0000CC"/>
              </a:buClr>
              <a:buSzPct val="80000"/>
              <a:buFont typeface="Wingdings" panose="05000000000000000000" pitchFamily="2" charset="2"/>
              <a:buChar char="u"/>
            </a:pPr>
            <a:r>
              <a:rPr lang="zh-CN" altLang="en-US" sz="2400" u="sng" dirty="0">
                <a:solidFill>
                  <a:srgbClr val="C00000"/>
                </a:solidFill>
                <a:latin typeface="华文楷体" panose="02010600040101010101" pitchFamily="2" charset="-122"/>
                <a:ea typeface="宋体" panose="02010600030101010101" pitchFamily="2" charset="-122"/>
                <a:sym typeface="Wingdings" panose="05000000000000000000" pitchFamily="2" charset="2"/>
              </a:rPr>
              <a:t>粒度、控制及并发度间关系：</a:t>
            </a:r>
            <a:r>
              <a:rPr lang="zh-CN" altLang="en-US" sz="2400" dirty="0">
                <a:latin typeface="华文楷体" panose="02010600040101010101" pitchFamily="2" charset="-122"/>
                <a:ea typeface="宋体" panose="02010600030101010101" pitchFamily="2" charset="-122"/>
                <a:sym typeface="Wingdings" panose="05000000000000000000" pitchFamily="2" charset="2"/>
              </a:rPr>
              <a:t>加锁单位愈大，加锁愈简单，但同时会降低并发度。反之，加锁单位越小，往往需要加很多的锁，所需的控制越复杂，不过并发度可提高。</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marL="342900" lvl="0" indent="-342900" eaLnBrk="0" hangingPunct="0">
              <a:spcBef>
                <a:spcPts val="300"/>
              </a:spcBef>
              <a:buClr>
                <a:srgbClr val="0000CC"/>
              </a:buClr>
              <a:buSzPct val="80000"/>
              <a:buFont typeface="Wingdings" panose="05000000000000000000" pitchFamily="2" charset="2"/>
              <a:buChar char="u"/>
            </a:pPr>
            <a:r>
              <a:rPr lang="zh-CN" altLang="en-US" sz="2400" u="sng" dirty="0">
                <a:solidFill>
                  <a:srgbClr val="A50021"/>
                </a:solidFill>
                <a:latin typeface="华文楷体" panose="02010600040101010101" pitchFamily="2" charset="-122"/>
                <a:ea typeface="宋体" panose="02010600030101010101" pitchFamily="2" charset="-122"/>
                <a:sym typeface="Wingdings" panose="05000000000000000000" pitchFamily="2" charset="2"/>
              </a:rPr>
              <a:t>实际需要：</a:t>
            </a:r>
            <a:r>
              <a:rPr lang="zh-CN" altLang="en-US" sz="2400" dirty="0">
                <a:latin typeface="华文楷体" panose="02010600040101010101" pitchFamily="2" charset="-122"/>
                <a:ea typeface="宋体" panose="02010600030101010101" pitchFamily="2" charset="-122"/>
                <a:sym typeface="Wingdings" panose="05000000000000000000" pitchFamily="2" charset="2"/>
              </a:rPr>
              <a:t>实际应用中，有时要访问大片数据，而有时只访问个别数据，为此，可提供多级加锁单位，根据应用需要加以选用，此即：多粒度加锁，它使得对包含有其它对象的对象加锁更加有效。</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marL="342900" lvl="0" indent="-342900" eaLnBrk="0" hangingPunct="0">
              <a:spcBef>
                <a:spcPts val="300"/>
              </a:spcBef>
              <a:buClr>
                <a:srgbClr val="0000CC"/>
              </a:buClr>
              <a:buSzPct val="80000"/>
              <a:buFont typeface="Wingdings" panose="05000000000000000000" pitchFamily="2" charset="2"/>
              <a:buChar char="u"/>
            </a:pPr>
            <a:r>
              <a:rPr lang="zh-CN" altLang="en-US" sz="2400" u="sng" dirty="0">
                <a:solidFill>
                  <a:srgbClr val="A50021"/>
                </a:solidFill>
                <a:latin typeface="华文楷体" panose="02010600040101010101" pitchFamily="2" charset="-122"/>
                <a:ea typeface="宋体" panose="02010600030101010101" pitchFamily="2" charset="-122"/>
                <a:sym typeface="Wingdings" panose="05000000000000000000" pitchFamily="2" charset="2"/>
              </a:rPr>
              <a:t>实际</a:t>
            </a:r>
            <a:r>
              <a:rPr lang="en-US" altLang="x-none" sz="2400" u="sng" dirty="0">
                <a:solidFill>
                  <a:srgbClr val="A50021"/>
                </a:solidFill>
                <a:latin typeface="华文楷体" panose="02010600040101010101" pitchFamily="2" charset="-122"/>
                <a:ea typeface="宋体" panose="02010600030101010101" pitchFamily="2" charset="-122"/>
                <a:sym typeface="Wingdings" panose="05000000000000000000" pitchFamily="2" charset="2"/>
              </a:rPr>
              <a:t>RDBMS</a:t>
            </a:r>
            <a:r>
              <a:rPr lang="zh-CN" altLang="en-US" sz="2400" u="sng" dirty="0">
                <a:solidFill>
                  <a:srgbClr val="A50021"/>
                </a:solidFill>
                <a:latin typeface="华文楷体" panose="02010600040101010101" pitchFamily="2" charset="-122"/>
                <a:ea typeface="宋体" panose="02010600030101010101" pitchFamily="2" charset="-122"/>
                <a:sym typeface="Wingdings" panose="05000000000000000000" pitchFamily="2" charset="2"/>
              </a:rPr>
              <a:t>做法：</a:t>
            </a:r>
            <a:r>
              <a:rPr lang="zh-CN" altLang="en-US" sz="2400" dirty="0">
                <a:latin typeface="华文楷体" panose="02010600040101010101" pitchFamily="2" charset="-122"/>
                <a:ea typeface="宋体" panose="02010600030101010101" pitchFamily="2" charset="-122"/>
                <a:sym typeface="Wingdings" panose="05000000000000000000" pitchFamily="2" charset="2"/>
              </a:rPr>
              <a:t>现代大型</a:t>
            </a:r>
            <a:r>
              <a:rPr lang="en-US" altLang="x-none" sz="2400" dirty="0">
                <a:latin typeface="华文楷体" panose="02010600040101010101" pitchFamily="2" charset="-122"/>
                <a:ea typeface="宋体" panose="02010600030101010101" pitchFamily="2" charset="-122"/>
                <a:sym typeface="Wingdings" panose="05000000000000000000" pitchFamily="2" charset="2"/>
              </a:rPr>
              <a:t>DBMS</a:t>
            </a:r>
            <a:r>
              <a:rPr lang="zh-CN" altLang="en-US" sz="2400" dirty="0">
                <a:latin typeface="华文楷体" panose="02010600040101010101" pitchFamily="2" charset="-122"/>
                <a:ea typeface="宋体" panose="02010600030101010101" pitchFamily="2" charset="-122"/>
                <a:sym typeface="Wingdings" panose="05000000000000000000" pitchFamily="2" charset="2"/>
              </a:rPr>
              <a:t>一般均支持多粒度加锁，而在微机</a:t>
            </a:r>
            <a:r>
              <a:rPr lang="en-US" altLang="x-none" sz="2400" dirty="0">
                <a:latin typeface="华文楷体" panose="02010600040101010101" pitchFamily="2" charset="-122"/>
                <a:ea typeface="宋体" panose="02010600030101010101" pitchFamily="2" charset="-122"/>
                <a:sym typeface="Wingdings" panose="05000000000000000000" pitchFamily="2" charset="2"/>
              </a:rPr>
              <a:t>DBMS</a:t>
            </a:r>
            <a:r>
              <a:rPr lang="zh-CN" altLang="en-US" sz="2400" dirty="0">
                <a:latin typeface="华文楷体" panose="02010600040101010101" pitchFamily="2" charset="-122"/>
                <a:ea typeface="宋体" panose="02010600030101010101" pitchFamily="2" charset="-122"/>
                <a:sym typeface="Wingdings" panose="05000000000000000000" pitchFamily="2" charset="2"/>
              </a:rPr>
              <a:t>中，并发度要求不高，一般以表作为加锁单位，此即：单粒度加锁</a:t>
            </a:r>
            <a:r>
              <a:rPr lang="en-US" altLang="x-none" sz="2400" dirty="0">
                <a:latin typeface="华文楷体" panose="02010600040101010101" pitchFamily="2" charset="-122"/>
                <a:ea typeface="宋体" panose="02010600030101010101" pitchFamily="2" charset="-122"/>
                <a:sym typeface="Wingdings" panose="05000000000000000000" pitchFamily="2" charset="2"/>
              </a:rPr>
              <a:t>(Single Granularity Locking)</a:t>
            </a:r>
            <a:r>
              <a:rPr lang="zh-CN" altLang="en-US" sz="2400" dirty="0">
                <a:latin typeface="华文楷体" panose="02010600040101010101" pitchFamily="2" charset="-122"/>
                <a:ea typeface="宋体" panose="02010600030101010101" pitchFamily="2" charset="-122"/>
                <a:sym typeface="Wingdings" panose="05000000000000000000" pitchFamily="2" charset="2"/>
              </a:rPr>
              <a:t>。</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3908">
                                            <p:txEl>
                                              <p:pRg st="0" end="0"/>
                                            </p:txEl>
                                          </p:spTgt>
                                        </p:tgtEl>
                                        <p:attrNameLst>
                                          <p:attrName>style.visibility</p:attrName>
                                        </p:attrNameLst>
                                      </p:cBhvr>
                                      <p:to>
                                        <p:strVal val="visible"/>
                                      </p:to>
                                    </p:set>
                                    <p:animEffect transition="in" filter="box(in)">
                                      <p:cBhvr>
                                        <p:cTn id="7" dur="500"/>
                                        <p:tgtEl>
                                          <p:spTgt spid="12390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23908">
                                            <p:txEl>
                                              <p:pRg st="1" end="1"/>
                                            </p:txEl>
                                          </p:spTgt>
                                        </p:tgtEl>
                                        <p:attrNameLst>
                                          <p:attrName>style.visibility</p:attrName>
                                        </p:attrNameLst>
                                      </p:cBhvr>
                                      <p:to>
                                        <p:strVal val="visible"/>
                                      </p:to>
                                    </p:set>
                                    <p:animEffect transition="in" filter="box(in)">
                                      <p:cBhvr>
                                        <p:cTn id="12" dur="500"/>
                                        <p:tgtEl>
                                          <p:spTgt spid="12390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23908">
                                            <p:txEl>
                                              <p:pRg st="2" end="2"/>
                                            </p:txEl>
                                          </p:spTgt>
                                        </p:tgtEl>
                                        <p:attrNameLst>
                                          <p:attrName>style.visibility</p:attrName>
                                        </p:attrNameLst>
                                      </p:cBhvr>
                                      <p:to>
                                        <p:strVal val="visible"/>
                                      </p:to>
                                    </p:set>
                                    <p:animEffect transition="in" filter="box(in)">
                                      <p:cBhvr>
                                        <p:cTn id="17" dur="500"/>
                                        <p:tgtEl>
                                          <p:spTgt spid="12390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23908">
                                            <p:txEl>
                                              <p:pRg st="3" end="3"/>
                                            </p:txEl>
                                          </p:spTgt>
                                        </p:tgtEl>
                                        <p:attrNameLst>
                                          <p:attrName>style.visibility</p:attrName>
                                        </p:attrNameLst>
                                      </p:cBhvr>
                                      <p:to>
                                        <p:strVal val="visible"/>
                                      </p:to>
                                    </p:set>
                                    <p:animEffect transition="in" filter="box(in)">
                                      <p:cBhvr>
                                        <p:cTn id="22" dur="500"/>
                                        <p:tgtEl>
                                          <p:spTgt spid="12390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8" grpId="0" build="p"/>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Text Box 3"/>
          <p:cNvSpPr txBox="1"/>
          <p:nvPr/>
        </p:nvSpPr>
        <p:spPr>
          <a:xfrm>
            <a:off x="542925" y="1355725"/>
            <a:ext cx="8574088" cy="3533775"/>
          </a:xfrm>
          <a:prstGeom prst="rect">
            <a:avLst/>
          </a:prstGeom>
          <a:noFill/>
          <a:ln w="9525">
            <a:noFill/>
          </a:ln>
        </p:spPr>
        <p:txBody>
          <a:bodyPr wrap="square" anchor="t">
            <a:spAutoFit/>
          </a:bodyPr>
          <a:lstStyle/>
          <a:p>
            <a:pPr lvl="0" indent="0">
              <a:lnSpc>
                <a:spcPct val="110000"/>
              </a:lnSpc>
              <a:spcBef>
                <a:spcPts val="1200"/>
              </a:spcBef>
            </a:pPr>
            <a:r>
              <a:rPr lang="en-US" altLang="x-none" sz="2400" dirty="0">
                <a:solidFill>
                  <a:srgbClr val="CC0000"/>
                </a:solidFill>
                <a:latin typeface="宋体" panose="02010600030101010101" pitchFamily="2" charset="-122"/>
                <a:ea typeface="宋体" panose="02010600030101010101" pitchFamily="2" charset="-122"/>
              </a:rPr>
              <a:t>UPDATE </a:t>
            </a:r>
            <a:r>
              <a:rPr lang="en-US" altLang="x-none" sz="2200" dirty="0">
                <a:latin typeface="宋体" panose="02010600030101010101" pitchFamily="2" charset="-122"/>
                <a:ea typeface="宋体" panose="02010600030101010101" pitchFamily="2" charset="-122"/>
              </a:rPr>
              <a:t>{</a:t>
            </a:r>
            <a:r>
              <a:rPr lang="zh-CN" altLang="en-US" sz="2200" dirty="0">
                <a:latin typeface="宋体" panose="02010600030101010101" pitchFamily="2" charset="-122"/>
                <a:ea typeface="宋体" panose="02010600030101010101" pitchFamily="2" charset="-122"/>
              </a:rPr>
              <a:t>表名 </a:t>
            </a:r>
            <a:r>
              <a:rPr lang="en-US" altLang="x-none" sz="2200" dirty="0">
                <a:latin typeface="宋体" panose="02010600030101010101" pitchFamily="2" charset="-122"/>
                <a:ea typeface="宋体" panose="02010600030101010101" pitchFamily="2" charset="-122"/>
              </a:rPr>
              <a:t>[ WITH ( &lt; </a:t>
            </a:r>
            <a:r>
              <a:rPr lang="zh-CN" altLang="en-US" sz="2200" dirty="0">
                <a:latin typeface="宋体" panose="02010600030101010101" pitchFamily="2" charset="-122"/>
                <a:ea typeface="宋体" panose="02010600030101010101" pitchFamily="2" charset="-122"/>
              </a:rPr>
              <a:t>表更新选项 </a:t>
            </a:r>
            <a:r>
              <a:rPr lang="en-US" altLang="x-none" sz="2200" dirty="0">
                <a:latin typeface="宋体" panose="02010600030101010101" pitchFamily="2" charset="-122"/>
                <a:ea typeface="宋体" panose="02010600030101010101" pitchFamily="2" charset="-122"/>
              </a:rPr>
              <a:t>&gt; [ ...n ])] |</a:t>
            </a:r>
            <a:r>
              <a:rPr lang="zh-CN" altLang="en-US" sz="2200" dirty="0">
                <a:latin typeface="宋体" panose="02010600030101010101" pitchFamily="2" charset="-122"/>
                <a:ea typeface="宋体" panose="02010600030101010101" pitchFamily="2" charset="-122"/>
              </a:rPr>
              <a:t>视图名</a:t>
            </a:r>
            <a:r>
              <a:rPr lang="en-US" altLang="x-none" sz="2200" dirty="0">
                <a:latin typeface="宋体" panose="02010600030101010101" pitchFamily="2" charset="-122"/>
                <a:ea typeface="宋体" panose="02010600030101010101" pitchFamily="2" charset="-122"/>
              </a:rPr>
              <a:t>}</a:t>
            </a:r>
            <a:r>
              <a:rPr lang="en-US" altLang="x-none" sz="2200" dirty="0">
                <a:solidFill>
                  <a:srgbClr val="000099"/>
                </a:solidFill>
                <a:latin typeface="宋体" panose="02010600030101010101" pitchFamily="2" charset="-122"/>
                <a:ea typeface="宋体" panose="02010600030101010101" pitchFamily="2" charset="-122"/>
              </a:rPr>
              <a:t> </a:t>
            </a:r>
            <a:br>
              <a:rPr lang="en-US" altLang="x-none" sz="2200" dirty="0">
                <a:solidFill>
                  <a:srgbClr val="000099"/>
                </a:solidFill>
                <a:latin typeface="宋体" panose="02010600030101010101" pitchFamily="2" charset="-122"/>
                <a:ea typeface="宋体" panose="02010600030101010101" pitchFamily="2" charset="-122"/>
              </a:rPr>
            </a:br>
            <a:r>
              <a:rPr lang="en-US" altLang="x-none" sz="2400" dirty="0">
                <a:solidFill>
                  <a:srgbClr val="CC0000"/>
                </a:solidFill>
                <a:latin typeface="宋体" panose="02010600030101010101" pitchFamily="2" charset="-122"/>
                <a:ea typeface="宋体" panose="02010600030101010101" pitchFamily="2" charset="-122"/>
              </a:rPr>
              <a:t>SET </a:t>
            </a:r>
            <a:r>
              <a:rPr lang="en-US" altLang="x-none" sz="2400" dirty="0">
                <a:solidFill>
                  <a:srgbClr val="000099"/>
                </a:solidFill>
                <a:latin typeface="宋体" panose="02010600030101010101" pitchFamily="2" charset="-122"/>
                <a:ea typeface="宋体" panose="02010600030101010101" pitchFamily="2" charset="-122"/>
              </a:rPr>
              <a:t> </a:t>
            </a:r>
            <a:r>
              <a:rPr lang="en-US" altLang="x-none"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列名 </a:t>
            </a:r>
            <a:r>
              <a:rPr lang="en-US" altLang="x-none"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表达式</a:t>
            </a:r>
            <a:r>
              <a:rPr lang="en-US" altLang="x-none" sz="2400" dirty="0">
                <a:latin typeface="宋体" panose="02010600030101010101" pitchFamily="2" charset="-122"/>
                <a:ea typeface="宋体" panose="02010600030101010101" pitchFamily="2" charset="-122"/>
              </a:rPr>
              <a:t>|DEFAULT|NULL}}[ ,...n ]} </a:t>
            </a:r>
            <a:br>
              <a:rPr lang="en-US" altLang="x-none" sz="2400" dirty="0">
                <a:latin typeface="宋体" panose="02010600030101010101" pitchFamily="2" charset="-122"/>
                <a:ea typeface="宋体" panose="02010600030101010101" pitchFamily="2" charset="-122"/>
              </a:rPr>
            </a:br>
            <a:r>
              <a:rPr lang="en-US" altLang="x-none" sz="2400" dirty="0">
                <a:solidFill>
                  <a:srgbClr val="000099"/>
                </a:solidFill>
                <a:latin typeface="宋体" panose="02010600030101010101" pitchFamily="2" charset="-122"/>
                <a:ea typeface="宋体" panose="02010600030101010101" pitchFamily="2" charset="-122"/>
              </a:rPr>
              <a:t>[</a:t>
            </a:r>
            <a:r>
              <a:rPr lang="en-US" altLang="x-none" sz="2400" dirty="0">
                <a:solidFill>
                  <a:srgbClr val="CC0000"/>
                </a:solidFill>
                <a:latin typeface="宋体" panose="02010600030101010101" pitchFamily="2" charset="-122"/>
                <a:ea typeface="宋体" panose="02010600030101010101" pitchFamily="2" charset="-122"/>
              </a:rPr>
              <a:t>FROM</a:t>
            </a:r>
            <a:r>
              <a:rPr lang="en-US" altLang="x-none" sz="2400" dirty="0">
                <a:solidFill>
                  <a:srgbClr val="000099"/>
                </a:solidFill>
                <a:latin typeface="宋体" panose="02010600030101010101" pitchFamily="2" charset="-122"/>
                <a:ea typeface="宋体" panose="02010600030101010101" pitchFamily="2" charset="-122"/>
              </a:rPr>
              <a:t> </a:t>
            </a:r>
            <a:r>
              <a:rPr lang="en-US" altLang="x-none" sz="2400" dirty="0">
                <a:latin typeface="宋体" panose="02010600030101010101" pitchFamily="2" charset="-122"/>
                <a:ea typeface="宋体" panose="02010600030101010101" pitchFamily="2" charset="-122"/>
              </a:rPr>
              <a:t>{ &lt; </a:t>
            </a:r>
            <a:r>
              <a:rPr lang="zh-CN" altLang="en-US" sz="2400" dirty="0">
                <a:latin typeface="宋体" panose="02010600030101010101" pitchFamily="2" charset="-122"/>
                <a:ea typeface="宋体" panose="02010600030101010101" pitchFamily="2" charset="-122"/>
              </a:rPr>
              <a:t>源表</a:t>
            </a:r>
            <a:r>
              <a:rPr lang="en-US" altLang="x-none" sz="2400" dirty="0">
                <a:latin typeface="宋体" panose="02010600030101010101" pitchFamily="2" charset="-122"/>
                <a:ea typeface="宋体" panose="02010600030101010101" pitchFamily="2" charset="-122"/>
              </a:rPr>
              <a:t>&gt; }[ ,...n ]] </a:t>
            </a:r>
            <a:endParaRPr lang="en-US" altLang="x-none" sz="2400" dirty="0">
              <a:latin typeface="宋体" panose="02010600030101010101" pitchFamily="2" charset="-122"/>
              <a:ea typeface="宋体" panose="02010600030101010101" pitchFamily="2" charset="-122"/>
            </a:endParaRPr>
          </a:p>
          <a:p>
            <a:pPr lvl="0" indent="0">
              <a:lnSpc>
                <a:spcPct val="110000"/>
              </a:lnSpc>
              <a:spcBef>
                <a:spcPts val="300"/>
              </a:spcBef>
            </a:pPr>
            <a:r>
              <a:rPr lang="en-US" altLang="x-none" sz="2400" dirty="0">
                <a:solidFill>
                  <a:srgbClr val="000099"/>
                </a:solidFill>
                <a:latin typeface="宋体" panose="02010600030101010101" pitchFamily="2" charset="-122"/>
                <a:ea typeface="宋体" panose="02010600030101010101" pitchFamily="2" charset="-122"/>
              </a:rPr>
              <a:t>[</a:t>
            </a:r>
            <a:r>
              <a:rPr lang="en-US" altLang="x-none" sz="2400" dirty="0">
                <a:solidFill>
                  <a:srgbClr val="CC0000"/>
                </a:solidFill>
                <a:latin typeface="宋体" panose="02010600030101010101" pitchFamily="2" charset="-122"/>
                <a:ea typeface="宋体" panose="02010600030101010101" pitchFamily="2" charset="-122"/>
              </a:rPr>
              <a:t>WHERE</a:t>
            </a:r>
            <a:r>
              <a:rPr lang="en-US" altLang="x-none" sz="2400" dirty="0">
                <a:solidFill>
                  <a:srgbClr val="000099"/>
                </a:solidFill>
                <a:latin typeface="宋体" panose="02010600030101010101" pitchFamily="2" charset="-122"/>
                <a:ea typeface="宋体" panose="02010600030101010101" pitchFamily="2" charset="-122"/>
              </a:rPr>
              <a:t> </a:t>
            </a:r>
            <a:r>
              <a:rPr lang="en-US" altLang="x-none" sz="2400" dirty="0">
                <a:latin typeface="宋体" panose="02010600030101010101" pitchFamily="2" charset="-122"/>
                <a:ea typeface="宋体" panose="02010600030101010101" pitchFamily="2" charset="-122"/>
              </a:rPr>
              <a:t>&lt; </a:t>
            </a:r>
            <a:r>
              <a:rPr lang="zh-CN" altLang="en-US" sz="2400" dirty="0">
                <a:latin typeface="宋体" panose="02010600030101010101" pitchFamily="2" charset="-122"/>
                <a:ea typeface="宋体" panose="02010600030101010101" pitchFamily="2" charset="-122"/>
              </a:rPr>
              <a:t>条件表达式 </a:t>
            </a:r>
            <a:r>
              <a:rPr lang="en-US" altLang="x-none" sz="2400" dirty="0">
                <a:latin typeface="宋体" panose="02010600030101010101" pitchFamily="2" charset="-122"/>
                <a:ea typeface="宋体" panose="02010600030101010101" pitchFamily="2" charset="-122"/>
              </a:rPr>
              <a:t>&gt; ] </a:t>
            </a:r>
            <a:br>
              <a:rPr lang="en-US" altLang="x-none" sz="2400" dirty="0">
                <a:latin typeface="华文楷体" panose="02010600040101010101" pitchFamily="2" charset="-122"/>
                <a:ea typeface="华文楷体" panose="02010600040101010101" pitchFamily="2" charset="-122"/>
              </a:rPr>
            </a:br>
            <a:r>
              <a:rPr lang="en-US" altLang="x-none" sz="2400" dirty="0">
                <a:solidFill>
                  <a:srgbClr val="000099"/>
                </a:solidFill>
                <a:latin typeface="华文楷体" panose="02010600040101010101" pitchFamily="2" charset="-122"/>
                <a:ea typeface="华文楷体" panose="02010600040101010101" pitchFamily="2" charset="-122"/>
              </a:rPr>
              <a:t> </a:t>
            </a:r>
            <a:r>
              <a:rPr lang="en-US" altLang="x-none" sz="2200" dirty="0">
                <a:latin typeface="华文楷体" panose="02010600040101010101" pitchFamily="2" charset="-122"/>
                <a:ea typeface="华文楷体" panose="02010600040101010101" pitchFamily="2" charset="-122"/>
              </a:rPr>
              <a:t>&lt; </a:t>
            </a:r>
            <a:r>
              <a:rPr lang="zh-CN" altLang="en-US" sz="2200" dirty="0">
                <a:latin typeface="华文楷体" panose="02010600040101010101" pitchFamily="2" charset="-122"/>
                <a:ea typeface="华文楷体" panose="02010600040101010101" pitchFamily="2" charset="-122"/>
              </a:rPr>
              <a:t>表更新选项 </a:t>
            </a:r>
            <a:r>
              <a:rPr lang="en-US" altLang="x-none" sz="2200" dirty="0">
                <a:latin typeface="华文楷体" panose="02010600040101010101" pitchFamily="2" charset="-122"/>
                <a:ea typeface="华文楷体" panose="02010600040101010101" pitchFamily="2" charset="-122"/>
              </a:rPr>
              <a:t>&gt;::={</a:t>
            </a:r>
            <a:r>
              <a:rPr lang="en-US" altLang="zh-CN" sz="2200" dirty="0">
                <a:latin typeface="华文楷体" panose="02010600040101010101" pitchFamily="2" charset="-122"/>
                <a:ea typeface="华文楷体" panose="02010600040101010101" pitchFamily="2" charset="-122"/>
              </a:rPr>
              <a:t>PAGLOCK|ROWLOCK|TABLELOCK|UPLOCK}</a:t>
            </a:r>
            <a:endParaRPr lang="en-US" altLang="zh-CN" sz="2200" dirty="0">
              <a:latin typeface="华文楷体" panose="02010600040101010101" pitchFamily="2" charset="-122"/>
              <a:ea typeface="华文楷体" panose="02010600040101010101" pitchFamily="2" charset="-122"/>
            </a:endParaRPr>
          </a:p>
          <a:p>
            <a:pPr lvl="0" indent="0">
              <a:lnSpc>
                <a:spcPct val="120000"/>
              </a:lnSpc>
              <a:spcBef>
                <a:spcPts val="300"/>
              </a:spcBef>
            </a:pPr>
            <a:r>
              <a:rPr lang="en-US" altLang="x-none" sz="2400" dirty="0">
                <a:latin typeface="华文楷体" panose="02010600040101010101" pitchFamily="2" charset="-122"/>
                <a:ea typeface="华文楷体" panose="02010600040101010101" pitchFamily="2" charset="-122"/>
              </a:rPr>
              <a:t> &lt; </a:t>
            </a:r>
            <a:r>
              <a:rPr lang="zh-CN" altLang="en-US" sz="2400" dirty="0">
                <a:latin typeface="华文楷体" panose="02010600040101010101" pitchFamily="2" charset="-122"/>
                <a:ea typeface="华文楷体" panose="02010600040101010101" pitchFamily="2" charset="-122"/>
              </a:rPr>
              <a:t>源表</a:t>
            </a:r>
            <a:r>
              <a:rPr lang="en-US" altLang="x-none" sz="2400" dirty="0">
                <a:latin typeface="华文楷体" panose="02010600040101010101" pitchFamily="2" charset="-122"/>
                <a:ea typeface="华文楷体" panose="02010600040101010101" pitchFamily="2" charset="-122"/>
              </a:rPr>
              <a:t>&gt;::=</a:t>
            </a:r>
            <a:r>
              <a:rPr lang="zh-CN" altLang="x-none" sz="2400" dirty="0">
                <a:latin typeface="华文楷体" panose="02010600040101010101" pitchFamily="2" charset="-122"/>
                <a:ea typeface="华文楷体" panose="02010600040101010101" pitchFamily="2" charset="-122"/>
              </a:rPr>
              <a:t>表名</a:t>
            </a:r>
            <a:r>
              <a:rPr lang="en-US" altLang="zh-CN" sz="2400" dirty="0">
                <a:latin typeface="华文楷体" panose="02010600040101010101" pitchFamily="2" charset="-122"/>
                <a:ea typeface="华文楷体" panose="02010600040101010101" pitchFamily="2" charset="-122"/>
              </a:rPr>
              <a:t>[ [ AS] </a:t>
            </a:r>
            <a:r>
              <a:rPr lang="zh-CN" altLang="zh-CN" sz="2400" dirty="0">
                <a:latin typeface="华文楷体" panose="02010600040101010101" pitchFamily="2" charset="-122"/>
                <a:ea typeface="华文楷体" panose="02010600040101010101" pitchFamily="2" charset="-122"/>
              </a:rPr>
              <a:t>别名</a:t>
            </a:r>
            <a:r>
              <a:rPr lang="en-US" altLang="zh-CN" sz="2400" dirty="0">
                <a:latin typeface="华文楷体" panose="02010600040101010101" pitchFamily="2" charset="-122"/>
                <a:ea typeface="华文楷体" panose="02010600040101010101" pitchFamily="2" charset="-122"/>
              </a:rPr>
              <a:t>] [ WITH (&lt;</a:t>
            </a:r>
            <a:r>
              <a:rPr lang="zh-CN" altLang="en-US" sz="2400" dirty="0">
                <a:latin typeface="华文楷体" panose="02010600040101010101" pitchFamily="2" charset="-122"/>
                <a:ea typeface="华文楷体" panose="02010600040101010101" pitchFamily="2" charset="-122"/>
              </a:rPr>
              <a:t>表更新项</a:t>
            </a:r>
            <a:r>
              <a:rPr lang="en-US" altLang="zh-CN" sz="2400" dirty="0">
                <a:latin typeface="华文楷体" panose="02010600040101010101" pitchFamily="2" charset="-122"/>
                <a:ea typeface="华文楷体" panose="02010600040101010101" pitchFamily="2" charset="-122"/>
              </a:rPr>
              <a:t>&gt;[,…n])}</a:t>
            </a:r>
            <a:endParaRPr lang="en-US" altLang="zh-CN" sz="2400" dirty="0">
              <a:latin typeface="华文楷体" panose="02010600040101010101" pitchFamily="2" charset="-122"/>
              <a:ea typeface="华文楷体" panose="02010600040101010101" pitchFamily="2" charset="-122"/>
            </a:endParaRPr>
          </a:p>
          <a:p>
            <a:pPr lvl="0" indent="0">
              <a:lnSpc>
                <a:spcPct val="120000"/>
              </a:lnSpc>
              <a:spcBef>
                <a:spcPts val="300"/>
              </a:spcBef>
            </a:pPr>
            <a:r>
              <a:rPr lang="en-US" altLang="zh-CN" sz="2400" dirty="0">
                <a:latin typeface="华文楷体" panose="02010600040101010101" pitchFamily="2" charset="-122"/>
                <a:ea typeface="华文楷体" panose="02010600040101010101" pitchFamily="2" charset="-122"/>
              </a:rPr>
              <a:t>                  |  </a:t>
            </a:r>
            <a:r>
              <a:rPr lang="zh-CN" altLang="zh-CN" sz="2400" dirty="0">
                <a:latin typeface="华文楷体" panose="02010600040101010101" pitchFamily="2" charset="-122"/>
                <a:ea typeface="华文楷体" panose="02010600040101010101" pitchFamily="2" charset="-122"/>
              </a:rPr>
              <a:t>视图名 </a:t>
            </a:r>
            <a:r>
              <a:rPr lang="en-US" altLang="zh-CN" sz="2400" dirty="0">
                <a:latin typeface="华文楷体" panose="02010600040101010101" pitchFamily="2" charset="-122"/>
                <a:ea typeface="华文楷体" panose="02010600040101010101" pitchFamily="2" charset="-122"/>
              </a:rPr>
              <a:t>[ [ AS] </a:t>
            </a:r>
            <a:r>
              <a:rPr lang="zh-CN" altLang="zh-CN" sz="2400" dirty="0">
                <a:latin typeface="华文楷体" panose="02010600040101010101" pitchFamily="2" charset="-122"/>
                <a:ea typeface="华文楷体" panose="02010600040101010101" pitchFamily="2" charset="-122"/>
              </a:rPr>
              <a:t>别名 </a:t>
            </a:r>
            <a:r>
              <a:rPr lang="en-US" altLang="zh-CN" sz="2400" dirty="0">
                <a:latin typeface="华文楷体" panose="02010600040101010101" pitchFamily="2" charset="-122"/>
                <a:ea typeface="华文楷体" panose="02010600040101010101" pitchFamily="2" charset="-122"/>
              </a:rPr>
              <a:t>]  | &lt;</a:t>
            </a:r>
            <a:r>
              <a:rPr lang="zh-CN" altLang="zh-CN" sz="2400" dirty="0">
                <a:latin typeface="华文楷体" panose="02010600040101010101" pitchFamily="2" charset="-122"/>
                <a:ea typeface="华文楷体" panose="02010600040101010101" pitchFamily="2" charset="-122"/>
              </a:rPr>
              <a:t>表联结</a:t>
            </a:r>
            <a:r>
              <a:rPr lang="en-US" altLang="zh-CN" sz="2400" dirty="0">
                <a:latin typeface="华文楷体" panose="02010600040101010101" pitchFamily="2" charset="-122"/>
                <a:ea typeface="华文楷体" panose="02010600040101010101" pitchFamily="2" charset="-122"/>
              </a:rPr>
              <a:t>&gt;</a:t>
            </a:r>
            <a:r>
              <a:rPr lang="en-US" altLang="x-none" sz="2400" dirty="0">
                <a:latin typeface="华文楷体" panose="02010600040101010101" pitchFamily="2" charset="-122"/>
                <a:ea typeface="华文楷体" panose="02010600040101010101" pitchFamily="2" charset="-122"/>
              </a:rPr>
              <a:t> </a:t>
            </a:r>
            <a:endParaRPr lang="en-US" altLang="x-none" sz="2400" dirty="0">
              <a:latin typeface="华文楷体" panose="02010600040101010101" pitchFamily="2" charset="-122"/>
              <a:ea typeface="华文楷体" panose="02010600040101010101" pitchFamily="2" charset="-122"/>
            </a:endParaRPr>
          </a:p>
          <a:p>
            <a:pPr lvl="0" indent="0">
              <a:lnSpc>
                <a:spcPct val="120000"/>
              </a:lnSpc>
              <a:spcBef>
                <a:spcPts val="300"/>
              </a:spcBef>
            </a:pPr>
            <a:r>
              <a:rPr lang="en-US" altLang="zh-CN" sz="2200" dirty="0">
                <a:latin typeface="华文楷体" panose="02010600040101010101" pitchFamily="2" charset="-122"/>
                <a:ea typeface="华文楷体" panose="02010600040101010101" pitchFamily="2" charset="-122"/>
              </a:rPr>
              <a:t>&lt;</a:t>
            </a:r>
            <a:r>
              <a:rPr lang="zh-CN" altLang="en-US" sz="2200" dirty="0">
                <a:latin typeface="华文楷体" panose="02010600040101010101" pitchFamily="2" charset="-122"/>
                <a:ea typeface="华文楷体" panose="02010600040101010101" pitchFamily="2" charset="-122"/>
              </a:rPr>
              <a:t>联结类型</a:t>
            </a:r>
            <a:r>
              <a:rPr lang="en-US" altLang="zh-CN" sz="2200" dirty="0">
                <a:latin typeface="华文楷体" panose="02010600040101010101" pitchFamily="2" charset="-122"/>
                <a:ea typeface="华文楷体" panose="02010600040101010101" pitchFamily="2" charset="-122"/>
              </a:rPr>
              <a:t>&gt;</a:t>
            </a:r>
            <a:r>
              <a:rPr lang="en-US" altLang="x-none" sz="2200" dirty="0">
                <a:latin typeface="华文楷体" panose="02010600040101010101" pitchFamily="2" charset="-122"/>
                <a:ea typeface="华文楷体" panose="02010600040101010101" pitchFamily="2" charset="-122"/>
              </a:rPr>
              <a:t>::=</a:t>
            </a:r>
            <a:r>
              <a:rPr lang="en-US" altLang="zh-CN" sz="2200" dirty="0">
                <a:latin typeface="华文楷体" panose="02010600040101010101" pitchFamily="2" charset="-122"/>
                <a:ea typeface="华文楷体" panose="02010600040101010101" pitchFamily="2" charset="-122"/>
              </a:rPr>
              <a:t>[INSERT | { { LEFT|RIGHT|FULL } [OUTER]}]JOIN</a:t>
            </a:r>
            <a:endParaRPr lang="en-US" altLang="zh-CN" sz="2200" dirty="0">
              <a:latin typeface="华文楷体" panose="02010600040101010101" pitchFamily="2" charset="-122"/>
              <a:ea typeface="华文楷体" panose="02010600040101010101" pitchFamily="2" charset="-122"/>
            </a:endParaRPr>
          </a:p>
        </p:txBody>
      </p:sp>
      <p:sp>
        <p:nvSpPr>
          <p:cNvPr id="120834"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600" dirty="0">
                <a:solidFill>
                  <a:srgbClr val="0033CC"/>
                </a:solidFill>
                <a:latin typeface="Arial" panose="020B0604020202020204" pitchFamily="34" charset="0"/>
                <a:ea typeface="黑体" panose="02010609060101010101" pitchFamily="1" charset="-122"/>
              </a:rPr>
              <a:t>五、数据库系统中的并发</a:t>
            </a:r>
            <a:endParaRPr lang="zh-CN" altLang="en-US" sz="3600" dirty="0">
              <a:solidFill>
                <a:srgbClr val="0033CC"/>
              </a:solidFill>
              <a:latin typeface="Arial" panose="020B0604020202020204" pitchFamily="34" charset="0"/>
              <a:ea typeface="黑体" panose="02010609060101010101" pitchFamily="1" charset="-122"/>
            </a:endParaRPr>
          </a:p>
        </p:txBody>
      </p:sp>
      <p:sp>
        <p:nvSpPr>
          <p:cNvPr id="120835" name="Rectangle 3"/>
          <p:cNvSpPr txBox="1"/>
          <p:nvPr/>
        </p:nvSpPr>
        <p:spPr>
          <a:xfrm>
            <a:off x="517525" y="8382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5</a:t>
            </a:r>
            <a:r>
              <a:rPr lang="zh-CN" altLang="en-US" sz="2800" dirty="0">
                <a:solidFill>
                  <a:srgbClr val="FF0000"/>
                </a:solidFill>
                <a:latin typeface="黑体" panose="02010609060101010101" pitchFamily="1" charset="-122"/>
                <a:ea typeface="黑体" panose="02010609060101010101" pitchFamily="1" charset="-122"/>
              </a:rPr>
              <a:t>、多粒度加锁协议</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120836" name="矩形 4"/>
          <p:cNvSpPr/>
          <p:nvPr/>
        </p:nvSpPr>
        <p:spPr>
          <a:xfrm>
            <a:off x="641350" y="4889500"/>
            <a:ext cx="8186738" cy="1408113"/>
          </a:xfrm>
          <a:prstGeom prst="rect">
            <a:avLst/>
          </a:prstGeom>
          <a:noFill/>
          <a:ln w="9525">
            <a:noFill/>
          </a:ln>
        </p:spPr>
        <p:txBody>
          <a:bodyPr wrap="square" anchor="t">
            <a:spAutoFit/>
          </a:bodyPr>
          <a:lstStyle/>
          <a:p>
            <a:pPr marL="457200" lvl="0" indent="-457200">
              <a:lnSpc>
                <a:spcPct val="120000"/>
              </a:lnSpc>
            </a:pPr>
            <a:r>
              <a:rPr lang="zh-CN" altLang="en-US" sz="2400" u="sng" dirty="0">
                <a:solidFill>
                  <a:srgbClr val="FF0000"/>
                </a:solidFill>
                <a:latin typeface="华文楷体" panose="02010600040101010101" pitchFamily="2" charset="-122"/>
                <a:ea typeface="宋体" panose="02010600030101010101" pitchFamily="2" charset="-122"/>
              </a:rPr>
              <a:t>例</a:t>
            </a:r>
            <a:r>
              <a:rPr lang="en-US" altLang="x-none" sz="2400" u="sng" dirty="0">
                <a:solidFill>
                  <a:srgbClr val="FF0000"/>
                </a:solidFill>
                <a:latin typeface="华文楷体" panose="02010600040101010101" pitchFamily="2" charset="-122"/>
                <a:ea typeface="宋体" panose="02010600030101010101" pitchFamily="2" charset="-122"/>
              </a:rPr>
              <a:t>1</a:t>
            </a:r>
            <a:r>
              <a:rPr lang="zh-CN" altLang="en-US" sz="2400" u="sng" dirty="0">
                <a:solidFill>
                  <a:srgbClr val="FF0000"/>
                </a:solidFill>
                <a:latin typeface="华文楷体" panose="02010600040101010101" pitchFamily="2" charset="-122"/>
                <a:ea typeface="宋体" panose="02010600030101010101" pitchFamily="2" charset="-122"/>
              </a:rPr>
              <a:t>：数据更新</a:t>
            </a:r>
            <a:endParaRPr lang="zh-CN" altLang="en-US" sz="2400" u="sng" dirty="0">
              <a:solidFill>
                <a:srgbClr val="FF0000"/>
              </a:solidFill>
              <a:latin typeface="华文楷体" panose="02010600040101010101" pitchFamily="2" charset="-122"/>
              <a:ea typeface="宋体" panose="02010600030101010101" pitchFamily="2" charset="-122"/>
            </a:endParaRPr>
          </a:p>
          <a:p>
            <a:pPr marL="457200" lvl="0" indent="-457200">
              <a:lnSpc>
                <a:spcPct val="120000"/>
              </a:lnSpc>
            </a:pPr>
            <a:r>
              <a:rPr lang="en-US" altLang="x-none" sz="2400" dirty="0">
                <a:solidFill>
                  <a:srgbClr val="006600"/>
                </a:solidFill>
                <a:latin typeface="华文楷体" panose="02010600040101010101" pitchFamily="2" charset="-122"/>
                <a:ea typeface="宋体" panose="02010600030101010101" pitchFamily="2" charset="-122"/>
              </a:rPr>
              <a:t>UPDATE</a:t>
            </a:r>
            <a:r>
              <a:rPr lang="en-US" altLang="x-none" sz="2400" dirty="0">
                <a:solidFill>
                  <a:srgbClr val="000099"/>
                </a:solidFill>
                <a:latin typeface="华文楷体" panose="02010600040101010101" pitchFamily="2" charset="-122"/>
                <a:ea typeface="宋体" panose="02010600030101010101" pitchFamily="2" charset="-122"/>
              </a:rPr>
              <a:t>  </a:t>
            </a:r>
            <a:r>
              <a:rPr lang="en-US" altLang="x-none" sz="2400" dirty="0">
                <a:latin typeface="华文楷体" panose="02010600040101010101" pitchFamily="2" charset="-122"/>
                <a:ea typeface="宋体" panose="02010600030101010101" pitchFamily="2" charset="-122"/>
              </a:rPr>
              <a:t>publishers </a:t>
            </a:r>
            <a:r>
              <a:rPr lang="zh-CN" altLang="en-US" sz="2400" dirty="0">
                <a:latin typeface="华文楷体" panose="02010600040101010101" pitchFamily="2" charset="-122"/>
                <a:ea typeface="宋体" panose="02010600030101010101" pitchFamily="2" charset="-122"/>
              </a:rPr>
              <a:t>  </a:t>
            </a:r>
            <a:r>
              <a:rPr lang="en-US" altLang="zh-CN" sz="2400" dirty="0">
                <a:latin typeface="华文楷体" panose="02010600040101010101" pitchFamily="2" charset="-122"/>
                <a:ea typeface="宋体" panose="02010600030101010101" pitchFamily="2" charset="-122"/>
              </a:rPr>
              <a:t>with PAGLOCK </a:t>
            </a:r>
            <a:r>
              <a:rPr lang="en-US" altLang="x-none" sz="2400" dirty="0">
                <a:solidFill>
                  <a:srgbClr val="006600"/>
                </a:solidFill>
                <a:latin typeface="华文楷体" panose="02010600040101010101" pitchFamily="2" charset="-122"/>
                <a:ea typeface="宋体" panose="02010600030101010101" pitchFamily="2" charset="-122"/>
              </a:rPr>
              <a:t>SET </a:t>
            </a:r>
            <a:r>
              <a:rPr lang="en-US" altLang="x-none" sz="2400" dirty="0">
                <a:solidFill>
                  <a:srgbClr val="000099"/>
                </a:solidFill>
                <a:latin typeface="华文楷体" panose="02010600040101010101" pitchFamily="2" charset="-122"/>
                <a:ea typeface="宋体" panose="02010600030101010101" pitchFamily="2" charset="-122"/>
              </a:rPr>
              <a:t>  </a:t>
            </a:r>
            <a:r>
              <a:rPr lang="en-US" altLang="x-none" sz="2400" dirty="0">
                <a:latin typeface="华文楷体" panose="02010600040101010101" pitchFamily="2" charset="-122"/>
                <a:ea typeface="宋体" panose="02010600030101010101" pitchFamily="2" charset="-122"/>
              </a:rPr>
              <a:t>city = 'Atlanta', state ='GA' </a:t>
            </a:r>
            <a:r>
              <a:rPr lang="en-US" altLang="x-none" sz="2400" dirty="0">
                <a:solidFill>
                  <a:srgbClr val="006600"/>
                </a:solidFill>
                <a:latin typeface="华文楷体" panose="02010600040101010101" pitchFamily="2" charset="-122"/>
                <a:ea typeface="宋体" panose="02010600030101010101" pitchFamily="2" charset="-122"/>
              </a:rPr>
              <a:t>UPDATE</a:t>
            </a:r>
            <a:r>
              <a:rPr lang="en-US" altLang="x-none" sz="2400" dirty="0">
                <a:solidFill>
                  <a:srgbClr val="000099"/>
                </a:solidFill>
                <a:latin typeface="华文楷体" panose="02010600040101010101" pitchFamily="2" charset="-122"/>
                <a:ea typeface="宋体" panose="02010600030101010101" pitchFamily="2" charset="-122"/>
              </a:rPr>
              <a:t>  SC </a:t>
            </a:r>
            <a:r>
              <a:rPr lang="zh-CN" altLang="en-US" sz="2400" dirty="0">
                <a:solidFill>
                  <a:srgbClr val="000099"/>
                </a:solidFill>
                <a:latin typeface="华文楷体" panose="02010600040101010101" pitchFamily="2" charset="-122"/>
                <a:ea typeface="宋体" panose="02010600030101010101" pitchFamily="2" charset="-122"/>
              </a:rPr>
              <a:t>   </a:t>
            </a:r>
            <a:r>
              <a:rPr lang="en-US" altLang="x-none" sz="2400" dirty="0">
                <a:solidFill>
                  <a:srgbClr val="006600"/>
                </a:solidFill>
                <a:latin typeface="华文楷体" panose="02010600040101010101" pitchFamily="2" charset="-122"/>
                <a:ea typeface="宋体" panose="02010600030101010101" pitchFamily="2" charset="-122"/>
              </a:rPr>
              <a:t>SET</a:t>
            </a:r>
            <a:r>
              <a:rPr lang="en-US" altLang="x-none" sz="2400" dirty="0">
                <a:solidFill>
                  <a:srgbClr val="000099"/>
                </a:solidFill>
                <a:latin typeface="华文楷体" panose="02010600040101010101" pitchFamily="2" charset="-122"/>
                <a:ea typeface="宋体" panose="02010600030101010101" pitchFamily="2" charset="-122"/>
              </a:rPr>
              <a:t> </a:t>
            </a:r>
            <a:r>
              <a:rPr lang="en-US" altLang="x-none" sz="2400" dirty="0">
                <a:latin typeface="华文楷体" panose="02010600040101010101" pitchFamily="2" charset="-122"/>
                <a:ea typeface="宋体" panose="02010600030101010101" pitchFamily="2" charset="-122"/>
              </a:rPr>
              <a:t>Score = Score + 10 </a:t>
            </a:r>
            <a:endParaRPr lang="en-US" altLang="x-none" sz="2400" dirty="0">
              <a:latin typeface="华文楷体" panose="02010600040101010101" pitchFamily="2" charset="-122"/>
              <a:ea typeface="宋体" panose="02010600030101010101" pitchFamily="2" charset="-122"/>
            </a:endParaRPr>
          </a:p>
        </p:txBody>
      </p:sp>
    </p:spTree>
  </p:cSld>
  <p:clrMapOvr>
    <a:masterClrMapping/>
  </p:clrMapOvr>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600" dirty="0">
                <a:solidFill>
                  <a:srgbClr val="0033CC"/>
                </a:solidFill>
                <a:latin typeface="Arial" panose="020B0604020202020204" pitchFamily="34" charset="0"/>
                <a:ea typeface="黑体" panose="02010609060101010101" pitchFamily="1" charset="-122"/>
              </a:rPr>
              <a:t>五、数据库系统中的并发</a:t>
            </a:r>
            <a:endParaRPr lang="zh-CN" altLang="en-US" sz="3600" dirty="0">
              <a:solidFill>
                <a:srgbClr val="0033CC"/>
              </a:solidFill>
              <a:latin typeface="Arial" panose="020B0604020202020204" pitchFamily="34" charset="0"/>
              <a:ea typeface="黑体" panose="02010609060101010101" pitchFamily="1" charset="-122"/>
            </a:endParaRPr>
          </a:p>
        </p:txBody>
      </p:sp>
      <p:sp>
        <p:nvSpPr>
          <p:cNvPr id="121858" name="Rectangle 3"/>
          <p:cNvSpPr txBox="1"/>
          <p:nvPr/>
        </p:nvSpPr>
        <p:spPr>
          <a:xfrm>
            <a:off x="517525" y="8382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5</a:t>
            </a:r>
            <a:r>
              <a:rPr lang="zh-CN" altLang="en-US" sz="2800" dirty="0">
                <a:solidFill>
                  <a:srgbClr val="FF0000"/>
                </a:solidFill>
                <a:latin typeface="黑体" panose="02010609060101010101" pitchFamily="1" charset="-122"/>
                <a:ea typeface="黑体" panose="02010609060101010101" pitchFamily="1" charset="-122"/>
              </a:rPr>
              <a:t>、多粒度加锁协议</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121859" name="Rectangle 2"/>
          <p:cNvSpPr txBox="1"/>
          <p:nvPr/>
        </p:nvSpPr>
        <p:spPr>
          <a:xfrm>
            <a:off x="549275" y="1323975"/>
            <a:ext cx="7343775" cy="533400"/>
          </a:xfrm>
          <a:prstGeom prst="rect">
            <a:avLst/>
          </a:prstGeom>
          <a:noFill/>
          <a:ln w="9525">
            <a:noFill/>
          </a:ln>
        </p:spPr>
        <p:txBody>
          <a:bodyPr anchor="t"/>
          <a:lstStyle/>
          <a:p>
            <a:pPr lvl="0" indent="0" eaLnBrk="0" hangingPunct="0">
              <a:buFont typeface="Wingdings" panose="05000000000000000000" pitchFamily="2" charset="2"/>
              <a:buChar char="p"/>
            </a:pPr>
            <a:r>
              <a:rPr lang="zh-CN" altLang="en-US" sz="2800" dirty="0">
                <a:solidFill>
                  <a:srgbClr val="3333CC"/>
                </a:solidFill>
                <a:latin typeface="宋体" panose="02010600030101010101" pitchFamily="2" charset="-122"/>
                <a:ea typeface="黑体" panose="02010609060101010101" pitchFamily="1" charset="-122"/>
              </a:rPr>
              <a:t>锁冲突检测问题（一）</a:t>
            </a:r>
            <a:endParaRPr lang="zh-CN" altLang="en-US" sz="2800" dirty="0">
              <a:solidFill>
                <a:srgbClr val="3333CC"/>
              </a:solidFill>
              <a:latin typeface="宋体" panose="02010600030101010101" pitchFamily="2" charset="-122"/>
              <a:ea typeface="黑体" panose="02010609060101010101" pitchFamily="1" charset="-122"/>
            </a:endParaRPr>
          </a:p>
        </p:txBody>
      </p:sp>
      <p:sp>
        <p:nvSpPr>
          <p:cNvPr id="124933" name="Rectangle 3"/>
          <p:cNvSpPr txBox="1"/>
          <p:nvPr/>
        </p:nvSpPr>
        <p:spPr>
          <a:xfrm>
            <a:off x="571500" y="1892300"/>
            <a:ext cx="8137525" cy="4310063"/>
          </a:xfrm>
          <a:prstGeom prst="rect">
            <a:avLst/>
          </a:prstGeom>
          <a:noFill/>
          <a:ln w="9525">
            <a:noFill/>
          </a:ln>
        </p:spPr>
        <p:txBody>
          <a:bodyPr anchor="t"/>
          <a:lstStyle/>
          <a:p>
            <a:pPr lvl="0" indent="0" eaLnBrk="0" hangingPunct="0">
              <a:lnSpc>
                <a:spcPct val="90000"/>
              </a:lnSpc>
              <a:spcBef>
                <a:spcPct val="50000"/>
              </a:spcBef>
              <a:buClr>
                <a:srgbClr val="0033CC"/>
              </a:buClr>
              <a:buSzPct val="80000"/>
            </a:pPr>
            <a:r>
              <a:rPr lang="en-US" altLang="x-none" sz="2400" dirty="0">
                <a:latin typeface="Arial" panose="020B0604020202020204" pitchFamily="34" charset="0"/>
                <a:ea typeface="宋体" panose="02010600030101010101" pitchFamily="2" charset="-122"/>
                <a:sym typeface="Wingdings" panose="05000000000000000000" pitchFamily="2" charset="2"/>
              </a:rPr>
              <a:t>RDBMS</a:t>
            </a:r>
            <a:r>
              <a:rPr lang="zh-CN" altLang="en-US" sz="2400" dirty="0">
                <a:latin typeface="Arial" panose="020B0604020202020204" pitchFamily="34" charset="0"/>
                <a:ea typeface="宋体" panose="02010600030101010101" pitchFamily="2" charset="-122"/>
                <a:sym typeface="Wingdings" panose="05000000000000000000" pitchFamily="2" charset="2"/>
              </a:rPr>
              <a:t>提供的多粒度锁（从小到大排列）：① 行级锁，或称行锁；② 页级锁，或称页锁；③ 表级锁，或称表锁。</a:t>
            </a:r>
            <a:endParaRPr lang="zh-CN" altLang="en-US" sz="2400" dirty="0">
              <a:latin typeface="Arial" panose="020B0604020202020204" pitchFamily="34" charset="0"/>
              <a:ea typeface="宋体" panose="02010600030101010101" pitchFamily="2" charset="-122"/>
              <a:sym typeface="Wingdings" panose="05000000000000000000" pitchFamily="2" charset="2"/>
            </a:endParaRPr>
          </a:p>
          <a:p>
            <a:pPr lvl="0" indent="0" eaLnBrk="0" hangingPunct="0">
              <a:lnSpc>
                <a:spcPct val="90000"/>
              </a:lnSpc>
              <a:spcBef>
                <a:spcPct val="50000"/>
              </a:spcBef>
              <a:buClr>
                <a:srgbClr val="0033CC"/>
              </a:buClr>
              <a:buSzPct val="80000"/>
            </a:pPr>
            <a:r>
              <a:rPr lang="en-US" altLang="x-none" sz="2400" dirty="0">
                <a:latin typeface="Arial" panose="020B0604020202020204" pitchFamily="34" charset="0"/>
                <a:ea typeface="宋体" panose="02010600030101010101" pitchFamily="2" charset="-122"/>
              </a:rPr>
              <a:t>1</a:t>
            </a:r>
            <a:r>
              <a:rPr lang="zh-CN" altLang="en-US" sz="2400" dirty="0">
                <a:latin typeface="Arial" panose="020B0604020202020204" pitchFamily="34" charset="0"/>
                <a:ea typeface="宋体" panose="02010600030101010101" pitchFamily="2" charset="-122"/>
              </a:rPr>
              <a:t>）</a:t>
            </a:r>
            <a:r>
              <a:rPr lang="zh-CN" altLang="en-US" sz="2400" dirty="0">
                <a:latin typeface="Arial" panose="020B0604020202020204" pitchFamily="34" charset="0"/>
                <a:ea typeface="宋体" panose="02010600030101010101" pitchFamily="2" charset="-122"/>
                <a:sym typeface="Wingdings" panose="05000000000000000000" pitchFamily="2" charset="2"/>
              </a:rPr>
              <a:t>多粒度加锁下，一个数据对象可能有两种加锁方式：</a:t>
            </a:r>
            <a:endParaRPr lang="zh-CN" altLang="en-US" sz="2400" dirty="0">
              <a:latin typeface="Arial" panose="020B0604020202020204" pitchFamily="34" charset="0"/>
              <a:ea typeface="宋体" panose="02010600030101010101" pitchFamily="2" charset="-122"/>
              <a:sym typeface="Wingdings" panose="05000000000000000000" pitchFamily="2" charset="2"/>
            </a:endParaRPr>
          </a:p>
          <a:p>
            <a:pPr marL="742950" lvl="1" indent="-285750" eaLnBrk="0" hangingPunct="0">
              <a:spcBef>
                <a:spcPts val="600"/>
              </a:spcBef>
              <a:buClr>
                <a:schemeClr val="accent2"/>
              </a:buClr>
              <a:buSzPct val="70000"/>
            </a:pPr>
            <a:r>
              <a:rPr lang="zh-CN" altLang="en-US" sz="2400" dirty="0">
                <a:latin typeface="Arial" panose="020B0604020202020204" pitchFamily="34" charset="0"/>
                <a:ea typeface="宋体" panose="02010600030101010101" pitchFamily="2" charset="-122"/>
                <a:sym typeface="Wingdings" panose="05000000000000000000" pitchFamily="2" charset="2"/>
              </a:rPr>
              <a:t>① 显式加锁</a:t>
            </a:r>
            <a:r>
              <a:rPr lang="en-US" altLang="x-none" sz="2400" dirty="0">
                <a:latin typeface="Arial" panose="020B0604020202020204" pitchFamily="34" charset="0"/>
                <a:ea typeface="宋体" panose="02010600030101010101" pitchFamily="2" charset="-122"/>
                <a:sym typeface="Wingdings" panose="05000000000000000000" pitchFamily="2" charset="2"/>
              </a:rPr>
              <a:t>(Explicit Locking)</a:t>
            </a:r>
            <a:r>
              <a:rPr lang="zh-CN" altLang="en-US" sz="2400" dirty="0">
                <a:latin typeface="Arial" panose="020B0604020202020204" pitchFamily="34" charset="0"/>
                <a:ea typeface="宋体" panose="02010600030101010101" pitchFamily="2" charset="-122"/>
                <a:sym typeface="Wingdings" panose="05000000000000000000" pitchFamily="2" charset="2"/>
              </a:rPr>
              <a:t>：系统应事务的要求，直接对该数据对象加锁。</a:t>
            </a:r>
            <a:endParaRPr lang="zh-CN" altLang="en-US" sz="2400" dirty="0">
              <a:latin typeface="Arial" panose="020B0604020202020204" pitchFamily="34" charset="0"/>
              <a:ea typeface="宋体" panose="02010600030101010101" pitchFamily="2" charset="-122"/>
              <a:sym typeface="Wingdings" panose="05000000000000000000" pitchFamily="2" charset="2"/>
            </a:endParaRPr>
          </a:p>
          <a:p>
            <a:pPr marL="742950" lvl="1" indent="-285750" eaLnBrk="0" hangingPunct="0">
              <a:spcBef>
                <a:spcPts val="600"/>
              </a:spcBef>
              <a:buClr>
                <a:schemeClr val="accent2"/>
              </a:buClr>
              <a:buSzPct val="70000"/>
            </a:pPr>
            <a:r>
              <a:rPr lang="zh-CN" altLang="en-US" sz="2400" dirty="0">
                <a:latin typeface="Arial" panose="020B0604020202020204" pitchFamily="34" charset="0"/>
                <a:ea typeface="宋体" panose="02010600030101010101" pitchFamily="2" charset="-122"/>
                <a:sym typeface="Wingdings" panose="05000000000000000000" pitchFamily="2" charset="2"/>
              </a:rPr>
              <a:t>② 隐式加锁</a:t>
            </a:r>
            <a:r>
              <a:rPr lang="en-US" altLang="x-none" sz="2400" dirty="0">
                <a:latin typeface="Arial" panose="020B0604020202020204" pitchFamily="34" charset="0"/>
                <a:ea typeface="宋体" panose="02010600030101010101" pitchFamily="2" charset="-122"/>
                <a:sym typeface="Wingdings" panose="05000000000000000000" pitchFamily="2" charset="2"/>
              </a:rPr>
              <a:t>(Implicit Locking)</a:t>
            </a:r>
            <a:r>
              <a:rPr lang="zh-CN" altLang="en-US" sz="2400" dirty="0">
                <a:latin typeface="Arial" panose="020B0604020202020204" pitchFamily="34" charset="0"/>
                <a:ea typeface="宋体" panose="02010600030101010101" pitchFamily="2" charset="-122"/>
                <a:sym typeface="Wingdings" panose="05000000000000000000" pitchFamily="2" charset="2"/>
              </a:rPr>
              <a:t>：该数据对象本身并未被显式加锁，但由于其上级被加锁，故这个数据对象被隐含加锁了。例如，一个表被加锁，则其所有元组和列均隐式被加锁。</a:t>
            </a:r>
            <a:endParaRPr lang="zh-CN" altLang="en-US" sz="2400" dirty="0">
              <a:latin typeface="Arial" panose="020B0604020202020204" pitchFamily="34" charset="0"/>
              <a:ea typeface="宋体" panose="02010600030101010101" pitchFamily="2" charset="-122"/>
              <a:sym typeface="Wingdings" panose="05000000000000000000" pitchFamily="2" charset="2"/>
            </a:endParaRPr>
          </a:p>
          <a:p>
            <a:pPr lvl="0" indent="0" eaLnBrk="0" hangingPunct="0">
              <a:lnSpc>
                <a:spcPct val="90000"/>
              </a:lnSpc>
              <a:buClr>
                <a:srgbClr val="0033CC"/>
              </a:buClr>
              <a:buSzPct val="80000"/>
            </a:pPr>
            <a:r>
              <a:rPr lang="zh-CN" altLang="en-US" sz="2400" dirty="0">
                <a:latin typeface="Arial" panose="020B0604020202020204" pitchFamily="34" charset="0"/>
                <a:ea typeface="宋体" panose="02010600030101010101" pitchFamily="2" charset="-122"/>
                <a:sym typeface="Wingdings" panose="05000000000000000000" pitchFamily="2" charset="2"/>
              </a:rPr>
              <a:t>说明：尽管区分了显式和隐式加锁，但显式加锁和隐式加锁的效果是一样的。</a:t>
            </a:r>
            <a:endParaRPr lang="zh-CN" altLang="en-US" sz="2400" dirty="0">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4933">
                                            <p:txEl>
                                              <p:pRg st="0" end="0"/>
                                            </p:txEl>
                                          </p:spTgt>
                                        </p:tgtEl>
                                        <p:attrNameLst>
                                          <p:attrName>style.visibility</p:attrName>
                                        </p:attrNameLst>
                                      </p:cBhvr>
                                      <p:to>
                                        <p:strVal val="visible"/>
                                      </p:to>
                                    </p:set>
                                    <p:animEffect transition="in" filter="box(in)">
                                      <p:cBhvr>
                                        <p:cTn id="7" dur="500"/>
                                        <p:tgtEl>
                                          <p:spTgt spid="12493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24933">
                                            <p:txEl>
                                              <p:pRg st="1" end="1"/>
                                            </p:txEl>
                                          </p:spTgt>
                                        </p:tgtEl>
                                        <p:attrNameLst>
                                          <p:attrName>style.visibility</p:attrName>
                                        </p:attrNameLst>
                                      </p:cBhvr>
                                      <p:to>
                                        <p:strVal val="visible"/>
                                      </p:to>
                                    </p:set>
                                    <p:animEffect transition="in" filter="box(in)">
                                      <p:cBhvr>
                                        <p:cTn id="12" dur="500"/>
                                        <p:tgtEl>
                                          <p:spTgt spid="124933">
                                            <p:txEl>
                                              <p:pRg st="1" end="1"/>
                                            </p:txEl>
                                          </p:spTgt>
                                        </p:tgtEl>
                                      </p:cBhvr>
                                    </p:animEffect>
                                  </p:childTnLst>
                                </p:cTn>
                              </p:par>
                              <p:par>
                                <p:cTn id="13" presetID="4" presetClass="entr" presetSubtype="16" fill="hold" grpId="0" nodeType="withEffect">
                                  <p:stCondLst>
                                    <p:cond delay="0"/>
                                  </p:stCondLst>
                                  <p:childTnLst>
                                    <p:set>
                                      <p:cBhvr>
                                        <p:cTn id="14" dur="1" fill="hold">
                                          <p:stCondLst>
                                            <p:cond delay="0"/>
                                          </p:stCondLst>
                                        </p:cTn>
                                        <p:tgtEl>
                                          <p:spTgt spid="124933">
                                            <p:txEl>
                                              <p:pRg st="2" end="2"/>
                                            </p:txEl>
                                          </p:spTgt>
                                        </p:tgtEl>
                                        <p:attrNameLst>
                                          <p:attrName>style.visibility</p:attrName>
                                        </p:attrNameLst>
                                      </p:cBhvr>
                                      <p:to>
                                        <p:strVal val="visible"/>
                                      </p:to>
                                    </p:set>
                                    <p:animEffect transition="in" filter="box(in)">
                                      <p:cBhvr>
                                        <p:cTn id="15" dur="500"/>
                                        <p:tgtEl>
                                          <p:spTgt spid="124933">
                                            <p:txEl>
                                              <p:pRg st="2" end="2"/>
                                            </p:txEl>
                                          </p:spTgt>
                                        </p:tgtEl>
                                      </p:cBhvr>
                                    </p:animEffect>
                                  </p:childTnLst>
                                </p:cTn>
                              </p:par>
                              <p:par>
                                <p:cTn id="16" presetID="4" presetClass="entr" presetSubtype="16" fill="hold" grpId="0" nodeType="withEffect">
                                  <p:stCondLst>
                                    <p:cond delay="0"/>
                                  </p:stCondLst>
                                  <p:childTnLst>
                                    <p:set>
                                      <p:cBhvr>
                                        <p:cTn id="17" dur="1" fill="hold">
                                          <p:stCondLst>
                                            <p:cond delay="0"/>
                                          </p:stCondLst>
                                        </p:cTn>
                                        <p:tgtEl>
                                          <p:spTgt spid="124933">
                                            <p:txEl>
                                              <p:pRg st="3" end="3"/>
                                            </p:txEl>
                                          </p:spTgt>
                                        </p:tgtEl>
                                        <p:attrNameLst>
                                          <p:attrName>style.visibility</p:attrName>
                                        </p:attrNameLst>
                                      </p:cBhvr>
                                      <p:to>
                                        <p:strVal val="visible"/>
                                      </p:to>
                                    </p:set>
                                    <p:animEffect transition="in" filter="box(in)">
                                      <p:cBhvr>
                                        <p:cTn id="18" dur="500"/>
                                        <p:tgtEl>
                                          <p:spTgt spid="12493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24933">
                                            <p:txEl>
                                              <p:pRg st="4" end="4"/>
                                            </p:txEl>
                                          </p:spTgt>
                                        </p:tgtEl>
                                        <p:attrNameLst>
                                          <p:attrName>style.visibility</p:attrName>
                                        </p:attrNameLst>
                                      </p:cBhvr>
                                      <p:to>
                                        <p:strVal val="visible"/>
                                      </p:to>
                                    </p:set>
                                    <p:animEffect transition="in" filter="box(in)">
                                      <p:cBhvr>
                                        <p:cTn id="23" dur="500"/>
                                        <p:tgtEl>
                                          <p:spTgt spid="12493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3" grpId="0" build="p"/>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600" dirty="0">
                <a:solidFill>
                  <a:srgbClr val="0033CC"/>
                </a:solidFill>
                <a:latin typeface="Arial" panose="020B0604020202020204" pitchFamily="34" charset="0"/>
                <a:ea typeface="黑体" panose="02010609060101010101" pitchFamily="1" charset="-122"/>
              </a:rPr>
              <a:t>五、数据库系统中的并发</a:t>
            </a:r>
            <a:endParaRPr lang="zh-CN" altLang="en-US" sz="3600" dirty="0">
              <a:solidFill>
                <a:srgbClr val="0033CC"/>
              </a:solidFill>
              <a:latin typeface="Arial" panose="020B0604020202020204" pitchFamily="34" charset="0"/>
              <a:ea typeface="黑体" panose="02010609060101010101" pitchFamily="1" charset="-122"/>
            </a:endParaRPr>
          </a:p>
        </p:txBody>
      </p:sp>
      <p:sp>
        <p:nvSpPr>
          <p:cNvPr id="122882" name="Rectangle 3"/>
          <p:cNvSpPr txBox="1"/>
          <p:nvPr/>
        </p:nvSpPr>
        <p:spPr>
          <a:xfrm>
            <a:off x="517525" y="8382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5</a:t>
            </a:r>
            <a:r>
              <a:rPr lang="zh-CN" altLang="en-US" sz="2800" dirty="0">
                <a:solidFill>
                  <a:srgbClr val="FF0000"/>
                </a:solidFill>
                <a:latin typeface="黑体" panose="02010609060101010101" pitchFamily="1" charset="-122"/>
                <a:ea typeface="黑体" panose="02010609060101010101" pitchFamily="1" charset="-122"/>
              </a:rPr>
              <a:t>、多粒度加锁协议</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122883" name="Rectangle 2"/>
          <p:cNvSpPr txBox="1"/>
          <p:nvPr/>
        </p:nvSpPr>
        <p:spPr>
          <a:xfrm>
            <a:off x="625475" y="1325563"/>
            <a:ext cx="8229600" cy="617537"/>
          </a:xfrm>
          <a:prstGeom prst="rect">
            <a:avLst/>
          </a:prstGeom>
          <a:noFill/>
          <a:ln w="9525">
            <a:noFill/>
          </a:ln>
        </p:spPr>
        <p:txBody>
          <a:bodyPr anchor="t"/>
          <a:lstStyle/>
          <a:p>
            <a:pPr lvl="0" indent="0" eaLnBrk="0" hangingPunct="0">
              <a:buFont typeface="Wingdings" panose="05000000000000000000" pitchFamily="2" charset="2"/>
              <a:buChar char="p"/>
            </a:pPr>
            <a:r>
              <a:rPr lang="zh-CN" altLang="en-US" sz="2800" dirty="0">
                <a:solidFill>
                  <a:srgbClr val="3333CC"/>
                </a:solidFill>
                <a:latin typeface="宋体" panose="02010600030101010101" pitchFamily="2" charset="-122"/>
                <a:ea typeface="黑体" panose="02010609060101010101" pitchFamily="1" charset="-122"/>
              </a:rPr>
              <a:t>锁冲突检测问题（二）</a:t>
            </a:r>
            <a:endParaRPr lang="zh-CN" altLang="en-US" sz="2800" dirty="0">
              <a:solidFill>
                <a:srgbClr val="3333CC"/>
              </a:solidFill>
              <a:latin typeface="宋体" panose="02010600030101010101" pitchFamily="2" charset="-122"/>
              <a:ea typeface="黑体" panose="02010609060101010101" pitchFamily="1" charset="-122"/>
            </a:endParaRPr>
          </a:p>
        </p:txBody>
      </p:sp>
      <p:sp>
        <p:nvSpPr>
          <p:cNvPr id="125957" name="Rectangle 3"/>
          <p:cNvSpPr txBox="1"/>
          <p:nvPr/>
        </p:nvSpPr>
        <p:spPr>
          <a:xfrm>
            <a:off x="708025" y="1876425"/>
            <a:ext cx="8137525" cy="4341813"/>
          </a:xfrm>
          <a:prstGeom prst="rect">
            <a:avLst/>
          </a:prstGeom>
          <a:noFill/>
          <a:ln w="9525">
            <a:noFill/>
          </a:ln>
        </p:spPr>
        <p:txBody>
          <a:bodyPr anchor="t"/>
          <a:lstStyle/>
          <a:p>
            <a:pPr lvl="0" indent="0" eaLnBrk="0" hangingPunct="0">
              <a:spcBef>
                <a:spcPct val="50000"/>
              </a:spcBef>
              <a:buClr>
                <a:srgbClr val="0033CC"/>
              </a:buClr>
              <a:buSzPct val="80000"/>
            </a:pPr>
            <a:r>
              <a:rPr lang="zh-CN" altLang="en-US" sz="2400" dirty="0">
                <a:latin typeface="Arial" panose="020B0604020202020204" pitchFamily="34" charset="0"/>
                <a:ea typeface="宋体" panose="02010600030101010101" pitchFamily="2" charset="-122"/>
                <a:sym typeface="Wingdings" panose="05000000000000000000" pitchFamily="2" charset="2"/>
              </a:rPr>
              <a:t>      如只有显式锁，锁的冲突较易发现；若有隐式锁，则检查冲突较复杂。</a:t>
            </a:r>
            <a:endParaRPr lang="zh-CN" altLang="en-US" sz="2400" dirty="0">
              <a:latin typeface="Arial" panose="020B0604020202020204" pitchFamily="34" charset="0"/>
              <a:ea typeface="宋体" panose="02010600030101010101" pitchFamily="2" charset="-122"/>
              <a:sym typeface="Wingdings" panose="05000000000000000000" pitchFamily="2" charset="2"/>
            </a:endParaRPr>
          </a:p>
          <a:p>
            <a:pPr lvl="0" indent="0" eaLnBrk="0" hangingPunct="0">
              <a:spcBef>
                <a:spcPct val="50000"/>
              </a:spcBef>
              <a:buClr>
                <a:srgbClr val="0033CC"/>
              </a:buClr>
              <a:buSzPct val="80000"/>
            </a:pPr>
            <a:r>
              <a:rPr lang="zh-CN" altLang="en-US" sz="2400" dirty="0">
                <a:solidFill>
                  <a:srgbClr val="CC3300"/>
                </a:solidFill>
                <a:latin typeface="Arial" panose="020B0604020202020204" pitchFamily="34" charset="0"/>
                <a:ea typeface="宋体" panose="02010600030101010101" pitchFamily="2" charset="-122"/>
                <a:sym typeface="Wingdings" panose="05000000000000000000" pitchFamily="2" charset="2"/>
              </a:rPr>
              <a:t>     多粒度加锁下，要对某数据对象加锁时的锁冲突检测：</a:t>
            </a:r>
            <a:endParaRPr lang="zh-CN" altLang="en-US" sz="2400" dirty="0">
              <a:solidFill>
                <a:srgbClr val="CC3300"/>
              </a:solidFill>
              <a:latin typeface="Arial" panose="020B0604020202020204" pitchFamily="34" charset="0"/>
              <a:ea typeface="宋体" panose="02010600030101010101" pitchFamily="2" charset="-122"/>
              <a:sym typeface="Wingdings" panose="05000000000000000000" pitchFamily="2" charset="2"/>
            </a:endParaRPr>
          </a:p>
          <a:p>
            <a:pPr lvl="0" indent="0" eaLnBrk="0" hangingPunct="0">
              <a:spcBef>
                <a:spcPct val="50000"/>
              </a:spcBef>
              <a:buClr>
                <a:srgbClr val="0033CC"/>
              </a:buClr>
              <a:buSzPct val="80000"/>
            </a:pPr>
            <a:r>
              <a:rPr lang="zh-CN" altLang="en-US" sz="2400" dirty="0">
                <a:latin typeface="Arial" panose="020B0604020202020204" pitchFamily="34" charset="0"/>
                <a:ea typeface="宋体" panose="02010600030101010101" pitchFamily="2" charset="-122"/>
                <a:sym typeface="Wingdings" panose="05000000000000000000" pitchFamily="2" charset="2"/>
              </a:rPr>
              <a:t>     首先，按数据对象大小（或上下级）关系，区分为祖先（</a:t>
            </a:r>
            <a:r>
              <a:rPr lang="en-US" altLang="x-none" sz="2400" dirty="0">
                <a:latin typeface="Arial" panose="020B0604020202020204" pitchFamily="34" charset="0"/>
                <a:ea typeface="宋体" panose="02010600030101010101" pitchFamily="2" charset="-122"/>
                <a:sym typeface="Wingdings" panose="05000000000000000000" pitchFamily="2" charset="2"/>
              </a:rPr>
              <a:t>Ancestor</a:t>
            </a:r>
            <a:r>
              <a:rPr lang="zh-CN" altLang="en-US" sz="2400" dirty="0">
                <a:latin typeface="Arial" panose="020B0604020202020204" pitchFamily="34" charset="0"/>
                <a:ea typeface="宋体" panose="02010600030101010101" pitchFamily="2" charset="-122"/>
                <a:sym typeface="Wingdings" panose="05000000000000000000" pitchFamily="2" charset="2"/>
              </a:rPr>
              <a:t>）与子孙（</a:t>
            </a:r>
            <a:r>
              <a:rPr lang="en-US" altLang="x-none" sz="2400" dirty="0">
                <a:latin typeface="Arial" panose="020B0604020202020204" pitchFamily="34" charset="0"/>
                <a:ea typeface="宋体" panose="02010600030101010101" pitchFamily="2" charset="-122"/>
                <a:sym typeface="Wingdings" panose="05000000000000000000" pitchFamily="2" charset="2"/>
              </a:rPr>
              <a:t>Offspring</a:t>
            </a:r>
            <a:r>
              <a:rPr lang="zh-CN" altLang="en-US" sz="2400" dirty="0">
                <a:latin typeface="Arial" panose="020B0604020202020204" pitchFamily="34" charset="0"/>
                <a:ea typeface="宋体" panose="02010600030101010101" pitchFamily="2" charset="-122"/>
                <a:sym typeface="Wingdings" panose="05000000000000000000" pitchFamily="2" charset="2"/>
              </a:rPr>
              <a:t>）。</a:t>
            </a:r>
            <a:endParaRPr lang="zh-CN" altLang="en-US" sz="2400" dirty="0">
              <a:latin typeface="Arial" panose="020B0604020202020204" pitchFamily="34" charset="0"/>
              <a:ea typeface="宋体" panose="02010600030101010101" pitchFamily="2" charset="-122"/>
              <a:sym typeface="Wingdings" panose="05000000000000000000" pitchFamily="2" charset="2"/>
            </a:endParaRPr>
          </a:p>
          <a:p>
            <a:pPr lvl="0" indent="0" eaLnBrk="0" hangingPunct="0">
              <a:spcBef>
                <a:spcPct val="20000"/>
              </a:spcBef>
              <a:buClr>
                <a:srgbClr val="0033CC"/>
              </a:buClr>
              <a:buSzPct val="80000"/>
            </a:pPr>
            <a:r>
              <a:rPr lang="zh-CN" altLang="en-US" sz="2400" dirty="0">
                <a:latin typeface="Arial" panose="020B0604020202020204" pitchFamily="34" charset="0"/>
                <a:ea typeface="宋体" panose="02010600030101010101" pitchFamily="2" charset="-122"/>
                <a:sym typeface="Wingdings" panose="05000000000000000000" pitchFamily="2" charset="2"/>
              </a:rPr>
              <a:t>① 检查其本身，有无显式锁与本事务显式锁冲突；</a:t>
            </a:r>
            <a:endParaRPr lang="zh-CN" altLang="en-US" sz="2400" dirty="0">
              <a:latin typeface="Arial" panose="020B0604020202020204" pitchFamily="34" charset="0"/>
              <a:ea typeface="宋体" panose="02010600030101010101" pitchFamily="2" charset="-122"/>
              <a:sym typeface="Wingdings" panose="05000000000000000000" pitchFamily="2" charset="2"/>
            </a:endParaRPr>
          </a:p>
          <a:p>
            <a:pPr lvl="0" indent="0" eaLnBrk="0" hangingPunct="0">
              <a:spcBef>
                <a:spcPct val="20000"/>
              </a:spcBef>
              <a:buClr>
                <a:srgbClr val="0033CC"/>
              </a:buClr>
              <a:buSzPct val="80000"/>
            </a:pPr>
            <a:r>
              <a:rPr lang="zh-CN" altLang="en-US" sz="2400" dirty="0">
                <a:latin typeface="Arial" panose="020B0604020202020204" pitchFamily="34" charset="0"/>
                <a:ea typeface="宋体" panose="02010600030101010101" pitchFamily="2" charset="-122"/>
                <a:sym typeface="Wingdings" panose="05000000000000000000" pitchFamily="2" charset="2"/>
              </a:rPr>
              <a:t>② 检查其所有祖先，以防本事务的显式锁与其他事务的隐式锁冲突；</a:t>
            </a:r>
            <a:endParaRPr lang="zh-CN" altLang="en-US" sz="2400" dirty="0">
              <a:latin typeface="Arial" panose="020B0604020202020204" pitchFamily="34" charset="0"/>
              <a:ea typeface="宋体" panose="02010600030101010101" pitchFamily="2" charset="-122"/>
              <a:sym typeface="Wingdings" panose="05000000000000000000" pitchFamily="2" charset="2"/>
            </a:endParaRPr>
          </a:p>
          <a:p>
            <a:pPr lvl="0" indent="0" eaLnBrk="0" hangingPunct="0">
              <a:spcBef>
                <a:spcPct val="20000"/>
              </a:spcBef>
              <a:buClr>
                <a:srgbClr val="0033CC"/>
              </a:buClr>
              <a:buSzPct val="80000"/>
            </a:pPr>
            <a:r>
              <a:rPr lang="zh-CN" altLang="en-US" sz="2400" dirty="0">
                <a:latin typeface="Arial" panose="020B0604020202020204" pitchFamily="34" charset="0"/>
                <a:ea typeface="宋体" panose="02010600030101010101" pitchFamily="2" charset="-122"/>
                <a:sym typeface="Wingdings" panose="05000000000000000000" pitchFamily="2" charset="2"/>
              </a:rPr>
              <a:t>③ 检查其所有子孙，以防本事务的隐式锁与其它事务的显式锁相冲突。</a:t>
            </a:r>
            <a:endParaRPr lang="zh-CN" altLang="en-US" sz="2400" dirty="0">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5957">
                                            <p:txEl>
                                              <p:pRg st="0" end="0"/>
                                            </p:txEl>
                                          </p:spTgt>
                                        </p:tgtEl>
                                        <p:attrNameLst>
                                          <p:attrName>style.visibility</p:attrName>
                                        </p:attrNameLst>
                                      </p:cBhvr>
                                      <p:to>
                                        <p:strVal val="visible"/>
                                      </p:to>
                                    </p:set>
                                    <p:animEffect transition="in" filter="box(in)">
                                      <p:cBhvr>
                                        <p:cTn id="7" dur="500"/>
                                        <p:tgtEl>
                                          <p:spTgt spid="12595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25957">
                                            <p:txEl>
                                              <p:pRg st="1" end="1"/>
                                            </p:txEl>
                                          </p:spTgt>
                                        </p:tgtEl>
                                        <p:attrNameLst>
                                          <p:attrName>style.visibility</p:attrName>
                                        </p:attrNameLst>
                                      </p:cBhvr>
                                      <p:to>
                                        <p:strVal val="visible"/>
                                      </p:to>
                                    </p:set>
                                    <p:animEffect transition="in" filter="box(in)">
                                      <p:cBhvr>
                                        <p:cTn id="12" dur="500"/>
                                        <p:tgtEl>
                                          <p:spTgt spid="12595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25957">
                                            <p:txEl>
                                              <p:pRg st="2" end="2"/>
                                            </p:txEl>
                                          </p:spTgt>
                                        </p:tgtEl>
                                        <p:attrNameLst>
                                          <p:attrName>style.visibility</p:attrName>
                                        </p:attrNameLst>
                                      </p:cBhvr>
                                      <p:to>
                                        <p:strVal val="visible"/>
                                      </p:to>
                                    </p:set>
                                    <p:animEffect transition="in" filter="box(in)">
                                      <p:cBhvr>
                                        <p:cTn id="17" dur="500"/>
                                        <p:tgtEl>
                                          <p:spTgt spid="12595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25957">
                                            <p:txEl>
                                              <p:pRg st="3" end="3"/>
                                            </p:txEl>
                                          </p:spTgt>
                                        </p:tgtEl>
                                        <p:attrNameLst>
                                          <p:attrName>style.visibility</p:attrName>
                                        </p:attrNameLst>
                                      </p:cBhvr>
                                      <p:to>
                                        <p:strVal val="visible"/>
                                      </p:to>
                                    </p:set>
                                    <p:animEffect transition="in" filter="box(in)">
                                      <p:cBhvr>
                                        <p:cTn id="22" dur="500"/>
                                        <p:tgtEl>
                                          <p:spTgt spid="12595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25957">
                                            <p:txEl>
                                              <p:pRg st="4" end="4"/>
                                            </p:txEl>
                                          </p:spTgt>
                                        </p:tgtEl>
                                        <p:attrNameLst>
                                          <p:attrName>style.visibility</p:attrName>
                                        </p:attrNameLst>
                                      </p:cBhvr>
                                      <p:to>
                                        <p:strVal val="visible"/>
                                      </p:to>
                                    </p:set>
                                    <p:animEffect transition="in" filter="box(in)">
                                      <p:cBhvr>
                                        <p:cTn id="27" dur="500"/>
                                        <p:tgtEl>
                                          <p:spTgt spid="12595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125957">
                                            <p:txEl>
                                              <p:pRg st="5" end="5"/>
                                            </p:txEl>
                                          </p:spTgt>
                                        </p:tgtEl>
                                        <p:attrNameLst>
                                          <p:attrName>style.visibility</p:attrName>
                                        </p:attrNameLst>
                                      </p:cBhvr>
                                      <p:to>
                                        <p:strVal val="visible"/>
                                      </p:to>
                                    </p:set>
                                    <p:animEffect transition="in" filter="box(in)">
                                      <p:cBhvr>
                                        <p:cTn id="32" dur="500"/>
                                        <p:tgtEl>
                                          <p:spTgt spid="12595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7" grpId="0" build="p"/>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Text Box 3"/>
          <p:cNvSpPr txBox="1"/>
          <p:nvPr/>
        </p:nvSpPr>
        <p:spPr>
          <a:xfrm>
            <a:off x="3563938" y="5229225"/>
            <a:ext cx="1079500" cy="396875"/>
          </a:xfrm>
          <a:prstGeom prst="rect">
            <a:avLst/>
          </a:prstGeom>
          <a:solidFill>
            <a:srgbClr val="FFDFFF"/>
          </a:solidFill>
          <a:ln w="9525">
            <a:noFill/>
          </a:ln>
        </p:spPr>
        <p:txBody>
          <a:bodyPr lIns="90000" tIns="46800" rIns="90000" bIns="46800" anchor="t">
            <a:spAutoFit/>
          </a:bodyPr>
          <a:lstStyle/>
          <a:p>
            <a:pPr lvl="0" indent="0" algn="ctr">
              <a:spcBef>
                <a:spcPct val="50000"/>
              </a:spcBef>
            </a:pPr>
            <a:r>
              <a:rPr lang="zh-CN" altLang="en-US" sz="2000" dirty="0">
                <a:solidFill>
                  <a:srgbClr val="CC0000"/>
                </a:solidFill>
                <a:latin typeface="宋体" panose="02010600030101010101" pitchFamily="2" charset="-122"/>
                <a:ea typeface="宋体" panose="02010600030101010101" pitchFamily="2" charset="-122"/>
              </a:rPr>
              <a:t>隐式锁</a:t>
            </a:r>
            <a:endParaRPr lang="zh-CN" altLang="en-US" sz="2000" dirty="0">
              <a:solidFill>
                <a:srgbClr val="CC0000"/>
              </a:solidFill>
              <a:latin typeface="宋体" panose="02010600030101010101" pitchFamily="2" charset="-122"/>
              <a:ea typeface="宋体" panose="02010600030101010101" pitchFamily="2" charset="-122"/>
            </a:endParaRPr>
          </a:p>
        </p:txBody>
      </p:sp>
      <p:sp>
        <p:nvSpPr>
          <p:cNvPr id="126979" name="Text Box 4"/>
          <p:cNvSpPr txBox="1"/>
          <p:nvPr/>
        </p:nvSpPr>
        <p:spPr>
          <a:xfrm>
            <a:off x="4572000" y="4292600"/>
            <a:ext cx="1079500" cy="406400"/>
          </a:xfrm>
          <a:prstGeom prst="rect">
            <a:avLst/>
          </a:prstGeom>
          <a:solidFill>
            <a:srgbClr val="FFDFFF"/>
          </a:solidFill>
          <a:ln w="9525" cap="flat" cmpd="sng">
            <a:solidFill>
              <a:srgbClr val="FFCCFF"/>
            </a:solidFill>
            <a:prstDash val="solid"/>
            <a:miter/>
            <a:headEnd type="none" w="med" len="med"/>
            <a:tailEnd type="none" w="med" len="med"/>
          </a:ln>
        </p:spPr>
        <p:txBody>
          <a:bodyPr lIns="90000" tIns="46800" rIns="90000" bIns="46800" anchor="t">
            <a:spAutoFit/>
          </a:bodyPr>
          <a:lstStyle/>
          <a:p>
            <a:pPr lvl="0" indent="0" algn="ctr">
              <a:spcBef>
                <a:spcPct val="50000"/>
              </a:spcBef>
            </a:pPr>
            <a:r>
              <a:rPr lang="zh-CN" altLang="en-US" sz="2000" dirty="0">
                <a:solidFill>
                  <a:srgbClr val="CC0000"/>
                </a:solidFill>
                <a:latin typeface="宋体" panose="02010600030101010101" pitchFamily="2" charset="-122"/>
                <a:ea typeface="宋体" panose="02010600030101010101" pitchFamily="2" charset="-122"/>
              </a:rPr>
              <a:t>隐式锁</a:t>
            </a:r>
            <a:endParaRPr lang="zh-CN" altLang="en-US" sz="2000" dirty="0">
              <a:solidFill>
                <a:srgbClr val="CC0000"/>
              </a:solidFill>
              <a:latin typeface="宋体" panose="02010600030101010101" pitchFamily="2" charset="-122"/>
              <a:ea typeface="宋体" panose="02010600030101010101" pitchFamily="2" charset="-122"/>
            </a:endParaRPr>
          </a:p>
        </p:txBody>
      </p:sp>
      <p:sp>
        <p:nvSpPr>
          <p:cNvPr id="123907" name="Rectangle 5"/>
          <p:cNvSpPr txBox="1"/>
          <p:nvPr/>
        </p:nvSpPr>
        <p:spPr>
          <a:xfrm>
            <a:off x="620713" y="1373188"/>
            <a:ext cx="7086600" cy="720725"/>
          </a:xfrm>
          <a:prstGeom prst="rect">
            <a:avLst/>
          </a:prstGeom>
          <a:noFill/>
          <a:ln w="9525">
            <a:noFill/>
          </a:ln>
        </p:spPr>
        <p:txBody>
          <a:bodyPr anchor="t"/>
          <a:lstStyle/>
          <a:p>
            <a:pPr lvl="0" indent="0" eaLnBrk="0" hangingPunct="0">
              <a:buFont typeface="Wingdings" panose="05000000000000000000" pitchFamily="2" charset="2"/>
              <a:buChar char="p"/>
            </a:pPr>
            <a:r>
              <a:rPr lang="zh-CN" altLang="en-US" sz="2800" dirty="0">
                <a:solidFill>
                  <a:srgbClr val="3333CC"/>
                </a:solidFill>
                <a:latin typeface="Arial" panose="020B0604020202020204" pitchFamily="34" charset="0"/>
                <a:ea typeface="黑体" panose="02010609060101010101" pitchFamily="1" charset="-122"/>
              </a:rPr>
              <a:t>锁冲突检测  </a:t>
            </a:r>
            <a:endParaRPr lang="zh-CN" altLang="en-US" sz="2800" dirty="0">
              <a:solidFill>
                <a:srgbClr val="3333CC"/>
              </a:solidFill>
              <a:latin typeface="Arial" panose="020B0604020202020204" pitchFamily="34" charset="0"/>
              <a:ea typeface="黑体" panose="02010609060101010101" pitchFamily="1" charset="-122"/>
            </a:endParaRPr>
          </a:p>
        </p:txBody>
      </p:sp>
      <p:grpSp>
        <p:nvGrpSpPr>
          <p:cNvPr id="126981" name="Group 6"/>
          <p:cNvGrpSpPr/>
          <p:nvPr/>
        </p:nvGrpSpPr>
        <p:grpSpPr>
          <a:xfrm>
            <a:off x="4572000" y="3500438"/>
            <a:ext cx="2808288" cy="2447925"/>
            <a:chOff x="0" y="0"/>
            <a:chExt cx="1769" cy="1542"/>
          </a:xfrm>
        </p:grpSpPr>
        <p:sp>
          <p:nvSpPr>
            <p:cNvPr id="123909" name="Oval 7"/>
            <p:cNvSpPr/>
            <p:nvPr/>
          </p:nvSpPr>
          <p:spPr>
            <a:xfrm>
              <a:off x="1043" y="0"/>
              <a:ext cx="363" cy="317"/>
            </a:xfrm>
            <a:prstGeom prst="ellipse">
              <a:avLst/>
            </a:prstGeom>
            <a:solidFill>
              <a:srgbClr val="CCFFFF"/>
            </a:solidFill>
            <a:ln w="9525" cap="flat" cmpd="sng">
              <a:solidFill>
                <a:schemeClr val="tx1"/>
              </a:solidFill>
              <a:prstDash val="solid"/>
              <a:round/>
              <a:headEnd type="none" w="med" len="med"/>
              <a:tailEnd type="none" w="med" len="med"/>
            </a:ln>
          </p:spPr>
          <p:txBody>
            <a:bodyPr wrap="none" lIns="90000" tIns="46800" rIns="90000" bIns="46800" anchor="ctr"/>
            <a:lstStyle/>
            <a:p>
              <a:pPr lvl="0" indent="0" algn="ctr"/>
              <a:r>
                <a:rPr lang="en-US" altLang="x-none" sz="2400" dirty="0">
                  <a:latin typeface="宋体" panose="02010600030101010101" pitchFamily="2" charset="-122"/>
                  <a:ea typeface="宋体" panose="02010600030101010101" pitchFamily="2" charset="-122"/>
                </a:rPr>
                <a:t>DB</a:t>
              </a:r>
              <a:endParaRPr lang="en-US" altLang="x-none" sz="2400" dirty="0">
                <a:latin typeface="宋体" panose="02010600030101010101" pitchFamily="2" charset="-122"/>
                <a:ea typeface="宋体" panose="02010600030101010101" pitchFamily="2" charset="-122"/>
              </a:endParaRPr>
            </a:p>
          </p:txBody>
        </p:sp>
        <p:sp>
          <p:nvSpPr>
            <p:cNvPr id="123910" name="Oval 8"/>
            <p:cNvSpPr/>
            <p:nvPr/>
          </p:nvSpPr>
          <p:spPr>
            <a:xfrm>
              <a:off x="635" y="635"/>
              <a:ext cx="272" cy="317"/>
            </a:xfrm>
            <a:prstGeom prst="ellipse">
              <a:avLst/>
            </a:prstGeom>
            <a:solidFill>
              <a:srgbClr val="CCFFFF"/>
            </a:solidFill>
            <a:ln w="9525" cap="flat" cmpd="sng">
              <a:solidFill>
                <a:schemeClr val="tx1"/>
              </a:solidFill>
              <a:prstDash val="solid"/>
              <a:round/>
              <a:headEnd type="none" w="med" len="med"/>
              <a:tailEnd type="none" w="med" len="med"/>
            </a:ln>
          </p:spPr>
          <p:txBody>
            <a:bodyPr wrap="none" lIns="90000" tIns="46800" rIns="90000" bIns="46800" anchor="ctr"/>
            <a:lstStyle/>
            <a:p>
              <a:pPr lvl="0" indent="0" algn="ctr"/>
              <a:r>
                <a:rPr lang="zh-CN" altLang="en-US" sz="2400" dirty="0">
                  <a:latin typeface="宋体" panose="02010600030101010101" pitchFamily="2" charset="-122"/>
                  <a:ea typeface="宋体" panose="02010600030101010101" pitchFamily="2" charset="-122"/>
                </a:rPr>
                <a:t>表</a:t>
              </a:r>
              <a:endParaRPr lang="zh-CN" altLang="en-US" sz="2400" dirty="0">
                <a:latin typeface="宋体" panose="02010600030101010101" pitchFamily="2" charset="-122"/>
                <a:ea typeface="宋体" panose="02010600030101010101" pitchFamily="2" charset="-122"/>
              </a:endParaRPr>
            </a:p>
          </p:txBody>
        </p:sp>
        <p:sp>
          <p:nvSpPr>
            <p:cNvPr id="123911" name="Oval 9"/>
            <p:cNvSpPr/>
            <p:nvPr/>
          </p:nvSpPr>
          <p:spPr>
            <a:xfrm>
              <a:off x="1452" y="635"/>
              <a:ext cx="317" cy="318"/>
            </a:xfrm>
            <a:prstGeom prst="ellipse">
              <a:avLst/>
            </a:prstGeom>
            <a:solidFill>
              <a:srgbClr val="CCFFFF"/>
            </a:solidFill>
            <a:ln w="9525" cap="flat" cmpd="sng">
              <a:solidFill>
                <a:schemeClr val="tx1"/>
              </a:solidFill>
              <a:prstDash val="solid"/>
              <a:round/>
              <a:headEnd type="none" w="med" len="med"/>
              <a:tailEnd type="none" w="med" len="med"/>
            </a:ln>
          </p:spPr>
          <p:txBody>
            <a:bodyPr wrap="none" lIns="90000" tIns="46800" rIns="90000" bIns="46800" anchor="ctr"/>
            <a:lstStyle/>
            <a:p>
              <a:pPr lvl="0" indent="0" algn="ctr"/>
              <a:r>
                <a:rPr lang="zh-CN" altLang="en-US" sz="2400" dirty="0">
                  <a:latin typeface="宋体" panose="02010600030101010101" pitchFamily="2" charset="-122"/>
                  <a:ea typeface="宋体" panose="02010600030101010101" pitchFamily="2" charset="-122"/>
                </a:rPr>
                <a:t>表</a:t>
              </a:r>
              <a:endParaRPr lang="zh-CN" altLang="en-US" sz="2400" dirty="0">
                <a:latin typeface="宋体" panose="02010600030101010101" pitchFamily="2" charset="-122"/>
                <a:ea typeface="宋体" panose="02010600030101010101" pitchFamily="2" charset="-122"/>
              </a:endParaRPr>
            </a:p>
          </p:txBody>
        </p:sp>
        <p:sp>
          <p:nvSpPr>
            <p:cNvPr id="123912" name="Oval 10"/>
            <p:cNvSpPr/>
            <p:nvPr/>
          </p:nvSpPr>
          <p:spPr>
            <a:xfrm>
              <a:off x="0" y="1179"/>
              <a:ext cx="272" cy="317"/>
            </a:xfrm>
            <a:prstGeom prst="ellipse">
              <a:avLst/>
            </a:prstGeom>
            <a:solidFill>
              <a:srgbClr val="CCFFFF"/>
            </a:solidFill>
            <a:ln w="9525" cap="flat" cmpd="sng">
              <a:solidFill>
                <a:schemeClr val="tx1"/>
              </a:solidFill>
              <a:prstDash val="solid"/>
              <a:round/>
              <a:headEnd type="none" w="med" len="med"/>
              <a:tailEnd type="none" w="med" len="med"/>
            </a:ln>
          </p:spPr>
          <p:txBody>
            <a:bodyPr wrap="none" lIns="90000" tIns="46800" rIns="90000" bIns="46800" anchor="ctr"/>
            <a:lstStyle/>
            <a:p>
              <a:pPr lvl="0" indent="0" algn="ctr"/>
              <a:r>
                <a:rPr lang="zh-CN" altLang="en-US" sz="2400" dirty="0">
                  <a:latin typeface="宋体" panose="02010600030101010101" pitchFamily="2" charset="-122"/>
                  <a:ea typeface="宋体" panose="02010600030101010101" pitchFamily="2" charset="-122"/>
                </a:rPr>
                <a:t>行</a:t>
              </a:r>
              <a:endParaRPr lang="zh-CN" altLang="en-US" sz="2400" dirty="0">
                <a:latin typeface="宋体" panose="02010600030101010101" pitchFamily="2" charset="-122"/>
                <a:ea typeface="宋体" panose="02010600030101010101" pitchFamily="2" charset="-122"/>
              </a:endParaRPr>
            </a:p>
          </p:txBody>
        </p:sp>
        <p:sp>
          <p:nvSpPr>
            <p:cNvPr id="123913" name="Oval 11"/>
            <p:cNvSpPr/>
            <p:nvPr/>
          </p:nvSpPr>
          <p:spPr>
            <a:xfrm>
              <a:off x="590" y="1225"/>
              <a:ext cx="272" cy="317"/>
            </a:xfrm>
            <a:prstGeom prst="ellipse">
              <a:avLst/>
            </a:prstGeom>
            <a:solidFill>
              <a:srgbClr val="CCFFFF"/>
            </a:solidFill>
            <a:ln w="9525" cap="flat" cmpd="sng">
              <a:solidFill>
                <a:schemeClr val="tx1"/>
              </a:solidFill>
              <a:prstDash val="solid"/>
              <a:round/>
              <a:headEnd type="none" w="med" len="med"/>
              <a:tailEnd type="none" w="med" len="med"/>
            </a:ln>
          </p:spPr>
          <p:txBody>
            <a:bodyPr wrap="none" lIns="90000" tIns="46800" rIns="90000" bIns="46800" anchor="ctr"/>
            <a:lstStyle/>
            <a:p>
              <a:pPr lvl="0" indent="0"/>
              <a:endParaRPr lang="zh-CN" altLang="en-US" dirty="0">
                <a:latin typeface="Arial" panose="020B0604020202020204" pitchFamily="34" charset="0"/>
                <a:ea typeface="宋体" panose="02010600030101010101" pitchFamily="2" charset="-122"/>
              </a:endParaRPr>
            </a:p>
          </p:txBody>
        </p:sp>
        <p:sp>
          <p:nvSpPr>
            <p:cNvPr id="123914" name="Oval 12"/>
            <p:cNvSpPr/>
            <p:nvPr/>
          </p:nvSpPr>
          <p:spPr>
            <a:xfrm>
              <a:off x="1179" y="1225"/>
              <a:ext cx="272" cy="317"/>
            </a:xfrm>
            <a:prstGeom prst="ellipse">
              <a:avLst/>
            </a:prstGeom>
            <a:solidFill>
              <a:srgbClr val="CCFFFF"/>
            </a:solidFill>
            <a:ln w="9525" cap="flat" cmpd="sng">
              <a:solidFill>
                <a:schemeClr val="tx1"/>
              </a:solidFill>
              <a:prstDash val="solid"/>
              <a:round/>
              <a:headEnd type="none" w="med" len="med"/>
              <a:tailEnd type="none" w="med" len="med"/>
            </a:ln>
          </p:spPr>
          <p:txBody>
            <a:bodyPr wrap="none" lIns="90000" tIns="46800" rIns="90000" bIns="46800" anchor="ctr"/>
            <a:lstStyle/>
            <a:p>
              <a:pPr lvl="0" indent="0"/>
              <a:endParaRPr lang="zh-CN" altLang="en-US" dirty="0">
                <a:latin typeface="Arial" panose="020B0604020202020204" pitchFamily="34" charset="0"/>
                <a:ea typeface="宋体" panose="02010600030101010101" pitchFamily="2" charset="-122"/>
              </a:endParaRPr>
            </a:p>
          </p:txBody>
        </p:sp>
        <p:sp>
          <p:nvSpPr>
            <p:cNvPr id="123915" name="Line 13"/>
            <p:cNvSpPr/>
            <p:nvPr/>
          </p:nvSpPr>
          <p:spPr>
            <a:xfrm flipH="1">
              <a:off x="816" y="318"/>
              <a:ext cx="363" cy="317"/>
            </a:xfrm>
            <a:prstGeom prst="line">
              <a:avLst/>
            </a:prstGeom>
            <a:ln w="28575" cap="flat" cmpd="sng">
              <a:solidFill>
                <a:schemeClr val="tx1"/>
              </a:solidFill>
              <a:prstDash val="solid"/>
              <a:round/>
              <a:headEnd type="none" w="med" len="med"/>
              <a:tailEnd type="none" w="med" len="med"/>
            </a:ln>
          </p:spPr>
        </p:sp>
        <p:sp>
          <p:nvSpPr>
            <p:cNvPr id="123916" name="Line 14"/>
            <p:cNvSpPr/>
            <p:nvPr/>
          </p:nvSpPr>
          <p:spPr>
            <a:xfrm flipH="1">
              <a:off x="726" y="952"/>
              <a:ext cx="45" cy="273"/>
            </a:xfrm>
            <a:prstGeom prst="line">
              <a:avLst/>
            </a:prstGeom>
            <a:ln w="28575" cap="flat" cmpd="sng">
              <a:solidFill>
                <a:schemeClr val="tx1"/>
              </a:solidFill>
              <a:prstDash val="solid"/>
              <a:round/>
              <a:headEnd type="none" w="med" len="med"/>
              <a:tailEnd type="none" w="med" len="med"/>
            </a:ln>
          </p:spPr>
        </p:sp>
        <p:sp>
          <p:nvSpPr>
            <p:cNvPr id="123917" name="Line 15"/>
            <p:cNvSpPr/>
            <p:nvPr/>
          </p:nvSpPr>
          <p:spPr>
            <a:xfrm flipH="1">
              <a:off x="136" y="907"/>
              <a:ext cx="545" cy="273"/>
            </a:xfrm>
            <a:prstGeom prst="line">
              <a:avLst/>
            </a:prstGeom>
            <a:ln w="28575" cap="flat" cmpd="sng">
              <a:solidFill>
                <a:schemeClr val="tx1"/>
              </a:solidFill>
              <a:prstDash val="solid"/>
              <a:round/>
              <a:headEnd type="none" w="med" len="med"/>
              <a:tailEnd type="none" w="med" len="med"/>
            </a:ln>
          </p:spPr>
        </p:sp>
        <p:sp>
          <p:nvSpPr>
            <p:cNvPr id="123918" name="Line 16"/>
            <p:cNvSpPr/>
            <p:nvPr/>
          </p:nvSpPr>
          <p:spPr>
            <a:xfrm>
              <a:off x="862" y="907"/>
              <a:ext cx="454" cy="318"/>
            </a:xfrm>
            <a:prstGeom prst="line">
              <a:avLst/>
            </a:prstGeom>
            <a:ln w="28575" cap="flat" cmpd="sng">
              <a:solidFill>
                <a:schemeClr val="tx1"/>
              </a:solidFill>
              <a:prstDash val="solid"/>
              <a:round/>
              <a:headEnd type="none" w="med" len="med"/>
              <a:tailEnd type="none" w="med" len="med"/>
            </a:ln>
          </p:spPr>
        </p:sp>
        <p:sp>
          <p:nvSpPr>
            <p:cNvPr id="123919" name="Line 17"/>
            <p:cNvSpPr/>
            <p:nvPr/>
          </p:nvSpPr>
          <p:spPr>
            <a:xfrm>
              <a:off x="1225" y="317"/>
              <a:ext cx="363" cy="318"/>
            </a:xfrm>
            <a:prstGeom prst="line">
              <a:avLst/>
            </a:prstGeom>
            <a:ln w="28575" cap="flat" cmpd="sng">
              <a:solidFill>
                <a:schemeClr val="tx1"/>
              </a:solidFill>
              <a:prstDash val="solid"/>
              <a:round/>
              <a:headEnd type="none" w="med" len="med"/>
              <a:tailEnd type="none" w="med" len="med"/>
            </a:ln>
          </p:spPr>
        </p:sp>
      </p:grpSp>
      <p:sp>
        <p:nvSpPr>
          <p:cNvPr id="126993" name="Text Box 18"/>
          <p:cNvSpPr txBox="1"/>
          <p:nvPr/>
        </p:nvSpPr>
        <p:spPr>
          <a:xfrm>
            <a:off x="1258888" y="4508500"/>
            <a:ext cx="1873250" cy="466725"/>
          </a:xfrm>
          <a:prstGeom prst="rect">
            <a:avLst/>
          </a:prstGeom>
          <a:noFill/>
          <a:ln w="9525" cap="flat" cmpd="sng">
            <a:solidFill>
              <a:srgbClr val="0000CC"/>
            </a:solidFill>
            <a:prstDash val="solid"/>
            <a:miter/>
            <a:headEnd type="none" w="med" len="med"/>
            <a:tailEnd type="none" w="med" len="med"/>
          </a:ln>
        </p:spPr>
        <p:txBody>
          <a:bodyPr lIns="90000" tIns="46800" rIns="90000" bIns="46800" anchor="t">
            <a:spAutoFit/>
          </a:bodyPr>
          <a:lstStyle/>
          <a:p>
            <a:pPr lvl="0" indent="0" algn="ctr">
              <a:spcBef>
                <a:spcPct val="50000"/>
              </a:spcBef>
            </a:pPr>
            <a:r>
              <a:rPr lang="zh-CN" altLang="en-US" sz="2400" dirty="0">
                <a:solidFill>
                  <a:srgbClr val="0000CC"/>
                </a:solidFill>
                <a:latin typeface="宋体" panose="02010600030101010101" pitchFamily="2" charset="-122"/>
                <a:ea typeface="宋体" panose="02010600030101010101" pitchFamily="2" charset="-122"/>
              </a:rPr>
              <a:t>请求显示锁</a:t>
            </a:r>
            <a:endParaRPr lang="zh-CN" altLang="en-US" sz="2400" dirty="0">
              <a:solidFill>
                <a:srgbClr val="0000CC"/>
              </a:solidFill>
              <a:latin typeface="宋体" panose="02010600030101010101" pitchFamily="2" charset="-122"/>
              <a:ea typeface="宋体" panose="02010600030101010101" pitchFamily="2" charset="-122"/>
            </a:endParaRPr>
          </a:p>
        </p:txBody>
      </p:sp>
      <p:sp>
        <p:nvSpPr>
          <p:cNvPr id="126994" name="Line 19"/>
          <p:cNvSpPr/>
          <p:nvPr/>
        </p:nvSpPr>
        <p:spPr>
          <a:xfrm>
            <a:off x="3132138" y="4797425"/>
            <a:ext cx="1295400" cy="0"/>
          </a:xfrm>
          <a:prstGeom prst="line">
            <a:avLst/>
          </a:prstGeom>
          <a:ln w="38100" cap="flat" cmpd="sng">
            <a:solidFill>
              <a:srgbClr val="CC0000"/>
            </a:solidFill>
            <a:prstDash val="solid"/>
            <a:round/>
            <a:headEnd type="triangle" w="med" len="med"/>
            <a:tailEnd type="triangle" w="med" len="med"/>
          </a:ln>
        </p:spPr>
      </p:sp>
      <p:sp>
        <p:nvSpPr>
          <p:cNvPr id="126995" name="Line 20"/>
          <p:cNvSpPr/>
          <p:nvPr/>
        </p:nvSpPr>
        <p:spPr>
          <a:xfrm flipV="1">
            <a:off x="2339975" y="3716338"/>
            <a:ext cx="2519363" cy="792162"/>
          </a:xfrm>
          <a:prstGeom prst="line">
            <a:avLst/>
          </a:prstGeom>
          <a:ln w="38100" cap="flat" cmpd="sng">
            <a:solidFill>
              <a:srgbClr val="006600"/>
            </a:solidFill>
            <a:prstDash val="dash"/>
            <a:round/>
            <a:headEnd type="none" w="med" len="med"/>
            <a:tailEnd type="triangle" w="med" len="med"/>
          </a:ln>
        </p:spPr>
      </p:sp>
      <p:sp>
        <p:nvSpPr>
          <p:cNvPr id="126996" name="Text Box 21"/>
          <p:cNvSpPr txBox="1"/>
          <p:nvPr/>
        </p:nvSpPr>
        <p:spPr>
          <a:xfrm>
            <a:off x="4427538" y="4581525"/>
            <a:ext cx="1009650" cy="406400"/>
          </a:xfrm>
          <a:prstGeom prst="rect">
            <a:avLst/>
          </a:prstGeom>
          <a:noFill/>
          <a:ln w="9525" cap="flat" cmpd="sng">
            <a:solidFill>
              <a:srgbClr val="006600"/>
            </a:solidFill>
            <a:prstDash val="solid"/>
            <a:miter/>
            <a:headEnd type="none" w="med" len="med"/>
            <a:tailEnd type="none" w="med" len="med"/>
          </a:ln>
        </p:spPr>
        <p:txBody>
          <a:bodyPr lIns="90000" tIns="46800" rIns="90000" bIns="46800" anchor="t">
            <a:spAutoFit/>
          </a:bodyPr>
          <a:lstStyle/>
          <a:p>
            <a:pPr lvl="0" indent="0" algn="ctr">
              <a:spcBef>
                <a:spcPct val="50000"/>
              </a:spcBef>
            </a:pPr>
            <a:r>
              <a:rPr lang="zh-CN" altLang="en-US" sz="2000" dirty="0">
                <a:solidFill>
                  <a:srgbClr val="006600"/>
                </a:solidFill>
                <a:latin typeface="宋体" panose="02010600030101010101" pitchFamily="2" charset="-122"/>
                <a:ea typeface="宋体" panose="02010600030101010101" pitchFamily="2" charset="-122"/>
              </a:rPr>
              <a:t>显示锁</a:t>
            </a:r>
            <a:endParaRPr lang="zh-CN" altLang="en-US" sz="2000" dirty="0">
              <a:solidFill>
                <a:srgbClr val="006600"/>
              </a:solidFill>
              <a:latin typeface="宋体" panose="02010600030101010101" pitchFamily="2" charset="-122"/>
              <a:ea typeface="宋体" panose="02010600030101010101" pitchFamily="2" charset="-122"/>
            </a:endParaRPr>
          </a:p>
        </p:txBody>
      </p:sp>
      <p:sp>
        <p:nvSpPr>
          <p:cNvPr id="126997" name="Text Box 22"/>
          <p:cNvSpPr txBox="1"/>
          <p:nvPr/>
        </p:nvSpPr>
        <p:spPr>
          <a:xfrm>
            <a:off x="4932363" y="3573463"/>
            <a:ext cx="1152525" cy="406400"/>
          </a:xfrm>
          <a:prstGeom prst="rect">
            <a:avLst/>
          </a:prstGeom>
          <a:noFill/>
          <a:ln w="9525" cap="flat" cmpd="sng">
            <a:solidFill>
              <a:srgbClr val="006600"/>
            </a:solidFill>
            <a:prstDash val="solid"/>
            <a:miter/>
            <a:headEnd type="none" w="med" len="med"/>
            <a:tailEnd type="none" w="med" len="med"/>
          </a:ln>
        </p:spPr>
        <p:txBody>
          <a:bodyPr lIns="90000" tIns="46800" rIns="90000" bIns="46800" anchor="t">
            <a:spAutoFit/>
          </a:bodyPr>
          <a:lstStyle/>
          <a:p>
            <a:pPr lvl="0" indent="0" algn="ctr">
              <a:spcBef>
                <a:spcPct val="50000"/>
              </a:spcBef>
            </a:pPr>
            <a:r>
              <a:rPr lang="zh-CN" altLang="en-US" sz="2000" dirty="0">
                <a:solidFill>
                  <a:srgbClr val="006600"/>
                </a:solidFill>
                <a:latin typeface="宋体" panose="02010600030101010101" pitchFamily="2" charset="-122"/>
                <a:ea typeface="宋体" panose="02010600030101010101" pitchFamily="2" charset="-122"/>
              </a:rPr>
              <a:t>显示锁</a:t>
            </a:r>
            <a:endParaRPr lang="zh-CN" altLang="en-US" sz="2000" dirty="0">
              <a:solidFill>
                <a:srgbClr val="006600"/>
              </a:solidFill>
              <a:latin typeface="宋体" panose="02010600030101010101" pitchFamily="2" charset="-122"/>
              <a:ea typeface="宋体" panose="02010600030101010101" pitchFamily="2" charset="-122"/>
            </a:endParaRPr>
          </a:p>
        </p:txBody>
      </p:sp>
      <p:sp>
        <p:nvSpPr>
          <p:cNvPr id="126998" name="Line 23"/>
          <p:cNvSpPr/>
          <p:nvPr/>
        </p:nvSpPr>
        <p:spPr>
          <a:xfrm flipH="1">
            <a:off x="5148263" y="4005263"/>
            <a:ext cx="215900" cy="287337"/>
          </a:xfrm>
          <a:prstGeom prst="line">
            <a:avLst/>
          </a:prstGeom>
          <a:ln w="28575" cap="rnd" cmpd="sng">
            <a:solidFill>
              <a:srgbClr val="CC00CC"/>
            </a:solidFill>
            <a:prstDash val="sysDot"/>
            <a:round/>
            <a:headEnd type="none" w="med" len="med"/>
            <a:tailEnd type="triangle" w="med" len="med"/>
          </a:ln>
        </p:spPr>
      </p:sp>
      <p:sp>
        <p:nvSpPr>
          <p:cNvPr id="126999" name="Text Box 24"/>
          <p:cNvSpPr txBox="1"/>
          <p:nvPr/>
        </p:nvSpPr>
        <p:spPr>
          <a:xfrm>
            <a:off x="3275013" y="5516563"/>
            <a:ext cx="1152525" cy="406400"/>
          </a:xfrm>
          <a:prstGeom prst="rect">
            <a:avLst/>
          </a:prstGeom>
          <a:noFill/>
          <a:ln w="9525" cap="flat" cmpd="sng">
            <a:solidFill>
              <a:srgbClr val="006600"/>
            </a:solidFill>
            <a:prstDash val="solid"/>
            <a:miter/>
            <a:headEnd type="none" w="med" len="med"/>
            <a:tailEnd type="none" w="med" len="med"/>
          </a:ln>
        </p:spPr>
        <p:txBody>
          <a:bodyPr lIns="90000" tIns="46800" rIns="90000" bIns="46800" anchor="t">
            <a:spAutoFit/>
          </a:bodyPr>
          <a:lstStyle/>
          <a:p>
            <a:pPr lvl="0" indent="0" algn="ctr">
              <a:spcBef>
                <a:spcPct val="50000"/>
              </a:spcBef>
            </a:pPr>
            <a:r>
              <a:rPr lang="zh-CN" altLang="en-US" sz="2000" dirty="0">
                <a:solidFill>
                  <a:srgbClr val="006600"/>
                </a:solidFill>
                <a:latin typeface="宋体" panose="02010600030101010101" pitchFamily="2" charset="-122"/>
                <a:ea typeface="宋体" panose="02010600030101010101" pitchFamily="2" charset="-122"/>
              </a:rPr>
              <a:t>显示锁</a:t>
            </a:r>
            <a:endParaRPr lang="zh-CN" altLang="en-US" sz="2000" dirty="0">
              <a:solidFill>
                <a:srgbClr val="006600"/>
              </a:solidFill>
              <a:latin typeface="宋体" panose="02010600030101010101" pitchFamily="2" charset="-122"/>
              <a:ea typeface="宋体" panose="02010600030101010101" pitchFamily="2" charset="-122"/>
            </a:endParaRPr>
          </a:p>
        </p:txBody>
      </p:sp>
      <p:grpSp>
        <p:nvGrpSpPr>
          <p:cNvPr id="127000" name="Group 25"/>
          <p:cNvGrpSpPr/>
          <p:nvPr/>
        </p:nvGrpSpPr>
        <p:grpSpPr>
          <a:xfrm>
            <a:off x="2266950" y="5013325"/>
            <a:ext cx="936625" cy="806450"/>
            <a:chOff x="0" y="0"/>
            <a:chExt cx="590" cy="508"/>
          </a:xfrm>
        </p:grpSpPr>
        <p:sp>
          <p:nvSpPr>
            <p:cNvPr id="123928" name="Line 26"/>
            <p:cNvSpPr/>
            <p:nvPr/>
          </p:nvSpPr>
          <p:spPr>
            <a:xfrm>
              <a:off x="0" y="0"/>
              <a:ext cx="590" cy="408"/>
            </a:xfrm>
            <a:prstGeom prst="line">
              <a:avLst/>
            </a:prstGeom>
            <a:ln w="38100" cap="flat" cmpd="sng">
              <a:solidFill>
                <a:srgbClr val="006600"/>
              </a:solidFill>
              <a:prstDash val="dash"/>
              <a:round/>
              <a:headEnd type="none" w="med" len="med"/>
              <a:tailEnd type="triangle" w="med" len="med"/>
            </a:ln>
          </p:spPr>
        </p:sp>
        <p:sp>
          <p:nvSpPr>
            <p:cNvPr id="123929" name="Text Box 27"/>
            <p:cNvSpPr txBox="1"/>
            <p:nvPr/>
          </p:nvSpPr>
          <p:spPr>
            <a:xfrm>
              <a:off x="0" y="181"/>
              <a:ext cx="318" cy="327"/>
            </a:xfrm>
            <a:prstGeom prst="rect">
              <a:avLst/>
            </a:prstGeom>
            <a:noFill/>
            <a:ln w="9525">
              <a:noFill/>
            </a:ln>
          </p:spPr>
          <p:txBody>
            <a:bodyPr lIns="90000" tIns="46800" rIns="90000" bIns="46800" anchor="t">
              <a:spAutoFit/>
            </a:bodyPr>
            <a:lstStyle/>
            <a:p>
              <a:pPr lvl="0" indent="0" algn="ctr">
                <a:spcBef>
                  <a:spcPct val="50000"/>
                </a:spcBef>
              </a:pPr>
              <a:r>
                <a:rPr lang="en-US" altLang="x-none" sz="2800" dirty="0">
                  <a:solidFill>
                    <a:srgbClr val="CC0000"/>
                  </a:solidFill>
                  <a:latin typeface="宋体" panose="02010600030101010101" pitchFamily="2" charset="-122"/>
                  <a:ea typeface="宋体" panose="02010600030101010101" pitchFamily="2" charset="-122"/>
                  <a:sym typeface="Wingdings 2" panose="05020102010507070707" pitchFamily="2" charset="2"/>
                </a:rPr>
                <a:t></a:t>
              </a:r>
              <a:endParaRPr lang="en-US" altLang="x-none" sz="2800" dirty="0">
                <a:solidFill>
                  <a:srgbClr val="CC0000"/>
                </a:solidFill>
                <a:latin typeface="宋体" panose="02010600030101010101" pitchFamily="2" charset="-122"/>
                <a:ea typeface="宋体" panose="02010600030101010101" pitchFamily="2" charset="-122"/>
                <a:sym typeface="Wingdings 2" panose="05020102010507070707" pitchFamily="2" charset="2"/>
              </a:endParaRPr>
            </a:p>
          </p:txBody>
        </p:sp>
      </p:grpSp>
      <p:sp>
        <p:nvSpPr>
          <p:cNvPr id="127003" name="Rectangle 28"/>
          <p:cNvSpPr/>
          <p:nvPr/>
        </p:nvSpPr>
        <p:spPr>
          <a:xfrm>
            <a:off x="3492500" y="4365625"/>
            <a:ext cx="498475" cy="519113"/>
          </a:xfrm>
          <a:prstGeom prst="rect">
            <a:avLst/>
          </a:prstGeom>
          <a:noFill/>
          <a:ln w="9525">
            <a:noFill/>
          </a:ln>
        </p:spPr>
        <p:txBody>
          <a:bodyPr wrap="none" lIns="90000" tIns="46800" rIns="90000" bIns="46800" anchor="t">
            <a:spAutoFit/>
          </a:bodyPr>
          <a:lstStyle/>
          <a:p>
            <a:pPr lvl="0" indent="0"/>
            <a:r>
              <a:rPr lang="en-US" altLang="x-none" sz="2800" dirty="0">
                <a:solidFill>
                  <a:srgbClr val="CC0000"/>
                </a:solidFill>
                <a:latin typeface="宋体" panose="02010600030101010101" pitchFamily="2" charset="-122"/>
                <a:ea typeface="宋体" panose="02010600030101010101" pitchFamily="2" charset="-122"/>
                <a:sym typeface="Wingdings 2" panose="05020102010507070707" pitchFamily="2" charset="2"/>
              </a:rPr>
              <a:t></a:t>
            </a:r>
            <a:endParaRPr lang="en-US" altLang="x-none" sz="2800" dirty="0">
              <a:solidFill>
                <a:srgbClr val="CC0000"/>
              </a:solidFill>
              <a:latin typeface="宋体" panose="02010600030101010101" pitchFamily="2" charset="-122"/>
              <a:ea typeface="宋体" panose="02010600030101010101" pitchFamily="2" charset="-122"/>
              <a:sym typeface="Wingdings 2" panose="05020102010507070707" pitchFamily="2" charset="2"/>
            </a:endParaRPr>
          </a:p>
        </p:txBody>
      </p:sp>
      <p:sp>
        <p:nvSpPr>
          <p:cNvPr id="127004" name="Rectangle 29"/>
          <p:cNvSpPr/>
          <p:nvPr/>
        </p:nvSpPr>
        <p:spPr>
          <a:xfrm>
            <a:off x="2916238" y="3716338"/>
            <a:ext cx="498475" cy="519112"/>
          </a:xfrm>
          <a:prstGeom prst="rect">
            <a:avLst/>
          </a:prstGeom>
          <a:noFill/>
          <a:ln w="9525">
            <a:noFill/>
          </a:ln>
        </p:spPr>
        <p:txBody>
          <a:bodyPr wrap="none" lIns="90000" tIns="46800" rIns="90000" bIns="46800" anchor="t">
            <a:spAutoFit/>
          </a:bodyPr>
          <a:lstStyle/>
          <a:p>
            <a:pPr lvl="0" indent="0"/>
            <a:r>
              <a:rPr lang="en-US" altLang="x-none" sz="2800" dirty="0">
                <a:solidFill>
                  <a:srgbClr val="CC0000"/>
                </a:solidFill>
                <a:latin typeface="宋体" panose="02010600030101010101" pitchFamily="2" charset="-122"/>
                <a:ea typeface="宋体" panose="02010600030101010101" pitchFamily="2" charset="-122"/>
                <a:sym typeface="Wingdings 2" panose="05020102010507070707" pitchFamily="2" charset="2"/>
              </a:rPr>
              <a:t></a:t>
            </a:r>
            <a:endParaRPr lang="en-US" altLang="x-none" sz="2800" dirty="0">
              <a:solidFill>
                <a:srgbClr val="CC0000"/>
              </a:solidFill>
              <a:latin typeface="宋体" panose="02010600030101010101" pitchFamily="2" charset="-122"/>
              <a:ea typeface="宋体" panose="02010600030101010101" pitchFamily="2" charset="-122"/>
              <a:sym typeface="Wingdings 2" panose="05020102010507070707" pitchFamily="2" charset="2"/>
            </a:endParaRPr>
          </a:p>
        </p:txBody>
      </p:sp>
      <p:sp>
        <p:nvSpPr>
          <p:cNvPr id="127005" name="Line 30"/>
          <p:cNvSpPr/>
          <p:nvPr/>
        </p:nvSpPr>
        <p:spPr>
          <a:xfrm flipH="1">
            <a:off x="4284663" y="4941888"/>
            <a:ext cx="431800" cy="287337"/>
          </a:xfrm>
          <a:prstGeom prst="line">
            <a:avLst/>
          </a:prstGeom>
          <a:ln w="28575" cap="rnd" cmpd="sng">
            <a:solidFill>
              <a:srgbClr val="CC00CC"/>
            </a:solidFill>
            <a:prstDash val="sysDot"/>
            <a:round/>
            <a:headEnd type="none" w="med" len="med"/>
            <a:tailEnd type="triangle" w="med" len="med"/>
          </a:ln>
        </p:spPr>
      </p:sp>
      <p:sp>
        <p:nvSpPr>
          <p:cNvPr id="127006" name="Line 31"/>
          <p:cNvSpPr/>
          <p:nvPr/>
        </p:nvSpPr>
        <p:spPr>
          <a:xfrm flipV="1">
            <a:off x="2987675" y="4365625"/>
            <a:ext cx="1584325" cy="142875"/>
          </a:xfrm>
          <a:prstGeom prst="line">
            <a:avLst/>
          </a:prstGeom>
          <a:ln w="38100" cap="flat" cmpd="sng">
            <a:solidFill>
              <a:srgbClr val="CC0000"/>
            </a:solidFill>
            <a:prstDash val="solid"/>
            <a:round/>
            <a:headEnd type="triangle" w="med" len="med"/>
            <a:tailEnd type="triangle" w="med" len="med"/>
          </a:ln>
        </p:spPr>
      </p:sp>
      <p:sp>
        <p:nvSpPr>
          <p:cNvPr id="127007" name="Line 32"/>
          <p:cNvSpPr/>
          <p:nvPr/>
        </p:nvSpPr>
        <p:spPr>
          <a:xfrm flipH="1">
            <a:off x="3348038" y="5300663"/>
            <a:ext cx="215900" cy="215900"/>
          </a:xfrm>
          <a:prstGeom prst="line">
            <a:avLst/>
          </a:prstGeom>
          <a:ln w="38100" cap="flat" cmpd="sng">
            <a:solidFill>
              <a:srgbClr val="CC0000"/>
            </a:solidFill>
            <a:prstDash val="solid"/>
            <a:round/>
            <a:headEnd type="triangle" w="med" len="med"/>
            <a:tailEnd type="triangle" w="med" len="med"/>
          </a:ln>
        </p:spPr>
      </p:sp>
      <p:sp>
        <p:nvSpPr>
          <p:cNvPr id="127008" name="Rectangle 33"/>
          <p:cNvSpPr/>
          <p:nvPr/>
        </p:nvSpPr>
        <p:spPr>
          <a:xfrm>
            <a:off x="608013" y="1900238"/>
            <a:ext cx="8135937" cy="1263650"/>
          </a:xfrm>
          <a:prstGeom prst="rect">
            <a:avLst/>
          </a:prstGeom>
          <a:noFill/>
          <a:ln w="9525">
            <a:noFill/>
          </a:ln>
        </p:spPr>
        <p:txBody>
          <a:bodyPr lIns="90000" tIns="46800" rIns="90000" bIns="46800" anchor="t">
            <a:spAutoFit/>
          </a:bodyPr>
          <a:lstStyle/>
          <a:p>
            <a:pPr lvl="0" indent="0"/>
            <a:r>
              <a:rPr lang="en-US" altLang="x-none" sz="2400" dirty="0">
                <a:solidFill>
                  <a:srgbClr val="0000CC"/>
                </a:solidFill>
                <a:latin typeface="宋体" panose="02010600030101010101" pitchFamily="2" charset="-122"/>
                <a:ea typeface="宋体" panose="02010600030101010101" pitchFamily="2" charset="-122"/>
              </a:rPr>
              <a:t>   * </a:t>
            </a:r>
            <a:r>
              <a:rPr lang="zh-CN" altLang="en-US" sz="2400" dirty="0">
                <a:solidFill>
                  <a:srgbClr val="0000CC"/>
                </a:solidFill>
                <a:latin typeface="宋体" panose="02010600030101010101" pitchFamily="2" charset="-122"/>
                <a:ea typeface="宋体" panose="02010600030101010101" pitchFamily="2" charset="-122"/>
              </a:rPr>
              <a:t>行锁，页锁，表锁</a:t>
            </a:r>
            <a:endParaRPr lang="zh-CN" altLang="en-US" sz="2400" dirty="0">
              <a:solidFill>
                <a:srgbClr val="0000CC"/>
              </a:solidFill>
              <a:latin typeface="宋体" panose="02010600030101010101" pitchFamily="2" charset="-122"/>
              <a:ea typeface="宋体" panose="02010600030101010101" pitchFamily="2" charset="-122"/>
            </a:endParaRPr>
          </a:p>
          <a:p>
            <a:pPr lvl="0" indent="0"/>
            <a:r>
              <a:rPr lang="zh-CN" altLang="en-US" sz="2400" dirty="0">
                <a:solidFill>
                  <a:srgbClr val="0000CC"/>
                </a:solidFill>
                <a:latin typeface="宋体" panose="02010600030101010101" pitchFamily="2" charset="-122"/>
                <a:ea typeface="宋体" panose="02010600030101010101" pitchFamily="2" charset="-122"/>
              </a:rPr>
              <a:t>   * 一个数据对象两种加锁方式：显示加锁；隐式加锁</a:t>
            </a:r>
            <a:endParaRPr lang="zh-CN" altLang="en-US" sz="2400" dirty="0">
              <a:solidFill>
                <a:srgbClr val="0000CC"/>
              </a:solidFill>
              <a:latin typeface="宋体" panose="02010600030101010101" pitchFamily="2" charset="-122"/>
              <a:ea typeface="宋体" panose="02010600030101010101" pitchFamily="2" charset="-122"/>
            </a:endParaRPr>
          </a:p>
          <a:p>
            <a:pPr lvl="0" indent="0"/>
            <a:r>
              <a:rPr lang="zh-CN" altLang="en-US" sz="2800" dirty="0">
                <a:solidFill>
                  <a:srgbClr val="0000CC"/>
                </a:solidFill>
                <a:latin typeface="宋体" panose="02010600030101010101" pitchFamily="2" charset="-122"/>
                <a:ea typeface="宋体" panose="02010600030101010101" pitchFamily="2" charset="-122"/>
              </a:rPr>
              <a:t> 多粒度锁中锁冲突的检测步骤：</a:t>
            </a:r>
            <a:endParaRPr lang="zh-CN" altLang="en-US" sz="2800" dirty="0">
              <a:solidFill>
                <a:srgbClr val="0000CC"/>
              </a:solidFill>
              <a:latin typeface="宋体" panose="02010600030101010101" pitchFamily="2" charset="-122"/>
              <a:ea typeface="宋体" panose="02010600030101010101" pitchFamily="2" charset="-122"/>
            </a:endParaRPr>
          </a:p>
        </p:txBody>
      </p:sp>
      <p:sp>
        <p:nvSpPr>
          <p:cNvPr id="123936"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600" dirty="0">
                <a:solidFill>
                  <a:srgbClr val="0033CC"/>
                </a:solidFill>
                <a:latin typeface="Arial" panose="020B0604020202020204" pitchFamily="34" charset="0"/>
                <a:ea typeface="黑体" panose="02010609060101010101" pitchFamily="1" charset="-122"/>
              </a:rPr>
              <a:t>五、数据库系统中的并发</a:t>
            </a:r>
            <a:endParaRPr lang="zh-CN" altLang="en-US" sz="3600" dirty="0">
              <a:solidFill>
                <a:srgbClr val="0033CC"/>
              </a:solidFill>
              <a:latin typeface="Arial" panose="020B0604020202020204" pitchFamily="34" charset="0"/>
              <a:ea typeface="黑体" panose="02010609060101010101" pitchFamily="1" charset="-122"/>
            </a:endParaRPr>
          </a:p>
        </p:txBody>
      </p:sp>
      <p:sp>
        <p:nvSpPr>
          <p:cNvPr id="123937" name="Rectangle 3"/>
          <p:cNvSpPr txBox="1"/>
          <p:nvPr/>
        </p:nvSpPr>
        <p:spPr>
          <a:xfrm>
            <a:off x="517525" y="8382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5</a:t>
            </a:r>
            <a:r>
              <a:rPr lang="zh-CN" altLang="en-US" sz="2800" dirty="0">
                <a:solidFill>
                  <a:srgbClr val="FF0000"/>
                </a:solidFill>
                <a:latin typeface="黑体" panose="02010609060101010101" pitchFamily="1" charset="-122"/>
                <a:ea typeface="黑体" panose="02010609060101010101" pitchFamily="1" charset="-122"/>
              </a:rPr>
              <a:t>、多粒度加锁协议</a:t>
            </a:r>
            <a:endParaRPr lang="en-US" altLang="x-none" sz="2800" dirty="0">
              <a:solidFill>
                <a:srgbClr val="FF0000"/>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7008">
                                            <p:txEl>
                                              <p:pRg st="0" end="0"/>
                                            </p:txEl>
                                          </p:spTgt>
                                        </p:tgtEl>
                                        <p:attrNameLst>
                                          <p:attrName>style.visibility</p:attrName>
                                        </p:attrNameLst>
                                      </p:cBhvr>
                                      <p:to>
                                        <p:strVal val="visible"/>
                                      </p:to>
                                    </p:set>
                                    <p:animEffect transition="in" filter="dissolve">
                                      <p:cBhvr>
                                        <p:cTn id="7" dur="500"/>
                                        <p:tgtEl>
                                          <p:spTgt spid="12700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7008">
                                            <p:txEl>
                                              <p:pRg st="1" end="1"/>
                                            </p:txEl>
                                          </p:spTgt>
                                        </p:tgtEl>
                                        <p:attrNameLst>
                                          <p:attrName>style.visibility</p:attrName>
                                        </p:attrNameLst>
                                      </p:cBhvr>
                                      <p:to>
                                        <p:strVal val="visible"/>
                                      </p:to>
                                    </p:set>
                                    <p:animEffect transition="in" filter="dissolve">
                                      <p:cBhvr>
                                        <p:cTn id="12" dur="500"/>
                                        <p:tgtEl>
                                          <p:spTgt spid="12700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27008">
                                            <p:txEl>
                                              <p:pRg st="2" end="2"/>
                                            </p:txEl>
                                          </p:spTgt>
                                        </p:tgtEl>
                                        <p:attrNameLst>
                                          <p:attrName>style.visibility</p:attrName>
                                        </p:attrNameLst>
                                      </p:cBhvr>
                                      <p:to>
                                        <p:strVal val="visible"/>
                                      </p:to>
                                    </p:set>
                                    <p:animEffect transition="in" filter="dissolve">
                                      <p:cBhvr>
                                        <p:cTn id="17" dur="500"/>
                                        <p:tgtEl>
                                          <p:spTgt spid="12700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5" presetClass="entr" presetSubtype="0" fill="hold" nodeType="clickEffect">
                                  <p:stCondLst>
                                    <p:cond delay="0"/>
                                  </p:stCondLst>
                                  <p:childTnLst>
                                    <p:set>
                                      <p:cBhvr>
                                        <p:cTn id="21" dur="1" fill="hold">
                                          <p:stCondLst>
                                            <p:cond delay="0"/>
                                          </p:stCondLst>
                                        </p:cTn>
                                        <p:tgtEl>
                                          <p:spTgt spid="126981"/>
                                        </p:tgtEl>
                                        <p:attrNameLst>
                                          <p:attrName>style.visibility</p:attrName>
                                        </p:attrNameLst>
                                      </p:cBhvr>
                                      <p:to>
                                        <p:strVal val="visible"/>
                                      </p:to>
                                    </p:set>
                                    <p:anim calcmode="lin" valueType="num">
                                      <p:cBhvr>
                                        <p:cTn id="22" dur="1000" fill="hold"/>
                                        <p:tgtEl>
                                          <p:spTgt spid="126981"/>
                                        </p:tgtEl>
                                        <p:attrNameLst>
                                          <p:attrName>ppt_w</p:attrName>
                                        </p:attrNameLst>
                                      </p:cBhvr>
                                      <p:tavLst>
                                        <p:tav tm="0">
                                          <p:val>
                                            <p:strVal val="#ppt_w*0.70"/>
                                          </p:val>
                                        </p:tav>
                                        <p:tav tm="100000">
                                          <p:val>
                                            <p:strVal val="#ppt_w"/>
                                          </p:val>
                                        </p:tav>
                                      </p:tavLst>
                                    </p:anim>
                                    <p:anim calcmode="lin" valueType="num">
                                      <p:cBhvr>
                                        <p:cTn id="23" dur="1000" fill="hold"/>
                                        <p:tgtEl>
                                          <p:spTgt spid="126981"/>
                                        </p:tgtEl>
                                        <p:attrNameLst>
                                          <p:attrName>ppt_h</p:attrName>
                                        </p:attrNameLst>
                                      </p:cBhvr>
                                      <p:tavLst>
                                        <p:tav tm="0">
                                          <p:val>
                                            <p:strVal val="#ppt_h"/>
                                          </p:val>
                                        </p:tav>
                                        <p:tav tm="100000">
                                          <p:val>
                                            <p:strVal val="#ppt_h"/>
                                          </p:val>
                                        </p:tav>
                                      </p:tavLst>
                                    </p:anim>
                                    <p:animEffect transition="in" filter="fade">
                                      <p:cBhvr>
                                        <p:cTn id="24" dur="1000"/>
                                        <p:tgtEl>
                                          <p:spTgt spid="126981"/>
                                        </p:tgtEl>
                                      </p:cBhvr>
                                    </p:animEffect>
                                  </p:childTnLst>
                                </p:cTn>
                              </p:par>
                            </p:childTnLst>
                          </p:cTn>
                        </p:par>
                      </p:childTnLst>
                    </p:cTn>
                  </p:par>
                  <p:par>
                    <p:cTn id="25" fill="hold">
                      <p:stCondLst>
                        <p:cond delay="indefinite"/>
                      </p:stCondLst>
                      <p:childTnLst>
                        <p:par>
                          <p:cTn id="26" fill="hold">
                            <p:stCondLst>
                              <p:cond delay="0"/>
                            </p:stCondLst>
                            <p:childTnLst>
                              <p:par>
                                <p:cTn id="27" presetID="4" presetClass="entr" presetSubtype="16" fill="hold" grpId="0" nodeType="clickEffect">
                                  <p:stCondLst>
                                    <p:cond delay="0"/>
                                  </p:stCondLst>
                                  <p:childTnLst>
                                    <p:set>
                                      <p:cBhvr>
                                        <p:cTn id="28" dur="1" fill="hold">
                                          <p:stCondLst>
                                            <p:cond delay="0"/>
                                          </p:stCondLst>
                                        </p:cTn>
                                        <p:tgtEl>
                                          <p:spTgt spid="126993"/>
                                        </p:tgtEl>
                                        <p:attrNameLst>
                                          <p:attrName>style.visibility</p:attrName>
                                        </p:attrNameLst>
                                      </p:cBhvr>
                                      <p:to>
                                        <p:strVal val="visible"/>
                                      </p:to>
                                    </p:set>
                                    <p:animEffect transition="in" filter="box(in)">
                                      <p:cBhvr>
                                        <p:cTn id="29" dur="500"/>
                                        <p:tgtEl>
                                          <p:spTgt spid="126993"/>
                                        </p:tgtEl>
                                      </p:cBhvr>
                                    </p:animEffect>
                                  </p:childTnLst>
                                </p:cTn>
                              </p:par>
                            </p:childTnLst>
                          </p:cTn>
                        </p:par>
                      </p:childTnLst>
                    </p:cTn>
                  </p:par>
                  <p:par>
                    <p:cTn id="30" fill="hold">
                      <p:stCondLst>
                        <p:cond delay="indefinite"/>
                      </p:stCondLst>
                      <p:childTnLst>
                        <p:par>
                          <p:cTn id="31" fill="hold">
                            <p:stCondLst>
                              <p:cond delay="0"/>
                            </p:stCondLst>
                            <p:childTnLst>
                              <p:par>
                                <p:cTn id="32" presetID="55" presetClass="entr" presetSubtype="0" fill="hold" grpId="0" nodeType="clickEffect">
                                  <p:stCondLst>
                                    <p:cond delay="0"/>
                                  </p:stCondLst>
                                  <p:childTnLst>
                                    <p:set>
                                      <p:cBhvr>
                                        <p:cTn id="33" dur="1" fill="hold">
                                          <p:stCondLst>
                                            <p:cond delay="0"/>
                                          </p:stCondLst>
                                        </p:cTn>
                                        <p:tgtEl>
                                          <p:spTgt spid="127003"/>
                                        </p:tgtEl>
                                        <p:attrNameLst>
                                          <p:attrName>style.visibility</p:attrName>
                                        </p:attrNameLst>
                                      </p:cBhvr>
                                      <p:to>
                                        <p:strVal val="visible"/>
                                      </p:to>
                                    </p:set>
                                    <p:anim calcmode="lin" valueType="num">
                                      <p:cBhvr>
                                        <p:cTn id="34" dur="1000" fill="hold"/>
                                        <p:tgtEl>
                                          <p:spTgt spid="127003"/>
                                        </p:tgtEl>
                                        <p:attrNameLst>
                                          <p:attrName>ppt_w</p:attrName>
                                        </p:attrNameLst>
                                      </p:cBhvr>
                                      <p:tavLst>
                                        <p:tav tm="0">
                                          <p:val>
                                            <p:strVal val="#ppt_w*0.70"/>
                                          </p:val>
                                        </p:tav>
                                        <p:tav tm="100000">
                                          <p:val>
                                            <p:strVal val="#ppt_w"/>
                                          </p:val>
                                        </p:tav>
                                      </p:tavLst>
                                    </p:anim>
                                    <p:anim calcmode="lin" valueType="num">
                                      <p:cBhvr>
                                        <p:cTn id="35" dur="1000" fill="hold"/>
                                        <p:tgtEl>
                                          <p:spTgt spid="127003"/>
                                        </p:tgtEl>
                                        <p:attrNameLst>
                                          <p:attrName>ppt_h</p:attrName>
                                        </p:attrNameLst>
                                      </p:cBhvr>
                                      <p:tavLst>
                                        <p:tav tm="0">
                                          <p:val>
                                            <p:strVal val="#ppt_h"/>
                                          </p:val>
                                        </p:tav>
                                        <p:tav tm="100000">
                                          <p:val>
                                            <p:strVal val="#ppt_h"/>
                                          </p:val>
                                        </p:tav>
                                      </p:tavLst>
                                    </p:anim>
                                    <p:animEffect transition="in" filter="fade">
                                      <p:cBhvr>
                                        <p:cTn id="36" dur="1000"/>
                                        <p:tgtEl>
                                          <p:spTgt spid="127003"/>
                                        </p:tgtEl>
                                      </p:cBhvr>
                                    </p:animEffect>
                                  </p:childTnLst>
                                </p:cTn>
                              </p:par>
                              <p:par>
                                <p:cTn id="37" presetID="55" presetClass="entr" presetSubtype="0" fill="hold" nodeType="withEffect">
                                  <p:stCondLst>
                                    <p:cond delay="0"/>
                                  </p:stCondLst>
                                  <p:childTnLst>
                                    <p:set>
                                      <p:cBhvr>
                                        <p:cTn id="38" dur="1" fill="hold">
                                          <p:stCondLst>
                                            <p:cond delay="0"/>
                                          </p:stCondLst>
                                        </p:cTn>
                                        <p:tgtEl>
                                          <p:spTgt spid="126994"/>
                                        </p:tgtEl>
                                        <p:attrNameLst>
                                          <p:attrName>style.visibility</p:attrName>
                                        </p:attrNameLst>
                                      </p:cBhvr>
                                      <p:to>
                                        <p:strVal val="visible"/>
                                      </p:to>
                                    </p:set>
                                    <p:anim calcmode="lin" valueType="num">
                                      <p:cBhvr>
                                        <p:cTn id="39" dur="1000" fill="hold"/>
                                        <p:tgtEl>
                                          <p:spTgt spid="126994"/>
                                        </p:tgtEl>
                                        <p:attrNameLst>
                                          <p:attrName>ppt_w</p:attrName>
                                        </p:attrNameLst>
                                      </p:cBhvr>
                                      <p:tavLst>
                                        <p:tav tm="0">
                                          <p:val>
                                            <p:strVal val="#ppt_w*0.70"/>
                                          </p:val>
                                        </p:tav>
                                        <p:tav tm="100000">
                                          <p:val>
                                            <p:strVal val="#ppt_w"/>
                                          </p:val>
                                        </p:tav>
                                      </p:tavLst>
                                    </p:anim>
                                    <p:anim calcmode="lin" valueType="num">
                                      <p:cBhvr>
                                        <p:cTn id="40" dur="1000" fill="hold"/>
                                        <p:tgtEl>
                                          <p:spTgt spid="126994"/>
                                        </p:tgtEl>
                                        <p:attrNameLst>
                                          <p:attrName>ppt_h</p:attrName>
                                        </p:attrNameLst>
                                      </p:cBhvr>
                                      <p:tavLst>
                                        <p:tav tm="0">
                                          <p:val>
                                            <p:strVal val="#ppt_h"/>
                                          </p:val>
                                        </p:tav>
                                        <p:tav tm="100000">
                                          <p:val>
                                            <p:strVal val="#ppt_h"/>
                                          </p:val>
                                        </p:tav>
                                      </p:tavLst>
                                    </p:anim>
                                    <p:animEffect transition="in" filter="fade">
                                      <p:cBhvr>
                                        <p:cTn id="41" dur="1000"/>
                                        <p:tgtEl>
                                          <p:spTgt spid="126994"/>
                                        </p:tgtEl>
                                      </p:cBhvr>
                                    </p:animEffect>
                                  </p:childTnLst>
                                </p:cTn>
                              </p:par>
                            </p:childTnLst>
                          </p:cTn>
                        </p:par>
                      </p:childTnLst>
                    </p:cTn>
                  </p:par>
                  <p:par>
                    <p:cTn id="42" fill="hold">
                      <p:stCondLst>
                        <p:cond delay="indefinite"/>
                      </p:stCondLst>
                      <p:childTnLst>
                        <p:par>
                          <p:cTn id="43" fill="hold">
                            <p:stCondLst>
                              <p:cond delay="0"/>
                            </p:stCondLst>
                            <p:childTnLst>
                              <p:par>
                                <p:cTn id="44" presetID="4" presetClass="entr" presetSubtype="16" fill="hold" grpId="0" nodeType="clickEffect">
                                  <p:stCondLst>
                                    <p:cond delay="0"/>
                                  </p:stCondLst>
                                  <p:childTnLst>
                                    <p:set>
                                      <p:cBhvr>
                                        <p:cTn id="45" dur="1" fill="hold">
                                          <p:stCondLst>
                                            <p:cond delay="0"/>
                                          </p:stCondLst>
                                        </p:cTn>
                                        <p:tgtEl>
                                          <p:spTgt spid="126996"/>
                                        </p:tgtEl>
                                        <p:attrNameLst>
                                          <p:attrName>style.visibility</p:attrName>
                                        </p:attrNameLst>
                                      </p:cBhvr>
                                      <p:to>
                                        <p:strVal val="visible"/>
                                      </p:to>
                                    </p:set>
                                    <p:animEffect transition="in" filter="box(in)">
                                      <p:cBhvr>
                                        <p:cTn id="46" dur="500"/>
                                        <p:tgtEl>
                                          <p:spTgt spid="126996"/>
                                        </p:tgtEl>
                                      </p:cBhvr>
                                    </p:animEffect>
                                  </p:childTnLst>
                                </p:cTn>
                              </p:par>
                            </p:childTnLst>
                          </p:cTn>
                        </p:par>
                      </p:childTnLst>
                    </p:cTn>
                  </p:par>
                  <p:par>
                    <p:cTn id="47" fill="hold">
                      <p:stCondLst>
                        <p:cond delay="indefinite"/>
                      </p:stCondLst>
                      <p:childTnLst>
                        <p:par>
                          <p:cTn id="48" fill="hold">
                            <p:stCondLst>
                              <p:cond delay="0"/>
                            </p:stCondLst>
                            <p:childTnLst>
                              <p:par>
                                <p:cTn id="49" presetID="55" presetClass="entr" presetSubtype="0" fill="hold" grpId="0" nodeType="clickEffect">
                                  <p:stCondLst>
                                    <p:cond delay="0"/>
                                  </p:stCondLst>
                                  <p:childTnLst>
                                    <p:set>
                                      <p:cBhvr>
                                        <p:cTn id="50" dur="1" fill="hold">
                                          <p:stCondLst>
                                            <p:cond delay="0"/>
                                          </p:stCondLst>
                                        </p:cTn>
                                        <p:tgtEl>
                                          <p:spTgt spid="127004"/>
                                        </p:tgtEl>
                                        <p:attrNameLst>
                                          <p:attrName>style.visibility</p:attrName>
                                        </p:attrNameLst>
                                      </p:cBhvr>
                                      <p:to>
                                        <p:strVal val="visible"/>
                                      </p:to>
                                    </p:set>
                                    <p:anim calcmode="lin" valueType="num">
                                      <p:cBhvr>
                                        <p:cTn id="51" dur="1000" fill="hold"/>
                                        <p:tgtEl>
                                          <p:spTgt spid="127004"/>
                                        </p:tgtEl>
                                        <p:attrNameLst>
                                          <p:attrName>ppt_w</p:attrName>
                                        </p:attrNameLst>
                                      </p:cBhvr>
                                      <p:tavLst>
                                        <p:tav tm="0">
                                          <p:val>
                                            <p:strVal val="#ppt_w*0.70"/>
                                          </p:val>
                                        </p:tav>
                                        <p:tav tm="100000">
                                          <p:val>
                                            <p:strVal val="#ppt_w"/>
                                          </p:val>
                                        </p:tav>
                                      </p:tavLst>
                                    </p:anim>
                                    <p:anim calcmode="lin" valueType="num">
                                      <p:cBhvr>
                                        <p:cTn id="52" dur="1000" fill="hold"/>
                                        <p:tgtEl>
                                          <p:spTgt spid="127004"/>
                                        </p:tgtEl>
                                        <p:attrNameLst>
                                          <p:attrName>ppt_h</p:attrName>
                                        </p:attrNameLst>
                                      </p:cBhvr>
                                      <p:tavLst>
                                        <p:tav tm="0">
                                          <p:val>
                                            <p:strVal val="#ppt_h"/>
                                          </p:val>
                                        </p:tav>
                                        <p:tav tm="100000">
                                          <p:val>
                                            <p:strVal val="#ppt_h"/>
                                          </p:val>
                                        </p:tav>
                                      </p:tavLst>
                                    </p:anim>
                                    <p:animEffect transition="in" filter="fade">
                                      <p:cBhvr>
                                        <p:cTn id="53" dur="1000"/>
                                        <p:tgtEl>
                                          <p:spTgt spid="127004"/>
                                        </p:tgtEl>
                                      </p:cBhvr>
                                    </p:animEffect>
                                  </p:childTnLst>
                                </p:cTn>
                              </p:par>
                              <p:par>
                                <p:cTn id="54" presetID="55" presetClass="entr" presetSubtype="0" fill="hold" nodeType="withEffect">
                                  <p:stCondLst>
                                    <p:cond delay="0"/>
                                  </p:stCondLst>
                                  <p:childTnLst>
                                    <p:set>
                                      <p:cBhvr>
                                        <p:cTn id="55" dur="1" fill="hold">
                                          <p:stCondLst>
                                            <p:cond delay="0"/>
                                          </p:stCondLst>
                                        </p:cTn>
                                        <p:tgtEl>
                                          <p:spTgt spid="126995"/>
                                        </p:tgtEl>
                                        <p:attrNameLst>
                                          <p:attrName>style.visibility</p:attrName>
                                        </p:attrNameLst>
                                      </p:cBhvr>
                                      <p:to>
                                        <p:strVal val="visible"/>
                                      </p:to>
                                    </p:set>
                                    <p:anim calcmode="lin" valueType="num">
                                      <p:cBhvr>
                                        <p:cTn id="56" dur="1000" fill="hold"/>
                                        <p:tgtEl>
                                          <p:spTgt spid="126995"/>
                                        </p:tgtEl>
                                        <p:attrNameLst>
                                          <p:attrName>ppt_w</p:attrName>
                                        </p:attrNameLst>
                                      </p:cBhvr>
                                      <p:tavLst>
                                        <p:tav tm="0">
                                          <p:val>
                                            <p:strVal val="#ppt_w*0.70"/>
                                          </p:val>
                                        </p:tav>
                                        <p:tav tm="100000">
                                          <p:val>
                                            <p:strVal val="#ppt_w"/>
                                          </p:val>
                                        </p:tav>
                                      </p:tavLst>
                                    </p:anim>
                                    <p:anim calcmode="lin" valueType="num">
                                      <p:cBhvr>
                                        <p:cTn id="57" dur="1000" fill="hold"/>
                                        <p:tgtEl>
                                          <p:spTgt spid="126995"/>
                                        </p:tgtEl>
                                        <p:attrNameLst>
                                          <p:attrName>ppt_h</p:attrName>
                                        </p:attrNameLst>
                                      </p:cBhvr>
                                      <p:tavLst>
                                        <p:tav tm="0">
                                          <p:val>
                                            <p:strVal val="#ppt_h"/>
                                          </p:val>
                                        </p:tav>
                                        <p:tav tm="100000">
                                          <p:val>
                                            <p:strVal val="#ppt_h"/>
                                          </p:val>
                                        </p:tav>
                                      </p:tavLst>
                                    </p:anim>
                                    <p:animEffect transition="in" filter="fade">
                                      <p:cBhvr>
                                        <p:cTn id="58" dur="1000"/>
                                        <p:tgtEl>
                                          <p:spTgt spid="126995"/>
                                        </p:tgtEl>
                                      </p:cBhvr>
                                    </p:animEffect>
                                  </p:childTnLst>
                                </p:cTn>
                              </p:par>
                            </p:childTnLst>
                          </p:cTn>
                        </p:par>
                      </p:childTnLst>
                    </p:cTn>
                  </p:par>
                  <p:par>
                    <p:cTn id="59" fill="hold">
                      <p:stCondLst>
                        <p:cond delay="indefinite"/>
                      </p:stCondLst>
                      <p:childTnLst>
                        <p:par>
                          <p:cTn id="60" fill="hold">
                            <p:stCondLst>
                              <p:cond delay="0"/>
                            </p:stCondLst>
                            <p:childTnLst>
                              <p:par>
                                <p:cTn id="61" presetID="4" presetClass="entr" presetSubtype="16" fill="hold" grpId="0" nodeType="clickEffect">
                                  <p:stCondLst>
                                    <p:cond delay="0"/>
                                  </p:stCondLst>
                                  <p:childTnLst>
                                    <p:set>
                                      <p:cBhvr>
                                        <p:cTn id="62" dur="1" fill="hold">
                                          <p:stCondLst>
                                            <p:cond delay="0"/>
                                          </p:stCondLst>
                                        </p:cTn>
                                        <p:tgtEl>
                                          <p:spTgt spid="126997"/>
                                        </p:tgtEl>
                                        <p:attrNameLst>
                                          <p:attrName>style.visibility</p:attrName>
                                        </p:attrNameLst>
                                      </p:cBhvr>
                                      <p:to>
                                        <p:strVal val="visible"/>
                                      </p:to>
                                    </p:set>
                                    <p:animEffect transition="in" filter="box(in)">
                                      <p:cBhvr>
                                        <p:cTn id="63" dur="500"/>
                                        <p:tgtEl>
                                          <p:spTgt spid="126997"/>
                                        </p:tgtEl>
                                      </p:cBhvr>
                                    </p:animEffect>
                                  </p:childTnLst>
                                </p:cTn>
                              </p:par>
                            </p:childTnLst>
                          </p:cTn>
                        </p:par>
                      </p:childTnLst>
                    </p:cTn>
                  </p:par>
                  <p:par>
                    <p:cTn id="64" fill="hold">
                      <p:stCondLst>
                        <p:cond delay="indefinite"/>
                      </p:stCondLst>
                      <p:childTnLst>
                        <p:par>
                          <p:cTn id="65" fill="hold">
                            <p:stCondLst>
                              <p:cond delay="0"/>
                            </p:stCondLst>
                            <p:childTnLst>
                              <p:par>
                                <p:cTn id="66" presetID="55" presetClass="entr" presetSubtype="0" fill="hold" nodeType="clickEffect">
                                  <p:stCondLst>
                                    <p:cond delay="0"/>
                                  </p:stCondLst>
                                  <p:childTnLst>
                                    <p:set>
                                      <p:cBhvr>
                                        <p:cTn id="67" dur="1" fill="hold">
                                          <p:stCondLst>
                                            <p:cond delay="0"/>
                                          </p:stCondLst>
                                        </p:cTn>
                                        <p:tgtEl>
                                          <p:spTgt spid="126998"/>
                                        </p:tgtEl>
                                        <p:attrNameLst>
                                          <p:attrName>style.visibility</p:attrName>
                                        </p:attrNameLst>
                                      </p:cBhvr>
                                      <p:to>
                                        <p:strVal val="visible"/>
                                      </p:to>
                                    </p:set>
                                    <p:anim calcmode="lin" valueType="num">
                                      <p:cBhvr>
                                        <p:cTn id="68" dur="1000" fill="hold"/>
                                        <p:tgtEl>
                                          <p:spTgt spid="126998"/>
                                        </p:tgtEl>
                                        <p:attrNameLst>
                                          <p:attrName>ppt_w</p:attrName>
                                        </p:attrNameLst>
                                      </p:cBhvr>
                                      <p:tavLst>
                                        <p:tav tm="0">
                                          <p:val>
                                            <p:strVal val="#ppt_w*0.70"/>
                                          </p:val>
                                        </p:tav>
                                        <p:tav tm="100000">
                                          <p:val>
                                            <p:strVal val="#ppt_w"/>
                                          </p:val>
                                        </p:tav>
                                      </p:tavLst>
                                    </p:anim>
                                    <p:anim calcmode="lin" valueType="num">
                                      <p:cBhvr>
                                        <p:cTn id="69" dur="1000" fill="hold"/>
                                        <p:tgtEl>
                                          <p:spTgt spid="126998"/>
                                        </p:tgtEl>
                                        <p:attrNameLst>
                                          <p:attrName>ppt_h</p:attrName>
                                        </p:attrNameLst>
                                      </p:cBhvr>
                                      <p:tavLst>
                                        <p:tav tm="0">
                                          <p:val>
                                            <p:strVal val="#ppt_h"/>
                                          </p:val>
                                        </p:tav>
                                        <p:tav tm="100000">
                                          <p:val>
                                            <p:strVal val="#ppt_h"/>
                                          </p:val>
                                        </p:tav>
                                      </p:tavLst>
                                    </p:anim>
                                    <p:animEffect transition="in" filter="fade">
                                      <p:cBhvr>
                                        <p:cTn id="70" dur="1000"/>
                                        <p:tgtEl>
                                          <p:spTgt spid="126998"/>
                                        </p:tgtEl>
                                      </p:cBhvr>
                                    </p:animEffect>
                                  </p:childTnLst>
                                </p:cTn>
                              </p:par>
                              <p:par>
                                <p:cTn id="71" presetID="55" presetClass="entr" presetSubtype="0" fill="hold" grpId="0" nodeType="withEffect">
                                  <p:stCondLst>
                                    <p:cond delay="0"/>
                                  </p:stCondLst>
                                  <p:childTnLst>
                                    <p:set>
                                      <p:cBhvr>
                                        <p:cTn id="72" dur="1" fill="hold">
                                          <p:stCondLst>
                                            <p:cond delay="0"/>
                                          </p:stCondLst>
                                        </p:cTn>
                                        <p:tgtEl>
                                          <p:spTgt spid="126979"/>
                                        </p:tgtEl>
                                        <p:attrNameLst>
                                          <p:attrName>style.visibility</p:attrName>
                                        </p:attrNameLst>
                                      </p:cBhvr>
                                      <p:to>
                                        <p:strVal val="visible"/>
                                      </p:to>
                                    </p:set>
                                    <p:anim calcmode="lin" valueType="num">
                                      <p:cBhvr>
                                        <p:cTn id="73" dur="1000" fill="hold"/>
                                        <p:tgtEl>
                                          <p:spTgt spid="126979"/>
                                        </p:tgtEl>
                                        <p:attrNameLst>
                                          <p:attrName>ppt_w</p:attrName>
                                        </p:attrNameLst>
                                      </p:cBhvr>
                                      <p:tavLst>
                                        <p:tav tm="0">
                                          <p:val>
                                            <p:strVal val="#ppt_w*0.70"/>
                                          </p:val>
                                        </p:tav>
                                        <p:tav tm="100000">
                                          <p:val>
                                            <p:strVal val="#ppt_w"/>
                                          </p:val>
                                        </p:tav>
                                      </p:tavLst>
                                    </p:anim>
                                    <p:anim calcmode="lin" valueType="num">
                                      <p:cBhvr>
                                        <p:cTn id="74" dur="1000" fill="hold"/>
                                        <p:tgtEl>
                                          <p:spTgt spid="126979"/>
                                        </p:tgtEl>
                                        <p:attrNameLst>
                                          <p:attrName>ppt_h</p:attrName>
                                        </p:attrNameLst>
                                      </p:cBhvr>
                                      <p:tavLst>
                                        <p:tav tm="0">
                                          <p:val>
                                            <p:strVal val="#ppt_h"/>
                                          </p:val>
                                        </p:tav>
                                        <p:tav tm="100000">
                                          <p:val>
                                            <p:strVal val="#ppt_h"/>
                                          </p:val>
                                        </p:tav>
                                      </p:tavLst>
                                    </p:anim>
                                    <p:animEffect transition="in" filter="fade">
                                      <p:cBhvr>
                                        <p:cTn id="75" dur="1000"/>
                                        <p:tgtEl>
                                          <p:spTgt spid="126979"/>
                                        </p:tgtEl>
                                      </p:cBhvr>
                                    </p:animEffect>
                                  </p:childTnLst>
                                </p:cTn>
                              </p:par>
                              <p:par>
                                <p:cTn id="76" presetID="55" presetClass="entr" presetSubtype="0" fill="hold" nodeType="withEffect">
                                  <p:stCondLst>
                                    <p:cond delay="0"/>
                                  </p:stCondLst>
                                  <p:childTnLst>
                                    <p:set>
                                      <p:cBhvr>
                                        <p:cTn id="77" dur="1" fill="hold">
                                          <p:stCondLst>
                                            <p:cond delay="0"/>
                                          </p:stCondLst>
                                        </p:cTn>
                                        <p:tgtEl>
                                          <p:spTgt spid="127006"/>
                                        </p:tgtEl>
                                        <p:attrNameLst>
                                          <p:attrName>style.visibility</p:attrName>
                                        </p:attrNameLst>
                                      </p:cBhvr>
                                      <p:to>
                                        <p:strVal val="visible"/>
                                      </p:to>
                                    </p:set>
                                    <p:anim calcmode="lin" valueType="num">
                                      <p:cBhvr>
                                        <p:cTn id="78" dur="1000" fill="hold"/>
                                        <p:tgtEl>
                                          <p:spTgt spid="127006"/>
                                        </p:tgtEl>
                                        <p:attrNameLst>
                                          <p:attrName>ppt_w</p:attrName>
                                        </p:attrNameLst>
                                      </p:cBhvr>
                                      <p:tavLst>
                                        <p:tav tm="0">
                                          <p:val>
                                            <p:strVal val="#ppt_w*0.70"/>
                                          </p:val>
                                        </p:tav>
                                        <p:tav tm="100000">
                                          <p:val>
                                            <p:strVal val="#ppt_w"/>
                                          </p:val>
                                        </p:tav>
                                      </p:tavLst>
                                    </p:anim>
                                    <p:anim calcmode="lin" valueType="num">
                                      <p:cBhvr>
                                        <p:cTn id="79" dur="1000" fill="hold"/>
                                        <p:tgtEl>
                                          <p:spTgt spid="127006"/>
                                        </p:tgtEl>
                                        <p:attrNameLst>
                                          <p:attrName>ppt_h</p:attrName>
                                        </p:attrNameLst>
                                      </p:cBhvr>
                                      <p:tavLst>
                                        <p:tav tm="0">
                                          <p:val>
                                            <p:strVal val="#ppt_h"/>
                                          </p:val>
                                        </p:tav>
                                        <p:tav tm="100000">
                                          <p:val>
                                            <p:strVal val="#ppt_h"/>
                                          </p:val>
                                        </p:tav>
                                      </p:tavLst>
                                    </p:anim>
                                    <p:animEffect transition="in" filter="fade">
                                      <p:cBhvr>
                                        <p:cTn id="80" dur="1000"/>
                                        <p:tgtEl>
                                          <p:spTgt spid="127006"/>
                                        </p:tgtEl>
                                      </p:cBhvr>
                                    </p:animEffect>
                                  </p:childTnLst>
                                </p:cTn>
                              </p:par>
                            </p:childTnLst>
                          </p:cTn>
                        </p:par>
                      </p:childTnLst>
                    </p:cTn>
                  </p:par>
                  <p:par>
                    <p:cTn id="81" fill="hold">
                      <p:stCondLst>
                        <p:cond delay="indefinite"/>
                      </p:stCondLst>
                      <p:childTnLst>
                        <p:par>
                          <p:cTn id="82" fill="hold">
                            <p:stCondLst>
                              <p:cond delay="0"/>
                            </p:stCondLst>
                            <p:childTnLst>
                              <p:par>
                                <p:cTn id="83" presetID="55" presetClass="entr" presetSubtype="0" fill="hold" nodeType="clickEffect">
                                  <p:stCondLst>
                                    <p:cond delay="0"/>
                                  </p:stCondLst>
                                  <p:childTnLst>
                                    <p:set>
                                      <p:cBhvr>
                                        <p:cTn id="84" dur="1" fill="hold">
                                          <p:stCondLst>
                                            <p:cond delay="0"/>
                                          </p:stCondLst>
                                        </p:cTn>
                                        <p:tgtEl>
                                          <p:spTgt spid="127000"/>
                                        </p:tgtEl>
                                        <p:attrNameLst>
                                          <p:attrName>style.visibility</p:attrName>
                                        </p:attrNameLst>
                                      </p:cBhvr>
                                      <p:to>
                                        <p:strVal val="visible"/>
                                      </p:to>
                                    </p:set>
                                    <p:anim calcmode="lin" valueType="num">
                                      <p:cBhvr>
                                        <p:cTn id="85" dur="1000" fill="hold"/>
                                        <p:tgtEl>
                                          <p:spTgt spid="127000"/>
                                        </p:tgtEl>
                                        <p:attrNameLst>
                                          <p:attrName>ppt_w</p:attrName>
                                        </p:attrNameLst>
                                      </p:cBhvr>
                                      <p:tavLst>
                                        <p:tav tm="0">
                                          <p:val>
                                            <p:strVal val="#ppt_w*0.70"/>
                                          </p:val>
                                        </p:tav>
                                        <p:tav tm="100000">
                                          <p:val>
                                            <p:strVal val="#ppt_w"/>
                                          </p:val>
                                        </p:tav>
                                      </p:tavLst>
                                    </p:anim>
                                    <p:anim calcmode="lin" valueType="num">
                                      <p:cBhvr>
                                        <p:cTn id="86" dur="1000" fill="hold"/>
                                        <p:tgtEl>
                                          <p:spTgt spid="127000"/>
                                        </p:tgtEl>
                                        <p:attrNameLst>
                                          <p:attrName>ppt_h</p:attrName>
                                        </p:attrNameLst>
                                      </p:cBhvr>
                                      <p:tavLst>
                                        <p:tav tm="0">
                                          <p:val>
                                            <p:strVal val="#ppt_h"/>
                                          </p:val>
                                        </p:tav>
                                        <p:tav tm="100000">
                                          <p:val>
                                            <p:strVal val="#ppt_h"/>
                                          </p:val>
                                        </p:tav>
                                      </p:tavLst>
                                    </p:anim>
                                    <p:animEffect transition="in" filter="fade">
                                      <p:cBhvr>
                                        <p:cTn id="87" dur="1000"/>
                                        <p:tgtEl>
                                          <p:spTgt spid="127000"/>
                                        </p:tgtEl>
                                      </p:cBhvr>
                                    </p:animEffect>
                                  </p:childTnLst>
                                </p:cTn>
                              </p:par>
                            </p:childTnLst>
                          </p:cTn>
                        </p:par>
                      </p:childTnLst>
                    </p:cTn>
                  </p:par>
                  <p:par>
                    <p:cTn id="88" fill="hold">
                      <p:stCondLst>
                        <p:cond delay="indefinite"/>
                      </p:stCondLst>
                      <p:childTnLst>
                        <p:par>
                          <p:cTn id="89" fill="hold">
                            <p:stCondLst>
                              <p:cond delay="0"/>
                            </p:stCondLst>
                            <p:childTnLst>
                              <p:par>
                                <p:cTn id="90" presetID="4" presetClass="entr" presetSubtype="16" fill="hold" grpId="0" nodeType="clickEffect">
                                  <p:stCondLst>
                                    <p:cond delay="0"/>
                                  </p:stCondLst>
                                  <p:childTnLst>
                                    <p:set>
                                      <p:cBhvr>
                                        <p:cTn id="91" dur="1" fill="hold">
                                          <p:stCondLst>
                                            <p:cond delay="0"/>
                                          </p:stCondLst>
                                        </p:cTn>
                                        <p:tgtEl>
                                          <p:spTgt spid="126999"/>
                                        </p:tgtEl>
                                        <p:attrNameLst>
                                          <p:attrName>style.visibility</p:attrName>
                                        </p:attrNameLst>
                                      </p:cBhvr>
                                      <p:to>
                                        <p:strVal val="visible"/>
                                      </p:to>
                                    </p:set>
                                    <p:animEffect transition="in" filter="box(in)">
                                      <p:cBhvr>
                                        <p:cTn id="92" dur="500"/>
                                        <p:tgtEl>
                                          <p:spTgt spid="126999"/>
                                        </p:tgtEl>
                                      </p:cBhvr>
                                    </p:animEffect>
                                  </p:childTnLst>
                                </p:cTn>
                              </p:par>
                            </p:childTnLst>
                          </p:cTn>
                        </p:par>
                      </p:childTnLst>
                    </p:cTn>
                  </p:par>
                  <p:par>
                    <p:cTn id="93" fill="hold">
                      <p:stCondLst>
                        <p:cond delay="indefinite"/>
                      </p:stCondLst>
                      <p:childTnLst>
                        <p:par>
                          <p:cTn id="94" fill="hold">
                            <p:stCondLst>
                              <p:cond delay="0"/>
                            </p:stCondLst>
                            <p:childTnLst>
                              <p:par>
                                <p:cTn id="95" presetID="4" presetClass="entr" presetSubtype="16" fill="hold" nodeType="clickEffect">
                                  <p:stCondLst>
                                    <p:cond delay="0"/>
                                  </p:stCondLst>
                                  <p:childTnLst>
                                    <p:set>
                                      <p:cBhvr>
                                        <p:cTn id="96" dur="1" fill="hold">
                                          <p:stCondLst>
                                            <p:cond delay="0"/>
                                          </p:stCondLst>
                                        </p:cTn>
                                        <p:tgtEl>
                                          <p:spTgt spid="127005"/>
                                        </p:tgtEl>
                                        <p:attrNameLst>
                                          <p:attrName>style.visibility</p:attrName>
                                        </p:attrNameLst>
                                      </p:cBhvr>
                                      <p:to>
                                        <p:strVal val="visible"/>
                                      </p:to>
                                    </p:set>
                                    <p:animEffect transition="in" filter="box(in)">
                                      <p:cBhvr>
                                        <p:cTn id="97" dur="500"/>
                                        <p:tgtEl>
                                          <p:spTgt spid="127005"/>
                                        </p:tgtEl>
                                      </p:cBhvr>
                                    </p:animEffect>
                                  </p:childTnLst>
                                </p:cTn>
                              </p:par>
                              <p:par>
                                <p:cTn id="98" presetID="4" presetClass="entr" presetSubtype="16" fill="hold" grpId="0" nodeType="withEffect">
                                  <p:stCondLst>
                                    <p:cond delay="0"/>
                                  </p:stCondLst>
                                  <p:childTnLst>
                                    <p:set>
                                      <p:cBhvr>
                                        <p:cTn id="99" dur="1" fill="hold">
                                          <p:stCondLst>
                                            <p:cond delay="0"/>
                                          </p:stCondLst>
                                        </p:cTn>
                                        <p:tgtEl>
                                          <p:spTgt spid="126978"/>
                                        </p:tgtEl>
                                        <p:attrNameLst>
                                          <p:attrName>style.visibility</p:attrName>
                                        </p:attrNameLst>
                                      </p:cBhvr>
                                      <p:to>
                                        <p:strVal val="visible"/>
                                      </p:to>
                                    </p:set>
                                    <p:animEffect transition="in" filter="box(in)">
                                      <p:cBhvr>
                                        <p:cTn id="100" dur="500"/>
                                        <p:tgtEl>
                                          <p:spTgt spid="126978"/>
                                        </p:tgtEl>
                                      </p:cBhvr>
                                    </p:animEffect>
                                  </p:childTnLst>
                                </p:cTn>
                              </p:par>
                            </p:childTnLst>
                          </p:cTn>
                        </p:par>
                      </p:childTnLst>
                    </p:cTn>
                  </p:par>
                  <p:par>
                    <p:cTn id="101" fill="hold">
                      <p:stCondLst>
                        <p:cond delay="indefinite"/>
                      </p:stCondLst>
                      <p:childTnLst>
                        <p:par>
                          <p:cTn id="102" fill="hold">
                            <p:stCondLst>
                              <p:cond delay="0"/>
                            </p:stCondLst>
                            <p:childTnLst>
                              <p:par>
                                <p:cTn id="103" presetID="55" presetClass="entr" presetSubtype="0" fill="hold" nodeType="clickEffect">
                                  <p:stCondLst>
                                    <p:cond delay="0"/>
                                  </p:stCondLst>
                                  <p:childTnLst>
                                    <p:set>
                                      <p:cBhvr>
                                        <p:cTn id="104" dur="1" fill="hold">
                                          <p:stCondLst>
                                            <p:cond delay="0"/>
                                          </p:stCondLst>
                                        </p:cTn>
                                        <p:tgtEl>
                                          <p:spTgt spid="127007"/>
                                        </p:tgtEl>
                                        <p:attrNameLst>
                                          <p:attrName>style.visibility</p:attrName>
                                        </p:attrNameLst>
                                      </p:cBhvr>
                                      <p:to>
                                        <p:strVal val="visible"/>
                                      </p:to>
                                    </p:set>
                                    <p:anim calcmode="lin" valueType="num">
                                      <p:cBhvr>
                                        <p:cTn id="105" dur="1000" fill="hold"/>
                                        <p:tgtEl>
                                          <p:spTgt spid="127007"/>
                                        </p:tgtEl>
                                        <p:attrNameLst>
                                          <p:attrName>ppt_w</p:attrName>
                                        </p:attrNameLst>
                                      </p:cBhvr>
                                      <p:tavLst>
                                        <p:tav tm="0">
                                          <p:val>
                                            <p:strVal val="#ppt_w*0.70"/>
                                          </p:val>
                                        </p:tav>
                                        <p:tav tm="100000">
                                          <p:val>
                                            <p:strVal val="#ppt_w"/>
                                          </p:val>
                                        </p:tav>
                                      </p:tavLst>
                                    </p:anim>
                                    <p:anim calcmode="lin" valueType="num">
                                      <p:cBhvr>
                                        <p:cTn id="106" dur="1000" fill="hold"/>
                                        <p:tgtEl>
                                          <p:spTgt spid="127007"/>
                                        </p:tgtEl>
                                        <p:attrNameLst>
                                          <p:attrName>ppt_h</p:attrName>
                                        </p:attrNameLst>
                                      </p:cBhvr>
                                      <p:tavLst>
                                        <p:tav tm="0">
                                          <p:val>
                                            <p:strVal val="#ppt_h"/>
                                          </p:val>
                                        </p:tav>
                                        <p:tav tm="100000">
                                          <p:val>
                                            <p:strVal val="#ppt_h"/>
                                          </p:val>
                                        </p:tav>
                                      </p:tavLst>
                                    </p:anim>
                                    <p:animEffect transition="in" filter="fade">
                                      <p:cBhvr>
                                        <p:cTn id="107" dur="1000"/>
                                        <p:tgtEl>
                                          <p:spTgt spid="1270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8" grpId="0" animBg="1"/>
      <p:bldP spid="126979" grpId="0" animBg="1"/>
      <p:bldP spid="126993" grpId="0" animBg="1"/>
      <p:bldP spid="126996" grpId="0" animBg="1"/>
      <p:bldP spid="126997" grpId="0" animBg="1"/>
      <p:bldP spid="126999" grpId="0" animBg="1"/>
      <p:bldP spid="127003" grpId="0"/>
      <p:bldP spid="127004" grpId="0"/>
      <p:bldP spid="127008" grpId="0" build="p"/>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600" dirty="0">
                <a:solidFill>
                  <a:srgbClr val="0033CC"/>
                </a:solidFill>
                <a:latin typeface="Arial" panose="020B0604020202020204" pitchFamily="34" charset="0"/>
                <a:ea typeface="黑体" panose="02010609060101010101" pitchFamily="1" charset="-122"/>
              </a:rPr>
              <a:t>五、数据库系统中的并发</a:t>
            </a:r>
            <a:endParaRPr lang="zh-CN" altLang="en-US" sz="3600" dirty="0">
              <a:solidFill>
                <a:srgbClr val="0033CC"/>
              </a:solidFill>
              <a:latin typeface="Arial" panose="020B0604020202020204" pitchFamily="34" charset="0"/>
              <a:ea typeface="黑体" panose="02010609060101010101" pitchFamily="1" charset="-122"/>
            </a:endParaRPr>
          </a:p>
        </p:txBody>
      </p:sp>
      <p:sp>
        <p:nvSpPr>
          <p:cNvPr id="124930" name="Rectangle 3"/>
          <p:cNvSpPr txBox="1"/>
          <p:nvPr/>
        </p:nvSpPr>
        <p:spPr>
          <a:xfrm>
            <a:off x="517525" y="8382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5</a:t>
            </a:r>
            <a:r>
              <a:rPr lang="zh-CN" altLang="en-US" sz="2800" dirty="0">
                <a:solidFill>
                  <a:srgbClr val="FF0000"/>
                </a:solidFill>
                <a:latin typeface="黑体" panose="02010609060101010101" pitchFamily="1" charset="-122"/>
                <a:ea typeface="黑体" panose="02010609060101010101" pitchFamily="1" charset="-122"/>
              </a:rPr>
              <a:t>、多粒度加锁协议</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124931" name="Rectangle 2"/>
          <p:cNvSpPr txBox="1"/>
          <p:nvPr/>
        </p:nvSpPr>
        <p:spPr>
          <a:xfrm>
            <a:off x="593725" y="1417638"/>
            <a:ext cx="8229600" cy="715962"/>
          </a:xfrm>
          <a:prstGeom prst="rect">
            <a:avLst/>
          </a:prstGeom>
          <a:noFill/>
          <a:ln w="9525">
            <a:noFill/>
          </a:ln>
        </p:spPr>
        <p:txBody>
          <a:bodyPr anchor="t"/>
          <a:lstStyle/>
          <a:p>
            <a:pPr lvl="0" indent="0" eaLnBrk="0" hangingPunct="0">
              <a:buFont typeface="Wingdings" panose="05000000000000000000" pitchFamily="2" charset="2"/>
              <a:buChar char="p"/>
            </a:pPr>
            <a:r>
              <a:rPr lang="zh-CN" altLang="en-US" sz="2800" dirty="0">
                <a:solidFill>
                  <a:srgbClr val="3333CC"/>
                </a:solidFill>
                <a:latin typeface="Arial" panose="020B0604020202020204" pitchFamily="34" charset="0"/>
                <a:ea typeface="黑体" panose="02010609060101010101" pitchFamily="1" charset="-122"/>
              </a:rPr>
              <a:t>锁冲突检测问题的解决</a:t>
            </a:r>
            <a:endParaRPr lang="zh-CN" altLang="en-US" sz="2800" dirty="0">
              <a:solidFill>
                <a:srgbClr val="3333CC"/>
              </a:solidFill>
              <a:latin typeface="Arial" panose="020B0604020202020204" pitchFamily="34" charset="0"/>
              <a:ea typeface="黑体" panose="02010609060101010101" pitchFamily="1" charset="-122"/>
            </a:endParaRPr>
          </a:p>
        </p:txBody>
      </p:sp>
      <p:sp>
        <p:nvSpPr>
          <p:cNvPr id="124932" name="Rectangle 3"/>
          <p:cNvSpPr txBox="1"/>
          <p:nvPr/>
        </p:nvSpPr>
        <p:spPr>
          <a:xfrm>
            <a:off x="525463" y="2014538"/>
            <a:ext cx="8137525" cy="2359025"/>
          </a:xfrm>
          <a:prstGeom prst="rect">
            <a:avLst/>
          </a:prstGeom>
          <a:noFill/>
          <a:ln w="9525">
            <a:noFill/>
          </a:ln>
        </p:spPr>
        <p:txBody>
          <a:bodyPr anchor="t"/>
          <a:lstStyle/>
          <a:p>
            <a:pPr lvl="0" indent="0" eaLnBrk="0" hangingPunct="0">
              <a:lnSpc>
                <a:spcPct val="150000"/>
              </a:lnSpc>
              <a:spcBef>
                <a:spcPct val="50000"/>
              </a:spcBef>
              <a:buClr>
                <a:srgbClr val="0033CC"/>
              </a:buClr>
              <a:buSzPct val="80000"/>
              <a:buFont typeface="Wingdings" panose="05000000000000000000" pitchFamily="2" charset="2"/>
              <a:buChar char="u"/>
            </a:pPr>
            <a:r>
              <a:rPr lang="zh-CN" altLang="en-US" sz="2600" u="sng" dirty="0">
                <a:solidFill>
                  <a:srgbClr val="C00000"/>
                </a:solidFill>
                <a:latin typeface="Arial" panose="020B0604020202020204" pitchFamily="34" charset="0"/>
                <a:ea typeface="宋体" panose="02010600030101010101" pitchFamily="2" charset="-122"/>
                <a:sym typeface="Wingdings" panose="05000000000000000000" pitchFamily="2" charset="2"/>
              </a:rPr>
              <a:t>意向锁的提出：</a:t>
            </a:r>
            <a:r>
              <a:rPr lang="zh-CN" altLang="en-US" sz="2400" dirty="0">
                <a:latin typeface="Arial" panose="020B0604020202020204" pitchFamily="34" charset="0"/>
                <a:ea typeface="宋体" panose="02010600030101010101" pitchFamily="2" charset="-122"/>
                <a:sym typeface="Wingdings" panose="05000000000000000000" pitchFamily="2" charset="2"/>
              </a:rPr>
              <a:t>为简化锁冲突的检测，多粒度加锁协议中，除</a:t>
            </a:r>
            <a:r>
              <a:rPr lang="en-US" altLang="x-none" sz="2400" dirty="0">
                <a:latin typeface="Arial" panose="020B0604020202020204" pitchFamily="34" charset="0"/>
                <a:ea typeface="宋体" panose="02010600030101010101" pitchFamily="2" charset="-122"/>
                <a:sym typeface="Wingdings" panose="05000000000000000000" pitchFamily="2" charset="2"/>
              </a:rPr>
              <a:t>S</a:t>
            </a:r>
            <a:r>
              <a:rPr lang="zh-CN" altLang="en-US" sz="2400" dirty="0">
                <a:latin typeface="Arial" panose="020B0604020202020204" pitchFamily="34" charset="0"/>
                <a:ea typeface="宋体" panose="02010600030101010101" pitchFamily="2" charset="-122"/>
                <a:sym typeface="Wingdings" panose="05000000000000000000" pitchFamily="2" charset="2"/>
              </a:rPr>
              <a:t>锁和</a:t>
            </a:r>
            <a:r>
              <a:rPr lang="en-US" altLang="x-none" sz="2400" dirty="0">
                <a:latin typeface="Arial" panose="020B0604020202020204" pitchFamily="34" charset="0"/>
                <a:ea typeface="宋体" panose="02010600030101010101" pitchFamily="2" charset="-122"/>
                <a:sym typeface="Wingdings" panose="05000000000000000000" pitchFamily="2" charset="2"/>
              </a:rPr>
              <a:t>X</a:t>
            </a:r>
            <a:r>
              <a:rPr lang="zh-CN" altLang="en-US" sz="2400" dirty="0">
                <a:latin typeface="Arial" panose="020B0604020202020204" pitchFamily="34" charset="0"/>
                <a:ea typeface="宋体" panose="02010600030101010101" pitchFamily="2" charset="-122"/>
                <a:sym typeface="Wingdings" panose="05000000000000000000" pitchFamily="2" charset="2"/>
              </a:rPr>
              <a:t>锁外，另外引入了三种意向锁。</a:t>
            </a:r>
            <a:endParaRPr lang="en-US" altLang="x-none" sz="2400" dirty="0">
              <a:latin typeface="Arial" panose="020B0604020202020204" pitchFamily="34" charset="0"/>
              <a:ea typeface="宋体" panose="02010600030101010101" pitchFamily="2" charset="-122"/>
              <a:sym typeface="Wingdings" panose="05000000000000000000" pitchFamily="2" charset="2"/>
            </a:endParaRPr>
          </a:p>
          <a:p>
            <a:pPr lvl="0" indent="0" eaLnBrk="0" hangingPunct="0">
              <a:lnSpc>
                <a:spcPct val="150000"/>
              </a:lnSpc>
              <a:spcBef>
                <a:spcPct val="50000"/>
              </a:spcBef>
              <a:buClr>
                <a:srgbClr val="0033CC"/>
              </a:buClr>
              <a:buSzPct val="80000"/>
            </a:pPr>
            <a:r>
              <a:rPr lang="zh-CN" altLang="en-US" sz="2400" dirty="0">
                <a:latin typeface="Arial" panose="020B0604020202020204" pitchFamily="34" charset="0"/>
                <a:ea typeface="宋体" panose="02010600030101010101" pitchFamily="2" charset="-122"/>
                <a:sym typeface="Wingdings" panose="05000000000000000000" pitchFamily="2" charset="2"/>
              </a:rPr>
              <a:t> </a:t>
            </a:r>
            <a:r>
              <a:rPr lang="zh-CN" altLang="en-US" sz="2400" dirty="0">
                <a:solidFill>
                  <a:srgbClr val="C00000"/>
                </a:solidFill>
                <a:latin typeface="Arial" panose="020B0604020202020204" pitchFamily="34" charset="0"/>
                <a:ea typeface="宋体" panose="02010600030101010101" pitchFamily="2" charset="-122"/>
                <a:sym typeface="Wingdings" panose="05000000000000000000" pitchFamily="2" charset="2"/>
              </a:rPr>
              <a:t>（</a:t>
            </a:r>
            <a:r>
              <a:rPr lang="en-US" altLang="x-none" sz="2400" dirty="0">
                <a:solidFill>
                  <a:srgbClr val="C00000"/>
                </a:solidFill>
                <a:latin typeface="Arial" panose="020B0604020202020204" pitchFamily="34" charset="0"/>
                <a:ea typeface="宋体" panose="02010600030101010101" pitchFamily="2" charset="-122"/>
                <a:sym typeface="Wingdings" panose="05000000000000000000" pitchFamily="2" charset="2"/>
              </a:rPr>
              <a:t>1</a:t>
            </a:r>
            <a:r>
              <a:rPr lang="zh-CN" altLang="en-US" sz="2400" dirty="0">
                <a:solidFill>
                  <a:srgbClr val="C00000"/>
                </a:solidFill>
                <a:latin typeface="Arial" panose="020B0604020202020204" pitchFamily="34" charset="0"/>
                <a:ea typeface="宋体" panose="02010600030101010101" pitchFamily="2" charset="-122"/>
                <a:sym typeface="Wingdings" panose="05000000000000000000" pitchFamily="2" charset="2"/>
              </a:rPr>
              <a:t>）意向共享</a:t>
            </a:r>
            <a:r>
              <a:rPr lang="en-US" altLang="x-none" sz="2400" dirty="0">
                <a:solidFill>
                  <a:srgbClr val="C00000"/>
                </a:solidFill>
                <a:latin typeface="Arial" panose="020B0604020202020204" pitchFamily="34" charset="0"/>
                <a:ea typeface="宋体" panose="02010600030101010101" pitchFamily="2" charset="-122"/>
                <a:sym typeface="Wingdings" panose="05000000000000000000" pitchFamily="2" charset="2"/>
              </a:rPr>
              <a:t>IS (Intention Share)</a:t>
            </a:r>
            <a:r>
              <a:rPr lang="zh-CN" altLang="en-US" sz="2400" dirty="0">
                <a:solidFill>
                  <a:srgbClr val="C00000"/>
                </a:solidFill>
                <a:latin typeface="Arial" panose="020B0604020202020204" pitchFamily="34" charset="0"/>
                <a:ea typeface="宋体" panose="02010600030101010101" pitchFamily="2" charset="-122"/>
                <a:sym typeface="Wingdings" panose="05000000000000000000" pitchFamily="2" charset="2"/>
              </a:rPr>
              <a:t>锁</a:t>
            </a:r>
            <a:endParaRPr lang="zh-CN" altLang="en-US" sz="2400" dirty="0">
              <a:solidFill>
                <a:srgbClr val="C00000"/>
              </a:solidFill>
              <a:latin typeface="Arial" panose="020B0604020202020204" pitchFamily="34" charset="0"/>
              <a:ea typeface="宋体" panose="02010600030101010101" pitchFamily="2" charset="-122"/>
              <a:sym typeface="Wingdings" panose="05000000000000000000" pitchFamily="2" charset="2"/>
            </a:endParaRPr>
          </a:p>
          <a:p>
            <a:pPr lvl="0" indent="0" eaLnBrk="0" hangingPunct="0">
              <a:lnSpc>
                <a:spcPct val="125000"/>
              </a:lnSpc>
              <a:spcBef>
                <a:spcPct val="50000"/>
              </a:spcBef>
              <a:buClr>
                <a:srgbClr val="0033CC"/>
              </a:buClr>
              <a:buSzPct val="80000"/>
              <a:buFont typeface="Wingdings" panose="05000000000000000000" pitchFamily="2" charset="2"/>
              <a:buChar char="Ø"/>
            </a:pPr>
            <a:r>
              <a:rPr lang="zh-CN" altLang="en-US" sz="2400" u="sng" dirty="0">
                <a:solidFill>
                  <a:srgbClr val="C00000"/>
                </a:solidFill>
                <a:latin typeface="Arial" panose="020B0604020202020204" pitchFamily="34" charset="0"/>
                <a:ea typeface="宋体" panose="02010600030101010101" pitchFamily="2" charset="-122"/>
                <a:sym typeface="Wingdings" panose="05000000000000000000" pitchFamily="2" charset="2"/>
              </a:rPr>
              <a:t>加</a:t>
            </a:r>
            <a:r>
              <a:rPr lang="en-US" altLang="x-none" sz="2400" u="sng" dirty="0">
                <a:solidFill>
                  <a:srgbClr val="C00000"/>
                </a:solidFill>
                <a:latin typeface="Arial" panose="020B0604020202020204" pitchFamily="34" charset="0"/>
                <a:ea typeface="宋体" panose="02010600030101010101" pitchFamily="2" charset="-122"/>
                <a:sym typeface="Wingdings" panose="05000000000000000000" pitchFamily="2" charset="2"/>
              </a:rPr>
              <a:t>IS</a:t>
            </a:r>
            <a:r>
              <a:rPr lang="zh-CN" altLang="en-US" sz="2400" u="sng" dirty="0">
                <a:solidFill>
                  <a:srgbClr val="C00000"/>
                </a:solidFill>
                <a:latin typeface="Arial" panose="020B0604020202020204" pitchFamily="34" charset="0"/>
                <a:ea typeface="宋体" panose="02010600030101010101" pitchFamily="2" charset="-122"/>
                <a:sym typeface="Wingdings" panose="05000000000000000000" pitchFamily="2" charset="2"/>
              </a:rPr>
              <a:t>锁：</a:t>
            </a:r>
            <a:r>
              <a:rPr lang="zh-CN" altLang="en-US" sz="2400" dirty="0">
                <a:latin typeface="Arial" panose="020B0604020202020204" pitchFamily="34" charset="0"/>
                <a:ea typeface="宋体" panose="02010600030101010101" pitchFamily="2" charset="-122"/>
                <a:sym typeface="Wingdings" panose="05000000000000000000" pitchFamily="2" charset="2"/>
              </a:rPr>
              <a:t>一个事务要给一个数据对象加</a:t>
            </a:r>
            <a:r>
              <a:rPr lang="en-US" altLang="x-none" sz="2400" dirty="0">
                <a:latin typeface="Arial" panose="020B0604020202020204" pitchFamily="34" charset="0"/>
                <a:ea typeface="宋体" panose="02010600030101010101" pitchFamily="2" charset="-122"/>
                <a:sym typeface="Wingdings" panose="05000000000000000000" pitchFamily="2" charset="2"/>
              </a:rPr>
              <a:t>S</a:t>
            </a:r>
            <a:r>
              <a:rPr lang="zh-CN" altLang="en-US" sz="2400" dirty="0">
                <a:latin typeface="Arial" panose="020B0604020202020204" pitchFamily="34" charset="0"/>
                <a:ea typeface="宋体" panose="02010600030101010101" pitchFamily="2" charset="-122"/>
                <a:sym typeface="Wingdings" panose="05000000000000000000" pitchFamily="2" charset="2"/>
              </a:rPr>
              <a:t>锁，必须首先将其祖先加</a:t>
            </a:r>
            <a:r>
              <a:rPr lang="en-US" altLang="x-none" sz="2400" dirty="0">
                <a:latin typeface="Arial" panose="020B0604020202020204" pitchFamily="34" charset="0"/>
                <a:ea typeface="宋体" panose="02010600030101010101" pitchFamily="2" charset="-122"/>
                <a:sym typeface="Wingdings" panose="05000000000000000000" pitchFamily="2" charset="2"/>
              </a:rPr>
              <a:t>IS</a:t>
            </a:r>
            <a:r>
              <a:rPr lang="zh-CN" altLang="en-US" sz="2400" dirty="0">
                <a:latin typeface="Arial" panose="020B0604020202020204" pitchFamily="34" charset="0"/>
                <a:ea typeface="宋体" panose="02010600030101010101" pitchFamily="2" charset="-122"/>
                <a:sym typeface="Wingdings" panose="05000000000000000000" pitchFamily="2" charset="2"/>
              </a:rPr>
              <a:t>锁。也就是说，如果一个数据对象被加了</a:t>
            </a:r>
            <a:r>
              <a:rPr lang="en-US" altLang="x-none" sz="2400" dirty="0">
                <a:latin typeface="Arial" panose="020B0604020202020204" pitchFamily="34" charset="0"/>
                <a:ea typeface="宋体" panose="02010600030101010101" pitchFamily="2" charset="-122"/>
                <a:sym typeface="Wingdings" panose="05000000000000000000" pitchFamily="2" charset="2"/>
              </a:rPr>
              <a:t>IS</a:t>
            </a:r>
            <a:r>
              <a:rPr lang="zh-CN" altLang="en-US" sz="2400" dirty="0">
                <a:latin typeface="Arial" panose="020B0604020202020204" pitchFamily="34" charset="0"/>
                <a:ea typeface="宋体" panose="02010600030101010101" pitchFamily="2" charset="-122"/>
                <a:sym typeface="Wingdings" panose="05000000000000000000" pitchFamily="2" charset="2"/>
              </a:rPr>
              <a:t>锁，表示其某些子孙加了或准备加</a:t>
            </a:r>
            <a:r>
              <a:rPr lang="en-US" altLang="x-none" sz="2400" dirty="0">
                <a:latin typeface="Arial" panose="020B0604020202020204" pitchFamily="34" charset="0"/>
                <a:ea typeface="宋体" panose="02010600030101010101" pitchFamily="2" charset="-122"/>
                <a:sym typeface="Wingdings" panose="05000000000000000000" pitchFamily="2" charset="2"/>
              </a:rPr>
              <a:t>S</a:t>
            </a:r>
            <a:r>
              <a:rPr lang="zh-CN" altLang="en-US" sz="2400" dirty="0">
                <a:latin typeface="Arial" panose="020B0604020202020204" pitchFamily="34" charset="0"/>
                <a:ea typeface="宋体" panose="02010600030101010101" pitchFamily="2" charset="-122"/>
                <a:sym typeface="Wingdings" panose="05000000000000000000" pitchFamily="2" charset="2"/>
              </a:rPr>
              <a:t>锁。 </a:t>
            </a:r>
            <a:endParaRPr lang="zh-CN" altLang="en-US" sz="2400" dirty="0">
              <a:latin typeface="Arial" panose="020B0604020202020204" pitchFamily="34" charset="0"/>
              <a:ea typeface="宋体" panose="02010600030101010101" pitchFamily="2" charset="-122"/>
            </a:endParaRPr>
          </a:p>
        </p:txBody>
      </p:sp>
    </p:spTree>
  </p:cSld>
  <p:clrMapOvr>
    <a:masterClrMapping/>
  </p:clrMapOvr>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600" dirty="0">
                <a:solidFill>
                  <a:srgbClr val="0033CC"/>
                </a:solidFill>
                <a:latin typeface="Arial" panose="020B0604020202020204" pitchFamily="34" charset="0"/>
                <a:ea typeface="黑体" panose="02010609060101010101" pitchFamily="1" charset="-122"/>
              </a:rPr>
              <a:t>五、数据库系统中的并发</a:t>
            </a:r>
            <a:endParaRPr lang="zh-CN" altLang="en-US" sz="3600" dirty="0">
              <a:solidFill>
                <a:srgbClr val="0033CC"/>
              </a:solidFill>
              <a:latin typeface="Arial" panose="020B0604020202020204" pitchFamily="34" charset="0"/>
              <a:ea typeface="黑体" panose="02010609060101010101" pitchFamily="1" charset="-122"/>
            </a:endParaRPr>
          </a:p>
        </p:txBody>
      </p:sp>
      <p:sp>
        <p:nvSpPr>
          <p:cNvPr id="125954" name="Rectangle 3"/>
          <p:cNvSpPr txBox="1"/>
          <p:nvPr/>
        </p:nvSpPr>
        <p:spPr>
          <a:xfrm>
            <a:off x="517525" y="8382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5</a:t>
            </a:r>
            <a:r>
              <a:rPr lang="zh-CN" altLang="en-US" sz="2800" dirty="0">
                <a:solidFill>
                  <a:srgbClr val="FF0000"/>
                </a:solidFill>
                <a:latin typeface="黑体" panose="02010609060101010101" pitchFamily="1" charset="-122"/>
                <a:ea typeface="黑体" panose="02010609060101010101" pitchFamily="1" charset="-122"/>
              </a:rPr>
              <a:t>、多粒度加锁协议</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129028" name="Text Box 2"/>
          <p:cNvSpPr txBox="1"/>
          <p:nvPr/>
        </p:nvSpPr>
        <p:spPr>
          <a:xfrm>
            <a:off x="595313" y="2392363"/>
            <a:ext cx="8137525" cy="3509962"/>
          </a:xfrm>
          <a:prstGeom prst="rect">
            <a:avLst/>
          </a:prstGeom>
          <a:noFill/>
          <a:ln w="9525">
            <a:noFill/>
          </a:ln>
        </p:spPr>
        <p:txBody>
          <a:bodyPr anchor="t">
            <a:spAutoFit/>
          </a:bodyPr>
          <a:lstStyle/>
          <a:p>
            <a:pPr lvl="0" indent="0">
              <a:spcBef>
                <a:spcPct val="50000"/>
              </a:spcBef>
            </a:pPr>
            <a:r>
              <a:rPr lang="zh-CN" altLang="en-US" sz="2800" dirty="0">
                <a:solidFill>
                  <a:srgbClr val="CC3300"/>
                </a:solidFill>
                <a:latin typeface="宋体" panose="02010600030101010101" pitchFamily="2" charset="-122"/>
                <a:ea typeface="宋体" panose="02010600030101010101" pitchFamily="2" charset="-122"/>
                <a:sym typeface="Wingdings" panose="05000000000000000000" pitchFamily="2" charset="2"/>
              </a:rPr>
              <a:t>锁冲突关系：</a:t>
            </a:r>
            <a:r>
              <a:rPr lang="en-US" altLang="x-none" sz="2800" dirty="0">
                <a:solidFill>
                  <a:srgbClr val="0000CC"/>
                </a:solidFill>
                <a:latin typeface="宋体" panose="02010600030101010101" pitchFamily="2" charset="-122"/>
                <a:ea typeface="宋体" panose="02010600030101010101" pitchFamily="2" charset="-122"/>
                <a:sym typeface="Wingdings" panose="05000000000000000000" pitchFamily="2" charset="2"/>
              </a:rPr>
              <a:t>IS</a:t>
            </a:r>
            <a:r>
              <a:rPr lang="zh-CN" altLang="en-US" sz="2800" dirty="0">
                <a:solidFill>
                  <a:srgbClr val="0000CC"/>
                </a:solidFill>
                <a:latin typeface="宋体" panose="02010600030101010101" pitchFamily="2" charset="-122"/>
                <a:ea typeface="宋体" panose="02010600030101010101" pitchFamily="2" charset="-122"/>
                <a:sym typeface="Wingdings" panose="05000000000000000000" pitchFamily="2" charset="2"/>
              </a:rPr>
              <a:t>锁与</a:t>
            </a:r>
            <a:r>
              <a:rPr lang="en-US" altLang="x-none" sz="2800" dirty="0">
                <a:solidFill>
                  <a:srgbClr val="0000CC"/>
                </a:solidFill>
                <a:latin typeface="宋体" panose="02010600030101010101" pitchFamily="2" charset="-122"/>
                <a:ea typeface="宋体" panose="02010600030101010101" pitchFamily="2" charset="-122"/>
                <a:sym typeface="Wingdings" panose="05000000000000000000" pitchFamily="2" charset="2"/>
              </a:rPr>
              <a:t>X</a:t>
            </a:r>
            <a:r>
              <a:rPr lang="zh-CN" altLang="en-US" sz="2800" dirty="0">
                <a:solidFill>
                  <a:srgbClr val="0000CC"/>
                </a:solidFill>
                <a:latin typeface="宋体" panose="02010600030101010101" pitchFamily="2" charset="-122"/>
                <a:ea typeface="宋体" panose="02010600030101010101" pitchFamily="2" charset="-122"/>
                <a:sym typeface="Wingdings" panose="05000000000000000000" pitchFamily="2" charset="2"/>
              </a:rPr>
              <a:t>锁冲突。</a:t>
            </a:r>
            <a:endParaRPr lang="zh-CN" altLang="en-US" sz="2800" dirty="0">
              <a:solidFill>
                <a:srgbClr val="0000CC"/>
              </a:solidFill>
              <a:latin typeface="宋体" panose="02010600030101010101" pitchFamily="2" charset="-122"/>
              <a:ea typeface="宋体" panose="02010600030101010101" pitchFamily="2" charset="-122"/>
              <a:sym typeface="Wingdings" panose="05000000000000000000" pitchFamily="2" charset="2"/>
            </a:endParaRPr>
          </a:p>
          <a:p>
            <a:pPr lvl="0" indent="0">
              <a:spcBef>
                <a:spcPct val="50000"/>
              </a:spcBef>
            </a:pPr>
            <a:r>
              <a:rPr lang="zh-CN" altLang="en-US" sz="2800" dirty="0">
                <a:solidFill>
                  <a:srgbClr val="0000CC"/>
                </a:solidFill>
                <a:latin typeface="宋体" panose="02010600030101010101" pitchFamily="2" charset="-122"/>
                <a:ea typeface="宋体" panose="02010600030101010101" pitchFamily="2" charset="-122"/>
                <a:sym typeface="Wingdings" panose="05000000000000000000" pitchFamily="2" charset="2"/>
              </a:rPr>
              <a:t>① 如果一事务对所操作对象的祖先的</a:t>
            </a:r>
            <a:r>
              <a:rPr lang="en-US" altLang="x-none" sz="2800" dirty="0">
                <a:solidFill>
                  <a:srgbClr val="0000CC"/>
                </a:solidFill>
                <a:latin typeface="宋体" panose="02010600030101010101" pitchFamily="2" charset="-122"/>
                <a:ea typeface="宋体" panose="02010600030101010101" pitchFamily="2" charset="-122"/>
                <a:sym typeface="Wingdings" panose="05000000000000000000" pitchFamily="2" charset="2"/>
              </a:rPr>
              <a:t>IS</a:t>
            </a:r>
            <a:r>
              <a:rPr lang="zh-CN" altLang="en-US" sz="2800" dirty="0">
                <a:solidFill>
                  <a:srgbClr val="0000CC"/>
                </a:solidFill>
                <a:latin typeface="宋体" panose="02010600030101010101" pitchFamily="2" charset="-122"/>
                <a:ea typeface="宋体" panose="02010600030101010101" pitchFamily="2" charset="-122"/>
                <a:sym typeface="Wingdings" panose="05000000000000000000" pitchFamily="2" charset="2"/>
              </a:rPr>
              <a:t>锁申请成功，就可保证再给该对象加</a:t>
            </a:r>
            <a:r>
              <a:rPr lang="en-US" altLang="x-none" sz="2800" dirty="0">
                <a:solidFill>
                  <a:srgbClr val="0000CC"/>
                </a:solidFill>
                <a:latin typeface="宋体" panose="02010600030101010101" pitchFamily="2" charset="-122"/>
                <a:ea typeface="宋体" panose="02010600030101010101" pitchFamily="2" charset="-122"/>
                <a:sym typeface="Wingdings" panose="05000000000000000000" pitchFamily="2" charset="2"/>
              </a:rPr>
              <a:t>S</a:t>
            </a:r>
            <a:r>
              <a:rPr lang="zh-CN" altLang="en-US" sz="2800" dirty="0">
                <a:solidFill>
                  <a:srgbClr val="0000CC"/>
                </a:solidFill>
                <a:latin typeface="宋体" panose="02010600030101010101" pitchFamily="2" charset="-122"/>
                <a:ea typeface="宋体" panose="02010600030101010101" pitchFamily="2" charset="-122"/>
                <a:sym typeface="Wingdings" panose="05000000000000000000" pitchFamily="2" charset="2"/>
              </a:rPr>
              <a:t>锁时，不会造成</a:t>
            </a:r>
            <a:r>
              <a:rPr lang="en-US" altLang="x-none" sz="2800" dirty="0">
                <a:solidFill>
                  <a:srgbClr val="0000CC"/>
                </a:solidFill>
                <a:latin typeface="宋体" panose="02010600030101010101" pitchFamily="2" charset="-122"/>
                <a:ea typeface="宋体" panose="02010600030101010101" pitchFamily="2" charset="-122"/>
                <a:sym typeface="Wingdings" panose="05000000000000000000" pitchFamily="2" charset="2"/>
              </a:rPr>
              <a:t>S</a:t>
            </a:r>
            <a:r>
              <a:rPr lang="zh-CN" altLang="en-US" sz="2800" dirty="0">
                <a:solidFill>
                  <a:srgbClr val="0000CC"/>
                </a:solidFill>
                <a:latin typeface="宋体" panose="02010600030101010101" pitchFamily="2" charset="-122"/>
                <a:ea typeface="宋体" panose="02010600030101010101" pitchFamily="2" charset="-122"/>
                <a:sym typeface="Wingdings" panose="05000000000000000000" pitchFamily="2" charset="2"/>
              </a:rPr>
              <a:t>锁与该对象的隐式锁发生冲突。  </a:t>
            </a:r>
            <a:endParaRPr lang="zh-CN" altLang="en-US" sz="2800" dirty="0">
              <a:solidFill>
                <a:srgbClr val="0000CC"/>
              </a:solidFill>
              <a:latin typeface="宋体" panose="02010600030101010101" pitchFamily="2" charset="-122"/>
              <a:ea typeface="宋体" panose="02010600030101010101" pitchFamily="2" charset="-122"/>
              <a:sym typeface="Wingdings" panose="05000000000000000000" pitchFamily="2" charset="2"/>
            </a:endParaRPr>
          </a:p>
          <a:p>
            <a:pPr lvl="0" indent="0">
              <a:spcBef>
                <a:spcPct val="50000"/>
              </a:spcBef>
            </a:pPr>
            <a:r>
              <a:rPr lang="zh-CN" altLang="en-US" sz="2800" dirty="0">
                <a:solidFill>
                  <a:srgbClr val="0000CC"/>
                </a:solidFill>
                <a:latin typeface="宋体" panose="02010600030101010101" pitchFamily="2" charset="-122"/>
                <a:ea typeface="宋体" panose="02010600030101010101" pitchFamily="2" charset="-122"/>
                <a:sym typeface="Wingdings" panose="05000000000000000000" pitchFamily="2" charset="2"/>
              </a:rPr>
              <a:t>② 如事务给数据对象加了</a:t>
            </a:r>
            <a:r>
              <a:rPr lang="en-US" altLang="x-none" sz="2800" dirty="0">
                <a:solidFill>
                  <a:srgbClr val="0000CC"/>
                </a:solidFill>
                <a:latin typeface="宋体" panose="02010600030101010101" pitchFamily="2" charset="-122"/>
                <a:ea typeface="宋体" panose="02010600030101010101" pitchFamily="2" charset="-122"/>
                <a:sym typeface="Wingdings" panose="05000000000000000000" pitchFamily="2" charset="2"/>
              </a:rPr>
              <a:t>S</a:t>
            </a:r>
            <a:r>
              <a:rPr lang="zh-CN" altLang="en-US" sz="2800" dirty="0">
                <a:solidFill>
                  <a:srgbClr val="0000CC"/>
                </a:solidFill>
                <a:latin typeface="宋体" panose="02010600030101010101" pitchFamily="2" charset="-122"/>
                <a:ea typeface="宋体" panose="02010600030101010101" pitchFamily="2" charset="-122"/>
                <a:sym typeface="Wingdings" panose="05000000000000000000" pitchFamily="2" charset="2"/>
              </a:rPr>
              <a:t>锁，那么其它事务就不能给其任何祖先加</a:t>
            </a:r>
            <a:r>
              <a:rPr lang="en-US" altLang="x-none" sz="2800" dirty="0">
                <a:solidFill>
                  <a:srgbClr val="0000CC"/>
                </a:solidFill>
                <a:latin typeface="宋体" panose="02010600030101010101" pitchFamily="2" charset="-122"/>
                <a:ea typeface="宋体" panose="02010600030101010101" pitchFamily="2" charset="-122"/>
                <a:sym typeface="Wingdings" panose="05000000000000000000" pitchFamily="2" charset="2"/>
              </a:rPr>
              <a:t>X</a:t>
            </a:r>
            <a:r>
              <a:rPr lang="zh-CN" altLang="en-US" sz="2800" dirty="0">
                <a:solidFill>
                  <a:srgbClr val="0000CC"/>
                </a:solidFill>
                <a:latin typeface="宋体" panose="02010600030101010101" pitchFamily="2" charset="-122"/>
                <a:ea typeface="宋体" panose="02010600030101010101" pitchFamily="2" charset="-122"/>
                <a:sym typeface="Wingdings" panose="05000000000000000000" pitchFamily="2" charset="2"/>
              </a:rPr>
              <a:t>锁，因为其祖先已被该事务加了</a:t>
            </a:r>
            <a:r>
              <a:rPr lang="en-US" altLang="x-none" sz="2800" dirty="0">
                <a:solidFill>
                  <a:srgbClr val="0000CC"/>
                </a:solidFill>
                <a:latin typeface="宋体" panose="02010600030101010101" pitchFamily="2" charset="-122"/>
                <a:ea typeface="宋体" panose="02010600030101010101" pitchFamily="2" charset="-122"/>
                <a:sym typeface="Wingdings" panose="05000000000000000000" pitchFamily="2" charset="2"/>
              </a:rPr>
              <a:t>IS</a:t>
            </a:r>
            <a:r>
              <a:rPr lang="zh-CN" altLang="en-US" sz="2800" dirty="0">
                <a:solidFill>
                  <a:srgbClr val="0000CC"/>
                </a:solidFill>
                <a:latin typeface="宋体" panose="02010600030101010101" pitchFamily="2" charset="-122"/>
                <a:ea typeface="宋体" panose="02010600030101010101" pitchFamily="2" charset="-122"/>
                <a:sym typeface="Wingdings" panose="05000000000000000000" pitchFamily="2" charset="2"/>
              </a:rPr>
              <a:t>锁。</a:t>
            </a:r>
            <a:endParaRPr lang="zh-CN" altLang="en-US" sz="2800" dirty="0">
              <a:solidFill>
                <a:srgbClr val="0000CC"/>
              </a:solidFill>
              <a:latin typeface="宋体" panose="02010600030101010101" pitchFamily="2" charset="-122"/>
              <a:ea typeface="宋体" panose="02010600030101010101" pitchFamily="2" charset="-122"/>
              <a:sym typeface="Wingdings" panose="05000000000000000000" pitchFamily="2" charset="2"/>
            </a:endParaRPr>
          </a:p>
        </p:txBody>
      </p:sp>
      <p:sp>
        <p:nvSpPr>
          <p:cNvPr id="129029" name="Text Box 3"/>
          <p:cNvSpPr txBox="1"/>
          <p:nvPr/>
        </p:nvSpPr>
        <p:spPr>
          <a:xfrm>
            <a:off x="1835150" y="1479550"/>
            <a:ext cx="5184775" cy="641350"/>
          </a:xfrm>
          <a:prstGeom prst="rect">
            <a:avLst/>
          </a:prstGeom>
          <a:noFill/>
          <a:ln w="9525">
            <a:noFill/>
          </a:ln>
        </p:spPr>
        <p:txBody>
          <a:bodyPr anchor="t">
            <a:spAutoFit/>
          </a:bodyPr>
          <a:lstStyle/>
          <a:p>
            <a:pPr lvl="0" indent="0" algn="ctr">
              <a:spcBef>
                <a:spcPct val="50000"/>
              </a:spcBef>
            </a:pPr>
            <a:r>
              <a:rPr lang="en-US" altLang="x-none" sz="3600" dirty="0">
                <a:solidFill>
                  <a:srgbClr val="A50021"/>
                </a:solidFill>
                <a:latin typeface="宋体" panose="02010600030101010101" pitchFamily="2" charset="-122"/>
                <a:ea typeface="宋体" panose="02010600030101010101" pitchFamily="2" charset="-122"/>
                <a:sym typeface="Wingdings" panose="05000000000000000000" pitchFamily="2" charset="2"/>
              </a:rPr>
              <a:t>IS</a:t>
            </a:r>
            <a:r>
              <a:rPr lang="zh-CN" altLang="en-US" sz="3600" dirty="0">
                <a:solidFill>
                  <a:srgbClr val="A50021"/>
                </a:solidFill>
                <a:latin typeface="宋体" panose="02010600030101010101" pitchFamily="2" charset="-122"/>
                <a:ea typeface="宋体" panose="02010600030101010101" pitchFamily="2" charset="-122"/>
                <a:sym typeface="Wingdings" panose="05000000000000000000" pitchFamily="2" charset="2"/>
              </a:rPr>
              <a:t>锁冲突检测</a:t>
            </a:r>
            <a:endParaRPr lang="zh-CN" altLang="en-US" sz="3600" dirty="0">
              <a:solidFill>
                <a:srgbClr val="A50021"/>
              </a:solidFill>
              <a:latin typeface="宋体" panose="02010600030101010101" pitchFamily="2" charset="-122"/>
              <a:ea typeface="宋体" panose="02010600030101010101" pitchFamily="2" charset="-122"/>
              <a:sym typeface="Wingdings" panose="05000000000000000000" pitchFamily="2" charset="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129029"/>
                                        </p:tgtEl>
                                        <p:attrNameLst>
                                          <p:attrName>style.visibility</p:attrName>
                                        </p:attrNameLst>
                                      </p:cBhvr>
                                      <p:to>
                                        <p:strVal val="visible"/>
                                      </p:to>
                                    </p:set>
                                    <p:animEffect transition="in" filter="box(in)">
                                      <p:cBhvr>
                                        <p:cTn id="7" dur="500"/>
                                        <p:tgtEl>
                                          <p:spTgt spid="12902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29028"/>
                                        </p:tgtEl>
                                        <p:attrNameLst>
                                          <p:attrName>style.visibility</p:attrName>
                                        </p:attrNameLst>
                                      </p:cBhvr>
                                      <p:to>
                                        <p:strVal val="visible"/>
                                      </p:to>
                                    </p:set>
                                    <p:animEffect transition="in" filter="box(in)">
                                      <p:cBhvr>
                                        <p:cTn id="12" dur="500"/>
                                        <p:tgtEl>
                                          <p:spTgt spid="129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8" grpId="0"/>
      <p:bldP spid="129029" grpId="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600" dirty="0">
                <a:solidFill>
                  <a:srgbClr val="0033CC"/>
                </a:solidFill>
                <a:latin typeface="Arial" panose="020B0604020202020204" pitchFamily="34" charset="0"/>
                <a:ea typeface="黑体" panose="02010609060101010101" pitchFamily="1" charset="-122"/>
              </a:rPr>
              <a:t>五、数据库系统中的并发</a:t>
            </a:r>
            <a:endParaRPr lang="zh-CN" altLang="en-US" sz="3600" dirty="0">
              <a:solidFill>
                <a:srgbClr val="0033CC"/>
              </a:solidFill>
              <a:latin typeface="Arial" panose="020B0604020202020204" pitchFamily="34" charset="0"/>
              <a:ea typeface="黑体" panose="02010609060101010101" pitchFamily="1" charset="-122"/>
            </a:endParaRPr>
          </a:p>
        </p:txBody>
      </p:sp>
      <p:sp>
        <p:nvSpPr>
          <p:cNvPr id="126978" name="Rectangle 3"/>
          <p:cNvSpPr txBox="1"/>
          <p:nvPr/>
        </p:nvSpPr>
        <p:spPr>
          <a:xfrm>
            <a:off x="517525" y="8382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5</a:t>
            </a:r>
            <a:r>
              <a:rPr lang="zh-CN" altLang="en-US" sz="2800" dirty="0">
                <a:solidFill>
                  <a:srgbClr val="FF0000"/>
                </a:solidFill>
                <a:latin typeface="黑体" panose="02010609060101010101" pitchFamily="1" charset="-122"/>
                <a:ea typeface="黑体" panose="02010609060101010101" pitchFamily="1" charset="-122"/>
              </a:rPr>
              <a:t>、多粒度加锁协议</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126979" name="Rectangle 2"/>
          <p:cNvSpPr txBox="1"/>
          <p:nvPr/>
        </p:nvSpPr>
        <p:spPr>
          <a:xfrm>
            <a:off x="5318125" y="868363"/>
            <a:ext cx="3825875" cy="706437"/>
          </a:xfrm>
          <a:prstGeom prst="rect">
            <a:avLst/>
          </a:prstGeom>
          <a:noFill/>
          <a:ln w="9525">
            <a:noFill/>
          </a:ln>
        </p:spPr>
        <p:txBody>
          <a:bodyPr anchor="t"/>
          <a:lstStyle/>
          <a:p>
            <a:pPr lvl="0" indent="0" eaLnBrk="0" hangingPunct="0">
              <a:buFont typeface="Wingdings" panose="05000000000000000000" pitchFamily="2" charset="2"/>
              <a:buChar char="p"/>
            </a:pPr>
            <a:r>
              <a:rPr lang="zh-CN" altLang="en-US" sz="2800" dirty="0">
                <a:solidFill>
                  <a:srgbClr val="3333CC"/>
                </a:solidFill>
                <a:latin typeface="Arial" panose="020B0604020202020204" pitchFamily="34" charset="0"/>
                <a:ea typeface="黑体" panose="02010609060101010101" pitchFamily="1" charset="-122"/>
              </a:rPr>
              <a:t>多粒度锁小结</a:t>
            </a:r>
            <a:endParaRPr lang="zh-CN" altLang="en-US" sz="2800" dirty="0">
              <a:solidFill>
                <a:srgbClr val="3333CC"/>
              </a:solidFill>
              <a:latin typeface="Arial" panose="020B0604020202020204" pitchFamily="34" charset="0"/>
              <a:ea typeface="黑体" panose="02010609060101010101" pitchFamily="1" charset="-122"/>
            </a:endParaRPr>
          </a:p>
        </p:txBody>
      </p:sp>
      <p:sp>
        <p:nvSpPr>
          <p:cNvPr id="126980" name="Rectangle 3"/>
          <p:cNvSpPr txBox="1"/>
          <p:nvPr/>
        </p:nvSpPr>
        <p:spPr>
          <a:xfrm>
            <a:off x="517525" y="1409700"/>
            <a:ext cx="8077200" cy="1841500"/>
          </a:xfrm>
          <a:prstGeom prst="rect">
            <a:avLst/>
          </a:prstGeom>
          <a:noFill/>
          <a:ln w="9525" cap="flat" cmpd="sng">
            <a:solidFill>
              <a:srgbClr val="CC0000"/>
            </a:solidFill>
            <a:prstDash val="solid"/>
            <a:miter/>
            <a:headEnd type="none" w="med" len="med"/>
            <a:tailEnd type="none" w="med" len="med"/>
          </a:ln>
        </p:spPr>
        <p:txBody>
          <a:bodyPr anchor="t"/>
          <a:lstStyle/>
          <a:p>
            <a:pPr marL="533400" lvl="0" indent="-533400" eaLnBrk="0" hangingPunct="0">
              <a:lnSpc>
                <a:spcPct val="90000"/>
              </a:lnSpc>
              <a:spcBef>
                <a:spcPct val="20000"/>
              </a:spcBef>
              <a:buClr>
                <a:srgbClr val="0033CC"/>
              </a:buClr>
              <a:buSzPct val="80000"/>
              <a:buFont typeface="Wingdings" panose="05000000000000000000" pitchFamily="2" charset="2"/>
              <a:buChar char="u"/>
            </a:pPr>
            <a:r>
              <a:rPr lang="zh-CN" altLang="en-US" sz="2400" dirty="0">
                <a:latin typeface="Arial" panose="020B0604020202020204" pitchFamily="34" charset="0"/>
                <a:ea typeface="宋体" panose="02010600030101010101" pitchFamily="2" charset="-122"/>
                <a:sym typeface="Wingdings" panose="05000000000000000000" pitchFamily="2" charset="2"/>
              </a:rPr>
              <a:t>意向共享</a:t>
            </a:r>
            <a:r>
              <a:rPr lang="en-US" altLang="x-none" sz="2400" dirty="0">
                <a:latin typeface="Arial" panose="020B0604020202020204" pitchFamily="34" charset="0"/>
                <a:ea typeface="宋体" panose="02010600030101010101" pitchFamily="2" charset="-122"/>
                <a:sym typeface="Wingdings" panose="05000000000000000000" pitchFamily="2" charset="2"/>
              </a:rPr>
              <a:t>IS (Intention Share)</a:t>
            </a:r>
            <a:r>
              <a:rPr lang="zh-CN" altLang="en-US" sz="2400" dirty="0">
                <a:latin typeface="Arial" panose="020B0604020202020204" pitchFamily="34" charset="0"/>
                <a:ea typeface="宋体" panose="02010600030101010101" pitchFamily="2" charset="-122"/>
                <a:sym typeface="Wingdings" panose="05000000000000000000" pitchFamily="2" charset="2"/>
              </a:rPr>
              <a:t>锁</a:t>
            </a:r>
            <a:endParaRPr lang="zh-CN" altLang="en-US" sz="2400" dirty="0">
              <a:latin typeface="Arial" panose="020B0604020202020204" pitchFamily="34" charset="0"/>
              <a:ea typeface="宋体" panose="02010600030101010101" pitchFamily="2" charset="-122"/>
              <a:sym typeface="Wingdings" panose="05000000000000000000" pitchFamily="2" charset="2"/>
            </a:endParaRPr>
          </a:p>
          <a:p>
            <a:pPr marL="533400" lvl="0" indent="-533400" eaLnBrk="0" hangingPunct="0">
              <a:lnSpc>
                <a:spcPct val="90000"/>
              </a:lnSpc>
              <a:spcBef>
                <a:spcPct val="20000"/>
              </a:spcBef>
              <a:buClr>
                <a:srgbClr val="0033CC"/>
              </a:buClr>
              <a:buSzPct val="80000"/>
              <a:buFont typeface="Wingdings" panose="05000000000000000000" pitchFamily="2" charset="2"/>
              <a:buChar char="u"/>
            </a:pPr>
            <a:r>
              <a:rPr lang="zh-CN" altLang="en-US" sz="2400" dirty="0">
                <a:latin typeface="Arial" panose="020B0604020202020204" pitchFamily="34" charset="0"/>
                <a:ea typeface="宋体" panose="02010600030101010101" pitchFamily="2" charset="-122"/>
                <a:sym typeface="Wingdings" panose="05000000000000000000" pitchFamily="2" charset="2"/>
              </a:rPr>
              <a:t>意向排他锁</a:t>
            </a:r>
            <a:r>
              <a:rPr lang="en-US" altLang="x-none" sz="2400" dirty="0">
                <a:latin typeface="Arial" panose="020B0604020202020204" pitchFamily="34" charset="0"/>
                <a:ea typeface="宋体" panose="02010600030101010101" pitchFamily="2" charset="-122"/>
                <a:sym typeface="Wingdings" panose="05000000000000000000" pitchFamily="2" charset="2"/>
              </a:rPr>
              <a:t>IX</a:t>
            </a:r>
            <a:endParaRPr lang="en-US" altLang="x-none" sz="2400" dirty="0">
              <a:latin typeface="Arial" panose="020B0604020202020204" pitchFamily="34" charset="0"/>
              <a:ea typeface="宋体" panose="02010600030101010101" pitchFamily="2" charset="-122"/>
              <a:sym typeface="Wingdings" panose="05000000000000000000" pitchFamily="2" charset="2"/>
            </a:endParaRPr>
          </a:p>
          <a:p>
            <a:pPr marL="533400" lvl="0" indent="-533400" eaLnBrk="0" hangingPunct="0">
              <a:lnSpc>
                <a:spcPct val="90000"/>
              </a:lnSpc>
              <a:spcBef>
                <a:spcPct val="20000"/>
              </a:spcBef>
              <a:buClr>
                <a:srgbClr val="0033CC"/>
              </a:buClr>
              <a:buSzPct val="80000"/>
              <a:buFont typeface="Wingdings" panose="05000000000000000000" pitchFamily="2" charset="2"/>
              <a:buChar char="u"/>
            </a:pPr>
            <a:r>
              <a:rPr lang="zh-CN" altLang="en-US" sz="2400" dirty="0">
                <a:latin typeface="Arial" panose="020B0604020202020204" pitchFamily="34" charset="0"/>
                <a:ea typeface="宋体" panose="02010600030101010101" pitchFamily="2" charset="-122"/>
                <a:sym typeface="Wingdings" panose="05000000000000000000" pitchFamily="2" charset="2"/>
              </a:rPr>
              <a:t>共享意向排他锁 </a:t>
            </a:r>
            <a:r>
              <a:rPr lang="en-US" altLang="x-none" sz="2400" dirty="0">
                <a:latin typeface="Arial" panose="020B0604020202020204" pitchFamily="34" charset="0"/>
                <a:ea typeface="宋体" panose="02010600030101010101" pitchFamily="2" charset="-122"/>
                <a:sym typeface="Wingdings" panose="05000000000000000000" pitchFamily="2" charset="2"/>
              </a:rPr>
              <a:t>SIX</a:t>
            </a:r>
            <a:r>
              <a:rPr lang="zh-CN" altLang="en-US" sz="2400" dirty="0">
                <a:latin typeface="Arial" panose="020B0604020202020204" pitchFamily="34" charset="0"/>
                <a:ea typeface="宋体" panose="02010600030101010101" pitchFamily="2" charset="-122"/>
                <a:sym typeface="Wingdings" panose="05000000000000000000" pitchFamily="2" charset="2"/>
              </a:rPr>
              <a:t>：一个事务要读取整张表并修改其中某个元组，也就是说事务要整张表的</a:t>
            </a:r>
            <a:r>
              <a:rPr lang="en-US" altLang="zh-CN" sz="2400" dirty="0">
                <a:latin typeface="Arial" panose="020B0604020202020204" pitchFamily="34" charset="0"/>
                <a:ea typeface="宋体" panose="02010600030101010101" pitchFamily="2" charset="-122"/>
                <a:sym typeface="Wingdings" panose="05000000000000000000" pitchFamily="2" charset="2"/>
              </a:rPr>
              <a:t>S</a:t>
            </a:r>
            <a:r>
              <a:rPr lang="zh-CN" altLang="en-US" sz="2400" dirty="0">
                <a:latin typeface="Arial" panose="020B0604020202020204" pitchFamily="34" charset="0"/>
                <a:ea typeface="宋体" panose="02010600030101010101" pitchFamily="2" charset="-122"/>
                <a:sym typeface="Wingdings" panose="05000000000000000000" pitchFamily="2" charset="2"/>
              </a:rPr>
              <a:t>锁和</a:t>
            </a:r>
            <a:r>
              <a:rPr lang="en-US" altLang="zh-CN" sz="2400" dirty="0">
                <a:latin typeface="Arial" panose="020B0604020202020204" pitchFamily="34" charset="0"/>
                <a:ea typeface="宋体" panose="02010600030101010101" pitchFamily="2" charset="-122"/>
                <a:sym typeface="Wingdings" panose="05000000000000000000" pitchFamily="2" charset="2"/>
              </a:rPr>
              <a:t>IX</a:t>
            </a:r>
            <a:r>
              <a:rPr lang="zh-CN" altLang="zh-CN" sz="2400" dirty="0">
                <a:latin typeface="Arial" panose="020B0604020202020204" pitchFamily="34" charset="0"/>
                <a:ea typeface="宋体" panose="02010600030101010101" pitchFamily="2" charset="-122"/>
                <a:sym typeface="Wingdings" panose="05000000000000000000" pitchFamily="2" charset="2"/>
              </a:rPr>
              <a:t>锁，这两个锁冲突，为解决这个问题，定义了</a:t>
            </a:r>
            <a:r>
              <a:rPr lang="en-US" altLang="zh-CN" sz="2400" dirty="0">
                <a:latin typeface="Arial" panose="020B0604020202020204" pitchFamily="34" charset="0"/>
                <a:ea typeface="宋体" panose="02010600030101010101" pitchFamily="2" charset="-122"/>
                <a:sym typeface="Wingdings" panose="05000000000000000000" pitchFamily="2" charset="2"/>
              </a:rPr>
              <a:t>SIX</a:t>
            </a:r>
            <a:r>
              <a:rPr lang="zh-CN" altLang="zh-CN" sz="2400" dirty="0">
                <a:latin typeface="Arial" panose="020B0604020202020204" pitchFamily="34" charset="0"/>
                <a:ea typeface="宋体" panose="02010600030101010101" pitchFamily="2" charset="-122"/>
                <a:sym typeface="Wingdings" panose="05000000000000000000" pitchFamily="2" charset="2"/>
              </a:rPr>
              <a:t>锁。</a:t>
            </a:r>
            <a:endParaRPr lang="en-US" altLang="x-none" sz="2000" dirty="0">
              <a:latin typeface="Arial" panose="020B0604020202020204" pitchFamily="34" charset="0"/>
              <a:ea typeface="宋体" panose="02010600030101010101" pitchFamily="2" charset="-122"/>
            </a:endParaRPr>
          </a:p>
          <a:p>
            <a:pPr marL="533400" lvl="0" indent="-533400" eaLnBrk="0" hangingPunct="0">
              <a:lnSpc>
                <a:spcPct val="90000"/>
              </a:lnSpc>
              <a:spcBef>
                <a:spcPct val="20000"/>
              </a:spcBef>
              <a:buClr>
                <a:srgbClr val="0033CC"/>
              </a:buClr>
              <a:buSzPct val="80000"/>
              <a:buFont typeface="Wingdings" panose="05000000000000000000" pitchFamily="2" charset="2"/>
              <a:buChar char="u"/>
            </a:pPr>
            <a:r>
              <a:rPr lang="zh-CN" altLang="en-US" sz="2400" dirty="0">
                <a:latin typeface="Arial" panose="020B0604020202020204" pitchFamily="34" charset="0"/>
                <a:ea typeface="宋体" panose="02010600030101010101" pitchFamily="2" charset="-122"/>
              </a:rPr>
              <a:t>此时，其加锁及其锁冲突检测，分为如下步骤。</a:t>
            </a:r>
            <a:endParaRPr lang="zh-CN" altLang="en-US" sz="2400" dirty="0">
              <a:latin typeface="Arial" panose="020B0604020202020204" pitchFamily="34" charset="0"/>
              <a:ea typeface="宋体" panose="02010600030101010101" pitchFamily="2" charset="-122"/>
            </a:endParaRPr>
          </a:p>
        </p:txBody>
      </p:sp>
      <p:grpSp>
        <p:nvGrpSpPr>
          <p:cNvPr id="130054" name="Group 4"/>
          <p:cNvGrpSpPr/>
          <p:nvPr/>
        </p:nvGrpSpPr>
        <p:grpSpPr>
          <a:xfrm>
            <a:off x="5703888" y="3724275"/>
            <a:ext cx="2808287" cy="2447925"/>
            <a:chOff x="0" y="0"/>
            <a:chExt cx="1769" cy="1542"/>
          </a:xfrm>
        </p:grpSpPr>
        <p:sp>
          <p:nvSpPr>
            <p:cNvPr id="126982" name="Oval 5"/>
            <p:cNvSpPr/>
            <p:nvPr/>
          </p:nvSpPr>
          <p:spPr>
            <a:xfrm>
              <a:off x="1043" y="0"/>
              <a:ext cx="363" cy="317"/>
            </a:xfrm>
            <a:prstGeom prst="ellipse">
              <a:avLst/>
            </a:prstGeom>
            <a:solidFill>
              <a:srgbClr val="CCFFFF"/>
            </a:solidFill>
            <a:ln w="9525" cap="flat" cmpd="sng">
              <a:solidFill>
                <a:schemeClr val="tx1"/>
              </a:solidFill>
              <a:prstDash val="solid"/>
              <a:round/>
              <a:headEnd type="none" w="med" len="med"/>
              <a:tailEnd type="none" w="med" len="med"/>
            </a:ln>
          </p:spPr>
          <p:txBody>
            <a:bodyPr wrap="none" lIns="90000" tIns="46800" rIns="90000" bIns="46800" anchor="ctr"/>
            <a:lstStyle/>
            <a:p>
              <a:pPr lvl="0" indent="0" algn="ctr"/>
              <a:r>
                <a:rPr lang="zh-CN" altLang="en-US" sz="2400" dirty="0">
                  <a:latin typeface="宋体" panose="02010600030101010101" pitchFamily="2" charset="-122"/>
                  <a:ea typeface="宋体" panose="02010600030101010101" pitchFamily="2" charset="-122"/>
                </a:rPr>
                <a:t>表</a:t>
              </a:r>
              <a:endParaRPr lang="zh-CN" altLang="en-US" sz="2400" dirty="0">
                <a:latin typeface="宋体" panose="02010600030101010101" pitchFamily="2" charset="-122"/>
                <a:ea typeface="宋体" panose="02010600030101010101" pitchFamily="2" charset="-122"/>
              </a:endParaRPr>
            </a:p>
          </p:txBody>
        </p:sp>
        <p:sp>
          <p:nvSpPr>
            <p:cNvPr id="126983" name="Oval 6"/>
            <p:cNvSpPr/>
            <p:nvPr/>
          </p:nvSpPr>
          <p:spPr>
            <a:xfrm>
              <a:off x="635" y="635"/>
              <a:ext cx="272" cy="317"/>
            </a:xfrm>
            <a:prstGeom prst="ellipse">
              <a:avLst/>
            </a:prstGeom>
            <a:solidFill>
              <a:srgbClr val="CCFFFF"/>
            </a:solidFill>
            <a:ln w="9525" cap="flat" cmpd="sng">
              <a:solidFill>
                <a:schemeClr val="tx1"/>
              </a:solidFill>
              <a:prstDash val="solid"/>
              <a:round/>
              <a:headEnd type="none" w="med" len="med"/>
              <a:tailEnd type="none" w="med" len="med"/>
            </a:ln>
          </p:spPr>
          <p:txBody>
            <a:bodyPr wrap="none" lIns="90000" tIns="46800" rIns="90000" bIns="46800" anchor="ctr"/>
            <a:lstStyle/>
            <a:p>
              <a:pPr lvl="0" indent="0" algn="ctr"/>
              <a:r>
                <a:rPr lang="zh-CN" altLang="en-US" sz="2400" dirty="0">
                  <a:latin typeface="宋体" panose="02010600030101010101" pitchFamily="2" charset="-122"/>
                  <a:ea typeface="宋体" panose="02010600030101010101" pitchFamily="2" charset="-122"/>
                </a:rPr>
                <a:t>页</a:t>
              </a:r>
              <a:endParaRPr lang="zh-CN" altLang="en-US" sz="2400" dirty="0">
                <a:latin typeface="宋体" panose="02010600030101010101" pitchFamily="2" charset="-122"/>
                <a:ea typeface="宋体" panose="02010600030101010101" pitchFamily="2" charset="-122"/>
              </a:endParaRPr>
            </a:p>
          </p:txBody>
        </p:sp>
        <p:sp>
          <p:nvSpPr>
            <p:cNvPr id="126984" name="Oval 7"/>
            <p:cNvSpPr/>
            <p:nvPr/>
          </p:nvSpPr>
          <p:spPr>
            <a:xfrm>
              <a:off x="1452" y="635"/>
              <a:ext cx="317" cy="318"/>
            </a:xfrm>
            <a:prstGeom prst="ellipse">
              <a:avLst/>
            </a:prstGeom>
            <a:solidFill>
              <a:srgbClr val="CCFFFF"/>
            </a:solidFill>
            <a:ln w="9525" cap="flat" cmpd="sng">
              <a:solidFill>
                <a:schemeClr val="tx1"/>
              </a:solidFill>
              <a:prstDash val="solid"/>
              <a:round/>
              <a:headEnd type="none" w="med" len="med"/>
              <a:tailEnd type="none" w="med" len="med"/>
            </a:ln>
          </p:spPr>
          <p:txBody>
            <a:bodyPr wrap="none" lIns="90000" tIns="46800" rIns="90000" bIns="46800" anchor="ctr"/>
            <a:lstStyle/>
            <a:p>
              <a:pPr lvl="0" indent="0" algn="ctr"/>
              <a:r>
                <a:rPr lang="zh-CN" altLang="en-US" sz="2400" dirty="0">
                  <a:latin typeface="宋体" panose="02010600030101010101" pitchFamily="2" charset="-122"/>
                  <a:ea typeface="宋体" panose="02010600030101010101" pitchFamily="2" charset="-122"/>
                </a:rPr>
                <a:t>页</a:t>
              </a:r>
              <a:endParaRPr lang="zh-CN" altLang="en-US" sz="2400" dirty="0">
                <a:latin typeface="宋体" panose="02010600030101010101" pitchFamily="2" charset="-122"/>
                <a:ea typeface="宋体" panose="02010600030101010101" pitchFamily="2" charset="-122"/>
              </a:endParaRPr>
            </a:p>
          </p:txBody>
        </p:sp>
        <p:sp>
          <p:nvSpPr>
            <p:cNvPr id="126985" name="Oval 8"/>
            <p:cNvSpPr/>
            <p:nvPr/>
          </p:nvSpPr>
          <p:spPr>
            <a:xfrm>
              <a:off x="0" y="1179"/>
              <a:ext cx="272" cy="317"/>
            </a:xfrm>
            <a:prstGeom prst="ellipse">
              <a:avLst/>
            </a:prstGeom>
            <a:solidFill>
              <a:srgbClr val="CCFFFF"/>
            </a:solidFill>
            <a:ln w="9525" cap="flat" cmpd="sng">
              <a:solidFill>
                <a:schemeClr val="tx1"/>
              </a:solidFill>
              <a:prstDash val="solid"/>
              <a:round/>
              <a:headEnd type="none" w="med" len="med"/>
              <a:tailEnd type="none" w="med" len="med"/>
            </a:ln>
          </p:spPr>
          <p:txBody>
            <a:bodyPr wrap="none" lIns="90000" tIns="46800" rIns="90000" bIns="46800" anchor="ctr"/>
            <a:lstStyle/>
            <a:p>
              <a:pPr lvl="0" indent="0" algn="ctr"/>
              <a:r>
                <a:rPr lang="zh-CN" altLang="en-US" sz="2400" dirty="0">
                  <a:latin typeface="宋体" panose="02010600030101010101" pitchFamily="2" charset="-122"/>
                  <a:ea typeface="宋体" panose="02010600030101010101" pitchFamily="2" charset="-122"/>
                </a:rPr>
                <a:t>行</a:t>
              </a:r>
              <a:endParaRPr lang="zh-CN" altLang="en-US" sz="2400" dirty="0">
                <a:latin typeface="宋体" panose="02010600030101010101" pitchFamily="2" charset="-122"/>
                <a:ea typeface="宋体" panose="02010600030101010101" pitchFamily="2" charset="-122"/>
              </a:endParaRPr>
            </a:p>
          </p:txBody>
        </p:sp>
        <p:sp>
          <p:nvSpPr>
            <p:cNvPr id="126986" name="Oval 9"/>
            <p:cNvSpPr/>
            <p:nvPr/>
          </p:nvSpPr>
          <p:spPr>
            <a:xfrm>
              <a:off x="590" y="1225"/>
              <a:ext cx="272" cy="317"/>
            </a:xfrm>
            <a:prstGeom prst="ellipse">
              <a:avLst/>
            </a:prstGeom>
            <a:solidFill>
              <a:srgbClr val="CCFFFF"/>
            </a:solidFill>
            <a:ln w="9525" cap="flat" cmpd="sng">
              <a:solidFill>
                <a:schemeClr val="tx1"/>
              </a:solidFill>
              <a:prstDash val="solid"/>
              <a:round/>
              <a:headEnd type="none" w="med" len="med"/>
              <a:tailEnd type="none" w="med" len="med"/>
            </a:ln>
          </p:spPr>
          <p:txBody>
            <a:bodyPr wrap="none" lIns="90000" tIns="46800" rIns="90000" bIns="46800" anchor="ctr"/>
            <a:lstStyle/>
            <a:p>
              <a:pPr lvl="0" indent="0"/>
              <a:endParaRPr lang="zh-CN" altLang="en-US" dirty="0">
                <a:latin typeface="Arial" panose="020B0604020202020204" pitchFamily="34" charset="0"/>
                <a:ea typeface="宋体" panose="02010600030101010101" pitchFamily="2" charset="-122"/>
              </a:endParaRPr>
            </a:p>
          </p:txBody>
        </p:sp>
        <p:sp>
          <p:nvSpPr>
            <p:cNvPr id="126987" name="Oval 10"/>
            <p:cNvSpPr/>
            <p:nvPr/>
          </p:nvSpPr>
          <p:spPr>
            <a:xfrm>
              <a:off x="1179" y="1225"/>
              <a:ext cx="272" cy="317"/>
            </a:xfrm>
            <a:prstGeom prst="ellipse">
              <a:avLst/>
            </a:prstGeom>
            <a:solidFill>
              <a:srgbClr val="CCFFFF"/>
            </a:solidFill>
            <a:ln w="9525" cap="flat" cmpd="sng">
              <a:solidFill>
                <a:schemeClr val="tx1"/>
              </a:solidFill>
              <a:prstDash val="solid"/>
              <a:round/>
              <a:headEnd type="none" w="med" len="med"/>
              <a:tailEnd type="none" w="med" len="med"/>
            </a:ln>
          </p:spPr>
          <p:txBody>
            <a:bodyPr wrap="none" lIns="90000" tIns="46800" rIns="90000" bIns="46800" anchor="ctr"/>
            <a:lstStyle/>
            <a:p>
              <a:pPr lvl="0" indent="0"/>
              <a:endParaRPr lang="zh-CN" altLang="en-US" dirty="0">
                <a:latin typeface="Arial" panose="020B0604020202020204" pitchFamily="34" charset="0"/>
                <a:ea typeface="宋体" panose="02010600030101010101" pitchFamily="2" charset="-122"/>
              </a:endParaRPr>
            </a:p>
          </p:txBody>
        </p:sp>
        <p:sp>
          <p:nvSpPr>
            <p:cNvPr id="126988" name="Line 11"/>
            <p:cNvSpPr/>
            <p:nvPr/>
          </p:nvSpPr>
          <p:spPr>
            <a:xfrm flipH="1">
              <a:off x="816" y="318"/>
              <a:ext cx="363" cy="317"/>
            </a:xfrm>
            <a:prstGeom prst="line">
              <a:avLst/>
            </a:prstGeom>
            <a:ln w="28575" cap="flat" cmpd="sng">
              <a:solidFill>
                <a:schemeClr val="tx1"/>
              </a:solidFill>
              <a:prstDash val="solid"/>
              <a:round/>
              <a:headEnd type="none" w="med" len="med"/>
              <a:tailEnd type="none" w="med" len="med"/>
            </a:ln>
          </p:spPr>
        </p:sp>
        <p:sp>
          <p:nvSpPr>
            <p:cNvPr id="126989" name="Line 12"/>
            <p:cNvSpPr/>
            <p:nvPr/>
          </p:nvSpPr>
          <p:spPr>
            <a:xfrm flipH="1">
              <a:off x="726" y="952"/>
              <a:ext cx="45" cy="273"/>
            </a:xfrm>
            <a:prstGeom prst="line">
              <a:avLst/>
            </a:prstGeom>
            <a:ln w="28575" cap="flat" cmpd="sng">
              <a:solidFill>
                <a:schemeClr val="tx1"/>
              </a:solidFill>
              <a:prstDash val="solid"/>
              <a:round/>
              <a:headEnd type="none" w="med" len="med"/>
              <a:tailEnd type="none" w="med" len="med"/>
            </a:ln>
          </p:spPr>
        </p:sp>
        <p:sp>
          <p:nvSpPr>
            <p:cNvPr id="126990" name="Line 13"/>
            <p:cNvSpPr/>
            <p:nvPr/>
          </p:nvSpPr>
          <p:spPr>
            <a:xfrm flipH="1">
              <a:off x="136" y="907"/>
              <a:ext cx="545" cy="273"/>
            </a:xfrm>
            <a:prstGeom prst="line">
              <a:avLst/>
            </a:prstGeom>
            <a:ln w="28575" cap="flat" cmpd="sng">
              <a:solidFill>
                <a:schemeClr val="tx1"/>
              </a:solidFill>
              <a:prstDash val="solid"/>
              <a:round/>
              <a:headEnd type="none" w="med" len="med"/>
              <a:tailEnd type="none" w="med" len="med"/>
            </a:ln>
          </p:spPr>
        </p:sp>
        <p:sp>
          <p:nvSpPr>
            <p:cNvPr id="126991" name="Line 14"/>
            <p:cNvSpPr/>
            <p:nvPr/>
          </p:nvSpPr>
          <p:spPr>
            <a:xfrm>
              <a:off x="862" y="907"/>
              <a:ext cx="454" cy="318"/>
            </a:xfrm>
            <a:prstGeom prst="line">
              <a:avLst/>
            </a:prstGeom>
            <a:ln w="28575" cap="flat" cmpd="sng">
              <a:solidFill>
                <a:schemeClr val="tx1"/>
              </a:solidFill>
              <a:prstDash val="solid"/>
              <a:round/>
              <a:headEnd type="none" w="med" len="med"/>
              <a:tailEnd type="none" w="med" len="med"/>
            </a:ln>
          </p:spPr>
        </p:sp>
        <p:sp>
          <p:nvSpPr>
            <p:cNvPr id="126992" name="Line 15"/>
            <p:cNvSpPr/>
            <p:nvPr/>
          </p:nvSpPr>
          <p:spPr>
            <a:xfrm>
              <a:off x="1225" y="317"/>
              <a:ext cx="363" cy="318"/>
            </a:xfrm>
            <a:prstGeom prst="line">
              <a:avLst/>
            </a:prstGeom>
            <a:ln w="28575" cap="flat" cmpd="sng">
              <a:solidFill>
                <a:schemeClr val="tx1"/>
              </a:solidFill>
              <a:prstDash val="solid"/>
              <a:round/>
              <a:headEnd type="none" w="med" len="med"/>
              <a:tailEnd type="none" w="med" len="med"/>
            </a:ln>
          </p:spPr>
        </p:sp>
      </p:grpSp>
      <p:sp>
        <p:nvSpPr>
          <p:cNvPr id="130066" name="Text Box 16"/>
          <p:cNvSpPr txBox="1"/>
          <p:nvPr/>
        </p:nvSpPr>
        <p:spPr>
          <a:xfrm>
            <a:off x="1960563" y="4733925"/>
            <a:ext cx="1584325" cy="466725"/>
          </a:xfrm>
          <a:prstGeom prst="rect">
            <a:avLst/>
          </a:prstGeom>
          <a:noFill/>
          <a:ln w="9525" cap="flat" cmpd="sng">
            <a:solidFill>
              <a:srgbClr val="0000CC"/>
            </a:solidFill>
            <a:prstDash val="solid"/>
            <a:miter/>
            <a:headEnd type="none" w="med" len="med"/>
            <a:tailEnd type="none" w="med" len="med"/>
          </a:ln>
        </p:spPr>
        <p:txBody>
          <a:bodyPr lIns="90000" tIns="46800" rIns="90000" bIns="46800" anchor="t">
            <a:spAutoFit/>
          </a:bodyPr>
          <a:lstStyle/>
          <a:p>
            <a:pPr lvl="0" indent="0" algn="ctr">
              <a:spcBef>
                <a:spcPct val="50000"/>
              </a:spcBef>
            </a:pPr>
            <a:r>
              <a:rPr lang="zh-CN" altLang="en-US" sz="2400" dirty="0">
                <a:solidFill>
                  <a:srgbClr val="0000CC"/>
                </a:solidFill>
                <a:latin typeface="宋体" panose="02010600030101010101" pitchFamily="2" charset="-122"/>
                <a:ea typeface="宋体" panose="02010600030101010101" pitchFamily="2" charset="-122"/>
              </a:rPr>
              <a:t>请求加锁</a:t>
            </a:r>
            <a:endParaRPr lang="zh-CN" altLang="en-US" sz="2400" dirty="0">
              <a:solidFill>
                <a:srgbClr val="0000CC"/>
              </a:solidFill>
              <a:latin typeface="宋体" panose="02010600030101010101" pitchFamily="2" charset="-122"/>
              <a:ea typeface="宋体" panose="02010600030101010101" pitchFamily="2" charset="-122"/>
            </a:endParaRPr>
          </a:p>
        </p:txBody>
      </p:sp>
      <p:grpSp>
        <p:nvGrpSpPr>
          <p:cNvPr id="130067" name="Group 17"/>
          <p:cNvGrpSpPr/>
          <p:nvPr/>
        </p:nvGrpSpPr>
        <p:grpSpPr>
          <a:xfrm>
            <a:off x="1887538" y="3797300"/>
            <a:ext cx="1873250" cy="936625"/>
            <a:chOff x="0" y="0"/>
            <a:chExt cx="1180" cy="590"/>
          </a:xfrm>
        </p:grpSpPr>
        <p:sp>
          <p:nvSpPr>
            <p:cNvPr id="126995" name="Line 18"/>
            <p:cNvSpPr/>
            <p:nvPr/>
          </p:nvSpPr>
          <p:spPr>
            <a:xfrm flipV="1">
              <a:off x="499" y="272"/>
              <a:ext cx="0" cy="318"/>
            </a:xfrm>
            <a:prstGeom prst="line">
              <a:avLst/>
            </a:prstGeom>
            <a:ln w="38100" cap="flat" cmpd="sng">
              <a:solidFill>
                <a:srgbClr val="006600"/>
              </a:solidFill>
              <a:prstDash val="dash"/>
              <a:round/>
              <a:headEnd type="triangle" w="med" len="med"/>
              <a:tailEnd type="triangle" w="med" len="med"/>
            </a:ln>
          </p:spPr>
        </p:sp>
        <p:sp>
          <p:nvSpPr>
            <p:cNvPr id="126996" name="Text Box 19"/>
            <p:cNvSpPr txBox="1"/>
            <p:nvPr/>
          </p:nvSpPr>
          <p:spPr>
            <a:xfrm>
              <a:off x="0" y="0"/>
              <a:ext cx="1180" cy="294"/>
            </a:xfrm>
            <a:prstGeom prst="rect">
              <a:avLst/>
            </a:prstGeom>
            <a:noFill/>
            <a:ln w="9525" cap="flat" cmpd="sng">
              <a:solidFill>
                <a:srgbClr val="0000CC"/>
              </a:solidFill>
              <a:prstDash val="solid"/>
              <a:miter/>
              <a:headEnd type="none" w="med" len="med"/>
              <a:tailEnd type="none" w="med" len="med"/>
            </a:ln>
          </p:spPr>
          <p:txBody>
            <a:bodyPr lIns="90000" tIns="46800" rIns="90000" bIns="46800" anchor="t">
              <a:spAutoFit/>
            </a:bodyPr>
            <a:lstStyle/>
            <a:p>
              <a:pPr lvl="0" indent="0" algn="ctr">
                <a:spcBef>
                  <a:spcPct val="50000"/>
                </a:spcBef>
              </a:pPr>
              <a:r>
                <a:rPr lang="zh-CN" altLang="en-US" sz="2400" dirty="0">
                  <a:solidFill>
                    <a:srgbClr val="0000CC"/>
                  </a:solidFill>
                  <a:latin typeface="宋体" panose="02010600030101010101" pitchFamily="2" charset="-122"/>
                  <a:ea typeface="宋体" panose="02010600030101010101" pitchFamily="2" charset="-122"/>
                </a:rPr>
                <a:t>加意向锁</a:t>
              </a:r>
              <a:endParaRPr lang="zh-CN" altLang="en-US" sz="2400" dirty="0">
                <a:solidFill>
                  <a:srgbClr val="0000CC"/>
                </a:solidFill>
                <a:latin typeface="宋体" panose="02010600030101010101" pitchFamily="2" charset="-122"/>
                <a:ea typeface="宋体" panose="02010600030101010101" pitchFamily="2" charset="-122"/>
              </a:endParaRPr>
            </a:p>
          </p:txBody>
        </p:sp>
      </p:grpSp>
      <p:grpSp>
        <p:nvGrpSpPr>
          <p:cNvPr id="130070" name="Group 20"/>
          <p:cNvGrpSpPr/>
          <p:nvPr/>
        </p:nvGrpSpPr>
        <p:grpSpPr>
          <a:xfrm>
            <a:off x="3760788" y="3797300"/>
            <a:ext cx="3455987" cy="425450"/>
            <a:chOff x="0" y="0"/>
            <a:chExt cx="2177" cy="268"/>
          </a:xfrm>
        </p:grpSpPr>
        <p:sp>
          <p:nvSpPr>
            <p:cNvPr id="126998" name="Text Box 21"/>
            <p:cNvSpPr txBox="1"/>
            <p:nvPr/>
          </p:nvSpPr>
          <p:spPr>
            <a:xfrm>
              <a:off x="1361" y="0"/>
              <a:ext cx="816" cy="268"/>
            </a:xfrm>
            <a:prstGeom prst="rect">
              <a:avLst/>
            </a:prstGeom>
            <a:noFill/>
            <a:ln w="28575" cap="flat" cmpd="sng">
              <a:solidFill>
                <a:srgbClr val="006600"/>
              </a:solidFill>
              <a:prstDash val="dash"/>
              <a:miter/>
              <a:headEnd type="none" w="med" len="med"/>
              <a:tailEnd type="none" w="med" len="med"/>
            </a:ln>
          </p:spPr>
          <p:txBody>
            <a:bodyPr lIns="90000" tIns="46800" rIns="90000" bIns="46800" anchor="t">
              <a:spAutoFit/>
            </a:bodyPr>
            <a:lstStyle/>
            <a:p>
              <a:pPr lvl="0" indent="0" algn="ctr">
                <a:spcBef>
                  <a:spcPct val="50000"/>
                </a:spcBef>
              </a:pPr>
              <a:r>
                <a:rPr lang="zh-CN" altLang="en-US" sz="2000" dirty="0">
                  <a:solidFill>
                    <a:srgbClr val="006600"/>
                  </a:solidFill>
                  <a:latin typeface="宋体" panose="02010600030101010101" pitchFamily="2" charset="-122"/>
                  <a:ea typeface="宋体" panose="02010600030101010101" pitchFamily="2" charset="-122"/>
                </a:rPr>
                <a:t>已有的锁</a:t>
              </a:r>
              <a:endParaRPr lang="zh-CN" altLang="en-US" sz="2000" dirty="0">
                <a:solidFill>
                  <a:srgbClr val="006600"/>
                </a:solidFill>
                <a:latin typeface="宋体" panose="02010600030101010101" pitchFamily="2" charset="-122"/>
                <a:ea typeface="宋体" panose="02010600030101010101" pitchFamily="2" charset="-122"/>
              </a:endParaRPr>
            </a:p>
          </p:txBody>
        </p:sp>
        <p:sp>
          <p:nvSpPr>
            <p:cNvPr id="126999" name="Line 22"/>
            <p:cNvSpPr/>
            <p:nvPr/>
          </p:nvSpPr>
          <p:spPr>
            <a:xfrm>
              <a:off x="0" y="136"/>
              <a:ext cx="1361" cy="0"/>
            </a:xfrm>
            <a:prstGeom prst="line">
              <a:avLst/>
            </a:prstGeom>
            <a:ln w="38100" cap="flat" cmpd="sng">
              <a:solidFill>
                <a:srgbClr val="CC0000"/>
              </a:solidFill>
              <a:prstDash val="solid"/>
              <a:round/>
              <a:headEnd type="triangle" w="med" len="med"/>
              <a:tailEnd type="triangle" w="med" len="med"/>
            </a:ln>
          </p:spPr>
        </p:sp>
      </p:grpSp>
      <p:sp>
        <p:nvSpPr>
          <p:cNvPr id="130073" name="Rectangle 23"/>
          <p:cNvSpPr/>
          <p:nvPr/>
        </p:nvSpPr>
        <p:spPr>
          <a:xfrm>
            <a:off x="4408488" y="3581400"/>
            <a:ext cx="498475" cy="519113"/>
          </a:xfrm>
          <a:prstGeom prst="rect">
            <a:avLst/>
          </a:prstGeom>
          <a:noFill/>
          <a:ln w="9525">
            <a:noFill/>
          </a:ln>
        </p:spPr>
        <p:txBody>
          <a:bodyPr wrap="none" lIns="90000" tIns="46800" rIns="90000" bIns="46800" anchor="t">
            <a:spAutoFit/>
          </a:bodyPr>
          <a:lstStyle/>
          <a:p>
            <a:pPr lvl="0" indent="0"/>
            <a:r>
              <a:rPr lang="en-US" altLang="x-none" sz="2800" dirty="0">
                <a:solidFill>
                  <a:srgbClr val="CC0000"/>
                </a:solidFill>
                <a:latin typeface="宋体" panose="02010600030101010101" pitchFamily="2" charset="-122"/>
                <a:ea typeface="宋体" panose="02010600030101010101" pitchFamily="2" charset="-122"/>
                <a:sym typeface="Wingdings 2" panose="05020102010507070707" pitchFamily="2" charset="2"/>
              </a:rPr>
              <a:t></a:t>
            </a:r>
            <a:endParaRPr lang="en-US" altLang="x-none" sz="2800" dirty="0">
              <a:solidFill>
                <a:srgbClr val="CC0000"/>
              </a:solidFill>
              <a:latin typeface="宋体" panose="02010600030101010101" pitchFamily="2" charset="-122"/>
              <a:ea typeface="宋体" panose="02010600030101010101" pitchFamily="2" charset="-122"/>
              <a:sym typeface="Wingdings 2" panose="05020102010507070707" pitchFamily="2" charset="2"/>
            </a:endParaRPr>
          </a:p>
        </p:txBody>
      </p:sp>
      <p:grpSp>
        <p:nvGrpSpPr>
          <p:cNvPr id="130074" name="Group 24"/>
          <p:cNvGrpSpPr/>
          <p:nvPr/>
        </p:nvGrpSpPr>
        <p:grpSpPr>
          <a:xfrm>
            <a:off x="3543300" y="4949825"/>
            <a:ext cx="3024188" cy="808038"/>
            <a:chOff x="0" y="0"/>
            <a:chExt cx="1905" cy="509"/>
          </a:xfrm>
        </p:grpSpPr>
        <p:grpSp>
          <p:nvGrpSpPr>
            <p:cNvPr id="127002" name="Group 25"/>
            <p:cNvGrpSpPr/>
            <p:nvPr/>
          </p:nvGrpSpPr>
          <p:grpSpPr>
            <a:xfrm>
              <a:off x="0" y="0"/>
              <a:ext cx="1905" cy="268"/>
              <a:chOff x="0" y="0"/>
              <a:chExt cx="1905" cy="268"/>
            </a:xfrm>
          </p:grpSpPr>
          <p:sp>
            <p:nvSpPr>
              <p:cNvPr id="127003" name="Line 26"/>
              <p:cNvSpPr/>
              <p:nvPr/>
            </p:nvSpPr>
            <p:spPr>
              <a:xfrm>
                <a:off x="0" y="136"/>
                <a:ext cx="1134" cy="0"/>
              </a:xfrm>
              <a:prstGeom prst="line">
                <a:avLst/>
              </a:prstGeom>
              <a:ln w="38100" cap="flat" cmpd="sng">
                <a:solidFill>
                  <a:srgbClr val="CC0000"/>
                </a:solidFill>
                <a:prstDash val="solid"/>
                <a:round/>
                <a:headEnd type="triangle" w="med" len="med"/>
                <a:tailEnd type="triangle" w="med" len="med"/>
              </a:ln>
            </p:spPr>
          </p:sp>
          <p:sp>
            <p:nvSpPr>
              <p:cNvPr id="127004" name="Text Box 27"/>
              <p:cNvSpPr txBox="1"/>
              <p:nvPr/>
            </p:nvSpPr>
            <p:spPr>
              <a:xfrm>
                <a:off x="1134" y="0"/>
                <a:ext cx="771" cy="268"/>
              </a:xfrm>
              <a:prstGeom prst="rect">
                <a:avLst/>
              </a:prstGeom>
              <a:noFill/>
              <a:ln w="28575" cap="flat" cmpd="sng">
                <a:solidFill>
                  <a:srgbClr val="006600"/>
                </a:solidFill>
                <a:prstDash val="dash"/>
                <a:miter/>
                <a:headEnd type="none" w="med" len="med"/>
                <a:tailEnd type="none" w="med" len="med"/>
              </a:ln>
            </p:spPr>
            <p:txBody>
              <a:bodyPr lIns="90000" tIns="46800" rIns="90000" bIns="46800" anchor="t">
                <a:spAutoFit/>
              </a:bodyPr>
              <a:lstStyle/>
              <a:p>
                <a:pPr lvl="0" indent="0" algn="ctr">
                  <a:spcBef>
                    <a:spcPct val="50000"/>
                  </a:spcBef>
                </a:pPr>
                <a:r>
                  <a:rPr lang="zh-CN" altLang="en-US" sz="2000" dirty="0">
                    <a:solidFill>
                      <a:srgbClr val="006600"/>
                    </a:solidFill>
                    <a:latin typeface="宋体" panose="02010600030101010101" pitchFamily="2" charset="-122"/>
                    <a:ea typeface="宋体" panose="02010600030101010101" pitchFamily="2" charset="-122"/>
                  </a:rPr>
                  <a:t>意向锁</a:t>
                </a:r>
                <a:endParaRPr lang="zh-CN" altLang="en-US" sz="2000" dirty="0">
                  <a:solidFill>
                    <a:srgbClr val="006600"/>
                  </a:solidFill>
                  <a:latin typeface="宋体" panose="02010600030101010101" pitchFamily="2" charset="-122"/>
                  <a:ea typeface="宋体" panose="02010600030101010101" pitchFamily="2" charset="-122"/>
                </a:endParaRPr>
              </a:p>
            </p:txBody>
          </p:sp>
        </p:grpSp>
        <p:sp>
          <p:nvSpPr>
            <p:cNvPr id="127005" name="Rectangle 28"/>
            <p:cNvSpPr/>
            <p:nvPr/>
          </p:nvSpPr>
          <p:spPr>
            <a:xfrm>
              <a:off x="182" y="182"/>
              <a:ext cx="314" cy="327"/>
            </a:xfrm>
            <a:prstGeom prst="rect">
              <a:avLst/>
            </a:prstGeom>
            <a:noFill/>
            <a:ln w="9525">
              <a:noFill/>
            </a:ln>
          </p:spPr>
          <p:txBody>
            <a:bodyPr wrap="none" lIns="90000" tIns="46800" rIns="90000" bIns="46800" anchor="t">
              <a:spAutoFit/>
            </a:bodyPr>
            <a:lstStyle/>
            <a:p>
              <a:pPr lvl="0" indent="0"/>
              <a:r>
                <a:rPr lang="en-US" altLang="x-none" sz="2800" dirty="0">
                  <a:solidFill>
                    <a:srgbClr val="CC0000"/>
                  </a:solidFill>
                  <a:latin typeface="宋体" panose="02010600030101010101" pitchFamily="2" charset="-122"/>
                  <a:ea typeface="宋体" panose="02010600030101010101" pitchFamily="2" charset="-122"/>
                  <a:sym typeface="Wingdings 2" panose="05020102010507070707" pitchFamily="2" charset="2"/>
                </a:rPr>
                <a:t></a:t>
              </a:r>
              <a:endParaRPr lang="en-US" altLang="x-none" sz="2800" dirty="0">
                <a:solidFill>
                  <a:srgbClr val="CC0000"/>
                </a:solidFill>
                <a:latin typeface="宋体" panose="02010600030101010101" pitchFamily="2" charset="-122"/>
                <a:ea typeface="宋体" panose="02010600030101010101" pitchFamily="2" charset="-122"/>
                <a:sym typeface="Wingdings 2" panose="05020102010507070707" pitchFamily="2" charset="2"/>
              </a:endParaRPr>
            </a:p>
          </p:txBody>
        </p:sp>
      </p:grpSp>
      <p:grpSp>
        <p:nvGrpSpPr>
          <p:cNvPr id="130079" name="Group 29"/>
          <p:cNvGrpSpPr/>
          <p:nvPr/>
        </p:nvGrpSpPr>
        <p:grpSpPr>
          <a:xfrm>
            <a:off x="4479925" y="5310188"/>
            <a:ext cx="1295400" cy="838200"/>
            <a:chOff x="0" y="0"/>
            <a:chExt cx="816" cy="528"/>
          </a:xfrm>
        </p:grpSpPr>
        <p:sp>
          <p:nvSpPr>
            <p:cNvPr id="127007" name="Text Box 30"/>
            <p:cNvSpPr txBox="1"/>
            <p:nvPr/>
          </p:nvSpPr>
          <p:spPr>
            <a:xfrm>
              <a:off x="0" y="272"/>
              <a:ext cx="726" cy="256"/>
            </a:xfrm>
            <a:prstGeom prst="rect">
              <a:avLst/>
            </a:prstGeom>
            <a:noFill/>
            <a:ln w="9525" cap="flat" cmpd="sng">
              <a:solidFill>
                <a:srgbClr val="006600"/>
              </a:solidFill>
              <a:prstDash val="solid"/>
              <a:miter/>
              <a:headEnd type="none" w="med" len="med"/>
              <a:tailEnd type="none" w="med" len="med"/>
            </a:ln>
          </p:spPr>
          <p:txBody>
            <a:bodyPr lIns="90000" tIns="46800" rIns="90000" bIns="46800" anchor="t">
              <a:spAutoFit/>
            </a:bodyPr>
            <a:lstStyle/>
            <a:p>
              <a:pPr lvl="0" indent="0" algn="ctr">
                <a:spcBef>
                  <a:spcPct val="50000"/>
                </a:spcBef>
              </a:pPr>
              <a:r>
                <a:rPr lang="zh-CN" altLang="en-US" sz="2000" dirty="0">
                  <a:solidFill>
                    <a:srgbClr val="006600"/>
                  </a:solidFill>
                  <a:latin typeface="宋体" panose="02010600030101010101" pitchFamily="2" charset="-122"/>
                  <a:ea typeface="宋体" panose="02010600030101010101" pitchFamily="2" charset="-122"/>
                </a:rPr>
                <a:t>显示锁</a:t>
              </a:r>
              <a:endParaRPr lang="zh-CN" altLang="en-US" sz="2000" dirty="0">
                <a:solidFill>
                  <a:srgbClr val="006600"/>
                </a:solidFill>
                <a:latin typeface="宋体" panose="02010600030101010101" pitchFamily="2" charset="-122"/>
                <a:ea typeface="宋体" panose="02010600030101010101" pitchFamily="2" charset="-122"/>
              </a:endParaRPr>
            </a:p>
          </p:txBody>
        </p:sp>
        <p:sp>
          <p:nvSpPr>
            <p:cNvPr id="127008" name="Line 31"/>
            <p:cNvSpPr/>
            <p:nvPr/>
          </p:nvSpPr>
          <p:spPr>
            <a:xfrm flipH="1">
              <a:off x="544" y="0"/>
              <a:ext cx="272" cy="272"/>
            </a:xfrm>
            <a:prstGeom prst="line">
              <a:avLst/>
            </a:prstGeom>
            <a:ln w="28575" cap="flat" cmpd="sng">
              <a:solidFill>
                <a:schemeClr val="tx1"/>
              </a:solidFill>
              <a:prstDash val="dash"/>
              <a:round/>
              <a:headEnd type="triangle" w="med" len="med"/>
              <a:tailEnd type="triangle" w="med" len="med"/>
            </a:ln>
          </p:spPr>
        </p:sp>
      </p:grpSp>
      <p:grpSp>
        <p:nvGrpSpPr>
          <p:cNvPr id="130082" name="Group 32"/>
          <p:cNvGrpSpPr/>
          <p:nvPr/>
        </p:nvGrpSpPr>
        <p:grpSpPr>
          <a:xfrm>
            <a:off x="1325563" y="5459413"/>
            <a:ext cx="3168650" cy="519112"/>
            <a:chOff x="0" y="0"/>
            <a:chExt cx="1996" cy="327"/>
          </a:xfrm>
        </p:grpSpPr>
        <p:sp>
          <p:nvSpPr>
            <p:cNvPr id="127010" name="Line 33"/>
            <p:cNvSpPr/>
            <p:nvPr/>
          </p:nvSpPr>
          <p:spPr>
            <a:xfrm>
              <a:off x="0" y="272"/>
              <a:ext cx="1996" cy="0"/>
            </a:xfrm>
            <a:prstGeom prst="line">
              <a:avLst/>
            </a:prstGeom>
            <a:ln w="38100" cap="flat" cmpd="sng">
              <a:solidFill>
                <a:srgbClr val="006600"/>
              </a:solidFill>
              <a:prstDash val="solid"/>
              <a:round/>
              <a:headEnd type="none" w="med" len="med"/>
              <a:tailEnd type="triangle" w="med" len="med"/>
            </a:ln>
          </p:spPr>
        </p:sp>
        <p:sp>
          <p:nvSpPr>
            <p:cNvPr id="127011" name="Rectangle 34"/>
            <p:cNvSpPr/>
            <p:nvPr/>
          </p:nvSpPr>
          <p:spPr>
            <a:xfrm>
              <a:off x="226" y="0"/>
              <a:ext cx="1633" cy="327"/>
            </a:xfrm>
            <a:prstGeom prst="rect">
              <a:avLst/>
            </a:prstGeom>
            <a:noFill/>
            <a:ln w="9525">
              <a:noFill/>
            </a:ln>
          </p:spPr>
          <p:txBody>
            <a:bodyPr lIns="90000" tIns="46800" rIns="90000" bIns="46800" anchor="t">
              <a:spAutoFit/>
            </a:bodyPr>
            <a:lstStyle/>
            <a:p>
              <a:pPr lvl="0" indent="0"/>
              <a:r>
                <a:rPr lang="en-US" altLang="x-none" sz="2800" dirty="0">
                  <a:solidFill>
                    <a:srgbClr val="006600"/>
                  </a:solidFill>
                  <a:latin typeface="宋体" panose="02010600030101010101" pitchFamily="2" charset="-122"/>
                  <a:ea typeface="宋体" panose="02010600030101010101" pitchFamily="2" charset="-122"/>
                  <a:sym typeface="Wingdings 2" panose="05020102010507070707" pitchFamily="2" charset="2"/>
                </a:rPr>
                <a:t> </a:t>
              </a:r>
              <a:r>
                <a:rPr lang="zh-CN" altLang="en-US" sz="2400" dirty="0">
                  <a:solidFill>
                    <a:srgbClr val="006600"/>
                  </a:solidFill>
                  <a:latin typeface="宋体" panose="02010600030101010101" pitchFamily="2" charset="-122"/>
                  <a:ea typeface="宋体" panose="02010600030101010101" pitchFamily="2" charset="-122"/>
                  <a:sym typeface="Wingdings 2" panose="05020102010507070707" pitchFamily="2" charset="2"/>
                </a:rPr>
                <a:t>加锁成功</a:t>
              </a:r>
              <a:endParaRPr lang="zh-CN" altLang="en-US" sz="2400" dirty="0">
                <a:solidFill>
                  <a:srgbClr val="006600"/>
                </a:solidFill>
                <a:latin typeface="宋体" panose="02010600030101010101" pitchFamily="2" charset="-122"/>
                <a:ea typeface="宋体" panose="02010600030101010101" pitchFamily="2" charset="-122"/>
                <a:sym typeface="Wingdings 2" panose="05020102010507070707" pitchFamily="2" charset="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30054"/>
                                        </p:tgtEl>
                                        <p:attrNameLst>
                                          <p:attrName>style.visibility</p:attrName>
                                        </p:attrNameLst>
                                      </p:cBhvr>
                                      <p:to>
                                        <p:strVal val="visible"/>
                                      </p:to>
                                    </p:set>
                                    <p:animEffect transition="in" filter="dissolve">
                                      <p:cBhvr>
                                        <p:cTn id="7" dur="500"/>
                                        <p:tgtEl>
                                          <p:spTgt spid="13005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0066"/>
                                        </p:tgtEl>
                                        <p:attrNameLst>
                                          <p:attrName>style.visibility</p:attrName>
                                        </p:attrNameLst>
                                      </p:cBhvr>
                                      <p:to>
                                        <p:strVal val="visible"/>
                                      </p:to>
                                    </p:set>
                                    <p:animEffect transition="in" filter="dissolve">
                                      <p:cBhvr>
                                        <p:cTn id="12" dur="500"/>
                                        <p:tgtEl>
                                          <p:spTgt spid="13006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30067"/>
                                        </p:tgtEl>
                                        <p:attrNameLst>
                                          <p:attrName>style.visibility</p:attrName>
                                        </p:attrNameLst>
                                      </p:cBhvr>
                                      <p:to>
                                        <p:strVal val="visible"/>
                                      </p:to>
                                    </p:set>
                                    <p:animEffect transition="in" filter="dissolve">
                                      <p:cBhvr>
                                        <p:cTn id="17" dur="500"/>
                                        <p:tgtEl>
                                          <p:spTgt spid="130067"/>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130073"/>
                                        </p:tgtEl>
                                        <p:attrNameLst>
                                          <p:attrName>style.visibility</p:attrName>
                                        </p:attrNameLst>
                                      </p:cBhvr>
                                      <p:to>
                                        <p:strVal val="visible"/>
                                      </p:to>
                                    </p:set>
                                    <p:animEffect transition="in" filter="dissolve">
                                      <p:cBhvr>
                                        <p:cTn id="20" dur="500"/>
                                        <p:tgtEl>
                                          <p:spTgt spid="130073"/>
                                        </p:tgtEl>
                                      </p:cBhvr>
                                    </p:animEffect>
                                  </p:childTnLst>
                                </p:cTn>
                              </p:par>
                            </p:childTnLst>
                          </p:cTn>
                        </p:par>
                      </p:childTnLst>
                    </p:cTn>
                  </p:par>
                  <p:par>
                    <p:cTn id="21" fill="hold">
                      <p:stCondLst>
                        <p:cond delay="indefinite"/>
                      </p:stCondLst>
                      <p:childTnLst>
                        <p:par>
                          <p:cTn id="22" fill="hold">
                            <p:stCondLst>
                              <p:cond delay="0"/>
                            </p:stCondLst>
                            <p:childTnLst>
                              <p:par>
                                <p:cTn id="23" presetID="55" presetClass="entr" presetSubtype="0" fill="hold" nodeType="clickEffect">
                                  <p:stCondLst>
                                    <p:cond delay="0"/>
                                  </p:stCondLst>
                                  <p:childTnLst>
                                    <p:set>
                                      <p:cBhvr>
                                        <p:cTn id="24" dur="1" fill="hold">
                                          <p:stCondLst>
                                            <p:cond delay="0"/>
                                          </p:stCondLst>
                                        </p:cTn>
                                        <p:tgtEl>
                                          <p:spTgt spid="130070"/>
                                        </p:tgtEl>
                                        <p:attrNameLst>
                                          <p:attrName>style.visibility</p:attrName>
                                        </p:attrNameLst>
                                      </p:cBhvr>
                                      <p:to>
                                        <p:strVal val="visible"/>
                                      </p:to>
                                    </p:set>
                                    <p:anim calcmode="lin" valueType="num">
                                      <p:cBhvr>
                                        <p:cTn id="25" dur="1000" fill="hold"/>
                                        <p:tgtEl>
                                          <p:spTgt spid="130070"/>
                                        </p:tgtEl>
                                        <p:attrNameLst>
                                          <p:attrName>ppt_w</p:attrName>
                                        </p:attrNameLst>
                                      </p:cBhvr>
                                      <p:tavLst>
                                        <p:tav tm="0">
                                          <p:val>
                                            <p:strVal val="#ppt_w*0.70"/>
                                          </p:val>
                                        </p:tav>
                                        <p:tav tm="100000">
                                          <p:val>
                                            <p:strVal val="#ppt_w"/>
                                          </p:val>
                                        </p:tav>
                                      </p:tavLst>
                                    </p:anim>
                                    <p:anim calcmode="lin" valueType="num">
                                      <p:cBhvr>
                                        <p:cTn id="26" dur="1000" fill="hold"/>
                                        <p:tgtEl>
                                          <p:spTgt spid="130070"/>
                                        </p:tgtEl>
                                        <p:attrNameLst>
                                          <p:attrName>ppt_h</p:attrName>
                                        </p:attrNameLst>
                                      </p:cBhvr>
                                      <p:tavLst>
                                        <p:tav tm="0">
                                          <p:val>
                                            <p:strVal val="#ppt_h"/>
                                          </p:val>
                                        </p:tav>
                                        <p:tav tm="100000">
                                          <p:val>
                                            <p:strVal val="#ppt_h"/>
                                          </p:val>
                                        </p:tav>
                                      </p:tavLst>
                                    </p:anim>
                                    <p:animEffect transition="in" filter="fade">
                                      <p:cBhvr>
                                        <p:cTn id="27" dur="1000"/>
                                        <p:tgtEl>
                                          <p:spTgt spid="130070"/>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nodeType="clickEffect">
                                  <p:stCondLst>
                                    <p:cond delay="0"/>
                                  </p:stCondLst>
                                  <p:childTnLst>
                                    <p:set>
                                      <p:cBhvr>
                                        <p:cTn id="31" dur="1" fill="hold">
                                          <p:stCondLst>
                                            <p:cond delay="0"/>
                                          </p:stCondLst>
                                        </p:cTn>
                                        <p:tgtEl>
                                          <p:spTgt spid="130074"/>
                                        </p:tgtEl>
                                        <p:attrNameLst>
                                          <p:attrName>style.visibility</p:attrName>
                                        </p:attrNameLst>
                                      </p:cBhvr>
                                      <p:to>
                                        <p:strVal val="visible"/>
                                      </p:to>
                                    </p:set>
                                    <p:anim calcmode="lin" valueType="num">
                                      <p:cBhvr>
                                        <p:cTn id="32" dur="500" fill="hold"/>
                                        <p:tgtEl>
                                          <p:spTgt spid="130074"/>
                                        </p:tgtEl>
                                        <p:attrNameLst>
                                          <p:attrName>ppt_w</p:attrName>
                                        </p:attrNameLst>
                                      </p:cBhvr>
                                      <p:tavLst>
                                        <p:tav tm="0">
                                          <p:val>
                                            <p:fltVal val="0"/>
                                          </p:val>
                                        </p:tav>
                                        <p:tav tm="100000">
                                          <p:val>
                                            <p:strVal val="#ppt_w"/>
                                          </p:val>
                                        </p:tav>
                                      </p:tavLst>
                                    </p:anim>
                                    <p:anim calcmode="lin" valueType="num">
                                      <p:cBhvr>
                                        <p:cTn id="33" dur="500" fill="hold"/>
                                        <p:tgtEl>
                                          <p:spTgt spid="130074"/>
                                        </p:tgtEl>
                                        <p:attrNameLst>
                                          <p:attrName>ppt_h</p:attrName>
                                        </p:attrNameLst>
                                      </p:cBhvr>
                                      <p:tavLst>
                                        <p:tav tm="0">
                                          <p:val>
                                            <p:fltVal val="0"/>
                                          </p:val>
                                        </p:tav>
                                        <p:tav tm="100000">
                                          <p:val>
                                            <p:strVal val="#ppt_h"/>
                                          </p:val>
                                        </p:tav>
                                      </p:tavLst>
                                    </p:anim>
                                    <p:animEffect transition="in" filter="fade">
                                      <p:cBhvr>
                                        <p:cTn id="34" dur="500"/>
                                        <p:tgtEl>
                                          <p:spTgt spid="130074"/>
                                        </p:tgtEl>
                                      </p:cBhvr>
                                    </p:animEffect>
                                  </p:childTnLst>
                                </p:cTn>
                              </p:par>
                            </p:childTnLst>
                          </p:cTn>
                        </p:par>
                      </p:childTnLst>
                    </p:cTn>
                  </p:par>
                  <p:par>
                    <p:cTn id="35" fill="hold">
                      <p:stCondLst>
                        <p:cond delay="indefinite"/>
                      </p:stCondLst>
                      <p:childTnLst>
                        <p:par>
                          <p:cTn id="36" fill="hold">
                            <p:stCondLst>
                              <p:cond delay="0"/>
                            </p:stCondLst>
                            <p:childTnLst>
                              <p:par>
                                <p:cTn id="37" presetID="13" presetClass="entr" presetSubtype="16" fill="hold" nodeType="clickEffect">
                                  <p:stCondLst>
                                    <p:cond delay="0"/>
                                  </p:stCondLst>
                                  <p:childTnLst>
                                    <p:set>
                                      <p:cBhvr>
                                        <p:cTn id="38" dur="1" fill="hold">
                                          <p:stCondLst>
                                            <p:cond delay="0"/>
                                          </p:stCondLst>
                                        </p:cTn>
                                        <p:tgtEl>
                                          <p:spTgt spid="130079"/>
                                        </p:tgtEl>
                                        <p:attrNameLst>
                                          <p:attrName>style.visibility</p:attrName>
                                        </p:attrNameLst>
                                      </p:cBhvr>
                                      <p:to>
                                        <p:strVal val="visible"/>
                                      </p:to>
                                    </p:set>
                                    <p:animEffect transition="in" filter="plus(in)">
                                      <p:cBhvr>
                                        <p:cTn id="39" dur="1000"/>
                                        <p:tgtEl>
                                          <p:spTgt spid="130079"/>
                                        </p:tgtEl>
                                      </p:cBhvr>
                                    </p:animEffect>
                                  </p:childTnLst>
                                </p:cTn>
                              </p:par>
                            </p:childTnLst>
                          </p:cTn>
                        </p:par>
                      </p:childTnLst>
                    </p:cTn>
                  </p:par>
                  <p:par>
                    <p:cTn id="40" fill="hold">
                      <p:stCondLst>
                        <p:cond delay="indefinite"/>
                      </p:stCondLst>
                      <p:childTnLst>
                        <p:par>
                          <p:cTn id="41" fill="hold">
                            <p:stCondLst>
                              <p:cond delay="0"/>
                            </p:stCondLst>
                            <p:childTnLst>
                              <p:par>
                                <p:cTn id="42" presetID="17" presetClass="entr" presetSubtype="10" fill="hold" nodeType="clickEffect">
                                  <p:stCondLst>
                                    <p:cond delay="0"/>
                                  </p:stCondLst>
                                  <p:childTnLst>
                                    <p:set>
                                      <p:cBhvr>
                                        <p:cTn id="43" dur="1" fill="hold">
                                          <p:stCondLst>
                                            <p:cond delay="0"/>
                                          </p:stCondLst>
                                        </p:cTn>
                                        <p:tgtEl>
                                          <p:spTgt spid="130082"/>
                                        </p:tgtEl>
                                        <p:attrNameLst>
                                          <p:attrName>style.visibility</p:attrName>
                                        </p:attrNameLst>
                                      </p:cBhvr>
                                      <p:to>
                                        <p:strVal val="visible"/>
                                      </p:to>
                                    </p:set>
                                    <p:anim calcmode="lin" valueType="num">
                                      <p:cBhvr>
                                        <p:cTn id="44" dur="500" fill="hold"/>
                                        <p:tgtEl>
                                          <p:spTgt spid="130082"/>
                                        </p:tgtEl>
                                        <p:attrNameLst>
                                          <p:attrName>ppt_w</p:attrName>
                                        </p:attrNameLst>
                                      </p:cBhvr>
                                      <p:tavLst>
                                        <p:tav tm="0">
                                          <p:val>
                                            <p:fltVal val="0"/>
                                          </p:val>
                                        </p:tav>
                                        <p:tav tm="100000">
                                          <p:val>
                                            <p:strVal val="#ppt_w"/>
                                          </p:val>
                                        </p:tav>
                                      </p:tavLst>
                                    </p:anim>
                                    <p:anim calcmode="lin" valueType="num">
                                      <p:cBhvr>
                                        <p:cTn id="45" dur="500" fill="hold"/>
                                        <p:tgtEl>
                                          <p:spTgt spid="13008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66" grpId="0" animBg="1"/>
      <p:bldP spid="130073" grpId="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Text Box 3"/>
          <p:cNvSpPr txBox="1"/>
          <p:nvPr/>
        </p:nvSpPr>
        <p:spPr>
          <a:xfrm>
            <a:off x="747713" y="1616075"/>
            <a:ext cx="7921625" cy="641350"/>
          </a:xfrm>
          <a:prstGeom prst="rect">
            <a:avLst/>
          </a:prstGeom>
          <a:noFill/>
          <a:ln w="9525">
            <a:noFill/>
          </a:ln>
        </p:spPr>
        <p:txBody>
          <a:bodyPr anchor="t">
            <a:spAutoFit/>
          </a:bodyPr>
          <a:lstStyle/>
          <a:p>
            <a:pPr lvl="0" indent="0" algn="ctr">
              <a:spcBef>
                <a:spcPct val="50000"/>
              </a:spcBef>
            </a:pPr>
            <a:r>
              <a:rPr lang="zh-CN" altLang="en-US" sz="3600" dirty="0">
                <a:solidFill>
                  <a:srgbClr val="A50021"/>
                </a:solidFill>
                <a:latin typeface="宋体" panose="02010600030101010101" pitchFamily="2" charset="-122"/>
                <a:ea typeface="宋体" panose="02010600030101010101" pitchFamily="2" charset="-122"/>
              </a:rPr>
              <a:t>多粒度加锁</a:t>
            </a:r>
            <a:r>
              <a:rPr lang="en-US" altLang="x-none" sz="3600" dirty="0">
                <a:solidFill>
                  <a:srgbClr val="A50021"/>
                </a:solidFill>
                <a:latin typeface="宋体" panose="02010600030101010101" pitchFamily="2" charset="-122"/>
                <a:ea typeface="宋体" panose="02010600030101010101" pitchFamily="2" charset="-122"/>
              </a:rPr>
              <a:t>/</a:t>
            </a:r>
            <a:r>
              <a:rPr lang="zh-CN" altLang="en-US" sz="3600" dirty="0">
                <a:solidFill>
                  <a:srgbClr val="A50021"/>
                </a:solidFill>
                <a:latin typeface="宋体" panose="02010600030101010101" pitchFamily="2" charset="-122"/>
                <a:ea typeface="宋体" panose="02010600030101010101" pitchFamily="2" charset="-122"/>
              </a:rPr>
              <a:t>解锁顺序</a:t>
            </a:r>
            <a:endParaRPr lang="zh-CN" altLang="en-US" sz="3600" dirty="0">
              <a:solidFill>
                <a:srgbClr val="A50021"/>
              </a:solidFill>
              <a:latin typeface="宋体" panose="02010600030101010101" pitchFamily="2" charset="-122"/>
              <a:ea typeface="宋体" panose="02010600030101010101" pitchFamily="2" charset="-122"/>
            </a:endParaRPr>
          </a:p>
        </p:txBody>
      </p:sp>
      <p:sp>
        <p:nvSpPr>
          <p:cNvPr id="131075" name="Text Box 4"/>
          <p:cNvSpPr txBox="1"/>
          <p:nvPr/>
        </p:nvSpPr>
        <p:spPr>
          <a:xfrm>
            <a:off x="733425" y="2544763"/>
            <a:ext cx="8064500" cy="3509962"/>
          </a:xfrm>
          <a:prstGeom prst="rect">
            <a:avLst/>
          </a:prstGeom>
          <a:noFill/>
          <a:ln w="9525">
            <a:noFill/>
          </a:ln>
        </p:spPr>
        <p:txBody>
          <a:bodyPr anchor="t">
            <a:spAutoFit/>
          </a:bodyPr>
          <a:lstStyle/>
          <a:p>
            <a:pPr lvl="0" indent="0">
              <a:spcBef>
                <a:spcPct val="50000"/>
              </a:spcBef>
            </a:pPr>
            <a:r>
              <a:rPr lang="en-US" altLang="x-none" sz="2800" dirty="0">
                <a:solidFill>
                  <a:srgbClr val="0000CC"/>
                </a:solidFill>
                <a:latin typeface="宋体" panose="02010600030101010101" pitchFamily="2" charset="-122"/>
                <a:ea typeface="宋体" panose="02010600030101010101" pitchFamily="2" charset="-122"/>
                <a:sym typeface="Wingdings" panose="05000000000000000000" pitchFamily="2" charset="2"/>
              </a:rPr>
              <a:t>① </a:t>
            </a:r>
            <a:r>
              <a:rPr lang="zh-CN" altLang="en-US" sz="2800" dirty="0">
                <a:solidFill>
                  <a:srgbClr val="0000CC"/>
                </a:solidFill>
                <a:latin typeface="宋体" panose="02010600030101010101" pitchFamily="2" charset="-122"/>
                <a:ea typeface="宋体" panose="02010600030101010101" pitchFamily="2" charset="-122"/>
                <a:sym typeface="Wingdings" panose="05000000000000000000" pitchFamily="2" charset="2"/>
              </a:rPr>
              <a:t>要对一个数据对象加锁，必须对这个数据对象的所有祖先加相应的意向锁，即：申请锁时，应按自上而下（从根到叶）的次序申请，以便及时发现冲突；</a:t>
            </a:r>
            <a:endParaRPr lang="zh-CN" altLang="en-US" sz="2800" dirty="0">
              <a:solidFill>
                <a:srgbClr val="0000CC"/>
              </a:solidFill>
              <a:latin typeface="宋体" panose="02010600030101010101" pitchFamily="2" charset="-122"/>
              <a:ea typeface="宋体" panose="02010600030101010101" pitchFamily="2" charset="-122"/>
              <a:sym typeface="Wingdings" panose="05000000000000000000" pitchFamily="2" charset="2"/>
            </a:endParaRPr>
          </a:p>
          <a:p>
            <a:pPr lvl="0" indent="0">
              <a:spcBef>
                <a:spcPct val="50000"/>
              </a:spcBef>
            </a:pPr>
            <a:r>
              <a:rPr lang="zh-CN" altLang="en-US" sz="2800" dirty="0">
                <a:solidFill>
                  <a:srgbClr val="0000CC"/>
                </a:solidFill>
                <a:latin typeface="宋体" panose="02010600030101010101" pitchFamily="2" charset="-122"/>
                <a:ea typeface="宋体" panose="02010600030101010101" pitchFamily="2" charset="-122"/>
                <a:sym typeface="Wingdings" panose="05000000000000000000" pitchFamily="2" charset="2"/>
              </a:rPr>
              <a:t>② 解锁时，应按自下而上（从叶到根）的次序进行，以免出现锁冲突。</a:t>
            </a:r>
            <a:endParaRPr lang="zh-CN" altLang="en-US" sz="2800" dirty="0">
              <a:solidFill>
                <a:srgbClr val="0000CC"/>
              </a:solidFill>
              <a:latin typeface="宋体" panose="02010600030101010101" pitchFamily="2" charset="-122"/>
              <a:ea typeface="宋体" panose="02010600030101010101" pitchFamily="2" charset="-122"/>
              <a:sym typeface="Wingdings" panose="05000000000000000000" pitchFamily="2" charset="2"/>
            </a:endParaRPr>
          </a:p>
          <a:p>
            <a:pPr lvl="0" indent="0">
              <a:spcBef>
                <a:spcPct val="50000"/>
              </a:spcBef>
            </a:pPr>
            <a:endParaRPr lang="en-US" altLang="x-none" sz="2800" dirty="0">
              <a:solidFill>
                <a:srgbClr val="0000CC"/>
              </a:solidFill>
              <a:latin typeface="宋体" panose="02010600030101010101" pitchFamily="2" charset="-122"/>
              <a:ea typeface="宋体" panose="02010600030101010101" pitchFamily="2" charset="-122"/>
              <a:sym typeface="Wingdings" panose="05000000000000000000" pitchFamily="2" charset="2"/>
            </a:endParaRPr>
          </a:p>
        </p:txBody>
      </p:sp>
      <p:sp>
        <p:nvSpPr>
          <p:cNvPr id="128003"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600" dirty="0">
                <a:solidFill>
                  <a:srgbClr val="0033CC"/>
                </a:solidFill>
                <a:latin typeface="Arial" panose="020B0604020202020204" pitchFamily="34" charset="0"/>
                <a:ea typeface="黑体" panose="02010609060101010101" pitchFamily="1" charset="-122"/>
              </a:rPr>
              <a:t>五、数据库系统中的并发</a:t>
            </a:r>
            <a:endParaRPr lang="zh-CN" altLang="en-US" sz="3600" dirty="0">
              <a:solidFill>
                <a:srgbClr val="0033CC"/>
              </a:solidFill>
              <a:latin typeface="Arial" panose="020B0604020202020204" pitchFamily="34" charset="0"/>
              <a:ea typeface="黑体" panose="02010609060101010101" pitchFamily="1" charset="-122"/>
            </a:endParaRPr>
          </a:p>
        </p:txBody>
      </p:sp>
      <p:sp>
        <p:nvSpPr>
          <p:cNvPr id="128004" name="Rectangle 3"/>
          <p:cNvSpPr txBox="1"/>
          <p:nvPr/>
        </p:nvSpPr>
        <p:spPr>
          <a:xfrm>
            <a:off x="517525" y="8382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5</a:t>
            </a:r>
            <a:r>
              <a:rPr lang="zh-CN" altLang="en-US" sz="2800" dirty="0">
                <a:solidFill>
                  <a:srgbClr val="FF0000"/>
                </a:solidFill>
                <a:latin typeface="黑体" panose="02010609060101010101" pitchFamily="1" charset="-122"/>
                <a:ea typeface="黑体" panose="02010609060101010101" pitchFamily="1" charset="-122"/>
              </a:rPr>
              <a:t>、多粒度加锁协议</a:t>
            </a:r>
            <a:endParaRPr lang="en-US" altLang="x-none" sz="2800" dirty="0">
              <a:solidFill>
                <a:srgbClr val="FF0000"/>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31074"/>
                                        </p:tgtEl>
                                        <p:attrNameLst>
                                          <p:attrName>style.visibility</p:attrName>
                                        </p:attrNameLst>
                                      </p:cBhvr>
                                      <p:to>
                                        <p:strVal val="visible"/>
                                      </p:to>
                                    </p:set>
                                    <p:animEffect transition="in" filter="box(in)">
                                      <p:cBhvr>
                                        <p:cTn id="7" dur="500"/>
                                        <p:tgtEl>
                                          <p:spTgt spid="13107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31075"/>
                                        </p:tgtEl>
                                        <p:attrNameLst>
                                          <p:attrName>style.visibility</p:attrName>
                                        </p:attrNameLst>
                                      </p:cBhvr>
                                      <p:to>
                                        <p:strVal val="visible"/>
                                      </p:to>
                                    </p:set>
                                    <p:animEffect transition="in" filter="box(in)">
                                      <p:cBhvr>
                                        <p:cTn id="12" dur="500"/>
                                        <p:tgtEl>
                                          <p:spTgt spid="131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4" grpId="0"/>
      <p:bldP spid="131075"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600" dirty="0">
                <a:solidFill>
                  <a:srgbClr val="0033CC"/>
                </a:solidFill>
                <a:latin typeface="Arial" panose="020B0604020202020204" pitchFamily="34" charset="0"/>
                <a:ea typeface="黑体" panose="02010609060101010101" pitchFamily="1" charset="-122"/>
              </a:rPr>
              <a:t>五、数据库系统中的并发</a:t>
            </a:r>
            <a:endParaRPr lang="zh-CN" altLang="en-US" sz="3600" dirty="0">
              <a:solidFill>
                <a:srgbClr val="0033CC"/>
              </a:solidFill>
              <a:latin typeface="Arial" panose="020B0604020202020204" pitchFamily="34" charset="0"/>
              <a:ea typeface="黑体" panose="02010609060101010101" pitchFamily="1" charset="-122"/>
            </a:endParaRPr>
          </a:p>
        </p:txBody>
      </p:sp>
      <p:sp>
        <p:nvSpPr>
          <p:cNvPr id="129026" name="Rectangle 3"/>
          <p:cNvSpPr txBox="1"/>
          <p:nvPr/>
        </p:nvSpPr>
        <p:spPr>
          <a:xfrm>
            <a:off x="517525" y="8382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6</a:t>
            </a:r>
            <a:r>
              <a:rPr lang="zh-CN" altLang="en-US" sz="2800" dirty="0">
                <a:solidFill>
                  <a:srgbClr val="FF0000"/>
                </a:solidFill>
                <a:latin typeface="黑体" panose="02010609060101010101" pitchFamily="1" charset="-122"/>
                <a:ea typeface="黑体" panose="02010609060101010101" pitchFamily="1" charset="-122"/>
              </a:rPr>
              <a:t>、死锁及其预防、检测与处理</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129027" name="Rectangle 3"/>
          <p:cNvSpPr txBox="1"/>
          <p:nvPr/>
        </p:nvSpPr>
        <p:spPr>
          <a:xfrm>
            <a:off x="428625" y="1460500"/>
            <a:ext cx="4189413" cy="4757738"/>
          </a:xfrm>
          <a:prstGeom prst="rect">
            <a:avLst/>
          </a:prstGeom>
          <a:noFill/>
          <a:ln w="9525">
            <a:noFill/>
          </a:ln>
        </p:spPr>
        <p:txBody>
          <a:bodyPr anchor="t"/>
          <a:lstStyle/>
          <a:p>
            <a:pPr marL="342900" lvl="0" indent="-342900" eaLnBrk="0" hangingPunct="0">
              <a:spcBef>
                <a:spcPts val="6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sym typeface="Wingdings" panose="05000000000000000000" pitchFamily="2" charset="2"/>
              </a:rPr>
              <a:t>一个事务如申请锁而未获准，则需等待其他事务释放锁，从而形成事务间的等待关系。</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marL="342900" lvl="0" indent="-342900" eaLnBrk="0" hangingPunct="0">
              <a:spcBef>
                <a:spcPts val="600"/>
              </a:spcBef>
              <a:buClr>
                <a:srgbClr val="0033CC"/>
              </a:buClr>
              <a:buSzPct val="80000"/>
              <a:buFont typeface="Wingdings" panose="05000000000000000000" pitchFamily="2" charset="2"/>
              <a:buChar char="u"/>
            </a:pPr>
            <a:r>
              <a:rPr lang="zh-CN" altLang="en-US" sz="2400" dirty="0">
                <a:solidFill>
                  <a:srgbClr val="CC3300"/>
                </a:solidFill>
                <a:latin typeface="华文楷体" panose="02010600040101010101" pitchFamily="2" charset="-122"/>
                <a:ea typeface="宋体" panose="02010600030101010101" pitchFamily="2" charset="-122"/>
                <a:sym typeface="Wingdings" panose="05000000000000000000" pitchFamily="2" charset="2"/>
              </a:rPr>
              <a:t>死锁：</a:t>
            </a:r>
            <a:r>
              <a:rPr lang="zh-CN" altLang="en-US" sz="2400" dirty="0">
                <a:latin typeface="华文楷体" panose="02010600040101010101" pitchFamily="2" charset="-122"/>
                <a:ea typeface="宋体" panose="02010600030101010101" pitchFamily="2" charset="-122"/>
                <a:sym typeface="Wingdings" panose="05000000000000000000" pitchFamily="2" charset="2"/>
              </a:rPr>
              <a:t>当事务出现循环等待时，如不加干预，则会一直等待下去，形成死锁</a:t>
            </a:r>
            <a:r>
              <a:rPr lang="en-US" altLang="x-none" sz="2400" dirty="0">
                <a:latin typeface="华文楷体" panose="02010600040101010101" pitchFamily="2" charset="-122"/>
                <a:ea typeface="宋体" panose="02010600030101010101" pitchFamily="2" charset="-122"/>
                <a:sym typeface="Wingdings" panose="05000000000000000000" pitchFamily="2" charset="2"/>
              </a:rPr>
              <a:t>(dead lock)</a:t>
            </a:r>
            <a:r>
              <a:rPr lang="zh-CN" altLang="en-US" sz="2400" dirty="0">
                <a:latin typeface="华文楷体" panose="02010600040101010101" pitchFamily="2" charset="-122"/>
                <a:ea typeface="宋体" panose="02010600030101010101" pitchFamily="2" charset="-122"/>
                <a:sym typeface="Wingdings" panose="05000000000000000000" pitchFamily="2" charset="2"/>
              </a:rPr>
              <a:t>。如图示。</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marL="342900" lvl="0" indent="-342900" eaLnBrk="0" hangingPunct="0">
              <a:spcBef>
                <a:spcPts val="600"/>
              </a:spcBef>
              <a:buClr>
                <a:srgbClr val="0033CC"/>
              </a:buClr>
              <a:buSzPct val="80000"/>
              <a:buFont typeface="Wingdings" panose="05000000000000000000" pitchFamily="2" charset="2"/>
              <a:buChar char="u"/>
            </a:pPr>
            <a:r>
              <a:rPr lang="zh-CN" altLang="en-US" sz="2400" dirty="0">
                <a:solidFill>
                  <a:srgbClr val="CC3300"/>
                </a:solidFill>
                <a:latin typeface="华文楷体" panose="02010600040101010101" pitchFamily="2" charset="-122"/>
                <a:ea typeface="宋体" panose="02010600030101010101" pitchFamily="2" charset="-122"/>
                <a:sym typeface="Wingdings" panose="05000000000000000000" pitchFamily="2" charset="2"/>
              </a:rPr>
              <a:t>对付死锁的二个方法：</a:t>
            </a:r>
            <a:endParaRPr lang="zh-CN" altLang="en-US" sz="2400" dirty="0">
              <a:solidFill>
                <a:srgbClr val="CC3300"/>
              </a:solidFill>
              <a:latin typeface="华文楷体" panose="02010600040101010101" pitchFamily="2" charset="-122"/>
              <a:ea typeface="宋体" panose="02010600030101010101" pitchFamily="2" charset="-122"/>
              <a:sym typeface="Wingdings" panose="05000000000000000000" pitchFamily="2" charset="2"/>
            </a:endParaRPr>
          </a:p>
          <a:p>
            <a:pPr marL="342900" lvl="0" indent="-342900" eaLnBrk="0" hangingPunct="0">
              <a:spcBef>
                <a:spcPts val="600"/>
              </a:spcBef>
              <a:buClr>
                <a:srgbClr val="0033CC"/>
              </a:buClr>
              <a:buSzPct val="80000"/>
            </a:pPr>
            <a:r>
              <a:rPr lang="zh-CN" altLang="en-US" sz="2400" dirty="0">
                <a:latin typeface="华文楷体" panose="02010600040101010101" pitchFamily="2" charset="-122"/>
                <a:ea typeface="宋体" panose="02010600030101010101" pitchFamily="2" charset="-122"/>
                <a:sym typeface="Wingdings" panose="05000000000000000000" pitchFamily="2" charset="2"/>
              </a:rPr>
              <a:t>① 防止死锁；</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marL="342900" lvl="0" indent="-342900" eaLnBrk="0" hangingPunct="0">
              <a:spcBef>
                <a:spcPts val="600"/>
              </a:spcBef>
              <a:buClr>
                <a:srgbClr val="0033CC"/>
              </a:buClr>
              <a:buSzPct val="80000"/>
            </a:pPr>
            <a:r>
              <a:rPr lang="zh-CN" altLang="en-US" sz="2400" dirty="0">
                <a:latin typeface="华文楷体" panose="02010600040101010101" pitchFamily="2" charset="-122"/>
                <a:ea typeface="宋体" panose="02010600030101010101" pitchFamily="2" charset="-122"/>
                <a:sym typeface="Wingdings" panose="05000000000000000000" pitchFamily="2" charset="2"/>
              </a:rPr>
              <a:t>② 检测死锁，发现死锁后处理死锁。</a:t>
            </a:r>
            <a:endParaRPr lang="zh-CN" altLang="en-US" sz="2400" dirty="0">
              <a:latin typeface="华文楷体" panose="02010600040101010101" pitchFamily="2" charset="-122"/>
              <a:ea typeface="宋体" panose="02010600030101010101" pitchFamily="2" charset="-122"/>
            </a:endParaRPr>
          </a:p>
        </p:txBody>
      </p:sp>
      <p:graphicFrame>
        <p:nvGraphicFramePr>
          <p:cNvPr id="132101" name="表格 132100"/>
          <p:cNvGraphicFramePr/>
          <p:nvPr/>
        </p:nvGraphicFramePr>
        <p:xfrm>
          <a:off x="4594225" y="1593850"/>
          <a:ext cx="4176713" cy="4498975"/>
        </p:xfrm>
        <a:graphic>
          <a:graphicData uri="http://schemas.openxmlformats.org/drawingml/2006/table">
            <a:tbl>
              <a:tblPr/>
              <a:tblGrid>
                <a:gridCol w="863600"/>
                <a:gridCol w="1655763"/>
                <a:gridCol w="1657350"/>
              </a:tblGrid>
              <a:tr h="6794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a:t>时间</a:t>
                      </a:r>
                      <a:endParaRPr lang="zh-CN" altLang="en-US" sz="2400"/>
                    </a:p>
                  </a:txBody>
                  <a:tcPr marL="90000" marR="90000" marT="46800" marB="468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dirty="0"/>
                        <a:t>事务</a:t>
                      </a:r>
                      <a:r>
                        <a:rPr lang="en-US" altLang="x-none" sz="2400" dirty="0"/>
                        <a:t>T1</a:t>
                      </a:r>
                      <a:endParaRPr lang="en-US" altLang="x-none" sz="2400" dirty="0"/>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dirty="0"/>
                        <a:t>事物</a:t>
                      </a:r>
                      <a:r>
                        <a:rPr lang="en-US" altLang="x-none" sz="2400" dirty="0"/>
                        <a:t>T2</a:t>
                      </a:r>
                      <a:endParaRPr lang="en-US" altLang="x-none" sz="2400" dirty="0"/>
                    </a:p>
                  </a:txBody>
                  <a:tcPr marL="90000" marR="90000" marT="46800" marB="468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7175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x-none" sz="2400" dirty="0"/>
                        <a:t>t</a:t>
                      </a:r>
                      <a:r>
                        <a:rPr lang="en-US" altLang="x-none" sz="2400" baseline="-25000" dirty="0"/>
                        <a:t>0</a:t>
                      </a:r>
                      <a:endParaRPr lang="en-US" altLang="x-none" sz="2400" baseline="-25000" dirty="0"/>
                    </a:p>
                  </a:txBody>
                  <a:tcPr marL="90000" marR="90000" marT="46800" marB="468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400" dirty="0"/>
                        <a:t>对</a:t>
                      </a:r>
                      <a:r>
                        <a:rPr lang="en-US" altLang="x-none" sz="2400" dirty="0"/>
                        <a:t>A</a:t>
                      </a:r>
                      <a:r>
                        <a:rPr lang="zh-CN" altLang="en-US" sz="2400" dirty="0"/>
                        <a:t>加</a:t>
                      </a:r>
                      <a:r>
                        <a:rPr lang="en-US" altLang="x-none" sz="2400" dirty="0"/>
                        <a:t>X</a:t>
                      </a:r>
                      <a:r>
                        <a:rPr lang="zh-CN" altLang="en-US" sz="2400" dirty="0"/>
                        <a:t>锁</a:t>
                      </a:r>
                      <a:endParaRPr lang="zh-CN" altLang="en-US" sz="2400" dirty="0"/>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endParaRPr lang="zh-CN" altLang="en-US" sz="2400"/>
                    </a:p>
                  </a:txBody>
                  <a:tcPr marL="90000" marR="90000" marT="46800" marB="468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71596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x-none" sz="2400" dirty="0"/>
                        <a:t>t</a:t>
                      </a:r>
                      <a:r>
                        <a:rPr lang="en-US" altLang="x-none" sz="2400" baseline="-25000" dirty="0"/>
                        <a:t>1</a:t>
                      </a:r>
                      <a:endParaRPr lang="en-US" altLang="x-none" sz="2400" dirty="0"/>
                    </a:p>
                  </a:txBody>
                  <a:tcPr marL="90000" marR="90000" marT="46800" marB="468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endParaRPr lang="zh-CN" altLang="en-US" sz="2400"/>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400" dirty="0"/>
                        <a:t>对</a:t>
                      </a:r>
                      <a:r>
                        <a:rPr lang="en-US" altLang="x-none" sz="2400" dirty="0"/>
                        <a:t>B</a:t>
                      </a:r>
                      <a:r>
                        <a:rPr lang="zh-CN" altLang="en-US" sz="2400" dirty="0"/>
                        <a:t>加</a:t>
                      </a:r>
                      <a:r>
                        <a:rPr lang="en-US" altLang="x-none" sz="2400" dirty="0"/>
                        <a:t>X</a:t>
                      </a:r>
                      <a:r>
                        <a:rPr lang="zh-CN" altLang="en-US" sz="2400" dirty="0"/>
                        <a:t>锁</a:t>
                      </a:r>
                      <a:endParaRPr lang="zh-CN" altLang="en-US" sz="2400" dirty="0"/>
                    </a:p>
                  </a:txBody>
                  <a:tcPr marL="90000" marR="90000" marT="46800" marB="468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8255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x-none" sz="2400" dirty="0"/>
                        <a:t>t</a:t>
                      </a:r>
                      <a:r>
                        <a:rPr lang="en-US" altLang="x-none" sz="2400" baseline="-25000" dirty="0"/>
                        <a:t>2</a:t>
                      </a:r>
                      <a:endParaRPr lang="en-US" altLang="x-none" sz="2400" dirty="0"/>
                    </a:p>
                  </a:txBody>
                  <a:tcPr marL="90000" marR="90000" marT="46800" marB="468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400" dirty="0"/>
                        <a:t>欲对</a:t>
                      </a:r>
                      <a:r>
                        <a:rPr lang="en-US" altLang="x-none" sz="2400" dirty="0"/>
                        <a:t>B</a:t>
                      </a:r>
                      <a:r>
                        <a:rPr lang="zh-CN" altLang="en-US" sz="2400" dirty="0"/>
                        <a:t>申请</a:t>
                      </a:r>
                      <a:r>
                        <a:rPr lang="en-US" altLang="x-none" sz="2400" dirty="0"/>
                        <a:t>S</a:t>
                      </a:r>
                      <a:r>
                        <a:rPr lang="zh-CN" altLang="en-US" sz="2400" dirty="0"/>
                        <a:t>锁</a:t>
                      </a:r>
                      <a:endParaRPr lang="zh-CN" altLang="en-US" sz="2400" dirty="0"/>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endParaRPr lang="zh-CN" altLang="en-US" sz="2400"/>
                    </a:p>
                  </a:txBody>
                  <a:tcPr marL="90000" marR="90000" marT="46800" marB="468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8445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x-none" sz="2400" dirty="0"/>
                        <a:t>t</a:t>
                      </a:r>
                      <a:r>
                        <a:rPr lang="en-US" altLang="x-none" sz="2400" baseline="-25000" dirty="0"/>
                        <a:t>3</a:t>
                      </a:r>
                      <a:endParaRPr lang="en-US" altLang="x-none" sz="2400" dirty="0"/>
                    </a:p>
                  </a:txBody>
                  <a:tcPr marL="90000" marR="90000" marT="46800" marB="468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a:t>等待</a:t>
                      </a:r>
                      <a:endParaRPr lang="zh-CN" altLang="en-US" sz="2400"/>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400" dirty="0"/>
                        <a:t>欲对</a:t>
                      </a:r>
                      <a:r>
                        <a:rPr lang="en-US" altLang="x-none" sz="2400" dirty="0"/>
                        <a:t>A</a:t>
                      </a:r>
                      <a:r>
                        <a:rPr lang="zh-CN" altLang="en-US" sz="2400" dirty="0"/>
                        <a:t>申请</a:t>
                      </a:r>
                      <a:r>
                        <a:rPr lang="en-US" altLang="x-none" sz="2400" dirty="0"/>
                        <a:t>X</a:t>
                      </a:r>
                      <a:r>
                        <a:rPr lang="zh-CN" altLang="en-US" sz="2400" dirty="0"/>
                        <a:t>锁</a:t>
                      </a:r>
                      <a:endParaRPr lang="zh-CN" altLang="en-US" sz="2400" dirty="0"/>
                    </a:p>
                  </a:txBody>
                  <a:tcPr marL="90000" marR="90000" marT="46800" marB="468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71596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x-none" sz="2400" dirty="0"/>
                        <a:t>t</a:t>
                      </a:r>
                      <a:r>
                        <a:rPr lang="en-US" altLang="x-none" sz="2400" baseline="-25000" dirty="0"/>
                        <a:t>4</a:t>
                      </a:r>
                      <a:endParaRPr lang="en-US" altLang="x-none" sz="2400" dirty="0"/>
                    </a:p>
                  </a:txBody>
                  <a:tcPr marL="90000" marR="90000" marT="46800" marB="468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endParaRPr lang="zh-CN" altLang="en-US" sz="2400"/>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a:t>等待</a:t>
                      </a:r>
                      <a:endParaRPr lang="zh-CN" altLang="en-US" sz="2400"/>
                    </a:p>
                  </a:txBody>
                  <a:tcPr marL="90000" marR="90000" marT="46800" marB="468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bl>
          </a:graphicData>
        </a:graphic>
      </p:graphicFrame>
    </p:spTree>
  </p:cSld>
  <p:clrMapOvr>
    <a:masterClrMapping/>
  </p:clrMapOvr>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600" dirty="0">
                <a:solidFill>
                  <a:srgbClr val="0033CC"/>
                </a:solidFill>
                <a:latin typeface="Arial" panose="020B0604020202020204" pitchFamily="34" charset="0"/>
                <a:ea typeface="黑体" panose="02010609060101010101" pitchFamily="1" charset="-122"/>
              </a:rPr>
              <a:t>五、数据库系统中的并发</a:t>
            </a:r>
            <a:endParaRPr lang="zh-CN" altLang="en-US" sz="3600" dirty="0">
              <a:solidFill>
                <a:srgbClr val="0033CC"/>
              </a:solidFill>
              <a:latin typeface="Arial" panose="020B0604020202020204" pitchFamily="34" charset="0"/>
              <a:ea typeface="黑体" panose="02010609060101010101" pitchFamily="1" charset="-122"/>
            </a:endParaRPr>
          </a:p>
        </p:txBody>
      </p:sp>
      <p:sp>
        <p:nvSpPr>
          <p:cNvPr id="130050" name="Rectangle 3"/>
          <p:cNvSpPr txBox="1"/>
          <p:nvPr/>
        </p:nvSpPr>
        <p:spPr>
          <a:xfrm>
            <a:off x="517525" y="8382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6</a:t>
            </a:r>
            <a:r>
              <a:rPr lang="zh-CN" altLang="en-US" sz="2800" dirty="0">
                <a:solidFill>
                  <a:srgbClr val="FF0000"/>
                </a:solidFill>
                <a:latin typeface="黑体" panose="02010609060101010101" pitchFamily="1" charset="-122"/>
                <a:ea typeface="黑体" panose="02010609060101010101" pitchFamily="1" charset="-122"/>
              </a:rPr>
              <a:t>、死锁及其预防、检测与处理</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133124" name="Text Box 2"/>
          <p:cNvSpPr txBox="1"/>
          <p:nvPr/>
        </p:nvSpPr>
        <p:spPr>
          <a:xfrm>
            <a:off x="515938" y="2035175"/>
            <a:ext cx="8316912" cy="3754438"/>
          </a:xfrm>
          <a:prstGeom prst="rect">
            <a:avLst/>
          </a:prstGeom>
          <a:noFill/>
          <a:ln w="9525">
            <a:noFill/>
          </a:ln>
        </p:spPr>
        <p:txBody>
          <a:bodyPr anchor="t">
            <a:spAutoFit/>
          </a:bodyPr>
          <a:lstStyle/>
          <a:p>
            <a:pPr lvl="0" indent="0">
              <a:spcBef>
                <a:spcPct val="50000"/>
              </a:spcBef>
              <a:buFont typeface="Wingdings" panose="05000000000000000000" pitchFamily="2" charset="2"/>
              <a:buChar char="u"/>
            </a:pPr>
            <a:r>
              <a:rPr lang="zh-CN" altLang="en-US" sz="2400" u="sng" dirty="0">
                <a:solidFill>
                  <a:srgbClr val="C00000"/>
                </a:solidFill>
                <a:latin typeface="华文楷体" panose="02010600040101010101" pitchFamily="2" charset="-122"/>
                <a:ea typeface="华文楷体" panose="02010600040101010101" pitchFamily="2" charset="-122"/>
                <a:sym typeface="Wingdings" panose="05000000000000000000" pitchFamily="2" charset="2"/>
              </a:rPr>
              <a:t>方法：</a:t>
            </a:r>
            <a:r>
              <a:rPr lang="zh-CN" altLang="en-US" sz="2400" dirty="0">
                <a:solidFill>
                  <a:srgbClr val="A50021"/>
                </a:solidFill>
                <a:latin typeface="华文楷体" panose="02010600040101010101" pitchFamily="2" charset="-122"/>
                <a:ea typeface="华文楷体" panose="02010600040101010101" pitchFamily="2" charset="-122"/>
                <a:sym typeface="Wingdings" panose="05000000000000000000" pitchFamily="2" charset="2"/>
              </a:rPr>
              <a:t>给每个事务一个优先级</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，并禁止低优先级的事务等待高优先级事务，或反之。而事务优先级的设定，是当事务开始执行时，给事务一个时间戳</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ts</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Time Stamp</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）来完成。</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a:p>
            <a:pPr lvl="0" indent="0">
              <a:spcBef>
                <a:spcPct val="50000"/>
              </a:spcBef>
              <a:buFont typeface="Wingdings" panose="05000000000000000000" pitchFamily="2" charset="2"/>
              <a:buChar char="u"/>
            </a:pPr>
            <a:r>
              <a:rPr lang="zh-CN" altLang="en-US" sz="2400" u="sng" dirty="0">
                <a:solidFill>
                  <a:srgbClr val="A50021"/>
                </a:solidFill>
                <a:latin typeface="华文楷体" panose="02010600040101010101" pitchFamily="2" charset="-122"/>
                <a:ea typeface="华文楷体" panose="02010600040101010101" pitchFamily="2" charset="-122"/>
                <a:sym typeface="Wingdings" panose="05000000000000000000" pitchFamily="2" charset="2"/>
              </a:rPr>
              <a:t>时间戳：</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是一个惟一的、随时间增长的整数。</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a:p>
            <a:pPr lvl="0" indent="0">
              <a:spcBef>
                <a:spcPct val="50000"/>
              </a:spcBef>
              <a:buFont typeface="Wingdings" panose="05000000000000000000" pitchFamily="2" charset="2"/>
              <a:buChar char="u"/>
            </a:pPr>
            <a:r>
              <a:rPr lang="zh-CN" altLang="en-US" sz="2400" u="sng" dirty="0">
                <a:solidFill>
                  <a:srgbClr val="A50021"/>
                </a:solidFill>
                <a:latin typeface="华文楷体" panose="02010600040101010101" pitchFamily="2" charset="-122"/>
                <a:ea typeface="华文楷体" panose="02010600040101010101" pitchFamily="2" charset="-122"/>
                <a:sym typeface="Wingdings" panose="05000000000000000000" pitchFamily="2" charset="2"/>
              </a:rPr>
              <a:t>事务优先级</a:t>
            </a:r>
            <a:r>
              <a:rPr lang="zh-CN" altLang="en-US" sz="2400" u="sng" dirty="0">
                <a:latin typeface="华文楷体" panose="02010600040101010101" pitchFamily="2" charset="-122"/>
                <a:ea typeface="华文楷体" panose="02010600040101010101" pitchFamily="2" charset="-122"/>
                <a:sym typeface="Wingdings" panose="05000000000000000000" pitchFamily="2" charset="2"/>
              </a:rPr>
              <a:t>：</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时间戳越前，事务的优先级越高，也就是说越老的事务，其优先级越高。 </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a:p>
            <a:pPr marL="179705" lvl="1" indent="0">
              <a:spcBef>
                <a:spcPct val="50000"/>
              </a:spcBef>
            </a:pPr>
            <a:r>
              <a:rPr lang="zh-CN" altLang="en-US" sz="2400" dirty="0">
                <a:latin typeface="华文楷体" panose="02010600040101010101" pitchFamily="2" charset="-122"/>
                <a:ea typeface="华文楷体" panose="02010600040101010101" pitchFamily="2" charset="-122"/>
                <a:sym typeface="Wingdings" panose="05000000000000000000" pitchFamily="2" charset="2"/>
              </a:rPr>
              <a:t>示例：有两个事务</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T</a:t>
            </a:r>
            <a:r>
              <a:rPr lang="en-US" altLang="x-none" sz="2400" baseline="-25000" dirty="0">
                <a:latin typeface="华文楷体" panose="02010600040101010101" pitchFamily="2" charset="-122"/>
                <a:ea typeface="华文楷体" panose="02010600040101010101" pitchFamily="2" charset="-122"/>
                <a:sym typeface="Wingdings" panose="05000000000000000000" pitchFamily="2" charset="2"/>
              </a:rPr>
              <a:t>A</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和</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T</a:t>
            </a:r>
            <a:r>
              <a:rPr lang="en-US" altLang="x-none" sz="2400" baseline="-25000" dirty="0">
                <a:latin typeface="华文楷体" panose="02010600040101010101" pitchFamily="2" charset="-122"/>
                <a:ea typeface="华文楷体" panose="02010600040101010101" pitchFamily="2" charset="-122"/>
                <a:sym typeface="Wingdings" panose="05000000000000000000" pitchFamily="2" charset="2"/>
              </a:rPr>
              <a:t>B</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，如</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ts(T</a:t>
            </a:r>
            <a:r>
              <a:rPr lang="en-US" altLang="x-none" sz="2400" baseline="-25000" dirty="0">
                <a:latin typeface="华文楷体" panose="02010600040101010101" pitchFamily="2" charset="-122"/>
                <a:ea typeface="华文楷体" panose="02010600040101010101" pitchFamily="2" charset="-122"/>
                <a:sym typeface="Wingdings" panose="05000000000000000000" pitchFamily="2" charset="2"/>
              </a:rPr>
              <a:t>A</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a:t>
            </a:r>
            <a:r>
              <a:rPr lang="en-US" altLang="zh-CN" sz="2400" dirty="0">
                <a:latin typeface="华文楷体" panose="02010600040101010101" pitchFamily="2" charset="-122"/>
                <a:ea typeface="华文楷体" panose="02010600040101010101" pitchFamily="2" charset="-122"/>
                <a:sym typeface="Wingdings" panose="05000000000000000000" pitchFamily="2" charset="2"/>
              </a:rPr>
              <a:t>&gt;</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ts(T</a:t>
            </a:r>
            <a:r>
              <a:rPr lang="en-US" altLang="x-none" sz="2400" baseline="-25000" dirty="0">
                <a:latin typeface="华文楷体" panose="02010600040101010101" pitchFamily="2" charset="-122"/>
                <a:ea typeface="华文楷体" panose="02010600040101010101" pitchFamily="2" charset="-122"/>
                <a:sym typeface="Wingdings" panose="05000000000000000000" pitchFamily="2" charset="2"/>
              </a:rPr>
              <a:t>B</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a:p>
            <a:pPr marL="179705" lvl="1" indent="0">
              <a:spcBef>
                <a:spcPct val="50000"/>
              </a:spcBef>
            </a:pPr>
            <a:r>
              <a:rPr lang="zh-CN" altLang="en-US" sz="2400" dirty="0">
                <a:latin typeface="华文楷体" panose="02010600040101010101" pitchFamily="2" charset="-122"/>
                <a:ea typeface="华文楷体" panose="02010600040101010101" pitchFamily="2" charset="-122"/>
                <a:sym typeface="Wingdings" panose="05000000000000000000" pitchFamily="2" charset="2"/>
              </a:rPr>
              <a:t>则表示</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T</a:t>
            </a:r>
            <a:r>
              <a:rPr lang="en-US" altLang="x-none" sz="2400" baseline="-25000" dirty="0">
                <a:latin typeface="华文楷体" panose="02010600040101010101" pitchFamily="2" charset="-122"/>
                <a:ea typeface="华文楷体" panose="02010600040101010101" pitchFamily="2" charset="-122"/>
                <a:sym typeface="Wingdings" panose="05000000000000000000" pitchFamily="2" charset="2"/>
              </a:rPr>
              <a:t>A</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早于</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T</a:t>
            </a:r>
            <a:r>
              <a:rPr lang="en-US" altLang="x-none" sz="2400" baseline="-25000" dirty="0">
                <a:latin typeface="华文楷体" panose="02010600040101010101" pitchFamily="2" charset="-122"/>
                <a:ea typeface="华文楷体" panose="02010600040101010101" pitchFamily="2" charset="-122"/>
                <a:sym typeface="Wingdings" panose="05000000000000000000" pitchFamily="2" charset="2"/>
              </a:rPr>
              <a:t>B</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 </a:t>
            </a:r>
            <a:r>
              <a:rPr lang="en-US" altLang="x-none" sz="2400" dirty="0">
                <a:latin typeface="华文楷体" panose="02010600040101010101" pitchFamily="2" charset="-122"/>
                <a:ea typeface="华文楷体" panose="02010600040101010101" pitchFamily="2" charset="-122"/>
                <a:sym typeface="Wingdings" panose="05000000000000000000" pitchFamily="2" charset="2"/>
              </a:rPr>
              <a:t>T</a:t>
            </a:r>
            <a:r>
              <a:rPr lang="en-US" altLang="x-none" sz="2400" baseline="-25000" dirty="0">
                <a:latin typeface="华文楷体" panose="02010600040101010101" pitchFamily="2" charset="-122"/>
                <a:ea typeface="华文楷体" panose="02010600040101010101" pitchFamily="2" charset="-122"/>
                <a:sym typeface="Wingdings" panose="05000000000000000000" pitchFamily="2" charset="2"/>
              </a:rPr>
              <a:t>A</a:t>
            </a:r>
            <a:r>
              <a:rPr lang="zh-CN" altLang="en-US" sz="2400" dirty="0">
                <a:latin typeface="华文楷体" panose="02010600040101010101" pitchFamily="2" charset="-122"/>
                <a:ea typeface="华文楷体" panose="02010600040101010101" pitchFamily="2" charset="-122"/>
                <a:sym typeface="Wingdings" panose="05000000000000000000" pitchFamily="2" charset="2"/>
              </a:rPr>
              <a:t>优先级高。</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p:txBody>
      </p:sp>
      <p:sp>
        <p:nvSpPr>
          <p:cNvPr id="130052" name="Text Box 3"/>
          <p:cNvSpPr txBox="1"/>
          <p:nvPr/>
        </p:nvSpPr>
        <p:spPr>
          <a:xfrm>
            <a:off x="534988" y="1343025"/>
            <a:ext cx="2605087" cy="522288"/>
          </a:xfrm>
          <a:prstGeom prst="rect">
            <a:avLst/>
          </a:prstGeom>
          <a:noFill/>
          <a:ln w="9525">
            <a:noFill/>
          </a:ln>
        </p:spPr>
        <p:txBody>
          <a:bodyPr anchor="t">
            <a:spAutoFit/>
          </a:bodyPr>
          <a:lstStyle/>
          <a:p>
            <a:pPr lvl="0" indent="0" algn="ctr">
              <a:spcBef>
                <a:spcPct val="50000"/>
              </a:spcBef>
              <a:buFont typeface="Wingdings" panose="05000000000000000000" pitchFamily="2" charset="2"/>
              <a:buChar char="p"/>
            </a:pPr>
            <a:r>
              <a:rPr lang="zh-CN" altLang="en-US" sz="2800" dirty="0">
                <a:solidFill>
                  <a:srgbClr val="0033CC"/>
                </a:solidFill>
                <a:latin typeface="宋体" panose="02010600030101010101" pitchFamily="2" charset="-122"/>
                <a:ea typeface="宋体" panose="02010600030101010101" pitchFamily="2" charset="-122"/>
              </a:rPr>
              <a:t> 死锁的预防</a:t>
            </a:r>
            <a:endParaRPr lang="zh-CN" altLang="en-US" sz="2800" dirty="0">
              <a:solidFill>
                <a:srgbClr val="0033CC"/>
              </a:solidFill>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33124">
                                            <p:txEl>
                                              <p:pRg st="0" end="0"/>
                                            </p:txEl>
                                          </p:spTgt>
                                        </p:tgtEl>
                                        <p:attrNameLst>
                                          <p:attrName>style.visibility</p:attrName>
                                        </p:attrNameLst>
                                      </p:cBhvr>
                                      <p:to>
                                        <p:strVal val="visible"/>
                                      </p:to>
                                    </p:set>
                                    <p:animEffect transition="in" filter="checkerboard(across)">
                                      <p:cBhvr>
                                        <p:cTn id="7" dur="500"/>
                                        <p:tgtEl>
                                          <p:spTgt spid="133124">
                                            <p:txEl>
                                              <p:pRg st="0" end="0"/>
                                            </p:txEl>
                                          </p:spTgt>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33124">
                                            <p:txEl>
                                              <p:pRg st="1" end="1"/>
                                            </p:txEl>
                                          </p:spTgt>
                                        </p:tgtEl>
                                        <p:attrNameLst>
                                          <p:attrName>style.visibility</p:attrName>
                                        </p:attrNameLst>
                                      </p:cBhvr>
                                      <p:to>
                                        <p:strVal val="visible"/>
                                      </p:to>
                                    </p:set>
                                    <p:animEffect transition="in" filter="checkerboard(across)">
                                      <p:cBhvr>
                                        <p:cTn id="10" dur="500"/>
                                        <p:tgtEl>
                                          <p:spTgt spid="133124">
                                            <p:txEl>
                                              <p:pRg st="1" end="1"/>
                                            </p:txEl>
                                          </p:spTgt>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133124">
                                            <p:txEl>
                                              <p:pRg st="2" end="2"/>
                                            </p:txEl>
                                          </p:spTgt>
                                        </p:tgtEl>
                                        <p:attrNameLst>
                                          <p:attrName>style.visibility</p:attrName>
                                        </p:attrNameLst>
                                      </p:cBhvr>
                                      <p:to>
                                        <p:strVal val="visible"/>
                                      </p:to>
                                    </p:set>
                                    <p:animEffect transition="in" filter="checkerboard(across)">
                                      <p:cBhvr>
                                        <p:cTn id="13" dur="500"/>
                                        <p:tgtEl>
                                          <p:spTgt spid="133124">
                                            <p:txEl>
                                              <p:pRg st="2" end="2"/>
                                            </p:txEl>
                                          </p:spTgt>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133124">
                                            <p:txEl>
                                              <p:pRg st="3" end="3"/>
                                            </p:txEl>
                                          </p:spTgt>
                                        </p:tgtEl>
                                        <p:attrNameLst>
                                          <p:attrName>style.visibility</p:attrName>
                                        </p:attrNameLst>
                                      </p:cBhvr>
                                      <p:to>
                                        <p:strVal val="visible"/>
                                      </p:to>
                                    </p:set>
                                    <p:animEffect transition="in" filter="checkerboard(across)">
                                      <p:cBhvr>
                                        <p:cTn id="16" dur="500"/>
                                        <p:tgtEl>
                                          <p:spTgt spid="133124">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133124">
                                            <p:txEl>
                                              <p:pRg st="4" end="4"/>
                                            </p:txEl>
                                          </p:spTgt>
                                        </p:tgtEl>
                                        <p:attrNameLst>
                                          <p:attrName>style.visibility</p:attrName>
                                        </p:attrNameLst>
                                      </p:cBhvr>
                                      <p:to>
                                        <p:strVal val="visible"/>
                                      </p:to>
                                    </p:set>
                                    <p:animEffect transition="in" filter="wipe(down)">
                                      <p:cBhvr>
                                        <p:cTn id="21" dur="500"/>
                                        <p:tgtEl>
                                          <p:spTgt spid="13312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4" grpId="0" uiExpand="1" build="allAtOnce"/>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600" dirty="0">
                <a:solidFill>
                  <a:srgbClr val="0033CC"/>
                </a:solidFill>
                <a:latin typeface="Arial" panose="020B0604020202020204" pitchFamily="34" charset="0"/>
                <a:ea typeface="黑体" panose="02010609060101010101" pitchFamily="1" charset="-122"/>
              </a:rPr>
              <a:t>五、数据库系统中的并发</a:t>
            </a:r>
            <a:endParaRPr lang="zh-CN" altLang="en-US" sz="3600" dirty="0">
              <a:solidFill>
                <a:srgbClr val="0033CC"/>
              </a:solidFill>
              <a:latin typeface="Arial" panose="020B0604020202020204" pitchFamily="34" charset="0"/>
              <a:ea typeface="黑体" panose="02010609060101010101" pitchFamily="1" charset="-122"/>
            </a:endParaRPr>
          </a:p>
        </p:txBody>
      </p:sp>
      <p:sp>
        <p:nvSpPr>
          <p:cNvPr id="131074" name="Rectangle 3"/>
          <p:cNvSpPr txBox="1"/>
          <p:nvPr/>
        </p:nvSpPr>
        <p:spPr>
          <a:xfrm>
            <a:off x="517525" y="8382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6</a:t>
            </a:r>
            <a:r>
              <a:rPr lang="zh-CN" altLang="en-US" sz="2800" dirty="0">
                <a:solidFill>
                  <a:srgbClr val="FF0000"/>
                </a:solidFill>
                <a:latin typeface="黑体" panose="02010609060101010101" pitchFamily="1" charset="-122"/>
                <a:ea typeface="黑体" panose="02010609060101010101" pitchFamily="1" charset="-122"/>
              </a:rPr>
              <a:t>、死锁及其预防、检测与处理</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131075" name="Rectangle 3"/>
          <p:cNvSpPr txBox="1"/>
          <p:nvPr/>
        </p:nvSpPr>
        <p:spPr>
          <a:xfrm>
            <a:off x="738188" y="2092325"/>
            <a:ext cx="8137525" cy="2586038"/>
          </a:xfrm>
          <a:prstGeom prst="rect">
            <a:avLst/>
          </a:prstGeom>
          <a:noFill/>
          <a:ln w="9525">
            <a:noFill/>
          </a:ln>
        </p:spPr>
        <p:txBody>
          <a:bodyPr anchor="t"/>
          <a:lstStyle/>
          <a:p>
            <a:pPr lvl="0" indent="0" eaLnBrk="0" hangingPunct="0">
              <a:spcBef>
                <a:spcPct val="50000"/>
              </a:spcBef>
              <a:buClr>
                <a:srgbClr val="0033CC"/>
              </a:buClr>
              <a:buSzPct val="80000"/>
            </a:pPr>
            <a:r>
              <a:rPr lang="zh-CN" altLang="en-US" sz="2400" dirty="0">
                <a:solidFill>
                  <a:srgbClr val="CC3300"/>
                </a:solidFill>
                <a:latin typeface="华文楷体" panose="02010600040101010101" pitchFamily="2" charset="-122"/>
                <a:ea typeface="宋体" panose="02010600030101010101" pitchFamily="2" charset="-122"/>
                <a:sym typeface="Wingdings" panose="05000000000000000000" pitchFamily="2" charset="2"/>
              </a:rPr>
              <a:t>死锁预防的一种策略：</a:t>
            </a:r>
            <a:endParaRPr lang="zh-CN" altLang="en-US" sz="2400" dirty="0">
              <a:solidFill>
                <a:srgbClr val="CC3300"/>
              </a:solidFill>
              <a:latin typeface="华文楷体" panose="02010600040101010101" pitchFamily="2" charset="-122"/>
              <a:ea typeface="宋体" panose="02010600030101010101" pitchFamily="2" charset="-122"/>
              <a:sym typeface="Wingdings" panose="05000000000000000000" pitchFamily="2" charset="2"/>
            </a:endParaRPr>
          </a:p>
          <a:p>
            <a:pPr lvl="0" indent="0" eaLnBrk="0" hangingPunct="0">
              <a:spcBef>
                <a:spcPct val="50000"/>
              </a:spcBef>
              <a:buClr>
                <a:srgbClr val="0033CC"/>
              </a:buClr>
              <a:buSzPct val="80000"/>
            </a:pPr>
            <a:r>
              <a:rPr lang="zh-CN" altLang="en-US" sz="2400" dirty="0">
                <a:latin typeface="华文楷体" panose="02010600040101010101" pitchFamily="2" charset="-122"/>
                <a:ea typeface="宋体" panose="02010600030101010101" pitchFamily="2" charset="-122"/>
                <a:sym typeface="Wingdings" panose="05000000000000000000" pitchFamily="2" charset="2"/>
              </a:rPr>
              <a:t>等待</a:t>
            </a:r>
            <a:r>
              <a:rPr lang="en-US" altLang="x-none" sz="2400" dirty="0">
                <a:latin typeface="华文楷体" panose="02010600040101010101" pitchFamily="2" charset="-122"/>
                <a:ea typeface="宋体" panose="02010600030101010101" pitchFamily="2" charset="-122"/>
                <a:sym typeface="Wingdings" panose="05000000000000000000" pitchFamily="2" charset="2"/>
              </a:rPr>
              <a:t>—</a:t>
            </a:r>
            <a:r>
              <a:rPr lang="zh-CN" altLang="en-US" sz="2400" dirty="0">
                <a:latin typeface="华文楷体" panose="02010600040101010101" pitchFamily="2" charset="-122"/>
                <a:ea typeface="宋体" panose="02010600030101010101" pitchFamily="2" charset="-122"/>
                <a:sym typeface="Wingdings" panose="05000000000000000000" pitchFamily="2" charset="2"/>
              </a:rPr>
              <a:t>死亡（</a:t>
            </a:r>
            <a:r>
              <a:rPr lang="en-US" altLang="x-none" sz="2400" dirty="0">
                <a:latin typeface="华文楷体" panose="02010600040101010101" pitchFamily="2" charset="-122"/>
                <a:ea typeface="宋体" panose="02010600030101010101" pitchFamily="2" charset="-122"/>
                <a:sym typeface="Wingdings" panose="05000000000000000000" pitchFamily="2" charset="2"/>
              </a:rPr>
              <a:t>Wait-Die</a:t>
            </a:r>
            <a:r>
              <a:rPr lang="zh-CN" altLang="en-US" sz="2400" dirty="0">
                <a:latin typeface="华文楷体" panose="02010600040101010101" pitchFamily="2" charset="-122"/>
                <a:ea typeface="宋体" panose="02010600030101010101" pitchFamily="2" charset="-122"/>
                <a:sym typeface="Wingdings" panose="05000000000000000000" pitchFamily="2" charset="2"/>
              </a:rPr>
              <a:t>）策略；</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lvl="0" indent="0" eaLnBrk="0" hangingPunct="0">
              <a:spcBef>
                <a:spcPct val="50000"/>
              </a:spcBef>
              <a:buClr>
                <a:srgbClr val="0033CC"/>
              </a:buClr>
              <a:buSzPct val="80000"/>
            </a:pPr>
            <a:r>
              <a:rPr lang="zh-CN" altLang="en-US" sz="2400" dirty="0">
                <a:latin typeface="华文楷体" panose="02010600040101010101" pitchFamily="2" charset="-122"/>
                <a:ea typeface="宋体" panose="02010600030101010101" pitchFamily="2" charset="-122"/>
                <a:sym typeface="Wingdings" panose="05000000000000000000" pitchFamily="2" charset="2"/>
              </a:rPr>
              <a:t> </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lvl="0" indent="0" eaLnBrk="0" hangingPunct="0">
              <a:lnSpc>
                <a:spcPct val="150000"/>
              </a:lnSpc>
              <a:spcBef>
                <a:spcPct val="50000"/>
              </a:spcBef>
              <a:buClr>
                <a:srgbClr val="0033CC"/>
              </a:buClr>
              <a:buSzPct val="80000"/>
            </a:pPr>
            <a:r>
              <a:rPr lang="zh-CN" altLang="en-US" sz="2400" dirty="0">
                <a:solidFill>
                  <a:srgbClr val="CC3300"/>
                </a:solidFill>
                <a:latin typeface="华文楷体" panose="02010600040101010101" pitchFamily="2" charset="-122"/>
                <a:ea typeface="宋体" panose="02010600030101010101" pitchFamily="2" charset="-122"/>
              </a:rPr>
              <a:t>描述策略之前的假定：</a:t>
            </a:r>
            <a:r>
              <a:rPr lang="zh-CN" altLang="en-US" sz="2400" dirty="0">
                <a:latin typeface="华文楷体" panose="02010600040101010101" pitchFamily="2" charset="-122"/>
                <a:ea typeface="宋体" panose="02010600030101010101" pitchFamily="2" charset="-122"/>
                <a:sym typeface="Wingdings" panose="05000000000000000000" pitchFamily="2" charset="2"/>
              </a:rPr>
              <a:t>设某事务</a:t>
            </a:r>
            <a:r>
              <a:rPr lang="en-US" altLang="x-none" sz="2400" dirty="0">
                <a:latin typeface="华文楷体" panose="02010600040101010101" pitchFamily="2" charset="-122"/>
                <a:ea typeface="宋体" panose="02010600030101010101" pitchFamily="2" charset="-122"/>
                <a:sym typeface="Wingdings" panose="05000000000000000000" pitchFamily="2" charset="2"/>
              </a:rPr>
              <a:t>B</a:t>
            </a:r>
            <a:r>
              <a:rPr lang="zh-CN" altLang="en-US" sz="2400" dirty="0">
                <a:latin typeface="华文楷体" panose="02010600040101010101" pitchFamily="2" charset="-122"/>
                <a:ea typeface="宋体" panose="02010600030101010101" pitchFamily="2" charset="-122"/>
                <a:sym typeface="Wingdings" panose="05000000000000000000" pitchFamily="2" charset="2"/>
              </a:rPr>
              <a:t>已持有某数据对象的锁，现在</a:t>
            </a:r>
            <a:r>
              <a:rPr lang="en-US" altLang="x-none" sz="2400" dirty="0">
                <a:latin typeface="华文楷体" panose="02010600040101010101" pitchFamily="2" charset="-122"/>
                <a:ea typeface="宋体" panose="02010600030101010101" pitchFamily="2" charset="-122"/>
                <a:sym typeface="Wingdings" panose="05000000000000000000" pitchFamily="2" charset="2"/>
              </a:rPr>
              <a:t>T</a:t>
            </a:r>
            <a:r>
              <a:rPr lang="en-US" altLang="x-none" sz="2400" baseline="-25000" dirty="0">
                <a:latin typeface="华文楷体" panose="02010600040101010101" pitchFamily="2" charset="-122"/>
                <a:ea typeface="宋体" panose="02010600030101010101" pitchFamily="2" charset="-122"/>
                <a:sym typeface="Wingdings" panose="05000000000000000000" pitchFamily="2" charset="2"/>
              </a:rPr>
              <a:t>A</a:t>
            </a:r>
            <a:r>
              <a:rPr lang="zh-CN" altLang="en-US" sz="2400" dirty="0">
                <a:latin typeface="华文楷体" panose="02010600040101010101" pitchFamily="2" charset="-122"/>
                <a:ea typeface="宋体" panose="02010600030101010101" pitchFamily="2" charset="-122"/>
                <a:sym typeface="Wingdings" panose="05000000000000000000" pitchFamily="2" charset="2"/>
              </a:rPr>
              <a:t>申请同一数据对象的锁。</a:t>
            </a:r>
            <a:endParaRPr lang="zh-CN" altLang="en-US" sz="2400" dirty="0">
              <a:latin typeface="华文楷体" panose="02010600040101010101" pitchFamily="2" charset="-122"/>
              <a:ea typeface="宋体" panose="02010600030101010101" pitchFamily="2" charset="-122"/>
            </a:endParaRPr>
          </a:p>
        </p:txBody>
      </p:sp>
      <p:sp>
        <p:nvSpPr>
          <p:cNvPr id="131076" name="Text Box 3"/>
          <p:cNvSpPr txBox="1"/>
          <p:nvPr/>
        </p:nvSpPr>
        <p:spPr>
          <a:xfrm>
            <a:off x="534988" y="1343025"/>
            <a:ext cx="2605087" cy="522288"/>
          </a:xfrm>
          <a:prstGeom prst="rect">
            <a:avLst/>
          </a:prstGeom>
          <a:noFill/>
          <a:ln w="9525">
            <a:noFill/>
          </a:ln>
        </p:spPr>
        <p:txBody>
          <a:bodyPr anchor="t">
            <a:spAutoFit/>
          </a:bodyPr>
          <a:lstStyle/>
          <a:p>
            <a:pPr lvl="0" indent="0" algn="ctr">
              <a:spcBef>
                <a:spcPct val="50000"/>
              </a:spcBef>
              <a:buFont typeface="Wingdings" panose="05000000000000000000" pitchFamily="2" charset="2"/>
              <a:buChar char="p"/>
            </a:pPr>
            <a:r>
              <a:rPr lang="zh-CN" altLang="en-US" sz="2800" dirty="0">
                <a:solidFill>
                  <a:srgbClr val="0033CC"/>
                </a:solidFill>
                <a:latin typeface="宋体" panose="02010600030101010101" pitchFamily="2" charset="-122"/>
                <a:ea typeface="宋体" panose="02010600030101010101" pitchFamily="2" charset="-122"/>
              </a:rPr>
              <a:t> 死锁的预防</a:t>
            </a:r>
            <a:endParaRPr lang="zh-CN" altLang="en-US" sz="2800" dirty="0">
              <a:solidFill>
                <a:srgbClr val="0033CC"/>
              </a:solidFill>
              <a:latin typeface="宋体" panose="02010600030101010101" pitchFamily="2" charset="-122"/>
              <a:ea typeface="宋体" panose="02010600030101010101" pitchFamily="2" charset="-122"/>
            </a:endParaRPr>
          </a:p>
        </p:txBody>
      </p:sp>
    </p:spTree>
  </p:cSld>
  <p:clrMapOvr>
    <a:masterClrMapping/>
  </p:clrMapOvr>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600" dirty="0">
                <a:solidFill>
                  <a:srgbClr val="0033CC"/>
                </a:solidFill>
                <a:latin typeface="Arial" panose="020B0604020202020204" pitchFamily="34" charset="0"/>
                <a:ea typeface="黑体" panose="02010609060101010101" pitchFamily="1" charset="-122"/>
              </a:rPr>
              <a:t>五、数据库系统中的并发</a:t>
            </a:r>
            <a:endParaRPr lang="zh-CN" altLang="en-US" sz="3600" dirty="0">
              <a:solidFill>
                <a:srgbClr val="0033CC"/>
              </a:solidFill>
              <a:latin typeface="Arial" panose="020B0604020202020204" pitchFamily="34" charset="0"/>
              <a:ea typeface="黑体" panose="02010609060101010101" pitchFamily="1" charset="-122"/>
            </a:endParaRPr>
          </a:p>
        </p:txBody>
      </p:sp>
      <p:sp>
        <p:nvSpPr>
          <p:cNvPr id="132098" name="Rectangle 3"/>
          <p:cNvSpPr txBox="1"/>
          <p:nvPr/>
        </p:nvSpPr>
        <p:spPr>
          <a:xfrm>
            <a:off x="517525" y="7620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6</a:t>
            </a:r>
            <a:r>
              <a:rPr lang="zh-CN" altLang="en-US" sz="2800" dirty="0">
                <a:solidFill>
                  <a:srgbClr val="FF0000"/>
                </a:solidFill>
                <a:latin typeface="黑体" panose="02010609060101010101" pitchFamily="1" charset="-122"/>
                <a:ea typeface="黑体" panose="02010609060101010101" pitchFamily="1" charset="-122"/>
              </a:rPr>
              <a:t>、死锁及其预防、检测与处理</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132099" name="Rectangle 2"/>
          <p:cNvSpPr/>
          <p:nvPr/>
        </p:nvSpPr>
        <p:spPr>
          <a:xfrm>
            <a:off x="438150" y="1231900"/>
            <a:ext cx="7416800" cy="525463"/>
          </a:xfrm>
          <a:prstGeom prst="rect">
            <a:avLst/>
          </a:prstGeom>
          <a:noFill/>
          <a:ln w="9525">
            <a:noFill/>
          </a:ln>
        </p:spPr>
        <p:txBody>
          <a:bodyPr lIns="90000" tIns="46800" rIns="90000" bIns="46800" anchor="t">
            <a:spAutoFit/>
          </a:bodyPr>
          <a:lstStyle/>
          <a:p>
            <a:pPr lvl="0" indent="0">
              <a:buFont typeface="Wingdings" panose="05000000000000000000" pitchFamily="2" charset="2"/>
              <a:buChar char="p"/>
            </a:pPr>
            <a:r>
              <a:rPr lang="zh-CN" altLang="en-US" sz="2800" dirty="0">
                <a:solidFill>
                  <a:srgbClr val="0033CC"/>
                </a:solidFill>
                <a:latin typeface="宋体" panose="02010600030101010101" pitchFamily="2" charset="-122"/>
                <a:ea typeface="宋体" panose="02010600030101010101" pitchFamily="2" charset="-122"/>
              </a:rPr>
              <a:t>等待</a:t>
            </a:r>
            <a:r>
              <a:rPr lang="en-US" altLang="x-none" sz="2800" dirty="0">
                <a:solidFill>
                  <a:srgbClr val="0033CC"/>
                </a:solidFill>
                <a:latin typeface="宋体" panose="02010600030101010101" pitchFamily="2" charset="-122"/>
                <a:ea typeface="宋体" panose="02010600030101010101" pitchFamily="2" charset="-122"/>
              </a:rPr>
              <a:t>—</a:t>
            </a:r>
            <a:r>
              <a:rPr lang="zh-CN" altLang="en-US" sz="2800" dirty="0">
                <a:solidFill>
                  <a:srgbClr val="0033CC"/>
                </a:solidFill>
                <a:latin typeface="宋体" panose="02010600030101010101" pitchFamily="2" charset="-122"/>
                <a:ea typeface="宋体" panose="02010600030101010101" pitchFamily="2" charset="-122"/>
              </a:rPr>
              <a:t>死亡（</a:t>
            </a:r>
            <a:r>
              <a:rPr lang="en-US" altLang="x-none" sz="2800" dirty="0">
                <a:solidFill>
                  <a:srgbClr val="0033CC"/>
                </a:solidFill>
                <a:latin typeface="宋体" panose="02010600030101010101" pitchFamily="2" charset="-122"/>
                <a:ea typeface="宋体" panose="02010600030101010101" pitchFamily="2" charset="-122"/>
              </a:rPr>
              <a:t>Wait-Die</a:t>
            </a:r>
            <a:r>
              <a:rPr lang="zh-CN" altLang="en-US" sz="2800" dirty="0">
                <a:solidFill>
                  <a:srgbClr val="0033CC"/>
                </a:solidFill>
                <a:latin typeface="宋体" panose="02010600030101010101" pitchFamily="2" charset="-122"/>
                <a:ea typeface="宋体" panose="02010600030101010101" pitchFamily="2" charset="-122"/>
              </a:rPr>
              <a:t>）策略</a:t>
            </a:r>
            <a:endParaRPr lang="zh-CN" altLang="en-US" sz="2800" dirty="0">
              <a:solidFill>
                <a:srgbClr val="0033CC"/>
              </a:solidFill>
              <a:latin typeface="宋体" panose="02010600030101010101" pitchFamily="2" charset="-122"/>
              <a:ea typeface="宋体" panose="02010600030101010101" pitchFamily="2" charset="-122"/>
            </a:endParaRPr>
          </a:p>
        </p:txBody>
      </p:sp>
      <p:sp>
        <p:nvSpPr>
          <p:cNvPr id="135173" name="Text Box 4"/>
          <p:cNvSpPr txBox="1"/>
          <p:nvPr/>
        </p:nvSpPr>
        <p:spPr>
          <a:xfrm>
            <a:off x="447675" y="1781175"/>
            <a:ext cx="8370888" cy="4405313"/>
          </a:xfrm>
          <a:prstGeom prst="rect">
            <a:avLst/>
          </a:prstGeom>
          <a:solidFill>
            <a:schemeClr val="bg1"/>
          </a:solidFill>
          <a:ln w="9525">
            <a:noFill/>
          </a:ln>
        </p:spPr>
        <p:txBody>
          <a:bodyPr anchor="t">
            <a:spAutoFit/>
          </a:bodyPr>
          <a:lstStyle/>
          <a:p>
            <a:pPr lvl="0" indent="0"/>
            <a:r>
              <a:rPr lang="en-US" altLang="x-none" sz="2400" dirty="0">
                <a:solidFill>
                  <a:schemeClr val="accent2"/>
                </a:solidFill>
                <a:latin typeface="方正姚体" panose="02010601030101010101" pitchFamily="2" charset="-122"/>
                <a:ea typeface="方正姚体" panose="02010601030101010101" pitchFamily="2" charset="-122"/>
                <a:sym typeface="Wingdings" panose="05000000000000000000" pitchFamily="2" charset="2"/>
              </a:rPr>
              <a:t>        </a:t>
            </a:r>
            <a:r>
              <a:rPr lang="en-US" altLang="x-none" sz="24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rPr>
              <a:t>if    ts(T</a:t>
            </a:r>
            <a:r>
              <a:rPr lang="en-US" altLang="x-none" sz="2400" baseline="-250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rPr>
              <a:t>A</a:t>
            </a:r>
            <a:r>
              <a:rPr lang="en-US" altLang="x-none" sz="24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rPr>
              <a:t>) </a:t>
            </a:r>
            <a:r>
              <a:rPr lang="zh-CN" altLang="en-US" sz="24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rPr>
              <a:t>＜ </a:t>
            </a:r>
            <a:r>
              <a:rPr lang="en-US" altLang="x-none" sz="24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rPr>
              <a:t>ts(T</a:t>
            </a:r>
            <a:r>
              <a:rPr lang="en-US" altLang="x-none" sz="2400" baseline="-250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rPr>
              <a:t>B</a:t>
            </a:r>
            <a:r>
              <a:rPr lang="en-US" altLang="x-none" sz="24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rPr>
              <a:t>)       T</a:t>
            </a:r>
            <a:r>
              <a:rPr lang="en-US" altLang="x-none" sz="2400" baseline="-250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rPr>
              <a:t>A</a:t>
            </a:r>
            <a:r>
              <a:rPr lang="en-US" altLang="x-none" sz="24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rPr>
              <a:t> waits; /*  </a:t>
            </a:r>
            <a:r>
              <a:rPr lang="en-US" altLang="x-none" sz="2400" dirty="0">
                <a:solidFill>
                  <a:srgbClr val="0000CC"/>
                </a:solidFill>
                <a:latin typeface="宋体" panose="02010600030101010101" pitchFamily="2" charset="-122"/>
                <a:ea typeface="宋体" panose="02010600030101010101" pitchFamily="2" charset="-122"/>
                <a:sym typeface="Wingdings" panose="05000000000000000000" pitchFamily="2" charset="2"/>
              </a:rPr>
              <a:t>waitT</a:t>
            </a:r>
            <a:r>
              <a:rPr lang="en-US" altLang="x-none" sz="2400" baseline="-25000" dirty="0">
                <a:solidFill>
                  <a:srgbClr val="0000CC"/>
                </a:solidFill>
                <a:latin typeface="宋体" panose="02010600030101010101" pitchFamily="2" charset="-122"/>
                <a:ea typeface="宋体" panose="02010600030101010101" pitchFamily="2" charset="-122"/>
                <a:sym typeface="Wingdings" panose="05000000000000000000" pitchFamily="2" charset="2"/>
              </a:rPr>
              <a:t>B</a:t>
            </a:r>
            <a:r>
              <a:rPr lang="zh-CN" altLang="en-US" sz="2400" dirty="0">
                <a:solidFill>
                  <a:srgbClr val="0000CC"/>
                </a:solidFill>
                <a:latin typeface="宋体" panose="02010600030101010101" pitchFamily="2" charset="-122"/>
                <a:ea typeface="宋体" panose="02010600030101010101" pitchFamily="2" charset="-122"/>
                <a:sym typeface="Wingdings" panose="05000000000000000000" pitchFamily="2" charset="2"/>
              </a:rPr>
              <a:t>释放锁</a:t>
            </a:r>
            <a:r>
              <a:rPr lang="zh-CN" altLang="en-US" sz="24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rPr>
              <a:t> *</a:t>
            </a:r>
            <a:r>
              <a:rPr lang="en-US" altLang="x-none" sz="24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rPr>
              <a:t>/</a:t>
            </a:r>
            <a:endParaRPr lang="en-US" altLang="x-none" sz="24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endParaRPr>
          </a:p>
          <a:p>
            <a:pPr lvl="0" indent="0"/>
            <a:r>
              <a:rPr lang="en-US" altLang="x-none" sz="24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rPr>
              <a:t>        else</a:t>
            </a:r>
            <a:endParaRPr lang="en-US" altLang="x-none" sz="24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endParaRPr>
          </a:p>
          <a:p>
            <a:pPr lvl="0" indent="0"/>
            <a:r>
              <a:rPr lang="en-US" altLang="x-none" sz="24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rPr>
              <a:t>        {        rollback  T</a:t>
            </a:r>
            <a:r>
              <a:rPr lang="en-US" altLang="x-none" sz="2400" baseline="-250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rPr>
              <a:t>A</a:t>
            </a:r>
            <a:r>
              <a:rPr lang="en-US" altLang="x-none" sz="24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rPr>
              <a:t>;                                  /* die  */</a:t>
            </a:r>
            <a:endParaRPr lang="en-US" altLang="x-none" sz="24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endParaRPr>
          </a:p>
          <a:p>
            <a:pPr lvl="0" indent="0"/>
            <a:r>
              <a:rPr lang="en-US" altLang="x-none" sz="24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rPr>
              <a:t>                  restart  T</a:t>
            </a:r>
            <a:r>
              <a:rPr lang="en-US" altLang="x-none" sz="2400" baseline="-250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rPr>
              <a:t>A</a:t>
            </a:r>
            <a:r>
              <a:rPr lang="en-US" altLang="x-none" sz="24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rPr>
              <a:t> with the same ts(T</a:t>
            </a:r>
            <a:r>
              <a:rPr lang="en-US" altLang="x-none" sz="2400" baseline="-250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rPr>
              <a:t>A</a:t>
            </a:r>
            <a:r>
              <a:rPr lang="en-US" altLang="x-none" sz="24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rPr>
              <a:t>);        }</a:t>
            </a:r>
            <a:endParaRPr lang="en-US" altLang="x-none" sz="2400" dirty="0">
              <a:solidFill>
                <a:srgbClr val="0000CC"/>
              </a:solidFill>
              <a:latin typeface="Times New Roman" panose="02020603050405020304" pitchFamily="2" charset="0"/>
              <a:ea typeface="方正姚体" panose="02010601030101010101" pitchFamily="2" charset="-122"/>
              <a:sym typeface="Wingdings" panose="05000000000000000000" pitchFamily="2" charset="2"/>
            </a:endParaRPr>
          </a:p>
          <a:p>
            <a:pPr lvl="0" indent="0">
              <a:lnSpc>
                <a:spcPct val="50000"/>
              </a:lnSpc>
            </a:pPr>
            <a:endParaRPr lang="en-US" altLang="x-none" sz="2200" dirty="0">
              <a:latin typeface="华文楷体" panose="02010600040101010101" pitchFamily="2" charset="-122"/>
              <a:ea typeface="华文楷体" panose="02010600040101010101" pitchFamily="2" charset="-122"/>
              <a:sym typeface="Wingdings" panose="05000000000000000000" pitchFamily="2" charset="2"/>
            </a:endParaRPr>
          </a:p>
          <a:p>
            <a:pPr lvl="0" indent="0"/>
            <a:r>
              <a:rPr lang="zh-CN" altLang="en-US" sz="2200" dirty="0">
                <a:latin typeface="华文楷体" panose="02010600040101010101" pitchFamily="2" charset="-122"/>
                <a:ea typeface="华文楷体" panose="02010600040101010101" pitchFamily="2" charset="-122"/>
                <a:sym typeface="Wingdings" panose="05000000000000000000" pitchFamily="2" charset="2"/>
              </a:rPr>
              <a:t>说明： </a:t>
            </a:r>
            <a:endParaRPr lang="zh-CN" altLang="en-US" sz="2200" dirty="0">
              <a:latin typeface="华文楷体" panose="02010600040101010101" pitchFamily="2" charset="-122"/>
              <a:ea typeface="华文楷体" panose="02010600040101010101" pitchFamily="2" charset="-122"/>
              <a:sym typeface="Wingdings" panose="05000000000000000000" pitchFamily="2" charset="2"/>
            </a:endParaRPr>
          </a:p>
          <a:p>
            <a:pPr lvl="0" indent="0"/>
            <a:r>
              <a:rPr lang="zh-CN" altLang="en-US" sz="2200" dirty="0">
                <a:latin typeface="华文楷体" panose="02010600040101010101" pitchFamily="2" charset="-122"/>
                <a:ea typeface="华文楷体" panose="02010600040101010101" pitchFamily="2" charset="-122"/>
                <a:sym typeface="Wingdings" panose="05000000000000000000" pitchFamily="2" charset="2"/>
              </a:rPr>
              <a:t>① 以上规则说明，总是年轻的事务等待年老的事务。</a:t>
            </a:r>
            <a:endParaRPr lang="zh-CN" altLang="en-US" sz="2200" dirty="0">
              <a:latin typeface="华文楷体" panose="02010600040101010101" pitchFamily="2" charset="-122"/>
              <a:ea typeface="华文楷体" panose="02010600040101010101" pitchFamily="2" charset="-122"/>
              <a:sym typeface="Wingdings" panose="05000000000000000000" pitchFamily="2" charset="2"/>
            </a:endParaRPr>
          </a:p>
          <a:p>
            <a:pPr lvl="0" indent="0"/>
            <a:r>
              <a:rPr lang="zh-CN" altLang="en-US" sz="2200" dirty="0">
                <a:latin typeface="华文楷体" panose="02010600040101010101" pitchFamily="2" charset="-122"/>
                <a:ea typeface="华文楷体" panose="02010600040101010101" pitchFamily="2" charset="-122"/>
                <a:sym typeface="Wingdings" panose="05000000000000000000" pitchFamily="2" charset="2"/>
              </a:rPr>
              <a:t>年轻事务被回退，释放占用资源，故</a:t>
            </a:r>
            <a:r>
              <a:rPr lang="zh-CN" altLang="en-US" sz="2200" dirty="0">
                <a:solidFill>
                  <a:srgbClr val="A50021"/>
                </a:solidFill>
                <a:latin typeface="华文楷体" panose="02010600040101010101" pitchFamily="2" charset="-122"/>
                <a:ea typeface="华文楷体" panose="02010600040101010101" pitchFamily="2" charset="-122"/>
                <a:sym typeface="Wingdings" panose="05000000000000000000" pitchFamily="2" charset="2"/>
              </a:rPr>
              <a:t>不会循环等待</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a:t>
            </a:r>
            <a:r>
              <a:rPr lang="zh-CN" altLang="en-US" sz="2200" dirty="0">
                <a:solidFill>
                  <a:srgbClr val="A50021"/>
                </a:solidFill>
                <a:latin typeface="华文楷体" panose="02010600040101010101" pitchFamily="2" charset="-122"/>
                <a:ea typeface="华文楷体" panose="02010600040101010101" pitchFamily="2" charset="-122"/>
                <a:sym typeface="Wingdings" panose="05000000000000000000" pitchFamily="2" charset="2"/>
              </a:rPr>
              <a:t>从而避免死锁</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a:t>
            </a:r>
            <a:endParaRPr lang="zh-CN" altLang="en-US" sz="2200" dirty="0">
              <a:latin typeface="华文楷体" panose="02010600040101010101" pitchFamily="2" charset="-122"/>
              <a:ea typeface="华文楷体" panose="02010600040101010101" pitchFamily="2" charset="-122"/>
              <a:sym typeface="Wingdings" panose="05000000000000000000" pitchFamily="2" charset="2"/>
            </a:endParaRPr>
          </a:p>
          <a:p>
            <a:pPr lvl="0" indent="0"/>
            <a:r>
              <a:rPr lang="zh-CN" altLang="en-US" sz="2200" dirty="0">
                <a:latin typeface="华文楷体" panose="02010600040101010101" pitchFamily="2" charset="-122"/>
                <a:ea typeface="华文楷体" panose="02010600040101010101" pitchFamily="2" charset="-122"/>
                <a:sym typeface="Wingdings" panose="05000000000000000000" pitchFamily="2" charset="2"/>
              </a:rPr>
              <a:t>② 因年轻而遭回退的事务，由于重启动时仍用以前的</a:t>
            </a:r>
            <a:r>
              <a:rPr lang="en-US" altLang="x-none" sz="2200" dirty="0">
                <a:latin typeface="华文楷体" panose="02010600040101010101" pitchFamily="2" charset="-122"/>
                <a:ea typeface="华文楷体" panose="02010600040101010101" pitchFamily="2" charset="-122"/>
                <a:sym typeface="Wingdings" panose="05000000000000000000" pitchFamily="2" charset="2"/>
              </a:rPr>
              <a:t>ts</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，故总会变成年老的事务而等待。这样可保证每个事务最终总会由于时间戳早而成为优先级高的事务，从而能获得它所需要的锁。</a:t>
            </a:r>
            <a:endParaRPr lang="zh-CN" altLang="en-US" sz="2200" dirty="0">
              <a:latin typeface="华文楷体" panose="02010600040101010101" pitchFamily="2" charset="-122"/>
              <a:ea typeface="华文楷体" panose="02010600040101010101" pitchFamily="2" charset="-122"/>
              <a:sym typeface="Wingdings" panose="05000000000000000000" pitchFamily="2" charset="2"/>
            </a:endParaRPr>
          </a:p>
          <a:p>
            <a:pPr lvl="0" indent="0"/>
            <a:r>
              <a:rPr lang="zh-CN" altLang="en-US" sz="2200" dirty="0">
                <a:latin typeface="华文楷体" panose="02010600040101010101" pitchFamily="2" charset="-122"/>
                <a:ea typeface="华文楷体" panose="02010600040101010101" pitchFamily="2" charset="-122"/>
                <a:sym typeface="Wingdings" panose="05000000000000000000" pitchFamily="2" charset="2"/>
              </a:rPr>
              <a:t>③ 一个事务一旦获得它所需的所有锁而不再申请锁时，它就不会有被回退的危险。</a:t>
            </a:r>
            <a:endParaRPr lang="zh-CN" altLang="en-US" sz="2200" dirty="0">
              <a:latin typeface="华文楷体" panose="02010600040101010101" pitchFamily="2" charset="-122"/>
              <a:ea typeface="华文楷体" panose="02010600040101010101" pitchFamily="2" charset="-122"/>
              <a:sym typeface="Wingdings" panose="05000000000000000000" pitchFamily="2" charset="2"/>
            </a:endParaRPr>
          </a:p>
        </p:txBody>
      </p:sp>
      <p:sp>
        <p:nvSpPr>
          <p:cNvPr id="132101" name="Rectangle 5"/>
          <p:cNvSpPr/>
          <p:nvPr/>
        </p:nvSpPr>
        <p:spPr>
          <a:xfrm>
            <a:off x="703263" y="1843088"/>
            <a:ext cx="7993062" cy="1535112"/>
          </a:xfrm>
          <a:prstGeom prst="rect">
            <a:avLst/>
          </a:prstGeom>
          <a:noFill/>
          <a:ln w="28575" cap="flat" cmpd="sng">
            <a:solidFill>
              <a:srgbClr val="339966"/>
            </a:solidFill>
            <a:prstDash val="solid"/>
            <a:miter/>
            <a:headEnd type="none" w="med" len="med"/>
            <a:tailEnd type="none" w="med" len="med"/>
          </a:ln>
        </p:spPr>
        <p:txBody>
          <a:bodyPr wrap="none" lIns="90000" tIns="46800" rIns="90000" bIns="46800" anchor="ctr"/>
          <a:lstStyle/>
          <a:p>
            <a:pPr lvl="0" indent="0"/>
            <a:endParaRPr lang="zh-CN" altLang="en-US" dirty="0">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35173">
                                            <p:txEl>
                                              <p:pRg st="5" end="5"/>
                                            </p:txEl>
                                          </p:spTgt>
                                        </p:tgtEl>
                                        <p:attrNameLst>
                                          <p:attrName>style.visibility</p:attrName>
                                        </p:attrNameLst>
                                      </p:cBhvr>
                                      <p:to>
                                        <p:strVal val="visible"/>
                                      </p:to>
                                    </p:set>
                                    <p:animEffect transition="in" filter="wipe(down)">
                                      <p:cBhvr>
                                        <p:cTn id="7" dur="500"/>
                                        <p:tgtEl>
                                          <p:spTgt spid="135173">
                                            <p:txEl>
                                              <p:pRg st="5" end="5"/>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135173">
                                            <p:txEl>
                                              <p:pRg st="6" end="6"/>
                                            </p:txEl>
                                          </p:spTgt>
                                        </p:tgtEl>
                                        <p:attrNameLst>
                                          <p:attrName>style.visibility</p:attrName>
                                        </p:attrNameLst>
                                      </p:cBhvr>
                                      <p:to>
                                        <p:strVal val="visible"/>
                                      </p:to>
                                    </p:set>
                                    <p:animEffect transition="in" filter="wipe(down)">
                                      <p:cBhvr>
                                        <p:cTn id="10" dur="500"/>
                                        <p:tgtEl>
                                          <p:spTgt spid="135173">
                                            <p:txEl>
                                              <p:pRg st="6" end="6"/>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135173">
                                            <p:txEl>
                                              <p:pRg st="7" end="7"/>
                                            </p:txEl>
                                          </p:spTgt>
                                        </p:tgtEl>
                                        <p:attrNameLst>
                                          <p:attrName>style.visibility</p:attrName>
                                        </p:attrNameLst>
                                      </p:cBhvr>
                                      <p:to>
                                        <p:strVal val="visible"/>
                                      </p:to>
                                    </p:set>
                                    <p:animEffect transition="in" filter="wipe(down)">
                                      <p:cBhvr>
                                        <p:cTn id="13" dur="500"/>
                                        <p:tgtEl>
                                          <p:spTgt spid="135173">
                                            <p:txEl>
                                              <p:pRg st="7" end="7"/>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135173">
                                            <p:txEl>
                                              <p:pRg st="8" end="8"/>
                                            </p:txEl>
                                          </p:spTgt>
                                        </p:tgtEl>
                                        <p:attrNameLst>
                                          <p:attrName>style.visibility</p:attrName>
                                        </p:attrNameLst>
                                      </p:cBhvr>
                                      <p:to>
                                        <p:strVal val="visible"/>
                                      </p:to>
                                    </p:set>
                                    <p:animEffect transition="in" filter="wipe(down)">
                                      <p:cBhvr>
                                        <p:cTn id="16" dur="500"/>
                                        <p:tgtEl>
                                          <p:spTgt spid="135173">
                                            <p:txEl>
                                              <p:pRg st="8" end="8"/>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135173">
                                            <p:txEl>
                                              <p:pRg st="9" end="9"/>
                                            </p:txEl>
                                          </p:spTgt>
                                        </p:tgtEl>
                                        <p:attrNameLst>
                                          <p:attrName>style.visibility</p:attrName>
                                        </p:attrNameLst>
                                      </p:cBhvr>
                                      <p:to>
                                        <p:strVal val="visible"/>
                                      </p:to>
                                    </p:set>
                                    <p:animEffect transition="in" filter="wipe(down)">
                                      <p:cBhvr>
                                        <p:cTn id="19" dur="500"/>
                                        <p:tgtEl>
                                          <p:spTgt spid="13517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3"/>
          <p:cNvSpPr txBox="1"/>
          <p:nvPr/>
        </p:nvSpPr>
        <p:spPr>
          <a:xfrm>
            <a:off x="528638" y="1858963"/>
            <a:ext cx="8351837" cy="4435475"/>
          </a:xfrm>
          <a:prstGeom prst="rect">
            <a:avLst/>
          </a:prstGeom>
          <a:noFill/>
          <a:ln w="9525">
            <a:noFill/>
          </a:ln>
        </p:spPr>
        <p:txBody>
          <a:bodyPr anchor="t"/>
          <a:lstStyle/>
          <a:p>
            <a:pPr marL="342900" lvl="0" indent="-342900">
              <a:lnSpc>
                <a:spcPct val="90000"/>
              </a:lnSpc>
              <a:spcBef>
                <a:spcPct val="50000"/>
              </a:spcBef>
              <a:buClr>
                <a:srgbClr val="0033CC"/>
              </a:buClr>
              <a:buSzPct val="80000"/>
              <a:buFont typeface="Wingdings" panose="05000000000000000000" pitchFamily="2" charset="2"/>
              <a:buChar char="u"/>
            </a:pPr>
            <a:r>
              <a:rPr lang="zh-CN" altLang="en-US" sz="2400" dirty="0">
                <a:latin typeface="Arial" panose="020B0604020202020204" pitchFamily="34" charset="0"/>
                <a:ea typeface="宋体" panose="02010600030101010101" pitchFamily="2" charset="-122"/>
                <a:sym typeface="Wingdings" panose="05000000000000000000" pitchFamily="2" charset="2"/>
              </a:rPr>
              <a:t>检测死锁的方法：</a:t>
            </a:r>
            <a:endParaRPr lang="zh-CN" altLang="en-US" sz="2400" dirty="0">
              <a:latin typeface="Arial" panose="020B0604020202020204" pitchFamily="34" charset="0"/>
              <a:ea typeface="宋体" panose="02010600030101010101" pitchFamily="2" charset="-122"/>
              <a:sym typeface="Wingdings" panose="05000000000000000000" pitchFamily="2" charset="2"/>
            </a:endParaRPr>
          </a:p>
          <a:p>
            <a:pPr marL="342900" lvl="0" indent="-342900">
              <a:lnSpc>
                <a:spcPct val="90000"/>
              </a:lnSpc>
              <a:spcBef>
                <a:spcPct val="50000"/>
              </a:spcBef>
              <a:buClr>
                <a:srgbClr val="0033CC"/>
              </a:buClr>
              <a:buSzPct val="80000"/>
            </a:pPr>
            <a:r>
              <a:rPr lang="zh-CN" altLang="en-US" sz="2400" dirty="0">
                <a:latin typeface="Arial" panose="020B0604020202020204" pitchFamily="34" charset="0"/>
                <a:ea typeface="宋体" panose="02010600030101010101" pitchFamily="2" charset="-122"/>
                <a:sym typeface="Wingdings" panose="05000000000000000000" pitchFamily="2" charset="2"/>
              </a:rPr>
              <a:t>① 超时法； ② 等待图 </a:t>
            </a:r>
            <a:r>
              <a:rPr lang="en-US" altLang="x-none" sz="2400" dirty="0">
                <a:latin typeface="Arial" panose="020B0604020202020204" pitchFamily="34" charset="0"/>
                <a:ea typeface="宋体" panose="02010600030101010101" pitchFamily="2" charset="-122"/>
                <a:sym typeface="Wingdings" panose="05000000000000000000" pitchFamily="2" charset="2"/>
              </a:rPr>
              <a:t>(Wait-for Graph) </a:t>
            </a:r>
            <a:r>
              <a:rPr lang="zh-CN" altLang="en-US" sz="2400" dirty="0">
                <a:latin typeface="Arial" panose="020B0604020202020204" pitchFamily="34" charset="0"/>
                <a:ea typeface="宋体" panose="02010600030101010101" pitchFamily="2" charset="-122"/>
                <a:sym typeface="Wingdings" panose="05000000000000000000" pitchFamily="2" charset="2"/>
              </a:rPr>
              <a:t>法。</a:t>
            </a:r>
            <a:endParaRPr lang="zh-CN" altLang="en-US" sz="2400" dirty="0">
              <a:latin typeface="Arial" panose="020B0604020202020204" pitchFamily="34" charset="0"/>
              <a:ea typeface="宋体" panose="02010600030101010101" pitchFamily="2" charset="-122"/>
              <a:sym typeface="Wingdings" panose="05000000000000000000" pitchFamily="2" charset="2"/>
            </a:endParaRPr>
          </a:p>
          <a:p>
            <a:pPr marL="342900" lvl="0" indent="-342900">
              <a:lnSpc>
                <a:spcPct val="90000"/>
              </a:lnSpc>
              <a:spcBef>
                <a:spcPct val="50000"/>
              </a:spcBef>
              <a:buClr>
                <a:srgbClr val="0033CC"/>
              </a:buClr>
              <a:buSzPct val="80000"/>
            </a:pPr>
            <a:r>
              <a:rPr lang="zh-CN" altLang="en-US" sz="2400" dirty="0">
                <a:latin typeface="Arial" panose="020B0604020202020204" pitchFamily="34" charset="0"/>
                <a:ea typeface="宋体" panose="02010600030101010101" pitchFamily="2" charset="-122"/>
              </a:rPr>
              <a:t>（</a:t>
            </a:r>
            <a:r>
              <a:rPr lang="en-US" altLang="x-none" sz="2400" dirty="0">
                <a:latin typeface="Arial" panose="020B0604020202020204" pitchFamily="34" charset="0"/>
                <a:ea typeface="宋体" panose="02010600030101010101" pitchFamily="2" charset="-122"/>
              </a:rPr>
              <a:t>1</a:t>
            </a:r>
            <a:r>
              <a:rPr lang="zh-CN" altLang="en-US" sz="2400" dirty="0">
                <a:latin typeface="Arial" panose="020B0604020202020204" pitchFamily="34" charset="0"/>
                <a:ea typeface="宋体" panose="02010600030101010101" pitchFamily="2" charset="-122"/>
              </a:rPr>
              <a:t>）超时法</a:t>
            </a:r>
            <a:endParaRPr lang="zh-CN" altLang="en-US" sz="2400" dirty="0">
              <a:latin typeface="Arial" panose="020B0604020202020204" pitchFamily="34" charset="0"/>
              <a:ea typeface="宋体" panose="02010600030101010101" pitchFamily="2" charset="-122"/>
            </a:endParaRPr>
          </a:p>
          <a:p>
            <a:pPr marL="342900" lvl="0" indent="-342900">
              <a:lnSpc>
                <a:spcPct val="125000"/>
              </a:lnSpc>
              <a:spcBef>
                <a:spcPct val="50000"/>
              </a:spcBef>
              <a:buClr>
                <a:srgbClr val="0033CC"/>
              </a:buClr>
              <a:buSzPct val="80000"/>
            </a:pPr>
            <a:r>
              <a:rPr lang="zh-CN" altLang="en-US" sz="2400" dirty="0">
                <a:latin typeface="Arial" panose="020B0604020202020204" pitchFamily="34" charset="0"/>
                <a:ea typeface="宋体" panose="02010600030101010101" pitchFamily="2" charset="-122"/>
              </a:rPr>
              <a:t>方法：如果一个事务等待锁的时间太长，超过事先设定的时限，则主观认定其处于循环等待中而撤销之（</a:t>
            </a:r>
            <a:r>
              <a:rPr lang="en-US" altLang="x-none" sz="2400" dirty="0">
                <a:latin typeface="Arial" panose="020B0604020202020204" pitchFamily="34" charset="0"/>
                <a:ea typeface="宋体" panose="02010600030101010101" pitchFamily="2" charset="-122"/>
              </a:rPr>
              <a:t>Rollback</a:t>
            </a:r>
            <a:r>
              <a:rPr lang="zh-CN" altLang="en-US" sz="2400" dirty="0">
                <a:latin typeface="Arial" panose="020B0604020202020204" pitchFamily="34" charset="0"/>
                <a:ea typeface="宋体" panose="02010600030101010101" pitchFamily="2" charset="-122"/>
              </a:rPr>
              <a:t>）。 </a:t>
            </a:r>
            <a:endParaRPr lang="zh-CN" altLang="en-US" sz="2400" dirty="0">
              <a:latin typeface="Arial" panose="020B0604020202020204" pitchFamily="34" charset="0"/>
              <a:ea typeface="宋体" panose="02010600030101010101" pitchFamily="2" charset="-122"/>
            </a:endParaRPr>
          </a:p>
          <a:p>
            <a:pPr marL="342900" lvl="0" indent="-342900">
              <a:lnSpc>
                <a:spcPct val="125000"/>
              </a:lnSpc>
              <a:spcBef>
                <a:spcPct val="50000"/>
              </a:spcBef>
              <a:buClr>
                <a:srgbClr val="0033CC"/>
              </a:buClr>
              <a:buSzPct val="80000"/>
            </a:pPr>
            <a:r>
              <a:rPr lang="zh-CN" altLang="en-US" sz="2400" dirty="0">
                <a:latin typeface="Arial" panose="020B0604020202020204" pitchFamily="34" charset="0"/>
                <a:ea typeface="宋体" panose="02010600030101010101" pitchFamily="2" charset="-122"/>
              </a:rPr>
              <a:t>说明：① 很晚才能发现死锁；② 可能存在误判；③ 超时时间设置问题。设置越小，误判机会越大；设置太大，则发现死锁的滞后时间会过长。</a:t>
            </a:r>
            <a:endParaRPr lang="zh-CN" altLang="en-US" sz="2400" dirty="0">
              <a:latin typeface="Arial" panose="020B0604020202020204" pitchFamily="34" charset="0"/>
              <a:ea typeface="宋体" panose="02010600030101010101" pitchFamily="2" charset="-122"/>
            </a:endParaRPr>
          </a:p>
        </p:txBody>
      </p:sp>
      <p:sp>
        <p:nvSpPr>
          <p:cNvPr id="133122"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600" dirty="0">
                <a:solidFill>
                  <a:srgbClr val="0033CC"/>
                </a:solidFill>
                <a:latin typeface="Arial" panose="020B0604020202020204" pitchFamily="34" charset="0"/>
                <a:ea typeface="黑体" panose="02010609060101010101" pitchFamily="1" charset="-122"/>
              </a:rPr>
              <a:t>五、数据库系统中的并发</a:t>
            </a:r>
            <a:endParaRPr lang="zh-CN" altLang="en-US" sz="3600" dirty="0">
              <a:solidFill>
                <a:srgbClr val="0033CC"/>
              </a:solidFill>
              <a:latin typeface="Arial" panose="020B0604020202020204" pitchFamily="34" charset="0"/>
              <a:ea typeface="黑体" panose="02010609060101010101" pitchFamily="1" charset="-122"/>
            </a:endParaRPr>
          </a:p>
        </p:txBody>
      </p:sp>
      <p:sp>
        <p:nvSpPr>
          <p:cNvPr id="133123" name="Rectangle 3"/>
          <p:cNvSpPr txBox="1"/>
          <p:nvPr/>
        </p:nvSpPr>
        <p:spPr>
          <a:xfrm>
            <a:off x="517525" y="7620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6</a:t>
            </a:r>
            <a:r>
              <a:rPr lang="zh-CN" altLang="en-US" sz="2800" dirty="0">
                <a:solidFill>
                  <a:srgbClr val="FF0000"/>
                </a:solidFill>
                <a:latin typeface="黑体" panose="02010609060101010101" pitchFamily="1" charset="-122"/>
                <a:ea typeface="黑体" panose="02010609060101010101" pitchFamily="1" charset="-122"/>
              </a:rPr>
              <a:t>、死锁及其预防、检测与处理</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133124" name="Rectangle 2"/>
          <p:cNvSpPr/>
          <p:nvPr/>
        </p:nvSpPr>
        <p:spPr>
          <a:xfrm>
            <a:off x="484188" y="1277938"/>
            <a:ext cx="7416800" cy="525462"/>
          </a:xfrm>
          <a:prstGeom prst="rect">
            <a:avLst/>
          </a:prstGeom>
          <a:noFill/>
          <a:ln w="9525">
            <a:noFill/>
          </a:ln>
        </p:spPr>
        <p:txBody>
          <a:bodyPr lIns="90000" tIns="46800" rIns="90000" bIns="46800" anchor="t">
            <a:spAutoFit/>
          </a:bodyPr>
          <a:lstStyle/>
          <a:p>
            <a:pPr lvl="0" indent="0">
              <a:buFont typeface="Wingdings" panose="05000000000000000000" pitchFamily="2" charset="2"/>
              <a:buChar char="p"/>
            </a:pPr>
            <a:r>
              <a:rPr lang="zh-CN" altLang="en-US" sz="2800" dirty="0">
                <a:solidFill>
                  <a:srgbClr val="0033CC"/>
                </a:solidFill>
                <a:latin typeface="宋体" panose="02010600030101010101" pitchFamily="2" charset="-122"/>
                <a:ea typeface="宋体" panose="02010600030101010101" pitchFamily="2" charset="-122"/>
              </a:rPr>
              <a:t> 死锁的检测</a:t>
            </a:r>
            <a:endParaRPr lang="zh-CN" altLang="en-US" sz="2800" dirty="0">
              <a:solidFill>
                <a:srgbClr val="0033CC"/>
              </a:solidFill>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6194">
                                            <p:txEl>
                                              <p:pRg st="0" end="0"/>
                                            </p:txEl>
                                          </p:spTgt>
                                        </p:tgtEl>
                                        <p:attrNameLst>
                                          <p:attrName>style.visibility</p:attrName>
                                        </p:attrNameLst>
                                      </p:cBhvr>
                                      <p:to>
                                        <p:strVal val="visible"/>
                                      </p:to>
                                    </p:set>
                                    <p:animEffect transition="in" filter="dissolve">
                                      <p:cBhvr>
                                        <p:cTn id="7" dur="500"/>
                                        <p:tgtEl>
                                          <p:spTgt spid="13619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6194">
                                            <p:txEl>
                                              <p:pRg st="1" end="1"/>
                                            </p:txEl>
                                          </p:spTgt>
                                        </p:tgtEl>
                                        <p:attrNameLst>
                                          <p:attrName>style.visibility</p:attrName>
                                        </p:attrNameLst>
                                      </p:cBhvr>
                                      <p:to>
                                        <p:strVal val="visible"/>
                                      </p:to>
                                    </p:set>
                                    <p:animEffect transition="in" filter="dissolve">
                                      <p:cBhvr>
                                        <p:cTn id="12" dur="500"/>
                                        <p:tgtEl>
                                          <p:spTgt spid="13619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36194">
                                            <p:txEl>
                                              <p:pRg st="2" end="2"/>
                                            </p:txEl>
                                          </p:spTgt>
                                        </p:tgtEl>
                                        <p:attrNameLst>
                                          <p:attrName>style.visibility</p:attrName>
                                        </p:attrNameLst>
                                      </p:cBhvr>
                                      <p:to>
                                        <p:strVal val="visible"/>
                                      </p:to>
                                    </p:set>
                                    <p:animEffect transition="in" filter="dissolve">
                                      <p:cBhvr>
                                        <p:cTn id="17" dur="500"/>
                                        <p:tgtEl>
                                          <p:spTgt spid="13619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36194">
                                            <p:txEl>
                                              <p:pRg st="3" end="3"/>
                                            </p:txEl>
                                          </p:spTgt>
                                        </p:tgtEl>
                                        <p:attrNameLst>
                                          <p:attrName>style.visibility</p:attrName>
                                        </p:attrNameLst>
                                      </p:cBhvr>
                                      <p:to>
                                        <p:strVal val="visible"/>
                                      </p:to>
                                    </p:set>
                                    <p:animEffect transition="in" filter="dissolve">
                                      <p:cBhvr>
                                        <p:cTn id="22" dur="500"/>
                                        <p:tgtEl>
                                          <p:spTgt spid="13619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36194">
                                            <p:txEl>
                                              <p:pRg st="4" end="4"/>
                                            </p:txEl>
                                          </p:spTgt>
                                        </p:tgtEl>
                                        <p:attrNameLst>
                                          <p:attrName>style.visibility</p:attrName>
                                        </p:attrNameLst>
                                      </p:cBhvr>
                                      <p:to>
                                        <p:strVal val="visible"/>
                                      </p:to>
                                    </p:set>
                                    <p:animEffect transition="in" filter="dissolve">
                                      <p:cBhvr>
                                        <p:cTn id="27" dur="500"/>
                                        <p:tgtEl>
                                          <p:spTgt spid="13619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4" grpId="0" build="p"/>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600" dirty="0">
                <a:solidFill>
                  <a:srgbClr val="0033CC"/>
                </a:solidFill>
                <a:latin typeface="Arial" panose="020B0604020202020204" pitchFamily="34" charset="0"/>
                <a:ea typeface="黑体" panose="02010609060101010101" pitchFamily="1" charset="-122"/>
              </a:rPr>
              <a:t>五、数据库系统中的并发</a:t>
            </a:r>
            <a:endParaRPr lang="zh-CN" altLang="en-US" sz="3600" dirty="0">
              <a:solidFill>
                <a:srgbClr val="0033CC"/>
              </a:solidFill>
              <a:latin typeface="Arial" panose="020B0604020202020204" pitchFamily="34" charset="0"/>
              <a:ea typeface="黑体" panose="02010609060101010101" pitchFamily="1" charset="-122"/>
            </a:endParaRPr>
          </a:p>
        </p:txBody>
      </p:sp>
      <p:sp>
        <p:nvSpPr>
          <p:cNvPr id="134146" name="Rectangle 3"/>
          <p:cNvSpPr txBox="1"/>
          <p:nvPr/>
        </p:nvSpPr>
        <p:spPr>
          <a:xfrm>
            <a:off x="517525" y="762000"/>
            <a:ext cx="7178675" cy="706438"/>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6</a:t>
            </a:r>
            <a:r>
              <a:rPr lang="zh-CN" altLang="en-US" sz="2800" dirty="0">
                <a:solidFill>
                  <a:srgbClr val="FF0000"/>
                </a:solidFill>
                <a:latin typeface="黑体" panose="02010609060101010101" pitchFamily="1" charset="-122"/>
                <a:ea typeface="黑体" panose="02010609060101010101" pitchFamily="1" charset="-122"/>
              </a:rPr>
              <a:t>、死锁及其预防、检测与处理</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134147" name="Rectangle 3"/>
          <p:cNvSpPr txBox="1"/>
          <p:nvPr/>
        </p:nvSpPr>
        <p:spPr>
          <a:xfrm>
            <a:off x="549275" y="1279525"/>
            <a:ext cx="8197850" cy="4557713"/>
          </a:xfrm>
          <a:prstGeom prst="rect">
            <a:avLst/>
          </a:prstGeom>
          <a:noFill/>
          <a:ln w="9525">
            <a:noFill/>
          </a:ln>
        </p:spPr>
        <p:txBody>
          <a:bodyPr anchor="t"/>
          <a:lstStyle/>
          <a:p>
            <a:pPr marL="342900" lvl="0" indent="-342900">
              <a:lnSpc>
                <a:spcPct val="150000"/>
              </a:lnSpc>
              <a:spcBef>
                <a:spcPct val="50000"/>
              </a:spcBef>
              <a:buClr>
                <a:srgbClr val="0033CC"/>
              </a:buClr>
              <a:buSzPct val="80000"/>
            </a:pPr>
            <a:r>
              <a:rPr lang="zh-CN" altLang="en-US" sz="2400" dirty="0">
                <a:latin typeface="Arial" panose="020B0604020202020204" pitchFamily="34" charset="0"/>
                <a:ea typeface="宋体" panose="02010600030101010101" pitchFamily="2" charset="-122"/>
              </a:rPr>
              <a:t>（</a:t>
            </a:r>
            <a:r>
              <a:rPr lang="en-US" altLang="x-none" sz="2400" dirty="0">
                <a:latin typeface="Arial" panose="020B0604020202020204" pitchFamily="34" charset="0"/>
                <a:ea typeface="宋体" panose="02010600030101010101" pitchFamily="2" charset="-122"/>
              </a:rPr>
              <a:t>2</a:t>
            </a:r>
            <a:r>
              <a:rPr lang="zh-CN" altLang="en-US" sz="2400" dirty="0">
                <a:latin typeface="Arial" panose="020B0604020202020204" pitchFamily="34" charset="0"/>
                <a:ea typeface="宋体" panose="02010600030101010101" pitchFamily="2" charset="-122"/>
              </a:rPr>
              <a:t>）</a:t>
            </a:r>
            <a:r>
              <a:rPr lang="zh-CN" altLang="en-US" sz="2400" dirty="0">
                <a:latin typeface="华文楷体" panose="02010600040101010101" pitchFamily="2" charset="-122"/>
                <a:ea typeface="宋体" panose="02010600030101010101" pitchFamily="2" charset="-122"/>
              </a:rPr>
              <a:t>等待图法</a:t>
            </a:r>
            <a:endParaRPr lang="zh-CN" altLang="en-US" sz="2400" dirty="0">
              <a:latin typeface="华文楷体" panose="02010600040101010101" pitchFamily="2" charset="-122"/>
              <a:ea typeface="宋体" panose="02010600030101010101" pitchFamily="2" charset="-122"/>
            </a:endParaRPr>
          </a:p>
          <a:p>
            <a:pPr marL="342900" lvl="0" indent="-342900">
              <a:lnSpc>
                <a:spcPct val="110000"/>
              </a:lnSpc>
              <a:spcBef>
                <a:spcPts val="600"/>
              </a:spcBef>
              <a:buClr>
                <a:srgbClr val="0033CC"/>
              </a:buClr>
              <a:buSzPct val="80000"/>
              <a:buFont typeface="Wingdings" panose="05000000000000000000" pitchFamily="2" charset="2"/>
              <a:buChar char="u"/>
            </a:pPr>
            <a:r>
              <a:rPr lang="zh-CN" altLang="en-US" sz="2400" u="sng" dirty="0">
                <a:solidFill>
                  <a:srgbClr val="CC0000"/>
                </a:solidFill>
                <a:latin typeface="华文楷体" panose="02010600040101010101" pitchFamily="2" charset="-122"/>
                <a:ea typeface="宋体" panose="02010600030101010101" pitchFamily="2" charset="-122"/>
                <a:sym typeface="Wingdings" panose="05000000000000000000" pitchFamily="2" charset="2"/>
              </a:rPr>
              <a:t>等待图：</a:t>
            </a:r>
            <a:r>
              <a:rPr lang="zh-CN" altLang="en-US" sz="2400" dirty="0">
                <a:latin typeface="华文楷体" panose="02010600040101010101" pitchFamily="2" charset="-122"/>
                <a:ea typeface="宋体" panose="02010600030101010101" pitchFamily="2" charset="-122"/>
                <a:sym typeface="Wingdings" panose="05000000000000000000" pitchFamily="2" charset="2"/>
              </a:rPr>
              <a:t>是一个有向图</a:t>
            </a:r>
            <a:r>
              <a:rPr lang="en-US" altLang="x-none" sz="2400" dirty="0">
                <a:latin typeface="华文楷体" panose="02010600040101010101" pitchFamily="2" charset="-122"/>
                <a:ea typeface="宋体" panose="02010600030101010101" pitchFamily="2" charset="-122"/>
                <a:sym typeface="Wingdings" panose="05000000000000000000" pitchFamily="2" charset="2"/>
              </a:rPr>
              <a:t>G=</a:t>
            </a:r>
            <a:r>
              <a:rPr lang="zh-CN" altLang="en-US" sz="2400" dirty="0">
                <a:latin typeface="华文楷体" panose="02010600040101010101" pitchFamily="2" charset="-122"/>
                <a:ea typeface="宋体" panose="02010600030101010101" pitchFamily="2" charset="-122"/>
                <a:sym typeface="Wingdings" panose="05000000000000000000" pitchFamily="2" charset="2"/>
              </a:rPr>
              <a:t>（</a:t>
            </a:r>
            <a:r>
              <a:rPr lang="en-US" altLang="x-none" sz="2400" dirty="0">
                <a:latin typeface="华文楷体" panose="02010600040101010101" pitchFamily="2" charset="-122"/>
                <a:ea typeface="宋体" panose="02010600030101010101" pitchFamily="2" charset="-122"/>
                <a:sym typeface="Wingdings" panose="05000000000000000000" pitchFamily="2" charset="2"/>
              </a:rPr>
              <a:t>W</a:t>
            </a:r>
            <a:r>
              <a:rPr lang="zh-CN" altLang="en-US" sz="2400" dirty="0">
                <a:latin typeface="华文楷体" panose="02010600040101010101" pitchFamily="2" charset="-122"/>
                <a:ea typeface="宋体" panose="02010600030101010101" pitchFamily="2" charset="-122"/>
                <a:sym typeface="Wingdings" panose="05000000000000000000" pitchFamily="2" charset="2"/>
              </a:rPr>
              <a:t>，</a:t>
            </a:r>
            <a:r>
              <a:rPr lang="en-US" altLang="x-none" sz="2400" dirty="0">
                <a:latin typeface="华文楷体" panose="02010600040101010101" pitchFamily="2" charset="-122"/>
                <a:ea typeface="宋体" panose="02010600030101010101" pitchFamily="2" charset="-122"/>
                <a:sym typeface="Wingdings" panose="05000000000000000000" pitchFamily="2" charset="2"/>
              </a:rPr>
              <a:t>U</a:t>
            </a:r>
            <a:r>
              <a:rPr lang="zh-CN" altLang="en-US" sz="2400" dirty="0">
                <a:latin typeface="华文楷体" panose="02010600040101010101" pitchFamily="2" charset="-122"/>
                <a:ea typeface="宋体" panose="02010600030101010101" pitchFamily="2" charset="-122"/>
                <a:sym typeface="Wingdings" panose="05000000000000000000" pitchFamily="2" charset="2"/>
              </a:rPr>
              <a:t>），</a:t>
            </a:r>
            <a:r>
              <a:rPr lang="en-US" altLang="x-none" sz="2400" dirty="0">
                <a:latin typeface="华文楷体" panose="02010600040101010101" pitchFamily="2" charset="-122"/>
                <a:ea typeface="宋体" panose="02010600030101010101" pitchFamily="2" charset="-122"/>
                <a:sym typeface="Wingdings" panose="05000000000000000000" pitchFamily="2" charset="2"/>
              </a:rPr>
              <a:t>W</a:t>
            </a:r>
            <a:r>
              <a:rPr lang="zh-CN" altLang="en-US" sz="2400" dirty="0">
                <a:latin typeface="华文楷体" panose="02010600040101010101" pitchFamily="2" charset="-122"/>
                <a:ea typeface="宋体" panose="02010600030101010101" pitchFamily="2" charset="-122"/>
                <a:sym typeface="Wingdings" panose="05000000000000000000" pitchFamily="2" charset="2"/>
              </a:rPr>
              <a:t>是当前运行事务的集合，</a:t>
            </a:r>
            <a:r>
              <a:rPr lang="en-US" altLang="x-none" sz="2400" dirty="0">
                <a:latin typeface="华文楷体" panose="02010600040101010101" pitchFamily="2" charset="-122"/>
                <a:ea typeface="宋体" panose="02010600030101010101" pitchFamily="2" charset="-122"/>
                <a:sym typeface="Wingdings" panose="05000000000000000000" pitchFamily="2" charset="2"/>
              </a:rPr>
              <a:t>U</a:t>
            </a:r>
            <a:r>
              <a:rPr lang="zh-CN" altLang="en-US" sz="2400" dirty="0">
                <a:latin typeface="华文楷体" panose="02010600040101010101" pitchFamily="2" charset="-122"/>
                <a:ea typeface="宋体" panose="02010600030101010101" pitchFamily="2" charset="-122"/>
                <a:sym typeface="Wingdings" panose="05000000000000000000" pitchFamily="2" charset="2"/>
              </a:rPr>
              <a:t>是边的集合，</a:t>
            </a:r>
            <a:r>
              <a:rPr lang="en-US" altLang="x-none" sz="2400" dirty="0">
                <a:latin typeface="华文楷体" panose="02010600040101010101" pitchFamily="2" charset="-122"/>
                <a:ea typeface="宋体" panose="02010600030101010101" pitchFamily="2" charset="-122"/>
                <a:sym typeface="Wingdings" panose="05000000000000000000" pitchFamily="2" charset="2"/>
              </a:rPr>
              <a:t>U={(T</a:t>
            </a:r>
            <a:r>
              <a:rPr lang="en-US" altLang="x-none" sz="2400" baseline="-25000" dirty="0">
                <a:latin typeface="华文楷体" panose="02010600040101010101" pitchFamily="2" charset="-122"/>
                <a:ea typeface="宋体" panose="02010600030101010101" pitchFamily="2" charset="-122"/>
                <a:sym typeface="Wingdings" panose="05000000000000000000" pitchFamily="2" charset="2"/>
              </a:rPr>
              <a:t>i</a:t>
            </a:r>
            <a:r>
              <a:rPr lang="en-US" altLang="x-none" sz="2400" dirty="0">
                <a:latin typeface="华文楷体" panose="02010600040101010101" pitchFamily="2" charset="-122"/>
                <a:ea typeface="宋体" panose="02010600030101010101" pitchFamily="2" charset="-122"/>
                <a:sym typeface="Wingdings" panose="05000000000000000000" pitchFamily="2" charset="2"/>
              </a:rPr>
              <a:t>,T</a:t>
            </a:r>
            <a:r>
              <a:rPr lang="en-US" altLang="x-none" sz="2400" baseline="-25000" dirty="0">
                <a:latin typeface="华文楷体" panose="02010600040101010101" pitchFamily="2" charset="-122"/>
                <a:ea typeface="宋体" panose="02010600030101010101" pitchFamily="2" charset="-122"/>
                <a:sym typeface="Wingdings" panose="05000000000000000000" pitchFamily="2" charset="2"/>
              </a:rPr>
              <a:t>j</a:t>
            </a:r>
            <a:r>
              <a:rPr lang="en-US" altLang="x-none" sz="2400" dirty="0">
                <a:latin typeface="华文楷体" panose="02010600040101010101" pitchFamily="2" charset="-122"/>
                <a:ea typeface="宋体" panose="02010600030101010101" pitchFamily="2" charset="-122"/>
                <a:sym typeface="Wingdings" panose="05000000000000000000" pitchFamily="2" charset="2"/>
              </a:rPr>
              <a:t>) | T</a:t>
            </a:r>
            <a:r>
              <a:rPr lang="en-US" altLang="x-none" sz="2400" baseline="-25000" dirty="0">
                <a:latin typeface="华文楷体" panose="02010600040101010101" pitchFamily="2" charset="-122"/>
                <a:ea typeface="宋体" panose="02010600030101010101" pitchFamily="2" charset="-122"/>
                <a:sym typeface="Wingdings" panose="05000000000000000000" pitchFamily="2" charset="2"/>
              </a:rPr>
              <a:t>i</a:t>
            </a:r>
            <a:r>
              <a:rPr lang="zh-CN" altLang="en-US" sz="2400" dirty="0">
                <a:latin typeface="华文楷体" panose="02010600040101010101" pitchFamily="2" charset="-122"/>
                <a:ea typeface="宋体" panose="02010600030101010101" pitchFamily="2" charset="-122"/>
                <a:sym typeface="Wingdings" panose="05000000000000000000" pitchFamily="2" charset="2"/>
              </a:rPr>
              <a:t>等待</a:t>
            </a:r>
            <a:r>
              <a:rPr lang="en-US" altLang="x-none" sz="2400" dirty="0">
                <a:latin typeface="华文楷体" panose="02010600040101010101" pitchFamily="2" charset="-122"/>
                <a:ea typeface="宋体" panose="02010600030101010101" pitchFamily="2" charset="-122"/>
                <a:sym typeface="Wingdings" panose="05000000000000000000" pitchFamily="2" charset="2"/>
              </a:rPr>
              <a:t>T</a:t>
            </a:r>
            <a:r>
              <a:rPr lang="en-US" altLang="x-none" sz="2400" baseline="-25000" dirty="0">
                <a:latin typeface="华文楷体" panose="02010600040101010101" pitchFamily="2" charset="-122"/>
                <a:ea typeface="宋体" panose="02010600030101010101" pitchFamily="2" charset="-122"/>
                <a:sym typeface="Wingdings" panose="05000000000000000000" pitchFamily="2" charset="2"/>
              </a:rPr>
              <a:t>j</a:t>
            </a:r>
            <a:r>
              <a:rPr lang="en-US" altLang="x-none" sz="2400" dirty="0">
                <a:latin typeface="华文楷体" panose="02010600040101010101" pitchFamily="2" charset="-122"/>
                <a:ea typeface="宋体" panose="02010600030101010101" pitchFamily="2" charset="-122"/>
                <a:sym typeface="Wingdings" panose="05000000000000000000" pitchFamily="2" charset="2"/>
              </a:rPr>
              <a:t>, i≠j}</a:t>
            </a:r>
            <a:r>
              <a:rPr lang="zh-CN" altLang="en-US" sz="2400" dirty="0">
                <a:latin typeface="华文楷体" panose="02010600040101010101" pitchFamily="2" charset="-122"/>
                <a:ea typeface="宋体" panose="02010600030101010101" pitchFamily="2" charset="-122"/>
                <a:sym typeface="Wingdings" panose="05000000000000000000" pitchFamily="2" charset="2"/>
              </a:rPr>
              <a:t>。</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marL="342900" lvl="0" indent="-342900">
              <a:lnSpc>
                <a:spcPct val="110000"/>
              </a:lnSpc>
              <a:spcBef>
                <a:spcPts val="600"/>
              </a:spcBef>
              <a:buClr>
                <a:srgbClr val="0033CC"/>
              </a:buClr>
              <a:buSzPct val="80000"/>
              <a:buFont typeface="Wingdings" panose="05000000000000000000" pitchFamily="2" charset="2"/>
              <a:buChar char="u"/>
            </a:pPr>
            <a:r>
              <a:rPr lang="zh-CN" altLang="en-US" sz="2400" u="sng" dirty="0">
                <a:solidFill>
                  <a:srgbClr val="CC0000"/>
                </a:solidFill>
                <a:latin typeface="华文楷体" panose="02010600040101010101" pitchFamily="2" charset="-122"/>
                <a:ea typeface="宋体" panose="02010600030101010101" pitchFamily="2" charset="-122"/>
              </a:rPr>
              <a:t>等待图的维护：</a:t>
            </a:r>
            <a:r>
              <a:rPr lang="zh-CN" altLang="en-US" sz="2400" dirty="0">
                <a:latin typeface="华文楷体" panose="02010600040101010101" pitchFamily="2" charset="-122"/>
                <a:ea typeface="宋体" panose="02010600030101010101" pitchFamily="2" charset="-122"/>
              </a:rPr>
              <a:t>当某个锁请求加入队列时，锁管理器会向图中增加一条边，而某个锁请求得到获准时，则它会从图中删除一条相应的边。 </a:t>
            </a:r>
            <a:endParaRPr lang="zh-CN" altLang="en-US" sz="2400" dirty="0">
              <a:latin typeface="华文楷体" panose="02010600040101010101" pitchFamily="2" charset="-122"/>
              <a:ea typeface="宋体" panose="02010600030101010101" pitchFamily="2" charset="-122"/>
            </a:endParaRPr>
          </a:p>
          <a:p>
            <a:pPr marL="342900" lvl="0" indent="-342900">
              <a:lnSpc>
                <a:spcPct val="110000"/>
              </a:lnSpc>
              <a:spcBef>
                <a:spcPts val="600"/>
              </a:spcBef>
              <a:buClr>
                <a:srgbClr val="0033CC"/>
              </a:buClr>
              <a:buSzPct val="80000"/>
              <a:buFont typeface="Wingdings" panose="05000000000000000000" pitchFamily="2" charset="2"/>
              <a:buChar char="u"/>
            </a:pPr>
            <a:r>
              <a:rPr lang="zh-CN" altLang="en-US" sz="2400" u="sng" dirty="0">
                <a:solidFill>
                  <a:srgbClr val="CC0000"/>
                </a:solidFill>
                <a:latin typeface="华文楷体" panose="02010600040101010101" pitchFamily="2" charset="-122"/>
                <a:ea typeface="宋体" panose="02010600030101010101" pitchFamily="2" charset="-122"/>
                <a:sym typeface="Wingdings" panose="05000000000000000000" pitchFamily="2" charset="2"/>
              </a:rPr>
              <a:t>死锁检测方法：</a:t>
            </a:r>
            <a:r>
              <a:rPr lang="zh-CN" altLang="en-US" sz="2400" dirty="0">
                <a:latin typeface="华文楷体" panose="02010600040101010101" pitchFamily="2" charset="-122"/>
                <a:ea typeface="宋体" panose="02010600030101010101" pitchFamily="2" charset="-122"/>
                <a:sym typeface="Wingdings" panose="05000000000000000000" pitchFamily="2" charset="2"/>
              </a:rPr>
              <a:t>当且仅当等待图中出现回路时，死锁才发生。检测改进：当运行事务较多时，维护等待图和检测回路开销较大。如每出现一个等待都要检测一次，虽然可及时发现死锁，但开销太大，影响系统性能。合理的方法是周期性进行死锁检测。</a:t>
            </a:r>
            <a:endParaRPr lang="zh-CN" altLang="en-US" sz="2400" dirty="0">
              <a:latin typeface="华文楷体" panose="02010600040101010101" pitchFamily="2" charset="-122"/>
              <a:ea typeface="宋体" panose="02010600030101010101" pitchFamily="2" charset="-122"/>
            </a:endParaRPr>
          </a:p>
        </p:txBody>
      </p:sp>
      <p:sp>
        <p:nvSpPr>
          <p:cNvPr id="134148" name="Rectangle 2"/>
          <p:cNvSpPr/>
          <p:nvPr/>
        </p:nvSpPr>
        <p:spPr>
          <a:xfrm>
            <a:off x="6188075" y="790575"/>
            <a:ext cx="2667000" cy="525463"/>
          </a:xfrm>
          <a:prstGeom prst="rect">
            <a:avLst/>
          </a:prstGeom>
          <a:noFill/>
          <a:ln w="9525">
            <a:noFill/>
          </a:ln>
        </p:spPr>
        <p:txBody>
          <a:bodyPr lIns="90000" tIns="46800" rIns="90000" bIns="46800" anchor="t">
            <a:spAutoFit/>
          </a:bodyPr>
          <a:lstStyle/>
          <a:p>
            <a:pPr lvl="0" indent="0">
              <a:buFont typeface="Wingdings" panose="05000000000000000000" pitchFamily="2" charset="2"/>
              <a:buChar char="p"/>
            </a:pPr>
            <a:r>
              <a:rPr lang="zh-CN" altLang="en-US" sz="2800" dirty="0">
                <a:solidFill>
                  <a:srgbClr val="0033CC"/>
                </a:solidFill>
                <a:latin typeface="宋体" panose="02010600030101010101" pitchFamily="2" charset="-122"/>
                <a:ea typeface="宋体" panose="02010600030101010101" pitchFamily="2" charset="-122"/>
              </a:rPr>
              <a:t> 死锁的检测</a:t>
            </a:r>
            <a:endParaRPr lang="zh-CN" altLang="en-US" sz="2800" dirty="0">
              <a:solidFill>
                <a:srgbClr val="0033CC"/>
              </a:solidFill>
              <a:latin typeface="宋体" panose="02010600030101010101" pitchFamily="2" charset="-122"/>
              <a:ea typeface="宋体" panose="02010600030101010101" pitchFamily="2" charset="-122"/>
            </a:endParaRPr>
          </a:p>
        </p:txBody>
      </p:sp>
    </p:spTree>
  </p:cSld>
  <p:clrMapOvr>
    <a:masterClrMapping/>
  </p:clrMapOvr>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600" dirty="0">
                <a:solidFill>
                  <a:srgbClr val="0033CC"/>
                </a:solidFill>
                <a:latin typeface="Arial" panose="020B0604020202020204" pitchFamily="34" charset="0"/>
                <a:ea typeface="黑体" panose="02010609060101010101" pitchFamily="1" charset="-122"/>
              </a:rPr>
              <a:t>五、数据库系统中的并发</a:t>
            </a:r>
            <a:endParaRPr lang="zh-CN" altLang="en-US" sz="3600" dirty="0">
              <a:solidFill>
                <a:srgbClr val="0033CC"/>
              </a:solidFill>
              <a:latin typeface="Arial" panose="020B0604020202020204" pitchFamily="34" charset="0"/>
              <a:ea typeface="黑体" panose="02010609060101010101" pitchFamily="1" charset="-122"/>
            </a:endParaRPr>
          </a:p>
        </p:txBody>
      </p:sp>
      <p:sp>
        <p:nvSpPr>
          <p:cNvPr id="135170" name="Rectangle 3"/>
          <p:cNvSpPr txBox="1"/>
          <p:nvPr/>
        </p:nvSpPr>
        <p:spPr>
          <a:xfrm>
            <a:off x="517525" y="808038"/>
            <a:ext cx="7178675" cy="706437"/>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6</a:t>
            </a:r>
            <a:r>
              <a:rPr lang="zh-CN" altLang="en-US" sz="2800" dirty="0">
                <a:solidFill>
                  <a:srgbClr val="FF0000"/>
                </a:solidFill>
                <a:latin typeface="黑体" panose="02010609060101010101" pitchFamily="1" charset="-122"/>
                <a:ea typeface="黑体" panose="02010609060101010101" pitchFamily="1" charset="-122"/>
              </a:rPr>
              <a:t>、死锁及其预防、检测与处理</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135171" name="Rectangle 2"/>
          <p:cNvSpPr/>
          <p:nvPr/>
        </p:nvSpPr>
        <p:spPr>
          <a:xfrm>
            <a:off x="244475" y="2530475"/>
            <a:ext cx="9144000" cy="0"/>
          </a:xfrm>
          <a:prstGeom prst="rect">
            <a:avLst/>
          </a:prstGeom>
          <a:noFill/>
          <a:ln w="9525">
            <a:noFill/>
          </a:ln>
        </p:spPr>
        <p:txBody>
          <a:bodyPr wrap="none" anchor="ctr">
            <a:spAutoFit/>
          </a:bodyPr>
          <a:lstStyle/>
          <a:p>
            <a:pPr lvl="0" indent="0"/>
            <a:endParaRPr lang="zh-CN" altLang="en-US" dirty="0">
              <a:latin typeface="Arial" panose="020B0604020202020204" pitchFamily="34" charset="0"/>
              <a:ea typeface="宋体" panose="02010600030101010101" pitchFamily="2" charset="-122"/>
            </a:endParaRPr>
          </a:p>
        </p:txBody>
      </p:sp>
      <p:graphicFrame>
        <p:nvGraphicFramePr>
          <p:cNvPr id="138245" name="Object 3"/>
          <p:cNvGraphicFramePr>
            <a:graphicFrameLocks noChangeAspect="1"/>
          </p:cNvGraphicFramePr>
          <p:nvPr/>
        </p:nvGraphicFramePr>
        <p:xfrm>
          <a:off x="198438" y="1882775"/>
          <a:ext cx="5151437" cy="4335463"/>
        </p:xfrm>
        <a:graphic>
          <a:graphicData uri="http://schemas.openxmlformats.org/presentationml/2006/ole">
            <mc:AlternateContent xmlns:mc="http://schemas.openxmlformats.org/markup-compatibility/2006">
              <mc:Choice xmlns:v="urn:schemas-microsoft-com:vml" Requires="v">
                <p:oleObj spid="_x0000_s28715" name="" r:id="rId1" imgW="2143125" imgH="1962150" progId="Word.Picture.8">
                  <p:embed/>
                </p:oleObj>
              </mc:Choice>
              <mc:Fallback>
                <p:oleObj name="" r:id="rId1" imgW="2143125" imgH="1962150" progId="Word.Picture.8">
                  <p:embed/>
                  <p:pic>
                    <p:nvPicPr>
                      <p:cNvPr id="0" name="图片 3102"/>
                      <p:cNvPicPr/>
                      <p:nvPr/>
                    </p:nvPicPr>
                    <p:blipFill>
                      <a:blip r:embed="rId2"/>
                      <a:stretch>
                        <a:fillRect/>
                      </a:stretch>
                    </p:blipFill>
                    <p:spPr>
                      <a:xfrm>
                        <a:off x="198438" y="1882775"/>
                        <a:ext cx="5151437" cy="4335463"/>
                      </a:xfrm>
                      <a:prstGeom prst="rect">
                        <a:avLst/>
                      </a:prstGeom>
                      <a:solidFill>
                        <a:srgbClr val="FFFFFF"/>
                      </a:solidFill>
                      <a:ln w="38100">
                        <a:noFill/>
                        <a:miter/>
                      </a:ln>
                    </p:spPr>
                  </p:pic>
                </p:oleObj>
              </mc:Fallback>
            </mc:AlternateContent>
          </a:graphicData>
        </a:graphic>
      </p:graphicFrame>
      <p:sp>
        <p:nvSpPr>
          <p:cNvPr id="135173" name="Rectangle 4"/>
          <p:cNvSpPr/>
          <p:nvPr/>
        </p:nvSpPr>
        <p:spPr>
          <a:xfrm>
            <a:off x="244475" y="3173413"/>
            <a:ext cx="9144000" cy="0"/>
          </a:xfrm>
          <a:prstGeom prst="rect">
            <a:avLst/>
          </a:prstGeom>
          <a:noFill/>
          <a:ln w="9525">
            <a:noFill/>
          </a:ln>
        </p:spPr>
        <p:txBody>
          <a:bodyPr wrap="none" anchor="ctr">
            <a:spAutoFit/>
          </a:bodyPr>
          <a:lstStyle/>
          <a:p>
            <a:pPr lvl="0" indent="0"/>
            <a:endParaRPr lang="zh-CN" altLang="en-US" dirty="0">
              <a:latin typeface="Arial" panose="020B0604020202020204" pitchFamily="34" charset="0"/>
              <a:ea typeface="宋体" panose="02010600030101010101" pitchFamily="2" charset="-122"/>
            </a:endParaRPr>
          </a:p>
        </p:txBody>
      </p:sp>
      <p:graphicFrame>
        <p:nvGraphicFramePr>
          <p:cNvPr id="138247" name="Object 5"/>
          <p:cNvGraphicFramePr>
            <a:graphicFrameLocks noChangeAspect="1"/>
          </p:cNvGraphicFramePr>
          <p:nvPr/>
        </p:nvGraphicFramePr>
        <p:xfrm>
          <a:off x="5443538" y="2182813"/>
          <a:ext cx="3576637" cy="3121025"/>
        </p:xfrm>
        <a:graphic>
          <a:graphicData uri="http://schemas.openxmlformats.org/presentationml/2006/ole">
            <mc:AlternateContent xmlns:mc="http://schemas.openxmlformats.org/markup-compatibility/2006">
              <mc:Choice xmlns:v="urn:schemas-microsoft-com:vml" Requires="v">
                <p:oleObj spid="_x0000_s28716" name="" r:id="rId3" imgW="2642870" imgH="1790700" progId="Word.Picture.8">
                  <p:embed/>
                </p:oleObj>
              </mc:Choice>
              <mc:Fallback>
                <p:oleObj name="" r:id="rId3" imgW="2642870" imgH="1790700" progId="Word.Picture.8">
                  <p:embed/>
                  <p:pic>
                    <p:nvPicPr>
                      <p:cNvPr id="0" name="图片 3103"/>
                      <p:cNvPicPr/>
                      <p:nvPr/>
                    </p:nvPicPr>
                    <p:blipFill>
                      <a:blip r:embed="rId4"/>
                      <a:stretch>
                        <a:fillRect/>
                      </a:stretch>
                    </p:blipFill>
                    <p:spPr>
                      <a:xfrm>
                        <a:off x="5443538" y="2182813"/>
                        <a:ext cx="3576637" cy="3121025"/>
                      </a:xfrm>
                      <a:prstGeom prst="rect">
                        <a:avLst/>
                      </a:prstGeom>
                      <a:solidFill>
                        <a:srgbClr val="FFFFFF"/>
                      </a:solidFill>
                      <a:ln w="38100">
                        <a:noFill/>
                        <a:miter/>
                      </a:ln>
                    </p:spPr>
                  </p:pic>
                </p:oleObj>
              </mc:Fallback>
            </mc:AlternateContent>
          </a:graphicData>
        </a:graphic>
      </p:graphicFrame>
      <p:sp>
        <p:nvSpPr>
          <p:cNvPr id="138248" name="Oval 6"/>
          <p:cNvSpPr/>
          <p:nvPr/>
        </p:nvSpPr>
        <p:spPr>
          <a:xfrm>
            <a:off x="8156575" y="2654300"/>
            <a:ext cx="576263" cy="485775"/>
          </a:xfrm>
          <a:prstGeom prst="ellipse">
            <a:avLst/>
          </a:prstGeom>
          <a:noFill/>
          <a:ln w="38100" cap="flat" cmpd="sng">
            <a:solidFill>
              <a:srgbClr val="CC0000"/>
            </a:solidFill>
            <a:prstDash val="solid"/>
            <a:round/>
            <a:headEnd type="none" w="med" len="med"/>
            <a:tailEnd type="none" w="med" len="med"/>
          </a:ln>
        </p:spPr>
        <p:txBody>
          <a:bodyPr wrap="none" lIns="90000" tIns="46800" rIns="90000" bIns="46800" anchor="ctr"/>
          <a:lstStyle/>
          <a:p>
            <a:pPr lvl="0" indent="0"/>
            <a:endParaRPr lang="zh-CN" altLang="en-US" dirty="0">
              <a:latin typeface="Arial" panose="020B0604020202020204" pitchFamily="34" charset="0"/>
              <a:ea typeface="宋体" panose="02010600030101010101" pitchFamily="2" charset="-122"/>
            </a:endParaRPr>
          </a:p>
        </p:txBody>
      </p:sp>
      <p:sp>
        <p:nvSpPr>
          <p:cNvPr id="135176" name="Rectangle 2"/>
          <p:cNvSpPr/>
          <p:nvPr/>
        </p:nvSpPr>
        <p:spPr>
          <a:xfrm>
            <a:off x="6188075" y="790575"/>
            <a:ext cx="2667000" cy="525463"/>
          </a:xfrm>
          <a:prstGeom prst="rect">
            <a:avLst/>
          </a:prstGeom>
          <a:noFill/>
          <a:ln w="9525">
            <a:noFill/>
          </a:ln>
        </p:spPr>
        <p:txBody>
          <a:bodyPr lIns="90000" tIns="46800" rIns="90000" bIns="46800" anchor="t">
            <a:spAutoFit/>
          </a:bodyPr>
          <a:lstStyle/>
          <a:p>
            <a:pPr lvl="0" indent="0">
              <a:buFont typeface="Wingdings" panose="05000000000000000000" pitchFamily="2" charset="2"/>
              <a:buChar char="p"/>
            </a:pPr>
            <a:r>
              <a:rPr lang="zh-CN" altLang="en-US" sz="2800" dirty="0">
                <a:solidFill>
                  <a:srgbClr val="0033CC"/>
                </a:solidFill>
                <a:latin typeface="宋体" panose="02010600030101010101" pitchFamily="2" charset="-122"/>
                <a:ea typeface="宋体" panose="02010600030101010101" pitchFamily="2" charset="-122"/>
              </a:rPr>
              <a:t> 死锁的检测</a:t>
            </a:r>
            <a:endParaRPr lang="zh-CN" altLang="en-US" sz="2800" dirty="0">
              <a:solidFill>
                <a:srgbClr val="0033CC"/>
              </a:solidFill>
              <a:latin typeface="宋体" panose="02010600030101010101" pitchFamily="2" charset="-122"/>
              <a:ea typeface="宋体" panose="02010600030101010101" pitchFamily="2" charset="-122"/>
            </a:endParaRPr>
          </a:p>
        </p:txBody>
      </p:sp>
      <p:sp>
        <p:nvSpPr>
          <p:cNvPr id="135177" name="矩形 9"/>
          <p:cNvSpPr/>
          <p:nvPr/>
        </p:nvSpPr>
        <p:spPr>
          <a:xfrm>
            <a:off x="381000" y="1223963"/>
            <a:ext cx="2211388" cy="587375"/>
          </a:xfrm>
          <a:prstGeom prst="rect">
            <a:avLst/>
          </a:prstGeom>
          <a:noFill/>
          <a:ln w="9525">
            <a:noFill/>
          </a:ln>
        </p:spPr>
        <p:txBody>
          <a:bodyPr wrap="none" anchor="t">
            <a:spAutoFit/>
          </a:bodyPr>
          <a:lstStyle/>
          <a:p>
            <a:pPr marL="342900" lvl="0" indent="-342900">
              <a:lnSpc>
                <a:spcPct val="150000"/>
              </a:lnSpc>
              <a:spcBef>
                <a:spcPct val="50000"/>
              </a:spcBef>
              <a:buClr>
                <a:srgbClr val="0033CC"/>
              </a:buClr>
              <a:buSzPct val="80000"/>
            </a:pPr>
            <a:r>
              <a:rPr lang="zh-CN" altLang="en-US" sz="2400" dirty="0">
                <a:latin typeface="Arial" panose="020B0604020202020204" pitchFamily="34" charset="0"/>
                <a:ea typeface="宋体" panose="02010600030101010101" pitchFamily="2" charset="-122"/>
              </a:rPr>
              <a:t>（</a:t>
            </a:r>
            <a:r>
              <a:rPr lang="en-US" altLang="x-none" sz="2400" dirty="0">
                <a:latin typeface="Arial" panose="020B0604020202020204" pitchFamily="34" charset="0"/>
                <a:ea typeface="宋体" panose="02010600030101010101" pitchFamily="2" charset="-122"/>
              </a:rPr>
              <a:t>2</a:t>
            </a:r>
            <a:r>
              <a:rPr lang="zh-CN" altLang="en-US" sz="2400" dirty="0">
                <a:latin typeface="Arial" panose="020B0604020202020204" pitchFamily="34" charset="0"/>
                <a:ea typeface="宋体" panose="02010600030101010101" pitchFamily="2" charset="-122"/>
              </a:rPr>
              <a:t>）</a:t>
            </a:r>
            <a:r>
              <a:rPr lang="zh-CN" altLang="en-US" sz="2400" dirty="0">
                <a:latin typeface="华文楷体" panose="02010600040101010101" pitchFamily="2" charset="-122"/>
                <a:ea typeface="宋体" panose="02010600030101010101" pitchFamily="2" charset="-122"/>
              </a:rPr>
              <a:t>等待图法</a:t>
            </a:r>
            <a:endParaRPr lang="zh-CN" altLang="en-US" sz="2400" dirty="0">
              <a:latin typeface="华文楷体" panose="0201060004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 fill="hold">
                                          <p:stCondLst>
                                            <p:cond delay="0"/>
                                          </p:stCondLst>
                                        </p:cTn>
                                        <p:tgtEl>
                                          <p:spTgt spid="138245"/>
                                        </p:tgtEl>
                                        <p:attrNameLst>
                                          <p:attrName>style.visibility</p:attrName>
                                        </p:attrNameLst>
                                      </p:cBhvr>
                                      <p:to>
                                        <p:strVal val="visible"/>
                                      </p:to>
                                    </p:set>
                                    <p:animEffect transition="in" filter="plus(in)">
                                      <p:cBhvr>
                                        <p:cTn id="7" dur="2000"/>
                                        <p:tgtEl>
                                          <p:spTgt spid="138245"/>
                                        </p:tgtEl>
                                      </p:cBhvr>
                                    </p:animEffect>
                                  </p:childTnLst>
                                </p:cTn>
                              </p:par>
                            </p:childTnLst>
                          </p:cTn>
                        </p:par>
                      </p:childTnLst>
                    </p:cTn>
                  </p:par>
                  <p:par>
                    <p:cTn id="8" fill="hold">
                      <p:stCondLst>
                        <p:cond delay="indefinite"/>
                      </p:stCondLst>
                      <p:childTnLst>
                        <p:par>
                          <p:cTn id="9" fill="hold">
                            <p:stCondLst>
                              <p:cond delay="0"/>
                            </p:stCondLst>
                            <p:childTnLst>
                              <p:par>
                                <p:cTn id="10" presetID="13" presetClass="entr" presetSubtype="16" fill="hold" nodeType="clickEffect">
                                  <p:stCondLst>
                                    <p:cond delay="0"/>
                                  </p:stCondLst>
                                  <p:childTnLst>
                                    <p:set>
                                      <p:cBhvr>
                                        <p:cTn id="11" dur="1" fill="hold">
                                          <p:stCondLst>
                                            <p:cond delay="0"/>
                                          </p:stCondLst>
                                        </p:cTn>
                                        <p:tgtEl>
                                          <p:spTgt spid="138247"/>
                                        </p:tgtEl>
                                        <p:attrNameLst>
                                          <p:attrName>style.visibility</p:attrName>
                                        </p:attrNameLst>
                                      </p:cBhvr>
                                      <p:to>
                                        <p:strVal val="visible"/>
                                      </p:to>
                                    </p:set>
                                    <p:animEffect transition="in" filter="plus(in)">
                                      <p:cBhvr>
                                        <p:cTn id="12" dur="2000"/>
                                        <p:tgtEl>
                                          <p:spTgt spid="138247"/>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grpId="0" nodeType="clickEffect">
                                  <p:stCondLst>
                                    <p:cond delay="0"/>
                                  </p:stCondLst>
                                  <p:childTnLst>
                                    <p:set>
                                      <p:cBhvr>
                                        <p:cTn id="16" dur="1" fill="hold">
                                          <p:stCondLst>
                                            <p:cond delay="0"/>
                                          </p:stCondLst>
                                        </p:cTn>
                                        <p:tgtEl>
                                          <p:spTgt spid="138248"/>
                                        </p:tgtEl>
                                        <p:attrNameLst>
                                          <p:attrName>style.visibility</p:attrName>
                                        </p:attrNameLst>
                                      </p:cBhvr>
                                      <p:to>
                                        <p:strVal val="visible"/>
                                      </p:to>
                                    </p:set>
                                    <p:animEffect transition="in" filter="wedge">
                                      <p:cBhvr>
                                        <p:cTn id="17" dur="2000"/>
                                        <p:tgtEl>
                                          <p:spTgt spid="1382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8" grpId="0" animBg="1"/>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600" dirty="0">
                <a:solidFill>
                  <a:srgbClr val="0033CC"/>
                </a:solidFill>
                <a:latin typeface="Arial" panose="020B0604020202020204" pitchFamily="34" charset="0"/>
                <a:ea typeface="黑体" panose="02010609060101010101" pitchFamily="1" charset="-122"/>
              </a:rPr>
              <a:t>五、数据库系统中的并发</a:t>
            </a:r>
            <a:endParaRPr lang="zh-CN" altLang="en-US" sz="3600" dirty="0">
              <a:solidFill>
                <a:srgbClr val="0033CC"/>
              </a:solidFill>
              <a:latin typeface="Arial" panose="020B0604020202020204" pitchFamily="34" charset="0"/>
              <a:ea typeface="黑体" panose="02010609060101010101" pitchFamily="1" charset="-122"/>
            </a:endParaRPr>
          </a:p>
        </p:txBody>
      </p:sp>
      <p:sp>
        <p:nvSpPr>
          <p:cNvPr id="136194" name="Rectangle 3"/>
          <p:cNvSpPr txBox="1"/>
          <p:nvPr/>
        </p:nvSpPr>
        <p:spPr>
          <a:xfrm>
            <a:off x="517525" y="808038"/>
            <a:ext cx="7178675" cy="706437"/>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6</a:t>
            </a:r>
            <a:r>
              <a:rPr lang="zh-CN" altLang="en-US" sz="2800" dirty="0">
                <a:solidFill>
                  <a:srgbClr val="FF0000"/>
                </a:solidFill>
                <a:latin typeface="黑体" panose="02010609060101010101" pitchFamily="1" charset="-122"/>
                <a:ea typeface="黑体" panose="02010609060101010101" pitchFamily="1" charset="-122"/>
              </a:rPr>
              <a:t>、死锁及其预防、检测与处理</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136195" name="Rectangle 2"/>
          <p:cNvSpPr txBox="1"/>
          <p:nvPr/>
        </p:nvSpPr>
        <p:spPr>
          <a:xfrm>
            <a:off x="593725" y="1362075"/>
            <a:ext cx="3140075" cy="503238"/>
          </a:xfrm>
          <a:prstGeom prst="rect">
            <a:avLst/>
          </a:prstGeom>
          <a:noFill/>
          <a:ln w="9525">
            <a:noFill/>
          </a:ln>
        </p:spPr>
        <p:txBody>
          <a:bodyPr anchor="t"/>
          <a:lstStyle/>
          <a:p>
            <a:pPr lvl="0" indent="0">
              <a:buFont typeface="Wingdings" panose="05000000000000000000" pitchFamily="2" charset="2"/>
              <a:buChar char="p"/>
            </a:pPr>
            <a:r>
              <a:rPr lang="zh-CN" altLang="en-US" sz="2800" dirty="0">
                <a:solidFill>
                  <a:srgbClr val="3333CC"/>
                </a:solidFill>
                <a:latin typeface="Arial" panose="020B0604020202020204" pitchFamily="34" charset="0"/>
                <a:ea typeface="黑体" panose="02010609060101010101" pitchFamily="1" charset="-122"/>
              </a:rPr>
              <a:t>死锁的处理</a:t>
            </a:r>
            <a:endParaRPr lang="zh-CN" altLang="en-US" sz="2800" dirty="0">
              <a:solidFill>
                <a:srgbClr val="3333CC"/>
              </a:solidFill>
              <a:latin typeface="Arial" panose="020B0604020202020204" pitchFamily="34" charset="0"/>
              <a:ea typeface="黑体" panose="02010609060101010101" pitchFamily="1" charset="-122"/>
            </a:endParaRPr>
          </a:p>
        </p:txBody>
      </p:sp>
      <p:sp>
        <p:nvSpPr>
          <p:cNvPr id="136196" name="Rectangle 3"/>
          <p:cNvSpPr txBox="1"/>
          <p:nvPr/>
        </p:nvSpPr>
        <p:spPr>
          <a:xfrm>
            <a:off x="617538" y="1935163"/>
            <a:ext cx="8135937" cy="4130675"/>
          </a:xfrm>
          <a:prstGeom prst="rect">
            <a:avLst/>
          </a:prstGeom>
          <a:noFill/>
          <a:ln w="9525">
            <a:noFill/>
          </a:ln>
        </p:spPr>
        <p:txBody>
          <a:bodyPr anchor="t"/>
          <a:lstStyle/>
          <a:p>
            <a:pPr marL="342900" lvl="0" indent="-342900">
              <a:lnSpc>
                <a:spcPct val="114000"/>
              </a:lnSpc>
              <a:spcBef>
                <a:spcPts val="300"/>
              </a:spcBef>
              <a:buClr>
                <a:srgbClr val="0000CC"/>
              </a:buClr>
              <a:buSzPct val="80000"/>
              <a:buFont typeface="Wingdings" panose="05000000000000000000" pitchFamily="2" charset="2"/>
              <a:buChar char="u"/>
            </a:pPr>
            <a:r>
              <a:rPr lang="zh-CN" altLang="en-US" sz="2400" dirty="0">
                <a:solidFill>
                  <a:srgbClr val="CC0000"/>
                </a:solidFill>
                <a:latin typeface="华文楷体" panose="02010600040101010101" pitchFamily="2" charset="-122"/>
                <a:ea typeface="宋体" panose="02010600030101010101" pitchFamily="2" charset="-122"/>
              </a:rPr>
              <a:t>处理思想：</a:t>
            </a:r>
            <a:r>
              <a:rPr lang="zh-CN" altLang="en-US" sz="2400" dirty="0">
                <a:latin typeface="华文楷体" panose="02010600040101010101" pitchFamily="2" charset="-122"/>
                <a:ea typeface="宋体" panose="02010600030101010101" pitchFamily="2" charset="-122"/>
              </a:rPr>
              <a:t>“</a:t>
            </a:r>
            <a:r>
              <a:rPr lang="zh-CN" altLang="en-US" sz="2400" dirty="0">
                <a:latin typeface="华文楷体" panose="02010600040101010101" pitchFamily="2" charset="-122"/>
                <a:ea typeface="宋体" panose="02010600030101010101" pitchFamily="2" charset="-122"/>
                <a:sym typeface="Wingdings" panose="05000000000000000000" pitchFamily="2" charset="2"/>
              </a:rPr>
              <a:t>杀死”事务，打破循环等待，解除死锁。</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marL="342900" lvl="0" indent="-342900">
              <a:lnSpc>
                <a:spcPct val="114000"/>
              </a:lnSpc>
              <a:spcBef>
                <a:spcPts val="300"/>
              </a:spcBef>
              <a:buClr>
                <a:srgbClr val="0033CC"/>
              </a:buClr>
              <a:buSzPct val="80000"/>
              <a:buFont typeface="Wingdings" panose="05000000000000000000" pitchFamily="2" charset="2"/>
              <a:buChar char="u"/>
            </a:pPr>
            <a:r>
              <a:rPr lang="zh-CN" altLang="en-US" sz="2400" dirty="0">
                <a:solidFill>
                  <a:srgbClr val="CC0000"/>
                </a:solidFill>
                <a:latin typeface="华文楷体" panose="02010600040101010101" pitchFamily="2" charset="-122"/>
                <a:ea typeface="宋体" panose="02010600030101010101" pitchFamily="2" charset="-122"/>
                <a:sym typeface="Wingdings" panose="05000000000000000000" pitchFamily="2" charset="2"/>
              </a:rPr>
              <a:t>死锁处理的步骤：</a:t>
            </a:r>
            <a:r>
              <a:rPr lang="zh-CN" altLang="en-US" sz="2400" dirty="0">
                <a:latin typeface="华文楷体" panose="02010600040101010101" pitchFamily="2" charset="-122"/>
                <a:ea typeface="宋体" panose="02010600030101010101" pitchFamily="2" charset="-122"/>
              </a:rPr>
              <a:t> </a:t>
            </a:r>
            <a:endParaRPr lang="zh-CN" altLang="en-US" sz="2400" dirty="0">
              <a:latin typeface="华文楷体" panose="02010600040101010101" pitchFamily="2" charset="-122"/>
              <a:ea typeface="宋体" panose="02010600030101010101" pitchFamily="2" charset="-122"/>
            </a:endParaRPr>
          </a:p>
          <a:p>
            <a:pPr marL="342900" lvl="0" indent="-342900">
              <a:lnSpc>
                <a:spcPct val="114000"/>
              </a:lnSpc>
              <a:spcBef>
                <a:spcPts val="300"/>
              </a:spcBef>
              <a:buClr>
                <a:srgbClr val="0033CC"/>
              </a:buClr>
              <a:buSzPct val="80000"/>
            </a:pPr>
            <a:r>
              <a:rPr lang="zh-CN" altLang="en-US" sz="2400" dirty="0">
                <a:latin typeface="华文楷体" panose="02010600040101010101" pitchFamily="2" charset="-122"/>
                <a:ea typeface="宋体" panose="02010600030101010101" pitchFamily="2" charset="-122"/>
              </a:rPr>
              <a:t>① </a:t>
            </a:r>
            <a:r>
              <a:rPr lang="zh-CN" altLang="en-US" sz="2400" dirty="0">
                <a:latin typeface="华文楷体" panose="02010600040101010101" pitchFamily="2" charset="-122"/>
                <a:ea typeface="宋体" panose="02010600030101010101" pitchFamily="2" charset="-122"/>
                <a:sym typeface="Wingdings" panose="05000000000000000000" pitchFamily="2" charset="2"/>
              </a:rPr>
              <a:t>在循环等待的事务中，选一事务作为牺牲者；</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marL="342900" lvl="0" indent="-342900">
              <a:lnSpc>
                <a:spcPct val="114000"/>
              </a:lnSpc>
              <a:spcBef>
                <a:spcPts val="300"/>
              </a:spcBef>
              <a:buClr>
                <a:srgbClr val="0033CC"/>
              </a:buClr>
              <a:buSzPct val="80000"/>
            </a:pPr>
            <a:r>
              <a:rPr lang="zh-CN" altLang="en-US" sz="2400" dirty="0">
                <a:latin typeface="华文楷体" panose="02010600040101010101" pitchFamily="2" charset="-122"/>
                <a:ea typeface="宋体" panose="02010600030101010101" pitchFamily="2" charset="-122"/>
              </a:rPr>
              <a:t>② </a:t>
            </a:r>
            <a:r>
              <a:rPr lang="zh-CN" altLang="en-US" sz="2400" dirty="0">
                <a:latin typeface="华文楷体" panose="02010600040101010101" pitchFamily="2" charset="-122"/>
                <a:ea typeface="宋体" panose="02010600030101010101" pitchFamily="2" charset="-122"/>
                <a:sym typeface="Wingdings" panose="05000000000000000000" pitchFamily="2" charset="2"/>
              </a:rPr>
              <a:t>回退牺牲的事务，释放其获得的锁及其他资源；</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marL="342900" lvl="0" indent="-342900">
              <a:lnSpc>
                <a:spcPct val="114000"/>
              </a:lnSpc>
              <a:spcBef>
                <a:spcPts val="300"/>
              </a:spcBef>
              <a:buClr>
                <a:srgbClr val="0033CC"/>
              </a:buClr>
              <a:buSzPct val="80000"/>
            </a:pPr>
            <a:r>
              <a:rPr lang="zh-CN" altLang="en-US" sz="2400" dirty="0">
                <a:latin typeface="华文楷体" panose="02010600040101010101" pitchFamily="2" charset="-122"/>
                <a:ea typeface="宋体" panose="02010600030101010101" pitchFamily="2" charset="-122"/>
              </a:rPr>
              <a:t>③ </a:t>
            </a:r>
            <a:r>
              <a:rPr lang="zh-CN" altLang="en-US" sz="2400" dirty="0">
                <a:latin typeface="华文楷体" panose="02010600040101010101" pitchFamily="2" charset="-122"/>
                <a:ea typeface="宋体" panose="02010600030101010101" pitchFamily="2" charset="-122"/>
                <a:sym typeface="Wingdings" panose="05000000000000000000" pitchFamily="2" charset="2"/>
              </a:rPr>
              <a:t>将释放的锁让给等待它的事务。</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marL="342900" lvl="0" indent="-342900">
              <a:lnSpc>
                <a:spcPct val="114000"/>
              </a:lnSpc>
              <a:spcBef>
                <a:spcPts val="300"/>
              </a:spcBef>
              <a:buClr>
                <a:srgbClr val="0033CC"/>
              </a:buClr>
              <a:buSzPct val="80000"/>
              <a:buFont typeface="Wingdings" panose="05000000000000000000" pitchFamily="2" charset="2"/>
              <a:buChar char="u"/>
            </a:pPr>
            <a:r>
              <a:rPr lang="zh-CN" altLang="en-US" sz="2400" dirty="0">
                <a:solidFill>
                  <a:srgbClr val="CC0000"/>
                </a:solidFill>
                <a:latin typeface="华文楷体" panose="02010600040101010101" pitchFamily="2" charset="-122"/>
                <a:ea typeface="宋体" panose="02010600030101010101" pitchFamily="2" charset="-122"/>
                <a:sym typeface="Wingdings" panose="05000000000000000000" pitchFamily="2" charset="2"/>
              </a:rPr>
              <a:t>牺牲事务的选择标准：</a:t>
            </a:r>
            <a:endParaRPr lang="zh-CN" altLang="en-US" sz="2400" dirty="0">
              <a:solidFill>
                <a:srgbClr val="CC0000"/>
              </a:solidFill>
              <a:latin typeface="华文楷体" panose="02010600040101010101" pitchFamily="2" charset="-122"/>
              <a:ea typeface="宋体" panose="02010600030101010101" pitchFamily="2" charset="-122"/>
              <a:sym typeface="Wingdings" panose="05000000000000000000" pitchFamily="2" charset="2"/>
            </a:endParaRPr>
          </a:p>
          <a:p>
            <a:pPr marL="342900" lvl="0" indent="-342900">
              <a:lnSpc>
                <a:spcPct val="114000"/>
              </a:lnSpc>
              <a:spcBef>
                <a:spcPts val="300"/>
              </a:spcBef>
              <a:buClr>
                <a:srgbClr val="0033CC"/>
              </a:buClr>
              <a:buSzPct val="80000"/>
            </a:pPr>
            <a:r>
              <a:rPr lang="zh-CN" altLang="en-US" sz="2400" dirty="0">
                <a:latin typeface="华文楷体" panose="02010600040101010101" pitchFamily="2" charset="-122"/>
                <a:ea typeface="宋体" panose="02010600030101010101" pitchFamily="2" charset="-122"/>
              </a:rPr>
              <a:t>① </a:t>
            </a:r>
            <a:r>
              <a:rPr lang="zh-CN" altLang="en-US" sz="2400" dirty="0">
                <a:latin typeface="华文楷体" panose="02010600040101010101" pitchFamily="2" charset="-122"/>
                <a:ea typeface="宋体" panose="02010600030101010101" pitchFamily="2" charset="-122"/>
                <a:sym typeface="Wingdings" panose="05000000000000000000" pitchFamily="2" charset="2"/>
              </a:rPr>
              <a:t>选择最迟交付的事务作为牺牲者；</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marL="342900" lvl="0" indent="-342900">
              <a:lnSpc>
                <a:spcPct val="114000"/>
              </a:lnSpc>
              <a:spcBef>
                <a:spcPts val="300"/>
              </a:spcBef>
              <a:buClr>
                <a:srgbClr val="0033CC"/>
              </a:buClr>
              <a:buSzPct val="80000"/>
            </a:pPr>
            <a:r>
              <a:rPr lang="zh-CN" altLang="en-US" sz="2400" dirty="0">
                <a:latin typeface="华文楷体" panose="02010600040101010101" pitchFamily="2" charset="-122"/>
                <a:ea typeface="宋体" panose="02010600030101010101" pitchFamily="2" charset="-122"/>
              </a:rPr>
              <a:t>② </a:t>
            </a:r>
            <a:r>
              <a:rPr lang="zh-CN" altLang="en-US" sz="2400" dirty="0">
                <a:latin typeface="华文楷体" panose="02010600040101010101" pitchFamily="2" charset="-122"/>
                <a:ea typeface="宋体" panose="02010600030101010101" pitchFamily="2" charset="-122"/>
                <a:sym typeface="Wingdings" panose="05000000000000000000" pitchFamily="2" charset="2"/>
              </a:rPr>
              <a:t>选择获得锁最少的事务作为牺牲者；</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marL="342900" lvl="0" indent="-342900">
              <a:lnSpc>
                <a:spcPct val="114000"/>
              </a:lnSpc>
              <a:spcBef>
                <a:spcPts val="300"/>
              </a:spcBef>
              <a:buClr>
                <a:srgbClr val="0033CC"/>
              </a:buClr>
              <a:buSzPct val="80000"/>
            </a:pPr>
            <a:r>
              <a:rPr lang="zh-CN" altLang="en-US" sz="2400" dirty="0">
                <a:latin typeface="华文楷体" panose="02010600040101010101" pitchFamily="2" charset="-122"/>
                <a:ea typeface="宋体" panose="02010600030101010101" pitchFamily="2" charset="-122"/>
              </a:rPr>
              <a:t>③ </a:t>
            </a:r>
            <a:r>
              <a:rPr lang="zh-CN" altLang="en-US" sz="2400" dirty="0">
                <a:latin typeface="华文楷体" panose="02010600040101010101" pitchFamily="2" charset="-122"/>
                <a:ea typeface="宋体" panose="02010600030101010101" pitchFamily="2" charset="-122"/>
                <a:sym typeface="Wingdings" panose="05000000000000000000" pitchFamily="2" charset="2"/>
              </a:rPr>
              <a:t>选择回退代价最小的事务作为牺牲者。</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p:txBody>
      </p:sp>
    </p:spTree>
  </p:cSld>
  <p:clrMapOvr>
    <a:masterClrMapping/>
  </p:clrMapOvr>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600" dirty="0">
                <a:solidFill>
                  <a:srgbClr val="0033CC"/>
                </a:solidFill>
                <a:latin typeface="Arial" panose="020B0604020202020204" pitchFamily="34" charset="0"/>
                <a:ea typeface="黑体" panose="02010609060101010101" pitchFamily="1" charset="-122"/>
              </a:rPr>
              <a:t>五、数据库系统中的并发</a:t>
            </a:r>
            <a:endParaRPr lang="zh-CN" altLang="en-US" sz="3600" dirty="0">
              <a:solidFill>
                <a:srgbClr val="0033CC"/>
              </a:solidFill>
              <a:latin typeface="Arial" panose="020B0604020202020204" pitchFamily="34" charset="0"/>
              <a:ea typeface="黑体" panose="02010609060101010101" pitchFamily="1" charset="-122"/>
            </a:endParaRPr>
          </a:p>
        </p:txBody>
      </p:sp>
      <p:sp>
        <p:nvSpPr>
          <p:cNvPr id="137218" name="Rectangle 3"/>
          <p:cNvSpPr txBox="1"/>
          <p:nvPr/>
        </p:nvSpPr>
        <p:spPr>
          <a:xfrm>
            <a:off x="517525" y="808038"/>
            <a:ext cx="7178675" cy="706437"/>
          </a:xfrm>
          <a:prstGeom prst="rect">
            <a:avLst/>
          </a:prstGeom>
          <a:noFill/>
          <a:ln w="9525">
            <a:noFill/>
          </a:ln>
        </p:spPr>
        <p:txBody>
          <a:bodyPr anchor="t"/>
          <a:lstStyle/>
          <a:p>
            <a:pPr lvl="0" indent="0" eaLnBrk="0" hangingPunct="0"/>
            <a:r>
              <a:rPr lang="en-US" altLang="x-none" sz="2800" dirty="0">
                <a:solidFill>
                  <a:srgbClr val="FF0000"/>
                </a:solidFill>
                <a:latin typeface="黑体" panose="02010609060101010101" pitchFamily="1" charset="-122"/>
                <a:ea typeface="黑体" panose="02010609060101010101" pitchFamily="1" charset="-122"/>
              </a:rPr>
              <a:t>6</a:t>
            </a:r>
            <a:r>
              <a:rPr lang="zh-CN" altLang="en-US" sz="2800" dirty="0">
                <a:solidFill>
                  <a:srgbClr val="FF0000"/>
                </a:solidFill>
                <a:latin typeface="黑体" panose="02010609060101010101" pitchFamily="1" charset="-122"/>
                <a:ea typeface="黑体" panose="02010609060101010101" pitchFamily="1" charset="-122"/>
              </a:rPr>
              <a:t>、死锁及其预防、检测与处理</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137219" name="Rectangle 2"/>
          <p:cNvSpPr txBox="1"/>
          <p:nvPr/>
        </p:nvSpPr>
        <p:spPr>
          <a:xfrm>
            <a:off x="1954213" y="1570038"/>
            <a:ext cx="6122987" cy="706437"/>
          </a:xfrm>
          <a:prstGeom prst="rect">
            <a:avLst/>
          </a:prstGeom>
          <a:noFill/>
          <a:ln w="9525">
            <a:noFill/>
          </a:ln>
        </p:spPr>
        <p:txBody>
          <a:bodyPr anchor="t"/>
          <a:lstStyle/>
          <a:p>
            <a:pPr lvl="0" indent="0"/>
            <a:r>
              <a:rPr lang="zh-CN" altLang="en-US" sz="2800" dirty="0">
                <a:solidFill>
                  <a:srgbClr val="3333CC"/>
                </a:solidFill>
                <a:latin typeface="Arial" panose="020B0604020202020204" pitchFamily="34" charset="0"/>
                <a:ea typeface="黑体" panose="02010609060101010101" pitchFamily="1" charset="-122"/>
                <a:sym typeface="Wingdings" panose="05000000000000000000" pitchFamily="2" charset="2"/>
              </a:rPr>
              <a:t>被</a:t>
            </a:r>
            <a:r>
              <a:rPr lang="zh-CN" altLang="en-US" sz="2800" dirty="0">
                <a:solidFill>
                  <a:srgbClr val="3333CC"/>
                </a:solidFill>
                <a:latin typeface="宋体" panose="02010600030101010101" pitchFamily="2" charset="-122"/>
                <a:ea typeface="黑体" panose="02010609060101010101" pitchFamily="1" charset="-122"/>
                <a:sym typeface="Wingdings" panose="05000000000000000000" pitchFamily="2" charset="2"/>
              </a:rPr>
              <a:t>“</a:t>
            </a:r>
            <a:r>
              <a:rPr lang="zh-CN" altLang="en-US" sz="2800" dirty="0">
                <a:solidFill>
                  <a:srgbClr val="3333CC"/>
                </a:solidFill>
                <a:latin typeface="Arial" panose="020B0604020202020204" pitchFamily="34" charset="0"/>
                <a:ea typeface="黑体" panose="02010609060101010101" pitchFamily="1" charset="-122"/>
                <a:sym typeface="Wingdings" panose="05000000000000000000" pitchFamily="2" charset="2"/>
              </a:rPr>
              <a:t>杀死</a:t>
            </a:r>
            <a:r>
              <a:rPr lang="zh-CN" altLang="en-US" sz="2800" dirty="0">
                <a:solidFill>
                  <a:srgbClr val="3333CC"/>
                </a:solidFill>
                <a:latin typeface="宋体" panose="02010600030101010101" pitchFamily="2" charset="-122"/>
                <a:ea typeface="黑体" panose="02010609060101010101" pitchFamily="1" charset="-122"/>
                <a:sym typeface="Wingdings" panose="05000000000000000000" pitchFamily="2" charset="2"/>
              </a:rPr>
              <a:t>”</a:t>
            </a:r>
            <a:r>
              <a:rPr lang="zh-CN" altLang="en-US" sz="2800" dirty="0">
                <a:solidFill>
                  <a:srgbClr val="3333CC"/>
                </a:solidFill>
                <a:latin typeface="Arial" panose="020B0604020202020204" pitchFamily="34" charset="0"/>
                <a:ea typeface="黑体" panose="02010609060101010101" pitchFamily="1" charset="-122"/>
                <a:sym typeface="Wingdings" panose="05000000000000000000" pitchFamily="2" charset="2"/>
              </a:rPr>
              <a:t>事务的两种处理方法</a:t>
            </a:r>
            <a:endParaRPr lang="zh-CN" altLang="en-US" sz="2800" dirty="0">
              <a:solidFill>
                <a:srgbClr val="3333CC"/>
              </a:solidFill>
              <a:latin typeface="Arial" panose="020B0604020202020204" pitchFamily="34" charset="0"/>
              <a:ea typeface="黑体" panose="02010609060101010101" pitchFamily="1" charset="-122"/>
              <a:sym typeface="Wingdings" panose="05000000000000000000" pitchFamily="2" charset="2"/>
            </a:endParaRPr>
          </a:p>
        </p:txBody>
      </p:sp>
      <p:sp>
        <p:nvSpPr>
          <p:cNvPr id="137220" name="Rectangle 3"/>
          <p:cNvSpPr txBox="1"/>
          <p:nvPr/>
        </p:nvSpPr>
        <p:spPr>
          <a:xfrm>
            <a:off x="792163" y="2219325"/>
            <a:ext cx="7834312" cy="2535238"/>
          </a:xfrm>
          <a:prstGeom prst="rect">
            <a:avLst/>
          </a:prstGeom>
          <a:noFill/>
          <a:ln w="9525">
            <a:noFill/>
          </a:ln>
        </p:spPr>
        <p:txBody>
          <a:bodyPr anchor="t"/>
          <a:lstStyle/>
          <a:p>
            <a:pPr marL="342900" lvl="0" indent="-342900">
              <a:lnSpc>
                <a:spcPct val="125000"/>
              </a:lnSpc>
              <a:spcBef>
                <a:spcPct val="20000"/>
              </a:spcBef>
              <a:buClr>
                <a:srgbClr val="0033CC"/>
              </a:buClr>
              <a:buSzPct val="80000"/>
            </a:pPr>
            <a:r>
              <a:rPr lang="en-US" altLang="x-none" sz="2400" dirty="0">
                <a:latin typeface="华文楷体" panose="02010600040101010101" pitchFamily="2" charset="-122"/>
                <a:ea typeface="宋体" panose="02010600030101010101" pitchFamily="2" charset="-122"/>
                <a:sym typeface="Wingdings" panose="05000000000000000000" pitchFamily="2" charset="2"/>
              </a:rPr>
              <a:t>① </a:t>
            </a:r>
            <a:r>
              <a:rPr lang="zh-CN" altLang="en-US" sz="2400" dirty="0">
                <a:latin typeface="华文楷体" panose="02010600040101010101" pitchFamily="2" charset="-122"/>
                <a:ea typeface="宋体" panose="02010600030101010101" pitchFamily="2" charset="-122"/>
                <a:sym typeface="Wingdings" panose="05000000000000000000" pitchFamily="2" charset="2"/>
              </a:rPr>
              <a:t>告之用户其事务因死锁被杀死，稍后向系统再次交付该事务；</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marL="342900" lvl="0" indent="-342900">
              <a:lnSpc>
                <a:spcPct val="125000"/>
              </a:lnSpc>
              <a:spcBef>
                <a:spcPct val="20000"/>
              </a:spcBef>
              <a:buClr>
                <a:srgbClr val="0033CC"/>
              </a:buClr>
              <a:buSzPct val="80000"/>
            </a:pPr>
            <a:r>
              <a:rPr lang="zh-CN" altLang="en-US" sz="2400" dirty="0">
                <a:latin typeface="华文楷体" panose="02010600040101010101" pitchFamily="2" charset="-122"/>
                <a:ea typeface="宋体" panose="02010600030101010101" pitchFamily="2" charset="-122"/>
              </a:rPr>
              <a:t>②</a:t>
            </a:r>
            <a:r>
              <a:rPr lang="zh-CN" altLang="en-US" sz="2400" dirty="0">
                <a:latin typeface="华文楷体" panose="02010600040101010101" pitchFamily="2" charset="-122"/>
                <a:ea typeface="宋体" panose="02010600030101010101" pitchFamily="2" charset="-122"/>
                <a:sym typeface="Wingdings" panose="05000000000000000000" pitchFamily="2" charset="2"/>
              </a:rPr>
              <a:t>由</a:t>
            </a:r>
            <a:r>
              <a:rPr lang="en-US" altLang="x-none" sz="2400" dirty="0">
                <a:latin typeface="华文楷体" panose="02010600040101010101" pitchFamily="2" charset="-122"/>
                <a:ea typeface="宋体" panose="02010600030101010101" pitchFamily="2" charset="-122"/>
                <a:sym typeface="Wingdings" panose="05000000000000000000" pitchFamily="2" charset="2"/>
              </a:rPr>
              <a:t>DBMS</a:t>
            </a:r>
            <a:r>
              <a:rPr lang="zh-CN" altLang="en-US" sz="2400" dirty="0">
                <a:latin typeface="华文楷体" panose="02010600040101010101" pitchFamily="2" charset="-122"/>
                <a:ea typeface="宋体" panose="02010600030101010101" pitchFamily="2" charset="-122"/>
                <a:sym typeface="Wingdings" panose="05000000000000000000" pitchFamily="2" charset="2"/>
              </a:rPr>
              <a:t>重启动该事务。说明：不管哪种“挽救”方法，被杀死的事务应等待一段时间才能交付系统，否则，可能再次引起死锁。</a:t>
            </a: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a:p>
            <a:pPr marL="342900" lvl="0" indent="-342900">
              <a:spcBef>
                <a:spcPct val="20000"/>
              </a:spcBef>
              <a:buClr>
                <a:srgbClr val="0033CC"/>
              </a:buClr>
              <a:buSzPct val="80000"/>
              <a:buFont typeface="Wingdings" panose="05000000000000000000" pitchFamily="2" charset="2"/>
              <a:buChar char="u"/>
            </a:pPr>
            <a:endParaRPr lang="en-US" altLang="x-none" sz="2000" dirty="0">
              <a:latin typeface="华文楷体" panose="02010600040101010101" pitchFamily="2" charset="-122"/>
              <a:ea typeface="宋体" panose="02010600030101010101" pitchFamily="2" charset="-122"/>
            </a:endParaRPr>
          </a:p>
        </p:txBody>
      </p:sp>
    </p:spTree>
  </p:cSld>
  <p:clrMapOvr>
    <a:masterClrMapping/>
  </p:clrMapOvr>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2"/>
          <p:cNvSpPr txBox="1"/>
          <p:nvPr/>
        </p:nvSpPr>
        <p:spPr>
          <a:xfrm>
            <a:off x="473075" y="168275"/>
            <a:ext cx="2071688" cy="706438"/>
          </a:xfrm>
          <a:prstGeom prst="rect">
            <a:avLst/>
          </a:prstGeom>
          <a:noFill/>
          <a:ln w="9525">
            <a:noFill/>
          </a:ln>
        </p:spPr>
        <p:txBody>
          <a:bodyPr anchor="t"/>
          <a:lstStyle/>
          <a:p>
            <a:pPr lvl="0" indent="0"/>
            <a:r>
              <a:rPr lang="zh-CN" altLang="en-US" sz="3200" dirty="0">
                <a:solidFill>
                  <a:srgbClr val="3333CC"/>
                </a:solidFill>
                <a:latin typeface="Arial" panose="020B0604020202020204" pitchFamily="34" charset="0"/>
                <a:ea typeface="黑体" panose="02010609060101010101" pitchFamily="1" charset="-122"/>
              </a:rPr>
              <a:t>本章小结</a:t>
            </a:r>
            <a:endParaRPr lang="zh-CN" altLang="en-US" sz="3200" dirty="0">
              <a:solidFill>
                <a:srgbClr val="3333CC"/>
              </a:solidFill>
              <a:latin typeface="Arial" panose="020B0604020202020204" pitchFamily="34" charset="0"/>
              <a:ea typeface="黑体" panose="02010609060101010101" pitchFamily="1" charset="-122"/>
            </a:endParaRPr>
          </a:p>
        </p:txBody>
      </p:sp>
      <p:sp>
        <p:nvSpPr>
          <p:cNvPr id="138242" name="Rectangle 3"/>
          <p:cNvSpPr txBox="1"/>
          <p:nvPr/>
        </p:nvSpPr>
        <p:spPr>
          <a:xfrm>
            <a:off x="495300" y="1093788"/>
            <a:ext cx="8137525" cy="3744912"/>
          </a:xfrm>
          <a:prstGeom prst="rect">
            <a:avLst/>
          </a:prstGeom>
          <a:noFill/>
          <a:ln w="9525">
            <a:noFill/>
          </a:ln>
        </p:spPr>
        <p:txBody>
          <a:bodyPr anchor="t"/>
          <a:lstStyle/>
          <a:p>
            <a:pPr marL="342900" lvl="0" indent="-342900">
              <a:lnSpc>
                <a:spcPct val="125000"/>
              </a:lnSpc>
              <a:spcBef>
                <a:spcPct val="20000"/>
              </a:spcBef>
              <a:buClr>
                <a:srgbClr val="0033CC"/>
              </a:buClr>
              <a:buSzPct val="80000"/>
              <a:buFont typeface="Wingdings" panose="05000000000000000000" pitchFamily="2" charset="2"/>
              <a:buChar char="ü"/>
            </a:pPr>
            <a:r>
              <a:rPr lang="zh-CN" altLang="en-US" sz="2400" dirty="0">
                <a:latin typeface="Arial" panose="020B0604020202020204" pitchFamily="34" charset="0"/>
                <a:ea typeface="宋体" panose="02010600030101010101" pitchFamily="2" charset="-122"/>
              </a:rPr>
              <a:t>数据库的保护：数据库的安全性、完整性、故障恢复和并发控制。</a:t>
            </a:r>
            <a:endParaRPr lang="zh-CN" altLang="en-US" sz="2400" dirty="0">
              <a:latin typeface="Arial" panose="020B0604020202020204" pitchFamily="34" charset="0"/>
              <a:ea typeface="宋体" panose="02010600030101010101" pitchFamily="2" charset="-122"/>
            </a:endParaRPr>
          </a:p>
          <a:p>
            <a:pPr marL="342900" lvl="0" indent="-342900">
              <a:lnSpc>
                <a:spcPct val="125000"/>
              </a:lnSpc>
              <a:spcBef>
                <a:spcPct val="20000"/>
              </a:spcBef>
              <a:buClr>
                <a:srgbClr val="0033CC"/>
              </a:buClr>
              <a:buSzPct val="80000"/>
              <a:buFont typeface="Wingdings" panose="05000000000000000000" pitchFamily="2" charset="2"/>
              <a:buChar char="ü"/>
            </a:pPr>
            <a:r>
              <a:rPr lang="zh-CN" altLang="en-US" sz="2400" dirty="0">
                <a:latin typeface="Arial" panose="020B0604020202020204" pitchFamily="34" charset="0"/>
                <a:ea typeface="宋体" panose="02010600030101010101" pitchFamily="2" charset="-122"/>
              </a:rPr>
              <a:t>数据库安全性：</a:t>
            </a:r>
            <a:endParaRPr lang="zh-CN" altLang="en-US" sz="2400" dirty="0">
              <a:latin typeface="Arial" panose="020B0604020202020204" pitchFamily="34" charset="0"/>
              <a:ea typeface="宋体" panose="02010600030101010101" pitchFamily="2" charset="-122"/>
            </a:endParaRPr>
          </a:p>
          <a:p>
            <a:pPr marL="342900" lvl="0" indent="-342900">
              <a:lnSpc>
                <a:spcPct val="125000"/>
              </a:lnSpc>
              <a:spcBef>
                <a:spcPct val="20000"/>
              </a:spcBef>
              <a:buClr>
                <a:srgbClr val="0033CC"/>
              </a:buClr>
              <a:buSzPct val="80000"/>
              <a:buFont typeface="Wingdings" panose="05000000000000000000" pitchFamily="2" charset="2"/>
              <a:buChar char="ü"/>
            </a:pPr>
            <a:r>
              <a:rPr lang="zh-CN" altLang="en-US" sz="2400" dirty="0">
                <a:latin typeface="Arial" panose="020B0604020202020204" pitchFamily="34" charset="0"/>
                <a:ea typeface="宋体" panose="02010600030101010101" pitchFamily="2" charset="-122"/>
              </a:rPr>
              <a:t>数据库完整性：</a:t>
            </a:r>
            <a:endParaRPr lang="zh-CN" altLang="en-US" sz="2400" dirty="0">
              <a:latin typeface="Arial" panose="020B0604020202020204" pitchFamily="34" charset="0"/>
              <a:ea typeface="宋体" panose="02010600030101010101" pitchFamily="2" charset="-122"/>
            </a:endParaRPr>
          </a:p>
          <a:p>
            <a:pPr marL="342900" lvl="0" indent="-342900">
              <a:lnSpc>
                <a:spcPct val="125000"/>
              </a:lnSpc>
              <a:spcBef>
                <a:spcPct val="20000"/>
              </a:spcBef>
              <a:buClr>
                <a:srgbClr val="0033CC"/>
              </a:buClr>
              <a:buSzPct val="80000"/>
              <a:buFont typeface="Wingdings" panose="05000000000000000000" pitchFamily="2" charset="2"/>
              <a:buChar char="ü"/>
            </a:pPr>
            <a:r>
              <a:rPr lang="zh-CN" altLang="en-US" sz="2400" dirty="0">
                <a:latin typeface="Arial" panose="020B0604020202020204" pitchFamily="34" charset="0"/>
                <a:ea typeface="宋体" panose="02010600030101010101" pitchFamily="2" charset="-122"/>
              </a:rPr>
              <a:t>故障恢复：</a:t>
            </a:r>
            <a:endParaRPr lang="zh-CN" altLang="en-US" sz="2400" dirty="0">
              <a:latin typeface="Arial" panose="020B0604020202020204" pitchFamily="34" charset="0"/>
              <a:ea typeface="宋体" panose="02010600030101010101" pitchFamily="2" charset="-122"/>
            </a:endParaRPr>
          </a:p>
          <a:p>
            <a:pPr marL="342900" lvl="0" indent="-342900">
              <a:lnSpc>
                <a:spcPct val="125000"/>
              </a:lnSpc>
              <a:spcBef>
                <a:spcPct val="20000"/>
              </a:spcBef>
              <a:buClr>
                <a:srgbClr val="0033CC"/>
              </a:buClr>
              <a:buSzPct val="80000"/>
              <a:buFont typeface="Wingdings" panose="05000000000000000000" pitchFamily="2" charset="2"/>
              <a:buChar char="ü"/>
            </a:pPr>
            <a:r>
              <a:rPr lang="zh-CN" altLang="en-US" sz="2400" dirty="0">
                <a:latin typeface="Arial" panose="020B0604020202020204" pitchFamily="34" charset="0"/>
                <a:ea typeface="宋体" panose="02010600030101010101" pitchFamily="2" charset="-122"/>
              </a:rPr>
              <a:t>并发控制：</a:t>
            </a:r>
            <a:endParaRPr lang="zh-CN" altLang="en-US" sz="2400" dirty="0">
              <a:latin typeface="Arial" panose="020B0604020202020204" pitchFamily="34" charset="0"/>
              <a:ea typeface="宋体" panose="02010600030101010101" pitchFamily="2" charset="-122"/>
            </a:endParaRPr>
          </a:p>
          <a:p>
            <a:pPr marL="342900" lvl="0" indent="-342900">
              <a:spcBef>
                <a:spcPct val="20000"/>
              </a:spcBef>
              <a:buClr>
                <a:srgbClr val="0033CC"/>
              </a:buClr>
              <a:buSzPct val="80000"/>
            </a:pPr>
            <a:endParaRPr lang="en-US" altLang="x-none" sz="2000" dirty="0">
              <a:latin typeface="Arial" panose="020B0604020202020204" pitchFamily="34" charset="0"/>
              <a:ea typeface="宋体" panose="02010600030101010101" pitchFamily="2" charset="-122"/>
            </a:endParaRPr>
          </a:p>
        </p:txBody>
      </p:sp>
    </p:spTree>
  </p:cSld>
  <p:clrMapOvr>
    <a:masterClrMapping/>
  </p:clrMapOvr>
  <p:transition/>
</p:sld>
</file>

<file path=ppt/tags/tag1.xml><?xml version="1.0" encoding="utf-8"?>
<p:tagLst xmlns:p="http://schemas.openxmlformats.org/presentationml/2006/main">
  <p:tag name="KSO_WPP_MARK_KEY" val="5244774c-4b06-415a-9945-6288f7e13416"/>
  <p:tag name="COMMONDATA" val="eyJoZGlkIjoiYjU1YTVlOTc2YzFjNjQzZjkyNDYwOTYzZjFmOTA0YWEifQ=="/>
  <p:tag name="commondata" val="eyJoZGlkIjoiN2MwNGZlODUyOThjOGE4NWQyMjhmMDY2NzI1NjFkNGEifQ=="/>
</p:tagLst>
</file>

<file path=ppt/theme/theme1.xml><?xml version="1.0" encoding="utf-8"?>
<a:theme xmlns:a="http://schemas.openxmlformats.org/drawingml/2006/main" name="1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Balance</Template>
  <TotalTime>0</TotalTime>
  <Words>32028</Words>
  <Application>WPS 演示</Application>
  <PresentationFormat>全屏显示(4:3)</PresentationFormat>
  <Paragraphs>2424</Paragraphs>
  <Slides>139</Slides>
  <Notes>7</Notes>
  <HiddenSlides>6</HiddenSlides>
  <MMClips>0</MMClips>
  <ScaleCrop>false</ScaleCrop>
  <HeadingPairs>
    <vt:vector size="8" baseType="variant">
      <vt:variant>
        <vt:lpstr>已用的字体</vt:lpstr>
      </vt:variant>
      <vt:variant>
        <vt:i4>19</vt:i4>
      </vt:variant>
      <vt:variant>
        <vt:lpstr>主题</vt:lpstr>
      </vt:variant>
      <vt:variant>
        <vt:i4>2</vt:i4>
      </vt:variant>
      <vt:variant>
        <vt:lpstr>嵌入 OLE 服务器</vt:lpstr>
      </vt:variant>
      <vt:variant>
        <vt:i4>34</vt:i4>
      </vt:variant>
      <vt:variant>
        <vt:lpstr>幻灯片标题</vt:lpstr>
      </vt:variant>
      <vt:variant>
        <vt:i4>139</vt:i4>
      </vt:variant>
    </vt:vector>
  </HeadingPairs>
  <TitlesOfParts>
    <vt:vector size="194" baseType="lpstr">
      <vt:lpstr>Arial</vt:lpstr>
      <vt:lpstr>宋体</vt:lpstr>
      <vt:lpstr>Wingdings</vt:lpstr>
      <vt:lpstr>楷体_GB2312</vt:lpstr>
      <vt:lpstr>Times New Roman</vt:lpstr>
      <vt:lpstr>黑体</vt:lpstr>
      <vt:lpstr>新宋体</vt:lpstr>
      <vt:lpstr>楷体</vt:lpstr>
      <vt:lpstr>方正舒体</vt:lpstr>
      <vt:lpstr>华文中宋</vt:lpstr>
      <vt:lpstr>华文楷体</vt:lpstr>
      <vt:lpstr>Wingdings</vt:lpstr>
      <vt:lpstr>微软雅黑</vt:lpstr>
      <vt:lpstr>Arial Unicode MS</vt:lpstr>
      <vt:lpstr>Calibri</vt:lpstr>
      <vt:lpstr>方正姚体</vt:lpstr>
      <vt:lpstr>仿宋_GB2312</vt:lpstr>
      <vt:lpstr>仿宋</vt:lpstr>
      <vt:lpstr>Wingdings 2</vt:lpstr>
      <vt:lpstr>1_默认设计模板</vt:lpstr>
      <vt:lpstr>2_默认设计模板</vt:lpstr>
      <vt:lpstr>Word.Picture.8</vt:lpstr>
      <vt:lpstr>Word.Picture.8</vt:lpstr>
      <vt:lpstr>Word.Picture.8</vt:lpstr>
      <vt:lpstr>Word.Picture.8</vt:lpstr>
      <vt:lpstr>Word.Picture.8</vt:lpstr>
      <vt:lpstr>Word.Picture.8</vt:lpstr>
      <vt:lpstr>Word.Picture.8</vt:lpstr>
      <vt:lpstr>Word.Picture.8</vt:lpstr>
      <vt:lpstr>Word.Picture.8</vt:lpstr>
      <vt:lpstr>Word.Picture.8</vt:lpstr>
      <vt:lpstr>Word.Picture.8</vt:lpstr>
      <vt:lpstr>Word.Picture.8</vt:lpstr>
      <vt:lpstr>Word.Picture.8</vt:lpstr>
      <vt:lpstr>Word.Picture.8</vt:lpstr>
      <vt:lpstr>Word.Picture.8</vt:lpstr>
      <vt:lpstr>Word.Picture.8</vt:lpstr>
      <vt:lpstr>Word.Picture.8</vt:lpstr>
      <vt:lpstr>Word.Picture.8</vt:lpstr>
      <vt:lpstr>Word.Picture.8</vt:lpstr>
      <vt:lpstr>Word.Picture.8</vt:lpstr>
      <vt:lpstr>Word.Picture.8</vt:lpstr>
      <vt:lpstr>Word.Picture.8</vt:lpstr>
      <vt:lpstr>Word.Picture.8</vt:lpstr>
      <vt:lpstr>Word.Picture.8</vt:lpstr>
      <vt:lpstr>Word.Picture.8</vt:lpstr>
      <vt:lpstr>Word.Picture.8</vt:lpstr>
      <vt:lpstr>Word.Picture.8</vt:lpstr>
      <vt:lpstr>Word.Picture.8</vt:lpstr>
      <vt:lpstr>Word.Picture.8</vt:lpstr>
      <vt:lpstr>Paint.Picture</vt:lpstr>
      <vt:lpstr>Paint.Picture</vt:lpstr>
      <vt:lpstr>Paint.Picture</vt:lpstr>
      <vt:lpstr>Paint.Picture</vt:lpstr>
      <vt:lpstr>Word.Picture.8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王淑营</dc:creator>
  <cp:lastModifiedBy>youzc</cp:lastModifiedBy>
  <cp:revision>3000</cp:revision>
  <dcterms:created xsi:type="dcterms:W3CDTF">2001-06-18T05:13:00Z</dcterms:created>
  <dcterms:modified xsi:type="dcterms:W3CDTF">2026-03-05T06:26:14Z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E3F812C89FA9464BBDDE4332AE5E768F_13</vt:lpwstr>
  </property>
</Properties>
</file>