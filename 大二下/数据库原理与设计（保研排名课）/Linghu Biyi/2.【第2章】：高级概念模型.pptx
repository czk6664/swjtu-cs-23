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122"/>
  </p:handoutMasterIdLst>
  <p:sldIdLst>
    <p:sldId id="917" r:id="rId4"/>
    <p:sldId id="1476" r:id="rId6"/>
    <p:sldId id="1700" r:id="rId7"/>
    <p:sldId id="1117" r:id="rId8"/>
    <p:sldId id="1043" r:id="rId9"/>
    <p:sldId id="1118" r:id="rId10"/>
    <p:sldId id="1044" r:id="rId11"/>
    <p:sldId id="1119" r:id="rId12"/>
    <p:sldId id="1802" r:id="rId13"/>
    <p:sldId id="1803" r:id="rId14"/>
    <p:sldId id="1047" r:id="rId15"/>
    <p:sldId id="1048" r:id="rId16"/>
    <p:sldId id="1049" r:id="rId17"/>
    <p:sldId id="1050" r:id="rId18"/>
    <p:sldId id="1051" r:id="rId19"/>
    <p:sldId id="1310" r:id="rId20"/>
    <p:sldId id="1053" r:id="rId21"/>
    <p:sldId id="1804" r:id="rId22"/>
    <p:sldId id="1805" r:id="rId23"/>
    <p:sldId id="1806" r:id="rId24"/>
    <p:sldId id="1054" r:id="rId25"/>
    <p:sldId id="1055" r:id="rId26"/>
    <p:sldId id="1056" r:id="rId27"/>
    <p:sldId id="1807" r:id="rId28"/>
    <p:sldId id="1808" r:id="rId29"/>
    <p:sldId id="1809" r:id="rId30"/>
    <p:sldId id="1810" r:id="rId31"/>
    <p:sldId id="1057" r:id="rId32"/>
    <p:sldId id="1128" r:id="rId33"/>
    <p:sldId id="1153" r:id="rId34"/>
    <p:sldId id="1058" r:id="rId35"/>
    <p:sldId id="1059" r:id="rId36"/>
    <p:sldId id="1124" r:id="rId37"/>
    <p:sldId id="1125" r:id="rId38"/>
    <p:sldId id="1126" r:id="rId39"/>
    <p:sldId id="1127" r:id="rId40"/>
    <p:sldId id="1104" r:id="rId41"/>
    <p:sldId id="1065" r:id="rId42"/>
    <p:sldId id="1066" r:id="rId43"/>
    <p:sldId id="1067" r:id="rId44"/>
    <p:sldId id="1811" r:id="rId45"/>
    <p:sldId id="1812" r:id="rId46"/>
    <p:sldId id="1813" r:id="rId47"/>
    <p:sldId id="1814" r:id="rId48"/>
    <p:sldId id="1815" r:id="rId49"/>
    <p:sldId id="1816" r:id="rId50"/>
    <p:sldId id="1068" r:id="rId51"/>
    <p:sldId id="1131" r:id="rId52"/>
    <p:sldId id="1069" r:id="rId53"/>
    <p:sldId id="1799" r:id="rId54"/>
    <p:sldId id="1079" r:id="rId55"/>
    <p:sldId id="1132" r:id="rId56"/>
    <p:sldId id="1073" r:id="rId57"/>
    <p:sldId id="1071" r:id="rId58"/>
    <p:sldId id="1817" r:id="rId59"/>
    <p:sldId id="1818" r:id="rId60"/>
    <p:sldId id="1819" r:id="rId61"/>
    <p:sldId id="1820" r:id="rId62"/>
    <p:sldId id="1821" r:id="rId63"/>
    <p:sldId id="1822" r:id="rId64"/>
    <p:sldId id="1133" r:id="rId65"/>
    <p:sldId id="1155" r:id="rId66"/>
    <p:sldId id="1156" r:id="rId67"/>
    <p:sldId id="1157" r:id="rId68"/>
    <p:sldId id="1146" r:id="rId69"/>
    <p:sldId id="1154" r:id="rId70"/>
    <p:sldId id="1390" r:id="rId71"/>
    <p:sldId id="1147" r:id="rId72"/>
    <p:sldId id="1151" r:id="rId73"/>
    <p:sldId id="1152" r:id="rId74"/>
    <p:sldId id="1074" r:id="rId75"/>
    <p:sldId id="1084" r:id="rId76"/>
    <p:sldId id="1800" r:id="rId77"/>
    <p:sldId id="1801" r:id="rId78"/>
    <p:sldId id="1438" r:id="rId79"/>
    <p:sldId id="1439" r:id="rId80"/>
    <p:sldId id="1158" r:id="rId81"/>
    <p:sldId id="1145" r:id="rId82"/>
    <p:sldId id="1170" r:id="rId83"/>
    <p:sldId id="1142" r:id="rId84"/>
    <p:sldId id="1160" r:id="rId85"/>
    <p:sldId id="1162" r:id="rId86"/>
    <p:sldId id="1161" r:id="rId87"/>
    <p:sldId id="1440" r:id="rId88"/>
    <p:sldId id="1085" r:id="rId89"/>
    <p:sldId id="1130" r:id="rId90"/>
    <p:sldId id="1129" r:id="rId91"/>
    <p:sldId id="1110" r:id="rId92"/>
    <p:sldId id="1107" r:id="rId93"/>
    <p:sldId id="1823" r:id="rId94"/>
    <p:sldId id="1824" r:id="rId95"/>
    <p:sldId id="1086" r:id="rId96"/>
    <p:sldId id="1087" r:id="rId97"/>
    <p:sldId id="1088" r:id="rId98"/>
    <p:sldId id="1827" r:id="rId99"/>
    <p:sldId id="1828" r:id="rId100"/>
    <p:sldId id="1829" r:id="rId101"/>
    <p:sldId id="1134" r:id="rId102"/>
    <p:sldId id="1135" r:id="rId103"/>
    <p:sldId id="1136" r:id="rId104"/>
    <p:sldId id="1137" r:id="rId105"/>
    <p:sldId id="1138" r:id="rId106"/>
    <p:sldId id="1139" r:id="rId107"/>
    <p:sldId id="1089" r:id="rId108"/>
    <p:sldId id="1090" r:id="rId109"/>
    <p:sldId id="1091" r:id="rId110"/>
    <p:sldId id="1167" r:id="rId111"/>
    <p:sldId id="1168" r:id="rId112"/>
    <p:sldId id="1169" r:id="rId113"/>
    <p:sldId id="1113" r:id="rId114"/>
    <p:sldId id="1114" r:id="rId115"/>
    <p:sldId id="1166" r:id="rId116"/>
    <p:sldId id="1097" r:id="rId117"/>
    <p:sldId id="1098" r:id="rId118"/>
    <p:sldId id="1099" r:id="rId119"/>
    <p:sldId id="1100" r:id="rId120"/>
    <p:sldId id="1101" r:id="rId121"/>
  </p:sldIdLst>
  <p:sldSz cx="9144000" cy="6858000" type="screen4x3"/>
  <p:notesSz cx="6781800" cy="9926320"/>
  <p:custDataLst>
    <p:tags r:id="rId126"/>
  </p:custDataLst>
  <p:defaultTextStyle>
    <a:defPPr>
      <a:defRPr lang="zh-CN"/>
    </a:defPPr>
    <a:lvl1pPr marL="0" lvl="0"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509" userDrawn="1">
          <p15:clr>
            <a:srgbClr val="A4A3A4"/>
          </p15:clr>
        </p15:guide>
        <p15:guide id="2"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FFFF"/>
    <a:srgbClr val="FFFFCC"/>
    <a:srgbClr val="006600"/>
    <a:srgbClr val="FF3300"/>
    <a:srgbClr val="CC0000"/>
    <a:srgbClr val="A50021"/>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3" d="100"/>
          <a:sy n="73" d="100"/>
        </p:scale>
        <p:origin x="1074" y="54"/>
      </p:cViewPr>
      <p:guideLst>
        <p:guide orient="horz" pos="509"/>
        <p:guide pos="288"/>
      </p:guideLst>
    </p:cSldViewPr>
  </p:slideViewPr>
  <p:notesTextViewPr>
    <p:cViewPr>
      <p:scale>
        <a:sx n="1" d="1"/>
        <a:sy n="1" d="1"/>
      </p:scale>
      <p:origin x="0" y="0"/>
    </p:cViewPr>
  </p:notesTextViewPr>
  <p:notesViewPr>
    <p:cSldViewPr snapToGrid="0">
      <p:cViewPr varScale="1">
        <p:scale>
          <a:sx n="61" d="100"/>
          <a:sy n="61" d="100"/>
        </p:scale>
        <p:origin x="2237" y="6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6" Type="http://schemas.openxmlformats.org/officeDocument/2006/relationships/tags" Target="tags/tag9.xml"/><Relationship Id="rId125" Type="http://schemas.openxmlformats.org/officeDocument/2006/relationships/tableStyles" Target="tableStyles.xml"/><Relationship Id="rId124" Type="http://schemas.openxmlformats.org/officeDocument/2006/relationships/viewProps" Target="viewProps.xml"/><Relationship Id="rId123" Type="http://schemas.openxmlformats.org/officeDocument/2006/relationships/presProps" Target="presProps.xml"/><Relationship Id="rId122" Type="http://schemas.openxmlformats.org/officeDocument/2006/relationships/handoutMaster" Target="handoutMasters/handoutMaster1.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8463"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1750" y="0"/>
            <a:ext cx="2938463" cy="496888"/>
          </a:xfrm>
          <a:prstGeom prst="rect">
            <a:avLst/>
          </a:prstGeom>
        </p:spPr>
        <p:txBody>
          <a:bodyPr vert="horz" lIns="91440" tIns="45720" rIns="91440" bIns="45720" rtlCol="0"/>
          <a:lstStyle>
            <a:lvl1pPr algn="r">
              <a:defRPr sz="1200"/>
            </a:lvl1pPr>
          </a:lstStyle>
          <a:p>
            <a:fld id="{EAA4018E-6B8D-40F0-B228-09BEB964140F}" type="datetimeFigureOut">
              <a:rPr lang="zh-CN" altLang="en-US" smtClean="0"/>
            </a:fld>
            <a:endParaRPr lang="zh-CN" altLang="en-US"/>
          </a:p>
        </p:txBody>
      </p:sp>
      <p:sp>
        <p:nvSpPr>
          <p:cNvPr id="4" name="页脚占位符 3"/>
          <p:cNvSpPr>
            <a:spLocks noGrp="1"/>
          </p:cNvSpPr>
          <p:nvPr>
            <p:ph type="ftr" sz="quarter" idx="2"/>
          </p:nvPr>
        </p:nvSpPr>
        <p:spPr>
          <a:xfrm>
            <a:off x="0" y="9429750"/>
            <a:ext cx="2938463" cy="49688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1750" y="9429750"/>
            <a:ext cx="2938463" cy="496888"/>
          </a:xfrm>
          <a:prstGeom prst="rect">
            <a:avLst/>
          </a:prstGeom>
        </p:spPr>
        <p:txBody>
          <a:bodyPr vert="horz" lIns="91440" tIns="45720" rIns="91440" bIns="45720" rtlCol="0" anchor="b"/>
          <a:lstStyle>
            <a:lvl1pPr algn="r">
              <a:defRPr sz="1200"/>
            </a:lvl1pPr>
          </a:lstStyle>
          <a:p>
            <a:fld id="{19864CE7-FF88-4055-B148-C545999F260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p>
            <a:pPr lvl="0" algn="r"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6" name="Rectangle 4"/>
          <p:cNvSpPr>
            <a:spLocks noGrp="1" noRot="1" noChangeAspect="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ctr"/>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p>
            <a:pPr lvl="0" algn="r" eaLnBrk="1" fontAlgn="base" hangingPunct="1">
              <a:lnSpc>
                <a:spcPct val="100000"/>
              </a:lnSpc>
              <a:buNone/>
            </a:pPr>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baike.baidu.com/view/228928.htm" TargetMode="External"/><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p:sp>
      <p:sp>
        <p:nvSpPr>
          <p:cNvPr id="6147" name="备注占位符 2"/>
          <p:cNvSpPr>
            <a:spLocks noGrp="1"/>
          </p:cNvSpPr>
          <p:nvPr>
            <p:ph type="body"/>
          </p:nvPr>
        </p:nvSpPr>
        <p:spPr/>
        <p:txBody>
          <a:bodyPr wrap="square" anchor="t"/>
          <a:lstStyle/>
          <a:p>
            <a:pPr lvl="0" indent="0"/>
            <a:r>
              <a:rPr lang="zh-CN" altLang="en-US" dirty="0"/>
              <a:t>实体联系模型</a:t>
            </a:r>
            <a:r>
              <a:rPr lang="en-US" altLang="x-none" dirty="0"/>
              <a:t>,</a:t>
            </a:r>
            <a:r>
              <a:rPr lang="zh-CN" altLang="en-US" dirty="0"/>
              <a:t>又叫做</a:t>
            </a:r>
            <a:r>
              <a:rPr lang="en-US" altLang="x-none" dirty="0"/>
              <a:t>E-R</a:t>
            </a:r>
            <a:r>
              <a:rPr lang="zh-CN" altLang="en-US" dirty="0"/>
              <a:t>模型</a:t>
            </a:r>
            <a:r>
              <a:rPr lang="en-US" altLang="x-none" dirty="0"/>
              <a:t>,</a:t>
            </a:r>
            <a:r>
              <a:rPr lang="zh-CN" altLang="en-US" dirty="0"/>
              <a:t>是一种高级数据模型</a:t>
            </a:r>
            <a:r>
              <a:rPr lang="en-US" altLang="x-none" dirty="0"/>
              <a:t>,</a:t>
            </a:r>
            <a:r>
              <a:rPr lang="zh-CN" altLang="en-US" dirty="0"/>
              <a:t>广泛应用于对现实系统的数据抽象。是系统设计人员与业务人员进行交互的工具。</a:t>
            </a:r>
            <a:endParaRPr lang="en-US" altLang="x-none" dirty="0"/>
          </a:p>
          <a:p>
            <a:pPr lvl="0" indent="0"/>
            <a:r>
              <a:rPr lang="zh-CN" altLang="en-US" dirty="0"/>
              <a:t>本章是我们这个课程体系的一个重点，要求大家不但要掌握其基本概念和方法，还要能具体应用，给定一个现实系统，能画出其</a:t>
            </a:r>
            <a:r>
              <a:rPr lang="en-US" altLang="x-none" dirty="0"/>
              <a:t>ER</a:t>
            </a:r>
            <a:r>
              <a:rPr lang="zh-CN" altLang="en-US" dirty="0"/>
              <a:t>图。</a:t>
            </a:r>
            <a:endParaRPr lang="zh-CN" altLang="en-US" dirty="0"/>
          </a:p>
        </p:txBody>
      </p:sp>
      <p:sp>
        <p:nvSpPr>
          <p:cNvPr id="614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p:sp>
      <p:sp>
        <p:nvSpPr>
          <p:cNvPr id="12291" name="备注占位符 2"/>
          <p:cNvSpPr>
            <a:spLocks noGrp="1"/>
          </p:cNvSpPr>
          <p:nvPr>
            <p:ph type="body"/>
          </p:nvPr>
        </p:nvSpPr>
        <p:spPr/>
        <p:txBody>
          <a:bodyPr wrap="square" anchor="t"/>
          <a:lstStyle/>
          <a:p>
            <a:pPr lvl="0" indent="0"/>
            <a:r>
              <a:rPr lang="zh-CN" altLang="en-US" dirty="0"/>
              <a:t>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p>
        </p:txBody>
      </p:sp>
      <p:sp>
        <p:nvSpPr>
          <p:cNvPr id="1229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p:nvPr>
        </p:nvSpPr>
        <p:spPr/>
        <p:txBody>
          <a:bodyPr wrap="square" anchor="t"/>
          <a:lstStyle/>
          <a:p>
            <a:pPr lvl="0" indent="0"/>
            <a:r>
              <a:rPr lang="zh-CN" altLang="en-US" dirty="0"/>
              <a:t>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p>
        </p:txBody>
      </p:sp>
      <p:sp>
        <p:nvSpPr>
          <p:cNvPr id="1434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p:sp>
      <p:sp>
        <p:nvSpPr>
          <p:cNvPr id="16387" name="备注占位符 2"/>
          <p:cNvSpPr>
            <a:spLocks noGrp="1"/>
          </p:cNvSpPr>
          <p:nvPr>
            <p:ph type="body"/>
          </p:nvPr>
        </p:nvSpPr>
        <p:spPr/>
        <p:txBody>
          <a:bodyPr wrap="square" anchor="t"/>
          <a:lstStyle/>
          <a:p>
            <a:pPr lvl="0" indent="0"/>
            <a:r>
              <a:rPr lang="zh-CN" altLang="en-US" dirty="0"/>
              <a:t>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p>
        </p:txBody>
      </p:sp>
      <p:sp>
        <p:nvSpPr>
          <p:cNvPr id="1638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p:sp>
      <p:sp>
        <p:nvSpPr>
          <p:cNvPr id="18435" name="备注占位符 2"/>
          <p:cNvSpPr>
            <a:spLocks noGrp="1"/>
          </p:cNvSpPr>
          <p:nvPr>
            <p:ph type="body"/>
          </p:nvPr>
        </p:nvSpPr>
        <p:spPr/>
        <p:txBody>
          <a:bodyPr wrap="square" anchor="t"/>
          <a:lstStyle/>
          <a:p>
            <a:pPr lvl="0" indent="0"/>
            <a:r>
              <a:rPr lang="en-US" altLang="x-none" dirty="0"/>
              <a:t>DFD-</a:t>
            </a:r>
            <a:r>
              <a:rPr lang="zh-CN" altLang="en-US" dirty="0"/>
              <a:t>数据流程图</a:t>
            </a:r>
            <a:r>
              <a:rPr lang="en-US" altLang="x-none" dirty="0"/>
              <a:t>,</a:t>
            </a:r>
            <a:r>
              <a:rPr lang="zh-CN" altLang="en-US" dirty="0"/>
              <a:t> 它从数据传递和加工角度，以图形方式来表达系统的逻辑功能、数据在系统内部的逻辑流向和逻辑变换过程，是</a:t>
            </a:r>
            <a:r>
              <a:rPr lang="zh-CN" altLang="en-US" dirty="0">
                <a:hlinkClick r:id="rId3" action="ppaction://hlinkfile"/>
              </a:rPr>
              <a:t>结构化系统分析方法</a:t>
            </a:r>
            <a:r>
              <a:rPr lang="zh-CN" altLang="en-US" dirty="0"/>
              <a:t>的主要表达工具及用于表示模型的一种图示方法。</a:t>
            </a:r>
            <a:endParaRPr lang="zh-CN" altLang="en-US" dirty="0"/>
          </a:p>
          <a:p>
            <a:pPr lvl="0" indent="0"/>
            <a:endParaRPr lang="zh-CN" altLang="en-US" dirty="0"/>
          </a:p>
        </p:txBody>
      </p:sp>
      <p:sp>
        <p:nvSpPr>
          <p:cNvPr id="1843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p:nvPr>
        </p:nvSpPr>
        <p:spPr/>
        <p:txBody>
          <a:bodyPr wrap="square" anchor="t"/>
          <a:lstStyle/>
          <a:p>
            <a:pPr lvl="0" indent="0"/>
            <a:r>
              <a:rPr lang="zh-CN" altLang="en-US" dirty="0"/>
              <a:t>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p>
        </p:txBody>
      </p:sp>
      <p:sp>
        <p:nvSpPr>
          <p:cNvPr id="2048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anchor="t"/>
          <a:lstStyle/>
          <a:p>
            <a:pPr lvl="0" indent="0"/>
            <a:r>
              <a:rPr lang="zh-CN" altLang="en-US" dirty="0"/>
              <a:t>下面我们看一下</a:t>
            </a:r>
            <a:r>
              <a:rPr lang="en-US" altLang="x-none" dirty="0"/>
              <a:t>ER</a:t>
            </a:r>
            <a:r>
              <a:rPr lang="zh-CN" altLang="en-US" dirty="0"/>
              <a:t>模型提供的描述元件和描述机制。</a:t>
            </a:r>
            <a:endParaRPr lang="zh-CN" altLang="en-US" dirty="0"/>
          </a:p>
        </p:txBody>
      </p:sp>
      <p:sp>
        <p:nvSpPr>
          <p:cNvPr id="2355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p:nvPr>
        </p:nvSpPr>
        <p:spPr/>
        <p:txBody>
          <a:bodyPr wrap="square" anchor="t"/>
          <a:lstStyle/>
          <a:p>
            <a:pPr lvl="0" indent="0" eaLnBrk="1" hangingPunct="1"/>
            <a:r>
              <a:rPr lang="zh-CN" altLang="en-US" dirty="0"/>
              <a:t>实体用属性描述。实体集中的所有实体具有相同的属性。</a:t>
            </a:r>
            <a:endParaRPr lang="zh-CN" altLang="en-US" dirty="0"/>
          </a:p>
          <a:p>
            <a:pPr lvl="0" indent="0" eaLnBrk="1" hangingPunct="1"/>
            <a:r>
              <a:rPr lang="zh-CN" altLang="en-US" dirty="0"/>
              <a:t>某个属性可能属于多个分类。例如</a:t>
            </a:r>
            <a:r>
              <a:rPr lang="zh-CN" altLang="en-US" dirty="0">
                <a:latin typeface="Tahoma" panose="020B0604030504040204" pitchFamily="2" charset="0"/>
              </a:rPr>
              <a:t>“</a:t>
            </a:r>
            <a:r>
              <a:rPr lang="zh-CN" altLang="en-US" dirty="0"/>
              <a:t>学位</a:t>
            </a:r>
            <a:r>
              <a:rPr lang="zh-CN" altLang="en-US" dirty="0">
                <a:latin typeface="Tahoma" panose="020B0604030504040204" pitchFamily="2" charset="0"/>
              </a:rPr>
              <a:t>”</a:t>
            </a:r>
            <a:r>
              <a:rPr lang="zh-CN" altLang="en-US" dirty="0"/>
              <a:t>既可能是空值，也可能是多值。</a:t>
            </a:r>
            <a:endParaRPr lang="zh-CN" altLang="en-US" dirty="0"/>
          </a:p>
          <a:p>
            <a:pPr lvl="0" indent="0"/>
            <a:endParaRPr lang="zh-CN" altLang="en-US" dirty="0"/>
          </a:p>
        </p:txBody>
      </p:sp>
      <p:sp>
        <p:nvSpPr>
          <p:cNvPr id="3174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p:nvPr>
        </p:nvSpPr>
        <p:spPr/>
        <p:txBody>
          <a:bodyPr wrap="square" anchor="t"/>
          <a:lstStyle/>
          <a:p>
            <a:pPr lvl="0" indent="0"/>
            <a:r>
              <a:rPr lang="zh-CN" altLang="en-US" dirty="0"/>
              <a:t>联系类型的四种情况</a:t>
            </a:r>
            <a:endParaRPr lang="zh-CN" altLang="en-US" dirty="0"/>
          </a:p>
        </p:txBody>
      </p:sp>
      <p:sp>
        <p:nvSpPr>
          <p:cNvPr id="3584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p:nvPr>
        </p:nvSpPr>
        <p:spPr/>
        <p:txBody>
          <a:bodyPr wrap="square" anchor="t"/>
          <a:lstStyle/>
          <a:p>
            <a:pPr lvl="0" indent="0"/>
            <a:r>
              <a:rPr lang="en-US" altLang="x-none" dirty="0"/>
              <a:t>E-R</a:t>
            </a:r>
            <a:r>
              <a:rPr lang="zh-CN" altLang="en-US" dirty="0"/>
              <a:t>模型中的约束有</a:t>
            </a:r>
            <a:r>
              <a:rPr lang="en-US" altLang="x-none" dirty="0"/>
              <a:t>3</a:t>
            </a:r>
            <a:r>
              <a:rPr lang="zh-CN" altLang="en-US" dirty="0"/>
              <a:t>种：一般性约束、键约束和参与约束。</a:t>
            </a:r>
            <a:endParaRPr lang="zh-CN" altLang="en-US" dirty="0"/>
          </a:p>
        </p:txBody>
      </p:sp>
      <p:sp>
        <p:nvSpPr>
          <p:cNvPr id="3789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p:nvPr>
        </p:nvSpPr>
        <p:spPr/>
        <p:txBody>
          <a:bodyPr wrap="square" anchor="t"/>
          <a:lstStyle/>
          <a:p>
            <a:pPr lvl="0" indent="0"/>
            <a:r>
              <a:rPr lang="en-US" altLang="x-none" dirty="0"/>
              <a:t>E-R</a:t>
            </a:r>
            <a:r>
              <a:rPr lang="zh-CN" altLang="en-US" dirty="0"/>
              <a:t>模型中的约束有</a:t>
            </a:r>
            <a:r>
              <a:rPr lang="en-US" altLang="x-none" dirty="0"/>
              <a:t>3</a:t>
            </a:r>
            <a:r>
              <a:rPr lang="zh-CN" altLang="en-US" dirty="0"/>
              <a:t>种：一般性约束、键约束和参与约束。</a:t>
            </a:r>
            <a:endParaRPr lang="zh-CN" altLang="en-US" dirty="0"/>
          </a:p>
        </p:txBody>
      </p:sp>
      <p:sp>
        <p:nvSpPr>
          <p:cNvPr id="3994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p:sp>
      <p:sp>
        <p:nvSpPr>
          <p:cNvPr id="41987" name="备注占位符 2"/>
          <p:cNvSpPr>
            <a:spLocks noGrp="1"/>
          </p:cNvSpPr>
          <p:nvPr>
            <p:ph type="body"/>
          </p:nvPr>
        </p:nvSpPr>
        <p:spPr/>
        <p:txBody>
          <a:bodyPr wrap="square" anchor="t"/>
          <a:lstStyle/>
          <a:p>
            <a:pPr lvl="0" indent="0"/>
            <a:r>
              <a:rPr lang="en-US" altLang="x-none" dirty="0"/>
              <a:t>E-R</a:t>
            </a:r>
            <a:r>
              <a:rPr lang="zh-CN" altLang="en-US" dirty="0"/>
              <a:t>模型中的约束有</a:t>
            </a:r>
            <a:r>
              <a:rPr lang="en-US" altLang="x-none" dirty="0"/>
              <a:t>3</a:t>
            </a:r>
            <a:r>
              <a:rPr lang="zh-CN" altLang="en-US" dirty="0"/>
              <a:t>种：一般性约束、键约束和参与约束。</a:t>
            </a:r>
            <a:endParaRPr lang="zh-CN" altLang="en-US" dirty="0"/>
          </a:p>
        </p:txBody>
      </p:sp>
      <p:sp>
        <p:nvSpPr>
          <p:cNvPr id="4198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p:nvPr>
        </p:nvSpPr>
        <p:spPr/>
        <p:txBody>
          <a:bodyPr wrap="square" anchor="t"/>
          <a:lstStyle/>
          <a:p>
            <a:pPr lvl="0" indent="0" eaLnBrk="1" hangingPunct="1"/>
            <a:r>
              <a:rPr lang="zh-CN" altLang="en-US" dirty="0"/>
              <a:t>在确定是</a:t>
            </a:r>
            <a:r>
              <a:rPr lang="en-US" altLang="x-none" dirty="0"/>
              <a:t>1</a:t>
            </a:r>
            <a:r>
              <a:rPr lang="zh-CN" altLang="en-US" dirty="0"/>
              <a:t>：</a:t>
            </a:r>
            <a:r>
              <a:rPr lang="en-US" altLang="x-none" dirty="0"/>
              <a:t>1</a:t>
            </a:r>
            <a:r>
              <a:rPr lang="zh-CN" altLang="en-US" dirty="0"/>
              <a:t>约束、</a:t>
            </a:r>
            <a:r>
              <a:rPr lang="en-US" altLang="x-none" dirty="0"/>
              <a:t>1</a:t>
            </a:r>
            <a:r>
              <a:rPr lang="zh-CN" altLang="en-US" dirty="0"/>
              <a:t>：</a:t>
            </a:r>
            <a:r>
              <a:rPr lang="en-US" altLang="x-none" dirty="0"/>
              <a:t>n</a:t>
            </a:r>
            <a:r>
              <a:rPr lang="zh-CN" altLang="en-US" dirty="0"/>
              <a:t>约束还是</a:t>
            </a:r>
            <a:r>
              <a:rPr lang="en-US" altLang="x-none" dirty="0"/>
              <a:t>m:n</a:t>
            </a:r>
            <a:r>
              <a:rPr lang="zh-CN" altLang="en-US" dirty="0"/>
              <a:t>约束时，不能只看一个方向上的数量约束</a:t>
            </a:r>
            <a:r>
              <a:rPr lang="en-US" altLang="x-none" dirty="0"/>
              <a:t>,</a:t>
            </a:r>
            <a:r>
              <a:rPr lang="zh-CN" altLang="en-US" dirty="0"/>
              <a:t>一定要综合两个方向上的约束数量</a:t>
            </a:r>
            <a:r>
              <a:rPr lang="en-US" altLang="x-none" dirty="0"/>
              <a:t>.</a:t>
            </a:r>
            <a:endParaRPr lang="en-US" altLang="x-none" dirty="0"/>
          </a:p>
        </p:txBody>
      </p:sp>
      <p:sp>
        <p:nvSpPr>
          <p:cNvPr id="4403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p:nvPr>
        </p:nvSpPr>
        <p:spPr/>
        <p:txBody>
          <a:bodyPr wrap="square" anchor="t"/>
          <a:lstStyle/>
          <a:p>
            <a:pPr lvl="0" indent="0"/>
            <a:r>
              <a:rPr lang="zh-CN" altLang="en-US" b="1" dirty="0">
                <a:solidFill>
                  <a:srgbClr val="FF3300"/>
                </a:solidFill>
                <a:ea typeface="华文仿宋" panose="02010600040101010101" pitchFamily="2" charset="-122"/>
              </a:rPr>
              <a:t>提示：</a:t>
            </a:r>
            <a:r>
              <a:rPr lang="zh-CN" altLang="en-US" b="1" dirty="0">
                <a:solidFill>
                  <a:schemeClr val="accent2"/>
                </a:solidFill>
                <a:ea typeface="华文仿宋" panose="02010600040101010101" pitchFamily="2" charset="-122"/>
              </a:rPr>
              <a:t>用这种方式（约束）来说明现实系统中实体之间在数量上的约束。</a:t>
            </a:r>
            <a:endParaRPr lang="zh-CN" altLang="en-US" dirty="0"/>
          </a:p>
        </p:txBody>
      </p:sp>
      <p:sp>
        <p:nvSpPr>
          <p:cNvPr id="4608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p:nvPr>
        </p:nvSpPr>
        <p:spPr/>
        <p:txBody>
          <a:bodyPr wrap="square" anchor="t"/>
          <a:lstStyle/>
          <a:p>
            <a:pPr lvl="0" indent="0"/>
            <a:r>
              <a:rPr lang="zh-CN" altLang="en-US" b="1" dirty="0">
                <a:latin typeface="华文楷体" panose="02010600040101010101" pitchFamily="2" charset="-122"/>
              </a:rPr>
              <a:t>联系型的三种对应关系分别为：一对一约束、一对多约束和多对多约束。这是</a:t>
            </a:r>
            <a:r>
              <a:rPr lang="en-US" altLang="x-none" b="1" dirty="0">
                <a:latin typeface="华文楷体" panose="02010600040101010101" pitchFamily="2" charset="-122"/>
              </a:rPr>
              <a:t>ERM</a:t>
            </a:r>
            <a:r>
              <a:rPr lang="zh-CN" altLang="en-US" b="1" dirty="0">
                <a:latin typeface="华文楷体" panose="02010600040101010101" pitchFamily="2" charset="-122"/>
              </a:rPr>
              <a:t>中一般性的约束，而键约束是在一般性约束的基础上更细致的约束。</a:t>
            </a:r>
            <a:endParaRPr lang="zh-CN" altLang="en-US" b="1" dirty="0">
              <a:latin typeface="华文楷体" panose="02010600040101010101" pitchFamily="2" charset="-122"/>
            </a:endParaRPr>
          </a:p>
          <a:p>
            <a:pPr lvl="0" indent="0"/>
            <a:endParaRPr lang="zh-CN" altLang="en-US" dirty="0"/>
          </a:p>
        </p:txBody>
      </p:sp>
      <p:sp>
        <p:nvSpPr>
          <p:cNvPr id="5530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p:nvPr>
        </p:nvSpPr>
        <p:spPr/>
        <p:txBody>
          <a:bodyPr wrap="square" anchor="t"/>
          <a:lstStyle/>
          <a:p>
            <a:pPr lvl="0" indent="0" eaLnBrk="1" hangingPunct="1">
              <a:spcBef>
                <a:spcPct val="50000"/>
              </a:spcBef>
            </a:pPr>
            <a:r>
              <a:rPr lang="zh-CN" altLang="en-US" b="1" dirty="0">
                <a:solidFill>
                  <a:srgbClr val="CC0000"/>
                </a:solidFill>
              </a:rPr>
              <a:t>必须从属性着手，</a:t>
            </a:r>
            <a:r>
              <a:rPr lang="zh-CN" altLang="en-US" b="1" dirty="0"/>
              <a:t>键可以区别实体，也可以区别属性。</a:t>
            </a:r>
            <a:endParaRPr lang="zh-CN" altLang="en-US" dirty="0"/>
          </a:p>
          <a:p>
            <a:pPr lvl="0" indent="0" eaLnBrk="1" hangingPunct="1"/>
            <a:r>
              <a:rPr lang="zh-CN" altLang="en-US" dirty="0"/>
              <a:t>教师“张明”只能出现在“在西南交大工作”这个“工作”联系实例中。</a:t>
            </a:r>
            <a:endParaRPr lang="zh-CN" altLang="en-US" dirty="0"/>
          </a:p>
          <a:p>
            <a:pPr lvl="0" indent="0" eaLnBrk="1" hangingPunct="1"/>
            <a:r>
              <a:rPr lang="zh-CN" altLang="en-US" dirty="0"/>
              <a:t>教师“赵亮”只能出现在“在清华工作”这个“工作”联系实例中。</a:t>
            </a:r>
            <a:endParaRPr lang="zh-CN" altLang="en-US" dirty="0"/>
          </a:p>
          <a:p>
            <a:pPr lvl="0" indent="0" eaLnBrk="1" hangingPunct="1"/>
            <a:r>
              <a:rPr lang="zh-CN" altLang="en-US" dirty="0"/>
              <a:t>所以“教师”实体可以唯一确定“工作”联系。</a:t>
            </a:r>
            <a:endParaRPr lang="en-US" altLang="x-none" dirty="0"/>
          </a:p>
          <a:p>
            <a:pPr lvl="0" indent="0"/>
            <a:endParaRPr lang="zh-CN" altLang="en-US" dirty="0"/>
          </a:p>
        </p:txBody>
      </p:sp>
      <p:sp>
        <p:nvSpPr>
          <p:cNvPr id="5734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7" name="Rectangle 6"/>
          <p:cNvSpPr/>
          <p:nvPr userDrawn="1"/>
        </p:nvSpPr>
        <p:spPr>
          <a:xfrm>
            <a:off x="2463800" y="6472238"/>
            <a:ext cx="4240213" cy="386080"/>
          </a:xfrm>
          <a:prstGeom prst="rect">
            <a:avLst/>
          </a:prstGeom>
          <a:noFill/>
          <a:ln w="9525">
            <a:noFill/>
          </a:ln>
        </p:spPr>
        <p:txBody>
          <a:bodyPr anchor="t">
            <a:spAutoFit/>
          </a:bodyPr>
          <a:lstStyle/>
          <a:p>
            <a:pPr lvl="0" indent="0" algn="ctr">
              <a:lnSpc>
                <a:spcPct val="120000"/>
              </a:lnSpc>
              <a:buNone/>
            </a:pPr>
            <a:r>
              <a:rPr lang="en-US" altLang="x-none" sz="1600" dirty="0" smtClean="0">
                <a:solidFill>
                  <a:schemeClr val="bg1"/>
                </a:solidFill>
                <a:latin typeface="Arial" panose="020B0604020202020204" pitchFamily="34" charset="0"/>
                <a:ea typeface="宋体" panose="02010600030101010101" pitchFamily="2" charset="-122"/>
              </a:rPr>
              <a:t>20</a:t>
            </a:r>
            <a:r>
              <a:rPr lang="en-US" altLang="zh-CN" sz="1600" dirty="0" smtClean="0">
                <a:solidFill>
                  <a:schemeClr val="bg1"/>
                </a:solidFill>
                <a:latin typeface="Arial" panose="020B0604020202020204" pitchFamily="34" charset="0"/>
                <a:ea typeface="宋体" panose="02010600030101010101" pitchFamily="2" charset="-122"/>
              </a:rPr>
              <a:t>25</a:t>
            </a:r>
            <a:r>
              <a:rPr lang="en-US" altLang="x-none" sz="1600" dirty="0" smtClean="0">
                <a:solidFill>
                  <a:schemeClr val="bg1"/>
                </a:solidFill>
                <a:latin typeface="Arial" panose="020B0604020202020204" pitchFamily="34" charset="0"/>
                <a:ea typeface="宋体" panose="02010600030101010101" pitchFamily="2" charset="-122"/>
              </a:rPr>
              <a:t>~2026</a:t>
            </a:r>
            <a:r>
              <a:rPr lang="zh-CN" altLang="en-US" sz="1600" dirty="0" smtClean="0">
                <a:solidFill>
                  <a:schemeClr val="bg1"/>
                </a:solidFill>
                <a:latin typeface="Arial" panose="020B0604020202020204" pitchFamily="34" charset="0"/>
                <a:ea typeface="宋体" panose="02010600030101010101" pitchFamily="2" charset="-122"/>
              </a:rPr>
              <a:t>度</a:t>
            </a:r>
            <a:r>
              <a:rPr lang="zh-CN" altLang="en-US" sz="1600" dirty="0" smtClean="0">
                <a:solidFill>
                  <a:schemeClr val="bg1"/>
                </a:solidFill>
                <a:latin typeface="Arial" panose="020B0604020202020204" pitchFamily="34" charset="0"/>
                <a:ea typeface="宋体" panose="02010600030101010101" pitchFamily="2" charset="-122"/>
              </a:rPr>
              <a:t>第</a:t>
            </a:r>
            <a:r>
              <a:rPr lang="en-US" altLang="zh-CN" sz="1600" dirty="0" smtClean="0">
                <a:solidFill>
                  <a:schemeClr val="bg1"/>
                </a:solidFill>
                <a:latin typeface="Arial" panose="020B0604020202020204" pitchFamily="34" charset="0"/>
                <a:ea typeface="宋体" panose="02010600030101010101" pitchFamily="2" charset="-122"/>
              </a:rPr>
              <a:t>2</a:t>
            </a:r>
            <a:r>
              <a:rPr lang="zh-CN" altLang="en-US" sz="1600" dirty="0" smtClean="0">
                <a:solidFill>
                  <a:schemeClr val="bg1"/>
                </a:solidFill>
                <a:latin typeface="Arial" panose="020B0604020202020204" pitchFamily="34" charset="0"/>
                <a:ea typeface="宋体" panose="02010600030101010101" pitchFamily="2" charset="-122"/>
              </a:rPr>
              <a:t>学期</a:t>
            </a:r>
            <a:endParaRPr lang="zh-CN" altLang="en-US" sz="1600" dirty="0">
              <a:solidFill>
                <a:schemeClr val="bg1"/>
              </a:solidFill>
              <a:latin typeface="Arial" panose="020B0604020202020204" pitchFamily="34" charset="0"/>
              <a:ea typeface="宋体" panose="02010600030101010101" pitchFamily="2" charset="-122"/>
            </a:endParaRPr>
          </a:p>
        </p:txBody>
      </p:sp>
      <p:sp>
        <p:nvSpPr>
          <p:cNvPr id="1028" name="Rectangle 10"/>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9" name="Rectangle 11"/>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2050" name="Rectangle 2"/>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1" name="Rectangle 3"/>
          <p:cNvSpPr/>
          <p:nvPr userDrawn="1"/>
        </p:nvSpPr>
        <p:spPr>
          <a:xfrm>
            <a:off x="3165475" y="6472238"/>
            <a:ext cx="2979738" cy="386080"/>
          </a:xfrm>
          <a:prstGeom prst="rect">
            <a:avLst/>
          </a:prstGeom>
          <a:noFill/>
          <a:ln w="9525">
            <a:noFill/>
          </a:ln>
        </p:spPr>
        <p:txBody>
          <a:bodyPr anchor="t">
            <a:spAutoFit/>
          </a:bodyPr>
          <a:lstStyle/>
          <a:p>
            <a:pPr marL="0" marR="0" lvl="0" indent="0" algn="ctr" defTabSz="914400" eaLnBrk="1" fontAlgn="base" latinLnBrk="0" hangingPunct="1">
              <a:lnSpc>
                <a:spcPct val="120000"/>
              </a:lnSpc>
              <a:spcBef>
                <a:spcPct val="0"/>
              </a:spcBef>
              <a:spcAft>
                <a:spcPct val="0"/>
              </a:spcAft>
              <a:buClrTx/>
              <a:buSzTx/>
              <a:buFont typeface="Arial" panose="020B0604020202020204" pitchFamily="34" charset="0"/>
              <a:buNone/>
              <a:defRPr/>
            </a:pPr>
            <a:r>
              <a:rPr lang="en-US" altLang="x-none" sz="1600" dirty="0" smtClean="0">
                <a:solidFill>
                  <a:schemeClr val="bg1"/>
                </a:solidFill>
                <a:latin typeface="Arial" panose="020B0604020202020204" pitchFamily="34" charset="0"/>
                <a:ea typeface="宋体" panose="02010600030101010101" pitchFamily="2" charset="-122"/>
              </a:rPr>
              <a:t>20</a:t>
            </a:r>
            <a:r>
              <a:rPr lang="en-US" altLang="zh-CN" sz="1600" dirty="0" smtClean="0">
                <a:solidFill>
                  <a:schemeClr val="bg1"/>
                </a:solidFill>
                <a:latin typeface="Arial" panose="020B0604020202020204" pitchFamily="34" charset="0"/>
                <a:ea typeface="宋体" panose="02010600030101010101" pitchFamily="2" charset="-122"/>
              </a:rPr>
              <a:t>25</a:t>
            </a:r>
            <a:r>
              <a:rPr lang="en-US" altLang="x-none" sz="1600" dirty="0" smtClean="0">
                <a:solidFill>
                  <a:schemeClr val="bg1"/>
                </a:solidFill>
                <a:latin typeface="Arial" panose="020B0604020202020204" pitchFamily="34" charset="0"/>
                <a:ea typeface="宋体" panose="02010600030101010101" pitchFamily="2" charset="-122"/>
              </a:rPr>
              <a:t>~2026</a:t>
            </a:r>
            <a:r>
              <a:rPr lang="zh-CN" altLang="en-US" sz="1600" dirty="0" smtClean="0">
                <a:solidFill>
                  <a:schemeClr val="bg1"/>
                </a:solidFill>
                <a:latin typeface="Arial" panose="020B0604020202020204" pitchFamily="34" charset="0"/>
                <a:ea typeface="宋体" panose="02010600030101010101" pitchFamily="2" charset="-122"/>
              </a:rPr>
              <a:t>度</a:t>
            </a:r>
            <a:r>
              <a:rPr lang="zh-CN" altLang="en-US" sz="1600" dirty="0" smtClean="0">
                <a:solidFill>
                  <a:schemeClr val="bg1"/>
                </a:solidFill>
                <a:latin typeface="Arial" panose="020B0604020202020204" pitchFamily="34" charset="0"/>
                <a:ea typeface="宋体" panose="02010600030101010101" pitchFamily="2" charset="-122"/>
              </a:rPr>
              <a:t>第</a:t>
            </a:r>
            <a:r>
              <a:rPr lang="en-US" altLang="zh-CN" sz="1600" dirty="0" smtClean="0">
                <a:solidFill>
                  <a:schemeClr val="bg1"/>
                </a:solidFill>
                <a:latin typeface="Arial" panose="020B0604020202020204" pitchFamily="34" charset="0"/>
                <a:ea typeface="宋体" panose="02010600030101010101" pitchFamily="2" charset="-122"/>
              </a:rPr>
              <a:t>2</a:t>
            </a:r>
            <a:r>
              <a:rPr lang="zh-CN" altLang="en-US" sz="1600" dirty="0" smtClean="0">
                <a:solidFill>
                  <a:schemeClr val="bg1"/>
                </a:solidFill>
                <a:latin typeface="Arial" panose="020B0604020202020204" pitchFamily="34" charset="0"/>
                <a:ea typeface="宋体" panose="02010600030101010101" pitchFamily="2" charset="-122"/>
              </a:rPr>
              <a:t>学期</a:t>
            </a:r>
            <a:endParaRPr lang="zh-CN" altLang="en-US" sz="1600" dirty="0" smtClean="0">
              <a:solidFill>
                <a:schemeClr val="bg1"/>
              </a:solidFill>
              <a:latin typeface="Arial" panose="020B0604020202020204" pitchFamily="34" charset="0"/>
              <a:ea typeface="宋体" panose="02010600030101010101" pitchFamily="2" charset="-122"/>
            </a:endParaRPr>
          </a:p>
        </p:txBody>
      </p:sp>
      <p:sp>
        <p:nvSpPr>
          <p:cNvPr id="2052" name="Rectangle 4"/>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3" name="Rectangle 5"/>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2054" name="Rectangle 6"/>
          <p:cNvSpPr/>
          <p:nvPr userDrawn="1"/>
        </p:nvSpPr>
        <p:spPr>
          <a:xfrm>
            <a:off x="309563" y="174625"/>
            <a:ext cx="7237412" cy="560388"/>
          </a:xfrm>
          <a:prstGeom prst="rect">
            <a:avLst/>
          </a:prstGeom>
          <a:noFill/>
          <a:ln w="9525">
            <a:noFill/>
          </a:ln>
        </p:spPr>
        <p:txBody>
          <a:bodyPr anchor="t"/>
          <a:lstStyle/>
          <a:p>
            <a:pPr lvl="0" indent="0">
              <a:lnSpc>
                <a:spcPct val="100000"/>
              </a:lnSpc>
              <a:buNone/>
            </a:pPr>
            <a:r>
              <a:rPr lang="en-US" altLang="x-none" sz="2800" dirty="0">
                <a:solidFill>
                  <a:srgbClr val="FF0000"/>
                </a:solidFill>
                <a:latin typeface="Times New Roman" panose="02020603050405020304" pitchFamily="2" charset="0"/>
                <a:ea typeface="宋体" panose="02010600030101010101" pitchFamily="2" charset="-122"/>
              </a:rPr>
              <a:t>Principle and Design of Database</a:t>
            </a:r>
            <a:endParaRPr lang="en-US" altLang="x-none" sz="2000" dirty="0">
              <a:solidFill>
                <a:srgbClr val="FF0000"/>
              </a:solidFill>
              <a:latin typeface="Times New Roman" panose="02020603050405020304" pitchFamily="2" charset="0"/>
              <a:ea typeface="宋体" panose="02010600030101010101" pitchFamily="2" charset="-122"/>
            </a:endParaRPr>
          </a:p>
          <a:p>
            <a:pPr lvl="0" indent="0">
              <a:lnSpc>
                <a:spcPct val="100000"/>
              </a:lnSpc>
              <a:buNone/>
            </a:pPr>
            <a:endParaRPr lang="en-US" altLang="x-none" sz="2800" dirty="0">
              <a:solidFill>
                <a:srgbClr val="FF3300"/>
              </a:solidFill>
              <a:latin typeface="黑体" panose="02010609060101010101" pitchFamily="1" charset="-122"/>
              <a:ea typeface="黑体" panose="02010609060101010101" pitchFamily="1" charset="-122"/>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6"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18.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9.emf"/><Relationship Id="rId1"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1.emf"/><Relationship Id="rId1" Type="http://schemas.openxmlformats.org/officeDocument/2006/relationships/oleObject" Target="../embeddings/oleObject3.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2.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4.emf"/><Relationship Id="rId1" Type="http://schemas.openxmlformats.org/officeDocument/2006/relationships/oleObject" Target="../embeddings/oleObject4.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5.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6.bin"/></Relationships>
</file>

<file path=ppt/slides/_rels/slide9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7.bin"/></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tags" Target="../tags/tag4.xml"/></Relationships>
</file>

<file path=ppt/slides/_rels/slide9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AutoShape 51"/>
          <p:cNvSpPr/>
          <p:nvPr/>
        </p:nvSpPr>
        <p:spPr>
          <a:xfrm>
            <a:off x="1422083" y="1360805"/>
            <a:ext cx="6561137" cy="1001713"/>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lstStyle/>
          <a:p>
            <a:pPr lvl="0" indent="0" algn="ctr" eaLnBrk="0" hangingPunct="0">
              <a:lnSpc>
                <a:spcPct val="125000"/>
              </a:lnSpc>
              <a:spcBef>
                <a:spcPct val="50000"/>
              </a:spcBef>
              <a:buNone/>
            </a:pPr>
            <a:r>
              <a:rPr lang="zh-CN" altLang="en-US" sz="3200" dirty="0">
                <a:latin typeface="Times New Roman" panose="02020603050405020304" pitchFamily="2" charset="0"/>
                <a:ea typeface="楷体_GB2312" pitchFamily="1" charset="-122"/>
              </a:rPr>
              <a:t>第二章：高级（概念）数据模型</a:t>
            </a:r>
            <a:endParaRPr lang="en-US" altLang="x-none" sz="3200" dirty="0">
              <a:latin typeface="Times New Roman" panose="02020603050405020304" pitchFamily="2" charset="0"/>
              <a:ea typeface="楷体_GB2312" pitchFamily="1" charset="-122"/>
            </a:endParaRPr>
          </a:p>
        </p:txBody>
      </p:sp>
      <p:sp>
        <p:nvSpPr>
          <p:cNvPr id="5122" name="Rectangle 7"/>
          <p:cNvSpPr>
            <a:spLocks noGrp="1"/>
          </p:cNvSpPr>
          <p:nvPr>
            <p:ph type="body"/>
          </p:nvPr>
        </p:nvSpPr>
        <p:spPr>
          <a:xfrm>
            <a:off x="1422400" y="3509963"/>
            <a:ext cx="7199313" cy="1919287"/>
          </a:xfrm>
        </p:spPr>
        <p:txBody>
          <a:bodyPr wrap="square" lIns="0" tIns="0" rIns="0" bIns="0" anchor="t"/>
          <a:lstStyle/>
          <a:p>
            <a:pPr marL="342900" lvl="1" indent="-342900">
              <a:lnSpc>
                <a:spcPct val="110000"/>
              </a:lnSpc>
              <a:buClrTx/>
              <a:buChar char="u"/>
            </a:pPr>
            <a:r>
              <a:rPr lang="zh-CN" altLang="en-US" sz="2400" dirty="0">
                <a:latin typeface="宋体" panose="02010600030101010101" pitchFamily="2" charset="-122"/>
              </a:rPr>
              <a:t>数据模型层次性及内容（静态结构与完整性约束）</a:t>
            </a:r>
            <a:endParaRPr lang="en-US" altLang="x-none" sz="2400" dirty="0">
              <a:latin typeface="宋体" panose="02010600030101010101" pitchFamily="2" charset="-122"/>
            </a:endParaRPr>
          </a:p>
          <a:p>
            <a:pPr marL="342900" lvl="1" indent="-342900">
              <a:lnSpc>
                <a:spcPct val="110000"/>
              </a:lnSpc>
              <a:buClrTx/>
              <a:buChar char="u"/>
            </a:pPr>
            <a:r>
              <a:rPr lang="zh-CN" altLang="en-US" sz="2400" dirty="0">
                <a:latin typeface="宋体" panose="02010600030101010101" pitchFamily="2" charset="-122"/>
              </a:rPr>
              <a:t>实体联系模型中的基本概念</a:t>
            </a:r>
            <a:endParaRPr lang="en-US" altLang="x-none" sz="2400" dirty="0">
              <a:latin typeface="宋体" panose="02010600030101010101" pitchFamily="2" charset="-122"/>
            </a:endParaRPr>
          </a:p>
          <a:p>
            <a:pPr marL="342900" lvl="1" indent="-342900">
              <a:lnSpc>
                <a:spcPct val="110000"/>
              </a:lnSpc>
              <a:buClrTx/>
              <a:buChar char="u"/>
            </a:pPr>
            <a:r>
              <a:rPr lang="zh-CN" altLang="en-US" sz="2400" dirty="0">
                <a:latin typeface="宋体" panose="02010600030101010101" pitchFamily="2" charset="-122"/>
              </a:rPr>
              <a:t>扩展实体联系模型的基本概念</a:t>
            </a:r>
            <a:endParaRPr lang="en-US" altLang="x-none" sz="2400" dirty="0">
              <a:latin typeface="宋体" panose="02010600030101010101" pitchFamily="2" charset="-122"/>
            </a:endParaRPr>
          </a:p>
          <a:p>
            <a:pPr marL="342900" lvl="1" indent="-342900">
              <a:buClrTx/>
              <a:buNone/>
            </a:pPr>
            <a:endParaRPr lang="zh-CN" altLang="en-US" sz="2200" dirty="0">
              <a:latin typeface="楷体" panose="02010609060101010101" pitchFamily="1" charset="-122"/>
              <a:ea typeface="楷体" panose="02010609060101010101" pitchFamily="1" charset="-122"/>
            </a:endParaRPr>
          </a:p>
        </p:txBody>
      </p:sp>
      <p:sp>
        <p:nvSpPr>
          <p:cNvPr id="5123" name="Rectangle 8"/>
          <p:cNvSpPr/>
          <p:nvPr/>
        </p:nvSpPr>
        <p:spPr>
          <a:xfrm>
            <a:off x="1355725" y="3370739"/>
            <a:ext cx="7227888" cy="1908000"/>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wrap="square" anchor="ctr">
            <a:spAutoFit/>
          </a:bodyPr>
          <a:lstStyle/>
          <a:p>
            <a:pPr lvl="0" indent="0"/>
            <a:endParaRPr lang="zh-CN" altLang="en-US" dirty="0">
              <a:latin typeface="Arial" panose="020B0604020202020204" pitchFamily="34" charset="0"/>
              <a:ea typeface="宋体" panose="02010600030101010101" pitchFamily="2" charset="-122"/>
            </a:endParaRPr>
          </a:p>
        </p:txBody>
      </p:sp>
      <p:pic>
        <p:nvPicPr>
          <p:cNvPr id="5124" name="Picture 6" descr="j0233174"/>
          <p:cNvPicPr>
            <a:picLocks noChangeAspect="1"/>
          </p:cNvPicPr>
          <p:nvPr/>
        </p:nvPicPr>
        <p:blipFill>
          <a:blip r:embed="rId1"/>
          <a:stretch>
            <a:fillRect/>
          </a:stretch>
        </p:blipFill>
        <p:spPr>
          <a:xfrm>
            <a:off x="374333" y="4128135"/>
            <a:ext cx="1460500" cy="1882775"/>
          </a:xfrm>
          <a:prstGeom prst="rect">
            <a:avLst/>
          </a:prstGeom>
          <a:noFill/>
          <a:ln w="9525">
            <a:noFill/>
          </a:ln>
        </p:spPr>
      </p:pic>
      <p:sp>
        <p:nvSpPr>
          <p:cNvPr id="5126" name="Text Box 10"/>
          <p:cNvSpPr txBox="1"/>
          <p:nvPr/>
        </p:nvSpPr>
        <p:spPr>
          <a:xfrm>
            <a:off x="1355725" y="2611438"/>
            <a:ext cx="4348163" cy="681037"/>
          </a:xfrm>
          <a:prstGeom prst="rect">
            <a:avLst/>
          </a:prstGeom>
          <a:noFill/>
          <a:ln w="9525">
            <a:noFill/>
          </a:ln>
        </p:spPr>
        <p:txBody>
          <a:bodyPr anchor="t">
            <a:spAutoFit/>
          </a:bodyPr>
          <a:lstStyle/>
          <a:p>
            <a:pPr lvl="0" indent="0">
              <a:spcBef>
                <a:spcPct val="50000"/>
              </a:spcBef>
              <a:buNone/>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p:transition advTm="5467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6"/>
                                        </p:tgtEl>
                                        <p:attrNameLst>
                                          <p:attrName>style.visibility</p:attrName>
                                        </p:attrNameLst>
                                      </p:cBhvr>
                                      <p:to>
                                        <p:strVal val="visible"/>
                                      </p:to>
                                    </p:set>
                                    <p:anim calcmode="lin" valueType="num">
                                      <p:cBhvr additive="base">
                                        <p:cTn id="7" dur="500" fill="hold"/>
                                        <p:tgtEl>
                                          <p:spTgt spid="5126"/>
                                        </p:tgtEl>
                                        <p:attrNameLst>
                                          <p:attrName>ppt_x</p:attrName>
                                        </p:attrNameLst>
                                      </p:cBhvr>
                                      <p:tavLst>
                                        <p:tav tm="0">
                                          <p:val>
                                            <p:strVal val="1+#ppt_w/2"/>
                                          </p:val>
                                        </p:tav>
                                        <p:tav tm="100000">
                                          <p:val>
                                            <p:strVal val="#ppt_x"/>
                                          </p:val>
                                        </p:tav>
                                      </p:tavLst>
                                    </p:anim>
                                    <p:anim calcmode="lin" valueType="num">
                                      <p:cBhvr additive="base">
                                        <p:cTn id="8" dur="500" fill="hold"/>
                                        <p:tgtEl>
                                          <p:spTgt spid="51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对象 1"/>
          <p:cNvGraphicFramePr/>
          <p:nvPr/>
        </p:nvGraphicFramePr>
        <p:xfrm>
          <a:off x="573088" y="3167063"/>
          <a:ext cx="7820025" cy="1395412"/>
        </p:xfrm>
        <a:graphic>
          <a:graphicData uri="http://schemas.openxmlformats.org/presentationml/2006/ole">
            <mc:AlternateContent xmlns:mc="http://schemas.openxmlformats.org/markup-compatibility/2006">
              <mc:Choice xmlns:v="urn:schemas-microsoft-com:vml" Requires="v">
                <p:oleObj spid="_x0000_s3092" name="" r:id="rId1" imgW="6972300" imgH="1257300" progId="Paint.Picture">
                  <p:embed/>
                </p:oleObj>
              </mc:Choice>
              <mc:Fallback>
                <p:oleObj name="" r:id="rId1" imgW="6972300" imgH="1257300" progId="Paint.Picture">
                  <p:embed/>
                  <p:pic>
                    <p:nvPicPr>
                      <p:cNvPr id="0" name="图片 3075"/>
                      <p:cNvPicPr/>
                      <p:nvPr/>
                    </p:nvPicPr>
                    <p:blipFill>
                      <a:blip r:embed="rId2"/>
                      <a:stretch>
                        <a:fillRect/>
                      </a:stretch>
                    </p:blipFill>
                    <p:spPr>
                      <a:xfrm>
                        <a:off x="573088" y="3167063"/>
                        <a:ext cx="7820025" cy="1395412"/>
                      </a:xfrm>
                      <a:prstGeom prst="rect">
                        <a:avLst/>
                      </a:prstGeom>
                      <a:noFill/>
                      <a:ln w="38100">
                        <a:noFill/>
                        <a:miter/>
                      </a:ln>
                    </p:spPr>
                  </p:pic>
                </p:oleObj>
              </mc:Fallback>
            </mc:AlternateContent>
          </a:graphicData>
        </a:graphic>
      </p:graphicFrame>
      <p:sp>
        <p:nvSpPr>
          <p:cNvPr id="21507" name="矩形 16"/>
          <p:cNvSpPr/>
          <p:nvPr/>
        </p:nvSpPr>
        <p:spPr>
          <a:xfrm>
            <a:off x="519113" y="4691063"/>
            <a:ext cx="8105775" cy="1408112"/>
          </a:xfrm>
          <a:prstGeom prst="rect">
            <a:avLst/>
          </a:prstGeom>
          <a:solidFill>
            <a:schemeClr val="accent1"/>
          </a:solidFill>
          <a:ln w="9525">
            <a:noFill/>
          </a:ln>
        </p:spPr>
        <p:txBody>
          <a:bodyPr wrap="square" anchor="t">
            <a:spAutoFit/>
          </a:bodyPr>
          <a:lstStyle/>
          <a:p>
            <a:pPr marL="457200" lvl="0" indent="-457200">
              <a:lnSpc>
                <a:spcPct val="120000"/>
              </a:lnSpc>
              <a:buFont typeface="Wingdings" panose="05000000000000000000" pitchFamily="2" charset="2"/>
              <a:buChar char="u"/>
            </a:pPr>
            <a:r>
              <a:rPr lang="zh-CN" altLang="en-US" sz="2400" dirty="0">
                <a:solidFill>
                  <a:srgbClr val="007C00"/>
                </a:solidFill>
                <a:latin typeface="宋体" panose="02010600030101010101" pitchFamily="2" charset="-122"/>
                <a:ea typeface="宋体" panose="02010600030101010101" pitchFamily="2" charset="-122"/>
              </a:rPr>
              <a:t>实体联系模型（</a:t>
            </a:r>
            <a:r>
              <a:rPr lang="en-US" altLang="zh-CN" sz="2400" dirty="0">
                <a:solidFill>
                  <a:srgbClr val="007C00"/>
                </a:solidFill>
                <a:latin typeface="宋体" panose="02010600030101010101" pitchFamily="2" charset="-122"/>
                <a:ea typeface="宋体" panose="02010600030101010101" pitchFamily="2" charset="-122"/>
              </a:rPr>
              <a:t>Entity-Relationship Model</a:t>
            </a:r>
            <a:r>
              <a:rPr lang="zh-CN" altLang="en-US" sz="2400" dirty="0">
                <a:solidFill>
                  <a:srgbClr val="007C00"/>
                </a:solidFill>
                <a:latin typeface="宋体" panose="02010600030101010101" pitchFamily="2" charset="-122"/>
                <a:ea typeface="宋体" panose="02010600030101010101" pitchFamily="2" charset="-122"/>
              </a:rPr>
              <a:t>）：用于描述信息世界的概念数据模型。它通过画图将实体以及实体间的联系刻画出来，为客观事物建立概念数据模型。</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71683" name="Rectangle 3"/>
          <p:cNvSpPr>
            <a:spLocks noGrp="1"/>
          </p:cNvSpPr>
          <p:nvPr/>
        </p:nvSpPr>
        <p:spPr>
          <a:xfrm>
            <a:off x="573088" y="808038"/>
            <a:ext cx="5938837" cy="2498725"/>
          </a:xfrm>
          <a:prstGeom prst="rect">
            <a:avLst/>
          </a:prstGeom>
          <a:noFill/>
          <a:ln w="9525">
            <a:noFill/>
          </a:ln>
        </p:spPr>
        <p:txBody>
          <a:bodyPr wrap="square" lIns="91440" tIns="45720" rIns="91440" bIns="45720" anchor="t"/>
          <a:lstStyle/>
          <a:p>
            <a:pPr lvl="0" algn="just">
              <a:lnSpc>
                <a:spcPct val="120000"/>
              </a:lnSpc>
              <a:spcBef>
                <a:spcPct val="20000"/>
              </a:spcBef>
              <a:buClr>
                <a:schemeClr val="hlink"/>
              </a:buClr>
              <a:buFont typeface="Wingdings" panose="05000000000000000000" charset="0"/>
              <a:buChar char="p"/>
            </a:pPr>
            <a:r>
              <a:rPr lang="en-US" altLang="zh-CN" sz="2800">
                <a:latin typeface="Arial" panose="020B0604020202020204" pitchFamily="34" charset="0"/>
                <a:ea typeface="宋体" panose="02010600030101010101" pitchFamily="2" charset="-122"/>
              </a:rPr>
              <a:t> </a:t>
            </a:r>
            <a:r>
              <a:rPr lang="zh-CN" altLang="en-US" sz="2800">
                <a:latin typeface="Arial" panose="020B0604020202020204" pitchFamily="34" charset="0"/>
                <a:ea typeface="宋体" panose="02010600030101010101" pitchFamily="2" charset="-122"/>
              </a:rPr>
              <a:t>概念模型的用途</a:t>
            </a:r>
            <a:endParaRPr lang="zh-CN" altLang="en-US" sz="2800">
              <a:latin typeface="Arial" panose="020B0604020202020204" pitchFamily="34" charset="0"/>
              <a:ea typeface="宋体" panose="02010600030101010101" pitchFamily="2" charset="-122"/>
            </a:endParaRPr>
          </a:p>
          <a:p>
            <a:pPr marL="800100" lvl="1" indent="-342900" algn="just" eaLnBrk="1" fontAlgn="base" hangingPunct="1">
              <a:lnSpc>
                <a:spcPct val="120000"/>
              </a:lnSpc>
              <a:spcBef>
                <a:spcPct val="20000"/>
              </a:spcBef>
              <a:spcAft>
                <a:spcPct val="0"/>
              </a:spcAft>
              <a:buClrTx/>
              <a:buFont typeface="Wingdings" panose="05000000000000000000" charset="0"/>
              <a:buChar char="Ø"/>
            </a:pPr>
            <a:r>
              <a:rPr lang="zh-CN" altLang="en-US" sz="2000">
                <a:solidFill>
                  <a:schemeClr val="tx1"/>
                </a:solidFill>
                <a:latin typeface="Arial" panose="020B0604020202020204" pitchFamily="34" charset="0"/>
                <a:ea typeface="宋体" panose="02010600030101010101" pitchFamily="2" charset="-122"/>
              </a:rPr>
              <a:t>概念模型用于信息世界的建模</a:t>
            </a:r>
            <a:endParaRPr lang="zh-CN" altLang="en-US" sz="2000">
              <a:solidFill>
                <a:schemeClr val="tx1"/>
              </a:solidFill>
              <a:latin typeface="Arial" panose="020B0604020202020204" pitchFamily="34" charset="0"/>
              <a:ea typeface="宋体" panose="02010600030101010101" pitchFamily="2" charset="-122"/>
            </a:endParaRPr>
          </a:p>
          <a:p>
            <a:pPr marL="800100" lvl="1" indent="-342900" algn="l" eaLnBrk="1" fontAlgn="base" hangingPunct="1">
              <a:lnSpc>
                <a:spcPct val="120000"/>
              </a:lnSpc>
              <a:spcBef>
                <a:spcPct val="20000"/>
              </a:spcBef>
              <a:spcAft>
                <a:spcPct val="0"/>
              </a:spcAft>
              <a:buClrTx/>
              <a:buFont typeface="Wingdings" panose="05000000000000000000" charset="0"/>
              <a:buChar char="Ø"/>
            </a:pPr>
            <a:r>
              <a:rPr lang="zh-CN" altLang="en-US" sz="2000">
                <a:solidFill>
                  <a:schemeClr val="tx1"/>
                </a:solidFill>
                <a:latin typeface="Arial" panose="020B0604020202020204" pitchFamily="34" charset="0"/>
                <a:ea typeface="宋体" panose="02010600030101010101" pitchFamily="2" charset="-122"/>
              </a:rPr>
              <a:t>是现实世界到机器世界的一个中间层次</a:t>
            </a:r>
            <a:endParaRPr lang="zh-CN" altLang="en-US" sz="2000">
              <a:solidFill>
                <a:schemeClr val="tx1"/>
              </a:solidFill>
              <a:latin typeface="Arial" panose="020B0604020202020204" pitchFamily="34" charset="0"/>
              <a:ea typeface="宋体" panose="02010600030101010101" pitchFamily="2" charset="-122"/>
            </a:endParaRPr>
          </a:p>
          <a:p>
            <a:pPr marL="800100" lvl="1" indent="-342900" algn="just" eaLnBrk="1" fontAlgn="base" hangingPunct="1">
              <a:lnSpc>
                <a:spcPct val="120000"/>
              </a:lnSpc>
              <a:spcBef>
                <a:spcPct val="20000"/>
              </a:spcBef>
              <a:spcAft>
                <a:spcPct val="0"/>
              </a:spcAft>
              <a:buClrTx/>
              <a:buFont typeface="Wingdings" panose="05000000000000000000" charset="0"/>
              <a:buChar char="Ø"/>
            </a:pPr>
            <a:r>
              <a:rPr lang="zh-CN" altLang="en-US" sz="2000">
                <a:solidFill>
                  <a:schemeClr val="tx1"/>
                </a:solidFill>
                <a:latin typeface="Arial" panose="020B0604020202020204" pitchFamily="34" charset="0"/>
                <a:ea typeface="宋体" panose="02010600030101010101" pitchFamily="2" charset="-122"/>
              </a:rPr>
              <a:t>是数据库设计的有力工具</a:t>
            </a:r>
            <a:endParaRPr lang="zh-CN" altLang="en-US" sz="2000">
              <a:solidFill>
                <a:schemeClr val="tx1"/>
              </a:solidFill>
              <a:latin typeface="Arial" panose="020B0604020202020204" pitchFamily="34" charset="0"/>
              <a:ea typeface="宋体" panose="02010600030101010101" pitchFamily="2" charset="-122"/>
            </a:endParaRPr>
          </a:p>
          <a:p>
            <a:pPr marL="800100" lvl="1" indent="-342900" algn="just" eaLnBrk="1" fontAlgn="base" hangingPunct="1">
              <a:lnSpc>
                <a:spcPct val="120000"/>
              </a:lnSpc>
              <a:spcBef>
                <a:spcPct val="20000"/>
              </a:spcBef>
              <a:spcAft>
                <a:spcPct val="0"/>
              </a:spcAft>
              <a:buClrTx/>
              <a:buFont typeface="Wingdings" panose="05000000000000000000" charset="0"/>
              <a:buChar char="Ø"/>
            </a:pPr>
            <a:r>
              <a:rPr lang="zh-CN" altLang="en-US" sz="2000">
                <a:solidFill>
                  <a:schemeClr val="tx1"/>
                </a:solidFill>
                <a:latin typeface="Arial" panose="020B0604020202020204" pitchFamily="34" charset="0"/>
                <a:ea typeface="宋体" panose="02010600030101010101" pitchFamily="2" charset="-122"/>
              </a:rPr>
              <a:t>数据库设计人员和用户之间进行交流的语言</a:t>
            </a:r>
            <a:endParaRPr lang="zh-CN" altLang="en-US" sz="2400">
              <a:solidFill>
                <a:schemeClr val="tx1"/>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diamond(in)">
                                      <p:cBhvr>
                                        <p:cTn id="7" dur="500"/>
                                        <p:tgtEl>
                                          <p:spTgt spid="71683">
                                            <p:txEl>
                                              <p:pRg st="0" end="0"/>
                                            </p:txEl>
                                          </p:spTgt>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71683">
                                            <p:txEl>
                                              <p:pRg st="1" end="1"/>
                                            </p:txEl>
                                          </p:spTgt>
                                        </p:tgtEl>
                                        <p:attrNameLst>
                                          <p:attrName>style.visibility</p:attrName>
                                        </p:attrNameLst>
                                      </p:cBhvr>
                                      <p:to>
                                        <p:strVal val="visible"/>
                                      </p:to>
                                    </p:set>
                                    <p:animEffect transition="in" filter="diamond(in)">
                                      <p:cBhvr>
                                        <p:cTn id="10" dur="500"/>
                                        <p:tgtEl>
                                          <p:spTgt spid="71683">
                                            <p:txEl>
                                              <p:pRg st="1" end="1"/>
                                            </p:txEl>
                                          </p:spTgt>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71683">
                                            <p:txEl>
                                              <p:pRg st="2" end="2"/>
                                            </p:txEl>
                                          </p:spTgt>
                                        </p:tgtEl>
                                        <p:attrNameLst>
                                          <p:attrName>style.visibility</p:attrName>
                                        </p:attrNameLst>
                                      </p:cBhvr>
                                      <p:to>
                                        <p:strVal val="visible"/>
                                      </p:to>
                                    </p:set>
                                    <p:animEffect transition="in" filter="diamond(in)">
                                      <p:cBhvr>
                                        <p:cTn id="13" dur="500"/>
                                        <p:tgtEl>
                                          <p:spTgt spid="71683">
                                            <p:txEl>
                                              <p:pRg st="2" end="2"/>
                                            </p:txEl>
                                          </p:spTgt>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71683">
                                            <p:txEl>
                                              <p:pRg st="3" end="3"/>
                                            </p:txEl>
                                          </p:spTgt>
                                        </p:tgtEl>
                                        <p:attrNameLst>
                                          <p:attrName>style.visibility</p:attrName>
                                        </p:attrNameLst>
                                      </p:cBhvr>
                                      <p:to>
                                        <p:strVal val="visible"/>
                                      </p:to>
                                    </p:set>
                                    <p:animEffect transition="in" filter="diamond(in)">
                                      <p:cBhvr>
                                        <p:cTn id="16" dur="500"/>
                                        <p:tgtEl>
                                          <p:spTgt spid="71683">
                                            <p:txEl>
                                              <p:pRg st="3" end="3"/>
                                            </p:txEl>
                                          </p:spTgt>
                                        </p:tgtEl>
                                      </p:cBhvr>
                                    </p:animEffect>
                                  </p:childTnLst>
                                </p:cTn>
                              </p:par>
                              <p:par>
                                <p:cTn id="17" presetID="8" presetClass="entr" presetSubtype="16" fill="hold" grpId="0" nodeType="withEffect">
                                  <p:stCondLst>
                                    <p:cond delay="0"/>
                                  </p:stCondLst>
                                  <p:childTnLst>
                                    <p:set>
                                      <p:cBhvr>
                                        <p:cTn id="18" dur="1" fill="hold">
                                          <p:stCondLst>
                                            <p:cond delay="0"/>
                                          </p:stCondLst>
                                        </p:cTn>
                                        <p:tgtEl>
                                          <p:spTgt spid="71683">
                                            <p:txEl>
                                              <p:pRg st="4" end="4"/>
                                            </p:txEl>
                                          </p:spTgt>
                                        </p:tgtEl>
                                        <p:attrNameLst>
                                          <p:attrName>style.visibility</p:attrName>
                                        </p:attrNameLst>
                                      </p:cBhvr>
                                      <p:to>
                                        <p:strVal val="visible"/>
                                      </p:to>
                                    </p:set>
                                    <p:animEffect transition="in" filter="diamond(in)">
                                      <p:cBhvr>
                                        <p:cTn id="19" dur="500"/>
                                        <p:tgtEl>
                                          <p:spTgt spid="716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ext Box 3"/>
          <p:cNvSpPr txBox="1"/>
          <p:nvPr/>
        </p:nvSpPr>
        <p:spPr>
          <a:xfrm>
            <a:off x="581025" y="898843"/>
            <a:ext cx="8229600" cy="4478020"/>
          </a:xfrm>
          <a:prstGeom prst="rect">
            <a:avLst/>
          </a:prstGeom>
          <a:noFill/>
          <a:ln w="9525">
            <a:noFill/>
          </a:ln>
        </p:spPr>
        <p:txBody>
          <a:bodyPr anchor="t">
            <a:spAutoFit/>
          </a:bodyPr>
          <a:lstStyle/>
          <a:p>
            <a:pPr marL="457200" indent="-457200">
              <a:lnSpc>
                <a:spcPct val="135000"/>
              </a:lnSpc>
              <a:buFont typeface="Wingdings" panose="05000000000000000000" pitchFamily="2" charset="2"/>
              <a:buChar char="p"/>
            </a:pPr>
            <a:r>
              <a:rPr lang="zh-CN" altLang="en-US" sz="2600" dirty="0">
                <a:solidFill>
                  <a:srgbClr val="FF3300"/>
                </a:solidFill>
                <a:latin typeface="宋体" panose="02010600030101010101" pitchFamily="2" charset="-122"/>
                <a:ea typeface="宋体" panose="02010600030101010101" pitchFamily="2" charset="-122"/>
              </a:rPr>
              <a:t>数据模型的三要素,是本章学习的路标</a:t>
            </a:r>
            <a:endParaRPr lang="zh-CN" altLang="en-US" sz="2600" dirty="0">
              <a:solidFill>
                <a:srgbClr val="FF3300"/>
              </a:solidFill>
              <a:latin typeface="宋体" panose="02010600030101010101" pitchFamily="2" charset="-122"/>
              <a:ea typeface="宋体" panose="02010600030101010101" pitchFamily="2" charset="-122"/>
            </a:endParaRPr>
          </a:p>
          <a:p>
            <a:pPr marL="914400" lvl="1" indent="-457200" eaLnBrk="1" hangingPunct="1">
              <a:lnSpc>
                <a:spcPct val="135000"/>
              </a:lnSpc>
              <a:spcBef>
                <a:spcPts val="300"/>
              </a:spcBef>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静态数据结构;动态数据操作;完整性约束</a:t>
            </a:r>
            <a:endParaRPr lang="zh-CN" altLang="en-US" sz="2400" b="0" dirty="0">
              <a:latin typeface="华文楷体" panose="02010600040101010101" pitchFamily="2" charset="-122"/>
              <a:ea typeface="华文楷体" panose="02010600040101010101" pitchFamily="2" charset="-122"/>
            </a:endParaRPr>
          </a:p>
          <a:p>
            <a:pPr marL="457200" indent="-457200">
              <a:lnSpc>
                <a:spcPct val="135000"/>
              </a:lnSpc>
              <a:buFont typeface="Wingdings" panose="05000000000000000000" pitchFamily="2" charset="2"/>
              <a:buChar char="p"/>
            </a:pPr>
            <a:r>
              <a:rPr lang="zh-CN" altLang="en-US" sz="2600" dirty="0">
                <a:solidFill>
                  <a:srgbClr val="FF3300"/>
                </a:solidFill>
                <a:latin typeface="宋体" panose="02010600030101010101" pitchFamily="2" charset="-122"/>
                <a:ea typeface="宋体" panose="02010600030101010101" pitchFamily="2" charset="-122"/>
              </a:rPr>
              <a:t>这三要素体现在如下问题中:</a:t>
            </a:r>
            <a:endParaRPr lang="zh-CN" altLang="en-US" sz="2600" dirty="0">
              <a:solidFill>
                <a:srgbClr val="FF3300"/>
              </a:solidFill>
              <a:latin typeface="宋体" panose="02010600030101010101" pitchFamily="2" charset="-122"/>
              <a:ea typeface="宋体" panose="0201060003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如何表达数据本身？</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如何表达数据间的联系？</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有哪些动态数据操作？</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能表达哪些完整性约束？</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完整性约束如何设定？</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完整性约束的效果？</a:t>
            </a:r>
            <a:endParaRPr lang="zh-CN" altLang="en-US" sz="2400" b="0" dirty="0">
              <a:latin typeface="华文楷体" panose="02010600040101010101" pitchFamily="2" charset="-122"/>
              <a:ea typeface="华文楷体" panose="02010600040101010101" pitchFamily="2" charset="-122"/>
            </a:endParaRPr>
          </a:p>
        </p:txBody>
      </p:sp>
      <p:sp>
        <p:nvSpPr>
          <p:cNvPr id="2" name="右大括号 1"/>
          <p:cNvSpPr/>
          <p:nvPr/>
        </p:nvSpPr>
        <p:spPr>
          <a:xfrm>
            <a:off x="5120005" y="2668270"/>
            <a:ext cx="83185" cy="702945"/>
          </a:xfrm>
          <a:prstGeom prst="rightBrace">
            <a:avLst/>
          </a:pr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p:nvPr/>
        </p:nvSpPr>
        <p:spPr>
          <a:xfrm>
            <a:off x="5383530" y="2766695"/>
            <a:ext cx="1203960" cy="506730"/>
          </a:xfrm>
          <a:prstGeom prst="rect">
            <a:avLst/>
          </a:prstGeom>
          <a:noFill/>
        </p:spPr>
        <p:txBody>
          <a:bodyPr wrap="none" rtlCol="0" anchor="t">
            <a:spAutoFit/>
          </a:bodyPr>
          <a:lstStyle/>
          <a:p>
            <a:pPr>
              <a:buNone/>
            </a:pPr>
            <a:r>
              <a:rPr lang="zh-CN" altLang="en-US" sz="2000">
                <a:solidFill>
                  <a:srgbClr val="0033CC"/>
                </a:solidFill>
              </a:rPr>
              <a:t>数据结构</a:t>
            </a:r>
            <a:endParaRPr lang="zh-CN" altLang="en-US" sz="2000">
              <a:solidFill>
                <a:srgbClr val="0033CC"/>
              </a:solidFill>
            </a:endParaRPr>
          </a:p>
        </p:txBody>
      </p:sp>
      <p:sp>
        <p:nvSpPr>
          <p:cNvPr id="4" name="右大括号 3"/>
          <p:cNvSpPr/>
          <p:nvPr/>
        </p:nvSpPr>
        <p:spPr>
          <a:xfrm>
            <a:off x="5120005" y="3946525"/>
            <a:ext cx="83185" cy="1165860"/>
          </a:xfrm>
          <a:prstGeom prst="rightBrace">
            <a:avLst/>
          </a:pr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5383530" y="4194175"/>
            <a:ext cx="1203960" cy="506730"/>
          </a:xfrm>
          <a:prstGeom prst="rect">
            <a:avLst/>
          </a:prstGeom>
          <a:noFill/>
        </p:spPr>
        <p:txBody>
          <a:bodyPr wrap="none" rtlCol="0" anchor="t">
            <a:spAutoFit/>
          </a:bodyPr>
          <a:lstStyle/>
          <a:p>
            <a:pPr>
              <a:buNone/>
            </a:pPr>
            <a:r>
              <a:rPr lang="zh-CN" altLang="en-US" sz="2000">
                <a:solidFill>
                  <a:srgbClr val="0033CC"/>
                </a:solidFill>
              </a:rPr>
              <a:t>数据约束</a:t>
            </a:r>
            <a:endParaRPr lang="zh-CN" altLang="en-US" sz="2000">
              <a:solidFill>
                <a:srgbClr val="0033CC"/>
              </a:solidFill>
            </a:endParaRPr>
          </a:p>
        </p:txBody>
      </p:sp>
      <p:sp>
        <p:nvSpPr>
          <p:cNvPr id="6" name="文本框 5"/>
          <p:cNvSpPr txBox="1"/>
          <p:nvPr/>
        </p:nvSpPr>
        <p:spPr>
          <a:xfrm>
            <a:off x="573088" y="4902200"/>
            <a:ext cx="8037512" cy="1223963"/>
          </a:xfrm>
          <a:prstGeom prst="rect">
            <a:avLst/>
          </a:prstGeom>
          <a:gradFill rotWithShape="1">
            <a:gsLst>
              <a:gs pos="0">
                <a:srgbClr val="9EE256"/>
              </a:gs>
              <a:gs pos="100000">
                <a:srgbClr val="52762D"/>
              </a:gs>
            </a:gsLst>
            <a:lin ang="5400000"/>
            <a:tileRect/>
          </a:gradFill>
          <a:ln w="9525">
            <a:noFill/>
          </a:ln>
        </p:spPr>
        <p:txBody>
          <a:bodyPr wrap="square" anchor="t">
            <a:spAutoFit/>
          </a:bodyPr>
          <a:lstStyle/>
          <a:p>
            <a:pPr lvl="0" indent="0">
              <a:buNone/>
            </a:pPr>
            <a:r>
              <a:rPr lang="zh-CN" altLang="en-US" sz="2200" dirty="0">
                <a:latin typeface="微软雅黑" panose="020B0503020204020204" charset="-122"/>
                <a:ea typeface="微软雅黑" panose="020B0503020204020204" charset="-122"/>
              </a:rPr>
              <a:t>由于</a:t>
            </a:r>
            <a:r>
              <a:rPr lang="en-US" altLang="zh-CN" sz="2200" dirty="0">
                <a:latin typeface="微软雅黑" panose="020B0503020204020204" charset="-122"/>
                <a:ea typeface="微软雅黑" panose="020B0503020204020204" charset="-122"/>
              </a:rPr>
              <a:t>E-R</a:t>
            </a:r>
            <a:r>
              <a:rPr lang="zh-CN" altLang="en-US" sz="2200" dirty="0">
                <a:latin typeface="微软雅黑" panose="020B0503020204020204" charset="-122"/>
                <a:ea typeface="微软雅黑" panose="020B0503020204020204" charset="-122"/>
              </a:rPr>
              <a:t>模型不被具体的</a:t>
            </a:r>
            <a:r>
              <a:rPr lang="en-US" altLang="x-none" sz="2200" dirty="0">
                <a:latin typeface="微软雅黑" panose="020B0503020204020204" charset="-122"/>
                <a:ea typeface="微软雅黑" panose="020B0503020204020204" charset="-122"/>
              </a:rPr>
              <a:t>DBMS</a:t>
            </a:r>
            <a:r>
              <a:rPr lang="zh-CN" altLang="en-US" sz="2200" dirty="0">
                <a:latin typeface="微软雅黑" panose="020B0503020204020204" charset="-122"/>
                <a:ea typeface="微软雅黑" panose="020B0503020204020204" charset="-122"/>
              </a:rPr>
              <a:t>所支持，因此研究其数据操作没有意义，因此仅研究其对数据结构和数据约束的描述方法。</a:t>
            </a:r>
            <a:endParaRPr lang="zh-CN" altLang="en-US" sz="2200">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4" grpId="0" bldLvl="0" animBg="1"/>
      <p:bldP spid="5" grpId="0"/>
      <p:bldP spid="6"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grpSp>
        <p:nvGrpSpPr>
          <p:cNvPr id="3" name="组合 2"/>
          <p:cNvGrpSpPr/>
          <p:nvPr/>
        </p:nvGrpSpPr>
        <p:grpSpPr>
          <a:xfrm>
            <a:off x="588963" y="2471103"/>
            <a:ext cx="8002587" cy="3422650"/>
            <a:chOff x="928" y="4368"/>
            <a:chExt cx="12602" cy="5389"/>
          </a:xfrm>
        </p:grpSpPr>
        <p:grpSp>
          <p:nvGrpSpPr>
            <p:cNvPr id="11268" name="组合 53"/>
            <p:cNvGrpSpPr/>
            <p:nvPr/>
          </p:nvGrpSpPr>
          <p:grpSpPr>
            <a:xfrm>
              <a:off x="1235" y="4368"/>
              <a:ext cx="12175" cy="2329"/>
              <a:chOff x="0" y="0"/>
              <a:chExt cx="7339796" cy="1343075"/>
            </a:xfrm>
          </p:grpSpPr>
          <p:sp>
            <p:nvSpPr>
              <p:cNvPr id="11269" name="Line 16"/>
              <p:cNvSpPr/>
              <p:nvPr/>
            </p:nvSpPr>
            <p:spPr>
              <a:xfrm>
                <a:off x="1031487" y="696038"/>
                <a:ext cx="510065" cy="380954"/>
              </a:xfrm>
              <a:prstGeom prst="line">
                <a:avLst/>
              </a:prstGeom>
              <a:ln w="25400" cap="flat" cmpd="sng">
                <a:solidFill>
                  <a:schemeClr val="tx1"/>
                </a:solidFill>
                <a:prstDash val="solid"/>
                <a:round/>
                <a:headEnd type="none" w="med" len="med"/>
                <a:tailEnd type="triangle" w="med" len="med"/>
              </a:ln>
            </p:spPr>
          </p:sp>
          <p:sp>
            <p:nvSpPr>
              <p:cNvPr id="11270" name="AutoShape 24"/>
              <p:cNvSpPr/>
              <p:nvPr/>
            </p:nvSpPr>
            <p:spPr>
              <a:xfrm>
                <a:off x="1091879" y="970321"/>
                <a:ext cx="2103411" cy="372754"/>
              </a:xfrm>
              <a:prstGeom prst="roundRect">
                <a:avLst>
                  <a:gd name="adj" fmla="val 16667"/>
                </a:avLst>
              </a:prstGeom>
              <a:solidFill>
                <a:srgbClr val="FFFFCC"/>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33CC"/>
                    </a:solidFill>
                    <a:latin typeface="宋体" panose="02010600030101010101" pitchFamily="2" charset="-122"/>
                    <a:ea typeface="宋体" panose="02010600030101010101" pitchFamily="2" charset="-122"/>
                  </a:rPr>
                  <a:t>数据库需求</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11271" name="Line 25"/>
              <p:cNvSpPr/>
              <p:nvPr/>
            </p:nvSpPr>
            <p:spPr>
              <a:xfrm>
                <a:off x="2217647" y="569343"/>
                <a:ext cx="0" cy="521855"/>
              </a:xfrm>
              <a:prstGeom prst="line">
                <a:avLst/>
              </a:prstGeom>
              <a:ln w="25400" cap="flat" cmpd="sng">
                <a:solidFill>
                  <a:schemeClr val="tx1"/>
                </a:solidFill>
                <a:prstDash val="solid"/>
                <a:round/>
                <a:headEnd type="none" w="med" len="med"/>
                <a:tailEnd type="triangle" w="med" len="med"/>
              </a:ln>
            </p:spPr>
          </p:sp>
          <p:sp>
            <p:nvSpPr>
              <p:cNvPr id="11272" name="Line 26"/>
              <p:cNvSpPr/>
              <p:nvPr/>
            </p:nvSpPr>
            <p:spPr>
              <a:xfrm flipH="1">
                <a:off x="2722036" y="533843"/>
                <a:ext cx="1112518" cy="486355"/>
              </a:xfrm>
              <a:prstGeom prst="line">
                <a:avLst/>
              </a:prstGeom>
              <a:ln w="25400" cap="flat" cmpd="sng">
                <a:solidFill>
                  <a:schemeClr val="tx1"/>
                </a:solidFill>
                <a:prstDash val="solid"/>
                <a:round/>
                <a:headEnd type="none" w="med" len="med"/>
                <a:tailEnd type="triangle" w="med" len="med"/>
              </a:ln>
            </p:spPr>
          </p:sp>
          <p:grpSp>
            <p:nvGrpSpPr>
              <p:cNvPr id="11273" name="Group 30"/>
              <p:cNvGrpSpPr/>
              <p:nvPr/>
            </p:nvGrpSpPr>
            <p:grpSpPr>
              <a:xfrm>
                <a:off x="0" y="0"/>
                <a:ext cx="5995202" cy="1057690"/>
                <a:chOff x="0" y="0"/>
                <a:chExt cx="4156" cy="681"/>
              </a:xfrm>
            </p:grpSpPr>
            <p:pic>
              <p:nvPicPr>
                <p:cNvPr id="11274" name="Picture 31" descr="userGrp1"/>
                <p:cNvPicPr>
                  <a:picLocks noChangeAspect="1"/>
                </p:cNvPicPr>
                <p:nvPr/>
              </p:nvPicPr>
              <p:blipFill>
                <a:blip r:embed="rId1"/>
                <a:stretch>
                  <a:fillRect/>
                </a:stretch>
              </p:blipFill>
              <p:spPr>
                <a:xfrm>
                  <a:off x="2575" y="0"/>
                  <a:ext cx="622" cy="672"/>
                </a:xfrm>
                <a:prstGeom prst="rect">
                  <a:avLst/>
                </a:prstGeom>
                <a:noFill/>
                <a:ln w="9525">
                  <a:noFill/>
                </a:ln>
              </p:spPr>
            </p:pic>
            <p:sp>
              <p:nvSpPr>
                <p:cNvPr id="11275" name="Text Box 32"/>
                <p:cNvSpPr txBox="1"/>
                <p:nvPr/>
              </p:nvSpPr>
              <p:spPr>
                <a:xfrm>
                  <a:off x="656" y="3"/>
                  <a:ext cx="860" cy="294"/>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a:t>
                  </a:r>
                  <a:r>
                    <a:rPr lang="en-US" altLang="x-none" sz="2000" dirty="0">
                      <a:latin typeface="宋体" panose="02010600030101010101" pitchFamily="2" charset="-122"/>
                      <a:ea typeface="宋体" panose="02010600030101010101" pitchFamily="2" charset="-122"/>
                    </a:rPr>
                    <a:t>1</a:t>
                  </a:r>
                  <a:endParaRPr lang="zh-CN" altLang="en-US" sz="2000" dirty="0">
                    <a:latin typeface="宋体" panose="02010600030101010101" pitchFamily="2" charset="-122"/>
                    <a:ea typeface="宋体" panose="02010600030101010101" pitchFamily="2" charset="-122"/>
                  </a:endParaRPr>
                </a:p>
              </p:txBody>
            </p:sp>
            <p:pic>
              <p:nvPicPr>
                <p:cNvPr id="11276" name="Picture 33" descr="userGrp2"/>
                <p:cNvPicPr>
                  <a:picLocks noChangeAspect="1"/>
                </p:cNvPicPr>
                <p:nvPr/>
              </p:nvPicPr>
              <p:blipFill>
                <a:blip r:embed="rId2"/>
                <a:stretch>
                  <a:fillRect/>
                </a:stretch>
              </p:blipFill>
              <p:spPr>
                <a:xfrm>
                  <a:off x="0" y="9"/>
                  <a:ext cx="637" cy="672"/>
                </a:xfrm>
                <a:prstGeom prst="rect">
                  <a:avLst/>
                </a:prstGeom>
                <a:noFill/>
                <a:ln w="9525">
                  <a:noFill/>
                </a:ln>
              </p:spPr>
            </p:pic>
            <p:sp>
              <p:nvSpPr>
                <p:cNvPr id="11277" name="Text Box 34"/>
                <p:cNvSpPr txBox="1"/>
                <p:nvPr/>
              </p:nvSpPr>
              <p:spPr>
                <a:xfrm>
                  <a:off x="3252" y="59"/>
                  <a:ext cx="904" cy="294"/>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a:t>
                  </a:r>
                  <a:r>
                    <a:rPr lang="en-US" altLang="x-none" sz="2000" dirty="0">
                      <a:latin typeface="宋体" panose="02010600030101010101" pitchFamily="2" charset="-122"/>
                      <a:ea typeface="宋体" panose="02010600030101010101" pitchFamily="2" charset="-122"/>
                    </a:rPr>
                    <a:t>n</a:t>
                  </a:r>
                  <a:endParaRPr lang="de-DE" altLang="en-US" sz="2000" dirty="0">
                    <a:latin typeface="宋体" panose="02010600030101010101" pitchFamily="2" charset="-122"/>
                    <a:ea typeface="宋体" panose="02010600030101010101" pitchFamily="2" charset="-122"/>
                  </a:endParaRPr>
                </a:p>
              </p:txBody>
            </p:sp>
            <p:sp>
              <p:nvSpPr>
                <p:cNvPr id="11278" name="Line 35"/>
                <p:cNvSpPr/>
                <p:nvPr/>
              </p:nvSpPr>
              <p:spPr>
                <a:xfrm>
                  <a:off x="1636" y="234"/>
                  <a:ext cx="384" cy="0"/>
                </a:xfrm>
                <a:prstGeom prst="line">
                  <a:avLst/>
                </a:prstGeom>
                <a:ln w="38100" cap="flat" cmpd="sng">
                  <a:solidFill>
                    <a:schemeClr val="tx1"/>
                  </a:solidFill>
                  <a:prstDash val="sysDot"/>
                  <a:round/>
                  <a:headEnd type="none" w="med" len="med"/>
                  <a:tailEnd type="none" w="med" len="med"/>
                </a:ln>
              </p:spPr>
            </p:sp>
          </p:grpSp>
          <p:grpSp>
            <p:nvGrpSpPr>
              <p:cNvPr id="11279" name="Group 36"/>
              <p:cNvGrpSpPr/>
              <p:nvPr/>
            </p:nvGrpSpPr>
            <p:grpSpPr>
              <a:xfrm>
                <a:off x="3078195" y="792336"/>
                <a:ext cx="4261601" cy="521855"/>
                <a:chOff x="0" y="0"/>
                <a:chExt cx="2723" cy="336"/>
              </a:xfrm>
            </p:grpSpPr>
            <p:sp>
              <p:nvSpPr>
                <p:cNvPr id="11280" name="Rectangle 37"/>
                <p:cNvSpPr/>
                <p:nvPr/>
              </p:nvSpPr>
              <p:spPr>
                <a:xfrm>
                  <a:off x="1283" y="0"/>
                  <a:ext cx="1440" cy="336"/>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需求收集和分析</a:t>
                  </a:r>
                  <a:endParaRPr lang="zh-CN" altLang="en-US" sz="2400" dirty="0">
                    <a:latin typeface="Tahoma" panose="020B0604030504040204" pitchFamily="2" charset="0"/>
                    <a:ea typeface="宋体" panose="02010600030101010101" pitchFamily="2" charset="-122"/>
                  </a:endParaRPr>
                </a:p>
              </p:txBody>
            </p:sp>
            <p:sp>
              <p:nvSpPr>
                <p:cNvPr id="11281" name="Line 38"/>
                <p:cNvSpPr/>
                <p:nvPr/>
              </p:nvSpPr>
              <p:spPr>
                <a:xfrm>
                  <a:off x="0" y="69"/>
                  <a:ext cx="1243" cy="159"/>
                </a:xfrm>
                <a:prstGeom prst="line">
                  <a:avLst/>
                </a:prstGeom>
                <a:ln w="25400" cap="flat" cmpd="sng">
                  <a:solidFill>
                    <a:srgbClr val="CC3300"/>
                  </a:solidFill>
                  <a:prstDash val="dash"/>
                  <a:round/>
                  <a:headEnd type="triangle" w="med" len="med"/>
                  <a:tailEnd type="diamond" w="med" len="med"/>
                </a:ln>
              </p:spPr>
            </p:sp>
          </p:grpSp>
        </p:grpSp>
        <p:grpSp>
          <p:nvGrpSpPr>
            <p:cNvPr id="11282" name="组合 49"/>
            <p:cNvGrpSpPr/>
            <p:nvPr/>
          </p:nvGrpSpPr>
          <p:grpSpPr>
            <a:xfrm>
              <a:off x="928" y="7113"/>
              <a:ext cx="12602" cy="2643"/>
              <a:chOff x="0" y="0"/>
              <a:chExt cx="8003496" cy="1696130"/>
            </a:xfrm>
          </p:grpSpPr>
          <p:sp>
            <p:nvSpPr>
              <p:cNvPr id="11283" name="矩形 51"/>
              <p:cNvSpPr/>
              <p:nvPr/>
            </p:nvSpPr>
            <p:spPr>
              <a:xfrm>
                <a:off x="0" y="0"/>
                <a:ext cx="7828851" cy="535732"/>
              </a:xfrm>
              <a:prstGeom prst="rect">
                <a:avLst/>
              </a:prstGeom>
              <a:solidFill>
                <a:schemeClr val="accent1"/>
              </a:solidFill>
              <a:ln w="9525">
                <a:noFill/>
              </a:ln>
            </p:spPr>
            <p:txBody>
              <a:bodyPr anchor="t">
                <a:spAutoFit/>
              </a:bodyPr>
              <a:lstStyle/>
              <a:p>
                <a:pPr marL="457200" lvl="0" indent="-457200">
                  <a:lnSpc>
                    <a:spcPct val="120000"/>
                  </a:lnSpc>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1--</a:t>
                </a:r>
                <a:r>
                  <a:rPr lang="zh-CN" altLang="en-US" sz="2400" dirty="0">
                    <a:solidFill>
                      <a:srgbClr val="CC0000"/>
                    </a:solidFill>
                    <a:latin typeface="宋体" panose="02010600030101010101" pitchFamily="2" charset="-122"/>
                    <a:ea typeface="宋体" panose="02010600030101010101" pitchFamily="2" charset="-122"/>
                  </a:rPr>
                  <a:t>需求分析</a:t>
                </a:r>
                <a:r>
                  <a:rPr lang="zh-CN" altLang="en-US" sz="2400" dirty="0">
                    <a:solidFill>
                      <a:srgbClr val="007C00"/>
                    </a:solidFill>
                    <a:latin typeface="宋体" panose="02010600030101010101" pitchFamily="2" charset="-122"/>
                    <a:ea typeface="宋体" panose="02010600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Requirements Analysis</a:t>
                </a:r>
                <a:r>
                  <a:rPr lang="zh-CN" altLang="en-US" sz="2400" dirty="0">
                    <a:solidFill>
                      <a:srgbClr val="007C00"/>
                    </a:solidFill>
                    <a:latin typeface="宋体" panose="02010600030101010101" pitchFamily="2" charset="-122"/>
                    <a:ea typeface="宋体" panose="02010600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1284" name="矩形 4"/>
              <p:cNvSpPr/>
              <p:nvPr/>
            </p:nvSpPr>
            <p:spPr>
              <a:xfrm>
                <a:off x="58058" y="487365"/>
                <a:ext cx="7945438" cy="1208765"/>
              </a:xfrm>
              <a:prstGeom prst="rect">
                <a:avLst/>
              </a:prstGeom>
              <a:noFill/>
              <a:ln w="9525">
                <a:noFill/>
              </a:ln>
            </p:spPr>
            <p:txBody>
              <a:bodyPr anchor="t">
                <a:spAutoFit/>
              </a:bodyPr>
              <a:lstStyle/>
              <a:p>
                <a:pPr marL="0" lvl="1" indent="0" algn="just"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了解</a:t>
                </a:r>
                <a:r>
                  <a:rPr lang="en-US" altLang="x-none"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数据信息、应用、性能等需求。</a:t>
                </a:r>
                <a:endParaRPr lang="zh-CN" altLang="en-US" sz="2200" dirty="0">
                  <a:latin typeface="楷体" panose="02010609060101010101" pitchFamily="1" charset="-122"/>
                  <a:ea typeface="楷体" panose="02010609060101010101" pitchFamily="1" charset="-122"/>
                </a:endParaRPr>
              </a:p>
              <a:p>
                <a:pPr marL="0" lvl="1" indent="0" algn="just"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方法：调查、讨论、座谈、收集、数据流图（</a:t>
                </a:r>
                <a:r>
                  <a:rPr lang="en-US" altLang="x-none" sz="2200" dirty="0">
                    <a:latin typeface="楷体" panose="02010609060101010101" pitchFamily="1" charset="-122"/>
                    <a:ea typeface="楷体" panose="02010609060101010101" pitchFamily="1" charset="-122"/>
                  </a:rPr>
                  <a:t>DFD</a:t>
                </a:r>
                <a:r>
                  <a:rPr lang="zh-CN" altLang="en-US" sz="2200" dirty="0">
                    <a:latin typeface="楷体" panose="02010609060101010101" pitchFamily="1" charset="-122"/>
                    <a:ea typeface="楷体" panose="02010609060101010101" pitchFamily="1" charset="-122"/>
                  </a:rPr>
                  <a:t>）等。</a:t>
                </a:r>
                <a:endParaRPr lang="zh-CN" altLang="en-US" sz="2200" dirty="0">
                  <a:latin typeface="楷体" panose="02010609060101010101" pitchFamily="1" charset="-122"/>
                  <a:ea typeface="楷体" panose="02010609060101010101" pitchFamily="1" charset="-122"/>
                </a:endParaRPr>
              </a:p>
              <a:p>
                <a:pPr marL="0" lvl="1" indent="0" algn="just"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对应：抽象层次的现实系统描述。</a:t>
                </a:r>
                <a:endParaRPr lang="zh-CN" altLang="en-US" sz="2200" dirty="0">
                  <a:latin typeface="楷体" panose="02010609060101010101" pitchFamily="1" charset="-122"/>
                  <a:ea typeface="楷体" panose="02010609060101010101" pitchFamily="1" charset="-122"/>
                </a:endParaRPr>
              </a:p>
            </p:txBody>
          </p:sp>
        </p:grpSp>
      </p:grpSp>
      <p:sp>
        <p:nvSpPr>
          <p:cNvPr id="11285" name="矩形 54"/>
          <p:cNvSpPr/>
          <p:nvPr/>
        </p:nvSpPr>
        <p:spPr>
          <a:xfrm>
            <a:off x="755650" y="1051560"/>
            <a:ext cx="7931150" cy="1214438"/>
          </a:xfrm>
          <a:prstGeom prst="rect">
            <a:avLst/>
          </a:prstGeom>
          <a:noFill/>
          <a:ln w="9525">
            <a:noFill/>
          </a:ln>
        </p:spPr>
        <p:txBody>
          <a:bodyPr anchor="t">
            <a:spAutoFit/>
          </a:bodyPr>
          <a:lstStyle/>
          <a:p>
            <a:pPr lvl="0" indent="0">
              <a:buNone/>
            </a:pPr>
            <a:r>
              <a:rPr lang="zh-CN" altLang="en-US" dirty="0">
                <a:latin typeface="Arial" panose="020B0604020202020204" pitchFamily="34" charset="0"/>
                <a:ea typeface="宋体" panose="02010600030101010101" pitchFamily="2" charset="-122"/>
              </a:rPr>
              <a:t>       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组合 54"/>
          <p:cNvGrpSpPr/>
          <p:nvPr/>
        </p:nvGrpSpPr>
        <p:grpSpPr>
          <a:xfrm>
            <a:off x="682625" y="1082993"/>
            <a:ext cx="7996238" cy="2128837"/>
            <a:chOff x="0" y="0"/>
            <a:chExt cx="8463062" cy="2492104"/>
          </a:xfrm>
        </p:grpSpPr>
        <p:sp>
          <p:nvSpPr>
            <p:cNvPr id="13315" name="Oval 3"/>
            <p:cNvSpPr/>
            <p:nvPr/>
          </p:nvSpPr>
          <p:spPr>
            <a:xfrm>
              <a:off x="600976" y="0"/>
              <a:ext cx="6009744" cy="1984451"/>
            </a:xfrm>
            <a:prstGeom prst="ellipse">
              <a:avLst/>
            </a:prstGeom>
            <a:solidFill>
              <a:srgbClr val="66FFFF">
                <a:alpha val="50000"/>
              </a:srgbClr>
            </a:solidFill>
            <a:ln w="9525">
              <a:noFill/>
            </a:ln>
          </p:spPr>
          <p:txBody>
            <a:bodyPr wrap="none" anchor="ctr"/>
            <a:lstStyle/>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buNone/>
              </a:pPr>
              <a:r>
                <a:rPr lang="en-US" altLang="x-none" sz="2800" dirty="0">
                  <a:latin typeface="宋体" panose="02010600030101010101" pitchFamily="2" charset="-122"/>
                  <a:ea typeface="宋体" panose="02010600030101010101" pitchFamily="2" charset="-122"/>
                </a:rPr>
                <a:t>                </a:t>
              </a:r>
              <a:r>
                <a:rPr lang="en-US" altLang="x-none" sz="2000" dirty="0">
                  <a:solidFill>
                    <a:srgbClr val="000000"/>
                  </a:solidFill>
                  <a:latin typeface="宋体" panose="02010600030101010101" pitchFamily="2" charset="-122"/>
                  <a:ea typeface="宋体" panose="02010600030101010101" pitchFamily="2" charset="-122"/>
                </a:rPr>
                <a:t>DBMS</a:t>
              </a:r>
              <a:r>
                <a:rPr lang="zh-CN" altLang="en-US" sz="2000" dirty="0">
                  <a:solidFill>
                    <a:srgbClr val="000000"/>
                  </a:solidFill>
                  <a:latin typeface="宋体" panose="02010600030101010101" pitchFamily="2" charset="-122"/>
                  <a:ea typeface="宋体" panose="02010600030101010101" pitchFamily="2" charset="-122"/>
                </a:rPr>
                <a:t>无关</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3316" name="Rectangle 6"/>
            <p:cNvSpPr/>
            <p:nvPr/>
          </p:nvSpPr>
          <p:spPr>
            <a:xfrm>
              <a:off x="4166132" y="800735"/>
              <a:ext cx="404562" cy="28982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13317" name="Rectangle 7"/>
            <p:cNvSpPr/>
            <p:nvPr/>
          </p:nvSpPr>
          <p:spPr>
            <a:xfrm>
              <a:off x="2554143" y="1672042"/>
              <a:ext cx="1676156" cy="442646"/>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grpSp>
          <p:nvGrpSpPr>
            <p:cNvPr id="13318" name="Group 9"/>
            <p:cNvGrpSpPr/>
            <p:nvPr/>
          </p:nvGrpSpPr>
          <p:grpSpPr>
            <a:xfrm>
              <a:off x="815387" y="493208"/>
              <a:ext cx="1651114" cy="792102"/>
              <a:chOff x="0" y="0"/>
              <a:chExt cx="1055" cy="510"/>
            </a:xfrm>
          </p:grpSpPr>
          <p:sp>
            <p:nvSpPr>
              <p:cNvPr id="13319" name="Rectangle 10"/>
              <p:cNvSpPr/>
              <p:nvPr/>
            </p:nvSpPr>
            <p:spPr>
              <a:xfrm>
                <a:off x="0" y="222"/>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1</a:t>
                </a:r>
                <a:endParaRPr lang="zh-CN" altLang="en-US" sz="2400" dirty="0">
                  <a:latin typeface="Tahoma" panose="020B0604030504040204" pitchFamily="2" charset="0"/>
                  <a:ea typeface="宋体" panose="02010600030101010101" pitchFamily="2" charset="-122"/>
                </a:endParaRPr>
              </a:p>
            </p:txBody>
          </p:sp>
          <p:sp>
            <p:nvSpPr>
              <p:cNvPr id="13320" name="Line 11"/>
              <p:cNvSpPr/>
              <p:nvPr/>
            </p:nvSpPr>
            <p:spPr>
              <a:xfrm flipH="1">
                <a:off x="535" y="0"/>
                <a:ext cx="520" cy="217"/>
              </a:xfrm>
              <a:prstGeom prst="line">
                <a:avLst/>
              </a:prstGeom>
              <a:ln w="25400" cap="flat" cmpd="sng">
                <a:solidFill>
                  <a:schemeClr val="tx1"/>
                </a:solidFill>
                <a:prstDash val="solid"/>
                <a:round/>
                <a:headEnd type="none" w="med" len="med"/>
                <a:tailEnd type="triangle" w="med" len="med"/>
              </a:ln>
            </p:spPr>
          </p:sp>
        </p:grpSp>
        <p:grpSp>
          <p:nvGrpSpPr>
            <p:cNvPr id="13321" name="Group 12"/>
            <p:cNvGrpSpPr/>
            <p:nvPr/>
          </p:nvGrpSpPr>
          <p:grpSpPr>
            <a:xfrm>
              <a:off x="3691706" y="478570"/>
              <a:ext cx="2413288" cy="820060"/>
              <a:chOff x="0" y="0"/>
              <a:chExt cx="1542" cy="528"/>
            </a:xfrm>
          </p:grpSpPr>
          <p:sp>
            <p:nvSpPr>
              <p:cNvPr id="13322" name="Rectangle 13"/>
              <p:cNvSpPr/>
              <p:nvPr/>
            </p:nvSpPr>
            <p:spPr>
              <a:xfrm>
                <a:off x="624" y="240"/>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n</a:t>
                </a:r>
                <a:endParaRPr lang="de-DE" altLang="en-US" sz="2400" dirty="0">
                  <a:latin typeface="Tahoma" panose="020B0604030504040204" pitchFamily="2" charset="0"/>
                  <a:ea typeface="宋体" panose="02010600030101010101" pitchFamily="2" charset="-122"/>
                </a:endParaRPr>
              </a:p>
            </p:txBody>
          </p:sp>
          <p:sp>
            <p:nvSpPr>
              <p:cNvPr id="13323" name="Line 14"/>
              <p:cNvSpPr/>
              <p:nvPr/>
            </p:nvSpPr>
            <p:spPr>
              <a:xfrm>
                <a:off x="0" y="0"/>
                <a:ext cx="960" cy="240"/>
              </a:xfrm>
              <a:prstGeom prst="line">
                <a:avLst/>
              </a:prstGeom>
              <a:ln w="25400" cap="flat" cmpd="sng">
                <a:solidFill>
                  <a:schemeClr val="tx1"/>
                </a:solidFill>
                <a:prstDash val="solid"/>
                <a:round/>
                <a:headEnd type="none" w="med" len="med"/>
                <a:tailEnd type="triangle" w="med" len="med"/>
              </a:ln>
            </p:spPr>
          </p:sp>
        </p:grpSp>
        <p:sp>
          <p:nvSpPr>
            <p:cNvPr id="13324" name="Line 15"/>
            <p:cNvSpPr/>
            <p:nvPr/>
          </p:nvSpPr>
          <p:spPr>
            <a:xfrm>
              <a:off x="3305361" y="1327688"/>
              <a:ext cx="0" cy="372754"/>
            </a:xfrm>
            <a:prstGeom prst="line">
              <a:avLst/>
            </a:prstGeom>
            <a:ln w="25400" cap="flat" cmpd="sng">
              <a:solidFill>
                <a:schemeClr val="tx1"/>
              </a:solidFill>
              <a:prstDash val="solid"/>
              <a:round/>
              <a:headEnd type="none" w="med" len="med"/>
              <a:tailEnd type="triangle" w="med" len="med"/>
            </a:ln>
          </p:spPr>
        </p:sp>
        <p:sp>
          <p:nvSpPr>
            <p:cNvPr id="13325" name="Line 17"/>
            <p:cNvSpPr/>
            <p:nvPr/>
          </p:nvSpPr>
          <p:spPr>
            <a:xfrm flipH="1">
              <a:off x="3917064" y="1324143"/>
              <a:ext cx="1949592" cy="347900"/>
            </a:xfrm>
            <a:prstGeom prst="line">
              <a:avLst/>
            </a:prstGeom>
            <a:ln w="25400" cap="flat" cmpd="sng">
              <a:solidFill>
                <a:schemeClr val="tx1"/>
              </a:solidFill>
              <a:prstDash val="solid"/>
              <a:round/>
              <a:headEnd type="none" w="med" len="med"/>
              <a:tailEnd type="triangle" w="med" len="med"/>
            </a:ln>
          </p:spPr>
        </p:sp>
        <p:grpSp>
          <p:nvGrpSpPr>
            <p:cNvPr id="13326" name="Group 21"/>
            <p:cNvGrpSpPr/>
            <p:nvPr/>
          </p:nvGrpSpPr>
          <p:grpSpPr>
            <a:xfrm>
              <a:off x="2491542" y="465253"/>
              <a:ext cx="1435140" cy="834037"/>
              <a:chOff x="0" y="0"/>
              <a:chExt cx="917" cy="537"/>
            </a:xfrm>
          </p:grpSpPr>
          <p:sp>
            <p:nvSpPr>
              <p:cNvPr id="13327" name="Rectangle 22"/>
              <p:cNvSpPr/>
              <p:nvPr/>
            </p:nvSpPr>
            <p:spPr>
              <a:xfrm>
                <a:off x="0" y="249"/>
                <a:ext cx="917"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2</a:t>
                </a:r>
                <a:endParaRPr lang="zh-CN" altLang="en-US" sz="2400" dirty="0">
                  <a:latin typeface="Tahoma" panose="020B0604030504040204" pitchFamily="2" charset="0"/>
                  <a:ea typeface="宋体" panose="02010600030101010101" pitchFamily="2" charset="-122"/>
                </a:endParaRPr>
              </a:p>
            </p:txBody>
          </p:sp>
          <p:sp>
            <p:nvSpPr>
              <p:cNvPr id="13328" name="Line 23"/>
              <p:cNvSpPr/>
              <p:nvPr/>
            </p:nvSpPr>
            <p:spPr>
              <a:xfrm>
                <a:off x="520" y="0"/>
                <a:ext cx="0" cy="265"/>
              </a:xfrm>
              <a:prstGeom prst="line">
                <a:avLst/>
              </a:prstGeom>
              <a:ln w="25400" cap="flat" cmpd="sng">
                <a:solidFill>
                  <a:schemeClr val="tx1"/>
                </a:solidFill>
                <a:prstDash val="solid"/>
                <a:round/>
                <a:headEnd type="none" w="med" len="med"/>
                <a:tailEnd type="triangle" w="med" len="med"/>
              </a:ln>
            </p:spPr>
          </p:sp>
        </p:grpSp>
        <p:sp>
          <p:nvSpPr>
            <p:cNvPr id="13329" name="AutoShape 24"/>
            <p:cNvSpPr/>
            <p:nvPr/>
          </p:nvSpPr>
          <p:spPr>
            <a:xfrm>
              <a:off x="2207153" y="134876"/>
              <a:ext cx="2103411" cy="372754"/>
            </a:xfrm>
            <a:prstGeom prst="roundRect">
              <a:avLst>
                <a:gd name="adj" fmla="val 16667"/>
              </a:avLst>
            </a:prstGeom>
            <a:solidFill>
              <a:srgbClr val="FFFFCC"/>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33CC"/>
                  </a:solidFill>
                  <a:latin typeface="宋体" panose="02010600030101010101" pitchFamily="2" charset="-122"/>
                  <a:ea typeface="宋体" panose="02010600030101010101" pitchFamily="2" charset="-122"/>
                </a:rPr>
                <a:t>数据库需求</a:t>
              </a:r>
              <a:endParaRPr lang="zh-CN" altLang="en-US" sz="2400" dirty="0">
                <a:solidFill>
                  <a:srgbClr val="0033CC"/>
                </a:solidFill>
                <a:latin typeface="宋体" panose="02010600030101010101" pitchFamily="2" charset="-122"/>
                <a:ea typeface="宋体" panose="02010600030101010101" pitchFamily="2" charset="-122"/>
              </a:endParaRPr>
            </a:p>
          </p:txBody>
        </p:sp>
        <p:grpSp>
          <p:nvGrpSpPr>
            <p:cNvPr id="13330" name="Group 27"/>
            <p:cNvGrpSpPr/>
            <p:nvPr/>
          </p:nvGrpSpPr>
          <p:grpSpPr>
            <a:xfrm>
              <a:off x="4489429" y="493433"/>
              <a:ext cx="3973633" cy="702908"/>
              <a:chOff x="0" y="0"/>
              <a:chExt cx="2349" cy="432"/>
            </a:xfrm>
          </p:grpSpPr>
          <p:sp>
            <p:nvSpPr>
              <p:cNvPr id="13331" name="Rectangle 28"/>
              <p:cNvSpPr/>
              <p:nvPr/>
            </p:nvSpPr>
            <p:spPr>
              <a:xfrm>
                <a:off x="1275" y="0"/>
                <a:ext cx="1074" cy="432"/>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600" dirty="0">
                    <a:solidFill>
                      <a:srgbClr val="2550D9"/>
                    </a:solidFill>
                    <a:latin typeface="Tahoma" panose="020B0604030504040204" pitchFamily="2" charset="0"/>
                    <a:ea typeface="宋体" panose="02010600030101010101" pitchFamily="2" charset="-122"/>
                  </a:rPr>
                  <a:t>概念设计</a:t>
                </a:r>
                <a:endParaRPr lang="zh-CN" altLang="en-US" sz="2600" dirty="0">
                  <a:solidFill>
                    <a:srgbClr val="2550D9"/>
                  </a:solidFill>
                  <a:latin typeface="Tahoma" panose="020B0604030504040204" pitchFamily="2" charset="0"/>
                  <a:ea typeface="宋体" panose="02010600030101010101" pitchFamily="2" charset="-122"/>
                </a:endParaRPr>
              </a:p>
            </p:txBody>
          </p:sp>
          <p:sp>
            <p:nvSpPr>
              <p:cNvPr id="13332" name="Line 29"/>
              <p:cNvSpPr/>
              <p:nvPr/>
            </p:nvSpPr>
            <p:spPr>
              <a:xfrm flipV="1">
                <a:off x="0" y="67"/>
                <a:ext cx="1282" cy="29"/>
              </a:xfrm>
              <a:prstGeom prst="line">
                <a:avLst/>
              </a:prstGeom>
              <a:ln w="38100" cap="flat" cmpd="sng">
                <a:solidFill>
                  <a:srgbClr val="CC3300"/>
                </a:solidFill>
                <a:prstDash val="dash"/>
                <a:round/>
                <a:headEnd type="triangle" w="med" len="med"/>
                <a:tailEnd type="oval" w="med" len="med"/>
              </a:ln>
            </p:spPr>
          </p:sp>
        </p:grpSp>
        <p:sp>
          <p:nvSpPr>
            <p:cNvPr id="13333" name="Line 39"/>
            <p:cNvSpPr/>
            <p:nvPr/>
          </p:nvSpPr>
          <p:spPr>
            <a:xfrm>
              <a:off x="1652682" y="1285089"/>
              <a:ext cx="1201949" cy="372754"/>
            </a:xfrm>
            <a:prstGeom prst="line">
              <a:avLst/>
            </a:prstGeom>
            <a:ln w="25400" cap="flat" cmpd="sng">
              <a:solidFill>
                <a:schemeClr val="tx1"/>
              </a:solidFill>
              <a:prstDash val="solid"/>
              <a:round/>
              <a:headEnd type="none" w="med" len="med"/>
              <a:tailEnd type="triangle" w="med" len="med"/>
            </a:ln>
          </p:spPr>
        </p:sp>
        <p:sp>
          <p:nvSpPr>
            <p:cNvPr id="13334" name="AutoShape 40"/>
            <p:cNvSpPr/>
            <p:nvPr/>
          </p:nvSpPr>
          <p:spPr>
            <a:xfrm>
              <a:off x="0" y="1366742"/>
              <a:ext cx="2119605" cy="1125362"/>
            </a:xfrm>
            <a:prstGeom prst="cloudCallout">
              <a:avLst>
                <a:gd name="adj1" fmla="val 73398"/>
                <a:gd name="adj2" fmla="val -37866"/>
              </a:avLst>
            </a:prstGeom>
            <a:solidFill>
              <a:srgbClr val="FFFF99"/>
            </a:solidFill>
            <a:ln w="9525" cap="flat" cmpd="sng">
              <a:solidFill>
                <a:srgbClr val="000000"/>
              </a:solidFill>
              <a:prstDash val="solid"/>
              <a:round/>
              <a:headEnd type="none" w="med" len="med"/>
              <a:tailEnd type="none" w="med" len="med"/>
            </a:ln>
          </p:spPr>
          <p:txBody>
            <a:bodyPr lIns="0" rIns="0" anchor="t"/>
            <a:lstStyle/>
            <a:p>
              <a:pPr lvl="0" indent="0" algn="ctr">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使用高级数据模型</a:t>
              </a:r>
              <a:r>
                <a:rPr lang="de-DE" altLang="en-US" sz="2000" dirty="0">
                  <a:solidFill>
                    <a:srgbClr val="0033CC"/>
                  </a:solidFill>
                  <a:latin typeface="宋体" panose="02010600030101010101" pitchFamily="2" charset="-122"/>
                  <a:ea typeface="宋体" panose="02010600030101010101" pitchFamily="2" charset="-122"/>
                </a:rPr>
                <a:t>ERM</a:t>
              </a:r>
              <a:endParaRPr lang="de-DE" altLang="en-US" sz="2000" dirty="0">
                <a:solidFill>
                  <a:srgbClr val="0033CC"/>
                </a:solidFill>
                <a:latin typeface="宋体" panose="02010600030101010101" pitchFamily="2" charset="-122"/>
                <a:ea typeface="宋体" panose="02010600030101010101" pitchFamily="2" charset="-122"/>
              </a:endParaRPr>
            </a:p>
          </p:txBody>
        </p:sp>
        <p:grpSp>
          <p:nvGrpSpPr>
            <p:cNvPr id="13335" name="Group 44"/>
            <p:cNvGrpSpPr/>
            <p:nvPr/>
          </p:nvGrpSpPr>
          <p:grpSpPr>
            <a:xfrm>
              <a:off x="4649729" y="1299289"/>
              <a:ext cx="3763916" cy="447305"/>
              <a:chOff x="0" y="0"/>
              <a:chExt cx="2405" cy="288"/>
            </a:xfrm>
          </p:grpSpPr>
          <p:sp>
            <p:nvSpPr>
              <p:cNvPr id="13336" name="Rectangle 45"/>
              <p:cNvSpPr/>
              <p:nvPr/>
            </p:nvSpPr>
            <p:spPr>
              <a:xfrm>
                <a:off x="1493" y="0"/>
                <a:ext cx="912" cy="288"/>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600" dirty="0">
                    <a:latin typeface="Tahoma" panose="020B0604030504040204" pitchFamily="2" charset="0"/>
                    <a:ea typeface="宋体" panose="02010600030101010101" pitchFamily="2" charset="-122"/>
                  </a:rPr>
                  <a:t>集成</a:t>
                </a:r>
                <a:endParaRPr lang="zh-CN" altLang="en-US" sz="2600" dirty="0">
                  <a:latin typeface="Tahoma" panose="020B0604030504040204" pitchFamily="2" charset="0"/>
                  <a:ea typeface="宋体" panose="02010600030101010101" pitchFamily="2" charset="-122"/>
                </a:endParaRPr>
              </a:p>
            </p:txBody>
          </p:sp>
          <p:sp>
            <p:nvSpPr>
              <p:cNvPr id="13337" name="Line 46"/>
              <p:cNvSpPr/>
              <p:nvPr/>
            </p:nvSpPr>
            <p:spPr>
              <a:xfrm>
                <a:off x="0" y="162"/>
                <a:ext cx="1493" cy="30"/>
              </a:xfrm>
              <a:prstGeom prst="line">
                <a:avLst/>
              </a:prstGeom>
              <a:ln w="25400" cap="flat" cmpd="sng">
                <a:solidFill>
                  <a:srgbClr val="CC3300"/>
                </a:solidFill>
                <a:prstDash val="dash"/>
                <a:round/>
                <a:headEnd type="triangle" w="med" len="med"/>
                <a:tailEnd type="oval" w="med" len="med"/>
              </a:ln>
            </p:spPr>
          </p:sp>
        </p:grpSp>
        <p:sp>
          <p:nvSpPr>
            <p:cNvPr id="13338" name="Line 47"/>
            <p:cNvSpPr/>
            <p:nvPr/>
          </p:nvSpPr>
          <p:spPr>
            <a:xfrm flipV="1">
              <a:off x="5451699" y="885510"/>
              <a:ext cx="1196199" cy="523827"/>
            </a:xfrm>
            <a:prstGeom prst="line">
              <a:avLst/>
            </a:prstGeom>
            <a:ln w="38100" cap="flat" cmpd="sng">
              <a:solidFill>
                <a:srgbClr val="CC3300"/>
              </a:solidFill>
              <a:prstDash val="dash"/>
              <a:round/>
              <a:headEnd type="triangle" w="med" len="med"/>
              <a:tailEnd type="oval" w="med" len="med"/>
            </a:ln>
          </p:spPr>
        </p:sp>
      </p:grpSp>
      <p:grpSp>
        <p:nvGrpSpPr>
          <p:cNvPr id="13340" name="组合 51"/>
          <p:cNvGrpSpPr/>
          <p:nvPr/>
        </p:nvGrpSpPr>
        <p:grpSpPr>
          <a:xfrm>
            <a:off x="704215" y="3482340"/>
            <a:ext cx="7981950" cy="2674118"/>
            <a:chOff x="0" y="0"/>
            <a:chExt cx="7874000" cy="2674984"/>
          </a:xfrm>
        </p:grpSpPr>
        <p:sp>
          <p:nvSpPr>
            <p:cNvPr id="13341" name="矩形 52"/>
            <p:cNvSpPr/>
            <p:nvPr/>
          </p:nvSpPr>
          <p:spPr>
            <a:xfrm>
              <a:off x="22225" y="0"/>
              <a:ext cx="7793037" cy="553264"/>
            </a:xfrm>
            <a:prstGeom prst="rect">
              <a:avLst/>
            </a:prstGeom>
            <a:solidFill>
              <a:schemeClr val="accent1"/>
            </a:solidFill>
            <a:ln w="9525">
              <a:noFill/>
            </a:ln>
          </p:spPr>
          <p:txBody>
            <a:bodyPr anchor="t">
              <a:spAutoFit/>
            </a:bodyPr>
            <a:lstStyle/>
            <a:p>
              <a:pPr lvl="0" indent="0">
                <a:lnSpc>
                  <a:spcPct val="125000"/>
                </a:lnSpc>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2--</a:t>
              </a:r>
              <a:r>
                <a:rPr lang="zh-CN" altLang="en-US" sz="2400" dirty="0">
                  <a:solidFill>
                    <a:srgbClr val="CC0000"/>
                  </a:solidFill>
                  <a:latin typeface="宋体" panose="02010600030101010101" pitchFamily="2" charset="-122"/>
                  <a:ea typeface="宋体" panose="02010600030101010101" pitchFamily="2" charset="-122"/>
                </a:rPr>
                <a:t>概念数据库设计</a:t>
              </a:r>
              <a:r>
                <a:rPr lang="zh-CN" altLang="en-US" sz="2400" dirty="0">
                  <a:solidFill>
                    <a:srgbClr val="007C00"/>
                  </a:solidFill>
                  <a:latin typeface="宋体" panose="02010600030101010101" pitchFamily="2" charset="-122"/>
                  <a:ea typeface="宋体" panose="02010600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Conceptual DB Design</a:t>
              </a:r>
              <a:r>
                <a:rPr lang="zh-CN" altLang="en-US" sz="2400" dirty="0">
                  <a:solidFill>
                    <a:srgbClr val="007C00"/>
                  </a:solidFill>
                  <a:latin typeface="宋体" panose="02010600030101010101" pitchFamily="2" charset="-122"/>
                  <a:ea typeface="宋体" panose="02010600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3342" name="矩形 6"/>
            <p:cNvSpPr/>
            <p:nvPr/>
          </p:nvSpPr>
          <p:spPr>
            <a:xfrm>
              <a:off x="0" y="569912"/>
              <a:ext cx="7874000" cy="2105072"/>
            </a:xfrm>
            <a:prstGeom prst="rect">
              <a:avLst/>
            </a:prstGeom>
            <a:noFill/>
            <a:ln w="9525">
              <a:noFill/>
            </a:ln>
          </p:spPr>
          <p:txBody>
            <a:bodyPr anchor="t">
              <a:spAutoFit/>
            </a:bodyPr>
            <a:lstStyle/>
            <a:p>
              <a:pPr marL="0" lvl="1" indent="0" algn="just" eaLnBrk="1" hangingPunct="1">
                <a:lnSpc>
                  <a:spcPct val="110000"/>
                </a:lnSpc>
                <a:spcBef>
                  <a:spcPts val="30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任务：精确描述需求，使用高级数据模型提供的概念描述数</a:t>
              </a:r>
              <a:endParaRPr lang="en-US" altLang="x-none" sz="2200" dirty="0">
                <a:latin typeface="楷体" panose="02010609060101010101" pitchFamily="1" charset="-122"/>
                <a:ea typeface="楷体" panose="02010609060101010101" pitchFamily="1" charset="-122"/>
              </a:endParaRPr>
            </a:p>
            <a:p>
              <a:pPr marL="0" lvl="1" indent="0" algn="just" eaLnBrk="1" hangingPunct="1">
                <a:lnSpc>
                  <a:spcPct val="110000"/>
                </a:lnSpc>
                <a:spcBef>
                  <a:spcPts val="300"/>
                </a:spcBef>
                <a:spcAft>
                  <a:spcPts val="0"/>
                </a:spcAft>
                <a:buNone/>
              </a:pPr>
              <a:r>
                <a:rPr lang="zh-CN" altLang="en-US" sz="2200" dirty="0">
                  <a:latin typeface="楷体" panose="02010609060101010101" pitchFamily="1" charset="-122"/>
                  <a:ea typeface="楷体" panose="02010609060101010101" pitchFamily="1" charset="-122"/>
                </a:rPr>
                <a:t>  据及对数据的约束限制。</a:t>
              </a:r>
              <a:endParaRPr lang="zh-CN" altLang="en-US" sz="2200" dirty="0">
                <a:latin typeface="楷体" panose="02010609060101010101" pitchFamily="1" charset="-122"/>
                <a:ea typeface="楷体" panose="02010609060101010101" pitchFamily="1" charset="-122"/>
              </a:endParaRPr>
            </a:p>
            <a:p>
              <a:pPr marL="0" lvl="1" indent="0" algn="just" eaLnBrk="1" hangingPunct="1">
                <a:lnSpc>
                  <a:spcPct val="110000"/>
                </a:lnSpc>
                <a:spcBef>
                  <a:spcPts val="30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工具：</a:t>
              </a:r>
              <a:r>
                <a:rPr lang="en-US" altLang="x-none" sz="2200" dirty="0">
                  <a:latin typeface="楷体" panose="02010609060101010101" pitchFamily="1" charset="-122"/>
                  <a:ea typeface="楷体" panose="02010609060101010101" pitchFamily="1" charset="-122"/>
                </a:rPr>
                <a:t>ER</a:t>
              </a:r>
              <a:r>
                <a:rPr lang="zh-CN" altLang="en-US" sz="2200" dirty="0">
                  <a:latin typeface="楷体" panose="02010609060101010101" pitchFamily="1" charset="-122"/>
                  <a:ea typeface="楷体" panose="02010609060101010101" pitchFamily="1" charset="-122"/>
                </a:rPr>
                <a:t>图。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结果：概念</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设计。</a:t>
              </a:r>
              <a:endParaRPr lang="zh-CN" altLang="en-US" sz="2200" dirty="0">
                <a:latin typeface="楷体" panose="02010609060101010101" pitchFamily="1" charset="-122"/>
                <a:ea typeface="楷体" panose="02010609060101010101" pitchFamily="1" charset="-122"/>
              </a:endParaRPr>
            </a:p>
            <a:p>
              <a:pPr marL="0" lvl="1" indent="0" algn="just" eaLnBrk="1" hangingPunct="1">
                <a:lnSpc>
                  <a:spcPct val="110000"/>
                </a:lnSpc>
                <a:spcBef>
                  <a:spcPts val="30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对应：现实系统到外模式的视图抽象，以及外模式到概念模</a:t>
              </a:r>
              <a:endParaRPr lang="en-US" altLang="x-none" sz="2200" dirty="0">
                <a:latin typeface="楷体" panose="02010609060101010101" pitchFamily="1" charset="-122"/>
                <a:ea typeface="楷体" panose="02010609060101010101" pitchFamily="1" charset="-122"/>
              </a:endParaRPr>
            </a:p>
            <a:p>
              <a:pPr marL="0" lvl="1" indent="0" algn="just" eaLnBrk="1" hangingPunct="1">
                <a:lnSpc>
                  <a:spcPct val="110000"/>
                </a:lnSpc>
                <a:spcBef>
                  <a:spcPts val="300"/>
                </a:spcBef>
                <a:spcAft>
                  <a:spcPts val="0"/>
                </a:spcAft>
                <a:buNone/>
              </a:pPr>
              <a:r>
                <a:rPr lang="zh-CN" altLang="en-US" sz="2200" dirty="0">
                  <a:latin typeface="楷体" panose="02010609060101010101" pitchFamily="1" charset="-122"/>
                  <a:ea typeface="楷体" panose="02010609060101010101" pitchFamily="1" charset="-122"/>
                </a:rPr>
                <a:t>  式的概念抽象。</a:t>
              </a:r>
              <a:endParaRPr lang="zh-CN" altLang="en-US" sz="2200" dirty="0">
                <a:latin typeface="楷体" panose="02010609060101010101" pitchFamily="1" charset="-122"/>
                <a:ea typeface="楷体" panose="02010609060101010101" pitchFamily="1" charset="-122"/>
              </a:endParaRPr>
            </a:p>
          </p:txBody>
        </p:sp>
      </p:grpSp>
      <p:sp>
        <p:nvSpPr>
          <p:cNvPr id="11265"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一、数据库设计概述</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组合 49"/>
          <p:cNvGrpSpPr/>
          <p:nvPr/>
        </p:nvGrpSpPr>
        <p:grpSpPr>
          <a:xfrm>
            <a:off x="770255" y="1028700"/>
            <a:ext cx="7705725" cy="1476375"/>
            <a:chOff x="0" y="0"/>
            <a:chExt cx="8184574" cy="1363662"/>
          </a:xfrm>
        </p:grpSpPr>
        <p:sp>
          <p:nvSpPr>
            <p:cNvPr id="15363" name="Rectangle 7"/>
            <p:cNvSpPr/>
            <p:nvPr/>
          </p:nvSpPr>
          <p:spPr>
            <a:xfrm>
              <a:off x="2537693" y="0"/>
              <a:ext cx="1676156" cy="442646"/>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15364" name="Rectangle 8"/>
            <p:cNvSpPr/>
            <p:nvPr/>
          </p:nvSpPr>
          <p:spPr>
            <a:xfrm>
              <a:off x="2508665" y="919464"/>
              <a:ext cx="1676156" cy="44419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15365" name="Rectangle 18"/>
            <p:cNvSpPr/>
            <p:nvPr/>
          </p:nvSpPr>
          <p:spPr>
            <a:xfrm>
              <a:off x="6182770" y="317739"/>
              <a:ext cx="2001804" cy="867984"/>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lnSpc>
                  <a:spcPct val="100000"/>
                </a:lnSpc>
                <a:buNone/>
              </a:pPr>
              <a:r>
                <a:rPr lang="zh-CN" altLang="en-US" sz="2400" dirty="0">
                  <a:latin typeface="Tahoma" panose="020B0604030504040204" pitchFamily="2" charset="0"/>
                  <a:ea typeface="宋体" panose="02010600030101010101" pitchFamily="2" charset="-122"/>
                </a:rPr>
                <a:t>逻辑设计</a:t>
              </a:r>
              <a:endParaRPr lang="zh-CN" altLang="en-US" sz="2400" dirty="0">
                <a:latin typeface="Tahoma" panose="020B0604030504040204" pitchFamily="2" charset="0"/>
                <a:ea typeface="宋体" panose="02010600030101010101" pitchFamily="2" charset="-122"/>
              </a:endParaRPr>
            </a:p>
            <a:p>
              <a:pPr lvl="0" indent="0" algn="ctr">
                <a:lnSpc>
                  <a:spcPct val="100000"/>
                </a:lnSpc>
                <a:buNone/>
              </a:pPr>
              <a:r>
                <a:rPr lang="zh-CN" altLang="en-US" sz="2400" dirty="0">
                  <a:latin typeface="Tahoma" panose="020B0604030504040204" pitchFamily="2" charset="0"/>
                  <a:ea typeface="宋体" panose="02010600030101010101" pitchFamily="2" charset="-122"/>
                </a:rPr>
                <a:t>模式优化</a:t>
              </a:r>
              <a:endParaRPr lang="zh-CN" altLang="en-US" sz="2400" dirty="0">
                <a:latin typeface="Tahoma" panose="020B0604030504040204" pitchFamily="2" charset="0"/>
                <a:ea typeface="宋体" panose="02010600030101010101" pitchFamily="2" charset="-122"/>
              </a:endParaRPr>
            </a:p>
          </p:txBody>
        </p:sp>
        <p:sp>
          <p:nvSpPr>
            <p:cNvPr id="15366" name="Line 41"/>
            <p:cNvSpPr/>
            <p:nvPr/>
          </p:nvSpPr>
          <p:spPr>
            <a:xfrm flipH="1">
              <a:off x="3201824" y="476023"/>
              <a:ext cx="0" cy="457955"/>
            </a:xfrm>
            <a:prstGeom prst="line">
              <a:avLst/>
            </a:prstGeom>
            <a:ln w="25400" cap="flat" cmpd="sng">
              <a:solidFill>
                <a:schemeClr val="tx1"/>
              </a:solidFill>
              <a:prstDash val="solid"/>
              <a:round/>
              <a:headEnd type="none" w="med" len="med"/>
              <a:tailEnd type="triangle" w="med" len="med"/>
            </a:ln>
          </p:spPr>
        </p:sp>
        <p:sp>
          <p:nvSpPr>
            <p:cNvPr id="15367" name="Line 42"/>
            <p:cNvSpPr/>
            <p:nvPr/>
          </p:nvSpPr>
          <p:spPr>
            <a:xfrm>
              <a:off x="3205723" y="650244"/>
              <a:ext cx="2977047" cy="212419"/>
            </a:xfrm>
            <a:prstGeom prst="line">
              <a:avLst/>
            </a:prstGeom>
            <a:ln w="25400" cap="flat" cmpd="sng">
              <a:solidFill>
                <a:srgbClr val="CC3300"/>
              </a:solidFill>
              <a:prstDash val="dash"/>
              <a:round/>
              <a:headEnd type="triangle" w="med" len="med"/>
              <a:tailEnd type="oval" w="med" len="med"/>
            </a:ln>
          </p:spPr>
        </p:sp>
        <p:sp>
          <p:nvSpPr>
            <p:cNvPr id="15368" name="AutoShape 43"/>
            <p:cNvSpPr/>
            <p:nvPr/>
          </p:nvSpPr>
          <p:spPr>
            <a:xfrm>
              <a:off x="0" y="99657"/>
              <a:ext cx="2334865" cy="1232759"/>
            </a:xfrm>
            <a:prstGeom prst="cloudCallout">
              <a:avLst>
                <a:gd name="adj1" fmla="val 82829"/>
                <a:gd name="adj2" fmla="val -139"/>
              </a:avLst>
            </a:prstGeom>
            <a:solidFill>
              <a:srgbClr val="FFFF99"/>
            </a:solidFill>
            <a:ln w="9525" cap="flat" cmpd="sng">
              <a:solidFill>
                <a:srgbClr val="000000"/>
              </a:solidFill>
              <a:prstDash val="solid"/>
              <a:round/>
              <a:headEnd type="none" w="med" len="med"/>
              <a:tailEnd type="none" w="med" len="med"/>
            </a:ln>
          </p:spPr>
          <p:txBody>
            <a:bodyPr lIns="0" rIns="0" anchor="t"/>
            <a:lstStyle/>
            <a:p>
              <a:pPr lvl="0" indent="0" algn="ctr">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使用特定的</a:t>
              </a:r>
              <a:r>
                <a:rPr lang="en-US" altLang="x-none" sz="2000" dirty="0">
                  <a:solidFill>
                    <a:srgbClr val="0033CC"/>
                  </a:solidFill>
                  <a:latin typeface="宋体" panose="02010600030101010101" pitchFamily="2" charset="-122"/>
                  <a:ea typeface="宋体" panose="02010600030101010101" pitchFamily="2" charset="-122"/>
                </a:rPr>
                <a:t>DBMS</a:t>
              </a:r>
              <a:r>
                <a:rPr lang="zh-CN" altLang="en-US" sz="2000" dirty="0">
                  <a:solidFill>
                    <a:srgbClr val="0033CC"/>
                  </a:solidFill>
                  <a:latin typeface="宋体" panose="02010600030101010101" pitchFamily="2" charset="-122"/>
                  <a:ea typeface="宋体" panose="02010600030101010101" pitchFamily="2" charset="-122"/>
                </a:rPr>
                <a:t>的数据模型</a:t>
              </a:r>
              <a:endParaRPr lang="zh-CN" altLang="en-US" sz="2000" dirty="0">
                <a:solidFill>
                  <a:srgbClr val="0033CC"/>
                </a:solidFill>
                <a:latin typeface="宋体" panose="02010600030101010101" pitchFamily="2" charset="-122"/>
                <a:ea typeface="宋体" panose="02010600030101010101" pitchFamily="2" charset="-122"/>
              </a:endParaRPr>
            </a:p>
          </p:txBody>
        </p:sp>
      </p:grpSp>
      <p:sp>
        <p:nvSpPr>
          <p:cNvPr id="15370" name="矩形 51"/>
          <p:cNvSpPr/>
          <p:nvPr/>
        </p:nvSpPr>
        <p:spPr>
          <a:xfrm>
            <a:off x="646113" y="2715578"/>
            <a:ext cx="7829550" cy="476250"/>
          </a:xfrm>
          <a:prstGeom prst="rect">
            <a:avLst/>
          </a:prstGeom>
          <a:solidFill>
            <a:schemeClr val="accent1"/>
          </a:solidFill>
          <a:ln w="9525">
            <a:noFill/>
          </a:ln>
        </p:spPr>
        <p:txBody>
          <a:bodyPr anchor="t">
            <a:spAutoFit/>
          </a:bodyPr>
          <a:lstStyle/>
          <a:p>
            <a:pPr marL="457200" lvl="0" indent="-457200">
              <a:lnSpc>
                <a:spcPct val="120000"/>
              </a:lnSpc>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3—</a:t>
            </a:r>
            <a:r>
              <a:rPr lang="zh-CN" altLang="en-US" sz="2400" dirty="0">
                <a:solidFill>
                  <a:srgbClr val="CC0000"/>
                </a:solidFill>
                <a:latin typeface="宋体" panose="02010600030101010101" pitchFamily="2" charset="-122"/>
                <a:ea typeface="宋体" panose="02010600030101010101" pitchFamily="2" charset="-122"/>
              </a:rPr>
              <a:t>逻辑数据库设计</a:t>
            </a:r>
            <a:r>
              <a:rPr lang="zh-CN" altLang="en-US" sz="2400" dirty="0">
                <a:solidFill>
                  <a:srgbClr val="007C00"/>
                </a:solidFill>
                <a:latin typeface="宋体" panose="02010600030101010101" pitchFamily="2" charset="-122"/>
                <a:ea typeface="宋体" panose="02010600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Data</a:t>
            </a:r>
            <a:r>
              <a:rPr lang="zh-CN" altLang="en-US" sz="2400" dirty="0">
                <a:solidFill>
                  <a:srgbClr val="007C00"/>
                </a:solidFill>
                <a:latin typeface="宋体" panose="02010600030101010101" pitchFamily="2" charset="-122"/>
                <a:ea typeface="宋体" panose="02010600030101010101" pitchFamily="2" charset="-122"/>
              </a:rPr>
              <a:t> </a:t>
            </a:r>
            <a:r>
              <a:rPr lang="en-US" altLang="x-none" sz="2400" dirty="0">
                <a:solidFill>
                  <a:srgbClr val="007C00"/>
                </a:solidFill>
                <a:latin typeface="宋体" panose="02010600030101010101" pitchFamily="2" charset="-122"/>
                <a:ea typeface="宋体" panose="02010600030101010101" pitchFamily="2" charset="-122"/>
              </a:rPr>
              <a:t>Model</a:t>
            </a:r>
            <a:r>
              <a:rPr lang="zh-CN" altLang="en-US" sz="2400" dirty="0">
                <a:solidFill>
                  <a:srgbClr val="007C00"/>
                </a:solidFill>
                <a:latin typeface="宋体" panose="02010600030101010101" pitchFamily="2" charset="-122"/>
                <a:ea typeface="宋体" panose="02010600030101010101" pitchFamily="2" charset="-122"/>
              </a:rPr>
              <a:t> </a:t>
            </a:r>
            <a:r>
              <a:rPr lang="en-US" altLang="x-none" sz="2400" dirty="0">
                <a:solidFill>
                  <a:srgbClr val="007C00"/>
                </a:solidFill>
                <a:latin typeface="宋体" panose="02010600030101010101" pitchFamily="2" charset="-122"/>
                <a:ea typeface="宋体" panose="02010600030101010101" pitchFamily="2" charset="-122"/>
              </a:rPr>
              <a:t>Mapping</a:t>
            </a:r>
            <a:r>
              <a:rPr lang="zh-CN" altLang="en-US" sz="2400" dirty="0">
                <a:solidFill>
                  <a:srgbClr val="007C00"/>
                </a:solidFill>
                <a:latin typeface="宋体" panose="02010600030101010101" pitchFamily="2" charset="-122"/>
                <a:ea typeface="宋体" panose="02010600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5371" name="矩形 5"/>
          <p:cNvSpPr/>
          <p:nvPr/>
        </p:nvSpPr>
        <p:spPr>
          <a:xfrm>
            <a:off x="362585" y="3242310"/>
            <a:ext cx="8418513" cy="1536700"/>
          </a:xfrm>
          <a:prstGeom prst="rect">
            <a:avLst/>
          </a:prstGeom>
          <a:noFill/>
          <a:ln w="9525">
            <a:noFill/>
          </a:ln>
        </p:spPr>
        <p:txBody>
          <a:bodyPr anchor="t">
            <a:spAutoFit/>
          </a:bodyPr>
          <a:lstStyle/>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任务：选择一种商用</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Oracle</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SQL Server</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将概念</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设计变成该数据库系统对应的模式</a:t>
            </a:r>
            <a:r>
              <a:rPr lang="en-US" altLang="x-none" sz="2200" dirty="0">
                <a:latin typeface="楷体" panose="02010609060101010101" pitchFamily="1" charset="-122"/>
                <a:ea typeface="楷体" panose="02010609060101010101" pitchFamily="1" charset="-122"/>
              </a:rPr>
              <a:t>(Schema)</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结果：抽象层次的内模式。</a:t>
            </a:r>
            <a:endParaRPr lang="zh-CN" altLang="en-US" sz="2200" dirty="0">
              <a:latin typeface="楷体" panose="02010609060101010101" pitchFamily="1" charset="-122"/>
              <a:ea typeface="楷体" panose="02010609060101010101" pitchFamily="1" charset="-122"/>
            </a:endParaRPr>
          </a:p>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对应：数据库抽象层次的物理抽象及内模式。</a:t>
            </a:r>
            <a:endParaRPr lang="zh-CN" altLang="en-US" sz="2200" dirty="0">
              <a:latin typeface="楷体" panose="02010609060101010101" pitchFamily="1" charset="-122"/>
              <a:ea typeface="楷体" panose="02010609060101010101" pitchFamily="1" charset="-122"/>
            </a:endParaRPr>
          </a:p>
        </p:txBody>
      </p:sp>
      <p:sp>
        <p:nvSpPr>
          <p:cNvPr id="15372" name="矩形 53"/>
          <p:cNvSpPr/>
          <p:nvPr/>
        </p:nvSpPr>
        <p:spPr>
          <a:xfrm>
            <a:off x="625475" y="4802188"/>
            <a:ext cx="7829550" cy="476250"/>
          </a:xfrm>
          <a:prstGeom prst="rect">
            <a:avLst/>
          </a:prstGeom>
          <a:solidFill>
            <a:schemeClr val="accent1"/>
          </a:solidFill>
          <a:ln w="9525">
            <a:noFill/>
          </a:ln>
        </p:spPr>
        <p:txBody>
          <a:bodyPr anchor="t">
            <a:spAutoFit/>
          </a:bodyPr>
          <a:lstStyle/>
          <a:p>
            <a:pPr marL="457200" lvl="0" indent="-457200">
              <a:lnSpc>
                <a:spcPct val="120000"/>
              </a:lnSpc>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4—</a:t>
            </a:r>
            <a:r>
              <a:rPr lang="zh-CN" altLang="en-US" sz="2400" dirty="0">
                <a:solidFill>
                  <a:srgbClr val="CC0000"/>
                </a:solidFill>
                <a:latin typeface="宋体" panose="02010600030101010101" pitchFamily="2" charset="-122"/>
                <a:ea typeface="宋体" panose="02010600030101010101" pitchFamily="2" charset="-122"/>
              </a:rPr>
              <a:t>模式优化</a:t>
            </a:r>
            <a:r>
              <a:rPr lang="zh-CN" altLang="en-US" sz="2400" dirty="0">
                <a:solidFill>
                  <a:srgbClr val="007C00"/>
                </a:solidFill>
                <a:latin typeface="宋体" panose="02010600030101010101" pitchFamily="2" charset="-122"/>
                <a:ea typeface="宋体" panose="02010600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Schema Refinement</a:t>
            </a:r>
            <a:r>
              <a:rPr lang="zh-CN" altLang="en-US" sz="2400" dirty="0">
                <a:solidFill>
                  <a:srgbClr val="007C00"/>
                </a:solidFill>
                <a:latin typeface="宋体" panose="02010600030101010101" pitchFamily="2" charset="-122"/>
                <a:ea typeface="宋体" panose="02010600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5373" name="矩形 7"/>
          <p:cNvSpPr/>
          <p:nvPr/>
        </p:nvSpPr>
        <p:spPr>
          <a:xfrm>
            <a:off x="369888" y="5320030"/>
            <a:ext cx="8308975" cy="828675"/>
          </a:xfrm>
          <a:prstGeom prst="rect">
            <a:avLst/>
          </a:prstGeom>
          <a:noFill/>
          <a:ln w="9525">
            <a:noFill/>
          </a:ln>
        </p:spPr>
        <p:txBody>
          <a:bodyPr anchor="t">
            <a:spAutoFit/>
          </a:bodyPr>
          <a:lstStyle/>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任务：解决潜在问题，利用规范化理论进行优化。</a:t>
            </a:r>
            <a:endParaRPr lang="zh-CN" altLang="en-US" sz="2200" dirty="0">
              <a:latin typeface="楷体" panose="02010609060101010101" pitchFamily="1" charset="-122"/>
              <a:ea typeface="楷体" panose="02010609060101010101" pitchFamily="1" charset="-122"/>
            </a:endParaRPr>
          </a:p>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对应：数据库抽象层次的物理抽象及内模式。</a:t>
            </a:r>
            <a:endParaRPr lang="zh-CN" altLang="en-US" sz="2200" dirty="0">
              <a:latin typeface="楷体" panose="02010609060101010101" pitchFamily="1" charset="-122"/>
              <a:ea typeface="楷体" panose="02010609060101010101" pitchFamily="1" charset="-122"/>
            </a:endParaRPr>
          </a:p>
        </p:txBody>
      </p:sp>
      <p:sp>
        <p:nvSpPr>
          <p:cNvPr id="2"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1" name="组合 15"/>
          <p:cNvGrpSpPr/>
          <p:nvPr/>
        </p:nvGrpSpPr>
        <p:grpSpPr>
          <a:xfrm>
            <a:off x="669925" y="1604963"/>
            <a:ext cx="7937500" cy="1138237"/>
            <a:chOff x="0" y="0"/>
            <a:chExt cx="8387774" cy="1338363"/>
          </a:xfrm>
        </p:grpSpPr>
        <p:sp>
          <p:nvSpPr>
            <p:cNvPr id="17412" name="Rectangle 8"/>
            <p:cNvSpPr/>
            <p:nvPr/>
          </p:nvSpPr>
          <p:spPr>
            <a:xfrm>
              <a:off x="2436091" y="0"/>
              <a:ext cx="1676156" cy="44419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17413" name="AutoShape 19"/>
            <p:cNvSpPr/>
            <p:nvPr/>
          </p:nvSpPr>
          <p:spPr>
            <a:xfrm>
              <a:off x="2572026" y="745288"/>
              <a:ext cx="1277071" cy="585534"/>
            </a:xfrm>
            <a:prstGeom prst="flowChartMagneticDisk">
              <a:avLst/>
            </a:prstGeom>
            <a:solidFill>
              <a:srgbClr val="A2E48A"/>
            </a:solidFill>
            <a:ln w="25400"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solidFill>
                    <a:srgbClr val="000000"/>
                  </a:solidFill>
                  <a:latin typeface="Tahoma" panose="020B0604030504040204" pitchFamily="2" charset="0"/>
                  <a:ea typeface="宋体" panose="02010600030101010101" pitchFamily="2" charset="-122"/>
                </a:rPr>
                <a:t>数据库</a:t>
              </a:r>
              <a:endParaRPr lang="zh-CN" altLang="en-US" sz="2000" dirty="0">
                <a:solidFill>
                  <a:srgbClr val="000000"/>
                </a:solidFill>
                <a:latin typeface="Tahoma" panose="020B0604030504040204" pitchFamily="2" charset="0"/>
                <a:ea typeface="宋体" panose="02010600030101010101" pitchFamily="2" charset="-122"/>
              </a:endParaRPr>
            </a:p>
          </p:txBody>
        </p:sp>
        <p:sp>
          <p:nvSpPr>
            <p:cNvPr id="17414" name="Line 20"/>
            <p:cNvSpPr/>
            <p:nvPr/>
          </p:nvSpPr>
          <p:spPr>
            <a:xfrm flipH="1">
              <a:off x="3142236" y="447306"/>
              <a:ext cx="0" cy="472154"/>
            </a:xfrm>
            <a:prstGeom prst="line">
              <a:avLst/>
            </a:prstGeom>
            <a:ln w="25400" cap="flat" cmpd="sng">
              <a:solidFill>
                <a:schemeClr val="tx1"/>
              </a:solidFill>
              <a:prstDash val="solid"/>
              <a:round/>
              <a:headEnd type="none" w="med" len="med"/>
              <a:tailEnd type="triangle" w="med" len="med"/>
            </a:ln>
          </p:spPr>
        </p:sp>
        <p:sp>
          <p:nvSpPr>
            <p:cNvPr id="17415" name="AutoShape 43"/>
            <p:cNvSpPr/>
            <p:nvPr/>
          </p:nvSpPr>
          <p:spPr>
            <a:xfrm>
              <a:off x="0" y="152651"/>
              <a:ext cx="1928126" cy="1185712"/>
            </a:xfrm>
            <a:prstGeom prst="cloudCallout">
              <a:avLst>
                <a:gd name="adj1" fmla="val 72329"/>
                <a:gd name="adj2" fmla="val -36972"/>
              </a:avLst>
            </a:prstGeom>
            <a:solidFill>
              <a:srgbClr val="FFFF99"/>
            </a:solidFill>
            <a:ln w="9525" cap="flat" cmpd="sng">
              <a:solidFill>
                <a:srgbClr val="000000"/>
              </a:solidFill>
              <a:prstDash val="solid"/>
              <a:round/>
              <a:headEnd type="none" w="med" len="med"/>
              <a:tailEnd type="none" w="med" len="med"/>
            </a:ln>
          </p:spPr>
          <p:txBody>
            <a:bodyPr lIns="36000" rIns="36000" anchor="t"/>
            <a:lstStyle/>
            <a:p>
              <a:pPr lvl="0" indent="0">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使用特定的</a:t>
              </a:r>
              <a:r>
                <a:rPr lang="en-US" altLang="x-none" sz="2000" dirty="0">
                  <a:solidFill>
                    <a:srgbClr val="0033CC"/>
                  </a:solidFill>
                  <a:latin typeface="宋体" panose="02010600030101010101" pitchFamily="2" charset="-122"/>
                  <a:ea typeface="宋体" panose="02010600030101010101" pitchFamily="2" charset="-122"/>
                </a:rPr>
                <a:t>DBMS</a:t>
              </a:r>
              <a:r>
                <a:rPr lang="zh-CN" altLang="en-US" sz="2000" dirty="0">
                  <a:solidFill>
                    <a:srgbClr val="0033CC"/>
                  </a:solidFill>
                  <a:latin typeface="宋体" panose="02010600030101010101" pitchFamily="2" charset="-122"/>
                  <a:ea typeface="宋体" panose="02010600030101010101" pitchFamily="2" charset="-122"/>
                </a:rPr>
                <a:t>的数据模型</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17416" name="Rectangle 48"/>
            <p:cNvSpPr/>
            <p:nvPr/>
          </p:nvSpPr>
          <p:spPr>
            <a:xfrm>
              <a:off x="6572486" y="518084"/>
              <a:ext cx="1815288" cy="56379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r>
                <a:rPr lang="zh-CN" altLang="en-US" sz="2400" dirty="0">
                  <a:latin typeface="Tahoma" panose="020B0604030504040204" pitchFamily="2" charset="0"/>
                  <a:ea typeface="宋体" panose="02010600030101010101" pitchFamily="2" charset="-122"/>
                </a:rPr>
                <a:t>物理</a:t>
              </a:r>
              <a:r>
                <a:rPr lang="en-US" altLang="x-none" sz="2400" dirty="0">
                  <a:latin typeface="Tahoma" panose="020B0604030504040204" pitchFamily="2" charset="0"/>
                  <a:ea typeface="宋体" panose="02010600030101010101" pitchFamily="2" charset="-122"/>
                </a:rPr>
                <a:t>DB</a:t>
              </a:r>
              <a:r>
                <a:rPr lang="zh-CN" altLang="en-US" sz="2400" dirty="0">
                  <a:latin typeface="Tahoma" panose="020B0604030504040204" pitchFamily="2" charset="0"/>
                  <a:ea typeface="宋体" panose="02010600030101010101" pitchFamily="2" charset="-122"/>
                </a:rPr>
                <a:t>设计</a:t>
              </a:r>
              <a:endParaRPr lang="zh-CN" altLang="en-US" sz="2400" dirty="0">
                <a:latin typeface="Tahoma" panose="020B0604030504040204" pitchFamily="2" charset="0"/>
                <a:ea typeface="宋体" panose="02010600030101010101" pitchFamily="2" charset="-122"/>
              </a:endParaRPr>
            </a:p>
          </p:txBody>
        </p:sp>
        <p:sp>
          <p:nvSpPr>
            <p:cNvPr id="17417" name="Line 49"/>
            <p:cNvSpPr/>
            <p:nvPr/>
          </p:nvSpPr>
          <p:spPr>
            <a:xfrm>
              <a:off x="3194464" y="536944"/>
              <a:ext cx="3312514" cy="354115"/>
            </a:xfrm>
            <a:prstGeom prst="line">
              <a:avLst/>
            </a:prstGeom>
            <a:ln w="25400" cap="flat" cmpd="sng">
              <a:solidFill>
                <a:srgbClr val="CC3300"/>
              </a:solidFill>
              <a:prstDash val="dash"/>
              <a:round/>
              <a:headEnd type="triangle" w="med" len="med"/>
              <a:tailEnd type="oval" w="med" len="med"/>
            </a:ln>
          </p:spPr>
        </p:sp>
      </p:grpSp>
      <p:sp>
        <p:nvSpPr>
          <p:cNvPr id="17418" name="矩形 16"/>
          <p:cNvSpPr/>
          <p:nvPr/>
        </p:nvSpPr>
        <p:spPr>
          <a:xfrm>
            <a:off x="704850" y="3006725"/>
            <a:ext cx="7829550" cy="592138"/>
          </a:xfrm>
          <a:prstGeom prst="rect">
            <a:avLst/>
          </a:prstGeom>
          <a:solidFill>
            <a:schemeClr val="accent1"/>
          </a:solidFill>
          <a:ln w="9525">
            <a:noFill/>
          </a:ln>
        </p:spPr>
        <p:txBody>
          <a:bodyPr anchor="t">
            <a:spAutoFit/>
          </a:bodyPr>
          <a:lstStyle/>
          <a:p>
            <a:pPr marL="457200" lvl="0" indent="-457200">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5—</a:t>
            </a:r>
            <a:r>
              <a:rPr lang="zh-CN" altLang="en-US" sz="2400" dirty="0">
                <a:solidFill>
                  <a:srgbClr val="CC0000"/>
                </a:solidFill>
                <a:latin typeface="宋体" panose="02010600030101010101" pitchFamily="2" charset="-122"/>
                <a:ea typeface="宋体" panose="02010600030101010101" pitchFamily="2" charset="-122"/>
              </a:rPr>
              <a:t>物理数据库设计</a:t>
            </a:r>
            <a:r>
              <a:rPr lang="zh-CN" altLang="en-US" sz="2400" dirty="0">
                <a:solidFill>
                  <a:srgbClr val="007C00"/>
                </a:solidFill>
                <a:latin typeface="方正舒体" panose="02010601030101010101" pitchFamily="2" charset="-122"/>
                <a:ea typeface="方正舒体" panose="02010601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Physical DB Design</a:t>
            </a:r>
            <a:r>
              <a:rPr lang="zh-CN" altLang="en-US" sz="2400" dirty="0">
                <a:solidFill>
                  <a:srgbClr val="007C00"/>
                </a:solidFill>
                <a:latin typeface="方正舒体" panose="02010601030101010101" pitchFamily="2" charset="-122"/>
                <a:ea typeface="方正舒体" panose="02010601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7419" name="矩形 4"/>
          <p:cNvSpPr/>
          <p:nvPr/>
        </p:nvSpPr>
        <p:spPr>
          <a:xfrm>
            <a:off x="363538" y="3663950"/>
            <a:ext cx="8404225" cy="815975"/>
          </a:xfrm>
          <a:prstGeom prst="rect">
            <a:avLst/>
          </a:prstGeom>
          <a:noFill/>
          <a:ln w="9525">
            <a:noFill/>
          </a:ln>
        </p:spPr>
        <p:txBody>
          <a:bodyPr anchor="t">
            <a:spAutoFit/>
          </a:bodyPr>
          <a:lstStyle/>
          <a:p>
            <a:pPr lvl="1" indent="0" eaLnBrk="1" hangingPunct="1">
              <a:lnSpc>
                <a:spcPct val="114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任务：考虑负载、性能要求，确定数据内部储存结构，存取</a:t>
            </a:r>
            <a:endParaRPr lang="en-US" altLang="x-none" sz="2200" dirty="0">
              <a:latin typeface="楷体" panose="02010609060101010101" pitchFamily="1" charset="-122"/>
              <a:ea typeface="楷体" panose="02010609060101010101" pitchFamily="1" charset="-122"/>
            </a:endParaRPr>
          </a:p>
          <a:p>
            <a:pPr lvl="1" indent="0" eaLnBrk="1" hangingPunct="1">
              <a:lnSpc>
                <a:spcPct val="114000"/>
              </a:lnSpc>
              <a:buNone/>
            </a:pPr>
            <a:r>
              <a:rPr lang="zh-CN" altLang="en-US" sz="2200" dirty="0">
                <a:latin typeface="楷体" panose="02010609060101010101" pitchFamily="1" charset="-122"/>
                <a:ea typeface="楷体" panose="02010609060101010101" pitchFamily="1" charset="-122"/>
              </a:rPr>
              <a:t>  路径，设计并选择物理存储方式等。</a:t>
            </a:r>
            <a:endParaRPr lang="zh-CN" altLang="en-US" sz="2200" dirty="0">
              <a:latin typeface="楷体" panose="02010609060101010101" pitchFamily="1" charset="-122"/>
              <a:ea typeface="楷体" panose="02010609060101010101" pitchFamily="1" charset="-122"/>
            </a:endParaRPr>
          </a:p>
        </p:txBody>
      </p:sp>
      <p:sp>
        <p:nvSpPr>
          <p:cNvPr id="17420" name="矩形 18"/>
          <p:cNvSpPr/>
          <p:nvPr/>
        </p:nvSpPr>
        <p:spPr>
          <a:xfrm>
            <a:off x="625475" y="4567238"/>
            <a:ext cx="7829550" cy="590550"/>
          </a:xfrm>
          <a:prstGeom prst="rect">
            <a:avLst/>
          </a:prstGeom>
          <a:solidFill>
            <a:schemeClr val="accent1"/>
          </a:solidFill>
          <a:ln w="9525">
            <a:noFill/>
          </a:ln>
        </p:spPr>
        <p:txBody>
          <a:bodyPr anchor="t">
            <a:spAutoFit/>
          </a:bodyPr>
          <a:lstStyle/>
          <a:p>
            <a:pPr marL="457200" lvl="0" indent="-457200">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6—</a:t>
            </a:r>
            <a:r>
              <a:rPr lang="zh-CN" altLang="en-US" sz="2400" dirty="0">
                <a:solidFill>
                  <a:srgbClr val="CC0000"/>
                </a:solidFill>
                <a:latin typeface="宋体" panose="02010600030101010101" pitchFamily="2" charset="-122"/>
                <a:ea typeface="宋体" panose="02010600030101010101" pitchFamily="2" charset="-122"/>
              </a:rPr>
              <a:t>安全性设计</a:t>
            </a:r>
            <a:r>
              <a:rPr lang="zh-CN" altLang="en-US" sz="2400" dirty="0">
                <a:solidFill>
                  <a:srgbClr val="007C00"/>
                </a:solidFill>
                <a:latin typeface="方正舒体" panose="02010601030101010101" pitchFamily="2" charset="-122"/>
                <a:ea typeface="方正舒体" panose="02010601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Security Design</a:t>
            </a:r>
            <a:r>
              <a:rPr lang="zh-CN" altLang="en-US" sz="2400" dirty="0">
                <a:solidFill>
                  <a:srgbClr val="007C00"/>
                </a:solidFill>
                <a:latin typeface="方正舒体" panose="02010601030101010101" pitchFamily="2" charset="-122"/>
                <a:ea typeface="方正舒体" panose="02010601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7421" name="矩形 6"/>
          <p:cNvSpPr/>
          <p:nvPr/>
        </p:nvSpPr>
        <p:spPr>
          <a:xfrm>
            <a:off x="355600" y="5243513"/>
            <a:ext cx="8062913" cy="549275"/>
          </a:xfrm>
          <a:prstGeom prst="rect">
            <a:avLst/>
          </a:prstGeom>
          <a:noFill/>
          <a:ln w="9525">
            <a:noFill/>
          </a:ln>
        </p:spPr>
        <p:txBody>
          <a:bodyPr anchor="t">
            <a:spAutoFit/>
          </a:bodyPr>
          <a:lstStyle/>
          <a:p>
            <a:pPr lvl="1" indent="0" eaLnBrk="1" hangingPunct="1">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任务：确定哪些用户（组）可</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不可访问哪些数据。</a:t>
            </a:r>
            <a:endParaRPr lang="zh-CN" altLang="en-US" sz="2200" dirty="0">
              <a:latin typeface="楷体" panose="02010609060101010101" pitchFamily="1" charset="-122"/>
              <a:ea typeface="楷体" panose="02010609060101010101" pitchFamily="1" charset="-122"/>
            </a:endParaRPr>
          </a:p>
        </p:txBody>
      </p:sp>
      <p:sp>
        <p:nvSpPr>
          <p:cNvPr id="11265"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一、数据库设计概述</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Oval 3"/>
          <p:cNvSpPr/>
          <p:nvPr/>
        </p:nvSpPr>
        <p:spPr>
          <a:xfrm>
            <a:off x="906463" y="1744980"/>
            <a:ext cx="6008687" cy="2208213"/>
          </a:xfrm>
          <a:prstGeom prst="ellipse">
            <a:avLst/>
          </a:prstGeom>
          <a:solidFill>
            <a:srgbClr val="66FFFF">
              <a:alpha val="50000"/>
            </a:srgbClr>
          </a:solidFill>
          <a:ln w="9525">
            <a:noFill/>
          </a:ln>
        </p:spPr>
        <p:txBody>
          <a:bodyPr wrap="none" anchor="ctr"/>
          <a:lstStyle/>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buNone/>
            </a:pPr>
            <a:r>
              <a:rPr lang="en-US" altLang="x-none" sz="2800" dirty="0">
                <a:latin typeface="宋体" panose="02010600030101010101" pitchFamily="2" charset="-122"/>
                <a:ea typeface="宋体" panose="02010600030101010101" pitchFamily="2" charset="-122"/>
              </a:rPr>
              <a:t>                </a:t>
            </a:r>
            <a:r>
              <a:rPr lang="en-US" altLang="x-none" sz="2800" dirty="0">
                <a:solidFill>
                  <a:srgbClr val="000000"/>
                </a:solidFill>
                <a:latin typeface="宋体" panose="02010600030101010101" pitchFamily="2" charset="-122"/>
                <a:ea typeface="宋体" panose="02010600030101010101" pitchFamily="2" charset="-122"/>
              </a:rPr>
              <a:t>DBMS</a:t>
            </a:r>
            <a:r>
              <a:rPr lang="zh-CN" altLang="en-US" sz="2800" dirty="0">
                <a:solidFill>
                  <a:srgbClr val="000000"/>
                </a:solidFill>
                <a:latin typeface="宋体" panose="02010600030101010101" pitchFamily="2" charset="-122"/>
                <a:ea typeface="宋体" panose="02010600030101010101" pitchFamily="2" charset="-122"/>
              </a:rPr>
              <a:t>无关</a:t>
            </a:r>
            <a:endParaRPr lang="zh-CN" altLang="en-US" sz="2800" dirty="0">
              <a:solidFill>
                <a:srgbClr val="000000"/>
              </a:solidFill>
              <a:latin typeface="宋体" panose="02010600030101010101" pitchFamily="2" charset="-122"/>
              <a:ea typeface="宋体" panose="02010600030101010101" pitchFamily="2" charset="-122"/>
            </a:endParaRPr>
          </a:p>
        </p:txBody>
      </p:sp>
      <p:sp>
        <p:nvSpPr>
          <p:cNvPr id="19459" name="Oval 4"/>
          <p:cNvSpPr/>
          <p:nvPr/>
        </p:nvSpPr>
        <p:spPr>
          <a:xfrm>
            <a:off x="1055688" y="3984943"/>
            <a:ext cx="5486400" cy="2062162"/>
          </a:xfrm>
          <a:prstGeom prst="ellipse">
            <a:avLst/>
          </a:prstGeom>
          <a:solidFill>
            <a:srgbClr val="66FFFF">
              <a:alpha val="50000"/>
            </a:srgbClr>
          </a:solidFill>
          <a:ln w="9525">
            <a:noFill/>
          </a:ln>
        </p:spPr>
        <p:txBody>
          <a:bodyPr wrap="none" anchor="ctr"/>
          <a:lstStyle/>
          <a:p>
            <a:pPr lvl="0" indent="0"/>
            <a:r>
              <a:rPr lang="en-US" altLang="x-none" sz="3200" dirty="0">
                <a:solidFill>
                  <a:srgbClr val="000000"/>
                </a:solidFill>
                <a:latin typeface="宋体" panose="02010600030101010101" pitchFamily="2" charset="-122"/>
                <a:ea typeface="宋体" panose="02010600030101010101" pitchFamily="2" charset="-122"/>
              </a:rPr>
              <a:t>             </a:t>
            </a:r>
            <a:r>
              <a:rPr lang="en-US" altLang="x-none" sz="2800" dirty="0">
                <a:solidFill>
                  <a:srgbClr val="000000"/>
                </a:solidFill>
                <a:latin typeface="宋体" panose="02010600030101010101" pitchFamily="2" charset="-122"/>
                <a:ea typeface="宋体" panose="02010600030101010101" pitchFamily="2" charset="-122"/>
              </a:rPr>
              <a:t>DBMS</a:t>
            </a:r>
            <a:r>
              <a:rPr lang="zh-CN" altLang="en-US" sz="2800" dirty="0">
                <a:solidFill>
                  <a:srgbClr val="000000"/>
                </a:solidFill>
                <a:latin typeface="宋体" panose="02010600030101010101" pitchFamily="2" charset="-122"/>
                <a:ea typeface="宋体" panose="02010600030101010101" pitchFamily="2" charset="-122"/>
              </a:rPr>
              <a:t>有关 </a:t>
            </a:r>
            <a:endParaRPr lang="de-DE" altLang="en-US" sz="2800" dirty="0">
              <a:solidFill>
                <a:srgbClr val="000000"/>
              </a:solidFill>
              <a:latin typeface="宋体" panose="02010600030101010101" pitchFamily="2" charset="-122"/>
              <a:ea typeface="宋体" panose="02010600030101010101" pitchFamily="2" charset="-122"/>
            </a:endParaRPr>
          </a:p>
        </p:txBody>
      </p:sp>
      <p:sp>
        <p:nvSpPr>
          <p:cNvPr id="19460" name="Rectangle 6"/>
          <p:cNvSpPr/>
          <p:nvPr/>
        </p:nvSpPr>
        <p:spPr>
          <a:xfrm>
            <a:off x="4470400" y="2768918"/>
            <a:ext cx="404813" cy="290512"/>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19461" name="Rectangle 7"/>
          <p:cNvSpPr/>
          <p:nvPr/>
        </p:nvSpPr>
        <p:spPr>
          <a:xfrm>
            <a:off x="2859088" y="3640455"/>
            <a:ext cx="1676400" cy="442913"/>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19462" name="Rectangle 8"/>
          <p:cNvSpPr/>
          <p:nvPr/>
        </p:nvSpPr>
        <p:spPr>
          <a:xfrm>
            <a:off x="2859088" y="4559618"/>
            <a:ext cx="1676400" cy="444500"/>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grpSp>
        <p:nvGrpSpPr>
          <p:cNvPr id="19463" name="Group 9"/>
          <p:cNvGrpSpPr/>
          <p:nvPr/>
        </p:nvGrpSpPr>
        <p:grpSpPr>
          <a:xfrm>
            <a:off x="1120775" y="2460943"/>
            <a:ext cx="1651000" cy="792162"/>
            <a:chOff x="0" y="0"/>
            <a:chExt cx="1055" cy="510"/>
          </a:xfrm>
        </p:grpSpPr>
        <p:sp>
          <p:nvSpPr>
            <p:cNvPr id="19464" name="Rectangle 10"/>
            <p:cNvSpPr/>
            <p:nvPr/>
          </p:nvSpPr>
          <p:spPr>
            <a:xfrm>
              <a:off x="0" y="222"/>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1</a:t>
              </a:r>
              <a:endParaRPr lang="zh-CN" altLang="en-US" sz="2400" dirty="0">
                <a:latin typeface="Tahoma" panose="020B0604030504040204" pitchFamily="2" charset="0"/>
                <a:ea typeface="宋体" panose="02010600030101010101" pitchFamily="2" charset="-122"/>
              </a:endParaRPr>
            </a:p>
          </p:txBody>
        </p:sp>
        <p:sp>
          <p:nvSpPr>
            <p:cNvPr id="19465" name="Line 11"/>
            <p:cNvSpPr/>
            <p:nvPr/>
          </p:nvSpPr>
          <p:spPr>
            <a:xfrm flipH="1">
              <a:off x="535" y="0"/>
              <a:ext cx="520" cy="217"/>
            </a:xfrm>
            <a:prstGeom prst="line">
              <a:avLst/>
            </a:prstGeom>
            <a:ln w="25400" cap="flat" cmpd="sng">
              <a:solidFill>
                <a:schemeClr val="tx1"/>
              </a:solidFill>
              <a:prstDash val="solid"/>
              <a:round/>
              <a:headEnd type="none" w="med" len="med"/>
              <a:tailEnd type="triangle" w="med" len="med"/>
            </a:ln>
          </p:spPr>
        </p:sp>
      </p:grpSp>
      <p:grpSp>
        <p:nvGrpSpPr>
          <p:cNvPr id="19466" name="Group 12"/>
          <p:cNvGrpSpPr/>
          <p:nvPr/>
        </p:nvGrpSpPr>
        <p:grpSpPr>
          <a:xfrm>
            <a:off x="3995738" y="2446655"/>
            <a:ext cx="2414587" cy="820738"/>
            <a:chOff x="0" y="0"/>
            <a:chExt cx="1542" cy="528"/>
          </a:xfrm>
        </p:grpSpPr>
        <p:sp>
          <p:nvSpPr>
            <p:cNvPr id="19467" name="Rectangle 13"/>
            <p:cNvSpPr/>
            <p:nvPr/>
          </p:nvSpPr>
          <p:spPr>
            <a:xfrm>
              <a:off x="624" y="240"/>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n</a:t>
              </a:r>
              <a:endParaRPr lang="de-DE" altLang="en-US" sz="2400" dirty="0">
                <a:latin typeface="Tahoma" panose="020B0604030504040204" pitchFamily="2" charset="0"/>
                <a:ea typeface="宋体" panose="02010600030101010101" pitchFamily="2" charset="-122"/>
              </a:endParaRPr>
            </a:p>
          </p:txBody>
        </p:sp>
        <p:sp>
          <p:nvSpPr>
            <p:cNvPr id="19468" name="Line 14"/>
            <p:cNvSpPr/>
            <p:nvPr/>
          </p:nvSpPr>
          <p:spPr>
            <a:xfrm>
              <a:off x="0" y="0"/>
              <a:ext cx="960" cy="240"/>
            </a:xfrm>
            <a:prstGeom prst="line">
              <a:avLst/>
            </a:prstGeom>
            <a:ln w="25400" cap="flat" cmpd="sng">
              <a:solidFill>
                <a:schemeClr val="tx1"/>
              </a:solidFill>
              <a:prstDash val="solid"/>
              <a:round/>
              <a:headEnd type="none" w="med" len="med"/>
              <a:tailEnd type="triangle" w="med" len="med"/>
            </a:ln>
          </p:spPr>
        </p:sp>
      </p:grpSp>
      <p:sp>
        <p:nvSpPr>
          <p:cNvPr id="19469" name="Line 15"/>
          <p:cNvSpPr/>
          <p:nvPr/>
        </p:nvSpPr>
        <p:spPr>
          <a:xfrm>
            <a:off x="3609975" y="3295968"/>
            <a:ext cx="0" cy="373062"/>
          </a:xfrm>
          <a:prstGeom prst="line">
            <a:avLst/>
          </a:prstGeom>
          <a:ln w="25400" cap="flat" cmpd="sng">
            <a:solidFill>
              <a:schemeClr val="tx1"/>
            </a:solidFill>
            <a:prstDash val="solid"/>
            <a:round/>
            <a:headEnd type="none" w="med" len="med"/>
            <a:tailEnd type="triangle" w="med" len="med"/>
          </a:ln>
        </p:spPr>
      </p:sp>
      <p:sp>
        <p:nvSpPr>
          <p:cNvPr id="19470" name="Line 16"/>
          <p:cNvSpPr/>
          <p:nvPr/>
        </p:nvSpPr>
        <p:spPr>
          <a:xfrm>
            <a:off x="2424113" y="1749743"/>
            <a:ext cx="509587" cy="381000"/>
          </a:xfrm>
          <a:prstGeom prst="line">
            <a:avLst/>
          </a:prstGeom>
          <a:ln w="25400" cap="flat" cmpd="sng">
            <a:solidFill>
              <a:schemeClr val="tx1"/>
            </a:solidFill>
            <a:prstDash val="solid"/>
            <a:round/>
            <a:headEnd type="none" w="med" len="med"/>
            <a:tailEnd type="triangle" w="med" len="med"/>
          </a:ln>
        </p:spPr>
      </p:sp>
      <p:sp>
        <p:nvSpPr>
          <p:cNvPr id="19471" name="Line 17"/>
          <p:cNvSpPr/>
          <p:nvPr/>
        </p:nvSpPr>
        <p:spPr>
          <a:xfrm flipH="1">
            <a:off x="4221163" y="3292793"/>
            <a:ext cx="1951037" cy="347662"/>
          </a:xfrm>
          <a:prstGeom prst="line">
            <a:avLst/>
          </a:prstGeom>
          <a:ln w="25400" cap="flat" cmpd="sng">
            <a:solidFill>
              <a:schemeClr val="tx1"/>
            </a:solidFill>
            <a:prstDash val="solid"/>
            <a:round/>
            <a:headEnd type="none" w="med" len="med"/>
            <a:tailEnd type="triangle" w="med" len="med"/>
          </a:ln>
        </p:spPr>
      </p:sp>
      <p:sp>
        <p:nvSpPr>
          <p:cNvPr id="19472" name="Rectangle 18"/>
          <p:cNvSpPr/>
          <p:nvPr/>
        </p:nvSpPr>
        <p:spPr>
          <a:xfrm>
            <a:off x="6765925" y="3957955"/>
            <a:ext cx="2001838" cy="868363"/>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lnSpc>
                <a:spcPct val="100000"/>
              </a:lnSpc>
              <a:buNone/>
            </a:pPr>
            <a:r>
              <a:rPr lang="zh-CN" altLang="en-US" sz="2400" dirty="0">
                <a:latin typeface="Tahoma" panose="020B0604030504040204" pitchFamily="2" charset="0"/>
                <a:ea typeface="宋体" panose="02010600030101010101" pitchFamily="2" charset="-122"/>
              </a:rPr>
              <a:t>逻辑设计</a:t>
            </a:r>
            <a:endParaRPr lang="zh-CN" altLang="en-US" sz="2400" dirty="0">
              <a:latin typeface="Tahoma" panose="020B0604030504040204" pitchFamily="2" charset="0"/>
              <a:ea typeface="宋体" panose="02010600030101010101" pitchFamily="2" charset="-122"/>
            </a:endParaRPr>
          </a:p>
          <a:p>
            <a:pPr lvl="0" indent="0" algn="ctr">
              <a:lnSpc>
                <a:spcPct val="100000"/>
              </a:lnSpc>
              <a:buNone/>
            </a:pPr>
            <a:r>
              <a:rPr lang="zh-CN" altLang="en-US" sz="2400" dirty="0">
                <a:latin typeface="Tahoma" panose="020B0604030504040204" pitchFamily="2" charset="0"/>
                <a:ea typeface="宋体" panose="02010600030101010101" pitchFamily="2" charset="-122"/>
              </a:rPr>
              <a:t>模式优化</a:t>
            </a:r>
            <a:endParaRPr lang="zh-CN" altLang="en-US" sz="2400" dirty="0">
              <a:latin typeface="Tahoma" panose="020B0604030504040204" pitchFamily="2" charset="0"/>
              <a:ea typeface="宋体" panose="02010600030101010101" pitchFamily="2" charset="-122"/>
            </a:endParaRPr>
          </a:p>
        </p:txBody>
      </p:sp>
      <p:sp>
        <p:nvSpPr>
          <p:cNvPr id="19473" name="AutoShape 19"/>
          <p:cNvSpPr/>
          <p:nvPr/>
        </p:nvSpPr>
        <p:spPr>
          <a:xfrm>
            <a:off x="2995613" y="5304155"/>
            <a:ext cx="1276350" cy="585788"/>
          </a:xfrm>
          <a:prstGeom prst="flowChartMagneticDisk">
            <a:avLst/>
          </a:prstGeom>
          <a:solidFill>
            <a:srgbClr val="A2E48A"/>
          </a:solidFill>
          <a:ln w="25400"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solidFill>
                  <a:srgbClr val="000000"/>
                </a:solidFill>
                <a:latin typeface="Tahoma" panose="020B0604030504040204" pitchFamily="2" charset="0"/>
                <a:ea typeface="宋体" panose="02010600030101010101" pitchFamily="2" charset="-122"/>
              </a:rPr>
              <a:t>数据库</a:t>
            </a:r>
            <a:endParaRPr lang="zh-CN" altLang="en-US" sz="2000" dirty="0">
              <a:solidFill>
                <a:srgbClr val="000000"/>
              </a:solidFill>
              <a:latin typeface="Tahoma" panose="020B0604030504040204" pitchFamily="2" charset="0"/>
              <a:ea typeface="宋体" panose="02010600030101010101" pitchFamily="2" charset="-122"/>
            </a:endParaRPr>
          </a:p>
        </p:txBody>
      </p:sp>
      <p:sp>
        <p:nvSpPr>
          <p:cNvPr id="19474" name="Line 20"/>
          <p:cNvSpPr/>
          <p:nvPr/>
        </p:nvSpPr>
        <p:spPr>
          <a:xfrm flipH="1">
            <a:off x="3565525" y="5007293"/>
            <a:ext cx="0" cy="471487"/>
          </a:xfrm>
          <a:prstGeom prst="line">
            <a:avLst/>
          </a:prstGeom>
          <a:ln w="25400" cap="flat" cmpd="sng">
            <a:solidFill>
              <a:schemeClr val="tx1"/>
            </a:solidFill>
            <a:prstDash val="solid"/>
            <a:round/>
            <a:headEnd type="none" w="med" len="med"/>
            <a:tailEnd type="triangle" w="med" len="med"/>
          </a:ln>
        </p:spPr>
      </p:sp>
      <p:grpSp>
        <p:nvGrpSpPr>
          <p:cNvPr id="19475" name="Group 21"/>
          <p:cNvGrpSpPr/>
          <p:nvPr/>
        </p:nvGrpSpPr>
        <p:grpSpPr>
          <a:xfrm>
            <a:off x="2795588" y="2433955"/>
            <a:ext cx="1435100" cy="833438"/>
            <a:chOff x="0" y="0"/>
            <a:chExt cx="917" cy="537"/>
          </a:xfrm>
        </p:grpSpPr>
        <p:sp>
          <p:nvSpPr>
            <p:cNvPr id="19476" name="Rectangle 22"/>
            <p:cNvSpPr/>
            <p:nvPr/>
          </p:nvSpPr>
          <p:spPr>
            <a:xfrm>
              <a:off x="0" y="249"/>
              <a:ext cx="917"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2</a:t>
              </a:r>
              <a:endParaRPr lang="zh-CN" altLang="en-US" sz="2400" dirty="0">
                <a:latin typeface="Tahoma" panose="020B0604030504040204" pitchFamily="2" charset="0"/>
                <a:ea typeface="宋体" panose="02010600030101010101" pitchFamily="2" charset="-122"/>
              </a:endParaRPr>
            </a:p>
          </p:txBody>
        </p:sp>
        <p:sp>
          <p:nvSpPr>
            <p:cNvPr id="19477" name="Line 23"/>
            <p:cNvSpPr/>
            <p:nvPr/>
          </p:nvSpPr>
          <p:spPr>
            <a:xfrm>
              <a:off x="520" y="0"/>
              <a:ext cx="0" cy="265"/>
            </a:xfrm>
            <a:prstGeom prst="line">
              <a:avLst/>
            </a:prstGeom>
            <a:ln w="25400" cap="flat" cmpd="sng">
              <a:solidFill>
                <a:schemeClr val="tx1"/>
              </a:solidFill>
              <a:prstDash val="solid"/>
              <a:round/>
              <a:headEnd type="none" w="med" len="med"/>
              <a:tailEnd type="triangle" w="med" len="med"/>
            </a:ln>
          </p:spPr>
        </p:sp>
      </p:grpSp>
      <p:sp>
        <p:nvSpPr>
          <p:cNvPr id="19478" name="AutoShape 24"/>
          <p:cNvSpPr/>
          <p:nvPr/>
        </p:nvSpPr>
        <p:spPr>
          <a:xfrm>
            <a:off x="2511425" y="2103755"/>
            <a:ext cx="2103438" cy="371475"/>
          </a:xfrm>
          <a:prstGeom prst="roundRect">
            <a:avLst>
              <a:gd name="adj" fmla="val 16667"/>
            </a:avLst>
          </a:prstGeom>
          <a:solidFill>
            <a:srgbClr val="FFFFCC"/>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33CC"/>
                </a:solidFill>
                <a:latin typeface="宋体" panose="02010600030101010101" pitchFamily="2" charset="-122"/>
                <a:ea typeface="宋体" panose="02010600030101010101" pitchFamily="2" charset="-122"/>
              </a:rPr>
              <a:t>数据库需求</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19479" name="Line 25"/>
          <p:cNvSpPr/>
          <p:nvPr/>
        </p:nvSpPr>
        <p:spPr>
          <a:xfrm>
            <a:off x="3609975" y="1624330"/>
            <a:ext cx="0" cy="520700"/>
          </a:xfrm>
          <a:prstGeom prst="line">
            <a:avLst/>
          </a:prstGeom>
          <a:ln w="25400" cap="flat" cmpd="sng">
            <a:solidFill>
              <a:schemeClr val="tx1"/>
            </a:solidFill>
            <a:prstDash val="solid"/>
            <a:round/>
            <a:headEnd type="none" w="med" len="med"/>
            <a:tailEnd type="triangle" w="med" len="med"/>
          </a:ln>
        </p:spPr>
      </p:sp>
      <p:sp>
        <p:nvSpPr>
          <p:cNvPr id="19480" name="Line 26"/>
          <p:cNvSpPr/>
          <p:nvPr/>
        </p:nvSpPr>
        <p:spPr>
          <a:xfrm flipH="1">
            <a:off x="4114800" y="1587818"/>
            <a:ext cx="1112838" cy="487362"/>
          </a:xfrm>
          <a:prstGeom prst="line">
            <a:avLst/>
          </a:prstGeom>
          <a:ln w="25400" cap="flat" cmpd="sng">
            <a:solidFill>
              <a:schemeClr val="tx1"/>
            </a:solidFill>
            <a:prstDash val="solid"/>
            <a:round/>
            <a:headEnd type="none" w="med" len="med"/>
            <a:tailEnd type="triangle" w="med" len="med"/>
          </a:ln>
        </p:spPr>
      </p:sp>
      <p:grpSp>
        <p:nvGrpSpPr>
          <p:cNvPr id="19481" name="Group 27"/>
          <p:cNvGrpSpPr/>
          <p:nvPr/>
        </p:nvGrpSpPr>
        <p:grpSpPr>
          <a:xfrm>
            <a:off x="4794250" y="2460943"/>
            <a:ext cx="3973513" cy="703262"/>
            <a:chOff x="0" y="0"/>
            <a:chExt cx="2349" cy="432"/>
          </a:xfrm>
        </p:grpSpPr>
        <p:sp>
          <p:nvSpPr>
            <p:cNvPr id="19482" name="Rectangle 28"/>
            <p:cNvSpPr/>
            <p:nvPr/>
          </p:nvSpPr>
          <p:spPr>
            <a:xfrm>
              <a:off x="1275" y="0"/>
              <a:ext cx="1074" cy="432"/>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600" dirty="0">
                  <a:solidFill>
                    <a:srgbClr val="2550D9"/>
                  </a:solidFill>
                  <a:latin typeface="Tahoma" panose="020B0604030504040204" pitchFamily="2" charset="0"/>
                  <a:ea typeface="宋体" panose="02010600030101010101" pitchFamily="2" charset="-122"/>
                </a:rPr>
                <a:t>概念设计</a:t>
              </a:r>
              <a:endParaRPr lang="zh-CN" altLang="en-US" sz="2600" dirty="0">
                <a:solidFill>
                  <a:srgbClr val="2550D9"/>
                </a:solidFill>
                <a:latin typeface="Tahoma" panose="020B0604030504040204" pitchFamily="2" charset="0"/>
                <a:ea typeface="宋体" panose="02010600030101010101" pitchFamily="2" charset="-122"/>
              </a:endParaRPr>
            </a:p>
          </p:txBody>
        </p:sp>
        <p:sp>
          <p:nvSpPr>
            <p:cNvPr id="19483" name="Line 29"/>
            <p:cNvSpPr/>
            <p:nvPr/>
          </p:nvSpPr>
          <p:spPr>
            <a:xfrm flipV="1">
              <a:off x="0" y="67"/>
              <a:ext cx="1282" cy="29"/>
            </a:xfrm>
            <a:prstGeom prst="line">
              <a:avLst/>
            </a:prstGeom>
            <a:ln w="38100" cap="flat" cmpd="sng">
              <a:solidFill>
                <a:srgbClr val="CC3300"/>
              </a:solidFill>
              <a:prstDash val="dash"/>
              <a:round/>
              <a:headEnd type="triangle" w="med" len="med"/>
              <a:tailEnd type="oval" w="med" len="med"/>
            </a:ln>
          </p:spPr>
        </p:sp>
      </p:grpSp>
      <p:grpSp>
        <p:nvGrpSpPr>
          <p:cNvPr id="19484" name="Group 30"/>
          <p:cNvGrpSpPr/>
          <p:nvPr/>
        </p:nvGrpSpPr>
        <p:grpSpPr>
          <a:xfrm>
            <a:off x="1392238" y="1054418"/>
            <a:ext cx="5995987" cy="1057275"/>
            <a:chOff x="0" y="0"/>
            <a:chExt cx="4156" cy="681"/>
          </a:xfrm>
        </p:grpSpPr>
        <p:pic>
          <p:nvPicPr>
            <p:cNvPr id="19485" name="Picture 31" descr="userGrp1"/>
            <p:cNvPicPr>
              <a:picLocks noChangeAspect="1"/>
            </p:cNvPicPr>
            <p:nvPr/>
          </p:nvPicPr>
          <p:blipFill>
            <a:blip r:embed="rId1"/>
            <a:stretch>
              <a:fillRect/>
            </a:stretch>
          </p:blipFill>
          <p:spPr>
            <a:xfrm>
              <a:off x="2575" y="0"/>
              <a:ext cx="622" cy="672"/>
            </a:xfrm>
            <a:prstGeom prst="rect">
              <a:avLst/>
            </a:prstGeom>
            <a:noFill/>
            <a:ln w="9525">
              <a:noFill/>
            </a:ln>
          </p:spPr>
        </p:pic>
        <p:sp>
          <p:nvSpPr>
            <p:cNvPr id="19486" name="Text Box 32"/>
            <p:cNvSpPr txBox="1"/>
            <p:nvPr/>
          </p:nvSpPr>
          <p:spPr>
            <a:xfrm>
              <a:off x="656" y="3"/>
              <a:ext cx="860"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a:t>
              </a:r>
              <a:r>
                <a:rPr lang="en-US" altLang="x-none" sz="2000" dirty="0">
                  <a:latin typeface="宋体" panose="02010600030101010101" pitchFamily="2" charset="-122"/>
                  <a:ea typeface="宋体" panose="02010600030101010101" pitchFamily="2" charset="-122"/>
                </a:rPr>
                <a:t>1</a:t>
              </a:r>
              <a:endParaRPr lang="zh-CN" altLang="en-US" sz="2000" dirty="0">
                <a:latin typeface="宋体" panose="02010600030101010101" pitchFamily="2" charset="-122"/>
                <a:ea typeface="宋体" panose="02010600030101010101" pitchFamily="2" charset="-122"/>
              </a:endParaRPr>
            </a:p>
          </p:txBody>
        </p:sp>
        <p:pic>
          <p:nvPicPr>
            <p:cNvPr id="19487" name="Picture 33" descr="userGrp2"/>
            <p:cNvPicPr>
              <a:picLocks noChangeAspect="1"/>
            </p:cNvPicPr>
            <p:nvPr/>
          </p:nvPicPr>
          <p:blipFill>
            <a:blip r:embed="rId2"/>
            <a:stretch>
              <a:fillRect/>
            </a:stretch>
          </p:blipFill>
          <p:spPr>
            <a:xfrm>
              <a:off x="0" y="9"/>
              <a:ext cx="637" cy="672"/>
            </a:xfrm>
            <a:prstGeom prst="rect">
              <a:avLst/>
            </a:prstGeom>
            <a:noFill/>
            <a:ln w="9525">
              <a:noFill/>
            </a:ln>
          </p:spPr>
        </p:pic>
        <p:sp>
          <p:nvSpPr>
            <p:cNvPr id="19488" name="Text Box 34"/>
            <p:cNvSpPr txBox="1"/>
            <p:nvPr/>
          </p:nvSpPr>
          <p:spPr>
            <a:xfrm>
              <a:off x="3252" y="59"/>
              <a:ext cx="904"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a:t>
              </a:r>
              <a:r>
                <a:rPr lang="en-US" altLang="x-none" sz="2000" dirty="0">
                  <a:latin typeface="宋体" panose="02010600030101010101" pitchFamily="2" charset="-122"/>
                  <a:ea typeface="宋体" panose="02010600030101010101" pitchFamily="2" charset="-122"/>
                </a:rPr>
                <a:t>n</a:t>
              </a:r>
              <a:endParaRPr lang="de-DE" altLang="en-US" sz="2000" dirty="0">
                <a:latin typeface="宋体" panose="02010600030101010101" pitchFamily="2" charset="-122"/>
                <a:ea typeface="宋体" panose="02010600030101010101" pitchFamily="2" charset="-122"/>
              </a:endParaRPr>
            </a:p>
          </p:txBody>
        </p:sp>
        <p:sp>
          <p:nvSpPr>
            <p:cNvPr id="19489" name="Line 35"/>
            <p:cNvSpPr/>
            <p:nvPr/>
          </p:nvSpPr>
          <p:spPr>
            <a:xfrm>
              <a:off x="1636" y="234"/>
              <a:ext cx="384" cy="0"/>
            </a:xfrm>
            <a:prstGeom prst="line">
              <a:avLst/>
            </a:prstGeom>
            <a:ln w="38100" cap="flat" cmpd="sng">
              <a:solidFill>
                <a:schemeClr val="tx1"/>
              </a:solidFill>
              <a:prstDash val="sysDot"/>
              <a:round/>
              <a:headEnd type="none" w="med" len="med"/>
              <a:tailEnd type="none" w="med" len="med"/>
            </a:ln>
          </p:spPr>
        </p:sp>
      </p:grpSp>
      <p:grpSp>
        <p:nvGrpSpPr>
          <p:cNvPr id="19490" name="Group 36"/>
          <p:cNvGrpSpPr/>
          <p:nvPr/>
        </p:nvGrpSpPr>
        <p:grpSpPr>
          <a:xfrm>
            <a:off x="4470400" y="1846580"/>
            <a:ext cx="4262438" cy="522288"/>
            <a:chOff x="0" y="0"/>
            <a:chExt cx="2723" cy="336"/>
          </a:xfrm>
        </p:grpSpPr>
        <p:sp>
          <p:nvSpPr>
            <p:cNvPr id="19491" name="Rectangle 37"/>
            <p:cNvSpPr/>
            <p:nvPr/>
          </p:nvSpPr>
          <p:spPr>
            <a:xfrm>
              <a:off x="1283" y="0"/>
              <a:ext cx="1440" cy="336"/>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需求收集和分析</a:t>
              </a:r>
              <a:endParaRPr lang="zh-CN" altLang="en-US" sz="2400" dirty="0">
                <a:latin typeface="Tahoma" panose="020B0604030504040204" pitchFamily="2" charset="0"/>
                <a:ea typeface="宋体" panose="02010600030101010101" pitchFamily="2" charset="-122"/>
              </a:endParaRPr>
            </a:p>
          </p:txBody>
        </p:sp>
        <p:sp>
          <p:nvSpPr>
            <p:cNvPr id="19492" name="Line 38"/>
            <p:cNvSpPr/>
            <p:nvPr/>
          </p:nvSpPr>
          <p:spPr>
            <a:xfrm>
              <a:off x="0" y="69"/>
              <a:ext cx="1243" cy="159"/>
            </a:xfrm>
            <a:prstGeom prst="line">
              <a:avLst/>
            </a:prstGeom>
            <a:ln w="25400" cap="flat" cmpd="sng">
              <a:solidFill>
                <a:srgbClr val="CC3300"/>
              </a:solidFill>
              <a:prstDash val="dash"/>
              <a:round/>
              <a:headEnd type="triangle" w="med" len="med"/>
              <a:tailEnd type="diamond" w="med" len="med"/>
            </a:ln>
          </p:spPr>
        </p:sp>
      </p:grpSp>
      <p:sp>
        <p:nvSpPr>
          <p:cNvPr id="19493" name="Line 39"/>
          <p:cNvSpPr/>
          <p:nvPr/>
        </p:nvSpPr>
        <p:spPr>
          <a:xfrm>
            <a:off x="1957388" y="3253105"/>
            <a:ext cx="1201737" cy="373063"/>
          </a:xfrm>
          <a:prstGeom prst="line">
            <a:avLst/>
          </a:prstGeom>
          <a:ln w="25400" cap="flat" cmpd="sng">
            <a:solidFill>
              <a:schemeClr val="tx1"/>
            </a:solidFill>
            <a:prstDash val="solid"/>
            <a:round/>
            <a:headEnd type="none" w="med" len="med"/>
            <a:tailEnd type="triangle" w="med" len="med"/>
          </a:ln>
        </p:spPr>
      </p:sp>
      <p:sp>
        <p:nvSpPr>
          <p:cNvPr id="19494" name="AutoShape 40"/>
          <p:cNvSpPr/>
          <p:nvPr/>
        </p:nvSpPr>
        <p:spPr>
          <a:xfrm>
            <a:off x="304800" y="3335655"/>
            <a:ext cx="1903413" cy="1123950"/>
          </a:xfrm>
          <a:prstGeom prst="cloudCallout">
            <a:avLst>
              <a:gd name="adj1" fmla="val 73398"/>
              <a:gd name="adj2" fmla="val -37866"/>
            </a:avLst>
          </a:prstGeom>
          <a:solidFill>
            <a:srgbClr val="FFFF99"/>
          </a:solidFill>
          <a:ln w="9525" cap="flat" cmpd="sng">
            <a:solidFill>
              <a:srgbClr val="000000"/>
            </a:solidFill>
            <a:prstDash val="solid"/>
            <a:round/>
            <a:headEnd type="none" w="med" len="med"/>
            <a:tailEnd type="none" w="med" len="med"/>
          </a:ln>
        </p:spPr>
        <p:txBody>
          <a:bodyPr lIns="36000" rIns="36000" anchor="t"/>
          <a:lstStyle/>
          <a:p>
            <a:pPr lvl="0" indent="0" algn="ctr">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使用高级数据模型</a:t>
            </a:r>
            <a:endParaRPr lang="zh-CN" altLang="en-US" sz="2000" dirty="0">
              <a:solidFill>
                <a:srgbClr val="0033CC"/>
              </a:solidFill>
              <a:latin typeface="宋体" panose="02010600030101010101" pitchFamily="2" charset="-122"/>
              <a:ea typeface="宋体" panose="02010600030101010101" pitchFamily="2" charset="-122"/>
            </a:endParaRPr>
          </a:p>
          <a:p>
            <a:pPr lvl="0" indent="0" algn="ctr">
              <a:lnSpc>
                <a:spcPct val="100000"/>
              </a:lnSpc>
              <a:buNone/>
            </a:pPr>
            <a:r>
              <a:rPr lang="de-DE" altLang="en-US" sz="2000" dirty="0">
                <a:solidFill>
                  <a:srgbClr val="0033CC"/>
                </a:solidFill>
                <a:latin typeface="宋体" panose="02010600030101010101" pitchFamily="2" charset="-122"/>
                <a:ea typeface="宋体" panose="02010600030101010101" pitchFamily="2" charset="-122"/>
              </a:rPr>
              <a:t>ERM</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19495" name="Line 41"/>
          <p:cNvSpPr/>
          <p:nvPr/>
        </p:nvSpPr>
        <p:spPr>
          <a:xfrm flipH="1">
            <a:off x="3609975" y="4102418"/>
            <a:ext cx="0" cy="457200"/>
          </a:xfrm>
          <a:prstGeom prst="line">
            <a:avLst/>
          </a:prstGeom>
          <a:ln w="25400" cap="flat" cmpd="sng">
            <a:solidFill>
              <a:schemeClr val="tx1"/>
            </a:solidFill>
            <a:prstDash val="solid"/>
            <a:round/>
            <a:headEnd type="none" w="med" len="med"/>
            <a:tailEnd type="triangle" w="med" len="med"/>
          </a:ln>
        </p:spPr>
      </p:sp>
      <p:sp>
        <p:nvSpPr>
          <p:cNvPr id="19496" name="Line 42"/>
          <p:cNvSpPr/>
          <p:nvPr/>
        </p:nvSpPr>
        <p:spPr>
          <a:xfrm>
            <a:off x="3622675" y="4278630"/>
            <a:ext cx="3143250" cy="223838"/>
          </a:xfrm>
          <a:prstGeom prst="line">
            <a:avLst/>
          </a:prstGeom>
          <a:ln w="25400" cap="flat" cmpd="sng">
            <a:solidFill>
              <a:srgbClr val="CC3300"/>
            </a:solidFill>
            <a:prstDash val="dash"/>
            <a:round/>
            <a:headEnd type="triangle" w="med" len="med"/>
            <a:tailEnd type="oval" w="med" len="med"/>
          </a:ln>
        </p:spPr>
      </p:sp>
      <p:sp>
        <p:nvSpPr>
          <p:cNvPr id="19497" name="AutoShape 43"/>
          <p:cNvSpPr/>
          <p:nvPr/>
        </p:nvSpPr>
        <p:spPr>
          <a:xfrm>
            <a:off x="422275" y="4712018"/>
            <a:ext cx="1928813" cy="1185862"/>
          </a:xfrm>
          <a:prstGeom prst="cloudCallout">
            <a:avLst>
              <a:gd name="adj1" fmla="val 72329"/>
              <a:gd name="adj2" fmla="val -36972"/>
            </a:avLst>
          </a:prstGeom>
          <a:solidFill>
            <a:srgbClr val="FFFF99"/>
          </a:solidFill>
          <a:ln w="9525" cap="flat" cmpd="sng">
            <a:solidFill>
              <a:srgbClr val="000000"/>
            </a:solidFill>
            <a:prstDash val="solid"/>
            <a:round/>
            <a:headEnd type="none" w="med" len="med"/>
            <a:tailEnd type="none" w="med" len="med"/>
          </a:ln>
        </p:spPr>
        <p:txBody>
          <a:bodyPr lIns="36000" rIns="36000" anchor="t"/>
          <a:lstStyle/>
          <a:p>
            <a:pPr lvl="0" indent="0">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使用特定的</a:t>
            </a:r>
            <a:r>
              <a:rPr lang="en-US" altLang="x-none" sz="2000" dirty="0">
                <a:solidFill>
                  <a:srgbClr val="0033CC"/>
                </a:solidFill>
                <a:latin typeface="宋体" panose="02010600030101010101" pitchFamily="2" charset="-122"/>
                <a:ea typeface="宋体" panose="02010600030101010101" pitchFamily="2" charset="-122"/>
              </a:rPr>
              <a:t>DBMS</a:t>
            </a:r>
            <a:r>
              <a:rPr lang="zh-CN" altLang="en-US" sz="2000" dirty="0">
                <a:solidFill>
                  <a:srgbClr val="0033CC"/>
                </a:solidFill>
                <a:latin typeface="宋体" panose="02010600030101010101" pitchFamily="2" charset="-122"/>
                <a:ea typeface="宋体" panose="02010600030101010101" pitchFamily="2" charset="-122"/>
              </a:rPr>
              <a:t>的数据模型</a:t>
            </a:r>
            <a:endParaRPr lang="zh-CN" altLang="en-US" sz="2000" dirty="0">
              <a:solidFill>
                <a:srgbClr val="0033CC"/>
              </a:solidFill>
              <a:latin typeface="宋体" panose="02010600030101010101" pitchFamily="2" charset="-122"/>
              <a:ea typeface="宋体" panose="02010600030101010101" pitchFamily="2" charset="-122"/>
            </a:endParaRPr>
          </a:p>
        </p:txBody>
      </p:sp>
      <p:grpSp>
        <p:nvGrpSpPr>
          <p:cNvPr id="19498" name="Group 44"/>
          <p:cNvGrpSpPr/>
          <p:nvPr/>
        </p:nvGrpSpPr>
        <p:grpSpPr>
          <a:xfrm>
            <a:off x="4954588" y="3267393"/>
            <a:ext cx="3763962" cy="447675"/>
            <a:chOff x="0" y="0"/>
            <a:chExt cx="2405" cy="288"/>
          </a:xfrm>
        </p:grpSpPr>
        <p:sp>
          <p:nvSpPr>
            <p:cNvPr id="19499" name="Rectangle 45"/>
            <p:cNvSpPr/>
            <p:nvPr/>
          </p:nvSpPr>
          <p:spPr>
            <a:xfrm>
              <a:off x="1493" y="0"/>
              <a:ext cx="912" cy="288"/>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600" dirty="0">
                  <a:latin typeface="Tahoma" panose="020B0604030504040204" pitchFamily="2" charset="0"/>
                  <a:ea typeface="宋体" panose="02010600030101010101" pitchFamily="2" charset="-122"/>
                </a:rPr>
                <a:t>集成</a:t>
              </a:r>
              <a:endParaRPr lang="zh-CN" altLang="en-US" sz="2600" dirty="0">
                <a:latin typeface="Tahoma" panose="020B0604030504040204" pitchFamily="2" charset="0"/>
                <a:ea typeface="宋体" panose="02010600030101010101" pitchFamily="2" charset="-122"/>
              </a:endParaRPr>
            </a:p>
          </p:txBody>
        </p:sp>
        <p:sp>
          <p:nvSpPr>
            <p:cNvPr id="19500" name="Line 46"/>
            <p:cNvSpPr/>
            <p:nvPr/>
          </p:nvSpPr>
          <p:spPr>
            <a:xfrm>
              <a:off x="0" y="162"/>
              <a:ext cx="1493" cy="30"/>
            </a:xfrm>
            <a:prstGeom prst="line">
              <a:avLst/>
            </a:prstGeom>
            <a:ln w="25400" cap="flat" cmpd="sng">
              <a:solidFill>
                <a:srgbClr val="CC3300"/>
              </a:solidFill>
              <a:prstDash val="dash"/>
              <a:round/>
              <a:headEnd type="triangle" w="med" len="med"/>
              <a:tailEnd type="oval" w="med" len="med"/>
            </a:ln>
          </p:spPr>
        </p:sp>
      </p:grpSp>
      <p:sp>
        <p:nvSpPr>
          <p:cNvPr id="19501" name="Line 47"/>
          <p:cNvSpPr/>
          <p:nvPr/>
        </p:nvSpPr>
        <p:spPr>
          <a:xfrm flipV="1">
            <a:off x="5756275" y="2853055"/>
            <a:ext cx="1196975" cy="523875"/>
          </a:xfrm>
          <a:prstGeom prst="line">
            <a:avLst/>
          </a:prstGeom>
          <a:ln w="38100" cap="flat" cmpd="sng">
            <a:solidFill>
              <a:srgbClr val="CC3300"/>
            </a:solidFill>
            <a:prstDash val="dash"/>
            <a:round/>
            <a:headEnd type="triangle" w="med" len="med"/>
            <a:tailEnd type="oval" w="med" len="med"/>
          </a:ln>
        </p:spPr>
      </p:sp>
      <p:sp>
        <p:nvSpPr>
          <p:cNvPr id="19502" name="Rectangle 48"/>
          <p:cNvSpPr/>
          <p:nvPr/>
        </p:nvSpPr>
        <p:spPr>
          <a:xfrm>
            <a:off x="6996113" y="5077143"/>
            <a:ext cx="1814512" cy="56515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r>
              <a:rPr lang="zh-CN" altLang="en-US" sz="2400" dirty="0">
                <a:latin typeface="Tahoma" panose="020B0604030504040204" pitchFamily="2" charset="0"/>
                <a:ea typeface="宋体" panose="02010600030101010101" pitchFamily="2" charset="-122"/>
              </a:rPr>
              <a:t>物理</a:t>
            </a:r>
            <a:r>
              <a:rPr lang="en-US" altLang="x-none" sz="2400" dirty="0">
                <a:latin typeface="Tahoma" panose="020B0604030504040204" pitchFamily="2" charset="0"/>
                <a:ea typeface="宋体" panose="02010600030101010101" pitchFamily="2" charset="-122"/>
              </a:rPr>
              <a:t>DB</a:t>
            </a:r>
            <a:r>
              <a:rPr lang="zh-CN" altLang="en-US" sz="2400" dirty="0">
                <a:latin typeface="Tahoma" panose="020B0604030504040204" pitchFamily="2" charset="0"/>
                <a:ea typeface="宋体" panose="02010600030101010101" pitchFamily="2" charset="-122"/>
              </a:rPr>
              <a:t>设计</a:t>
            </a:r>
            <a:endParaRPr lang="zh-CN" altLang="en-US" sz="2400" dirty="0">
              <a:latin typeface="Tahoma" panose="020B0604030504040204" pitchFamily="2" charset="0"/>
              <a:ea typeface="宋体" panose="02010600030101010101" pitchFamily="2" charset="-122"/>
            </a:endParaRPr>
          </a:p>
        </p:txBody>
      </p:sp>
      <p:sp>
        <p:nvSpPr>
          <p:cNvPr id="19503" name="Line 49"/>
          <p:cNvSpPr/>
          <p:nvPr/>
        </p:nvSpPr>
        <p:spPr>
          <a:xfrm>
            <a:off x="3617913" y="5096193"/>
            <a:ext cx="3311525" cy="354012"/>
          </a:xfrm>
          <a:prstGeom prst="line">
            <a:avLst/>
          </a:prstGeom>
          <a:ln w="25400" cap="flat" cmpd="sng">
            <a:solidFill>
              <a:srgbClr val="CC3300"/>
            </a:solidFill>
            <a:prstDash val="dash"/>
            <a:round/>
            <a:headEnd type="triangle" w="med" len="med"/>
            <a:tailEnd type="oval" w="med" len="med"/>
          </a:ln>
        </p:spPr>
      </p:sp>
      <p:sp>
        <p:nvSpPr>
          <p:cNvPr id="2"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8090" y="681655"/>
            <a:ext cx="8383114" cy="476284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知识点检测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100" kern="100" dirty="0" smtClean="0">
                <a:latin typeface="Calibri" panose="020F0502020204030204" pitchFamily="34" charset="0"/>
                <a:cs typeface="Times New Roman" panose="02020603050405020304" pitchFamily="2" charset="0"/>
              </a:rPr>
              <a:t>1</a:t>
            </a:r>
            <a:r>
              <a:rPr lang="zh-CN" altLang="en-US" sz="2100" kern="100" dirty="0" smtClean="0">
                <a:latin typeface="Calibri" panose="020F0502020204030204" pitchFamily="34" charset="0"/>
                <a:cs typeface="Times New Roman" panose="02020603050405020304" pitchFamily="2" charset="0"/>
              </a:rPr>
              <a:t>、数据库的设计过程包括：需求分析、 </a:t>
            </a:r>
            <a:r>
              <a:rPr lang="zh-CN" altLang="en-US" sz="2100" u="sng" kern="100" dirty="0">
                <a:latin typeface="Calibri" panose="020F0502020204030204" pitchFamily="34" charset="0"/>
                <a:cs typeface="Times New Roman" panose="02020603050405020304" pitchFamily="2" charset="0"/>
              </a:rPr>
              <a:t>      </a:t>
            </a:r>
            <a:r>
              <a:rPr lang="zh-CN" altLang="en-US" sz="2100" u="sng" kern="100" dirty="0" smtClean="0">
                <a:latin typeface="Calibri" panose="020F0502020204030204" pitchFamily="34" charset="0"/>
                <a:cs typeface="Times New Roman" panose="02020603050405020304" pitchFamily="2" charset="0"/>
              </a:rPr>
              <a:t>                 </a:t>
            </a:r>
            <a:r>
              <a:rPr lang="zh-CN" altLang="en-US" sz="2100" kern="100" dirty="0" smtClean="0">
                <a:latin typeface="Calibri" panose="020F0502020204030204" pitchFamily="34" charset="0"/>
                <a:cs typeface="Times New Roman" panose="02020603050405020304" pitchFamily="2" charset="0"/>
              </a:rPr>
              <a:t>、 </a:t>
            </a:r>
            <a:r>
              <a:rPr lang="zh-CN" altLang="en-US" sz="2100" u="sng" kern="100" dirty="0">
                <a:latin typeface="Calibri" panose="020F0502020204030204" pitchFamily="34" charset="0"/>
                <a:cs typeface="Times New Roman" panose="02020603050405020304" pitchFamily="2" charset="0"/>
              </a:rPr>
              <a:t>         </a:t>
            </a:r>
            <a:r>
              <a:rPr lang="zh-CN" altLang="en-US" sz="2100" u="sng" kern="100" dirty="0" smtClean="0">
                <a:latin typeface="Calibri" panose="020F0502020204030204" pitchFamily="34" charset="0"/>
                <a:cs typeface="Times New Roman" panose="02020603050405020304" pitchFamily="2" charset="0"/>
              </a:rPr>
              <a:t>               </a:t>
            </a:r>
            <a:r>
              <a:rPr lang="zh-CN" altLang="en-US" sz="2100" u="sng" kern="100" dirty="0">
                <a:latin typeface="Calibri" panose="020F0502020204030204" pitchFamily="34" charset="0"/>
                <a:cs typeface="Times New Roman" panose="02020603050405020304" pitchFamily="2" charset="0"/>
              </a:rPr>
              <a:t>    </a:t>
            </a:r>
            <a:r>
              <a:rPr lang="zh-CN" altLang="en-US" sz="2100" kern="100" dirty="0">
                <a:latin typeface="Calibri" panose="020F0502020204030204" pitchFamily="34" charset="0"/>
                <a:cs typeface="Times New Roman" panose="02020603050405020304" pitchFamily="2" charset="0"/>
              </a:rPr>
              <a:t>、</a:t>
            </a:r>
            <a:endParaRPr lang="en-US" altLang="zh-CN" sz="21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zh-CN" altLang="en-US" sz="2100" kern="100" dirty="0">
                <a:latin typeface="Calibri" panose="020F0502020204030204" pitchFamily="34" charset="0"/>
                <a:cs typeface="Times New Roman" panose="02020603050405020304" pitchFamily="2" charset="0"/>
              </a:rPr>
              <a:t> </a:t>
            </a:r>
            <a:r>
              <a:rPr lang="zh-CN" altLang="en-US" sz="2100" u="sng" kern="100" dirty="0">
                <a:latin typeface="Calibri" panose="020F0502020204030204" pitchFamily="34" charset="0"/>
                <a:cs typeface="Times New Roman" panose="02020603050405020304" pitchFamily="2" charset="0"/>
              </a:rPr>
              <a:t>   </a:t>
            </a:r>
            <a:r>
              <a:rPr lang="zh-CN" altLang="en-US" sz="2100" u="sng" kern="100" dirty="0" smtClean="0">
                <a:latin typeface="Calibri" panose="020F0502020204030204" pitchFamily="34" charset="0"/>
                <a:cs typeface="Times New Roman" panose="02020603050405020304" pitchFamily="2" charset="0"/>
              </a:rPr>
              <a:t>                         </a:t>
            </a:r>
            <a:r>
              <a:rPr lang="zh-CN" altLang="en-US" sz="2100" u="sng" kern="100" dirty="0">
                <a:latin typeface="Calibri" panose="020F0502020204030204" pitchFamily="34" charset="0"/>
                <a:cs typeface="Times New Roman" panose="02020603050405020304" pitchFamily="2" charset="0"/>
              </a:rPr>
              <a:t>  </a:t>
            </a:r>
            <a:r>
              <a:rPr lang="zh-CN" altLang="en-US" sz="2100" kern="100" dirty="0" smtClean="0">
                <a:latin typeface="Calibri" panose="020F0502020204030204" pitchFamily="34" charset="0"/>
                <a:cs typeface="Times New Roman" panose="02020603050405020304" pitchFamily="2" charset="0"/>
              </a:rPr>
              <a:t>、</a:t>
            </a:r>
            <a:r>
              <a:rPr lang="zh-CN" altLang="en-US" sz="2100" u="sng" kern="100" dirty="0">
                <a:latin typeface="Calibri" panose="020F0502020204030204" pitchFamily="34" charset="0"/>
                <a:cs typeface="Times New Roman" panose="02020603050405020304" pitchFamily="2" charset="0"/>
              </a:rPr>
              <a:t>     </a:t>
            </a:r>
            <a:r>
              <a:rPr lang="zh-CN" altLang="en-US" sz="2100" u="sng" kern="100" dirty="0" smtClean="0">
                <a:latin typeface="Calibri" panose="020F0502020204030204" pitchFamily="34" charset="0"/>
                <a:cs typeface="Times New Roman" panose="02020603050405020304" pitchFamily="2" charset="0"/>
              </a:rPr>
              <a:t>                         </a:t>
            </a:r>
            <a:r>
              <a:rPr lang="zh-CN" altLang="en-US" sz="2100" kern="100" dirty="0" smtClean="0">
                <a:latin typeface="Calibri" panose="020F0502020204030204" pitchFamily="34" charset="0"/>
                <a:cs typeface="Times New Roman" panose="02020603050405020304" pitchFamily="2" charset="0"/>
              </a:rPr>
              <a:t>和安全性设计六个阶段 。</a:t>
            </a:r>
            <a:endParaRPr lang="en-US" altLang="zh-CN" sz="21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300" kern="100" dirty="0" smtClean="0">
                <a:latin typeface="Calibri" panose="020F0502020204030204" pitchFamily="34" charset="0"/>
                <a:cs typeface="Times New Roman" panose="02020603050405020304" pitchFamily="2" charset="0"/>
              </a:rPr>
              <a:t>2</a:t>
            </a:r>
            <a:r>
              <a:rPr lang="zh-CN" altLang="en-US" sz="2300" kern="100" dirty="0" smtClean="0">
                <a:latin typeface="Calibri" panose="020F0502020204030204" pitchFamily="34" charset="0"/>
                <a:cs typeface="Times New Roman" panose="02020603050405020304" pitchFamily="2" charset="0"/>
              </a:rPr>
              <a:t>、在</a:t>
            </a:r>
            <a:r>
              <a:rPr lang="zh-CN" altLang="en-US" sz="2300" kern="100" dirty="0">
                <a:latin typeface="Calibri" panose="020F0502020204030204" pitchFamily="34" charset="0"/>
                <a:cs typeface="Times New Roman" panose="02020603050405020304" pitchFamily="2" charset="0"/>
              </a:rPr>
              <a:t>数据库设计中， </a:t>
            </a:r>
            <a:r>
              <a:rPr lang="en-US" altLang="zh-CN" sz="2300" kern="100" dirty="0">
                <a:latin typeface="Calibri" panose="020F0502020204030204" pitchFamily="34" charset="0"/>
                <a:cs typeface="Times New Roman" panose="02020603050405020304" pitchFamily="2" charset="0"/>
              </a:rPr>
              <a:t>E </a:t>
            </a:r>
            <a:r>
              <a:rPr lang="zh-CN" altLang="en-US" sz="2300" kern="100" dirty="0">
                <a:latin typeface="Calibri" panose="020F0502020204030204" pitchFamily="34" charset="0"/>
                <a:cs typeface="Times New Roman" panose="02020603050405020304" pitchFamily="2" charset="0"/>
              </a:rPr>
              <a:t>－</a:t>
            </a:r>
            <a:r>
              <a:rPr lang="en-US" altLang="zh-CN" sz="2300" kern="100" dirty="0">
                <a:latin typeface="Calibri" panose="020F0502020204030204" pitchFamily="34" charset="0"/>
                <a:cs typeface="Times New Roman" panose="02020603050405020304" pitchFamily="2" charset="0"/>
              </a:rPr>
              <a:t>R </a:t>
            </a:r>
            <a:r>
              <a:rPr lang="zh-CN" altLang="en-US" sz="2300" kern="100" dirty="0">
                <a:latin typeface="Calibri" panose="020F0502020204030204" pitchFamily="34" charset="0"/>
                <a:cs typeface="Times New Roman" panose="02020603050405020304" pitchFamily="2" charset="0"/>
              </a:rPr>
              <a:t>图产生于（ </a:t>
            </a:r>
            <a:r>
              <a:rPr lang="zh-CN" altLang="en-US" sz="2300" kern="100" dirty="0" smtClean="0">
                <a:latin typeface="Calibri" panose="020F0502020204030204" pitchFamily="34" charset="0"/>
                <a:cs typeface="Times New Roman" panose="02020603050405020304" pitchFamily="2" charset="0"/>
              </a:rPr>
              <a:t>      ）</a:t>
            </a:r>
            <a:r>
              <a:rPr lang="zh-CN" altLang="en-US" sz="2300" kern="100" dirty="0">
                <a:latin typeface="Calibri" panose="020F0502020204030204" pitchFamily="34" charset="0"/>
                <a:cs typeface="Times New Roman" panose="02020603050405020304" pitchFamily="2" charset="0"/>
              </a:rPr>
              <a:t> </a:t>
            </a:r>
            <a:r>
              <a:rPr lang="zh-CN" altLang="en-US" sz="2300" kern="100" dirty="0" smtClean="0">
                <a:latin typeface="Calibri" panose="020F0502020204030204" pitchFamily="34" charset="0"/>
                <a:cs typeface="Times New Roman" panose="02020603050405020304" pitchFamily="2" charset="0"/>
              </a:rPr>
              <a:t>。</a:t>
            </a:r>
            <a:endParaRPr lang="en-US" altLang="zh-CN" sz="23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100" kern="100" dirty="0" smtClean="0">
                <a:latin typeface="Calibri" panose="020F0502020204030204" pitchFamily="34" charset="0"/>
                <a:cs typeface="Times New Roman" panose="02020603050405020304" pitchFamily="2" charset="0"/>
              </a:rPr>
              <a:t>A</a:t>
            </a:r>
            <a:r>
              <a:rPr lang="zh-CN" altLang="en-US" sz="2100" kern="100" dirty="0" smtClean="0">
                <a:latin typeface="Calibri" panose="020F0502020204030204" pitchFamily="34" charset="0"/>
                <a:cs typeface="Times New Roman" panose="02020603050405020304" pitchFamily="2" charset="0"/>
              </a:rPr>
              <a:t>、</a:t>
            </a:r>
            <a:r>
              <a:rPr lang="zh-CN" altLang="en-US" sz="2100" kern="100" dirty="0">
                <a:latin typeface="Calibri" panose="020F0502020204030204" pitchFamily="34" charset="0"/>
                <a:cs typeface="Times New Roman" panose="02020603050405020304" pitchFamily="2" charset="0"/>
              </a:rPr>
              <a:t>需求分析</a:t>
            </a:r>
            <a:r>
              <a:rPr lang="zh-CN" altLang="en-US" sz="2100" kern="100" dirty="0" smtClean="0">
                <a:latin typeface="Calibri" panose="020F0502020204030204" pitchFamily="34" charset="0"/>
                <a:cs typeface="Times New Roman" panose="02020603050405020304" pitchFamily="2" charset="0"/>
              </a:rPr>
              <a:t>阶段        </a:t>
            </a:r>
            <a:r>
              <a:rPr lang="en-US" altLang="zh-CN" sz="2100" kern="100" dirty="0" smtClean="0">
                <a:latin typeface="Calibri" panose="020F0502020204030204" pitchFamily="34" charset="0"/>
                <a:cs typeface="Times New Roman" panose="02020603050405020304" pitchFamily="2" charset="0"/>
              </a:rPr>
              <a:t>B</a:t>
            </a:r>
            <a:r>
              <a:rPr lang="zh-CN" altLang="en-US" sz="2100" kern="100" dirty="0" smtClean="0">
                <a:latin typeface="Calibri" panose="020F0502020204030204" pitchFamily="34" charset="0"/>
                <a:cs typeface="Times New Roman" panose="02020603050405020304" pitchFamily="2" charset="0"/>
              </a:rPr>
              <a:t>、</a:t>
            </a:r>
            <a:r>
              <a:rPr lang="zh-CN" altLang="en-US" sz="2100" kern="100" dirty="0">
                <a:latin typeface="Calibri" panose="020F0502020204030204" pitchFamily="34" charset="0"/>
                <a:cs typeface="Times New Roman" panose="02020603050405020304" pitchFamily="2" charset="0"/>
              </a:rPr>
              <a:t>物理</a:t>
            </a:r>
            <a:r>
              <a:rPr lang="zh-CN" altLang="en-US" sz="2100" kern="100" dirty="0" smtClean="0">
                <a:latin typeface="Calibri" panose="020F0502020204030204" pitchFamily="34" charset="0"/>
                <a:cs typeface="Times New Roman" panose="02020603050405020304" pitchFamily="2" charset="0"/>
              </a:rPr>
              <a:t>设计阶段         </a:t>
            </a:r>
            <a:endParaRPr lang="en-US" altLang="zh-CN" sz="21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100" kern="100" dirty="0" smtClean="0">
                <a:latin typeface="Calibri" panose="020F0502020204030204" pitchFamily="34" charset="0"/>
                <a:cs typeface="Times New Roman" panose="02020603050405020304" pitchFamily="2" charset="0"/>
              </a:rPr>
              <a:t>C</a:t>
            </a:r>
            <a:r>
              <a:rPr lang="zh-CN" altLang="en-US" sz="2100" kern="100" dirty="0" smtClean="0">
                <a:latin typeface="Calibri" panose="020F0502020204030204" pitchFamily="34" charset="0"/>
                <a:cs typeface="Times New Roman" panose="02020603050405020304" pitchFamily="2" charset="0"/>
              </a:rPr>
              <a:t>、</a:t>
            </a:r>
            <a:r>
              <a:rPr lang="zh-CN" altLang="en-US" sz="2100" kern="100" dirty="0">
                <a:latin typeface="Calibri" panose="020F0502020204030204" pitchFamily="34" charset="0"/>
                <a:cs typeface="Times New Roman" panose="02020603050405020304" pitchFamily="2" charset="0"/>
              </a:rPr>
              <a:t>逻辑设计阶段 </a:t>
            </a:r>
            <a:r>
              <a:rPr lang="zh-CN" altLang="en-US" sz="2100" kern="100" dirty="0" smtClean="0">
                <a:latin typeface="Calibri" panose="020F0502020204030204" pitchFamily="34" charset="0"/>
                <a:cs typeface="Times New Roman" panose="02020603050405020304" pitchFamily="2" charset="0"/>
              </a:rPr>
              <a:t>       </a:t>
            </a:r>
            <a:r>
              <a:rPr lang="en-US" altLang="zh-CN" sz="2100" kern="100" dirty="0" smtClean="0">
                <a:latin typeface="Calibri" panose="020F0502020204030204" pitchFamily="34" charset="0"/>
                <a:cs typeface="Times New Roman" panose="02020603050405020304" pitchFamily="2" charset="0"/>
              </a:rPr>
              <a:t>D</a:t>
            </a:r>
            <a:r>
              <a:rPr lang="zh-CN" altLang="en-US" sz="2100" kern="100" dirty="0">
                <a:latin typeface="Calibri" panose="020F0502020204030204" pitchFamily="34" charset="0"/>
                <a:cs typeface="Times New Roman" panose="02020603050405020304" pitchFamily="2" charset="0"/>
              </a:rPr>
              <a:t>、概念设计阶段</a:t>
            </a:r>
            <a:endParaRPr lang="zh-CN" altLang="en-US" sz="2100" kern="100" dirty="0">
              <a:latin typeface="Calibri" panose="020F0502020204030204" pitchFamily="34" charset="0"/>
              <a:cs typeface="Times New Roman" panose="02020603050405020304" pitchFamily="2" charset="0"/>
            </a:endParaRPr>
          </a:p>
          <a:p>
            <a:pPr algn="just">
              <a:lnSpc>
                <a:spcPct val="125000"/>
              </a:lnSpc>
              <a:spcBef>
                <a:spcPts val="600"/>
              </a:spcBef>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、数据库的概念模型独立于（           ）。</a:t>
            </a:r>
            <a:endParaRPr lang="zh-CN" altLang="en-US"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、具体的机器和</a:t>
            </a:r>
            <a:r>
              <a:rPr lang="en-US" altLang="zh-CN" sz="2200" kern="100" dirty="0" smtClean="0">
                <a:latin typeface="Calibri" panose="020F0502020204030204" pitchFamily="34" charset="0"/>
                <a:cs typeface="Times New Roman" panose="02020603050405020304" pitchFamily="2" charset="0"/>
              </a:rPr>
              <a:t>DBMS      B</a:t>
            </a:r>
            <a:r>
              <a:rPr lang="zh-CN" altLang="en-US" sz="2200" kern="100" dirty="0" smtClean="0">
                <a:latin typeface="Calibri" panose="020F0502020204030204" pitchFamily="34" charset="0"/>
                <a:cs typeface="Times New Roman" panose="02020603050405020304" pitchFamily="2" charset="0"/>
              </a:rPr>
              <a:t>、</a:t>
            </a:r>
            <a:r>
              <a:rPr lang="en-US" altLang="zh-CN" sz="2200" kern="100" dirty="0" smtClean="0">
                <a:latin typeface="Calibri" panose="020F0502020204030204" pitchFamily="34" charset="0"/>
                <a:cs typeface="Times New Roman" panose="02020603050405020304" pitchFamily="2" charset="0"/>
              </a:rPr>
              <a:t>E-R</a:t>
            </a:r>
            <a:r>
              <a:rPr lang="zh-CN" altLang="en-US" sz="2200" kern="100" dirty="0" smtClean="0">
                <a:latin typeface="Calibri" panose="020F0502020204030204" pitchFamily="34" charset="0"/>
                <a:cs typeface="Times New Roman" panose="02020603050405020304" pitchFamily="2" charset="0"/>
              </a:rPr>
              <a:t>图       </a:t>
            </a:r>
            <a:r>
              <a:rPr lang="en-US" altLang="zh-CN" sz="2200" kern="100" dirty="0" smtClean="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、信息世界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、现实世界</a:t>
            </a:r>
            <a:endParaRPr lang="zh-CN" altLang="en-US" sz="2200" kern="100" dirty="0">
              <a:latin typeface="Calibri" panose="020F0502020204030204" pitchFamily="34" charset="0"/>
              <a:cs typeface="Times New Roman" panose="02020603050405020304" pitchFamily="2" charset="0"/>
            </a:endParaRPr>
          </a:p>
          <a:p>
            <a:pPr lvl="0" algn="just">
              <a:lnSpc>
                <a:spcPct val="125000"/>
              </a:lnSpc>
              <a:spcBef>
                <a:spcPts val="600"/>
              </a:spcBef>
              <a:spcAft>
                <a:spcPts val="0"/>
              </a:spcAft>
              <a:buNone/>
            </a:pPr>
            <a:r>
              <a:rPr lang="en-US" altLang="zh-CN" sz="2400" kern="100" dirty="0" smtClean="0">
                <a:latin typeface="Calibri" panose="020F0502020204030204" pitchFamily="34" charset="0"/>
                <a:cs typeface="Times New Roman" panose="02020603050405020304" pitchFamily="2" charset="0"/>
              </a:rPr>
              <a:t>4</a:t>
            </a:r>
            <a:r>
              <a:rPr lang="zh-CN" altLang="en-US" sz="2400" kern="100" dirty="0" smtClean="0">
                <a:latin typeface="Calibri" panose="020F0502020204030204" pitchFamily="34" charset="0"/>
                <a:cs typeface="Times New Roman" panose="02020603050405020304" pitchFamily="2" charset="0"/>
              </a:rPr>
              <a:t>、将概念模型转换为逻辑数据模型，属于数据库的（        ）。</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、需求分析      </a:t>
            </a:r>
            <a:r>
              <a:rPr lang="en-US" altLang="zh-CN" sz="2200" kern="100" dirty="0" smtClean="0">
                <a:latin typeface="Calibri" panose="020F0502020204030204" pitchFamily="34" charset="0"/>
                <a:cs typeface="Times New Roman" panose="02020603050405020304" pitchFamily="2" charset="0"/>
              </a:rPr>
              <a:t>B</a:t>
            </a:r>
            <a:r>
              <a:rPr lang="zh-CN" altLang="en-US" sz="2200" kern="100" dirty="0" smtClean="0">
                <a:latin typeface="Calibri" panose="020F0502020204030204" pitchFamily="34" charset="0"/>
                <a:cs typeface="Times New Roman" panose="02020603050405020304" pitchFamily="2" charset="0"/>
              </a:rPr>
              <a:t>、概念设计       </a:t>
            </a:r>
            <a:r>
              <a:rPr lang="en-US" altLang="zh-CN" sz="2200" kern="100" dirty="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、逻辑设计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、物理设计</a:t>
            </a:r>
            <a:endParaRPr lang="en-US" altLang="zh-CN" sz="2400" kern="100" dirty="0">
              <a:latin typeface="Calibri" panose="020F0502020204030204" pitchFamily="34" charset="0"/>
              <a:cs typeface="Times New Roman" panose="02020603050405020304" pitchFamily="2" charset="0"/>
            </a:endParaRPr>
          </a:p>
        </p:txBody>
      </p:sp>
      <p:sp>
        <p:nvSpPr>
          <p:cNvPr id="7" name="矩形 6"/>
          <p:cNvSpPr/>
          <p:nvPr/>
        </p:nvSpPr>
        <p:spPr>
          <a:xfrm>
            <a:off x="2286000" y="2756124"/>
            <a:ext cx="4572000" cy="429220"/>
          </a:xfrm>
          <a:prstGeom prst="rect">
            <a:avLst/>
          </a:prstGeom>
        </p:spPr>
        <p:txBody>
          <a:bodyPr>
            <a:spAutoFit/>
          </a:bodyPr>
          <a:lstStyle/>
          <a:p>
            <a:r>
              <a:rPr lang="en-US" altLang="zh-CN" b="0" dirty="0" smtClean="0">
                <a:solidFill>
                  <a:srgbClr val="555555"/>
                </a:solidFill>
                <a:latin typeface="&amp;quot"/>
              </a:rPr>
              <a:t>1</a:t>
            </a:r>
            <a:r>
              <a:rPr lang="zh-CN" altLang="en-US" b="0" dirty="0" smtClean="0">
                <a:solidFill>
                  <a:srgbClr val="555555"/>
                </a:solidFill>
                <a:latin typeface="&amp;quot"/>
              </a:rPr>
              <a:t>．</a:t>
            </a:r>
            <a:endParaRPr lang="zh-CN" altLang="en-US" sz="2400" kern="100" dirty="0">
              <a:latin typeface="Calibri" panose="020F0502020204030204" pitchFamily="34" charset="0"/>
              <a:cs typeface="Times New Roman" panose="02020603050405020304" pitchFamily="2" charset="0"/>
            </a:endParaRPr>
          </a:p>
        </p:txBody>
      </p:sp>
      <p:sp>
        <p:nvSpPr>
          <p:cNvPr id="9" name="矩形 8"/>
          <p:cNvSpPr/>
          <p:nvPr/>
        </p:nvSpPr>
        <p:spPr>
          <a:xfrm>
            <a:off x="586740" y="5348605"/>
            <a:ext cx="8489950" cy="983615"/>
          </a:xfrm>
          <a:prstGeom prst="rect">
            <a:avLst/>
          </a:prstGeom>
        </p:spPr>
        <p:txBody>
          <a:bodyPr wrap="square">
            <a:spAutoFit/>
          </a:bodyPr>
          <a:lstStyle/>
          <a:p>
            <a:pPr>
              <a:spcBef>
                <a:spcPts val="600"/>
              </a:spcBef>
              <a:buNone/>
            </a:pPr>
            <a:r>
              <a:rPr lang="en-US" altLang="zh-CN" sz="2200" dirty="0" smtClean="0"/>
              <a:t>5</a:t>
            </a:r>
            <a:r>
              <a:rPr lang="zh-CN" altLang="en-US" sz="2100" dirty="0" smtClean="0"/>
              <a:t>、</a:t>
            </a:r>
            <a:r>
              <a:rPr lang="zh-CN" altLang="en-US" sz="2100" dirty="0"/>
              <a:t>数据库三级模式体系结构的划分，主要有利于保持数据库的</a:t>
            </a:r>
            <a:r>
              <a:rPr lang="zh-CN" altLang="en-US" sz="2100" dirty="0" smtClean="0"/>
              <a:t>（   </a:t>
            </a:r>
            <a:r>
              <a:rPr lang="zh-CN" altLang="en-US" sz="2100" dirty="0"/>
              <a:t> ） A、数据安全性 </a:t>
            </a:r>
            <a:r>
              <a:rPr lang="zh-CN" altLang="en-US" sz="2100" dirty="0" smtClean="0"/>
              <a:t>B</a:t>
            </a:r>
            <a:r>
              <a:rPr lang="zh-CN" altLang="en-US" sz="2100" dirty="0"/>
              <a:t>、数据独立性   </a:t>
            </a:r>
            <a:r>
              <a:rPr lang="zh-CN" altLang="en-US" sz="2100" dirty="0" smtClean="0"/>
              <a:t>C、</a:t>
            </a:r>
            <a:r>
              <a:rPr lang="zh-CN" altLang="en-US" sz="2100" dirty="0"/>
              <a:t>结构规范化  D、操作</a:t>
            </a:r>
            <a:r>
              <a:rPr lang="zh-CN" altLang="en-US" sz="2100" dirty="0" smtClean="0"/>
              <a:t>可行性</a:t>
            </a:r>
            <a:endParaRPr lang="en-US" altLang="zh-CN" sz="2100" dirty="0" smtClean="0"/>
          </a:p>
        </p:txBody>
      </p:sp>
      <p:sp>
        <p:nvSpPr>
          <p:cNvPr id="6"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81692" y="666562"/>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0033CC"/>
                </a:solidFill>
                <a:latin typeface="Calibri" panose="020F0502020204030204" pitchFamily="34" charset="0"/>
                <a:cs typeface="Times New Roman" panose="02020603050405020304" pitchFamily="2" charset="0"/>
                <a:sym typeface="Wingdings" panose="05000000000000000000" pitchFamily="2" charset="2"/>
              </a:rPr>
              <a:t>知识</a:t>
            </a: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点检测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3" name="矩形 2"/>
          <p:cNvSpPr/>
          <p:nvPr/>
        </p:nvSpPr>
        <p:spPr>
          <a:xfrm>
            <a:off x="584616" y="1355775"/>
            <a:ext cx="8383114" cy="801373"/>
          </a:xfrm>
          <a:prstGeom prst="rect">
            <a:avLst/>
          </a:prstGeom>
        </p:spPr>
        <p:txBody>
          <a:bodyPr wrap="square">
            <a:spAutoFit/>
          </a:bodyPr>
          <a:lstStyle/>
          <a:p>
            <a:pPr algn="just">
              <a:lnSpc>
                <a:spcPct val="120000"/>
              </a:lnSpc>
              <a:spcAft>
                <a:spcPts val="0"/>
              </a:spcAft>
              <a:buNone/>
            </a:pPr>
            <a:r>
              <a:rPr lang="en-US" altLang="zh-CN" sz="2000" kern="100" dirty="0">
                <a:latin typeface="Calibri" panose="020F0502020204030204" pitchFamily="34" charset="0"/>
                <a:cs typeface="Times New Roman" panose="02020603050405020304" pitchFamily="2" charset="0"/>
              </a:rPr>
              <a:t>1</a:t>
            </a:r>
            <a:r>
              <a:rPr lang="zh-CN" altLang="en-US" sz="2000" kern="100" dirty="0">
                <a:latin typeface="Calibri" panose="020F0502020204030204" pitchFamily="34" charset="0"/>
                <a:cs typeface="Times New Roman" panose="02020603050405020304" pitchFamily="2" charset="0"/>
              </a:rPr>
              <a:t>、数据库的设计过程包括：需求分析、 </a:t>
            </a:r>
            <a:r>
              <a:rPr lang="zh-CN" altLang="en-US" sz="2000" u="sng" kern="100" dirty="0">
                <a:latin typeface="Calibri" panose="020F0502020204030204" pitchFamily="34" charset="0"/>
                <a:cs typeface="Times New Roman" panose="02020603050405020304" pitchFamily="2" charset="0"/>
              </a:rPr>
              <a:t> </a:t>
            </a:r>
            <a:r>
              <a:rPr lang="zh-CN" altLang="en-US" sz="2000" u="sng" kern="100" dirty="0" smtClean="0">
                <a:solidFill>
                  <a:srgbClr val="FF0000"/>
                </a:solidFill>
                <a:latin typeface="Calibri" panose="020F0502020204030204" pitchFamily="34" charset="0"/>
                <a:cs typeface="Times New Roman" panose="02020603050405020304" pitchFamily="2" charset="0"/>
              </a:rPr>
              <a:t>概念数据库色设计 </a:t>
            </a:r>
            <a:r>
              <a:rPr lang="zh-CN" altLang="en-US" sz="2000" kern="100" dirty="0" smtClean="0">
                <a:latin typeface="Calibri" panose="020F0502020204030204" pitchFamily="34" charset="0"/>
                <a:cs typeface="Times New Roman" panose="02020603050405020304" pitchFamily="2" charset="0"/>
              </a:rPr>
              <a:t>、 </a:t>
            </a:r>
            <a:r>
              <a:rPr lang="zh-CN" altLang="en-US" sz="2000" u="sng" kern="100" dirty="0" smtClean="0">
                <a:solidFill>
                  <a:srgbClr val="FF0000"/>
                </a:solidFill>
                <a:latin typeface="Calibri" panose="020F0502020204030204" pitchFamily="34" charset="0"/>
                <a:cs typeface="Times New Roman" panose="02020603050405020304" pitchFamily="2" charset="0"/>
              </a:rPr>
              <a:t>逻辑数据库设计</a:t>
            </a:r>
            <a:r>
              <a:rPr lang="zh-CN" altLang="en-US" sz="2000" u="sng" kern="100" dirty="0" smtClean="0">
                <a:latin typeface="Calibri" panose="020F0502020204030204" pitchFamily="34" charset="0"/>
                <a:cs typeface="Times New Roman" panose="02020603050405020304" pitchFamily="2" charset="0"/>
              </a:rPr>
              <a:t> </a:t>
            </a:r>
            <a:r>
              <a:rPr lang="zh-CN" altLang="en-US" sz="2000" u="sng" kern="100" dirty="0">
                <a:latin typeface="Calibri" panose="020F0502020204030204" pitchFamily="34" charset="0"/>
                <a:cs typeface="Times New Roman" panose="02020603050405020304" pitchFamily="2" charset="0"/>
              </a:rPr>
              <a:t>  </a:t>
            </a:r>
            <a:r>
              <a:rPr lang="zh-CN" altLang="en-US" sz="2000" kern="100" dirty="0" smtClean="0">
                <a:latin typeface="Calibri" panose="020F0502020204030204" pitchFamily="34" charset="0"/>
                <a:cs typeface="Times New Roman" panose="02020603050405020304" pitchFamily="2" charset="0"/>
              </a:rPr>
              <a:t>、</a:t>
            </a:r>
            <a:r>
              <a:rPr lang="zh-CN" altLang="en-US" sz="2000" kern="100" dirty="0">
                <a:latin typeface="Calibri" panose="020F0502020204030204" pitchFamily="34" charset="0"/>
                <a:cs typeface="Times New Roman" panose="02020603050405020304" pitchFamily="2" charset="0"/>
              </a:rPr>
              <a:t> </a:t>
            </a:r>
            <a:r>
              <a:rPr lang="zh-CN" altLang="en-US" sz="2000" u="sng" kern="100" dirty="0">
                <a:latin typeface="Calibri" panose="020F0502020204030204" pitchFamily="34" charset="0"/>
                <a:cs typeface="Times New Roman" panose="02020603050405020304" pitchFamily="2" charset="0"/>
              </a:rPr>
              <a:t>  </a:t>
            </a:r>
            <a:r>
              <a:rPr lang="zh-CN" altLang="en-US" sz="2000" u="sng" kern="100" dirty="0" smtClean="0">
                <a:solidFill>
                  <a:srgbClr val="FF0000"/>
                </a:solidFill>
                <a:latin typeface="Calibri" panose="020F0502020204030204" pitchFamily="34" charset="0"/>
                <a:cs typeface="Times New Roman" panose="02020603050405020304" pitchFamily="2" charset="0"/>
              </a:rPr>
              <a:t>模式优化 </a:t>
            </a:r>
            <a:r>
              <a:rPr lang="zh-CN" altLang="en-US" sz="2000" u="sng" kern="100" dirty="0">
                <a:latin typeface="Calibri" panose="020F0502020204030204" pitchFamily="34" charset="0"/>
                <a:cs typeface="Times New Roman" panose="02020603050405020304" pitchFamily="2" charset="0"/>
              </a:rPr>
              <a:t>  </a:t>
            </a:r>
            <a:r>
              <a:rPr lang="zh-CN" altLang="en-US" sz="2000" kern="100" dirty="0">
                <a:latin typeface="Calibri" panose="020F0502020204030204" pitchFamily="34" charset="0"/>
                <a:cs typeface="Times New Roman" panose="02020603050405020304" pitchFamily="2" charset="0"/>
              </a:rPr>
              <a:t>、</a:t>
            </a:r>
            <a:r>
              <a:rPr lang="zh-CN" altLang="en-US" sz="2000" u="sng" kern="100" dirty="0">
                <a:latin typeface="Calibri" panose="020F0502020204030204" pitchFamily="34" charset="0"/>
                <a:cs typeface="Times New Roman" panose="02020603050405020304" pitchFamily="2" charset="0"/>
              </a:rPr>
              <a:t>    </a:t>
            </a:r>
            <a:r>
              <a:rPr lang="zh-CN" altLang="en-US" sz="2000" u="sng" kern="100" dirty="0" smtClean="0">
                <a:solidFill>
                  <a:srgbClr val="FF0000"/>
                </a:solidFill>
                <a:latin typeface="Calibri" panose="020F0502020204030204" pitchFamily="34" charset="0"/>
                <a:cs typeface="Times New Roman" panose="02020603050405020304" pitchFamily="2" charset="0"/>
              </a:rPr>
              <a:t>物理数据库设计    </a:t>
            </a:r>
            <a:r>
              <a:rPr lang="zh-CN" altLang="en-US" sz="2000" kern="100" dirty="0">
                <a:latin typeface="Calibri" panose="020F0502020204030204" pitchFamily="34" charset="0"/>
                <a:cs typeface="Times New Roman" panose="02020603050405020304" pitchFamily="2" charset="0"/>
              </a:rPr>
              <a:t>和安全性设计六个阶段 </a:t>
            </a:r>
            <a:r>
              <a:rPr lang="zh-CN" altLang="en-US" sz="2000" kern="100" dirty="0" smtClean="0">
                <a:latin typeface="Calibri" panose="020F0502020204030204" pitchFamily="34" charset="0"/>
                <a:cs typeface="Times New Roman" panose="02020603050405020304" pitchFamily="2" charset="0"/>
              </a:rPr>
              <a:t>。</a:t>
            </a:r>
            <a:endParaRPr lang="en-US" altLang="zh-CN" sz="2000" kern="100" dirty="0" smtClean="0">
              <a:latin typeface="Calibri" panose="020F0502020204030204" pitchFamily="34" charset="0"/>
              <a:cs typeface="Times New Roman" panose="02020603050405020304" pitchFamily="2" charset="0"/>
            </a:endParaRPr>
          </a:p>
        </p:txBody>
      </p:sp>
      <p:sp>
        <p:nvSpPr>
          <p:cNvPr id="5" name="矩形 4"/>
          <p:cNvSpPr/>
          <p:nvPr/>
        </p:nvSpPr>
        <p:spPr>
          <a:xfrm>
            <a:off x="584835" y="5253355"/>
            <a:ext cx="8493125" cy="518160"/>
          </a:xfrm>
          <a:prstGeom prst="rect">
            <a:avLst/>
          </a:prstGeom>
        </p:spPr>
        <p:txBody>
          <a:bodyPr wrap="square">
            <a:noAutofit/>
          </a:bodyPr>
          <a:lstStyle/>
          <a:p>
            <a:pPr>
              <a:spcBef>
                <a:spcPts val="600"/>
              </a:spcBef>
              <a:buNone/>
            </a:pPr>
            <a:r>
              <a:rPr lang="en-US" altLang="zh-CN" sz="2200" dirty="0" smtClean="0"/>
              <a:t>5</a:t>
            </a:r>
            <a:r>
              <a:rPr lang="zh-CN" altLang="en-US" sz="2100" dirty="0" smtClean="0"/>
              <a:t>、</a:t>
            </a:r>
            <a:r>
              <a:rPr lang="zh-CN" altLang="en-US" sz="2100" dirty="0"/>
              <a:t>数据库三级模式体系结构的划分，主要有利于保持数据库的</a:t>
            </a:r>
            <a:r>
              <a:rPr lang="zh-CN" altLang="en-US" sz="2100" dirty="0" smtClean="0"/>
              <a:t>（  </a:t>
            </a:r>
            <a:r>
              <a:rPr lang="en-US" altLang="zh-CN" sz="2100" dirty="0" smtClean="0">
                <a:solidFill>
                  <a:srgbClr val="FF0000"/>
                </a:solidFill>
              </a:rPr>
              <a:t>B</a:t>
            </a:r>
            <a:r>
              <a:rPr lang="zh-CN" altLang="en-US" sz="2100" dirty="0"/>
              <a:t> ）</a:t>
            </a:r>
            <a:endParaRPr lang="zh-CN" altLang="en-US" sz="2100" dirty="0"/>
          </a:p>
          <a:p>
            <a:pPr>
              <a:buNone/>
            </a:pPr>
            <a:r>
              <a:rPr lang="zh-CN" altLang="en-US" sz="2100" dirty="0"/>
              <a:t>A、数据安全性 </a:t>
            </a:r>
            <a:r>
              <a:rPr lang="zh-CN" altLang="en-US" sz="2100" dirty="0" smtClean="0"/>
              <a:t>B</a:t>
            </a:r>
            <a:r>
              <a:rPr lang="zh-CN" altLang="en-US" sz="2100" dirty="0"/>
              <a:t>、数据独立性   </a:t>
            </a:r>
            <a:r>
              <a:rPr lang="zh-CN" altLang="en-US" sz="2100" dirty="0" smtClean="0"/>
              <a:t>C、</a:t>
            </a:r>
            <a:r>
              <a:rPr lang="zh-CN" altLang="en-US" sz="2100" dirty="0"/>
              <a:t>结构规范化  D、操作</a:t>
            </a:r>
            <a:r>
              <a:rPr lang="zh-CN" altLang="en-US" sz="2100" dirty="0" smtClean="0"/>
              <a:t>可行性</a:t>
            </a:r>
            <a:endParaRPr lang="en-US" altLang="zh-CN" sz="2100" dirty="0" smtClean="0"/>
          </a:p>
        </p:txBody>
      </p:sp>
      <p:sp>
        <p:nvSpPr>
          <p:cNvPr id="6" name="矩形 5"/>
          <p:cNvSpPr/>
          <p:nvPr/>
        </p:nvSpPr>
        <p:spPr>
          <a:xfrm>
            <a:off x="566936" y="2082717"/>
            <a:ext cx="8383114" cy="1415772"/>
          </a:xfrm>
          <a:prstGeom prst="rect">
            <a:avLst/>
          </a:prstGeom>
        </p:spPr>
        <p:txBody>
          <a:bodyPr wrap="square">
            <a:spAutoFit/>
          </a:bodyPr>
          <a:lstStyle/>
          <a:p>
            <a:pPr algn="just">
              <a:lnSpc>
                <a:spcPct val="150000"/>
              </a:lnSpc>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在数据库设计中， </a:t>
            </a:r>
            <a:r>
              <a:rPr lang="en-US" altLang="zh-CN" sz="2400" kern="100" dirty="0">
                <a:latin typeface="Calibri" panose="020F0502020204030204" pitchFamily="34" charset="0"/>
                <a:cs typeface="Times New Roman" panose="02020603050405020304" pitchFamily="2" charset="0"/>
              </a:rPr>
              <a:t>E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R </a:t>
            </a:r>
            <a:r>
              <a:rPr lang="zh-CN" altLang="en-US" sz="2400" kern="100" dirty="0">
                <a:latin typeface="Calibri" panose="020F0502020204030204" pitchFamily="34" charset="0"/>
                <a:cs typeface="Times New Roman" panose="02020603050405020304" pitchFamily="2" charset="0"/>
              </a:rPr>
              <a:t>图产生于（ </a:t>
            </a:r>
            <a:r>
              <a:rPr lang="zh-CN" altLang="en-US" sz="2400" kern="100" dirty="0" smtClean="0">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000" kern="100" dirty="0" smtClean="0">
                <a:latin typeface="Calibri" panose="020F0502020204030204" pitchFamily="34" charset="0"/>
                <a:cs typeface="Times New Roman" panose="02020603050405020304" pitchFamily="2" charset="0"/>
              </a:rPr>
              <a:t>A</a:t>
            </a:r>
            <a:r>
              <a:rPr lang="zh-CN" altLang="en-US" sz="2000" kern="100" dirty="0" smtClean="0">
                <a:latin typeface="Calibri" panose="020F0502020204030204" pitchFamily="34" charset="0"/>
                <a:cs typeface="Times New Roman" panose="02020603050405020304" pitchFamily="2" charset="0"/>
              </a:rPr>
              <a:t>、</a:t>
            </a:r>
            <a:r>
              <a:rPr lang="zh-CN" altLang="en-US" sz="2000" kern="100" dirty="0">
                <a:latin typeface="Calibri" panose="020F0502020204030204" pitchFamily="34" charset="0"/>
                <a:cs typeface="Times New Roman" panose="02020603050405020304" pitchFamily="2" charset="0"/>
              </a:rPr>
              <a:t>需求分析</a:t>
            </a:r>
            <a:r>
              <a:rPr lang="zh-CN" altLang="en-US" sz="2000" kern="100" dirty="0" smtClean="0">
                <a:latin typeface="Calibri" panose="020F0502020204030204" pitchFamily="34" charset="0"/>
                <a:cs typeface="Times New Roman" panose="02020603050405020304" pitchFamily="2" charset="0"/>
              </a:rPr>
              <a:t>阶段        </a:t>
            </a:r>
            <a:r>
              <a:rPr lang="en-US" altLang="zh-CN" sz="2000" kern="100" dirty="0" smtClean="0">
                <a:latin typeface="Calibri" panose="020F0502020204030204" pitchFamily="34" charset="0"/>
                <a:cs typeface="Times New Roman" panose="02020603050405020304" pitchFamily="2" charset="0"/>
              </a:rPr>
              <a:t>B</a:t>
            </a:r>
            <a:r>
              <a:rPr lang="zh-CN" altLang="en-US" sz="2000" kern="100" dirty="0" smtClean="0">
                <a:latin typeface="Calibri" panose="020F0502020204030204" pitchFamily="34" charset="0"/>
                <a:cs typeface="Times New Roman" panose="02020603050405020304" pitchFamily="2" charset="0"/>
              </a:rPr>
              <a:t>、</a:t>
            </a:r>
            <a:r>
              <a:rPr lang="zh-CN" altLang="en-US" sz="2000" kern="100" dirty="0">
                <a:latin typeface="Calibri" panose="020F0502020204030204" pitchFamily="34" charset="0"/>
                <a:cs typeface="Times New Roman" panose="02020603050405020304" pitchFamily="2" charset="0"/>
              </a:rPr>
              <a:t>物理</a:t>
            </a:r>
            <a:r>
              <a:rPr lang="zh-CN" altLang="en-US" sz="2000" kern="100" dirty="0" smtClean="0">
                <a:latin typeface="Calibri" panose="020F0502020204030204" pitchFamily="34" charset="0"/>
                <a:cs typeface="Times New Roman" panose="02020603050405020304" pitchFamily="2" charset="0"/>
              </a:rPr>
              <a:t>设计阶段         </a:t>
            </a:r>
            <a:endParaRPr lang="en-US" altLang="zh-CN" sz="20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000" kern="100" dirty="0" smtClean="0">
                <a:latin typeface="Calibri" panose="020F0502020204030204" pitchFamily="34" charset="0"/>
                <a:cs typeface="Times New Roman" panose="02020603050405020304" pitchFamily="2" charset="0"/>
              </a:rPr>
              <a:t>C</a:t>
            </a:r>
            <a:r>
              <a:rPr lang="zh-CN" altLang="en-US" sz="2000" kern="100" dirty="0" smtClean="0">
                <a:latin typeface="Calibri" panose="020F0502020204030204" pitchFamily="34" charset="0"/>
                <a:cs typeface="Times New Roman" panose="02020603050405020304" pitchFamily="2" charset="0"/>
              </a:rPr>
              <a:t>、</a:t>
            </a:r>
            <a:r>
              <a:rPr lang="zh-CN" altLang="en-US" sz="2000" kern="100" dirty="0">
                <a:latin typeface="Calibri" panose="020F0502020204030204" pitchFamily="34" charset="0"/>
                <a:cs typeface="Times New Roman" panose="02020603050405020304" pitchFamily="2" charset="0"/>
              </a:rPr>
              <a:t>逻辑设计阶段 </a:t>
            </a:r>
            <a:r>
              <a:rPr lang="zh-CN" altLang="en-US" sz="2000" kern="100" dirty="0" smtClean="0">
                <a:latin typeface="Calibri" panose="020F0502020204030204" pitchFamily="34" charset="0"/>
                <a:cs typeface="Times New Roman" panose="02020603050405020304" pitchFamily="2" charset="0"/>
              </a:rPr>
              <a:t>       </a:t>
            </a:r>
            <a:r>
              <a:rPr lang="en-US" altLang="zh-CN" sz="2000" kern="100" dirty="0" smtClean="0">
                <a:latin typeface="Calibri" panose="020F0502020204030204" pitchFamily="34" charset="0"/>
                <a:cs typeface="Times New Roman" panose="02020603050405020304" pitchFamily="2" charset="0"/>
              </a:rPr>
              <a:t>D</a:t>
            </a:r>
            <a:r>
              <a:rPr lang="zh-CN" altLang="en-US" sz="2000" kern="100" dirty="0">
                <a:latin typeface="Calibri" panose="020F0502020204030204" pitchFamily="34" charset="0"/>
                <a:cs typeface="Times New Roman" panose="02020603050405020304" pitchFamily="2" charset="0"/>
              </a:rPr>
              <a:t>、概念</a:t>
            </a:r>
            <a:r>
              <a:rPr lang="zh-CN" altLang="en-US" sz="2000" kern="100" dirty="0" smtClean="0">
                <a:latin typeface="Calibri" panose="020F0502020204030204" pitchFamily="34" charset="0"/>
                <a:cs typeface="Times New Roman" panose="02020603050405020304" pitchFamily="2" charset="0"/>
              </a:rPr>
              <a:t>设计阶段</a:t>
            </a:r>
            <a:endParaRPr lang="zh-CN" altLang="en-US" sz="2000" kern="100" dirty="0">
              <a:latin typeface="Calibri" panose="020F0502020204030204" pitchFamily="34" charset="0"/>
              <a:cs typeface="Times New Roman" panose="02020603050405020304" pitchFamily="2" charset="0"/>
            </a:endParaRPr>
          </a:p>
        </p:txBody>
      </p:sp>
      <p:sp>
        <p:nvSpPr>
          <p:cNvPr id="7" name="矩形 6"/>
          <p:cNvSpPr/>
          <p:nvPr/>
        </p:nvSpPr>
        <p:spPr>
          <a:xfrm>
            <a:off x="566936" y="3406837"/>
            <a:ext cx="8383114" cy="977191"/>
          </a:xfrm>
          <a:prstGeom prst="rect">
            <a:avLst/>
          </a:prstGeom>
        </p:spPr>
        <p:txBody>
          <a:bodyPr wrap="square">
            <a:spAutoFit/>
          </a:bodyPr>
          <a:lstStyle/>
          <a:p>
            <a:pPr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、数据库的概念模型独立于（    </a:t>
            </a:r>
            <a:r>
              <a:rPr lang="en-US" altLang="zh-CN" sz="2400" kern="100" dirty="0" smtClean="0">
                <a:solidFill>
                  <a:srgbClr val="FF0000"/>
                </a:solidFill>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     ）。</a:t>
            </a:r>
            <a:endParaRPr lang="zh-CN" altLang="en-US"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、具体的机器和</a:t>
            </a:r>
            <a:r>
              <a:rPr lang="en-US" altLang="zh-CN" sz="2200" kern="100" dirty="0" smtClean="0">
                <a:latin typeface="Calibri" panose="020F0502020204030204" pitchFamily="34" charset="0"/>
                <a:cs typeface="Times New Roman" panose="02020603050405020304" pitchFamily="2" charset="0"/>
              </a:rPr>
              <a:t>DBMS      B</a:t>
            </a:r>
            <a:r>
              <a:rPr lang="zh-CN" altLang="en-US" sz="2200" kern="100" dirty="0" smtClean="0">
                <a:latin typeface="Calibri" panose="020F0502020204030204" pitchFamily="34" charset="0"/>
                <a:cs typeface="Times New Roman" panose="02020603050405020304" pitchFamily="2" charset="0"/>
              </a:rPr>
              <a:t>、</a:t>
            </a:r>
            <a:r>
              <a:rPr lang="en-US" altLang="zh-CN" sz="2200" kern="100" dirty="0" smtClean="0">
                <a:latin typeface="Calibri" panose="020F0502020204030204" pitchFamily="34" charset="0"/>
                <a:cs typeface="Times New Roman" panose="02020603050405020304" pitchFamily="2" charset="0"/>
              </a:rPr>
              <a:t>E-R</a:t>
            </a:r>
            <a:r>
              <a:rPr lang="zh-CN" altLang="en-US" sz="2200" kern="100" dirty="0" smtClean="0">
                <a:latin typeface="Calibri" panose="020F0502020204030204" pitchFamily="34" charset="0"/>
                <a:cs typeface="Times New Roman" panose="02020603050405020304" pitchFamily="2" charset="0"/>
              </a:rPr>
              <a:t>图       </a:t>
            </a:r>
            <a:r>
              <a:rPr lang="en-US" altLang="zh-CN" sz="2200" kern="100" dirty="0" smtClean="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、信息世界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、现实世界</a:t>
            </a:r>
            <a:endParaRPr lang="zh-CN" altLang="en-US" sz="2200" kern="100" dirty="0">
              <a:latin typeface="Calibri" panose="020F0502020204030204" pitchFamily="34" charset="0"/>
              <a:cs typeface="Times New Roman" panose="02020603050405020304" pitchFamily="2" charset="0"/>
            </a:endParaRPr>
          </a:p>
        </p:txBody>
      </p:sp>
      <p:sp>
        <p:nvSpPr>
          <p:cNvPr id="8" name="矩形 7"/>
          <p:cNvSpPr/>
          <p:nvPr/>
        </p:nvSpPr>
        <p:spPr>
          <a:xfrm>
            <a:off x="584616" y="4318394"/>
            <a:ext cx="8383114" cy="977191"/>
          </a:xfrm>
          <a:prstGeom prst="rect">
            <a:avLst/>
          </a:prstGeom>
        </p:spPr>
        <p:txBody>
          <a:bodyPr wrap="square">
            <a:spAutoFit/>
          </a:bodyPr>
          <a:lstStyle/>
          <a:p>
            <a:pPr lvl="0" algn="just">
              <a:lnSpc>
                <a:spcPct val="125000"/>
              </a:lnSpc>
              <a:spcBef>
                <a:spcPts val="600"/>
              </a:spcBef>
              <a:spcAft>
                <a:spcPts val="0"/>
              </a:spcAft>
              <a:buNone/>
            </a:pPr>
            <a:r>
              <a:rPr lang="en-US" altLang="zh-CN" sz="2400" kern="100" dirty="0" smtClean="0">
                <a:latin typeface="Calibri" panose="020F0502020204030204" pitchFamily="34" charset="0"/>
                <a:cs typeface="Times New Roman" panose="02020603050405020304" pitchFamily="2" charset="0"/>
              </a:rPr>
              <a:t>4</a:t>
            </a:r>
            <a:r>
              <a:rPr lang="zh-CN" altLang="en-US" sz="2400" kern="100" dirty="0" smtClean="0">
                <a:latin typeface="Calibri" panose="020F0502020204030204" pitchFamily="34" charset="0"/>
                <a:cs typeface="Times New Roman" panose="02020603050405020304" pitchFamily="2" charset="0"/>
              </a:rPr>
              <a:t>、将概念模型转换为逻辑数据模型，属于数据库的（ </a:t>
            </a:r>
            <a:r>
              <a:rPr lang="zh-CN" altLang="en-US" sz="2400" kern="100" dirty="0" smtClean="0">
                <a:solidFill>
                  <a:srgbClr val="FF0000"/>
                </a:solidFill>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C</a:t>
            </a:r>
            <a:r>
              <a:rPr lang="zh-CN" altLang="en-US" sz="2400" kern="100" dirty="0" smtClean="0">
                <a:latin typeface="Calibri" panose="020F0502020204030204" pitchFamily="34" charset="0"/>
                <a:cs typeface="Times New Roman" panose="02020603050405020304" pitchFamily="2" charset="0"/>
              </a:rPr>
              <a:t>    ）。</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、需求分析      </a:t>
            </a:r>
            <a:r>
              <a:rPr lang="en-US" altLang="zh-CN" sz="2200" kern="100" dirty="0" smtClean="0">
                <a:latin typeface="Calibri" panose="020F0502020204030204" pitchFamily="34" charset="0"/>
                <a:cs typeface="Times New Roman" panose="02020603050405020304" pitchFamily="2" charset="0"/>
              </a:rPr>
              <a:t>B</a:t>
            </a:r>
            <a:r>
              <a:rPr lang="zh-CN" altLang="en-US" sz="2200" kern="100" dirty="0" smtClean="0">
                <a:latin typeface="Calibri" panose="020F0502020204030204" pitchFamily="34" charset="0"/>
                <a:cs typeface="Times New Roman" panose="02020603050405020304" pitchFamily="2" charset="0"/>
              </a:rPr>
              <a:t>、概念设计       </a:t>
            </a:r>
            <a:r>
              <a:rPr lang="en-US" altLang="zh-CN" sz="2200" kern="100" dirty="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、逻辑设计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、物理设计</a:t>
            </a:r>
            <a:endParaRPr lang="en-US" altLang="zh-CN" sz="2400" kern="100" dirty="0">
              <a:latin typeface="Calibri" panose="020F0502020204030204" pitchFamily="34" charset="0"/>
              <a:cs typeface="Times New Roman" panose="02020603050405020304" pitchFamily="2" charset="0"/>
            </a:endParaRPr>
          </a:p>
        </p:txBody>
      </p:sp>
      <p:sp>
        <p:nvSpPr>
          <p:cNvPr id="9"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txBox="1"/>
          <p:nvPr/>
        </p:nvSpPr>
        <p:spPr>
          <a:xfrm>
            <a:off x="568325" y="1352233"/>
            <a:ext cx="8137525" cy="4932362"/>
          </a:xfrm>
          <a:prstGeom prst="rect">
            <a:avLst/>
          </a:prstGeom>
          <a:noFill/>
          <a:ln w="9525">
            <a:noFill/>
          </a:ln>
        </p:spPr>
        <p:txBody>
          <a:bodyPr anchor="t"/>
          <a:lstStyle/>
          <a:p>
            <a:pPr marL="342900" lvl="0" indent="-342900">
              <a:lnSpc>
                <a:spcPct val="125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实体（</a:t>
            </a:r>
            <a:r>
              <a:rPr lang="en-US" altLang="x-none" sz="2400" u="sng" dirty="0">
                <a:solidFill>
                  <a:srgbClr val="CC0000"/>
                </a:solidFill>
                <a:latin typeface="华文楷体" panose="02010600040101010101" pitchFamily="2" charset="-122"/>
                <a:ea typeface="宋体" panose="02010600030101010101" pitchFamily="2" charset="-122"/>
              </a:rPr>
              <a:t>Entity</a:t>
            </a:r>
            <a:r>
              <a:rPr lang="zh-CN" altLang="en-US" sz="2400" u="sng" dirty="0">
                <a:solidFill>
                  <a:srgbClr val="CC0000"/>
                </a:solidFill>
                <a:latin typeface="华文楷体" panose="02010600040101010101" pitchFamily="2" charset="-122"/>
                <a:ea typeface="宋体" panose="02010600030101010101" pitchFamily="2" charset="-122"/>
              </a:rPr>
              <a:t>）</a:t>
            </a:r>
            <a:endParaRPr lang="en-US" altLang="x-none" sz="2400" u="sng" dirty="0">
              <a:solidFill>
                <a:srgbClr val="CC0000"/>
              </a:solidFill>
              <a:latin typeface="华文楷体" panose="02010600040101010101" pitchFamily="2" charset="-122"/>
              <a:ea typeface="宋体" panose="02010600030101010101" pitchFamily="2" charset="-122"/>
            </a:endParaRPr>
          </a:p>
          <a:p>
            <a:pPr marL="342900" lvl="0" indent="-342900">
              <a:lnSpc>
                <a:spcPct val="120000"/>
              </a:lnSpc>
              <a:spcBef>
                <a:spcPct val="20000"/>
              </a:spcBef>
              <a:buClr>
                <a:srgbClr val="0033CC"/>
              </a:buClr>
              <a:buSzPct val="80000"/>
              <a:buNone/>
            </a:pPr>
            <a:r>
              <a:rPr lang="zh-CN" altLang="en-US" sz="2000" dirty="0">
                <a:solidFill>
                  <a:srgbClr val="CC0000"/>
                </a:solidFill>
                <a:latin typeface="华文楷体" panose="02010600040101010101" pitchFamily="2" charset="-122"/>
                <a:ea typeface="宋体" panose="02010600030101010101" pitchFamily="2" charset="-122"/>
              </a:rPr>
              <a:t>  </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概念：现实世界中</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或客观世界</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有别于其它对象的对象。</a:t>
            </a:r>
            <a:endParaRPr lang="en-US" altLang="x-none" sz="20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None/>
            </a:pPr>
            <a:r>
              <a:rPr lang="zh-CN" altLang="en-US" sz="2000" dirty="0">
                <a:latin typeface="楷体" panose="02010609060101010101" pitchFamily="1" charset="-122"/>
                <a:ea typeface="楷体" panose="02010609060101010101" pitchFamily="1" charset="-122"/>
              </a:rPr>
              <a:t> </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特性：实体可以是具体的、物理存在的，如学生</a:t>
            </a:r>
            <a:r>
              <a:rPr lang="en-US" altLang="x-none" sz="2000" dirty="0">
                <a:latin typeface="楷体" panose="02010609060101010101" pitchFamily="1" charset="-122"/>
                <a:ea typeface="楷体" panose="02010609060101010101" pitchFamily="1" charset="-122"/>
              </a:rPr>
              <a:t>Peter Bach</a:t>
            </a:r>
            <a:r>
              <a:rPr lang="zh-CN" altLang="en-US" sz="2000" dirty="0">
                <a:latin typeface="楷体" panose="02010609060101010101" pitchFamily="1" charset="-122"/>
                <a:ea typeface="楷体" panose="02010609060101010101" pitchFamily="1" charset="-122"/>
              </a:rPr>
              <a:t>。也可以是抽象的、概念上存在的，如，</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数据库</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课程。</a:t>
            </a:r>
            <a:endParaRPr lang="en-US" altLang="x-none" sz="2000" dirty="0">
              <a:latin typeface="楷体" panose="02010609060101010101" pitchFamily="1" charset="-122"/>
              <a:ea typeface="楷体" panose="02010609060101010101" pitchFamily="1" charset="-122"/>
            </a:endParaRPr>
          </a:p>
          <a:p>
            <a:pPr marL="342900" lvl="0" indent="-342900">
              <a:lnSpc>
                <a:spcPct val="125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实体</a:t>
            </a:r>
            <a:r>
              <a:rPr lang="zh-CN" altLang="en-US" sz="2400" dirty="0">
                <a:solidFill>
                  <a:srgbClr val="CC0000"/>
                </a:solidFill>
                <a:latin typeface="华文楷体" panose="02010600040101010101" pitchFamily="2" charset="-122"/>
                <a:ea typeface="宋体" panose="02010600030101010101" pitchFamily="2" charset="-122"/>
              </a:rPr>
              <a:t>型</a:t>
            </a:r>
            <a:r>
              <a:rPr lang="zh-CN" altLang="en-US" sz="2400" u="sng" dirty="0">
                <a:solidFill>
                  <a:srgbClr val="CC0000"/>
                </a:solidFill>
                <a:latin typeface="华文楷体" panose="02010600040101010101" pitchFamily="2" charset="-122"/>
                <a:ea typeface="宋体" panose="02010600030101010101" pitchFamily="2" charset="-122"/>
              </a:rPr>
              <a:t>（</a:t>
            </a:r>
            <a:r>
              <a:rPr lang="en-US" altLang="x-none" sz="2400" u="sng" dirty="0">
                <a:solidFill>
                  <a:srgbClr val="CC0000"/>
                </a:solidFill>
                <a:latin typeface="华文楷体" panose="02010600040101010101" pitchFamily="2" charset="-122"/>
                <a:ea typeface="宋体" panose="02010600030101010101" pitchFamily="2" charset="-122"/>
              </a:rPr>
              <a:t>Entity Set</a:t>
            </a:r>
            <a:r>
              <a:rPr lang="zh-CN" altLang="en-US" sz="2400" u="sng" dirty="0">
                <a:solidFill>
                  <a:srgbClr val="CC0000"/>
                </a:solidFill>
                <a:latin typeface="华文楷体" panose="02010600040101010101" pitchFamily="2" charset="-122"/>
                <a:ea typeface="宋体" panose="02010600030101010101" pitchFamily="2" charset="-122"/>
              </a:rPr>
              <a:t>）</a:t>
            </a:r>
            <a:endParaRPr lang="en-US" altLang="x-none" sz="2400" dirty="0">
              <a:solidFill>
                <a:srgbClr val="CC0000"/>
              </a:solidFill>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None/>
            </a:pPr>
            <a:r>
              <a:rPr lang="en-US" altLang="x-none" sz="2000" dirty="0">
                <a:latin typeface="楷体" panose="02010609060101010101" pitchFamily="1" charset="-122"/>
                <a:ea typeface="楷体" panose="02010609060101010101" pitchFamily="1" charset="-122"/>
              </a:rPr>
              <a:t>  --</a:t>
            </a:r>
            <a:r>
              <a:rPr lang="zh-CN" altLang="en-US" sz="2000" dirty="0">
                <a:latin typeface="楷体" panose="02010609060101010101" pitchFamily="1" charset="-122"/>
                <a:ea typeface="楷体" panose="02010609060101010101" pitchFamily="1" charset="-122"/>
              </a:rPr>
              <a:t>概念：属于同类的所有实体的集合。在不混淆的情况下</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简称实体。</a:t>
            </a:r>
            <a:endParaRPr lang="en-US" altLang="x-none" sz="20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None/>
            </a:pPr>
            <a:r>
              <a:rPr lang="zh-CN" altLang="en-US" sz="2000" dirty="0">
                <a:latin typeface="楷体" panose="02010609060101010101" pitchFamily="1" charset="-122"/>
                <a:ea typeface="楷体" panose="02010609060101010101" pitchFamily="1" charset="-122"/>
              </a:rPr>
              <a:t>  </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特性：一个实体集中的所有实体具有相同的属性。实体类型的实例</a:t>
            </a:r>
            <a:endParaRPr lang="en-US" altLang="x-none" sz="20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None/>
            </a:pPr>
            <a:r>
              <a:rPr lang="en-US" altLang="x-none" sz="2000" dirty="0">
                <a:latin typeface="楷体" panose="02010609060101010101" pitchFamily="1" charset="-122"/>
                <a:ea typeface="楷体" panose="02010609060101010101" pitchFamily="1" charset="-122"/>
              </a:rPr>
              <a:t>    </a:t>
            </a:r>
            <a:r>
              <a:rPr lang="zh-CN" altLang="en-US" sz="2000" dirty="0">
                <a:latin typeface="楷体" panose="02010609060101010101" pitchFamily="1" charset="-122"/>
                <a:ea typeface="楷体" panose="02010609060101010101" pitchFamily="1" charset="-122"/>
              </a:rPr>
              <a:t>是实体集。</a:t>
            </a:r>
            <a:endParaRPr lang="de-DE" altLang="en-US" sz="2000" dirty="0">
              <a:latin typeface="楷体" panose="02010609060101010101" pitchFamily="1" charset="-122"/>
              <a:ea typeface="楷体" panose="02010609060101010101" pitchFamily="1" charset="-122"/>
            </a:endParaRPr>
          </a:p>
        </p:txBody>
      </p:sp>
      <p:sp>
        <p:nvSpPr>
          <p:cNvPr id="21509" name="Rectangle 4"/>
          <p:cNvSpPr txBox="1"/>
          <p:nvPr/>
        </p:nvSpPr>
        <p:spPr>
          <a:xfrm>
            <a:off x="574675" y="4607878"/>
            <a:ext cx="8120063" cy="1552575"/>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属性（</a:t>
            </a:r>
            <a:r>
              <a:rPr lang="en-US" altLang="x-none" sz="2400" u="sng" dirty="0">
                <a:solidFill>
                  <a:srgbClr val="CC0000"/>
                </a:solidFill>
                <a:latin typeface="华文楷体" panose="02010600040101010101" pitchFamily="2" charset="-122"/>
                <a:ea typeface="宋体" panose="02010600030101010101" pitchFamily="2" charset="-122"/>
              </a:rPr>
              <a:t>Attribute</a:t>
            </a:r>
            <a:r>
              <a:rPr lang="zh-CN" altLang="en-US" sz="2400" u="sng" dirty="0">
                <a:solidFill>
                  <a:srgbClr val="CC0000"/>
                </a:solidFill>
                <a:latin typeface="华文楷体" panose="02010600040101010101" pitchFamily="2" charset="-122"/>
                <a:ea typeface="宋体" panose="02010600030101010101" pitchFamily="2" charset="-122"/>
              </a:rPr>
              <a:t>）</a:t>
            </a:r>
            <a:endParaRPr lang="en-US" altLang="x-none" sz="2400" u="sng" dirty="0">
              <a:solidFill>
                <a:srgbClr val="CC0000"/>
              </a:solidFill>
              <a:latin typeface="华文楷体" panose="02010600040101010101" pitchFamily="2" charset="-122"/>
              <a:ea typeface="宋体" panose="02010600030101010101" pitchFamily="2" charset="-122"/>
            </a:endParaRPr>
          </a:p>
          <a:p>
            <a:pPr marL="342900" lvl="0" indent="-342900">
              <a:lnSpc>
                <a:spcPct val="100000"/>
              </a:lnSpc>
              <a:spcBef>
                <a:spcPts val="600"/>
              </a:spcBef>
              <a:buClr>
                <a:srgbClr val="0033CC"/>
              </a:buClr>
              <a:buSzPct val="80000"/>
              <a:buNone/>
            </a:pPr>
            <a:r>
              <a:rPr lang="en-US" altLang="x-none" sz="2000" dirty="0">
                <a:solidFill>
                  <a:srgbClr val="CC0000"/>
                </a:solidFill>
                <a:latin typeface="华文楷体" panose="02010600040101010101" pitchFamily="2" charset="-122"/>
                <a:ea typeface="宋体" panose="02010600030101010101" pitchFamily="2"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指实体的特征或性质。实体用属性描述。</a:t>
            </a:r>
            <a:endParaRPr lang="en-US" altLang="x-none" sz="2200" dirty="0">
              <a:latin typeface="楷体" panose="02010609060101010101" pitchFamily="1" charset="-122"/>
              <a:ea typeface="楷体" panose="02010609060101010101" pitchFamily="1" charset="-122"/>
            </a:endParaRPr>
          </a:p>
          <a:p>
            <a:pPr marL="342900" lvl="0" indent="-342900">
              <a:lnSpc>
                <a:spcPct val="100000"/>
              </a:lnSpc>
              <a:spcBef>
                <a:spcPts val="300"/>
              </a:spcBef>
              <a:buClr>
                <a:srgbClr val="0033CC"/>
              </a:buClr>
              <a:buSzPct val="80000"/>
              <a:buNone/>
            </a:pPr>
            <a:r>
              <a:rPr lang="en-US" altLang="x-none"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如：学生的姓名、生日等；课程的课程号、课程名、学时等。</a:t>
            </a:r>
            <a:endParaRPr lang="en-US" altLang="x-none" sz="2200" dirty="0">
              <a:latin typeface="楷体" panose="02010609060101010101" pitchFamily="1" charset="-122"/>
              <a:ea typeface="楷体" panose="02010609060101010101" pitchFamily="1" charset="-122"/>
            </a:endParaRPr>
          </a:p>
          <a:p>
            <a:pPr marL="342900" lvl="0" indent="-342900">
              <a:lnSpc>
                <a:spcPct val="100000"/>
              </a:lnSpc>
              <a:spcBef>
                <a:spcPts val="300"/>
              </a:spcBef>
              <a:buClr>
                <a:srgbClr val="0033CC"/>
              </a:buClr>
              <a:buSzPct val="80000"/>
              <a:buNone/>
            </a:pPr>
            <a:r>
              <a:rPr lang="en-US" altLang="x-none"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属性的取值范围</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域（</a:t>
            </a:r>
            <a:r>
              <a:rPr lang="en-US" altLang="x-none" sz="2200" dirty="0">
                <a:latin typeface="楷体" panose="02010609060101010101" pitchFamily="1" charset="-122"/>
                <a:ea typeface="楷体" panose="02010609060101010101" pitchFamily="1" charset="-122"/>
              </a:rPr>
              <a:t>Domain</a:t>
            </a:r>
            <a:r>
              <a:rPr lang="zh-CN" altLang="en-US" sz="2200" dirty="0">
                <a:latin typeface="楷体" panose="02010609060101010101" pitchFamily="1" charset="-122"/>
                <a:ea typeface="楷体" panose="02010609060101010101" pitchFamily="1" charset="-122"/>
              </a:rPr>
              <a:t>）</a:t>
            </a:r>
            <a:endParaRPr lang="de-DE" altLang="en-US" sz="2200" dirty="0">
              <a:latin typeface="楷体" panose="02010609060101010101" pitchFamily="1" charset="-122"/>
              <a:ea typeface="楷体" panose="02010609060101010101" pitchFamily="1" charset="-122"/>
            </a:endParaRPr>
          </a:p>
        </p:txBody>
      </p:sp>
      <p:sp>
        <p:nvSpPr>
          <p:cNvPr id="2" name="Rectangle 2"/>
          <p:cNvSpPr txBox="1"/>
          <p:nvPr/>
        </p:nvSpPr>
        <p:spPr>
          <a:xfrm>
            <a:off x="547370" y="840105"/>
            <a:ext cx="8190230" cy="580390"/>
          </a:xfrm>
          <a:prstGeom prst="rect">
            <a:avLst/>
          </a:prstGeom>
          <a:solidFill>
            <a:srgbClr val="FFFFFF"/>
          </a:solidFill>
          <a:ln w="9525">
            <a:noFill/>
          </a:ln>
        </p:spPr>
        <p:txBody>
          <a:bodyPr anchor="ctr"/>
          <a:lstStyle/>
          <a:p>
            <a:pPr lvl="0">
              <a:lnSpc>
                <a:spcPct val="100000"/>
              </a:lnSpc>
              <a:buFont typeface="Wingdings" panose="05000000000000000000" charset="0"/>
              <a:buChar char="p"/>
            </a:pPr>
            <a:r>
              <a:rPr lang="en-US" altLang="zh-CN" sz="2500" dirty="0">
                <a:solidFill>
                  <a:srgbClr val="0033CC"/>
                </a:solidFill>
                <a:latin typeface="华文中宋" panose="02010600040101010101" pitchFamily="2" charset="-122"/>
                <a:ea typeface="华文中宋" panose="02010600040101010101" pitchFamily="2" charset="-122"/>
              </a:rPr>
              <a:t> ER</a:t>
            </a:r>
            <a:r>
              <a:rPr lang="zh-CN" altLang="en-US" sz="2500" dirty="0">
                <a:solidFill>
                  <a:srgbClr val="0033CC"/>
                </a:solidFill>
                <a:latin typeface="华文中宋" panose="02010600040101010101" pitchFamily="2" charset="-122"/>
                <a:ea typeface="华文中宋" panose="02010600040101010101" pitchFamily="2" charset="-122"/>
              </a:rPr>
              <a:t>模型用实体型和属性来描述实体</a:t>
            </a:r>
            <a:endParaRPr lang="zh-CN" altLang="en-US" sz="2500" dirty="0">
              <a:solidFill>
                <a:srgbClr val="0033CC"/>
              </a:solidFill>
              <a:latin typeface="华文中宋" panose="02010600040101010101" pitchFamily="2" charset="-122"/>
              <a:ea typeface="华文中宋" panose="02010600040101010101" pitchFamily="2" charset="-122"/>
            </a:endParaRPr>
          </a:p>
        </p:txBody>
      </p:sp>
      <p:sp>
        <p:nvSpPr>
          <p:cNvPr id="4"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509">
                                            <p:txEl>
                                              <p:pRg st="0" end="0"/>
                                            </p:txEl>
                                          </p:spTgt>
                                        </p:tgtEl>
                                        <p:attrNameLst>
                                          <p:attrName>style.visibility</p:attrName>
                                        </p:attrNameLst>
                                      </p:cBhvr>
                                      <p:to>
                                        <p:strVal val="visible"/>
                                      </p:to>
                                    </p:set>
                                    <p:animEffect transition="in" filter="dissolve">
                                      <p:cBhvr>
                                        <p:cTn id="7" dur="500"/>
                                        <p:tgtEl>
                                          <p:spTgt spid="215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509">
                                            <p:txEl>
                                              <p:pRg st="1" end="1"/>
                                            </p:txEl>
                                          </p:spTgt>
                                        </p:tgtEl>
                                        <p:attrNameLst>
                                          <p:attrName>style.visibility</p:attrName>
                                        </p:attrNameLst>
                                      </p:cBhvr>
                                      <p:to>
                                        <p:strVal val="visible"/>
                                      </p:to>
                                    </p:set>
                                    <p:animEffect transition="in" filter="dissolve">
                                      <p:cBhvr>
                                        <p:cTn id="12" dur="500"/>
                                        <p:tgtEl>
                                          <p:spTgt spid="2150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509">
                                            <p:txEl>
                                              <p:pRg st="2" end="2"/>
                                            </p:txEl>
                                          </p:spTgt>
                                        </p:tgtEl>
                                        <p:attrNameLst>
                                          <p:attrName>style.visibility</p:attrName>
                                        </p:attrNameLst>
                                      </p:cBhvr>
                                      <p:to>
                                        <p:strVal val="visible"/>
                                      </p:to>
                                    </p:set>
                                    <p:animEffect transition="in" filter="dissolve">
                                      <p:cBhvr>
                                        <p:cTn id="17" dur="500"/>
                                        <p:tgtEl>
                                          <p:spTgt spid="2150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509">
                                            <p:txEl>
                                              <p:pRg st="3" end="3"/>
                                            </p:txEl>
                                          </p:spTgt>
                                        </p:tgtEl>
                                        <p:attrNameLst>
                                          <p:attrName>style.visibility</p:attrName>
                                        </p:attrNameLst>
                                      </p:cBhvr>
                                      <p:to>
                                        <p:strVal val="visible"/>
                                      </p:to>
                                    </p:set>
                                    <p:animEffect transition="in" filter="dissolve">
                                      <p:cBhvr>
                                        <p:cTn id="22" dur="500"/>
                                        <p:tgtEl>
                                          <p:spTgt spid="215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bldLvl="2"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78790" y="1320165"/>
            <a:ext cx="8186420" cy="4551352"/>
            <a:chOff x="753" y="2480"/>
            <a:chExt cx="12892" cy="6139"/>
          </a:xfrm>
        </p:grpSpPr>
        <p:sp>
          <p:nvSpPr>
            <p:cNvPr id="23555" name="Rectangle 5"/>
            <p:cNvSpPr/>
            <p:nvPr/>
          </p:nvSpPr>
          <p:spPr>
            <a:xfrm>
              <a:off x="5573" y="2480"/>
              <a:ext cx="3360" cy="765"/>
            </a:xfrm>
            <a:prstGeom prst="rect">
              <a:avLst/>
            </a:prstGeom>
            <a:solidFill>
              <a:srgbClr val="D2D7F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宋体" panose="02010600030101010101" pitchFamily="2" charset="-122"/>
                  <a:ea typeface="宋体" panose="02010600030101010101" pitchFamily="2" charset="-122"/>
                </a:rPr>
                <a:t>属性</a:t>
              </a:r>
              <a:endParaRPr lang="zh-CN" altLang="en-US" sz="2400" dirty="0">
                <a:latin typeface="宋体" panose="02010600030101010101" pitchFamily="2" charset="-122"/>
                <a:ea typeface="宋体" panose="02010600030101010101" pitchFamily="2" charset="-122"/>
              </a:endParaRPr>
            </a:p>
          </p:txBody>
        </p:sp>
        <p:grpSp>
          <p:nvGrpSpPr>
            <p:cNvPr id="23556" name="Group 6"/>
            <p:cNvGrpSpPr/>
            <p:nvPr/>
          </p:nvGrpSpPr>
          <p:grpSpPr>
            <a:xfrm>
              <a:off x="3413" y="2720"/>
              <a:ext cx="2160" cy="480"/>
              <a:chOff x="0" y="0"/>
              <a:chExt cx="864" cy="240"/>
            </a:xfrm>
          </p:grpSpPr>
          <p:sp>
            <p:nvSpPr>
              <p:cNvPr id="24580" name="Line 7"/>
              <p:cNvSpPr/>
              <p:nvPr/>
            </p:nvSpPr>
            <p:spPr>
              <a:xfrm>
                <a:off x="0" y="0"/>
                <a:ext cx="864" cy="0"/>
              </a:xfrm>
              <a:prstGeom prst="line">
                <a:avLst/>
              </a:prstGeom>
              <a:ln w="9525" cap="flat" cmpd="sng">
                <a:solidFill>
                  <a:schemeClr val="tx1"/>
                </a:solidFill>
                <a:prstDash val="solid"/>
                <a:round/>
                <a:headEnd type="none" w="med" len="med"/>
                <a:tailEnd type="none" w="med" len="med"/>
              </a:ln>
            </p:spPr>
          </p:sp>
          <p:sp>
            <p:nvSpPr>
              <p:cNvPr id="24581" name="Line 8"/>
              <p:cNvSpPr/>
              <p:nvPr/>
            </p:nvSpPr>
            <p:spPr>
              <a:xfrm>
                <a:off x="0" y="0"/>
                <a:ext cx="0" cy="240"/>
              </a:xfrm>
              <a:prstGeom prst="line">
                <a:avLst/>
              </a:prstGeom>
              <a:ln w="9525" cap="flat" cmpd="sng">
                <a:solidFill>
                  <a:schemeClr val="tx1"/>
                </a:solidFill>
                <a:prstDash val="solid"/>
                <a:round/>
                <a:headEnd type="none" w="med" len="med"/>
                <a:tailEnd type="triangle" w="med" len="med"/>
              </a:ln>
            </p:spPr>
          </p:sp>
        </p:grpSp>
        <p:sp>
          <p:nvSpPr>
            <p:cNvPr id="23559" name="AutoShape 9"/>
            <p:cNvSpPr/>
            <p:nvPr/>
          </p:nvSpPr>
          <p:spPr>
            <a:xfrm>
              <a:off x="2093" y="3183"/>
              <a:ext cx="2880" cy="725"/>
            </a:xfrm>
            <a:prstGeom prst="flowChartAlternateProcess">
              <a:avLst/>
            </a:prstGeom>
            <a:solidFill>
              <a:srgbClr val="006600"/>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chemeClr val="bg1"/>
                  </a:solidFill>
                  <a:latin typeface="Tahoma" panose="020B0604030504040204" pitchFamily="2" charset="0"/>
                  <a:ea typeface="宋体" panose="02010600030101010101" pitchFamily="2" charset="-122"/>
                </a:rPr>
                <a:t>按结构分类</a:t>
              </a:r>
              <a:endParaRPr lang="de-DE" altLang="en-US" sz="2000" dirty="0">
                <a:solidFill>
                  <a:schemeClr val="bg1"/>
                </a:solidFill>
                <a:latin typeface="Tahoma" panose="020B0604030504040204" pitchFamily="2" charset="0"/>
                <a:ea typeface="宋体" panose="02010600030101010101" pitchFamily="2" charset="-122"/>
              </a:endParaRPr>
            </a:p>
          </p:txBody>
        </p:sp>
        <p:sp>
          <p:nvSpPr>
            <p:cNvPr id="23560" name="Rectangle 10"/>
            <p:cNvSpPr/>
            <p:nvPr/>
          </p:nvSpPr>
          <p:spPr>
            <a:xfrm>
              <a:off x="753" y="4498"/>
              <a:ext cx="4962" cy="3714"/>
            </a:xfrm>
            <a:prstGeom prst="rect">
              <a:avLst/>
            </a:prstGeom>
            <a:solidFill>
              <a:srgbClr val="D2D7FE"/>
            </a:solidFill>
            <a:ln w="9525" cap="flat" cmpd="sng">
              <a:solidFill>
                <a:schemeClr val="tx1"/>
              </a:solidFill>
              <a:prstDash val="solid"/>
              <a:miter/>
              <a:headEnd type="none" w="med" len="med"/>
              <a:tailEnd type="none" w="med" len="med"/>
            </a:ln>
          </p:spPr>
          <p:txBody>
            <a:bodyPr anchor="t">
              <a:spAutoFit/>
            </a:bodyPr>
            <a:lstStyle/>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简单属性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不可再分的属性。例如</a:t>
              </a:r>
              <a:r>
                <a:rPr lang="en-US" altLang="x-none"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年龄，性别。</a:t>
              </a:r>
              <a:endParaRPr lang="zh-CN" altLang="en-US" sz="2000" dirty="0">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复合属性</a:t>
              </a:r>
              <a:r>
                <a:rPr lang="zh-CN" altLang="en-US" sz="2000" dirty="0">
                  <a:solidFill>
                    <a:srgbClr val="FF0000"/>
                  </a:solidFill>
                  <a:latin typeface="华文楷体" panose="02010600040101010101" pitchFamily="2" charset="-122"/>
                  <a:ea typeface="华文楷体" panose="02010600040101010101" pitchFamily="2" charset="-122"/>
                </a:rPr>
                <a:t>：</a:t>
              </a:r>
              <a:endParaRPr lang="zh-CN" altLang="en-US" sz="2000" dirty="0">
                <a:solidFill>
                  <a:srgbClr val="FF0000"/>
                </a:solidFill>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dirty="0">
                  <a:latin typeface="华文楷体" panose="02010600040101010101" pitchFamily="2" charset="-122"/>
                  <a:ea typeface="华文楷体" panose="02010600040101010101" pitchFamily="2" charset="-122"/>
                </a:rPr>
                <a:t>可被划分为更小的子部分（</a:t>
              </a:r>
              <a:r>
                <a:rPr lang="zh-CN" altLang="en-US" sz="2000" u="sng" dirty="0">
                  <a:latin typeface="华文楷体" panose="02010600040101010101" pitchFamily="2" charset="-122"/>
                  <a:ea typeface="华文楷体" panose="02010600040101010101" pitchFamily="2" charset="-122"/>
                </a:rPr>
                <a:t>子属性</a:t>
              </a:r>
              <a:r>
                <a:rPr lang="zh-CN" altLang="en-US" sz="2000" dirty="0">
                  <a:latin typeface="华文楷体" panose="02010600040101010101" pitchFamily="2" charset="-122"/>
                  <a:ea typeface="华文楷体" panose="02010600040101010101" pitchFamily="2" charset="-122"/>
                </a:rPr>
                <a:t>）。例如：住址</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省、市、区、街道、门牌号、邮政编码</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子属性</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a:t>
              </a:r>
              <a:endParaRPr lang="zh-CN" altLang="en-US" sz="2000" dirty="0">
                <a:latin typeface="华文楷体" panose="02010600040101010101" pitchFamily="2" charset="-122"/>
                <a:ea typeface="华文楷体" panose="02010600040101010101" pitchFamily="2" charset="-122"/>
              </a:endParaRPr>
            </a:p>
          </p:txBody>
        </p:sp>
        <p:grpSp>
          <p:nvGrpSpPr>
            <p:cNvPr id="23561" name="Group 11"/>
            <p:cNvGrpSpPr/>
            <p:nvPr/>
          </p:nvGrpSpPr>
          <p:grpSpPr>
            <a:xfrm>
              <a:off x="8960" y="2765"/>
              <a:ext cx="1663" cy="388"/>
              <a:chOff x="0" y="0"/>
              <a:chExt cx="768" cy="240"/>
            </a:xfrm>
          </p:grpSpPr>
          <p:sp>
            <p:nvSpPr>
              <p:cNvPr id="24585" name="Line 12"/>
              <p:cNvSpPr/>
              <p:nvPr/>
            </p:nvSpPr>
            <p:spPr>
              <a:xfrm>
                <a:off x="0" y="0"/>
                <a:ext cx="768" cy="0"/>
              </a:xfrm>
              <a:prstGeom prst="line">
                <a:avLst/>
              </a:prstGeom>
              <a:ln w="9525" cap="flat" cmpd="sng">
                <a:solidFill>
                  <a:schemeClr val="tx1"/>
                </a:solidFill>
                <a:prstDash val="solid"/>
                <a:round/>
                <a:headEnd type="none" w="med" len="med"/>
                <a:tailEnd type="none" w="med" len="med"/>
              </a:ln>
            </p:spPr>
          </p:sp>
          <p:sp>
            <p:nvSpPr>
              <p:cNvPr id="24586" name="Line 13"/>
              <p:cNvSpPr/>
              <p:nvPr/>
            </p:nvSpPr>
            <p:spPr>
              <a:xfrm>
                <a:off x="768" y="0"/>
                <a:ext cx="0" cy="240"/>
              </a:xfrm>
              <a:prstGeom prst="line">
                <a:avLst/>
              </a:prstGeom>
              <a:ln w="9525" cap="flat" cmpd="sng">
                <a:solidFill>
                  <a:schemeClr val="tx1"/>
                </a:solidFill>
                <a:prstDash val="solid"/>
                <a:round/>
                <a:headEnd type="none" w="med" len="med"/>
                <a:tailEnd type="triangle" w="med" len="med"/>
              </a:ln>
            </p:spPr>
          </p:sp>
        </p:grpSp>
        <p:sp>
          <p:nvSpPr>
            <p:cNvPr id="23564" name="AutoShape 14"/>
            <p:cNvSpPr/>
            <p:nvPr/>
          </p:nvSpPr>
          <p:spPr>
            <a:xfrm>
              <a:off x="9348" y="3085"/>
              <a:ext cx="2880" cy="800"/>
            </a:xfrm>
            <a:prstGeom prst="flowChartAlternateProcess">
              <a:avLst/>
            </a:prstGeom>
            <a:solidFill>
              <a:srgbClr val="006600"/>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chemeClr val="bg1"/>
                  </a:solidFill>
                  <a:latin typeface="Tahoma" panose="020B0604030504040204" pitchFamily="2" charset="0"/>
                  <a:ea typeface="宋体" panose="02010600030101010101" pitchFamily="2" charset="-122"/>
                </a:rPr>
                <a:t>按取值分类</a:t>
              </a:r>
              <a:endParaRPr lang="de-DE" altLang="en-US" sz="2000" dirty="0">
                <a:solidFill>
                  <a:schemeClr val="bg1"/>
                </a:solidFill>
                <a:latin typeface="Tahoma" panose="020B0604030504040204" pitchFamily="2" charset="0"/>
                <a:ea typeface="宋体" panose="02010600030101010101" pitchFamily="2" charset="-122"/>
              </a:endParaRPr>
            </a:p>
          </p:txBody>
        </p:sp>
        <p:sp>
          <p:nvSpPr>
            <p:cNvPr id="23565" name="Rectangle 15"/>
            <p:cNvSpPr/>
            <p:nvPr/>
          </p:nvSpPr>
          <p:spPr>
            <a:xfrm>
              <a:off x="5998" y="4355"/>
              <a:ext cx="7647" cy="4264"/>
            </a:xfrm>
            <a:prstGeom prst="rect">
              <a:avLst/>
            </a:prstGeom>
            <a:solidFill>
              <a:srgbClr val="D2D7FE"/>
            </a:solidFill>
            <a:ln w="9525" cap="flat" cmpd="sng">
              <a:solidFill>
                <a:schemeClr val="tx1"/>
              </a:solidFill>
              <a:prstDash val="solid"/>
              <a:miter/>
              <a:headEnd type="none" w="med" len="med"/>
              <a:tailEnd type="none" w="med" len="med"/>
            </a:ln>
          </p:spPr>
          <p:txBody>
            <a:bodyPr anchor="t">
              <a:spAutoFit/>
            </a:bodyPr>
            <a:lstStyle/>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单值属性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只有一个取值。例如学号。</a:t>
              </a:r>
              <a:endParaRPr lang="zh-CN" altLang="en-US" sz="2000" dirty="0">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多值属性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多于一个取值的属性。例如学位值，不同的人可以有不同的取值：无学位</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空值；一个学士学位或学士、硕士、博士三个学位。</a:t>
              </a:r>
              <a:endParaRPr lang="zh-CN" altLang="en-US" sz="2000" dirty="0">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导出属性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例如从生日导出年龄属性。</a:t>
              </a:r>
              <a:endParaRPr lang="zh-CN" altLang="en-US" sz="2000" dirty="0">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空值属性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值不确定或无值的属性。如书籍的附件属性可为空值。</a:t>
              </a:r>
              <a:endParaRPr lang="zh-CN" altLang="en-US" sz="2000" dirty="0">
                <a:latin typeface="华文楷体" panose="02010600040101010101" pitchFamily="2" charset="-122"/>
                <a:ea typeface="华文楷体" panose="02010600040101010101" pitchFamily="2" charset="-122"/>
              </a:endParaRPr>
            </a:p>
          </p:txBody>
        </p:sp>
        <p:sp>
          <p:nvSpPr>
            <p:cNvPr id="23566" name="Line 16"/>
            <p:cNvSpPr/>
            <p:nvPr/>
          </p:nvSpPr>
          <p:spPr>
            <a:xfrm>
              <a:off x="10600" y="3920"/>
              <a:ext cx="0" cy="480"/>
            </a:xfrm>
            <a:prstGeom prst="line">
              <a:avLst/>
            </a:prstGeom>
            <a:ln w="9525" cap="flat" cmpd="sng">
              <a:solidFill>
                <a:schemeClr val="tx1"/>
              </a:solidFill>
              <a:prstDash val="solid"/>
              <a:round/>
              <a:headEnd type="none" w="med" len="med"/>
              <a:tailEnd type="triangle" w="med" len="med"/>
            </a:ln>
          </p:spPr>
        </p:sp>
        <p:sp>
          <p:nvSpPr>
            <p:cNvPr id="23567" name="Line 17"/>
            <p:cNvSpPr/>
            <p:nvPr/>
          </p:nvSpPr>
          <p:spPr>
            <a:xfrm>
              <a:off x="3408" y="3968"/>
              <a:ext cx="0" cy="560"/>
            </a:xfrm>
            <a:prstGeom prst="line">
              <a:avLst/>
            </a:prstGeom>
            <a:ln w="9525" cap="flat" cmpd="sng">
              <a:solidFill>
                <a:schemeClr val="tx1"/>
              </a:solidFill>
              <a:prstDash val="solid"/>
              <a:round/>
              <a:headEnd type="none" w="med" len="med"/>
              <a:tailEnd type="triangle" w="med" len="med"/>
            </a:ln>
          </p:spPr>
        </p:sp>
      </p:gr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86080" y="1305560"/>
            <a:ext cx="8370888" cy="4458648"/>
            <a:chOff x="440" y="2545"/>
            <a:chExt cx="13183" cy="6918"/>
          </a:xfrm>
        </p:grpSpPr>
        <p:sp>
          <p:nvSpPr>
            <p:cNvPr id="24578" name="Rectangle 3"/>
            <p:cNvSpPr txBox="1"/>
            <p:nvPr/>
          </p:nvSpPr>
          <p:spPr>
            <a:xfrm>
              <a:off x="3615" y="2545"/>
              <a:ext cx="10008" cy="6918"/>
            </a:xfrm>
            <a:prstGeom prst="rect">
              <a:avLst/>
            </a:prstGeom>
            <a:noFill/>
            <a:ln w="9525">
              <a:noFill/>
            </a:ln>
          </p:spPr>
          <p:txBody>
            <a:bodyPr anchor="t"/>
            <a:lstStyle/>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简单属性 （结构不可分）</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单值属性</a:t>
              </a:r>
              <a:r>
                <a:rPr lang="zh-CN" altLang="en-US" sz="2000" dirty="0">
                  <a:latin typeface="楷体" panose="02010609060101010101" pitchFamily="1" charset="-122"/>
                  <a:ea typeface="楷体" panose="02010609060101010101" pitchFamily="1" charset="-122"/>
                </a:rPr>
                <a:t> </a:t>
              </a:r>
              <a:r>
                <a:rPr lang="zh-CN" altLang="en-US" sz="2400" dirty="0">
                  <a:latin typeface="楷体" panose="02010609060101010101" pitchFamily="1" charset="-122"/>
                  <a:ea typeface="楷体" panose="02010609060101010101" pitchFamily="1" charset="-122"/>
                </a:rPr>
                <a:t>（实体的性别属性只取一个值）</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endParaRPr lang="zh-CN" altLang="en-US" sz="20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复合属性</a:t>
              </a:r>
              <a:r>
                <a:rPr lang="zh-CN" altLang="en-US" sz="2000" dirty="0">
                  <a:latin typeface="楷体" panose="02010609060101010101" pitchFamily="1" charset="-122"/>
                  <a:ea typeface="楷体" panose="02010609060101010101" pitchFamily="1" charset="-122"/>
                </a:rPr>
                <a:t>（行政区划代码</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出生日期</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顺序码</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校验码） </a:t>
              </a:r>
              <a:endParaRPr lang="zh-CN" altLang="en-US" sz="20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单值属性</a:t>
              </a:r>
              <a:r>
                <a:rPr lang="zh-CN" altLang="en-US" sz="2000" dirty="0">
                  <a:latin typeface="楷体" panose="02010609060101010101" pitchFamily="1" charset="-122"/>
                  <a:ea typeface="楷体" panose="02010609060101010101" pitchFamily="1" charset="-122"/>
                </a:rPr>
                <a:t> </a:t>
              </a:r>
              <a:endParaRPr lang="zh-CN" altLang="en-US" sz="20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   </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复合属性（结构上分为姓</a:t>
              </a: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名）</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多值属性 </a:t>
              </a: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图书可以同时有多个作者）</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简单属性</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多值属性 （一个实体上并存多个值）</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空值</a:t>
              </a:r>
              <a:endParaRPr lang="zh-CN" altLang="en-US" sz="2400" dirty="0">
                <a:latin typeface="楷体" panose="02010609060101010101" pitchFamily="1" charset="-122"/>
                <a:ea typeface="楷体" panose="02010609060101010101" pitchFamily="1" charset="-122"/>
              </a:endParaRPr>
            </a:p>
          </p:txBody>
        </p:sp>
        <p:sp>
          <p:nvSpPr>
            <p:cNvPr id="24579" name="AutoShape 4"/>
            <p:cNvSpPr/>
            <p:nvPr/>
          </p:nvSpPr>
          <p:spPr>
            <a:xfrm>
              <a:off x="3000" y="7735"/>
              <a:ext cx="453" cy="1473"/>
            </a:xfrm>
            <a:prstGeom prst="leftBrace">
              <a:avLst>
                <a:gd name="adj1" fmla="val 27027"/>
                <a:gd name="adj2" fmla="val 50000"/>
              </a:avLst>
            </a:prstGeom>
            <a:noFill/>
            <a:ln w="28575" cap="flat" cmpd="sng">
              <a:solidFill>
                <a:srgbClr val="CC0000"/>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4580" name="AutoShape 5"/>
            <p:cNvSpPr/>
            <p:nvPr/>
          </p:nvSpPr>
          <p:spPr>
            <a:xfrm>
              <a:off x="2958" y="2703"/>
              <a:ext cx="455" cy="907"/>
            </a:xfrm>
            <a:prstGeom prst="leftBrace">
              <a:avLst>
                <a:gd name="adj1" fmla="val 16565"/>
                <a:gd name="adj2" fmla="val 50000"/>
              </a:avLst>
            </a:prstGeom>
            <a:noFill/>
            <a:ln w="28575" cap="flat" cmpd="sng">
              <a:solidFill>
                <a:srgbClr val="CC0000"/>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4581" name="AutoShape 6"/>
            <p:cNvSpPr/>
            <p:nvPr/>
          </p:nvSpPr>
          <p:spPr>
            <a:xfrm>
              <a:off x="3020" y="6013"/>
              <a:ext cx="455" cy="907"/>
            </a:xfrm>
            <a:prstGeom prst="leftBrace">
              <a:avLst>
                <a:gd name="adj1" fmla="val 16565"/>
                <a:gd name="adj2" fmla="val 50000"/>
              </a:avLst>
            </a:prstGeom>
            <a:noFill/>
            <a:ln w="28575" cap="flat" cmpd="sng">
              <a:solidFill>
                <a:srgbClr val="CC0000"/>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4582" name="AutoShape 7"/>
            <p:cNvSpPr/>
            <p:nvPr/>
          </p:nvSpPr>
          <p:spPr>
            <a:xfrm>
              <a:off x="2958" y="4245"/>
              <a:ext cx="455" cy="908"/>
            </a:xfrm>
            <a:prstGeom prst="leftBrace">
              <a:avLst>
                <a:gd name="adj1" fmla="val 16565"/>
                <a:gd name="adj2" fmla="val 50000"/>
              </a:avLst>
            </a:prstGeom>
            <a:noFill/>
            <a:ln w="28575" cap="flat" cmpd="sng">
              <a:solidFill>
                <a:srgbClr val="CC0000"/>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4583" name="Rectangle 8"/>
            <p:cNvSpPr/>
            <p:nvPr/>
          </p:nvSpPr>
          <p:spPr>
            <a:xfrm>
              <a:off x="1235" y="8190"/>
              <a:ext cx="1755" cy="657"/>
            </a:xfrm>
            <a:prstGeom prst="rect">
              <a:avLst/>
            </a:prstGeom>
            <a:noFill/>
            <a:ln w="9525">
              <a:noFill/>
            </a:ln>
          </p:spPr>
          <p:txBody>
            <a:bodyPr wrap="square" anchor="t">
              <a:spAutoFit/>
            </a:bodyPr>
            <a:lstStyle/>
            <a:p>
              <a:pPr marL="457200" lvl="0" indent="-457200">
                <a:lnSpc>
                  <a:spcPct val="90000"/>
                </a:lnSpc>
                <a:buNone/>
              </a:pPr>
              <a:r>
                <a:rPr lang="en-US" altLang="x-none" sz="2400" dirty="0">
                  <a:solidFill>
                    <a:srgbClr val="0000CC"/>
                  </a:solidFill>
                  <a:latin typeface="宋体" panose="02010600030101010101" pitchFamily="2" charset="-122"/>
                  <a:ea typeface="宋体" panose="02010600030101010101" pitchFamily="2" charset="-122"/>
                </a:rPr>
                <a:t>  </a:t>
              </a:r>
              <a:r>
                <a:rPr lang="zh-CN" altLang="en-US" sz="2400" dirty="0">
                  <a:solidFill>
                    <a:srgbClr val="0000CC"/>
                  </a:solidFill>
                  <a:latin typeface="宋体" panose="02010600030101010101" pitchFamily="2" charset="-122"/>
                  <a:ea typeface="宋体" panose="02010600030101010101" pitchFamily="2" charset="-122"/>
                </a:rPr>
                <a:t>学位</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24584" name="Rectangle 9"/>
            <p:cNvSpPr/>
            <p:nvPr/>
          </p:nvSpPr>
          <p:spPr>
            <a:xfrm>
              <a:off x="1375" y="2773"/>
              <a:ext cx="1510" cy="657"/>
            </a:xfrm>
            <a:prstGeom prst="rect">
              <a:avLst/>
            </a:prstGeom>
            <a:noFill/>
            <a:ln w="9525">
              <a:noFill/>
            </a:ln>
          </p:spPr>
          <p:txBody>
            <a:bodyPr wrap="square" anchor="t">
              <a:spAutoFit/>
            </a:bodyPr>
            <a:lstStyle/>
            <a:p>
              <a:pPr marL="342900" lvl="0" indent="-342900">
                <a:lnSpc>
                  <a:spcPct val="90000"/>
                </a:lnSpc>
                <a:buNone/>
              </a:pPr>
              <a:r>
                <a:rPr lang="en-US" altLang="x-none" sz="2400" dirty="0">
                  <a:solidFill>
                    <a:srgbClr val="0000CC"/>
                  </a:solidFill>
                  <a:latin typeface="宋体" panose="02010600030101010101" pitchFamily="2" charset="-122"/>
                  <a:ea typeface="宋体" panose="02010600030101010101" pitchFamily="2" charset="-122"/>
                </a:rPr>
                <a:t> </a:t>
              </a:r>
              <a:r>
                <a:rPr lang="zh-CN" altLang="en-US" sz="2400" dirty="0">
                  <a:solidFill>
                    <a:srgbClr val="0000CC"/>
                  </a:solidFill>
                  <a:latin typeface="宋体" panose="02010600030101010101" pitchFamily="2" charset="-122"/>
                  <a:ea typeface="宋体" panose="02010600030101010101" pitchFamily="2" charset="-122"/>
                </a:rPr>
                <a:t>性别</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24585" name="Rectangle 10"/>
            <p:cNvSpPr/>
            <p:nvPr/>
          </p:nvSpPr>
          <p:spPr>
            <a:xfrm>
              <a:off x="440" y="4200"/>
              <a:ext cx="3063" cy="657"/>
            </a:xfrm>
            <a:prstGeom prst="rect">
              <a:avLst/>
            </a:prstGeom>
            <a:noFill/>
            <a:ln w="9525">
              <a:noFill/>
            </a:ln>
          </p:spPr>
          <p:txBody>
            <a:bodyPr anchor="t">
              <a:spAutoFit/>
            </a:bodyPr>
            <a:lstStyle/>
            <a:p>
              <a:pPr marL="342900" lvl="0" indent="-342900">
                <a:lnSpc>
                  <a:spcPct val="90000"/>
                </a:lnSpc>
                <a:buNone/>
              </a:pPr>
              <a:r>
                <a:rPr lang="en-US" altLang="x-none" sz="2400" dirty="0">
                  <a:solidFill>
                    <a:srgbClr val="0000CC"/>
                  </a:solidFill>
                  <a:latin typeface="宋体" panose="02010600030101010101" pitchFamily="2" charset="-122"/>
                  <a:ea typeface="宋体" panose="02010600030101010101" pitchFamily="2" charset="-122"/>
                </a:rPr>
                <a:t> </a:t>
              </a:r>
              <a:r>
                <a:rPr lang="zh-CN" altLang="en-US" sz="2400" dirty="0">
                  <a:solidFill>
                    <a:srgbClr val="0000CC"/>
                  </a:solidFill>
                  <a:latin typeface="宋体" panose="02010600030101010101" pitchFamily="2" charset="-122"/>
                  <a:ea typeface="宋体" panose="02010600030101010101" pitchFamily="2" charset="-122"/>
                </a:rPr>
                <a:t>身份证号</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24586" name="Rectangle 11"/>
            <p:cNvSpPr/>
            <p:nvPr/>
          </p:nvSpPr>
          <p:spPr>
            <a:xfrm>
              <a:off x="668" y="6148"/>
              <a:ext cx="2240" cy="657"/>
            </a:xfrm>
            <a:prstGeom prst="rect">
              <a:avLst/>
            </a:prstGeom>
            <a:noFill/>
            <a:ln w="9525">
              <a:noFill/>
            </a:ln>
          </p:spPr>
          <p:txBody>
            <a:bodyPr wrap="square" anchor="t">
              <a:spAutoFit/>
            </a:bodyPr>
            <a:lstStyle/>
            <a:p>
              <a:pPr marL="342900" lvl="0" indent="-342900">
                <a:lnSpc>
                  <a:spcPct val="90000"/>
                </a:lnSpc>
                <a:buNone/>
              </a:pPr>
              <a:r>
                <a:rPr lang="zh-CN" altLang="en-US" sz="2400" dirty="0">
                  <a:solidFill>
                    <a:srgbClr val="0000CC"/>
                  </a:solidFill>
                  <a:latin typeface="宋体" panose="02010600030101010101" pitchFamily="2" charset="-122"/>
                  <a:ea typeface="宋体" panose="02010600030101010101" pitchFamily="2" charset="-122"/>
                </a:rPr>
                <a:t>图书作者</a:t>
              </a:r>
              <a:endParaRPr lang="zh-CN" altLang="en-US" sz="2400" dirty="0">
                <a:solidFill>
                  <a:srgbClr val="0000CC"/>
                </a:solidFill>
                <a:latin typeface="宋体" panose="02010600030101010101" pitchFamily="2" charset="-122"/>
                <a:ea typeface="宋体" panose="02010600030101010101" pitchFamily="2" charset="-122"/>
              </a:endParaRPr>
            </a:p>
          </p:txBody>
        </p:sp>
      </p:gr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3"/>
          <p:cNvSpPr/>
          <p:nvPr/>
        </p:nvSpPr>
        <p:spPr>
          <a:xfrm>
            <a:off x="619125" y="1114108"/>
            <a:ext cx="1943100" cy="517525"/>
          </a:xfrm>
          <a:prstGeom prst="rect">
            <a:avLst/>
          </a:prstGeom>
          <a:noFill/>
          <a:ln w="9525">
            <a:noFill/>
          </a:ln>
        </p:spPr>
        <p:txBody>
          <a:bodyPr wrap="none" anchor="t">
            <a:spAutoFit/>
          </a:bodyPr>
          <a:lstStyle/>
          <a:p>
            <a:pPr marL="342900" lvl="0" indent="-342900">
              <a:lnSpc>
                <a:spcPct val="125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键（</a:t>
            </a:r>
            <a:r>
              <a:rPr lang="en-US" altLang="x-none" sz="2400" u="sng" dirty="0">
                <a:solidFill>
                  <a:srgbClr val="CC0000"/>
                </a:solidFill>
                <a:latin typeface="华文楷体" panose="02010600040101010101" pitchFamily="2" charset="-122"/>
                <a:ea typeface="宋体" panose="02010600030101010101" pitchFamily="2" charset="-122"/>
              </a:rPr>
              <a:t>Key</a:t>
            </a:r>
            <a:r>
              <a:rPr lang="zh-CN" altLang="en-US" sz="2400" u="sng" dirty="0">
                <a:solidFill>
                  <a:srgbClr val="CC0000"/>
                </a:solidFill>
                <a:latin typeface="华文楷体" panose="02010600040101010101" pitchFamily="2" charset="-122"/>
                <a:ea typeface="宋体" panose="02010600030101010101" pitchFamily="2" charset="-122"/>
              </a:rPr>
              <a:t>）</a:t>
            </a:r>
            <a:endParaRPr lang="zh-CN" altLang="en-US" sz="2400" u="sng" dirty="0">
              <a:solidFill>
                <a:srgbClr val="CC0000"/>
              </a:solidFill>
              <a:latin typeface="华文楷体" panose="02010600040101010101" pitchFamily="2" charset="-122"/>
              <a:ea typeface="宋体" panose="02010600030101010101" pitchFamily="2" charset="-122"/>
            </a:endParaRPr>
          </a:p>
        </p:txBody>
      </p:sp>
      <p:sp>
        <p:nvSpPr>
          <p:cNvPr id="26627" name="矩形 4"/>
          <p:cNvSpPr/>
          <p:nvPr/>
        </p:nvSpPr>
        <p:spPr>
          <a:xfrm>
            <a:off x="244475" y="1728470"/>
            <a:ext cx="8526463" cy="4076700"/>
          </a:xfrm>
          <a:prstGeom prst="rect">
            <a:avLst/>
          </a:prstGeom>
          <a:noFill/>
          <a:ln w="9525">
            <a:noFill/>
          </a:ln>
        </p:spPr>
        <p:txBody>
          <a:bodyPr anchor="t">
            <a:spAutoFit/>
          </a:bodyPr>
          <a:lstStyle/>
          <a:p>
            <a:pPr marL="742950" lvl="1" indent="-285750">
              <a:lnSpc>
                <a:spcPct val="135000"/>
              </a:lnSpc>
              <a:spcBef>
                <a:spcPts val="0"/>
              </a:spcBef>
              <a:spcAft>
                <a:spcPts val="0"/>
              </a:spcAft>
              <a:buFont typeface="Arial" panose="020B0604020202020204" pitchFamily="34" charset="0"/>
              <a:buChar char="–"/>
            </a:pPr>
            <a:r>
              <a:rPr lang="zh-CN" altLang="en-US" sz="2400" dirty="0">
                <a:latin typeface="楷体" panose="02010609060101010101" pitchFamily="1" charset="-122"/>
                <a:ea typeface="楷体" panose="02010609060101010101" pitchFamily="1" charset="-122"/>
              </a:rPr>
              <a:t>概念：</a:t>
            </a:r>
            <a:r>
              <a:rPr lang="zh-CN" altLang="en-US" sz="2400" dirty="0">
                <a:latin typeface="华文楷体" panose="02010600040101010101" pitchFamily="2" charset="-122"/>
                <a:ea typeface="华文楷体" panose="02010600040101010101" pitchFamily="2" charset="-122"/>
              </a:rPr>
              <a:t>具有唯一标识特性的一个或一组属性，用于唯一标识一类实体集中的实体。也称唯一约束。</a:t>
            </a:r>
            <a:endParaRPr lang="zh-CN" altLang="en-US" sz="2400" dirty="0">
              <a:latin typeface="华文楷体" panose="02010600040101010101" pitchFamily="2" charset="-122"/>
              <a:ea typeface="华文楷体" panose="02010600040101010101" pitchFamily="2" charset="-122"/>
            </a:endParaRPr>
          </a:p>
          <a:p>
            <a:pPr marL="742950" lvl="1" indent="-285750">
              <a:lnSpc>
                <a:spcPct val="135000"/>
              </a:lnSpc>
              <a:spcBef>
                <a:spcPts val="0"/>
              </a:spcBef>
              <a:spcAft>
                <a:spcPts val="0"/>
              </a:spcAft>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 例如：唯一标识学生类集合的键是学号。</a:t>
            </a:r>
            <a:endParaRPr lang="zh-CN" altLang="en-US" sz="2400" dirty="0">
              <a:latin typeface="华文楷体" panose="02010600040101010101" pitchFamily="2" charset="-122"/>
              <a:ea typeface="华文楷体" panose="02010600040101010101" pitchFamily="2" charset="-122"/>
            </a:endParaRPr>
          </a:p>
          <a:p>
            <a:pPr marL="742950" lvl="1" indent="-285750">
              <a:lnSpc>
                <a:spcPct val="135000"/>
              </a:lnSpc>
              <a:spcBef>
                <a:spcPts val="0"/>
              </a:spcBef>
              <a:spcAft>
                <a:spcPts val="0"/>
              </a:spcAft>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 由一个属性构成的键是</a:t>
            </a:r>
            <a:r>
              <a:rPr lang="zh-CN" altLang="en-US" sz="2400" u="sng" dirty="0">
                <a:solidFill>
                  <a:srgbClr val="0033CC"/>
                </a:solidFill>
                <a:latin typeface="华文楷体" panose="02010600040101010101" pitchFamily="2" charset="-122"/>
                <a:ea typeface="华文楷体" panose="02010600040101010101" pitchFamily="2" charset="-122"/>
              </a:rPr>
              <a:t>简单键</a:t>
            </a:r>
            <a:r>
              <a:rPr lang="zh-CN" altLang="en-US" sz="2400" dirty="0">
                <a:latin typeface="华文楷体" panose="02010600040101010101" pitchFamily="2" charset="-122"/>
                <a:ea typeface="华文楷体" panose="02010600040101010101" pitchFamily="2" charset="-122"/>
              </a:rPr>
              <a:t>；由多个属性构成的键，称为</a:t>
            </a:r>
            <a:r>
              <a:rPr lang="zh-CN" altLang="en-US" sz="2400" u="sng" dirty="0">
                <a:solidFill>
                  <a:srgbClr val="0033CC"/>
                </a:solidFill>
                <a:latin typeface="华文楷体" panose="02010600040101010101" pitchFamily="2" charset="-122"/>
                <a:ea typeface="华文楷体" panose="02010600040101010101" pitchFamily="2" charset="-122"/>
              </a:rPr>
              <a:t>复合键</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marL="742950" lvl="1" indent="-285750">
              <a:lnSpc>
                <a:spcPct val="135000"/>
              </a:lnSpc>
              <a:spcBef>
                <a:spcPts val="0"/>
              </a:spcBef>
              <a:spcAft>
                <a:spcPts val="0"/>
              </a:spcAft>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键是本章的一个难点。键贯穿整个关系数据库的设计和实现。在第六章（关系数据库优化）中也起重要作用。</a:t>
            </a:r>
            <a:endParaRPr lang="zh-CN" altLang="en-US" sz="2400" dirty="0">
              <a:latin typeface="华文楷体" panose="02010600040101010101" pitchFamily="2" charset="-122"/>
              <a:ea typeface="华文楷体" panose="02010600040101010101" pitchFamily="2" charset="-122"/>
            </a:endParaRPr>
          </a:p>
          <a:p>
            <a:pPr marL="742950" lvl="1" indent="-285750">
              <a:lnSpc>
                <a:spcPct val="135000"/>
              </a:lnSpc>
              <a:spcBef>
                <a:spcPts val="0"/>
              </a:spcBef>
              <a:spcAft>
                <a:spcPts val="0"/>
              </a:spcAft>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有关键的概念：</a:t>
            </a:r>
            <a:r>
              <a:rPr lang="zh-CN" altLang="en-US" sz="2400" u="sng" dirty="0">
                <a:solidFill>
                  <a:srgbClr val="0033CC"/>
                </a:solidFill>
                <a:latin typeface="华文楷体" panose="02010600040101010101" pitchFamily="2" charset="-122"/>
                <a:ea typeface="华文楷体" panose="02010600040101010101" pitchFamily="2" charset="-122"/>
              </a:rPr>
              <a:t>超键</a:t>
            </a:r>
            <a:r>
              <a:rPr lang="zh-CN" altLang="en-US" sz="2400" dirty="0">
                <a:latin typeface="华文楷体" panose="02010600040101010101" pitchFamily="2" charset="-122"/>
                <a:ea typeface="华文楷体" panose="02010600040101010101" pitchFamily="2" charset="-122"/>
              </a:rPr>
              <a:t>、</a:t>
            </a:r>
            <a:r>
              <a:rPr lang="zh-CN" altLang="en-US" sz="2400" u="sng" dirty="0">
                <a:solidFill>
                  <a:srgbClr val="0033CC"/>
                </a:solidFill>
                <a:latin typeface="华文楷体" panose="02010600040101010101" pitchFamily="2" charset="-122"/>
                <a:ea typeface="华文楷体" panose="02010600040101010101" pitchFamily="2" charset="-122"/>
              </a:rPr>
              <a:t>候选键</a:t>
            </a:r>
            <a:r>
              <a:rPr lang="zh-CN" altLang="en-US" sz="2400" dirty="0">
                <a:latin typeface="华文楷体" panose="02010600040101010101" pitchFamily="2" charset="-122"/>
                <a:ea typeface="华文楷体" panose="02010600040101010101" pitchFamily="2" charset="-122"/>
              </a:rPr>
              <a:t>、</a:t>
            </a:r>
            <a:r>
              <a:rPr lang="zh-CN" altLang="en-US" sz="2400" u="sng" dirty="0">
                <a:solidFill>
                  <a:srgbClr val="0033CC"/>
                </a:solidFill>
                <a:latin typeface="华文楷体" panose="02010600040101010101" pitchFamily="2" charset="-122"/>
                <a:ea typeface="华文楷体" panose="02010600040101010101" pitchFamily="2" charset="-122"/>
              </a:rPr>
              <a:t>主键</a:t>
            </a:r>
            <a:r>
              <a:rPr lang="zh-CN" altLang="en-US" sz="2400" dirty="0">
                <a:latin typeface="华文楷体" panose="02010600040101010101" pitchFamily="2" charset="-122"/>
                <a:ea typeface="华文楷体" panose="02010600040101010101" pitchFamily="2" charset="-122"/>
              </a:rPr>
              <a:t>、</a:t>
            </a:r>
            <a:r>
              <a:rPr lang="zh-CN" altLang="en-US" sz="2400" u="sng" dirty="0">
                <a:solidFill>
                  <a:srgbClr val="0033CC"/>
                </a:solidFill>
                <a:latin typeface="华文楷体" panose="02010600040101010101" pitchFamily="2" charset="-122"/>
                <a:ea typeface="华文楷体" panose="02010600040101010101" pitchFamily="2" charset="-122"/>
              </a:rPr>
              <a:t>外键</a:t>
            </a:r>
            <a:r>
              <a:rPr lang="zh-CN" altLang="en-US" sz="2400" dirty="0">
                <a:latin typeface="华文楷体" panose="02010600040101010101" pitchFamily="2" charset="-122"/>
                <a:ea typeface="华文楷体" panose="02010600040101010101" pitchFamily="2" charset="-122"/>
              </a:rPr>
              <a:t>、</a:t>
            </a:r>
            <a:r>
              <a:rPr lang="zh-CN" altLang="en-US" sz="2400" u="sng" dirty="0">
                <a:solidFill>
                  <a:srgbClr val="0033CC"/>
                </a:solidFill>
                <a:latin typeface="华文楷体" panose="02010600040101010101" pitchFamily="2" charset="-122"/>
                <a:ea typeface="华文楷体" panose="02010600040101010101" pitchFamily="2" charset="-122"/>
              </a:rPr>
              <a:t>全键</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6"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txBox="1"/>
          <p:nvPr/>
        </p:nvSpPr>
        <p:spPr>
          <a:xfrm>
            <a:off x="529273" y="1438275"/>
            <a:ext cx="8358187" cy="2924175"/>
          </a:xfrm>
          <a:prstGeom prst="rect">
            <a:avLst/>
          </a:prstGeom>
          <a:noFill/>
          <a:ln w="9525">
            <a:noFill/>
          </a:ln>
        </p:spPr>
        <p:txBody>
          <a:bodyPr anchor="t"/>
          <a:lstStyle/>
          <a:p>
            <a:pPr lvl="0" indent="0">
              <a:lnSpc>
                <a:spcPct val="125000"/>
              </a:lnSpc>
              <a:spcBef>
                <a:spcPct val="20000"/>
              </a:spcBef>
              <a:buClrTx/>
              <a:buSzPct val="80000"/>
              <a:buFont typeface="Wingdings" panose="05000000000000000000" pitchFamily="2" charset="2"/>
              <a:buChar char="u"/>
            </a:pPr>
            <a:r>
              <a:rPr lang="en-US" altLang="x-none" sz="2400" u="sng" dirty="0">
                <a:solidFill>
                  <a:srgbClr val="C00000"/>
                </a:solidFill>
                <a:latin typeface="华文楷体" panose="02010600040101010101" pitchFamily="2" charset="-122"/>
                <a:ea typeface="宋体" panose="02010600030101010101" pitchFamily="2" charset="-122"/>
              </a:rPr>
              <a:t> </a:t>
            </a:r>
            <a:r>
              <a:rPr lang="zh-CN" altLang="en-US" sz="2400" u="sng" dirty="0">
                <a:solidFill>
                  <a:srgbClr val="C00000"/>
                </a:solidFill>
                <a:latin typeface="华文楷体" panose="02010600040101010101" pitchFamily="2" charset="-122"/>
                <a:ea typeface="宋体" panose="02010600030101010101" pitchFamily="2" charset="-122"/>
              </a:rPr>
              <a:t>超键（</a:t>
            </a:r>
            <a:r>
              <a:rPr lang="en-US" altLang="x-none" sz="2400" u="sng" dirty="0">
                <a:solidFill>
                  <a:srgbClr val="C00000"/>
                </a:solidFill>
                <a:latin typeface="华文楷体" panose="02010600040101010101" pitchFamily="2" charset="-122"/>
                <a:ea typeface="宋体" panose="02010600030101010101" pitchFamily="2" charset="-122"/>
              </a:rPr>
              <a:t>Super Key</a:t>
            </a:r>
            <a:r>
              <a:rPr lang="zh-CN" altLang="en-US" sz="2400" u="sng" dirty="0">
                <a:solidFill>
                  <a:srgbClr val="C0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能唯一标识实体的属性集称为超键。 </a:t>
            </a:r>
            <a:endParaRPr lang="zh-CN" altLang="en-US" sz="2200" dirty="0">
              <a:latin typeface="楷体" panose="02010609060101010101" pitchFamily="1" charset="-122"/>
              <a:ea typeface="楷体" panose="02010609060101010101" pitchFamily="1" charset="-122"/>
            </a:endParaRPr>
          </a:p>
          <a:p>
            <a:pPr lvl="0" indent="0">
              <a:lnSpc>
                <a:spcPct val="125000"/>
              </a:lnSpc>
              <a:spcBef>
                <a:spcPts val="700"/>
              </a:spcBef>
              <a:spcAft>
                <a:spcPts val="0"/>
              </a:spcAft>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  例：学生（学号，姓名，性别，出生年月）</a:t>
            </a:r>
            <a:endParaRPr lang="zh-CN" altLang="en-US" sz="2200" dirty="0">
              <a:latin typeface="楷体" panose="02010609060101010101" pitchFamily="1" charset="-122"/>
              <a:ea typeface="楷体" panose="02010609060101010101" pitchFamily="1" charset="-122"/>
            </a:endParaRPr>
          </a:p>
          <a:p>
            <a:pPr lvl="0" indent="0">
              <a:lnSpc>
                <a:spcPct val="125000"/>
              </a:lnSpc>
              <a:spcBef>
                <a:spcPct val="20000"/>
              </a:spcBef>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2012001 </a:t>
            </a:r>
            <a:r>
              <a:rPr lang="zh-CN" altLang="en-US" sz="2200" dirty="0">
                <a:latin typeface="楷体" panose="02010609060101010101" pitchFamily="1" charset="-122"/>
                <a:ea typeface="楷体" panose="02010609060101010101" pitchFamily="1" charset="-122"/>
              </a:rPr>
              <a:t>李明    男  </a:t>
            </a:r>
            <a:r>
              <a:rPr lang="en-US" altLang="zh-CN" sz="2200" dirty="0">
                <a:latin typeface="楷体" panose="02010609060101010101" pitchFamily="1" charset="-122"/>
                <a:ea typeface="楷体" panose="02010609060101010101" pitchFamily="1" charset="-122"/>
              </a:rPr>
              <a:t>1994-09-11</a:t>
            </a:r>
            <a:endParaRPr lang="en-US" altLang="zh-CN" sz="2200" dirty="0">
              <a:latin typeface="楷体" panose="02010609060101010101" pitchFamily="1" charset="-122"/>
              <a:ea typeface="楷体" panose="02010609060101010101" pitchFamily="1" charset="-122"/>
            </a:endParaRPr>
          </a:p>
          <a:p>
            <a:pPr lvl="0" indent="0">
              <a:lnSpc>
                <a:spcPct val="125000"/>
              </a:lnSpc>
              <a:spcBef>
                <a:spcPct val="20000"/>
              </a:spcBef>
              <a:buClrTx/>
              <a:buSzPct val="80000"/>
              <a:buFont typeface="Wingdings" panose="05000000000000000000" pitchFamily="2" charset="2"/>
              <a:buNone/>
            </a:pPr>
            <a:r>
              <a:rPr lang="en-US" altLang="zh-CN" sz="2200" dirty="0">
                <a:latin typeface="楷体" panose="02010609060101010101" pitchFamily="1" charset="-122"/>
                <a:ea typeface="楷体" panose="02010609060101010101" pitchFamily="1" charset="-122"/>
              </a:rPr>
              <a:t>            2012002 </a:t>
            </a:r>
            <a:r>
              <a:rPr lang="zh-CN" altLang="en-US" sz="2200" dirty="0">
                <a:latin typeface="楷体" panose="02010609060101010101" pitchFamily="1" charset="-122"/>
                <a:ea typeface="楷体" panose="02010609060101010101" pitchFamily="1" charset="-122"/>
              </a:rPr>
              <a:t>张小凡  女  </a:t>
            </a:r>
            <a:r>
              <a:rPr lang="en-US" altLang="zh-CN" sz="2200" dirty="0">
                <a:latin typeface="楷体" panose="02010609060101010101" pitchFamily="1" charset="-122"/>
                <a:ea typeface="楷体" panose="02010609060101010101" pitchFamily="1" charset="-122"/>
              </a:rPr>
              <a:t>1995-10-01  </a:t>
            </a:r>
            <a:endParaRPr lang="en-US" altLang="zh-CN" sz="2200" dirty="0">
              <a:latin typeface="楷体" panose="02010609060101010101" pitchFamily="1" charset="-122"/>
              <a:ea typeface="楷体" panose="02010609060101010101" pitchFamily="1" charset="-122"/>
            </a:endParaRPr>
          </a:p>
          <a:p>
            <a:pPr lvl="0" indent="0">
              <a:lnSpc>
                <a:spcPct val="125000"/>
              </a:lnSpc>
              <a:spcBef>
                <a:spcPct val="20000"/>
              </a:spcBef>
              <a:buClrTx/>
              <a:buSzPct val="80000"/>
              <a:buFont typeface="Wingdings" panose="05000000000000000000" pitchFamily="2" charset="2"/>
              <a:buNone/>
            </a:pPr>
            <a:r>
              <a:rPr lang="en-US" altLang="zh-CN" sz="2200" dirty="0">
                <a:latin typeface="楷体" panose="02010609060101010101" pitchFamily="1" charset="-122"/>
                <a:ea typeface="楷体" panose="02010609060101010101" pitchFamily="1" charset="-122"/>
              </a:rPr>
              <a:t>   </a:t>
            </a:r>
            <a:endParaRPr lang="zh-CN" altLang="en-US" sz="2200" dirty="0">
              <a:latin typeface="楷体" panose="02010609060101010101" pitchFamily="1" charset="-122"/>
              <a:ea typeface="楷体" panose="02010609060101010101" pitchFamily="1" charset="-122"/>
            </a:endParaRPr>
          </a:p>
        </p:txBody>
      </p:sp>
      <p:sp>
        <p:nvSpPr>
          <p:cNvPr id="2" name="Rectangle 3"/>
          <p:cNvSpPr txBox="1"/>
          <p:nvPr/>
        </p:nvSpPr>
        <p:spPr>
          <a:xfrm>
            <a:off x="365125" y="4053523"/>
            <a:ext cx="8356600" cy="1903412"/>
          </a:xfrm>
          <a:prstGeom prst="rect">
            <a:avLst/>
          </a:prstGeom>
          <a:noFill/>
          <a:ln w="9525">
            <a:noFill/>
          </a:ln>
        </p:spPr>
        <p:txBody>
          <a:bodyPr anchor="t"/>
          <a:lstStyle/>
          <a:p>
            <a:pPr lvl="0" indent="0">
              <a:lnSpc>
                <a:spcPct val="125000"/>
              </a:lnSpc>
              <a:spcBef>
                <a:spcPct val="20000"/>
              </a:spcBef>
              <a:buClrTx/>
              <a:buSzPct val="80000"/>
              <a:buFont typeface="Wingdings" panose="05000000000000000000" pitchFamily="2" charset="2"/>
              <a:buNone/>
            </a:pPr>
            <a:r>
              <a:rPr lang="en-US" altLang="zh-CN"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超键：</a:t>
            </a:r>
            <a:r>
              <a:rPr lang="zh-CN" altLang="en-US" sz="2200" u="sng" dirty="0">
                <a:solidFill>
                  <a:srgbClr val="0033CC"/>
                </a:solidFill>
                <a:latin typeface="楷体" panose="02010609060101010101" pitchFamily="1" charset="-122"/>
                <a:ea typeface="楷体" panose="02010609060101010101" pitchFamily="1" charset="-122"/>
              </a:rPr>
              <a:t>学号</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rPr>
              <a:t>学号、姓名</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rPr>
              <a:t>学号、性别</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rPr>
              <a:t>学号、出生年月</a:t>
            </a:r>
            <a:r>
              <a:rPr lang="zh-CN" altLang="en-US" sz="2200" u="sng" dirty="0">
                <a:latin typeface="楷体" panose="02010609060101010101" pitchFamily="1" charset="-122"/>
                <a:ea typeface="楷体" panose="02010609060101010101" pitchFamily="1" charset="-122"/>
              </a:rPr>
              <a:t>，</a:t>
            </a:r>
            <a:endParaRPr lang="zh-CN" altLang="en-US" sz="2200" u="sng" dirty="0">
              <a:latin typeface="楷体" panose="02010609060101010101" pitchFamily="1" charset="-122"/>
              <a:ea typeface="楷体" panose="02010609060101010101" pitchFamily="1" charset="-122"/>
            </a:endParaRPr>
          </a:p>
          <a:p>
            <a:pPr lvl="0" indent="0">
              <a:lnSpc>
                <a:spcPct val="125000"/>
              </a:lnSpc>
              <a:spcBef>
                <a:spcPct val="20000"/>
              </a:spcBef>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学号、姓名、性别</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sym typeface="宋体" panose="02010600030101010101" pitchFamily="2" charset="-122"/>
              </a:rPr>
              <a:t>学号、姓名、出生年月</a:t>
            </a:r>
            <a:r>
              <a:rPr lang="zh-CN" altLang="en-US" sz="2200" dirty="0">
                <a:latin typeface="楷体" panose="02010609060101010101" pitchFamily="1" charset="-122"/>
                <a:ea typeface="楷体" panose="02010609060101010101" pitchFamily="1" charset="-122"/>
                <a:sym typeface="宋体" panose="02010600030101010101" pitchFamily="2" charset="-122"/>
              </a:rPr>
              <a:t>，</a:t>
            </a:r>
            <a:endParaRPr lang="zh-CN" altLang="en-US" sz="2200" dirty="0">
              <a:latin typeface="楷体" panose="02010609060101010101" pitchFamily="1" charset="-122"/>
              <a:ea typeface="楷体" panose="02010609060101010101" pitchFamily="1" charset="-122"/>
              <a:sym typeface="宋体" panose="02010600030101010101" pitchFamily="2" charset="-122"/>
            </a:endParaRPr>
          </a:p>
          <a:p>
            <a:pPr lvl="0" indent="0">
              <a:lnSpc>
                <a:spcPct val="125000"/>
              </a:lnSpc>
              <a:spcBef>
                <a:spcPct val="20000"/>
              </a:spcBef>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sym typeface="宋体" panose="02010600030101010101" pitchFamily="2" charset="-122"/>
              </a:rPr>
              <a:t>         </a:t>
            </a:r>
            <a:r>
              <a:rPr lang="zh-CN" altLang="en-US" sz="2200" u="sng" dirty="0">
                <a:solidFill>
                  <a:srgbClr val="0033CC"/>
                </a:solidFill>
                <a:latin typeface="楷体" panose="02010609060101010101" pitchFamily="1" charset="-122"/>
                <a:ea typeface="楷体" panose="02010609060101010101" pitchFamily="1" charset="-122"/>
                <a:sym typeface="宋体" panose="02010600030101010101" pitchFamily="2" charset="-122"/>
              </a:rPr>
              <a:t>学号、性别、出生年月</a:t>
            </a:r>
            <a:r>
              <a:rPr lang="zh-CN" altLang="en-US" sz="2200" dirty="0">
                <a:latin typeface="楷体" panose="02010609060101010101" pitchFamily="1" charset="-122"/>
                <a:ea typeface="楷体" panose="02010609060101010101" pitchFamily="1" charset="-122"/>
                <a:sym typeface="宋体" panose="02010600030101010101" pitchFamily="2" charset="-122"/>
              </a:rPr>
              <a:t>，</a:t>
            </a:r>
            <a:r>
              <a:rPr lang="zh-CN" altLang="en-US" sz="2200" u="sng" dirty="0">
                <a:solidFill>
                  <a:srgbClr val="0033CC"/>
                </a:solidFill>
                <a:latin typeface="楷体" panose="02010609060101010101" pitchFamily="1" charset="-122"/>
                <a:ea typeface="楷体" panose="02010609060101010101" pitchFamily="1" charset="-122"/>
                <a:sym typeface="宋体" panose="02010600030101010101" pitchFamily="2" charset="-122"/>
              </a:rPr>
              <a:t>学号、姓名、性别、出生年月</a:t>
            </a:r>
            <a:endParaRPr lang="zh-CN" altLang="en-US" sz="2200" u="sng" dirty="0">
              <a:solidFill>
                <a:srgbClr val="0033CC"/>
              </a:solidFill>
              <a:latin typeface="楷体" panose="02010609060101010101" pitchFamily="1" charset="-122"/>
              <a:ea typeface="楷体" panose="02010609060101010101" pitchFamily="1" charset="-122"/>
              <a:sym typeface="宋体" panose="02010600030101010101" pitchFamily="2" charset="-122"/>
            </a:endParaRPr>
          </a:p>
          <a:p>
            <a:pPr lvl="0" indent="0">
              <a:lnSpc>
                <a:spcPct val="125000"/>
              </a:lnSpc>
              <a:spcBef>
                <a:spcPct val="20000"/>
              </a:spcBef>
              <a:buClrTx/>
              <a:buSzPct val="80000"/>
              <a:buFont typeface="Wingdings" panose="05000000000000000000" pitchFamily="2" charset="2"/>
              <a:buNone/>
            </a:pPr>
            <a:endParaRPr lang="zh-CN" altLang="en-US" sz="2200" dirty="0">
              <a:latin typeface="楷体" panose="02010609060101010101" pitchFamily="1" charset="-122"/>
              <a:ea typeface="楷体" panose="02010609060101010101" pitchFamily="1" charset="-122"/>
            </a:endParaRPr>
          </a:p>
        </p:txBody>
      </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txBox="1"/>
          <p:nvPr/>
        </p:nvSpPr>
        <p:spPr>
          <a:xfrm>
            <a:off x="557213" y="1053465"/>
            <a:ext cx="8358187" cy="2924175"/>
          </a:xfrm>
          <a:prstGeom prst="rect">
            <a:avLst/>
          </a:prstGeom>
          <a:noFill/>
          <a:ln w="9525">
            <a:noFill/>
          </a:ln>
        </p:spPr>
        <p:txBody>
          <a:bodyPr anchor="t"/>
          <a:lstStyle/>
          <a:p>
            <a:pPr lvl="0" indent="0">
              <a:lnSpc>
                <a:spcPct val="125000"/>
              </a:lnSpc>
              <a:spcBef>
                <a:spcPts val="200"/>
              </a:spcBef>
              <a:spcAft>
                <a:spcPts val="0"/>
              </a:spcAft>
              <a:buClrTx/>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 </a:t>
            </a:r>
            <a:r>
              <a:rPr lang="zh-CN" altLang="en-US" sz="2400" u="sng" dirty="0">
                <a:solidFill>
                  <a:srgbClr val="A50021"/>
                </a:solidFill>
                <a:latin typeface="华文楷体" panose="02010600040101010101" pitchFamily="2" charset="-122"/>
                <a:ea typeface="宋体" panose="02010600030101010101" pitchFamily="2" charset="-122"/>
              </a:rPr>
              <a:t>候选键（</a:t>
            </a:r>
            <a:r>
              <a:rPr lang="en-US" altLang="x-none" sz="2400" u="sng" dirty="0">
                <a:solidFill>
                  <a:srgbClr val="A50021"/>
                </a:solidFill>
                <a:latin typeface="华文楷体" panose="02010600040101010101" pitchFamily="2" charset="-122"/>
                <a:ea typeface="宋体" panose="02010600030101010101" pitchFamily="2" charset="-122"/>
              </a:rPr>
              <a:t>Candidate Key</a:t>
            </a:r>
            <a:r>
              <a:rPr lang="zh-CN" altLang="en-US" sz="2400" u="sng" dirty="0">
                <a:solidFill>
                  <a:srgbClr val="A50021"/>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唯一标识实体最小属性集合的键。</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25000"/>
              </a:lnSpc>
              <a:spcBef>
                <a:spcPts val="200"/>
              </a:spcBef>
              <a:spcAft>
                <a:spcPts val="0"/>
              </a:spcAft>
              <a:buClr>
                <a:schemeClr val="accent2"/>
              </a:buClr>
              <a:buSzPct val="70000"/>
              <a:buNone/>
            </a:pPr>
            <a:r>
              <a:rPr lang="zh-CN" altLang="en-US" sz="2200" dirty="0">
                <a:latin typeface="楷体" panose="02010609060101010101" pitchFamily="1" charset="-122"/>
                <a:ea typeface="楷体" panose="02010609060101010101" pitchFamily="1"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要求：候选键是超键，但候选键的任何子集都不是超键。</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25000"/>
              </a:lnSpc>
              <a:spcBef>
                <a:spcPts val="200"/>
              </a:spcBef>
              <a:spcAft>
                <a:spcPts val="0"/>
              </a:spcAft>
              <a:buClr>
                <a:schemeClr val="accent2"/>
              </a:buClr>
              <a:buSzPct val="70000"/>
              <a:buNone/>
            </a:pPr>
            <a:r>
              <a:rPr lang="zh-CN" altLang="en-US" sz="2200" dirty="0">
                <a:latin typeface="楷体" panose="02010609060101010101" pitchFamily="1" charset="-122"/>
                <a:ea typeface="楷体" panose="02010609060101010101" pitchFamily="1"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最简单时，候选键只包含一个属性。</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25000"/>
              </a:lnSpc>
              <a:spcBef>
                <a:spcPts val="200"/>
              </a:spcBef>
              <a:spcAft>
                <a:spcPts val="0"/>
              </a:spcAft>
              <a:buClr>
                <a:schemeClr val="accent2"/>
              </a:buClr>
              <a:buSzPct val="70000"/>
              <a:buNone/>
            </a:pPr>
            <a:r>
              <a:rPr lang="zh-CN" altLang="en-US" sz="2200" dirty="0">
                <a:latin typeface="楷体" panose="02010609060101010101" pitchFamily="1" charset="-122"/>
                <a:ea typeface="楷体" panose="02010609060101010101" pitchFamily="1"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最复杂时，候选键包含所有属性，称为</a:t>
            </a:r>
            <a:r>
              <a:rPr lang="zh-CN" altLang="en-US" sz="2400" u="sng" dirty="0">
                <a:solidFill>
                  <a:srgbClr val="A50021"/>
                </a:solidFill>
                <a:latin typeface="宋体" panose="02010600030101010101" pitchFamily="2" charset="-122"/>
                <a:ea typeface="宋体" panose="02010600030101010101" pitchFamily="2" charset="-122"/>
              </a:rPr>
              <a:t>全键</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lvl="0" indent="0">
              <a:lnSpc>
                <a:spcPct val="125000"/>
              </a:lnSpc>
              <a:spcBef>
                <a:spcPts val="200"/>
              </a:spcBef>
              <a:spcAft>
                <a:spcPts val="0"/>
              </a:spcAft>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例：学生（学号，姓名，性别，出生年月，身份证号）</a:t>
            </a:r>
            <a:endParaRPr lang="zh-CN" altLang="en-US" sz="2200" dirty="0">
              <a:latin typeface="楷体" panose="02010609060101010101" pitchFamily="1" charset="-122"/>
              <a:ea typeface="楷体" panose="02010609060101010101" pitchFamily="1" charset="-122"/>
            </a:endParaRPr>
          </a:p>
          <a:p>
            <a:pPr lvl="0" indent="0">
              <a:lnSpc>
                <a:spcPct val="125000"/>
              </a:lnSpc>
              <a:spcBef>
                <a:spcPts val="200"/>
              </a:spcBef>
              <a:spcAft>
                <a:spcPts val="0"/>
              </a:spcAft>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2012001 </a:t>
            </a:r>
            <a:r>
              <a:rPr lang="zh-CN" altLang="en-US" sz="2200" dirty="0">
                <a:latin typeface="楷体" panose="02010609060101010101" pitchFamily="1" charset="-122"/>
                <a:ea typeface="楷体" panose="02010609060101010101" pitchFamily="1" charset="-122"/>
              </a:rPr>
              <a:t>李明    </a:t>
            </a:r>
            <a:r>
              <a:rPr lang="zh-CN" altLang="en-US" sz="2200" dirty="0">
                <a:latin typeface="楷体" panose="02010609060101010101" pitchFamily="1" charset="-122"/>
                <a:ea typeface="楷体" panose="02010609060101010101" pitchFamily="1" charset="-122"/>
                <a:sym typeface="宋体" panose="02010600030101010101" pitchFamily="2" charset="-122"/>
              </a:rPr>
              <a:t>男</a:t>
            </a: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1994-09-11  510106199409110029</a:t>
            </a:r>
            <a:endParaRPr lang="en-US" altLang="zh-CN" sz="2200" dirty="0">
              <a:latin typeface="楷体" panose="02010609060101010101" pitchFamily="1" charset="-122"/>
              <a:ea typeface="楷体" panose="02010609060101010101" pitchFamily="1" charset="-122"/>
            </a:endParaRPr>
          </a:p>
          <a:p>
            <a:pPr lvl="0" indent="0">
              <a:lnSpc>
                <a:spcPct val="125000"/>
              </a:lnSpc>
              <a:spcBef>
                <a:spcPts val="200"/>
              </a:spcBef>
              <a:spcAft>
                <a:spcPts val="0"/>
              </a:spcAft>
              <a:buClrTx/>
              <a:buSzPct val="80000"/>
              <a:buFont typeface="Wingdings" panose="05000000000000000000" pitchFamily="2" charset="2"/>
              <a:buNone/>
            </a:pPr>
            <a:r>
              <a:rPr lang="en-US" altLang="zh-CN" sz="2200" dirty="0">
                <a:latin typeface="楷体" panose="02010609060101010101" pitchFamily="1" charset="-122"/>
                <a:ea typeface="楷体" panose="02010609060101010101" pitchFamily="1" charset="-122"/>
              </a:rPr>
              <a:t>    2012002 </a:t>
            </a:r>
            <a:r>
              <a:rPr lang="zh-CN" altLang="en-US" sz="2200" dirty="0">
                <a:latin typeface="楷体" panose="02010609060101010101" pitchFamily="1" charset="-122"/>
                <a:ea typeface="楷体" panose="02010609060101010101" pitchFamily="1" charset="-122"/>
              </a:rPr>
              <a:t>张小凡  女  </a:t>
            </a:r>
            <a:r>
              <a:rPr lang="en-US" altLang="zh-CN" sz="2200" dirty="0">
                <a:latin typeface="楷体" panose="02010609060101010101" pitchFamily="1" charset="-122"/>
                <a:ea typeface="楷体" panose="02010609060101010101" pitchFamily="1" charset="-122"/>
              </a:rPr>
              <a:t>1995-10-01  120221199510010024</a:t>
            </a:r>
            <a:endParaRPr lang="zh-CN" altLang="en-US" sz="2200" dirty="0">
              <a:latin typeface="楷体" panose="02010609060101010101" pitchFamily="1" charset="-122"/>
              <a:ea typeface="楷体" panose="02010609060101010101" pitchFamily="1" charset="-122"/>
            </a:endParaRPr>
          </a:p>
          <a:p>
            <a:pPr lvl="0" indent="0">
              <a:lnSpc>
                <a:spcPct val="125000"/>
              </a:lnSpc>
              <a:spcBef>
                <a:spcPts val="200"/>
              </a:spcBef>
              <a:spcAft>
                <a:spcPts val="0"/>
              </a:spcAft>
              <a:buClr>
                <a:srgbClr val="A50021"/>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 </a:t>
            </a:r>
            <a:r>
              <a:rPr lang="zh-CN" altLang="en-US" sz="2400" u="sng" dirty="0">
                <a:solidFill>
                  <a:srgbClr val="C00000"/>
                </a:solidFill>
                <a:latin typeface="华文楷体" panose="02010600040101010101" pitchFamily="2" charset="-122"/>
                <a:ea typeface="宋体" panose="02010600030101010101" pitchFamily="2" charset="-122"/>
              </a:rPr>
              <a:t>主键（</a:t>
            </a:r>
            <a:r>
              <a:rPr lang="en-US" altLang="x-none" sz="2400" u="sng" dirty="0">
                <a:solidFill>
                  <a:srgbClr val="C00000"/>
                </a:solidFill>
                <a:latin typeface="华文楷体" panose="02010600040101010101" pitchFamily="2" charset="-122"/>
                <a:ea typeface="宋体" panose="02010600030101010101" pitchFamily="2" charset="-122"/>
              </a:rPr>
              <a:t>Primary Key</a:t>
            </a:r>
            <a:r>
              <a:rPr lang="zh-CN" altLang="en-US" sz="2400" u="sng" dirty="0">
                <a:solidFill>
                  <a:srgbClr val="C0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是</a:t>
            </a:r>
            <a:r>
              <a:rPr lang="zh-CN" altLang="en-US" sz="2400" u="sng" dirty="0">
                <a:solidFill>
                  <a:srgbClr val="A50021"/>
                </a:solidFill>
                <a:latin typeface="宋体" panose="02010600030101010101" pitchFamily="2" charset="-122"/>
                <a:ea typeface="宋体" panose="02010600030101010101" pitchFamily="2" charset="-122"/>
              </a:rPr>
              <a:t>候选键</a:t>
            </a:r>
            <a:r>
              <a:rPr lang="zh-CN" altLang="en-US" sz="2200" dirty="0">
                <a:solidFill>
                  <a:srgbClr val="A50021"/>
                </a:solidFill>
                <a:latin typeface="楷体" panose="02010609060101010101" pitchFamily="1" charset="-122"/>
                <a:ea typeface="楷体" panose="02010609060101010101" pitchFamily="1" charset="-122"/>
              </a:rPr>
              <a:t>。</a:t>
            </a:r>
            <a:endParaRPr lang="zh-CN" altLang="en-US" sz="2200" dirty="0">
              <a:solidFill>
                <a:srgbClr val="A50021"/>
              </a:solidFill>
              <a:latin typeface="楷体" panose="02010609060101010101" pitchFamily="1" charset="-122"/>
              <a:ea typeface="楷体" panose="02010609060101010101" pitchFamily="1" charset="-122"/>
            </a:endParaRPr>
          </a:p>
          <a:p>
            <a:pPr marL="363855" lvl="1" indent="-184150" eaLnBrk="1" hangingPunct="1">
              <a:lnSpc>
                <a:spcPct val="125000"/>
              </a:lnSpc>
              <a:spcBef>
                <a:spcPts val="20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当有多个候选键时，需选定一个作为实体的主键。例如：学号和身份证号都可以唯一标识一个学生，可选定学号做主键。一般不加说明时，键（键码）指主键。</a:t>
            </a:r>
            <a:endParaRPr lang="zh-CN" altLang="en-US" sz="2200" dirty="0">
              <a:latin typeface="楷体" panose="02010609060101010101" pitchFamily="1" charset="-122"/>
              <a:ea typeface="楷体" panose="02010609060101010101" pitchFamily="1" charset="-122"/>
            </a:endParaRPr>
          </a:p>
        </p:txBody>
      </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Oval 8"/>
          <p:cNvSpPr/>
          <p:nvPr/>
        </p:nvSpPr>
        <p:spPr>
          <a:xfrm>
            <a:off x="5422900" y="4266565"/>
            <a:ext cx="1244600" cy="606425"/>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23" name="矩形 3"/>
          <p:cNvSpPr/>
          <p:nvPr/>
        </p:nvSpPr>
        <p:spPr>
          <a:xfrm>
            <a:off x="575945" y="1037908"/>
            <a:ext cx="3400425" cy="460375"/>
          </a:xfrm>
          <a:prstGeom prst="rect">
            <a:avLst/>
          </a:prstGeom>
          <a:noFill/>
          <a:ln w="9525">
            <a:noFill/>
          </a:ln>
        </p:spPr>
        <p:txBody>
          <a:bodyPr wrap="none" anchor="t">
            <a:spAutoFit/>
          </a:bodyPr>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实体的</a:t>
            </a:r>
            <a:r>
              <a:rPr lang="en-US" altLang="x-none" sz="2400" u="sng" dirty="0">
                <a:solidFill>
                  <a:srgbClr val="CC0000"/>
                </a:solidFill>
                <a:latin typeface="华文楷体" panose="02010600040101010101" pitchFamily="2" charset="-122"/>
                <a:ea typeface="宋体" panose="02010600030101010101" pitchFamily="2" charset="-122"/>
              </a:rPr>
              <a:t>ER</a:t>
            </a:r>
            <a:r>
              <a:rPr lang="zh-CN" altLang="en-US" sz="2400" u="sng" dirty="0">
                <a:solidFill>
                  <a:srgbClr val="CC0000"/>
                </a:solidFill>
                <a:latin typeface="华文楷体" panose="02010600040101010101" pitchFamily="2" charset="-122"/>
                <a:ea typeface="宋体" panose="02010600030101010101" pitchFamily="2" charset="-122"/>
              </a:rPr>
              <a:t>图表示方法</a:t>
            </a:r>
            <a:endParaRPr lang="zh-CN" altLang="en-US" sz="2400" u="sng" dirty="0">
              <a:solidFill>
                <a:srgbClr val="CC0000"/>
              </a:solidFill>
              <a:latin typeface="华文楷体" panose="02010600040101010101" pitchFamily="2" charset="-122"/>
              <a:ea typeface="宋体" panose="02010600030101010101" pitchFamily="2" charset="-122"/>
            </a:endParaRPr>
          </a:p>
        </p:txBody>
      </p:sp>
      <p:sp>
        <p:nvSpPr>
          <p:cNvPr id="30724" name="矩形 4"/>
          <p:cNvSpPr/>
          <p:nvPr/>
        </p:nvSpPr>
        <p:spPr>
          <a:xfrm>
            <a:off x="457200" y="1592580"/>
            <a:ext cx="8062913" cy="1207135"/>
          </a:xfrm>
          <a:prstGeom prst="rect">
            <a:avLst/>
          </a:prstGeom>
          <a:noFill/>
          <a:ln w="9525">
            <a:noFill/>
          </a:ln>
        </p:spPr>
        <p:txBody>
          <a:bodyPr anchor="t">
            <a:spAutoFit/>
          </a:bodyPr>
          <a:lstStyle/>
          <a:p>
            <a:pPr lvl="1" indent="0" eaLnBrk="1" hangingPunct="1">
              <a:lnSpc>
                <a:spcPct val="110000"/>
              </a:lnSpc>
              <a:spcBef>
                <a:spcPts val="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实体集用矩形；属性用椭园；主键属性用下划线标出。</a:t>
            </a:r>
            <a:endParaRPr lang="zh-CN" altLang="en-US" sz="2200" dirty="0">
              <a:latin typeface="楷体" panose="02010609060101010101" pitchFamily="1" charset="-122"/>
              <a:ea typeface="楷体" panose="02010609060101010101" pitchFamily="1" charset="-122"/>
            </a:endParaRPr>
          </a:p>
          <a:p>
            <a:pPr lvl="1" indent="0" eaLnBrk="1" hangingPunct="1">
              <a:lnSpc>
                <a:spcPct val="110000"/>
              </a:lnSpc>
              <a:spcBef>
                <a:spcPts val="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如图：其中家庭住址为复合属性，学历为多值属性和空值属性。</a:t>
            </a:r>
            <a:endParaRPr lang="zh-CN" altLang="en-US" sz="2200" dirty="0">
              <a:latin typeface="楷体" panose="02010609060101010101" pitchFamily="1" charset="-122"/>
              <a:ea typeface="楷体" panose="02010609060101010101" pitchFamily="1" charset="-122"/>
            </a:endParaRPr>
          </a:p>
        </p:txBody>
      </p:sp>
      <p:grpSp>
        <p:nvGrpSpPr>
          <p:cNvPr id="28677" name="Group 4"/>
          <p:cNvGrpSpPr/>
          <p:nvPr/>
        </p:nvGrpSpPr>
        <p:grpSpPr>
          <a:xfrm>
            <a:off x="754063" y="2893378"/>
            <a:ext cx="7954962" cy="2972397"/>
            <a:chOff x="46" y="0"/>
            <a:chExt cx="5330" cy="2341"/>
          </a:xfrm>
        </p:grpSpPr>
        <p:sp>
          <p:nvSpPr>
            <p:cNvPr id="30726" name="Oval 5"/>
            <p:cNvSpPr/>
            <p:nvPr/>
          </p:nvSpPr>
          <p:spPr>
            <a:xfrm>
              <a:off x="46" y="1559"/>
              <a:ext cx="742" cy="476"/>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u="sng" dirty="0">
                  <a:solidFill>
                    <a:srgbClr val="000000"/>
                  </a:solidFill>
                  <a:latin typeface="宋体" panose="02010600030101010101" pitchFamily="2" charset="-122"/>
                  <a:ea typeface="宋体" panose="02010600030101010101" pitchFamily="2" charset="-122"/>
                </a:rPr>
                <a:t>学号</a:t>
              </a:r>
              <a:endParaRPr lang="zh-CN" altLang="en-US" sz="2400" u="sng" dirty="0">
                <a:solidFill>
                  <a:srgbClr val="000000"/>
                </a:solidFill>
                <a:latin typeface="宋体" panose="02010600030101010101" pitchFamily="2" charset="-122"/>
                <a:ea typeface="宋体" panose="02010600030101010101" pitchFamily="2" charset="-122"/>
              </a:endParaRPr>
            </a:p>
          </p:txBody>
        </p:sp>
        <p:sp>
          <p:nvSpPr>
            <p:cNvPr id="30727" name="Oval 6"/>
            <p:cNvSpPr/>
            <p:nvPr/>
          </p:nvSpPr>
          <p:spPr>
            <a:xfrm>
              <a:off x="695" y="1256"/>
              <a:ext cx="742" cy="389"/>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姓名</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28" name="Oval 7"/>
            <p:cNvSpPr/>
            <p:nvPr/>
          </p:nvSpPr>
          <p:spPr>
            <a:xfrm>
              <a:off x="1437" y="1039"/>
              <a:ext cx="788" cy="433"/>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性别</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29" name="Oval 8"/>
            <p:cNvSpPr/>
            <p:nvPr/>
          </p:nvSpPr>
          <p:spPr>
            <a:xfrm>
              <a:off x="2317" y="952"/>
              <a:ext cx="834" cy="477"/>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出生年月</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0" name="Oval 9"/>
            <p:cNvSpPr/>
            <p:nvPr/>
          </p:nvSpPr>
          <p:spPr>
            <a:xfrm>
              <a:off x="3244" y="1126"/>
              <a:ext cx="695" cy="389"/>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学历</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1" name="Oval 10"/>
            <p:cNvSpPr/>
            <p:nvPr/>
          </p:nvSpPr>
          <p:spPr>
            <a:xfrm>
              <a:off x="4032" y="1256"/>
              <a:ext cx="881" cy="476"/>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家庭住址</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2" name="Oval 14"/>
            <p:cNvSpPr/>
            <p:nvPr/>
          </p:nvSpPr>
          <p:spPr>
            <a:xfrm>
              <a:off x="2966" y="216"/>
              <a:ext cx="742" cy="433"/>
            </a:xfrm>
            <a:prstGeom prst="ellipse">
              <a:avLst/>
            </a:prstGeom>
            <a:solidFill>
              <a:srgbClr val="FEB6BD"/>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邮编</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3" name="Oval 15"/>
            <p:cNvSpPr/>
            <p:nvPr/>
          </p:nvSpPr>
          <p:spPr>
            <a:xfrm>
              <a:off x="3615" y="0"/>
              <a:ext cx="695" cy="390"/>
            </a:xfrm>
            <a:prstGeom prst="ellipse">
              <a:avLst/>
            </a:prstGeom>
            <a:solidFill>
              <a:srgbClr val="7DE3F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城市</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4" name="Oval 16"/>
            <p:cNvSpPr/>
            <p:nvPr/>
          </p:nvSpPr>
          <p:spPr>
            <a:xfrm>
              <a:off x="4356" y="0"/>
              <a:ext cx="696" cy="476"/>
            </a:xfrm>
            <a:prstGeom prst="ellipse">
              <a:avLst/>
            </a:prstGeom>
            <a:solidFill>
              <a:srgbClr val="FECF7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街道</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5" name="Oval 17"/>
            <p:cNvSpPr/>
            <p:nvPr/>
          </p:nvSpPr>
          <p:spPr>
            <a:xfrm>
              <a:off x="4681" y="563"/>
              <a:ext cx="695" cy="476"/>
            </a:xfrm>
            <a:prstGeom prst="ellipse">
              <a:avLst/>
            </a:prstGeom>
            <a:solidFill>
              <a:srgbClr val="BDE48A"/>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门牌号</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6" name="Rectangle 18"/>
            <p:cNvSpPr/>
            <p:nvPr/>
          </p:nvSpPr>
          <p:spPr>
            <a:xfrm>
              <a:off x="1946" y="1948"/>
              <a:ext cx="974" cy="393"/>
            </a:xfrm>
            <a:prstGeom prst="rect">
              <a:avLst/>
            </a:prstGeom>
            <a:solidFill>
              <a:srgbClr val="97CFD7"/>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800" dirty="0">
                  <a:solidFill>
                    <a:srgbClr val="000000"/>
                  </a:solidFill>
                  <a:latin typeface="宋体" panose="02010600030101010101" pitchFamily="2" charset="-122"/>
                  <a:ea typeface="宋体" panose="02010600030101010101" pitchFamily="2" charset="-122"/>
                </a:rPr>
                <a:t>学生</a:t>
              </a:r>
              <a:endParaRPr lang="zh-CN" altLang="en-US" sz="2800" dirty="0">
                <a:solidFill>
                  <a:srgbClr val="000000"/>
                </a:solidFill>
                <a:latin typeface="宋体" panose="02010600030101010101" pitchFamily="2" charset="-122"/>
                <a:ea typeface="宋体" panose="02010600030101010101" pitchFamily="2" charset="-122"/>
              </a:endParaRPr>
            </a:p>
          </p:txBody>
        </p:sp>
        <p:sp>
          <p:nvSpPr>
            <p:cNvPr id="30737" name="Line 19"/>
            <p:cNvSpPr/>
            <p:nvPr/>
          </p:nvSpPr>
          <p:spPr>
            <a:xfrm>
              <a:off x="649" y="1862"/>
              <a:ext cx="1297" cy="173"/>
            </a:xfrm>
            <a:prstGeom prst="line">
              <a:avLst/>
            </a:prstGeom>
            <a:ln w="25400" cap="flat" cmpd="sng">
              <a:solidFill>
                <a:schemeClr val="tx1"/>
              </a:solidFill>
              <a:prstDash val="solid"/>
              <a:round/>
              <a:headEnd type="none" w="med" len="med"/>
              <a:tailEnd type="none" w="med" len="med"/>
            </a:ln>
          </p:spPr>
        </p:sp>
        <p:sp>
          <p:nvSpPr>
            <p:cNvPr id="30738" name="Line 22"/>
            <p:cNvSpPr/>
            <p:nvPr/>
          </p:nvSpPr>
          <p:spPr>
            <a:xfrm>
              <a:off x="3430" y="649"/>
              <a:ext cx="794" cy="647"/>
            </a:xfrm>
            <a:prstGeom prst="line">
              <a:avLst/>
            </a:prstGeom>
            <a:ln w="25400" cap="flat" cmpd="sng">
              <a:solidFill>
                <a:schemeClr val="tx1"/>
              </a:solidFill>
              <a:prstDash val="solid"/>
              <a:round/>
              <a:headEnd type="none" w="med" len="med"/>
              <a:tailEnd type="none" w="med" len="med"/>
            </a:ln>
          </p:spPr>
        </p:sp>
        <p:sp>
          <p:nvSpPr>
            <p:cNvPr id="30739" name="Line 23"/>
            <p:cNvSpPr/>
            <p:nvPr/>
          </p:nvSpPr>
          <p:spPr>
            <a:xfrm>
              <a:off x="3986" y="433"/>
              <a:ext cx="324" cy="823"/>
            </a:xfrm>
            <a:prstGeom prst="line">
              <a:avLst/>
            </a:prstGeom>
            <a:ln w="25400" cap="flat" cmpd="sng">
              <a:solidFill>
                <a:schemeClr val="tx1"/>
              </a:solidFill>
              <a:prstDash val="solid"/>
              <a:round/>
              <a:headEnd type="none" w="med" len="med"/>
              <a:tailEnd type="none" w="med" len="med"/>
            </a:ln>
          </p:spPr>
        </p:sp>
        <p:sp>
          <p:nvSpPr>
            <p:cNvPr id="30740" name="Line 24"/>
            <p:cNvSpPr/>
            <p:nvPr/>
          </p:nvSpPr>
          <p:spPr>
            <a:xfrm flipH="1">
              <a:off x="4449" y="476"/>
              <a:ext cx="139" cy="780"/>
            </a:xfrm>
            <a:prstGeom prst="line">
              <a:avLst/>
            </a:prstGeom>
            <a:ln w="25400" cap="flat" cmpd="sng">
              <a:solidFill>
                <a:schemeClr val="tx1"/>
              </a:solidFill>
              <a:prstDash val="solid"/>
              <a:round/>
              <a:headEnd type="none" w="med" len="med"/>
              <a:tailEnd type="none" w="med" len="med"/>
            </a:ln>
          </p:spPr>
        </p:sp>
        <p:sp>
          <p:nvSpPr>
            <p:cNvPr id="30741" name="Line 25"/>
            <p:cNvSpPr/>
            <p:nvPr/>
          </p:nvSpPr>
          <p:spPr>
            <a:xfrm flipH="1">
              <a:off x="4634" y="1039"/>
              <a:ext cx="371" cy="217"/>
            </a:xfrm>
            <a:prstGeom prst="line">
              <a:avLst/>
            </a:prstGeom>
            <a:ln w="25400" cap="flat" cmpd="sng">
              <a:solidFill>
                <a:schemeClr val="tx1"/>
              </a:solidFill>
              <a:prstDash val="solid"/>
              <a:round/>
              <a:headEnd type="none" w="med" len="med"/>
              <a:tailEnd type="none" w="med" len="med"/>
            </a:ln>
          </p:spPr>
        </p:sp>
        <p:sp>
          <p:nvSpPr>
            <p:cNvPr id="30742" name="Line 26"/>
            <p:cNvSpPr/>
            <p:nvPr/>
          </p:nvSpPr>
          <p:spPr>
            <a:xfrm>
              <a:off x="1900" y="1472"/>
              <a:ext cx="417" cy="476"/>
            </a:xfrm>
            <a:prstGeom prst="line">
              <a:avLst/>
            </a:prstGeom>
            <a:ln w="25400" cap="flat" cmpd="sng">
              <a:solidFill>
                <a:schemeClr val="tx1"/>
              </a:solidFill>
              <a:prstDash val="solid"/>
              <a:round/>
              <a:headEnd type="none" w="med" len="med"/>
              <a:tailEnd type="none" w="med" len="med"/>
            </a:ln>
          </p:spPr>
        </p:sp>
        <p:sp>
          <p:nvSpPr>
            <p:cNvPr id="30743" name="Line 27"/>
            <p:cNvSpPr/>
            <p:nvPr/>
          </p:nvSpPr>
          <p:spPr>
            <a:xfrm>
              <a:off x="1298" y="1602"/>
              <a:ext cx="834" cy="346"/>
            </a:xfrm>
            <a:prstGeom prst="line">
              <a:avLst/>
            </a:prstGeom>
            <a:ln w="25400" cap="flat" cmpd="sng">
              <a:solidFill>
                <a:schemeClr val="tx1"/>
              </a:solidFill>
              <a:prstDash val="solid"/>
              <a:round/>
              <a:headEnd type="none" w="med" len="med"/>
              <a:tailEnd type="none" w="med" len="med"/>
            </a:ln>
          </p:spPr>
        </p:sp>
        <p:sp>
          <p:nvSpPr>
            <p:cNvPr id="30744" name="Line 28"/>
            <p:cNvSpPr/>
            <p:nvPr/>
          </p:nvSpPr>
          <p:spPr>
            <a:xfrm flipH="1">
              <a:off x="2410" y="1429"/>
              <a:ext cx="324" cy="519"/>
            </a:xfrm>
            <a:prstGeom prst="line">
              <a:avLst/>
            </a:prstGeom>
            <a:ln w="25400" cap="flat" cmpd="sng">
              <a:solidFill>
                <a:schemeClr val="tx1"/>
              </a:solidFill>
              <a:prstDash val="solid"/>
              <a:round/>
              <a:headEnd type="none" w="med" len="med"/>
              <a:tailEnd type="none" w="med" len="med"/>
            </a:ln>
          </p:spPr>
        </p:sp>
        <p:sp>
          <p:nvSpPr>
            <p:cNvPr id="30745" name="Line 29"/>
            <p:cNvSpPr/>
            <p:nvPr/>
          </p:nvSpPr>
          <p:spPr>
            <a:xfrm flipH="1">
              <a:off x="2595" y="1515"/>
              <a:ext cx="927" cy="433"/>
            </a:xfrm>
            <a:prstGeom prst="line">
              <a:avLst/>
            </a:prstGeom>
            <a:ln w="25400" cap="flat" cmpd="sng">
              <a:solidFill>
                <a:schemeClr val="tx1"/>
              </a:solidFill>
              <a:prstDash val="solid"/>
              <a:round/>
              <a:headEnd type="none" w="med" len="med"/>
              <a:tailEnd type="none" w="med" len="med"/>
            </a:ln>
          </p:spPr>
        </p:sp>
        <p:sp>
          <p:nvSpPr>
            <p:cNvPr id="30746" name="Line 30"/>
            <p:cNvSpPr/>
            <p:nvPr/>
          </p:nvSpPr>
          <p:spPr>
            <a:xfrm flipH="1">
              <a:off x="2920" y="1632"/>
              <a:ext cx="1208" cy="403"/>
            </a:xfrm>
            <a:prstGeom prst="line">
              <a:avLst/>
            </a:prstGeom>
            <a:ln w="25400" cap="flat" cmpd="sng">
              <a:solidFill>
                <a:schemeClr val="tx1"/>
              </a:solidFill>
              <a:prstDash val="solid"/>
              <a:round/>
              <a:headEnd type="none" w="med" len="med"/>
              <a:tailEnd type="none" w="med" len="med"/>
            </a:ln>
          </p:spPr>
        </p:sp>
      </p:gr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dissolve">
                                      <p:cBhvr>
                                        <p:cTn id="7"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8090" y="681655"/>
            <a:ext cx="8383114" cy="746743"/>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zh-CN" sz="3200" kern="100" dirty="0">
                <a:solidFill>
                  <a:srgbClr val="FF0000"/>
                </a:solidFill>
                <a:latin typeface="Calibri" panose="020F0502020204030204" pitchFamily="34" charset="0"/>
                <a:cs typeface="Times New Roman" panose="02020603050405020304" pitchFamily="2" charset="0"/>
              </a:rPr>
              <a:t>研讨问题</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p:txBody>
      </p:sp>
      <p:sp>
        <p:nvSpPr>
          <p:cNvPr id="4" name="矩形 3"/>
          <p:cNvSpPr/>
          <p:nvPr/>
        </p:nvSpPr>
        <p:spPr>
          <a:xfrm>
            <a:off x="2833124" y="910967"/>
            <a:ext cx="6035454" cy="477054"/>
          </a:xfrm>
          <a:prstGeom prst="rect">
            <a:avLst/>
          </a:prstGeom>
        </p:spPr>
        <p:txBody>
          <a:bodyPr wrap="square">
            <a:spAutoFit/>
          </a:bodyPr>
          <a:lstStyle/>
          <a:p>
            <a:pPr algn="ctr">
              <a:lnSpc>
                <a:spcPct val="125000"/>
              </a:lnSpc>
              <a:spcAft>
                <a:spcPts val="0"/>
              </a:spcAft>
              <a:buNone/>
            </a:pPr>
            <a:r>
              <a:rPr lang="zh-CN" altLang="en-US" sz="2000" kern="100" dirty="0" smtClean="0">
                <a:solidFill>
                  <a:srgbClr val="006600"/>
                </a:solidFill>
                <a:latin typeface="Calibri" panose="020F0502020204030204" pitchFamily="34" charset="0"/>
                <a:cs typeface="Times New Roman" panose="02020603050405020304" pitchFamily="2" charset="0"/>
              </a:rPr>
              <a:t>（</a:t>
            </a:r>
            <a:r>
              <a:rPr lang="zh-CN" altLang="en-US" sz="2000" kern="100" dirty="0">
                <a:solidFill>
                  <a:srgbClr val="006600"/>
                </a:solidFill>
                <a:latin typeface="Calibri" panose="020F0502020204030204" pitchFamily="34" charset="0"/>
                <a:cs typeface="Times New Roman" panose="02020603050405020304" pitchFamily="2" charset="0"/>
              </a:rPr>
              <a:t>第</a:t>
            </a:r>
            <a:r>
              <a:rPr lang="en-US" altLang="zh-CN" sz="2000" kern="100" dirty="0">
                <a:solidFill>
                  <a:srgbClr val="006600"/>
                </a:solidFill>
                <a:latin typeface="Calibri" panose="020F0502020204030204" pitchFamily="34" charset="0"/>
                <a:cs typeface="Times New Roman" panose="02020603050405020304" pitchFamily="2" charset="0"/>
              </a:rPr>
              <a:t>2</a:t>
            </a:r>
            <a:r>
              <a:rPr lang="zh-CN" altLang="en-US" sz="2000" kern="100" dirty="0">
                <a:solidFill>
                  <a:srgbClr val="006600"/>
                </a:solidFill>
                <a:latin typeface="Calibri" panose="020F0502020204030204" pitchFamily="34" charset="0"/>
                <a:cs typeface="Times New Roman" panose="02020603050405020304" pitchFamily="2" charset="0"/>
              </a:rPr>
              <a:t>章</a:t>
            </a:r>
            <a:r>
              <a:rPr lang="en-US" altLang="zh-CN" sz="2000" kern="100" dirty="0">
                <a:solidFill>
                  <a:srgbClr val="006600"/>
                </a:solidFill>
                <a:latin typeface="Calibri" panose="020F0502020204030204" pitchFamily="34" charset="0"/>
                <a:cs typeface="Times New Roman" panose="02020603050405020304" pitchFamily="2" charset="0"/>
              </a:rPr>
              <a:t>PPTp2-7 </a:t>
            </a:r>
            <a:r>
              <a:rPr lang="zh-CN" altLang="en-US" sz="2000" kern="100" dirty="0">
                <a:solidFill>
                  <a:srgbClr val="006600"/>
                </a:solidFill>
                <a:latin typeface="Calibri" panose="020F0502020204030204" pitchFamily="34" charset="0"/>
                <a:cs typeface="Times New Roman" panose="02020603050405020304" pitchFamily="2" charset="0"/>
              </a:rPr>
              <a:t>，超星录播</a:t>
            </a:r>
            <a:r>
              <a:rPr lang="en-US" altLang="zh-CN" sz="2000" kern="100" dirty="0">
                <a:solidFill>
                  <a:srgbClr val="006600"/>
                </a:solidFill>
                <a:latin typeface="Calibri" panose="020F0502020204030204" pitchFamily="34" charset="0"/>
                <a:cs typeface="Times New Roman" panose="02020603050405020304" pitchFamily="2" charset="0"/>
              </a:rPr>
              <a:t>2.1</a:t>
            </a:r>
            <a:r>
              <a:rPr lang="zh-CN" altLang="en-US" sz="2000" kern="100" dirty="0">
                <a:solidFill>
                  <a:srgbClr val="006600"/>
                </a:solidFill>
                <a:latin typeface="Calibri" panose="020F0502020204030204" pitchFamily="34" charset="0"/>
                <a:cs typeface="Times New Roman" panose="02020603050405020304" pitchFamily="2" charset="0"/>
              </a:rPr>
              <a:t>节</a:t>
            </a:r>
            <a:r>
              <a:rPr lang="zh-CN" altLang="en-US" sz="2000" kern="100" dirty="0" smtClean="0">
                <a:solidFill>
                  <a:srgbClr val="006600"/>
                </a:solidFill>
                <a:latin typeface="Calibri" panose="020F0502020204030204" pitchFamily="34" charset="0"/>
                <a:cs typeface="Times New Roman" panose="02020603050405020304" pitchFamily="2" charset="0"/>
              </a:rPr>
              <a:t>任务，教材</a:t>
            </a:r>
            <a:r>
              <a:rPr lang="en-US" altLang="zh-CN" sz="2000" kern="100" dirty="0" smtClean="0">
                <a:solidFill>
                  <a:srgbClr val="006600"/>
                </a:solidFill>
                <a:latin typeface="Calibri" panose="020F0502020204030204" pitchFamily="34" charset="0"/>
                <a:cs typeface="Times New Roman" panose="02020603050405020304" pitchFamily="2" charset="0"/>
              </a:rPr>
              <a:t>p53-54</a:t>
            </a:r>
            <a:r>
              <a:rPr lang="zh-CN" altLang="en-US" sz="2000" kern="100" dirty="0" smtClean="0">
                <a:solidFill>
                  <a:srgbClr val="006600"/>
                </a:solidFill>
                <a:latin typeface="Calibri" panose="020F0502020204030204" pitchFamily="34" charset="0"/>
                <a:cs typeface="Times New Roman" panose="02020603050405020304" pitchFamily="2" charset="0"/>
              </a:rPr>
              <a:t>）</a:t>
            </a:r>
            <a:endParaRPr lang="en-US" altLang="zh-CN" sz="2000" kern="100" dirty="0">
              <a:solidFill>
                <a:srgbClr val="006600"/>
              </a:solidFill>
              <a:latin typeface="Calibri" panose="020F0502020204030204" pitchFamily="34" charset="0"/>
              <a:cs typeface="Times New Roman" panose="02020603050405020304" pitchFamily="2" charset="0"/>
            </a:endParaRPr>
          </a:p>
        </p:txBody>
      </p:sp>
      <p:sp>
        <p:nvSpPr>
          <p:cNvPr id="13" name="矩形 5"/>
          <p:cNvSpPr/>
          <p:nvPr/>
        </p:nvSpPr>
        <p:spPr>
          <a:xfrm>
            <a:off x="651118" y="4444114"/>
            <a:ext cx="5290820" cy="430887"/>
          </a:xfrm>
          <a:prstGeom prst="rect">
            <a:avLst/>
          </a:prstGeom>
          <a:noFill/>
          <a:ln w="9525">
            <a:noFill/>
          </a:ln>
        </p:spPr>
        <p:txBody>
          <a:bodyPr wrap="square" anchor="t">
            <a:spAutoFit/>
          </a:bodyPr>
          <a:lstStyle/>
          <a:p>
            <a:pPr lvl="0">
              <a:lnSpc>
                <a:spcPct val="100000"/>
              </a:lnSpc>
              <a:buNone/>
            </a:pPr>
            <a:r>
              <a:rPr lang="en-US" altLang="zh-CN" sz="2200" dirty="0">
                <a:latin typeface="华文楷体" panose="02010600040101010101" pitchFamily="2" charset="-122"/>
                <a:cs typeface="+mn-ea"/>
              </a:rPr>
              <a:t>5</a:t>
            </a:r>
            <a:r>
              <a:rPr lang="zh-CN" altLang="en-US" sz="2200" dirty="0">
                <a:latin typeface="华文楷体" panose="02010600040101010101" pitchFamily="2" charset="-122"/>
                <a:cs typeface="+mn-ea"/>
              </a:rPr>
              <a:t>、</a:t>
            </a:r>
            <a:r>
              <a:rPr lang="zh-CN" altLang="en-US" sz="2200" dirty="0" smtClean="0">
                <a:latin typeface="华文楷体" panose="02010600040101010101" pitchFamily="2" charset="-122"/>
                <a:cs typeface="+mn-ea"/>
              </a:rPr>
              <a:t>用</a:t>
            </a:r>
            <a:r>
              <a:rPr lang="zh-CN" altLang="en-US" sz="2200" dirty="0" smtClean="0">
                <a:latin typeface="华文楷体" panose="02010600040101010101" pitchFamily="2" charset="-122"/>
                <a:cs typeface="+mn-ea"/>
                <a:sym typeface="+mn-ea"/>
              </a:rPr>
              <a:t>E</a:t>
            </a:r>
            <a:r>
              <a:rPr lang="en-US" altLang="zh-CN" sz="2200" dirty="0" smtClean="0">
                <a:latin typeface="华文楷体" panose="02010600040101010101" pitchFamily="2" charset="-122"/>
                <a:sym typeface="+mn-ea"/>
              </a:rPr>
              <a:t>R</a:t>
            </a:r>
            <a:r>
              <a:rPr lang="zh-CN" altLang="en-US" sz="2200" dirty="0" smtClean="0">
                <a:latin typeface="华文楷体" panose="02010600040101010101" pitchFamily="2" charset="-122"/>
                <a:sym typeface="+mn-ea"/>
              </a:rPr>
              <a:t>图</a:t>
            </a:r>
            <a:r>
              <a:rPr lang="zh-CN" altLang="en-US" sz="2200" dirty="0">
                <a:latin typeface="华文楷体" panose="02010600040101010101" pitchFamily="2" charset="-122"/>
                <a:sym typeface="+mn-ea"/>
              </a:rPr>
              <a:t>表达下列</a:t>
            </a:r>
            <a:r>
              <a:rPr lang="zh-CN" altLang="en-US" sz="2200" dirty="0" smtClean="0">
                <a:latin typeface="华文楷体" panose="02010600040101010101" pitchFamily="2" charset="-122"/>
                <a:sym typeface="+mn-ea"/>
              </a:rPr>
              <a:t>实体</a:t>
            </a:r>
            <a:endParaRPr lang="en-US" altLang="zh-CN" sz="2200" dirty="0">
              <a:solidFill>
                <a:srgbClr val="0033CC"/>
              </a:solidFill>
              <a:latin typeface="黑体" panose="02010609060101010101" pitchFamily="1" charset="-122"/>
              <a:ea typeface="黑体" panose="02010609060101010101" pitchFamily="1" charset="-122"/>
            </a:endParaRPr>
          </a:p>
        </p:txBody>
      </p:sp>
      <p:sp>
        <p:nvSpPr>
          <p:cNvPr id="14" name="Rectangle 3"/>
          <p:cNvSpPr txBox="1"/>
          <p:nvPr/>
        </p:nvSpPr>
        <p:spPr>
          <a:xfrm>
            <a:off x="642620" y="4748967"/>
            <a:ext cx="7331799"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ea typeface="宋体" panose="02010600030101010101" pitchFamily="2" charset="-122"/>
              </a:rPr>
              <a:t>（</a:t>
            </a:r>
            <a:r>
              <a:rPr lang="en-US" altLang="zh-CN" sz="2100" dirty="0" smtClean="0">
                <a:latin typeface="华文楷体" panose="02010600040101010101" pitchFamily="2" charset="-122"/>
                <a:ea typeface="宋体" panose="02010600030101010101" pitchFamily="2" charset="-122"/>
              </a:rPr>
              <a:t>1</a:t>
            </a:r>
            <a:r>
              <a:rPr lang="zh-CN" altLang="en-US" sz="2100" dirty="0" smtClean="0">
                <a:latin typeface="华文楷体" panose="02010600040101010101" pitchFamily="2" charset="-122"/>
                <a:ea typeface="宋体" panose="02010600030101010101" pitchFamily="2" charset="-122"/>
              </a:rPr>
              <a:t>） </a:t>
            </a:r>
            <a:r>
              <a:rPr lang="zh-CN" altLang="en-US" sz="2100" dirty="0">
                <a:latin typeface="华文楷体" panose="02010600040101010101" pitchFamily="2" charset="-122"/>
                <a:ea typeface="宋体" panose="02010600030101010101" pitchFamily="2" charset="-122"/>
              </a:rPr>
              <a:t>学生（学号，姓名，性别，身份证号，年龄）</a:t>
            </a:r>
            <a:endParaRPr lang="zh-CN" altLang="en-US" sz="2100" dirty="0">
              <a:latin typeface="华文楷体" panose="02010600040101010101" pitchFamily="2" charset="-122"/>
              <a:ea typeface="宋体" panose="02010600030101010101" pitchFamily="2" charset="-122"/>
            </a:endParaRPr>
          </a:p>
        </p:txBody>
      </p:sp>
      <p:sp>
        <p:nvSpPr>
          <p:cNvPr id="15" name="Rectangle 3"/>
          <p:cNvSpPr txBox="1"/>
          <p:nvPr/>
        </p:nvSpPr>
        <p:spPr>
          <a:xfrm>
            <a:off x="642618" y="5051338"/>
            <a:ext cx="7594423"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2</a:t>
            </a:r>
            <a:r>
              <a:rPr lang="zh-CN" altLang="en-US" sz="2100" dirty="0" smtClean="0">
                <a:latin typeface="华文楷体" panose="02010600040101010101" pitchFamily="2" charset="-122"/>
              </a:rPr>
              <a:t>）课程</a:t>
            </a:r>
            <a:r>
              <a:rPr lang="zh-CN" altLang="en-US" sz="2100" dirty="0">
                <a:latin typeface="华文楷体" panose="02010600040101010101" pitchFamily="2" charset="-122"/>
              </a:rPr>
              <a:t>（课程编号，课程名，</a:t>
            </a:r>
            <a:r>
              <a:rPr lang="zh-CN" altLang="en-US" sz="2100" dirty="0" smtClean="0">
                <a:latin typeface="华文楷体" panose="02010600040101010101" pitchFamily="2" charset="-122"/>
              </a:rPr>
              <a:t>学分）</a:t>
            </a:r>
            <a:endParaRPr lang="zh-CN" altLang="en-US" sz="2100" dirty="0">
              <a:latin typeface="华文楷体" panose="02010600040101010101" pitchFamily="2" charset="-122"/>
            </a:endParaRPr>
          </a:p>
        </p:txBody>
      </p:sp>
      <p:sp>
        <p:nvSpPr>
          <p:cNvPr id="16" name="Rectangle 3"/>
          <p:cNvSpPr txBox="1"/>
          <p:nvPr/>
        </p:nvSpPr>
        <p:spPr>
          <a:xfrm>
            <a:off x="642618" y="5428346"/>
            <a:ext cx="4989886"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3</a:t>
            </a:r>
            <a:r>
              <a:rPr lang="zh-CN" altLang="en-US" sz="2100" dirty="0" smtClean="0">
                <a:latin typeface="华文楷体" panose="02010600040101010101" pitchFamily="2" charset="-122"/>
              </a:rPr>
              <a:t>）班级</a:t>
            </a:r>
            <a:r>
              <a:rPr lang="zh-CN" altLang="en-US" sz="2100" dirty="0">
                <a:latin typeface="华文楷体" panose="02010600040101010101" pitchFamily="2" charset="-122"/>
              </a:rPr>
              <a:t>（班号，班级名）</a:t>
            </a:r>
            <a:endParaRPr lang="zh-CN" altLang="en-US" sz="2100" dirty="0">
              <a:latin typeface="华文楷体" panose="02010600040101010101" pitchFamily="2" charset="-122"/>
            </a:endParaRPr>
          </a:p>
        </p:txBody>
      </p:sp>
      <p:sp>
        <p:nvSpPr>
          <p:cNvPr id="17" name="Rectangle 3"/>
          <p:cNvSpPr txBox="1"/>
          <p:nvPr/>
        </p:nvSpPr>
        <p:spPr>
          <a:xfrm>
            <a:off x="642618" y="5799681"/>
            <a:ext cx="7358454"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4</a:t>
            </a:r>
            <a:r>
              <a:rPr lang="zh-CN" altLang="en-US" sz="2100" dirty="0" smtClean="0">
                <a:latin typeface="华文楷体" panose="02010600040101010101" pitchFamily="2" charset="-122"/>
              </a:rPr>
              <a:t>）教师</a:t>
            </a:r>
            <a:r>
              <a:rPr lang="zh-CN" altLang="en-US" sz="2100" dirty="0">
                <a:latin typeface="华文楷体" panose="02010600040101010101" pitchFamily="2" charset="-122"/>
              </a:rPr>
              <a:t>（工号，姓名，性别，职称）</a:t>
            </a:r>
            <a:endParaRPr lang="zh-CN" altLang="en-US" sz="2100" dirty="0">
              <a:latin typeface="华文楷体" panose="02010600040101010101" pitchFamily="2" charset="-122"/>
            </a:endParaRPr>
          </a:p>
        </p:txBody>
      </p:sp>
      <p:sp>
        <p:nvSpPr>
          <p:cNvPr id="18" name="矩形 5"/>
          <p:cNvSpPr/>
          <p:nvPr/>
        </p:nvSpPr>
        <p:spPr>
          <a:xfrm>
            <a:off x="642619" y="1443399"/>
            <a:ext cx="8308585" cy="815608"/>
          </a:xfrm>
          <a:prstGeom prst="rect">
            <a:avLst/>
          </a:prstGeom>
          <a:noFill/>
          <a:ln w="9525">
            <a:noFill/>
          </a:ln>
        </p:spPr>
        <p:txBody>
          <a:bodyPr wrap="square" anchor="t">
            <a:spAutoFit/>
          </a:bodyPr>
          <a:lstStyle/>
          <a:p>
            <a:pPr lvl="0">
              <a:lnSpc>
                <a:spcPct val="100000"/>
              </a:lnSpc>
              <a:buNone/>
            </a:pPr>
            <a:r>
              <a:rPr lang="en-US" altLang="zh-CN" sz="2200" dirty="0" smtClean="0">
                <a:latin typeface="黑体" panose="02010609060101010101" pitchFamily="1" charset="-122"/>
                <a:ea typeface="黑体" panose="02010609060101010101" pitchFamily="1" charset="-122"/>
              </a:rPr>
              <a:t>1</a:t>
            </a:r>
            <a:r>
              <a:rPr lang="zh-CN" altLang="en-US" sz="2200" dirty="0" smtClean="0">
                <a:latin typeface="黑体" panose="02010609060101010101" pitchFamily="1" charset="-122"/>
                <a:ea typeface="黑体" panose="02010609060101010101" pitchFamily="1" charset="-122"/>
              </a:rPr>
              <a:t>、</a:t>
            </a:r>
            <a:r>
              <a:rPr lang="zh-CN" altLang="en-US" sz="2200" dirty="0">
                <a:latin typeface="宋体" panose="02010600030101010101" pitchFamily="2" charset="-122"/>
              </a:rPr>
              <a:t>一个属性的值能从其他相关属性计算得到，该属性</a:t>
            </a:r>
            <a:r>
              <a:rPr lang="zh-CN" altLang="en-US" sz="2200" dirty="0" smtClean="0">
                <a:latin typeface="宋体" panose="02010600030101010101" pitchFamily="2" charset="-122"/>
              </a:rPr>
              <a:t>属于（ </a:t>
            </a:r>
            <a:r>
              <a:rPr lang="zh-CN" altLang="en-US" sz="2200" dirty="0">
                <a:latin typeface="宋体" panose="02010600030101010101" pitchFamily="2" charset="-122"/>
              </a:rPr>
              <a:t>  </a:t>
            </a:r>
            <a:r>
              <a:rPr lang="zh-CN" altLang="en-US" sz="2200" dirty="0" smtClean="0">
                <a:latin typeface="宋体" panose="02010600030101010101" pitchFamily="2" charset="-122"/>
              </a:rPr>
              <a:t>）</a:t>
            </a:r>
            <a:endParaRPr lang="en-US" altLang="zh-CN" sz="2200" dirty="0" smtClean="0">
              <a:latin typeface="宋体" panose="02010600030101010101" pitchFamily="2" charset="-122"/>
            </a:endParaRPr>
          </a:p>
          <a:p>
            <a:pPr lvl="0">
              <a:lnSpc>
                <a:spcPct val="100000"/>
              </a:lnSpc>
              <a:spcBef>
                <a:spcPts val="600"/>
              </a:spcBef>
              <a:buNone/>
            </a:pPr>
            <a:r>
              <a:rPr lang="en-US" altLang="zh-CN" sz="2000" dirty="0">
                <a:latin typeface="宋体" panose="02010600030101010101" pitchFamily="2" charset="-122"/>
              </a:rPr>
              <a:t>A</a:t>
            </a:r>
            <a:r>
              <a:rPr lang="zh-CN" altLang="en-US" sz="2000" dirty="0" smtClean="0">
                <a:latin typeface="宋体" panose="02010600030101010101" pitchFamily="2" charset="-122"/>
              </a:rPr>
              <a:t>、</a:t>
            </a:r>
            <a:r>
              <a:rPr lang="zh-CN" altLang="en-US" sz="2000" dirty="0"/>
              <a:t>复合</a:t>
            </a:r>
            <a:r>
              <a:rPr lang="zh-CN" altLang="en-US" sz="2000" dirty="0" smtClean="0"/>
              <a:t>属性     </a:t>
            </a:r>
            <a:r>
              <a:rPr lang="en-US" altLang="zh-CN" sz="2000" dirty="0" smtClean="0"/>
              <a:t>B </a:t>
            </a:r>
            <a:r>
              <a:rPr lang="zh-CN" altLang="en-US" sz="2000" dirty="0" smtClean="0"/>
              <a:t>、简单属性         </a:t>
            </a:r>
            <a:r>
              <a:rPr lang="en-US" altLang="zh-CN" sz="2000" dirty="0" smtClean="0"/>
              <a:t>C</a:t>
            </a:r>
            <a:r>
              <a:rPr lang="zh-CN" altLang="en-US" sz="2000" dirty="0" smtClean="0"/>
              <a:t>、多值属性         </a:t>
            </a:r>
            <a:r>
              <a:rPr lang="en-US" altLang="zh-CN" sz="2000" dirty="0" smtClean="0"/>
              <a:t>D</a:t>
            </a:r>
            <a:r>
              <a:rPr lang="zh-CN" altLang="en-US" sz="2000" dirty="0" smtClean="0"/>
              <a:t>、导出属性</a:t>
            </a:r>
            <a:endParaRPr lang="en-US" altLang="zh-CN" sz="2000" dirty="0">
              <a:latin typeface="宋体" panose="02010600030101010101" pitchFamily="2" charset="-122"/>
            </a:endParaRPr>
          </a:p>
        </p:txBody>
      </p:sp>
      <p:sp>
        <p:nvSpPr>
          <p:cNvPr id="3" name="矩形 2"/>
          <p:cNvSpPr/>
          <p:nvPr/>
        </p:nvSpPr>
        <p:spPr>
          <a:xfrm>
            <a:off x="651118" y="2750658"/>
            <a:ext cx="8300086" cy="851772"/>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3</a:t>
            </a:r>
            <a:r>
              <a:rPr lang="zh-CN" altLang="en-US" sz="2100" dirty="0" smtClean="0">
                <a:solidFill>
                  <a:srgbClr val="000000"/>
                </a:solidFill>
                <a:latin typeface="宋体" panose="02010600030101010101" pitchFamily="2" charset="-122"/>
              </a:rPr>
              <a:t>、学生实体（学号，姓名，性别，身份证，年龄）的候选键为：</a:t>
            </a:r>
            <a:endParaRPr lang="en-US" altLang="zh-CN" sz="2100" dirty="0" smtClean="0">
              <a:solidFill>
                <a:srgbClr val="000000"/>
              </a:solidFill>
              <a:latin typeface="宋体" panose="02010600030101010101" pitchFamily="2" charset="-122"/>
            </a:endParaRPr>
          </a:p>
          <a:p>
            <a:pPr>
              <a:lnSpc>
                <a:spcPct val="100000"/>
              </a:lnSpc>
              <a:buNone/>
            </a:pPr>
            <a:r>
              <a:rPr lang="en-US" altLang="zh-CN" sz="2100" u="sng" dirty="0">
                <a:solidFill>
                  <a:srgbClr val="000000"/>
                </a:solidFill>
                <a:latin typeface="宋体" panose="02010600030101010101" pitchFamily="2" charset="-122"/>
              </a:rPr>
              <a:t> </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，导出属性为</a:t>
            </a:r>
            <a:r>
              <a:rPr lang="zh-CN" altLang="en-US" sz="2100" u="sng" dirty="0" smtClean="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a:t>
            </a:r>
            <a:r>
              <a:rPr lang="en-US" altLang="zh-CN" sz="2100" u="sng" dirty="0" smtClean="0">
                <a:solidFill>
                  <a:srgbClr val="000000"/>
                </a:solidFill>
                <a:latin typeface="宋体" panose="02010600030101010101" pitchFamily="2" charset="-122"/>
              </a:rPr>
              <a:t>         </a:t>
            </a:r>
            <a:endParaRPr lang="zh-CN" altLang="en-US" sz="2100" u="sng" dirty="0"/>
          </a:p>
        </p:txBody>
      </p:sp>
      <p:sp>
        <p:nvSpPr>
          <p:cNvPr id="19" name="矩形 18"/>
          <p:cNvSpPr/>
          <p:nvPr/>
        </p:nvSpPr>
        <p:spPr>
          <a:xfrm>
            <a:off x="651118" y="2265857"/>
            <a:ext cx="8300086" cy="477951"/>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2</a:t>
            </a:r>
            <a:r>
              <a:rPr lang="zh-CN" altLang="en-US" sz="2100" dirty="0" smtClean="0">
                <a:solidFill>
                  <a:srgbClr val="000000"/>
                </a:solidFill>
                <a:latin typeface="宋体" panose="02010600030101010101" pitchFamily="2" charset="-122"/>
              </a:rPr>
              <a:t>、属性</a:t>
            </a:r>
            <a:r>
              <a:rPr lang="zh-CN" altLang="en-US" sz="2100" dirty="0">
                <a:solidFill>
                  <a:srgbClr val="000000"/>
                </a:solidFill>
                <a:latin typeface="宋体" panose="02010600030101010101" pitchFamily="2" charset="-122"/>
              </a:rPr>
              <a:t>按取值分可分为：</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和</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endParaRPr lang="zh-CN" altLang="en-US" sz="2100" dirty="0"/>
          </a:p>
        </p:txBody>
      </p:sp>
      <p:sp>
        <p:nvSpPr>
          <p:cNvPr id="21" name="矩形 20"/>
          <p:cNvSpPr/>
          <p:nvPr/>
        </p:nvSpPr>
        <p:spPr>
          <a:xfrm>
            <a:off x="651118" y="3570366"/>
            <a:ext cx="8217460" cy="964880"/>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4</a:t>
            </a:r>
            <a:r>
              <a:rPr lang="zh-CN" altLang="en-US" sz="2100" dirty="0" smtClean="0">
                <a:solidFill>
                  <a:srgbClr val="000000"/>
                </a:solidFill>
                <a:latin typeface="宋体" panose="02010600030101010101" pitchFamily="2" charset="-122"/>
              </a:rPr>
              <a:t>、</a:t>
            </a:r>
            <a:r>
              <a:rPr lang="en-US" altLang="zh-CN" sz="2100" dirty="0" smtClean="0">
                <a:solidFill>
                  <a:srgbClr val="000000"/>
                </a:solidFill>
                <a:latin typeface="宋体" panose="02010600030101010101" pitchFamily="2" charset="-122"/>
              </a:rPr>
              <a:t>ER</a:t>
            </a:r>
            <a:r>
              <a:rPr lang="zh-CN" altLang="en-US" sz="2100" dirty="0" smtClean="0">
                <a:solidFill>
                  <a:srgbClr val="000000"/>
                </a:solidFill>
                <a:latin typeface="宋体" panose="02010600030101010101" pitchFamily="2" charset="-122"/>
              </a:rPr>
              <a:t>图用</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表示实体，用</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表示属性，用</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表示多值属性</a:t>
            </a:r>
            <a:r>
              <a:rPr lang="en-US" altLang="zh-CN" sz="2100" dirty="0" smtClean="0">
                <a:solidFill>
                  <a:srgbClr val="000000"/>
                </a:solidFill>
                <a:latin typeface="宋体" panose="02010600030101010101" pitchFamily="2" charset="-122"/>
              </a:rPr>
              <a:t>,</a:t>
            </a:r>
            <a:r>
              <a:rPr lang="zh-CN" altLang="en-US" sz="2100" dirty="0" smtClean="0">
                <a:solidFill>
                  <a:srgbClr val="000000"/>
                </a:solidFill>
                <a:latin typeface="宋体" panose="02010600030101010101" pitchFamily="2" charset="-122"/>
              </a:rPr>
              <a:t>用</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表示导出属性。</a:t>
            </a:r>
            <a:endParaRPr lang="en-US" altLang="zh-CN" sz="2100" dirty="0" smtClean="0">
              <a:solidFill>
                <a:srgbClr val="000000"/>
              </a:solidFill>
              <a:latin typeface="宋体" panose="02010600030101010101" pitchFamily="2" charset="-122"/>
            </a:endParaRPr>
          </a:p>
        </p:txBody>
      </p:sp>
      <p:sp>
        <p:nvSpPr>
          <p:cNvPr id="20"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86915" y="728678"/>
            <a:ext cx="4055919" cy="746743"/>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zh-CN" sz="3200" kern="100" dirty="0">
                <a:solidFill>
                  <a:srgbClr val="0033CC"/>
                </a:solidFill>
                <a:latin typeface="Calibri" panose="020F0502020204030204" pitchFamily="34" charset="0"/>
                <a:cs typeface="Times New Roman" panose="02020603050405020304" pitchFamily="2" charset="0"/>
              </a:rPr>
              <a:t>研讨问题</a:t>
            </a:r>
            <a:r>
              <a:rPr lang="en-US" altLang="zh-CN" sz="3200" kern="100" dirty="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3" name="矩形 5"/>
          <p:cNvSpPr/>
          <p:nvPr/>
        </p:nvSpPr>
        <p:spPr>
          <a:xfrm>
            <a:off x="642619" y="1507197"/>
            <a:ext cx="8308585" cy="815608"/>
          </a:xfrm>
          <a:prstGeom prst="rect">
            <a:avLst/>
          </a:prstGeom>
          <a:noFill/>
          <a:ln w="9525">
            <a:noFill/>
          </a:ln>
        </p:spPr>
        <p:txBody>
          <a:bodyPr wrap="square" anchor="t">
            <a:spAutoFit/>
          </a:bodyPr>
          <a:lstStyle/>
          <a:p>
            <a:pPr lvl="0">
              <a:lnSpc>
                <a:spcPct val="100000"/>
              </a:lnSpc>
              <a:buNone/>
            </a:pPr>
            <a:r>
              <a:rPr lang="en-US" altLang="zh-CN" sz="2200" dirty="0" smtClean="0">
                <a:latin typeface="黑体" panose="02010609060101010101" pitchFamily="1" charset="-122"/>
                <a:ea typeface="黑体" panose="02010609060101010101" pitchFamily="1" charset="-122"/>
              </a:rPr>
              <a:t>1</a:t>
            </a:r>
            <a:r>
              <a:rPr lang="zh-CN" altLang="en-US" sz="2200" dirty="0" smtClean="0">
                <a:latin typeface="黑体" panose="02010609060101010101" pitchFamily="1" charset="-122"/>
                <a:ea typeface="黑体" panose="02010609060101010101" pitchFamily="1" charset="-122"/>
              </a:rPr>
              <a:t>、</a:t>
            </a:r>
            <a:r>
              <a:rPr lang="zh-CN" altLang="en-US" sz="2200" dirty="0">
                <a:latin typeface="宋体" panose="02010600030101010101" pitchFamily="2" charset="-122"/>
              </a:rPr>
              <a:t>一个属性的值能从其他相关属性计算得到，该属性</a:t>
            </a:r>
            <a:r>
              <a:rPr lang="zh-CN" altLang="en-US" sz="2200" dirty="0" smtClean="0">
                <a:latin typeface="宋体" panose="02010600030101010101" pitchFamily="2" charset="-122"/>
              </a:rPr>
              <a:t>属于（ </a:t>
            </a:r>
            <a:r>
              <a:rPr lang="en-US" altLang="zh-CN" sz="2200" dirty="0" smtClean="0">
                <a:solidFill>
                  <a:srgbClr val="FF0000"/>
                </a:solidFill>
                <a:latin typeface="宋体" panose="02010600030101010101" pitchFamily="2" charset="-122"/>
              </a:rPr>
              <a:t>D</a:t>
            </a:r>
            <a:r>
              <a:rPr lang="zh-CN" altLang="en-US" sz="2200" dirty="0">
                <a:latin typeface="宋体" panose="02010600030101010101" pitchFamily="2" charset="-122"/>
              </a:rPr>
              <a:t> </a:t>
            </a:r>
            <a:r>
              <a:rPr lang="zh-CN" altLang="en-US" sz="2200" dirty="0" smtClean="0">
                <a:latin typeface="宋体" panose="02010600030101010101" pitchFamily="2" charset="-122"/>
              </a:rPr>
              <a:t>）</a:t>
            </a:r>
            <a:endParaRPr lang="en-US" altLang="zh-CN" sz="2200" dirty="0" smtClean="0">
              <a:latin typeface="宋体" panose="02010600030101010101" pitchFamily="2" charset="-122"/>
            </a:endParaRPr>
          </a:p>
          <a:p>
            <a:pPr lvl="0">
              <a:lnSpc>
                <a:spcPct val="100000"/>
              </a:lnSpc>
              <a:spcBef>
                <a:spcPts val="600"/>
              </a:spcBef>
              <a:buNone/>
            </a:pPr>
            <a:r>
              <a:rPr lang="en-US" altLang="zh-CN" sz="2000" dirty="0">
                <a:latin typeface="宋体" panose="02010600030101010101" pitchFamily="2" charset="-122"/>
              </a:rPr>
              <a:t>A</a:t>
            </a:r>
            <a:r>
              <a:rPr lang="zh-CN" altLang="en-US" sz="2000" dirty="0" smtClean="0">
                <a:latin typeface="宋体" panose="02010600030101010101" pitchFamily="2" charset="-122"/>
              </a:rPr>
              <a:t>、</a:t>
            </a:r>
            <a:r>
              <a:rPr lang="zh-CN" altLang="en-US" sz="2000" dirty="0"/>
              <a:t>复合</a:t>
            </a:r>
            <a:r>
              <a:rPr lang="zh-CN" altLang="en-US" sz="2000" dirty="0" smtClean="0"/>
              <a:t>属性     </a:t>
            </a:r>
            <a:r>
              <a:rPr lang="en-US" altLang="zh-CN" sz="2000" dirty="0" smtClean="0"/>
              <a:t>B </a:t>
            </a:r>
            <a:r>
              <a:rPr lang="zh-CN" altLang="en-US" sz="2000" dirty="0" smtClean="0"/>
              <a:t>、简单属性         </a:t>
            </a:r>
            <a:r>
              <a:rPr lang="en-US" altLang="zh-CN" sz="2000" dirty="0" smtClean="0"/>
              <a:t>C</a:t>
            </a:r>
            <a:r>
              <a:rPr lang="zh-CN" altLang="en-US" sz="2000" dirty="0" smtClean="0"/>
              <a:t>、多值属性         </a:t>
            </a:r>
            <a:r>
              <a:rPr lang="en-US" altLang="zh-CN" sz="2000" dirty="0" smtClean="0"/>
              <a:t>D</a:t>
            </a:r>
            <a:r>
              <a:rPr lang="zh-CN" altLang="en-US" sz="2000" dirty="0" smtClean="0"/>
              <a:t>、导出属性</a:t>
            </a:r>
            <a:endParaRPr lang="en-US" altLang="zh-CN" sz="2000" dirty="0">
              <a:latin typeface="宋体" panose="02010600030101010101" pitchFamily="2" charset="-122"/>
            </a:endParaRPr>
          </a:p>
        </p:txBody>
      </p:sp>
      <p:sp>
        <p:nvSpPr>
          <p:cNvPr id="4" name="矩形 3"/>
          <p:cNvSpPr/>
          <p:nvPr/>
        </p:nvSpPr>
        <p:spPr>
          <a:xfrm>
            <a:off x="662707" y="2500168"/>
            <a:ext cx="8300086" cy="964880"/>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2</a:t>
            </a:r>
            <a:r>
              <a:rPr lang="zh-CN" altLang="en-US" sz="2100" dirty="0" smtClean="0">
                <a:solidFill>
                  <a:srgbClr val="000000"/>
                </a:solidFill>
                <a:latin typeface="宋体" panose="02010600030101010101" pitchFamily="2" charset="-122"/>
              </a:rPr>
              <a:t>、属性</a:t>
            </a:r>
            <a:r>
              <a:rPr lang="zh-CN" altLang="en-US" sz="2100" dirty="0">
                <a:solidFill>
                  <a:srgbClr val="000000"/>
                </a:solidFill>
                <a:latin typeface="宋体" panose="02010600030101010101" pitchFamily="2" charset="-122"/>
              </a:rPr>
              <a:t>按取值分可分为：</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单值属性</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多值属性 </a:t>
            </a:r>
            <a:r>
              <a:rPr lang="zh-CN" altLang="en-US" sz="2100" dirty="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空值属性</a:t>
            </a:r>
            <a:r>
              <a:rPr lang="zh-CN" altLang="en-US" sz="2100" dirty="0" smtClean="0">
                <a:solidFill>
                  <a:srgbClr val="000000"/>
                </a:solidFill>
                <a:latin typeface="宋体" panose="02010600030101010101" pitchFamily="2" charset="-122"/>
              </a:rPr>
              <a:t>和</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导出属性</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endParaRPr lang="zh-CN" altLang="en-US" sz="2100" dirty="0"/>
          </a:p>
        </p:txBody>
      </p:sp>
      <p:sp>
        <p:nvSpPr>
          <p:cNvPr id="5" name="矩形 4"/>
          <p:cNvSpPr/>
          <p:nvPr/>
        </p:nvSpPr>
        <p:spPr>
          <a:xfrm>
            <a:off x="662707" y="3642411"/>
            <a:ext cx="8300086" cy="964880"/>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3</a:t>
            </a:r>
            <a:r>
              <a:rPr lang="zh-CN" altLang="en-US" sz="2100" dirty="0" smtClean="0">
                <a:solidFill>
                  <a:srgbClr val="000000"/>
                </a:solidFill>
                <a:latin typeface="宋体" panose="02010600030101010101" pitchFamily="2" charset="-122"/>
              </a:rPr>
              <a:t>、学生实体（学号，姓名，性别，身份证，年龄）的候选键为：</a:t>
            </a:r>
            <a:endParaRPr lang="en-US" altLang="zh-CN" sz="2100" dirty="0" smtClean="0">
              <a:solidFill>
                <a:srgbClr val="000000"/>
              </a:solidFill>
              <a:latin typeface="宋体" panose="02010600030101010101" pitchFamily="2" charset="-122"/>
            </a:endParaRPr>
          </a:p>
          <a:p>
            <a:pPr>
              <a:buNone/>
            </a:pPr>
            <a:r>
              <a:rPr lang="en-US" altLang="zh-CN" sz="2100" u="sng" dirty="0">
                <a:solidFill>
                  <a:srgbClr val="000000"/>
                </a:solidFill>
                <a:latin typeface="宋体" panose="02010600030101010101" pitchFamily="2" charset="-122"/>
              </a:rPr>
              <a:t> </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学号和身份证号</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，导出属性为</a:t>
            </a:r>
            <a:r>
              <a:rPr lang="zh-CN" altLang="en-US" sz="2100" u="sng" dirty="0" smtClean="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性别和年龄</a:t>
            </a:r>
            <a:r>
              <a:rPr lang="zh-CN" altLang="en-US" sz="2100" u="sng" dirty="0">
                <a:solidFill>
                  <a:srgbClr val="FF0000"/>
                </a:solidFill>
                <a:latin typeface="宋体" panose="02010600030101010101" pitchFamily="2" charset="-122"/>
              </a:rPr>
              <a:t> </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a:t>
            </a:r>
            <a:r>
              <a:rPr lang="en-US" altLang="zh-CN" sz="2100" u="sng" dirty="0" smtClean="0">
                <a:solidFill>
                  <a:srgbClr val="000000"/>
                </a:solidFill>
                <a:latin typeface="宋体" panose="02010600030101010101" pitchFamily="2" charset="-122"/>
              </a:rPr>
              <a:t>         </a:t>
            </a:r>
            <a:endParaRPr lang="zh-CN" altLang="en-US" sz="2100" u="sng" dirty="0"/>
          </a:p>
        </p:txBody>
      </p:sp>
      <p:sp>
        <p:nvSpPr>
          <p:cNvPr id="7" name="矩形 6"/>
          <p:cNvSpPr/>
          <p:nvPr/>
        </p:nvSpPr>
        <p:spPr>
          <a:xfrm>
            <a:off x="642618" y="4666531"/>
            <a:ext cx="8501381" cy="964880"/>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4</a:t>
            </a:r>
            <a:r>
              <a:rPr lang="zh-CN" altLang="en-US" sz="2100" dirty="0" smtClean="0">
                <a:solidFill>
                  <a:srgbClr val="000000"/>
                </a:solidFill>
                <a:latin typeface="宋体" panose="02010600030101010101" pitchFamily="2" charset="-122"/>
              </a:rPr>
              <a:t>、</a:t>
            </a:r>
            <a:r>
              <a:rPr lang="en-US" altLang="zh-CN" sz="2100" dirty="0" smtClean="0">
                <a:solidFill>
                  <a:srgbClr val="000000"/>
                </a:solidFill>
                <a:latin typeface="宋体" panose="02010600030101010101" pitchFamily="2" charset="-122"/>
              </a:rPr>
              <a:t>ER</a:t>
            </a:r>
            <a:r>
              <a:rPr lang="zh-CN" altLang="en-US" sz="2100" dirty="0" smtClean="0">
                <a:solidFill>
                  <a:srgbClr val="000000"/>
                </a:solidFill>
                <a:latin typeface="宋体" panose="02010600030101010101" pitchFamily="2" charset="-122"/>
              </a:rPr>
              <a:t>图用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矩形</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表示实体，用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椭圆形</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表示属性，用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双椭圆形 </a:t>
            </a:r>
            <a:r>
              <a:rPr lang="zh-CN" altLang="en-US" sz="2100" dirty="0" smtClean="0">
                <a:solidFill>
                  <a:srgbClr val="000000"/>
                </a:solidFill>
                <a:latin typeface="宋体" panose="02010600030101010101" pitchFamily="2" charset="-122"/>
              </a:rPr>
              <a:t>表示多值属性</a:t>
            </a:r>
            <a:r>
              <a:rPr lang="en-US" altLang="zh-CN" sz="2100" dirty="0" smtClean="0">
                <a:solidFill>
                  <a:srgbClr val="000000"/>
                </a:solidFill>
                <a:latin typeface="宋体" panose="02010600030101010101" pitchFamily="2" charset="-122"/>
              </a:rPr>
              <a:t>,</a:t>
            </a:r>
            <a:r>
              <a:rPr lang="zh-CN" altLang="en-US" sz="2100" dirty="0" smtClean="0">
                <a:solidFill>
                  <a:srgbClr val="000000"/>
                </a:solidFill>
                <a:latin typeface="宋体" panose="02010600030101010101" pitchFamily="2" charset="-122"/>
              </a:rPr>
              <a:t>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虚线椭圆形 </a:t>
            </a:r>
            <a:r>
              <a:rPr lang="zh-CN" altLang="en-US" sz="2100" dirty="0" smtClean="0">
                <a:solidFill>
                  <a:srgbClr val="000000"/>
                </a:solidFill>
                <a:latin typeface="宋体" panose="02010600030101010101" pitchFamily="2" charset="-122"/>
              </a:rPr>
              <a:t>表示导出属性。</a:t>
            </a:r>
            <a:endParaRPr lang="en-US" altLang="zh-CN" sz="2100" dirty="0" smtClean="0">
              <a:solidFill>
                <a:srgbClr val="000000"/>
              </a:solidFill>
              <a:latin typeface="宋体" panose="02010600030101010101" pitchFamily="2" charset="-122"/>
            </a:endParaRPr>
          </a:p>
        </p:txBody>
      </p:sp>
      <p:sp>
        <p:nvSpPr>
          <p:cNvPr id="8"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5"/>
          <p:cNvSpPr/>
          <p:nvPr/>
        </p:nvSpPr>
        <p:spPr>
          <a:xfrm>
            <a:off x="344878" y="997724"/>
            <a:ext cx="5290820" cy="460375"/>
          </a:xfrm>
          <a:prstGeom prst="rect">
            <a:avLst/>
          </a:prstGeom>
          <a:noFill/>
          <a:ln w="9525">
            <a:noFill/>
          </a:ln>
        </p:spPr>
        <p:txBody>
          <a:bodyPr wrap="square" anchor="t">
            <a:spAutoFit/>
          </a:bodyPr>
          <a:lstStyle/>
          <a:p>
            <a:pPr lvl="0">
              <a:lnSpc>
                <a:spcPct val="100000"/>
              </a:lnSpc>
              <a:buNone/>
            </a:pPr>
            <a:r>
              <a:rPr lang="en-US" altLang="zh-CN" sz="2400" dirty="0" smtClean="0">
                <a:solidFill>
                  <a:srgbClr val="0033CC"/>
                </a:solidFill>
                <a:latin typeface="黑体" panose="02010609060101010101" pitchFamily="1" charset="-122"/>
                <a:ea typeface="黑体" panose="02010609060101010101" pitchFamily="1" charset="-122"/>
              </a:rPr>
              <a:t>4</a:t>
            </a:r>
            <a:r>
              <a:rPr lang="zh-CN" altLang="en-US" sz="2400" dirty="0" smtClean="0">
                <a:solidFill>
                  <a:srgbClr val="0033CC"/>
                </a:solidFill>
                <a:latin typeface="黑体" panose="02010609060101010101" pitchFamily="1" charset="-122"/>
                <a:ea typeface="黑体" panose="02010609060101010101" pitchFamily="1" charset="-122"/>
              </a:rPr>
              <a:t>、</a:t>
            </a:r>
            <a:r>
              <a:rPr lang="zh-CN" altLang="en-US" sz="2400" dirty="0" smtClean="0">
                <a:latin typeface="华文楷体" panose="02010600040101010101" pitchFamily="2" charset="-122"/>
                <a:cs typeface="+mn-ea"/>
              </a:rPr>
              <a:t>用</a:t>
            </a:r>
            <a:r>
              <a:rPr lang="zh-CN" altLang="en-US" sz="2400" dirty="0">
                <a:latin typeface="华文楷体" panose="02010600040101010101" pitchFamily="2" charset="-122"/>
                <a:cs typeface="+mn-ea"/>
                <a:sym typeface="+mn-ea"/>
              </a:rPr>
              <a:t>E</a:t>
            </a:r>
            <a:r>
              <a:rPr lang="en-US" altLang="zh-CN" sz="2400" dirty="0">
                <a:latin typeface="华文楷体" panose="02010600040101010101" pitchFamily="2" charset="-122"/>
                <a:sym typeface="+mn-ea"/>
              </a:rPr>
              <a:t>R</a:t>
            </a:r>
            <a:r>
              <a:rPr lang="zh-CN" altLang="en-US" sz="2400" dirty="0">
                <a:latin typeface="华文楷体" panose="02010600040101010101" pitchFamily="2" charset="-122"/>
                <a:sym typeface="+mn-ea"/>
              </a:rPr>
              <a:t>图表达下列实体</a:t>
            </a:r>
            <a:endParaRPr lang="en-US" altLang="zh-CN" sz="2400" dirty="0">
              <a:solidFill>
                <a:srgbClr val="0033CC"/>
              </a:solidFill>
              <a:latin typeface="黑体" panose="02010609060101010101" pitchFamily="1" charset="-122"/>
              <a:ea typeface="黑体" panose="02010609060101010101" pitchFamily="1" charset="-122"/>
            </a:endParaRPr>
          </a:p>
        </p:txBody>
      </p:sp>
      <p:sp>
        <p:nvSpPr>
          <p:cNvPr id="4" name="Rectangle 3"/>
          <p:cNvSpPr txBox="1"/>
          <p:nvPr/>
        </p:nvSpPr>
        <p:spPr>
          <a:xfrm>
            <a:off x="344878" y="1569832"/>
            <a:ext cx="3918777"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ea typeface="宋体" panose="02010600030101010101" pitchFamily="2" charset="-122"/>
              </a:rPr>
              <a:t>（</a:t>
            </a:r>
            <a:r>
              <a:rPr lang="en-US" altLang="zh-CN" sz="2100" dirty="0" smtClean="0">
                <a:latin typeface="华文楷体" panose="02010600040101010101" pitchFamily="2" charset="-122"/>
                <a:ea typeface="宋体" panose="02010600030101010101" pitchFamily="2" charset="-122"/>
              </a:rPr>
              <a:t>1</a:t>
            </a:r>
            <a:r>
              <a:rPr lang="zh-CN" altLang="en-US" sz="2100" dirty="0" smtClean="0">
                <a:latin typeface="华文楷体" panose="02010600040101010101" pitchFamily="2" charset="-122"/>
                <a:ea typeface="宋体" panose="02010600030101010101" pitchFamily="2" charset="-122"/>
              </a:rPr>
              <a:t>） </a:t>
            </a:r>
            <a:r>
              <a:rPr lang="zh-CN" altLang="en-US" sz="2100" dirty="0">
                <a:latin typeface="华文楷体" panose="02010600040101010101" pitchFamily="2" charset="-122"/>
                <a:ea typeface="宋体" panose="02010600030101010101" pitchFamily="2" charset="-122"/>
              </a:rPr>
              <a:t>学生（学号，姓名，性别，身份证号，年龄）</a:t>
            </a:r>
            <a:endParaRPr lang="zh-CN" altLang="en-US" sz="2100" dirty="0">
              <a:latin typeface="华文楷体" panose="02010600040101010101" pitchFamily="2" charset="-122"/>
              <a:ea typeface="宋体" panose="02010600030101010101" pitchFamily="2" charset="-122"/>
            </a:endParaRPr>
          </a:p>
        </p:txBody>
      </p:sp>
      <p:sp>
        <p:nvSpPr>
          <p:cNvPr id="5" name="Rectangle 3"/>
          <p:cNvSpPr txBox="1"/>
          <p:nvPr/>
        </p:nvSpPr>
        <p:spPr>
          <a:xfrm>
            <a:off x="4682991" y="1569832"/>
            <a:ext cx="4078238"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2</a:t>
            </a:r>
            <a:r>
              <a:rPr lang="zh-CN" altLang="en-US" sz="2100" dirty="0" smtClean="0">
                <a:latin typeface="华文楷体" panose="02010600040101010101" pitchFamily="2" charset="-122"/>
              </a:rPr>
              <a:t>）课程</a:t>
            </a:r>
            <a:r>
              <a:rPr lang="zh-CN" altLang="en-US" sz="2100" dirty="0">
                <a:latin typeface="华文楷体" panose="02010600040101010101" pitchFamily="2" charset="-122"/>
              </a:rPr>
              <a:t>（课程编号，课程名，</a:t>
            </a:r>
            <a:r>
              <a:rPr lang="zh-CN" altLang="en-US" sz="2100" dirty="0" smtClean="0">
                <a:latin typeface="华文楷体" panose="02010600040101010101" pitchFamily="2" charset="-122"/>
              </a:rPr>
              <a:t>学分）</a:t>
            </a:r>
            <a:endParaRPr lang="zh-CN" altLang="en-US" sz="2100" dirty="0">
              <a:latin typeface="华文楷体" panose="02010600040101010101" pitchFamily="2" charset="-122"/>
            </a:endParaRPr>
          </a:p>
        </p:txBody>
      </p:sp>
      <p:grpSp>
        <p:nvGrpSpPr>
          <p:cNvPr id="27" name="组合 26"/>
          <p:cNvGrpSpPr/>
          <p:nvPr/>
        </p:nvGrpSpPr>
        <p:grpSpPr>
          <a:xfrm>
            <a:off x="419306" y="2434856"/>
            <a:ext cx="4025104" cy="1403493"/>
            <a:chOff x="344878" y="2381693"/>
            <a:chExt cx="4025104" cy="1403493"/>
          </a:xfrm>
        </p:grpSpPr>
        <p:sp>
          <p:nvSpPr>
            <p:cNvPr id="6" name="矩形 5"/>
            <p:cNvSpPr/>
            <p:nvPr/>
          </p:nvSpPr>
          <p:spPr>
            <a:xfrm>
              <a:off x="1031360" y="3285460"/>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学生</a:t>
              </a:r>
              <a:endParaRPr lang="zh-CN" altLang="en-US" dirty="0">
                <a:solidFill>
                  <a:schemeClr val="tx1"/>
                </a:solidFill>
              </a:endParaRPr>
            </a:p>
          </p:txBody>
        </p:sp>
        <p:sp>
          <p:nvSpPr>
            <p:cNvPr id="7" name="椭圆 6"/>
            <p:cNvSpPr/>
            <p:nvPr/>
          </p:nvSpPr>
          <p:spPr>
            <a:xfrm>
              <a:off x="344878" y="2573079"/>
              <a:ext cx="920396" cy="4146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smtClean="0">
                  <a:solidFill>
                    <a:srgbClr val="FF0000"/>
                  </a:solidFill>
                </a:rPr>
                <a:t>学号</a:t>
              </a:r>
              <a:endParaRPr lang="zh-CN" altLang="en-US" u="sng" dirty="0">
                <a:solidFill>
                  <a:srgbClr val="FF0000"/>
                </a:solidFill>
              </a:endParaRPr>
            </a:p>
          </p:txBody>
        </p:sp>
        <p:sp>
          <p:nvSpPr>
            <p:cNvPr id="8" name="椭圆 7"/>
            <p:cNvSpPr/>
            <p:nvPr/>
          </p:nvSpPr>
          <p:spPr>
            <a:xfrm>
              <a:off x="1346877" y="2381693"/>
              <a:ext cx="96038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姓名</a:t>
              </a:r>
              <a:endParaRPr lang="zh-CN" altLang="en-US" dirty="0">
                <a:solidFill>
                  <a:schemeClr val="tx1"/>
                </a:solidFill>
              </a:endParaRPr>
            </a:p>
          </p:txBody>
        </p:sp>
        <p:sp>
          <p:nvSpPr>
            <p:cNvPr id="9" name="椭圆 8"/>
            <p:cNvSpPr/>
            <p:nvPr/>
          </p:nvSpPr>
          <p:spPr>
            <a:xfrm>
              <a:off x="2388867" y="2402957"/>
              <a:ext cx="917859" cy="435935"/>
            </a:xfrm>
            <a:prstGeom prst="ellipse">
              <a:avLst/>
            </a:prstGeom>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0033CC"/>
                  </a:solidFill>
                </a:rPr>
                <a:t>性别</a:t>
              </a:r>
              <a:endParaRPr lang="zh-CN" altLang="en-US" dirty="0">
                <a:solidFill>
                  <a:srgbClr val="0033CC"/>
                </a:solidFill>
              </a:endParaRPr>
            </a:p>
          </p:txBody>
        </p:sp>
        <p:sp>
          <p:nvSpPr>
            <p:cNvPr id="10" name="椭圆 9"/>
            <p:cNvSpPr/>
            <p:nvPr/>
          </p:nvSpPr>
          <p:spPr>
            <a:xfrm>
              <a:off x="3022185" y="2812310"/>
              <a:ext cx="134779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smtClean="0">
                  <a:solidFill>
                    <a:schemeClr val="tx1"/>
                  </a:solidFill>
                </a:rPr>
                <a:t>身份证号</a:t>
              </a:r>
              <a:endParaRPr lang="zh-CN" altLang="en-US" dirty="0">
                <a:solidFill>
                  <a:schemeClr val="tx1"/>
                </a:solidFill>
              </a:endParaRPr>
            </a:p>
          </p:txBody>
        </p:sp>
        <p:sp>
          <p:nvSpPr>
            <p:cNvPr id="11" name="椭圆 10"/>
            <p:cNvSpPr/>
            <p:nvPr/>
          </p:nvSpPr>
          <p:spPr>
            <a:xfrm>
              <a:off x="3115425" y="3349251"/>
              <a:ext cx="917859" cy="435935"/>
            </a:xfrm>
            <a:prstGeom prst="ellipse">
              <a:avLst/>
            </a:prstGeom>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0033CC"/>
                  </a:solidFill>
                </a:rPr>
                <a:t>年龄</a:t>
              </a:r>
              <a:endParaRPr lang="zh-CN" altLang="en-US" dirty="0">
                <a:solidFill>
                  <a:srgbClr val="0033CC"/>
                </a:solidFill>
              </a:endParaRPr>
            </a:p>
          </p:txBody>
        </p:sp>
        <p:cxnSp>
          <p:nvCxnSpPr>
            <p:cNvPr id="13" name="直接连接符 12"/>
            <p:cNvCxnSpPr>
              <a:stCxn id="7" idx="5"/>
            </p:cNvCxnSpPr>
            <p:nvPr/>
          </p:nvCxnSpPr>
          <p:spPr>
            <a:xfrm>
              <a:off x="1130485" y="2927022"/>
              <a:ext cx="326175" cy="3424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8" idx="4"/>
            </p:cNvCxnSpPr>
            <p:nvPr/>
          </p:nvCxnSpPr>
          <p:spPr>
            <a:xfrm flipH="1">
              <a:off x="1565664" y="2838893"/>
              <a:ext cx="261407" cy="4465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3"/>
              <a:endCxn id="6" idx="0"/>
            </p:cNvCxnSpPr>
            <p:nvPr/>
          </p:nvCxnSpPr>
          <p:spPr>
            <a:xfrm flipH="1">
              <a:off x="1855383" y="2775051"/>
              <a:ext cx="667901" cy="510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0" idx="2"/>
            </p:cNvCxnSpPr>
            <p:nvPr/>
          </p:nvCxnSpPr>
          <p:spPr>
            <a:xfrm flipH="1">
              <a:off x="2221798" y="3040910"/>
              <a:ext cx="800387" cy="2445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1" idx="1"/>
              <a:endCxn id="6" idx="3"/>
            </p:cNvCxnSpPr>
            <p:nvPr/>
          </p:nvCxnSpPr>
          <p:spPr>
            <a:xfrm flipH="1">
              <a:off x="2679406" y="3413092"/>
              <a:ext cx="570436" cy="58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4999678" y="2434856"/>
            <a:ext cx="3444864" cy="1302488"/>
            <a:chOff x="344878" y="2355112"/>
            <a:chExt cx="3444864" cy="1302488"/>
          </a:xfrm>
        </p:grpSpPr>
        <p:sp>
          <p:nvSpPr>
            <p:cNvPr id="29" name="矩形 28"/>
            <p:cNvSpPr/>
            <p:nvPr/>
          </p:nvSpPr>
          <p:spPr>
            <a:xfrm>
              <a:off x="1031360" y="3285460"/>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课程</a:t>
              </a:r>
              <a:endParaRPr lang="zh-CN" altLang="en-US" dirty="0">
                <a:solidFill>
                  <a:schemeClr val="tx1"/>
                </a:solidFill>
              </a:endParaRPr>
            </a:p>
          </p:txBody>
        </p:sp>
        <p:sp>
          <p:nvSpPr>
            <p:cNvPr id="30" name="椭圆 29"/>
            <p:cNvSpPr/>
            <p:nvPr/>
          </p:nvSpPr>
          <p:spPr>
            <a:xfrm>
              <a:off x="344878" y="2355112"/>
              <a:ext cx="1584166" cy="483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smtClean="0">
                  <a:solidFill>
                    <a:srgbClr val="FF0000"/>
                  </a:solidFill>
                </a:rPr>
                <a:t>课程编号</a:t>
              </a:r>
              <a:endParaRPr lang="zh-CN" altLang="en-US" u="sng" dirty="0">
                <a:solidFill>
                  <a:srgbClr val="FF0000"/>
                </a:solidFill>
              </a:endParaRPr>
            </a:p>
          </p:txBody>
        </p:sp>
        <p:sp>
          <p:nvSpPr>
            <p:cNvPr id="31" name="椭圆 30"/>
            <p:cNvSpPr/>
            <p:nvPr/>
          </p:nvSpPr>
          <p:spPr>
            <a:xfrm>
              <a:off x="1992171" y="2392325"/>
              <a:ext cx="1252678"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课程名</a:t>
              </a:r>
              <a:endParaRPr lang="zh-CN" altLang="en-US" dirty="0">
                <a:solidFill>
                  <a:schemeClr val="tx1"/>
                </a:solidFill>
              </a:endParaRPr>
            </a:p>
          </p:txBody>
        </p:sp>
        <p:sp>
          <p:nvSpPr>
            <p:cNvPr id="33" name="椭圆 32"/>
            <p:cNvSpPr/>
            <p:nvPr/>
          </p:nvSpPr>
          <p:spPr>
            <a:xfrm>
              <a:off x="3022185" y="2812310"/>
              <a:ext cx="76755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smtClean="0">
                  <a:solidFill>
                    <a:schemeClr val="tx1"/>
                  </a:solidFill>
                </a:rPr>
                <a:t>学分</a:t>
              </a:r>
              <a:endParaRPr lang="zh-CN" altLang="en-US" dirty="0">
                <a:solidFill>
                  <a:schemeClr val="tx1"/>
                </a:solidFill>
              </a:endParaRPr>
            </a:p>
          </p:txBody>
        </p:sp>
        <p:cxnSp>
          <p:nvCxnSpPr>
            <p:cNvPr id="35" name="直接连接符 34"/>
            <p:cNvCxnSpPr>
              <a:stCxn id="30" idx="4"/>
            </p:cNvCxnSpPr>
            <p:nvPr/>
          </p:nvCxnSpPr>
          <p:spPr>
            <a:xfrm>
              <a:off x="1136961" y="2838893"/>
              <a:ext cx="319699" cy="430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1" idx="4"/>
            </p:cNvCxnSpPr>
            <p:nvPr/>
          </p:nvCxnSpPr>
          <p:spPr>
            <a:xfrm flipH="1">
              <a:off x="1892068" y="2849525"/>
              <a:ext cx="726442" cy="4465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p:cNvCxnSpPr>
            <p:nvPr/>
          </p:nvCxnSpPr>
          <p:spPr>
            <a:xfrm flipH="1">
              <a:off x="2221799" y="3040910"/>
              <a:ext cx="800386" cy="2445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Rectangle 3"/>
          <p:cNvSpPr txBox="1"/>
          <p:nvPr/>
        </p:nvSpPr>
        <p:spPr>
          <a:xfrm>
            <a:off x="258891" y="4051000"/>
            <a:ext cx="4989886"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3</a:t>
            </a:r>
            <a:r>
              <a:rPr lang="zh-CN" altLang="en-US" sz="2100" dirty="0" smtClean="0">
                <a:latin typeface="华文楷体" panose="02010600040101010101" pitchFamily="2" charset="-122"/>
              </a:rPr>
              <a:t>）班级</a:t>
            </a:r>
            <a:r>
              <a:rPr lang="zh-CN" altLang="en-US" sz="2100" dirty="0">
                <a:latin typeface="华文楷体" panose="02010600040101010101" pitchFamily="2" charset="-122"/>
              </a:rPr>
              <a:t>（班号，班级名）</a:t>
            </a:r>
            <a:endParaRPr lang="zh-CN" altLang="en-US" sz="2100" dirty="0">
              <a:latin typeface="华文楷体" panose="02010600040101010101" pitchFamily="2" charset="-122"/>
            </a:endParaRPr>
          </a:p>
        </p:txBody>
      </p:sp>
      <p:grpSp>
        <p:nvGrpSpPr>
          <p:cNvPr id="47" name="组合 46"/>
          <p:cNvGrpSpPr/>
          <p:nvPr/>
        </p:nvGrpSpPr>
        <p:grpSpPr>
          <a:xfrm>
            <a:off x="419306" y="4685613"/>
            <a:ext cx="2899971" cy="1302488"/>
            <a:chOff x="344878" y="2355112"/>
            <a:chExt cx="2899971" cy="1302488"/>
          </a:xfrm>
        </p:grpSpPr>
        <p:sp>
          <p:nvSpPr>
            <p:cNvPr id="48" name="矩形 47"/>
            <p:cNvSpPr/>
            <p:nvPr/>
          </p:nvSpPr>
          <p:spPr>
            <a:xfrm>
              <a:off x="1031360" y="3285460"/>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班级</a:t>
              </a:r>
              <a:endParaRPr lang="zh-CN" altLang="en-US" dirty="0">
                <a:solidFill>
                  <a:schemeClr val="tx1"/>
                </a:solidFill>
              </a:endParaRPr>
            </a:p>
          </p:txBody>
        </p:sp>
        <p:sp>
          <p:nvSpPr>
            <p:cNvPr id="49" name="椭圆 48"/>
            <p:cNvSpPr/>
            <p:nvPr/>
          </p:nvSpPr>
          <p:spPr>
            <a:xfrm>
              <a:off x="344878" y="2355112"/>
              <a:ext cx="1001999" cy="483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a:solidFill>
                    <a:srgbClr val="FF0000"/>
                  </a:solidFill>
                </a:rPr>
                <a:t>班号</a:t>
              </a:r>
              <a:endParaRPr lang="zh-CN" altLang="en-US" u="sng" dirty="0">
                <a:solidFill>
                  <a:srgbClr val="FF0000"/>
                </a:solidFill>
              </a:endParaRPr>
            </a:p>
          </p:txBody>
        </p:sp>
        <p:sp>
          <p:nvSpPr>
            <p:cNvPr id="50" name="椭圆 49"/>
            <p:cNvSpPr/>
            <p:nvPr/>
          </p:nvSpPr>
          <p:spPr>
            <a:xfrm>
              <a:off x="1827071" y="2392325"/>
              <a:ext cx="1417778"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a:solidFill>
                    <a:schemeClr val="tx1"/>
                  </a:solidFill>
                </a:rPr>
                <a:t>班级</a:t>
              </a:r>
              <a:r>
                <a:rPr lang="zh-CN" altLang="en-US" dirty="0" smtClean="0">
                  <a:solidFill>
                    <a:schemeClr val="tx1"/>
                  </a:solidFill>
                </a:rPr>
                <a:t>名</a:t>
              </a:r>
              <a:endParaRPr lang="zh-CN" altLang="en-US" dirty="0">
                <a:solidFill>
                  <a:schemeClr val="tx1"/>
                </a:solidFill>
              </a:endParaRPr>
            </a:p>
          </p:txBody>
        </p:sp>
        <p:cxnSp>
          <p:nvCxnSpPr>
            <p:cNvPr id="52" name="直接连接符 51"/>
            <p:cNvCxnSpPr>
              <a:stCxn id="49" idx="5"/>
            </p:cNvCxnSpPr>
            <p:nvPr/>
          </p:nvCxnSpPr>
          <p:spPr>
            <a:xfrm>
              <a:off x="1200138" y="2768045"/>
              <a:ext cx="256522" cy="5014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50" idx="4"/>
            </p:cNvCxnSpPr>
            <p:nvPr/>
          </p:nvCxnSpPr>
          <p:spPr>
            <a:xfrm flipH="1">
              <a:off x="1892068" y="2849525"/>
              <a:ext cx="643892" cy="4465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7" name="Rectangle 3"/>
          <p:cNvSpPr txBox="1"/>
          <p:nvPr/>
        </p:nvSpPr>
        <p:spPr>
          <a:xfrm>
            <a:off x="4551602" y="4017243"/>
            <a:ext cx="4064483"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4</a:t>
            </a:r>
            <a:r>
              <a:rPr lang="zh-CN" altLang="en-US" sz="2100" dirty="0" smtClean="0">
                <a:latin typeface="华文楷体" panose="02010600040101010101" pitchFamily="2" charset="-122"/>
              </a:rPr>
              <a:t>）教师</a:t>
            </a:r>
            <a:r>
              <a:rPr lang="zh-CN" altLang="en-US" sz="2100" dirty="0">
                <a:latin typeface="华文楷体" panose="02010600040101010101" pitchFamily="2" charset="-122"/>
              </a:rPr>
              <a:t>（工号，姓名，性别，职称）</a:t>
            </a:r>
            <a:endParaRPr lang="zh-CN" altLang="en-US" sz="2100" dirty="0">
              <a:latin typeface="华文楷体" panose="02010600040101010101" pitchFamily="2" charset="-122"/>
            </a:endParaRPr>
          </a:p>
        </p:txBody>
      </p:sp>
      <p:grpSp>
        <p:nvGrpSpPr>
          <p:cNvPr id="2" name="组合 1"/>
          <p:cNvGrpSpPr/>
          <p:nvPr/>
        </p:nvGrpSpPr>
        <p:grpSpPr>
          <a:xfrm>
            <a:off x="4463272" y="4869946"/>
            <a:ext cx="3979234" cy="1303468"/>
            <a:chOff x="4463272" y="4869946"/>
            <a:chExt cx="3979234" cy="1303468"/>
          </a:xfrm>
        </p:grpSpPr>
        <p:grpSp>
          <p:nvGrpSpPr>
            <p:cNvPr id="58" name="组合 57"/>
            <p:cNvGrpSpPr/>
            <p:nvPr/>
          </p:nvGrpSpPr>
          <p:grpSpPr>
            <a:xfrm>
              <a:off x="4463272" y="4869946"/>
              <a:ext cx="2870934" cy="1303468"/>
              <a:chOff x="-191528" y="2354132"/>
              <a:chExt cx="2870934" cy="1303468"/>
            </a:xfrm>
          </p:grpSpPr>
          <p:sp>
            <p:nvSpPr>
              <p:cNvPr id="59" name="矩形 58"/>
              <p:cNvSpPr/>
              <p:nvPr/>
            </p:nvSpPr>
            <p:spPr>
              <a:xfrm>
                <a:off x="1031360" y="3285460"/>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教师</a:t>
                </a:r>
                <a:endParaRPr lang="zh-CN" altLang="en-US" dirty="0">
                  <a:solidFill>
                    <a:schemeClr val="tx1"/>
                  </a:solidFill>
                </a:endParaRPr>
              </a:p>
            </p:txBody>
          </p:sp>
          <p:sp>
            <p:nvSpPr>
              <p:cNvPr id="60" name="椭圆 59"/>
              <p:cNvSpPr/>
              <p:nvPr/>
            </p:nvSpPr>
            <p:spPr>
              <a:xfrm>
                <a:off x="-191528" y="2545395"/>
                <a:ext cx="1001999" cy="483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a:solidFill>
                      <a:srgbClr val="FF0000"/>
                    </a:solidFill>
                  </a:rPr>
                  <a:t>工</a:t>
                </a:r>
                <a:r>
                  <a:rPr lang="zh-CN" altLang="en-US" u="sng" dirty="0" smtClean="0">
                    <a:solidFill>
                      <a:srgbClr val="FF0000"/>
                    </a:solidFill>
                  </a:rPr>
                  <a:t>号</a:t>
                </a:r>
                <a:endParaRPr lang="zh-CN" altLang="en-US" u="sng" dirty="0">
                  <a:solidFill>
                    <a:srgbClr val="FF0000"/>
                  </a:solidFill>
                </a:endParaRPr>
              </a:p>
            </p:txBody>
          </p:sp>
          <p:sp>
            <p:nvSpPr>
              <p:cNvPr id="61" name="椭圆 60"/>
              <p:cNvSpPr/>
              <p:nvPr/>
            </p:nvSpPr>
            <p:spPr>
              <a:xfrm>
                <a:off x="1031360" y="2354132"/>
                <a:ext cx="923106"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姓名</a:t>
                </a:r>
                <a:endParaRPr lang="zh-CN" altLang="en-US" dirty="0">
                  <a:solidFill>
                    <a:schemeClr val="tx1"/>
                  </a:solidFill>
                </a:endParaRPr>
              </a:p>
            </p:txBody>
          </p:sp>
          <p:cxnSp>
            <p:nvCxnSpPr>
              <p:cNvPr id="62" name="直接连接符 61"/>
              <p:cNvCxnSpPr>
                <a:stCxn id="60" idx="5"/>
              </p:cNvCxnSpPr>
              <p:nvPr/>
            </p:nvCxnSpPr>
            <p:spPr>
              <a:xfrm>
                <a:off x="663732" y="2958328"/>
                <a:ext cx="559276" cy="327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61" idx="4"/>
              </p:cNvCxnSpPr>
              <p:nvPr/>
            </p:nvCxnSpPr>
            <p:spPr>
              <a:xfrm flipH="1">
                <a:off x="1341963" y="2811332"/>
                <a:ext cx="150950" cy="4741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椭圆 66"/>
            <p:cNvSpPr/>
            <p:nvPr/>
          </p:nvSpPr>
          <p:spPr>
            <a:xfrm>
              <a:off x="6766802" y="4918088"/>
              <a:ext cx="923106"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性别</a:t>
              </a:r>
              <a:endParaRPr lang="zh-CN" altLang="en-US" dirty="0">
                <a:solidFill>
                  <a:schemeClr val="tx1"/>
                </a:solidFill>
              </a:endParaRPr>
            </a:p>
          </p:txBody>
        </p:sp>
        <p:sp>
          <p:nvSpPr>
            <p:cNvPr id="68" name="椭圆 67"/>
            <p:cNvSpPr/>
            <p:nvPr/>
          </p:nvSpPr>
          <p:spPr>
            <a:xfrm>
              <a:off x="7519400" y="5316390"/>
              <a:ext cx="923106"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职称</a:t>
              </a:r>
              <a:endParaRPr lang="zh-CN" altLang="en-US" dirty="0">
                <a:solidFill>
                  <a:schemeClr val="tx1"/>
                </a:solidFill>
              </a:endParaRPr>
            </a:p>
          </p:txBody>
        </p:sp>
        <p:cxnSp>
          <p:nvCxnSpPr>
            <p:cNvPr id="69" name="直接连接符 68"/>
            <p:cNvCxnSpPr>
              <a:stCxn id="67" idx="3"/>
            </p:cNvCxnSpPr>
            <p:nvPr/>
          </p:nvCxnSpPr>
          <p:spPr>
            <a:xfrm flipH="1">
              <a:off x="6245436" y="5308333"/>
              <a:ext cx="656552" cy="4929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68" idx="2"/>
              <a:endCxn id="59" idx="0"/>
            </p:cNvCxnSpPr>
            <p:nvPr/>
          </p:nvCxnSpPr>
          <p:spPr>
            <a:xfrm flipH="1">
              <a:off x="6510183" y="5544990"/>
              <a:ext cx="1009217" cy="2562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ppt_x"/>
                                          </p:val>
                                        </p:tav>
                                        <p:tav tm="100000">
                                          <p:val>
                                            <p:strVal val="#ppt_x"/>
                                          </p:val>
                                        </p:tav>
                                      </p:tavLst>
                                    </p:anim>
                                    <p:anim calcmode="lin" valueType="num">
                                      <p:cBhvr additive="base">
                                        <p:cTn id="2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txBox="1"/>
          <p:nvPr/>
        </p:nvSpPr>
        <p:spPr>
          <a:xfrm>
            <a:off x="576898" y="1465263"/>
            <a:ext cx="8224837" cy="4398962"/>
          </a:xfrm>
          <a:prstGeom prst="rect">
            <a:avLst/>
          </a:prstGeom>
          <a:noFill/>
          <a:ln w="9525">
            <a:noFill/>
          </a:ln>
        </p:spPr>
        <p:txBody>
          <a:bodyPr anchor="t"/>
          <a:lstStyle/>
          <a:p>
            <a:pPr lvl="0" indent="0">
              <a:lnSpc>
                <a:spcPct val="115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联系（</a:t>
            </a:r>
            <a:r>
              <a:rPr lang="en-US" altLang="x-none" sz="2400" u="sng" dirty="0">
                <a:solidFill>
                  <a:srgbClr val="CC0000"/>
                </a:solidFill>
                <a:latin typeface="华文楷体" panose="02010600040101010101" pitchFamily="2" charset="-122"/>
                <a:ea typeface="宋体" panose="02010600030101010101" pitchFamily="2" charset="-122"/>
              </a:rPr>
              <a:t>Relationship</a:t>
            </a:r>
            <a:r>
              <a:rPr lang="zh-CN" altLang="en-US" sz="2400" u="sng" dirty="0">
                <a:solidFill>
                  <a:srgbClr val="CC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是两个或多个实体间的关联。</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15000"/>
              </a:lnSpc>
              <a:spcBef>
                <a:spcPts val="60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例如，</a:t>
            </a:r>
            <a:r>
              <a:rPr lang="zh-CN" altLang="en-US" sz="2200" u="sng" dirty="0">
                <a:solidFill>
                  <a:srgbClr val="FF0000"/>
                </a:solidFill>
                <a:latin typeface="+mn-ea"/>
                <a:ea typeface="+mn-ea"/>
              </a:rPr>
              <a:t>选课</a:t>
            </a:r>
            <a:r>
              <a:rPr lang="zh-CN" altLang="en-US" sz="2200" dirty="0">
                <a:latin typeface="楷体" panose="02010609060101010101" pitchFamily="1" charset="-122"/>
                <a:ea typeface="楷体" panose="02010609060101010101" pitchFamily="1" charset="-122"/>
              </a:rPr>
              <a:t>是</a:t>
            </a:r>
            <a:r>
              <a:rPr lang="zh-CN" altLang="en-US" sz="2200" u="sng" dirty="0">
                <a:solidFill>
                  <a:srgbClr val="0033CC"/>
                </a:solidFill>
                <a:latin typeface="楷体" panose="02010609060101010101" pitchFamily="1" charset="-122"/>
                <a:ea typeface="楷体" panose="02010609060101010101" pitchFamily="1" charset="-122"/>
              </a:rPr>
              <a:t>学生</a:t>
            </a:r>
            <a:r>
              <a:rPr lang="zh-CN" altLang="en-US" sz="2200" dirty="0">
                <a:latin typeface="楷体" panose="02010609060101010101" pitchFamily="1" charset="-122"/>
                <a:ea typeface="楷体" panose="02010609060101010101" pitchFamily="1" charset="-122"/>
              </a:rPr>
              <a:t>与</a:t>
            </a:r>
            <a:r>
              <a:rPr lang="zh-CN" altLang="en-US" sz="2200" u="sng" dirty="0">
                <a:solidFill>
                  <a:srgbClr val="0033CC"/>
                </a:solidFill>
                <a:latin typeface="楷体" panose="02010609060101010101" pitchFamily="1" charset="-122"/>
                <a:ea typeface="楷体" panose="02010609060101010101" pitchFamily="1" charset="-122"/>
              </a:rPr>
              <a:t>课程</a:t>
            </a:r>
            <a:r>
              <a:rPr lang="zh-CN" altLang="en-US" sz="2200" dirty="0">
                <a:latin typeface="楷体" panose="02010609060101010101" pitchFamily="1" charset="-122"/>
                <a:ea typeface="楷体" panose="02010609060101010101" pitchFamily="1" charset="-122"/>
              </a:rPr>
              <a:t>之间的联系；</a:t>
            </a:r>
            <a:r>
              <a:rPr lang="zh-CN" altLang="en-US" sz="2200" u="sng" dirty="0">
                <a:solidFill>
                  <a:srgbClr val="FF0000"/>
                </a:solidFill>
                <a:latin typeface="+mn-ea"/>
                <a:ea typeface="+mn-ea"/>
                <a:cs typeface="+mn-ea"/>
              </a:rPr>
              <a:t>班导</a:t>
            </a:r>
            <a:r>
              <a:rPr lang="zh-CN" altLang="en-US" sz="2200" dirty="0">
                <a:latin typeface="楷体" panose="02010609060101010101" pitchFamily="1" charset="-122"/>
                <a:ea typeface="楷体" panose="02010609060101010101" pitchFamily="1" charset="-122"/>
              </a:rPr>
              <a:t>是</a:t>
            </a:r>
            <a:r>
              <a:rPr lang="zh-CN" altLang="en-US" sz="2200" u="sng" dirty="0">
                <a:solidFill>
                  <a:srgbClr val="0033CC"/>
                </a:solidFill>
                <a:latin typeface="楷体" panose="02010609060101010101" pitchFamily="1" charset="-122"/>
                <a:ea typeface="楷体" panose="02010609060101010101" pitchFamily="1" charset="-122"/>
              </a:rPr>
              <a:t>教师</a:t>
            </a:r>
            <a:r>
              <a:rPr lang="zh-CN" altLang="en-US" sz="2200" dirty="0">
                <a:latin typeface="楷体" panose="02010609060101010101" pitchFamily="1" charset="-122"/>
                <a:ea typeface="楷体" panose="02010609060101010101" pitchFamily="1" charset="-122"/>
              </a:rPr>
              <a:t>和</a:t>
            </a:r>
            <a:r>
              <a:rPr lang="zh-CN" altLang="en-US" sz="2200" u="sng" dirty="0">
                <a:solidFill>
                  <a:srgbClr val="0033CC"/>
                </a:solidFill>
                <a:latin typeface="楷体" panose="02010609060101010101" pitchFamily="1" charset="-122"/>
                <a:ea typeface="楷体" panose="02010609060101010101" pitchFamily="1" charset="-122"/>
                <a:cs typeface="+mn-ea"/>
              </a:rPr>
              <a:t>班级</a:t>
            </a:r>
            <a:r>
              <a:rPr lang="zh-CN" altLang="en-US" sz="2200" dirty="0">
                <a:latin typeface="楷体" panose="02010609060101010101" pitchFamily="1" charset="-122"/>
                <a:ea typeface="楷体" panose="02010609060101010101" pitchFamily="1" charset="-122"/>
              </a:rPr>
              <a:t>之间的联系，</a:t>
            </a:r>
            <a:r>
              <a:rPr lang="zh-CN" altLang="en-US" sz="2200" u="sng" dirty="0">
                <a:solidFill>
                  <a:srgbClr val="FF0000"/>
                </a:solidFill>
                <a:latin typeface="+mn-ea"/>
                <a:ea typeface="+mn-ea"/>
                <a:cs typeface="+mn-ea"/>
              </a:rPr>
              <a:t>商品零售</a:t>
            </a:r>
            <a:r>
              <a:rPr lang="zh-CN" altLang="en-US" sz="2200" dirty="0">
                <a:latin typeface="楷体" panose="02010609060101010101" pitchFamily="1" charset="-122"/>
                <a:ea typeface="楷体" panose="02010609060101010101" pitchFamily="1" charset="-122"/>
              </a:rPr>
              <a:t>就是</a:t>
            </a:r>
            <a:r>
              <a:rPr lang="zh-CN" altLang="en-US" sz="2200" u="sng" dirty="0">
                <a:solidFill>
                  <a:srgbClr val="0033CC"/>
                </a:solidFill>
                <a:latin typeface="楷体" panose="02010609060101010101" pitchFamily="1" charset="-122"/>
                <a:ea typeface="楷体" panose="02010609060101010101" pitchFamily="1" charset="-122"/>
                <a:cs typeface="+mn-ea"/>
              </a:rPr>
              <a:t>客户</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cs typeface="+mn-ea"/>
              </a:rPr>
              <a:t>商品</a:t>
            </a:r>
            <a:r>
              <a:rPr lang="zh-CN" altLang="en-US" sz="2200" dirty="0">
                <a:latin typeface="楷体" panose="02010609060101010101" pitchFamily="1" charset="-122"/>
                <a:ea typeface="楷体" panose="02010609060101010101" pitchFamily="1" charset="-122"/>
              </a:rPr>
              <a:t>和</a:t>
            </a:r>
            <a:r>
              <a:rPr lang="zh-CN" altLang="en-US" sz="2200" u="sng" dirty="0">
                <a:solidFill>
                  <a:srgbClr val="0033CC"/>
                </a:solidFill>
                <a:latin typeface="楷体" panose="02010609060101010101" pitchFamily="1" charset="-122"/>
                <a:ea typeface="楷体" panose="02010609060101010101" pitchFamily="1" charset="-122"/>
                <a:cs typeface="+mn-ea"/>
              </a:rPr>
              <a:t>售货员</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lvl="0" indent="0">
              <a:lnSpc>
                <a:spcPct val="115000"/>
              </a:lnSpc>
              <a:spcBef>
                <a:spcPts val="600"/>
              </a:spcBef>
              <a:spcAft>
                <a:spcPts val="0"/>
              </a:spcAft>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 联系的描述属性（</a:t>
            </a:r>
            <a:r>
              <a:rPr lang="en-US" altLang="x-none" sz="2400" u="sng" dirty="0">
                <a:solidFill>
                  <a:srgbClr val="CC0000"/>
                </a:solidFill>
                <a:latin typeface="华文楷体" panose="02010600040101010101" pitchFamily="2" charset="-122"/>
                <a:ea typeface="宋体" panose="02010600030101010101" pitchFamily="2" charset="-122"/>
              </a:rPr>
              <a:t>Description Attribute</a:t>
            </a:r>
            <a:r>
              <a:rPr lang="zh-CN" altLang="en-US" sz="2400" u="sng" dirty="0">
                <a:solidFill>
                  <a:srgbClr val="CC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记录联系的信息而非实体的信息。</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15000"/>
              </a:lnSpc>
              <a:spcBef>
                <a:spcPts val="60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选课的</a:t>
            </a:r>
            <a:r>
              <a:rPr lang="zh-CN" altLang="en-US" sz="2200" i="1" dirty="0">
                <a:solidFill>
                  <a:srgbClr val="0033CC"/>
                </a:solidFill>
                <a:latin typeface="楷体" panose="02010609060101010101" pitchFamily="1" charset="-122"/>
                <a:ea typeface="楷体" panose="02010609060101010101" pitchFamily="1" charset="-122"/>
              </a:rPr>
              <a:t>成绩</a:t>
            </a:r>
            <a:r>
              <a:rPr lang="zh-CN" altLang="en-US" sz="2200" dirty="0">
                <a:latin typeface="楷体" panose="02010609060101010101" pitchFamily="1" charset="-122"/>
                <a:ea typeface="楷体" panose="02010609060101010101" pitchFamily="1" charset="-122"/>
              </a:rPr>
              <a:t>，零售商品的</a:t>
            </a:r>
            <a:r>
              <a:rPr lang="zh-CN" altLang="en-US" sz="2200" i="1" u="sng" dirty="0">
                <a:solidFill>
                  <a:srgbClr val="0033CC"/>
                </a:solidFill>
                <a:latin typeface="楷体" panose="02010609060101010101" pitchFamily="1" charset="-122"/>
                <a:ea typeface="楷体" panose="02010609060101010101" pitchFamily="1" charset="-122"/>
              </a:rPr>
              <a:t>数量、购置时间</a:t>
            </a:r>
            <a:r>
              <a:rPr lang="zh-CN" altLang="en-US" sz="2200" dirty="0">
                <a:latin typeface="楷体" panose="02010609060101010101" pitchFamily="1" charset="-122"/>
                <a:ea typeface="楷体" panose="02010609060101010101" pitchFamily="1" charset="-122"/>
              </a:rPr>
              <a:t>就是联系的描述属性。</a:t>
            </a:r>
            <a:endParaRPr lang="zh-CN" altLang="en-US" sz="2200" dirty="0">
              <a:latin typeface="楷体" panose="02010609060101010101" pitchFamily="1" charset="-122"/>
              <a:ea typeface="楷体" panose="02010609060101010101" pitchFamily="1" charset="-122"/>
            </a:endParaRPr>
          </a:p>
          <a:p>
            <a:pPr lvl="0" indent="0">
              <a:lnSpc>
                <a:spcPct val="115000"/>
              </a:lnSpc>
              <a:spcBef>
                <a:spcPts val="600"/>
              </a:spcBef>
              <a:spcAft>
                <a:spcPts val="0"/>
              </a:spcAft>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 联系的标识：</a:t>
            </a:r>
            <a:r>
              <a:rPr lang="zh-CN" altLang="en-US" sz="2200" dirty="0">
                <a:latin typeface="楷体" panose="02010609060101010101" pitchFamily="1" charset="-122"/>
                <a:ea typeface="楷体" panose="02010609060101010101" pitchFamily="1" charset="-122"/>
              </a:rPr>
              <a:t>联系的主键由参与实体的主键和联系的部分属性来确定。</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15000"/>
              </a:lnSpc>
              <a:spcBef>
                <a:spcPts val="6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选课（学号，课程号）；</a:t>
            </a:r>
            <a:endParaRPr lang="en-US" altLang="x-none" sz="2200" dirty="0">
              <a:latin typeface="楷体" panose="02010609060101010101" pitchFamily="1" charset="-122"/>
              <a:ea typeface="楷体" panose="02010609060101010101" pitchFamily="1" charset="-122"/>
            </a:endParaRPr>
          </a:p>
          <a:p>
            <a:pPr marL="363855" lvl="1" indent="-184150" eaLnBrk="1" hangingPunct="1">
              <a:lnSpc>
                <a:spcPct val="115000"/>
              </a:lnSpc>
              <a:spcBef>
                <a:spcPts val="6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零售（售货员号、客户号、商品条码、日期）。</a:t>
            </a:r>
            <a:endParaRPr lang="zh-CN" altLang="en-US" sz="2200" dirty="0">
              <a:latin typeface="楷体" panose="02010609060101010101" pitchFamily="1" charset="-122"/>
              <a:ea typeface="楷体" panose="02010609060101010101" pitchFamily="1" charset="-122"/>
            </a:endParaRPr>
          </a:p>
        </p:txBody>
      </p:sp>
      <p:sp>
        <p:nvSpPr>
          <p:cNvPr id="5" name="Rectangle 2"/>
          <p:cNvSpPr txBox="1"/>
          <p:nvPr/>
        </p:nvSpPr>
        <p:spPr>
          <a:xfrm>
            <a:off x="547370" y="875665"/>
            <a:ext cx="8190230" cy="580390"/>
          </a:xfrm>
          <a:prstGeom prst="rect">
            <a:avLst/>
          </a:prstGeom>
          <a:solidFill>
            <a:srgbClr val="FFFFFF"/>
          </a:solidFill>
          <a:ln w="9525">
            <a:noFill/>
          </a:ln>
        </p:spPr>
        <p:txBody>
          <a:bodyPr anchor="ctr"/>
          <a:lstStyle/>
          <a:p>
            <a:pPr lvl="0">
              <a:lnSpc>
                <a:spcPct val="100000"/>
              </a:lnSpc>
              <a:buFont typeface="Wingdings" panose="05000000000000000000" charset="0"/>
              <a:buChar char="p"/>
            </a:pPr>
            <a:r>
              <a:rPr lang="en-US" altLang="zh-CN" sz="2500" dirty="0">
                <a:solidFill>
                  <a:srgbClr val="0033CC"/>
                </a:solidFill>
                <a:latin typeface="华文中宋" panose="02010600040101010101" pitchFamily="2" charset="-122"/>
                <a:ea typeface="华文中宋" panose="02010600040101010101" pitchFamily="2" charset="-122"/>
              </a:rPr>
              <a:t> ER</a:t>
            </a:r>
            <a:r>
              <a:rPr lang="zh-CN" altLang="en-US" sz="2500" dirty="0">
                <a:solidFill>
                  <a:srgbClr val="0033CC"/>
                </a:solidFill>
                <a:latin typeface="华文中宋" panose="02010600040101010101" pitchFamily="2" charset="-122"/>
                <a:ea typeface="华文中宋" panose="02010600040101010101" pitchFamily="2" charset="-122"/>
              </a:rPr>
              <a:t>模型用联系型和属性来描述实体间联系</a:t>
            </a:r>
            <a:endParaRPr lang="zh-CN" altLang="en-US" sz="2500" dirty="0">
              <a:solidFill>
                <a:srgbClr val="0033CC"/>
              </a:solidFill>
              <a:latin typeface="华文中宋" panose="02010600040101010101" pitchFamily="2" charset="-122"/>
              <a:ea typeface="华文中宋" panose="02010600040101010101" pitchFamily="2" charset="-122"/>
            </a:endParaRPr>
          </a:p>
        </p:txBody>
      </p:sp>
      <p:sp>
        <p:nvSpPr>
          <p:cNvPr id="3" name="Rectangle 2"/>
          <p:cNvSpPr/>
          <p:nvPr/>
        </p:nvSpPr>
        <p:spPr>
          <a:xfrm>
            <a:off x="457200" y="10858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txBox="1"/>
          <p:nvPr/>
        </p:nvSpPr>
        <p:spPr>
          <a:xfrm>
            <a:off x="548640" y="1057275"/>
            <a:ext cx="8229600" cy="4157345"/>
          </a:xfrm>
          <a:prstGeom prst="rect">
            <a:avLst/>
          </a:prstGeom>
          <a:noFill/>
          <a:ln w="9525">
            <a:noFill/>
          </a:ln>
        </p:spPr>
        <p:txBody>
          <a:bodyPr anchor="t"/>
          <a:lstStyle/>
          <a:p>
            <a:pPr lvl="0" indent="0">
              <a:lnSpc>
                <a:spcPct val="140000"/>
              </a:lnSpc>
              <a:spcBef>
                <a:spcPts val="20"/>
              </a:spcBef>
              <a:spcAft>
                <a:spcPts val="0"/>
              </a:spcAft>
              <a:buClr>
                <a:srgbClr val="0033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rPr>
              <a:t>联系型（</a:t>
            </a:r>
            <a:r>
              <a:rPr lang="en-US" altLang="x-none" sz="2400" u="sng" dirty="0">
                <a:solidFill>
                  <a:srgbClr val="A50021"/>
                </a:solidFill>
                <a:latin typeface="华文楷体" panose="02010600040101010101" pitchFamily="2" charset="-122"/>
                <a:ea typeface="宋体" panose="02010600030101010101" pitchFamily="2" charset="-122"/>
              </a:rPr>
              <a:t>Relationship Set</a:t>
            </a:r>
            <a:r>
              <a:rPr lang="zh-CN" altLang="en-US" sz="2400" u="sng" dirty="0">
                <a:solidFill>
                  <a:srgbClr val="A50021"/>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同一类的一组联系简称为联系型。联系型的实例是联系的集合，在不混淆的情况下，联系型可简称为联系。</a:t>
            </a:r>
            <a:endParaRPr lang="zh-CN" altLang="en-US" sz="2200" dirty="0">
              <a:latin typeface="楷体" panose="02010609060101010101" pitchFamily="1" charset="-122"/>
              <a:ea typeface="楷体" panose="02010609060101010101" pitchFamily="1" charset="-122"/>
            </a:endParaRPr>
          </a:p>
          <a:p>
            <a:pPr lvl="0" indent="0">
              <a:lnSpc>
                <a:spcPct val="140000"/>
              </a:lnSpc>
              <a:spcBef>
                <a:spcPts val="20"/>
              </a:spcBef>
              <a:spcAft>
                <a:spcPts val="0"/>
              </a:spcAft>
              <a:buClr>
                <a:srgbClr val="0033CC"/>
              </a:buClr>
              <a:buSzPct val="80000"/>
              <a:buFont typeface="Wingdings" panose="05000000000000000000" pitchFamily="2" charset="2"/>
              <a:buChar char="u"/>
            </a:pPr>
            <a:r>
              <a:rPr lang="zh-CN" altLang="en-US" sz="2400" dirty="0">
                <a:solidFill>
                  <a:srgbClr val="A50021"/>
                </a:solidFill>
                <a:latin typeface="华文楷体" panose="02010600040101010101" pitchFamily="2" charset="-122"/>
                <a:ea typeface="宋体" panose="02010600030101010101" pitchFamily="2" charset="-122"/>
              </a:rPr>
              <a:t> </a:t>
            </a:r>
            <a:r>
              <a:rPr lang="zh-CN" altLang="en-US" sz="2400" u="sng" dirty="0">
                <a:solidFill>
                  <a:srgbClr val="A50021"/>
                </a:solidFill>
                <a:latin typeface="华文楷体" panose="02010600040101010101" pitchFamily="2" charset="-122"/>
                <a:ea typeface="宋体" panose="02010600030101010101" pitchFamily="2" charset="-122"/>
              </a:rPr>
              <a:t>联系类型的阶（</a:t>
            </a:r>
            <a:r>
              <a:rPr lang="en-US" altLang="x-none" sz="2400" u="sng" dirty="0">
                <a:solidFill>
                  <a:srgbClr val="A50021"/>
                </a:solidFill>
                <a:latin typeface="华文楷体" panose="02010600040101010101" pitchFamily="2" charset="-122"/>
                <a:ea typeface="宋体" panose="02010600030101010101" pitchFamily="2" charset="-122"/>
              </a:rPr>
              <a:t>Degree</a:t>
            </a:r>
            <a:r>
              <a:rPr lang="zh-CN" altLang="en-US" sz="2400" u="sng" dirty="0">
                <a:solidFill>
                  <a:srgbClr val="A50021"/>
                </a:solidFill>
                <a:latin typeface="华文楷体" panose="02010600040101010101" pitchFamily="2" charset="-122"/>
                <a:ea typeface="宋体" panose="02010600030101010101" pitchFamily="2" charset="-122"/>
              </a:rPr>
              <a:t>）： </a:t>
            </a:r>
            <a:r>
              <a:rPr lang="zh-CN" altLang="en-US" sz="2200" dirty="0">
                <a:latin typeface="楷体" panose="02010609060101010101" pitchFamily="1" charset="-122"/>
                <a:ea typeface="楷体" panose="02010609060101010101" pitchFamily="1" charset="-122"/>
              </a:rPr>
              <a:t>一个联系所关联的实体的数量。</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40000"/>
              </a:lnSpc>
              <a:spcBef>
                <a:spcPts val="2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阶为</a:t>
            </a:r>
            <a:r>
              <a:rPr lang="en-US" altLang="x-none" sz="2200" dirty="0">
                <a:latin typeface="楷体" panose="02010609060101010101" pitchFamily="1" charset="-122"/>
                <a:ea typeface="楷体" panose="02010609060101010101" pitchFamily="1" charset="-122"/>
              </a:rPr>
              <a:t>2</a:t>
            </a:r>
            <a:r>
              <a:rPr lang="zh-CN" altLang="en-US" sz="2200" dirty="0">
                <a:latin typeface="楷体" panose="02010609060101010101" pitchFamily="1" charset="-122"/>
                <a:ea typeface="楷体" panose="02010609060101010101" pitchFamily="1" charset="-122"/>
              </a:rPr>
              <a:t>的称之为二元联系（</a:t>
            </a:r>
            <a:r>
              <a:rPr lang="en-US" altLang="x-none" sz="2200" dirty="0">
                <a:latin typeface="楷体" panose="02010609060101010101" pitchFamily="1" charset="-122"/>
                <a:ea typeface="楷体" panose="02010609060101010101" pitchFamily="1" charset="-122"/>
              </a:rPr>
              <a:t>binary</a:t>
            </a:r>
            <a:r>
              <a:rPr lang="zh-CN" altLang="en-US" sz="2200" dirty="0">
                <a:latin typeface="楷体" panose="02010609060101010101" pitchFamily="1" charset="-122"/>
                <a:ea typeface="楷体" panose="02010609060101010101" pitchFamily="1" charset="-122"/>
              </a:rPr>
              <a:t>）：两个实体集之间的联系。</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40000"/>
              </a:lnSpc>
              <a:spcBef>
                <a:spcPts val="2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阶为</a:t>
            </a:r>
            <a:r>
              <a:rPr lang="en-US" altLang="x-none" sz="2200" dirty="0">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的称之为三元联系（</a:t>
            </a:r>
            <a:r>
              <a:rPr lang="en-US" altLang="x-none" sz="2200" dirty="0">
                <a:latin typeface="楷体" panose="02010609060101010101" pitchFamily="1" charset="-122"/>
                <a:ea typeface="楷体" panose="02010609060101010101" pitchFamily="1" charset="-122"/>
              </a:rPr>
              <a:t>ternary</a:t>
            </a:r>
            <a:r>
              <a:rPr lang="zh-CN" altLang="en-US" sz="2200" dirty="0">
                <a:latin typeface="楷体" panose="02010609060101010101" pitchFamily="1" charset="-122"/>
                <a:ea typeface="楷体" panose="02010609060101010101" pitchFamily="1" charset="-122"/>
              </a:rPr>
              <a:t>）：三个实体集之间的联系。</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40000"/>
              </a:lnSpc>
              <a:spcBef>
                <a:spcPts val="2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元联系（</a:t>
            </a:r>
            <a:r>
              <a:rPr lang="en-US" altLang="x-none" sz="2200" dirty="0">
                <a:latin typeface="楷体" panose="02010609060101010101" pitchFamily="1" charset="-122"/>
                <a:ea typeface="楷体" panose="02010609060101010101" pitchFamily="1" charset="-122"/>
              </a:rPr>
              <a:t>n-ary</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40000"/>
              </a:lnSpc>
              <a:spcBef>
                <a:spcPts val="2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例如，选课是二元联系；零售是三元联系。</a:t>
            </a:r>
            <a:endParaRPr lang="zh-CN" altLang="en-US" sz="2200" dirty="0">
              <a:latin typeface="楷体" panose="02010609060101010101" pitchFamily="1" charset="-122"/>
              <a:ea typeface="楷体" panose="02010609060101010101" pitchFamily="1" charset="-122"/>
            </a:endParaRPr>
          </a:p>
          <a:p>
            <a:pPr lvl="0" indent="0">
              <a:lnSpc>
                <a:spcPct val="140000"/>
              </a:lnSpc>
              <a:spcBef>
                <a:spcPts val="20"/>
              </a:spcBef>
              <a:spcAft>
                <a:spcPts val="0"/>
              </a:spcAft>
              <a:buClr>
                <a:srgbClr val="0033CC"/>
              </a:buClr>
              <a:buSzPct val="80000"/>
              <a:buFont typeface="Wingdings" panose="05000000000000000000" pitchFamily="2" charset="2"/>
              <a:buChar char="u"/>
            </a:pPr>
            <a:r>
              <a:rPr lang="zh-CN" altLang="en-US" sz="2400" dirty="0">
                <a:solidFill>
                  <a:srgbClr val="A50021"/>
                </a:solidFill>
                <a:latin typeface="华文楷体" panose="02010600040101010101" pitchFamily="2" charset="-122"/>
                <a:ea typeface="宋体" panose="02010600030101010101" pitchFamily="2" charset="-122"/>
              </a:rPr>
              <a:t> 联系用菱形图形表示。</a:t>
            </a:r>
            <a:endParaRPr lang="zh-CN" altLang="en-US" sz="2400" dirty="0">
              <a:solidFill>
                <a:srgbClr val="A50021"/>
              </a:solidFill>
              <a:latin typeface="华文楷体" panose="02010600040101010101" pitchFamily="2" charset="-122"/>
              <a:ea typeface="宋体" panose="02010600030101010101" pitchFamily="2" charset="-122"/>
            </a:endParaRPr>
          </a:p>
        </p:txBody>
      </p:sp>
      <p:sp>
        <p:nvSpPr>
          <p:cNvPr id="4"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10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10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174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 calcmode="lin" valueType="num">
                                      <p:cBhvr additive="base">
                                        <p:cTn id="17" dur="10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3174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1747">
                                            <p:txEl>
                                              <p:pRg st="3" end="3"/>
                                            </p:txEl>
                                          </p:spTgt>
                                        </p:tgtEl>
                                        <p:attrNameLst>
                                          <p:attrName>style.visibility</p:attrName>
                                        </p:attrNameLst>
                                      </p:cBhvr>
                                      <p:to>
                                        <p:strVal val="visible"/>
                                      </p:to>
                                    </p:set>
                                    <p:anim calcmode="lin" valueType="num">
                                      <p:cBhvr additive="base">
                                        <p:cTn id="21" dur="10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3174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1747">
                                            <p:txEl>
                                              <p:pRg st="4" end="4"/>
                                            </p:txEl>
                                          </p:spTgt>
                                        </p:tgtEl>
                                        <p:attrNameLst>
                                          <p:attrName>style.visibility</p:attrName>
                                        </p:attrNameLst>
                                      </p:cBhvr>
                                      <p:to>
                                        <p:strVal val="visible"/>
                                      </p:to>
                                    </p:set>
                                    <p:anim calcmode="lin" valueType="num">
                                      <p:cBhvr additive="base">
                                        <p:cTn id="25" dur="10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1747">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1747">
                                            <p:txEl>
                                              <p:pRg st="5" end="5"/>
                                            </p:txEl>
                                          </p:spTgt>
                                        </p:tgtEl>
                                        <p:attrNameLst>
                                          <p:attrName>style.visibility</p:attrName>
                                        </p:attrNameLst>
                                      </p:cBhvr>
                                      <p:to>
                                        <p:strVal val="visible"/>
                                      </p:to>
                                    </p:set>
                                    <p:anim calcmode="lin" valueType="num">
                                      <p:cBhvr additive="base">
                                        <p:cTn id="29" dur="1000" fill="hold"/>
                                        <p:tgtEl>
                                          <p:spTgt spid="31747">
                                            <p:txEl>
                                              <p:pRg st="5" end="5"/>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317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1747">
                                            <p:txEl>
                                              <p:pRg st="6" end="6"/>
                                            </p:txEl>
                                          </p:spTgt>
                                        </p:tgtEl>
                                        <p:attrNameLst>
                                          <p:attrName>style.visibility</p:attrName>
                                        </p:attrNameLst>
                                      </p:cBhvr>
                                      <p:to>
                                        <p:strVal val="visible"/>
                                      </p:to>
                                    </p:set>
                                    <p:anim calcmode="lin" valueType="num">
                                      <p:cBhvr additive="base">
                                        <p:cTn id="35" dur="1000" fill="hold"/>
                                        <p:tgtEl>
                                          <p:spTgt spid="31747">
                                            <p:txEl>
                                              <p:pRg st="6" end="6"/>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3174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3"/>
          <p:cNvSpPr/>
          <p:nvPr/>
        </p:nvSpPr>
        <p:spPr>
          <a:xfrm>
            <a:off x="4592955" y="1107123"/>
            <a:ext cx="3316288" cy="461962"/>
          </a:xfrm>
          <a:prstGeom prst="rect">
            <a:avLst/>
          </a:prstGeom>
          <a:noFill/>
          <a:ln w="9525">
            <a:noFill/>
          </a:ln>
        </p:spPr>
        <p:txBody>
          <a:bodyPr wrap="none" anchor="t">
            <a:spAutoFit/>
          </a:bodyPr>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C00000"/>
                </a:solidFill>
                <a:latin typeface="Arial" panose="020B0604020202020204" pitchFamily="34" charset="0"/>
                <a:ea typeface="宋体" panose="02010600030101010101" pitchFamily="2" charset="-122"/>
              </a:rPr>
              <a:t>联系类型的四种情况</a:t>
            </a:r>
            <a:endParaRPr lang="zh-CN" altLang="en-US" sz="2400" u="sng" dirty="0">
              <a:solidFill>
                <a:srgbClr val="C00000"/>
              </a:solidFill>
              <a:latin typeface="华文楷体" panose="02010600040101010101" pitchFamily="2" charset="-122"/>
              <a:ea typeface="宋体" panose="02010600030101010101" pitchFamily="2" charset="-122"/>
            </a:endParaRPr>
          </a:p>
        </p:txBody>
      </p:sp>
      <p:grpSp>
        <p:nvGrpSpPr>
          <p:cNvPr id="32772" name="Group 3"/>
          <p:cNvGrpSpPr/>
          <p:nvPr/>
        </p:nvGrpSpPr>
        <p:grpSpPr>
          <a:xfrm>
            <a:off x="4321175" y="1569085"/>
            <a:ext cx="1524000" cy="2243138"/>
            <a:chOff x="0" y="0"/>
            <a:chExt cx="960" cy="1413"/>
          </a:xfrm>
        </p:grpSpPr>
        <p:sp>
          <p:nvSpPr>
            <p:cNvPr id="34820" name="Line 4"/>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34821" name="Line 5"/>
            <p:cNvSpPr/>
            <p:nvPr/>
          </p:nvSpPr>
          <p:spPr>
            <a:xfrm flipH="1">
              <a:off x="240" y="672"/>
              <a:ext cx="0" cy="192"/>
            </a:xfrm>
            <a:prstGeom prst="line">
              <a:avLst/>
            </a:prstGeom>
            <a:ln w="25400" cap="flat" cmpd="sng">
              <a:solidFill>
                <a:srgbClr val="000000"/>
              </a:solidFill>
              <a:prstDash val="solid"/>
              <a:round/>
              <a:headEnd type="none" w="med" len="med"/>
              <a:tailEnd type="none" w="med" len="med"/>
            </a:ln>
          </p:spPr>
        </p:sp>
        <p:sp>
          <p:nvSpPr>
            <p:cNvPr id="34822" name="Line 6"/>
            <p:cNvSpPr/>
            <p:nvPr/>
          </p:nvSpPr>
          <p:spPr>
            <a:xfrm flipH="1">
              <a:off x="336" y="347"/>
              <a:ext cx="230" cy="133"/>
            </a:xfrm>
            <a:prstGeom prst="line">
              <a:avLst/>
            </a:prstGeom>
            <a:ln w="25400" cap="flat" cmpd="sng">
              <a:solidFill>
                <a:srgbClr val="000000"/>
              </a:solidFill>
              <a:prstDash val="solid"/>
              <a:round/>
              <a:headEnd type="none" w="med" len="med"/>
              <a:tailEnd type="none" w="med" len="med"/>
            </a:ln>
          </p:spPr>
        </p:sp>
        <p:sp>
          <p:nvSpPr>
            <p:cNvPr id="34823"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34824" name="Rectangle 8"/>
            <p:cNvSpPr/>
            <p:nvPr/>
          </p:nvSpPr>
          <p:spPr>
            <a:xfrm>
              <a:off x="37"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34825" name="AutoShape 9"/>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26" name="Oval 10"/>
            <p:cNvSpPr/>
            <p:nvPr/>
          </p:nvSpPr>
          <p:spPr>
            <a:xfrm>
              <a:off x="576" y="240"/>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27" name="Oval 11"/>
            <p:cNvSpPr/>
            <p:nvPr/>
          </p:nvSpPr>
          <p:spPr>
            <a:xfrm>
              <a:off x="576" y="624"/>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28" name="Rectangle 1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34829" name="Text Box 13"/>
            <p:cNvSpPr txBox="1"/>
            <p:nvPr/>
          </p:nvSpPr>
          <p:spPr>
            <a:xfrm>
              <a:off x="213" y="1131"/>
              <a:ext cx="471" cy="282"/>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32783" name="Group 14"/>
          <p:cNvGrpSpPr/>
          <p:nvPr/>
        </p:nvGrpSpPr>
        <p:grpSpPr>
          <a:xfrm>
            <a:off x="5768975" y="1554798"/>
            <a:ext cx="3200400" cy="2287587"/>
            <a:chOff x="0" y="0"/>
            <a:chExt cx="2016" cy="1441"/>
          </a:xfrm>
        </p:grpSpPr>
        <p:sp>
          <p:nvSpPr>
            <p:cNvPr id="34831" name="Line 15"/>
            <p:cNvSpPr/>
            <p:nvPr/>
          </p:nvSpPr>
          <p:spPr>
            <a:xfrm flipH="1" flipV="1">
              <a:off x="672" y="192"/>
              <a:ext cx="144" cy="288"/>
            </a:xfrm>
            <a:prstGeom prst="line">
              <a:avLst/>
            </a:prstGeom>
            <a:ln w="25400" cap="flat" cmpd="sng">
              <a:solidFill>
                <a:srgbClr val="000000"/>
              </a:solidFill>
              <a:prstDash val="solid"/>
              <a:round/>
              <a:headEnd type="none" w="med" len="med"/>
              <a:tailEnd type="none" w="med" len="med"/>
            </a:ln>
          </p:spPr>
        </p:sp>
        <p:sp>
          <p:nvSpPr>
            <p:cNvPr id="34832" name="Line 16"/>
            <p:cNvSpPr/>
            <p:nvPr/>
          </p:nvSpPr>
          <p:spPr>
            <a:xfrm flipH="1">
              <a:off x="1008" y="768"/>
              <a:ext cx="0" cy="96"/>
            </a:xfrm>
            <a:prstGeom prst="line">
              <a:avLst/>
            </a:prstGeom>
            <a:ln w="25400" cap="flat" cmpd="sng">
              <a:solidFill>
                <a:srgbClr val="000000"/>
              </a:solidFill>
              <a:prstDash val="solid"/>
              <a:round/>
              <a:headEnd type="none" w="med" len="med"/>
              <a:tailEnd type="none" w="med" len="med"/>
            </a:ln>
          </p:spPr>
        </p:sp>
        <p:sp>
          <p:nvSpPr>
            <p:cNvPr id="34833" name="Line 17"/>
            <p:cNvSpPr/>
            <p:nvPr/>
          </p:nvSpPr>
          <p:spPr>
            <a:xfrm flipH="1">
              <a:off x="1152" y="144"/>
              <a:ext cx="336" cy="288"/>
            </a:xfrm>
            <a:prstGeom prst="line">
              <a:avLst/>
            </a:prstGeom>
            <a:ln w="25400" cap="flat" cmpd="sng">
              <a:solidFill>
                <a:srgbClr val="000000"/>
              </a:solidFill>
              <a:prstDash val="solid"/>
              <a:round/>
              <a:headEnd type="none" w="med" len="med"/>
              <a:tailEnd type="none" w="med" len="med"/>
            </a:ln>
          </p:spPr>
        </p:sp>
        <p:sp>
          <p:nvSpPr>
            <p:cNvPr id="34834" name="Rectangle 18"/>
            <p:cNvSpPr/>
            <p:nvPr/>
          </p:nvSpPr>
          <p:spPr>
            <a:xfrm>
              <a:off x="384" y="0"/>
              <a:ext cx="528"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售货员</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35" name="Rectangle 19"/>
            <p:cNvSpPr/>
            <p:nvPr/>
          </p:nvSpPr>
          <p:spPr>
            <a:xfrm>
              <a:off x="816" y="864"/>
              <a:ext cx="401" cy="23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商品</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36" name="AutoShape 20"/>
            <p:cNvSpPr/>
            <p:nvPr/>
          </p:nvSpPr>
          <p:spPr>
            <a:xfrm>
              <a:off x="624" y="336"/>
              <a:ext cx="768" cy="43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门市零售</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37" name="Oval 21"/>
            <p:cNvSpPr/>
            <p:nvPr/>
          </p:nvSpPr>
          <p:spPr>
            <a:xfrm>
              <a:off x="0" y="864"/>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零售数量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38" name="Oval 22"/>
            <p:cNvSpPr/>
            <p:nvPr/>
          </p:nvSpPr>
          <p:spPr>
            <a:xfrm>
              <a:off x="1344" y="768"/>
              <a:ext cx="672" cy="4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销售日期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39" name="Rectangle 23"/>
            <p:cNvSpPr/>
            <p:nvPr/>
          </p:nvSpPr>
          <p:spPr>
            <a:xfrm>
              <a:off x="1296" y="0"/>
              <a:ext cx="401" cy="17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客户</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40" name="Line 24"/>
            <p:cNvSpPr/>
            <p:nvPr/>
          </p:nvSpPr>
          <p:spPr>
            <a:xfrm flipH="1">
              <a:off x="384" y="576"/>
              <a:ext cx="288" cy="288"/>
            </a:xfrm>
            <a:prstGeom prst="line">
              <a:avLst/>
            </a:prstGeom>
            <a:ln w="25400" cap="flat" cmpd="sng">
              <a:solidFill>
                <a:srgbClr val="000000"/>
              </a:solidFill>
              <a:prstDash val="solid"/>
              <a:round/>
              <a:headEnd type="none" w="med" len="med"/>
              <a:tailEnd type="none" w="med" len="med"/>
            </a:ln>
          </p:spPr>
        </p:sp>
        <p:sp>
          <p:nvSpPr>
            <p:cNvPr id="34841" name="Line 25"/>
            <p:cNvSpPr/>
            <p:nvPr/>
          </p:nvSpPr>
          <p:spPr>
            <a:xfrm flipH="1" flipV="1">
              <a:off x="1344" y="576"/>
              <a:ext cx="336" cy="192"/>
            </a:xfrm>
            <a:prstGeom prst="line">
              <a:avLst/>
            </a:prstGeom>
            <a:ln w="25400" cap="flat" cmpd="sng">
              <a:solidFill>
                <a:srgbClr val="000000"/>
              </a:solidFill>
              <a:prstDash val="solid"/>
              <a:round/>
              <a:headEnd type="none" w="med" len="med"/>
              <a:tailEnd type="none" w="med" len="med"/>
            </a:ln>
          </p:spPr>
        </p:sp>
        <p:sp>
          <p:nvSpPr>
            <p:cNvPr id="34842" name="Text Box 26"/>
            <p:cNvSpPr txBox="1"/>
            <p:nvPr/>
          </p:nvSpPr>
          <p:spPr>
            <a:xfrm>
              <a:off x="818" y="1159"/>
              <a:ext cx="722"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2</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32796" name="Group 27"/>
          <p:cNvGrpSpPr/>
          <p:nvPr/>
        </p:nvGrpSpPr>
        <p:grpSpPr>
          <a:xfrm>
            <a:off x="4252913" y="3931285"/>
            <a:ext cx="1828800" cy="2182813"/>
            <a:chOff x="0" y="0"/>
            <a:chExt cx="1152" cy="1375"/>
          </a:xfrm>
        </p:grpSpPr>
        <p:sp>
          <p:nvSpPr>
            <p:cNvPr id="34844" name="Text Box 28"/>
            <p:cNvSpPr txBox="1"/>
            <p:nvPr/>
          </p:nvSpPr>
          <p:spPr>
            <a:xfrm>
              <a:off x="277" y="1093"/>
              <a:ext cx="729"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3</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34845" name="Line 29"/>
            <p:cNvSpPr/>
            <p:nvPr/>
          </p:nvSpPr>
          <p:spPr>
            <a:xfrm flipV="1">
              <a:off x="240" y="192"/>
              <a:ext cx="240" cy="240"/>
            </a:xfrm>
            <a:prstGeom prst="line">
              <a:avLst/>
            </a:prstGeom>
            <a:ln w="25400" cap="flat" cmpd="sng">
              <a:solidFill>
                <a:srgbClr val="000000"/>
              </a:solidFill>
              <a:prstDash val="solid"/>
              <a:round/>
              <a:headEnd type="none" w="med" len="med"/>
              <a:tailEnd type="none" w="med" len="med"/>
            </a:ln>
          </p:spPr>
        </p:sp>
        <p:sp>
          <p:nvSpPr>
            <p:cNvPr id="34846" name="Line 30"/>
            <p:cNvSpPr/>
            <p:nvPr/>
          </p:nvSpPr>
          <p:spPr>
            <a:xfrm>
              <a:off x="240" y="672"/>
              <a:ext cx="240" cy="192"/>
            </a:xfrm>
            <a:prstGeom prst="line">
              <a:avLst/>
            </a:prstGeom>
            <a:ln w="25400" cap="flat" cmpd="sng">
              <a:solidFill>
                <a:srgbClr val="000000"/>
              </a:solidFill>
              <a:prstDash val="solid"/>
              <a:round/>
              <a:headEnd type="none" w="med" len="med"/>
              <a:tailEnd type="none" w="med" len="med"/>
            </a:ln>
          </p:spPr>
        </p:sp>
        <p:sp>
          <p:nvSpPr>
            <p:cNvPr id="34847" name="Rectangle 31"/>
            <p:cNvSpPr/>
            <p:nvPr/>
          </p:nvSpPr>
          <p:spPr>
            <a:xfrm>
              <a:off x="373"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部门</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48" name="AutoShape 32"/>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49" name="Rectangle 33"/>
            <p:cNvSpPr/>
            <p:nvPr/>
          </p:nvSpPr>
          <p:spPr>
            <a:xfrm>
              <a:off x="38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员工</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50" name="Line 34"/>
            <p:cNvSpPr/>
            <p:nvPr/>
          </p:nvSpPr>
          <p:spPr>
            <a:xfrm flipH="1" flipV="1">
              <a:off x="720" y="192"/>
              <a:ext cx="192" cy="240"/>
            </a:xfrm>
            <a:prstGeom prst="line">
              <a:avLst/>
            </a:prstGeom>
            <a:ln w="25400" cap="flat" cmpd="sng">
              <a:solidFill>
                <a:srgbClr val="000000"/>
              </a:solidFill>
              <a:prstDash val="solid"/>
              <a:round/>
              <a:headEnd type="none" w="med" len="med"/>
              <a:tailEnd type="none" w="med" len="med"/>
            </a:ln>
          </p:spPr>
        </p:sp>
        <p:sp>
          <p:nvSpPr>
            <p:cNvPr id="34851" name="Line 35"/>
            <p:cNvSpPr/>
            <p:nvPr/>
          </p:nvSpPr>
          <p:spPr>
            <a:xfrm flipH="1">
              <a:off x="720" y="672"/>
              <a:ext cx="192" cy="192"/>
            </a:xfrm>
            <a:prstGeom prst="line">
              <a:avLst/>
            </a:prstGeom>
            <a:ln w="25400" cap="flat" cmpd="sng">
              <a:solidFill>
                <a:srgbClr val="000000"/>
              </a:solidFill>
              <a:prstDash val="solid"/>
              <a:round/>
              <a:headEnd type="none" w="med" len="med"/>
              <a:tailEnd type="none" w="med" len="med"/>
            </a:ln>
          </p:spPr>
        </p:sp>
        <p:sp>
          <p:nvSpPr>
            <p:cNvPr id="34852" name="AutoShape 36"/>
            <p:cNvSpPr/>
            <p:nvPr/>
          </p:nvSpPr>
          <p:spPr>
            <a:xfrm>
              <a:off x="672"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32806" name="Group 37"/>
          <p:cNvGrpSpPr/>
          <p:nvPr/>
        </p:nvGrpSpPr>
        <p:grpSpPr>
          <a:xfrm>
            <a:off x="6518275" y="4104323"/>
            <a:ext cx="1676400" cy="2008187"/>
            <a:chOff x="0" y="0"/>
            <a:chExt cx="1056" cy="1265"/>
          </a:xfrm>
        </p:grpSpPr>
        <p:sp>
          <p:nvSpPr>
            <p:cNvPr id="34854" name="Rectangle 38"/>
            <p:cNvSpPr/>
            <p:nvPr/>
          </p:nvSpPr>
          <p:spPr>
            <a:xfrm>
              <a:off x="62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零件</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55" name="Line 39"/>
            <p:cNvSpPr/>
            <p:nvPr/>
          </p:nvSpPr>
          <p:spPr>
            <a:xfrm flipH="1" flipV="1">
              <a:off x="720" y="192"/>
              <a:ext cx="0" cy="624"/>
            </a:xfrm>
            <a:prstGeom prst="line">
              <a:avLst/>
            </a:prstGeom>
            <a:ln w="25400" cap="flat" cmpd="sng">
              <a:solidFill>
                <a:srgbClr val="000000"/>
              </a:solidFill>
              <a:prstDash val="solid"/>
              <a:round/>
              <a:headEnd type="none" w="med" len="med"/>
              <a:tailEnd type="none" w="med" len="med"/>
            </a:ln>
          </p:spPr>
        </p:sp>
        <p:sp>
          <p:nvSpPr>
            <p:cNvPr id="34856" name="Line 40"/>
            <p:cNvSpPr/>
            <p:nvPr/>
          </p:nvSpPr>
          <p:spPr>
            <a:xfrm flipH="1">
              <a:off x="912" y="192"/>
              <a:ext cx="0" cy="624"/>
            </a:xfrm>
            <a:prstGeom prst="line">
              <a:avLst/>
            </a:prstGeom>
            <a:ln w="25400" cap="flat" cmpd="sng">
              <a:solidFill>
                <a:srgbClr val="000000"/>
              </a:solidFill>
              <a:prstDash val="solid"/>
              <a:round/>
              <a:headEnd type="none" w="med" len="med"/>
              <a:tailEnd type="none" w="med" len="med"/>
            </a:ln>
          </p:spPr>
        </p:sp>
        <p:sp>
          <p:nvSpPr>
            <p:cNvPr id="34857" name="AutoShape 41"/>
            <p:cNvSpPr/>
            <p:nvPr/>
          </p:nvSpPr>
          <p:spPr>
            <a:xfrm>
              <a:off x="576" y="768"/>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装配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58" name="Rectangle 4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员工</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59" name="Line 43"/>
            <p:cNvSpPr/>
            <p:nvPr/>
          </p:nvSpPr>
          <p:spPr>
            <a:xfrm flipH="1">
              <a:off x="336" y="192"/>
              <a:ext cx="0" cy="624"/>
            </a:xfrm>
            <a:prstGeom prst="line">
              <a:avLst/>
            </a:prstGeom>
            <a:ln w="25400" cap="flat" cmpd="sng">
              <a:solidFill>
                <a:srgbClr val="000000"/>
              </a:solidFill>
              <a:prstDash val="solid"/>
              <a:round/>
              <a:headEnd type="none" w="med" len="med"/>
              <a:tailEnd type="none" w="med" len="med"/>
            </a:ln>
          </p:spPr>
        </p:sp>
        <p:sp>
          <p:nvSpPr>
            <p:cNvPr id="34860" name="AutoShape 44"/>
            <p:cNvSpPr/>
            <p:nvPr/>
          </p:nvSpPr>
          <p:spPr>
            <a:xfrm>
              <a:off x="0" y="768"/>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领导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61" name="Line 45"/>
            <p:cNvSpPr/>
            <p:nvPr/>
          </p:nvSpPr>
          <p:spPr>
            <a:xfrm flipH="1">
              <a:off x="144" y="192"/>
              <a:ext cx="0" cy="624"/>
            </a:xfrm>
            <a:prstGeom prst="line">
              <a:avLst/>
            </a:prstGeom>
            <a:ln w="25400" cap="flat" cmpd="sng">
              <a:solidFill>
                <a:srgbClr val="000000"/>
              </a:solidFill>
              <a:prstDash val="solid"/>
              <a:round/>
              <a:headEnd type="none" w="med" len="med"/>
              <a:tailEnd type="none" w="med" len="med"/>
            </a:ln>
          </p:spPr>
        </p:sp>
        <p:sp>
          <p:nvSpPr>
            <p:cNvPr id="34862" name="Text Box 46"/>
            <p:cNvSpPr txBox="1"/>
            <p:nvPr/>
          </p:nvSpPr>
          <p:spPr>
            <a:xfrm>
              <a:off x="336" y="983"/>
              <a:ext cx="587"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4</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32816" name="Text Box 47"/>
          <p:cNvSpPr txBox="1"/>
          <p:nvPr/>
        </p:nvSpPr>
        <p:spPr>
          <a:xfrm>
            <a:off x="465138" y="989330"/>
            <a:ext cx="3444875" cy="590550"/>
          </a:xfrm>
          <a:prstGeom prst="rect">
            <a:avLst/>
          </a:prstGeom>
          <a:noFill/>
          <a:ln w="9525">
            <a:noFill/>
          </a:ln>
        </p:spPr>
        <p:txBody>
          <a:bodyPr anchor="t">
            <a:spAutoFit/>
          </a:bodyPr>
          <a:lstStyle/>
          <a:p>
            <a:pPr marL="457200" lvl="0" indent="-457200">
              <a:buNone/>
            </a:pPr>
            <a:r>
              <a:rPr lang="zh-CN" altLang="en-US" sz="2400" dirty="0">
                <a:solidFill>
                  <a:srgbClr val="0000CC"/>
                </a:solidFill>
                <a:latin typeface="华文楷体" panose="02010600040101010101" pitchFamily="2" charset="-122"/>
                <a:ea typeface="华文楷体" panose="02010600040101010101" pitchFamily="2" charset="-122"/>
              </a:rPr>
              <a:t>（</a:t>
            </a:r>
            <a:r>
              <a:rPr lang="en-US" altLang="x-none" sz="2400" dirty="0">
                <a:solidFill>
                  <a:srgbClr val="0000CC"/>
                </a:solidFill>
                <a:latin typeface="华文楷体" panose="02010600040101010101" pitchFamily="2" charset="-122"/>
                <a:ea typeface="华文楷体" panose="02010600040101010101" pitchFamily="2" charset="-122"/>
              </a:rPr>
              <a:t>1</a:t>
            </a:r>
            <a:r>
              <a:rPr lang="zh-CN" altLang="en-US" sz="2400" dirty="0">
                <a:solidFill>
                  <a:srgbClr val="0000CC"/>
                </a:solidFill>
                <a:latin typeface="华文楷体" panose="02010600040101010101" pitchFamily="2" charset="-122"/>
                <a:ea typeface="华文楷体" panose="02010600040101010101" pitchFamily="2" charset="-122"/>
              </a:rPr>
              <a:t>）二元联系（</a:t>
            </a:r>
            <a:r>
              <a:rPr lang="en-US" altLang="x-none" sz="2400" dirty="0">
                <a:solidFill>
                  <a:srgbClr val="0000CC"/>
                </a:solidFill>
                <a:latin typeface="华文楷体" panose="02010600040101010101" pitchFamily="2" charset="-122"/>
                <a:ea typeface="华文楷体" panose="02010600040101010101" pitchFamily="2" charset="-122"/>
              </a:rPr>
              <a:t>binary</a:t>
            </a:r>
            <a:r>
              <a:rPr lang="zh-CN" altLang="en-US" sz="2400" dirty="0">
                <a:solidFill>
                  <a:srgbClr val="0000CC"/>
                </a:solidFill>
                <a:latin typeface="华文楷体" panose="02010600040101010101" pitchFamily="2" charset="-122"/>
                <a:ea typeface="华文楷体" panose="02010600040101010101" pitchFamily="2" charset="-122"/>
              </a:rPr>
              <a:t>）</a:t>
            </a:r>
            <a:endParaRPr lang="de-DE" altLang="en-US" sz="2400" dirty="0">
              <a:solidFill>
                <a:srgbClr val="0000CC"/>
              </a:solidFill>
              <a:latin typeface="华文楷体" panose="02010600040101010101" pitchFamily="2" charset="-122"/>
              <a:ea typeface="华文楷体" panose="02010600040101010101" pitchFamily="2" charset="-122"/>
            </a:endParaRPr>
          </a:p>
        </p:txBody>
      </p:sp>
      <p:sp>
        <p:nvSpPr>
          <p:cNvPr id="32817" name="Text Box 48"/>
          <p:cNvSpPr txBox="1"/>
          <p:nvPr/>
        </p:nvSpPr>
        <p:spPr>
          <a:xfrm>
            <a:off x="449263" y="1558608"/>
            <a:ext cx="3657600" cy="590550"/>
          </a:xfrm>
          <a:prstGeom prst="rect">
            <a:avLst/>
          </a:prstGeom>
          <a:noFill/>
          <a:ln w="9525">
            <a:noFill/>
          </a:ln>
        </p:spPr>
        <p:txBody>
          <a:bodyPr anchor="t">
            <a:spAutoFit/>
          </a:bodyPr>
          <a:lstStyle/>
          <a:p>
            <a:pPr marL="457200" lvl="0" indent="-457200">
              <a:buNone/>
            </a:pPr>
            <a:r>
              <a:rPr lang="zh-CN" altLang="en-US" sz="2400" dirty="0">
                <a:solidFill>
                  <a:srgbClr val="0000CC"/>
                </a:solidFill>
                <a:latin typeface="华文楷体" panose="02010600040101010101" pitchFamily="2" charset="-122"/>
                <a:ea typeface="华文楷体" panose="02010600040101010101" pitchFamily="2" charset="-122"/>
              </a:rPr>
              <a:t>（</a:t>
            </a:r>
            <a:r>
              <a:rPr lang="en-US" altLang="x-none" sz="2400" dirty="0">
                <a:solidFill>
                  <a:srgbClr val="0000CC"/>
                </a:solidFill>
                <a:latin typeface="华文楷体" panose="02010600040101010101" pitchFamily="2" charset="-122"/>
                <a:ea typeface="华文楷体" panose="02010600040101010101" pitchFamily="2" charset="-122"/>
              </a:rPr>
              <a:t>2</a:t>
            </a:r>
            <a:r>
              <a:rPr lang="zh-CN" altLang="en-US" sz="2400" dirty="0">
                <a:solidFill>
                  <a:srgbClr val="0000CC"/>
                </a:solidFill>
                <a:latin typeface="华文楷体" panose="02010600040101010101" pitchFamily="2" charset="-122"/>
                <a:ea typeface="华文楷体" panose="02010600040101010101" pitchFamily="2" charset="-122"/>
              </a:rPr>
              <a:t>）三元联系（</a:t>
            </a:r>
            <a:r>
              <a:rPr lang="en-US" altLang="x-none" sz="2400" dirty="0">
                <a:solidFill>
                  <a:srgbClr val="0000CC"/>
                </a:solidFill>
                <a:latin typeface="华文楷体" panose="02010600040101010101" pitchFamily="2" charset="-122"/>
                <a:ea typeface="华文楷体" panose="02010600040101010101" pitchFamily="2" charset="-122"/>
              </a:rPr>
              <a:t>ternary</a:t>
            </a:r>
            <a:r>
              <a:rPr lang="zh-CN" altLang="en-US" sz="2400" dirty="0">
                <a:solidFill>
                  <a:srgbClr val="0000CC"/>
                </a:solidFill>
                <a:latin typeface="华文楷体" panose="02010600040101010101" pitchFamily="2" charset="-122"/>
                <a:ea typeface="华文楷体" panose="02010600040101010101" pitchFamily="2" charset="-122"/>
              </a:rPr>
              <a:t>）</a:t>
            </a:r>
            <a:endParaRPr lang="de-DE" altLang="en-US" sz="2400" dirty="0">
              <a:solidFill>
                <a:srgbClr val="0000CC"/>
              </a:solidFill>
              <a:latin typeface="华文楷体" panose="02010600040101010101" pitchFamily="2" charset="-122"/>
              <a:ea typeface="华文楷体" panose="02010600040101010101" pitchFamily="2" charset="-122"/>
            </a:endParaRPr>
          </a:p>
        </p:txBody>
      </p:sp>
      <p:sp>
        <p:nvSpPr>
          <p:cNvPr id="32818" name="Text Box 49"/>
          <p:cNvSpPr txBox="1"/>
          <p:nvPr/>
        </p:nvSpPr>
        <p:spPr>
          <a:xfrm>
            <a:off x="0" y="2176145"/>
            <a:ext cx="4054475" cy="1714500"/>
          </a:xfrm>
          <a:prstGeom prst="rect">
            <a:avLst/>
          </a:prstGeom>
          <a:noFill/>
          <a:ln w="9525">
            <a:noFill/>
          </a:ln>
        </p:spPr>
        <p:txBody>
          <a:bodyPr anchor="t">
            <a:spAutoFit/>
          </a:bodyPr>
          <a:lstStyle/>
          <a:p>
            <a:pPr marL="457200" lvl="0" indent="-457200">
              <a:lnSpc>
                <a:spcPct val="110000"/>
              </a:lnSpc>
              <a:spcBef>
                <a:spcPts val="0"/>
              </a:spcBef>
              <a:buClr>
                <a:schemeClr val="tx1"/>
              </a:buClr>
              <a:buSzPct val="110000"/>
              <a:buNone/>
            </a:pPr>
            <a:r>
              <a:rPr lang="zh-CN" altLang="en-US" sz="2400" dirty="0">
                <a:solidFill>
                  <a:srgbClr val="0000CC"/>
                </a:solidFill>
                <a:latin typeface="华文楷体" panose="02010600040101010101" pitchFamily="2" charset="-122"/>
                <a:ea typeface="华文楷体" panose="02010600040101010101" pitchFamily="2" charset="-122"/>
              </a:rPr>
              <a:t>      （</a:t>
            </a:r>
            <a:r>
              <a:rPr lang="en-US" altLang="x-none" sz="2400" dirty="0">
                <a:solidFill>
                  <a:srgbClr val="0000CC"/>
                </a:solidFill>
                <a:latin typeface="华文楷体" panose="02010600040101010101" pitchFamily="2" charset="-122"/>
                <a:ea typeface="华文楷体" panose="02010600040101010101" pitchFamily="2" charset="-122"/>
              </a:rPr>
              <a:t>3</a:t>
            </a:r>
            <a:r>
              <a:rPr lang="zh-CN" altLang="en-US" sz="2400" dirty="0">
                <a:solidFill>
                  <a:srgbClr val="0000CC"/>
                </a:solidFill>
                <a:latin typeface="华文楷体" panose="02010600040101010101" pitchFamily="2" charset="-122"/>
                <a:ea typeface="华文楷体" panose="02010600040101010101" pitchFamily="2" charset="-122"/>
              </a:rPr>
              <a:t>）两个实体间可能有多个不同的联系；例如，某</a:t>
            </a:r>
            <a:r>
              <a:rPr lang="zh-CN" altLang="en-US" sz="2400" u="sng" dirty="0">
                <a:solidFill>
                  <a:srgbClr val="0000CC"/>
                </a:solidFill>
                <a:latin typeface="华文楷体" panose="02010600040101010101" pitchFamily="2" charset="-122"/>
                <a:ea typeface="华文楷体" panose="02010600040101010101" pitchFamily="2" charset="-122"/>
              </a:rPr>
              <a:t>员工</a:t>
            </a:r>
            <a:r>
              <a:rPr lang="zh-CN" altLang="en-US" sz="2400" dirty="0">
                <a:solidFill>
                  <a:srgbClr val="0000CC"/>
                </a:solidFill>
                <a:latin typeface="华文楷体" panose="02010600040101010101" pitchFamily="2" charset="-122"/>
                <a:ea typeface="华文楷体" panose="02010600040101010101" pitchFamily="2" charset="-122"/>
              </a:rPr>
              <a:t>在</a:t>
            </a:r>
            <a:r>
              <a:rPr lang="zh-CN" altLang="en-US" sz="2400" u="sng" dirty="0">
                <a:solidFill>
                  <a:srgbClr val="0000CC"/>
                </a:solidFill>
                <a:latin typeface="华文楷体" panose="02010600040101010101" pitchFamily="2" charset="-122"/>
                <a:ea typeface="华文楷体" panose="02010600040101010101" pitchFamily="2" charset="-122"/>
              </a:rPr>
              <a:t>部门</a:t>
            </a:r>
            <a:r>
              <a:rPr lang="zh-CN" altLang="en-US" sz="2400" dirty="0">
                <a:solidFill>
                  <a:srgbClr val="CC0000"/>
                </a:solidFill>
                <a:latin typeface="华文楷体" panose="02010600040101010101" pitchFamily="2" charset="-122"/>
                <a:ea typeface="华文楷体" panose="02010600040101010101" pitchFamily="2" charset="-122"/>
              </a:rPr>
              <a:t>工作</a:t>
            </a:r>
            <a:r>
              <a:rPr lang="zh-CN" altLang="en-US" sz="2400" dirty="0">
                <a:solidFill>
                  <a:srgbClr val="0000CC"/>
                </a:solidFill>
                <a:latin typeface="华文楷体" panose="02010600040101010101" pitchFamily="2" charset="-122"/>
                <a:ea typeface="华文楷体" panose="02010600040101010101" pitchFamily="2" charset="-122"/>
              </a:rPr>
              <a:t>，又作为主管</a:t>
            </a:r>
            <a:r>
              <a:rPr lang="zh-CN" altLang="en-US" sz="2400" dirty="0">
                <a:solidFill>
                  <a:srgbClr val="CC0000"/>
                </a:solidFill>
                <a:latin typeface="华文楷体" panose="02010600040101010101" pitchFamily="2" charset="-122"/>
                <a:ea typeface="华文楷体" panose="02010600040101010101" pitchFamily="2" charset="-122"/>
              </a:rPr>
              <a:t>管理</a:t>
            </a:r>
            <a:r>
              <a:rPr lang="zh-CN" altLang="en-US" sz="2400" dirty="0">
                <a:solidFill>
                  <a:srgbClr val="0000CC"/>
                </a:solidFill>
                <a:latin typeface="华文楷体" panose="02010600040101010101" pitchFamily="2" charset="-122"/>
                <a:ea typeface="华文楷体" panose="02010600040101010101" pitchFamily="2" charset="-122"/>
              </a:rPr>
              <a:t>该</a:t>
            </a:r>
            <a:r>
              <a:rPr lang="zh-CN" altLang="en-US" sz="2400" u="sng" dirty="0">
                <a:solidFill>
                  <a:srgbClr val="0000CC"/>
                </a:solidFill>
                <a:latin typeface="华文楷体" panose="02010600040101010101" pitchFamily="2" charset="-122"/>
                <a:ea typeface="华文楷体" panose="02010600040101010101" pitchFamily="2" charset="-122"/>
              </a:rPr>
              <a:t>部门。</a:t>
            </a:r>
            <a:endParaRPr lang="de-DE" altLang="en-US" sz="2400" dirty="0">
              <a:solidFill>
                <a:srgbClr val="0000CC"/>
              </a:solidFill>
              <a:latin typeface="华文楷体" panose="02010600040101010101" pitchFamily="2" charset="-122"/>
              <a:ea typeface="华文楷体" panose="02010600040101010101" pitchFamily="2" charset="-122"/>
            </a:endParaRPr>
          </a:p>
        </p:txBody>
      </p:sp>
      <p:sp>
        <p:nvSpPr>
          <p:cNvPr id="32819" name="Text Box 50"/>
          <p:cNvSpPr txBox="1"/>
          <p:nvPr/>
        </p:nvSpPr>
        <p:spPr>
          <a:xfrm>
            <a:off x="0" y="3897948"/>
            <a:ext cx="4137025" cy="2120900"/>
          </a:xfrm>
          <a:prstGeom prst="rect">
            <a:avLst/>
          </a:prstGeom>
          <a:noFill/>
          <a:ln w="9525">
            <a:noFill/>
          </a:ln>
        </p:spPr>
        <p:txBody>
          <a:bodyPr anchor="t">
            <a:spAutoFit/>
          </a:bodyPr>
          <a:lstStyle/>
          <a:p>
            <a:pPr marL="457200" lvl="0" indent="-457200">
              <a:lnSpc>
                <a:spcPct val="110000"/>
              </a:lnSpc>
              <a:spcBef>
                <a:spcPts val="0"/>
              </a:spcBef>
              <a:buClr>
                <a:schemeClr val="tx1"/>
              </a:buClr>
              <a:buSzPct val="110000"/>
              <a:buNone/>
            </a:pPr>
            <a:r>
              <a:rPr lang="en-US" altLang="x-none" sz="2400" dirty="0">
                <a:solidFill>
                  <a:srgbClr val="0000CC"/>
                </a:solidFill>
                <a:latin typeface="宋体" panose="02010600030101010101" pitchFamily="2" charset="-122"/>
                <a:ea typeface="华文楷体" panose="02010600040101010101" pitchFamily="2" charset="-122"/>
              </a:rPr>
              <a:t>   </a:t>
            </a:r>
            <a:r>
              <a:rPr lang="zh-CN" altLang="en-US" sz="2400" dirty="0">
                <a:solidFill>
                  <a:srgbClr val="0000CC"/>
                </a:solidFill>
                <a:latin typeface="宋体" panose="02010600030101010101" pitchFamily="2" charset="-122"/>
                <a:ea typeface="华文楷体" panose="02010600040101010101" pitchFamily="2" charset="-122"/>
              </a:rPr>
              <a:t>（</a:t>
            </a:r>
            <a:r>
              <a:rPr lang="en-US" altLang="x-none" sz="2400" dirty="0">
                <a:solidFill>
                  <a:srgbClr val="0000CC"/>
                </a:solidFill>
                <a:latin typeface="宋体" panose="02010600030101010101" pitchFamily="2" charset="-122"/>
                <a:ea typeface="华文楷体" panose="02010600040101010101" pitchFamily="2" charset="-122"/>
              </a:rPr>
              <a:t>4</a:t>
            </a:r>
            <a:r>
              <a:rPr lang="zh-CN" altLang="en-US" sz="2400" dirty="0">
                <a:solidFill>
                  <a:srgbClr val="0000CC"/>
                </a:solidFill>
                <a:latin typeface="宋体" panose="02010600030101010101" pitchFamily="2" charset="-122"/>
                <a:ea typeface="华文楷体" panose="02010600040101010101" pitchFamily="2" charset="-122"/>
              </a:rPr>
              <a:t>）</a:t>
            </a:r>
            <a:r>
              <a:rPr lang="zh-CN" altLang="en-US" sz="2400" dirty="0">
                <a:solidFill>
                  <a:srgbClr val="0000CC"/>
                </a:solidFill>
                <a:latin typeface="华文楷体" panose="02010600040101010101" pitchFamily="2" charset="-122"/>
                <a:ea typeface="华文楷体" panose="02010600040101010101" pitchFamily="2" charset="-122"/>
              </a:rPr>
              <a:t>一个联系所关联的是同一个实体类型中的两个实体实例；如员工集合中的</a:t>
            </a:r>
            <a:r>
              <a:rPr lang="zh-CN" altLang="en-US" sz="2400" u="sng" dirty="0">
                <a:solidFill>
                  <a:srgbClr val="0000CC"/>
                </a:solidFill>
                <a:latin typeface="华文楷体" panose="02010600040101010101" pitchFamily="2" charset="-122"/>
                <a:ea typeface="华文楷体" panose="02010600040101010101" pitchFamily="2" charset="-122"/>
              </a:rPr>
              <a:t>员工</a:t>
            </a:r>
            <a:r>
              <a:rPr lang="zh-CN" altLang="en-US" sz="2400" dirty="0">
                <a:solidFill>
                  <a:srgbClr val="0000CC"/>
                </a:solidFill>
                <a:latin typeface="华文楷体" panose="02010600040101010101" pitchFamily="2" charset="-122"/>
                <a:ea typeface="华文楷体" panose="02010600040101010101" pitchFamily="2" charset="-122"/>
              </a:rPr>
              <a:t>之间存在</a:t>
            </a:r>
            <a:r>
              <a:rPr lang="zh-CN" altLang="en-US" sz="2400" dirty="0">
                <a:solidFill>
                  <a:srgbClr val="CC0000"/>
                </a:solidFill>
                <a:latin typeface="华文楷体" panose="02010600040101010101" pitchFamily="2" charset="-122"/>
                <a:ea typeface="华文楷体" panose="02010600040101010101" pitchFamily="2" charset="-122"/>
              </a:rPr>
              <a:t>领导与被领导</a:t>
            </a:r>
            <a:r>
              <a:rPr lang="zh-CN" altLang="en-US" sz="2400" dirty="0">
                <a:solidFill>
                  <a:srgbClr val="0000CC"/>
                </a:solidFill>
                <a:latin typeface="华文楷体" panose="02010600040101010101" pitchFamily="2" charset="-122"/>
                <a:ea typeface="华文楷体" panose="02010600040101010101" pitchFamily="2" charset="-122"/>
              </a:rPr>
              <a:t>联系。</a:t>
            </a:r>
            <a:endParaRPr lang="de-DE" altLang="en-US" sz="2400" dirty="0">
              <a:solidFill>
                <a:srgbClr val="0000CC"/>
              </a:solidFill>
              <a:latin typeface="华文楷体" panose="02010600040101010101" pitchFamily="2" charset="-122"/>
              <a:ea typeface="华文楷体" panose="02010600040101010101" pitchFamily="2" charset="-122"/>
            </a:endParaRPr>
          </a:p>
        </p:txBody>
      </p:sp>
      <p:sp>
        <p:nvSpPr>
          <p:cNvPr id="4"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816"/>
                                        </p:tgtEl>
                                        <p:attrNameLst>
                                          <p:attrName>style.visibility</p:attrName>
                                        </p:attrNameLst>
                                      </p:cBhvr>
                                      <p:to>
                                        <p:strVal val="visible"/>
                                      </p:to>
                                    </p:set>
                                    <p:animEffect transition="in" filter="dissolve">
                                      <p:cBhvr>
                                        <p:cTn id="7" dur="500"/>
                                        <p:tgtEl>
                                          <p:spTgt spid="328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2772"/>
                                        </p:tgtEl>
                                        <p:attrNameLst>
                                          <p:attrName>style.visibility</p:attrName>
                                        </p:attrNameLst>
                                      </p:cBhvr>
                                      <p:to>
                                        <p:strVal val="visible"/>
                                      </p:to>
                                    </p:set>
                                    <p:anim calcmode="lin" valueType="num">
                                      <p:cBhvr additive="base">
                                        <p:cTn id="12" dur="500" fill="hold"/>
                                        <p:tgtEl>
                                          <p:spTgt spid="32772"/>
                                        </p:tgtEl>
                                        <p:attrNameLst>
                                          <p:attrName>ppt_x</p:attrName>
                                        </p:attrNameLst>
                                      </p:cBhvr>
                                      <p:tavLst>
                                        <p:tav tm="0">
                                          <p:val>
                                            <p:strVal val="#ppt_x"/>
                                          </p:val>
                                        </p:tav>
                                        <p:tav tm="100000">
                                          <p:val>
                                            <p:strVal val="#ppt_x"/>
                                          </p:val>
                                        </p:tav>
                                      </p:tavLst>
                                    </p:anim>
                                    <p:anim calcmode="lin" valueType="num">
                                      <p:cBhvr additive="base">
                                        <p:cTn id="13"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2817"/>
                                        </p:tgtEl>
                                        <p:attrNameLst>
                                          <p:attrName>style.visibility</p:attrName>
                                        </p:attrNameLst>
                                      </p:cBhvr>
                                      <p:to>
                                        <p:strVal val="visible"/>
                                      </p:to>
                                    </p:set>
                                    <p:animEffect transition="in" filter="dissolve">
                                      <p:cBhvr>
                                        <p:cTn id="18" dur="500"/>
                                        <p:tgtEl>
                                          <p:spTgt spid="3281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2783"/>
                                        </p:tgtEl>
                                        <p:attrNameLst>
                                          <p:attrName>style.visibility</p:attrName>
                                        </p:attrNameLst>
                                      </p:cBhvr>
                                      <p:to>
                                        <p:strVal val="visible"/>
                                      </p:to>
                                    </p:set>
                                    <p:anim calcmode="lin" valueType="num">
                                      <p:cBhvr additive="base">
                                        <p:cTn id="23" dur="500" fill="hold"/>
                                        <p:tgtEl>
                                          <p:spTgt spid="32783"/>
                                        </p:tgtEl>
                                        <p:attrNameLst>
                                          <p:attrName>ppt_x</p:attrName>
                                        </p:attrNameLst>
                                      </p:cBhvr>
                                      <p:tavLst>
                                        <p:tav tm="0">
                                          <p:val>
                                            <p:strVal val="#ppt_x"/>
                                          </p:val>
                                        </p:tav>
                                        <p:tav tm="100000">
                                          <p:val>
                                            <p:strVal val="#ppt_x"/>
                                          </p:val>
                                        </p:tav>
                                      </p:tavLst>
                                    </p:anim>
                                    <p:anim calcmode="lin" valueType="num">
                                      <p:cBhvr additive="base">
                                        <p:cTn id="24" dur="500" fill="hold"/>
                                        <p:tgtEl>
                                          <p:spTgt spid="3278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2818"/>
                                        </p:tgtEl>
                                        <p:attrNameLst>
                                          <p:attrName>style.visibility</p:attrName>
                                        </p:attrNameLst>
                                      </p:cBhvr>
                                      <p:to>
                                        <p:strVal val="visible"/>
                                      </p:to>
                                    </p:set>
                                    <p:animEffect transition="in" filter="dissolve">
                                      <p:cBhvr>
                                        <p:cTn id="29" dur="500"/>
                                        <p:tgtEl>
                                          <p:spTgt spid="32818"/>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2796"/>
                                        </p:tgtEl>
                                        <p:attrNameLst>
                                          <p:attrName>style.visibility</p:attrName>
                                        </p:attrNameLst>
                                      </p:cBhvr>
                                      <p:to>
                                        <p:strVal val="visible"/>
                                      </p:to>
                                    </p:set>
                                    <p:anim calcmode="lin" valueType="num">
                                      <p:cBhvr additive="base">
                                        <p:cTn id="34" dur="500" fill="hold"/>
                                        <p:tgtEl>
                                          <p:spTgt spid="32796"/>
                                        </p:tgtEl>
                                        <p:attrNameLst>
                                          <p:attrName>ppt_x</p:attrName>
                                        </p:attrNameLst>
                                      </p:cBhvr>
                                      <p:tavLst>
                                        <p:tav tm="0">
                                          <p:val>
                                            <p:strVal val="#ppt_x"/>
                                          </p:val>
                                        </p:tav>
                                        <p:tav tm="100000">
                                          <p:val>
                                            <p:strVal val="#ppt_x"/>
                                          </p:val>
                                        </p:tav>
                                      </p:tavLst>
                                    </p:anim>
                                    <p:anim calcmode="lin" valueType="num">
                                      <p:cBhvr additive="base">
                                        <p:cTn id="35" dur="500" fill="hold"/>
                                        <p:tgtEl>
                                          <p:spTgt spid="3279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2819"/>
                                        </p:tgtEl>
                                        <p:attrNameLst>
                                          <p:attrName>style.visibility</p:attrName>
                                        </p:attrNameLst>
                                      </p:cBhvr>
                                      <p:to>
                                        <p:strVal val="visible"/>
                                      </p:to>
                                    </p:set>
                                    <p:animEffect transition="in" filter="dissolve">
                                      <p:cBhvr>
                                        <p:cTn id="40" dur="500"/>
                                        <p:tgtEl>
                                          <p:spTgt spid="32819"/>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2806"/>
                                        </p:tgtEl>
                                        <p:attrNameLst>
                                          <p:attrName>style.visibility</p:attrName>
                                        </p:attrNameLst>
                                      </p:cBhvr>
                                      <p:to>
                                        <p:strVal val="visible"/>
                                      </p:to>
                                    </p:set>
                                    <p:anim calcmode="lin" valueType="num">
                                      <p:cBhvr additive="base">
                                        <p:cTn id="45" dur="500" fill="hold"/>
                                        <p:tgtEl>
                                          <p:spTgt spid="32806"/>
                                        </p:tgtEl>
                                        <p:attrNameLst>
                                          <p:attrName>ppt_x</p:attrName>
                                        </p:attrNameLst>
                                      </p:cBhvr>
                                      <p:tavLst>
                                        <p:tav tm="0">
                                          <p:val>
                                            <p:strVal val="#ppt_x"/>
                                          </p:val>
                                        </p:tav>
                                        <p:tav tm="100000">
                                          <p:val>
                                            <p:strVal val="#ppt_x"/>
                                          </p:val>
                                        </p:tav>
                                      </p:tavLst>
                                    </p:anim>
                                    <p:anim calcmode="lin" valueType="num">
                                      <p:cBhvr additive="base">
                                        <p:cTn id="46" dur="500" fill="hold"/>
                                        <p:tgtEl>
                                          <p:spTgt spid="328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16" grpId="0"/>
      <p:bldP spid="32817" grpId="0"/>
      <p:bldP spid="32818" grpId="0"/>
      <p:bldP spid="328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8090" y="777352"/>
            <a:ext cx="2759901" cy="746743"/>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FF0000"/>
                </a:solidFill>
                <a:latin typeface="Calibri" panose="020F0502020204030204" pitchFamily="34" charset="0"/>
                <a:cs typeface="Times New Roman" panose="02020603050405020304" pitchFamily="2" charset="0"/>
              </a:rPr>
              <a:t>知识</a:t>
            </a:r>
            <a:r>
              <a:rPr lang="zh-CN" altLang="en-US" sz="3200" kern="100" dirty="0" smtClean="0">
                <a:solidFill>
                  <a:srgbClr val="FF0000"/>
                </a:solidFill>
                <a:latin typeface="Calibri" panose="020F0502020204030204" pitchFamily="34" charset="0"/>
                <a:cs typeface="Times New Roman" panose="02020603050405020304" pitchFamily="2" charset="0"/>
              </a:rPr>
              <a:t>点检测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p:txBody>
      </p:sp>
      <p:sp>
        <p:nvSpPr>
          <p:cNvPr id="12" name="矩形 11"/>
          <p:cNvSpPr/>
          <p:nvPr/>
        </p:nvSpPr>
        <p:spPr>
          <a:xfrm>
            <a:off x="643051" y="1552836"/>
            <a:ext cx="8217460" cy="528606"/>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1</a:t>
            </a:r>
            <a:r>
              <a:rPr lang="zh-CN" altLang="en-US" sz="2100" dirty="0" smtClean="0">
                <a:solidFill>
                  <a:srgbClr val="000000"/>
                </a:solidFill>
                <a:latin typeface="宋体" panose="02010600030101010101" pitchFamily="2" charset="-122"/>
              </a:rPr>
              <a:t>、</a:t>
            </a:r>
            <a:r>
              <a:rPr lang="en-US" altLang="zh-CN" sz="2100" dirty="0" smtClean="0">
                <a:solidFill>
                  <a:srgbClr val="000000"/>
                </a:solidFill>
                <a:latin typeface="宋体" panose="02010600030101010101" pitchFamily="2" charset="-122"/>
              </a:rPr>
              <a:t>ER</a:t>
            </a:r>
            <a:r>
              <a:rPr lang="zh-CN" altLang="en-US" sz="2100" dirty="0" smtClean="0">
                <a:solidFill>
                  <a:srgbClr val="000000"/>
                </a:solidFill>
                <a:latin typeface="宋体" panose="02010600030101010101" pitchFamily="2" charset="-122"/>
              </a:rPr>
              <a:t>图用</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a:t>
            </a:r>
            <a:r>
              <a:rPr lang="zh-CN" altLang="en-US" sz="2100" dirty="0">
                <a:solidFill>
                  <a:srgbClr val="000000"/>
                </a:solidFill>
                <a:latin typeface="宋体" panose="02010600030101010101" pitchFamily="2" charset="-122"/>
              </a:rPr>
              <a:t>联系</a:t>
            </a:r>
            <a:r>
              <a:rPr lang="zh-CN" altLang="en-US" sz="2100" dirty="0" smtClean="0">
                <a:solidFill>
                  <a:srgbClr val="000000"/>
                </a:solidFill>
                <a:latin typeface="宋体" panose="02010600030101010101" pitchFamily="2" charset="-122"/>
              </a:rPr>
              <a:t>，用</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表示联系的属性。</a:t>
            </a:r>
            <a:endParaRPr lang="en-US" altLang="zh-CN" sz="2100" dirty="0" smtClean="0">
              <a:solidFill>
                <a:srgbClr val="000000"/>
              </a:solidFill>
              <a:latin typeface="宋体" panose="02010600030101010101" pitchFamily="2" charset="-122"/>
            </a:endParaRPr>
          </a:p>
        </p:txBody>
      </p:sp>
      <p:sp>
        <p:nvSpPr>
          <p:cNvPr id="14" name="Rectangle 3"/>
          <p:cNvSpPr txBox="1"/>
          <p:nvPr/>
        </p:nvSpPr>
        <p:spPr>
          <a:xfrm>
            <a:off x="797343" y="2694175"/>
            <a:ext cx="6464691" cy="557530"/>
          </a:xfrm>
          <a:prstGeom prst="rect">
            <a:avLst/>
          </a:prstGeom>
          <a:noFill/>
          <a:ln w="9525">
            <a:noFill/>
          </a:ln>
        </p:spPr>
        <p:txBody>
          <a:bodyPr anchor="t"/>
          <a:lstStyle/>
          <a:p>
            <a:pPr lvl="0" indent="0">
              <a:lnSpc>
                <a:spcPct val="120000"/>
              </a:lnSpc>
              <a:spcBef>
                <a:spcPts val="25"/>
              </a:spcBef>
              <a:buClrTx/>
              <a:buSzPct val="80000"/>
              <a:buNone/>
            </a:pPr>
            <a:r>
              <a:rPr lang="zh-CN" altLang="en-US" sz="2200" dirty="0" smtClean="0">
                <a:latin typeface="华文楷体" panose="02010600040101010101" pitchFamily="2" charset="-122"/>
              </a:rPr>
              <a:t>（</a:t>
            </a:r>
            <a:r>
              <a:rPr lang="en-US" altLang="zh-CN" sz="2200" dirty="0" smtClean="0">
                <a:latin typeface="华文楷体" panose="02010600040101010101" pitchFamily="2" charset="-122"/>
              </a:rPr>
              <a:t>1</a:t>
            </a:r>
            <a:r>
              <a:rPr lang="zh-CN" altLang="en-US" sz="2200" dirty="0" smtClean="0">
                <a:latin typeface="华文楷体" panose="02010600040101010101" pitchFamily="2" charset="-122"/>
              </a:rPr>
              <a:t>）</a:t>
            </a:r>
            <a:r>
              <a:rPr lang="zh-CN" altLang="en-US" sz="2200" dirty="0" smtClean="0">
                <a:latin typeface="华文楷体" panose="02010600040101010101" pitchFamily="2" charset="-122"/>
                <a:ea typeface="宋体" panose="02010600030101010101" pitchFamily="2" charset="-122"/>
              </a:rPr>
              <a:t>学生</a:t>
            </a:r>
            <a:r>
              <a:rPr lang="zh-CN" altLang="en-US" sz="2200" dirty="0">
                <a:latin typeface="华文楷体" panose="02010600040101010101" pitchFamily="2" charset="-122"/>
                <a:ea typeface="宋体" panose="02010600030101010101" pitchFamily="2" charset="-122"/>
              </a:rPr>
              <a:t>（学号，姓名，性别，身份证号，年龄）</a:t>
            </a:r>
            <a:endParaRPr lang="zh-CN" altLang="en-US" sz="2200" dirty="0">
              <a:latin typeface="华文楷体" panose="02010600040101010101" pitchFamily="2" charset="-122"/>
              <a:ea typeface="宋体" panose="02010600030101010101" pitchFamily="2" charset="-122"/>
            </a:endParaRPr>
          </a:p>
        </p:txBody>
      </p:sp>
      <p:sp>
        <p:nvSpPr>
          <p:cNvPr id="15" name="Rectangle 3"/>
          <p:cNvSpPr txBox="1"/>
          <p:nvPr/>
        </p:nvSpPr>
        <p:spPr>
          <a:xfrm>
            <a:off x="797343" y="3176017"/>
            <a:ext cx="7464152" cy="557530"/>
          </a:xfrm>
          <a:prstGeom prst="rect">
            <a:avLst/>
          </a:prstGeom>
          <a:noFill/>
          <a:ln w="9525">
            <a:noFill/>
          </a:ln>
        </p:spPr>
        <p:txBody>
          <a:bodyPr anchor="t"/>
          <a:lstStyle/>
          <a:p>
            <a:pPr lvl="0" indent="0">
              <a:lnSpc>
                <a:spcPct val="120000"/>
              </a:lnSpc>
              <a:spcBef>
                <a:spcPts val="25"/>
              </a:spcBef>
              <a:buClrTx/>
              <a:buSzPct val="80000"/>
              <a:buNone/>
            </a:pPr>
            <a:r>
              <a:rPr lang="zh-CN" altLang="en-US" sz="2200" dirty="0" smtClean="0">
                <a:latin typeface="华文楷体" panose="02010600040101010101" pitchFamily="2" charset="-122"/>
              </a:rPr>
              <a:t>（</a:t>
            </a:r>
            <a:r>
              <a:rPr lang="en-US" altLang="zh-CN" sz="2200" dirty="0" smtClean="0">
                <a:latin typeface="华文楷体" panose="02010600040101010101" pitchFamily="2" charset="-122"/>
              </a:rPr>
              <a:t>2</a:t>
            </a:r>
            <a:r>
              <a:rPr lang="zh-CN" altLang="en-US" sz="2200" dirty="0" smtClean="0">
                <a:latin typeface="华文楷体" panose="02010600040101010101" pitchFamily="2" charset="-122"/>
              </a:rPr>
              <a:t>）</a:t>
            </a:r>
            <a:r>
              <a:rPr lang="zh-CN" altLang="en-US" sz="2200" dirty="0" smtClean="0">
                <a:latin typeface="华文楷体" panose="02010600040101010101" pitchFamily="2" charset="-122"/>
                <a:ea typeface="宋体" panose="02010600030101010101" pitchFamily="2" charset="-122"/>
              </a:rPr>
              <a:t>课程</a:t>
            </a:r>
            <a:r>
              <a:rPr lang="zh-CN" altLang="en-US" sz="2200" dirty="0">
                <a:latin typeface="华文楷体" panose="02010600040101010101" pitchFamily="2" charset="-122"/>
                <a:ea typeface="宋体" panose="02010600030101010101" pitchFamily="2" charset="-122"/>
              </a:rPr>
              <a:t>（课程编号，课程名，</a:t>
            </a:r>
            <a:r>
              <a:rPr lang="zh-CN" altLang="en-US" sz="2200" dirty="0" smtClean="0">
                <a:latin typeface="华文楷体" panose="02010600040101010101" pitchFamily="2" charset="-122"/>
                <a:ea typeface="宋体" panose="02010600030101010101" pitchFamily="2" charset="-122"/>
              </a:rPr>
              <a:t>学分）</a:t>
            </a:r>
            <a:endParaRPr lang="zh-CN" altLang="en-US" sz="2200" dirty="0">
              <a:latin typeface="华文楷体" panose="02010600040101010101" pitchFamily="2" charset="-122"/>
              <a:ea typeface="宋体" panose="02010600030101010101" pitchFamily="2" charset="-122"/>
            </a:endParaRPr>
          </a:p>
        </p:txBody>
      </p:sp>
      <p:sp>
        <p:nvSpPr>
          <p:cNvPr id="22" name="矩形 21"/>
          <p:cNvSpPr/>
          <p:nvPr/>
        </p:nvSpPr>
        <p:spPr>
          <a:xfrm>
            <a:off x="643051" y="2169979"/>
            <a:ext cx="8388835" cy="503279"/>
          </a:xfrm>
          <a:prstGeom prst="rect">
            <a:avLst/>
          </a:prstGeom>
        </p:spPr>
        <p:txBody>
          <a:bodyPr wrap="none">
            <a:spAutoFit/>
          </a:bodyPr>
          <a:lstStyle/>
          <a:p>
            <a:pPr lvl="0">
              <a:lnSpc>
                <a:spcPct val="120000"/>
              </a:lnSpc>
              <a:spcBef>
                <a:spcPts val="25"/>
              </a:spcBef>
              <a:buSzPct val="80000"/>
              <a:buNone/>
            </a:pPr>
            <a:r>
              <a:rPr lang="en-US" altLang="zh-CN" sz="2400" dirty="0" smtClean="0">
                <a:latin typeface="华文楷体" panose="02010600040101010101" pitchFamily="2" charset="-122"/>
                <a:cs typeface="+mn-ea"/>
              </a:rPr>
              <a:t>2</a:t>
            </a:r>
            <a:r>
              <a:rPr lang="zh-CN" altLang="en-US" sz="2400" dirty="0" smtClean="0">
                <a:latin typeface="华文楷体" panose="02010600040101010101" pitchFamily="2" charset="-122"/>
                <a:cs typeface="+mn-ea"/>
              </a:rPr>
              <a:t>、用</a:t>
            </a:r>
            <a:r>
              <a:rPr lang="zh-CN" altLang="en-US" sz="2400" dirty="0">
                <a:latin typeface="华文楷体" panose="02010600040101010101" pitchFamily="2" charset="-122"/>
                <a:cs typeface="+mn-ea"/>
                <a:sym typeface="+mn-ea"/>
              </a:rPr>
              <a:t>E</a:t>
            </a:r>
            <a:r>
              <a:rPr lang="en-US" altLang="zh-CN" sz="2400" dirty="0">
                <a:latin typeface="华文楷体" panose="02010600040101010101" pitchFamily="2" charset="-122"/>
                <a:sym typeface="+mn-ea"/>
              </a:rPr>
              <a:t>R</a:t>
            </a:r>
            <a:r>
              <a:rPr lang="zh-CN" altLang="en-US" sz="2400" dirty="0">
                <a:latin typeface="华文楷体" panose="02010600040101010101" pitchFamily="2" charset="-122"/>
                <a:sym typeface="+mn-ea"/>
              </a:rPr>
              <a:t>图</a:t>
            </a:r>
            <a:r>
              <a:rPr lang="zh-CN" altLang="en-US" sz="2400" dirty="0" smtClean="0">
                <a:latin typeface="华文楷体" panose="02010600040101010101" pitchFamily="2" charset="-122"/>
                <a:sym typeface="+mn-ea"/>
              </a:rPr>
              <a:t>表达</a:t>
            </a:r>
            <a:r>
              <a:rPr lang="zh-CN" altLang="en-US" sz="2400" dirty="0">
                <a:latin typeface="华文楷体" panose="02010600040101010101" pitchFamily="2" charset="-122"/>
              </a:rPr>
              <a:t>学生与课程之间存在</a:t>
            </a:r>
            <a:r>
              <a:rPr lang="en-US" altLang="zh-CN" sz="2400" dirty="0">
                <a:solidFill>
                  <a:srgbClr val="FF0000"/>
                </a:solidFill>
                <a:latin typeface="华文楷体" panose="02010600040101010101" pitchFamily="2" charset="-122"/>
              </a:rPr>
              <a:t>“</a:t>
            </a:r>
            <a:r>
              <a:rPr lang="zh-CN" altLang="en-US" sz="2400" dirty="0">
                <a:solidFill>
                  <a:srgbClr val="FF0000"/>
                </a:solidFill>
                <a:latin typeface="华文楷体" panose="02010600040101010101" pitchFamily="2" charset="-122"/>
              </a:rPr>
              <a:t>选课</a:t>
            </a:r>
            <a:r>
              <a:rPr lang="en-US" altLang="zh-CN" sz="2400" dirty="0">
                <a:solidFill>
                  <a:srgbClr val="FF0000"/>
                </a:solidFill>
                <a:latin typeface="华文楷体" panose="02010600040101010101" pitchFamily="2" charset="-122"/>
              </a:rPr>
              <a:t>”</a:t>
            </a:r>
            <a:r>
              <a:rPr lang="zh-CN" altLang="en-US" sz="2400" dirty="0">
                <a:latin typeface="华文楷体" panose="02010600040101010101" pitchFamily="2" charset="-122"/>
              </a:rPr>
              <a:t>联系（成绩）</a:t>
            </a:r>
            <a:endParaRPr lang="zh-CN" altLang="en-US" sz="2400" dirty="0">
              <a:latin typeface="华文楷体" panose="02010600040101010101" pitchFamily="2" charset="-122"/>
            </a:endParaRPr>
          </a:p>
        </p:txBody>
      </p:sp>
      <p:sp>
        <p:nvSpPr>
          <p:cNvPr id="8"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p:nvPr/>
        </p:nvSpPr>
        <p:spPr>
          <a:xfrm>
            <a:off x="480098" y="1543321"/>
            <a:ext cx="8367712" cy="3230697"/>
          </a:xfrm>
          <a:prstGeom prst="rect">
            <a:avLst/>
          </a:prstGeom>
          <a:noFill/>
          <a:ln w="9525">
            <a:noFill/>
          </a:ln>
        </p:spPr>
        <p:txBody>
          <a:bodyPr wrap="square" anchor="t"/>
          <a:lstStyle/>
          <a:p>
            <a:pPr marL="342900" lvl="0" indent="-342900">
              <a:lnSpc>
                <a:spcPct val="120000"/>
              </a:lnSpc>
              <a:spcBef>
                <a:spcPct val="20000"/>
              </a:spcBef>
              <a:spcAft>
                <a:spcPts val="600"/>
              </a:spcAft>
              <a:buClr>
                <a:srgbClr val="0033CC"/>
              </a:buClr>
              <a:buSzPct val="80000"/>
              <a:buFont typeface="Wingdings" panose="05000000000000000000" pitchFamily="2" charset="2"/>
              <a:buNone/>
            </a:pPr>
            <a:r>
              <a:rPr lang="en-US" altLang="zh-CN" sz="2200" b="1" dirty="0" smtClean="0">
                <a:latin typeface="华文楷体" panose="02010600040101010101" pitchFamily="2" charset="-122"/>
              </a:rPr>
              <a:t>3</a:t>
            </a:r>
            <a:r>
              <a:rPr lang="en-US" altLang="x-none" sz="2200" b="1" dirty="0" smtClean="0">
                <a:latin typeface="华文楷体" panose="02010600040101010101" pitchFamily="2" charset="-122"/>
              </a:rPr>
              <a:t>. </a:t>
            </a:r>
            <a:r>
              <a:rPr lang="zh-CN" altLang="en-US" sz="2200" b="1" dirty="0" smtClean="0">
                <a:latin typeface="华文楷体" panose="02010600040101010101" pitchFamily="2" charset="-122"/>
              </a:rPr>
              <a:t>设某商业集团数据库中有三个实体集。</a:t>
            </a:r>
            <a:endParaRPr lang="en-US" altLang="x-none" sz="2200" b="1" dirty="0" smtClean="0">
              <a:latin typeface="华文楷体" panose="02010600040101010101" pitchFamily="2" charset="-122"/>
            </a:endParaRPr>
          </a:p>
          <a:p>
            <a:pPr marL="342900" lvl="0" indent="-342900">
              <a:lnSpc>
                <a:spcPct val="120000"/>
              </a:lnSpc>
              <a:spcBef>
                <a:spcPts val="300"/>
              </a:spcBef>
              <a:buClr>
                <a:srgbClr val="0033CC"/>
              </a:buClr>
              <a:buSzPct val="80000"/>
              <a:buFont typeface="Wingdings" panose="05000000000000000000" pitchFamily="2" charset="2"/>
              <a:buNone/>
            </a:pPr>
            <a:r>
              <a:rPr lang="zh-CN" altLang="en-US" sz="2200" b="1" dirty="0" smtClean="0">
                <a:latin typeface="楷体" panose="02010609060101010101" pitchFamily="1" charset="-122"/>
                <a:ea typeface="楷体" panose="02010609060101010101" pitchFamily="1" charset="-122"/>
              </a:rPr>
              <a:t>一是“商店”实体集，属性有商店编号、商店名、地址等；</a:t>
            </a:r>
            <a:endParaRPr lang="en-US" altLang="x-none" sz="2200" b="1" dirty="0" smtClean="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None/>
            </a:pPr>
            <a:r>
              <a:rPr lang="zh-CN" altLang="en-US" sz="2200" b="1" dirty="0" smtClean="0">
                <a:latin typeface="楷体" panose="02010609060101010101" pitchFamily="1" charset="-122"/>
                <a:ea typeface="楷体" panose="02010609060101010101" pitchFamily="1" charset="-122"/>
              </a:rPr>
              <a:t>二是“商品”实体集，属性有商品号、商品名、规格、单价等；</a:t>
            </a:r>
            <a:endParaRPr lang="en-US" altLang="x-none" sz="2200" b="1" dirty="0" smtClean="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None/>
            </a:pPr>
            <a:r>
              <a:rPr lang="zh-CN" altLang="en-US" sz="2200" b="1" dirty="0" smtClean="0">
                <a:latin typeface="楷体" panose="02010609060101010101" pitchFamily="1" charset="-122"/>
                <a:ea typeface="楷体" panose="02010609060101010101" pitchFamily="1" charset="-122"/>
              </a:rPr>
              <a:t>三是“职工”实体集，属性有职工编号、姓名、性别、业绩等。</a:t>
            </a:r>
            <a:endParaRPr lang="zh-CN" altLang="en-US" sz="2200" b="1" dirty="0" smtClean="0">
              <a:latin typeface="楷体" panose="02010609060101010101" pitchFamily="1" charset="-122"/>
              <a:ea typeface="楷体" panose="02010609060101010101" pitchFamily="1" charset="-122"/>
            </a:endParaRPr>
          </a:p>
          <a:p>
            <a:pPr marL="342900" lvl="0" indent="-342900">
              <a:lnSpc>
                <a:spcPct val="120000"/>
              </a:lnSpc>
              <a:spcBef>
                <a:spcPts val="700"/>
              </a:spcBef>
              <a:buClr>
                <a:srgbClr val="0033CC"/>
              </a:buClr>
              <a:buSzPct val="80000"/>
              <a:buFont typeface="Wingdings" panose="05000000000000000000" pitchFamily="2" charset="2"/>
              <a:buNone/>
            </a:pPr>
            <a:r>
              <a:rPr lang="zh-CN" altLang="en-US" sz="2200" b="1" dirty="0" smtClean="0">
                <a:latin typeface="楷体" panose="02010609060101010101" pitchFamily="1" charset="-122"/>
                <a:ea typeface="楷体" panose="02010609060101010101" pitchFamily="1" charset="-122"/>
              </a:rPr>
              <a:t>商店与商品间存在“销售”联系，每个商店可销售多种商品，每种商品也可放在多个商店销售，每个商店销售每一种商品，有月销售量；商店与职工间存在着“聘用”联系，每个商店有许多职工，每个职工只能在一个商店工作，商店聘用职工有聘期和月薪。</a:t>
            </a:r>
            <a:endParaRPr lang="zh-CN" altLang="en-US" sz="2200" b="1" dirty="0" smtClean="0">
              <a:latin typeface="楷体" panose="02010609060101010101" pitchFamily="1" charset="-122"/>
              <a:ea typeface="楷体" panose="02010609060101010101" pitchFamily="1" charset="-122"/>
            </a:endParaRPr>
          </a:p>
          <a:p>
            <a:pPr marL="342900" lvl="0" indent="-342900">
              <a:lnSpc>
                <a:spcPct val="120000"/>
              </a:lnSpc>
              <a:spcBef>
                <a:spcPts val="700"/>
              </a:spcBef>
              <a:buClr>
                <a:srgbClr val="FF0000"/>
              </a:buClr>
              <a:buSzPct val="100000"/>
              <a:buFont typeface="Wingdings" panose="05000000000000000000" pitchFamily="2" charset="2"/>
              <a:buChar char="p"/>
            </a:pPr>
            <a:r>
              <a:rPr lang="zh-CN" altLang="en-US" sz="2200" b="1" dirty="0" smtClean="0">
                <a:solidFill>
                  <a:srgbClr val="FF0000"/>
                </a:solidFill>
                <a:latin typeface="华文楷体" panose="02010600040101010101" pitchFamily="2" charset="-122"/>
              </a:rPr>
              <a:t>试画出</a:t>
            </a:r>
            <a:r>
              <a:rPr lang="en-US" altLang="x-none" sz="2200" b="1" dirty="0" smtClean="0">
                <a:solidFill>
                  <a:srgbClr val="FF0000"/>
                </a:solidFill>
                <a:latin typeface="华文楷体" panose="02010600040101010101" pitchFamily="2" charset="-122"/>
              </a:rPr>
              <a:t>ER</a:t>
            </a:r>
            <a:r>
              <a:rPr lang="zh-CN" altLang="en-US" sz="2200" b="1" dirty="0" smtClean="0">
                <a:solidFill>
                  <a:srgbClr val="FF0000"/>
                </a:solidFill>
                <a:latin typeface="华文楷体" panose="02010600040101010101" pitchFamily="2" charset="-122"/>
              </a:rPr>
              <a:t>图。</a:t>
            </a:r>
            <a:endParaRPr lang="zh-CN" altLang="en-US" sz="2200" b="1" dirty="0">
              <a:solidFill>
                <a:srgbClr val="FF0000"/>
              </a:solidFill>
              <a:latin typeface="华文楷体" panose="02010600040101010101" pitchFamily="2" charset="-122"/>
            </a:endParaRPr>
          </a:p>
        </p:txBody>
      </p:sp>
      <p:sp>
        <p:nvSpPr>
          <p:cNvPr id="6"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7" name="矩形 6"/>
          <p:cNvSpPr/>
          <p:nvPr/>
        </p:nvSpPr>
        <p:spPr>
          <a:xfrm>
            <a:off x="568090" y="761024"/>
            <a:ext cx="2759901" cy="746743"/>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FF0000"/>
                </a:solidFill>
                <a:latin typeface="Calibri" panose="020F0502020204030204" pitchFamily="34" charset="0"/>
                <a:cs typeface="Times New Roman" panose="02020603050405020304" pitchFamily="2" charset="0"/>
              </a:rPr>
              <a:t>知识</a:t>
            </a:r>
            <a:r>
              <a:rPr lang="zh-CN" altLang="en-US" sz="3200" kern="100" dirty="0" smtClean="0">
                <a:solidFill>
                  <a:srgbClr val="FF0000"/>
                </a:solidFill>
                <a:latin typeface="Calibri" panose="020F0502020204030204" pitchFamily="34" charset="0"/>
                <a:cs typeface="Times New Roman" panose="02020603050405020304" pitchFamily="2" charset="0"/>
              </a:rPr>
              <a:t>点检测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43051" y="1552836"/>
            <a:ext cx="8217460" cy="528606"/>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1</a:t>
            </a:r>
            <a:r>
              <a:rPr lang="zh-CN" altLang="en-US" sz="2100" dirty="0" smtClean="0">
                <a:solidFill>
                  <a:srgbClr val="000000"/>
                </a:solidFill>
                <a:latin typeface="宋体" panose="02010600030101010101" pitchFamily="2" charset="-122"/>
              </a:rPr>
              <a:t>、</a:t>
            </a:r>
            <a:r>
              <a:rPr lang="en-US" altLang="zh-CN" sz="2100" dirty="0" smtClean="0">
                <a:solidFill>
                  <a:srgbClr val="000000"/>
                </a:solidFill>
                <a:latin typeface="宋体" panose="02010600030101010101" pitchFamily="2" charset="-122"/>
              </a:rPr>
              <a:t>ER</a:t>
            </a:r>
            <a:r>
              <a:rPr lang="zh-CN" altLang="en-US" sz="2100" dirty="0" smtClean="0">
                <a:solidFill>
                  <a:srgbClr val="000000"/>
                </a:solidFill>
                <a:latin typeface="宋体" panose="02010600030101010101" pitchFamily="2" charset="-122"/>
              </a:rPr>
              <a:t>图用</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菱形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a:t>
            </a:r>
            <a:r>
              <a:rPr lang="zh-CN" altLang="en-US" sz="2100" dirty="0">
                <a:solidFill>
                  <a:srgbClr val="000000"/>
                </a:solidFill>
                <a:latin typeface="宋体" panose="02010600030101010101" pitchFamily="2" charset="-122"/>
              </a:rPr>
              <a:t>联系</a:t>
            </a:r>
            <a:r>
              <a:rPr lang="zh-CN" altLang="en-US" sz="2100" dirty="0" smtClean="0">
                <a:solidFill>
                  <a:srgbClr val="000000"/>
                </a:solidFill>
                <a:latin typeface="宋体" panose="02010600030101010101" pitchFamily="2" charset="-122"/>
              </a:rPr>
              <a:t>，用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椭圆形</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表示联系的属性。</a:t>
            </a:r>
            <a:endParaRPr lang="en-US" altLang="zh-CN" sz="2100" dirty="0" smtClean="0">
              <a:solidFill>
                <a:srgbClr val="000000"/>
              </a:solidFill>
              <a:latin typeface="宋体" panose="02010600030101010101" pitchFamily="2" charset="-122"/>
            </a:endParaRPr>
          </a:p>
        </p:txBody>
      </p:sp>
      <p:sp>
        <p:nvSpPr>
          <p:cNvPr id="14" name="Rectangle 3"/>
          <p:cNvSpPr txBox="1"/>
          <p:nvPr/>
        </p:nvSpPr>
        <p:spPr>
          <a:xfrm>
            <a:off x="797343" y="2694175"/>
            <a:ext cx="6464691" cy="557530"/>
          </a:xfrm>
          <a:prstGeom prst="rect">
            <a:avLst/>
          </a:prstGeom>
          <a:noFill/>
          <a:ln w="9525">
            <a:noFill/>
          </a:ln>
        </p:spPr>
        <p:txBody>
          <a:bodyPr anchor="t"/>
          <a:lstStyle/>
          <a:p>
            <a:pPr lvl="0" indent="0">
              <a:lnSpc>
                <a:spcPct val="120000"/>
              </a:lnSpc>
              <a:spcBef>
                <a:spcPts val="25"/>
              </a:spcBef>
              <a:buClrTx/>
              <a:buSzPct val="80000"/>
              <a:buNone/>
            </a:pPr>
            <a:r>
              <a:rPr lang="zh-CN" altLang="en-US" sz="2200" dirty="0" smtClean="0">
                <a:latin typeface="华文楷体" panose="02010600040101010101" pitchFamily="2" charset="-122"/>
              </a:rPr>
              <a:t>（</a:t>
            </a:r>
            <a:r>
              <a:rPr lang="en-US" altLang="zh-CN" sz="2200" dirty="0" smtClean="0">
                <a:latin typeface="华文楷体" panose="02010600040101010101" pitchFamily="2" charset="-122"/>
              </a:rPr>
              <a:t>1</a:t>
            </a:r>
            <a:r>
              <a:rPr lang="zh-CN" altLang="en-US" sz="2200" dirty="0" smtClean="0">
                <a:latin typeface="华文楷体" panose="02010600040101010101" pitchFamily="2" charset="-122"/>
              </a:rPr>
              <a:t>）</a:t>
            </a:r>
            <a:r>
              <a:rPr lang="zh-CN" altLang="en-US" sz="2200" dirty="0" smtClean="0">
                <a:latin typeface="华文楷体" panose="02010600040101010101" pitchFamily="2" charset="-122"/>
                <a:ea typeface="宋体" panose="02010600030101010101" pitchFamily="2" charset="-122"/>
              </a:rPr>
              <a:t>学生</a:t>
            </a:r>
            <a:r>
              <a:rPr lang="zh-CN" altLang="en-US" sz="2200" dirty="0">
                <a:latin typeface="华文楷体" panose="02010600040101010101" pitchFamily="2" charset="-122"/>
                <a:ea typeface="宋体" panose="02010600030101010101" pitchFamily="2" charset="-122"/>
              </a:rPr>
              <a:t>（学号，姓名，性别，身份证号，年龄）</a:t>
            </a:r>
            <a:endParaRPr lang="zh-CN" altLang="en-US" sz="2200" dirty="0">
              <a:latin typeface="华文楷体" panose="02010600040101010101" pitchFamily="2" charset="-122"/>
              <a:ea typeface="宋体" panose="02010600030101010101" pitchFamily="2" charset="-122"/>
            </a:endParaRPr>
          </a:p>
        </p:txBody>
      </p:sp>
      <p:sp>
        <p:nvSpPr>
          <p:cNvPr id="15" name="Rectangle 3"/>
          <p:cNvSpPr txBox="1"/>
          <p:nvPr/>
        </p:nvSpPr>
        <p:spPr>
          <a:xfrm>
            <a:off x="797343" y="3176017"/>
            <a:ext cx="7464152" cy="557530"/>
          </a:xfrm>
          <a:prstGeom prst="rect">
            <a:avLst/>
          </a:prstGeom>
          <a:noFill/>
          <a:ln w="9525">
            <a:noFill/>
          </a:ln>
        </p:spPr>
        <p:txBody>
          <a:bodyPr anchor="t"/>
          <a:lstStyle/>
          <a:p>
            <a:pPr lvl="0" indent="0">
              <a:lnSpc>
                <a:spcPct val="120000"/>
              </a:lnSpc>
              <a:spcBef>
                <a:spcPts val="25"/>
              </a:spcBef>
              <a:buClrTx/>
              <a:buSzPct val="80000"/>
              <a:buNone/>
            </a:pPr>
            <a:r>
              <a:rPr lang="zh-CN" altLang="en-US" sz="2200" dirty="0" smtClean="0">
                <a:latin typeface="华文楷体" panose="02010600040101010101" pitchFamily="2" charset="-122"/>
              </a:rPr>
              <a:t>（</a:t>
            </a:r>
            <a:r>
              <a:rPr lang="en-US" altLang="zh-CN" sz="2200" dirty="0" smtClean="0">
                <a:latin typeface="华文楷体" panose="02010600040101010101" pitchFamily="2" charset="-122"/>
              </a:rPr>
              <a:t>2</a:t>
            </a:r>
            <a:r>
              <a:rPr lang="zh-CN" altLang="en-US" sz="2200" dirty="0" smtClean="0">
                <a:latin typeface="华文楷体" panose="02010600040101010101" pitchFamily="2" charset="-122"/>
              </a:rPr>
              <a:t>）</a:t>
            </a:r>
            <a:r>
              <a:rPr lang="zh-CN" altLang="en-US" sz="2200" dirty="0" smtClean="0">
                <a:latin typeface="华文楷体" panose="02010600040101010101" pitchFamily="2" charset="-122"/>
                <a:ea typeface="宋体" panose="02010600030101010101" pitchFamily="2" charset="-122"/>
              </a:rPr>
              <a:t>课程</a:t>
            </a:r>
            <a:r>
              <a:rPr lang="zh-CN" altLang="en-US" sz="2200" dirty="0">
                <a:latin typeface="华文楷体" panose="02010600040101010101" pitchFamily="2" charset="-122"/>
                <a:ea typeface="宋体" panose="02010600030101010101" pitchFamily="2" charset="-122"/>
              </a:rPr>
              <a:t>（课程编号，课程名，</a:t>
            </a:r>
            <a:r>
              <a:rPr lang="zh-CN" altLang="en-US" sz="2200" dirty="0" smtClean="0">
                <a:latin typeface="华文楷体" panose="02010600040101010101" pitchFamily="2" charset="-122"/>
                <a:ea typeface="宋体" panose="02010600030101010101" pitchFamily="2" charset="-122"/>
              </a:rPr>
              <a:t>学分）</a:t>
            </a:r>
            <a:endParaRPr lang="zh-CN" altLang="en-US" sz="2200" dirty="0">
              <a:latin typeface="华文楷体" panose="02010600040101010101" pitchFamily="2" charset="-122"/>
              <a:ea typeface="宋体" panose="02010600030101010101" pitchFamily="2" charset="-122"/>
            </a:endParaRPr>
          </a:p>
        </p:txBody>
      </p:sp>
      <p:sp>
        <p:nvSpPr>
          <p:cNvPr id="22" name="矩形 21"/>
          <p:cNvSpPr/>
          <p:nvPr/>
        </p:nvSpPr>
        <p:spPr>
          <a:xfrm>
            <a:off x="643051" y="2169979"/>
            <a:ext cx="8388835" cy="503279"/>
          </a:xfrm>
          <a:prstGeom prst="rect">
            <a:avLst/>
          </a:prstGeom>
        </p:spPr>
        <p:txBody>
          <a:bodyPr wrap="none">
            <a:spAutoFit/>
          </a:bodyPr>
          <a:lstStyle/>
          <a:p>
            <a:pPr lvl="0">
              <a:lnSpc>
                <a:spcPct val="120000"/>
              </a:lnSpc>
              <a:spcBef>
                <a:spcPts val="25"/>
              </a:spcBef>
              <a:buSzPct val="80000"/>
              <a:buNone/>
            </a:pPr>
            <a:r>
              <a:rPr lang="en-US" altLang="zh-CN" sz="2400" dirty="0" smtClean="0">
                <a:latin typeface="华文楷体" panose="02010600040101010101" pitchFamily="2" charset="-122"/>
                <a:cs typeface="+mn-ea"/>
              </a:rPr>
              <a:t>2</a:t>
            </a:r>
            <a:r>
              <a:rPr lang="zh-CN" altLang="en-US" sz="2400" dirty="0" smtClean="0">
                <a:latin typeface="华文楷体" panose="02010600040101010101" pitchFamily="2" charset="-122"/>
                <a:cs typeface="+mn-ea"/>
              </a:rPr>
              <a:t>、用</a:t>
            </a:r>
            <a:r>
              <a:rPr lang="zh-CN" altLang="en-US" sz="2400" dirty="0">
                <a:latin typeface="华文楷体" panose="02010600040101010101" pitchFamily="2" charset="-122"/>
                <a:cs typeface="+mn-ea"/>
                <a:sym typeface="+mn-ea"/>
              </a:rPr>
              <a:t>E</a:t>
            </a:r>
            <a:r>
              <a:rPr lang="en-US" altLang="zh-CN" sz="2400" dirty="0">
                <a:latin typeface="华文楷体" panose="02010600040101010101" pitchFamily="2" charset="-122"/>
                <a:sym typeface="+mn-ea"/>
              </a:rPr>
              <a:t>R</a:t>
            </a:r>
            <a:r>
              <a:rPr lang="zh-CN" altLang="en-US" sz="2400" dirty="0">
                <a:latin typeface="华文楷体" panose="02010600040101010101" pitchFamily="2" charset="-122"/>
                <a:sym typeface="+mn-ea"/>
              </a:rPr>
              <a:t>图</a:t>
            </a:r>
            <a:r>
              <a:rPr lang="zh-CN" altLang="en-US" sz="2400" dirty="0" smtClean="0">
                <a:latin typeface="华文楷体" panose="02010600040101010101" pitchFamily="2" charset="-122"/>
                <a:sym typeface="+mn-ea"/>
              </a:rPr>
              <a:t>表达</a:t>
            </a:r>
            <a:r>
              <a:rPr lang="zh-CN" altLang="en-US" sz="2400" dirty="0">
                <a:latin typeface="华文楷体" panose="02010600040101010101" pitchFamily="2" charset="-122"/>
              </a:rPr>
              <a:t>学生与课程之间存在</a:t>
            </a:r>
            <a:r>
              <a:rPr lang="en-US" altLang="zh-CN" sz="2400" dirty="0">
                <a:solidFill>
                  <a:srgbClr val="FF0000"/>
                </a:solidFill>
                <a:latin typeface="华文楷体" panose="02010600040101010101" pitchFamily="2" charset="-122"/>
              </a:rPr>
              <a:t>“</a:t>
            </a:r>
            <a:r>
              <a:rPr lang="zh-CN" altLang="en-US" sz="2400" dirty="0">
                <a:solidFill>
                  <a:srgbClr val="FF0000"/>
                </a:solidFill>
                <a:latin typeface="华文楷体" panose="02010600040101010101" pitchFamily="2" charset="-122"/>
              </a:rPr>
              <a:t>选课</a:t>
            </a:r>
            <a:r>
              <a:rPr lang="en-US" altLang="zh-CN" sz="2400" dirty="0">
                <a:solidFill>
                  <a:srgbClr val="FF0000"/>
                </a:solidFill>
                <a:latin typeface="华文楷体" panose="02010600040101010101" pitchFamily="2" charset="-122"/>
              </a:rPr>
              <a:t>”</a:t>
            </a:r>
            <a:r>
              <a:rPr lang="zh-CN" altLang="en-US" sz="2400" dirty="0">
                <a:latin typeface="华文楷体" panose="02010600040101010101" pitchFamily="2" charset="-122"/>
              </a:rPr>
              <a:t>联系（成绩）</a:t>
            </a:r>
            <a:endParaRPr lang="zh-CN" altLang="en-US" sz="2400" dirty="0">
              <a:latin typeface="华文楷体" panose="02010600040101010101" pitchFamily="2" charset="-122"/>
            </a:endParaRPr>
          </a:p>
        </p:txBody>
      </p:sp>
      <p:sp>
        <p:nvSpPr>
          <p:cNvPr id="8" name="矩形 7"/>
          <p:cNvSpPr/>
          <p:nvPr/>
        </p:nvSpPr>
        <p:spPr>
          <a:xfrm>
            <a:off x="558847" y="721839"/>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知识点检测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grpSp>
        <p:nvGrpSpPr>
          <p:cNvPr id="44" name="组合 43"/>
          <p:cNvGrpSpPr/>
          <p:nvPr/>
        </p:nvGrpSpPr>
        <p:grpSpPr>
          <a:xfrm>
            <a:off x="699498" y="3830385"/>
            <a:ext cx="7907086" cy="2196033"/>
            <a:chOff x="699498" y="3830385"/>
            <a:chExt cx="7907086" cy="2196033"/>
          </a:xfrm>
        </p:grpSpPr>
        <p:grpSp>
          <p:nvGrpSpPr>
            <p:cNvPr id="7" name="组合 6"/>
            <p:cNvGrpSpPr/>
            <p:nvPr/>
          </p:nvGrpSpPr>
          <p:grpSpPr>
            <a:xfrm>
              <a:off x="699498" y="3915449"/>
              <a:ext cx="3088859" cy="1988698"/>
              <a:chOff x="182875" y="3841016"/>
              <a:chExt cx="3088859" cy="1988698"/>
            </a:xfrm>
          </p:grpSpPr>
          <p:sp>
            <p:nvSpPr>
              <p:cNvPr id="10" name="矩形 9"/>
              <p:cNvSpPr/>
              <p:nvPr/>
            </p:nvSpPr>
            <p:spPr>
              <a:xfrm>
                <a:off x="996368" y="4744783"/>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学生</a:t>
                </a:r>
                <a:endParaRPr lang="zh-CN" altLang="en-US" dirty="0">
                  <a:solidFill>
                    <a:schemeClr val="tx1"/>
                  </a:solidFill>
                </a:endParaRPr>
              </a:p>
            </p:txBody>
          </p:sp>
          <p:sp>
            <p:nvSpPr>
              <p:cNvPr id="11" name="椭圆 10"/>
              <p:cNvSpPr/>
              <p:nvPr/>
            </p:nvSpPr>
            <p:spPr>
              <a:xfrm>
                <a:off x="309886" y="4032402"/>
                <a:ext cx="920396" cy="4146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smtClean="0">
                    <a:solidFill>
                      <a:srgbClr val="FF0000"/>
                    </a:solidFill>
                  </a:rPr>
                  <a:t>学号</a:t>
                </a:r>
                <a:endParaRPr lang="zh-CN" altLang="en-US" u="sng" dirty="0">
                  <a:solidFill>
                    <a:srgbClr val="FF0000"/>
                  </a:solidFill>
                </a:endParaRPr>
              </a:p>
            </p:txBody>
          </p:sp>
          <p:sp>
            <p:nvSpPr>
              <p:cNvPr id="16" name="椭圆 15"/>
              <p:cNvSpPr/>
              <p:nvPr/>
            </p:nvSpPr>
            <p:spPr>
              <a:xfrm>
                <a:off x="1311885" y="3841016"/>
                <a:ext cx="96038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姓名</a:t>
                </a:r>
                <a:endParaRPr lang="zh-CN" altLang="en-US" dirty="0">
                  <a:solidFill>
                    <a:schemeClr val="tx1"/>
                  </a:solidFill>
                </a:endParaRPr>
              </a:p>
            </p:txBody>
          </p:sp>
          <p:sp>
            <p:nvSpPr>
              <p:cNvPr id="17" name="椭圆 16"/>
              <p:cNvSpPr/>
              <p:nvPr/>
            </p:nvSpPr>
            <p:spPr>
              <a:xfrm>
                <a:off x="2353875" y="3862280"/>
                <a:ext cx="917859" cy="435935"/>
              </a:xfrm>
              <a:prstGeom prst="ellipse">
                <a:avLst/>
              </a:prstGeom>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0033CC"/>
                    </a:solidFill>
                  </a:rPr>
                  <a:t>性别</a:t>
                </a:r>
                <a:endParaRPr lang="zh-CN" altLang="en-US" dirty="0">
                  <a:solidFill>
                    <a:srgbClr val="0033CC"/>
                  </a:solidFill>
                </a:endParaRPr>
              </a:p>
            </p:txBody>
          </p:sp>
          <p:sp>
            <p:nvSpPr>
              <p:cNvPr id="18" name="椭圆 17"/>
              <p:cNvSpPr/>
              <p:nvPr/>
            </p:nvSpPr>
            <p:spPr>
              <a:xfrm>
                <a:off x="182875" y="5372514"/>
                <a:ext cx="134779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smtClean="0">
                    <a:solidFill>
                      <a:schemeClr val="tx1"/>
                    </a:solidFill>
                  </a:rPr>
                  <a:t>身份证号</a:t>
                </a:r>
                <a:endParaRPr lang="zh-CN" altLang="en-US" dirty="0">
                  <a:solidFill>
                    <a:schemeClr val="tx1"/>
                  </a:solidFill>
                </a:endParaRPr>
              </a:p>
            </p:txBody>
          </p:sp>
          <p:sp>
            <p:nvSpPr>
              <p:cNvPr id="19" name="椭圆 18"/>
              <p:cNvSpPr/>
              <p:nvPr/>
            </p:nvSpPr>
            <p:spPr>
              <a:xfrm>
                <a:off x="1661375" y="5372514"/>
                <a:ext cx="917859" cy="435935"/>
              </a:xfrm>
              <a:prstGeom prst="ellipse">
                <a:avLst/>
              </a:prstGeom>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0033CC"/>
                    </a:solidFill>
                  </a:rPr>
                  <a:t>年龄</a:t>
                </a:r>
                <a:endParaRPr lang="zh-CN" altLang="en-US" dirty="0">
                  <a:solidFill>
                    <a:srgbClr val="0033CC"/>
                  </a:solidFill>
                </a:endParaRPr>
              </a:p>
            </p:txBody>
          </p:sp>
          <p:cxnSp>
            <p:nvCxnSpPr>
              <p:cNvPr id="20" name="直接连接符 19"/>
              <p:cNvCxnSpPr>
                <a:stCxn id="11" idx="5"/>
              </p:cNvCxnSpPr>
              <p:nvPr/>
            </p:nvCxnSpPr>
            <p:spPr>
              <a:xfrm>
                <a:off x="1095493" y="4386345"/>
                <a:ext cx="326175" cy="3424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6" idx="4"/>
              </p:cNvCxnSpPr>
              <p:nvPr/>
            </p:nvCxnSpPr>
            <p:spPr>
              <a:xfrm flipH="1">
                <a:off x="1530672" y="4298216"/>
                <a:ext cx="261407" cy="4465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7" idx="3"/>
                <a:endCxn id="10" idx="0"/>
              </p:cNvCxnSpPr>
              <p:nvPr/>
            </p:nvCxnSpPr>
            <p:spPr>
              <a:xfrm flipH="1">
                <a:off x="1820391" y="4234374"/>
                <a:ext cx="667901" cy="510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8" idx="0"/>
              </p:cNvCxnSpPr>
              <p:nvPr/>
            </p:nvCxnSpPr>
            <p:spPr>
              <a:xfrm flipH="1">
                <a:off x="856774" y="5116923"/>
                <a:ext cx="748743" cy="2555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9" idx="1"/>
              </p:cNvCxnSpPr>
              <p:nvPr/>
            </p:nvCxnSpPr>
            <p:spPr>
              <a:xfrm flipH="1" flipV="1">
                <a:off x="1625809" y="5132873"/>
                <a:ext cx="169983" cy="3034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5161720" y="3830385"/>
              <a:ext cx="3444864" cy="1302488"/>
              <a:chOff x="344878" y="2355112"/>
              <a:chExt cx="3444864" cy="1302488"/>
            </a:xfrm>
          </p:grpSpPr>
          <p:sp>
            <p:nvSpPr>
              <p:cNvPr id="27" name="矩形 26"/>
              <p:cNvSpPr/>
              <p:nvPr/>
            </p:nvSpPr>
            <p:spPr>
              <a:xfrm>
                <a:off x="1112958" y="3269510"/>
                <a:ext cx="1566448" cy="3880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课程</a:t>
                </a:r>
                <a:endParaRPr lang="zh-CN" altLang="en-US" dirty="0">
                  <a:solidFill>
                    <a:schemeClr val="tx1"/>
                  </a:solidFill>
                </a:endParaRPr>
              </a:p>
            </p:txBody>
          </p:sp>
          <p:sp>
            <p:nvSpPr>
              <p:cNvPr id="28" name="椭圆 27"/>
              <p:cNvSpPr/>
              <p:nvPr/>
            </p:nvSpPr>
            <p:spPr>
              <a:xfrm>
                <a:off x="344878" y="2355112"/>
                <a:ext cx="1584166" cy="483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smtClean="0">
                    <a:solidFill>
                      <a:srgbClr val="FF0000"/>
                    </a:solidFill>
                  </a:rPr>
                  <a:t>课程编号</a:t>
                </a:r>
                <a:endParaRPr lang="zh-CN" altLang="en-US" u="sng" dirty="0">
                  <a:solidFill>
                    <a:srgbClr val="FF0000"/>
                  </a:solidFill>
                </a:endParaRPr>
              </a:p>
            </p:txBody>
          </p:sp>
          <p:sp>
            <p:nvSpPr>
              <p:cNvPr id="29" name="椭圆 28"/>
              <p:cNvSpPr/>
              <p:nvPr/>
            </p:nvSpPr>
            <p:spPr>
              <a:xfrm>
                <a:off x="1992171" y="2392325"/>
                <a:ext cx="1252678"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课程名</a:t>
                </a:r>
                <a:endParaRPr lang="zh-CN" altLang="en-US" dirty="0">
                  <a:solidFill>
                    <a:schemeClr val="tx1"/>
                  </a:solidFill>
                </a:endParaRPr>
              </a:p>
            </p:txBody>
          </p:sp>
          <p:sp>
            <p:nvSpPr>
              <p:cNvPr id="30" name="椭圆 29"/>
              <p:cNvSpPr/>
              <p:nvPr/>
            </p:nvSpPr>
            <p:spPr>
              <a:xfrm>
                <a:off x="3022185" y="2812310"/>
                <a:ext cx="76755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smtClean="0">
                    <a:solidFill>
                      <a:schemeClr val="tx1"/>
                    </a:solidFill>
                  </a:rPr>
                  <a:t>学分</a:t>
                </a:r>
                <a:endParaRPr lang="zh-CN" altLang="en-US" dirty="0">
                  <a:solidFill>
                    <a:schemeClr val="tx1"/>
                  </a:solidFill>
                </a:endParaRPr>
              </a:p>
            </p:txBody>
          </p:sp>
          <p:cxnSp>
            <p:nvCxnSpPr>
              <p:cNvPr id="31" name="直接连接符 30"/>
              <p:cNvCxnSpPr>
                <a:stCxn id="28" idx="4"/>
              </p:cNvCxnSpPr>
              <p:nvPr/>
            </p:nvCxnSpPr>
            <p:spPr>
              <a:xfrm>
                <a:off x="1136961" y="2838893"/>
                <a:ext cx="319699" cy="430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4"/>
                <a:endCxn id="27" idx="0"/>
              </p:cNvCxnSpPr>
              <p:nvPr/>
            </p:nvCxnSpPr>
            <p:spPr>
              <a:xfrm flipH="1">
                <a:off x="1896182" y="2849525"/>
                <a:ext cx="722328" cy="4199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30" idx="2"/>
              </p:cNvCxnSpPr>
              <p:nvPr/>
            </p:nvCxnSpPr>
            <p:spPr>
              <a:xfrm flipH="1">
                <a:off x="2248743" y="3040910"/>
                <a:ext cx="773442"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 name="菱形 33"/>
            <p:cNvSpPr/>
            <p:nvPr/>
          </p:nvSpPr>
          <p:spPr>
            <a:xfrm>
              <a:off x="3657600" y="4638457"/>
              <a:ext cx="1775637" cy="723426"/>
            </a:xfrm>
            <a:prstGeom prst="diamon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FF0000"/>
                  </a:solidFill>
                </a:rPr>
                <a:t>选课</a:t>
              </a:r>
              <a:endParaRPr lang="zh-CN" altLang="en-US" dirty="0">
                <a:solidFill>
                  <a:srgbClr val="FF0000"/>
                </a:solidFill>
              </a:endParaRPr>
            </a:p>
          </p:txBody>
        </p:sp>
        <p:sp>
          <p:nvSpPr>
            <p:cNvPr id="35" name="椭圆 34"/>
            <p:cNvSpPr/>
            <p:nvPr/>
          </p:nvSpPr>
          <p:spPr>
            <a:xfrm>
              <a:off x="4542834" y="5569218"/>
              <a:ext cx="767557" cy="457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a:solidFill>
                    <a:schemeClr val="tx1"/>
                  </a:solidFill>
                </a:rPr>
                <a:t>成绩</a:t>
              </a:r>
              <a:endParaRPr lang="zh-CN" altLang="en-US" dirty="0">
                <a:solidFill>
                  <a:schemeClr val="tx1"/>
                </a:solidFill>
              </a:endParaRPr>
            </a:p>
          </p:txBody>
        </p:sp>
        <p:cxnSp>
          <p:nvCxnSpPr>
            <p:cNvPr id="37" name="直接连接符 36"/>
            <p:cNvCxnSpPr>
              <a:stCxn id="34" idx="2"/>
              <a:endCxn id="35" idx="0"/>
            </p:cNvCxnSpPr>
            <p:nvPr/>
          </p:nvCxnSpPr>
          <p:spPr>
            <a:xfrm>
              <a:off x="4545419" y="5361883"/>
              <a:ext cx="381194" cy="2073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0" idx="3"/>
              <a:endCxn id="34" idx="1"/>
            </p:cNvCxnSpPr>
            <p:nvPr/>
          </p:nvCxnSpPr>
          <p:spPr>
            <a:xfrm flipV="1">
              <a:off x="3161037" y="5000170"/>
              <a:ext cx="496563" cy="5116"/>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5433237" y="5000170"/>
              <a:ext cx="520566" cy="0"/>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36"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86915" y="728678"/>
            <a:ext cx="4055919" cy="746743"/>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zh-CN" sz="3200" kern="100" dirty="0">
                <a:solidFill>
                  <a:srgbClr val="0033CC"/>
                </a:solidFill>
                <a:latin typeface="Calibri" panose="020F0502020204030204" pitchFamily="34" charset="0"/>
                <a:cs typeface="Times New Roman" panose="02020603050405020304" pitchFamily="2" charset="0"/>
              </a:rPr>
              <a:t>研讨问题</a:t>
            </a:r>
            <a:r>
              <a:rPr lang="en-US" altLang="zh-CN" sz="3200" kern="100" dirty="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6" name="矩形 5"/>
          <p:cNvSpPr/>
          <p:nvPr/>
        </p:nvSpPr>
        <p:spPr>
          <a:xfrm>
            <a:off x="486915" y="1475421"/>
            <a:ext cx="4270721" cy="535531"/>
          </a:xfrm>
          <a:prstGeom prst="rect">
            <a:avLst/>
          </a:prstGeom>
        </p:spPr>
        <p:txBody>
          <a:bodyPr wrap="none">
            <a:spAutoFit/>
          </a:bodyPr>
          <a:lstStyle/>
          <a:p>
            <a:pPr marL="342900" lvl="0" indent="-342900">
              <a:lnSpc>
                <a:spcPct val="120000"/>
              </a:lnSpc>
              <a:spcBef>
                <a:spcPct val="20000"/>
              </a:spcBef>
              <a:spcAft>
                <a:spcPts val="600"/>
              </a:spcAft>
              <a:buClr>
                <a:srgbClr val="0033CC"/>
              </a:buClr>
              <a:buSzPct val="80000"/>
              <a:buFont typeface="Wingdings" panose="05000000000000000000" pitchFamily="2" charset="2"/>
              <a:buNone/>
            </a:pPr>
            <a:r>
              <a:rPr lang="en-US" altLang="zh-CN" sz="2400" dirty="0">
                <a:latin typeface="华文楷体" panose="02010600040101010101" pitchFamily="2" charset="-122"/>
              </a:rPr>
              <a:t>3</a:t>
            </a:r>
            <a:r>
              <a:rPr lang="en-US" altLang="x-none" sz="2400" dirty="0">
                <a:latin typeface="华文楷体" panose="02010600040101010101" pitchFamily="2" charset="-122"/>
              </a:rPr>
              <a:t>. </a:t>
            </a:r>
            <a:r>
              <a:rPr lang="zh-CN" altLang="en-US" sz="2400" dirty="0">
                <a:latin typeface="华文楷体" panose="02010600040101010101" pitchFamily="2" charset="-122"/>
              </a:rPr>
              <a:t>设某商业集团</a:t>
            </a:r>
            <a:r>
              <a:rPr lang="zh-CN" altLang="en-US" sz="2400" dirty="0" smtClean="0">
                <a:latin typeface="华文楷体" panose="02010600040101010101" pitchFamily="2" charset="-122"/>
              </a:rPr>
              <a:t>数据库</a:t>
            </a:r>
            <a:r>
              <a:rPr lang="en-US" altLang="zh-CN" sz="2400" dirty="0" smtClean="0">
                <a:latin typeface="华文楷体" panose="02010600040101010101" pitchFamily="2" charset="-122"/>
              </a:rPr>
              <a:t>ER</a:t>
            </a:r>
            <a:r>
              <a:rPr lang="zh-CN" altLang="en-US" sz="2400" dirty="0" smtClean="0">
                <a:latin typeface="华文楷体" panose="02010600040101010101" pitchFamily="2" charset="-122"/>
              </a:rPr>
              <a:t>图。</a:t>
            </a:r>
            <a:endParaRPr lang="en-US" altLang="x-none" sz="2400" dirty="0">
              <a:latin typeface="华文楷体" panose="02010600040101010101" pitchFamily="2" charset="-122"/>
            </a:endParaRPr>
          </a:p>
        </p:txBody>
      </p:sp>
      <p:sp>
        <p:nvSpPr>
          <p:cNvPr id="8" name="矩形 7"/>
          <p:cNvSpPr/>
          <p:nvPr/>
        </p:nvSpPr>
        <p:spPr>
          <a:xfrm>
            <a:off x="2408511" y="2657657"/>
            <a:ext cx="1362075" cy="592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sz="2400" dirty="0">
                <a:solidFill>
                  <a:srgbClr val="FF0000"/>
                </a:solidFill>
                <a:latin typeface="华文中宋" panose="02010600040101010101" pitchFamily="2" charset="-122"/>
                <a:ea typeface="华文中宋" panose="02010600040101010101" pitchFamily="2" charset="-122"/>
              </a:rPr>
              <a:t>商店</a:t>
            </a:r>
            <a:endParaRPr lang="zh-CN" altLang="zh-CN" sz="2400" dirty="0">
              <a:solidFill>
                <a:srgbClr val="FF0000"/>
              </a:solidFill>
              <a:latin typeface="华文中宋" panose="02010600040101010101" pitchFamily="2" charset="-122"/>
              <a:ea typeface="华文中宋" panose="02010600040101010101" pitchFamily="2" charset="-122"/>
            </a:endParaRPr>
          </a:p>
        </p:txBody>
      </p:sp>
      <p:sp>
        <p:nvSpPr>
          <p:cNvPr id="9" name="矩形 8"/>
          <p:cNvSpPr/>
          <p:nvPr/>
        </p:nvSpPr>
        <p:spPr>
          <a:xfrm>
            <a:off x="6003246" y="2732587"/>
            <a:ext cx="1184275" cy="592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sz="2400" dirty="0">
                <a:solidFill>
                  <a:srgbClr val="FF0000"/>
                </a:solidFill>
                <a:latin typeface="华文中宋" panose="02010600040101010101" pitchFamily="2" charset="-122"/>
                <a:ea typeface="华文中宋" panose="02010600040101010101" pitchFamily="2" charset="-122"/>
              </a:rPr>
              <a:t>商品</a:t>
            </a:r>
            <a:endParaRPr lang="zh-CN" altLang="zh-CN" sz="2400" dirty="0">
              <a:solidFill>
                <a:srgbClr val="FF0000"/>
              </a:solidFill>
              <a:latin typeface="华文中宋" panose="02010600040101010101" pitchFamily="2" charset="-122"/>
              <a:ea typeface="华文中宋" panose="02010600040101010101" pitchFamily="2" charset="-122"/>
            </a:endParaRPr>
          </a:p>
        </p:txBody>
      </p:sp>
      <p:sp>
        <p:nvSpPr>
          <p:cNvPr id="10" name="矩形 9"/>
          <p:cNvSpPr/>
          <p:nvPr/>
        </p:nvSpPr>
        <p:spPr>
          <a:xfrm>
            <a:off x="2408511" y="5282112"/>
            <a:ext cx="1362075" cy="592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sz="2400" dirty="0">
                <a:solidFill>
                  <a:srgbClr val="FF0000"/>
                </a:solidFill>
                <a:latin typeface="华文中宋" panose="02010600040101010101" pitchFamily="2" charset="-122"/>
                <a:ea typeface="华文中宋" panose="02010600040101010101" pitchFamily="2" charset="-122"/>
              </a:rPr>
              <a:t>职工</a:t>
            </a:r>
            <a:endParaRPr lang="zh-CN" altLang="zh-CN" sz="2400" dirty="0">
              <a:solidFill>
                <a:srgbClr val="FF0000"/>
              </a:solidFill>
              <a:latin typeface="华文中宋" panose="02010600040101010101" pitchFamily="2" charset="-122"/>
              <a:ea typeface="华文中宋" panose="02010600040101010101" pitchFamily="2" charset="-122"/>
            </a:endParaRPr>
          </a:p>
        </p:txBody>
      </p:sp>
      <p:sp>
        <p:nvSpPr>
          <p:cNvPr id="11" name="椭圆 10"/>
          <p:cNvSpPr/>
          <p:nvPr/>
        </p:nvSpPr>
        <p:spPr>
          <a:xfrm>
            <a:off x="677501" y="2273482"/>
            <a:ext cx="1316355" cy="368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u="sng" dirty="0">
                <a:solidFill>
                  <a:srgbClr val="FF0000"/>
                </a:solidFill>
              </a:rPr>
              <a:t>商店编号</a:t>
            </a:r>
            <a:endParaRPr lang="zh-CN" altLang="en-US" b="1" u="sng" dirty="0">
              <a:solidFill>
                <a:srgbClr val="FF0000"/>
              </a:solidFill>
            </a:endParaRPr>
          </a:p>
        </p:txBody>
      </p:sp>
      <p:sp>
        <p:nvSpPr>
          <p:cNvPr id="12" name="椭圆 11"/>
          <p:cNvSpPr/>
          <p:nvPr/>
        </p:nvSpPr>
        <p:spPr>
          <a:xfrm>
            <a:off x="622891" y="2721157"/>
            <a:ext cx="1316355" cy="39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商店名称</a:t>
            </a:r>
            <a:endParaRPr lang="zh-CN" altLang="en-US" b="1" dirty="0">
              <a:solidFill>
                <a:schemeClr val="tx1"/>
              </a:solidFill>
            </a:endParaRPr>
          </a:p>
        </p:txBody>
      </p:sp>
      <p:sp>
        <p:nvSpPr>
          <p:cNvPr id="13" name="椭圆 12"/>
          <p:cNvSpPr/>
          <p:nvPr/>
        </p:nvSpPr>
        <p:spPr>
          <a:xfrm>
            <a:off x="622891" y="3168197"/>
            <a:ext cx="1316355" cy="3600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地址</a:t>
            </a:r>
            <a:endParaRPr lang="zh-CN" altLang="en-US" b="1" dirty="0">
              <a:solidFill>
                <a:schemeClr val="tx1"/>
              </a:solidFill>
            </a:endParaRPr>
          </a:p>
        </p:txBody>
      </p:sp>
      <p:sp>
        <p:nvSpPr>
          <p:cNvPr id="14" name="菱形 13"/>
          <p:cNvSpPr/>
          <p:nvPr/>
        </p:nvSpPr>
        <p:spPr>
          <a:xfrm>
            <a:off x="4295096" y="2594157"/>
            <a:ext cx="1184275" cy="869315"/>
          </a:xfrm>
          <a:prstGeom prst="diamon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sz="2000" b="1" dirty="0">
                <a:solidFill>
                  <a:schemeClr val="accent2"/>
                </a:solidFill>
                <a:latin typeface="华文中宋" panose="02010600040101010101" pitchFamily="2" charset="-122"/>
                <a:ea typeface="华文中宋" panose="02010600040101010101" pitchFamily="2" charset="-122"/>
              </a:rPr>
              <a:t>销售</a:t>
            </a:r>
            <a:endParaRPr lang="zh-CN" altLang="en-US" sz="2000" b="1" dirty="0">
              <a:solidFill>
                <a:schemeClr val="accent2"/>
              </a:solidFill>
              <a:latin typeface="华文中宋" panose="02010600040101010101" pitchFamily="2" charset="-122"/>
              <a:ea typeface="华文中宋" panose="02010600040101010101" pitchFamily="2" charset="-122"/>
            </a:endParaRPr>
          </a:p>
        </p:txBody>
      </p:sp>
      <p:sp>
        <p:nvSpPr>
          <p:cNvPr id="15" name="菱形 14"/>
          <p:cNvSpPr/>
          <p:nvPr/>
        </p:nvSpPr>
        <p:spPr>
          <a:xfrm>
            <a:off x="2408511" y="3855267"/>
            <a:ext cx="1184275" cy="869315"/>
          </a:xfrm>
          <a:prstGeom prst="diamon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sz="2000" b="1" dirty="0">
                <a:solidFill>
                  <a:schemeClr val="accent2"/>
                </a:solidFill>
                <a:latin typeface="华文中宋" panose="02010600040101010101" pitchFamily="2" charset="-122"/>
                <a:ea typeface="华文中宋" panose="02010600040101010101" pitchFamily="2" charset="-122"/>
              </a:rPr>
              <a:t>聘用</a:t>
            </a:r>
            <a:endParaRPr lang="zh-CN" altLang="en-US" sz="2000" b="1" dirty="0">
              <a:solidFill>
                <a:schemeClr val="accent2"/>
              </a:solidFill>
              <a:latin typeface="华文中宋" panose="02010600040101010101" pitchFamily="2" charset="-122"/>
              <a:ea typeface="华文中宋" panose="02010600040101010101" pitchFamily="2" charset="-122"/>
            </a:endParaRPr>
          </a:p>
        </p:txBody>
      </p:sp>
      <p:sp>
        <p:nvSpPr>
          <p:cNvPr id="16" name="椭圆 15"/>
          <p:cNvSpPr/>
          <p:nvPr/>
        </p:nvSpPr>
        <p:spPr>
          <a:xfrm>
            <a:off x="7741876" y="2297612"/>
            <a:ext cx="1105535"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u="sng" dirty="0">
                <a:solidFill>
                  <a:srgbClr val="FF0000"/>
                </a:solidFill>
              </a:rPr>
              <a:t>商品号</a:t>
            </a:r>
            <a:endParaRPr lang="zh-CN" altLang="en-US" b="1" u="sng" dirty="0">
              <a:solidFill>
                <a:srgbClr val="FF0000"/>
              </a:solidFill>
            </a:endParaRPr>
          </a:p>
        </p:txBody>
      </p:sp>
      <p:sp>
        <p:nvSpPr>
          <p:cNvPr id="17" name="椭圆 16"/>
          <p:cNvSpPr/>
          <p:nvPr/>
        </p:nvSpPr>
        <p:spPr>
          <a:xfrm>
            <a:off x="7742511" y="2732587"/>
            <a:ext cx="1104900" cy="308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商品名</a:t>
            </a:r>
            <a:endParaRPr lang="zh-CN" altLang="en-US" b="1" dirty="0">
              <a:solidFill>
                <a:schemeClr val="tx1"/>
              </a:solidFill>
            </a:endParaRPr>
          </a:p>
        </p:txBody>
      </p:sp>
      <p:sp>
        <p:nvSpPr>
          <p:cNvPr id="18" name="椭圆 17"/>
          <p:cNvSpPr/>
          <p:nvPr/>
        </p:nvSpPr>
        <p:spPr>
          <a:xfrm>
            <a:off x="7741876" y="3104062"/>
            <a:ext cx="1104900" cy="308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规格</a:t>
            </a:r>
            <a:endParaRPr lang="zh-CN" altLang="en-US" b="1" dirty="0">
              <a:solidFill>
                <a:schemeClr val="tx1"/>
              </a:solidFill>
            </a:endParaRPr>
          </a:p>
        </p:txBody>
      </p:sp>
      <p:sp>
        <p:nvSpPr>
          <p:cNvPr id="19" name="椭圆 18"/>
          <p:cNvSpPr/>
          <p:nvPr/>
        </p:nvSpPr>
        <p:spPr>
          <a:xfrm>
            <a:off x="7741876" y="3469822"/>
            <a:ext cx="1104900" cy="308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单价</a:t>
            </a:r>
            <a:endParaRPr lang="zh-CN" altLang="en-US" b="1" dirty="0">
              <a:solidFill>
                <a:schemeClr val="tx1"/>
              </a:solidFill>
            </a:endParaRPr>
          </a:p>
        </p:txBody>
      </p:sp>
      <p:sp>
        <p:nvSpPr>
          <p:cNvPr id="20" name="椭圆 19"/>
          <p:cNvSpPr/>
          <p:nvPr/>
        </p:nvSpPr>
        <p:spPr>
          <a:xfrm>
            <a:off x="677501" y="4724582"/>
            <a:ext cx="1316355" cy="368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u="sng" dirty="0">
                <a:solidFill>
                  <a:srgbClr val="FF0000"/>
                </a:solidFill>
              </a:rPr>
              <a:t>职工编号</a:t>
            </a:r>
            <a:endParaRPr lang="zh-CN" altLang="en-US" b="1" u="sng" dirty="0">
              <a:solidFill>
                <a:srgbClr val="FF0000"/>
              </a:solidFill>
            </a:endParaRPr>
          </a:p>
        </p:txBody>
      </p:sp>
      <p:sp>
        <p:nvSpPr>
          <p:cNvPr id="21" name="椭圆 20"/>
          <p:cNvSpPr/>
          <p:nvPr/>
        </p:nvSpPr>
        <p:spPr>
          <a:xfrm>
            <a:off x="676866" y="5118282"/>
            <a:ext cx="126238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姓名</a:t>
            </a:r>
            <a:endParaRPr lang="zh-CN" altLang="en-US" b="1" dirty="0">
              <a:solidFill>
                <a:schemeClr val="tx1"/>
              </a:solidFill>
            </a:endParaRPr>
          </a:p>
        </p:txBody>
      </p:sp>
      <p:sp>
        <p:nvSpPr>
          <p:cNvPr id="22" name="椭圆 21"/>
          <p:cNvSpPr/>
          <p:nvPr/>
        </p:nvSpPr>
        <p:spPr>
          <a:xfrm>
            <a:off x="676866" y="5501822"/>
            <a:ext cx="1216660" cy="3600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性别</a:t>
            </a:r>
            <a:endParaRPr lang="zh-CN" altLang="en-US" b="1" dirty="0">
              <a:solidFill>
                <a:schemeClr val="tx1"/>
              </a:solidFill>
            </a:endParaRPr>
          </a:p>
        </p:txBody>
      </p:sp>
      <p:sp>
        <p:nvSpPr>
          <p:cNvPr id="23" name="椭圆 22"/>
          <p:cNvSpPr/>
          <p:nvPr/>
        </p:nvSpPr>
        <p:spPr>
          <a:xfrm>
            <a:off x="677501" y="5910762"/>
            <a:ext cx="1216025" cy="3600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业绩</a:t>
            </a:r>
            <a:endParaRPr lang="zh-CN" altLang="en-US" b="1" dirty="0">
              <a:solidFill>
                <a:schemeClr val="tx1"/>
              </a:solidFill>
            </a:endParaRPr>
          </a:p>
        </p:txBody>
      </p:sp>
      <p:cxnSp>
        <p:nvCxnSpPr>
          <p:cNvPr id="24" name="直接连接符 23"/>
          <p:cNvCxnSpPr/>
          <p:nvPr/>
        </p:nvCxnSpPr>
        <p:spPr>
          <a:xfrm>
            <a:off x="1813516" y="2587807"/>
            <a:ext cx="607695" cy="45339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893526" y="2959282"/>
            <a:ext cx="514985" cy="8191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1906226" y="3066597"/>
            <a:ext cx="502285" cy="20193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4" idx="1"/>
          </p:cNvCxnSpPr>
          <p:nvPr/>
        </p:nvCxnSpPr>
        <p:spPr>
          <a:xfrm>
            <a:off x="3770586" y="3028497"/>
            <a:ext cx="524510" cy="318"/>
          </a:xfrm>
          <a:prstGeom prst="line">
            <a:avLst/>
          </a:prstGeom>
          <a:ln w="317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4" idx="3"/>
          </p:cNvCxnSpPr>
          <p:nvPr/>
        </p:nvCxnSpPr>
        <p:spPr>
          <a:xfrm flipV="1">
            <a:off x="5479371" y="3028497"/>
            <a:ext cx="523875" cy="318"/>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906226" y="4988742"/>
            <a:ext cx="502285" cy="51308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906226" y="5282112"/>
            <a:ext cx="502285" cy="21971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1893526" y="5501822"/>
            <a:ext cx="474980" cy="14033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1813516" y="5514522"/>
            <a:ext cx="594995" cy="47879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9" idx="2"/>
          </p:cNvCxnSpPr>
          <p:nvPr/>
        </p:nvCxnSpPr>
        <p:spPr>
          <a:xfrm>
            <a:off x="7187521" y="3104062"/>
            <a:ext cx="554355" cy="52006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endCxn id="18" idx="2"/>
          </p:cNvCxnSpPr>
          <p:nvPr/>
        </p:nvCxnSpPr>
        <p:spPr>
          <a:xfrm>
            <a:off x="7188156" y="3066597"/>
            <a:ext cx="553720" cy="19177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endCxn id="17" idx="2"/>
          </p:cNvCxnSpPr>
          <p:nvPr/>
        </p:nvCxnSpPr>
        <p:spPr>
          <a:xfrm flipV="1">
            <a:off x="7188791" y="2886892"/>
            <a:ext cx="553720" cy="17145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16" idx="3"/>
          </p:cNvCxnSpPr>
          <p:nvPr/>
        </p:nvCxnSpPr>
        <p:spPr>
          <a:xfrm flipV="1">
            <a:off x="7188791" y="2604952"/>
            <a:ext cx="715010" cy="42354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endCxn id="15" idx="0"/>
          </p:cNvCxnSpPr>
          <p:nvPr/>
        </p:nvCxnSpPr>
        <p:spPr>
          <a:xfrm>
            <a:off x="3000966" y="3268527"/>
            <a:ext cx="0" cy="586740"/>
          </a:xfrm>
          <a:prstGeom prst="line">
            <a:avLst/>
          </a:prstGeom>
          <a:ln w="317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4387171" y="1989002"/>
            <a:ext cx="1104900" cy="30861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b="1" dirty="0">
                <a:solidFill>
                  <a:schemeClr val="tx1"/>
                </a:solidFill>
              </a:rPr>
              <a:t>月销量</a:t>
            </a:r>
            <a:endParaRPr lang="zh-CN" altLang="zh-CN" b="1" dirty="0">
              <a:solidFill>
                <a:schemeClr val="tx1"/>
              </a:solidFill>
            </a:endParaRPr>
          </a:p>
        </p:txBody>
      </p:sp>
      <p:cxnSp>
        <p:nvCxnSpPr>
          <p:cNvPr id="42" name="直接连接符 41"/>
          <p:cNvCxnSpPr/>
          <p:nvPr/>
        </p:nvCxnSpPr>
        <p:spPr>
          <a:xfrm>
            <a:off x="4886916" y="2297612"/>
            <a:ext cx="0" cy="32400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020141" y="3970202"/>
            <a:ext cx="1104900" cy="30861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b="1" dirty="0">
                <a:solidFill>
                  <a:schemeClr val="tx1"/>
                </a:solidFill>
              </a:rPr>
              <a:t>聘期</a:t>
            </a:r>
            <a:endParaRPr lang="zh-CN" altLang="zh-CN" b="1" dirty="0">
              <a:solidFill>
                <a:schemeClr val="tx1"/>
              </a:solidFill>
            </a:endParaRPr>
          </a:p>
        </p:txBody>
      </p:sp>
      <p:sp>
        <p:nvSpPr>
          <p:cNvPr id="44" name="椭圆 43"/>
          <p:cNvSpPr/>
          <p:nvPr/>
        </p:nvSpPr>
        <p:spPr>
          <a:xfrm>
            <a:off x="4020141" y="4304212"/>
            <a:ext cx="1104900" cy="30861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b="1" dirty="0">
                <a:solidFill>
                  <a:schemeClr val="tx1"/>
                </a:solidFill>
              </a:rPr>
              <a:t>月薪</a:t>
            </a:r>
            <a:endParaRPr lang="zh-CN" altLang="zh-CN" b="1" dirty="0">
              <a:solidFill>
                <a:schemeClr val="tx1"/>
              </a:solidFill>
            </a:endParaRPr>
          </a:p>
        </p:txBody>
      </p:sp>
      <p:cxnSp>
        <p:nvCxnSpPr>
          <p:cNvPr id="45" name="直接连接符 44"/>
          <p:cNvCxnSpPr>
            <a:endCxn id="43" idx="2"/>
          </p:cNvCxnSpPr>
          <p:nvPr/>
        </p:nvCxnSpPr>
        <p:spPr>
          <a:xfrm flipV="1">
            <a:off x="3580086" y="4124507"/>
            <a:ext cx="440055" cy="16637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endCxn id="44" idx="2"/>
          </p:cNvCxnSpPr>
          <p:nvPr/>
        </p:nvCxnSpPr>
        <p:spPr>
          <a:xfrm>
            <a:off x="3592786" y="4304212"/>
            <a:ext cx="427355" cy="15430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3000966" y="4695372"/>
            <a:ext cx="0" cy="586740"/>
          </a:xfrm>
          <a:prstGeom prst="line">
            <a:avLst/>
          </a:prstGeom>
          <a:ln w="317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34820" name="Rectangle 3"/>
          <p:cNvSpPr txBox="1"/>
          <p:nvPr/>
        </p:nvSpPr>
        <p:spPr>
          <a:xfrm>
            <a:off x="555625" y="1379538"/>
            <a:ext cx="8181975" cy="2103437"/>
          </a:xfrm>
          <a:prstGeom prst="rect">
            <a:avLst/>
          </a:prstGeom>
          <a:noFill/>
          <a:ln w="9525">
            <a:noFill/>
          </a:ln>
        </p:spPr>
        <p:txBody>
          <a:bodyPr anchor="t"/>
          <a:lstStyle/>
          <a:p>
            <a:pPr marL="342900" lvl="0" indent="-342900">
              <a:lnSpc>
                <a:spcPct val="130000"/>
              </a:lnSpc>
              <a:spcBef>
                <a:spcPct val="20000"/>
              </a:spcBef>
              <a:buClr>
                <a:srgbClr val="0033CC"/>
              </a:buClr>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rPr>
              <a:t>联系型分类： </a:t>
            </a:r>
            <a:r>
              <a:rPr lang="en-US" altLang="x-none" sz="2200" dirty="0">
                <a:latin typeface="楷体" panose="02010609060101010101" pitchFamily="1" charset="-122"/>
                <a:ea typeface="楷体" panose="02010609060101010101" pitchFamily="1" charset="-122"/>
              </a:rPr>
              <a:t>E-R</a:t>
            </a:r>
            <a:r>
              <a:rPr lang="zh-CN" altLang="en-US" sz="2200" dirty="0">
                <a:latin typeface="楷体" panose="02010609060101010101" pitchFamily="1" charset="-122"/>
                <a:ea typeface="楷体" panose="02010609060101010101" pitchFamily="1" charset="-122"/>
              </a:rPr>
              <a:t>模型中的的联系型存在</a:t>
            </a:r>
            <a:r>
              <a:rPr lang="en-US" altLang="x-none" sz="2200" dirty="0">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种一般性约束，它们用来描述关联实体间的数量约束。</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一对一约束（</a:t>
            </a:r>
            <a:r>
              <a:rPr lang="en-US" altLang="x-none" sz="2200" dirty="0">
                <a:latin typeface="楷体" panose="02010609060101010101" pitchFamily="1" charset="-122"/>
                <a:ea typeface="楷体" panose="02010609060101010101" pitchFamily="1" charset="-122"/>
              </a:rPr>
              <a:t>one-to-one</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1:1</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一对多约束（</a:t>
            </a:r>
            <a:r>
              <a:rPr lang="en-US" altLang="x-none" sz="2200" dirty="0">
                <a:latin typeface="楷体" panose="02010609060101010101" pitchFamily="1" charset="-122"/>
                <a:ea typeface="楷体" panose="02010609060101010101" pitchFamily="1" charset="-122"/>
              </a:rPr>
              <a:t>one-to-many</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1:N</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多对多约束（</a:t>
            </a:r>
            <a:r>
              <a:rPr lang="en-US" altLang="x-none" sz="2200" dirty="0">
                <a:latin typeface="楷体" panose="02010609060101010101" pitchFamily="1" charset="-122"/>
                <a:ea typeface="楷体" panose="02010609060101010101" pitchFamily="1" charset="-122"/>
              </a:rPr>
              <a:t>many-to-many</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M:N</a:t>
            </a:r>
            <a:r>
              <a:rPr lang="zh-CN" altLang="en-US" sz="2200" dirty="0">
                <a:latin typeface="楷体" panose="02010609060101010101" pitchFamily="1" charset="-122"/>
                <a:ea typeface="楷体" panose="02010609060101010101" pitchFamily="1" charset="-122"/>
              </a:rPr>
              <a:t>）</a:t>
            </a:r>
            <a:endParaRPr lang="zh-CN" altLang="en-US" sz="2800" dirty="0">
              <a:latin typeface="华文楷体" panose="02010600040101010101" pitchFamily="2" charset="-122"/>
              <a:ea typeface="宋体" panose="02010600030101010101" pitchFamily="2" charset="-122"/>
            </a:endParaRPr>
          </a:p>
        </p:txBody>
      </p:sp>
      <p:grpSp>
        <p:nvGrpSpPr>
          <p:cNvPr id="34821" name="组合 13"/>
          <p:cNvGrpSpPr/>
          <p:nvPr/>
        </p:nvGrpSpPr>
        <p:grpSpPr>
          <a:xfrm>
            <a:off x="554038" y="3598863"/>
            <a:ext cx="7994650" cy="2222500"/>
            <a:chOff x="0" y="0"/>
            <a:chExt cx="7994196" cy="2222044"/>
          </a:xfrm>
        </p:grpSpPr>
        <p:grpSp>
          <p:nvGrpSpPr>
            <p:cNvPr id="36869" name="组合 9"/>
            <p:cNvGrpSpPr/>
            <p:nvPr/>
          </p:nvGrpSpPr>
          <p:grpSpPr>
            <a:xfrm>
              <a:off x="0" y="0"/>
              <a:ext cx="7994196" cy="2222044"/>
              <a:chOff x="0" y="0"/>
              <a:chExt cx="7993747" cy="2222044"/>
            </a:xfrm>
          </p:grpSpPr>
          <p:pic>
            <p:nvPicPr>
              <p:cNvPr id="36870" name="Picture 7"/>
              <p:cNvPicPr>
                <a:picLocks noChangeAspect="1"/>
              </p:cNvPicPr>
              <p:nvPr/>
            </p:nvPicPr>
            <p:blipFill>
              <a:blip r:embed="rId1"/>
              <a:stretch>
                <a:fillRect/>
              </a:stretch>
            </p:blipFill>
            <p:spPr>
              <a:xfrm>
                <a:off x="5612766" y="50790"/>
                <a:ext cx="2380981" cy="2171254"/>
              </a:xfrm>
              <a:prstGeom prst="rect">
                <a:avLst/>
              </a:prstGeom>
              <a:noFill/>
              <a:ln w="9525">
                <a:noFill/>
              </a:ln>
              <a:effectLst>
                <a:prstShdw prst="shdw17" dist="17961" dir="2699999">
                  <a:srgbClr val="708688"/>
                </a:prstShdw>
              </a:effectLst>
            </p:spPr>
          </p:pic>
          <p:sp>
            <p:nvSpPr>
              <p:cNvPr id="36871" name="Rectangle 3"/>
              <p:cNvSpPr txBox="1"/>
              <p:nvPr/>
            </p:nvSpPr>
            <p:spPr>
              <a:xfrm>
                <a:off x="0" y="0"/>
                <a:ext cx="5460383" cy="1572889"/>
              </a:xfrm>
              <a:prstGeom prst="rect">
                <a:avLst/>
              </a:prstGeom>
              <a:noFill/>
              <a:ln w="9525">
                <a:noFill/>
              </a:ln>
            </p:spPr>
            <p:txBody>
              <a:bodyPr anchor="t"/>
              <a:lstStyle/>
              <a:p>
                <a:pPr marL="342900" lvl="0" indent="-342900">
                  <a:lnSpc>
                    <a:spcPct val="120000"/>
                  </a:lnSpc>
                  <a:spcBef>
                    <a:spcPct val="20000"/>
                  </a:spcBef>
                  <a:buClr>
                    <a:srgbClr val="0033CC"/>
                  </a:buClr>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rPr>
                  <a:t>定义：</a:t>
                </a:r>
                <a:r>
                  <a:rPr lang="zh-CN" altLang="en-US" sz="2200" dirty="0">
                    <a:latin typeface="楷体" panose="02010609060101010101" pitchFamily="1" charset="-122"/>
                    <a:ea typeface="楷体" panose="02010609060101010101" pitchFamily="1" charset="-122"/>
                  </a:rPr>
                  <a:t>设联系集</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，关联实体集</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和</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115000"/>
                  <a:buFont typeface="Wingdings" panose="05000000000000000000" pitchFamily="2" charset="2"/>
                  <a:buChar char="Ø"/>
                </a:pPr>
                <a:r>
                  <a:rPr lang="zh-CN" altLang="en-US" sz="2200" dirty="0">
                    <a:latin typeface="楷体" panose="02010609060101010101" pitchFamily="1" charset="-122"/>
                    <a:ea typeface="楷体" panose="02010609060101010101" pitchFamily="1" charset="-122"/>
                  </a:rPr>
                  <a:t>如果对应</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中的一个实体实例，</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中有且仅有一个实体实例与之关联，反之</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对于</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中的每个实体</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中有且仅有一个实体实例与之关联则称</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是</a:t>
                </a:r>
                <a:r>
                  <a:rPr lang="zh-CN" altLang="en-US" sz="2200" u="sng" dirty="0">
                    <a:solidFill>
                      <a:srgbClr val="FF0000"/>
                    </a:solidFill>
                    <a:latin typeface="楷体" panose="02010609060101010101" pitchFamily="1" charset="-122"/>
                    <a:ea typeface="楷体" panose="02010609060101010101" pitchFamily="1" charset="-122"/>
                  </a:rPr>
                  <a:t>一对一联系型</a:t>
                </a:r>
                <a:r>
                  <a:rPr lang="zh-CN" altLang="en-US" sz="2200" dirty="0">
                    <a:latin typeface="楷体" panose="02010609060101010101" pitchFamily="1" charset="-122"/>
                    <a:ea typeface="楷体" panose="02010609060101010101" pitchFamily="1" charset="-122"/>
                  </a:rPr>
                  <a:t>，简记作</a:t>
                </a:r>
                <a:r>
                  <a:rPr lang="en-US" altLang="x-none" sz="2200" u="sng" dirty="0">
                    <a:solidFill>
                      <a:srgbClr val="FF0000"/>
                    </a:solidFill>
                    <a:latin typeface="楷体" panose="02010609060101010101" pitchFamily="1" charset="-122"/>
                    <a:ea typeface="楷体" panose="02010609060101010101" pitchFamily="1" charset="-122"/>
                  </a:rPr>
                  <a:t>1 </a:t>
                </a:r>
                <a:r>
                  <a:rPr lang="zh-CN" altLang="en-US" sz="2200" u="sng" dirty="0">
                    <a:solidFill>
                      <a:srgbClr val="FF0000"/>
                    </a:solidFill>
                    <a:latin typeface="楷体" panose="02010609060101010101" pitchFamily="1" charset="-122"/>
                    <a:ea typeface="楷体" panose="02010609060101010101" pitchFamily="1" charset="-122"/>
                  </a:rPr>
                  <a:t>：</a:t>
                </a:r>
                <a:r>
                  <a:rPr lang="en-US" altLang="x-none" sz="2200" u="sng" dirty="0">
                    <a:solidFill>
                      <a:srgbClr val="FF0000"/>
                    </a:solidFill>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联系。</a:t>
                </a:r>
                <a:endParaRPr lang="en-US" altLang="x-none" sz="2200" dirty="0">
                  <a:latin typeface="楷体" panose="02010609060101010101" pitchFamily="1" charset="-122"/>
                  <a:ea typeface="楷体" panose="02010609060101010101" pitchFamily="1" charset="-122"/>
                </a:endParaRPr>
              </a:p>
            </p:txBody>
          </p:sp>
        </p:grpSp>
        <p:cxnSp>
          <p:nvCxnSpPr>
            <p:cNvPr id="36872" name="直接连接符 9"/>
            <p:cNvCxnSpPr/>
            <p:nvPr/>
          </p:nvCxnSpPr>
          <p:spPr>
            <a:xfrm>
              <a:off x="6165622" y="958167"/>
              <a:ext cx="1465943" cy="261257"/>
            </a:xfrm>
            <a:prstGeom prst="line">
              <a:avLst/>
            </a:prstGeom>
            <a:ln w="25400" cap="flat" cmpd="sng">
              <a:solidFill>
                <a:schemeClr val="tx1"/>
              </a:solidFill>
              <a:prstDash val="solid"/>
              <a:round/>
              <a:headEnd type="none" w="med" len="med"/>
              <a:tailEnd type="none" w="med" len="med"/>
            </a:ln>
          </p:spPr>
        </p:cxnSp>
        <p:sp>
          <p:nvSpPr>
            <p:cNvPr id="34826" name="矩形 10"/>
            <p:cNvSpPr/>
            <p:nvPr/>
          </p:nvSpPr>
          <p:spPr>
            <a:xfrm>
              <a:off x="5948024" y="1858581"/>
              <a:ext cx="203188" cy="107928"/>
            </a:xfrm>
            <a:prstGeom prst="rect">
              <a:avLst/>
            </a:prstGeom>
            <a:noFill/>
            <a:ln w="22225" cap="flat" cmpd="sng">
              <a:solidFill>
                <a:schemeClr val="tx1"/>
              </a:solidFill>
              <a:prstDash val="solid"/>
              <a:miter/>
              <a:headEnd type="none" w="med" len="med"/>
              <a:tailEnd type="none" w="med" len="med"/>
            </a:ln>
          </p:spPr>
          <p:txBody>
            <a:bodyPr anchor="ctr">
              <a:spAutoFit/>
            </a:bodyPr>
            <a:lstStyle/>
            <a:p>
              <a:pPr marL="262255" lvl="0" indent="-262255" eaLnBrk="1" fontAlgn="base" hangingPunct="1">
                <a:buBlip>
                  <a:blip r:embed="rId2"/>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cxnSp>
          <p:nvCxnSpPr>
            <p:cNvPr id="36874" name="直接连接符 11"/>
            <p:cNvCxnSpPr/>
            <p:nvPr/>
          </p:nvCxnSpPr>
          <p:spPr>
            <a:xfrm flipV="1">
              <a:off x="6187393" y="1843538"/>
              <a:ext cx="1328058" cy="65315"/>
            </a:xfrm>
            <a:prstGeom prst="line">
              <a:avLst/>
            </a:prstGeom>
            <a:ln w="25400" cap="flat" cmpd="sng">
              <a:solidFill>
                <a:schemeClr val="tx1"/>
              </a:solidFill>
              <a:prstDash val="solid"/>
              <a:round/>
              <a:headEnd type="none" w="med" len="med"/>
              <a:tailEnd type="none" w="med" len="med"/>
            </a:ln>
          </p:spPr>
        </p:cxnSp>
      </p:grpSp>
      <p:sp>
        <p:nvSpPr>
          <p:cNvPr id="2"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animEffect transition="in" filter="wipe(down)">
                                      <p:cBhvr>
                                        <p:cTn id="7" dur="500"/>
                                        <p:tgtEl>
                                          <p:spTgt spid="34820">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4820">
                                            <p:txEl>
                                              <p:pRg st="1" end="1"/>
                                            </p:txEl>
                                          </p:spTgt>
                                        </p:tgtEl>
                                        <p:attrNameLst>
                                          <p:attrName>style.visibility</p:attrName>
                                        </p:attrNameLst>
                                      </p:cBhvr>
                                      <p:to>
                                        <p:strVal val="visible"/>
                                      </p:to>
                                    </p:set>
                                    <p:animEffect transition="in" filter="wipe(down)">
                                      <p:cBhvr>
                                        <p:cTn id="10" dur="500"/>
                                        <p:tgtEl>
                                          <p:spTgt spid="34820">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820">
                                            <p:txEl>
                                              <p:pRg st="2" end="2"/>
                                            </p:txEl>
                                          </p:spTgt>
                                        </p:tgtEl>
                                        <p:attrNameLst>
                                          <p:attrName>style.visibility</p:attrName>
                                        </p:attrNameLst>
                                      </p:cBhvr>
                                      <p:to>
                                        <p:strVal val="visible"/>
                                      </p:to>
                                    </p:set>
                                    <p:animEffect transition="in" filter="wipe(down)">
                                      <p:cBhvr>
                                        <p:cTn id="13" dur="500"/>
                                        <p:tgtEl>
                                          <p:spTgt spid="34820">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4820">
                                            <p:txEl>
                                              <p:pRg st="3" end="3"/>
                                            </p:txEl>
                                          </p:spTgt>
                                        </p:tgtEl>
                                        <p:attrNameLst>
                                          <p:attrName>style.visibility</p:attrName>
                                        </p:attrNameLst>
                                      </p:cBhvr>
                                      <p:to>
                                        <p:strVal val="visible"/>
                                      </p:to>
                                    </p:set>
                                    <p:animEffect transition="in" filter="wipe(down)">
                                      <p:cBhvr>
                                        <p:cTn id="16" dur="500"/>
                                        <p:tgtEl>
                                          <p:spTgt spid="3482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4821"/>
                                        </p:tgtEl>
                                        <p:attrNameLst>
                                          <p:attrName>style.visibility</p:attrName>
                                        </p:attrNameLst>
                                      </p:cBhvr>
                                      <p:to>
                                        <p:strVal val="visible"/>
                                      </p:to>
                                    </p:set>
                                    <p:anim calcmode="lin" valueType="num">
                                      <p:cBhvr additive="base">
                                        <p:cTn id="21" dur="500" fill="hold"/>
                                        <p:tgtEl>
                                          <p:spTgt spid="34821"/>
                                        </p:tgtEl>
                                        <p:attrNameLst>
                                          <p:attrName>ppt_x</p:attrName>
                                        </p:attrNameLst>
                                      </p:cBhvr>
                                      <p:tavLst>
                                        <p:tav tm="0">
                                          <p:val>
                                            <p:strVal val="#ppt_x"/>
                                          </p:val>
                                        </p:tav>
                                        <p:tav tm="100000">
                                          <p:val>
                                            <p:strVal val="#ppt_x"/>
                                          </p:val>
                                        </p:tav>
                                      </p:tavLst>
                                    </p:anim>
                                    <p:anim calcmode="lin" valueType="num">
                                      <p:cBhvr additive="base">
                                        <p:cTn id="22" dur="500" fill="hold"/>
                                        <p:tgtEl>
                                          <p:spTgt spid="348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8" name="组合 33"/>
          <p:cNvGrpSpPr/>
          <p:nvPr/>
        </p:nvGrpSpPr>
        <p:grpSpPr>
          <a:xfrm>
            <a:off x="593725" y="3949700"/>
            <a:ext cx="8166100" cy="2416175"/>
            <a:chOff x="0" y="0"/>
            <a:chExt cx="8016649" cy="2416633"/>
          </a:xfrm>
        </p:grpSpPr>
        <p:sp>
          <p:nvSpPr>
            <p:cNvPr id="38916" name="Rectangle 3"/>
            <p:cNvSpPr txBox="1"/>
            <p:nvPr/>
          </p:nvSpPr>
          <p:spPr>
            <a:xfrm>
              <a:off x="0" y="0"/>
              <a:ext cx="5438622" cy="2176875"/>
            </a:xfrm>
            <a:prstGeom prst="rect">
              <a:avLst/>
            </a:prstGeom>
            <a:noFill/>
            <a:ln w="9525">
              <a:noFill/>
            </a:ln>
          </p:spPr>
          <p:txBody>
            <a:bodyPr anchor="t"/>
            <a:lstStyle/>
            <a:p>
              <a:pPr marL="342900" lvl="0" indent="-342900">
                <a:lnSpc>
                  <a:spcPct val="125000"/>
                </a:lnSpc>
                <a:spcBef>
                  <a:spcPct val="20000"/>
                </a:spcBef>
                <a:buClr>
                  <a:srgbClr val="0033CC"/>
                </a:buClr>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rPr>
                <a:t>定义：</a:t>
              </a:r>
              <a:r>
                <a:rPr lang="zh-CN" altLang="en-US" sz="2200" dirty="0">
                  <a:latin typeface="楷体" panose="02010609060101010101" pitchFamily="1" charset="-122"/>
                  <a:ea typeface="楷体" panose="02010609060101010101" pitchFamily="1" charset="-122"/>
                </a:rPr>
                <a:t>设联系集</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，关联实体集</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和</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115000"/>
                <a:buFont typeface="Wingdings" panose="05000000000000000000" pitchFamily="2" charset="2"/>
                <a:buChar char="Ø"/>
              </a:pPr>
              <a:r>
                <a:rPr lang="zh-CN" altLang="en-US" sz="2200" dirty="0">
                  <a:latin typeface="楷体" panose="02010609060101010101" pitchFamily="1" charset="-122"/>
                  <a:ea typeface="楷体" panose="02010609060101010101" pitchFamily="1" charset="-122"/>
                </a:rPr>
                <a:t>如果对应</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中的一个实体实例，</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中有</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个实体实例</a:t>
              </a:r>
              <a:r>
                <a:rPr lang="en-US" altLang="x-none" sz="2200" dirty="0">
                  <a:latin typeface="楷体" panose="02010609060101010101" pitchFamily="1" charset="-122"/>
                  <a:ea typeface="楷体" panose="02010609060101010101" pitchFamily="1" charset="-122"/>
                </a:rPr>
                <a:t>(n≥0)</a:t>
              </a:r>
              <a:r>
                <a:rPr lang="zh-CN" altLang="en-US" sz="2200" dirty="0">
                  <a:latin typeface="楷体" panose="02010609060101010101" pitchFamily="1" charset="-122"/>
                  <a:ea typeface="楷体" panose="02010609060101010101" pitchFamily="1" charset="-122"/>
                </a:rPr>
                <a:t>与之关联，反之</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中的一个实体</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只与</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中的一个实体关联</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则称</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是</a:t>
              </a:r>
              <a:r>
                <a:rPr lang="zh-CN" altLang="en-US" sz="2200" u="sng" dirty="0">
                  <a:solidFill>
                    <a:srgbClr val="FF0000"/>
                  </a:solidFill>
                  <a:latin typeface="楷体" panose="02010609060101010101" pitchFamily="1" charset="-122"/>
                  <a:ea typeface="楷体" panose="02010609060101010101" pitchFamily="1" charset="-122"/>
                </a:rPr>
                <a:t>一对多联系型</a:t>
              </a:r>
              <a:r>
                <a:rPr lang="zh-CN" altLang="en-US" sz="2200" dirty="0">
                  <a:latin typeface="楷体" panose="02010609060101010101" pitchFamily="1" charset="-122"/>
                  <a:ea typeface="楷体" panose="02010609060101010101" pitchFamily="1" charset="-122"/>
                </a:rPr>
                <a:t>，简记作</a:t>
              </a:r>
              <a:r>
                <a:rPr lang="en-US" altLang="x-none" sz="2200" u="sng" dirty="0">
                  <a:solidFill>
                    <a:srgbClr val="FF0000"/>
                  </a:solidFill>
                  <a:latin typeface="楷体" panose="02010609060101010101" pitchFamily="1" charset="-122"/>
                  <a:ea typeface="楷体" panose="02010609060101010101" pitchFamily="1" charset="-122"/>
                </a:rPr>
                <a:t>1 </a:t>
              </a:r>
              <a:r>
                <a:rPr lang="zh-CN" altLang="en-US" sz="2200" u="sng" dirty="0">
                  <a:solidFill>
                    <a:srgbClr val="FF0000"/>
                  </a:solidFill>
                  <a:latin typeface="楷体" panose="02010609060101010101" pitchFamily="1" charset="-122"/>
                  <a:ea typeface="楷体" panose="02010609060101010101" pitchFamily="1" charset="-122"/>
                </a:rPr>
                <a:t>：</a:t>
              </a:r>
              <a:r>
                <a:rPr lang="en-US" altLang="x-none" sz="2200" u="sng" dirty="0">
                  <a:solidFill>
                    <a:srgbClr val="FF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联系。</a:t>
              </a:r>
              <a:endParaRPr lang="en-US" altLang="x-none" sz="2200" dirty="0">
                <a:latin typeface="楷体" panose="02010609060101010101" pitchFamily="1" charset="-122"/>
                <a:ea typeface="楷体" panose="02010609060101010101" pitchFamily="1" charset="-122"/>
              </a:endParaRPr>
            </a:p>
          </p:txBody>
        </p:sp>
        <p:pic>
          <p:nvPicPr>
            <p:cNvPr id="38917" name="Picture 9"/>
            <p:cNvPicPr>
              <a:picLocks noChangeAspect="1"/>
            </p:cNvPicPr>
            <p:nvPr/>
          </p:nvPicPr>
          <p:blipFill>
            <a:blip r:embed="rId1"/>
            <a:stretch>
              <a:fillRect/>
            </a:stretch>
          </p:blipFill>
          <p:spPr>
            <a:xfrm>
              <a:off x="5444971" y="82566"/>
              <a:ext cx="2571678" cy="2334067"/>
            </a:xfrm>
            <a:prstGeom prst="rect">
              <a:avLst/>
            </a:prstGeom>
            <a:noFill/>
            <a:ln w="9525">
              <a:noFill/>
            </a:ln>
            <a:effectLst>
              <a:prstShdw prst="shdw17" dist="17961" dir="2699999">
                <a:srgbClr val="708688"/>
              </a:prstShdw>
            </a:effectLst>
          </p:spPr>
        </p:pic>
      </p:grpSp>
      <p:grpSp>
        <p:nvGrpSpPr>
          <p:cNvPr id="36871" name="组合 54"/>
          <p:cNvGrpSpPr/>
          <p:nvPr/>
        </p:nvGrpSpPr>
        <p:grpSpPr>
          <a:xfrm>
            <a:off x="344488" y="2208213"/>
            <a:ext cx="8378825" cy="1649412"/>
            <a:chOff x="0" y="0"/>
            <a:chExt cx="8379409" cy="1649178"/>
          </a:xfrm>
        </p:grpSpPr>
        <p:grpSp>
          <p:nvGrpSpPr>
            <p:cNvPr id="38919" name="Group 7"/>
            <p:cNvGrpSpPr/>
            <p:nvPr/>
          </p:nvGrpSpPr>
          <p:grpSpPr>
            <a:xfrm>
              <a:off x="3597034" y="824592"/>
              <a:ext cx="1547238" cy="824586"/>
              <a:chOff x="0" y="0"/>
              <a:chExt cx="1056" cy="672"/>
            </a:xfrm>
          </p:grpSpPr>
          <p:sp>
            <p:nvSpPr>
              <p:cNvPr id="38920" name="AutoShape 8"/>
              <p:cNvSpPr/>
              <p:nvPr/>
            </p:nvSpPr>
            <p:spPr>
              <a:xfrm>
                <a:off x="0" y="336"/>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主持</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8921" name="Line 9"/>
              <p:cNvSpPr/>
              <p:nvPr/>
            </p:nvSpPr>
            <p:spPr>
              <a:xfrm flipV="1">
                <a:off x="384" y="192"/>
                <a:ext cx="144" cy="144"/>
              </a:xfrm>
              <a:prstGeom prst="line">
                <a:avLst/>
              </a:prstGeom>
              <a:ln w="25400" cap="flat" cmpd="sng">
                <a:solidFill>
                  <a:srgbClr val="000000"/>
                </a:solidFill>
                <a:prstDash val="solid"/>
                <a:round/>
                <a:headEnd type="none" w="med" len="med"/>
                <a:tailEnd type="none" w="med" len="med"/>
              </a:ln>
            </p:spPr>
          </p:sp>
          <p:sp>
            <p:nvSpPr>
              <p:cNvPr id="38922" name="Oval 10"/>
              <p:cNvSpPr/>
              <p:nvPr/>
            </p:nvSpPr>
            <p:spPr>
              <a:xfrm>
                <a:off x="480"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任期</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38923" name="Group 11"/>
            <p:cNvGrpSpPr/>
            <p:nvPr/>
          </p:nvGrpSpPr>
          <p:grpSpPr>
            <a:xfrm>
              <a:off x="0" y="117795"/>
              <a:ext cx="2120126" cy="1472469"/>
              <a:chOff x="0" y="0"/>
              <a:chExt cx="1447" cy="1200"/>
            </a:xfrm>
          </p:grpSpPr>
          <p:sp>
            <p:nvSpPr>
              <p:cNvPr id="38924" name="Rectangle 12"/>
              <p:cNvSpPr/>
              <p:nvPr/>
            </p:nvSpPr>
            <p:spPr>
              <a:xfrm>
                <a:off x="871"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校长</a:t>
                </a:r>
                <a:endParaRPr lang="zh-CN" altLang="en-US" dirty="0">
                  <a:solidFill>
                    <a:srgbClr val="000000"/>
                  </a:solidFill>
                  <a:latin typeface="宋体" panose="02010600030101010101" pitchFamily="2" charset="-122"/>
                  <a:ea typeface="宋体" panose="02010600030101010101" pitchFamily="2" charset="-122"/>
                </a:endParaRPr>
              </a:p>
            </p:txBody>
          </p:sp>
          <p:sp>
            <p:nvSpPr>
              <p:cNvPr id="38925" name="Oval 13"/>
              <p:cNvSpPr/>
              <p:nvPr/>
            </p:nvSpPr>
            <p:spPr>
              <a:xfrm>
                <a:off x="0" y="429"/>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8926" name="Line 14"/>
              <p:cNvSpPr/>
              <p:nvPr/>
            </p:nvSpPr>
            <p:spPr>
              <a:xfrm flipH="1">
                <a:off x="679" y="864"/>
                <a:ext cx="336" cy="96"/>
              </a:xfrm>
              <a:prstGeom prst="line">
                <a:avLst/>
              </a:prstGeom>
              <a:ln w="25400" cap="flat" cmpd="sng">
                <a:solidFill>
                  <a:srgbClr val="000000"/>
                </a:solidFill>
                <a:prstDash val="solid"/>
                <a:round/>
                <a:headEnd type="none" w="med" len="med"/>
                <a:tailEnd type="none" w="med" len="med"/>
              </a:ln>
            </p:spPr>
          </p:sp>
          <p:sp>
            <p:nvSpPr>
              <p:cNvPr id="38927" name="Oval 15"/>
              <p:cNvSpPr/>
              <p:nvPr/>
            </p:nvSpPr>
            <p:spPr>
              <a:xfrm>
                <a:off x="391"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38928" name="Oval 16"/>
              <p:cNvSpPr/>
              <p:nvPr/>
            </p:nvSpPr>
            <p:spPr>
              <a:xfrm>
                <a:off x="151"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8929" name="Line 17"/>
              <p:cNvSpPr/>
              <p:nvPr/>
            </p:nvSpPr>
            <p:spPr>
              <a:xfrm>
                <a:off x="645" y="651"/>
                <a:ext cx="219" cy="115"/>
              </a:xfrm>
              <a:prstGeom prst="line">
                <a:avLst/>
              </a:prstGeom>
              <a:ln w="25400" cap="flat" cmpd="sng">
                <a:solidFill>
                  <a:srgbClr val="000000"/>
                </a:solidFill>
                <a:prstDash val="solid"/>
                <a:round/>
                <a:headEnd type="none" w="med" len="med"/>
                <a:tailEnd type="none" w="med" len="med"/>
              </a:ln>
            </p:spPr>
          </p:sp>
          <p:sp>
            <p:nvSpPr>
              <p:cNvPr id="38930" name="Line 18"/>
              <p:cNvSpPr/>
              <p:nvPr/>
            </p:nvSpPr>
            <p:spPr>
              <a:xfrm>
                <a:off x="775" y="432"/>
                <a:ext cx="288" cy="192"/>
              </a:xfrm>
              <a:prstGeom prst="line">
                <a:avLst/>
              </a:prstGeom>
              <a:ln w="25400" cap="flat" cmpd="sng">
                <a:solidFill>
                  <a:srgbClr val="000000"/>
                </a:solidFill>
                <a:prstDash val="solid"/>
                <a:round/>
                <a:headEnd type="none" w="med" len="med"/>
                <a:tailEnd type="none" w="med" len="med"/>
              </a:ln>
            </p:spPr>
          </p:sp>
        </p:grpSp>
        <p:grpSp>
          <p:nvGrpSpPr>
            <p:cNvPr id="38931" name="Group 32"/>
            <p:cNvGrpSpPr/>
            <p:nvPr/>
          </p:nvGrpSpPr>
          <p:grpSpPr>
            <a:xfrm>
              <a:off x="6058552" y="0"/>
              <a:ext cx="2320857" cy="1119078"/>
              <a:chOff x="0" y="0"/>
              <a:chExt cx="1584" cy="912"/>
            </a:xfrm>
          </p:grpSpPr>
          <p:sp>
            <p:nvSpPr>
              <p:cNvPr id="38932" name="Rectangle 33"/>
              <p:cNvSpPr/>
              <p:nvPr/>
            </p:nvSpPr>
            <p:spPr>
              <a:xfrm>
                <a:off x="96"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38933" name="Oval 34"/>
              <p:cNvSpPr/>
              <p:nvPr/>
            </p:nvSpPr>
            <p:spPr>
              <a:xfrm>
                <a:off x="864" y="33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8934" name="Oval 35"/>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38935" name="Line 36"/>
              <p:cNvSpPr/>
              <p:nvPr/>
            </p:nvSpPr>
            <p:spPr>
              <a:xfrm>
                <a:off x="288" y="384"/>
                <a:ext cx="96" cy="240"/>
              </a:xfrm>
              <a:prstGeom prst="line">
                <a:avLst/>
              </a:prstGeom>
              <a:ln w="25400" cap="flat" cmpd="sng">
                <a:solidFill>
                  <a:srgbClr val="000000"/>
                </a:solidFill>
                <a:prstDash val="solid"/>
                <a:round/>
                <a:headEnd type="none" w="med" len="med"/>
                <a:tailEnd type="none" w="med" len="med"/>
              </a:ln>
            </p:spPr>
          </p:sp>
          <p:sp>
            <p:nvSpPr>
              <p:cNvPr id="38936" name="Line 37"/>
              <p:cNvSpPr/>
              <p:nvPr/>
            </p:nvSpPr>
            <p:spPr>
              <a:xfrm flipH="1">
                <a:off x="672" y="672"/>
                <a:ext cx="288" cy="96"/>
              </a:xfrm>
              <a:prstGeom prst="line">
                <a:avLst/>
              </a:prstGeom>
              <a:ln w="25400" cap="flat" cmpd="sng">
                <a:solidFill>
                  <a:srgbClr val="000000"/>
                </a:solidFill>
                <a:prstDash val="solid"/>
                <a:round/>
                <a:headEnd type="none" w="med" len="med"/>
                <a:tailEnd type="none" w="med" len="med"/>
              </a:ln>
            </p:spPr>
          </p:sp>
        </p:grpSp>
        <p:grpSp>
          <p:nvGrpSpPr>
            <p:cNvPr id="38937" name="Group 48"/>
            <p:cNvGrpSpPr/>
            <p:nvPr/>
          </p:nvGrpSpPr>
          <p:grpSpPr>
            <a:xfrm>
              <a:off x="2120126" y="942384"/>
              <a:ext cx="1547238" cy="530090"/>
              <a:chOff x="0" y="0"/>
              <a:chExt cx="1056" cy="432"/>
            </a:xfrm>
          </p:grpSpPr>
          <p:sp>
            <p:nvSpPr>
              <p:cNvPr id="38938" name="Line 49"/>
              <p:cNvSpPr/>
              <p:nvPr/>
            </p:nvSpPr>
            <p:spPr>
              <a:xfrm>
                <a:off x="0" y="144"/>
                <a:ext cx="1056" cy="288"/>
              </a:xfrm>
              <a:prstGeom prst="line">
                <a:avLst/>
              </a:prstGeom>
              <a:ln w="25400" cap="flat" cmpd="sng">
                <a:solidFill>
                  <a:schemeClr val="tx1"/>
                </a:solidFill>
                <a:prstDash val="solid"/>
                <a:round/>
                <a:headEnd type="none" w="med" len="med"/>
                <a:tailEnd type="none" w="med" len="med"/>
              </a:ln>
            </p:spPr>
          </p:sp>
          <p:sp>
            <p:nvSpPr>
              <p:cNvPr id="38939" name="Text Box 50"/>
              <p:cNvSpPr txBox="1"/>
              <p:nvPr/>
            </p:nvSpPr>
            <p:spPr>
              <a:xfrm>
                <a:off x="624" y="0"/>
                <a:ext cx="288" cy="422"/>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grpSp>
        <p:grpSp>
          <p:nvGrpSpPr>
            <p:cNvPr id="38940" name="Group 51"/>
            <p:cNvGrpSpPr/>
            <p:nvPr/>
          </p:nvGrpSpPr>
          <p:grpSpPr>
            <a:xfrm>
              <a:off x="4651969" y="883485"/>
              <a:ext cx="1547238" cy="588989"/>
              <a:chOff x="0" y="0"/>
              <a:chExt cx="1056" cy="480"/>
            </a:xfrm>
          </p:grpSpPr>
          <p:sp>
            <p:nvSpPr>
              <p:cNvPr id="38941" name="Line 52"/>
              <p:cNvSpPr/>
              <p:nvPr/>
            </p:nvSpPr>
            <p:spPr>
              <a:xfrm flipV="1">
                <a:off x="0" y="144"/>
                <a:ext cx="1056" cy="336"/>
              </a:xfrm>
              <a:prstGeom prst="line">
                <a:avLst/>
              </a:prstGeom>
              <a:ln w="25400" cap="flat" cmpd="sng">
                <a:solidFill>
                  <a:schemeClr val="tx1"/>
                </a:solidFill>
                <a:prstDash val="solid"/>
                <a:round/>
                <a:headEnd type="none" w="med" len="med"/>
                <a:tailEnd type="none" w="med" len="med"/>
              </a:ln>
            </p:spPr>
          </p:sp>
          <p:sp>
            <p:nvSpPr>
              <p:cNvPr id="38942" name="Text Box 53"/>
              <p:cNvSpPr txBox="1"/>
              <p:nvPr/>
            </p:nvSpPr>
            <p:spPr>
              <a:xfrm>
                <a:off x="432" y="0"/>
                <a:ext cx="288" cy="364"/>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grpSp>
      </p:grpSp>
      <p:sp>
        <p:nvSpPr>
          <p:cNvPr id="36896" name="Text Box 4"/>
          <p:cNvSpPr txBox="1"/>
          <p:nvPr/>
        </p:nvSpPr>
        <p:spPr>
          <a:xfrm>
            <a:off x="552450" y="1422400"/>
            <a:ext cx="8318500" cy="846138"/>
          </a:xfrm>
          <a:prstGeom prst="rect">
            <a:avLst/>
          </a:prstGeom>
          <a:solidFill>
            <a:srgbClr val="FFFF00">
              <a:alpha val="29999"/>
            </a:srgbClr>
          </a:solidFill>
          <a:ln w="9525">
            <a:noFill/>
          </a:ln>
        </p:spPr>
        <p:txBody>
          <a:bodyPr anchor="t">
            <a:spAutoFit/>
          </a:bodyPr>
          <a:lstStyle/>
          <a:p>
            <a:pPr marL="457200" lvl="0" indent="-457200">
              <a:lnSpc>
                <a:spcPct val="114000"/>
              </a:lnSpc>
              <a:buClr>
                <a:srgbClr val="FF0000"/>
              </a:buClr>
              <a:buFont typeface="Wingdings" panose="05000000000000000000" pitchFamily="2" charset="2"/>
              <a:buChar char="p"/>
            </a:pPr>
            <a:r>
              <a:rPr lang="en-US" altLang="x-none" sz="2200" dirty="0">
                <a:latin typeface="华文楷体" panose="02010600040101010101" pitchFamily="2" charset="-122"/>
                <a:ea typeface="华文楷体" panose="02010600040101010101" pitchFamily="2" charset="-122"/>
              </a:rPr>
              <a:t>1</a:t>
            </a:r>
            <a:r>
              <a:rPr lang="zh-CN" altLang="en-US" sz="2200" dirty="0">
                <a:latin typeface="华文楷体" panose="02010600040101010101" pitchFamily="2" charset="-122"/>
                <a:ea typeface="华文楷体" panose="02010600040101010101" pitchFamily="2" charset="-122"/>
              </a:rPr>
              <a:t>：</a:t>
            </a:r>
            <a:r>
              <a:rPr lang="en-US" altLang="x-none" sz="2200" dirty="0">
                <a:solidFill>
                  <a:srgbClr val="CC0000"/>
                </a:solidFill>
                <a:latin typeface="华文楷体" panose="02010600040101010101" pitchFamily="2" charset="-122"/>
                <a:ea typeface="华文楷体" panose="02010600040101010101" pitchFamily="2" charset="-122"/>
              </a:rPr>
              <a:t>1</a:t>
            </a:r>
            <a:r>
              <a:rPr lang="zh-CN" altLang="en-US" sz="2200" dirty="0">
                <a:solidFill>
                  <a:srgbClr val="CC0000"/>
                </a:solidFill>
                <a:latin typeface="华文楷体" panose="02010600040101010101" pitchFamily="2" charset="-122"/>
                <a:ea typeface="华文楷体" panose="02010600040101010101" pitchFamily="2" charset="-122"/>
              </a:rPr>
              <a:t>联系</a:t>
            </a:r>
            <a:r>
              <a:rPr lang="en-US" altLang="x-none" sz="2200" dirty="0">
                <a:solidFill>
                  <a:srgbClr val="0000CC"/>
                </a:solidFill>
                <a:latin typeface="华文楷体" panose="02010600040101010101" pitchFamily="2" charset="-122"/>
                <a:ea typeface="华文楷体" panose="02010600040101010101" pitchFamily="2" charset="-122"/>
              </a:rPr>
              <a:t>--</a:t>
            </a:r>
            <a:r>
              <a:rPr lang="zh-CN" altLang="en-US" sz="2200" dirty="0">
                <a:solidFill>
                  <a:srgbClr val="0000CC"/>
                </a:solidFill>
                <a:latin typeface="华文楷体" panose="02010600040101010101" pitchFamily="2" charset="-122"/>
                <a:ea typeface="华文楷体" panose="02010600040101010101" pitchFamily="2" charset="-122"/>
              </a:rPr>
              <a:t>例如：</a:t>
            </a:r>
            <a:r>
              <a:rPr lang="zh-CN" altLang="en-US" sz="2200" dirty="0">
                <a:latin typeface="华文楷体" panose="02010600040101010101" pitchFamily="2" charset="-122"/>
                <a:ea typeface="华文楷体" panose="02010600040101010101" pitchFamily="2" charset="-122"/>
              </a:rPr>
              <a:t>每所大学只有一个正校长，每个正校长只能主持一所大学的工作。</a:t>
            </a:r>
            <a:endParaRPr lang="de-DE" altLang="en-US" sz="2200" dirty="0">
              <a:latin typeface="华文楷体" panose="02010600040101010101" pitchFamily="2" charset="-122"/>
              <a:ea typeface="华文楷体" panose="02010600040101010101" pitchFamily="2" charset="-122"/>
            </a:endParaRPr>
          </a:p>
        </p:txBody>
      </p:sp>
      <p:sp>
        <p:nvSpPr>
          <p:cNvPr id="5"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896">
                                            <p:bg/>
                                          </p:spTgt>
                                        </p:tgtEl>
                                        <p:attrNameLst>
                                          <p:attrName>style.visibility</p:attrName>
                                        </p:attrNameLst>
                                      </p:cBhvr>
                                      <p:to>
                                        <p:strVal val="visible"/>
                                      </p:to>
                                    </p:set>
                                    <p:animEffect transition="in" filter="wipe(down)">
                                      <p:cBhvr>
                                        <p:cTn id="7" dur="500"/>
                                        <p:tgtEl>
                                          <p:spTgt spid="36896">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6896">
                                            <p:txEl>
                                              <p:pRg st="0" end="0"/>
                                            </p:txEl>
                                          </p:spTgt>
                                        </p:tgtEl>
                                        <p:attrNameLst>
                                          <p:attrName>style.visibility</p:attrName>
                                        </p:attrNameLst>
                                      </p:cBhvr>
                                      <p:to>
                                        <p:strVal val="visible"/>
                                      </p:to>
                                    </p:set>
                                    <p:animEffect transition="in" filter="wipe(down)">
                                      <p:cBhvr>
                                        <p:cTn id="10" dur="500"/>
                                        <p:tgtEl>
                                          <p:spTgt spid="3689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6871"/>
                                        </p:tgtEl>
                                        <p:attrNameLst>
                                          <p:attrName>style.visibility</p:attrName>
                                        </p:attrNameLst>
                                      </p:cBhvr>
                                      <p:to>
                                        <p:strVal val="visible"/>
                                      </p:to>
                                    </p:set>
                                    <p:anim calcmode="lin" valueType="num">
                                      <p:cBhvr additive="base">
                                        <p:cTn id="15" dur="500" fill="hold"/>
                                        <p:tgtEl>
                                          <p:spTgt spid="36871"/>
                                        </p:tgtEl>
                                        <p:attrNameLst>
                                          <p:attrName>ppt_x</p:attrName>
                                        </p:attrNameLst>
                                      </p:cBhvr>
                                      <p:tavLst>
                                        <p:tav tm="0">
                                          <p:val>
                                            <p:strVal val="#ppt_x"/>
                                          </p:val>
                                        </p:tav>
                                        <p:tav tm="100000">
                                          <p:val>
                                            <p:strVal val="#ppt_x"/>
                                          </p:val>
                                        </p:tav>
                                      </p:tavLst>
                                    </p:anim>
                                    <p:anim calcmode="lin" valueType="num">
                                      <p:cBhvr additive="base">
                                        <p:cTn id="16" dur="500" fill="hold"/>
                                        <p:tgtEl>
                                          <p:spTgt spid="3687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6868"/>
                                        </p:tgtEl>
                                        <p:attrNameLst>
                                          <p:attrName>style.visibility</p:attrName>
                                        </p:attrNameLst>
                                      </p:cBhvr>
                                      <p:to>
                                        <p:strVal val="visible"/>
                                      </p:to>
                                    </p:set>
                                    <p:anim calcmode="lin" valueType="num">
                                      <p:cBhvr additive="base">
                                        <p:cTn id="21" dur="500" fill="hold"/>
                                        <p:tgtEl>
                                          <p:spTgt spid="36868"/>
                                        </p:tgtEl>
                                        <p:attrNameLst>
                                          <p:attrName>ppt_x</p:attrName>
                                        </p:attrNameLst>
                                      </p:cBhvr>
                                      <p:tavLst>
                                        <p:tav tm="0">
                                          <p:val>
                                            <p:strVal val="#ppt_x"/>
                                          </p:val>
                                        </p:tav>
                                        <p:tav tm="100000">
                                          <p:val>
                                            <p:strVal val="#ppt_x"/>
                                          </p:val>
                                        </p:tav>
                                      </p:tavLst>
                                    </p:anim>
                                    <p:anim calcmode="lin" valueType="num">
                                      <p:cBhvr additive="base">
                                        <p:cTn id="22" dur="500" fill="hold"/>
                                        <p:tgtEl>
                                          <p:spTgt spid="368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96" grpId="0" animBg="1" build="allAtOnce"/>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6" name="组合 46"/>
          <p:cNvGrpSpPr/>
          <p:nvPr/>
        </p:nvGrpSpPr>
        <p:grpSpPr>
          <a:xfrm>
            <a:off x="519113" y="4108450"/>
            <a:ext cx="8148637" cy="2124075"/>
            <a:chOff x="0" y="0"/>
            <a:chExt cx="8149545" cy="2124075"/>
          </a:xfrm>
        </p:grpSpPr>
        <p:sp>
          <p:nvSpPr>
            <p:cNvPr id="40964" name="Rectangle 3"/>
            <p:cNvSpPr txBox="1"/>
            <p:nvPr/>
          </p:nvSpPr>
          <p:spPr>
            <a:xfrm>
              <a:off x="0" y="77788"/>
              <a:ext cx="5664831" cy="1574800"/>
            </a:xfrm>
            <a:prstGeom prst="rect">
              <a:avLst/>
            </a:prstGeom>
            <a:noFill/>
            <a:ln w="9525">
              <a:noFill/>
            </a:ln>
          </p:spPr>
          <p:txBody>
            <a:bodyPr anchor="t"/>
            <a:lstStyle/>
            <a:p>
              <a:pPr marL="342900" lvl="0" indent="-342900">
                <a:lnSpc>
                  <a:spcPct val="110000"/>
                </a:lnSpc>
                <a:spcBef>
                  <a:spcPts val="200"/>
                </a:spcBef>
                <a:buClr>
                  <a:srgbClr val="0033CC"/>
                </a:buClr>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rPr>
                <a:t>定义：</a:t>
              </a:r>
              <a:r>
                <a:rPr lang="zh-CN" altLang="en-US" sz="2200" dirty="0">
                  <a:latin typeface="楷体" panose="02010609060101010101" pitchFamily="1" charset="-122"/>
                  <a:ea typeface="楷体" panose="02010609060101010101" pitchFamily="1" charset="-122"/>
                </a:rPr>
                <a:t>设联系集</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，关联实体集</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和</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10000"/>
                </a:lnSpc>
                <a:spcBef>
                  <a:spcPts val="200"/>
                </a:spcBef>
                <a:buClr>
                  <a:srgbClr val="0033CC"/>
                </a:buClr>
                <a:buSzPct val="115000"/>
                <a:buFont typeface="Wingdings" panose="05000000000000000000" pitchFamily="2" charset="2"/>
                <a:buChar char="Ø"/>
              </a:pPr>
              <a:r>
                <a:rPr lang="zh-CN" altLang="en-US" sz="2200" dirty="0">
                  <a:latin typeface="楷体" panose="02010609060101010101" pitchFamily="1" charset="-122"/>
                  <a:ea typeface="楷体" panose="02010609060101010101" pitchFamily="1" charset="-122"/>
                </a:rPr>
                <a:t>如果对应</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中的一个实体，</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中有</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个实体</a:t>
              </a:r>
              <a:r>
                <a:rPr lang="en-US" altLang="x-none" sz="2200" dirty="0">
                  <a:latin typeface="楷体" panose="02010609060101010101" pitchFamily="1" charset="-122"/>
                  <a:ea typeface="楷体" panose="02010609060101010101" pitchFamily="1" charset="-122"/>
                </a:rPr>
                <a:t>(n≥0)</a:t>
              </a:r>
              <a:r>
                <a:rPr lang="zh-CN" altLang="en-US" sz="2200" dirty="0">
                  <a:latin typeface="楷体" panose="02010609060101010101" pitchFamily="1" charset="-122"/>
                  <a:ea typeface="楷体" panose="02010609060101010101" pitchFamily="1" charset="-122"/>
                </a:rPr>
                <a:t>与之关联，如果对应</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中的每个实体，</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中有</a:t>
              </a:r>
              <a:r>
                <a:rPr lang="en-US" altLang="x-none" sz="2200" dirty="0">
                  <a:latin typeface="楷体" panose="02010609060101010101" pitchFamily="1" charset="-122"/>
                  <a:ea typeface="楷体" panose="02010609060101010101" pitchFamily="1" charset="-122"/>
                </a:rPr>
                <a:t>m</a:t>
              </a:r>
              <a:r>
                <a:rPr lang="zh-CN" altLang="en-US" sz="2200" dirty="0">
                  <a:latin typeface="楷体" panose="02010609060101010101" pitchFamily="1" charset="-122"/>
                  <a:ea typeface="楷体" panose="02010609060101010101" pitchFamily="1" charset="-122"/>
                </a:rPr>
                <a:t>个实体</a:t>
              </a:r>
              <a:r>
                <a:rPr lang="en-US" altLang="x-none" sz="2200" dirty="0">
                  <a:latin typeface="楷体" panose="02010609060101010101" pitchFamily="1" charset="-122"/>
                  <a:ea typeface="楷体" panose="02010609060101010101" pitchFamily="1" charset="-122"/>
                </a:rPr>
                <a:t>(m≥0)</a:t>
              </a:r>
              <a:r>
                <a:rPr lang="zh-CN" altLang="en-US" sz="2200" dirty="0">
                  <a:latin typeface="楷体" panose="02010609060101010101" pitchFamily="1" charset="-122"/>
                  <a:ea typeface="楷体" panose="02010609060101010101" pitchFamily="1" charset="-122"/>
                </a:rPr>
                <a:t>与之关联，则称</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是</a:t>
              </a:r>
              <a:r>
                <a:rPr lang="zh-CN" altLang="en-US" sz="2200" u="sng" dirty="0">
                  <a:solidFill>
                    <a:srgbClr val="FF0000"/>
                  </a:solidFill>
                  <a:latin typeface="楷体" panose="02010609060101010101" pitchFamily="1" charset="-122"/>
                  <a:ea typeface="楷体" panose="02010609060101010101" pitchFamily="1" charset="-122"/>
                </a:rPr>
                <a:t>多对多联系型</a:t>
              </a:r>
              <a:r>
                <a:rPr lang="zh-CN" altLang="en-US" sz="2200" dirty="0">
                  <a:latin typeface="楷体" panose="02010609060101010101" pitchFamily="1" charset="-122"/>
                  <a:ea typeface="楷体" panose="02010609060101010101" pitchFamily="1" charset="-122"/>
                </a:rPr>
                <a:t>，简记作</a:t>
              </a:r>
              <a:r>
                <a:rPr lang="en-US" altLang="x-none" sz="2200" u="sng" dirty="0">
                  <a:solidFill>
                    <a:srgbClr val="FF0000"/>
                  </a:solidFill>
                  <a:latin typeface="楷体" panose="02010609060101010101" pitchFamily="1" charset="-122"/>
                  <a:ea typeface="楷体" panose="02010609060101010101" pitchFamily="1" charset="-122"/>
                </a:rPr>
                <a:t>M </a:t>
              </a:r>
              <a:r>
                <a:rPr lang="zh-CN" altLang="en-US" sz="2200" u="sng" dirty="0">
                  <a:solidFill>
                    <a:srgbClr val="FF0000"/>
                  </a:solidFill>
                  <a:latin typeface="楷体" panose="02010609060101010101" pitchFamily="1" charset="-122"/>
                  <a:ea typeface="楷体" panose="02010609060101010101" pitchFamily="1" charset="-122"/>
                </a:rPr>
                <a:t>：</a:t>
              </a:r>
              <a:r>
                <a:rPr lang="en-US" altLang="x-none" sz="2200" u="sng" dirty="0">
                  <a:solidFill>
                    <a:srgbClr val="FF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pic>
          <p:nvPicPr>
            <p:cNvPr id="40965" name="Picture 8"/>
            <p:cNvPicPr>
              <a:picLocks noChangeAspect="1"/>
            </p:cNvPicPr>
            <p:nvPr/>
          </p:nvPicPr>
          <p:blipFill>
            <a:blip r:embed="rId1"/>
            <a:stretch>
              <a:fillRect/>
            </a:stretch>
          </p:blipFill>
          <p:spPr>
            <a:xfrm>
              <a:off x="5558456" y="0"/>
              <a:ext cx="2591089" cy="2124075"/>
            </a:xfrm>
            <a:prstGeom prst="rect">
              <a:avLst/>
            </a:prstGeom>
            <a:noFill/>
            <a:ln w="9525">
              <a:noFill/>
            </a:ln>
            <a:effectLst>
              <a:prstShdw prst="shdw17" dist="17961" dir="2699999">
                <a:srgbClr val="708688"/>
              </a:prstShdw>
            </a:effectLst>
          </p:spPr>
        </p:pic>
      </p:grpSp>
      <p:sp>
        <p:nvSpPr>
          <p:cNvPr id="38919" name="Text Box 5"/>
          <p:cNvSpPr txBox="1"/>
          <p:nvPr/>
        </p:nvSpPr>
        <p:spPr>
          <a:xfrm>
            <a:off x="552450" y="1403350"/>
            <a:ext cx="8213725" cy="865188"/>
          </a:xfrm>
          <a:prstGeom prst="rect">
            <a:avLst/>
          </a:prstGeom>
          <a:solidFill>
            <a:srgbClr val="FFFF00">
              <a:alpha val="20000"/>
            </a:srgbClr>
          </a:solidFill>
          <a:ln w="9525">
            <a:noFill/>
          </a:ln>
        </p:spPr>
        <p:txBody>
          <a:bodyPr anchor="t">
            <a:spAutoFit/>
          </a:bodyPr>
          <a:lstStyle/>
          <a:p>
            <a:pPr marL="457200" lvl="0" indent="-457200">
              <a:lnSpc>
                <a:spcPct val="114000"/>
              </a:lnSpc>
              <a:buFont typeface="Wingdings" panose="05000000000000000000" pitchFamily="2" charset="2"/>
              <a:buChar char="p"/>
            </a:pPr>
            <a:r>
              <a:rPr lang="en-US" altLang="x-none" sz="2200" dirty="0">
                <a:solidFill>
                  <a:srgbClr val="CC0000"/>
                </a:solidFill>
                <a:latin typeface="华文楷体" panose="02010600040101010101" pitchFamily="2" charset="-122"/>
                <a:ea typeface="华文楷体" panose="02010600040101010101" pitchFamily="2" charset="-122"/>
              </a:rPr>
              <a:t>1</a:t>
            </a:r>
            <a:r>
              <a:rPr lang="zh-CN" altLang="en-US" sz="2200" dirty="0">
                <a:solidFill>
                  <a:srgbClr val="CC0000"/>
                </a:solidFill>
                <a:latin typeface="华文楷体" panose="02010600040101010101" pitchFamily="2" charset="-122"/>
                <a:ea typeface="华文楷体" panose="02010600040101010101" pitchFamily="2" charset="-122"/>
              </a:rPr>
              <a:t>：</a:t>
            </a:r>
            <a:r>
              <a:rPr lang="en-US" altLang="x-none" sz="2200" dirty="0">
                <a:solidFill>
                  <a:srgbClr val="CC0000"/>
                </a:solidFill>
                <a:latin typeface="华文楷体" panose="02010600040101010101" pitchFamily="2" charset="-122"/>
                <a:ea typeface="华文楷体" panose="02010600040101010101" pitchFamily="2" charset="-122"/>
              </a:rPr>
              <a:t>n</a:t>
            </a:r>
            <a:r>
              <a:rPr lang="zh-CN" altLang="en-US" sz="2200" dirty="0">
                <a:solidFill>
                  <a:srgbClr val="CC0000"/>
                </a:solidFill>
                <a:latin typeface="华文楷体" panose="02010600040101010101" pitchFamily="2" charset="-122"/>
                <a:ea typeface="华文楷体" panose="02010600040101010101" pitchFamily="2" charset="-122"/>
              </a:rPr>
              <a:t>联系</a:t>
            </a:r>
            <a:r>
              <a:rPr lang="en-US" altLang="x-none" sz="2200" dirty="0">
                <a:solidFill>
                  <a:srgbClr val="CC0000"/>
                </a:solidFill>
                <a:latin typeface="华文楷体" panose="02010600040101010101" pitchFamily="2" charset="-122"/>
                <a:ea typeface="华文楷体" panose="02010600040101010101" pitchFamily="2" charset="-122"/>
              </a:rPr>
              <a:t>--</a:t>
            </a:r>
            <a:r>
              <a:rPr lang="zh-CN" altLang="en-US" sz="2200" dirty="0">
                <a:solidFill>
                  <a:srgbClr val="0000CC"/>
                </a:solidFill>
                <a:latin typeface="华文楷体" panose="02010600040101010101" pitchFamily="2" charset="-122"/>
                <a:ea typeface="华文楷体" panose="02010600040101010101" pitchFamily="2" charset="-122"/>
              </a:rPr>
              <a:t>例如：</a:t>
            </a:r>
            <a:r>
              <a:rPr lang="zh-CN" altLang="en-US" sz="2200" dirty="0">
                <a:latin typeface="华文楷体" panose="02010600040101010101" pitchFamily="2" charset="-122"/>
                <a:ea typeface="华文楷体" panose="02010600040101010101" pitchFamily="2" charset="-122"/>
              </a:rPr>
              <a:t>一个教师在一段时间中只能在一所大学中工作，而一所大学可以有许多教师。</a:t>
            </a:r>
            <a:endParaRPr lang="de-DE" altLang="en-US" sz="2200" dirty="0">
              <a:latin typeface="华文楷体" panose="02010600040101010101" pitchFamily="2" charset="-122"/>
              <a:ea typeface="华文楷体" panose="02010600040101010101" pitchFamily="2" charset="-122"/>
            </a:endParaRPr>
          </a:p>
        </p:txBody>
      </p:sp>
      <p:grpSp>
        <p:nvGrpSpPr>
          <p:cNvPr id="38920" name="组合 45"/>
          <p:cNvGrpSpPr/>
          <p:nvPr/>
        </p:nvGrpSpPr>
        <p:grpSpPr>
          <a:xfrm>
            <a:off x="490538" y="2322513"/>
            <a:ext cx="7986712" cy="1606550"/>
            <a:chOff x="0" y="0"/>
            <a:chExt cx="7986840" cy="1606948"/>
          </a:xfrm>
        </p:grpSpPr>
        <p:grpSp>
          <p:nvGrpSpPr>
            <p:cNvPr id="40968" name="组合 55"/>
            <p:cNvGrpSpPr/>
            <p:nvPr/>
          </p:nvGrpSpPr>
          <p:grpSpPr>
            <a:xfrm>
              <a:off x="1756587" y="0"/>
              <a:ext cx="4079080" cy="1060288"/>
              <a:chOff x="0" y="0"/>
              <a:chExt cx="4079080" cy="1060179"/>
            </a:xfrm>
          </p:grpSpPr>
          <p:grpSp>
            <p:nvGrpSpPr>
              <p:cNvPr id="40969" name="Group 19"/>
              <p:cNvGrpSpPr/>
              <p:nvPr/>
            </p:nvGrpSpPr>
            <p:grpSpPr>
              <a:xfrm>
                <a:off x="1265924" y="3"/>
                <a:ext cx="2109870" cy="942382"/>
                <a:chOff x="0" y="0"/>
                <a:chExt cx="1440" cy="768"/>
              </a:xfrm>
            </p:grpSpPr>
            <p:sp>
              <p:nvSpPr>
                <p:cNvPr id="40970" name="AutoShape 20"/>
                <p:cNvSpPr/>
                <p:nvPr/>
              </p:nvSpPr>
              <p:spPr>
                <a:xfrm>
                  <a:off x="0" y="384"/>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71" name="Oval 21"/>
                <p:cNvSpPr/>
                <p:nvPr/>
              </p:nvSpPr>
              <p:spPr>
                <a:xfrm>
                  <a:off x="72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聘期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72" name="Line 22"/>
                <p:cNvSpPr/>
                <p:nvPr/>
              </p:nvSpPr>
              <p:spPr>
                <a:xfrm flipH="1">
                  <a:off x="384" y="240"/>
                  <a:ext cx="336" cy="144"/>
                </a:xfrm>
                <a:prstGeom prst="line">
                  <a:avLst/>
                </a:prstGeom>
                <a:ln w="25400" cap="flat" cmpd="sng">
                  <a:solidFill>
                    <a:srgbClr val="000000"/>
                  </a:solidFill>
                  <a:prstDash val="solid"/>
                  <a:round/>
                  <a:headEnd type="none" w="med" len="med"/>
                  <a:tailEnd type="none" w="med" len="med"/>
                </a:ln>
              </p:spPr>
            </p:sp>
          </p:grpSp>
          <p:grpSp>
            <p:nvGrpSpPr>
              <p:cNvPr id="40973" name="Group 23"/>
              <p:cNvGrpSpPr/>
              <p:nvPr/>
            </p:nvGrpSpPr>
            <p:grpSpPr>
              <a:xfrm>
                <a:off x="2320853" y="393891"/>
                <a:ext cx="1758223" cy="548495"/>
                <a:chOff x="0" y="0"/>
                <a:chExt cx="1200" cy="447"/>
              </a:xfrm>
            </p:grpSpPr>
            <p:sp>
              <p:nvSpPr>
                <p:cNvPr id="40974" name="Text Box 24"/>
                <p:cNvSpPr txBox="1"/>
                <p:nvPr/>
              </p:nvSpPr>
              <p:spPr>
                <a:xfrm>
                  <a:off x="768" y="0"/>
                  <a:ext cx="215" cy="364"/>
                </a:xfrm>
                <a:prstGeom prst="rect">
                  <a:avLst/>
                </a:prstGeom>
                <a:noFill/>
                <a:ln w="9525">
                  <a:noFill/>
                </a:ln>
              </p:spPr>
              <p:txBody>
                <a:bodyPr wrap="none" anchor="t">
                  <a:spAutoFit/>
                </a:bodyPr>
                <a:lstStyle/>
                <a:p>
                  <a:pPr lvl="0" indent="0">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40975" name="Line 25"/>
                <p:cNvSpPr/>
                <p:nvPr/>
              </p:nvSpPr>
              <p:spPr>
                <a:xfrm>
                  <a:off x="0" y="255"/>
                  <a:ext cx="1200" cy="192"/>
                </a:xfrm>
                <a:prstGeom prst="line">
                  <a:avLst/>
                </a:prstGeom>
                <a:ln w="25400" cap="flat" cmpd="sng">
                  <a:solidFill>
                    <a:schemeClr val="tx1"/>
                  </a:solidFill>
                  <a:prstDash val="solid"/>
                  <a:round/>
                  <a:headEnd type="none" w="med" len="med"/>
                  <a:tailEnd type="none" w="med" len="med"/>
                </a:ln>
              </p:spPr>
            </p:sp>
          </p:grpSp>
          <p:grpSp>
            <p:nvGrpSpPr>
              <p:cNvPr id="40976" name="Group 44"/>
              <p:cNvGrpSpPr/>
              <p:nvPr/>
            </p:nvGrpSpPr>
            <p:grpSpPr>
              <a:xfrm>
                <a:off x="0" y="412292"/>
                <a:ext cx="1265922" cy="647887"/>
                <a:chOff x="0" y="0"/>
                <a:chExt cx="864" cy="528"/>
              </a:xfrm>
            </p:grpSpPr>
            <p:sp>
              <p:nvSpPr>
                <p:cNvPr id="40977" name="Line 45"/>
                <p:cNvSpPr/>
                <p:nvPr/>
              </p:nvSpPr>
              <p:spPr>
                <a:xfrm flipV="1">
                  <a:off x="0" y="240"/>
                  <a:ext cx="864" cy="288"/>
                </a:xfrm>
                <a:prstGeom prst="line">
                  <a:avLst/>
                </a:prstGeom>
                <a:ln w="25400" cap="flat" cmpd="sng">
                  <a:solidFill>
                    <a:schemeClr val="tx1"/>
                  </a:solidFill>
                  <a:prstDash val="solid"/>
                  <a:round/>
                  <a:headEnd type="none" w="med" len="med"/>
                  <a:tailEnd type="none" w="med" len="med"/>
                </a:ln>
              </p:spPr>
            </p:sp>
            <p:sp>
              <p:nvSpPr>
                <p:cNvPr id="40978" name="Text Box 46"/>
                <p:cNvSpPr txBox="1"/>
                <p:nvPr/>
              </p:nvSpPr>
              <p:spPr>
                <a:xfrm>
                  <a:off x="432" y="0"/>
                  <a:ext cx="288" cy="375"/>
                </a:xfrm>
                <a:prstGeom prst="rect">
                  <a:avLst/>
                </a:prstGeom>
                <a:noFill/>
                <a:ln w="9525">
                  <a:noFill/>
                </a:ln>
              </p:spPr>
              <p:txBody>
                <a:bodyPr anchor="t">
                  <a:spAutoFit/>
                </a:bodyPr>
                <a:lstStyle/>
                <a:p>
                  <a:pPr lvl="0" indent="0">
                    <a:lnSpc>
                      <a:spcPct val="114000"/>
                    </a:lnSpc>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grpSp>
          <p:nvGrpSpPr>
            <p:cNvPr id="40979" name="Group 11"/>
            <p:cNvGrpSpPr/>
            <p:nvPr/>
          </p:nvGrpSpPr>
          <p:grpSpPr>
            <a:xfrm>
              <a:off x="0" y="134247"/>
              <a:ext cx="2046867" cy="1472701"/>
              <a:chOff x="0" y="0"/>
              <a:chExt cx="1397" cy="1200"/>
            </a:xfrm>
          </p:grpSpPr>
          <p:sp>
            <p:nvSpPr>
              <p:cNvPr id="40980" name="Rectangle 12"/>
              <p:cNvSpPr/>
              <p:nvPr/>
            </p:nvSpPr>
            <p:spPr>
              <a:xfrm>
                <a:off x="821"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40981" name="Oval 13"/>
              <p:cNvSpPr/>
              <p:nvPr/>
            </p:nvSpPr>
            <p:spPr>
              <a:xfrm>
                <a:off x="0" y="39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82" name="Line 14"/>
              <p:cNvSpPr/>
              <p:nvPr/>
            </p:nvSpPr>
            <p:spPr>
              <a:xfrm flipH="1">
                <a:off x="629" y="864"/>
                <a:ext cx="336" cy="96"/>
              </a:xfrm>
              <a:prstGeom prst="line">
                <a:avLst/>
              </a:prstGeom>
              <a:ln w="25400" cap="flat" cmpd="sng">
                <a:solidFill>
                  <a:srgbClr val="000000"/>
                </a:solidFill>
                <a:prstDash val="solid"/>
                <a:round/>
                <a:headEnd type="none" w="med" len="med"/>
                <a:tailEnd type="none" w="med" len="med"/>
              </a:ln>
            </p:spPr>
          </p:sp>
          <p:sp>
            <p:nvSpPr>
              <p:cNvPr id="40983" name="Oval 15"/>
              <p:cNvSpPr/>
              <p:nvPr/>
            </p:nvSpPr>
            <p:spPr>
              <a:xfrm>
                <a:off x="341"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0984" name="Oval 16"/>
              <p:cNvSpPr/>
              <p:nvPr/>
            </p:nvSpPr>
            <p:spPr>
              <a:xfrm>
                <a:off x="101"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85" name="Line 17"/>
              <p:cNvSpPr/>
              <p:nvPr/>
            </p:nvSpPr>
            <p:spPr>
              <a:xfrm>
                <a:off x="635" y="616"/>
                <a:ext cx="199" cy="174"/>
              </a:xfrm>
              <a:prstGeom prst="line">
                <a:avLst/>
              </a:prstGeom>
              <a:ln w="25400" cap="flat" cmpd="sng">
                <a:solidFill>
                  <a:srgbClr val="000000"/>
                </a:solidFill>
                <a:prstDash val="solid"/>
                <a:round/>
                <a:headEnd type="none" w="med" len="med"/>
                <a:tailEnd type="none" w="med" len="med"/>
              </a:ln>
            </p:spPr>
          </p:sp>
          <p:sp>
            <p:nvSpPr>
              <p:cNvPr id="40986" name="Line 18"/>
              <p:cNvSpPr/>
              <p:nvPr/>
            </p:nvSpPr>
            <p:spPr>
              <a:xfrm>
                <a:off x="725" y="432"/>
                <a:ext cx="288" cy="192"/>
              </a:xfrm>
              <a:prstGeom prst="line">
                <a:avLst/>
              </a:prstGeom>
              <a:ln w="25400" cap="flat" cmpd="sng">
                <a:solidFill>
                  <a:srgbClr val="000000"/>
                </a:solidFill>
                <a:prstDash val="solid"/>
                <a:round/>
                <a:headEnd type="none" w="med" len="med"/>
                <a:tailEnd type="none" w="med" len="med"/>
              </a:ln>
            </p:spPr>
          </p:sp>
        </p:grpSp>
        <p:grpSp>
          <p:nvGrpSpPr>
            <p:cNvPr id="40987" name="Group 32"/>
            <p:cNvGrpSpPr/>
            <p:nvPr/>
          </p:nvGrpSpPr>
          <p:grpSpPr>
            <a:xfrm>
              <a:off x="5665984" y="1917"/>
              <a:ext cx="2320856" cy="1119253"/>
              <a:chOff x="0" y="0"/>
              <a:chExt cx="1584" cy="912"/>
            </a:xfrm>
          </p:grpSpPr>
          <p:sp>
            <p:nvSpPr>
              <p:cNvPr id="40988" name="Rectangle 33"/>
              <p:cNvSpPr/>
              <p:nvPr/>
            </p:nvSpPr>
            <p:spPr>
              <a:xfrm>
                <a:off x="96"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40989" name="Oval 34"/>
              <p:cNvSpPr/>
              <p:nvPr/>
            </p:nvSpPr>
            <p:spPr>
              <a:xfrm>
                <a:off x="864" y="33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90" name="Oval 35"/>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0991" name="Line 36"/>
              <p:cNvSpPr/>
              <p:nvPr/>
            </p:nvSpPr>
            <p:spPr>
              <a:xfrm>
                <a:off x="288" y="384"/>
                <a:ext cx="96" cy="240"/>
              </a:xfrm>
              <a:prstGeom prst="line">
                <a:avLst/>
              </a:prstGeom>
              <a:ln w="25400" cap="flat" cmpd="sng">
                <a:solidFill>
                  <a:srgbClr val="000000"/>
                </a:solidFill>
                <a:prstDash val="solid"/>
                <a:round/>
                <a:headEnd type="none" w="med" len="med"/>
                <a:tailEnd type="none" w="med" len="med"/>
              </a:ln>
            </p:spPr>
          </p:sp>
          <p:sp>
            <p:nvSpPr>
              <p:cNvPr id="40992" name="Line 37"/>
              <p:cNvSpPr/>
              <p:nvPr/>
            </p:nvSpPr>
            <p:spPr>
              <a:xfrm flipH="1">
                <a:off x="672" y="672"/>
                <a:ext cx="288" cy="96"/>
              </a:xfrm>
              <a:prstGeom prst="line">
                <a:avLst/>
              </a:prstGeom>
              <a:ln w="25400" cap="flat" cmpd="sng">
                <a:solidFill>
                  <a:srgbClr val="000000"/>
                </a:solidFill>
                <a:prstDash val="solid"/>
                <a:round/>
                <a:headEnd type="none" w="med" len="med"/>
                <a:tailEnd type="none" w="med" len="med"/>
              </a:ln>
            </p:spPr>
          </p:sp>
        </p:grpSp>
      </p:grpSp>
      <p:sp>
        <p:nvSpPr>
          <p:cNvPr id="2"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919">
                                            <p:bg/>
                                          </p:spTgt>
                                        </p:tgtEl>
                                        <p:attrNameLst>
                                          <p:attrName>style.visibility</p:attrName>
                                        </p:attrNameLst>
                                      </p:cBhvr>
                                      <p:to>
                                        <p:strVal val="visible"/>
                                      </p:to>
                                    </p:set>
                                    <p:animEffect transition="in" filter="wipe(down)">
                                      <p:cBhvr>
                                        <p:cTn id="7" dur="500"/>
                                        <p:tgtEl>
                                          <p:spTgt spid="38919">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8919">
                                            <p:txEl>
                                              <p:pRg st="0" end="0"/>
                                            </p:txEl>
                                          </p:spTgt>
                                        </p:tgtEl>
                                        <p:attrNameLst>
                                          <p:attrName>style.visibility</p:attrName>
                                        </p:attrNameLst>
                                      </p:cBhvr>
                                      <p:to>
                                        <p:strVal val="visible"/>
                                      </p:to>
                                    </p:set>
                                    <p:animEffect transition="in" filter="wipe(down)">
                                      <p:cBhvr>
                                        <p:cTn id="10" dur="500"/>
                                        <p:tgtEl>
                                          <p:spTgt spid="389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8920"/>
                                        </p:tgtEl>
                                        <p:attrNameLst>
                                          <p:attrName>style.visibility</p:attrName>
                                        </p:attrNameLst>
                                      </p:cBhvr>
                                      <p:to>
                                        <p:strVal val="visible"/>
                                      </p:to>
                                    </p:set>
                                    <p:anim calcmode="lin" valueType="num">
                                      <p:cBhvr additive="base">
                                        <p:cTn id="15" dur="500" fill="hold"/>
                                        <p:tgtEl>
                                          <p:spTgt spid="38920"/>
                                        </p:tgtEl>
                                        <p:attrNameLst>
                                          <p:attrName>ppt_x</p:attrName>
                                        </p:attrNameLst>
                                      </p:cBhvr>
                                      <p:tavLst>
                                        <p:tav tm="0">
                                          <p:val>
                                            <p:strVal val="#ppt_x"/>
                                          </p:val>
                                        </p:tav>
                                        <p:tav tm="100000">
                                          <p:val>
                                            <p:strVal val="#ppt_x"/>
                                          </p:val>
                                        </p:tav>
                                      </p:tavLst>
                                    </p:anim>
                                    <p:anim calcmode="lin" valueType="num">
                                      <p:cBhvr additive="base">
                                        <p:cTn id="16" dur="500" fill="hold"/>
                                        <p:tgtEl>
                                          <p:spTgt spid="3892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8916"/>
                                        </p:tgtEl>
                                        <p:attrNameLst>
                                          <p:attrName>style.visibility</p:attrName>
                                        </p:attrNameLst>
                                      </p:cBhvr>
                                      <p:to>
                                        <p:strVal val="visible"/>
                                      </p:to>
                                    </p:set>
                                    <p:anim calcmode="lin" valueType="num">
                                      <p:cBhvr additive="base">
                                        <p:cTn id="21" dur="500" fill="hold"/>
                                        <p:tgtEl>
                                          <p:spTgt spid="38916"/>
                                        </p:tgtEl>
                                        <p:attrNameLst>
                                          <p:attrName>ppt_x</p:attrName>
                                        </p:attrNameLst>
                                      </p:cBhvr>
                                      <p:tavLst>
                                        <p:tav tm="0">
                                          <p:val>
                                            <p:strVal val="#ppt_x"/>
                                          </p:val>
                                        </p:tav>
                                        <p:tav tm="100000">
                                          <p:val>
                                            <p:strVal val="#ppt_x"/>
                                          </p:val>
                                        </p:tav>
                                      </p:tavLst>
                                    </p:anim>
                                    <p:anim calcmode="lin" valueType="num">
                                      <p:cBhvr additive="base">
                                        <p:cTn id="22"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animBg="1"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3" name="组合 59"/>
          <p:cNvGrpSpPr/>
          <p:nvPr/>
        </p:nvGrpSpPr>
        <p:grpSpPr>
          <a:xfrm>
            <a:off x="827088" y="2557463"/>
            <a:ext cx="7529512" cy="2116137"/>
            <a:chOff x="0" y="0"/>
            <a:chExt cx="7529956" cy="2115300"/>
          </a:xfrm>
        </p:grpSpPr>
        <p:grpSp>
          <p:nvGrpSpPr>
            <p:cNvPr id="43011" name="Group 11"/>
            <p:cNvGrpSpPr/>
            <p:nvPr/>
          </p:nvGrpSpPr>
          <p:grpSpPr>
            <a:xfrm>
              <a:off x="0" y="0"/>
              <a:ext cx="1898883" cy="1826149"/>
              <a:chOff x="0" y="0"/>
              <a:chExt cx="1296" cy="1488"/>
            </a:xfrm>
          </p:grpSpPr>
          <p:sp>
            <p:nvSpPr>
              <p:cNvPr id="43012" name="Rectangle 12"/>
              <p:cNvSpPr/>
              <p:nvPr/>
            </p:nvSpPr>
            <p:spPr>
              <a:xfrm>
                <a:off x="720"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43013" name="Oval 13"/>
              <p:cNvSpPr/>
              <p:nvPr/>
            </p:nvSpPr>
            <p:spPr>
              <a:xfrm>
                <a:off x="672" y="110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14" name="Line 14"/>
              <p:cNvSpPr/>
              <p:nvPr/>
            </p:nvSpPr>
            <p:spPr>
              <a:xfrm flipH="1">
                <a:off x="528" y="864"/>
                <a:ext cx="336" cy="96"/>
              </a:xfrm>
              <a:prstGeom prst="line">
                <a:avLst/>
              </a:prstGeom>
              <a:ln w="25400" cap="flat" cmpd="sng">
                <a:solidFill>
                  <a:srgbClr val="000000"/>
                </a:solidFill>
                <a:prstDash val="solid"/>
                <a:round/>
                <a:headEnd type="none" w="med" len="med"/>
                <a:tailEnd type="none" w="med" len="med"/>
              </a:ln>
            </p:spPr>
          </p:sp>
          <p:sp>
            <p:nvSpPr>
              <p:cNvPr id="43015" name="Oval 15"/>
              <p:cNvSpPr/>
              <p:nvPr/>
            </p:nvSpPr>
            <p:spPr>
              <a:xfrm>
                <a:off x="2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3016" name="Oval 16"/>
              <p:cNvSpPr/>
              <p:nvPr/>
            </p:nvSpPr>
            <p:spPr>
              <a:xfrm>
                <a:off x="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17" name="Line 17"/>
              <p:cNvSpPr/>
              <p:nvPr/>
            </p:nvSpPr>
            <p:spPr>
              <a:xfrm>
                <a:off x="960" y="864"/>
                <a:ext cx="48" cy="240"/>
              </a:xfrm>
              <a:prstGeom prst="line">
                <a:avLst/>
              </a:prstGeom>
              <a:ln w="25400" cap="flat" cmpd="sng">
                <a:solidFill>
                  <a:srgbClr val="000000"/>
                </a:solidFill>
                <a:prstDash val="solid"/>
                <a:round/>
                <a:headEnd type="none" w="med" len="med"/>
                <a:tailEnd type="none" w="med" len="med"/>
              </a:ln>
            </p:spPr>
          </p:sp>
          <p:sp>
            <p:nvSpPr>
              <p:cNvPr id="43018" name="Line 18"/>
              <p:cNvSpPr/>
              <p:nvPr/>
            </p:nvSpPr>
            <p:spPr>
              <a:xfrm>
                <a:off x="624" y="432"/>
                <a:ext cx="288" cy="192"/>
              </a:xfrm>
              <a:prstGeom prst="line">
                <a:avLst/>
              </a:prstGeom>
              <a:ln w="25400" cap="flat" cmpd="sng">
                <a:solidFill>
                  <a:srgbClr val="000000"/>
                </a:solidFill>
                <a:prstDash val="solid"/>
                <a:round/>
                <a:headEnd type="none" w="med" len="med"/>
                <a:tailEnd type="none" w="med" len="med"/>
              </a:ln>
            </p:spPr>
          </p:sp>
        </p:grpSp>
        <p:grpSp>
          <p:nvGrpSpPr>
            <p:cNvPr id="43019" name="组合 56"/>
            <p:cNvGrpSpPr/>
            <p:nvPr/>
          </p:nvGrpSpPr>
          <p:grpSpPr>
            <a:xfrm>
              <a:off x="1731444" y="1059761"/>
              <a:ext cx="5798512" cy="1055539"/>
              <a:chOff x="0" y="0"/>
              <a:chExt cx="5798512" cy="1055539"/>
            </a:xfrm>
          </p:grpSpPr>
          <p:grpSp>
            <p:nvGrpSpPr>
              <p:cNvPr id="43020" name="Group 38"/>
              <p:cNvGrpSpPr/>
              <p:nvPr/>
            </p:nvGrpSpPr>
            <p:grpSpPr>
              <a:xfrm>
                <a:off x="3407327" y="54260"/>
                <a:ext cx="2391185" cy="1001279"/>
                <a:chOff x="0" y="0"/>
                <a:chExt cx="1632" cy="816"/>
              </a:xfrm>
            </p:grpSpPr>
            <p:sp>
              <p:nvSpPr>
                <p:cNvPr id="43021" name="Rectangle 39"/>
                <p:cNvSpPr/>
                <p:nvPr/>
              </p:nvSpPr>
              <p:spPr>
                <a:xfrm>
                  <a:off x="0" y="38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43022" name="Oval 40"/>
                <p:cNvSpPr/>
                <p:nvPr/>
              </p:nvSpPr>
              <p:spPr>
                <a:xfrm>
                  <a:off x="912"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23" name="Oval 41"/>
                <p:cNvSpPr/>
                <p:nvPr/>
              </p:nvSpPr>
              <p:spPr>
                <a:xfrm>
                  <a:off x="912" y="43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3024" name="Line 42"/>
                <p:cNvSpPr/>
                <p:nvPr/>
              </p:nvSpPr>
              <p:spPr>
                <a:xfrm>
                  <a:off x="528" y="576"/>
                  <a:ext cx="384" cy="48"/>
                </a:xfrm>
                <a:prstGeom prst="line">
                  <a:avLst/>
                </a:prstGeom>
                <a:ln w="25400" cap="flat" cmpd="sng">
                  <a:solidFill>
                    <a:srgbClr val="000000"/>
                  </a:solidFill>
                  <a:prstDash val="solid"/>
                  <a:round/>
                  <a:headEnd type="none" w="med" len="med"/>
                  <a:tailEnd type="none" w="med" len="med"/>
                </a:ln>
              </p:spPr>
            </p:sp>
            <p:sp>
              <p:nvSpPr>
                <p:cNvPr id="43025" name="Line 43"/>
                <p:cNvSpPr/>
                <p:nvPr/>
              </p:nvSpPr>
              <p:spPr>
                <a:xfrm flipH="1">
                  <a:off x="528" y="288"/>
                  <a:ext cx="432" cy="192"/>
                </a:xfrm>
                <a:prstGeom prst="line">
                  <a:avLst/>
                </a:prstGeom>
                <a:ln w="25400" cap="flat" cmpd="sng">
                  <a:solidFill>
                    <a:srgbClr val="000000"/>
                  </a:solidFill>
                  <a:prstDash val="solid"/>
                  <a:round/>
                  <a:headEnd type="none" w="med" len="med"/>
                  <a:tailEnd type="none" w="med" len="med"/>
                </a:ln>
              </p:spPr>
            </p:sp>
          </p:grpSp>
          <p:grpSp>
            <p:nvGrpSpPr>
              <p:cNvPr id="43026" name="Group 26"/>
              <p:cNvGrpSpPr/>
              <p:nvPr/>
            </p:nvGrpSpPr>
            <p:grpSpPr>
              <a:xfrm>
                <a:off x="0" y="0"/>
                <a:ext cx="1336251" cy="970603"/>
                <a:chOff x="0" y="0"/>
                <a:chExt cx="912" cy="791"/>
              </a:xfrm>
            </p:grpSpPr>
            <p:sp>
              <p:nvSpPr>
                <p:cNvPr id="43027" name="Line 27"/>
                <p:cNvSpPr/>
                <p:nvPr/>
              </p:nvSpPr>
              <p:spPr>
                <a:xfrm>
                  <a:off x="0" y="0"/>
                  <a:ext cx="912" cy="672"/>
                </a:xfrm>
                <a:prstGeom prst="line">
                  <a:avLst/>
                </a:prstGeom>
                <a:ln w="25400" cap="flat" cmpd="sng">
                  <a:solidFill>
                    <a:schemeClr val="tx1"/>
                  </a:solidFill>
                  <a:prstDash val="solid"/>
                  <a:round/>
                  <a:headEnd type="none" w="med" len="med"/>
                  <a:tailEnd type="none" w="med" len="med"/>
                </a:ln>
              </p:spPr>
            </p:sp>
            <p:sp>
              <p:nvSpPr>
                <p:cNvPr id="43028" name="Text Box 28"/>
                <p:cNvSpPr txBox="1"/>
                <p:nvPr/>
              </p:nvSpPr>
              <p:spPr>
                <a:xfrm>
                  <a:off x="384" y="369"/>
                  <a:ext cx="232" cy="42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43029" name="Line 30"/>
              <p:cNvSpPr/>
              <p:nvPr/>
            </p:nvSpPr>
            <p:spPr>
              <a:xfrm flipV="1">
                <a:off x="2378922" y="765255"/>
                <a:ext cx="1042921" cy="65926"/>
              </a:xfrm>
              <a:prstGeom prst="line">
                <a:avLst/>
              </a:prstGeom>
              <a:ln w="25400" cap="flat" cmpd="sng">
                <a:solidFill>
                  <a:schemeClr val="tx1"/>
                </a:solidFill>
                <a:prstDash val="solid"/>
                <a:round/>
                <a:headEnd type="none" w="med" len="med"/>
                <a:tailEnd type="none" w="med" len="med"/>
              </a:ln>
            </p:spPr>
          </p:sp>
          <p:sp>
            <p:nvSpPr>
              <p:cNvPr id="43030" name="AutoShape 47"/>
              <p:cNvSpPr/>
              <p:nvPr/>
            </p:nvSpPr>
            <p:spPr>
              <a:xfrm>
                <a:off x="1222373" y="603500"/>
                <a:ext cx="1125263" cy="41229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31" name="Text Box 46"/>
              <p:cNvSpPr txBox="1"/>
              <p:nvPr/>
            </p:nvSpPr>
            <p:spPr>
              <a:xfrm>
                <a:off x="2651229" y="342975"/>
                <a:ext cx="421974" cy="460147"/>
              </a:xfrm>
              <a:prstGeom prst="rect">
                <a:avLst/>
              </a:prstGeom>
              <a:noFill/>
              <a:ln w="9525">
                <a:noFill/>
              </a:ln>
            </p:spPr>
            <p:txBody>
              <a:bodyPr anchor="t">
                <a:spAutoFit/>
              </a:bodyPr>
              <a:lstStyle/>
              <a:p>
                <a:pPr lvl="0" indent="0">
                  <a:lnSpc>
                    <a:spcPct val="114000"/>
                  </a:lnSpc>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sp>
        <p:nvSpPr>
          <p:cNvPr id="40986" name="Text Box 6"/>
          <p:cNvSpPr txBox="1"/>
          <p:nvPr/>
        </p:nvSpPr>
        <p:spPr>
          <a:xfrm>
            <a:off x="609600" y="1487488"/>
            <a:ext cx="7953375" cy="863600"/>
          </a:xfrm>
          <a:prstGeom prst="rect">
            <a:avLst/>
          </a:prstGeom>
          <a:solidFill>
            <a:srgbClr val="FFFF00">
              <a:alpha val="20999"/>
            </a:srgbClr>
          </a:solidFill>
          <a:ln w="9525">
            <a:noFill/>
          </a:ln>
        </p:spPr>
        <p:txBody>
          <a:bodyPr anchor="t">
            <a:spAutoFit/>
          </a:bodyPr>
          <a:lstStyle/>
          <a:p>
            <a:pPr marL="457200" lvl="0" indent="-457200">
              <a:lnSpc>
                <a:spcPct val="114000"/>
              </a:lnSpc>
              <a:spcBef>
                <a:spcPct val="20000"/>
              </a:spcBef>
              <a:buClr>
                <a:srgbClr val="C00000"/>
              </a:buClr>
              <a:buSzPct val="110000"/>
              <a:buFont typeface="Wingdings" panose="05000000000000000000" pitchFamily="2" charset="2"/>
              <a:buChar char="p"/>
            </a:pPr>
            <a:r>
              <a:rPr lang="en-US" altLang="x-none" sz="2200" dirty="0">
                <a:solidFill>
                  <a:srgbClr val="CC0000"/>
                </a:solidFill>
                <a:latin typeface="华文楷体" panose="02010600040101010101" pitchFamily="2" charset="-122"/>
                <a:ea typeface="华文楷体" panose="02010600040101010101" pitchFamily="2" charset="-122"/>
              </a:rPr>
              <a:t>m: n</a:t>
            </a:r>
            <a:r>
              <a:rPr lang="zh-CN" altLang="en-US" sz="2200" dirty="0">
                <a:solidFill>
                  <a:srgbClr val="CC0000"/>
                </a:solidFill>
                <a:latin typeface="华文楷体" panose="02010600040101010101" pitchFamily="2" charset="-122"/>
                <a:ea typeface="华文楷体" panose="02010600040101010101" pitchFamily="2" charset="-122"/>
              </a:rPr>
              <a:t>联系</a:t>
            </a:r>
            <a:r>
              <a:rPr lang="en-US" altLang="x-none" sz="2200" dirty="0">
                <a:solidFill>
                  <a:srgbClr val="CC0000"/>
                </a:solidFill>
                <a:latin typeface="华文楷体" panose="02010600040101010101" pitchFamily="2" charset="-122"/>
                <a:ea typeface="华文楷体" panose="02010600040101010101" pitchFamily="2" charset="-122"/>
              </a:rPr>
              <a:t>--</a:t>
            </a:r>
            <a:r>
              <a:rPr lang="zh-CN" altLang="en-US" sz="2200" dirty="0">
                <a:solidFill>
                  <a:srgbClr val="0000CC"/>
                </a:solidFill>
                <a:latin typeface="华文楷体" panose="02010600040101010101" pitchFamily="2" charset="-122"/>
                <a:ea typeface="华文楷体" panose="02010600040101010101" pitchFamily="2" charset="-122"/>
              </a:rPr>
              <a:t>例如：</a:t>
            </a:r>
            <a:r>
              <a:rPr lang="zh-CN" altLang="en-US" sz="2200" dirty="0">
                <a:latin typeface="华文楷体" panose="02010600040101010101" pitchFamily="2" charset="-122"/>
                <a:ea typeface="华文楷体" panose="02010600040101010101" pitchFamily="2" charset="-122"/>
              </a:rPr>
              <a:t>一个教师可以上多门课程</a:t>
            </a:r>
            <a:r>
              <a:rPr lang="en-US" altLang="x-none" sz="2200" dirty="0">
                <a:latin typeface="华文楷体" panose="02010600040101010101" pitchFamily="2" charset="-122"/>
                <a:ea typeface="华文楷体" panose="02010600040101010101" pitchFamily="2" charset="-122"/>
              </a:rPr>
              <a:t>,</a:t>
            </a:r>
            <a:r>
              <a:rPr lang="zh-CN" altLang="en-US" sz="2200" dirty="0">
                <a:latin typeface="华文楷体" panose="02010600040101010101" pitchFamily="2" charset="-122"/>
                <a:ea typeface="华文楷体" panose="02010600040101010101" pitchFamily="2" charset="-122"/>
              </a:rPr>
              <a:t>每门课程可以有多个教师。</a:t>
            </a:r>
            <a:endParaRPr lang="zh-CN" altLang="en-US" sz="2200" dirty="0">
              <a:latin typeface="华文楷体" panose="02010600040101010101" pitchFamily="2" charset="-122"/>
              <a:ea typeface="华文楷体" panose="02010600040101010101" pitchFamily="2" charset="-122"/>
            </a:endParaRPr>
          </a:p>
        </p:txBody>
      </p:sp>
      <p:sp>
        <p:nvSpPr>
          <p:cNvPr id="40987" name="Text Box 6"/>
          <p:cNvSpPr txBox="1"/>
          <p:nvPr/>
        </p:nvSpPr>
        <p:spPr>
          <a:xfrm>
            <a:off x="646113" y="4948238"/>
            <a:ext cx="7953375" cy="1031875"/>
          </a:xfrm>
          <a:prstGeom prst="rect">
            <a:avLst/>
          </a:prstGeom>
          <a:solidFill>
            <a:srgbClr val="FFFF00">
              <a:alpha val="20999"/>
            </a:srgbClr>
          </a:solidFill>
          <a:ln w="9525">
            <a:noFill/>
          </a:ln>
        </p:spPr>
        <p:txBody>
          <a:bodyPr anchor="t">
            <a:spAutoFit/>
          </a:bodyPr>
          <a:lstStyle/>
          <a:p>
            <a:pPr lvl="0" indent="0">
              <a:buNone/>
            </a:pPr>
            <a:r>
              <a:rPr lang="zh-CN" altLang="en-US" sz="2400" dirty="0">
                <a:latin typeface="Arial" panose="020B0604020202020204" pitchFamily="34" charset="0"/>
                <a:ea typeface="宋体" panose="02010600030101010101" pitchFamily="2" charset="-122"/>
              </a:rPr>
              <a:t>在确定是</a:t>
            </a:r>
            <a:r>
              <a:rPr lang="en-US" altLang="x-none"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约束、</a:t>
            </a:r>
            <a:r>
              <a:rPr lang="en-US" altLang="x-none"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n</a:t>
            </a:r>
            <a:r>
              <a:rPr lang="zh-CN" altLang="en-US" sz="2400" dirty="0">
                <a:latin typeface="Arial" panose="020B0604020202020204" pitchFamily="34" charset="0"/>
                <a:ea typeface="宋体" panose="02010600030101010101" pitchFamily="2" charset="-122"/>
              </a:rPr>
              <a:t>约束还是</a:t>
            </a:r>
            <a:r>
              <a:rPr lang="en-US" altLang="x-none" sz="2400" dirty="0">
                <a:latin typeface="Arial" panose="020B0604020202020204" pitchFamily="34" charset="0"/>
                <a:ea typeface="宋体" panose="02010600030101010101" pitchFamily="2" charset="-122"/>
              </a:rPr>
              <a:t>m:n</a:t>
            </a:r>
            <a:r>
              <a:rPr lang="zh-CN" altLang="en-US" sz="2400" dirty="0">
                <a:latin typeface="Arial" panose="020B0604020202020204" pitchFamily="34" charset="0"/>
                <a:ea typeface="宋体" panose="02010600030101010101" pitchFamily="2" charset="-122"/>
              </a:rPr>
              <a:t>约束时，不能只看一个方向上的数量约束</a:t>
            </a:r>
            <a:r>
              <a:rPr lang="en-US" altLang="x-none"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一定要综合两个方向上的约束数量</a:t>
            </a:r>
            <a:r>
              <a:rPr lang="en-US" altLang="x-none" sz="2400" dirty="0">
                <a:latin typeface="Arial" panose="020B0604020202020204" pitchFamily="34" charset="0"/>
                <a:ea typeface="宋体" panose="02010600030101010101" pitchFamily="2" charset="-122"/>
              </a:rPr>
              <a:t>.</a:t>
            </a:r>
            <a:endParaRPr lang="en-US" altLang="x-none" sz="2400" dirty="0">
              <a:latin typeface="Arial" panose="020B0604020202020204" pitchFamily="34" charset="0"/>
              <a:ea typeface="宋体" panose="02010600030101010101" pitchFamily="2" charset="-122"/>
            </a:endParaRPr>
          </a:p>
        </p:txBody>
      </p:sp>
      <p:sp>
        <p:nvSpPr>
          <p:cNvPr id="43035" name="Oval 40"/>
          <p:cNvSpPr/>
          <p:nvPr/>
        </p:nvSpPr>
        <p:spPr>
          <a:xfrm>
            <a:off x="3898900" y="3505200"/>
            <a:ext cx="1054100" cy="4714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开课学期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36" name="Line 18"/>
          <p:cNvSpPr/>
          <p:nvPr/>
        </p:nvSpPr>
        <p:spPr>
          <a:xfrm>
            <a:off x="4332288" y="3965575"/>
            <a:ext cx="50800" cy="258763"/>
          </a:xfrm>
          <a:prstGeom prst="line">
            <a:avLst/>
          </a:prstGeom>
          <a:ln w="25400" cap="flat" cmpd="sng">
            <a:solidFill>
              <a:srgbClr val="000000"/>
            </a:solidFill>
            <a:prstDash val="solid"/>
            <a:round/>
            <a:headEnd type="none" w="med" len="med"/>
            <a:tailEnd type="none" w="med" len="med"/>
          </a:ln>
        </p:spPr>
      </p:sp>
      <p:sp>
        <p:nvSpPr>
          <p:cNvPr id="2"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986">
                                            <p:bg/>
                                          </p:spTgt>
                                        </p:tgtEl>
                                        <p:attrNameLst>
                                          <p:attrName>style.visibility</p:attrName>
                                        </p:attrNameLst>
                                      </p:cBhvr>
                                      <p:to>
                                        <p:strVal val="visible"/>
                                      </p:to>
                                    </p:set>
                                    <p:animEffect transition="in" filter="wipe(down)">
                                      <p:cBhvr>
                                        <p:cTn id="7" dur="500"/>
                                        <p:tgtEl>
                                          <p:spTgt spid="40986">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0986">
                                            <p:txEl>
                                              <p:pRg st="0" end="0"/>
                                            </p:txEl>
                                          </p:spTgt>
                                        </p:tgtEl>
                                        <p:attrNameLst>
                                          <p:attrName>style.visibility</p:attrName>
                                        </p:attrNameLst>
                                      </p:cBhvr>
                                      <p:to>
                                        <p:strVal val="visible"/>
                                      </p:to>
                                    </p:set>
                                    <p:animEffect transition="in" filter="wipe(down)">
                                      <p:cBhvr>
                                        <p:cTn id="10" dur="500"/>
                                        <p:tgtEl>
                                          <p:spTgt spid="4098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0963"/>
                                        </p:tgtEl>
                                        <p:attrNameLst>
                                          <p:attrName>style.visibility</p:attrName>
                                        </p:attrNameLst>
                                      </p:cBhvr>
                                      <p:to>
                                        <p:strVal val="visible"/>
                                      </p:to>
                                    </p:set>
                                    <p:anim calcmode="lin" valueType="num">
                                      <p:cBhvr additive="base">
                                        <p:cTn id="15" dur="500" fill="hold"/>
                                        <p:tgtEl>
                                          <p:spTgt spid="40963"/>
                                        </p:tgtEl>
                                        <p:attrNameLst>
                                          <p:attrName>ppt_x</p:attrName>
                                        </p:attrNameLst>
                                      </p:cBhvr>
                                      <p:tavLst>
                                        <p:tav tm="0">
                                          <p:val>
                                            <p:strVal val="#ppt_x"/>
                                          </p:val>
                                        </p:tav>
                                        <p:tav tm="100000">
                                          <p:val>
                                            <p:strVal val="#ppt_x"/>
                                          </p:val>
                                        </p:tav>
                                      </p:tavLst>
                                    </p:anim>
                                    <p:anim calcmode="lin" valueType="num">
                                      <p:cBhvr additive="base">
                                        <p:cTn id="16" dur="500" fill="hold"/>
                                        <p:tgtEl>
                                          <p:spTgt spid="4096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40987">
                                            <p:bg/>
                                          </p:spTgt>
                                        </p:tgtEl>
                                        <p:attrNameLst>
                                          <p:attrName>style.visibility</p:attrName>
                                        </p:attrNameLst>
                                      </p:cBhvr>
                                      <p:to>
                                        <p:strVal val="visible"/>
                                      </p:to>
                                    </p:set>
                                    <p:animEffect transition="in" filter="wipe(down)">
                                      <p:cBhvr>
                                        <p:cTn id="21" dur="500"/>
                                        <p:tgtEl>
                                          <p:spTgt spid="40987">
                                            <p:bg/>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0987">
                                            <p:txEl>
                                              <p:pRg st="0" end="0"/>
                                            </p:txEl>
                                          </p:spTgt>
                                        </p:tgtEl>
                                        <p:attrNameLst>
                                          <p:attrName>style.visibility</p:attrName>
                                        </p:attrNameLst>
                                      </p:cBhvr>
                                      <p:to>
                                        <p:strVal val="visible"/>
                                      </p:to>
                                    </p:set>
                                    <p:animEffect transition="in" filter="wipe(down)">
                                      <p:cBhvr>
                                        <p:cTn id="24" dur="500"/>
                                        <p:tgtEl>
                                          <p:spTgt spid="409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6" grpId="0" animBg="1" build="allAtOnce"/>
      <p:bldP spid="40987" grpId="0" animBg="1" build="allAtOnce"/>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 Box 4"/>
          <p:cNvSpPr txBox="1"/>
          <p:nvPr/>
        </p:nvSpPr>
        <p:spPr>
          <a:xfrm>
            <a:off x="434975" y="3941763"/>
            <a:ext cx="8361363" cy="814387"/>
          </a:xfrm>
          <a:prstGeom prst="rect">
            <a:avLst/>
          </a:prstGeom>
          <a:noFill/>
          <a:ln w="9525">
            <a:noFill/>
          </a:ln>
        </p:spPr>
        <p:txBody>
          <a:bodyPr anchor="t">
            <a:spAutoFit/>
          </a:bodyPr>
          <a:lstStyle/>
          <a:p>
            <a:pPr lvl="0" indent="0">
              <a:lnSpc>
                <a:spcPct val="114000"/>
              </a:lnSpc>
              <a:buNone/>
            </a:pPr>
            <a:r>
              <a:rPr lang="zh-CN" altLang="en-US" sz="2200" dirty="0">
                <a:solidFill>
                  <a:srgbClr val="CC3300"/>
                </a:solidFill>
                <a:latin typeface="楷体" panose="02010609060101010101" pitchFamily="1" charset="-122"/>
                <a:ea typeface="楷体" panose="02010609060101010101" pitchFamily="1" charset="-122"/>
              </a:rPr>
              <a:t>  </a:t>
            </a:r>
            <a:r>
              <a:rPr lang="en-US" altLang="x-none" sz="2200" dirty="0">
                <a:solidFill>
                  <a:srgbClr val="CC3300"/>
                </a:solidFill>
                <a:latin typeface="楷体" panose="02010609060101010101" pitchFamily="1" charset="-122"/>
                <a:ea typeface="楷体" panose="02010609060101010101" pitchFamily="1" charset="-122"/>
              </a:rPr>
              <a:t> (1)</a:t>
            </a:r>
            <a:r>
              <a:rPr lang="zh-CN" altLang="en-US" sz="2200" dirty="0">
                <a:latin typeface="楷体" panose="02010609060101010101" pitchFamily="1" charset="-122"/>
                <a:ea typeface="楷体" panose="02010609060101010101" pitchFamily="1" charset="-122"/>
              </a:rPr>
              <a:t>一个部门只有一个经理，而一个经理只能管理一个部门，则该管理联系为</a:t>
            </a:r>
            <a:r>
              <a:rPr lang="en-US" altLang="x-none" sz="2200" dirty="0">
                <a:latin typeface="楷体" panose="02010609060101010101" pitchFamily="1" charset="-122"/>
                <a:ea typeface="楷体" panose="02010609060101010101" pitchFamily="1" charset="-122"/>
              </a:rPr>
              <a:t>1:1</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sp>
        <p:nvSpPr>
          <p:cNvPr id="43012" name="Text Box 7"/>
          <p:cNvSpPr txBox="1"/>
          <p:nvPr/>
        </p:nvSpPr>
        <p:spPr>
          <a:xfrm>
            <a:off x="392113" y="3394075"/>
            <a:ext cx="6386512" cy="674688"/>
          </a:xfrm>
          <a:prstGeom prst="rect">
            <a:avLst/>
          </a:prstGeom>
          <a:noFill/>
          <a:ln w="9525">
            <a:noFill/>
          </a:ln>
        </p:spPr>
        <p:txBody>
          <a:bodyPr anchor="t">
            <a:spAutoFit/>
          </a:bodyPr>
          <a:lstStyle/>
          <a:p>
            <a:pPr lvl="0" indent="0">
              <a:spcBef>
                <a:spcPct val="50000"/>
              </a:spcBef>
              <a:buFont typeface="Wingdings" panose="05000000000000000000" pitchFamily="2" charset="2"/>
              <a:buChar char="u"/>
            </a:pPr>
            <a:r>
              <a:rPr lang="zh-CN" altLang="en-US" sz="2800" dirty="0">
                <a:solidFill>
                  <a:srgbClr val="CC3300"/>
                </a:solidFill>
                <a:latin typeface="Arial" panose="020B0604020202020204" pitchFamily="34" charset="0"/>
                <a:ea typeface="楷体_GB2312" pitchFamily="1" charset="-122"/>
              </a:rPr>
              <a:t> 如果规定：</a:t>
            </a:r>
            <a:endParaRPr lang="zh-CN" altLang="en-US" sz="2800" dirty="0">
              <a:solidFill>
                <a:srgbClr val="CC3300"/>
              </a:solidFill>
              <a:latin typeface="Arial" panose="020B0604020202020204" pitchFamily="34" charset="0"/>
              <a:ea typeface="楷体_GB2312" pitchFamily="1" charset="-122"/>
            </a:endParaRPr>
          </a:p>
        </p:txBody>
      </p:sp>
      <p:sp>
        <p:nvSpPr>
          <p:cNvPr id="43013" name="Text Box 10"/>
          <p:cNvSpPr txBox="1"/>
          <p:nvPr/>
        </p:nvSpPr>
        <p:spPr>
          <a:xfrm>
            <a:off x="328613" y="4673600"/>
            <a:ext cx="8597900" cy="935038"/>
          </a:xfrm>
          <a:prstGeom prst="rect">
            <a:avLst/>
          </a:prstGeom>
          <a:noFill/>
          <a:ln w="9525">
            <a:noFill/>
          </a:ln>
        </p:spPr>
        <p:txBody>
          <a:bodyPr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en-US" altLang="x-none" sz="2200" dirty="0">
                <a:solidFill>
                  <a:srgbClr val="CC3300"/>
                </a:solidFill>
                <a:latin typeface="楷体" panose="02010609060101010101" pitchFamily="1" charset="-122"/>
                <a:ea typeface="楷体" panose="02010609060101010101" pitchFamily="1" charset="-122"/>
              </a:rPr>
              <a:t>(2)</a:t>
            </a:r>
            <a:r>
              <a:rPr lang="zh-CN" altLang="en-US" sz="2200" dirty="0">
                <a:latin typeface="楷体" panose="02010609060101010101" pitchFamily="1" charset="-122"/>
                <a:ea typeface="楷体" panose="02010609060101010101" pitchFamily="1" charset="-122"/>
              </a:rPr>
              <a:t>一个员工可以是多个部门的经理，而一个部门最多只能有一个经理，则该管理联系为</a:t>
            </a:r>
            <a:r>
              <a:rPr lang="en-US" altLang="x-none" sz="2200" dirty="0">
                <a:latin typeface="楷体" panose="02010609060101010101" pitchFamily="1" charset="-122"/>
                <a:ea typeface="楷体" panose="02010609060101010101" pitchFamily="1" charset="-122"/>
              </a:rPr>
              <a:t>1:N</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sp>
        <p:nvSpPr>
          <p:cNvPr id="43014" name="Text Box 11"/>
          <p:cNvSpPr txBox="1"/>
          <p:nvPr/>
        </p:nvSpPr>
        <p:spPr>
          <a:xfrm>
            <a:off x="312738" y="5449888"/>
            <a:ext cx="8569325" cy="935037"/>
          </a:xfrm>
          <a:prstGeom prst="rect">
            <a:avLst/>
          </a:prstGeom>
          <a:noFill/>
          <a:ln w="9525">
            <a:noFill/>
          </a:ln>
        </p:spPr>
        <p:txBody>
          <a:bodyPr anchor="t">
            <a:spAutoFit/>
          </a:bodyPr>
          <a:lstStyle/>
          <a:p>
            <a:pPr lvl="0" indent="0">
              <a:lnSpc>
                <a:spcPct val="114000"/>
              </a:lnSpc>
              <a:buNone/>
            </a:pPr>
            <a:r>
              <a:rPr lang="en-US" altLang="x-none" sz="2600" dirty="0">
                <a:solidFill>
                  <a:srgbClr val="CC3300"/>
                </a:solidFill>
                <a:latin typeface="方正姚体" panose="02010601030101010101" pitchFamily="2" charset="-122"/>
                <a:ea typeface="方正姚体" panose="02010601030101010101" pitchFamily="2" charset="-122"/>
              </a:rPr>
              <a:t>      </a:t>
            </a:r>
            <a:r>
              <a:rPr lang="en-US" altLang="x-none" sz="2200" dirty="0">
                <a:solidFill>
                  <a:srgbClr val="CC3300"/>
                </a:solidFill>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一个员工可以在多个部门工作，而一个部门有多个员工，则该工作联系为</a:t>
            </a:r>
            <a:r>
              <a:rPr lang="en-US" altLang="x-none" sz="2200" dirty="0">
                <a:latin typeface="楷体" panose="02010609060101010101" pitchFamily="1" charset="-122"/>
                <a:ea typeface="楷体" panose="02010609060101010101" pitchFamily="1" charset="-122"/>
              </a:rPr>
              <a:t>M:N</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sp>
        <p:nvSpPr>
          <p:cNvPr id="4"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5"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graphicFrame>
        <p:nvGraphicFramePr>
          <p:cNvPr id="6" name="对象 5"/>
          <p:cNvGraphicFramePr/>
          <p:nvPr/>
        </p:nvGraphicFramePr>
        <p:xfrm>
          <a:off x="557530" y="1264920"/>
          <a:ext cx="8239125" cy="2549525"/>
        </p:xfrm>
        <a:graphic>
          <a:graphicData uri="http://schemas.openxmlformats.org/presentationml/2006/ole">
            <mc:AlternateContent xmlns:mc="http://schemas.openxmlformats.org/markup-compatibility/2006">
              <mc:Choice xmlns:v="urn:schemas-microsoft-com:vml" Requires="v">
                <p:oleObj spid="_x0000_s7" name="" r:id="rId1" imgW="4432935" imgH="1499235" progId="Visio.Drawing.15">
                  <p:embed/>
                </p:oleObj>
              </mc:Choice>
              <mc:Fallback>
                <p:oleObj name="" r:id="rId1" imgW="4432935" imgH="1499235" progId="Visio.Drawing.15">
                  <p:embed/>
                  <p:pic>
                    <p:nvPicPr>
                      <p:cNvPr id="0" name="图片 6"/>
                      <p:cNvPicPr/>
                      <p:nvPr/>
                    </p:nvPicPr>
                    <p:blipFill>
                      <a:blip r:embed="rId2"/>
                      <a:stretch>
                        <a:fillRect/>
                      </a:stretch>
                    </p:blipFill>
                    <p:spPr>
                      <a:xfrm>
                        <a:off x="557530" y="1264920"/>
                        <a:ext cx="8239125" cy="2549525"/>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 calcmode="lin" valueType="num">
                                      <p:cBhvr additive="base">
                                        <p:cTn id="7" dur="500" fill="hold"/>
                                        <p:tgtEl>
                                          <p:spTgt spid="43012"/>
                                        </p:tgtEl>
                                        <p:attrNameLst>
                                          <p:attrName>ppt_x</p:attrName>
                                        </p:attrNameLst>
                                      </p:cBhvr>
                                      <p:tavLst>
                                        <p:tav tm="0">
                                          <p:val>
                                            <p:strVal val="#ppt_x"/>
                                          </p:val>
                                        </p:tav>
                                        <p:tav tm="100000">
                                          <p:val>
                                            <p:strVal val="#ppt_x"/>
                                          </p:val>
                                        </p:tav>
                                      </p:tavLst>
                                    </p:anim>
                                    <p:anim calcmode="lin" valueType="num">
                                      <p:cBhvr additive="base">
                                        <p:cTn id="8" dur="500" fill="hold"/>
                                        <p:tgtEl>
                                          <p:spTgt spid="430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011"/>
                                        </p:tgtEl>
                                        <p:attrNameLst>
                                          <p:attrName>style.visibility</p:attrName>
                                        </p:attrNameLst>
                                      </p:cBhvr>
                                      <p:to>
                                        <p:strVal val="visible"/>
                                      </p:to>
                                    </p:set>
                                    <p:anim calcmode="lin" valueType="num">
                                      <p:cBhvr additive="base">
                                        <p:cTn id="13" dur="500" fill="hold"/>
                                        <p:tgtEl>
                                          <p:spTgt spid="43011"/>
                                        </p:tgtEl>
                                        <p:attrNameLst>
                                          <p:attrName>ppt_x</p:attrName>
                                        </p:attrNameLst>
                                      </p:cBhvr>
                                      <p:tavLst>
                                        <p:tav tm="0">
                                          <p:val>
                                            <p:strVal val="#ppt_x"/>
                                          </p:val>
                                        </p:tav>
                                        <p:tav tm="100000">
                                          <p:val>
                                            <p:strVal val="#ppt_x"/>
                                          </p:val>
                                        </p:tav>
                                      </p:tavLst>
                                    </p:anim>
                                    <p:anim calcmode="lin" valueType="num">
                                      <p:cBhvr additive="base">
                                        <p:cTn id="14" dur="500" fill="hold"/>
                                        <p:tgtEl>
                                          <p:spTgt spid="430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3013"/>
                                        </p:tgtEl>
                                        <p:attrNameLst>
                                          <p:attrName>style.visibility</p:attrName>
                                        </p:attrNameLst>
                                      </p:cBhvr>
                                      <p:to>
                                        <p:strVal val="visible"/>
                                      </p:to>
                                    </p:set>
                                    <p:anim calcmode="lin" valueType="num">
                                      <p:cBhvr additive="base">
                                        <p:cTn id="19" dur="500" fill="hold"/>
                                        <p:tgtEl>
                                          <p:spTgt spid="43013"/>
                                        </p:tgtEl>
                                        <p:attrNameLst>
                                          <p:attrName>ppt_x</p:attrName>
                                        </p:attrNameLst>
                                      </p:cBhvr>
                                      <p:tavLst>
                                        <p:tav tm="0">
                                          <p:val>
                                            <p:strVal val="#ppt_x"/>
                                          </p:val>
                                        </p:tav>
                                        <p:tav tm="100000">
                                          <p:val>
                                            <p:strVal val="#ppt_x"/>
                                          </p:val>
                                        </p:tav>
                                      </p:tavLst>
                                    </p:anim>
                                    <p:anim calcmode="lin" valueType="num">
                                      <p:cBhvr additive="base">
                                        <p:cTn id="20" dur="500" fill="hold"/>
                                        <p:tgtEl>
                                          <p:spTgt spid="430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014"/>
                                        </p:tgtEl>
                                        <p:attrNameLst>
                                          <p:attrName>style.visibility</p:attrName>
                                        </p:attrNameLst>
                                      </p:cBhvr>
                                      <p:to>
                                        <p:strVal val="visible"/>
                                      </p:to>
                                    </p:set>
                                    <p:anim calcmode="lin" valueType="num">
                                      <p:cBhvr additive="base">
                                        <p:cTn id="25" dur="500" fill="hold"/>
                                        <p:tgtEl>
                                          <p:spTgt spid="43014"/>
                                        </p:tgtEl>
                                        <p:attrNameLst>
                                          <p:attrName>ppt_x</p:attrName>
                                        </p:attrNameLst>
                                      </p:cBhvr>
                                      <p:tavLst>
                                        <p:tav tm="0">
                                          <p:val>
                                            <p:strVal val="#ppt_x"/>
                                          </p:val>
                                        </p:tav>
                                        <p:tav tm="100000">
                                          <p:val>
                                            <p:strVal val="#ppt_x"/>
                                          </p:val>
                                        </p:tav>
                                      </p:tavLst>
                                    </p:anim>
                                    <p:anim calcmode="lin" valueType="num">
                                      <p:cBhvr additive="base">
                                        <p:cTn id="26"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P spid="43012" grpId="0"/>
      <p:bldP spid="43013" grpId="0"/>
      <p:bldP spid="430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Text Box 10"/>
          <p:cNvSpPr txBox="1"/>
          <p:nvPr/>
        </p:nvSpPr>
        <p:spPr>
          <a:xfrm>
            <a:off x="553720" y="1445895"/>
            <a:ext cx="8301990" cy="932180"/>
          </a:xfrm>
          <a:prstGeom prst="rect">
            <a:avLst/>
          </a:prstGeom>
          <a:noFill/>
          <a:ln w="9525">
            <a:noFill/>
          </a:ln>
        </p:spPr>
        <p:txBody>
          <a:bodyPr wrap="square"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zh-CN" altLang="en-US" sz="2600" dirty="0">
                <a:solidFill>
                  <a:srgbClr val="CC3300"/>
                </a:solidFill>
                <a:latin typeface="方正姚体" panose="02010601030101010101" pitchFamily="2" charset="-122"/>
                <a:ea typeface="方正姚体" panose="02010601030101010101" pitchFamily="2" charset="-122"/>
              </a:rPr>
              <a:t>例</a:t>
            </a:r>
            <a:r>
              <a:rPr lang="en-US" altLang="x-none" sz="2600" dirty="0">
                <a:solidFill>
                  <a:srgbClr val="CC3300"/>
                </a:solidFill>
                <a:latin typeface="方正姚体" panose="02010601030101010101" pitchFamily="2" charset="-122"/>
                <a:ea typeface="方正姚体" panose="02010601030101010101" pitchFamily="2" charset="-122"/>
              </a:rPr>
              <a:t>1</a:t>
            </a:r>
            <a:r>
              <a:rPr lang="zh-CN" altLang="en-US" sz="2600" dirty="0">
                <a:solidFill>
                  <a:srgbClr val="CC3300"/>
                </a:solidFill>
                <a:latin typeface="方正姚体" panose="02010601030101010101" pitchFamily="2" charset="-122"/>
                <a:ea typeface="方正姚体" panose="02010601030101010101" pitchFamily="2" charset="-122"/>
              </a:rPr>
              <a:t>：</a:t>
            </a:r>
            <a:r>
              <a:rPr lang="zh-CN" altLang="en-US" sz="2200" dirty="0">
                <a:latin typeface="Arial" panose="020B0604020202020204" pitchFamily="34" charset="0"/>
                <a:ea typeface="宋体" panose="02010600030101010101" pitchFamily="2" charset="-122"/>
              </a:rPr>
              <a:t>假设某学院有若干个班级，每个班级只有一个辅导员，每个辅导员只管理一个班级，画出辅导员与班级之间管理的</a:t>
            </a:r>
            <a:r>
              <a:rPr lang="en-US" altLang="zh-CN" sz="2200" dirty="0">
                <a:latin typeface="Arial" panose="020B0604020202020204" pitchFamily="34" charset="0"/>
                <a:ea typeface="宋体" panose="02010600030101010101" pitchFamily="2" charset="-122"/>
              </a:rPr>
              <a:t>ER</a:t>
            </a:r>
            <a:r>
              <a:rPr lang="zh-CN" altLang="en-US" sz="2200" dirty="0">
                <a:latin typeface="Arial" panose="020B0604020202020204" pitchFamily="34" charset="0"/>
                <a:ea typeface="宋体" panose="02010600030101010101" pitchFamily="2" charset="-122"/>
              </a:rPr>
              <a:t>图。</a:t>
            </a:r>
            <a:endParaRPr lang="en-US" altLang="x-none" sz="2200" dirty="0">
              <a:latin typeface="Arial" panose="020B0604020202020204" pitchFamily="34" charset="0"/>
              <a:ea typeface="宋体" panose="02010600030101010101" pitchFamily="2" charset="-122"/>
            </a:endParaRPr>
          </a:p>
        </p:txBody>
      </p:sp>
      <p:sp>
        <p:nvSpPr>
          <p:cNvPr id="47124" name="Text Box 10"/>
          <p:cNvSpPr txBox="1"/>
          <p:nvPr/>
        </p:nvSpPr>
        <p:spPr>
          <a:xfrm>
            <a:off x="553720" y="2693035"/>
            <a:ext cx="3974465" cy="1284605"/>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辅导员</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工号，姓名，性别，</a:t>
            </a:r>
            <a:endParaRPr lang="en-US" altLang="x-none" sz="2200" dirty="0">
              <a:latin typeface="Arial" panose="020B0604020202020204" pitchFamily="34" charset="0"/>
              <a:ea typeface="宋体" panose="02010600030101010101" pitchFamily="2" charset="-122"/>
            </a:endParaRPr>
          </a:p>
          <a:p>
            <a:pPr lvl="0" indent="0">
              <a:lnSpc>
                <a:spcPct val="114000"/>
              </a:lnSpc>
              <a:buNone/>
            </a:pPr>
            <a:r>
              <a:rPr lang="zh-CN" altLang="en-US" sz="2200" dirty="0">
                <a:latin typeface="Arial" panose="020B0604020202020204" pitchFamily="34" charset="0"/>
                <a:ea typeface="宋体" panose="02010600030101010101" pitchFamily="2" charset="-122"/>
              </a:rPr>
              <a:t>                    年龄，学历</a:t>
            </a:r>
            <a:endParaRPr lang="en-US" altLang="x-none" sz="2200" dirty="0">
              <a:latin typeface="Arial" panose="020B0604020202020204" pitchFamily="34" charset="0"/>
              <a:ea typeface="宋体" panose="02010600030101010101" pitchFamily="2" charset="-122"/>
            </a:endParaRPr>
          </a:p>
          <a:p>
            <a:pPr lvl="0" indent="0">
              <a:lnSpc>
                <a:spcPct val="114000"/>
              </a:lnSpc>
              <a:buNone/>
            </a:pPr>
            <a:endParaRPr lang="zh-CN" altLang="en-US" sz="2200" dirty="0">
              <a:latin typeface="楷体" panose="02010609060101010101" pitchFamily="1" charset="-122"/>
              <a:ea typeface="楷体" panose="02010609060101010101" pitchFamily="1" charset="-122"/>
            </a:endParaRPr>
          </a:p>
        </p:txBody>
      </p:sp>
      <p:sp>
        <p:nvSpPr>
          <p:cNvPr id="47131" name="Text Box 10"/>
          <p:cNvSpPr txBox="1"/>
          <p:nvPr/>
        </p:nvSpPr>
        <p:spPr>
          <a:xfrm>
            <a:off x="560705" y="3837305"/>
            <a:ext cx="3975100" cy="474980"/>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班级</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班号，班级名</a:t>
            </a:r>
            <a:endParaRPr lang="zh-CN" altLang="en-US" sz="2200" dirty="0">
              <a:latin typeface="楷体" panose="02010609060101010101" pitchFamily="1" charset="-122"/>
              <a:ea typeface="楷体" panose="02010609060101010101" pitchFamily="1" charset="-122"/>
            </a:endParaRPr>
          </a:p>
        </p:txBody>
      </p:sp>
      <p:sp>
        <p:nvSpPr>
          <p:cNvPr id="47133" name="Text Box 10"/>
          <p:cNvSpPr txBox="1"/>
          <p:nvPr/>
        </p:nvSpPr>
        <p:spPr>
          <a:xfrm>
            <a:off x="560705" y="4536440"/>
            <a:ext cx="3975100" cy="1671320"/>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联系</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辅导员与班级之间是一个管理联系，这个管理用一个任职时间来描述。</a:t>
            </a:r>
            <a:endParaRPr lang="en-US" altLang="x-none" sz="2200" dirty="0">
              <a:latin typeface="Arial" panose="020B0604020202020204" pitchFamily="34" charset="0"/>
              <a:ea typeface="宋体" panose="02010600030101010101" pitchFamily="2" charset="-122"/>
            </a:endParaRPr>
          </a:p>
          <a:p>
            <a:pPr lvl="0" indent="0">
              <a:lnSpc>
                <a:spcPct val="114000"/>
              </a:lnSpc>
              <a:buNone/>
            </a:pPr>
            <a:endParaRPr lang="zh-CN" altLang="en-US" sz="2200" dirty="0">
              <a:latin typeface="楷体" panose="02010609060101010101" pitchFamily="1" charset="-122"/>
              <a:ea typeface="楷体" panose="02010609060101010101" pitchFamily="1" charset="-122"/>
            </a:endParaRPr>
          </a:p>
        </p:txBody>
      </p:sp>
      <p:grpSp>
        <p:nvGrpSpPr>
          <p:cNvPr id="2" name="组合 1"/>
          <p:cNvGrpSpPr/>
          <p:nvPr/>
        </p:nvGrpSpPr>
        <p:grpSpPr>
          <a:xfrm>
            <a:off x="4707890" y="2466975"/>
            <a:ext cx="3850640" cy="3427730"/>
            <a:chOff x="7559" y="4241"/>
            <a:chExt cx="6064" cy="5398"/>
          </a:xfrm>
        </p:grpSpPr>
        <p:grpSp>
          <p:nvGrpSpPr>
            <p:cNvPr id="45061" name="组合 33"/>
            <p:cNvGrpSpPr/>
            <p:nvPr/>
          </p:nvGrpSpPr>
          <p:grpSpPr>
            <a:xfrm>
              <a:off x="10509" y="5999"/>
              <a:ext cx="665" cy="2040"/>
              <a:chOff x="0" y="0"/>
              <a:chExt cx="421974" cy="1294968"/>
            </a:xfrm>
          </p:grpSpPr>
          <p:sp>
            <p:nvSpPr>
              <p:cNvPr id="47109" name="Text Box 50"/>
              <p:cNvSpPr txBox="1"/>
              <p:nvPr/>
            </p:nvSpPr>
            <p:spPr>
              <a:xfrm>
                <a:off x="7258" y="0"/>
                <a:ext cx="351634" cy="507831"/>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sp>
            <p:nvSpPr>
              <p:cNvPr id="47110" name="Text Box 50"/>
              <p:cNvSpPr txBox="1"/>
              <p:nvPr/>
            </p:nvSpPr>
            <p:spPr>
              <a:xfrm>
                <a:off x="0" y="777150"/>
                <a:ext cx="421974" cy="517818"/>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grpSp>
        <p:grpSp>
          <p:nvGrpSpPr>
            <p:cNvPr id="47112" name="组合 28"/>
            <p:cNvGrpSpPr/>
            <p:nvPr/>
          </p:nvGrpSpPr>
          <p:grpSpPr>
            <a:xfrm>
              <a:off x="7559" y="4241"/>
              <a:ext cx="6064" cy="1759"/>
              <a:chOff x="0" y="0"/>
              <a:chExt cx="3850919" cy="1117601"/>
            </a:xfrm>
          </p:grpSpPr>
          <p:sp>
            <p:nvSpPr>
              <p:cNvPr id="47113" name="Rectangle 12"/>
              <p:cNvSpPr/>
              <p:nvPr/>
            </p:nvSpPr>
            <p:spPr>
              <a:xfrm>
                <a:off x="1356429" y="696687"/>
                <a:ext cx="1079345" cy="42091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辅导员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47114" name="Oval 15"/>
              <p:cNvSpPr/>
              <p:nvPr/>
            </p:nvSpPr>
            <p:spPr>
              <a:xfrm>
                <a:off x="0" y="319315"/>
                <a:ext cx="73760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7115" name="Oval 15"/>
              <p:cNvSpPr/>
              <p:nvPr/>
            </p:nvSpPr>
            <p:spPr>
              <a:xfrm>
                <a:off x="791027" y="50800"/>
                <a:ext cx="730349"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16" name="Oval 15"/>
              <p:cNvSpPr/>
              <p:nvPr/>
            </p:nvSpPr>
            <p:spPr>
              <a:xfrm>
                <a:off x="1640113" y="0"/>
                <a:ext cx="679549"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17" name="Oval 15"/>
              <p:cNvSpPr/>
              <p:nvPr/>
            </p:nvSpPr>
            <p:spPr>
              <a:xfrm>
                <a:off x="2402113" y="50801"/>
                <a:ext cx="701320"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年龄</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18" name="Oval 15"/>
              <p:cNvSpPr/>
              <p:nvPr/>
            </p:nvSpPr>
            <p:spPr>
              <a:xfrm>
                <a:off x="3149599" y="174172"/>
                <a:ext cx="701320"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19" name="Line 18"/>
              <p:cNvSpPr/>
              <p:nvPr/>
            </p:nvSpPr>
            <p:spPr>
              <a:xfrm>
                <a:off x="722286" y="591514"/>
                <a:ext cx="726517" cy="119688"/>
              </a:xfrm>
              <a:prstGeom prst="line">
                <a:avLst/>
              </a:prstGeom>
              <a:ln w="25400" cap="flat" cmpd="sng">
                <a:solidFill>
                  <a:srgbClr val="000000"/>
                </a:solidFill>
                <a:prstDash val="solid"/>
                <a:round/>
                <a:headEnd type="none" w="med" len="med"/>
                <a:tailEnd type="none" w="med" len="med"/>
              </a:ln>
            </p:spPr>
          </p:sp>
          <p:sp>
            <p:nvSpPr>
              <p:cNvPr id="47120" name="Line 18"/>
              <p:cNvSpPr/>
              <p:nvPr/>
            </p:nvSpPr>
            <p:spPr>
              <a:xfrm>
                <a:off x="1382687" y="439113"/>
                <a:ext cx="254804" cy="257573"/>
              </a:xfrm>
              <a:prstGeom prst="line">
                <a:avLst/>
              </a:prstGeom>
              <a:ln w="25400" cap="flat" cmpd="sng">
                <a:solidFill>
                  <a:srgbClr val="000000"/>
                </a:solidFill>
                <a:prstDash val="solid"/>
                <a:round/>
                <a:headEnd type="none" w="med" len="med"/>
                <a:tailEnd type="none" w="med" len="med"/>
              </a:ln>
            </p:spPr>
          </p:sp>
          <p:sp>
            <p:nvSpPr>
              <p:cNvPr id="47121" name="Line 18"/>
              <p:cNvSpPr/>
              <p:nvPr/>
            </p:nvSpPr>
            <p:spPr>
              <a:xfrm flipH="1">
                <a:off x="1811660" y="402827"/>
                <a:ext cx="71769" cy="322888"/>
              </a:xfrm>
              <a:prstGeom prst="line">
                <a:avLst/>
              </a:prstGeom>
              <a:ln w="25400" cap="flat" cmpd="sng">
                <a:solidFill>
                  <a:srgbClr val="000000"/>
                </a:solidFill>
                <a:prstDash val="solid"/>
                <a:round/>
                <a:headEnd type="none" w="med" len="med"/>
                <a:tailEnd type="none" w="med" len="med"/>
              </a:ln>
            </p:spPr>
          </p:sp>
          <p:sp>
            <p:nvSpPr>
              <p:cNvPr id="47122" name="Line 18"/>
              <p:cNvSpPr/>
              <p:nvPr/>
            </p:nvSpPr>
            <p:spPr>
              <a:xfrm flipH="1">
                <a:off x="2000347" y="352027"/>
                <a:ext cx="470911" cy="330146"/>
              </a:xfrm>
              <a:prstGeom prst="line">
                <a:avLst/>
              </a:prstGeom>
              <a:ln w="25400" cap="flat" cmpd="sng">
                <a:solidFill>
                  <a:srgbClr val="000000"/>
                </a:solidFill>
                <a:prstDash val="solid"/>
                <a:round/>
                <a:headEnd type="none" w="med" len="med"/>
                <a:tailEnd type="none" w="med" len="med"/>
              </a:ln>
            </p:spPr>
          </p:sp>
          <p:sp>
            <p:nvSpPr>
              <p:cNvPr id="47123" name="Line 18"/>
              <p:cNvSpPr/>
              <p:nvPr/>
            </p:nvSpPr>
            <p:spPr>
              <a:xfrm flipH="1">
                <a:off x="2283373" y="449943"/>
                <a:ext cx="878116" cy="254001"/>
              </a:xfrm>
              <a:prstGeom prst="line">
                <a:avLst/>
              </a:prstGeom>
              <a:ln w="25400" cap="flat" cmpd="sng">
                <a:solidFill>
                  <a:srgbClr val="000000"/>
                </a:solidFill>
                <a:prstDash val="solid"/>
                <a:round/>
                <a:headEnd type="none" w="med" len="med"/>
                <a:tailEnd type="none" w="med" len="med"/>
              </a:ln>
            </p:spPr>
          </p:sp>
        </p:grpSp>
        <p:sp>
          <p:nvSpPr>
            <p:cNvPr id="47126" name="Rectangle 12"/>
            <p:cNvSpPr/>
            <p:nvPr/>
          </p:nvSpPr>
          <p:spPr>
            <a:xfrm>
              <a:off x="9661" y="7953"/>
              <a:ext cx="1700" cy="66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班级</a:t>
              </a:r>
              <a:endParaRPr lang="zh-CN" altLang="en-US" dirty="0">
                <a:solidFill>
                  <a:srgbClr val="000000"/>
                </a:solidFill>
                <a:latin typeface="宋体" panose="02010600030101010101" pitchFamily="2" charset="-122"/>
                <a:ea typeface="宋体" panose="02010600030101010101" pitchFamily="2" charset="-122"/>
              </a:endParaRPr>
            </a:p>
          </p:txBody>
        </p:sp>
        <p:sp>
          <p:nvSpPr>
            <p:cNvPr id="47127" name="Oval 15"/>
            <p:cNvSpPr/>
            <p:nvPr/>
          </p:nvSpPr>
          <p:spPr>
            <a:xfrm>
              <a:off x="8530" y="9005"/>
              <a:ext cx="1162"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班号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7128" name="Oval 15"/>
            <p:cNvSpPr/>
            <p:nvPr/>
          </p:nvSpPr>
          <p:spPr>
            <a:xfrm>
              <a:off x="11395" y="8856"/>
              <a:ext cx="1474"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班级名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29" name="Line 18"/>
            <p:cNvSpPr/>
            <p:nvPr/>
          </p:nvSpPr>
          <p:spPr>
            <a:xfrm flipV="1">
              <a:off x="9521" y="8628"/>
              <a:ext cx="640" cy="434"/>
            </a:xfrm>
            <a:prstGeom prst="line">
              <a:avLst/>
            </a:prstGeom>
            <a:ln w="25400" cap="flat" cmpd="sng">
              <a:solidFill>
                <a:srgbClr val="000000"/>
              </a:solidFill>
              <a:prstDash val="solid"/>
              <a:round/>
              <a:headEnd type="none" w="med" len="med"/>
              <a:tailEnd type="none" w="med" len="med"/>
            </a:ln>
          </p:spPr>
        </p:sp>
        <p:sp>
          <p:nvSpPr>
            <p:cNvPr id="47130" name="Line 18"/>
            <p:cNvSpPr/>
            <p:nvPr/>
          </p:nvSpPr>
          <p:spPr>
            <a:xfrm flipH="1" flipV="1">
              <a:off x="10766" y="8593"/>
              <a:ext cx="971" cy="286"/>
            </a:xfrm>
            <a:prstGeom prst="line">
              <a:avLst/>
            </a:prstGeom>
            <a:ln w="25400" cap="flat" cmpd="sng">
              <a:solidFill>
                <a:srgbClr val="000000"/>
              </a:solidFill>
              <a:prstDash val="solid"/>
              <a:round/>
              <a:headEnd type="none" w="med" len="med"/>
              <a:tailEnd type="none" w="med" len="med"/>
            </a:ln>
          </p:spPr>
        </p:sp>
        <p:grpSp>
          <p:nvGrpSpPr>
            <p:cNvPr id="47134" name="组合 37"/>
            <p:cNvGrpSpPr/>
            <p:nvPr/>
          </p:nvGrpSpPr>
          <p:grpSpPr>
            <a:xfrm>
              <a:off x="9556" y="6022"/>
              <a:ext cx="3950" cy="1920"/>
              <a:chOff x="0" y="0"/>
              <a:chExt cx="2508484" cy="1219200"/>
            </a:xfrm>
          </p:grpSpPr>
          <p:grpSp>
            <p:nvGrpSpPr>
              <p:cNvPr id="47135" name="组合 32"/>
              <p:cNvGrpSpPr/>
              <p:nvPr/>
            </p:nvGrpSpPr>
            <p:grpSpPr>
              <a:xfrm>
                <a:off x="0" y="0"/>
                <a:ext cx="1125264" cy="1219200"/>
                <a:chOff x="0" y="0"/>
                <a:chExt cx="1125264" cy="1219200"/>
              </a:xfrm>
            </p:grpSpPr>
            <p:sp>
              <p:nvSpPr>
                <p:cNvPr id="47136" name="AutoShape 8"/>
                <p:cNvSpPr/>
                <p:nvPr/>
              </p:nvSpPr>
              <p:spPr>
                <a:xfrm>
                  <a:off x="0" y="382216"/>
                  <a:ext cx="1125264" cy="41229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37" name="Line 18"/>
                <p:cNvSpPr/>
                <p:nvPr/>
              </p:nvSpPr>
              <p:spPr>
                <a:xfrm flipH="1" flipV="1">
                  <a:off x="561159" y="0"/>
                  <a:ext cx="0" cy="391885"/>
                </a:xfrm>
                <a:prstGeom prst="line">
                  <a:avLst/>
                </a:prstGeom>
                <a:ln w="25400" cap="flat" cmpd="sng">
                  <a:solidFill>
                    <a:srgbClr val="000000"/>
                  </a:solidFill>
                  <a:prstDash val="solid"/>
                  <a:round/>
                  <a:headEnd type="none" w="med" len="med"/>
                  <a:tailEnd type="none" w="med" len="med"/>
                </a:ln>
              </p:spPr>
            </p:sp>
            <p:sp>
              <p:nvSpPr>
                <p:cNvPr id="47138" name="Line 18"/>
                <p:cNvSpPr/>
                <p:nvPr/>
              </p:nvSpPr>
              <p:spPr>
                <a:xfrm flipH="1" flipV="1">
                  <a:off x="568414" y="812799"/>
                  <a:ext cx="0" cy="406401"/>
                </a:xfrm>
                <a:prstGeom prst="line">
                  <a:avLst/>
                </a:prstGeom>
                <a:ln w="25400" cap="flat" cmpd="sng">
                  <a:solidFill>
                    <a:srgbClr val="000000"/>
                  </a:solidFill>
                  <a:prstDash val="solid"/>
                  <a:round/>
                  <a:headEnd type="none" w="med" len="med"/>
                  <a:tailEnd type="none" w="med" len="med"/>
                </a:ln>
              </p:spPr>
            </p:sp>
          </p:grpSp>
          <p:sp>
            <p:nvSpPr>
              <p:cNvPr id="47139" name="Oval 21"/>
              <p:cNvSpPr/>
              <p:nvPr/>
            </p:nvSpPr>
            <p:spPr>
              <a:xfrm>
                <a:off x="1453549" y="203202"/>
                <a:ext cx="1054935" cy="40639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任职时间</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40" name="Line 18"/>
              <p:cNvSpPr/>
              <p:nvPr/>
            </p:nvSpPr>
            <p:spPr>
              <a:xfrm flipH="1">
                <a:off x="1109801" y="449944"/>
                <a:ext cx="348344" cy="159658"/>
              </a:xfrm>
              <a:prstGeom prst="line">
                <a:avLst/>
              </a:prstGeom>
              <a:ln w="25400" cap="flat" cmpd="sng">
                <a:solidFill>
                  <a:srgbClr val="000000"/>
                </a:solidFill>
                <a:prstDash val="solid"/>
                <a:round/>
                <a:headEnd type="none" w="med" len="med"/>
                <a:tailEnd type="none" w="med" len="med"/>
              </a:ln>
            </p:spPr>
          </p:sp>
        </p:grpSp>
      </p:grpSp>
      <p:sp>
        <p:nvSpPr>
          <p:cNvPr id="5"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24"/>
                                        </p:tgtEl>
                                        <p:attrNameLst>
                                          <p:attrName>style.visibility</p:attrName>
                                        </p:attrNameLst>
                                      </p:cBhvr>
                                      <p:to>
                                        <p:strVal val="visible"/>
                                      </p:to>
                                    </p:set>
                                    <p:anim calcmode="lin" valueType="num">
                                      <p:cBhvr additive="base">
                                        <p:cTn id="7" dur="500" fill="hold"/>
                                        <p:tgtEl>
                                          <p:spTgt spid="47124"/>
                                        </p:tgtEl>
                                        <p:attrNameLst>
                                          <p:attrName>ppt_x</p:attrName>
                                        </p:attrNameLst>
                                      </p:cBhvr>
                                      <p:tavLst>
                                        <p:tav tm="0">
                                          <p:val>
                                            <p:strVal val="#ppt_x"/>
                                          </p:val>
                                        </p:tav>
                                        <p:tav tm="100000">
                                          <p:val>
                                            <p:strVal val="#ppt_x"/>
                                          </p:val>
                                        </p:tav>
                                      </p:tavLst>
                                    </p:anim>
                                    <p:anim calcmode="lin" valueType="num">
                                      <p:cBhvr additive="base">
                                        <p:cTn id="8" dur="500" fill="hold"/>
                                        <p:tgtEl>
                                          <p:spTgt spid="471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131"/>
                                        </p:tgtEl>
                                        <p:attrNameLst>
                                          <p:attrName>style.visibility</p:attrName>
                                        </p:attrNameLst>
                                      </p:cBhvr>
                                      <p:to>
                                        <p:strVal val="visible"/>
                                      </p:to>
                                    </p:set>
                                    <p:anim calcmode="lin" valueType="num">
                                      <p:cBhvr additive="base">
                                        <p:cTn id="11" dur="500" fill="hold"/>
                                        <p:tgtEl>
                                          <p:spTgt spid="47131"/>
                                        </p:tgtEl>
                                        <p:attrNameLst>
                                          <p:attrName>ppt_x</p:attrName>
                                        </p:attrNameLst>
                                      </p:cBhvr>
                                      <p:tavLst>
                                        <p:tav tm="0">
                                          <p:val>
                                            <p:strVal val="#ppt_x"/>
                                          </p:val>
                                        </p:tav>
                                        <p:tav tm="100000">
                                          <p:val>
                                            <p:strVal val="#ppt_x"/>
                                          </p:val>
                                        </p:tav>
                                      </p:tavLst>
                                    </p:anim>
                                    <p:anim calcmode="lin" valueType="num">
                                      <p:cBhvr additive="base">
                                        <p:cTn id="12" dur="500" fill="hold"/>
                                        <p:tgtEl>
                                          <p:spTgt spid="471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7133"/>
                                        </p:tgtEl>
                                        <p:attrNameLst>
                                          <p:attrName>style.visibility</p:attrName>
                                        </p:attrNameLst>
                                      </p:cBhvr>
                                      <p:to>
                                        <p:strVal val="visible"/>
                                      </p:to>
                                    </p:set>
                                    <p:anim calcmode="lin" valueType="num">
                                      <p:cBhvr additive="base">
                                        <p:cTn id="15" dur="500" fill="hold"/>
                                        <p:tgtEl>
                                          <p:spTgt spid="47133"/>
                                        </p:tgtEl>
                                        <p:attrNameLst>
                                          <p:attrName>ppt_x</p:attrName>
                                        </p:attrNameLst>
                                      </p:cBhvr>
                                      <p:tavLst>
                                        <p:tav tm="0">
                                          <p:val>
                                            <p:strVal val="#ppt_x"/>
                                          </p:val>
                                        </p:tav>
                                        <p:tav tm="100000">
                                          <p:val>
                                            <p:strVal val="#ppt_x"/>
                                          </p:val>
                                        </p:tav>
                                      </p:tavLst>
                                    </p:anim>
                                    <p:anim calcmode="lin" valueType="num">
                                      <p:cBhvr additive="base">
                                        <p:cTn id="16" dur="500" fill="hold"/>
                                        <p:tgtEl>
                                          <p:spTgt spid="4713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24" grpId="0"/>
      <p:bldP spid="47131" grpId="0"/>
      <p:bldP spid="4713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10"/>
          <p:cNvSpPr txBox="1"/>
          <p:nvPr/>
        </p:nvSpPr>
        <p:spPr>
          <a:xfrm>
            <a:off x="546100" y="1481138"/>
            <a:ext cx="8104188" cy="1319212"/>
          </a:xfrm>
          <a:prstGeom prst="rect">
            <a:avLst/>
          </a:prstGeom>
          <a:noFill/>
          <a:ln w="9525">
            <a:noFill/>
          </a:ln>
        </p:spPr>
        <p:txBody>
          <a:bodyPr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zh-CN" altLang="en-US" sz="2600" dirty="0">
                <a:solidFill>
                  <a:srgbClr val="CC3300"/>
                </a:solidFill>
                <a:latin typeface="方正姚体" panose="02010601030101010101" pitchFamily="2" charset="-122"/>
                <a:ea typeface="方正姚体" panose="02010601030101010101" pitchFamily="2" charset="-122"/>
              </a:rPr>
              <a:t>例</a:t>
            </a:r>
            <a:r>
              <a:rPr lang="en-US" altLang="x-none" sz="2600" dirty="0">
                <a:solidFill>
                  <a:srgbClr val="CC3300"/>
                </a:solidFill>
                <a:latin typeface="方正姚体" panose="02010601030101010101" pitchFamily="2" charset="-122"/>
                <a:ea typeface="方正姚体" panose="02010601030101010101" pitchFamily="2" charset="-122"/>
              </a:rPr>
              <a:t>2</a:t>
            </a:r>
            <a:r>
              <a:rPr lang="zh-CN" altLang="en-US" sz="2600" dirty="0">
                <a:solidFill>
                  <a:srgbClr val="CC3300"/>
                </a:solidFill>
                <a:latin typeface="方正姚体" panose="02010601030101010101" pitchFamily="2" charset="-122"/>
                <a:ea typeface="方正姚体" panose="02010601030101010101" pitchFamily="2" charset="-122"/>
              </a:rPr>
              <a:t>：</a:t>
            </a:r>
            <a:r>
              <a:rPr lang="zh-CN" altLang="en-US" sz="2200" dirty="0">
                <a:latin typeface="Arial" panose="020B0604020202020204" pitchFamily="34" charset="0"/>
                <a:ea typeface="宋体" panose="02010600030101010101" pitchFamily="2" charset="-122"/>
              </a:rPr>
              <a:t>假设在某出版社管理系统中，有两个实体集：出版社和图书。出版社用来出版图书，且规定一本图书只能由一个出版社出版，一个出版社可以出版多本书。</a:t>
            </a:r>
            <a:endParaRPr lang="en-US" altLang="x-none" sz="2200" dirty="0">
              <a:latin typeface="Arial" panose="020B0604020202020204" pitchFamily="34" charset="0"/>
              <a:ea typeface="宋体" panose="02010600030101010101" pitchFamily="2" charset="-122"/>
            </a:endParaRPr>
          </a:p>
        </p:txBody>
      </p:sp>
      <p:grpSp>
        <p:nvGrpSpPr>
          <p:cNvPr id="17" name="组合 16"/>
          <p:cNvGrpSpPr/>
          <p:nvPr/>
        </p:nvGrpSpPr>
        <p:grpSpPr>
          <a:xfrm>
            <a:off x="4726940" y="2768600"/>
            <a:ext cx="4146550" cy="3445510"/>
            <a:chOff x="7444" y="4360"/>
            <a:chExt cx="6530" cy="5426"/>
          </a:xfrm>
        </p:grpSpPr>
        <p:grpSp>
          <p:nvGrpSpPr>
            <p:cNvPr id="2" name="组合 1"/>
            <p:cNvGrpSpPr/>
            <p:nvPr/>
          </p:nvGrpSpPr>
          <p:grpSpPr>
            <a:xfrm>
              <a:off x="7444" y="4360"/>
              <a:ext cx="5321" cy="5427"/>
              <a:chOff x="7444" y="4360"/>
              <a:chExt cx="5321" cy="5427"/>
            </a:xfrm>
          </p:grpSpPr>
          <p:grpSp>
            <p:nvGrpSpPr>
              <p:cNvPr id="48133" name="组合 28"/>
              <p:cNvGrpSpPr/>
              <p:nvPr/>
            </p:nvGrpSpPr>
            <p:grpSpPr>
              <a:xfrm>
                <a:off x="7444" y="4360"/>
                <a:ext cx="5253" cy="1760"/>
                <a:chOff x="0" y="0"/>
                <a:chExt cx="3335661" cy="1117601"/>
              </a:xfrm>
            </p:grpSpPr>
            <p:sp>
              <p:nvSpPr>
                <p:cNvPr id="48134" name="Rectangle 12"/>
                <p:cNvSpPr/>
                <p:nvPr/>
              </p:nvSpPr>
              <p:spPr>
                <a:xfrm>
                  <a:off x="1356429" y="696687"/>
                  <a:ext cx="1079345" cy="42091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出版社</a:t>
                  </a:r>
                  <a:endParaRPr lang="zh-CN" altLang="en-US" dirty="0">
                    <a:solidFill>
                      <a:srgbClr val="000000"/>
                    </a:solidFill>
                    <a:latin typeface="宋体" panose="02010600030101010101" pitchFamily="2" charset="-122"/>
                    <a:ea typeface="宋体" panose="02010600030101010101" pitchFamily="2" charset="-122"/>
                  </a:endParaRPr>
                </a:p>
              </p:txBody>
            </p:sp>
            <p:sp>
              <p:nvSpPr>
                <p:cNvPr id="48135" name="Oval 15"/>
                <p:cNvSpPr/>
                <p:nvPr/>
              </p:nvSpPr>
              <p:spPr>
                <a:xfrm>
                  <a:off x="0" y="319315"/>
                  <a:ext cx="73760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社号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8136" name="Oval 15"/>
                <p:cNvSpPr/>
                <p:nvPr/>
              </p:nvSpPr>
              <p:spPr>
                <a:xfrm>
                  <a:off x="1204684" y="0"/>
                  <a:ext cx="9408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37" name="Oval 15"/>
                <p:cNvSpPr/>
                <p:nvPr/>
              </p:nvSpPr>
              <p:spPr>
                <a:xfrm>
                  <a:off x="2402113" y="181430"/>
                  <a:ext cx="933548"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38" name="Line 18"/>
                <p:cNvSpPr/>
                <p:nvPr/>
              </p:nvSpPr>
              <p:spPr>
                <a:xfrm>
                  <a:off x="722286" y="591514"/>
                  <a:ext cx="726517" cy="119688"/>
                </a:xfrm>
                <a:prstGeom prst="line">
                  <a:avLst/>
                </a:prstGeom>
                <a:ln w="25400" cap="flat" cmpd="sng">
                  <a:solidFill>
                    <a:srgbClr val="000000"/>
                  </a:solidFill>
                  <a:prstDash val="solid"/>
                  <a:round/>
                  <a:headEnd type="none" w="med" len="med"/>
                  <a:tailEnd type="none" w="med" len="med"/>
                </a:ln>
              </p:spPr>
            </p:sp>
            <p:sp>
              <p:nvSpPr>
                <p:cNvPr id="48139" name="Line 18"/>
                <p:cNvSpPr/>
                <p:nvPr/>
              </p:nvSpPr>
              <p:spPr>
                <a:xfrm flipH="1">
                  <a:off x="1681027" y="388312"/>
                  <a:ext cx="71769" cy="322888"/>
                </a:xfrm>
                <a:prstGeom prst="line">
                  <a:avLst/>
                </a:prstGeom>
                <a:ln w="25400" cap="flat" cmpd="sng">
                  <a:solidFill>
                    <a:srgbClr val="000000"/>
                  </a:solidFill>
                  <a:prstDash val="solid"/>
                  <a:round/>
                  <a:headEnd type="none" w="med" len="med"/>
                  <a:tailEnd type="none" w="med" len="med"/>
                </a:ln>
              </p:spPr>
            </p:sp>
            <p:sp>
              <p:nvSpPr>
                <p:cNvPr id="48140" name="Line 18"/>
                <p:cNvSpPr/>
                <p:nvPr/>
              </p:nvSpPr>
              <p:spPr>
                <a:xfrm flipH="1">
                  <a:off x="2000347" y="478972"/>
                  <a:ext cx="464456" cy="232229"/>
                </a:xfrm>
                <a:prstGeom prst="line">
                  <a:avLst/>
                </a:prstGeom>
                <a:ln w="25400" cap="flat" cmpd="sng">
                  <a:solidFill>
                    <a:srgbClr val="000000"/>
                  </a:solidFill>
                  <a:prstDash val="solid"/>
                  <a:round/>
                  <a:headEnd type="none" w="med" len="med"/>
                  <a:tailEnd type="none" w="med" len="med"/>
                </a:ln>
              </p:spPr>
            </p:sp>
          </p:grpSp>
          <p:sp>
            <p:nvSpPr>
              <p:cNvPr id="48143" name="Rectangle 12"/>
              <p:cNvSpPr/>
              <p:nvPr/>
            </p:nvSpPr>
            <p:spPr>
              <a:xfrm>
                <a:off x="9557" y="7874"/>
                <a:ext cx="1700" cy="66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图书</a:t>
                </a:r>
                <a:endParaRPr lang="zh-CN" altLang="en-US" dirty="0">
                  <a:solidFill>
                    <a:srgbClr val="000000"/>
                  </a:solidFill>
                  <a:latin typeface="宋体" panose="02010600030101010101" pitchFamily="2" charset="-122"/>
                  <a:ea typeface="宋体" panose="02010600030101010101" pitchFamily="2" charset="-122"/>
                </a:endParaRPr>
              </a:p>
            </p:txBody>
          </p:sp>
          <p:sp>
            <p:nvSpPr>
              <p:cNvPr id="48144" name="Oval 15"/>
              <p:cNvSpPr/>
              <p:nvPr/>
            </p:nvSpPr>
            <p:spPr>
              <a:xfrm>
                <a:off x="8426" y="8925"/>
                <a:ext cx="1162"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8145" name="Oval 15"/>
              <p:cNvSpPr/>
              <p:nvPr/>
            </p:nvSpPr>
            <p:spPr>
              <a:xfrm>
                <a:off x="11291" y="8776"/>
                <a:ext cx="1474"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价格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46" name="Line 18"/>
              <p:cNvSpPr/>
              <p:nvPr/>
            </p:nvSpPr>
            <p:spPr>
              <a:xfrm flipV="1">
                <a:off x="9417" y="8548"/>
                <a:ext cx="640" cy="434"/>
              </a:xfrm>
              <a:prstGeom prst="line">
                <a:avLst/>
              </a:prstGeom>
              <a:ln w="25400" cap="flat" cmpd="sng">
                <a:solidFill>
                  <a:srgbClr val="000000"/>
                </a:solidFill>
                <a:prstDash val="solid"/>
                <a:round/>
                <a:headEnd type="none" w="med" len="med"/>
                <a:tailEnd type="none" w="med" len="med"/>
              </a:ln>
            </p:spPr>
          </p:sp>
          <p:sp>
            <p:nvSpPr>
              <p:cNvPr id="48147" name="Line 18"/>
              <p:cNvSpPr/>
              <p:nvPr/>
            </p:nvSpPr>
            <p:spPr>
              <a:xfrm flipH="1" flipV="1">
                <a:off x="10662" y="8514"/>
                <a:ext cx="971" cy="286"/>
              </a:xfrm>
              <a:prstGeom prst="line">
                <a:avLst/>
              </a:prstGeom>
              <a:ln w="25400" cap="flat" cmpd="sng">
                <a:solidFill>
                  <a:srgbClr val="000000"/>
                </a:solidFill>
                <a:prstDash val="solid"/>
                <a:round/>
                <a:headEnd type="none" w="med" len="med"/>
                <a:tailEnd type="none" w="med" len="med"/>
              </a:ln>
            </p:spPr>
          </p:sp>
          <p:sp>
            <p:nvSpPr>
              <p:cNvPr id="48149" name="Oval 15"/>
              <p:cNvSpPr/>
              <p:nvPr/>
            </p:nvSpPr>
            <p:spPr>
              <a:xfrm>
                <a:off x="9817" y="9153"/>
                <a:ext cx="1360"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书名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50" name="Line 18"/>
              <p:cNvSpPr/>
              <p:nvPr/>
            </p:nvSpPr>
            <p:spPr>
              <a:xfrm>
                <a:off x="10547" y="8554"/>
                <a:ext cx="104" cy="634"/>
              </a:xfrm>
              <a:prstGeom prst="line">
                <a:avLst/>
              </a:prstGeom>
              <a:ln w="25400" cap="flat" cmpd="sng">
                <a:solidFill>
                  <a:srgbClr val="000000"/>
                </a:solidFill>
                <a:prstDash val="solid"/>
                <a:round/>
                <a:headEnd type="none" w="med" len="med"/>
                <a:tailEnd type="none" w="med" len="med"/>
              </a:ln>
            </p:spPr>
          </p:sp>
          <p:grpSp>
            <p:nvGrpSpPr>
              <p:cNvPr id="46104" name="组合 41"/>
              <p:cNvGrpSpPr/>
              <p:nvPr/>
            </p:nvGrpSpPr>
            <p:grpSpPr>
              <a:xfrm>
                <a:off x="10405" y="6080"/>
                <a:ext cx="773" cy="1928"/>
                <a:chOff x="0" y="0"/>
                <a:chExt cx="421974" cy="1328216"/>
              </a:xfrm>
            </p:grpSpPr>
            <p:sp>
              <p:nvSpPr>
                <p:cNvPr id="48152" name="Text Box 50"/>
                <p:cNvSpPr txBox="1"/>
                <p:nvPr/>
              </p:nvSpPr>
              <p:spPr>
                <a:xfrm>
                  <a:off x="7258" y="0"/>
                  <a:ext cx="351634" cy="507831"/>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sp>
              <p:nvSpPr>
                <p:cNvPr id="48153" name="Text Box 50"/>
                <p:cNvSpPr txBox="1"/>
                <p:nvPr/>
              </p:nvSpPr>
              <p:spPr>
                <a:xfrm>
                  <a:off x="0" y="777150"/>
                  <a:ext cx="421974" cy="551066"/>
                </a:xfrm>
                <a:prstGeom prst="rect">
                  <a:avLst/>
                </a:prstGeom>
                <a:noFill/>
                <a:ln w="9525">
                  <a:noFill/>
                </a:ln>
              </p:spPr>
              <p:txBody>
                <a:bodyPr anchor="t">
                  <a:spAutoFit/>
                </a:bodyPr>
                <a:lstStyle/>
                <a:p>
                  <a:pPr lvl="0" indent="0">
                    <a:spcBef>
                      <a:spcPct val="50000"/>
                    </a:spcBef>
                    <a:buNone/>
                  </a:pPr>
                  <a:r>
                    <a:rPr lang="de-DE" altLang="en-US" sz="2000" dirty="0">
                      <a:solidFill>
                        <a:srgbClr val="0000CC"/>
                      </a:solidFill>
                      <a:latin typeface="宋体" panose="02010600030101010101" pitchFamily="2" charset="-122"/>
                      <a:ea typeface="宋体" panose="02010600030101010101" pitchFamily="2" charset="-122"/>
                    </a:rPr>
                    <a:t>n</a:t>
                  </a:r>
                  <a:endParaRPr lang="de-DE" altLang="en-US" sz="2000" dirty="0">
                    <a:solidFill>
                      <a:srgbClr val="0000CC"/>
                    </a:solidFill>
                    <a:latin typeface="宋体" panose="02010600030101010101" pitchFamily="2" charset="-122"/>
                    <a:ea typeface="宋体" panose="02010600030101010101" pitchFamily="2" charset="-122"/>
                  </a:endParaRPr>
                </a:p>
              </p:txBody>
            </p:sp>
          </p:grpSp>
        </p:grpSp>
        <p:grpSp>
          <p:nvGrpSpPr>
            <p:cNvPr id="48155" name="组合 37"/>
            <p:cNvGrpSpPr/>
            <p:nvPr/>
          </p:nvGrpSpPr>
          <p:grpSpPr>
            <a:xfrm>
              <a:off x="9290" y="6080"/>
              <a:ext cx="4685" cy="1743"/>
              <a:chOff x="0" y="0"/>
              <a:chExt cx="2508484" cy="1005075"/>
            </a:xfrm>
          </p:grpSpPr>
          <p:grpSp>
            <p:nvGrpSpPr>
              <p:cNvPr id="48156" name="组合 32"/>
              <p:cNvGrpSpPr/>
              <p:nvPr/>
            </p:nvGrpSpPr>
            <p:grpSpPr>
              <a:xfrm>
                <a:off x="0" y="0"/>
                <a:ext cx="1125264" cy="1005075"/>
                <a:chOff x="0" y="0"/>
                <a:chExt cx="1125264" cy="1005075"/>
              </a:xfrm>
            </p:grpSpPr>
            <p:sp>
              <p:nvSpPr>
                <p:cNvPr id="48157" name="AutoShape 8"/>
                <p:cNvSpPr/>
                <p:nvPr/>
              </p:nvSpPr>
              <p:spPr>
                <a:xfrm>
                  <a:off x="0" y="303124"/>
                  <a:ext cx="1125264" cy="41229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58" name="Line 18"/>
                <p:cNvSpPr/>
                <p:nvPr/>
              </p:nvSpPr>
              <p:spPr>
                <a:xfrm flipH="1" flipV="1">
                  <a:off x="561159" y="0"/>
                  <a:ext cx="0" cy="326969"/>
                </a:xfrm>
                <a:prstGeom prst="line">
                  <a:avLst/>
                </a:prstGeom>
                <a:ln w="25400" cap="flat" cmpd="sng">
                  <a:solidFill>
                    <a:srgbClr val="000000"/>
                  </a:solidFill>
                  <a:prstDash val="solid"/>
                  <a:round/>
                  <a:headEnd type="none" w="med" len="med"/>
                  <a:tailEnd type="none" w="med" len="med"/>
                </a:ln>
              </p:spPr>
            </p:sp>
            <p:sp>
              <p:nvSpPr>
                <p:cNvPr id="48159" name="Line 18"/>
                <p:cNvSpPr/>
                <p:nvPr/>
              </p:nvSpPr>
              <p:spPr>
                <a:xfrm flipH="1" flipV="1">
                  <a:off x="568412" y="688696"/>
                  <a:ext cx="0" cy="316379"/>
                </a:xfrm>
                <a:prstGeom prst="line">
                  <a:avLst/>
                </a:prstGeom>
                <a:ln w="25400" cap="flat" cmpd="sng">
                  <a:solidFill>
                    <a:srgbClr val="000000"/>
                  </a:solidFill>
                  <a:prstDash val="solid"/>
                  <a:round/>
                  <a:headEnd type="none" w="med" len="med"/>
                  <a:tailEnd type="none" w="med" len="med"/>
                </a:ln>
              </p:spPr>
            </p:sp>
          </p:grpSp>
          <p:sp>
            <p:nvSpPr>
              <p:cNvPr id="48160" name="Oval 21"/>
              <p:cNvSpPr/>
              <p:nvPr/>
            </p:nvSpPr>
            <p:spPr>
              <a:xfrm>
                <a:off x="1453549" y="176837"/>
                <a:ext cx="1054935" cy="40639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出版时间</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61" name="Line 18"/>
              <p:cNvSpPr/>
              <p:nvPr/>
            </p:nvSpPr>
            <p:spPr>
              <a:xfrm flipH="1">
                <a:off x="1109801" y="370850"/>
                <a:ext cx="348344" cy="159658"/>
              </a:xfrm>
              <a:prstGeom prst="line">
                <a:avLst/>
              </a:prstGeom>
              <a:ln w="25400" cap="flat" cmpd="sng">
                <a:solidFill>
                  <a:srgbClr val="000000"/>
                </a:solidFill>
                <a:prstDash val="solid"/>
                <a:round/>
                <a:headEnd type="none" w="med" len="med"/>
                <a:tailEnd type="none" w="med" len="med"/>
              </a:ln>
            </p:spPr>
          </p:sp>
        </p:grpSp>
        <p:sp>
          <p:nvSpPr>
            <p:cNvPr id="48162" name="Oval 21"/>
            <p:cNvSpPr/>
            <p:nvPr/>
          </p:nvSpPr>
          <p:spPr>
            <a:xfrm>
              <a:off x="12068" y="7139"/>
              <a:ext cx="1513" cy="70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63" name="Line 18"/>
            <p:cNvSpPr/>
            <p:nvPr/>
          </p:nvSpPr>
          <p:spPr>
            <a:xfrm flipH="1" flipV="1">
              <a:off x="11325" y="6966"/>
              <a:ext cx="789" cy="423"/>
            </a:xfrm>
            <a:prstGeom prst="line">
              <a:avLst/>
            </a:prstGeom>
            <a:ln w="25400" cap="flat" cmpd="sng">
              <a:solidFill>
                <a:srgbClr val="000000"/>
              </a:solidFill>
              <a:prstDash val="solid"/>
              <a:round/>
              <a:headEnd type="none" w="med" len="med"/>
              <a:tailEnd type="none" w="med" len="med"/>
            </a:ln>
          </p:spPr>
        </p:sp>
      </p:grpSp>
      <p:grpSp>
        <p:nvGrpSpPr>
          <p:cNvPr id="18" name="组合 17"/>
          <p:cNvGrpSpPr/>
          <p:nvPr/>
        </p:nvGrpSpPr>
        <p:grpSpPr>
          <a:xfrm>
            <a:off x="546100" y="2794000"/>
            <a:ext cx="4712970" cy="3376295"/>
            <a:chOff x="860" y="4400"/>
            <a:chExt cx="7422" cy="5317"/>
          </a:xfrm>
        </p:grpSpPr>
        <p:sp>
          <p:nvSpPr>
            <p:cNvPr id="48141" name="Text Box 10"/>
            <p:cNvSpPr txBox="1"/>
            <p:nvPr/>
          </p:nvSpPr>
          <p:spPr>
            <a:xfrm>
              <a:off x="905" y="4400"/>
              <a:ext cx="6466" cy="808"/>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出版社</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社号，名称，电话</a:t>
              </a:r>
              <a:endParaRPr lang="zh-CN" altLang="en-US" sz="2200" dirty="0">
                <a:latin typeface="楷体" panose="02010609060101010101" pitchFamily="1" charset="-122"/>
                <a:ea typeface="楷体" panose="02010609060101010101" pitchFamily="1" charset="-122"/>
              </a:endParaRPr>
            </a:p>
          </p:txBody>
        </p:sp>
        <p:sp>
          <p:nvSpPr>
            <p:cNvPr id="48148" name="Text Box 10"/>
            <p:cNvSpPr txBox="1"/>
            <p:nvPr/>
          </p:nvSpPr>
          <p:spPr>
            <a:xfrm>
              <a:off x="923" y="5960"/>
              <a:ext cx="6260" cy="808"/>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图书</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书号，书名，价格</a:t>
              </a:r>
              <a:endParaRPr lang="zh-CN" altLang="en-US" sz="2200" dirty="0">
                <a:latin typeface="楷体" panose="02010609060101010101" pitchFamily="1" charset="-122"/>
                <a:ea typeface="楷体" panose="02010609060101010101" pitchFamily="1" charset="-122"/>
              </a:endParaRPr>
            </a:p>
          </p:txBody>
        </p:sp>
        <p:sp>
          <p:nvSpPr>
            <p:cNvPr id="48164" name="Text Box 10"/>
            <p:cNvSpPr txBox="1"/>
            <p:nvPr/>
          </p:nvSpPr>
          <p:spPr>
            <a:xfrm>
              <a:off x="860" y="7085"/>
              <a:ext cx="7423" cy="2633"/>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联系</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出版社与图书之间是一个出版联系，这个出版用出版时间和数量来描述。</a:t>
              </a:r>
              <a:endParaRPr lang="en-US" altLang="x-none" sz="2200" dirty="0">
                <a:latin typeface="Arial" panose="020B0604020202020204" pitchFamily="34" charset="0"/>
                <a:ea typeface="宋体" panose="02010600030101010101" pitchFamily="2" charset="-122"/>
              </a:endParaRPr>
            </a:p>
            <a:p>
              <a:pPr lvl="0" indent="0">
                <a:lnSpc>
                  <a:spcPct val="114000"/>
                </a:lnSpc>
                <a:buNone/>
              </a:pPr>
              <a:endParaRPr lang="zh-CN" altLang="en-US" sz="2200" dirty="0">
                <a:latin typeface="楷体" panose="02010609060101010101" pitchFamily="1" charset="-122"/>
                <a:ea typeface="楷体" panose="02010609060101010101" pitchFamily="1" charset="-122"/>
              </a:endParaRPr>
            </a:p>
          </p:txBody>
        </p:sp>
      </p:grpSp>
      <p:sp>
        <p:nvSpPr>
          <p:cNvPr id="5"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Text Box 10"/>
          <p:cNvSpPr txBox="1"/>
          <p:nvPr/>
        </p:nvSpPr>
        <p:spPr>
          <a:xfrm>
            <a:off x="546100" y="1481138"/>
            <a:ext cx="8104188" cy="933450"/>
          </a:xfrm>
          <a:prstGeom prst="rect">
            <a:avLst/>
          </a:prstGeom>
          <a:noFill/>
          <a:ln w="9525">
            <a:noFill/>
          </a:ln>
        </p:spPr>
        <p:txBody>
          <a:bodyPr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zh-CN" altLang="en-US" sz="2600" dirty="0">
                <a:solidFill>
                  <a:srgbClr val="CC3300"/>
                </a:solidFill>
                <a:latin typeface="方正姚体" panose="02010601030101010101" pitchFamily="2" charset="-122"/>
                <a:ea typeface="方正姚体" panose="02010601030101010101" pitchFamily="2" charset="-122"/>
              </a:rPr>
              <a:t>例</a:t>
            </a:r>
            <a:r>
              <a:rPr lang="en-US" altLang="x-none" sz="2600" dirty="0">
                <a:solidFill>
                  <a:srgbClr val="CC3300"/>
                </a:solidFill>
                <a:latin typeface="方正姚体" panose="02010601030101010101" pitchFamily="2" charset="-122"/>
                <a:ea typeface="方正姚体" panose="02010601030101010101" pitchFamily="2" charset="-122"/>
              </a:rPr>
              <a:t>3</a:t>
            </a:r>
            <a:r>
              <a:rPr lang="zh-CN" altLang="en-US" sz="2600" dirty="0">
                <a:solidFill>
                  <a:srgbClr val="CC3300"/>
                </a:solidFill>
                <a:latin typeface="方正姚体" panose="02010601030101010101" pitchFamily="2" charset="-122"/>
                <a:ea typeface="方正姚体" panose="02010601030101010101" pitchFamily="2" charset="-122"/>
              </a:rPr>
              <a:t>：</a:t>
            </a:r>
            <a:r>
              <a:rPr lang="zh-CN" altLang="en-US" sz="2200" dirty="0">
                <a:latin typeface="Arial" panose="020B0604020202020204" pitchFamily="34" charset="0"/>
                <a:ea typeface="宋体" panose="02010600030101010101" pitchFamily="2" charset="-122"/>
              </a:rPr>
              <a:t>假设在某图书管理系统中，一名作者可以创作多本书，一本书也可以由多位作者共同创作。</a:t>
            </a:r>
            <a:endParaRPr lang="en-US" altLang="x-none" sz="2200" dirty="0">
              <a:latin typeface="Arial" panose="020B0604020202020204" pitchFamily="34" charset="0"/>
              <a:ea typeface="宋体" panose="02010600030101010101" pitchFamily="2" charset="-122"/>
            </a:endParaRPr>
          </a:p>
        </p:txBody>
      </p:sp>
      <p:grpSp>
        <p:nvGrpSpPr>
          <p:cNvPr id="3" name="组合 2"/>
          <p:cNvGrpSpPr/>
          <p:nvPr/>
        </p:nvGrpSpPr>
        <p:grpSpPr>
          <a:xfrm>
            <a:off x="655320" y="2675255"/>
            <a:ext cx="4726940" cy="3033395"/>
            <a:chOff x="1032" y="4213"/>
            <a:chExt cx="7444" cy="4777"/>
          </a:xfrm>
        </p:grpSpPr>
        <p:sp>
          <p:nvSpPr>
            <p:cNvPr id="49165" name="Text Box 10"/>
            <p:cNvSpPr txBox="1"/>
            <p:nvPr/>
          </p:nvSpPr>
          <p:spPr>
            <a:xfrm>
              <a:off x="1054" y="4213"/>
              <a:ext cx="6466" cy="808"/>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作者</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编号，姓名，职称</a:t>
              </a:r>
              <a:endParaRPr lang="zh-CN" altLang="en-US" sz="2200" dirty="0">
                <a:latin typeface="楷体" panose="02010609060101010101" pitchFamily="1" charset="-122"/>
                <a:ea typeface="楷体" panose="02010609060101010101" pitchFamily="1" charset="-122"/>
              </a:endParaRPr>
            </a:p>
          </p:txBody>
        </p:sp>
        <p:sp>
          <p:nvSpPr>
            <p:cNvPr id="49172" name="Text Box 10"/>
            <p:cNvSpPr txBox="1"/>
            <p:nvPr/>
          </p:nvSpPr>
          <p:spPr>
            <a:xfrm>
              <a:off x="1032" y="5898"/>
              <a:ext cx="6260" cy="808"/>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图书</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书号，书名，价格</a:t>
              </a:r>
              <a:endParaRPr lang="zh-CN" altLang="en-US" sz="2200" dirty="0">
                <a:latin typeface="楷体" panose="02010609060101010101" pitchFamily="1" charset="-122"/>
                <a:ea typeface="楷体" panose="02010609060101010101" pitchFamily="1" charset="-122"/>
              </a:endParaRPr>
            </a:p>
          </p:txBody>
        </p:sp>
        <p:sp>
          <p:nvSpPr>
            <p:cNvPr id="49183" name="Text Box 10"/>
            <p:cNvSpPr txBox="1"/>
            <p:nvPr/>
          </p:nvSpPr>
          <p:spPr>
            <a:xfrm>
              <a:off x="1054" y="6966"/>
              <a:ext cx="7423" cy="2024"/>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联系</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作者与图书之间是一个写作联系，这个写作用完成时间来描述。</a:t>
              </a:r>
              <a:endParaRPr lang="en-US" altLang="x-none" sz="2200" dirty="0">
                <a:latin typeface="Arial" panose="020B0604020202020204" pitchFamily="34" charset="0"/>
                <a:ea typeface="宋体" panose="02010600030101010101" pitchFamily="2" charset="-122"/>
              </a:endParaRPr>
            </a:p>
            <a:p>
              <a:pPr lvl="0" indent="0">
                <a:lnSpc>
                  <a:spcPct val="114000"/>
                </a:lnSpc>
                <a:buNone/>
              </a:pPr>
              <a:endParaRPr lang="zh-CN" altLang="en-US" sz="2200" dirty="0">
                <a:latin typeface="楷体" panose="02010609060101010101" pitchFamily="1" charset="-122"/>
                <a:ea typeface="楷体" panose="02010609060101010101" pitchFamily="1" charset="-122"/>
              </a:endParaRPr>
            </a:p>
          </p:txBody>
        </p:sp>
      </p:grpSp>
      <p:grpSp>
        <p:nvGrpSpPr>
          <p:cNvPr id="2" name="组合 1"/>
          <p:cNvGrpSpPr/>
          <p:nvPr/>
        </p:nvGrpSpPr>
        <p:grpSpPr>
          <a:xfrm>
            <a:off x="4850130" y="2624455"/>
            <a:ext cx="4073525" cy="3396615"/>
            <a:chOff x="7638" y="4133"/>
            <a:chExt cx="6415" cy="5349"/>
          </a:xfrm>
        </p:grpSpPr>
        <p:grpSp>
          <p:nvGrpSpPr>
            <p:cNvPr id="49157" name="组合 28"/>
            <p:cNvGrpSpPr/>
            <p:nvPr/>
          </p:nvGrpSpPr>
          <p:grpSpPr>
            <a:xfrm>
              <a:off x="7638" y="4133"/>
              <a:ext cx="5253" cy="1760"/>
              <a:chOff x="0" y="0"/>
              <a:chExt cx="3335661" cy="1117601"/>
            </a:xfrm>
          </p:grpSpPr>
          <p:sp>
            <p:nvSpPr>
              <p:cNvPr id="49158" name="Rectangle 12"/>
              <p:cNvSpPr/>
              <p:nvPr/>
            </p:nvSpPr>
            <p:spPr>
              <a:xfrm>
                <a:off x="1356429" y="696687"/>
                <a:ext cx="1079345" cy="42091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作者</a:t>
                </a:r>
                <a:endParaRPr lang="zh-CN" altLang="en-US" dirty="0">
                  <a:solidFill>
                    <a:srgbClr val="000000"/>
                  </a:solidFill>
                  <a:latin typeface="宋体" panose="02010600030101010101" pitchFamily="2" charset="-122"/>
                  <a:ea typeface="宋体" panose="02010600030101010101" pitchFamily="2" charset="-122"/>
                </a:endParaRPr>
              </a:p>
            </p:txBody>
          </p:sp>
          <p:sp>
            <p:nvSpPr>
              <p:cNvPr id="49159" name="Oval 15"/>
              <p:cNvSpPr/>
              <p:nvPr/>
            </p:nvSpPr>
            <p:spPr>
              <a:xfrm>
                <a:off x="0" y="319315"/>
                <a:ext cx="73760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9160" name="Oval 15"/>
              <p:cNvSpPr/>
              <p:nvPr/>
            </p:nvSpPr>
            <p:spPr>
              <a:xfrm>
                <a:off x="1204684" y="0"/>
                <a:ext cx="9408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61" name="Oval 15"/>
              <p:cNvSpPr/>
              <p:nvPr/>
            </p:nvSpPr>
            <p:spPr>
              <a:xfrm>
                <a:off x="2402113" y="181430"/>
                <a:ext cx="933548"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职称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62" name="Line 18"/>
              <p:cNvSpPr/>
              <p:nvPr/>
            </p:nvSpPr>
            <p:spPr>
              <a:xfrm>
                <a:off x="722286" y="591514"/>
                <a:ext cx="726517" cy="119688"/>
              </a:xfrm>
              <a:prstGeom prst="line">
                <a:avLst/>
              </a:prstGeom>
              <a:ln w="25400" cap="flat" cmpd="sng">
                <a:solidFill>
                  <a:srgbClr val="000000"/>
                </a:solidFill>
                <a:prstDash val="solid"/>
                <a:round/>
                <a:headEnd type="none" w="med" len="med"/>
                <a:tailEnd type="none" w="med" len="med"/>
              </a:ln>
            </p:spPr>
          </p:sp>
          <p:sp>
            <p:nvSpPr>
              <p:cNvPr id="49163" name="Line 18"/>
              <p:cNvSpPr/>
              <p:nvPr/>
            </p:nvSpPr>
            <p:spPr>
              <a:xfrm flipH="1">
                <a:off x="1695539" y="402827"/>
                <a:ext cx="0" cy="322888"/>
              </a:xfrm>
              <a:prstGeom prst="line">
                <a:avLst/>
              </a:prstGeom>
              <a:ln w="25400" cap="flat" cmpd="sng">
                <a:solidFill>
                  <a:srgbClr val="000000"/>
                </a:solidFill>
                <a:prstDash val="solid"/>
                <a:round/>
                <a:headEnd type="none" w="med" len="med"/>
                <a:tailEnd type="none" w="med" len="med"/>
              </a:ln>
            </p:spPr>
          </p:sp>
          <p:sp>
            <p:nvSpPr>
              <p:cNvPr id="49164" name="Line 18"/>
              <p:cNvSpPr/>
              <p:nvPr/>
            </p:nvSpPr>
            <p:spPr>
              <a:xfrm flipH="1">
                <a:off x="2000347" y="478972"/>
                <a:ext cx="464456" cy="232229"/>
              </a:xfrm>
              <a:prstGeom prst="line">
                <a:avLst/>
              </a:prstGeom>
              <a:ln w="25400" cap="flat" cmpd="sng">
                <a:solidFill>
                  <a:srgbClr val="000000"/>
                </a:solidFill>
                <a:prstDash val="solid"/>
                <a:round/>
                <a:headEnd type="none" w="med" len="med"/>
                <a:tailEnd type="none" w="med" len="med"/>
              </a:ln>
            </p:spPr>
          </p:sp>
        </p:grpSp>
        <p:sp>
          <p:nvSpPr>
            <p:cNvPr id="49167" name="Rectangle 12"/>
            <p:cNvSpPr/>
            <p:nvPr/>
          </p:nvSpPr>
          <p:spPr>
            <a:xfrm>
              <a:off x="9707" y="7592"/>
              <a:ext cx="1700" cy="66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图书</a:t>
              </a:r>
              <a:endParaRPr lang="zh-CN" altLang="en-US" dirty="0">
                <a:solidFill>
                  <a:srgbClr val="000000"/>
                </a:solidFill>
                <a:latin typeface="宋体" panose="02010600030101010101" pitchFamily="2" charset="-122"/>
                <a:ea typeface="宋体" panose="02010600030101010101" pitchFamily="2" charset="-122"/>
              </a:endParaRPr>
            </a:p>
          </p:txBody>
        </p:sp>
        <p:sp>
          <p:nvSpPr>
            <p:cNvPr id="49168" name="Oval 15"/>
            <p:cNvSpPr/>
            <p:nvPr/>
          </p:nvSpPr>
          <p:spPr>
            <a:xfrm>
              <a:off x="8622" y="8620"/>
              <a:ext cx="1162"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9169" name="Oval 15"/>
            <p:cNvSpPr/>
            <p:nvPr/>
          </p:nvSpPr>
          <p:spPr>
            <a:xfrm>
              <a:off x="11418" y="8449"/>
              <a:ext cx="1474"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价格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70" name="Line 18"/>
            <p:cNvSpPr/>
            <p:nvPr/>
          </p:nvSpPr>
          <p:spPr>
            <a:xfrm flipV="1">
              <a:off x="9589" y="8266"/>
              <a:ext cx="640" cy="434"/>
            </a:xfrm>
            <a:prstGeom prst="line">
              <a:avLst/>
            </a:prstGeom>
            <a:ln w="25400" cap="flat" cmpd="sng">
              <a:solidFill>
                <a:srgbClr val="000000"/>
              </a:solidFill>
              <a:prstDash val="solid"/>
              <a:round/>
              <a:headEnd type="none" w="med" len="med"/>
              <a:tailEnd type="none" w="med" len="med"/>
            </a:ln>
          </p:spPr>
        </p:sp>
        <p:sp>
          <p:nvSpPr>
            <p:cNvPr id="49171" name="Line 18"/>
            <p:cNvSpPr/>
            <p:nvPr/>
          </p:nvSpPr>
          <p:spPr>
            <a:xfrm flipH="1" flipV="1">
              <a:off x="10766" y="8232"/>
              <a:ext cx="971" cy="286"/>
            </a:xfrm>
            <a:prstGeom prst="line">
              <a:avLst/>
            </a:prstGeom>
            <a:ln w="25400" cap="flat" cmpd="sng">
              <a:solidFill>
                <a:srgbClr val="000000"/>
              </a:solidFill>
              <a:prstDash val="solid"/>
              <a:round/>
              <a:headEnd type="none" w="med" len="med"/>
              <a:tailEnd type="none" w="med" len="med"/>
            </a:ln>
          </p:spPr>
        </p:sp>
        <p:sp>
          <p:nvSpPr>
            <p:cNvPr id="49173" name="Oval 15"/>
            <p:cNvSpPr/>
            <p:nvPr/>
          </p:nvSpPr>
          <p:spPr>
            <a:xfrm>
              <a:off x="9966" y="8848"/>
              <a:ext cx="1360"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书名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74" name="Line 18"/>
            <p:cNvSpPr/>
            <p:nvPr/>
          </p:nvSpPr>
          <p:spPr>
            <a:xfrm>
              <a:off x="10651" y="8272"/>
              <a:ext cx="104" cy="634"/>
            </a:xfrm>
            <a:prstGeom prst="line">
              <a:avLst/>
            </a:prstGeom>
            <a:ln w="25400" cap="flat" cmpd="sng">
              <a:solidFill>
                <a:srgbClr val="000000"/>
              </a:solidFill>
              <a:prstDash val="solid"/>
              <a:round/>
              <a:headEnd type="none" w="med" len="med"/>
              <a:tailEnd type="none" w="med" len="med"/>
            </a:ln>
          </p:spPr>
        </p:sp>
        <p:grpSp>
          <p:nvGrpSpPr>
            <p:cNvPr id="49176" name="组合 37"/>
            <p:cNvGrpSpPr/>
            <p:nvPr/>
          </p:nvGrpSpPr>
          <p:grpSpPr>
            <a:xfrm>
              <a:off x="9369" y="5893"/>
              <a:ext cx="4684" cy="1788"/>
              <a:chOff x="0" y="0"/>
              <a:chExt cx="2508484" cy="1031440"/>
            </a:xfrm>
          </p:grpSpPr>
          <p:grpSp>
            <p:nvGrpSpPr>
              <p:cNvPr id="49177" name="组合 32"/>
              <p:cNvGrpSpPr/>
              <p:nvPr/>
            </p:nvGrpSpPr>
            <p:grpSpPr>
              <a:xfrm>
                <a:off x="0" y="0"/>
                <a:ext cx="1125264" cy="1031440"/>
                <a:chOff x="0" y="0"/>
                <a:chExt cx="1125264" cy="1031440"/>
              </a:xfrm>
            </p:grpSpPr>
            <p:sp>
              <p:nvSpPr>
                <p:cNvPr id="49178" name="AutoShape 8"/>
                <p:cNvSpPr/>
                <p:nvPr/>
              </p:nvSpPr>
              <p:spPr>
                <a:xfrm>
                  <a:off x="0" y="329489"/>
                  <a:ext cx="1125264" cy="41229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写作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79" name="Line 18"/>
                <p:cNvSpPr/>
                <p:nvPr/>
              </p:nvSpPr>
              <p:spPr>
                <a:xfrm flipH="1" flipV="1">
                  <a:off x="561159" y="0"/>
                  <a:ext cx="0" cy="326979"/>
                </a:xfrm>
                <a:prstGeom prst="line">
                  <a:avLst/>
                </a:prstGeom>
                <a:ln w="25400" cap="flat" cmpd="sng">
                  <a:solidFill>
                    <a:srgbClr val="000000"/>
                  </a:solidFill>
                  <a:prstDash val="solid"/>
                  <a:round/>
                  <a:headEnd type="none" w="med" len="med"/>
                  <a:tailEnd type="none" w="med" len="med"/>
                </a:ln>
              </p:spPr>
            </p:sp>
            <p:sp>
              <p:nvSpPr>
                <p:cNvPr id="49180" name="Line 18"/>
                <p:cNvSpPr/>
                <p:nvPr/>
              </p:nvSpPr>
              <p:spPr>
                <a:xfrm flipH="1" flipV="1">
                  <a:off x="568412" y="715061"/>
                  <a:ext cx="0" cy="316379"/>
                </a:xfrm>
                <a:prstGeom prst="line">
                  <a:avLst/>
                </a:prstGeom>
                <a:ln w="25400" cap="flat" cmpd="sng">
                  <a:solidFill>
                    <a:srgbClr val="000000"/>
                  </a:solidFill>
                  <a:prstDash val="solid"/>
                  <a:round/>
                  <a:headEnd type="none" w="med" len="med"/>
                  <a:tailEnd type="none" w="med" len="med"/>
                </a:ln>
              </p:spPr>
            </p:sp>
          </p:grpSp>
          <p:sp>
            <p:nvSpPr>
              <p:cNvPr id="49181" name="Oval 21"/>
              <p:cNvSpPr/>
              <p:nvPr/>
            </p:nvSpPr>
            <p:spPr>
              <a:xfrm>
                <a:off x="1453549" y="203202"/>
                <a:ext cx="1054935" cy="40639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完成时间</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82" name="Line 18"/>
              <p:cNvSpPr/>
              <p:nvPr/>
            </p:nvSpPr>
            <p:spPr>
              <a:xfrm flipH="1">
                <a:off x="1109801" y="397215"/>
                <a:ext cx="348344" cy="159658"/>
              </a:xfrm>
              <a:prstGeom prst="line">
                <a:avLst/>
              </a:prstGeom>
              <a:ln w="25400" cap="flat" cmpd="sng">
                <a:solidFill>
                  <a:srgbClr val="000000"/>
                </a:solidFill>
                <a:prstDash val="solid"/>
                <a:round/>
                <a:headEnd type="none" w="med" len="med"/>
                <a:tailEnd type="none" w="med" len="med"/>
              </a:ln>
            </p:spPr>
          </p:sp>
        </p:grpSp>
        <p:grpSp>
          <p:nvGrpSpPr>
            <p:cNvPr id="47137" name="组合 47"/>
            <p:cNvGrpSpPr/>
            <p:nvPr/>
          </p:nvGrpSpPr>
          <p:grpSpPr>
            <a:xfrm>
              <a:off x="10475" y="5783"/>
              <a:ext cx="770" cy="1927"/>
              <a:chOff x="0" y="0"/>
              <a:chExt cx="421974" cy="1328214"/>
            </a:xfrm>
          </p:grpSpPr>
          <p:sp>
            <p:nvSpPr>
              <p:cNvPr id="49185" name="Text Box 50"/>
              <p:cNvSpPr txBox="1"/>
              <p:nvPr/>
            </p:nvSpPr>
            <p:spPr>
              <a:xfrm>
                <a:off x="7258" y="0"/>
                <a:ext cx="351634" cy="551067"/>
              </a:xfrm>
              <a:prstGeom prst="rect">
                <a:avLst/>
              </a:prstGeom>
              <a:noFill/>
              <a:ln w="9525">
                <a:noFill/>
              </a:ln>
            </p:spPr>
            <p:txBody>
              <a:bodyPr anchor="t">
                <a:spAutoFit/>
              </a:bodyPr>
              <a:lstStyle/>
              <a:p>
                <a:pPr lvl="0" indent="0">
                  <a:spcBef>
                    <a:spcPct val="50000"/>
                  </a:spcBef>
                  <a:buNone/>
                </a:pPr>
                <a:r>
                  <a:rPr lang="de-DE" altLang="en-US" sz="2000" dirty="0">
                    <a:solidFill>
                      <a:srgbClr val="0000CC"/>
                    </a:solidFill>
                    <a:latin typeface="宋体" panose="02010600030101010101" pitchFamily="2" charset="-122"/>
                    <a:ea typeface="宋体" panose="02010600030101010101" pitchFamily="2" charset="-122"/>
                  </a:rPr>
                  <a:t>n</a:t>
                </a:r>
                <a:endParaRPr lang="de-DE" altLang="en-US" sz="2000" dirty="0">
                  <a:solidFill>
                    <a:srgbClr val="0000CC"/>
                  </a:solidFill>
                  <a:latin typeface="宋体" panose="02010600030101010101" pitchFamily="2" charset="-122"/>
                  <a:ea typeface="宋体" panose="02010600030101010101" pitchFamily="2" charset="-122"/>
                </a:endParaRPr>
              </a:p>
            </p:txBody>
          </p:sp>
          <p:sp>
            <p:nvSpPr>
              <p:cNvPr id="49186" name="Text Box 50"/>
              <p:cNvSpPr txBox="1"/>
              <p:nvPr/>
            </p:nvSpPr>
            <p:spPr>
              <a:xfrm>
                <a:off x="0" y="777148"/>
                <a:ext cx="421974" cy="551066"/>
              </a:xfrm>
              <a:prstGeom prst="rect">
                <a:avLst/>
              </a:prstGeom>
              <a:noFill/>
              <a:ln w="9525">
                <a:noFill/>
              </a:ln>
            </p:spPr>
            <p:txBody>
              <a:bodyPr anchor="t">
                <a:spAutoFit/>
              </a:bodyPr>
              <a:lstStyle/>
              <a:p>
                <a:pPr lvl="0" indent="0">
                  <a:spcBef>
                    <a:spcPct val="50000"/>
                  </a:spcBef>
                  <a:buNone/>
                </a:pPr>
                <a:r>
                  <a:rPr lang="de-DE" altLang="en-US" sz="2000" dirty="0">
                    <a:solidFill>
                      <a:srgbClr val="0000CC"/>
                    </a:solidFill>
                    <a:latin typeface="宋体" panose="02010600030101010101" pitchFamily="2" charset="-122"/>
                    <a:ea typeface="宋体" panose="02010600030101010101" pitchFamily="2" charset="-122"/>
                  </a:rPr>
                  <a:t>m</a:t>
                </a:r>
                <a:endParaRPr lang="de-DE" altLang="en-US" sz="2000" dirty="0">
                  <a:solidFill>
                    <a:srgbClr val="0000CC"/>
                  </a:solidFill>
                  <a:latin typeface="宋体" panose="02010600030101010101" pitchFamily="2" charset="-122"/>
                  <a:ea typeface="宋体" panose="02010600030101010101" pitchFamily="2" charset="-122"/>
                </a:endParaRPr>
              </a:p>
            </p:txBody>
          </p:sp>
        </p:grpSp>
      </p:grpSp>
      <p:sp>
        <p:nvSpPr>
          <p:cNvPr id="6"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7"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Text Box 10"/>
          <p:cNvSpPr txBox="1"/>
          <p:nvPr/>
        </p:nvSpPr>
        <p:spPr>
          <a:xfrm>
            <a:off x="546100" y="1397000"/>
            <a:ext cx="8104188" cy="1706563"/>
          </a:xfrm>
          <a:prstGeom prst="rect">
            <a:avLst/>
          </a:prstGeom>
          <a:noFill/>
          <a:ln w="9525">
            <a:noFill/>
          </a:ln>
        </p:spPr>
        <p:txBody>
          <a:bodyPr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zh-CN" altLang="en-US" sz="2600" dirty="0">
                <a:solidFill>
                  <a:srgbClr val="CC3300"/>
                </a:solidFill>
                <a:latin typeface="方正姚体" panose="02010601030101010101" pitchFamily="2" charset="-122"/>
                <a:ea typeface="方正姚体" panose="02010601030101010101" pitchFamily="2" charset="-122"/>
              </a:rPr>
              <a:t>例</a:t>
            </a:r>
            <a:r>
              <a:rPr lang="en-US" altLang="x-none" sz="2600" dirty="0">
                <a:solidFill>
                  <a:srgbClr val="CC3300"/>
                </a:solidFill>
                <a:latin typeface="方正姚体" panose="02010601030101010101" pitchFamily="2" charset="-122"/>
                <a:ea typeface="方正姚体" panose="02010601030101010101" pitchFamily="2" charset="-122"/>
              </a:rPr>
              <a:t>4</a:t>
            </a:r>
            <a:r>
              <a:rPr lang="zh-CN" altLang="en-US" sz="2600" dirty="0">
                <a:solidFill>
                  <a:srgbClr val="CC3300"/>
                </a:solidFill>
                <a:latin typeface="方正姚体" panose="02010601030101010101" pitchFamily="2" charset="-122"/>
                <a:ea typeface="方正姚体" panose="02010601030101010101" pitchFamily="2" charset="-122"/>
              </a:rPr>
              <a:t>：</a:t>
            </a:r>
            <a:r>
              <a:rPr lang="zh-CN" altLang="en-US" sz="2200" dirty="0">
                <a:latin typeface="Arial" panose="020B0604020202020204" pitchFamily="34" charset="0"/>
                <a:ea typeface="宋体" panose="02010600030101010101" pitchFamily="2" charset="-122"/>
              </a:rPr>
              <a:t>假设在某单位里，职工实体集中的实体可分成两类：领导者和被领导者，而被领导者只有一个顶头上司，从而实现层层负责制。而对于一个具体职工而言，他既可能是其他职工的领导者，又可能被别的职工领导。</a:t>
            </a:r>
            <a:endParaRPr lang="en-US" altLang="x-none" sz="2200" dirty="0">
              <a:latin typeface="Arial" panose="020B0604020202020204" pitchFamily="34" charset="0"/>
              <a:ea typeface="宋体" panose="02010600030101010101" pitchFamily="2" charset="-122"/>
            </a:endParaRPr>
          </a:p>
        </p:txBody>
      </p:sp>
      <p:sp>
        <p:nvSpPr>
          <p:cNvPr id="50181" name="Text Box 10"/>
          <p:cNvSpPr txBox="1"/>
          <p:nvPr/>
        </p:nvSpPr>
        <p:spPr>
          <a:xfrm>
            <a:off x="595630" y="3157855"/>
            <a:ext cx="8258175" cy="513080"/>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职工</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solidFill>
                  <a:srgbClr val="0033CC"/>
                </a:solidFill>
                <a:latin typeface="Arial" panose="020B0604020202020204" pitchFamily="34" charset="0"/>
                <a:ea typeface="宋体" panose="02010600030101010101" pitchFamily="2" charset="-122"/>
              </a:rPr>
              <a:t>工号</a:t>
            </a:r>
            <a:r>
              <a:rPr lang="zh-CN" altLang="en-US" sz="2200" dirty="0">
                <a:latin typeface="Arial" panose="020B0604020202020204" pitchFamily="34" charset="0"/>
                <a:ea typeface="宋体" panose="02010600030101010101" pitchFamily="2" charset="-122"/>
              </a:rPr>
              <a:t>，姓名，性别，出生日期，工作日期，职称，工资</a:t>
            </a:r>
            <a:endParaRPr lang="zh-CN" altLang="en-US" sz="2200" dirty="0">
              <a:latin typeface="楷体" panose="02010609060101010101" pitchFamily="1" charset="-122"/>
              <a:ea typeface="楷体" panose="02010609060101010101" pitchFamily="1" charset="-122"/>
            </a:endParaRPr>
          </a:p>
        </p:txBody>
      </p:sp>
      <p:grpSp>
        <p:nvGrpSpPr>
          <p:cNvPr id="2" name="组合 1"/>
          <p:cNvGrpSpPr/>
          <p:nvPr/>
        </p:nvGrpSpPr>
        <p:grpSpPr>
          <a:xfrm>
            <a:off x="1144270" y="3875405"/>
            <a:ext cx="6854190" cy="2162810"/>
            <a:chOff x="1802" y="6103"/>
            <a:chExt cx="10794" cy="3406"/>
          </a:xfrm>
        </p:grpSpPr>
        <p:grpSp>
          <p:nvGrpSpPr>
            <p:cNvPr id="50182" name="组合 23"/>
            <p:cNvGrpSpPr/>
            <p:nvPr/>
          </p:nvGrpSpPr>
          <p:grpSpPr>
            <a:xfrm>
              <a:off x="1802" y="6103"/>
              <a:ext cx="10795" cy="1919"/>
              <a:chOff x="0" y="0"/>
              <a:chExt cx="6855374" cy="1219201"/>
            </a:xfrm>
          </p:grpSpPr>
          <p:grpSp>
            <p:nvGrpSpPr>
              <p:cNvPr id="50183" name="组合 28"/>
              <p:cNvGrpSpPr/>
              <p:nvPr/>
            </p:nvGrpSpPr>
            <p:grpSpPr>
              <a:xfrm>
                <a:off x="0" y="0"/>
                <a:ext cx="5062860" cy="1219201"/>
                <a:chOff x="0" y="0"/>
                <a:chExt cx="5062860" cy="1219201"/>
              </a:xfrm>
            </p:grpSpPr>
            <p:sp>
              <p:nvSpPr>
                <p:cNvPr id="50184" name="Rectangle 12"/>
                <p:cNvSpPr/>
                <p:nvPr/>
              </p:nvSpPr>
              <p:spPr>
                <a:xfrm>
                  <a:off x="2140200" y="798287"/>
                  <a:ext cx="1079345" cy="42091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职工</a:t>
                  </a:r>
                  <a:endParaRPr lang="zh-CN" altLang="en-US" dirty="0">
                    <a:solidFill>
                      <a:srgbClr val="000000"/>
                    </a:solidFill>
                    <a:latin typeface="宋体" panose="02010600030101010101" pitchFamily="2" charset="-122"/>
                    <a:ea typeface="宋体" panose="02010600030101010101" pitchFamily="2" charset="-122"/>
                  </a:endParaRPr>
                </a:p>
              </p:txBody>
            </p:sp>
            <p:sp>
              <p:nvSpPr>
                <p:cNvPr id="50185" name="Oval 15"/>
                <p:cNvSpPr/>
                <p:nvPr/>
              </p:nvSpPr>
              <p:spPr>
                <a:xfrm>
                  <a:off x="0" y="29029"/>
                  <a:ext cx="73760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0186" name="Oval 15"/>
                <p:cNvSpPr/>
                <p:nvPr/>
              </p:nvSpPr>
              <p:spPr>
                <a:xfrm>
                  <a:off x="928912" y="0"/>
                  <a:ext cx="7376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87" name="Oval 15"/>
                <p:cNvSpPr/>
                <p:nvPr/>
              </p:nvSpPr>
              <p:spPr>
                <a:xfrm>
                  <a:off x="3998684" y="36288"/>
                  <a:ext cx="106417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88" name="Line 18"/>
                <p:cNvSpPr/>
                <p:nvPr/>
              </p:nvSpPr>
              <p:spPr>
                <a:xfrm>
                  <a:off x="650517" y="377374"/>
                  <a:ext cx="1582057" cy="435428"/>
                </a:xfrm>
                <a:prstGeom prst="line">
                  <a:avLst/>
                </a:prstGeom>
                <a:ln w="25400" cap="flat" cmpd="sng">
                  <a:solidFill>
                    <a:srgbClr val="000000"/>
                  </a:solidFill>
                  <a:prstDash val="solid"/>
                  <a:round/>
                  <a:headEnd type="none" w="med" len="med"/>
                  <a:tailEnd type="none" w="med" len="med"/>
                </a:ln>
              </p:spPr>
            </p:sp>
            <p:sp>
              <p:nvSpPr>
                <p:cNvPr id="50189" name="Line 18"/>
                <p:cNvSpPr/>
                <p:nvPr/>
              </p:nvSpPr>
              <p:spPr>
                <a:xfrm>
                  <a:off x="1419774" y="377374"/>
                  <a:ext cx="914400" cy="420913"/>
                </a:xfrm>
                <a:prstGeom prst="line">
                  <a:avLst/>
                </a:prstGeom>
                <a:ln w="25400" cap="flat" cmpd="sng">
                  <a:solidFill>
                    <a:srgbClr val="000000"/>
                  </a:solidFill>
                  <a:prstDash val="solid"/>
                  <a:round/>
                  <a:headEnd type="none" w="med" len="med"/>
                  <a:tailEnd type="none" w="med" len="med"/>
                </a:ln>
              </p:spPr>
            </p:sp>
            <p:sp>
              <p:nvSpPr>
                <p:cNvPr id="50190" name="Line 18"/>
                <p:cNvSpPr/>
                <p:nvPr/>
              </p:nvSpPr>
              <p:spPr>
                <a:xfrm flipH="1">
                  <a:off x="2755088" y="420915"/>
                  <a:ext cx="406399" cy="362859"/>
                </a:xfrm>
                <a:prstGeom prst="line">
                  <a:avLst/>
                </a:prstGeom>
                <a:ln w="25400" cap="flat" cmpd="sng">
                  <a:solidFill>
                    <a:srgbClr val="000000"/>
                  </a:solidFill>
                  <a:prstDash val="solid"/>
                  <a:round/>
                  <a:headEnd type="none" w="med" len="med"/>
                  <a:tailEnd type="none" w="med" len="med"/>
                </a:ln>
              </p:spPr>
            </p:sp>
          </p:grpSp>
          <p:sp>
            <p:nvSpPr>
              <p:cNvPr id="50191" name="Oval 15"/>
              <p:cNvSpPr/>
              <p:nvPr/>
            </p:nvSpPr>
            <p:spPr>
              <a:xfrm>
                <a:off x="1807027" y="21772"/>
                <a:ext cx="7376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92" name="Oval 15"/>
              <p:cNvSpPr/>
              <p:nvPr/>
            </p:nvSpPr>
            <p:spPr>
              <a:xfrm>
                <a:off x="2757713" y="14515"/>
                <a:ext cx="1056919"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出生日期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93" name="Oval 15"/>
              <p:cNvSpPr/>
              <p:nvPr/>
            </p:nvSpPr>
            <p:spPr>
              <a:xfrm>
                <a:off x="5225140" y="72572"/>
                <a:ext cx="7376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职称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94" name="Oval 15"/>
              <p:cNvSpPr/>
              <p:nvPr/>
            </p:nvSpPr>
            <p:spPr>
              <a:xfrm>
                <a:off x="6117769" y="79829"/>
                <a:ext cx="7376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工资</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95" name="Line 18"/>
              <p:cNvSpPr/>
              <p:nvPr/>
            </p:nvSpPr>
            <p:spPr>
              <a:xfrm>
                <a:off x="2261602" y="420916"/>
                <a:ext cx="275771" cy="362858"/>
              </a:xfrm>
              <a:prstGeom prst="line">
                <a:avLst/>
              </a:prstGeom>
              <a:ln w="25400" cap="flat" cmpd="sng">
                <a:solidFill>
                  <a:srgbClr val="000000"/>
                </a:solidFill>
                <a:prstDash val="solid"/>
                <a:round/>
                <a:headEnd type="none" w="med" len="med"/>
                <a:tailEnd type="none" w="med" len="med"/>
              </a:ln>
            </p:spPr>
          </p:sp>
          <p:sp>
            <p:nvSpPr>
              <p:cNvPr id="50196" name="Line 18"/>
              <p:cNvSpPr/>
              <p:nvPr/>
            </p:nvSpPr>
            <p:spPr>
              <a:xfrm flipH="1">
                <a:off x="2856688" y="341086"/>
                <a:ext cx="1182913" cy="471716"/>
              </a:xfrm>
              <a:prstGeom prst="line">
                <a:avLst/>
              </a:prstGeom>
              <a:ln w="25400" cap="flat" cmpd="sng">
                <a:solidFill>
                  <a:srgbClr val="000000"/>
                </a:solidFill>
                <a:prstDash val="solid"/>
                <a:round/>
                <a:headEnd type="none" w="med" len="med"/>
                <a:tailEnd type="none" w="med" len="med"/>
              </a:ln>
            </p:spPr>
          </p:sp>
          <p:sp>
            <p:nvSpPr>
              <p:cNvPr id="50197" name="Line 18"/>
              <p:cNvSpPr/>
              <p:nvPr/>
            </p:nvSpPr>
            <p:spPr>
              <a:xfrm flipH="1">
                <a:off x="3183258" y="435431"/>
                <a:ext cx="2169887" cy="384628"/>
              </a:xfrm>
              <a:prstGeom prst="line">
                <a:avLst/>
              </a:prstGeom>
              <a:ln w="25400" cap="flat" cmpd="sng">
                <a:solidFill>
                  <a:srgbClr val="000000"/>
                </a:solidFill>
                <a:prstDash val="solid"/>
                <a:round/>
                <a:headEnd type="none" w="med" len="med"/>
                <a:tailEnd type="none" w="med" len="med"/>
              </a:ln>
            </p:spPr>
          </p:sp>
          <p:sp>
            <p:nvSpPr>
              <p:cNvPr id="50198" name="Line 18"/>
              <p:cNvSpPr/>
              <p:nvPr/>
            </p:nvSpPr>
            <p:spPr>
              <a:xfrm flipH="1">
                <a:off x="3219543" y="493487"/>
                <a:ext cx="3033488" cy="377371"/>
              </a:xfrm>
              <a:prstGeom prst="line">
                <a:avLst/>
              </a:prstGeom>
              <a:ln w="25400" cap="flat" cmpd="sng">
                <a:solidFill>
                  <a:srgbClr val="000000"/>
                </a:solidFill>
                <a:prstDash val="solid"/>
                <a:round/>
                <a:headEnd type="none" w="med" len="med"/>
                <a:tailEnd type="none" w="med" len="med"/>
              </a:ln>
            </p:spPr>
          </p:sp>
        </p:grpSp>
        <p:sp>
          <p:nvSpPr>
            <p:cNvPr id="50200" name="AutoShape 8"/>
            <p:cNvSpPr/>
            <p:nvPr/>
          </p:nvSpPr>
          <p:spPr>
            <a:xfrm>
              <a:off x="5078" y="8795"/>
              <a:ext cx="2102" cy="71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领导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201" name="Oval 15"/>
            <p:cNvSpPr/>
            <p:nvPr/>
          </p:nvSpPr>
          <p:spPr>
            <a:xfrm>
              <a:off x="7883" y="8801"/>
              <a:ext cx="1688" cy="63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民意测验</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202" name="Line 18"/>
            <p:cNvSpPr/>
            <p:nvPr/>
          </p:nvSpPr>
          <p:spPr>
            <a:xfrm flipV="1">
              <a:off x="7170" y="9083"/>
              <a:ext cx="732" cy="72"/>
            </a:xfrm>
            <a:prstGeom prst="line">
              <a:avLst/>
            </a:prstGeom>
            <a:ln w="25400" cap="flat" cmpd="sng">
              <a:solidFill>
                <a:srgbClr val="000000"/>
              </a:solidFill>
              <a:prstDash val="solid"/>
              <a:round/>
              <a:headEnd type="none" w="med" len="med"/>
              <a:tailEnd type="none" w="med" len="med"/>
            </a:ln>
          </p:spPr>
        </p:sp>
        <p:sp>
          <p:nvSpPr>
            <p:cNvPr id="50203" name="Line 18"/>
            <p:cNvSpPr/>
            <p:nvPr/>
          </p:nvSpPr>
          <p:spPr>
            <a:xfrm>
              <a:off x="5787" y="8023"/>
              <a:ext cx="0" cy="892"/>
            </a:xfrm>
            <a:prstGeom prst="line">
              <a:avLst/>
            </a:prstGeom>
            <a:ln w="25400" cap="flat" cmpd="sng">
              <a:solidFill>
                <a:srgbClr val="000000"/>
              </a:solidFill>
              <a:prstDash val="solid"/>
              <a:round/>
              <a:headEnd type="none" w="med" len="med"/>
              <a:tailEnd type="none" w="med" len="med"/>
            </a:ln>
          </p:spPr>
        </p:sp>
        <p:sp>
          <p:nvSpPr>
            <p:cNvPr id="50204" name="Line 18"/>
            <p:cNvSpPr/>
            <p:nvPr/>
          </p:nvSpPr>
          <p:spPr>
            <a:xfrm>
              <a:off x="6461" y="8034"/>
              <a:ext cx="0" cy="892"/>
            </a:xfrm>
            <a:prstGeom prst="line">
              <a:avLst/>
            </a:prstGeom>
            <a:ln w="25400" cap="flat" cmpd="sng">
              <a:solidFill>
                <a:srgbClr val="000000"/>
              </a:solidFill>
              <a:prstDash val="solid"/>
              <a:round/>
              <a:headEnd type="none" w="med" len="med"/>
              <a:tailEnd type="none" w="med" len="med"/>
            </a:ln>
          </p:spPr>
        </p:sp>
        <p:sp>
          <p:nvSpPr>
            <p:cNvPr id="50206" name="Text Box 50"/>
            <p:cNvSpPr txBox="1"/>
            <p:nvPr/>
          </p:nvSpPr>
          <p:spPr>
            <a:xfrm>
              <a:off x="5211" y="8169"/>
              <a:ext cx="771" cy="705"/>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sp>
          <p:nvSpPr>
            <p:cNvPr id="50207" name="Text Box 50"/>
            <p:cNvSpPr txBox="1"/>
            <p:nvPr/>
          </p:nvSpPr>
          <p:spPr>
            <a:xfrm>
              <a:off x="6479" y="8158"/>
              <a:ext cx="771" cy="800"/>
            </a:xfrm>
            <a:prstGeom prst="rect">
              <a:avLst/>
            </a:prstGeom>
            <a:noFill/>
            <a:ln w="9525">
              <a:noFill/>
            </a:ln>
          </p:spPr>
          <p:txBody>
            <a:bodyPr anchor="t">
              <a:spAutoFit/>
            </a:bodyPr>
            <a:lstStyle/>
            <a:p>
              <a:pPr lvl="0" indent="0">
                <a:spcBef>
                  <a:spcPct val="50000"/>
                </a:spcBef>
                <a:buNone/>
              </a:pPr>
              <a:r>
                <a:rPr lang="de-DE" altLang="en-US" sz="2000" dirty="0">
                  <a:solidFill>
                    <a:srgbClr val="0000CC"/>
                  </a:solidFill>
                  <a:latin typeface="宋体" panose="02010600030101010101" pitchFamily="2" charset="-122"/>
                  <a:ea typeface="宋体" panose="02010600030101010101" pitchFamily="2" charset="-122"/>
                </a:rPr>
                <a:t>n</a:t>
              </a:r>
              <a:endParaRPr lang="de-DE" altLang="en-US" sz="2000" dirty="0">
                <a:solidFill>
                  <a:srgbClr val="0000CC"/>
                </a:solidFill>
                <a:latin typeface="宋体" panose="02010600030101010101" pitchFamily="2" charset="-122"/>
                <a:ea typeface="宋体" panose="02010600030101010101" pitchFamily="2" charset="-122"/>
              </a:endParaRPr>
            </a:p>
          </p:txBody>
        </p:sp>
      </p:grpSp>
      <p:sp>
        <p:nvSpPr>
          <p:cNvPr id="7"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8"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2" name="表格 51201"/>
          <p:cNvGraphicFramePr/>
          <p:nvPr/>
        </p:nvGraphicFramePr>
        <p:xfrm>
          <a:off x="539750" y="1592263"/>
          <a:ext cx="8208963" cy="4262438"/>
        </p:xfrm>
        <a:graphic>
          <a:graphicData uri="http://schemas.openxmlformats.org/drawingml/2006/table">
            <a:tbl>
              <a:tblPr/>
              <a:tblGrid>
                <a:gridCol w="3989388"/>
                <a:gridCol w="4219575"/>
              </a:tblGrid>
              <a:tr h="628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联系型</a:t>
                      </a:r>
                      <a:endParaRPr lang="zh-CN" altLang="en-US" sz="240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联系型约束</a:t>
                      </a:r>
                      <a:endParaRPr lang="zh-CN" altLang="en-US" sz="2400">
                        <a:latin typeface="华文楷体" panose="02010600040101010101" pitchFamily="2" charset="-122"/>
                        <a:ea typeface="华文楷体" panose="02010600040101010101" pitchFamily="2" charset="-122"/>
                      </a:endParaRPr>
                    </a:p>
                  </a:txBody>
                  <a:tcPr marT="45712" marB="4571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699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0000"/>
                        </a:lnSpc>
                        <a:spcBef>
                          <a:spcPct val="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从一个联系连接几个不同的实体的角度。</a:t>
                      </a:r>
                      <a:endParaRPr lang="zh-CN" altLang="en-US" sz="240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0000"/>
                        </a:lnSpc>
                        <a:spcBef>
                          <a:spcPct val="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从该联系联接的实体参与到联系中的实体实例数量的角度。</a:t>
                      </a:r>
                      <a:endParaRPr lang="zh-CN" altLang="en-US" sz="2400">
                        <a:latin typeface="华文楷体" panose="02010600040101010101" pitchFamily="2" charset="-122"/>
                        <a:ea typeface="华文楷体" panose="02010600040101010101" pitchFamily="2" charset="-122"/>
                      </a:endParaRPr>
                    </a:p>
                  </a:txBody>
                  <a:tcPr marT="45712" marB="4571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0731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二元联系</a:t>
                      </a:r>
                      <a:endParaRPr lang="zh-CN" altLang="en-US" sz="2400" dirty="0">
                        <a:latin typeface="华文楷体" panose="02010600040101010101" pitchFamily="2" charset="-122"/>
                        <a:ea typeface="华文楷体" panose="02010600040101010101" pitchFamily="2" charset="-122"/>
                      </a:endParaRPr>
                    </a:p>
                    <a:p>
                      <a:pPr marL="0" lvl="0" indent="0" eaLnBrk="1" hangingPunct="1">
                        <a:lnSpc>
                          <a:spcPct val="100000"/>
                        </a:lnSpc>
                        <a:spcBef>
                          <a:spcPct val="20000"/>
                        </a:spcBef>
                        <a:buClr>
                          <a:srgbClr val="000000"/>
                        </a:buClr>
                        <a:buFont typeface="Arial" panose="020B0604020202020204" pitchFamily="34" charset="0"/>
                        <a:buNone/>
                      </a:pPr>
                      <a:endParaRPr lang="en-US" altLang="x-none" sz="2400" dirty="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marT="45712" marB="4571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906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marT="45712" marB="4571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800100">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二元 </a:t>
                      </a:r>
                      <a:r>
                        <a:rPr lang="en-US" altLang="x-none" sz="2400" dirty="0">
                          <a:latin typeface="华文楷体" panose="02010600040101010101" pitchFamily="2" charset="-122"/>
                          <a:ea typeface="华文楷体" panose="02010600040101010101" pitchFamily="2" charset="-122"/>
                        </a:rPr>
                        <a:t>!= 1:1,                      </a:t>
                      </a:r>
                      <a:r>
                        <a:rPr lang="zh-CN" altLang="en-US" sz="2400" dirty="0">
                          <a:latin typeface="华文楷体" panose="02010600040101010101" pitchFamily="2" charset="-122"/>
                          <a:ea typeface="华文楷体" panose="02010600040101010101" pitchFamily="2" charset="-122"/>
                        </a:rPr>
                        <a:t>多元 ！</a:t>
                      </a:r>
                      <a:r>
                        <a:rPr lang="en-US" altLang="x-none" sz="2400" dirty="0">
                          <a:latin typeface="华文楷体" panose="02010600040101010101" pitchFamily="2" charset="-122"/>
                          <a:ea typeface="华文楷体" panose="02010600040101010101" pitchFamily="2" charset="-122"/>
                        </a:rPr>
                        <a:t>= M: N</a:t>
                      </a:r>
                      <a:endParaRPr lang="en-US" altLang="x-none" sz="2400" dirty="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tcPr>
                </a:tc>
              </a:tr>
            </a:tbl>
          </a:graphicData>
        </a:graphic>
      </p:graphicFrame>
      <p:sp>
        <p:nvSpPr>
          <p:cNvPr id="53268" name="Text Box 23"/>
          <p:cNvSpPr txBox="1"/>
          <p:nvPr/>
        </p:nvSpPr>
        <p:spPr>
          <a:xfrm>
            <a:off x="7235825" y="3322638"/>
            <a:ext cx="336550" cy="517525"/>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nvGrpSpPr>
          <p:cNvPr id="53269" name="Group 24"/>
          <p:cNvGrpSpPr/>
          <p:nvPr/>
        </p:nvGrpSpPr>
        <p:grpSpPr>
          <a:xfrm>
            <a:off x="696913" y="3381375"/>
            <a:ext cx="3716337" cy="523875"/>
            <a:chOff x="0" y="0"/>
            <a:chExt cx="2345" cy="454"/>
          </a:xfrm>
        </p:grpSpPr>
        <p:sp>
          <p:nvSpPr>
            <p:cNvPr id="53270" name="Rectangle 25"/>
            <p:cNvSpPr/>
            <p:nvPr/>
          </p:nvSpPr>
          <p:spPr>
            <a:xfrm>
              <a:off x="0" y="90"/>
              <a:ext cx="576" cy="36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71" name="AutoShape 26"/>
            <p:cNvSpPr/>
            <p:nvPr/>
          </p:nvSpPr>
          <p:spPr>
            <a:xfrm>
              <a:off x="725" y="0"/>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3272" name="Line 27"/>
            <p:cNvSpPr/>
            <p:nvPr/>
          </p:nvSpPr>
          <p:spPr>
            <a:xfrm>
              <a:off x="1451" y="181"/>
              <a:ext cx="318" cy="0"/>
            </a:xfrm>
            <a:prstGeom prst="line">
              <a:avLst/>
            </a:prstGeom>
            <a:ln w="25400" cap="flat" cmpd="sng">
              <a:solidFill>
                <a:schemeClr val="tx1"/>
              </a:solidFill>
              <a:prstDash val="solid"/>
              <a:round/>
              <a:headEnd type="none" w="med" len="med"/>
              <a:tailEnd type="none" w="med" len="med"/>
            </a:ln>
          </p:spPr>
        </p:sp>
        <p:sp>
          <p:nvSpPr>
            <p:cNvPr id="53273" name="Rectangle 28"/>
            <p:cNvSpPr/>
            <p:nvPr/>
          </p:nvSpPr>
          <p:spPr>
            <a:xfrm>
              <a:off x="1769" y="45"/>
              <a:ext cx="576" cy="35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74" name="Line 29"/>
            <p:cNvSpPr/>
            <p:nvPr/>
          </p:nvSpPr>
          <p:spPr>
            <a:xfrm>
              <a:off x="589" y="181"/>
              <a:ext cx="181" cy="0"/>
            </a:xfrm>
            <a:prstGeom prst="line">
              <a:avLst/>
            </a:prstGeom>
            <a:ln w="25400" cap="flat" cmpd="sng">
              <a:solidFill>
                <a:schemeClr val="tx1"/>
              </a:solidFill>
              <a:prstDash val="solid"/>
              <a:round/>
              <a:headEnd type="none" w="med" len="med"/>
              <a:tailEnd type="none" w="med" len="med"/>
            </a:ln>
          </p:spPr>
        </p:sp>
      </p:grpSp>
      <p:sp>
        <p:nvSpPr>
          <p:cNvPr id="53275" name="Text Box 30"/>
          <p:cNvSpPr txBox="1"/>
          <p:nvPr/>
        </p:nvSpPr>
        <p:spPr>
          <a:xfrm>
            <a:off x="5724525" y="3322638"/>
            <a:ext cx="457200" cy="517525"/>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nvGrpSpPr>
          <p:cNvPr id="53276" name="Group 31"/>
          <p:cNvGrpSpPr/>
          <p:nvPr/>
        </p:nvGrpSpPr>
        <p:grpSpPr>
          <a:xfrm>
            <a:off x="4845050" y="3265488"/>
            <a:ext cx="3716338" cy="471487"/>
            <a:chOff x="0" y="0"/>
            <a:chExt cx="2345" cy="408"/>
          </a:xfrm>
        </p:grpSpPr>
        <p:sp>
          <p:nvSpPr>
            <p:cNvPr id="53277" name="Rectangle 32"/>
            <p:cNvSpPr/>
            <p:nvPr/>
          </p:nvSpPr>
          <p:spPr>
            <a:xfrm>
              <a:off x="0" y="12"/>
              <a:ext cx="576" cy="34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78" name="AutoShape 33"/>
            <p:cNvSpPr/>
            <p:nvPr/>
          </p:nvSpPr>
          <p:spPr>
            <a:xfrm>
              <a:off x="725" y="24"/>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3279" name="Line 34"/>
            <p:cNvSpPr/>
            <p:nvPr/>
          </p:nvSpPr>
          <p:spPr>
            <a:xfrm>
              <a:off x="1451" y="205"/>
              <a:ext cx="318" cy="0"/>
            </a:xfrm>
            <a:prstGeom prst="line">
              <a:avLst/>
            </a:prstGeom>
            <a:ln w="25400" cap="flat" cmpd="sng">
              <a:solidFill>
                <a:schemeClr val="tx1"/>
              </a:solidFill>
              <a:prstDash val="solid"/>
              <a:round/>
              <a:headEnd type="none" w="med" len="med"/>
              <a:tailEnd type="none" w="med" len="med"/>
            </a:ln>
          </p:spPr>
        </p:sp>
        <p:sp>
          <p:nvSpPr>
            <p:cNvPr id="53280" name="Rectangle 35"/>
            <p:cNvSpPr/>
            <p:nvPr/>
          </p:nvSpPr>
          <p:spPr>
            <a:xfrm>
              <a:off x="1769" y="0"/>
              <a:ext cx="576" cy="357"/>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81" name="Line 36"/>
            <p:cNvSpPr/>
            <p:nvPr/>
          </p:nvSpPr>
          <p:spPr>
            <a:xfrm>
              <a:off x="589" y="205"/>
              <a:ext cx="181" cy="0"/>
            </a:xfrm>
            <a:prstGeom prst="line">
              <a:avLst/>
            </a:prstGeom>
            <a:ln w="25400" cap="flat" cmpd="sng">
              <a:solidFill>
                <a:schemeClr val="tx1"/>
              </a:solidFill>
              <a:prstDash val="solid"/>
              <a:round/>
              <a:headEnd type="none" w="med" len="med"/>
              <a:tailEnd type="none" w="med" len="med"/>
            </a:ln>
          </p:spPr>
        </p:sp>
      </p:grpSp>
      <p:grpSp>
        <p:nvGrpSpPr>
          <p:cNvPr id="53282" name="Group 37"/>
          <p:cNvGrpSpPr/>
          <p:nvPr/>
        </p:nvGrpSpPr>
        <p:grpSpPr>
          <a:xfrm>
            <a:off x="712788" y="4302125"/>
            <a:ext cx="3716337" cy="546100"/>
            <a:chOff x="0" y="0"/>
            <a:chExt cx="2345" cy="473"/>
          </a:xfrm>
        </p:grpSpPr>
        <p:sp>
          <p:nvSpPr>
            <p:cNvPr id="53283" name="Rectangle 38"/>
            <p:cNvSpPr/>
            <p:nvPr/>
          </p:nvSpPr>
          <p:spPr>
            <a:xfrm>
              <a:off x="0" y="90"/>
              <a:ext cx="576" cy="38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84" name="AutoShape 39"/>
            <p:cNvSpPr/>
            <p:nvPr/>
          </p:nvSpPr>
          <p:spPr>
            <a:xfrm>
              <a:off x="725" y="0"/>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3285" name="Line 40"/>
            <p:cNvSpPr/>
            <p:nvPr/>
          </p:nvSpPr>
          <p:spPr>
            <a:xfrm>
              <a:off x="1451" y="181"/>
              <a:ext cx="318" cy="0"/>
            </a:xfrm>
            <a:prstGeom prst="line">
              <a:avLst/>
            </a:prstGeom>
            <a:ln w="25400" cap="flat" cmpd="sng">
              <a:solidFill>
                <a:schemeClr val="tx1"/>
              </a:solidFill>
              <a:prstDash val="solid"/>
              <a:round/>
              <a:headEnd type="none" w="med" len="med"/>
              <a:tailEnd type="none" w="med" len="med"/>
            </a:ln>
          </p:spPr>
        </p:sp>
        <p:sp>
          <p:nvSpPr>
            <p:cNvPr id="53286" name="Rectangle 41"/>
            <p:cNvSpPr/>
            <p:nvPr/>
          </p:nvSpPr>
          <p:spPr>
            <a:xfrm>
              <a:off x="1769" y="45"/>
              <a:ext cx="576" cy="36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87" name="Line 42"/>
            <p:cNvSpPr/>
            <p:nvPr/>
          </p:nvSpPr>
          <p:spPr>
            <a:xfrm>
              <a:off x="589" y="181"/>
              <a:ext cx="181" cy="0"/>
            </a:xfrm>
            <a:prstGeom prst="line">
              <a:avLst/>
            </a:prstGeom>
            <a:ln w="25400" cap="flat" cmpd="sng">
              <a:solidFill>
                <a:schemeClr val="tx1"/>
              </a:solidFill>
              <a:prstDash val="solid"/>
              <a:round/>
              <a:headEnd type="none" w="med" len="med"/>
              <a:tailEnd type="none" w="med" len="med"/>
            </a:ln>
          </p:spPr>
        </p:sp>
      </p:grpSp>
      <p:grpSp>
        <p:nvGrpSpPr>
          <p:cNvPr id="53288" name="Group 43"/>
          <p:cNvGrpSpPr/>
          <p:nvPr/>
        </p:nvGrpSpPr>
        <p:grpSpPr>
          <a:xfrm>
            <a:off x="4873625" y="4340225"/>
            <a:ext cx="3716338" cy="520700"/>
            <a:chOff x="0" y="0"/>
            <a:chExt cx="2345" cy="453"/>
          </a:xfrm>
        </p:grpSpPr>
        <p:sp>
          <p:nvSpPr>
            <p:cNvPr id="53289" name="Rectangle 44"/>
            <p:cNvSpPr/>
            <p:nvPr/>
          </p:nvSpPr>
          <p:spPr>
            <a:xfrm>
              <a:off x="0" y="0"/>
              <a:ext cx="576" cy="399"/>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90" name="AutoShape 45"/>
            <p:cNvSpPr/>
            <p:nvPr/>
          </p:nvSpPr>
          <p:spPr>
            <a:xfrm>
              <a:off x="725" y="69"/>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3291" name="Line 46"/>
            <p:cNvSpPr/>
            <p:nvPr/>
          </p:nvSpPr>
          <p:spPr>
            <a:xfrm>
              <a:off x="1451" y="250"/>
              <a:ext cx="318" cy="0"/>
            </a:xfrm>
            <a:prstGeom prst="line">
              <a:avLst/>
            </a:prstGeom>
            <a:ln w="25400" cap="flat" cmpd="sng">
              <a:solidFill>
                <a:schemeClr val="tx1"/>
              </a:solidFill>
              <a:prstDash val="solid"/>
              <a:round/>
              <a:headEnd type="none" w="med" len="med"/>
              <a:tailEnd type="none" w="med" len="med"/>
            </a:ln>
          </p:spPr>
        </p:sp>
        <p:sp>
          <p:nvSpPr>
            <p:cNvPr id="53292" name="Rectangle 47"/>
            <p:cNvSpPr/>
            <p:nvPr/>
          </p:nvSpPr>
          <p:spPr>
            <a:xfrm>
              <a:off x="1769" y="0"/>
              <a:ext cx="576" cy="40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93" name="Line 48"/>
            <p:cNvSpPr/>
            <p:nvPr/>
          </p:nvSpPr>
          <p:spPr>
            <a:xfrm>
              <a:off x="589" y="250"/>
              <a:ext cx="181" cy="0"/>
            </a:xfrm>
            <a:prstGeom prst="line">
              <a:avLst/>
            </a:prstGeom>
            <a:ln w="25400" cap="flat" cmpd="sng">
              <a:solidFill>
                <a:schemeClr val="tx1"/>
              </a:solidFill>
              <a:prstDash val="solid"/>
              <a:round/>
              <a:headEnd type="none" w="med" len="med"/>
              <a:tailEnd type="none" w="med" len="med"/>
            </a:ln>
          </p:spPr>
        </p:sp>
      </p:grpSp>
      <p:sp>
        <p:nvSpPr>
          <p:cNvPr id="53294" name="Text Box 49"/>
          <p:cNvSpPr txBox="1"/>
          <p:nvPr/>
        </p:nvSpPr>
        <p:spPr>
          <a:xfrm>
            <a:off x="5753100" y="4389438"/>
            <a:ext cx="457200" cy="5191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53295" name="Text Box 50"/>
          <p:cNvSpPr txBox="1"/>
          <p:nvPr/>
        </p:nvSpPr>
        <p:spPr>
          <a:xfrm>
            <a:off x="7250113" y="4375150"/>
            <a:ext cx="336550" cy="51752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txBox="1"/>
          <p:nvPr/>
        </p:nvSpPr>
        <p:spPr>
          <a:xfrm>
            <a:off x="635000" y="1471613"/>
            <a:ext cx="8204200" cy="938212"/>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联系集中，联系都是同一类型（</a:t>
            </a:r>
            <a:r>
              <a:rPr lang="zh-CN" altLang="en-US" sz="2200" dirty="0">
                <a:solidFill>
                  <a:srgbClr val="CC0000"/>
                </a:solidFill>
                <a:latin typeface="华文楷体" panose="02010600040101010101" pitchFamily="2" charset="-122"/>
                <a:ea typeface="宋体" panose="02010600030101010101" pitchFamily="2" charset="-122"/>
              </a:rPr>
              <a:t>共性</a:t>
            </a:r>
            <a:r>
              <a:rPr lang="zh-CN" altLang="en-US" sz="2200" dirty="0">
                <a:latin typeface="华文楷体" panose="02010600040101010101" pitchFamily="2" charset="-122"/>
                <a:ea typeface="宋体" panose="02010600030101010101" pitchFamily="2" charset="-122"/>
              </a:rPr>
              <a:t>），如何区别每一个具体的联系呢？</a:t>
            </a:r>
            <a:endParaRPr lang="zh-CN" altLang="en-US" sz="2200" dirty="0">
              <a:latin typeface="华文楷体" panose="02010600040101010101" pitchFamily="2" charset="-122"/>
              <a:ea typeface="宋体" panose="02010600030101010101" pitchFamily="2" charset="-122"/>
            </a:endParaRPr>
          </a:p>
        </p:txBody>
      </p:sp>
      <p:sp>
        <p:nvSpPr>
          <p:cNvPr id="52229" name="Rectangle 4"/>
          <p:cNvSpPr txBox="1"/>
          <p:nvPr/>
        </p:nvSpPr>
        <p:spPr>
          <a:xfrm>
            <a:off x="635000" y="2262188"/>
            <a:ext cx="8204200" cy="2033587"/>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键约束（</a:t>
            </a:r>
            <a:r>
              <a:rPr lang="en-US" altLang="x-none" sz="2400" u="sng" dirty="0">
                <a:solidFill>
                  <a:srgbClr val="FF0000"/>
                </a:solidFill>
                <a:latin typeface="华文楷体" panose="02010600040101010101" pitchFamily="2" charset="-122"/>
                <a:ea typeface="宋体" panose="02010600030101010101" pitchFamily="2" charset="-122"/>
              </a:rPr>
              <a:t>Key Constraints</a:t>
            </a:r>
            <a:r>
              <a:rPr lang="zh-CN" altLang="en-US" sz="2400" u="sng" dirty="0">
                <a:solidFill>
                  <a:srgbClr val="FF0000"/>
                </a:solidFill>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如果在一个联系</a:t>
            </a:r>
            <a:r>
              <a:rPr lang="en-US" altLang="x-none" sz="2000" dirty="0">
                <a:latin typeface="华文楷体" panose="02010600040101010101" pitchFamily="2" charset="-122"/>
                <a:ea typeface="宋体" panose="02010600030101010101" pitchFamily="2" charset="-122"/>
              </a:rPr>
              <a:t>R</a:t>
            </a:r>
            <a:r>
              <a:rPr lang="zh-CN" altLang="en-US" sz="2000" dirty="0">
                <a:latin typeface="华文楷体" panose="02010600040101010101" pitchFamily="2" charset="-122"/>
                <a:ea typeface="宋体" panose="02010600030101010101" pitchFamily="2" charset="-122"/>
              </a:rPr>
              <a:t>的实例中，它所关联的实体</a:t>
            </a:r>
            <a:r>
              <a:rPr lang="en-US" altLang="x-none" sz="2000" dirty="0">
                <a:latin typeface="华文楷体" panose="02010600040101010101" pitchFamily="2" charset="-122"/>
                <a:ea typeface="宋体" panose="02010600030101010101" pitchFamily="2" charset="-122"/>
              </a:rPr>
              <a:t>A</a:t>
            </a:r>
            <a:r>
              <a:rPr lang="zh-CN" altLang="en-US" sz="2000" dirty="0">
                <a:latin typeface="华文楷体" panose="02010600040101010101" pitchFamily="2" charset="-122"/>
                <a:ea typeface="宋体" panose="02010600030101010101" pitchFamily="2" charset="-122"/>
              </a:rPr>
              <a:t>最多只能出现在一个联系实例中，它就可以唯一确定该联系。有些教材中也称为</a:t>
            </a:r>
            <a:r>
              <a:rPr lang="zh-CN" altLang="en-US" sz="2000" u="sng" dirty="0">
                <a:solidFill>
                  <a:srgbClr val="FF0000"/>
                </a:solidFill>
                <a:latin typeface="华文楷体" panose="02010600040101010101" pitchFamily="2" charset="-122"/>
                <a:ea typeface="宋体" panose="02010600030101010101" pitchFamily="2" charset="-122"/>
              </a:rPr>
              <a:t>“实体对应约束”</a:t>
            </a:r>
            <a:r>
              <a:rPr lang="zh-CN" altLang="en-US" sz="2000" dirty="0">
                <a:latin typeface="华文楷体" panose="02010600040101010101" pitchFamily="2" charset="-122"/>
                <a:ea typeface="宋体" panose="02010600030101010101" pitchFamily="2" charset="-122"/>
              </a:rPr>
              <a:t> 。</a:t>
            </a:r>
            <a:endParaRPr lang="zh-CN" altLang="en-US" sz="2000" dirty="0">
              <a:latin typeface="华文楷体" panose="02010600040101010101" pitchFamily="2" charset="-122"/>
              <a:ea typeface="宋体" panose="02010600030101010101" pitchFamily="2" charset="-122"/>
            </a:endParaRPr>
          </a:p>
          <a:p>
            <a:pPr marL="342900" lvl="0" indent="-342900">
              <a:lnSpc>
                <a:spcPct val="110000"/>
              </a:lnSpc>
              <a:spcBef>
                <a:spcPts val="200"/>
              </a:spcBef>
              <a:buClr>
                <a:srgbClr val="0033CC"/>
              </a:buClr>
              <a:buSzPct val="80000"/>
              <a:buNone/>
            </a:pPr>
            <a:r>
              <a:rPr lang="zh-CN" altLang="en-US" sz="2200" dirty="0">
                <a:latin typeface="华文楷体" panose="02010600040101010101" pitchFamily="2" charset="-122"/>
                <a:ea typeface="宋体" panose="02010600030101010101" pitchFamily="2"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仅用实体</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的主键可以唯一标识联系</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p:txBody>
      </p:sp>
      <p:grpSp>
        <p:nvGrpSpPr>
          <p:cNvPr id="52230" name="组合 8"/>
          <p:cNvGrpSpPr/>
          <p:nvPr/>
        </p:nvGrpSpPr>
        <p:grpSpPr>
          <a:xfrm>
            <a:off x="714375" y="4162425"/>
            <a:ext cx="8204200" cy="2117725"/>
            <a:chOff x="0" y="0"/>
            <a:chExt cx="8204200" cy="2117159"/>
          </a:xfrm>
        </p:grpSpPr>
        <p:pic>
          <p:nvPicPr>
            <p:cNvPr id="54278" name="Picture 3"/>
            <p:cNvPicPr>
              <a:picLocks noChangeAspect="1"/>
            </p:cNvPicPr>
            <p:nvPr/>
          </p:nvPicPr>
          <p:blipFill>
            <a:blip r:embed="rId1"/>
            <a:stretch>
              <a:fillRect/>
            </a:stretch>
          </p:blipFill>
          <p:spPr>
            <a:xfrm>
              <a:off x="182563" y="815757"/>
              <a:ext cx="7446962" cy="1301402"/>
            </a:xfrm>
            <a:prstGeom prst="rect">
              <a:avLst/>
            </a:prstGeom>
            <a:noFill/>
            <a:ln w="9525">
              <a:noFill/>
            </a:ln>
            <a:effectLst>
              <a:prstShdw prst="shdw17" dist="17961" dir="2699999">
                <a:srgbClr val="708688"/>
              </a:prstShdw>
            </a:effectLst>
          </p:spPr>
        </p:pic>
        <p:sp>
          <p:nvSpPr>
            <p:cNvPr id="54279" name="Rectangle 4"/>
            <p:cNvSpPr txBox="1"/>
            <p:nvPr/>
          </p:nvSpPr>
          <p:spPr>
            <a:xfrm>
              <a:off x="0" y="0"/>
              <a:ext cx="8204200" cy="728468"/>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u"/>
              </a:pPr>
              <a:r>
                <a:rPr lang="en-US" altLang="x-none" sz="2200" u="sng" dirty="0">
                  <a:solidFill>
                    <a:srgbClr val="FF0000"/>
                  </a:solidFill>
                  <a:latin typeface="楷体" panose="02010609060101010101" pitchFamily="1" charset="-122"/>
                  <a:ea typeface="楷体" panose="02010609060101010101" pitchFamily="1" charset="-122"/>
                </a:rPr>
                <a:t>--</a:t>
              </a:r>
              <a:r>
                <a:rPr lang="zh-CN" altLang="en-US" sz="2200" u="sng" dirty="0">
                  <a:solidFill>
                    <a:srgbClr val="FF0000"/>
                  </a:solidFill>
                  <a:latin typeface="楷体" panose="02010609060101010101" pitchFamily="1" charset="-122"/>
                  <a:ea typeface="楷体" panose="02010609060101010101" pitchFamily="1" charset="-122"/>
                </a:rPr>
                <a:t>键约束在</a:t>
              </a:r>
              <a:r>
                <a:rPr lang="en-US" altLang="x-none" sz="2200" u="sng" dirty="0">
                  <a:solidFill>
                    <a:srgbClr val="FF0000"/>
                  </a:solidFill>
                  <a:latin typeface="楷体" panose="02010609060101010101" pitchFamily="1" charset="-122"/>
                  <a:ea typeface="楷体" panose="02010609060101010101" pitchFamily="1" charset="-122"/>
                </a:rPr>
                <a:t>ER</a:t>
              </a:r>
              <a:r>
                <a:rPr lang="zh-CN" altLang="en-US" sz="2200" u="sng" dirty="0">
                  <a:solidFill>
                    <a:srgbClr val="FF0000"/>
                  </a:solidFill>
                  <a:latin typeface="楷体" panose="02010609060101010101" pitchFamily="1" charset="-122"/>
                  <a:ea typeface="楷体" panose="02010609060101010101" pitchFamily="1" charset="-122"/>
                </a:rPr>
                <a:t>图上用箭头表示</a:t>
              </a:r>
              <a:r>
                <a:rPr lang="zh-CN" altLang="en-US" sz="2200" dirty="0">
                  <a:latin typeface="楷体" panose="02010609060101010101" pitchFamily="1" charset="-122"/>
                  <a:ea typeface="楷体" panose="02010609060101010101" pitchFamily="1" charset="-122"/>
                </a:rPr>
                <a:t>。对于</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约束，箭头应标在</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的</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方，</a:t>
              </a:r>
              <a:r>
                <a:rPr lang="zh-CN" altLang="en-US" sz="2200" u="sng" dirty="0">
                  <a:solidFill>
                    <a:srgbClr val="0033CC"/>
                  </a:solidFill>
                  <a:latin typeface="楷体" panose="02010609060101010101" pitchFamily="1" charset="-122"/>
                  <a:ea typeface="楷体" panose="02010609060101010101" pitchFamily="1" charset="-122"/>
                </a:rPr>
                <a:t>表明给定一个该实体，即可唯一确定其间的联系。</a:t>
              </a:r>
              <a:endParaRPr lang="zh-CN" altLang="en-US" sz="2200" u="sng" dirty="0">
                <a:solidFill>
                  <a:srgbClr val="0033CC"/>
                </a:solidFill>
                <a:latin typeface="楷体" panose="02010609060101010101" pitchFamily="1" charset="-122"/>
                <a:ea typeface="楷体" panose="02010609060101010101" pitchFamily="1" charset="-122"/>
              </a:endParaRPr>
            </a:p>
          </p:txBody>
        </p:sp>
      </p:grpSp>
      <p:sp>
        <p:nvSpPr>
          <p:cNvPr id="52233" name="Rectangle 4"/>
          <p:cNvSpPr txBox="1"/>
          <p:nvPr/>
        </p:nvSpPr>
        <p:spPr>
          <a:xfrm>
            <a:off x="685800" y="3706813"/>
            <a:ext cx="8204200" cy="501650"/>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u"/>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只有</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和</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约束才存在键约束。</a:t>
            </a:r>
            <a:endParaRPr lang="en-US" altLang="x-none" sz="2200" dirty="0">
              <a:latin typeface="楷体" panose="02010609060101010101" pitchFamily="1" charset="-122"/>
              <a:ea typeface="楷体" panose="02010609060101010101" pitchFamily="1" charset="-122"/>
            </a:endParaRPr>
          </a:p>
        </p:txBody>
      </p:sp>
      <p:sp>
        <p:nvSpPr>
          <p:cNvPr id="2" name="矩形 2"/>
          <p:cNvSpPr/>
          <p:nvPr/>
        </p:nvSpPr>
        <p:spPr>
          <a:xfrm>
            <a:off x="557213" y="838518"/>
            <a:ext cx="1614805"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2</a:t>
            </a:r>
            <a:r>
              <a:rPr lang="en-US" sz="2800" dirty="0">
                <a:solidFill>
                  <a:srgbClr val="0033CC"/>
                </a:solidFill>
                <a:latin typeface="黑体" panose="02010609060101010101" pitchFamily="1" charset="-122"/>
                <a:ea typeface="黑体" panose="02010609060101010101" pitchFamily="1" charset="-122"/>
                <a:cs typeface="+mn-ea"/>
              </a:rPr>
              <a:t>.</a:t>
            </a:r>
            <a:r>
              <a:rPr lang="zh-CN" altLang="en-US" sz="2800" dirty="0">
                <a:solidFill>
                  <a:srgbClr val="0033CC"/>
                </a:solidFill>
                <a:latin typeface="黑体" panose="02010609060101010101" pitchFamily="1" charset="-122"/>
                <a:ea typeface="黑体" panose="02010609060101010101" pitchFamily="1" charset="-122"/>
                <a:cs typeface="+mn-ea"/>
              </a:rPr>
              <a:t>键</a:t>
            </a:r>
            <a:r>
              <a:rPr lang="en-US" sz="2800" dirty="0">
                <a:solidFill>
                  <a:srgbClr val="0033CC"/>
                </a:solidFill>
                <a:latin typeface="黑体" panose="02010609060101010101" pitchFamily="1" charset="-122"/>
                <a:ea typeface="黑体" panose="02010609060101010101" pitchFamily="1" charset="-122"/>
                <a:cs typeface="+mn-ea"/>
              </a:rPr>
              <a:t>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229">
                                            <p:txEl>
                                              <p:pRg st="0" end="0"/>
                                            </p:txEl>
                                          </p:spTgt>
                                        </p:tgtEl>
                                        <p:attrNameLst>
                                          <p:attrName>style.visibility</p:attrName>
                                        </p:attrNameLst>
                                      </p:cBhvr>
                                      <p:to>
                                        <p:strVal val="visible"/>
                                      </p:to>
                                    </p:set>
                                    <p:animEffect transition="in" filter="wipe(down)">
                                      <p:cBhvr>
                                        <p:cTn id="7" dur="500"/>
                                        <p:tgtEl>
                                          <p:spTgt spid="52229">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2229">
                                            <p:txEl>
                                              <p:pRg st="1" end="1"/>
                                            </p:txEl>
                                          </p:spTgt>
                                        </p:tgtEl>
                                        <p:attrNameLst>
                                          <p:attrName>style.visibility</p:attrName>
                                        </p:attrNameLst>
                                      </p:cBhvr>
                                      <p:to>
                                        <p:strVal val="visible"/>
                                      </p:to>
                                    </p:set>
                                    <p:animEffect transition="in" filter="wipe(down)">
                                      <p:cBhvr>
                                        <p:cTn id="10" dur="500"/>
                                        <p:tgtEl>
                                          <p:spTgt spid="5222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2233">
                                            <p:txEl>
                                              <p:pRg st="0" end="0"/>
                                            </p:txEl>
                                          </p:spTgt>
                                        </p:tgtEl>
                                        <p:attrNameLst>
                                          <p:attrName>style.visibility</p:attrName>
                                        </p:attrNameLst>
                                      </p:cBhvr>
                                      <p:to>
                                        <p:strVal val="visible"/>
                                      </p:to>
                                    </p:set>
                                    <p:animEffect transition="in" filter="wipe(down)">
                                      <p:cBhvr>
                                        <p:cTn id="15" dur="500"/>
                                        <p:tgtEl>
                                          <p:spTgt spid="5223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2230"/>
                                        </p:tgtEl>
                                        <p:attrNameLst>
                                          <p:attrName>style.visibility</p:attrName>
                                        </p:attrNameLst>
                                      </p:cBhvr>
                                      <p:to>
                                        <p:strVal val="visible"/>
                                      </p:to>
                                    </p:set>
                                    <p:anim calcmode="lin" valueType="num">
                                      <p:cBhvr additive="base">
                                        <p:cTn id="20" dur="500" fill="hold"/>
                                        <p:tgtEl>
                                          <p:spTgt spid="52230"/>
                                        </p:tgtEl>
                                        <p:attrNameLst>
                                          <p:attrName>ppt_x</p:attrName>
                                        </p:attrNameLst>
                                      </p:cBhvr>
                                      <p:tavLst>
                                        <p:tav tm="0">
                                          <p:val>
                                            <p:strVal val="#ppt_x"/>
                                          </p:val>
                                        </p:tav>
                                        <p:tav tm="100000">
                                          <p:val>
                                            <p:strVal val="#ppt_x"/>
                                          </p:val>
                                        </p:tav>
                                      </p:tavLst>
                                    </p:anim>
                                    <p:anim calcmode="lin" valueType="num">
                                      <p:cBhvr additive="base">
                                        <p:cTn id="21" dur="500" fill="hold"/>
                                        <p:tgtEl>
                                          <p:spTgt spid="522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build="allAtOnce"/>
      <p:bldP spid="52233" grpId="0" build="allAtOnce"/>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51"/>
          <p:cNvSpPr/>
          <p:nvPr/>
        </p:nvSpPr>
        <p:spPr>
          <a:xfrm>
            <a:off x="681038" y="1427163"/>
            <a:ext cx="8005762" cy="2292350"/>
          </a:xfrm>
          <a:prstGeom prst="rect">
            <a:avLst/>
          </a:prstGeom>
          <a:noFill/>
          <a:ln w="9525">
            <a:noFill/>
          </a:ln>
        </p:spPr>
        <p:txBody>
          <a:bodyPr anchor="t">
            <a:spAutoFit/>
          </a:bodyPr>
          <a:lstStyle/>
          <a:p>
            <a:pPr lvl="0" indent="0">
              <a:lnSpc>
                <a:spcPct val="105000"/>
              </a:lnSpc>
              <a:spcBef>
                <a:spcPts val="300"/>
              </a:spcBef>
              <a:buFont typeface="Wingdings" panose="05000000000000000000" pitchFamily="2" charset="2"/>
              <a:buChar char="u"/>
            </a:pPr>
            <a:r>
              <a:rPr lang="zh-CN" altLang="en-US" sz="2200" dirty="0">
                <a:latin typeface="华文楷体" panose="02010600040101010101" pitchFamily="2" charset="-122"/>
                <a:ea typeface="华文楷体" panose="02010600040101010101" pitchFamily="2" charset="-122"/>
              </a:rPr>
              <a:t>对于图中的</a:t>
            </a:r>
            <a:r>
              <a:rPr lang="en-US" altLang="x-none" sz="2200" dirty="0">
                <a:latin typeface="华文楷体" panose="02010600040101010101" pitchFamily="2" charset="-122"/>
                <a:ea typeface="华文楷体" panose="02010600040101010101" pitchFamily="2" charset="-122"/>
              </a:rPr>
              <a:t>1:1</a:t>
            </a:r>
            <a:r>
              <a:rPr lang="zh-CN" altLang="en-US" sz="2200" u="sng" dirty="0">
                <a:solidFill>
                  <a:srgbClr val="FF0000"/>
                </a:solidFill>
                <a:latin typeface="华文楷体" panose="02010600040101010101" pitchFamily="2" charset="-122"/>
                <a:ea typeface="华文楷体" panose="02010600040101010101" pitchFamily="2" charset="-122"/>
              </a:rPr>
              <a:t>主持</a:t>
            </a:r>
            <a:r>
              <a:rPr lang="zh-CN" altLang="en-US" sz="2200" dirty="0">
                <a:latin typeface="华文楷体" panose="02010600040101010101" pitchFamily="2" charset="-122"/>
                <a:ea typeface="华文楷体" panose="02010600040101010101" pitchFamily="2" charset="-122"/>
              </a:rPr>
              <a:t>联系，说明：给定一个</a:t>
            </a:r>
            <a:r>
              <a:rPr lang="zh-CN" altLang="en-US" sz="2200" u="sng" dirty="0">
                <a:solidFill>
                  <a:srgbClr val="FF0000"/>
                </a:solidFill>
                <a:latin typeface="华文楷体" panose="02010600040101010101" pitchFamily="2" charset="-122"/>
                <a:ea typeface="华文楷体" panose="02010600040101010101" pitchFamily="2" charset="-122"/>
              </a:rPr>
              <a:t>大学</a:t>
            </a:r>
            <a:r>
              <a:rPr lang="zh-CN" altLang="en-US" sz="2200" dirty="0">
                <a:latin typeface="华文楷体" panose="02010600040101010101" pitchFamily="2" charset="-122"/>
                <a:ea typeface="华文楷体" panose="02010600040101010101" pitchFamily="2" charset="-122"/>
              </a:rPr>
              <a:t>实体或某个</a:t>
            </a:r>
            <a:r>
              <a:rPr lang="zh-CN" altLang="en-US" sz="2200" u="sng" dirty="0">
                <a:solidFill>
                  <a:srgbClr val="FF0000"/>
                </a:solidFill>
                <a:latin typeface="华文楷体" panose="02010600040101010101" pitchFamily="2" charset="-122"/>
                <a:ea typeface="华文楷体" panose="02010600040101010101" pitchFamily="2" charset="-122"/>
              </a:rPr>
              <a:t>特定教师</a:t>
            </a:r>
            <a:r>
              <a:rPr lang="zh-CN" altLang="en-US" sz="2200" dirty="0">
                <a:latin typeface="华文楷体" panose="02010600040101010101" pitchFamily="2" charset="-122"/>
                <a:ea typeface="华文楷体" panose="02010600040101010101" pitchFamily="2" charset="-122"/>
              </a:rPr>
              <a:t>实体，即可唯一地确定这个联系的实例。这时，</a:t>
            </a:r>
            <a:r>
              <a:rPr lang="zh-CN" altLang="en-US" sz="2200" u="sng" dirty="0">
                <a:solidFill>
                  <a:srgbClr val="FF0000"/>
                </a:solidFill>
                <a:latin typeface="华文楷体" panose="02010600040101010101" pitchFamily="2" charset="-122"/>
                <a:ea typeface="华文楷体" panose="02010600040101010101" pitchFamily="2" charset="-122"/>
              </a:rPr>
              <a:t>主持</a:t>
            </a:r>
            <a:r>
              <a:rPr lang="zh-CN" altLang="en-US" sz="2200" dirty="0">
                <a:latin typeface="华文楷体" panose="02010600040101010101" pitchFamily="2" charset="-122"/>
                <a:ea typeface="华文楷体" panose="02010600040101010101" pitchFamily="2" charset="-122"/>
              </a:rPr>
              <a:t>联系可用</a:t>
            </a:r>
            <a:r>
              <a:rPr lang="zh-CN" altLang="en-US" sz="2200" u="sng" dirty="0">
                <a:solidFill>
                  <a:srgbClr val="FF0000"/>
                </a:solidFill>
                <a:latin typeface="华文楷体" panose="02010600040101010101" pitchFamily="2" charset="-122"/>
                <a:ea typeface="华文楷体" panose="02010600040101010101" pitchFamily="2" charset="-122"/>
              </a:rPr>
              <a:t>大学</a:t>
            </a:r>
            <a:r>
              <a:rPr lang="zh-CN" altLang="en-US" sz="2200" dirty="0">
                <a:latin typeface="华文楷体" panose="02010600040101010101" pitchFamily="2" charset="-122"/>
                <a:ea typeface="华文楷体" panose="02010600040101010101" pitchFamily="2" charset="-122"/>
              </a:rPr>
              <a:t>或</a:t>
            </a:r>
            <a:r>
              <a:rPr lang="zh-CN" altLang="en-US" sz="2200" u="sng" dirty="0">
                <a:solidFill>
                  <a:srgbClr val="FF0000"/>
                </a:solidFill>
                <a:latin typeface="华文楷体" panose="02010600040101010101" pitchFamily="2" charset="-122"/>
                <a:ea typeface="华文楷体" panose="02010600040101010101" pitchFamily="2" charset="-122"/>
              </a:rPr>
              <a:t>教师</a:t>
            </a:r>
            <a:r>
              <a:rPr lang="zh-CN" altLang="en-US" sz="2200" dirty="0">
                <a:latin typeface="华文楷体" panose="02010600040101010101" pitchFamily="2" charset="-122"/>
                <a:ea typeface="华文楷体" panose="02010600040101010101" pitchFamily="2" charset="-122"/>
              </a:rPr>
              <a:t>的主键（大学名或教师证号）唯一确定。</a:t>
            </a:r>
            <a:endParaRPr lang="zh-CN" altLang="en-US" sz="2200" dirty="0">
              <a:latin typeface="华文楷体" panose="02010600040101010101" pitchFamily="2" charset="-122"/>
              <a:ea typeface="华文楷体" panose="02010600040101010101" pitchFamily="2" charset="-122"/>
            </a:endParaRPr>
          </a:p>
          <a:p>
            <a:pPr lvl="0" indent="0">
              <a:lnSpc>
                <a:spcPct val="105000"/>
              </a:lnSpc>
              <a:spcBef>
                <a:spcPts val="600"/>
              </a:spcBef>
              <a:buFont typeface="Wingdings" panose="05000000000000000000" pitchFamily="2" charset="2"/>
              <a:buChar char="u"/>
            </a:pPr>
            <a:r>
              <a:rPr lang="zh-CN" altLang="en-US" sz="2200" dirty="0">
                <a:latin typeface="华文楷体" panose="02010600040101010101" pitchFamily="2" charset="-122"/>
                <a:ea typeface="华文楷体" panose="02010600040101010101" pitchFamily="2" charset="-122"/>
              </a:rPr>
              <a:t> 对于图中的</a:t>
            </a:r>
            <a:r>
              <a:rPr lang="en-US" altLang="x-none" sz="2200" dirty="0">
                <a:latin typeface="华文楷体" panose="02010600040101010101" pitchFamily="2" charset="-122"/>
                <a:ea typeface="华文楷体" panose="02010600040101010101" pitchFamily="2" charset="-122"/>
              </a:rPr>
              <a:t>1:N</a:t>
            </a:r>
            <a:r>
              <a:rPr lang="zh-CN" altLang="en-US" sz="2200" dirty="0">
                <a:latin typeface="华文楷体" panose="02010600040101010101" pitchFamily="2" charset="-122"/>
                <a:ea typeface="华文楷体" panose="02010600040101010101" pitchFamily="2" charset="-122"/>
              </a:rPr>
              <a:t>工作联系，说明：给定一个</a:t>
            </a:r>
            <a:r>
              <a:rPr lang="zh-CN" altLang="en-US" sz="2200" u="sng" dirty="0">
                <a:solidFill>
                  <a:srgbClr val="FF0000"/>
                </a:solidFill>
                <a:latin typeface="华文楷体" panose="02010600040101010101" pitchFamily="2" charset="-122"/>
                <a:ea typeface="华文楷体" panose="02010600040101010101" pitchFamily="2" charset="-122"/>
              </a:rPr>
              <a:t>教师</a:t>
            </a:r>
            <a:r>
              <a:rPr lang="zh-CN" altLang="en-US" sz="2200" dirty="0">
                <a:latin typeface="华文楷体" panose="02010600040101010101" pitchFamily="2" charset="-122"/>
                <a:ea typeface="华文楷体" panose="02010600040101010101" pitchFamily="2" charset="-122"/>
              </a:rPr>
              <a:t>实体，即可唯一地确定一个</a:t>
            </a:r>
            <a:r>
              <a:rPr lang="zh-CN" altLang="en-US" sz="2200" u="sng" dirty="0">
                <a:solidFill>
                  <a:srgbClr val="FF0000"/>
                </a:solidFill>
                <a:latin typeface="华文楷体" panose="02010600040101010101" pitchFamily="2" charset="-122"/>
                <a:ea typeface="华文楷体" panose="02010600040101010101" pitchFamily="2" charset="-122"/>
              </a:rPr>
              <a:t>工作</a:t>
            </a:r>
            <a:r>
              <a:rPr lang="zh-CN" altLang="en-US" sz="2200" dirty="0">
                <a:latin typeface="华文楷体" panose="02010600040101010101" pitchFamily="2" charset="-122"/>
                <a:ea typeface="华文楷体" panose="02010600040101010101" pitchFamily="2" charset="-122"/>
              </a:rPr>
              <a:t>联系的实例。这时，工作联系可用教师的键（教师证号）唯一确定。</a:t>
            </a:r>
            <a:endParaRPr lang="zh-CN" altLang="en-US" sz="2200" dirty="0">
              <a:latin typeface="华文楷体" panose="02010600040101010101" pitchFamily="2" charset="-122"/>
              <a:ea typeface="华文楷体" panose="02010600040101010101" pitchFamily="2" charset="-122"/>
            </a:endParaRPr>
          </a:p>
        </p:txBody>
      </p:sp>
      <p:grpSp>
        <p:nvGrpSpPr>
          <p:cNvPr id="56323" name="组合 53"/>
          <p:cNvGrpSpPr/>
          <p:nvPr/>
        </p:nvGrpSpPr>
        <p:grpSpPr>
          <a:xfrm>
            <a:off x="609600" y="3814763"/>
            <a:ext cx="7912100" cy="2370137"/>
            <a:chOff x="0" y="128209"/>
            <a:chExt cx="8178800" cy="2564191"/>
          </a:xfrm>
        </p:grpSpPr>
        <p:grpSp>
          <p:nvGrpSpPr>
            <p:cNvPr id="56324" name="组合 4"/>
            <p:cNvGrpSpPr/>
            <p:nvPr/>
          </p:nvGrpSpPr>
          <p:grpSpPr>
            <a:xfrm>
              <a:off x="0" y="128209"/>
              <a:ext cx="8178800" cy="2564190"/>
              <a:chOff x="0" y="152400"/>
              <a:chExt cx="8839200" cy="3048000"/>
            </a:xfrm>
          </p:grpSpPr>
          <p:sp>
            <p:nvSpPr>
              <p:cNvPr id="56326" name="AutoShape 5"/>
              <p:cNvSpPr/>
              <p:nvPr/>
            </p:nvSpPr>
            <p:spPr>
              <a:xfrm>
                <a:off x="3657600" y="1752600"/>
                <a:ext cx="1219200" cy="5334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主持</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56329" name="Group 8"/>
              <p:cNvGrpSpPr/>
              <p:nvPr/>
            </p:nvGrpSpPr>
            <p:grpSpPr>
              <a:xfrm>
                <a:off x="0" y="304800"/>
                <a:ext cx="2057400" cy="2362200"/>
                <a:chOff x="0" y="0"/>
                <a:chExt cx="1296" cy="1488"/>
              </a:xfrm>
            </p:grpSpPr>
            <p:sp>
              <p:nvSpPr>
                <p:cNvPr id="56330" name="Rectangle 9"/>
                <p:cNvSpPr/>
                <p:nvPr/>
              </p:nvSpPr>
              <p:spPr>
                <a:xfrm>
                  <a:off x="720" y="589"/>
                  <a:ext cx="576" cy="2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6331" name="Oval 10"/>
                <p:cNvSpPr/>
                <p:nvPr/>
              </p:nvSpPr>
              <p:spPr>
                <a:xfrm>
                  <a:off x="672" y="110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6332" name="Line 11"/>
                <p:cNvSpPr/>
                <p:nvPr/>
              </p:nvSpPr>
              <p:spPr>
                <a:xfrm flipH="1">
                  <a:off x="528" y="864"/>
                  <a:ext cx="336" cy="96"/>
                </a:xfrm>
                <a:prstGeom prst="line">
                  <a:avLst/>
                </a:prstGeom>
                <a:ln w="25400" cap="flat" cmpd="sng">
                  <a:solidFill>
                    <a:srgbClr val="000000"/>
                  </a:solidFill>
                  <a:prstDash val="solid"/>
                  <a:round/>
                  <a:headEnd type="none" w="med" len="med"/>
                  <a:tailEnd type="none" w="med" len="med"/>
                </a:ln>
              </p:spPr>
            </p:sp>
            <p:sp>
              <p:nvSpPr>
                <p:cNvPr id="56333" name="Oval 12"/>
                <p:cNvSpPr/>
                <p:nvPr/>
              </p:nvSpPr>
              <p:spPr>
                <a:xfrm>
                  <a:off x="2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6334" name="Oval 13"/>
                <p:cNvSpPr/>
                <p:nvPr/>
              </p:nvSpPr>
              <p:spPr>
                <a:xfrm>
                  <a:off x="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6335" name="Line 14"/>
                <p:cNvSpPr/>
                <p:nvPr/>
              </p:nvSpPr>
              <p:spPr>
                <a:xfrm>
                  <a:off x="960" y="864"/>
                  <a:ext cx="48" cy="240"/>
                </a:xfrm>
                <a:prstGeom prst="line">
                  <a:avLst/>
                </a:prstGeom>
                <a:ln w="25400" cap="flat" cmpd="sng">
                  <a:solidFill>
                    <a:srgbClr val="000000"/>
                  </a:solidFill>
                  <a:prstDash val="solid"/>
                  <a:round/>
                  <a:headEnd type="none" w="med" len="med"/>
                  <a:tailEnd type="none" w="med" len="med"/>
                </a:ln>
              </p:spPr>
            </p:sp>
            <p:sp>
              <p:nvSpPr>
                <p:cNvPr id="56336" name="Line 15"/>
                <p:cNvSpPr/>
                <p:nvPr/>
              </p:nvSpPr>
              <p:spPr>
                <a:xfrm>
                  <a:off x="624" y="432"/>
                  <a:ext cx="288" cy="192"/>
                </a:xfrm>
                <a:prstGeom prst="line">
                  <a:avLst/>
                </a:prstGeom>
                <a:ln w="25400" cap="flat" cmpd="sng">
                  <a:solidFill>
                    <a:srgbClr val="000000"/>
                  </a:solidFill>
                  <a:prstDash val="solid"/>
                  <a:round/>
                  <a:headEnd type="none" w="med" len="med"/>
                  <a:tailEnd type="none" w="med" len="med"/>
                </a:ln>
              </p:spPr>
            </p:sp>
          </p:grpSp>
          <p:sp>
            <p:nvSpPr>
              <p:cNvPr id="56337" name="AutoShape 17"/>
              <p:cNvSpPr/>
              <p:nvPr/>
            </p:nvSpPr>
            <p:spPr>
              <a:xfrm>
                <a:off x="3429000" y="609600"/>
                <a:ext cx="1143000"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56338" name="Group 20"/>
              <p:cNvGrpSpPr/>
              <p:nvPr/>
            </p:nvGrpSpPr>
            <p:grpSpPr>
              <a:xfrm>
                <a:off x="4572000" y="509594"/>
                <a:ext cx="1905000" cy="709613"/>
                <a:chOff x="0" y="0"/>
                <a:chExt cx="1200" cy="447"/>
              </a:xfrm>
            </p:grpSpPr>
            <p:sp>
              <p:nvSpPr>
                <p:cNvPr id="56339" name="Text Box 21"/>
                <p:cNvSpPr txBox="1"/>
                <p:nvPr/>
              </p:nvSpPr>
              <p:spPr>
                <a:xfrm>
                  <a:off x="768" y="0"/>
                  <a:ext cx="232" cy="388"/>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56340" name="Line 22"/>
                <p:cNvSpPr/>
                <p:nvPr/>
              </p:nvSpPr>
              <p:spPr>
                <a:xfrm>
                  <a:off x="0" y="255"/>
                  <a:ext cx="1200" cy="192"/>
                </a:xfrm>
                <a:prstGeom prst="line">
                  <a:avLst/>
                </a:prstGeom>
                <a:ln w="25400" cap="flat" cmpd="sng">
                  <a:solidFill>
                    <a:schemeClr val="tx1"/>
                  </a:solidFill>
                  <a:prstDash val="solid"/>
                  <a:round/>
                  <a:headEnd type="none" w="med" len="med"/>
                  <a:tailEnd type="none" w="med" len="med"/>
                </a:ln>
              </p:spPr>
            </p:sp>
          </p:grpSp>
          <p:grpSp>
            <p:nvGrpSpPr>
              <p:cNvPr id="56341" name="Group 23"/>
              <p:cNvGrpSpPr/>
              <p:nvPr/>
            </p:nvGrpSpPr>
            <p:grpSpPr>
              <a:xfrm>
                <a:off x="1828800" y="1676402"/>
                <a:ext cx="1447800" cy="1201738"/>
                <a:chOff x="0" y="0"/>
                <a:chExt cx="912" cy="757"/>
              </a:xfrm>
            </p:grpSpPr>
            <p:sp>
              <p:nvSpPr>
                <p:cNvPr id="56342" name="Line 24"/>
                <p:cNvSpPr/>
                <p:nvPr/>
              </p:nvSpPr>
              <p:spPr>
                <a:xfrm>
                  <a:off x="0" y="0"/>
                  <a:ext cx="912" cy="672"/>
                </a:xfrm>
                <a:prstGeom prst="line">
                  <a:avLst/>
                </a:prstGeom>
                <a:ln w="25400" cap="flat" cmpd="sng">
                  <a:solidFill>
                    <a:schemeClr val="tx1"/>
                  </a:solidFill>
                  <a:prstDash val="solid"/>
                  <a:round/>
                  <a:headEnd type="none" w="med" len="med"/>
                  <a:tailEnd type="none" w="med" len="med"/>
                </a:ln>
              </p:spPr>
            </p:sp>
            <p:sp>
              <p:nvSpPr>
                <p:cNvPr id="56343" name="Text Box 25"/>
                <p:cNvSpPr txBox="1"/>
                <p:nvPr/>
              </p:nvSpPr>
              <p:spPr>
                <a:xfrm>
                  <a:off x="384" y="369"/>
                  <a:ext cx="232" cy="388"/>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56344" name="Line 27"/>
              <p:cNvSpPr/>
              <p:nvPr/>
            </p:nvSpPr>
            <p:spPr>
              <a:xfrm>
                <a:off x="4412027" y="2748575"/>
                <a:ext cx="838200" cy="0"/>
              </a:xfrm>
              <a:prstGeom prst="line">
                <a:avLst/>
              </a:prstGeom>
              <a:ln w="25400" cap="flat" cmpd="sng">
                <a:solidFill>
                  <a:schemeClr val="tx1"/>
                </a:solidFill>
                <a:prstDash val="solid"/>
                <a:round/>
                <a:headEnd type="none" w="med" len="med"/>
                <a:tailEnd type="none" w="med" len="med"/>
              </a:ln>
            </p:spPr>
          </p:sp>
          <p:grpSp>
            <p:nvGrpSpPr>
              <p:cNvPr id="56345" name="Group 29"/>
              <p:cNvGrpSpPr/>
              <p:nvPr/>
            </p:nvGrpSpPr>
            <p:grpSpPr>
              <a:xfrm>
                <a:off x="6324600" y="152400"/>
                <a:ext cx="2514600" cy="1447800"/>
                <a:chOff x="0" y="0"/>
                <a:chExt cx="1584" cy="912"/>
              </a:xfrm>
            </p:grpSpPr>
            <p:sp>
              <p:nvSpPr>
                <p:cNvPr id="56346" name="Rectangle 30"/>
                <p:cNvSpPr/>
                <p:nvPr/>
              </p:nvSpPr>
              <p:spPr>
                <a:xfrm>
                  <a:off x="96"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56347" name="Oval 31"/>
                <p:cNvSpPr/>
                <p:nvPr/>
              </p:nvSpPr>
              <p:spPr>
                <a:xfrm>
                  <a:off x="864" y="33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6348" name="Oval 32"/>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6349" name="Line 33"/>
                <p:cNvSpPr/>
                <p:nvPr/>
              </p:nvSpPr>
              <p:spPr>
                <a:xfrm>
                  <a:off x="288" y="384"/>
                  <a:ext cx="96" cy="240"/>
                </a:xfrm>
                <a:prstGeom prst="line">
                  <a:avLst/>
                </a:prstGeom>
                <a:ln w="25400" cap="flat" cmpd="sng">
                  <a:solidFill>
                    <a:srgbClr val="000000"/>
                  </a:solidFill>
                  <a:prstDash val="solid"/>
                  <a:round/>
                  <a:headEnd type="none" w="med" len="med"/>
                  <a:tailEnd type="none" w="med" len="med"/>
                </a:ln>
              </p:spPr>
            </p:sp>
            <p:sp>
              <p:nvSpPr>
                <p:cNvPr id="56350" name="Line 34"/>
                <p:cNvSpPr/>
                <p:nvPr/>
              </p:nvSpPr>
              <p:spPr>
                <a:xfrm flipH="1">
                  <a:off x="672" y="672"/>
                  <a:ext cx="288" cy="96"/>
                </a:xfrm>
                <a:prstGeom prst="line">
                  <a:avLst/>
                </a:prstGeom>
                <a:ln w="25400" cap="flat" cmpd="sng">
                  <a:solidFill>
                    <a:srgbClr val="000000"/>
                  </a:solidFill>
                  <a:prstDash val="solid"/>
                  <a:round/>
                  <a:headEnd type="none" w="med" len="med"/>
                  <a:tailEnd type="none" w="med" len="med"/>
                </a:ln>
              </p:spPr>
            </p:sp>
          </p:grpSp>
          <p:grpSp>
            <p:nvGrpSpPr>
              <p:cNvPr id="56351" name="Group 35"/>
              <p:cNvGrpSpPr/>
              <p:nvPr/>
            </p:nvGrpSpPr>
            <p:grpSpPr>
              <a:xfrm>
                <a:off x="5181600" y="1905000"/>
                <a:ext cx="2590800" cy="1295400"/>
                <a:chOff x="0" y="0"/>
                <a:chExt cx="1632" cy="816"/>
              </a:xfrm>
            </p:grpSpPr>
            <p:sp>
              <p:nvSpPr>
                <p:cNvPr id="56352" name="Rectangle 36"/>
                <p:cNvSpPr/>
                <p:nvPr/>
              </p:nvSpPr>
              <p:spPr>
                <a:xfrm>
                  <a:off x="0" y="38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56353" name="Oval 37"/>
                <p:cNvSpPr/>
                <p:nvPr/>
              </p:nvSpPr>
              <p:spPr>
                <a:xfrm>
                  <a:off x="912"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6354" name="Oval 38"/>
                <p:cNvSpPr/>
                <p:nvPr/>
              </p:nvSpPr>
              <p:spPr>
                <a:xfrm>
                  <a:off x="912" y="43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6355" name="Line 39"/>
                <p:cNvSpPr/>
                <p:nvPr/>
              </p:nvSpPr>
              <p:spPr>
                <a:xfrm>
                  <a:off x="528" y="576"/>
                  <a:ext cx="384" cy="48"/>
                </a:xfrm>
                <a:prstGeom prst="line">
                  <a:avLst/>
                </a:prstGeom>
                <a:ln w="25400" cap="flat" cmpd="sng">
                  <a:solidFill>
                    <a:srgbClr val="000000"/>
                  </a:solidFill>
                  <a:prstDash val="solid"/>
                  <a:round/>
                  <a:headEnd type="none" w="med" len="med"/>
                  <a:tailEnd type="none" w="med" len="med"/>
                </a:ln>
              </p:spPr>
            </p:sp>
            <p:sp>
              <p:nvSpPr>
                <p:cNvPr id="56356" name="Line 40"/>
                <p:cNvSpPr/>
                <p:nvPr/>
              </p:nvSpPr>
              <p:spPr>
                <a:xfrm flipH="1">
                  <a:off x="528" y="288"/>
                  <a:ext cx="432" cy="192"/>
                </a:xfrm>
                <a:prstGeom prst="line">
                  <a:avLst/>
                </a:prstGeom>
                <a:ln w="25400" cap="flat" cmpd="sng">
                  <a:solidFill>
                    <a:srgbClr val="000000"/>
                  </a:solidFill>
                  <a:prstDash val="solid"/>
                  <a:round/>
                  <a:headEnd type="none" w="med" len="med"/>
                  <a:tailEnd type="none" w="med" len="med"/>
                </a:ln>
              </p:spPr>
            </p:sp>
          </p:grpSp>
          <p:grpSp>
            <p:nvGrpSpPr>
              <p:cNvPr id="56357" name="Group 41"/>
              <p:cNvGrpSpPr/>
              <p:nvPr/>
            </p:nvGrpSpPr>
            <p:grpSpPr>
              <a:xfrm>
                <a:off x="2057400" y="533400"/>
                <a:ext cx="1371600" cy="838200"/>
                <a:chOff x="0" y="0"/>
                <a:chExt cx="864" cy="528"/>
              </a:xfrm>
            </p:grpSpPr>
            <p:sp>
              <p:nvSpPr>
                <p:cNvPr id="56358" name="Line 42"/>
                <p:cNvSpPr/>
                <p:nvPr/>
              </p:nvSpPr>
              <p:spPr>
                <a:xfrm flipV="1">
                  <a:off x="0" y="240"/>
                  <a:ext cx="864" cy="288"/>
                </a:xfrm>
                <a:prstGeom prst="line">
                  <a:avLst/>
                </a:prstGeom>
                <a:ln w="25400" cap="flat" cmpd="sng">
                  <a:solidFill>
                    <a:srgbClr val="A50021"/>
                  </a:solidFill>
                  <a:prstDash val="solid"/>
                  <a:round/>
                  <a:headEnd type="none" w="med" len="med"/>
                  <a:tailEnd type="triangle" w="lg" len="lg"/>
                </a:ln>
              </p:spPr>
            </p:sp>
            <p:sp>
              <p:nvSpPr>
                <p:cNvPr id="56359" name="Text Box 43"/>
                <p:cNvSpPr txBox="1"/>
                <p:nvPr/>
              </p:nvSpPr>
              <p:spPr>
                <a:xfrm>
                  <a:off x="432" y="0"/>
                  <a:ext cx="288" cy="346"/>
                </a:xfrm>
                <a:prstGeom prst="rect">
                  <a:avLst/>
                </a:prstGeom>
                <a:noFill/>
                <a:ln w="9525">
                  <a:noFill/>
                </a:ln>
              </p:spPr>
              <p:txBody>
                <a:bodyPr anchor="t">
                  <a:spAutoFit/>
                </a:bodyPr>
                <a:lstStyle/>
                <a:p>
                  <a:pPr lvl="0" indent="0">
                    <a:lnSpc>
                      <a:spcPct val="100000"/>
                    </a:lnSpc>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56360" name="AutoShape 44"/>
              <p:cNvSpPr/>
              <p:nvPr/>
            </p:nvSpPr>
            <p:spPr>
              <a:xfrm>
                <a:off x="3200400" y="2438400"/>
                <a:ext cx="1219200" cy="5334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56361" name="Group 45"/>
              <p:cNvGrpSpPr/>
              <p:nvPr/>
            </p:nvGrpSpPr>
            <p:grpSpPr>
              <a:xfrm>
                <a:off x="2057400" y="1371600"/>
                <a:ext cx="1600200" cy="609600"/>
                <a:chOff x="0" y="0"/>
                <a:chExt cx="1056" cy="432"/>
              </a:xfrm>
            </p:grpSpPr>
            <p:sp>
              <p:nvSpPr>
                <p:cNvPr id="56362" name="Line 46"/>
                <p:cNvSpPr/>
                <p:nvPr/>
              </p:nvSpPr>
              <p:spPr>
                <a:xfrm>
                  <a:off x="0" y="144"/>
                  <a:ext cx="1056" cy="288"/>
                </a:xfrm>
                <a:prstGeom prst="line">
                  <a:avLst/>
                </a:prstGeom>
                <a:ln w="25400" cap="flat" cmpd="sng">
                  <a:solidFill>
                    <a:srgbClr val="A50021"/>
                  </a:solidFill>
                  <a:prstDash val="solid"/>
                  <a:round/>
                  <a:headEnd type="none" w="med" len="med"/>
                  <a:tailEnd type="triangle" w="lg" len="lg"/>
                </a:ln>
              </p:spPr>
            </p:sp>
            <p:sp>
              <p:nvSpPr>
                <p:cNvPr id="56363" name="Text Box 47"/>
                <p:cNvSpPr txBox="1"/>
                <p:nvPr/>
              </p:nvSpPr>
              <p:spPr>
                <a:xfrm>
                  <a:off x="624" y="0"/>
                  <a:ext cx="288" cy="377"/>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grpSp>
          <p:grpSp>
            <p:nvGrpSpPr>
              <p:cNvPr id="56364" name="Group 48"/>
              <p:cNvGrpSpPr/>
              <p:nvPr/>
            </p:nvGrpSpPr>
            <p:grpSpPr>
              <a:xfrm>
                <a:off x="4876800" y="1186815"/>
                <a:ext cx="1600200" cy="794385"/>
                <a:chOff x="0" y="-76"/>
                <a:chExt cx="1056" cy="556"/>
              </a:xfrm>
            </p:grpSpPr>
            <p:sp>
              <p:nvSpPr>
                <p:cNvPr id="56365" name="Line 49"/>
                <p:cNvSpPr/>
                <p:nvPr/>
              </p:nvSpPr>
              <p:spPr>
                <a:xfrm flipV="1">
                  <a:off x="0" y="144"/>
                  <a:ext cx="1056" cy="336"/>
                </a:xfrm>
                <a:prstGeom prst="line">
                  <a:avLst/>
                </a:prstGeom>
                <a:ln w="25400" cap="flat" cmpd="sng">
                  <a:solidFill>
                    <a:srgbClr val="A50021"/>
                  </a:solidFill>
                  <a:prstDash val="solid"/>
                  <a:round/>
                  <a:headEnd type="triangle" w="lg" len="lg"/>
                  <a:tailEnd type="none" w="med" len="med"/>
                </a:ln>
              </p:spPr>
            </p:sp>
            <p:sp>
              <p:nvSpPr>
                <p:cNvPr id="56366" name="Text Box 50"/>
                <p:cNvSpPr txBox="1"/>
                <p:nvPr/>
              </p:nvSpPr>
              <p:spPr>
                <a:xfrm>
                  <a:off x="384" y="-76"/>
                  <a:ext cx="288" cy="402"/>
                </a:xfrm>
                <a:prstGeom prst="rect">
                  <a:avLst/>
                </a:prstGeom>
                <a:noFill/>
                <a:ln w="9525">
                  <a:noFill/>
                </a:ln>
              </p:spPr>
              <p:txBody>
                <a:bodyPr anchor="t">
                  <a:spAutoFit/>
                </a:bodyPr>
                <a:lstStyle/>
                <a:p>
                  <a:pPr lvl="0" indent="0">
                    <a:spcBef>
                      <a:spcPct val="50000"/>
                    </a:spcBef>
                    <a:buNone/>
                  </a:pPr>
                  <a:r>
                    <a:rPr lang="en-US" altLang="x-none" sz="2200" dirty="0">
                      <a:solidFill>
                        <a:srgbClr val="0000CC"/>
                      </a:solidFill>
                      <a:latin typeface="宋体" panose="02010600030101010101" pitchFamily="2" charset="-122"/>
                      <a:ea typeface="宋体" panose="02010600030101010101" pitchFamily="2" charset="-122"/>
                    </a:rPr>
                    <a:t>1</a:t>
                  </a:r>
                  <a:endParaRPr lang="de-DE" altLang="en-US" sz="2200" dirty="0">
                    <a:solidFill>
                      <a:srgbClr val="0000CC"/>
                    </a:solidFill>
                    <a:latin typeface="宋体" panose="02010600030101010101" pitchFamily="2" charset="-122"/>
                    <a:ea typeface="宋体" panose="02010600030101010101" pitchFamily="2" charset="-122"/>
                  </a:endParaRPr>
                </a:p>
              </p:txBody>
            </p:sp>
          </p:grpSp>
        </p:grpSp>
        <p:sp>
          <p:nvSpPr>
            <p:cNvPr id="56367" name="Text Box 25"/>
            <p:cNvSpPr txBox="1"/>
            <p:nvPr/>
          </p:nvSpPr>
          <p:spPr>
            <a:xfrm>
              <a:off x="4389821" y="1826911"/>
              <a:ext cx="340158" cy="590931"/>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2" name="矩形 2"/>
          <p:cNvSpPr/>
          <p:nvPr/>
        </p:nvSpPr>
        <p:spPr>
          <a:xfrm>
            <a:off x="557213" y="838518"/>
            <a:ext cx="1614805"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2</a:t>
            </a:r>
            <a:r>
              <a:rPr lang="en-US" sz="2800" dirty="0">
                <a:solidFill>
                  <a:srgbClr val="0033CC"/>
                </a:solidFill>
                <a:latin typeface="黑体" panose="02010609060101010101" pitchFamily="1" charset="-122"/>
                <a:ea typeface="黑体" panose="02010609060101010101" pitchFamily="1" charset="-122"/>
                <a:cs typeface="+mn-ea"/>
              </a:rPr>
              <a:t>.</a:t>
            </a:r>
            <a:r>
              <a:rPr lang="zh-CN" altLang="en-US" sz="2800" dirty="0">
                <a:solidFill>
                  <a:srgbClr val="0033CC"/>
                </a:solidFill>
                <a:latin typeface="黑体" panose="02010609060101010101" pitchFamily="1" charset="-122"/>
                <a:ea typeface="黑体" panose="02010609060101010101" pitchFamily="1" charset="-122"/>
                <a:cs typeface="+mn-ea"/>
              </a:rPr>
              <a:t>键</a:t>
            </a:r>
            <a:r>
              <a:rPr lang="en-US" sz="2800" dirty="0">
                <a:solidFill>
                  <a:srgbClr val="0033CC"/>
                </a:solidFill>
                <a:latin typeface="黑体" panose="02010609060101010101" pitchFamily="1" charset="-122"/>
                <a:ea typeface="黑体" panose="02010609060101010101" pitchFamily="1" charset="-122"/>
                <a:cs typeface="+mn-ea"/>
              </a:rPr>
              <a:t>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dissolve">
                                      <p:cBhvr>
                                        <p:cTn id="7" dur="500"/>
                                        <p:tgtEl>
                                          <p:spTgt spid="54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dissolve">
                                      <p:cBhvr>
                                        <p:cTn id="12" dur="500"/>
                                        <p:tgtEl>
                                          <p:spTgt spid="542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4"/>
          <p:cNvSpPr txBox="1"/>
          <p:nvPr/>
        </p:nvSpPr>
        <p:spPr>
          <a:xfrm>
            <a:off x="508000" y="1422400"/>
            <a:ext cx="8229600" cy="1146175"/>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键约束的好处：</a:t>
            </a:r>
            <a:r>
              <a:rPr lang="zh-CN" altLang="en-US" sz="2200" dirty="0">
                <a:latin typeface="楷体" panose="02010609060101010101" pitchFamily="1" charset="-122"/>
                <a:ea typeface="楷体" panose="02010609060101010101" pitchFamily="1" charset="-122"/>
              </a:rPr>
              <a:t>前面曾指出，联系由其所关联的实体共同唯一确定。但对存在键约束的联系，只需用一个关联的实体即可唯一地确定该联系。这也是为什么叫“实体对应约束”的原因。</a:t>
            </a:r>
            <a:endParaRPr lang="zh-CN" altLang="en-US" sz="2200" dirty="0">
              <a:latin typeface="楷体" panose="02010609060101010101" pitchFamily="1" charset="-122"/>
              <a:ea typeface="楷体" panose="02010609060101010101" pitchFamily="1" charset="-122"/>
            </a:endParaRPr>
          </a:p>
        </p:txBody>
      </p:sp>
      <p:grpSp>
        <p:nvGrpSpPr>
          <p:cNvPr id="56325" name="组合 39"/>
          <p:cNvGrpSpPr/>
          <p:nvPr/>
        </p:nvGrpSpPr>
        <p:grpSpPr>
          <a:xfrm>
            <a:off x="544513" y="2568575"/>
            <a:ext cx="8229600" cy="3498850"/>
            <a:chOff x="0" y="0"/>
            <a:chExt cx="8229600" cy="3498624"/>
          </a:xfrm>
        </p:grpSpPr>
        <p:sp>
          <p:nvSpPr>
            <p:cNvPr id="58373" name="Line 30"/>
            <p:cNvSpPr/>
            <p:nvPr/>
          </p:nvSpPr>
          <p:spPr>
            <a:xfrm flipV="1">
              <a:off x="1965553" y="2044474"/>
              <a:ext cx="1338262" cy="46037"/>
            </a:xfrm>
            <a:prstGeom prst="line">
              <a:avLst/>
            </a:prstGeom>
            <a:ln w="25400" cap="flat" cmpd="sng">
              <a:solidFill>
                <a:schemeClr val="tx1"/>
              </a:solidFill>
              <a:prstDash val="solid"/>
              <a:round/>
              <a:headEnd type="none" w="med" len="med"/>
              <a:tailEnd type="triangle" w="lg" len="lg"/>
            </a:ln>
          </p:spPr>
        </p:sp>
        <p:sp>
          <p:nvSpPr>
            <p:cNvPr id="58374" name="Text Box 31"/>
            <p:cNvSpPr txBox="1"/>
            <p:nvPr/>
          </p:nvSpPr>
          <p:spPr>
            <a:xfrm>
              <a:off x="2165578" y="1550761"/>
              <a:ext cx="528637"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58375" name="Line 33"/>
            <p:cNvSpPr/>
            <p:nvPr/>
          </p:nvSpPr>
          <p:spPr>
            <a:xfrm flipV="1">
              <a:off x="4348390" y="2065111"/>
              <a:ext cx="1806575" cy="0"/>
            </a:xfrm>
            <a:prstGeom prst="line">
              <a:avLst/>
            </a:prstGeom>
            <a:ln w="25400" cap="flat" cmpd="sng">
              <a:solidFill>
                <a:schemeClr val="tx1"/>
              </a:solidFill>
              <a:prstDash val="solid"/>
              <a:round/>
              <a:headEnd type="none" w="med" len="med"/>
              <a:tailEnd type="none" w="med" len="med"/>
            </a:ln>
          </p:spPr>
        </p:sp>
        <p:sp>
          <p:nvSpPr>
            <p:cNvPr id="58376" name="Text Box 34"/>
            <p:cNvSpPr txBox="1"/>
            <p:nvPr/>
          </p:nvSpPr>
          <p:spPr>
            <a:xfrm>
              <a:off x="5508853" y="1525361"/>
              <a:ext cx="339725"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1</a:t>
              </a:r>
              <a:endParaRPr lang="en-US" altLang="x-none" sz="2400" dirty="0">
                <a:solidFill>
                  <a:srgbClr val="0033CC"/>
                </a:solidFill>
                <a:latin typeface="宋体" panose="02010600030101010101" pitchFamily="2" charset="-122"/>
                <a:ea typeface="宋体" panose="02010600030101010101" pitchFamily="2" charset="-122"/>
              </a:endParaRPr>
            </a:p>
          </p:txBody>
        </p:sp>
        <p:grpSp>
          <p:nvGrpSpPr>
            <p:cNvPr id="58377" name="组合 38"/>
            <p:cNvGrpSpPr/>
            <p:nvPr/>
          </p:nvGrpSpPr>
          <p:grpSpPr>
            <a:xfrm>
              <a:off x="0" y="0"/>
              <a:ext cx="8229600" cy="3498624"/>
              <a:chOff x="0" y="0"/>
              <a:chExt cx="8229600" cy="3498624"/>
            </a:xfrm>
          </p:grpSpPr>
          <p:grpSp>
            <p:nvGrpSpPr>
              <p:cNvPr id="58378" name="组合 4"/>
              <p:cNvGrpSpPr/>
              <p:nvPr/>
            </p:nvGrpSpPr>
            <p:grpSpPr>
              <a:xfrm>
                <a:off x="1815" y="979261"/>
                <a:ext cx="8162925" cy="2519363"/>
                <a:chOff x="0" y="0"/>
                <a:chExt cx="8610600" cy="2819400"/>
              </a:xfrm>
            </p:grpSpPr>
            <p:grpSp>
              <p:nvGrpSpPr>
                <p:cNvPr id="58379" name="Group 5"/>
                <p:cNvGrpSpPr/>
                <p:nvPr/>
              </p:nvGrpSpPr>
              <p:grpSpPr>
                <a:xfrm>
                  <a:off x="0" y="152400"/>
                  <a:ext cx="2057400" cy="2362200"/>
                  <a:chOff x="0" y="0"/>
                  <a:chExt cx="1296" cy="1488"/>
                </a:xfrm>
              </p:grpSpPr>
              <p:sp>
                <p:nvSpPr>
                  <p:cNvPr id="58380" name="Rectangle 6"/>
                  <p:cNvSpPr/>
                  <p:nvPr/>
                </p:nvSpPr>
                <p:spPr>
                  <a:xfrm>
                    <a:off x="720"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10000"/>
                      </a:lnSpc>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8381" name="Oval 7"/>
                  <p:cNvSpPr/>
                  <p:nvPr/>
                </p:nvSpPr>
                <p:spPr>
                  <a:xfrm>
                    <a:off x="672" y="110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8382" name="Line 8"/>
                  <p:cNvSpPr/>
                  <p:nvPr/>
                </p:nvSpPr>
                <p:spPr>
                  <a:xfrm flipH="1">
                    <a:off x="528" y="864"/>
                    <a:ext cx="336" cy="96"/>
                  </a:xfrm>
                  <a:prstGeom prst="line">
                    <a:avLst/>
                  </a:prstGeom>
                  <a:ln w="25400" cap="flat" cmpd="sng">
                    <a:solidFill>
                      <a:srgbClr val="000000"/>
                    </a:solidFill>
                    <a:prstDash val="solid"/>
                    <a:round/>
                    <a:headEnd type="none" w="med" len="med"/>
                    <a:tailEnd type="none" w="med" len="med"/>
                  </a:ln>
                </p:spPr>
              </p:sp>
              <p:sp>
                <p:nvSpPr>
                  <p:cNvPr id="58383" name="Oval 9"/>
                  <p:cNvSpPr/>
                  <p:nvPr/>
                </p:nvSpPr>
                <p:spPr>
                  <a:xfrm>
                    <a:off x="2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8384" name="Oval 10"/>
                  <p:cNvSpPr/>
                  <p:nvPr/>
                </p:nvSpPr>
                <p:spPr>
                  <a:xfrm>
                    <a:off x="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8385" name="Line 11"/>
                  <p:cNvSpPr/>
                  <p:nvPr/>
                </p:nvSpPr>
                <p:spPr>
                  <a:xfrm>
                    <a:off x="960" y="864"/>
                    <a:ext cx="48" cy="240"/>
                  </a:xfrm>
                  <a:prstGeom prst="line">
                    <a:avLst/>
                  </a:prstGeom>
                  <a:ln w="25400" cap="flat" cmpd="sng">
                    <a:solidFill>
                      <a:srgbClr val="000000"/>
                    </a:solidFill>
                    <a:prstDash val="solid"/>
                    <a:round/>
                    <a:headEnd type="none" w="med" len="med"/>
                    <a:tailEnd type="none" w="med" len="med"/>
                  </a:ln>
                </p:spPr>
              </p:sp>
              <p:sp>
                <p:nvSpPr>
                  <p:cNvPr id="58386" name="Line 12"/>
                  <p:cNvSpPr/>
                  <p:nvPr/>
                </p:nvSpPr>
                <p:spPr>
                  <a:xfrm>
                    <a:off x="624" y="432"/>
                    <a:ext cx="288" cy="192"/>
                  </a:xfrm>
                  <a:prstGeom prst="line">
                    <a:avLst/>
                  </a:prstGeom>
                  <a:ln w="25400" cap="flat" cmpd="sng">
                    <a:solidFill>
                      <a:srgbClr val="000000"/>
                    </a:solidFill>
                    <a:prstDash val="solid"/>
                    <a:round/>
                    <a:headEnd type="none" w="med" len="med"/>
                    <a:tailEnd type="none" w="med" len="med"/>
                  </a:ln>
                </p:spPr>
              </p:sp>
            </p:grpSp>
            <p:sp>
              <p:nvSpPr>
                <p:cNvPr id="58387" name="AutoShape 14"/>
                <p:cNvSpPr/>
                <p:nvPr/>
              </p:nvSpPr>
              <p:spPr>
                <a:xfrm>
                  <a:off x="3429000" y="914400"/>
                  <a:ext cx="1143000"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工作于</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58388" name="Group 17"/>
                <p:cNvGrpSpPr/>
                <p:nvPr/>
              </p:nvGrpSpPr>
              <p:grpSpPr>
                <a:xfrm>
                  <a:off x="6096000" y="0"/>
                  <a:ext cx="2514600" cy="1447800"/>
                  <a:chOff x="0" y="0"/>
                  <a:chExt cx="1584" cy="912"/>
                </a:xfrm>
              </p:grpSpPr>
              <p:sp>
                <p:nvSpPr>
                  <p:cNvPr id="58389" name="Rectangle 18"/>
                  <p:cNvSpPr/>
                  <p:nvPr/>
                </p:nvSpPr>
                <p:spPr>
                  <a:xfrm>
                    <a:off x="240"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58390" name="Oval 19"/>
                  <p:cNvSpPr/>
                  <p:nvPr/>
                </p:nvSpPr>
                <p:spPr>
                  <a:xfrm>
                    <a:off x="864" y="19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8391" name="Oval 20"/>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8392" name="Line 21"/>
                  <p:cNvSpPr/>
                  <p:nvPr/>
                </p:nvSpPr>
                <p:spPr>
                  <a:xfrm>
                    <a:off x="432" y="384"/>
                    <a:ext cx="96" cy="240"/>
                  </a:xfrm>
                  <a:prstGeom prst="line">
                    <a:avLst/>
                  </a:prstGeom>
                  <a:ln w="25400" cap="flat" cmpd="sng">
                    <a:solidFill>
                      <a:srgbClr val="000000"/>
                    </a:solidFill>
                    <a:prstDash val="solid"/>
                    <a:round/>
                    <a:headEnd type="none" w="med" len="med"/>
                    <a:tailEnd type="none" w="med" len="med"/>
                  </a:ln>
                </p:spPr>
              </p:sp>
              <p:sp>
                <p:nvSpPr>
                  <p:cNvPr id="58393" name="Line 22"/>
                  <p:cNvSpPr/>
                  <p:nvPr/>
                </p:nvSpPr>
                <p:spPr>
                  <a:xfrm flipH="1">
                    <a:off x="816" y="576"/>
                    <a:ext cx="432" cy="192"/>
                  </a:xfrm>
                  <a:prstGeom prst="line">
                    <a:avLst/>
                  </a:prstGeom>
                  <a:ln w="25400" cap="flat" cmpd="sng">
                    <a:solidFill>
                      <a:srgbClr val="000000"/>
                    </a:solidFill>
                    <a:prstDash val="solid"/>
                    <a:round/>
                    <a:headEnd type="none" w="med" len="med"/>
                    <a:tailEnd type="none" w="med" len="med"/>
                  </a:ln>
                </p:spPr>
              </p:sp>
            </p:grpSp>
            <p:grpSp>
              <p:nvGrpSpPr>
                <p:cNvPr id="58394" name="Group 23"/>
                <p:cNvGrpSpPr/>
                <p:nvPr/>
              </p:nvGrpSpPr>
              <p:grpSpPr>
                <a:xfrm>
                  <a:off x="3657600" y="1524000"/>
                  <a:ext cx="2590800" cy="1295400"/>
                  <a:chOff x="0" y="0"/>
                  <a:chExt cx="1632" cy="816"/>
                </a:xfrm>
              </p:grpSpPr>
              <p:sp>
                <p:nvSpPr>
                  <p:cNvPr id="58395" name="Rectangle 24"/>
                  <p:cNvSpPr/>
                  <p:nvPr/>
                </p:nvSpPr>
                <p:spPr>
                  <a:xfrm>
                    <a:off x="0" y="38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10000"/>
                      </a:lnSpc>
                      <a:buNone/>
                    </a:pPr>
                    <a:r>
                      <a:rPr lang="zh-CN" altLang="en-US" dirty="0">
                        <a:solidFill>
                          <a:srgbClr val="000000"/>
                        </a:solidFill>
                        <a:latin typeface="宋体" panose="02010600030101010101" pitchFamily="2" charset="-122"/>
                        <a:ea typeface="宋体" panose="02010600030101010101" pitchFamily="2" charset="-122"/>
                      </a:rPr>
                      <a:t>城市</a:t>
                    </a:r>
                    <a:endParaRPr lang="zh-CN" altLang="en-US" dirty="0">
                      <a:solidFill>
                        <a:srgbClr val="000000"/>
                      </a:solidFill>
                      <a:latin typeface="宋体" panose="02010600030101010101" pitchFamily="2" charset="-122"/>
                      <a:ea typeface="宋体" panose="02010600030101010101" pitchFamily="2" charset="-122"/>
                    </a:endParaRPr>
                  </a:p>
                </p:txBody>
              </p:sp>
              <p:sp>
                <p:nvSpPr>
                  <p:cNvPr id="58396" name="Oval 25"/>
                  <p:cNvSpPr/>
                  <p:nvPr/>
                </p:nvSpPr>
                <p:spPr>
                  <a:xfrm>
                    <a:off x="912"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地址</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8397" name="Oval 26"/>
                  <p:cNvSpPr/>
                  <p:nvPr/>
                </p:nvSpPr>
                <p:spPr>
                  <a:xfrm>
                    <a:off x="912" y="43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容量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8398" name="Line 27"/>
                  <p:cNvSpPr/>
                  <p:nvPr/>
                </p:nvSpPr>
                <p:spPr>
                  <a:xfrm>
                    <a:off x="528" y="576"/>
                    <a:ext cx="384" cy="48"/>
                  </a:xfrm>
                  <a:prstGeom prst="line">
                    <a:avLst/>
                  </a:prstGeom>
                  <a:ln w="25400" cap="flat" cmpd="sng">
                    <a:solidFill>
                      <a:srgbClr val="000000"/>
                    </a:solidFill>
                    <a:prstDash val="solid"/>
                    <a:round/>
                    <a:headEnd type="none" w="med" len="med"/>
                    <a:tailEnd type="none" w="med" len="med"/>
                  </a:ln>
                </p:spPr>
              </p:sp>
              <p:sp>
                <p:nvSpPr>
                  <p:cNvPr id="58399" name="Line 28"/>
                  <p:cNvSpPr/>
                  <p:nvPr/>
                </p:nvSpPr>
                <p:spPr>
                  <a:xfrm flipH="1">
                    <a:off x="528" y="288"/>
                    <a:ext cx="432" cy="192"/>
                  </a:xfrm>
                  <a:prstGeom prst="line">
                    <a:avLst/>
                  </a:prstGeom>
                  <a:ln w="25400" cap="flat" cmpd="sng">
                    <a:solidFill>
                      <a:srgbClr val="000000"/>
                    </a:solidFill>
                    <a:prstDash val="solid"/>
                    <a:round/>
                    <a:headEnd type="none" w="med" len="med"/>
                    <a:tailEnd type="none" w="med" len="med"/>
                  </a:ln>
                </p:spPr>
              </p:sp>
            </p:grpSp>
            <p:grpSp>
              <p:nvGrpSpPr>
                <p:cNvPr id="58400" name="Group 35"/>
                <p:cNvGrpSpPr/>
                <p:nvPr/>
              </p:nvGrpSpPr>
              <p:grpSpPr>
                <a:xfrm>
                  <a:off x="3962400" y="1524000"/>
                  <a:ext cx="608013" cy="609600"/>
                  <a:chOff x="0" y="0"/>
                  <a:chExt cx="383" cy="384"/>
                </a:xfrm>
              </p:grpSpPr>
              <p:sp>
                <p:nvSpPr>
                  <p:cNvPr id="58401" name="Line 36"/>
                  <p:cNvSpPr/>
                  <p:nvPr/>
                </p:nvSpPr>
                <p:spPr>
                  <a:xfrm>
                    <a:off x="0" y="0"/>
                    <a:ext cx="96" cy="384"/>
                  </a:xfrm>
                  <a:prstGeom prst="line">
                    <a:avLst/>
                  </a:prstGeom>
                  <a:ln w="28575" cap="flat" cmpd="sng">
                    <a:solidFill>
                      <a:schemeClr val="tx1"/>
                    </a:solidFill>
                    <a:prstDash val="solid"/>
                    <a:round/>
                    <a:headEnd type="none" w="med" len="med"/>
                    <a:tailEnd type="none" w="med" len="med"/>
                  </a:ln>
                </p:spPr>
              </p:sp>
              <p:sp>
                <p:nvSpPr>
                  <p:cNvPr id="58402" name="Text Box 37"/>
                  <p:cNvSpPr txBox="1"/>
                  <p:nvPr/>
                </p:nvSpPr>
                <p:spPr>
                  <a:xfrm>
                    <a:off x="157" y="17"/>
                    <a:ext cx="226" cy="36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1</a:t>
                    </a:r>
                    <a:endParaRPr lang="en-US" altLang="x-none" sz="2400" dirty="0">
                      <a:solidFill>
                        <a:srgbClr val="0033CC"/>
                      </a:solidFill>
                      <a:latin typeface="宋体" panose="02010600030101010101" pitchFamily="2" charset="-122"/>
                      <a:ea typeface="宋体" panose="02010600030101010101" pitchFamily="2" charset="-122"/>
                    </a:endParaRPr>
                  </a:p>
                </p:txBody>
              </p:sp>
            </p:grpSp>
          </p:grpSp>
          <p:sp>
            <p:nvSpPr>
              <p:cNvPr id="58403" name="Rectangle 4"/>
              <p:cNvSpPr txBox="1"/>
              <p:nvPr/>
            </p:nvSpPr>
            <p:spPr>
              <a:xfrm>
                <a:off x="0" y="0"/>
                <a:ext cx="8229600" cy="855608"/>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键约束的扩展：</a:t>
                </a:r>
                <a:r>
                  <a:rPr lang="zh-CN" altLang="en-US" sz="2200" dirty="0">
                    <a:latin typeface="楷体" panose="02010609060101010101" pitchFamily="1" charset="-122"/>
                    <a:ea typeface="楷体" panose="02010609060101010101" pitchFamily="1" charset="-122"/>
                  </a:rPr>
                  <a:t>多类实体间的联系也存在有键约束的情况。</a:t>
                </a:r>
                <a:endParaRPr lang="zh-CN" altLang="en-US" sz="22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例如，每个员工最多在一个大学，并且在一个城市。</a:t>
                </a:r>
                <a:endParaRPr lang="zh-CN" altLang="en-US" sz="22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Font typeface="Wingdings" panose="05000000000000000000" pitchFamily="2" charset="2"/>
                  <a:buChar char="u"/>
                </a:pPr>
                <a:endParaRPr lang="zh-CN" altLang="en-US" sz="2400" dirty="0">
                  <a:latin typeface="华文楷体" panose="02010600040101010101" pitchFamily="2" charset="-122"/>
                  <a:ea typeface="宋体" panose="02010600030101010101" pitchFamily="2" charset="-122"/>
                </a:endParaRPr>
              </a:p>
            </p:txBody>
          </p:sp>
        </p:grpSp>
      </p:grpSp>
      <p:sp>
        <p:nvSpPr>
          <p:cNvPr id="2" name="矩形 2"/>
          <p:cNvSpPr/>
          <p:nvPr/>
        </p:nvSpPr>
        <p:spPr>
          <a:xfrm>
            <a:off x="557213" y="838518"/>
            <a:ext cx="1614805"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2</a:t>
            </a:r>
            <a:r>
              <a:rPr lang="en-US" sz="2800" dirty="0">
                <a:solidFill>
                  <a:srgbClr val="0033CC"/>
                </a:solidFill>
                <a:latin typeface="黑体" panose="02010609060101010101" pitchFamily="1" charset="-122"/>
                <a:ea typeface="黑体" panose="02010609060101010101" pitchFamily="1" charset="-122"/>
                <a:cs typeface="+mn-ea"/>
              </a:rPr>
              <a:t>.</a:t>
            </a:r>
            <a:r>
              <a:rPr lang="zh-CN" altLang="en-US" sz="2800" dirty="0">
                <a:solidFill>
                  <a:srgbClr val="0033CC"/>
                </a:solidFill>
                <a:latin typeface="黑体" panose="02010609060101010101" pitchFamily="1" charset="-122"/>
                <a:ea typeface="黑体" panose="02010609060101010101" pitchFamily="1" charset="-122"/>
                <a:cs typeface="+mn-ea"/>
              </a:rPr>
              <a:t>键</a:t>
            </a:r>
            <a:r>
              <a:rPr lang="en-US" sz="2800" dirty="0">
                <a:solidFill>
                  <a:srgbClr val="0033CC"/>
                </a:solidFill>
                <a:latin typeface="黑体" panose="02010609060101010101" pitchFamily="1" charset="-122"/>
                <a:ea typeface="黑体" panose="02010609060101010101" pitchFamily="1" charset="-122"/>
                <a:cs typeface="+mn-ea"/>
              </a:rPr>
              <a:t>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Effect transition="in" filter="wipe(down)">
                                      <p:cBhvr>
                                        <p:cTn id="7" dur="500"/>
                                        <p:tgtEl>
                                          <p:spTgt spid="563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6325"/>
                                        </p:tgtEl>
                                        <p:attrNameLst>
                                          <p:attrName>style.visibility</p:attrName>
                                        </p:attrNameLst>
                                      </p:cBhvr>
                                      <p:to>
                                        <p:strVal val="visible"/>
                                      </p:to>
                                    </p:set>
                                    <p:anim calcmode="lin" valueType="num">
                                      <p:cBhvr additive="base">
                                        <p:cTn id="12" dur="500" fill="hold"/>
                                        <p:tgtEl>
                                          <p:spTgt spid="56325"/>
                                        </p:tgtEl>
                                        <p:attrNameLst>
                                          <p:attrName>ppt_x</p:attrName>
                                        </p:attrNameLst>
                                      </p:cBhvr>
                                      <p:tavLst>
                                        <p:tav tm="0">
                                          <p:val>
                                            <p:strVal val="#ppt_x"/>
                                          </p:val>
                                        </p:tav>
                                        <p:tav tm="100000">
                                          <p:val>
                                            <p:strVal val="#ppt_x"/>
                                          </p:val>
                                        </p:tav>
                                      </p:tavLst>
                                    </p:anim>
                                    <p:anim calcmode="lin" valueType="num">
                                      <p:cBhvr additive="base">
                                        <p:cTn id="13" dur="500" fill="hold"/>
                                        <p:tgtEl>
                                          <p:spTgt spid="563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allAtOnce"/>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704215" y="3326765"/>
            <a:ext cx="7988935" cy="3021330"/>
            <a:chOff x="1109" y="5319"/>
            <a:chExt cx="12581" cy="4540"/>
          </a:xfrm>
        </p:grpSpPr>
        <p:sp>
          <p:nvSpPr>
            <p:cNvPr id="3" name="矩形 2"/>
            <p:cNvSpPr/>
            <p:nvPr/>
          </p:nvSpPr>
          <p:spPr>
            <a:xfrm>
              <a:off x="3390"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学生</a:t>
              </a:r>
              <a:endParaRPr lang="zh-CN" altLang="en-US">
                <a:solidFill>
                  <a:schemeClr val="tx1"/>
                </a:solidFill>
              </a:endParaRPr>
            </a:p>
          </p:txBody>
        </p:sp>
        <p:sp>
          <p:nvSpPr>
            <p:cNvPr id="4" name="椭圆 3"/>
            <p:cNvSpPr/>
            <p:nvPr/>
          </p:nvSpPr>
          <p:spPr>
            <a:xfrm>
              <a:off x="1109" y="5319"/>
              <a:ext cx="1474"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u="sng">
                  <a:solidFill>
                    <a:srgbClr val="FF0000"/>
                  </a:solidFill>
                </a:rPr>
                <a:t>学号</a:t>
              </a:r>
              <a:endParaRPr lang="zh-CN" altLang="en-US" u="sng">
                <a:solidFill>
                  <a:srgbClr val="FF0000"/>
                </a:solidFill>
              </a:endParaRPr>
            </a:p>
          </p:txBody>
        </p:sp>
        <p:sp>
          <p:nvSpPr>
            <p:cNvPr id="5" name="椭圆 4"/>
            <p:cNvSpPr/>
            <p:nvPr/>
          </p:nvSpPr>
          <p:spPr>
            <a:xfrm>
              <a:off x="1109" y="600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姓名</a:t>
              </a:r>
              <a:endParaRPr lang="zh-CN" altLang="en-US">
                <a:solidFill>
                  <a:schemeClr val="tx1"/>
                </a:solidFill>
              </a:endParaRPr>
            </a:p>
          </p:txBody>
        </p:sp>
        <p:sp>
          <p:nvSpPr>
            <p:cNvPr id="7" name="椭圆 6"/>
            <p:cNvSpPr/>
            <p:nvPr/>
          </p:nvSpPr>
          <p:spPr>
            <a:xfrm>
              <a:off x="1109" y="651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性别</a:t>
              </a:r>
              <a:endParaRPr lang="zh-CN" altLang="en-US">
                <a:solidFill>
                  <a:schemeClr val="tx1"/>
                </a:solidFill>
              </a:endParaRPr>
            </a:p>
          </p:txBody>
        </p:sp>
        <p:sp>
          <p:nvSpPr>
            <p:cNvPr id="8" name="椭圆 7"/>
            <p:cNvSpPr/>
            <p:nvPr/>
          </p:nvSpPr>
          <p:spPr>
            <a:xfrm>
              <a:off x="1109" y="7057"/>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生日</a:t>
              </a:r>
              <a:endParaRPr lang="zh-CN" altLang="en-US">
                <a:solidFill>
                  <a:schemeClr val="tx1"/>
                </a:solidFill>
              </a:endParaRPr>
            </a:p>
          </p:txBody>
        </p:sp>
        <p:sp>
          <p:nvSpPr>
            <p:cNvPr id="9" name="椭圆 8"/>
            <p:cNvSpPr/>
            <p:nvPr/>
          </p:nvSpPr>
          <p:spPr>
            <a:xfrm>
              <a:off x="1109" y="7647"/>
              <a:ext cx="1474" cy="510"/>
            </a:xfrm>
            <a:prstGeom prst="ellipse">
              <a:avLst/>
            </a:prstGeom>
            <a:ln w="15875" cmpd="sng">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年龄</a:t>
              </a:r>
              <a:endParaRPr lang="zh-CN" altLang="en-US">
                <a:solidFill>
                  <a:schemeClr val="tx1"/>
                </a:solidFill>
              </a:endParaRPr>
            </a:p>
          </p:txBody>
        </p:sp>
        <p:sp>
          <p:nvSpPr>
            <p:cNvPr id="10" name="椭圆 9"/>
            <p:cNvSpPr/>
            <p:nvPr/>
          </p:nvSpPr>
          <p:spPr>
            <a:xfrm>
              <a:off x="1109" y="8157"/>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班级</a:t>
              </a:r>
              <a:endParaRPr lang="zh-CN" altLang="en-US">
                <a:solidFill>
                  <a:schemeClr val="tx1"/>
                </a:solidFill>
              </a:endParaRPr>
            </a:p>
          </p:txBody>
        </p:sp>
        <p:sp>
          <p:nvSpPr>
            <p:cNvPr id="11" name="矩形 10"/>
            <p:cNvSpPr/>
            <p:nvPr/>
          </p:nvSpPr>
          <p:spPr>
            <a:xfrm>
              <a:off x="6584" y="8168"/>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专业</a:t>
              </a:r>
              <a:endParaRPr lang="zh-CN" altLang="en-US">
                <a:solidFill>
                  <a:schemeClr val="tx1"/>
                </a:solidFill>
              </a:endParaRPr>
            </a:p>
          </p:txBody>
        </p:sp>
        <p:sp>
          <p:nvSpPr>
            <p:cNvPr id="12" name="椭圆 11"/>
            <p:cNvSpPr/>
            <p:nvPr/>
          </p:nvSpPr>
          <p:spPr>
            <a:xfrm>
              <a:off x="5330" y="9235"/>
              <a:ext cx="2199"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专业编码</a:t>
              </a:r>
              <a:endParaRPr lang="zh-CN" altLang="en-US" u="sng">
                <a:solidFill>
                  <a:srgbClr val="FF0000"/>
                </a:solidFill>
              </a:endParaRPr>
            </a:p>
          </p:txBody>
        </p:sp>
        <p:sp>
          <p:nvSpPr>
            <p:cNvPr id="13" name="椭圆 12"/>
            <p:cNvSpPr/>
            <p:nvPr/>
          </p:nvSpPr>
          <p:spPr>
            <a:xfrm>
              <a:off x="7807" y="9235"/>
              <a:ext cx="2089"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专业名称</a:t>
              </a:r>
              <a:endParaRPr lang="zh-CN" altLang="en-US">
                <a:solidFill>
                  <a:schemeClr val="tx1"/>
                </a:solidFill>
              </a:endParaRPr>
            </a:p>
          </p:txBody>
        </p:sp>
        <p:sp>
          <p:nvSpPr>
            <p:cNvPr id="14" name="矩形 13"/>
            <p:cNvSpPr/>
            <p:nvPr/>
          </p:nvSpPr>
          <p:spPr>
            <a:xfrm>
              <a:off x="9179"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课程</a:t>
              </a:r>
              <a:endParaRPr lang="zh-CN" altLang="en-US">
                <a:solidFill>
                  <a:schemeClr val="tx1"/>
                </a:solidFill>
              </a:endParaRPr>
            </a:p>
          </p:txBody>
        </p:sp>
        <p:sp>
          <p:nvSpPr>
            <p:cNvPr id="15" name="椭圆 14"/>
            <p:cNvSpPr/>
            <p:nvPr/>
          </p:nvSpPr>
          <p:spPr>
            <a:xfrm>
              <a:off x="11538" y="5948"/>
              <a:ext cx="2153"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课程编码</a:t>
              </a:r>
              <a:endParaRPr lang="zh-CN" altLang="en-US" u="sng">
                <a:solidFill>
                  <a:srgbClr val="FF0000"/>
                </a:solidFill>
              </a:endParaRPr>
            </a:p>
          </p:txBody>
        </p:sp>
        <p:sp>
          <p:nvSpPr>
            <p:cNvPr id="16" name="椭圆 15"/>
            <p:cNvSpPr/>
            <p:nvPr/>
          </p:nvSpPr>
          <p:spPr>
            <a:xfrm>
              <a:off x="11538" y="6634"/>
              <a:ext cx="1958"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课程名</a:t>
              </a:r>
              <a:endParaRPr lang="zh-CN" altLang="en-US">
                <a:solidFill>
                  <a:schemeClr val="tx1"/>
                </a:solidFill>
              </a:endParaRPr>
            </a:p>
          </p:txBody>
        </p:sp>
        <p:sp>
          <p:nvSpPr>
            <p:cNvPr id="17" name="椭圆 16"/>
            <p:cNvSpPr/>
            <p:nvPr/>
          </p:nvSpPr>
          <p:spPr>
            <a:xfrm>
              <a:off x="11538" y="714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学分</a:t>
              </a:r>
              <a:endParaRPr lang="zh-CN" altLang="en-US">
                <a:solidFill>
                  <a:schemeClr val="tx1"/>
                </a:solidFill>
              </a:endParaRPr>
            </a:p>
          </p:txBody>
        </p:sp>
        <p:cxnSp>
          <p:nvCxnSpPr>
            <p:cNvPr id="18" name="直接连接符 17"/>
            <p:cNvCxnSpPr>
              <a:stCxn id="4" idx="5"/>
              <a:endCxn id="3" idx="1"/>
            </p:cNvCxnSpPr>
            <p:nvPr/>
          </p:nvCxnSpPr>
          <p:spPr>
            <a:xfrm>
              <a:off x="2367" y="5852"/>
              <a:ext cx="1023" cy="102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p:cNvCxnSpPr>
            <p:nvPr/>
          </p:nvCxnSpPr>
          <p:spPr>
            <a:xfrm>
              <a:off x="2583"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583" y="6770"/>
              <a:ext cx="807" cy="11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8" idx="7"/>
              <a:endCxn id="3" idx="1"/>
            </p:cNvCxnSpPr>
            <p:nvPr/>
          </p:nvCxnSpPr>
          <p:spPr>
            <a:xfrm flipV="1">
              <a:off x="2367" y="6880"/>
              <a:ext cx="1023" cy="2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3" idx="1"/>
            </p:cNvCxnSpPr>
            <p:nvPr/>
          </p:nvCxnSpPr>
          <p:spPr>
            <a:xfrm flipV="1">
              <a:off x="2500" y="6880"/>
              <a:ext cx="890" cy="80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2581" y="6958"/>
              <a:ext cx="808" cy="132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7" y="6260"/>
              <a:ext cx="597" cy="62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7" y="6880"/>
              <a:ext cx="597"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3" y="6942"/>
              <a:ext cx="571" cy="45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2"/>
              <a:ext cx="881"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5" y="8882"/>
              <a:ext cx="1387"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菱形 28"/>
            <p:cNvSpPr/>
            <p:nvPr/>
          </p:nvSpPr>
          <p:spPr>
            <a:xfrm>
              <a:off x="3115" y="8023"/>
              <a:ext cx="2312"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属于</a:t>
              </a:r>
              <a:endParaRPr lang="zh-CN" altLang="en-US">
                <a:solidFill>
                  <a:schemeClr val="tx1"/>
                </a:solidFill>
              </a:endParaRPr>
            </a:p>
          </p:txBody>
        </p:sp>
        <p:sp>
          <p:nvSpPr>
            <p:cNvPr id="30" name="菱形 29"/>
            <p:cNvSpPr/>
            <p:nvPr/>
          </p:nvSpPr>
          <p:spPr>
            <a:xfrm>
              <a:off x="6476" y="6435"/>
              <a:ext cx="1977"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rtlCol="0" anchor="ctr"/>
            <a:lstStyle/>
            <a:p>
              <a:pPr algn="ctr">
                <a:buNone/>
              </a:pPr>
              <a:r>
                <a:rPr lang="zh-CN" altLang="en-US">
                  <a:solidFill>
                    <a:schemeClr val="tx1"/>
                  </a:solidFill>
                </a:rPr>
                <a:t>选课</a:t>
              </a:r>
              <a:endParaRPr lang="zh-CN" altLang="en-US">
                <a:solidFill>
                  <a:schemeClr val="tx1"/>
                </a:solidFill>
              </a:endParaRPr>
            </a:p>
          </p:txBody>
        </p:sp>
        <p:sp>
          <p:nvSpPr>
            <p:cNvPr id="31" name="菱形 30"/>
            <p:cNvSpPr/>
            <p:nvPr/>
          </p:nvSpPr>
          <p:spPr>
            <a:xfrm>
              <a:off x="9084" y="8045"/>
              <a:ext cx="1974"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36195" rtlCol="0" anchor="ctr"/>
            <a:lstStyle/>
            <a:p>
              <a:pPr algn="ctr">
                <a:buNone/>
              </a:pPr>
              <a:r>
                <a:rPr lang="zh-CN" altLang="en-US">
                  <a:solidFill>
                    <a:schemeClr val="tx1"/>
                  </a:solidFill>
                </a:rPr>
                <a:t>设置</a:t>
              </a:r>
              <a:endParaRPr lang="zh-CN" altLang="en-US">
                <a:solidFill>
                  <a:schemeClr val="tx1"/>
                </a:solidFill>
              </a:endParaRPr>
            </a:p>
          </p:txBody>
        </p:sp>
        <p:cxnSp>
          <p:nvCxnSpPr>
            <p:cNvPr id="32" name="直接连接符 31"/>
            <p:cNvCxnSpPr>
              <a:stCxn id="3" idx="2"/>
              <a:endCxn id="29" idx="0"/>
            </p:cNvCxnSpPr>
            <p:nvPr/>
          </p:nvCxnSpPr>
          <p:spPr>
            <a:xfrm>
              <a:off x="4271" y="7245"/>
              <a:ext cx="0" cy="77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1" idx="1"/>
              <a:endCxn id="29" idx="3"/>
            </p:cNvCxnSpPr>
            <p:nvPr/>
          </p:nvCxnSpPr>
          <p:spPr>
            <a:xfrm flipH="1" flipV="1">
              <a:off x="5427" y="8477"/>
              <a:ext cx="1157"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1"/>
              <a:endCxn id="3" idx="3"/>
            </p:cNvCxnSpPr>
            <p:nvPr/>
          </p:nvCxnSpPr>
          <p:spPr>
            <a:xfrm flipH="1" flipV="1">
              <a:off x="5152" y="6880"/>
              <a:ext cx="1324"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3" y="6885"/>
              <a:ext cx="708" cy="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2" y="5495"/>
              <a:ext cx="1474"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学期</a:t>
              </a:r>
              <a:endParaRPr lang="zh-CN" altLang="en-US">
                <a:solidFill>
                  <a:schemeClr val="tx1"/>
                </a:solidFill>
              </a:endParaRPr>
            </a:p>
          </p:txBody>
        </p:sp>
        <p:sp>
          <p:nvSpPr>
            <p:cNvPr id="37" name="椭圆 36"/>
            <p:cNvSpPr/>
            <p:nvPr/>
          </p:nvSpPr>
          <p:spPr>
            <a:xfrm>
              <a:off x="7378" y="5495"/>
              <a:ext cx="1474"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成绩</a:t>
              </a:r>
              <a:endParaRPr lang="zh-CN" altLang="en-US">
                <a:solidFill>
                  <a:schemeClr val="tx1"/>
                </a:solidFill>
              </a:endParaRPr>
            </a:p>
          </p:txBody>
        </p:sp>
        <p:cxnSp>
          <p:nvCxnSpPr>
            <p:cNvPr id="38" name="直接连接符 37"/>
            <p:cNvCxnSpPr>
              <a:endCxn id="30" idx="0"/>
            </p:cNvCxnSpPr>
            <p:nvPr/>
          </p:nvCxnSpPr>
          <p:spPr>
            <a:xfrm>
              <a:off x="6842" y="5997"/>
              <a:ext cx="623"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7" idx="4"/>
              <a:endCxn id="30" idx="0"/>
            </p:cNvCxnSpPr>
            <p:nvPr/>
          </p:nvCxnSpPr>
          <p:spPr>
            <a:xfrm flipH="1">
              <a:off x="7465" y="6005"/>
              <a:ext cx="650" cy="4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flipV="1">
              <a:off x="8346" y="8494"/>
              <a:ext cx="794"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1" idx="0"/>
              <a:endCxn id="14" idx="2"/>
            </p:cNvCxnSpPr>
            <p:nvPr/>
          </p:nvCxnSpPr>
          <p:spPr>
            <a:xfrm flipH="1" flipV="1">
              <a:off x="10060" y="7245"/>
              <a:ext cx="11" cy="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菱形 41"/>
            <p:cNvSpPr/>
            <p:nvPr/>
          </p:nvSpPr>
          <p:spPr>
            <a:xfrm>
              <a:off x="9297" y="5381"/>
              <a:ext cx="1644" cy="73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先导</a:t>
              </a:r>
              <a:endParaRPr lang="zh-CN" altLang="en-US">
                <a:solidFill>
                  <a:schemeClr val="tx1"/>
                </a:solidFill>
              </a:endParaRPr>
            </a:p>
          </p:txBody>
        </p:sp>
        <p:cxnSp>
          <p:nvCxnSpPr>
            <p:cNvPr id="43" name="直接连接符 42"/>
            <p:cNvCxnSpPr>
              <a:stCxn id="42" idx="1"/>
            </p:cNvCxnSpPr>
            <p:nvPr/>
          </p:nvCxnSpPr>
          <p:spPr>
            <a:xfrm>
              <a:off x="9297" y="5750"/>
              <a:ext cx="349" cy="79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42" idx="3"/>
            </p:cNvCxnSpPr>
            <p:nvPr/>
          </p:nvCxnSpPr>
          <p:spPr>
            <a:xfrm flipH="1">
              <a:off x="10487" y="5750"/>
              <a:ext cx="454" cy="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a:off x="11538" y="8221"/>
              <a:ext cx="2098" cy="567"/>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课程类型</a:t>
              </a:r>
              <a:endParaRPr lang="zh-CN" altLang="en-US">
                <a:solidFill>
                  <a:schemeClr val="tx1"/>
                </a:solidFill>
              </a:endParaRPr>
            </a:p>
          </p:txBody>
        </p:sp>
        <p:cxnSp>
          <p:nvCxnSpPr>
            <p:cNvPr id="51" name="直接连接符 50"/>
            <p:cNvCxnSpPr>
              <a:stCxn id="31" idx="3"/>
              <a:endCxn id="50" idx="2"/>
            </p:cNvCxnSpPr>
            <p:nvPr/>
          </p:nvCxnSpPr>
          <p:spPr>
            <a:xfrm>
              <a:off x="11058" y="8499"/>
              <a:ext cx="480" cy="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589358" y="1390660"/>
            <a:ext cx="8383114" cy="1883593"/>
          </a:xfrm>
          <a:prstGeom prst="rect">
            <a:avLst/>
          </a:prstGeom>
        </p:spPr>
        <p:txBody>
          <a:bodyPr wrap="square">
            <a:spAutoFit/>
          </a:bodyPr>
          <a:lstStyle/>
          <a:p>
            <a:pPr algn="just">
              <a:lnSpc>
                <a:spcPct val="12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ER</a:t>
            </a:r>
            <a:r>
              <a:rPr lang="zh-CN" altLang="en-US" sz="2400" kern="100" dirty="0" smtClean="0">
                <a:latin typeface="Calibri" panose="020F0502020204030204" pitchFamily="34" charset="0"/>
                <a:cs typeface="Times New Roman" panose="02020603050405020304" pitchFamily="2" charset="0"/>
              </a:rPr>
              <a:t>模型的</a:t>
            </a: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种一般性约束包括</a:t>
            </a:r>
            <a:r>
              <a:rPr lang="en-US" altLang="zh-CN"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 </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zh-CN" altLang="en-US" sz="2400" kern="100" dirty="0" smtClean="0">
              <a:latin typeface="Calibri" panose="020F0502020204030204" pitchFamily="34" charset="0"/>
              <a:cs typeface="Times New Roman" panose="02020603050405020304" pitchFamily="2" charset="0"/>
            </a:endParaRPr>
          </a:p>
          <a:p>
            <a:pPr algn="just">
              <a:lnSpc>
                <a:spcPct val="12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、一个工人只能属于一个车间，一个车间可以有多位工人，工人与车间的联系从一般性约束角度讲属于</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zh-CN" altLang="en-US" sz="2400" kern="100" dirty="0" smtClean="0">
              <a:latin typeface="Calibri" panose="020F0502020204030204" pitchFamily="34" charset="0"/>
              <a:cs typeface="Times New Roman" panose="02020603050405020304" pitchFamily="2" charset="0"/>
            </a:endParaRPr>
          </a:p>
          <a:p>
            <a:pPr lvl="0" algn="just">
              <a:lnSpc>
                <a:spcPct val="125000"/>
              </a:lnSpc>
              <a:spcAft>
                <a:spcPts val="0"/>
              </a:spcAft>
              <a:buNone/>
            </a:pPr>
            <a:endParaRPr lang="en-US" altLang="zh-CN" sz="2400" kern="100" dirty="0">
              <a:latin typeface="Calibri" panose="020F0502020204030204" pitchFamily="34" charset="0"/>
              <a:cs typeface="Times New Roman" panose="02020603050405020304" pitchFamily="2" charset="0"/>
            </a:endParaRPr>
          </a:p>
        </p:txBody>
      </p:sp>
      <p:sp>
        <p:nvSpPr>
          <p:cNvPr id="6" name="文本框 5"/>
          <p:cNvSpPr txBox="1"/>
          <p:nvPr/>
        </p:nvSpPr>
        <p:spPr>
          <a:xfrm>
            <a:off x="606425" y="2734945"/>
            <a:ext cx="6166485" cy="589280"/>
          </a:xfrm>
          <a:prstGeom prst="rect">
            <a:avLst/>
          </a:prstGeom>
          <a:noFill/>
        </p:spPr>
        <p:txBody>
          <a:bodyPr wrap="none" rtlCol="0" anchor="t">
            <a:spAutoFit/>
          </a:bodyPr>
          <a:lstStyle/>
          <a:p>
            <a:pPr>
              <a:buNone/>
            </a:pPr>
            <a:r>
              <a:rPr lang="en-US" altLang="zh-CN" sz="2400" kern="100" dirty="0" smtClean="0">
                <a:latin typeface="Calibri" panose="020F0502020204030204" pitchFamily="34" charset="0"/>
                <a:cs typeface="Times New Roman" panose="02020603050405020304" pitchFamily="2" charset="0"/>
                <a:sym typeface="+mn-ea"/>
              </a:rPr>
              <a:t>3</a:t>
            </a:r>
            <a:r>
              <a:rPr lang="zh-CN" altLang="en-US" sz="2400" kern="100" dirty="0" smtClean="0">
                <a:latin typeface="Calibri" panose="020F0502020204030204" pitchFamily="34" charset="0"/>
                <a:cs typeface="Times New Roman" panose="02020603050405020304" pitchFamily="2" charset="0"/>
                <a:sym typeface="+mn-ea"/>
              </a:rPr>
              <a:t>、为下列</a:t>
            </a:r>
            <a:r>
              <a:rPr lang="en-US" altLang="zh-CN" sz="2400" kern="100" dirty="0" smtClean="0">
                <a:latin typeface="Calibri" panose="020F0502020204030204" pitchFamily="34" charset="0"/>
                <a:cs typeface="Times New Roman" panose="02020603050405020304" pitchFamily="2" charset="0"/>
                <a:sym typeface="+mn-ea"/>
              </a:rPr>
              <a:t>ER</a:t>
            </a:r>
            <a:r>
              <a:rPr lang="zh-CN" altLang="en-US" sz="2400" kern="100" dirty="0" smtClean="0">
                <a:latin typeface="Calibri" panose="020F0502020204030204" pitchFamily="34" charset="0"/>
                <a:cs typeface="Times New Roman" panose="02020603050405020304" pitchFamily="2" charset="0"/>
                <a:sym typeface="+mn-ea"/>
              </a:rPr>
              <a:t>模型添加一般性约束和键约束。</a:t>
            </a:r>
            <a:endParaRPr lang="zh-CN" altLang="en-US" sz="2400"/>
          </a:p>
        </p:txBody>
      </p:sp>
      <p:sp>
        <p:nvSpPr>
          <p:cNvPr id="48"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49" name="矩形 48"/>
          <p:cNvSpPr/>
          <p:nvPr/>
        </p:nvSpPr>
        <p:spPr>
          <a:xfrm>
            <a:off x="457200" y="687162"/>
            <a:ext cx="83293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FF0000"/>
                </a:solidFill>
                <a:latin typeface="Calibri" panose="020F0502020204030204" pitchFamily="34" charset="0"/>
                <a:cs typeface="Times New Roman" panose="02020603050405020304" pitchFamily="2" charset="0"/>
              </a:rPr>
              <a:t>知识点检测</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704215" y="3326765"/>
            <a:ext cx="7988935" cy="2925445"/>
            <a:chOff x="1109" y="5319"/>
            <a:chExt cx="12581" cy="4540"/>
          </a:xfrm>
        </p:grpSpPr>
        <p:sp>
          <p:nvSpPr>
            <p:cNvPr id="3" name="矩形 2"/>
            <p:cNvSpPr/>
            <p:nvPr/>
          </p:nvSpPr>
          <p:spPr>
            <a:xfrm>
              <a:off x="3390"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学生</a:t>
              </a:r>
              <a:endParaRPr lang="zh-CN" altLang="en-US">
                <a:solidFill>
                  <a:schemeClr val="tx1"/>
                </a:solidFill>
              </a:endParaRPr>
            </a:p>
          </p:txBody>
        </p:sp>
        <p:sp>
          <p:nvSpPr>
            <p:cNvPr id="4" name="椭圆 3"/>
            <p:cNvSpPr/>
            <p:nvPr/>
          </p:nvSpPr>
          <p:spPr>
            <a:xfrm>
              <a:off x="1109" y="5319"/>
              <a:ext cx="1474"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u="sng">
                  <a:solidFill>
                    <a:srgbClr val="FF0000"/>
                  </a:solidFill>
                </a:rPr>
                <a:t>学号</a:t>
              </a:r>
              <a:endParaRPr lang="zh-CN" altLang="en-US" u="sng">
                <a:solidFill>
                  <a:srgbClr val="FF0000"/>
                </a:solidFill>
              </a:endParaRPr>
            </a:p>
          </p:txBody>
        </p:sp>
        <p:sp>
          <p:nvSpPr>
            <p:cNvPr id="5" name="椭圆 4"/>
            <p:cNvSpPr/>
            <p:nvPr/>
          </p:nvSpPr>
          <p:spPr>
            <a:xfrm>
              <a:off x="1109" y="600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姓名</a:t>
              </a:r>
              <a:endParaRPr lang="zh-CN" altLang="en-US">
                <a:solidFill>
                  <a:schemeClr val="tx1"/>
                </a:solidFill>
              </a:endParaRPr>
            </a:p>
          </p:txBody>
        </p:sp>
        <p:sp>
          <p:nvSpPr>
            <p:cNvPr id="7" name="椭圆 6"/>
            <p:cNvSpPr/>
            <p:nvPr/>
          </p:nvSpPr>
          <p:spPr>
            <a:xfrm>
              <a:off x="1109" y="651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性别</a:t>
              </a:r>
              <a:endParaRPr lang="zh-CN" altLang="en-US">
                <a:solidFill>
                  <a:schemeClr val="tx1"/>
                </a:solidFill>
              </a:endParaRPr>
            </a:p>
          </p:txBody>
        </p:sp>
        <p:sp>
          <p:nvSpPr>
            <p:cNvPr id="8" name="椭圆 7"/>
            <p:cNvSpPr/>
            <p:nvPr/>
          </p:nvSpPr>
          <p:spPr>
            <a:xfrm>
              <a:off x="1109" y="7057"/>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生日</a:t>
              </a:r>
              <a:endParaRPr lang="zh-CN" altLang="en-US">
                <a:solidFill>
                  <a:schemeClr val="tx1"/>
                </a:solidFill>
              </a:endParaRPr>
            </a:p>
          </p:txBody>
        </p:sp>
        <p:sp>
          <p:nvSpPr>
            <p:cNvPr id="9" name="椭圆 8"/>
            <p:cNvSpPr/>
            <p:nvPr/>
          </p:nvSpPr>
          <p:spPr>
            <a:xfrm>
              <a:off x="1109" y="7647"/>
              <a:ext cx="1474" cy="510"/>
            </a:xfrm>
            <a:prstGeom prst="ellipse">
              <a:avLst/>
            </a:prstGeom>
            <a:ln w="15875" cmpd="sng">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年龄</a:t>
              </a:r>
              <a:endParaRPr lang="zh-CN" altLang="en-US">
                <a:solidFill>
                  <a:schemeClr val="tx1"/>
                </a:solidFill>
              </a:endParaRPr>
            </a:p>
          </p:txBody>
        </p:sp>
        <p:sp>
          <p:nvSpPr>
            <p:cNvPr id="10" name="椭圆 9"/>
            <p:cNvSpPr/>
            <p:nvPr/>
          </p:nvSpPr>
          <p:spPr>
            <a:xfrm>
              <a:off x="1109" y="8157"/>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班级</a:t>
              </a:r>
              <a:endParaRPr lang="zh-CN" altLang="en-US">
                <a:solidFill>
                  <a:schemeClr val="tx1"/>
                </a:solidFill>
              </a:endParaRPr>
            </a:p>
          </p:txBody>
        </p:sp>
        <p:sp>
          <p:nvSpPr>
            <p:cNvPr id="11" name="矩形 10"/>
            <p:cNvSpPr/>
            <p:nvPr/>
          </p:nvSpPr>
          <p:spPr>
            <a:xfrm>
              <a:off x="6584" y="8168"/>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专业</a:t>
              </a:r>
              <a:endParaRPr lang="zh-CN" altLang="en-US">
                <a:solidFill>
                  <a:schemeClr val="tx1"/>
                </a:solidFill>
              </a:endParaRPr>
            </a:p>
          </p:txBody>
        </p:sp>
        <p:sp>
          <p:nvSpPr>
            <p:cNvPr id="12" name="椭圆 11"/>
            <p:cNvSpPr/>
            <p:nvPr/>
          </p:nvSpPr>
          <p:spPr>
            <a:xfrm>
              <a:off x="5330" y="9235"/>
              <a:ext cx="2199"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专业编码</a:t>
              </a:r>
              <a:endParaRPr lang="zh-CN" altLang="en-US" u="sng">
                <a:solidFill>
                  <a:srgbClr val="FF0000"/>
                </a:solidFill>
              </a:endParaRPr>
            </a:p>
          </p:txBody>
        </p:sp>
        <p:sp>
          <p:nvSpPr>
            <p:cNvPr id="13" name="椭圆 12"/>
            <p:cNvSpPr/>
            <p:nvPr/>
          </p:nvSpPr>
          <p:spPr>
            <a:xfrm>
              <a:off x="7807" y="9235"/>
              <a:ext cx="2089"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专业名称</a:t>
              </a:r>
              <a:endParaRPr lang="zh-CN" altLang="en-US">
                <a:solidFill>
                  <a:schemeClr val="tx1"/>
                </a:solidFill>
              </a:endParaRPr>
            </a:p>
          </p:txBody>
        </p:sp>
        <p:sp>
          <p:nvSpPr>
            <p:cNvPr id="14" name="矩形 13"/>
            <p:cNvSpPr/>
            <p:nvPr/>
          </p:nvSpPr>
          <p:spPr>
            <a:xfrm>
              <a:off x="9179"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课程</a:t>
              </a:r>
              <a:endParaRPr lang="zh-CN" altLang="en-US">
                <a:solidFill>
                  <a:schemeClr val="tx1"/>
                </a:solidFill>
              </a:endParaRPr>
            </a:p>
          </p:txBody>
        </p:sp>
        <p:sp>
          <p:nvSpPr>
            <p:cNvPr id="15" name="椭圆 14"/>
            <p:cNvSpPr/>
            <p:nvPr/>
          </p:nvSpPr>
          <p:spPr>
            <a:xfrm>
              <a:off x="11538" y="5948"/>
              <a:ext cx="2153"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课程编码</a:t>
              </a:r>
              <a:endParaRPr lang="zh-CN" altLang="en-US" u="sng">
                <a:solidFill>
                  <a:srgbClr val="FF0000"/>
                </a:solidFill>
              </a:endParaRPr>
            </a:p>
          </p:txBody>
        </p:sp>
        <p:sp>
          <p:nvSpPr>
            <p:cNvPr id="16" name="椭圆 15"/>
            <p:cNvSpPr/>
            <p:nvPr/>
          </p:nvSpPr>
          <p:spPr>
            <a:xfrm>
              <a:off x="11538" y="6634"/>
              <a:ext cx="1958"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课程名</a:t>
              </a:r>
              <a:endParaRPr lang="zh-CN" altLang="en-US">
                <a:solidFill>
                  <a:schemeClr val="tx1"/>
                </a:solidFill>
              </a:endParaRPr>
            </a:p>
          </p:txBody>
        </p:sp>
        <p:sp>
          <p:nvSpPr>
            <p:cNvPr id="17" name="椭圆 16"/>
            <p:cNvSpPr/>
            <p:nvPr/>
          </p:nvSpPr>
          <p:spPr>
            <a:xfrm>
              <a:off x="11538" y="714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学分</a:t>
              </a:r>
              <a:endParaRPr lang="zh-CN" altLang="en-US">
                <a:solidFill>
                  <a:schemeClr val="tx1"/>
                </a:solidFill>
              </a:endParaRPr>
            </a:p>
          </p:txBody>
        </p:sp>
        <p:cxnSp>
          <p:nvCxnSpPr>
            <p:cNvPr id="18" name="直接连接符 17"/>
            <p:cNvCxnSpPr>
              <a:stCxn id="4" idx="5"/>
              <a:endCxn id="3" idx="1"/>
            </p:cNvCxnSpPr>
            <p:nvPr/>
          </p:nvCxnSpPr>
          <p:spPr>
            <a:xfrm>
              <a:off x="2367" y="5852"/>
              <a:ext cx="1023" cy="102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p:cNvCxnSpPr>
            <p:nvPr/>
          </p:nvCxnSpPr>
          <p:spPr>
            <a:xfrm>
              <a:off x="2583"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583" y="6770"/>
              <a:ext cx="807" cy="11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8" idx="7"/>
              <a:endCxn id="3" idx="1"/>
            </p:cNvCxnSpPr>
            <p:nvPr/>
          </p:nvCxnSpPr>
          <p:spPr>
            <a:xfrm flipV="1">
              <a:off x="2367" y="6880"/>
              <a:ext cx="1023" cy="2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3" idx="1"/>
            </p:cNvCxnSpPr>
            <p:nvPr/>
          </p:nvCxnSpPr>
          <p:spPr>
            <a:xfrm flipV="1">
              <a:off x="2500" y="6880"/>
              <a:ext cx="890" cy="80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2581" y="6958"/>
              <a:ext cx="808" cy="132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7" y="6260"/>
              <a:ext cx="597" cy="62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7" y="6880"/>
              <a:ext cx="597"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3" y="6942"/>
              <a:ext cx="571" cy="45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2"/>
              <a:ext cx="881"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5" y="8882"/>
              <a:ext cx="1387"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菱形 28"/>
            <p:cNvSpPr/>
            <p:nvPr/>
          </p:nvSpPr>
          <p:spPr>
            <a:xfrm>
              <a:off x="3115" y="8023"/>
              <a:ext cx="2312"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属于</a:t>
              </a:r>
              <a:endParaRPr lang="zh-CN" altLang="en-US">
                <a:solidFill>
                  <a:schemeClr val="tx1"/>
                </a:solidFill>
              </a:endParaRPr>
            </a:p>
          </p:txBody>
        </p:sp>
        <p:sp>
          <p:nvSpPr>
            <p:cNvPr id="30" name="菱形 29"/>
            <p:cNvSpPr/>
            <p:nvPr/>
          </p:nvSpPr>
          <p:spPr>
            <a:xfrm>
              <a:off x="6476" y="6435"/>
              <a:ext cx="1977"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rtlCol="0" anchor="ctr"/>
            <a:lstStyle/>
            <a:p>
              <a:pPr algn="ctr">
                <a:buNone/>
              </a:pPr>
              <a:r>
                <a:rPr lang="zh-CN" altLang="en-US">
                  <a:solidFill>
                    <a:schemeClr val="tx1"/>
                  </a:solidFill>
                </a:rPr>
                <a:t>选课</a:t>
              </a:r>
              <a:endParaRPr lang="zh-CN" altLang="en-US">
                <a:solidFill>
                  <a:schemeClr val="tx1"/>
                </a:solidFill>
              </a:endParaRPr>
            </a:p>
          </p:txBody>
        </p:sp>
        <p:sp>
          <p:nvSpPr>
            <p:cNvPr id="31" name="菱形 30"/>
            <p:cNvSpPr/>
            <p:nvPr/>
          </p:nvSpPr>
          <p:spPr>
            <a:xfrm>
              <a:off x="9084" y="8045"/>
              <a:ext cx="1974"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36195" rtlCol="0" anchor="ctr"/>
            <a:lstStyle/>
            <a:p>
              <a:pPr algn="ctr">
                <a:buNone/>
              </a:pPr>
              <a:r>
                <a:rPr lang="zh-CN" altLang="en-US">
                  <a:solidFill>
                    <a:schemeClr val="tx1"/>
                  </a:solidFill>
                </a:rPr>
                <a:t>设置</a:t>
              </a:r>
              <a:endParaRPr lang="zh-CN" altLang="en-US">
                <a:solidFill>
                  <a:schemeClr val="tx1"/>
                </a:solidFill>
              </a:endParaRPr>
            </a:p>
          </p:txBody>
        </p:sp>
        <p:cxnSp>
          <p:nvCxnSpPr>
            <p:cNvPr id="32" name="直接连接符 31"/>
            <p:cNvCxnSpPr>
              <a:stCxn id="3" idx="2"/>
              <a:endCxn id="29" idx="0"/>
            </p:cNvCxnSpPr>
            <p:nvPr/>
          </p:nvCxnSpPr>
          <p:spPr>
            <a:xfrm>
              <a:off x="4271" y="7245"/>
              <a:ext cx="0" cy="778"/>
            </a:xfrm>
            <a:prstGeom prst="line">
              <a:avLst/>
            </a:prstGeom>
            <a:ln w="15875">
              <a:solidFill>
                <a:srgbClr val="CC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1" idx="1"/>
              <a:endCxn id="29" idx="3"/>
            </p:cNvCxnSpPr>
            <p:nvPr/>
          </p:nvCxnSpPr>
          <p:spPr>
            <a:xfrm flipH="1" flipV="1">
              <a:off x="5427" y="8477"/>
              <a:ext cx="1157"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1"/>
              <a:endCxn id="3" idx="3"/>
            </p:cNvCxnSpPr>
            <p:nvPr/>
          </p:nvCxnSpPr>
          <p:spPr>
            <a:xfrm flipH="1" flipV="1">
              <a:off x="5152" y="6880"/>
              <a:ext cx="1324"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3" y="6885"/>
              <a:ext cx="708" cy="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2" y="5495"/>
              <a:ext cx="1474"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学期</a:t>
              </a:r>
              <a:endParaRPr lang="zh-CN" altLang="en-US">
                <a:solidFill>
                  <a:schemeClr val="tx1"/>
                </a:solidFill>
              </a:endParaRPr>
            </a:p>
          </p:txBody>
        </p:sp>
        <p:sp>
          <p:nvSpPr>
            <p:cNvPr id="37" name="椭圆 36"/>
            <p:cNvSpPr/>
            <p:nvPr/>
          </p:nvSpPr>
          <p:spPr>
            <a:xfrm>
              <a:off x="7378" y="5495"/>
              <a:ext cx="1474"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成绩</a:t>
              </a:r>
              <a:endParaRPr lang="zh-CN" altLang="en-US">
                <a:solidFill>
                  <a:schemeClr val="tx1"/>
                </a:solidFill>
              </a:endParaRPr>
            </a:p>
          </p:txBody>
        </p:sp>
        <p:cxnSp>
          <p:nvCxnSpPr>
            <p:cNvPr id="38" name="直接连接符 37"/>
            <p:cNvCxnSpPr>
              <a:endCxn id="30" idx="0"/>
            </p:cNvCxnSpPr>
            <p:nvPr/>
          </p:nvCxnSpPr>
          <p:spPr>
            <a:xfrm>
              <a:off x="6842" y="5997"/>
              <a:ext cx="623"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7" idx="4"/>
              <a:endCxn id="30" idx="0"/>
            </p:cNvCxnSpPr>
            <p:nvPr/>
          </p:nvCxnSpPr>
          <p:spPr>
            <a:xfrm flipH="1">
              <a:off x="7465" y="6005"/>
              <a:ext cx="650" cy="4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flipV="1">
              <a:off x="8346" y="8494"/>
              <a:ext cx="794"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1" idx="0"/>
              <a:endCxn id="14" idx="2"/>
            </p:cNvCxnSpPr>
            <p:nvPr/>
          </p:nvCxnSpPr>
          <p:spPr>
            <a:xfrm flipH="1" flipV="1">
              <a:off x="10060" y="7245"/>
              <a:ext cx="11" cy="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菱形 41"/>
            <p:cNvSpPr/>
            <p:nvPr/>
          </p:nvSpPr>
          <p:spPr>
            <a:xfrm>
              <a:off x="9297" y="5381"/>
              <a:ext cx="1644" cy="73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先导</a:t>
              </a:r>
              <a:endParaRPr lang="zh-CN" altLang="en-US">
                <a:solidFill>
                  <a:schemeClr val="tx1"/>
                </a:solidFill>
              </a:endParaRPr>
            </a:p>
          </p:txBody>
        </p:sp>
        <p:cxnSp>
          <p:nvCxnSpPr>
            <p:cNvPr id="43" name="直接连接符 42"/>
            <p:cNvCxnSpPr>
              <a:stCxn id="42" idx="1"/>
            </p:cNvCxnSpPr>
            <p:nvPr/>
          </p:nvCxnSpPr>
          <p:spPr>
            <a:xfrm>
              <a:off x="9297" y="5750"/>
              <a:ext cx="349" cy="79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42" idx="3"/>
            </p:cNvCxnSpPr>
            <p:nvPr/>
          </p:nvCxnSpPr>
          <p:spPr>
            <a:xfrm flipH="1">
              <a:off x="10487" y="5750"/>
              <a:ext cx="454" cy="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a:off x="11538" y="8221"/>
              <a:ext cx="2098" cy="567"/>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课程类型</a:t>
              </a:r>
              <a:endParaRPr lang="zh-CN" altLang="en-US">
                <a:solidFill>
                  <a:schemeClr val="tx1"/>
                </a:solidFill>
              </a:endParaRPr>
            </a:p>
          </p:txBody>
        </p:sp>
        <p:cxnSp>
          <p:nvCxnSpPr>
            <p:cNvPr id="51" name="直接连接符 50"/>
            <p:cNvCxnSpPr>
              <a:stCxn id="31" idx="3"/>
              <a:endCxn id="50" idx="2"/>
            </p:cNvCxnSpPr>
            <p:nvPr/>
          </p:nvCxnSpPr>
          <p:spPr>
            <a:xfrm>
              <a:off x="11058" y="8499"/>
              <a:ext cx="480" cy="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606650" y="631826"/>
            <a:ext cx="8383114" cy="2620645"/>
          </a:xfrm>
          <a:prstGeom prst="rect">
            <a:avLst/>
          </a:prstGeom>
        </p:spPr>
        <p:txBody>
          <a:bodyPr wrap="square">
            <a:spAutoFit/>
          </a:bodyPr>
          <a:lstStyle/>
          <a:p>
            <a:pPr algn="just">
              <a:lnSpc>
                <a:spcPct val="150000"/>
              </a:lnSpc>
              <a:spcAft>
                <a:spcPts val="0"/>
              </a:spcAft>
              <a:buNone/>
            </a:pPr>
            <a:endParaRPr lang="en-US" altLang="zh-CN" sz="3200" kern="100" dirty="0" smtClean="0">
              <a:solidFill>
                <a:srgbClr val="FF0000"/>
              </a:solidFill>
              <a:latin typeface="Calibri" panose="020F0502020204030204" pitchFamily="34" charset="0"/>
              <a:cs typeface="Times New Roman" panose="02020603050405020304" pitchFamily="2" charset="0"/>
            </a:endParaRPr>
          </a:p>
          <a:p>
            <a:pPr algn="just">
              <a:lnSpc>
                <a:spcPct val="12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ER</a:t>
            </a:r>
            <a:r>
              <a:rPr lang="zh-CN" altLang="en-US" sz="2400" kern="100" dirty="0" smtClean="0">
                <a:latin typeface="Calibri" panose="020F0502020204030204" pitchFamily="34" charset="0"/>
                <a:cs typeface="Times New Roman" panose="02020603050405020304" pitchFamily="2" charset="0"/>
              </a:rPr>
              <a:t>模型的</a:t>
            </a: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种一般性约束包括</a:t>
            </a:r>
            <a:r>
              <a:rPr lang="en-US" altLang="zh-CN"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 </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zh-CN" altLang="en-US" sz="2400" kern="100" dirty="0" smtClean="0">
              <a:latin typeface="Calibri" panose="020F0502020204030204" pitchFamily="34" charset="0"/>
              <a:cs typeface="Times New Roman" panose="02020603050405020304" pitchFamily="2" charset="0"/>
            </a:endParaRPr>
          </a:p>
          <a:p>
            <a:pPr algn="just">
              <a:lnSpc>
                <a:spcPct val="12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、一个工人只能属于一个车间，一个车间可以有多位工人，工人与车间的联系从一般性约束角度讲属于</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zh-CN" altLang="en-US" sz="2400" kern="100" dirty="0" smtClean="0">
              <a:latin typeface="Calibri" panose="020F0502020204030204" pitchFamily="34" charset="0"/>
              <a:cs typeface="Times New Roman" panose="02020603050405020304" pitchFamily="2" charset="0"/>
            </a:endParaRPr>
          </a:p>
          <a:p>
            <a:pPr lvl="0" algn="just">
              <a:lnSpc>
                <a:spcPct val="125000"/>
              </a:lnSpc>
              <a:spcAft>
                <a:spcPts val="0"/>
              </a:spcAft>
              <a:buNone/>
            </a:pPr>
            <a:endParaRPr lang="en-US" altLang="zh-CN" sz="2400" kern="100" dirty="0">
              <a:latin typeface="Calibri" panose="020F0502020204030204" pitchFamily="34" charset="0"/>
              <a:cs typeface="Times New Roman" panose="02020603050405020304" pitchFamily="2" charset="0"/>
            </a:endParaRPr>
          </a:p>
        </p:txBody>
      </p:sp>
      <p:sp>
        <p:nvSpPr>
          <p:cNvPr id="6" name="文本框 5"/>
          <p:cNvSpPr txBox="1"/>
          <p:nvPr/>
        </p:nvSpPr>
        <p:spPr>
          <a:xfrm>
            <a:off x="606425" y="2734945"/>
            <a:ext cx="6166485" cy="589280"/>
          </a:xfrm>
          <a:prstGeom prst="rect">
            <a:avLst/>
          </a:prstGeom>
          <a:noFill/>
        </p:spPr>
        <p:txBody>
          <a:bodyPr wrap="none" rtlCol="0" anchor="t">
            <a:spAutoFit/>
          </a:bodyPr>
          <a:lstStyle/>
          <a:p>
            <a:pPr>
              <a:buNone/>
            </a:pPr>
            <a:r>
              <a:rPr lang="en-US" altLang="zh-CN" sz="2400" kern="100" dirty="0" smtClean="0">
                <a:latin typeface="Calibri" panose="020F0502020204030204" pitchFamily="34" charset="0"/>
                <a:cs typeface="Times New Roman" panose="02020603050405020304" pitchFamily="2" charset="0"/>
                <a:sym typeface="+mn-ea"/>
              </a:rPr>
              <a:t>3</a:t>
            </a:r>
            <a:r>
              <a:rPr lang="zh-CN" altLang="en-US" sz="2400" kern="100" dirty="0" smtClean="0">
                <a:latin typeface="Calibri" panose="020F0502020204030204" pitchFamily="34" charset="0"/>
                <a:cs typeface="Times New Roman" panose="02020603050405020304" pitchFamily="2" charset="0"/>
                <a:sym typeface="+mn-ea"/>
              </a:rPr>
              <a:t>、为下列</a:t>
            </a:r>
            <a:r>
              <a:rPr lang="en-US" altLang="zh-CN" sz="2400" kern="100" dirty="0" smtClean="0">
                <a:latin typeface="Calibri" panose="020F0502020204030204" pitchFamily="34" charset="0"/>
                <a:cs typeface="Times New Roman" panose="02020603050405020304" pitchFamily="2" charset="0"/>
                <a:sym typeface="+mn-ea"/>
              </a:rPr>
              <a:t>ER</a:t>
            </a:r>
            <a:r>
              <a:rPr lang="zh-CN" altLang="en-US" sz="2400" kern="100" dirty="0" smtClean="0">
                <a:latin typeface="Calibri" panose="020F0502020204030204" pitchFamily="34" charset="0"/>
                <a:cs typeface="Times New Roman" panose="02020603050405020304" pitchFamily="2" charset="0"/>
                <a:sym typeface="+mn-ea"/>
              </a:rPr>
              <a:t>模型添加一般性约束和键约束。</a:t>
            </a:r>
            <a:endParaRPr lang="zh-CN" altLang="en-US" sz="2400"/>
          </a:p>
        </p:txBody>
      </p:sp>
      <p:sp>
        <p:nvSpPr>
          <p:cNvPr id="45" name="文本框 44"/>
          <p:cNvSpPr txBox="1"/>
          <p:nvPr/>
        </p:nvSpPr>
        <p:spPr>
          <a:xfrm>
            <a:off x="5254625" y="1329690"/>
            <a:ext cx="549275" cy="506730"/>
          </a:xfrm>
          <a:prstGeom prst="rect">
            <a:avLst/>
          </a:prstGeom>
          <a:noFill/>
        </p:spPr>
        <p:txBody>
          <a:bodyPr wrap="none" rtlCol="0" anchor="t">
            <a:spAutoFit/>
          </a:bodyPr>
          <a:lstStyle/>
          <a:p>
            <a:pPr>
              <a:buNone/>
            </a:pPr>
            <a:r>
              <a:rPr lang="en-US" altLang="zh-CN" sz="2000">
                <a:solidFill>
                  <a:srgbClr val="FF0000"/>
                </a:solidFill>
              </a:rPr>
              <a:t>1:1</a:t>
            </a:r>
            <a:endParaRPr lang="en-US" altLang="zh-CN" sz="2000">
              <a:solidFill>
                <a:srgbClr val="FF0000"/>
              </a:solidFill>
            </a:endParaRPr>
          </a:p>
        </p:txBody>
      </p:sp>
      <p:sp>
        <p:nvSpPr>
          <p:cNvPr id="46" name="文本框 45"/>
          <p:cNvSpPr txBox="1"/>
          <p:nvPr/>
        </p:nvSpPr>
        <p:spPr>
          <a:xfrm>
            <a:off x="6458585" y="1304290"/>
            <a:ext cx="563245" cy="506730"/>
          </a:xfrm>
          <a:prstGeom prst="rect">
            <a:avLst/>
          </a:prstGeom>
          <a:noFill/>
        </p:spPr>
        <p:txBody>
          <a:bodyPr wrap="none" rtlCol="0" anchor="t">
            <a:spAutoFit/>
          </a:bodyPr>
          <a:lstStyle/>
          <a:p>
            <a:pPr>
              <a:buNone/>
            </a:pPr>
            <a:r>
              <a:rPr lang="en-US" altLang="zh-CN" sz="2000">
                <a:solidFill>
                  <a:srgbClr val="FF0000"/>
                </a:solidFill>
              </a:rPr>
              <a:t>1:n</a:t>
            </a:r>
            <a:endParaRPr lang="en-US" altLang="zh-CN" sz="2000">
              <a:solidFill>
                <a:srgbClr val="FF0000"/>
              </a:solidFill>
            </a:endParaRPr>
          </a:p>
        </p:txBody>
      </p:sp>
      <p:sp>
        <p:nvSpPr>
          <p:cNvPr id="47" name="文本框 46"/>
          <p:cNvSpPr txBox="1"/>
          <p:nvPr/>
        </p:nvSpPr>
        <p:spPr>
          <a:xfrm>
            <a:off x="7780655" y="1278890"/>
            <a:ext cx="648335" cy="506730"/>
          </a:xfrm>
          <a:prstGeom prst="rect">
            <a:avLst/>
          </a:prstGeom>
          <a:noFill/>
        </p:spPr>
        <p:txBody>
          <a:bodyPr wrap="none" rtlCol="0" anchor="t">
            <a:spAutoFit/>
          </a:bodyPr>
          <a:lstStyle/>
          <a:p>
            <a:pPr>
              <a:buNone/>
            </a:pPr>
            <a:r>
              <a:rPr lang="en-US" altLang="zh-CN" sz="2000">
                <a:solidFill>
                  <a:srgbClr val="FF0000"/>
                </a:solidFill>
              </a:rPr>
              <a:t>m:n</a:t>
            </a:r>
            <a:endParaRPr lang="en-US" altLang="zh-CN" sz="2000">
              <a:solidFill>
                <a:srgbClr val="FF0000"/>
              </a:solidFill>
            </a:endParaRPr>
          </a:p>
        </p:txBody>
      </p:sp>
      <p:sp>
        <p:nvSpPr>
          <p:cNvPr id="48" name="文本框 47"/>
          <p:cNvSpPr txBox="1"/>
          <p:nvPr/>
        </p:nvSpPr>
        <p:spPr>
          <a:xfrm>
            <a:off x="6773545" y="2177415"/>
            <a:ext cx="563245" cy="506730"/>
          </a:xfrm>
          <a:prstGeom prst="rect">
            <a:avLst/>
          </a:prstGeom>
          <a:noFill/>
        </p:spPr>
        <p:txBody>
          <a:bodyPr wrap="none" rtlCol="0" anchor="t">
            <a:spAutoFit/>
          </a:bodyPr>
          <a:lstStyle/>
          <a:p>
            <a:pPr>
              <a:buNone/>
            </a:pPr>
            <a:r>
              <a:rPr lang="en-US" altLang="zh-CN" sz="2000">
                <a:solidFill>
                  <a:srgbClr val="FF0000"/>
                </a:solidFill>
              </a:rPr>
              <a:t>n:1</a:t>
            </a:r>
            <a:endParaRPr lang="en-US" altLang="zh-CN" sz="2000">
              <a:solidFill>
                <a:srgbClr val="FF0000"/>
              </a:solidFill>
            </a:endParaRPr>
          </a:p>
        </p:txBody>
      </p:sp>
      <p:sp>
        <p:nvSpPr>
          <p:cNvPr id="49" name="文本框 48"/>
          <p:cNvSpPr txBox="1"/>
          <p:nvPr/>
        </p:nvSpPr>
        <p:spPr>
          <a:xfrm>
            <a:off x="2798445" y="4421505"/>
            <a:ext cx="337820" cy="506730"/>
          </a:xfrm>
          <a:prstGeom prst="rect">
            <a:avLst/>
          </a:prstGeom>
          <a:noFill/>
        </p:spPr>
        <p:txBody>
          <a:bodyPr wrap="none" rtlCol="0" anchor="t">
            <a:spAutoFit/>
          </a:bodyPr>
          <a:lstStyle/>
          <a:p>
            <a:pPr>
              <a:buNone/>
            </a:pPr>
            <a:r>
              <a:rPr lang="en-US" altLang="zh-CN" sz="2000">
                <a:solidFill>
                  <a:srgbClr val="FF0000"/>
                </a:solidFill>
              </a:rPr>
              <a:t>n</a:t>
            </a:r>
            <a:endParaRPr lang="en-US" altLang="zh-CN" sz="2000">
              <a:solidFill>
                <a:srgbClr val="FF0000"/>
              </a:solidFill>
            </a:endParaRPr>
          </a:p>
        </p:txBody>
      </p:sp>
      <p:sp>
        <p:nvSpPr>
          <p:cNvPr id="53" name="文本框 52"/>
          <p:cNvSpPr txBox="1"/>
          <p:nvPr/>
        </p:nvSpPr>
        <p:spPr>
          <a:xfrm>
            <a:off x="3532505" y="4893945"/>
            <a:ext cx="323850" cy="506730"/>
          </a:xfrm>
          <a:prstGeom prst="rect">
            <a:avLst/>
          </a:prstGeom>
          <a:noFill/>
        </p:spPr>
        <p:txBody>
          <a:bodyPr wrap="none" rtlCol="0" anchor="t">
            <a:spAutoFit/>
          </a:bodyPr>
          <a:lstStyle/>
          <a:p>
            <a:pPr>
              <a:buNone/>
            </a:pPr>
            <a:r>
              <a:rPr lang="en-US" altLang="zh-CN" sz="2000">
                <a:solidFill>
                  <a:srgbClr val="FF0000"/>
                </a:solidFill>
              </a:rPr>
              <a:t>1</a:t>
            </a:r>
            <a:endParaRPr lang="en-US" altLang="zh-CN" sz="2000">
              <a:solidFill>
                <a:srgbClr val="FF0000"/>
              </a:solidFill>
            </a:endParaRPr>
          </a:p>
        </p:txBody>
      </p:sp>
      <p:sp>
        <p:nvSpPr>
          <p:cNvPr id="54" name="文本框 53"/>
          <p:cNvSpPr txBox="1"/>
          <p:nvPr/>
        </p:nvSpPr>
        <p:spPr>
          <a:xfrm>
            <a:off x="5478145" y="4825365"/>
            <a:ext cx="337820" cy="506730"/>
          </a:xfrm>
          <a:prstGeom prst="rect">
            <a:avLst/>
          </a:prstGeom>
          <a:noFill/>
        </p:spPr>
        <p:txBody>
          <a:bodyPr wrap="none" rtlCol="0" anchor="t">
            <a:spAutoFit/>
          </a:bodyPr>
          <a:lstStyle/>
          <a:p>
            <a:pPr>
              <a:buNone/>
            </a:pPr>
            <a:r>
              <a:rPr lang="en-US" altLang="zh-CN" sz="2000">
                <a:solidFill>
                  <a:srgbClr val="FF0000"/>
                </a:solidFill>
              </a:rPr>
              <a:t>n</a:t>
            </a:r>
            <a:endParaRPr lang="en-US" altLang="zh-CN" sz="2000">
              <a:solidFill>
                <a:srgbClr val="FF0000"/>
              </a:solidFill>
            </a:endParaRPr>
          </a:p>
        </p:txBody>
      </p:sp>
      <p:sp>
        <p:nvSpPr>
          <p:cNvPr id="55" name="文本框 54"/>
          <p:cNvSpPr txBox="1"/>
          <p:nvPr/>
        </p:nvSpPr>
        <p:spPr>
          <a:xfrm>
            <a:off x="6458585" y="4439920"/>
            <a:ext cx="408940" cy="506730"/>
          </a:xfrm>
          <a:prstGeom prst="rect">
            <a:avLst/>
          </a:prstGeom>
          <a:noFill/>
        </p:spPr>
        <p:txBody>
          <a:bodyPr wrap="none" rtlCol="0" anchor="t">
            <a:spAutoFit/>
          </a:bodyPr>
          <a:lstStyle/>
          <a:p>
            <a:pPr>
              <a:buNone/>
            </a:pPr>
            <a:r>
              <a:rPr lang="en-US" altLang="zh-CN" sz="2000">
                <a:solidFill>
                  <a:srgbClr val="FF0000"/>
                </a:solidFill>
              </a:rPr>
              <a:t>m</a:t>
            </a:r>
            <a:endParaRPr lang="en-US" altLang="zh-CN" sz="2000">
              <a:solidFill>
                <a:srgbClr val="FF0000"/>
              </a:solidFill>
            </a:endParaRPr>
          </a:p>
        </p:txBody>
      </p:sp>
      <p:sp>
        <p:nvSpPr>
          <p:cNvPr id="56" name="文本框 55"/>
          <p:cNvSpPr txBox="1"/>
          <p:nvPr/>
        </p:nvSpPr>
        <p:spPr>
          <a:xfrm>
            <a:off x="5422265" y="3853815"/>
            <a:ext cx="375920" cy="506730"/>
          </a:xfrm>
          <a:prstGeom prst="rect">
            <a:avLst/>
          </a:prstGeom>
          <a:noFill/>
        </p:spPr>
        <p:txBody>
          <a:bodyPr wrap="square" rtlCol="0" anchor="t">
            <a:spAutoFit/>
          </a:bodyPr>
          <a:lstStyle/>
          <a:p>
            <a:pPr>
              <a:buNone/>
            </a:pPr>
            <a:r>
              <a:rPr lang="en-US" altLang="zh-CN" sz="2000">
                <a:solidFill>
                  <a:srgbClr val="FF0000"/>
                </a:solidFill>
              </a:rPr>
              <a:t>n</a:t>
            </a:r>
            <a:endParaRPr lang="en-US" altLang="zh-CN" sz="2000">
              <a:solidFill>
                <a:srgbClr val="FF0000"/>
              </a:solidFill>
            </a:endParaRPr>
          </a:p>
        </p:txBody>
      </p:sp>
      <p:sp>
        <p:nvSpPr>
          <p:cNvPr id="57" name="文本框 56"/>
          <p:cNvSpPr txBox="1"/>
          <p:nvPr/>
        </p:nvSpPr>
        <p:spPr>
          <a:xfrm>
            <a:off x="3573145" y="3856355"/>
            <a:ext cx="424180" cy="506730"/>
          </a:xfrm>
          <a:prstGeom prst="rect">
            <a:avLst/>
          </a:prstGeom>
          <a:noFill/>
        </p:spPr>
        <p:txBody>
          <a:bodyPr wrap="square" rtlCol="0" anchor="t">
            <a:spAutoFit/>
          </a:bodyPr>
          <a:lstStyle/>
          <a:p>
            <a:pPr>
              <a:buNone/>
            </a:pPr>
            <a:r>
              <a:rPr lang="en-US" altLang="zh-CN" sz="2000">
                <a:solidFill>
                  <a:srgbClr val="FF0000"/>
                </a:solidFill>
              </a:rPr>
              <a:t>m</a:t>
            </a:r>
            <a:endParaRPr lang="en-US" altLang="zh-CN" sz="2000">
              <a:solidFill>
                <a:srgbClr val="FF0000"/>
              </a:solidFill>
            </a:endParaRPr>
          </a:p>
        </p:txBody>
      </p:sp>
      <p:sp>
        <p:nvSpPr>
          <p:cNvPr id="58" name="文本框 57"/>
          <p:cNvSpPr txBox="1"/>
          <p:nvPr/>
        </p:nvSpPr>
        <p:spPr>
          <a:xfrm>
            <a:off x="6727825" y="3652520"/>
            <a:ext cx="408940" cy="506730"/>
          </a:xfrm>
          <a:prstGeom prst="rect">
            <a:avLst/>
          </a:prstGeom>
          <a:noFill/>
        </p:spPr>
        <p:txBody>
          <a:bodyPr wrap="none" rtlCol="0" anchor="t">
            <a:spAutoFit/>
          </a:bodyPr>
          <a:lstStyle/>
          <a:p>
            <a:pPr>
              <a:buNone/>
            </a:pPr>
            <a:r>
              <a:rPr lang="en-US" altLang="zh-CN" sz="2000">
                <a:solidFill>
                  <a:srgbClr val="FF0000"/>
                </a:solidFill>
              </a:rPr>
              <a:t>m</a:t>
            </a:r>
            <a:endParaRPr lang="en-US" altLang="zh-CN" sz="2000">
              <a:solidFill>
                <a:srgbClr val="FF0000"/>
              </a:solidFill>
            </a:endParaRPr>
          </a:p>
        </p:txBody>
      </p:sp>
      <p:sp>
        <p:nvSpPr>
          <p:cNvPr id="59" name="文本框 58"/>
          <p:cNvSpPr txBox="1"/>
          <p:nvPr/>
        </p:nvSpPr>
        <p:spPr>
          <a:xfrm>
            <a:off x="5747385" y="3601085"/>
            <a:ext cx="337820" cy="506730"/>
          </a:xfrm>
          <a:prstGeom prst="rect">
            <a:avLst/>
          </a:prstGeom>
          <a:noFill/>
        </p:spPr>
        <p:txBody>
          <a:bodyPr wrap="none" rtlCol="0" anchor="t">
            <a:spAutoFit/>
          </a:bodyPr>
          <a:lstStyle/>
          <a:p>
            <a:pPr>
              <a:buNone/>
            </a:pPr>
            <a:r>
              <a:rPr lang="en-US" altLang="zh-CN" sz="2000">
                <a:solidFill>
                  <a:srgbClr val="FF0000"/>
                </a:solidFill>
              </a:rPr>
              <a:t>n</a:t>
            </a:r>
            <a:endParaRPr lang="en-US" altLang="zh-CN" sz="2000">
              <a:solidFill>
                <a:srgbClr val="FF0000"/>
              </a:solidFill>
            </a:endParaRPr>
          </a:p>
        </p:txBody>
      </p:sp>
      <p:sp>
        <p:nvSpPr>
          <p:cNvPr id="60"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62" name="矩形 61"/>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fill="hold"/>
                                        <p:tgtEl>
                                          <p:spTgt spid="47"/>
                                        </p:tgtEl>
                                        <p:attrNameLst>
                                          <p:attrName>ppt_x</p:attrName>
                                        </p:attrNameLst>
                                      </p:cBhvr>
                                      <p:tavLst>
                                        <p:tav tm="0">
                                          <p:val>
                                            <p:strVal val="#ppt_x"/>
                                          </p:val>
                                        </p:tav>
                                        <p:tav tm="100000">
                                          <p:val>
                                            <p:strVal val="#ppt_x"/>
                                          </p:val>
                                        </p:tav>
                                      </p:tavLst>
                                    </p:anim>
                                    <p:anim calcmode="lin" valueType="num">
                                      <p:cBhvr additive="base">
                                        <p:cTn id="16"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8"/>
                                        </p:tgtEl>
                                        <p:attrNameLst>
                                          <p:attrName>style.visibility</p:attrName>
                                        </p:attrNameLst>
                                      </p:cBhvr>
                                      <p:to>
                                        <p:strVal val="visible"/>
                                      </p:to>
                                    </p:set>
                                    <p:anim calcmode="lin" valueType="num">
                                      <p:cBhvr additive="base">
                                        <p:cTn id="21" dur="500" fill="hold"/>
                                        <p:tgtEl>
                                          <p:spTgt spid="48"/>
                                        </p:tgtEl>
                                        <p:attrNameLst>
                                          <p:attrName>ppt_x</p:attrName>
                                        </p:attrNameLst>
                                      </p:cBhvr>
                                      <p:tavLst>
                                        <p:tav tm="0">
                                          <p:val>
                                            <p:strVal val="#ppt_x"/>
                                          </p:val>
                                        </p:tav>
                                        <p:tav tm="100000">
                                          <p:val>
                                            <p:strVal val="#ppt_x"/>
                                          </p:val>
                                        </p:tav>
                                      </p:tavLst>
                                    </p:anim>
                                    <p:anim calcmode="lin" valueType="num">
                                      <p:cBhvr additive="base">
                                        <p:cTn id="2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ppt_x"/>
                                          </p:val>
                                        </p:tav>
                                        <p:tav tm="100000">
                                          <p:val>
                                            <p:strVal val="#ppt_x"/>
                                          </p:val>
                                        </p:tav>
                                      </p:tavLst>
                                    </p:anim>
                                    <p:anim calcmode="lin" valueType="num">
                                      <p:cBhvr additive="base">
                                        <p:cTn id="28" dur="500" fill="hold"/>
                                        <p:tgtEl>
                                          <p:spTgt spid="4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500" fill="hold"/>
                                        <p:tgtEl>
                                          <p:spTgt spid="53"/>
                                        </p:tgtEl>
                                        <p:attrNameLst>
                                          <p:attrName>ppt_x</p:attrName>
                                        </p:attrNameLst>
                                      </p:cBhvr>
                                      <p:tavLst>
                                        <p:tav tm="0">
                                          <p:val>
                                            <p:strVal val="#ppt_x"/>
                                          </p:val>
                                        </p:tav>
                                        <p:tav tm="100000">
                                          <p:val>
                                            <p:strVal val="#ppt_x"/>
                                          </p:val>
                                        </p:tav>
                                      </p:tavLst>
                                    </p:anim>
                                    <p:anim calcmode="lin" valueType="num">
                                      <p:cBhvr additive="base">
                                        <p:cTn id="32"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4"/>
                                        </p:tgtEl>
                                        <p:attrNameLst>
                                          <p:attrName>style.visibility</p:attrName>
                                        </p:attrNameLst>
                                      </p:cBhvr>
                                      <p:to>
                                        <p:strVal val="visible"/>
                                      </p:to>
                                    </p:set>
                                    <p:anim calcmode="lin" valueType="num">
                                      <p:cBhvr additive="base">
                                        <p:cTn id="37" dur="500" fill="hold"/>
                                        <p:tgtEl>
                                          <p:spTgt spid="54"/>
                                        </p:tgtEl>
                                        <p:attrNameLst>
                                          <p:attrName>ppt_x</p:attrName>
                                        </p:attrNameLst>
                                      </p:cBhvr>
                                      <p:tavLst>
                                        <p:tav tm="0">
                                          <p:val>
                                            <p:strVal val="#ppt_x"/>
                                          </p:val>
                                        </p:tav>
                                        <p:tav tm="100000">
                                          <p:val>
                                            <p:strVal val="#ppt_x"/>
                                          </p:val>
                                        </p:tav>
                                      </p:tavLst>
                                    </p:anim>
                                    <p:anim calcmode="lin" valueType="num">
                                      <p:cBhvr additive="base">
                                        <p:cTn id="38" dur="500" fill="hold"/>
                                        <p:tgtEl>
                                          <p:spTgt spid="5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anim calcmode="lin" valueType="num">
                                      <p:cBhvr additive="base">
                                        <p:cTn id="41" dur="500" fill="hold"/>
                                        <p:tgtEl>
                                          <p:spTgt spid="55"/>
                                        </p:tgtEl>
                                        <p:attrNameLst>
                                          <p:attrName>ppt_x</p:attrName>
                                        </p:attrNameLst>
                                      </p:cBhvr>
                                      <p:tavLst>
                                        <p:tav tm="0">
                                          <p:val>
                                            <p:strVal val="#ppt_x"/>
                                          </p:val>
                                        </p:tav>
                                        <p:tav tm="100000">
                                          <p:val>
                                            <p:strVal val="#ppt_x"/>
                                          </p:val>
                                        </p:tav>
                                      </p:tavLst>
                                    </p:anim>
                                    <p:anim calcmode="lin" valueType="num">
                                      <p:cBhvr additive="base">
                                        <p:cTn id="4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7"/>
                                        </p:tgtEl>
                                        <p:attrNameLst>
                                          <p:attrName>style.visibility</p:attrName>
                                        </p:attrNameLst>
                                      </p:cBhvr>
                                      <p:to>
                                        <p:strVal val="visible"/>
                                      </p:to>
                                    </p:set>
                                    <p:anim calcmode="lin" valueType="num">
                                      <p:cBhvr additive="base">
                                        <p:cTn id="47" dur="500" fill="hold"/>
                                        <p:tgtEl>
                                          <p:spTgt spid="57"/>
                                        </p:tgtEl>
                                        <p:attrNameLst>
                                          <p:attrName>ppt_x</p:attrName>
                                        </p:attrNameLst>
                                      </p:cBhvr>
                                      <p:tavLst>
                                        <p:tav tm="0">
                                          <p:val>
                                            <p:strVal val="#ppt_x"/>
                                          </p:val>
                                        </p:tav>
                                        <p:tav tm="100000">
                                          <p:val>
                                            <p:strVal val="#ppt_x"/>
                                          </p:val>
                                        </p:tav>
                                      </p:tavLst>
                                    </p:anim>
                                    <p:anim calcmode="lin" valueType="num">
                                      <p:cBhvr additive="base">
                                        <p:cTn id="48" dur="500" fill="hold"/>
                                        <p:tgtEl>
                                          <p:spTgt spid="5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additive="base">
                                        <p:cTn id="51" dur="500" fill="hold"/>
                                        <p:tgtEl>
                                          <p:spTgt spid="56"/>
                                        </p:tgtEl>
                                        <p:attrNameLst>
                                          <p:attrName>ppt_x</p:attrName>
                                        </p:attrNameLst>
                                      </p:cBhvr>
                                      <p:tavLst>
                                        <p:tav tm="0">
                                          <p:val>
                                            <p:strVal val="#ppt_x"/>
                                          </p:val>
                                        </p:tav>
                                        <p:tav tm="100000">
                                          <p:val>
                                            <p:strVal val="#ppt_x"/>
                                          </p:val>
                                        </p:tav>
                                      </p:tavLst>
                                    </p:anim>
                                    <p:anim calcmode="lin" valueType="num">
                                      <p:cBhvr additive="base">
                                        <p:cTn id="52"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8"/>
                                        </p:tgtEl>
                                        <p:attrNameLst>
                                          <p:attrName>style.visibility</p:attrName>
                                        </p:attrNameLst>
                                      </p:cBhvr>
                                      <p:to>
                                        <p:strVal val="visible"/>
                                      </p:to>
                                    </p:set>
                                    <p:anim calcmode="lin" valueType="num">
                                      <p:cBhvr additive="base">
                                        <p:cTn id="57" dur="500" fill="hold"/>
                                        <p:tgtEl>
                                          <p:spTgt spid="58"/>
                                        </p:tgtEl>
                                        <p:attrNameLst>
                                          <p:attrName>ppt_x</p:attrName>
                                        </p:attrNameLst>
                                      </p:cBhvr>
                                      <p:tavLst>
                                        <p:tav tm="0">
                                          <p:val>
                                            <p:strVal val="#ppt_x"/>
                                          </p:val>
                                        </p:tav>
                                        <p:tav tm="100000">
                                          <p:val>
                                            <p:strVal val="#ppt_x"/>
                                          </p:val>
                                        </p:tav>
                                      </p:tavLst>
                                    </p:anim>
                                    <p:anim calcmode="lin" valueType="num">
                                      <p:cBhvr additive="base">
                                        <p:cTn id="58" dur="500" fill="hold"/>
                                        <p:tgtEl>
                                          <p:spTgt spid="58"/>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9"/>
                                        </p:tgtEl>
                                        <p:attrNameLst>
                                          <p:attrName>style.visibility</p:attrName>
                                        </p:attrNameLst>
                                      </p:cBhvr>
                                      <p:to>
                                        <p:strVal val="visible"/>
                                      </p:to>
                                    </p:set>
                                    <p:anim calcmode="lin" valueType="num">
                                      <p:cBhvr additive="base">
                                        <p:cTn id="61" dur="500" fill="hold"/>
                                        <p:tgtEl>
                                          <p:spTgt spid="59"/>
                                        </p:tgtEl>
                                        <p:attrNameLst>
                                          <p:attrName>ppt_x</p:attrName>
                                        </p:attrNameLst>
                                      </p:cBhvr>
                                      <p:tavLst>
                                        <p:tav tm="0">
                                          <p:val>
                                            <p:strVal val="#ppt_x"/>
                                          </p:val>
                                        </p:tav>
                                        <p:tav tm="100000">
                                          <p:val>
                                            <p:strVal val="#ppt_x"/>
                                          </p:val>
                                        </p:tav>
                                      </p:tavLst>
                                    </p:anim>
                                    <p:anim calcmode="lin" valueType="num">
                                      <p:cBhvr additive="base">
                                        <p:cTn id="62"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p:bldP spid="49" grpId="0"/>
      <p:bldP spid="53" grpId="0"/>
      <p:bldP spid="54" grpId="0"/>
      <p:bldP spid="55" grpId="0"/>
      <p:bldP spid="56" grpId="0"/>
      <p:bldP spid="57" grpId="0"/>
      <p:bldP spid="58" grpId="0"/>
      <p:bldP spid="5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1" name="Group 3"/>
          <p:cNvGrpSpPr/>
          <p:nvPr/>
        </p:nvGrpSpPr>
        <p:grpSpPr>
          <a:xfrm>
            <a:off x="1203325" y="1876425"/>
            <a:ext cx="1524000" cy="2317750"/>
            <a:chOff x="0" y="0"/>
            <a:chExt cx="960" cy="1460"/>
          </a:xfrm>
        </p:grpSpPr>
        <p:sp>
          <p:nvSpPr>
            <p:cNvPr id="51202" name="Line 4"/>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51203" name="Line 5"/>
            <p:cNvSpPr/>
            <p:nvPr/>
          </p:nvSpPr>
          <p:spPr>
            <a:xfrm flipH="1">
              <a:off x="240" y="672"/>
              <a:ext cx="0" cy="192"/>
            </a:xfrm>
            <a:prstGeom prst="line">
              <a:avLst/>
            </a:prstGeom>
            <a:ln w="25400" cap="flat" cmpd="sng">
              <a:solidFill>
                <a:srgbClr val="000000"/>
              </a:solidFill>
              <a:prstDash val="solid"/>
              <a:round/>
              <a:headEnd type="none" w="med" len="med"/>
              <a:tailEnd type="none" w="med" len="med"/>
            </a:ln>
          </p:spPr>
        </p:sp>
        <p:sp>
          <p:nvSpPr>
            <p:cNvPr id="51204" name="Line 6"/>
            <p:cNvSpPr/>
            <p:nvPr/>
          </p:nvSpPr>
          <p:spPr>
            <a:xfrm flipH="1">
              <a:off x="336" y="347"/>
              <a:ext cx="230" cy="133"/>
            </a:xfrm>
            <a:prstGeom prst="line">
              <a:avLst/>
            </a:prstGeom>
            <a:ln w="25400" cap="flat" cmpd="sng">
              <a:solidFill>
                <a:srgbClr val="000000"/>
              </a:solidFill>
              <a:prstDash val="solid"/>
              <a:round/>
              <a:headEnd type="none" w="med" len="med"/>
              <a:tailEnd type="none" w="med" len="med"/>
            </a:ln>
          </p:spPr>
        </p:sp>
        <p:sp>
          <p:nvSpPr>
            <p:cNvPr id="51205"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1206" name="Rectangle 8"/>
            <p:cNvSpPr/>
            <p:nvPr/>
          </p:nvSpPr>
          <p:spPr>
            <a:xfrm>
              <a:off x="37"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1207" name="AutoShape 9"/>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08" name="Oval 10"/>
            <p:cNvSpPr/>
            <p:nvPr/>
          </p:nvSpPr>
          <p:spPr>
            <a:xfrm>
              <a:off x="576" y="240"/>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09" name="Oval 11"/>
            <p:cNvSpPr/>
            <p:nvPr/>
          </p:nvSpPr>
          <p:spPr>
            <a:xfrm>
              <a:off x="576" y="624"/>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10" name="Rectangle 1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1211" name="Text Box 13"/>
            <p:cNvSpPr txBox="1"/>
            <p:nvPr/>
          </p:nvSpPr>
          <p:spPr>
            <a:xfrm>
              <a:off x="267" y="1140"/>
              <a:ext cx="602"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1</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51212" name="Group 14"/>
          <p:cNvGrpSpPr/>
          <p:nvPr/>
        </p:nvGrpSpPr>
        <p:grpSpPr>
          <a:xfrm>
            <a:off x="4346575" y="1903413"/>
            <a:ext cx="3200400" cy="2390775"/>
            <a:chOff x="0" y="0"/>
            <a:chExt cx="2016" cy="1506"/>
          </a:xfrm>
        </p:grpSpPr>
        <p:sp>
          <p:nvSpPr>
            <p:cNvPr id="51213" name="Line 15"/>
            <p:cNvSpPr/>
            <p:nvPr/>
          </p:nvSpPr>
          <p:spPr>
            <a:xfrm flipH="1" flipV="1">
              <a:off x="672" y="192"/>
              <a:ext cx="144" cy="288"/>
            </a:xfrm>
            <a:prstGeom prst="line">
              <a:avLst/>
            </a:prstGeom>
            <a:ln w="25400" cap="flat" cmpd="sng">
              <a:solidFill>
                <a:srgbClr val="000000"/>
              </a:solidFill>
              <a:prstDash val="solid"/>
              <a:round/>
              <a:headEnd type="none" w="med" len="med"/>
              <a:tailEnd type="none" w="med" len="med"/>
            </a:ln>
          </p:spPr>
        </p:sp>
        <p:sp>
          <p:nvSpPr>
            <p:cNvPr id="51214" name="Line 16"/>
            <p:cNvSpPr/>
            <p:nvPr/>
          </p:nvSpPr>
          <p:spPr>
            <a:xfrm flipH="1">
              <a:off x="1008" y="768"/>
              <a:ext cx="0" cy="96"/>
            </a:xfrm>
            <a:prstGeom prst="line">
              <a:avLst/>
            </a:prstGeom>
            <a:ln w="25400" cap="flat" cmpd="sng">
              <a:solidFill>
                <a:srgbClr val="000000"/>
              </a:solidFill>
              <a:prstDash val="solid"/>
              <a:round/>
              <a:headEnd type="none" w="med" len="med"/>
              <a:tailEnd type="none" w="med" len="med"/>
            </a:ln>
          </p:spPr>
        </p:sp>
        <p:sp>
          <p:nvSpPr>
            <p:cNvPr id="51215" name="Line 17"/>
            <p:cNvSpPr/>
            <p:nvPr/>
          </p:nvSpPr>
          <p:spPr>
            <a:xfrm flipH="1">
              <a:off x="1152" y="144"/>
              <a:ext cx="336" cy="288"/>
            </a:xfrm>
            <a:prstGeom prst="line">
              <a:avLst/>
            </a:prstGeom>
            <a:ln w="25400" cap="flat" cmpd="sng">
              <a:solidFill>
                <a:srgbClr val="000000"/>
              </a:solidFill>
              <a:prstDash val="solid"/>
              <a:round/>
              <a:headEnd type="none" w="med" len="med"/>
              <a:tailEnd type="none" w="med" len="med"/>
            </a:ln>
          </p:spPr>
        </p:sp>
        <p:sp>
          <p:nvSpPr>
            <p:cNvPr id="51216" name="Rectangle 18"/>
            <p:cNvSpPr/>
            <p:nvPr/>
          </p:nvSpPr>
          <p:spPr>
            <a:xfrm>
              <a:off x="384" y="0"/>
              <a:ext cx="528"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售货员</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17" name="Rectangle 19"/>
            <p:cNvSpPr/>
            <p:nvPr/>
          </p:nvSpPr>
          <p:spPr>
            <a:xfrm>
              <a:off x="816" y="864"/>
              <a:ext cx="401" cy="23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商品</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18" name="AutoShape 20"/>
            <p:cNvSpPr/>
            <p:nvPr/>
          </p:nvSpPr>
          <p:spPr>
            <a:xfrm>
              <a:off x="624" y="336"/>
              <a:ext cx="768" cy="43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门市零售</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19" name="Oval 21"/>
            <p:cNvSpPr/>
            <p:nvPr/>
          </p:nvSpPr>
          <p:spPr>
            <a:xfrm>
              <a:off x="0" y="864"/>
              <a:ext cx="720" cy="25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零售数量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20" name="Oval 22"/>
            <p:cNvSpPr/>
            <p:nvPr/>
          </p:nvSpPr>
          <p:spPr>
            <a:xfrm>
              <a:off x="1344" y="768"/>
              <a:ext cx="672" cy="27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销售日期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21" name="Rectangle 23"/>
            <p:cNvSpPr/>
            <p:nvPr/>
          </p:nvSpPr>
          <p:spPr>
            <a:xfrm>
              <a:off x="1296" y="0"/>
              <a:ext cx="401" cy="17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客户</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22" name="Line 24"/>
            <p:cNvSpPr/>
            <p:nvPr/>
          </p:nvSpPr>
          <p:spPr>
            <a:xfrm flipH="1">
              <a:off x="384" y="576"/>
              <a:ext cx="288" cy="288"/>
            </a:xfrm>
            <a:prstGeom prst="line">
              <a:avLst/>
            </a:prstGeom>
            <a:ln w="25400" cap="flat" cmpd="sng">
              <a:solidFill>
                <a:srgbClr val="000000"/>
              </a:solidFill>
              <a:prstDash val="solid"/>
              <a:round/>
              <a:headEnd type="none" w="med" len="med"/>
              <a:tailEnd type="none" w="med" len="med"/>
            </a:ln>
          </p:spPr>
        </p:sp>
        <p:sp>
          <p:nvSpPr>
            <p:cNvPr id="51223" name="Line 25"/>
            <p:cNvSpPr/>
            <p:nvPr/>
          </p:nvSpPr>
          <p:spPr>
            <a:xfrm flipH="1" flipV="1">
              <a:off x="1344" y="594"/>
              <a:ext cx="336" cy="192"/>
            </a:xfrm>
            <a:prstGeom prst="line">
              <a:avLst/>
            </a:prstGeom>
            <a:ln w="25400" cap="flat" cmpd="sng">
              <a:solidFill>
                <a:srgbClr val="000000"/>
              </a:solidFill>
              <a:prstDash val="solid"/>
              <a:round/>
              <a:headEnd type="none" w="med" len="med"/>
              <a:tailEnd type="none" w="med" len="med"/>
            </a:ln>
          </p:spPr>
        </p:sp>
        <p:sp>
          <p:nvSpPr>
            <p:cNvPr id="51224" name="Text Box 26"/>
            <p:cNvSpPr txBox="1"/>
            <p:nvPr/>
          </p:nvSpPr>
          <p:spPr>
            <a:xfrm>
              <a:off x="809" y="1186"/>
              <a:ext cx="570"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2</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51225" name="Group 27"/>
          <p:cNvGrpSpPr/>
          <p:nvPr/>
        </p:nvGrpSpPr>
        <p:grpSpPr>
          <a:xfrm>
            <a:off x="1203325" y="4230688"/>
            <a:ext cx="1828800" cy="2160587"/>
            <a:chOff x="0" y="0"/>
            <a:chExt cx="1152" cy="1361"/>
          </a:xfrm>
        </p:grpSpPr>
        <p:sp>
          <p:nvSpPr>
            <p:cNvPr id="51226" name="Text Box 28"/>
            <p:cNvSpPr txBox="1"/>
            <p:nvPr/>
          </p:nvSpPr>
          <p:spPr>
            <a:xfrm>
              <a:off x="322" y="1079"/>
              <a:ext cx="584"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3</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51227" name="Line 29"/>
            <p:cNvSpPr/>
            <p:nvPr/>
          </p:nvSpPr>
          <p:spPr>
            <a:xfrm flipV="1">
              <a:off x="240" y="192"/>
              <a:ext cx="240" cy="240"/>
            </a:xfrm>
            <a:prstGeom prst="line">
              <a:avLst/>
            </a:prstGeom>
            <a:ln w="25400" cap="flat" cmpd="sng">
              <a:solidFill>
                <a:srgbClr val="000000"/>
              </a:solidFill>
              <a:prstDash val="solid"/>
              <a:round/>
              <a:headEnd type="none" w="med" len="med"/>
              <a:tailEnd type="none" w="med" len="med"/>
            </a:ln>
          </p:spPr>
        </p:sp>
        <p:sp>
          <p:nvSpPr>
            <p:cNvPr id="51228" name="Line 30"/>
            <p:cNvSpPr/>
            <p:nvPr/>
          </p:nvSpPr>
          <p:spPr>
            <a:xfrm>
              <a:off x="240" y="672"/>
              <a:ext cx="240" cy="192"/>
            </a:xfrm>
            <a:prstGeom prst="line">
              <a:avLst/>
            </a:prstGeom>
            <a:ln w="25400" cap="flat" cmpd="sng">
              <a:solidFill>
                <a:srgbClr val="000000"/>
              </a:solidFill>
              <a:prstDash val="solid"/>
              <a:round/>
              <a:headEnd type="none" w="med" len="med"/>
              <a:tailEnd type="none" w="med" len="med"/>
            </a:ln>
          </p:spPr>
        </p:sp>
        <p:sp>
          <p:nvSpPr>
            <p:cNvPr id="51229" name="Rectangle 31"/>
            <p:cNvSpPr/>
            <p:nvPr/>
          </p:nvSpPr>
          <p:spPr>
            <a:xfrm>
              <a:off x="373"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部门</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0" name="AutoShape 32"/>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31" name="Rectangle 33"/>
            <p:cNvSpPr/>
            <p:nvPr/>
          </p:nvSpPr>
          <p:spPr>
            <a:xfrm>
              <a:off x="38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员工</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2" name="Line 34"/>
            <p:cNvSpPr/>
            <p:nvPr/>
          </p:nvSpPr>
          <p:spPr>
            <a:xfrm flipH="1" flipV="1">
              <a:off x="720" y="192"/>
              <a:ext cx="192" cy="240"/>
            </a:xfrm>
            <a:prstGeom prst="line">
              <a:avLst/>
            </a:prstGeom>
            <a:ln w="25400" cap="flat" cmpd="sng">
              <a:solidFill>
                <a:srgbClr val="000000"/>
              </a:solidFill>
              <a:prstDash val="solid"/>
              <a:round/>
              <a:headEnd type="none" w="med" len="med"/>
              <a:tailEnd type="none" w="med" len="med"/>
            </a:ln>
          </p:spPr>
        </p:sp>
        <p:sp>
          <p:nvSpPr>
            <p:cNvPr id="51233" name="Line 35"/>
            <p:cNvSpPr/>
            <p:nvPr/>
          </p:nvSpPr>
          <p:spPr>
            <a:xfrm flipH="1">
              <a:off x="720" y="672"/>
              <a:ext cx="192" cy="192"/>
            </a:xfrm>
            <a:prstGeom prst="line">
              <a:avLst/>
            </a:prstGeom>
            <a:ln w="25400" cap="flat" cmpd="sng">
              <a:solidFill>
                <a:srgbClr val="000000"/>
              </a:solidFill>
              <a:prstDash val="solid"/>
              <a:round/>
              <a:headEnd type="none" w="med" len="med"/>
              <a:tailEnd type="none" w="med" len="med"/>
            </a:ln>
          </p:spPr>
        </p:sp>
        <p:sp>
          <p:nvSpPr>
            <p:cNvPr id="51234" name="AutoShape 36"/>
            <p:cNvSpPr/>
            <p:nvPr/>
          </p:nvSpPr>
          <p:spPr>
            <a:xfrm>
              <a:off x="672"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51235" name="Group 37"/>
          <p:cNvGrpSpPr/>
          <p:nvPr/>
        </p:nvGrpSpPr>
        <p:grpSpPr>
          <a:xfrm>
            <a:off x="4645025" y="4294188"/>
            <a:ext cx="1958975" cy="2141537"/>
            <a:chOff x="0" y="0"/>
            <a:chExt cx="1234" cy="1349"/>
          </a:xfrm>
        </p:grpSpPr>
        <p:sp>
          <p:nvSpPr>
            <p:cNvPr id="51236" name="Rectangle 38"/>
            <p:cNvSpPr/>
            <p:nvPr/>
          </p:nvSpPr>
          <p:spPr>
            <a:xfrm>
              <a:off x="72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零件</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7" name="Line 39"/>
            <p:cNvSpPr/>
            <p:nvPr/>
          </p:nvSpPr>
          <p:spPr>
            <a:xfrm flipH="1" flipV="1">
              <a:off x="820" y="192"/>
              <a:ext cx="0" cy="624"/>
            </a:xfrm>
            <a:prstGeom prst="line">
              <a:avLst/>
            </a:prstGeom>
            <a:ln w="25400" cap="flat" cmpd="sng">
              <a:solidFill>
                <a:srgbClr val="000000"/>
              </a:solidFill>
              <a:prstDash val="solid"/>
              <a:round/>
              <a:headEnd type="none" w="med" len="med"/>
              <a:tailEnd type="none" w="med" len="med"/>
            </a:ln>
          </p:spPr>
        </p:sp>
        <p:sp>
          <p:nvSpPr>
            <p:cNvPr id="51238" name="Line 40"/>
            <p:cNvSpPr/>
            <p:nvPr/>
          </p:nvSpPr>
          <p:spPr>
            <a:xfrm flipH="1">
              <a:off x="1012" y="192"/>
              <a:ext cx="0" cy="624"/>
            </a:xfrm>
            <a:prstGeom prst="line">
              <a:avLst/>
            </a:prstGeom>
            <a:ln w="25400" cap="flat" cmpd="sng">
              <a:solidFill>
                <a:srgbClr val="000000"/>
              </a:solidFill>
              <a:prstDash val="solid"/>
              <a:round/>
              <a:headEnd type="none" w="med" len="med"/>
              <a:tailEnd type="none" w="med" len="med"/>
            </a:ln>
          </p:spPr>
        </p:sp>
        <p:sp>
          <p:nvSpPr>
            <p:cNvPr id="51239" name="AutoShape 41"/>
            <p:cNvSpPr/>
            <p:nvPr/>
          </p:nvSpPr>
          <p:spPr>
            <a:xfrm>
              <a:off x="676" y="768"/>
              <a:ext cx="558" cy="26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装配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40" name="Rectangle 42"/>
            <p:cNvSpPr/>
            <p:nvPr/>
          </p:nvSpPr>
          <p:spPr>
            <a:xfrm>
              <a:off x="1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学生</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41" name="Line 43"/>
            <p:cNvSpPr/>
            <p:nvPr/>
          </p:nvSpPr>
          <p:spPr>
            <a:xfrm flipH="1">
              <a:off x="436" y="192"/>
              <a:ext cx="0" cy="624"/>
            </a:xfrm>
            <a:prstGeom prst="line">
              <a:avLst/>
            </a:prstGeom>
            <a:ln w="25400" cap="flat" cmpd="sng">
              <a:solidFill>
                <a:srgbClr val="000000"/>
              </a:solidFill>
              <a:prstDash val="solid"/>
              <a:round/>
              <a:headEnd type="none" w="med" len="med"/>
              <a:tailEnd type="none" w="med" len="med"/>
            </a:ln>
          </p:spPr>
        </p:sp>
        <p:sp>
          <p:nvSpPr>
            <p:cNvPr id="51242" name="AutoShape 44"/>
            <p:cNvSpPr/>
            <p:nvPr/>
          </p:nvSpPr>
          <p:spPr>
            <a:xfrm>
              <a:off x="0" y="769"/>
              <a:ext cx="677" cy="29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43" name="Line 45"/>
            <p:cNvSpPr/>
            <p:nvPr/>
          </p:nvSpPr>
          <p:spPr>
            <a:xfrm flipH="1">
              <a:off x="244" y="192"/>
              <a:ext cx="0" cy="624"/>
            </a:xfrm>
            <a:prstGeom prst="line">
              <a:avLst/>
            </a:prstGeom>
            <a:ln w="25400" cap="flat" cmpd="sng">
              <a:solidFill>
                <a:srgbClr val="000000"/>
              </a:solidFill>
              <a:prstDash val="solid"/>
              <a:round/>
              <a:headEnd type="none" w="med" len="med"/>
              <a:tailEnd type="none" w="med" len="med"/>
            </a:ln>
          </p:spPr>
        </p:sp>
        <p:sp>
          <p:nvSpPr>
            <p:cNvPr id="51244" name="Text Box 46"/>
            <p:cNvSpPr txBox="1"/>
            <p:nvPr/>
          </p:nvSpPr>
          <p:spPr>
            <a:xfrm>
              <a:off x="354" y="1029"/>
              <a:ext cx="734"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  （</a:t>
              </a:r>
              <a:r>
                <a:rPr lang="en-US" altLang="x-none" sz="2000" dirty="0">
                  <a:solidFill>
                    <a:srgbClr val="0033CC"/>
                  </a:solidFill>
                  <a:latin typeface="宋体" panose="02010600030101010101" pitchFamily="2" charset="-122"/>
                  <a:ea typeface="宋体" panose="02010600030101010101" pitchFamily="2" charset="-122"/>
                </a:rPr>
                <a:t>4</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3" name="文本框 2"/>
          <p:cNvSpPr txBox="1"/>
          <p:nvPr/>
        </p:nvSpPr>
        <p:spPr>
          <a:xfrm>
            <a:off x="492760" y="1385024"/>
            <a:ext cx="7879715" cy="460375"/>
          </a:xfrm>
          <a:prstGeom prst="rect">
            <a:avLst/>
          </a:prstGeom>
          <a:noFill/>
        </p:spPr>
        <p:txBody>
          <a:bodyPr wrap="square" rtlCol="0" anchor="t">
            <a:spAutoFit/>
          </a:bodyPr>
          <a:lstStyle/>
          <a:p>
            <a:pPr algn="l">
              <a:lnSpc>
                <a:spcPct val="10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sym typeface="+mn-ea"/>
              </a:rPr>
              <a:t>4</a:t>
            </a:r>
            <a:r>
              <a:rPr lang="zh-CN" altLang="en-US" sz="2400" kern="100" dirty="0" smtClean="0">
                <a:latin typeface="Calibri" panose="020F0502020204030204" pitchFamily="34" charset="0"/>
                <a:cs typeface="Times New Roman" panose="02020603050405020304" pitchFamily="2" charset="0"/>
                <a:sym typeface="+mn-ea"/>
              </a:rPr>
              <a:t>、为下列联系添加一般性约束和键约束。</a:t>
            </a:r>
            <a:endParaRPr lang="zh-CN" altLang="en-US" sz="2400" kern="100" dirty="0" smtClean="0">
              <a:latin typeface="Calibri" panose="020F0502020204030204" pitchFamily="34" charset="0"/>
              <a:cs typeface="Times New Roman" panose="02020603050405020304" pitchFamily="2" charset="0"/>
              <a:sym typeface="+mn-ea"/>
            </a:endParaRPr>
          </a:p>
        </p:txBody>
      </p:sp>
      <p:sp>
        <p:nvSpPr>
          <p:cNvPr id="48"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50" name="矩形 49"/>
          <p:cNvSpPr/>
          <p:nvPr/>
        </p:nvSpPr>
        <p:spPr>
          <a:xfrm>
            <a:off x="403450" y="687162"/>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FF0000"/>
                </a:solidFill>
                <a:latin typeface="Calibri" panose="020F0502020204030204" pitchFamily="34" charset="0"/>
                <a:cs typeface="Times New Roman" panose="02020603050405020304" pitchFamily="2" charset="0"/>
              </a:rPr>
              <a:t>知识点检测</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1" name="Group 3"/>
          <p:cNvGrpSpPr/>
          <p:nvPr/>
        </p:nvGrpSpPr>
        <p:grpSpPr>
          <a:xfrm>
            <a:off x="1203325" y="1810201"/>
            <a:ext cx="1524000" cy="2317750"/>
            <a:chOff x="0" y="0"/>
            <a:chExt cx="960" cy="1460"/>
          </a:xfrm>
        </p:grpSpPr>
        <p:sp>
          <p:nvSpPr>
            <p:cNvPr id="51202" name="Line 4"/>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51203" name="Line 5"/>
            <p:cNvSpPr/>
            <p:nvPr/>
          </p:nvSpPr>
          <p:spPr>
            <a:xfrm flipH="1">
              <a:off x="240" y="672"/>
              <a:ext cx="0" cy="192"/>
            </a:xfrm>
            <a:prstGeom prst="line">
              <a:avLst/>
            </a:prstGeom>
            <a:ln w="25400" cap="flat" cmpd="sng">
              <a:solidFill>
                <a:srgbClr val="000000"/>
              </a:solidFill>
              <a:prstDash val="solid"/>
              <a:round/>
              <a:headEnd type="none" w="med" len="med"/>
              <a:tailEnd type="none" w="med" len="med"/>
            </a:ln>
          </p:spPr>
        </p:sp>
        <p:sp>
          <p:nvSpPr>
            <p:cNvPr id="51204" name="Line 6"/>
            <p:cNvSpPr/>
            <p:nvPr/>
          </p:nvSpPr>
          <p:spPr>
            <a:xfrm flipH="1">
              <a:off x="336" y="347"/>
              <a:ext cx="230" cy="133"/>
            </a:xfrm>
            <a:prstGeom prst="line">
              <a:avLst/>
            </a:prstGeom>
            <a:ln w="25400" cap="flat" cmpd="sng">
              <a:solidFill>
                <a:srgbClr val="000000"/>
              </a:solidFill>
              <a:prstDash val="solid"/>
              <a:round/>
              <a:headEnd type="none" w="med" len="med"/>
              <a:tailEnd type="none" w="med" len="med"/>
            </a:ln>
          </p:spPr>
        </p:sp>
        <p:sp>
          <p:nvSpPr>
            <p:cNvPr id="51205"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1206" name="Rectangle 8"/>
            <p:cNvSpPr/>
            <p:nvPr/>
          </p:nvSpPr>
          <p:spPr>
            <a:xfrm>
              <a:off x="37"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1207" name="AutoShape 9"/>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08" name="Oval 10"/>
            <p:cNvSpPr/>
            <p:nvPr/>
          </p:nvSpPr>
          <p:spPr>
            <a:xfrm>
              <a:off x="576" y="240"/>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09" name="Oval 11"/>
            <p:cNvSpPr/>
            <p:nvPr/>
          </p:nvSpPr>
          <p:spPr>
            <a:xfrm>
              <a:off x="576" y="624"/>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10" name="Rectangle 1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1211" name="Text Box 13"/>
            <p:cNvSpPr txBox="1"/>
            <p:nvPr/>
          </p:nvSpPr>
          <p:spPr>
            <a:xfrm>
              <a:off x="267" y="1140"/>
              <a:ext cx="602"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1</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51212" name="Group 14"/>
          <p:cNvGrpSpPr/>
          <p:nvPr/>
        </p:nvGrpSpPr>
        <p:grpSpPr>
          <a:xfrm>
            <a:off x="4298950" y="2040389"/>
            <a:ext cx="3200400" cy="2390775"/>
            <a:chOff x="0" y="0"/>
            <a:chExt cx="2016" cy="1506"/>
          </a:xfrm>
        </p:grpSpPr>
        <p:sp>
          <p:nvSpPr>
            <p:cNvPr id="51213" name="Line 15"/>
            <p:cNvSpPr/>
            <p:nvPr/>
          </p:nvSpPr>
          <p:spPr>
            <a:xfrm flipH="1" flipV="1">
              <a:off x="672" y="192"/>
              <a:ext cx="144" cy="288"/>
            </a:xfrm>
            <a:prstGeom prst="line">
              <a:avLst/>
            </a:prstGeom>
            <a:ln w="25400" cap="flat" cmpd="sng">
              <a:solidFill>
                <a:srgbClr val="000000"/>
              </a:solidFill>
              <a:prstDash val="solid"/>
              <a:round/>
              <a:headEnd type="none" w="med" len="med"/>
              <a:tailEnd type="none" w="med" len="med"/>
            </a:ln>
          </p:spPr>
        </p:sp>
        <p:sp>
          <p:nvSpPr>
            <p:cNvPr id="51214" name="Line 16"/>
            <p:cNvSpPr/>
            <p:nvPr/>
          </p:nvSpPr>
          <p:spPr>
            <a:xfrm flipH="1">
              <a:off x="1008" y="768"/>
              <a:ext cx="0" cy="96"/>
            </a:xfrm>
            <a:prstGeom prst="line">
              <a:avLst/>
            </a:prstGeom>
            <a:ln w="25400" cap="flat" cmpd="sng">
              <a:solidFill>
                <a:srgbClr val="000000"/>
              </a:solidFill>
              <a:prstDash val="solid"/>
              <a:round/>
              <a:headEnd type="none" w="med" len="med"/>
              <a:tailEnd type="none" w="med" len="med"/>
            </a:ln>
          </p:spPr>
        </p:sp>
        <p:sp>
          <p:nvSpPr>
            <p:cNvPr id="51215" name="Line 17"/>
            <p:cNvSpPr/>
            <p:nvPr/>
          </p:nvSpPr>
          <p:spPr>
            <a:xfrm flipH="1">
              <a:off x="1152" y="144"/>
              <a:ext cx="336" cy="288"/>
            </a:xfrm>
            <a:prstGeom prst="line">
              <a:avLst/>
            </a:prstGeom>
            <a:ln w="25400" cap="flat" cmpd="sng">
              <a:solidFill>
                <a:srgbClr val="000000"/>
              </a:solidFill>
              <a:prstDash val="solid"/>
              <a:round/>
              <a:headEnd type="none" w="med" len="med"/>
              <a:tailEnd type="none" w="med" len="med"/>
            </a:ln>
          </p:spPr>
        </p:sp>
        <p:sp>
          <p:nvSpPr>
            <p:cNvPr id="51216" name="Rectangle 18"/>
            <p:cNvSpPr/>
            <p:nvPr/>
          </p:nvSpPr>
          <p:spPr>
            <a:xfrm>
              <a:off x="384" y="0"/>
              <a:ext cx="528"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售货员</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17" name="Rectangle 19"/>
            <p:cNvSpPr/>
            <p:nvPr/>
          </p:nvSpPr>
          <p:spPr>
            <a:xfrm>
              <a:off x="816" y="864"/>
              <a:ext cx="401" cy="23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商品</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18" name="AutoShape 20"/>
            <p:cNvSpPr/>
            <p:nvPr/>
          </p:nvSpPr>
          <p:spPr>
            <a:xfrm>
              <a:off x="624" y="336"/>
              <a:ext cx="768" cy="43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门市零售</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19" name="Oval 21"/>
            <p:cNvSpPr/>
            <p:nvPr/>
          </p:nvSpPr>
          <p:spPr>
            <a:xfrm>
              <a:off x="0" y="864"/>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零售数量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20" name="Oval 22"/>
            <p:cNvSpPr/>
            <p:nvPr/>
          </p:nvSpPr>
          <p:spPr>
            <a:xfrm>
              <a:off x="1344" y="768"/>
              <a:ext cx="672" cy="4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销售日期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21" name="Rectangle 23"/>
            <p:cNvSpPr/>
            <p:nvPr/>
          </p:nvSpPr>
          <p:spPr>
            <a:xfrm>
              <a:off x="1296" y="0"/>
              <a:ext cx="401" cy="17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客户</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22" name="Line 24"/>
            <p:cNvSpPr/>
            <p:nvPr/>
          </p:nvSpPr>
          <p:spPr>
            <a:xfrm flipH="1">
              <a:off x="384" y="576"/>
              <a:ext cx="288" cy="288"/>
            </a:xfrm>
            <a:prstGeom prst="line">
              <a:avLst/>
            </a:prstGeom>
            <a:ln w="25400" cap="flat" cmpd="sng">
              <a:solidFill>
                <a:srgbClr val="000000"/>
              </a:solidFill>
              <a:prstDash val="solid"/>
              <a:round/>
              <a:headEnd type="none" w="med" len="med"/>
              <a:tailEnd type="none" w="med" len="med"/>
            </a:ln>
          </p:spPr>
        </p:sp>
        <p:sp>
          <p:nvSpPr>
            <p:cNvPr id="51223" name="Line 25"/>
            <p:cNvSpPr/>
            <p:nvPr/>
          </p:nvSpPr>
          <p:spPr>
            <a:xfrm flipH="1" flipV="1">
              <a:off x="1344" y="594"/>
              <a:ext cx="336" cy="192"/>
            </a:xfrm>
            <a:prstGeom prst="line">
              <a:avLst/>
            </a:prstGeom>
            <a:ln w="25400" cap="flat" cmpd="sng">
              <a:solidFill>
                <a:srgbClr val="000000"/>
              </a:solidFill>
              <a:prstDash val="solid"/>
              <a:round/>
              <a:headEnd type="none" w="med" len="med"/>
              <a:tailEnd type="none" w="med" len="med"/>
            </a:ln>
          </p:spPr>
        </p:sp>
        <p:sp>
          <p:nvSpPr>
            <p:cNvPr id="51224" name="Text Box 26"/>
            <p:cNvSpPr txBox="1"/>
            <p:nvPr/>
          </p:nvSpPr>
          <p:spPr>
            <a:xfrm>
              <a:off x="809" y="1186"/>
              <a:ext cx="570"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2</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51225" name="Group 27"/>
          <p:cNvGrpSpPr/>
          <p:nvPr/>
        </p:nvGrpSpPr>
        <p:grpSpPr>
          <a:xfrm>
            <a:off x="1203325" y="4370388"/>
            <a:ext cx="1828800" cy="2097087"/>
            <a:chOff x="0" y="0"/>
            <a:chExt cx="1152" cy="1321"/>
          </a:xfrm>
        </p:grpSpPr>
        <p:sp>
          <p:nvSpPr>
            <p:cNvPr id="51226" name="Text Box 28"/>
            <p:cNvSpPr txBox="1"/>
            <p:nvPr/>
          </p:nvSpPr>
          <p:spPr>
            <a:xfrm>
              <a:off x="322" y="1039"/>
              <a:ext cx="584"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3</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51227" name="Line 29"/>
            <p:cNvSpPr/>
            <p:nvPr/>
          </p:nvSpPr>
          <p:spPr>
            <a:xfrm flipV="1">
              <a:off x="240" y="192"/>
              <a:ext cx="240" cy="240"/>
            </a:xfrm>
            <a:prstGeom prst="line">
              <a:avLst/>
            </a:prstGeom>
            <a:ln w="25400" cap="flat" cmpd="sng">
              <a:solidFill>
                <a:srgbClr val="CC0000"/>
              </a:solidFill>
              <a:prstDash val="solid"/>
              <a:round/>
              <a:headEnd type="triangle" w="lg" len="lg"/>
              <a:tailEnd type="none" w="med" len="med"/>
            </a:ln>
          </p:spPr>
        </p:sp>
        <p:sp>
          <p:nvSpPr>
            <p:cNvPr id="51228" name="Line 30"/>
            <p:cNvSpPr/>
            <p:nvPr/>
          </p:nvSpPr>
          <p:spPr>
            <a:xfrm>
              <a:off x="240" y="672"/>
              <a:ext cx="240" cy="192"/>
            </a:xfrm>
            <a:prstGeom prst="line">
              <a:avLst/>
            </a:prstGeom>
            <a:ln w="25400" cap="flat" cmpd="sng">
              <a:solidFill>
                <a:srgbClr val="000000"/>
              </a:solidFill>
              <a:prstDash val="solid"/>
              <a:round/>
              <a:headEnd type="none" w="med" len="med"/>
              <a:tailEnd type="none" w="med" len="med"/>
            </a:ln>
          </p:spPr>
        </p:sp>
        <p:sp>
          <p:nvSpPr>
            <p:cNvPr id="51229" name="Rectangle 31"/>
            <p:cNvSpPr/>
            <p:nvPr/>
          </p:nvSpPr>
          <p:spPr>
            <a:xfrm>
              <a:off x="373"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部门</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0" name="AutoShape 32"/>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31" name="Rectangle 33"/>
            <p:cNvSpPr/>
            <p:nvPr/>
          </p:nvSpPr>
          <p:spPr>
            <a:xfrm>
              <a:off x="38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员工</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2" name="Line 34"/>
            <p:cNvSpPr/>
            <p:nvPr/>
          </p:nvSpPr>
          <p:spPr>
            <a:xfrm flipH="1" flipV="1">
              <a:off x="720" y="192"/>
              <a:ext cx="192" cy="240"/>
            </a:xfrm>
            <a:prstGeom prst="line">
              <a:avLst/>
            </a:prstGeom>
            <a:ln w="25400" cap="flat" cmpd="sng">
              <a:solidFill>
                <a:srgbClr val="CC0000"/>
              </a:solidFill>
              <a:prstDash val="solid"/>
              <a:round/>
              <a:headEnd type="triangle" w="lg" len="lg"/>
              <a:tailEnd type="none" w="med" len="med"/>
            </a:ln>
          </p:spPr>
        </p:sp>
        <p:sp>
          <p:nvSpPr>
            <p:cNvPr id="51233" name="Line 35"/>
            <p:cNvSpPr/>
            <p:nvPr/>
          </p:nvSpPr>
          <p:spPr>
            <a:xfrm flipH="1">
              <a:off x="720" y="672"/>
              <a:ext cx="192" cy="192"/>
            </a:xfrm>
            <a:prstGeom prst="line">
              <a:avLst/>
            </a:prstGeom>
            <a:ln w="25400" cap="flat" cmpd="sng">
              <a:solidFill>
                <a:srgbClr val="CC0000"/>
              </a:solidFill>
              <a:prstDash val="solid"/>
              <a:round/>
              <a:headEnd type="triangle" w="lg" len="lg"/>
              <a:tailEnd type="none" w="med" len="med"/>
            </a:ln>
          </p:spPr>
        </p:sp>
        <p:sp>
          <p:nvSpPr>
            <p:cNvPr id="51234" name="AutoShape 36"/>
            <p:cNvSpPr/>
            <p:nvPr/>
          </p:nvSpPr>
          <p:spPr>
            <a:xfrm>
              <a:off x="672"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51235" name="Group 37"/>
          <p:cNvGrpSpPr/>
          <p:nvPr/>
        </p:nvGrpSpPr>
        <p:grpSpPr>
          <a:xfrm>
            <a:off x="4645025" y="4586288"/>
            <a:ext cx="1958975" cy="1989137"/>
            <a:chOff x="0" y="0"/>
            <a:chExt cx="1234" cy="1253"/>
          </a:xfrm>
        </p:grpSpPr>
        <p:sp>
          <p:nvSpPr>
            <p:cNvPr id="51236" name="Rectangle 38"/>
            <p:cNvSpPr/>
            <p:nvPr/>
          </p:nvSpPr>
          <p:spPr>
            <a:xfrm>
              <a:off x="72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零件</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7" name="Line 39"/>
            <p:cNvSpPr/>
            <p:nvPr/>
          </p:nvSpPr>
          <p:spPr>
            <a:xfrm flipH="1" flipV="1">
              <a:off x="820" y="192"/>
              <a:ext cx="0" cy="624"/>
            </a:xfrm>
            <a:prstGeom prst="line">
              <a:avLst/>
            </a:prstGeom>
            <a:ln w="25400" cap="flat" cmpd="sng">
              <a:solidFill>
                <a:srgbClr val="000000"/>
              </a:solidFill>
              <a:prstDash val="solid"/>
              <a:round/>
              <a:headEnd type="none" w="med" len="med"/>
              <a:tailEnd type="none" w="med" len="med"/>
            </a:ln>
          </p:spPr>
        </p:sp>
        <p:sp>
          <p:nvSpPr>
            <p:cNvPr id="51238" name="Line 40"/>
            <p:cNvSpPr/>
            <p:nvPr/>
          </p:nvSpPr>
          <p:spPr>
            <a:xfrm flipH="1">
              <a:off x="1012" y="192"/>
              <a:ext cx="0" cy="624"/>
            </a:xfrm>
            <a:prstGeom prst="line">
              <a:avLst/>
            </a:prstGeom>
            <a:ln w="25400" cap="flat" cmpd="sng">
              <a:solidFill>
                <a:srgbClr val="000000"/>
              </a:solidFill>
              <a:prstDash val="solid"/>
              <a:round/>
              <a:headEnd type="none" w="med" len="med"/>
              <a:tailEnd type="none" w="med" len="med"/>
            </a:ln>
          </p:spPr>
        </p:sp>
        <p:sp>
          <p:nvSpPr>
            <p:cNvPr id="51239" name="AutoShape 41"/>
            <p:cNvSpPr/>
            <p:nvPr/>
          </p:nvSpPr>
          <p:spPr>
            <a:xfrm>
              <a:off x="676" y="768"/>
              <a:ext cx="558" cy="26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装配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40" name="Rectangle 42"/>
            <p:cNvSpPr/>
            <p:nvPr/>
          </p:nvSpPr>
          <p:spPr>
            <a:xfrm>
              <a:off x="1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学生</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41" name="Line 43"/>
            <p:cNvSpPr/>
            <p:nvPr/>
          </p:nvSpPr>
          <p:spPr>
            <a:xfrm>
              <a:off x="301" y="192"/>
              <a:ext cx="344" cy="736"/>
            </a:xfrm>
            <a:prstGeom prst="line">
              <a:avLst/>
            </a:prstGeom>
            <a:ln w="25400" cap="flat" cmpd="sng">
              <a:solidFill>
                <a:srgbClr val="000000"/>
              </a:solidFill>
              <a:prstDash val="solid"/>
              <a:round/>
              <a:headEnd type="none" w="med" len="med"/>
              <a:tailEnd type="none" w="med" len="med"/>
            </a:ln>
          </p:spPr>
        </p:sp>
        <p:sp>
          <p:nvSpPr>
            <p:cNvPr id="51242" name="AutoShape 44"/>
            <p:cNvSpPr/>
            <p:nvPr/>
          </p:nvSpPr>
          <p:spPr>
            <a:xfrm>
              <a:off x="0" y="769"/>
              <a:ext cx="677" cy="29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43" name="Line 45"/>
            <p:cNvSpPr/>
            <p:nvPr/>
          </p:nvSpPr>
          <p:spPr>
            <a:xfrm flipH="1">
              <a:off x="0" y="192"/>
              <a:ext cx="244" cy="736"/>
            </a:xfrm>
            <a:prstGeom prst="line">
              <a:avLst/>
            </a:prstGeom>
            <a:ln w="25400" cap="flat" cmpd="sng">
              <a:solidFill>
                <a:srgbClr val="FF3300"/>
              </a:solidFill>
              <a:prstDash val="solid"/>
              <a:round/>
              <a:headEnd type="none" w="med" len="med"/>
              <a:tailEnd type="triangle" w="lg" len="lg"/>
            </a:ln>
          </p:spPr>
        </p:sp>
        <p:sp>
          <p:nvSpPr>
            <p:cNvPr id="51244" name="Text Box 46"/>
            <p:cNvSpPr txBox="1"/>
            <p:nvPr/>
          </p:nvSpPr>
          <p:spPr>
            <a:xfrm>
              <a:off x="354" y="933"/>
              <a:ext cx="734"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  （</a:t>
              </a:r>
              <a:r>
                <a:rPr lang="en-US" altLang="x-none" sz="2000" dirty="0">
                  <a:solidFill>
                    <a:srgbClr val="0033CC"/>
                  </a:solidFill>
                  <a:latin typeface="宋体" panose="02010600030101010101" pitchFamily="2" charset="-122"/>
                  <a:ea typeface="宋体" panose="02010600030101010101" pitchFamily="2" charset="-122"/>
                </a:rPr>
                <a:t>4</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49200" name="Text Box 48"/>
          <p:cNvSpPr txBox="1"/>
          <p:nvPr/>
        </p:nvSpPr>
        <p:spPr>
          <a:xfrm>
            <a:off x="1249363" y="1921009"/>
            <a:ext cx="360362"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1" name="Text Box 49"/>
          <p:cNvSpPr txBox="1"/>
          <p:nvPr/>
        </p:nvSpPr>
        <p:spPr>
          <a:xfrm>
            <a:off x="1220788" y="2660466"/>
            <a:ext cx="463550" cy="592138"/>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2" name="Text Box 53"/>
          <p:cNvSpPr txBox="1"/>
          <p:nvPr/>
        </p:nvSpPr>
        <p:spPr>
          <a:xfrm>
            <a:off x="5122863" y="2270576"/>
            <a:ext cx="290512" cy="590550"/>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3" name="Text Box 55"/>
          <p:cNvSpPr txBox="1"/>
          <p:nvPr/>
        </p:nvSpPr>
        <p:spPr>
          <a:xfrm>
            <a:off x="6400800" y="2284864"/>
            <a:ext cx="360363" cy="590550"/>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p</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4" name="Text Box 56"/>
          <p:cNvSpPr txBox="1"/>
          <p:nvPr/>
        </p:nvSpPr>
        <p:spPr>
          <a:xfrm>
            <a:off x="5349875" y="2989714"/>
            <a:ext cx="360363"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5" name="Text Box 47"/>
          <p:cNvSpPr txBox="1"/>
          <p:nvPr/>
        </p:nvSpPr>
        <p:spPr>
          <a:xfrm>
            <a:off x="1347788" y="5508625"/>
            <a:ext cx="360362" cy="447675"/>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en-US" altLang="x-none" sz="2000" dirty="0">
              <a:solidFill>
                <a:srgbClr val="0033CC"/>
              </a:solidFill>
              <a:latin typeface="宋体" panose="02010600030101010101" pitchFamily="2" charset="-122"/>
              <a:ea typeface="宋体" panose="02010600030101010101" pitchFamily="2" charset="-122"/>
            </a:endParaRPr>
          </a:p>
        </p:txBody>
      </p:sp>
      <p:sp>
        <p:nvSpPr>
          <p:cNvPr id="49206" name="Text Box 50"/>
          <p:cNvSpPr txBox="1"/>
          <p:nvPr/>
        </p:nvSpPr>
        <p:spPr>
          <a:xfrm>
            <a:off x="1389063" y="4443413"/>
            <a:ext cx="360362"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7" name="Text Box 51"/>
          <p:cNvSpPr txBox="1"/>
          <p:nvPr/>
        </p:nvSpPr>
        <p:spPr>
          <a:xfrm>
            <a:off x="2605088" y="4573588"/>
            <a:ext cx="192087" cy="508000"/>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en-US" altLang="x-none" sz="2000" dirty="0">
              <a:solidFill>
                <a:srgbClr val="0033CC"/>
              </a:solidFill>
              <a:latin typeface="宋体" panose="02010600030101010101" pitchFamily="2" charset="-122"/>
              <a:ea typeface="宋体" panose="02010600030101010101" pitchFamily="2" charset="-122"/>
            </a:endParaRPr>
          </a:p>
        </p:txBody>
      </p:sp>
      <p:sp>
        <p:nvSpPr>
          <p:cNvPr id="49208" name="Text Box 52"/>
          <p:cNvSpPr txBox="1"/>
          <p:nvPr/>
        </p:nvSpPr>
        <p:spPr>
          <a:xfrm>
            <a:off x="2555875" y="5421313"/>
            <a:ext cx="360363" cy="447675"/>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en-US" altLang="x-none" sz="2000" dirty="0">
              <a:solidFill>
                <a:srgbClr val="0033CC"/>
              </a:solidFill>
              <a:latin typeface="宋体" panose="02010600030101010101" pitchFamily="2" charset="-122"/>
              <a:ea typeface="宋体" panose="02010600030101010101" pitchFamily="2" charset="-122"/>
            </a:endParaRPr>
          </a:p>
        </p:txBody>
      </p:sp>
      <p:sp>
        <p:nvSpPr>
          <p:cNvPr id="49209" name="Text Box 54"/>
          <p:cNvSpPr txBox="1"/>
          <p:nvPr/>
        </p:nvSpPr>
        <p:spPr>
          <a:xfrm>
            <a:off x="4503738" y="5013325"/>
            <a:ext cx="360362" cy="519113"/>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10" name="Text Box 59"/>
          <p:cNvSpPr txBox="1"/>
          <p:nvPr/>
        </p:nvSpPr>
        <p:spPr>
          <a:xfrm>
            <a:off x="5329238" y="4994275"/>
            <a:ext cx="425450" cy="590550"/>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1</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11" name="Text Box 57"/>
          <p:cNvSpPr txBox="1"/>
          <p:nvPr/>
        </p:nvSpPr>
        <p:spPr>
          <a:xfrm>
            <a:off x="6315075" y="5180013"/>
            <a:ext cx="360363"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12" name="Text Box 58"/>
          <p:cNvSpPr txBox="1"/>
          <p:nvPr/>
        </p:nvSpPr>
        <p:spPr>
          <a:xfrm>
            <a:off x="5668963" y="5194300"/>
            <a:ext cx="360362" cy="519113"/>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3" name="文本框 2"/>
          <p:cNvSpPr txBox="1"/>
          <p:nvPr/>
        </p:nvSpPr>
        <p:spPr>
          <a:xfrm>
            <a:off x="429260" y="1349826"/>
            <a:ext cx="8286115" cy="460375"/>
          </a:xfrm>
          <a:prstGeom prst="rect">
            <a:avLst/>
          </a:prstGeom>
          <a:noFill/>
        </p:spPr>
        <p:txBody>
          <a:bodyPr wrap="square" rtlCol="0" anchor="t">
            <a:spAutoFit/>
          </a:bodyPr>
          <a:lstStyle/>
          <a:p>
            <a:pPr algn="l">
              <a:lnSpc>
                <a:spcPct val="10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sym typeface="+mn-ea"/>
              </a:rPr>
              <a:t>4</a:t>
            </a:r>
            <a:r>
              <a:rPr lang="zh-CN" altLang="en-US" sz="2400" kern="100" dirty="0" smtClean="0">
                <a:latin typeface="Calibri" panose="020F0502020204030204" pitchFamily="34" charset="0"/>
                <a:cs typeface="Times New Roman" panose="02020603050405020304" pitchFamily="2" charset="0"/>
                <a:sym typeface="+mn-ea"/>
              </a:rPr>
              <a:t>、为下列联系添加一般性约束和键约束。</a:t>
            </a:r>
            <a:endParaRPr lang="zh-CN" altLang="en-US" sz="2400" kern="100" dirty="0" smtClean="0">
              <a:latin typeface="Calibri" panose="020F0502020204030204" pitchFamily="34" charset="0"/>
              <a:cs typeface="Times New Roman" panose="02020603050405020304" pitchFamily="2" charset="0"/>
              <a:sym typeface="+mn-ea"/>
            </a:endParaRPr>
          </a:p>
        </p:txBody>
      </p:sp>
      <p:sp>
        <p:nvSpPr>
          <p:cNvPr id="61"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62" name="矩形 61"/>
          <p:cNvSpPr/>
          <p:nvPr/>
        </p:nvSpPr>
        <p:spPr>
          <a:xfrm>
            <a:off x="436106" y="703486"/>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1"/>
                                        </p:tgtEl>
                                        <p:attrNameLst>
                                          <p:attrName>style.visibility</p:attrName>
                                        </p:attrNameLst>
                                      </p:cBhvr>
                                      <p:to>
                                        <p:strVal val="visible"/>
                                      </p:to>
                                    </p:set>
                                    <p:anim calcmode="lin" valueType="num">
                                      <p:cBhvr additive="base">
                                        <p:cTn id="7" dur="500" fill="hold"/>
                                        <p:tgtEl>
                                          <p:spTgt spid="51201"/>
                                        </p:tgtEl>
                                        <p:attrNameLst>
                                          <p:attrName>ppt_x</p:attrName>
                                        </p:attrNameLst>
                                      </p:cBhvr>
                                      <p:tavLst>
                                        <p:tav tm="0">
                                          <p:val>
                                            <p:strVal val="#ppt_x"/>
                                          </p:val>
                                        </p:tav>
                                        <p:tav tm="100000">
                                          <p:val>
                                            <p:strVal val="#ppt_x"/>
                                          </p:val>
                                        </p:tav>
                                      </p:tavLst>
                                    </p:anim>
                                    <p:anim calcmode="lin" valueType="num">
                                      <p:cBhvr additive="base">
                                        <p:cTn id="8" dur="500" fill="hold"/>
                                        <p:tgtEl>
                                          <p:spTgt spid="5120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9200"/>
                                        </p:tgtEl>
                                        <p:attrNameLst>
                                          <p:attrName>style.visibility</p:attrName>
                                        </p:attrNameLst>
                                      </p:cBhvr>
                                      <p:to>
                                        <p:strVal val="visible"/>
                                      </p:to>
                                    </p:set>
                                    <p:anim calcmode="lin" valueType="num">
                                      <p:cBhvr additive="base">
                                        <p:cTn id="11" dur="500" fill="hold"/>
                                        <p:tgtEl>
                                          <p:spTgt spid="49200"/>
                                        </p:tgtEl>
                                        <p:attrNameLst>
                                          <p:attrName>ppt_x</p:attrName>
                                        </p:attrNameLst>
                                      </p:cBhvr>
                                      <p:tavLst>
                                        <p:tav tm="0">
                                          <p:val>
                                            <p:strVal val="#ppt_x"/>
                                          </p:val>
                                        </p:tav>
                                        <p:tav tm="100000">
                                          <p:val>
                                            <p:strVal val="#ppt_x"/>
                                          </p:val>
                                        </p:tav>
                                      </p:tavLst>
                                    </p:anim>
                                    <p:anim calcmode="lin" valueType="num">
                                      <p:cBhvr additive="base">
                                        <p:cTn id="12" dur="500" fill="hold"/>
                                        <p:tgtEl>
                                          <p:spTgt spid="4920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9201"/>
                                        </p:tgtEl>
                                        <p:attrNameLst>
                                          <p:attrName>style.visibility</p:attrName>
                                        </p:attrNameLst>
                                      </p:cBhvr>
                                      <p:to>
                                        <p:strVal val="visible"/>
                                      </p:to>
                                    </p:set>
                                    <p:anim calcmode="lin" valueType="num">
                                      <p:cBhvr additive="base">
                                        <p:cTn id="15" dur="500" fill="hold"/>
                                        <p:tgtEl>
                                          <p:spTgt spid="49201"/>
                                        </p:tgtEl>
                                        <p:attrNameLst>
                                          <p:attrName>ppt_x</p:attrName>
                                        </p:attrNameLst>
                                      </p:cBhvr>
                                      <p:tavLst>
                                        <p:tav tm="0">
                                          <p:val>
                                            <p:strVal val="#ppt_x"/>
                                          </p:val>
                                        </p:tav>
                                        <p:tav tm="100000">
                                          <p:val>
                                            <p:strVal val="#ppt_x"/>
                                          </p:val>
                                        </p:tav>
                                      </p:tavLst>
                                    </p:anim>
                                    <p:anim calcmode="lin" valueType="num">
                                      <p:cBhvr additive="base">
                                        <p:cTn id="16" dur="500" fill="hold"/>
                                        <p:tgtEl>
                                          <p:spTgt spid="4920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1212"/>
                                        </p:tgtEl>
                                        <p:attrNameLst>
                                          <p:attrName>style.visibility</p:attrName>
                                        </p:attrNameLst>
                                      </p:cBhvr>
                                      <p:to>
                                        <p:strVal val="visible"/>
                                      </p:to>
                                    </p:set>
                                    <p:anim calcmode="lin" valueType="num">
                                      <p:cBhvr additive="base">
                                        <p:cTn id="21" dur="500" fill="hold"/>
                                        <p:tgtEl>
                                          <p:spTgt spid="51212"/>
                                        </p:tgtEl>
                                        <p:attrNameLst>
                                          <p:attrName>ppt_x</p:attrName>
                                        </p:attrNameLst>
                                      </p:cBhvr>
                                      <p:tavLst>
                                        <p:tav tm="0">
                                          <p:val>
                                            <p:strVal val="#ppt_x"/>
                                          </p:val>
                                        </p:tav>
                                        <p:tav tm="100000">
                                          <p:val>
                                            <p:strVal val="#ppt_x"/>
                                          </p:val>
                                        </p:tav>
                                      </p:tavLst>
                                    </p:anim>
                                    <p:anim calcmode="lin" valueType="num">
                                      <p:cBhvr additive="base">
                                        <p:cTn id="22" dur="500" fill="hold"/>
                                        <p:tgtEl>
                                          <p:spTgt spid="5121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9202"/>
                                        </p:tgtEl>
                                        <p:attrNameLst>
                                          <p:attrName>style.visibility</p:attrName>
                                        </p:attrNameLst>
                                      </p:cBhvr>
                                      <p:to>
                                        <p:strVal val="visible"/>
                                      </p:to>
                                    </p:set>
                                    <p:anim calcmode="lin" valueType="num">
                                      <p:cBhvr additive="base">
                                        <p:cTn id="25" dur="500" fill="hold"/>
                                        <p:tgtEl>
                                          <p:spTgt spid="49202"/>
                                        </p:tgtEl>
                                        <p:attrNameLst>
                                          <p:attrName>ppt_x</p:attrName>
                                        </p:attrNameLst>
                                      </p:cBhvr>
                                      <p:tavLst>
                                        <p:tav tm="0">
                                          <p:val>
                                            <p:strVal val="#ppt_x"/>
                                          </p:val>
                                        </p:tav>
                                        <p:tav tm="100000">
                                          <p:val>
                                            <p:strVal val="#ppt_x"/>
                                          </p:val>
                                        </p:tav>
                                      </p:tavLst>
                                    </p:anim>
                                    <p:anim calcmode="lin" valueType="num">
                                      <p:cBhvr additive="base">
                                        <p:cTn id="26" dur="500" fill="hold"/>
                                        <p:tgtEl>
                                          <p:spTgt spid="4920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9203"/>
                                        </p:tgtEl>
                                        <p:attrNameLst>
                                          <p:attrName>style.visibility</p:attrName>
                                        </p:attrNameLst>
                                      </p:cBhvr>
                                      <p:to>
                                        <p:strVal val="visible"/>
                                      </p:to>
                                    </p:set>
                                    <p:anim calcmode="lin" valueType="num">
                                      <p:cBhvr additive="base">
                                        <p:cTn id="29" dur="500" fill="hold"/>
                                        <p:tgtEl>
                                          <p:spTgt spid="49203"/>
                                        </p:tgtEl>
                                        <p:attrNameLst>
                                          <p:attrName>ppt_x</p:attrName>
                                        </p:attrNameLst>
                                      </p:cBhvr>
                                      <p:tavLst>
                                        <p:tav tm="0">
                                          <p:val>
                                            <p:strVal val="#ppt_x"/>
                                          </p:val>
                                        </p:tav>
                                        <p:tav tm="100000">
                                          <p:val>
                                            <p:strVal val="#ppt_x"/>
                                          </p:val>
                                        </p:tav>
                                      </p:tavLst>
                                    </p:anim>
                                    <p:anim calcmode="lin" valueType="num">
                                      <p:cBhvr additive="base">
                                        <p:cTn id="30" dur="500" fill="hold"/>
                                        <p:tgtEl>
                                          <p:spTgt spid="4920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9204"/>
                                        </p:tgtEl>
                                        <p:attrNameLst>
                                          <p:attrName>style.visibility</p:attrName>
                                        </p:attrNameLst>
                                      </p:cBhvr>
                                      <p:to>
                                        <p:strVal val="visible"/>
                                      </p:to>
                                    </p:set>
                                    <p:anim calcmode="lin" valueType="num">
                                      <p:cBhvr additive="base">
                                        <p:cTn id="33" dur="500" fill="hold"/>
                                        <p:tgtEl>
                                          <p:spTgt spid="49204"/>
                                        </p:tgtEl>
                                        <p:attrNameLst>
                                          <p:attrName>ppt_x</p:attrName>
                                        </p:attrNameLst>
                                      </p:cBhvr>
                                      <p:tavLst>
                                        <p:tav tm="0">
                                          <p:val>
                                            <p:strVal val="#ppt_x"/>
                                          </p:val>
                                        </p:tav>
                                        <p:tav tm="100000">
                                          <p:val>
                                            <p:strVal val="#ppt_x"/>
                                          </p:val>
                                        </p:tav>
                                      </p:tavLst>
                                    </p:anim>
                                    <p:anim calcmode="lin" valueType="num">
                                      <p:cBhvr additive="base">
                                        <p:cTn id="34" dur="500" fill="hold"/>
                                        <p:tgtEl>
                                          <p:spTgt spid="4920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1225"/>
                                        </p:tgtEl>
                                        <p:attrNameLst>
                                          <p:attrName>style.visibility</p:attrName>
                                        </p:attrNameLst>
                                      </p:cBhvr>
                                      <p:to>
                                        <p:strVal val="visible"/>
                                      </p:to>
                                    </p:set>
                                    <p:anim calcmode="lin" valueType="num">
                                      <p:cBhvr additive="base">
                                        <p:cTn id="39" dur="500" fill="hold"/>
                                        <p:tgtEl>
                                          <p:spTgt spid="51225"/>
                                        </p:tgtEl>
                                        <p:attrNameLst>
                                          <p:attrName>ppt_x</p:attrName>
                                        </p:attrNameLst>
                                      </p:cBhvr>
                                      <p:tavLst>
                                        <p:tav tm="0">
                                          <p:val>
                                            <p:strVal val="#ppt_x"/>
                                          </p:val>
                                        </p:tav>
                                        <p:tav tm="100000">
                                          <p:val>
                                            <p:strVal val="#ppt_x"/>
                                          </p:val>
                                        </p:tav>
                                      </p:tavLst>
                                    </p:anim>
                                    <p:anim calcmode="lin" valueType="num">
                                      <p:cBhvr additive="base">
                                        <p:cTn id="40" dur="500" fill="hold"/>
                                        <p:tgtEl>
                                          <p:spTgt spid="5122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9205"/>
                                        </p:tgtEl>
                                        <p:attrNameLst>
                                          <p:attrName>style.visibility</p:attrName>
                                        </p:attrNameLst>
                                      </p:cBhvr>
                                      <p:to>
                                        <p:strVal val="visible"/>
                                      </p:to>
                                    </p:set>
                                    <p:anim calcmode="lin" valueType="num">
                                      <p:cBhvr additive="base">
                                        <p:cTn id="43" dur="500" fill="hold"/>
                                        <p:tgtEl>
                                          <p:spTgt spid="49205"/>
                                        </p:tgtEl>
                                        <p:attrNameLst>
                                          <p:attrName>ppt_x</p:attrName>
                                        </p:attrNameLst>
                                      </p:cBhvr>
                                      <p:tavLst>
                                        <p:tav tm="0">
                                          <p:val>
                                            <p:strVal val="#ppt_x"/>
                                          </p:val>
                                        </p:tav>
                                        <p:tav tm="100000">
                                          <p:val>
                                            <p:strVal val="#ppt_x"/>
                                          </p:val>
                                        </p:tav>
                                      </p:tavLst>
                                    </p:anim>
                                    <p:anim calcmode="lin" valueType="num">
                                      <p:cBhvr additive="base">
                                        <p:cTn id="44" dur="500" fill="hold"/>
                                        <p:tgtEl>
                                          <p:spTgt spid="4920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9206"/>
                                        </p:tgtEl>
                                        <p:attrNameLst>
                                          <p:attrName>style.visibility</p:attrName>
                                        </p:attrNameLst>
                                      </p:cBhvr>
                                      <p:to>
                                        <p:strVal val="visible"/>
                                      </p:to>
                                    </p:set>
                                    <p:anim calcmode="lin" valueType="num">
                                      <p:cBhvr additive="base">
                                        <p:cTn id="47" dur="500" fill="hold"/>
                                        <p:tgtEl>
                                          <p:spTgt spid="49206"/>
                                        </p:tgtEl>
                                        <p:attrNameLst>
                                          <p:attrName>ppt_x</p:attrName>
                                        </p:attrNameLst>
                                      </p:cBhvr>
                                      <p:tavLst>
                                        <p:tav tm="0">
                                          <p:val>
                                            <p:strVal val="#ppt_x"/>
                                          </p:val>
                                        </p:tav>
                                        <p:tav tm="100000">
                                          <p:val>
                                            <p:strVal val="#ppt_x"/>
                                          </p:val>
                                        </p:tav>
                                      </p:tavLst>
                                    </p:anim>
                                    <p:anim calcmode="lin" valueType="num">
                                      <p:cBhvr additive="base">
                                        <p:cTn id="48" dur="500" fill="hold"/>
                                        <p:tgtEl>
                                          <p:spTgt spid="4920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9207"/>
                                        </p:tgtEl>
                                        <p:attrNameLst>
                                          <p:attrName>style.visibility</p:attrName>
                                        </p:attrNameLst>
                                      </p:cBhvr>
                                      <p:to>
                                        <p:strVal val="visible"/>
                                      </p:to>
                                    </p:set>
                                    <p:anim calcmode="lin" valueType="num">
                                      <p:cBhvr additive="base">
                                        <p:cTn id="51" dur="500" fill="hold"/>
                                        <p:tgtEl>
                                          <p:spTgt spid="49207"/>
                                        </p:tgtEl>
                                        <p:attrNameLst>
                                          <p:attrName>ppt_x</p:attrName>
                                        </p:attrNameLst>
                                      </p:cBhvr>
                                      <p:tavLst>
                                        <p:tav tm="0">
                                          <p:val>
                                            <p:strVal val="#ppt_x"/>
                                          </p:val>
                                        </p:tav>
                                        <p:tav tm="100000">
                                          <p:val>
                                            <p:strVal val="#ppt_x"/>
                                          </p:val>
                                        </p:tav>
                                      </p:tavLst>
                                    </p:anim>
                                    <p:anim calcmode="lin" valueType="num">
                                      <p:cBhvr additive="base">
                                        <p:cTn id="52" dur="500" fill="hold"/>
                                        <p:tgtEl>
                                          <p:spTgt spid="4920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9208"/>
                                        </p:tgtEl>
                                        <p:attrNameLst>
                                          <p:attrName>style.visibility</p:attrName>
                                        </p:attrNameLst>
                                      </p:cBhvr>
                                      <p:to>
                                        <p:strVal val="visible"/>
                                      </p:to>
                                    </p:set>
                                    <p:anim calcmode="lin" valueType="num">
                                      <p:cBhvr additive="base">
                                        <p:cTn id="55" dur="500" fill="hold"/>
                                        <p:tgtEl>
                                          <p:spTgt spid="49208"/>
                                        </p:tgtEl>
                                        <p:attrNameLst>
                                          <p:attrName>ppt_x</p:attrName>
                                        </p:attrNameLst>
                                      </p:cBhvr>
                                      <p:tavLst>
                                        <p:tav tm="0">
                                          <p:val>
                                            <p:strVal val="#ppt_x"/>
                                          </p:val>
                                        </p:tav>
                                        <p:tav tm="100000">
                                          <p:val>
                                            <p:strVal val="#ppt_x"/>
                                          </p:val>
                                        </p:tav>
                                      </p:tavLst>
                                    </p:anim>
                                    <p:anim calcmode="lin" valueType="num">
                                      <p:cBhvr additive="base">
                                        <p:cTn id="56" dur="500" fill="hold"/>
                                        <p:tgtEl>
                                          <p:spTgt spid="4920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1235"/>
                                        </p:tgtEl>
                                        <p:attrNameLst>
                                          <p:attrName>style.visibility</p:attrName>
                                        </p:attrNameLst>
                                      </p:cBhvr>
                                      <p:to>
                                        <p:strVal val="visible"/>
                                      </p:to>
                                    </p:set>
                                    <p:anim calcmode="lin" valueType="num">
                                      <p:cBhvr additive="base">
                                        <p:cTn id="61" dur="500" fill="hold"/>
                                        <p:tgtEl>
                                          <p:spTgt spid="51235"/>
                                        </p:tgtEl>
                                        <p:attrNameLst>
                                          <p:attrName>ppt_x</p:attrName>
                                        </p:attrNameLst>
                                      </p:cBhvr>
                                      <p:tavLst>
                                        <p:tav tm="0">
                                          <p:val>
                                            <p:strVal val="#ppt_x"/>
                                          </p:val>
                                        </p:tav>
                                        <p:tav tm="100000">
                                          <p:val>
                                            <p:strVal val="#ppt_x"/>
                                          </p:val>
                                        </p:tav>
                                      </p:tavLst>
                                    </p:anim>
                                    <p:anim calcmode="lin" valueType="num">
                                      <p:cBhvr additive="base">
                                        <p:cTn id="62" dur="500" fill="hold"/>
                                        <p:tgtEl>
                                          <p:spTgt spid="51235"/>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9209"/>
                                        </p:tgtEl>
                                        <p:attrNameLst>
                                          <p:attrName>style.visibility</p:attrName>
                                        </p:attrNameLst>
                                      </p:cBhvr>
                                      <p:to>
                                        <p:strVal val="visible"/>
                                      </p:to>
                                    </p:set>
                                    <p:anim calcmode="lin" valueType="num">
                                      <p:cBhvr additive="base">
                                        <p:cTn id="65" dur="500" fill="hold"/>
                                        <p:tgtEl>
                                          <p:spTgt spid="49209"/>
                                        </p:tgtEl>
                                        <p:attrNameLst>
                                          <p:attrName>ppt_x</p:attrName>
                                        </p:attrNameLst>
                                      </p:cBhvr>
                                      <p:tavLst>
                                        <p:tav tm="0">
                                          <p:val>
                                            <p:strVal val="#ppt_x"/>
                                          </p:val>
                                        </p:tav>
                                        <p:tav tm="100000">
                                          <p:val>
                                            <p:strVal val="#ppt_x"/>
                                          </p:val>
                                        </p:tav>
                                      </p:tavLst>
                                    </p:anim>
                                    <p:anim calcmode="lin" valueType="num">
                                      <p:cBhvr additive="base">
                                        <p:cTn id="66" dur="500" fill="hold"/>
                                        <p:tgtEl>
                                          <p:spTgt spid="4920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9210"/>
                                        </p:tgtEl>
                                        <p:attrNameLst>
                                          <p:attrName>style.visibility</p:attrName>
                                        </p:attrNameLst>
                                      </p:cBhvr>
                                      <p:to>
                                        <p:strVal val="visible"/>
                                      </p:to>
                                    </p:set>
                                    <p:anim calcmode="lin" valueType="num">
                                      <p:cBhvr additive="base">
                                        <p:cTn id="69" dur="500" fill="hold"/>
                                        <p:tgtEl>
                                          <p:spTgt spid="49210"/>
                                        </p:tgtEl>
                                        <p:attrNameLst>
                                          <p:attrName>ppt_x</p:attrName>
                                        </p:attrNameLst>
                                      </p:cBhvr>
                                      <p:tavLst>
                                        <p:tav tm="0">
                                          <p:val>
                                            <p:strVal val="#ppt_x"/>
                                          </p:val>
                                        </p:tav>
                                        <p:tav tm="100000">
                                          <p:val>
                                            <p:strVal val="#ppt_x"/>
                                          </p:val>
                                        </p:tav>
                                      </p:tavLst>
                                    </p:anim>
                                    <p:anim calcmode="lin" valueType="num">
                                      <p:cBhvr additive="base">
                                        <p:cTn id="70" dur="500" fill="hold"/>
                                        <p:tgtEl>
                                          <p:spTgt spid="49210"/>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9211"/>
                                        </p:tgtEl>
                                        <p:attrNameLst>
                                          <p:attrName>style.visibility</p:attrName>
                                        </p:attrNameLst>
                                      </p:cBhvr>
                                      <p:to>
                                        <p:strVal val="visible"/>
                                      </p:to>
                                    </p:set>
                                    <p:anim calcmode="lin" valueType="num">
                                      <p:cBhvr additive="base">
                                        <p:cTn id="73" dur="500" fill="hold"/>
                                        <p:tgtEl>
                                          <p:spTgt spid="49211"/>
                                        </p:tgtEl>
                                        <p:attrNameLst>
                                          <p:attrName>ppt_x</p:attrName>
                                        </p:attrNameLst>
                                      </p:cBhvr>
                                      <p:tavLst>
                                        <p:tav tm="0">
                                          <p:val>
                                            <p:strVal val="#ppt_x"/>
                                          </p:val>
                                        </p:tav>
                                        <p:tav tm="100000">
                                          <p:val>
                                            <p:strVal val="#ppt_x"/>
                                          </p:val>
                                        </p:tav>
                                      </p:tavLst>
                                    </p:anim>
                                    <p:anim calcmode="lin" valueType="num">
                                      <p:cBhvr additive="base">
                                        <p:cTn id="74" dur="500" fill="hold"/>
                                        <p:tgtEl>
                                          <p:spTgt spid="49211"/>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9212"/>
                                        </p:tgtEl>
                                        <p:attrNameLst>
                                          <p:attrName>style.visibility</p:attrName>
                                        </p:attrNameLst>
                                      </p:cBhvr>
                                      <p:to>
                                        <p:strVal val="visible"/>
                                      </p:to>
                                    </p:set>
                                    <p:anim calcmode="lin" valueType="num">
                                      <p:cBhvr additive="base">
                                        <p:cTn id="77" dur="500" fill="hold"/>
                                        <p:tgtEl>
                                          <p:spTgt spid="49212"/>
                                        </p:tgtEl>
                                        <p:attrNameLst>
                                          <p:attrName>ppt_x</p:attrName>
                                        </p:attrNameLst>
                                      </p:cBhvr>
                                      <p:tavLst>
                                        <p:tav tm="0">
                                          <p:val>
                                            <p:strVal val="#ppt_x"/>
                                          </p:val>
                                        </p:tav>
                                        <p:tav tm="100000">
                                          <p:val>
                                            <p:strVal val="#ppt_x"/>
                                          </p:val>
                                        </p:tav>
                                      </p:tavLst>
                                    </p:anim>
                                    <p:anim calcmode="lin" valueType="num">
                                      <p:cBhvr additive="base">
                                        <p:cTn id="78" dur="500" fill="hold"/>
                                        <p:tgtEl>
                                          <p:spTgt spid="492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00" grpId="0"/>
      <p:bldP spid="49201" grpId="0"/>
      <p:bldP spid="49202" grpId="0"/>
      <p:bldP spid="49203" grpId="0"/>
      <p:bldP spid="49204" grpId="0"/>
      <p:bldP spid="49205" grpId="0"/>
      <p:bldP spid="49206" grpId="0"/>
      <p:bldP spid="49207" grpId="0"/>
      <p:bldP spid="49208" grpId="0"/>
      <p:bldP spid="49209" grpId="0"/>
      <p:bldP spid="49210" grpId="0"/>
      <p:bldP spid="49211" grpId="0"/>
      <p:bldP spid="492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1325" y="1336040"/>
            <a:ext cx="8678545" cy="1938020"/>
          </a:xfrm>
          <a:prstGeom prst="rect">
            <a:avLst/>
          </a:prstGeom>
          <a:noFill/>
        </p:spPr>
        <p:txBody>
          <a:bodyPr wrap="square" rtlCol="0" anchor="t">
            <a:spAutoFit/>
          </a:bodyPr>
          <a:lstStyle/>
          <a:p>
            <a:pPr algn="l">
              <a:lnSpc>
                <a:spcPct val="10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sym typeface="+mn-ea"/>
              </a:rPr>
              <a:t>5</a:t>
            </a:r>
            <a:r>
              <a:rPr lang="zh-CN" altLang="en-US" sz="2400" kern="100" dirty="0" smtClean="0">
                <a:latin typeface="Calibri" panose="020F0502020204030204" pitchFamily="34" charset="0"/>
                <a:cs typeface="Times New Roman" panose="02020603050405020304" pitchFamily="2" charset="0"/>
                <a:sym typeface="+mn-ea"/>
              </a:rPr>
              <a:t>、为一公司设计员工工作管理数据库，实体包括：（</a:t>
            </a:r>
            <a:r>
              <a:rPr lang="en-US" altLang="zh-CN" sz="2400" kern="100" dirty="0" smtClean="0">
                <a:latin typeface="Calibri" panose="020F0502020204030204" pitchFamily="34" charset="0"/>
                <a:cs typeface="Times New Roman" panose="02020603050405020304" pitchFamily="2" charset="0"/>
                <a:sym typeface="+mn-ea"/>
              </a:rPr>
              <a:t>1</a:t>
            </a:r>
            <a:r>
              <a:rPr lang="zh-CN" altLang="en-US" sz="2400" kern="100" dirty="0" smtClean="0">
                <a:latin typeface="Calibri" panose="020F0502020204030204" pitchFamily="34" charset="0"/>
                <a:cs typeface="Times New Roman" panose="02020603050405020304" pitchFamily="2" charset="0"/>
                <a:sym typeface="+mn-ea"/>
              </a:rPr>
              <a:t>）员工（员工号，姓名，身份证号，生日）；（</a:t>
            </a:r>
            <a:r>
              <a:rPr lang="en-US" altLang="zh-CN" sz="2400" kern="100" dirty="0" smtClean="0">
                <a:latin typeface="Calibri" panose="020F0502020204030204" pitchFamily="34" charset="0"/>
                <a:cs typeface="Times New Roman" panose="02020603050405020304" pitchFamily="2" charset="0"/>
                <a:sym typeface="+mn-ea"/>
              </a:rPr>
              <a:t>2</a:t>
            </a:r>
            <a:r>
              <a:rPr lang="zh-CN" altLang="en-US" sz="2400" kern="100" dirty="0" smtClean="0">
                <a:latin typeface="Calibri" panose="020F0502020204030204" pitchFamily="34" charset="0"/>
                <a:cs typeface="Times New Roman" panose="02020603050405020304" pitchFamily="2" charset="0"/>
                <a:sym typeface="+mn-ea"/>
              </a:rPr>
              <a:t>）部门（部门号，部门名，经费）；（</a:t>
            </a:r>
            <a:r>
              <a:rPr lang="en-US" altLang="zh-CN" sz="2400" kern="100" dirty="0" smtClean="0">
                <a:latin typeface="Calibri" panose="020F0502020204030204" pitchFamily="34" charset="0"/>
                <a:cs typeface="Times New Roman" panose="02020603050405020304" pitchFamily="2" charset="0"/>
                <a:sym typeface="+mn-ea"/>
              </a:rPr>
              <a:t>3</a:t>
            </a:r>
            <a:r>
              <a:rPr lang="zh-CN" altLang="en-US" sz="2400" kern="100" dirty="0" smtClean="0">
                <a:latin typeface="Calibri" panose="020F0502020204030204" pitchFamily="34" charset="0"/>
                <a:cs typeface="Times New Roman" panose="02020603050405020304" pitchFamily="2" charset="0"/>
                <a:sym typeface="+mn-ea"/>
              </a:rPr>
              <a:t>）地点（地址、容量）。三个实体型间存在工作于联系，属性有起始期，规定每个员工只能在一个部门工作，并且在一个地点。画出</a:t>
            </a:r>
            <a:r>
              <a:rPr lang="en-US" altLang="zh-CN" sz="2400" kern="100" dirty="0" smtClean="0">
                <a:latin typeface="Calibri" panose="020F0502020204030204" pitchFamily="34" charset="0"/>
                <a:cs typeface="Times New Roman" panose="02020603050405020304" pitchFamily="2" charset="0"/>
                <a:sym typeface="+mn-ea"/>
              </a:rPr>
              <a:t>ER</a:t>
            </a:r>
            <a:r>
              <a:rPr lang="zh-CN" altLang="en-US" sz="2400" kern="100" dirty="0" smtClean="0">
                <a:latin typeface="Calibri" panose="020F0502020204030204" pitchFamily="34" charset="0"/>
                <a:cs typeface="Times New Roman" panose="02020603050405020304" pitchFamily="2" charset="0"/>
                <a:sym typeface="+mn-ea"/>
              </a:rPr>
              <a:t>图，标明一般性约束和键约束。</a:t>
            </a:r>
            <a:endParaRPr lang="zh-CN" altLang="en-US" sz="2400" kern="100" dirty="0" smtClean="0">
              <a:latin typeface="Calibri" panose="020F0502020204030204" pitchFamily="34" charset="0"/>
              <a:cs typeface="Times New Roman" panose="02020603050405020304" pitchFamily="2" charset="0"/>
              <a:sym typeface="+mn-ea"/>
            </a:endParaRPr>
          </a:p>
        </p:txBody>
      </p:sp>
      <p:sp>
        <p:nvSpPr>
          <p:cNvPr id="5"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6" name="矩形 5"/>
          <p:cNvSpPr/>
          <p:nvPr/>
        </p:nvSpPr>
        <p:spPr>
          <a:xfrm>
            <a:off x="403450" y="687162"/>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FF0000"/>
                </a:solidFill>
                <a:latin typeface="Calibri" panose="020F0502020204030204" pitchFamily="34" charset="0"/>
                <a:cs typeface="Times New Roman" panose="02020603050405020304" pitchFamily="2" charset="0"/>
              </a:rPr>
              <a:t>知识点检测</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405765" y="1437640"/>
            <a:ext cx="8610600" cy="1938020"/>
          </a:xfrm>
          <a:prstGeom prst="rect">
            <a:avLst/>
          </a:prstGeom>
          <a:noFill/>
        </p:spPr>
        <p:txBody>
          <a:bodyPr wrap="square" rtlCol="0" anchor="t">
            <a:spAutoFit/>
          </a:bodyPr>
          <a:lstStyle/>
          <a:p>
            <a:pPr algn="l">
              <a:lnSpc>
                <a:spcPct val="10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sym typeface="+mn-ea"/>
              </a:rPr>
              <a:t>5</a:t>
            </a:r>
            <a:r>
              <a:rPr lang="zh-CN" altLang="en-US" sz="2400" kern="100" dirty="0" smtClean="0">
                <a:latin typeface="Calibri" panose="020F0502020204030204" pitchFamily="34" charset="0"/>
                <a:cs typeface="Times New Roman" panose="02020603050405020304" pitchFamily="2" charset="0"/>
                <a:sym typeface="+mn-ea"/>
              </a:rPr>
              <a:t>、为一公司设计员工工作管理数据库，实体包括：（</a:t>
            </a:r>
            <a:r>
              <a:rPr lang="en-US" altLang="zh-CN" sz="2400" kern="100" dirty="0" smtClean="0">
                <a:latin typeface="Calibri" panose="020F0502020204030204" pitchFamily="34" charset="0"/>
                <a:cs typeface="Times New Roman" panose="02020603050405020304" pitchFamily="2" charset="0"/>
                <a:sym typeface="+mn-ea"/>
              </a:rPr>
              <a:t>1</a:t>
            </a:r>
            <a:r>
              <a:rPr lang="zh-CN" altLang="en-US" sz="2400" kern="100" dirty="0" smtClean="0">
                <a:latin typeface="Calibri" panose="020F0502020204030204" pitchFamily="34" charset="0"/>
                <a:cs typeface="Times New Roman" panose="02020603050405020304" pitchFamily="2" charset="0"/>
                <a:sym typeface="+mn-ea"/>
              </a:rPr>
              <a:t>）员工（员工号，姓名，身份证号，生日）；（</a:t>
            </a:r>
            <a:r>
              <a:rPr lang="en-US" altLang="zh-CN" sz="2400" kern="100" dirty="0" smtClean="0">
                <a:latin typeface="Calibri" panose="020F0502020204030204" pitchFamily="34" charset="0"/>
                <a:cs typeface="Times New Roman" panose="02020603050405020304" pitchFamily="2" charset="0"/>
                <a:sym typeface="+mn-ea"/>
              </a:rPr>
              <a:t>2</a:t>
            </a:r>
            <a:r>
              <a:rPr lang="zh-CN" altLang="en-US" sz="2400" kern="100" dirty="0" smtClean="0">
                <a:latin typeface="Calibri" panose="020F0502020204030204" pitchFamily="34" charset="0"/>
                <a:cs typeface="Times New Roman" panose="02020603050405020304" pitchFamily="2" charset="0"/>
                <a:sym typeface="+mn-ea"/>
              </a:rPr>
              <a:t>）部门（部门号，部门名，经费）；（</a:t>
            </a:r>
            <a:r>
              <a:rPr lang="en-US" altLang="zh-CN" sz="2400" kern="100" dirty="0" smtClean="0">
                <a:latin typeface="Calibri" panose="020F0502020204030204" pitchFamily="34" charset="0"/>
                <a:cs typeface="Times New Roman" panose="02020603050405020304" pitchFamily="2" charset="0"/>
                <a:sym typeface="+mn-ea"/>
              </a:rPr>
              <a:t>3</a:t>
            </a:r>
            <a:r>
              <a:rPr lang="zh-CN" altLang="en-US" sz="2400" kern="100" dirty="0" smtClean="0">
                <a:latin typeface="Calibri" panose="020F0502020204030204" pitchFamily="34" charset="0"/>
                <a:cs typeface="Times New Roman" panose="02020603050405020304" pitchFamily="2" charset="0"/>
                <a:sym typeface="+mn-ea"/>
              </a:rPr>
              <a:t>）地点（地址、容量）。三个实体型间存在工作于联系，属性有起始期，规定每个员工只能在一个部门工作，并且在一个地点。画出</a:t>
            </a:r>
            <a:r>
              <a:rPr lang="en-US" altLang="zh-CN" sz="2400" kern="100" dirty="0" smtClean="0">
                <a:latin typeface="Calibri" panose="020F0502020204030204" pitchFamily="34" charset="0"/>
                <a:cs typeface="Times New Roman" panose="02020603050405020304" pitchFamily="2" charset="0"/>
                <a:sym typeface="+mn-ea"/>
              </a:rPr>
              <a:t>ER</a:t>
            </a:r>
            <a:r>
              <a:rPr lang="zh-CN" altLang="en-US" sz="2400" kern="100" dirty="0" smtClean="0">
                <a:latin typeface="Calibri" panose="020F0502020204030204" pitchFamily="34" charset="0"/>
                <a:cs typeface="Times New Roman" panose="02020603050405020304" pitchFamily="2" charset="0"/>
                <a:sym typeface="+mn-ea"/>
              </a:rPr>
              <a:t>图，标明一般性约束和键约束。</a:t>
            </a:r>
            <a:endParaRPr lang="zh-CN" altLang="en-US" sz="2400" kern="100" dirty="0" smtClean="0">
              <a:latin typeface="Calibri" panose="020F0502020204030204" pitchFamily="34" charset="0"/>
              <a:cs typeface="Times New Roman" panose="02020603050405020304" pitchFamily="2" charset="0"/>
              <a:sym typeface="+mn-ea"/>
            </a:endParaRPr>
          </a:p>
        </p:txBody>
      </p:sp>
      <p:grpSp>
        <p:nvGrpSpPr>
          <p:cNvPr id="61" name="组合 60"/>
          <p:cNvGrpSpPr/>
          <p:nvPr/>
        </p:nvGrpSpPr>
        <p:grpSpPr>
          <a:xfrm>
            <a:off x="379730" y="3375660"/>
            <a:ext cx="8371840" cy="2866390"/>
            <a:chOff x="598" y="5890"/>
            <a:chExt cx="13184" cy="4200"/>
          </a:xfrm>
        </p:grpSpPr>
        <p:grpSp>
          <p:nvGrpSpPr>
            <p:cNvPr id="52" name="组合 51"/>
            <p:cNvGrpSpPr/>
            <p:nvPr/>
          </p:nvGrpSpPr>
          <p:grpSpPr>
            <a:xfrm>
              <a:off x="598" y="5890"/>
              <a:ext cx="13184" cy="4200"/>
              <a:chOff x="507" y="5319"/>
              <a:chExt cx="13184" cy="4540"/>
            </a:xfrm>
          </p:grpSpPr>
          <p:sp>
            <p:nvSpPr>
              <p:cNvPr id="3" name="矩形 2"/>
              <p:cNvSpPr/>
              <p:nvPr/>
            </p:nvSpPr>
            <p:spPr>
              <a:xfrm>
                <a:off x="3390"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员工</a:t>
                </a:r>
                <a:endParaRPr lang="zh-CN" altLang="en-US">
                  <a:solidFill>
                    <a:schemeClr val="tx1"/>
                  </a:solidFill>
                </a:endParaRPr>
              </a:p>
            </p:txBody>
          </p:sp>
          <p:sp>
            <p:nvSpPr>
              <p:cNvPr id="4" name="椭圆 3"/>
              <p:cNvSpPr/>
              <p:nvPr/>
            </p:nvSpPr>
            <p:spPr>
              <a:xfrm>
                <a:off x="846" y="5319"/>
                <a:ext cx="1814"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员工号</a:t>
                </a:r>
                <a:endParaRPr lang="zh-CN" altLang="en-US" u="sng">
                  <a:solidFill>
                    <a:srgbClr val="FF0000"/>
                  </a:solidFill>
                </a:endParaRPr>
              </a:p>
            </p:txBody>
          </p:sp>
          <p:sp>
            <p:nvSpPr>
              <p:cNvPr id="5" name="椭圆 4"/>
              <p:cNvSpPr/>
              <p:nvPr/>
            </p:nvSpPr>
            <p:spPr>
              <a:xfrm>
                <a:off x="1109" y="600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姓名</a:t>
                </a:r>
                <a:endParaRPr lang="zh-CN" altLang="en-US">
                  <a:solidFill>
                    <a:schemeClr val="tx1"/>
                  </a:solidFill>
                </a:endParaRPr>
              </a:p>
            </p:txBody>
          </p:sp>
          <p:sp>
            <p:nvSpPr>
              <p:cNvPr id="7" name="椭圆 6"/>
              <p:cNvSpPr/>
              <p:nvPr/>
            </p:nvSpPr>
            <p:spPr>
              <a:xfrm>
                <a:off x="507" y="6515"/>
                <a:ext cx="2098"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身份证号</a:t>
                </a:r>
                <a:endParaRPr lang="zh-CN" altLang="en-US">
                  <a:solidFill>
                    <a:schemeClr val="tx1"/>
                  </a:solidFill>
                </a:endParaRPr>
              </a:p>
            </p:txBody>
          </p:sp>
          <p:sp>
            <p:nvSpPr>
              <p:cNvPr id="8" name="椭圆 7"/>
              <p:cNvSpPr/>
              <p:nvPr/>
            </p:nvSpPr>
            <p:spPr>
              <a:xfrm>
                <a:off x="1109" y="7057"/>
                <a:ext cx="1474" cy="510"/>
              </a:xfrm>
              <a:prstGeom prst="ellipse">
                <a:avLst/>
              </a:prstGeom>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生日</a:t>
                </a:r>
                <a:endParaRPr lang="zh-CN" altLang="en-US">
                  <a:solidFill>
                    <a:schemeClr val="tx1"/>
                  </a:solidFill>
                </a:endParaRPr>
              </a:p>
            </p:txBody>
          </p:sp>
          <p:sp>
            <p:nvSpPr>
              <p:cNvPr id="11" name="矩形 10"/>
              <p:cNvSpPr/>
              <p:nvPr/>
            </p:nvSpPr>
            <p:spPr>
              <a:xfrm>
                <a:off x="6584" y="8168"/>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地点</a:t>
                </a:r>
                <a:endParaRPr lang="zh-CN" altLang="en-US">
                  <a:solidFill>
                    <a:schemeClr val="tx1"/>
                  </a:solidFill>
                </a:endParaRPr>
              </a:p>
            </p:txBody>
          </p:sp>
          <p:sp>
            <p:nvSpPr>
              <p:cNvPr id="12" name="椭圆 11"/>
              <p:cNvSpPr/>
              <p:nvPr/>
            </p:nvSpPr>
            <p:spPr>
              <a:xfrm>
                <a:off x="5330" y="9235"/>
                <a:ext cx="2199"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地址</a:t>
                </a:r>
                <a:endParaRPr lang="zh-CN" altLang="en-US" u="sng">
                  <a:solidFill>
                    <a:srgbClr val="FF0000"/>
                  </a:solidFill>
                </a:endParaRPr>
              </a:p>
            </p:txBody>
          </p:sp>
          <p:sp>
            <p:nvSpPr>
              <p:cNvPr id="13" name="椭圆 12"/>
              <p:cNvSpPr/>
              <p:nvPr/>
            </p:nvSpPr>
            <p:spPr>
              <a:xfrm>
                <a:off x="7807" y="9235"/>
                <a:ext cx="2089"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容量</a:t>
                </a:r>
                <a:endParaRPr lang="zh-CN" altLang="en-US">
                  <a:solidFill>
                    <a:schemeClr val="tx1"/>
                  </a:solidFill>
                </a:endParaRPr>
              </a:p>
            </p:txBody>
          </p:sp>
          <p:sp>
            <p:nvSpPr>
              <p:cNvPr id="14" name="矩形 13"/>
              <p:cNvSpPr/>
              <p:nvPr/>
            </p:nvSpPr>
            <p:spPr>
              <a:xfrm>
                <a:off x="9179"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部门</a:t>
                </a:r>
                <a:endParaRPr lang="zh-CN" altLang="en-US">
                  <a:solidFill>
                    <a:schemeClr val="tx1"/>
                  </a:solidFill>
                </a:endParaRPr>
              </a:p>
            </p:txBody>
          </p:sp>
          <p:sp>
            <p:nvSpPr>
              <p:cNvPr id="15" name="椭圆 14"/>
              <p:cNvSpPr/>
              <p:nvPr/>
            </p:nvSpPr>
            <p:spPr>
              <a:xfrm>
                <a:off x="11538" y="5948"/>
                <a:ext cx="2153"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部门号</a:t>
                </a:r>
                <a:endParaRPr lang="zh-CN" altLang="en-US" u="sng">
                  <a:solidFill>
                    <a:srgbClr val="FF0000"/>
                  </a:solidFill>
                </a:endParaRPr>
              </a:p>
            </p:txBody>
          </p:sp>
          <p:sp>
            <p:nvSpPr>
              <p:cNvPr id="16" name="椭圆 15"/>
              <p:cNvSpPr/>
              <p:nvPr/>
            </p:nvSpPr>
            <p:spPr>
              <a:xfrm>
                <a:off x="11538" y="6634"/>
                <a:ext cx="1958"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部门名</a:t>
                </a:r>
                <a:endParaRPr lang="zh-CN" altLang="en-US">
                  <a:solidFill>
                    <a:schemeClr val="tx1"/>
                  </a:solidFill>
                </a:endParaRPr>
              </a:p>
            </p:txBody>
          </p:sp>
          <p:sp>
            <p:nvSpPr>
              <p:cNvPr id="17" name="椭圆 16"/>
              <p:cNvSpPr/>
              <p:nvPr/>
            </p:nvSpPr>
            <p:spPr>
              <a:xfrm>
                <a:off x="11538" y="714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经费</a:t>
                </a:r>
                <a:endParaRPr lang="zh-CN" altLang="en-US">
                  <a:solidFill>
                    <a:schemeClr val="tx1"/>
                  </a:solidFill>
                </a:endParaRPr>
              </a:p>
            </p:txBody>
          </p:sp>
          <p:cxnSp>
            <p:nvCxnSpPr>
              <p:cNvPr id="18" name="直接连接符 17"/>
              <p:cNvCxnSpPr>
                <a:stCxn id="4" idx="5"/>
                <a:endCxn id="3" idx="1"/>
              </p:cNvCxnSpPr>
              <p:nvPr/>
            </p:nvCxnSpPr>
            <p:spPr>
              <a:xfrm>
                <a:off x="2394" y="5852"/>
                <a:ext cx="996" cy="102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p:cNvCxnSpPr>
              <p:nvPr/>
            </p:nvCxnSpPr>
            <p:spPr>
              <a:xfrm>
                <a:off x="2583"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605" y="6770"/>
                <a:ext cx="785" cy="11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8" idx="7"/>
                <a:endCxn id="3" idx="1"/>
              </p:cNvCxnSpPr>
              <p:nvPr/>
            </p:nvCxnSpPr>
            <p:spPr>
              <a:xfrm flipV="1">
                <a:off x="2367" y="6880"/>
                <a:ext cx="1023" cy="2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7" y="6260"/>
                <a:ext cx="597" cy="62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7" y="6880"/>
                <a:ext cx="597"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3" y="6942"/>
                <a:ext cx="571" cy="45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2"/>
                <a:ext cx="881"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5" y="8882"/>
                <a:ext cx="1387"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菱形 29"/>
              <p:cNvSpPr/>
              <p:nvPr/>
            </p:nvSpPr>
            <p:spPr>
              <a:xfrm>
                <a:off x="6203" y="6435"/>
                <a:ext cx="2250"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rtlCol="0" anchor="ctr"/>
              <a:lstStyle/>
              <a:p>
                <a:pPr algn="ctr">
                  <a:buNone/>
                </a:pPr>
                <a:r>
                  <a:rPr lang="zh-CN" altLang="en-US">
                    <a:solidFill>
                      <a:schemeClr val="tx1"/>
                    </a:solidFill>
                  </a:rPr>
                  <a:t>工作于</a:t>
                </a:r>
                <a:endParaRPr lang="zh-CN" altLang="en-US">
                  <a:solidFill>
                    <a:schemeClr val="tx1"/>
                  </a:solidFill>
                </a:endParaRPr>
              </a:p>
            </p:txBody>
          </p:sp>
          <p:cxnSp>
            <p:nvCxnSpPr>
              <p:cNvPr id="34" name="直接连接符 33"/>
              <p:cNvCxnSpPr>
                <a:stCxn id="30" idx="1"/>
                <a:endCxn id="3" idx="3"/>
              </p:cNvCxnSpPr>
              <p:nvPr/>
            </p:nvCxnSpPr>
            <p:spPr>
              <a:xfrm flipH="1" flipV="1">
                <a:off x="5152" y="6880"/>
                <a:ext cx="1051" cy="9"/>
              </a:xfrm>
              <a:prstGeom prst="line">
                <a:avLst/>
              </a:prstGeom>
              <a:ln>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3" y="6885"/>
                <a:ext cx="708" cy="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2" y="5495"/>
                <a:ext cx="2243"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起始期</a:t>
                </a:r>
                <a:endParaRPr lang="zh-CN" altLang="en-US">
                  <a:solidFill>
                    <a:schemeClr val="tx1"/>
                  </a:solidFill>
                </a:endParaRPr>
              </a:p>
            </p:txBody>
          </p:sp>
          <p:cxnSp>
            <p:nvCxnSpPr>
              <p:cNvPr id="38" name="直接连接符 37"/>
              <p:cNvCxnSpPr>
                <a:endCxn id="30" idx="0"/>
              </p:cNvCxnSpPr>
              <p:nvPr/>
            </p:nvCxnSpPr>
            <p:spPr>
              <a:xfrm>
                <a:off x="6705" y="5997"/>
                <a:ext cx="623"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4" name="文本框 53"/>
            <p:cNvSpPr txBox="1"/>
            <p:nvPr/>
          </p:nvSpPr>
          <p:spPr>
            <a:xfrm>
              <a:off x="8632" y="6640"/>
              <a:ext cx="510" cy="742"/>
            </a:xfrm>
            <a:prstGeom prst="rect">
              <a:avLst/>
            </a:prstGeom>
            <a:noFill/>
          </p:spPr>
          <p:txBody>
            <a:bodyPr wrap="square" rtlCol="0" anchor="t">
              <a:spAutoFit/>
            </a:bodyPr>
            <a:lstStyle/>
            <a:p>
              <a:pPr>
                <a:buNone/>
              </a:pPr>
              <a:r>
                <a:rPr lang="en-US" altLang="zh-CN" sz="2000">
                  <a:solidFill>
                    <a:srgbClr val="FF0000"/>
                  </a:solidFill>
                </a:rPr>
                <a:t>1</a:t>
              </a:r>
              <a:endParaRPr lang="en-US" altLang="zh-CN" sz="2000">
                <a:solidFill>
                  <a:srgbClr val="FF0000"/>
                </a:solidFill>
              </a:endParaRPr>
            </a:p>
          </p:txBody>
        </p:sp>
        <p:sp>
          <p:nvSpPr>
            <p:cNvPr id="57" name="文本框 56"/>
            <p:cNvSpPr txBox="1"/>
            <p:nvPr/>
          </p:nvSpPr>
          <p:spPr>
            <a:xfrm>
              <a:off x="5547" y="6460"/>
              <a:ext cx="747" cy="742"/>
            </a:xfrm>
            <a:prstGeom prst="rect">
              <a:avLst/>
            </a:prstGeom>
            <a:noFill/>
          </p:spPr>
          <p:txBody>
            <a:bodyPr wrap="square" rtlCol="0" anchor="t">
              <a:spAutoFit/>
            </a:bodyPr>
            <a:lstStyle/>
            <a:p>
              <a:pPr>
                <a:buNone/>
              </a:pPr>
              <a:r>
                <a:rPr lang="en-US" altLang="zh-CN" sz="2000">
                  <a:solidFill>
                    <a:srgbClr val="FF0000"/>
                  </a:solidFill>
                </a:rPr>
                <a:t>n</a:t>
              </a:r>
              <a:endParaRPr lang="en-US" altLang="zh-CN" sz="2000">
                <a:solidFill>
                  <a:srgbClr val="FF0000"/>
                </a:solidFill>
              </a:endParaRPr>
            </a:p>
          </p:txBody>
        </p:sp>
        <p:cxnSp>
          <p:nvCxnSpPr>
            <p:cNvPr id="59" name="直接连接符 58"/>
            <p:cNvCxnSpPr>
              <a:endCxn id="30" idx="2"/>
            </p:cNvCxnSpPr>
            <p:nvPr/>
          </p:nvCxnSpPr>
          <p:spPr>
            <a:xfrm flipV="1">
              <a:off x="7419" y="7761"/>
              <a:ext cx="0" cy="78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7392" y="7580"/>
              <a:ext cx="510" cy="742"/>
            </a:xfrm>
            <a:prstGeom prst="rect">
              <a:avLst/>
            </a:prstGeom>
            <a:noFill/>
          </p:spPr>
          <p:txBody>
            <a:bodyPr wrap="square" rtlCol="0" anchor="t">
              <a:spAutoFit/>
            </a:bodyPr>
            <a:lstStyle/>
            <a:p>
              <a:pPr>
                <a:buNone/>
              </a:pPr>
              <a:r>
                <a:rPr lang="en-US" altLang="zh-CN" sz="2000">
                  <a:solidFill>
                    <a:srgbClr val="FF0000"/>
                  </a:solidFill>
                </a:rPr>
                <a:t>1</a:t>
              </a:r>
              <a:endParaRPr lang="en-US" altLang="zh-CN" sz="2000">
                <a:solidFill>
                  <a:srgbClr val="FF0000"/>
                </a:solidFill>
              </a:endParaRPr>
            </a:p>
          </p:txBody>
        </p:sp>
      </p:grpSp>
      <p:sp>
        <p:nvSpPr>
          <p:cNvPr id="37"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39" name="矩形 38"/>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txBox="1"/>
          <p:nvPr/>
        </p:nvSpPr>
        <p:spPr>
          <a:xfrm>
            <a:off x="630238" y="1465263"/>
            <a:ext cx="7954962" cy="1452562"/>
          </a:xfrm>
          <a:prstGeom prst="rect">
            <a:avLst/>
          </a:prstGeom>
          <a:noFill/>
          <a:ln w="9525">
            <a:noFill/>
          </a:ln>
        </p:spPr>
        <p:txBody>
          <a:bodyPr anchor="t"/>
          <a:lstStyle/>
          <a:p>
            <a:pPr marL="342900" lvl="0" indent="-342900">
              <a:lnSpc>
                <a:spcPct val="125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参与约束（</a:t>
            </a:r>
            <a:r>
              <a:rPr lang="en-US" altLang="x-none" sz="2400" u="sng" dirty="0">
                <a:solidFill>
                  <a:srgbClr val="FF0000"/>
                </a:solidFill>
                <a:latin typeface="华文楷体" panose="02010600040101010101" pitchFamily="2" charset="-122"/>
                <a:ea typeface="宋体" panose="02010600030101010101" pitchFamily="2" charset="-122"/>
              </a:rPr>
              <a:t>Participation Constraint</a:t>
            </a:r>
            <a:r>
              <a:rPr lang="zh-CN" altLang="en-US" sz="2400" u="sng" dirty="0">
                <a:solidFill>
                  <a:srgbClr val="FF0000"/>
                </a:solidFill>
                <a:latin typeface="华文楷体" panose="02010600040101010101" pitchFamily="2" charset="-122"/>
                <a:ea typeface="宋体" panose="02010600030101010101" pitchFamily="2" charset="-122"/>
              </a:rPr>
              <a:t>）</a:t>
            </a:r>
            <a:r>
              <a:rPr lang="en-US" altLang="x-none" sz="2400" u="sng" dirty="0">
                <a:solidFill>
                  <a:srgbClr val="FF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实体与联系之间的约束，即实体型中实体如何参与到联系中。有些教材中也称为“实体关联约束” 。</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a:t>
            </a:r>
            <a:endParaRPr lang="zh-CN" altLang="en-US" sz="2200" dirty="0">
              <a:latin typeface="华文楷体" panose="02010600040101010101" pitchFamily="2" charset="-122"/>
              <a:ea typeface="宋体" panose="02010600030101010101" pitchFamily="2" charset="-122"/>
            </a:endParaRPr>
          </a:p>
        </p:txBody>
      </p:sp>
      <p:sp>
        <p:nvSpPr>
          <p:cNvPr id="59395" name="矩形 4"/>
          <p:cNvSpPr/>
          <p:nvPr/>
        </p:nvSpPr>
        <p:spPr>
          <a:xfrm>
            <a:off x="557213" y="881063"/>
            <a:ext cx="197231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en-US" altLang="x-none" sz="2800" dirty="0">
                <a:solidFill>
                  <a:srgbClr val="0033CC"/>
                </a:solidFill>
                <a:latin typeface="黑体" panose="02010609060101010101" pitchFamily="1" charset="-122"/>
                <a:ea typeface="黑体" panose="02010609060101010101" pitchFamily="1" charset="-122"/>
                <a:cs typeface="+mn-ea"/>
              </a:rPr>
              <a:t>参与约束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grpSp>
        <p:nvGrpSpPr>
          <p:cNvPr id="57349" name="组合 19"/>
          <p:cNvGrpSpPr/>
          <p:nvPr/>
        </p:nvGrpSpPr>
        <p:grpSpPr>
          <a:xfrm>
            <a:off x="723900" y="2743200"/>
            <a:ext cx="8070850" cy="3227388"/>
            <a:chOff x="0" y="0"/>
            <a:chExt cx="8070850" cy="3227388"/>
          </a:xfrm>
        </p:grpSpPr>
        <p:sp>
          <p:nvSpPr>
            <p:cNvPr id="59397" name="Rectangle 3"/>
            <p:cNvSpPr txBox="1"/>
            <p:nvPr/>
          </p:nvSpPr>
          <p:spPr>
            <a:xfrm>
              <a:off x="0" y="122238"/>
              <a:ext cx="5126038" cy="3100387"/>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实体参与联系的最小和最大次数，如：</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规定每位学生最少选</a:t>
              </a:r>
              <a:r>
                <a:rPr lang="en-US" altLang="x-none" sz="2200" dirty="0">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门课，最多选</a:t>
              </a:r>
              <a:r>
                <a:rPr lang="en-US" altLang="x-none" sz="2200" dirty="0">
                  <a:latin typeface="楷体" panose="02010609060101010101" pitchFamily="1" charset="-122"/>
                  <a:ea typeface="楷体" panose="02010609060101010101" pitchFamily="1" charset="-122"/>
                </a:rPr>
                <a:t>6</a:t>
              </a:r>
              <a:r>
                <a:rPr lang="zh-CN" altLang="en-US" sz="2200" dirty="0">
                  <a:latin typeface="楷体" panose="02010609060101010101" pitchFamily="1" charset="-122"/>
                  <a:ea typeface="楷体" panose="02010609060101010101" pitchFamily="1" charset="-122"/>
                </a:rPr>
                <a:t>门课，则学生在选课联系中参与度表示为（</a:t>
              </a:r>
              <a:r>
                <a:rPr lang="en-US" altLang="x-none" sz="2200" dirty="0">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6</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规定有些课程可以无人选，但</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门课最多允许</a:t>
              </a:r>
              <a:r>
                <a:rPr lang="en-US" altLang="x-none" sz="2200" dirty="0">
                  <a:latin typeface="楷体" panose="02010609060101010101" pitchFamily="1" charset="-122"/>
                  <a:ea typeface="楷体" panose="02010609060101010101" pitchFamily="1" charset="-122"/>
                </a:rPr>
                <a:t>100</a:t>
              </a:r>
              <a:r>
                <a:rPr lang="zh-CN" altLang="en-US" sz="2200" dirty="0">
                  <a:latin typeface="楷体" panose="02010609060101010101" pitchFamily="1" charset="-122"/>
                  <a:ea typeface="楷体" panose="02010609060101010101" pitchFamily="1" charset="-122"/>
                </a:rPr>
                <a:t>人选，则课程的参与度为（</a:t>
              </a:r>
              <a:r>
                <a:rPr lang="en-US" altLang="x-none" sz="2200" dirty="0">
                  <a:latin typeface="楷体" panose="02010609060101010101" pitchFamily="1" charset="-122"/>
                  <a:ea typeface="楷体" panose="02010609060101010101" pitchFamily="1" charset="-122"/>
                </a:rPr>
                <a:t>0</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100</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a:t>
              </a:r>
              <a:endParaRPr lang="zh-CN" altLang="en-US" sz="2200" dirty="0">
                <a:latin typeface="华文楷体" panose="02010600040101010101" pitchFamily="2" charset="-122"/>
                <a:ea typeface="宋体" panose="02010600030101010101" pitchFamily="2" charset="-122"/>
              </a:endParaRPr>
            </a:p>
          </p:txBody>
        </p:sp>
        <p:grpSp>
          <p:nvGrpSpPr>
            <p:cNvPr id="59398" name="Group 3"/>
            <p:cNvGrpSpPr/>
            <p:nvPr/>
          </p:nvGrpSpPr>
          <p:grpSpPr>
            <a:xfrm>
              <a:off x="5486400" y="0"/>
              <a:ext cx="2584450" cy="3227388"/>
              <a:chOff x="0" y="0"/>
              <a:chExt cx="965" cy="1424"/>
            </a:xfrm>
          </p:grpSpPr>
          <p:sp>
            <p:nvSpPr>
              <p:cNvPr id="59399" name="Line 4"/>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59400" name="Line 5"/>
              <p:cNvSpPr/>
              <p:nvPr/>
            </p:nvSpPr>
            <p:spPr>
              <a:xfrm>
                <a:off x="240" y="672"/>
                <a:ext cx="0" cy="525"/>
              </a:xfrm>
              <a:prstGeom prst="line">
                <a:avLst/>
              </a:prstGeom>
              <a:ln w="25400" cap="flat" cmpd="sng">
                <a:solidFill>
                  <a:srgbClr val="000000"/>
                </a:solidFill>
                <a:prstDash val="solid"/>
                <a:round/>
                <a:headEnd type="none" w="med" len="med"/>
                <a:tailEnd type="none" w="med" len="med"/>
              </a:ln>
            </p:spPr>
          </p:sp>
          <p:sp>
            <p:nvSpPr>
              <p:cNvPr id="59401" name="Line 6"/>
              <p:cNvSpPr/>
              <p:nvPr/>
            </p:nvSpPr>
            <p:spPr>
              <a:xfrm flipH="1" flipV="1">
                <a:off x="336" y="480"/>
                <a:ext cx="255" cy="20"/>
              </a:xfrm>
              <a:prstGeom prst="line">
                <a:avLst/>
              </a:prstGeom>
              <a:ln w="25400" cap="flat" cmpd="sng">
                <a:solidFill>
                  <a:srgbClr val="000000"/>
                </a:solidFill>
                <a:prstDash val="solid"/>
                <a:round/>
                <a:headEnd type="none" w="med" len="med"/>
                <a:tailEnd type="none" w="med" len="med"/>
              </a:ln>
            </p:spPr>
          </p:sp>
          <p:sp>
            <p:nvSpPr>
              <p:cNvPr id="59402"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9403" name="Rectangle 8"/>
              <p:cNvSpPr/>
              <p:nvPr/>
            </p:nvSpPr>
            <p:spPr>
              <a:xfrm>
                <a:off x="70" y="119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9404" name="AutoShape 9"/>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5" name="Oval 10"/>
              <p:cNvSpPr/>
              <p:nvPr/>
            </p:nvSpPr>
            <p:spPr>
              <a:xfrm>
                <a:off x="581" y="381"/>
                <a:ext cx="384" cy="2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6" name="Oval 11"/>
              <p:cNvSpPr/>
              <p:nvPr/>
            </p:nvSpPr>
            <p:spPr>
              <a:xfrm>
                <a:off x="576" y="624"/>
                <a:ext cx="384" cy="20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7" name="Rectangle 1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grpSp>
      <p:grpSp>
        <p:nvGrpSpPr>
          <p:cNvPr id="57361" name="组合 20"/>
          <p:cNvGrpSpPr/>
          <p:nvPr/>
        </p:nvGrpSpPr>
        <p:grpSpPr>
          <a:xfrm>
            <a:off x="6880225" y="3155950"/>
            <a:ext cx="1422400" cy="2122488"/>
            <a:chOff x="0" y="0"/>
            <a:chExt cx="1422400" cy="2122488"/>
          </a:xfrm>
        </p:grpSpPr>
        <p:sp>
          <p:nvSpPr>
            <p:cNvPr id="59409" name="Text Box 48"/>
            <p:cNvSpPr txBox="1"/>
            <p:nvPr/>
          </p:nvSpPr>
          <p:spPr>
            <a:xfrm>
              <a:off x="0" y="0"/>
              <a:ext cx="1422400"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r>
                <a:rPr lang="zh-CN" altLang="en-US" sz="1600" dirty="0">
                  <a:solidFill>
                    <a:srgbClr val="0033CC"/>
                  </a:solidFill>
                  <a:latin typeface="宋体" panose="02010600030101010101" pitchFamily="2" charset="-122"/>
                  <a:ea typeface="宋体" panose="02010600030101010101" pitchFamily="2" charset="-122"/>
                </a:rPr>
                <a:t>（</a:t>
              </a:r>
              <a:r>
                <a:rPr lang="en-US" altLang="x-none" sz="1600" dirty="0">
                  <a:solidFill>
                    <a:srgbClr val="0033CC"/>
                  </a:solidFill>
                  <a:latin typeface="宋体" panose="02010600030101010101" pitchFamily="2" charset="-122"/>
                  <a:ea typeface="宋体" panose="02010600030101010101" pitchFamily="2" charset="-122"/>
                </a:rPr>
                <a:t>3</a:t>
              </a:r>
              <a:r>
                <a:rPr lang="zh-CN" altLang="en-US" sz="1600" dirty="0">
                  <a:solidFill>
                    <a:srgbClr val="0033CC"/>
                  </a:solidFill>
                  <a:latin typeface="宋体" panose="02010600030101010101" pitchFamily="2" charset="-122"/>
                  <a:ea typeface="宋体" panose="02010600030101010101" pitchFamily="2" charset="-122"/>
                </a:rPr>
                <a:t>，</a:t>
              </a:r>
              <a:r>
                <a:rPr lang="en-US" altLang="x-none" sz="1600" dirty="0">
                  <a:solidFill>
                    <a:srgbClr val="0033CC"/>
                  </a:solidFill>
                  <a:latin typeface="宋体" panose="02010600030101010101" pitchFamily="2" charset="-122"/>
                  <a:ea typeface="宋体" panose="02010600030101010101" pitchFamily="2" charset="-122"/>
                </a:rPr>
                <a:t>6</a:t>
              </a:r>
              <a:r>
                <a:rPr lang="zh-CN" altLang="en-US" sz="1600" dirty="0">
                  <a:solidFill>
                    <a:srgbClr val="0033CC"/>
                  </a:solidFill>
                  <a:latin typeface="宋体" panose="02010600030101010101" pitchFamily="2" charset="-122"/>
                  <a:ea typeface="宋体" panose="02010600030101010101" pitchFamily="2" charset="-122"/>
                </a:rPr>
                <a:t>）</a:t>
              </a:r>
              <a:endParaRPr lang="en-US" altLang="x-none" sz="1600" dirty="0">
                <a:solidFill>
                  <a:srgbClr val="0033CC"/>
                </a:solidFill>
                <a:latin typeface="宋体" panose="02010600030101010101" pitchFamily="2" charset="-122"/>
                <a:ea typeface="宋体" panose="02010600030101010101" pitchFamily="2" charset="-122"/>
              </a:endParaRPr>
            </a:p>
          </p:txBody>
        </p:sp>
        <p:sp>
          <p:nvSpPr>
            <p:cNvPr id="59410" name="Text Box 49"/>
            <p:cNvSpPr txBox="1"/>
            <p:nvPr/>
          </p:nvSpPr>
          <p:spPr>
            <a:xfrm>
              <a:off x="30163" y="1531938"/>
              <a:ext cx="1377950" cy="590550"/>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r>
                <a:rPr lang="zh-CN" altLang="en-US" sz="1600" dirty="0">
                  <a:solidFill>
                    <a:srgbClr val="0033CC"/>
                  </a:solidFill>
                  <a:latin typeface="宋体" panose="02010600030101010101" pitchFamily="2" charset="-122"/>
                  <a:ea typeface="宋体" panose="02010600030101010101" pitchFamily="2" charset="-122"/>
                </a:rPr>
                <a:t>（</a:t>
              </a:r>
              <a:r>
                <a:rPr lang="en-US" altLang="x-none" sz="1600" dirty="0">
                  <a:solidFill>
                    <a:srgbClr val="0033CC"/>
                  </a:solidFill>
                  <a:latin typeface="宋体" panose="02010600030101010101" pitchFamily="2" charset="-122"/>
                  <a:ea typeface="宋体" panose="02010600030101010101" pitchFamily="2" charset="-122"/>
                </a:rPr>
                <a:t>0</a:t>
              </a:r>
              <a:r>
                <a:rPr lang="zh-CN" altLang="en-US" sz="1600" dirty="0">
                  <a:solidFill>
                    <a:srgbClr val="0033CC"/>
                  </a:solidFill>
                  <a:latin typeface="宋体" panose="02010600030101010101" pitchFamily="2" charset="-122"/>
                  <a:ea typeface="宋体" panose="02010600030101010101" pitchFamily="2" charset="-122"/>
                </a:rPr>
                <a:t>，</a:t>
              </a:r>
              <a:r>
                <a:rPr lang="en-US" altLang="x-none" sz="1600" dirty="0">
                  <a:solidFill>
                    <a:srgbClr val="0033CC"/>
                  </a:solidFill>
                  <a:latin typeface="宋体" panose="02010600030101010101" pitchFamily="2" charset="-122"/>
                  <a:ea typeface="宋体" panose="02010600030101010101" pitchFamily="2" charset="-122"/>
                </a:rPr>
                <a:t>100</a:t>
              </a:r>
              <a:r>
                <a:rPr lang="zh-CN" altLang="en-US" sz="1600" dirty="0">
                  <a:solidFill>
                    <a:srgbClr val="0033CC"/>
                  </a:solidFill>
                  <a:latin typeface="宋体" panose="02010600030101010101" pitchFamily="2" charset="-122"/>
                  <a:ea typeface="宋体" panose="02010600030101010101" pitchFamily="2" charset="-122"/>
                </a:rPr>
                <a:t>）</a:t>
              </a:r>
              <a:endParaRPr lang="en-US" altLang="x-none" sz="1600" dirty="0">
                <a:solidFill>
                  <a:srgbClr val="0033CC"/>
                </a:solidFill>
                <a:latin typeface="宋体" panose="02010600030101010101" pitchFamily="2" charset="-122"/>
                <a:ea typeface="宋体" panose="02010600030101010101" pitchFamily="2" charset="-122"/>
              </a:endParaRPr>
            </a:p>
          </p:txBody>
        </p:sp>
      </p:gr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dissolve">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347">
                                            <p:txEl>
                                              <p:pRg st="1" end="1"/>
                                            </p:txEl>
                                          </p:spTgt>
                                        </p:tgtEl>
                                        <p:attrNameLst>
                                          <p:attrName>style.visibility</p:attrName>
                                        </p:attrNameLst>
                                      </p:cBhvr>
                                      <p:to>
                                        <p:strVal val="visible"/>
                                      </p:to>
                                    </p:set>
                                    <p:animEffect transition="in" filter="dissolve">
                                      <p:cBhvr>
                                        <p:cTn id="12" dur="500"/>
                                        <p:tgtEl>
                                          <p:spTgt spid="57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7349"/>
                                        </p:tgtEl>
                                        <p:attrNameLst>
                                          <p:attrName>style.visibility</p:attrName>
                                        </p:attrNameLst>
                                      </p:cBhvr>
                                      <p:to>
                                        <p:strVal val="visible"/>
                                      </p:to>
                                    </p:set>
                                    <p:anim calcmode="lin" valueType="num">
                                      <p:cBhvr additive="base">
                                        <p:cTn id="17" dur="500" fill="hold"/>
                                        <p:tgtEl>
                                          <p:spTgt spid="57349"/>
                                        </p:tgtEl>
                                        <p:attrNameLst>
                                          <p:attrName>ppt_x</p:attrName>
                                        </p:attrNameLst>
                                      </p:cBhvr>
                                      <p:tavLst>
                                        <p:tav tm="0">
                                          <p:val>
                                            <p:strVal val="#ppt_x"/>
                                          </p:val>
                                        </p:tav>
                                        <p:tav tm="100000">
                                          <p:val>
                                            <p:strVal val="#ppt_x"/>
                                          </p:val>
                                        </p:tav>
                                      </p:tavLst>
                                    </p:anim>
                                    <p:anim calcmode="lin" valueType="num">
                                      <p:cBhvr additive="base">
                                        <p:cTn id="18" dur="500" fill="hold"/>
                                        <p:tgtEl>
                                          <p:spTgt spid="5734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7361"/>
                                        </p:tgtEl>
                                        <p:attrNameLst>
                                          <p:attrName>style.visibility</p:attrName>
                                        </p:attrNameLst>
                                      </p:cBhvr>
                                      <p:to>
                                        <p:strVal val="visible"/>
                                      </p:to>
                                    </p:set>
                                    <p:anim calcmode="lin" valueType="num">
                                      <p:cBhvr additive="base">
                                        <p:cTn id="23" dur="500" fill="hold"/>
                                        <p:tgtEl>
                                          <p:spTgt spid="57361"/>
                                        </p:tgtEl>
                                        <p:attrNameLst>
                                          <p:attrName>ppt_x</p:attrName>
                                        </p:attrNameLst>
                                      </p:cBhvr>
                                      <p:tavLst>
                                        <p:tav tm="0">
                                          <p:val>
                                            <p:strVal val="#ppt_x"/>
                                          </p:val>
                                        </p:tav>
                                        <p:tav tm="100000">
                                          <p:val>
                                            <p:strVal val="#ppt_x"/>
                                          </p:val>
                                        </p:tav>
                                      </p:tavLst>
                                    </p:anim>
                                    <p:anim calcmode="lin" valueType="num">
                                      <p:cBhvr additive="base">
                                        <p:cTn id="24" dur="500" fill="hold"/>
                                        <p:tgtEl>
                                          <p:spTgt spid="573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txBox="1"/>
          <p:nvPr/>
        </p:nvSpPr>
        <p:spPr>
          <a:xfrm>
            <a:off x="630238" y="1422400"/>
            <a:ext cx="7954962" cy="4711700"/>
          </a:xfrm>
          <a:prstGeom prst="rect">
            <a:avLst/>
          </a:prstGeom>
          <a:noFill/>
          <a:ln w="9525">
            <a:noFill/>
          </a:ln>
        </p:spPr>
        <p:txBody>
          <a:bodyPr anchor="t"/>
          <a:lstStyle/>
          <a:p>
            <a:pPr marL="342900" lvl="0" indent="-342900">
              <a:lnSpc>
                <a:spcPct val="110000"/>
              </a:lnSpc>
              <a:spcBef>
                <a:spcPct val="20000"/>
              </a:spcBef>
              <a:buClr>
                <a:srgbClr val="0033CC"/>
              </a:buClr>
              <a:buSzPct val="80000"/>
              <a:buFont typeface="Wingdings" panose="05000000000000000000" pitchFamily="2" charset="2"/>
              <a:buChar char="u"/>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实体集</a:t>
            </a:r>
            <a:r>
              <a:rPr lang="en-US" altLang="x-none" sz="2200" dirty="0">
                <a:latin typeface="楷体" panose="02010609060101010101" pitchFamily="1" charset="-122"/>
                <a:ea typeface="楷体" panose="02010609060101010101" pitchFamily="1" charset="-122"/>
              </a:rPr>
              <a:t>E</a:t>
            </a:r>
            <a:r>
              <a:rPr lang="zh-CN" altLang="en-US" sz="2200" dirty="0">
                <a:latin typeface="楷体" panose="02010609060101010101" pitchFamily="1" charset="-122"/>
                <a:ea typeface="楷体" panose="02010609060101010101" pitchFamily="1" charset="-122"/>
              </a:rPr>
              <a:t>中每个实体都参与到联系集</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中的至少一个联系中，称为</a:t>
            </a:r>
            <a:r>
              <a:rPr lang="zh-CN" altLang="en-US" sz="2400" u="sng" dirty="0">
                <a:solidFill>
                  <a:srgbClr val="FF0000"/>
                </a:solidFill>
                <a:latin typeface="华文楷体" panose="02010600040101010101" pitchFamily="2" charset="-122"/>
                <a:ea typeface="宋体" panose="02010600030101010101" pitchFamily="2" charset="-122"/>
              </a:rPr>
              <a:t>完全参与（</a:t>
            </a:r>
            <a:r>
              <a:rPr lang="en-US" altLang="x-none" sz="2400" u="sng" dirty="0">
                <a:solidFill>
                  <a:srgbClr val="FF0000"/>
                </a:solidFill>
                <a:latin typeface="华文楷体" panose="02010600040101010101" pitchFamily="2" charset="-122"/>
                <a:ea typeface="宋体" panose="02010600030101010101" pitchFamily="2" charset="-122"/>
              </a:rPr>
              <a:t>Total Participation</a:t>
            </a:r>
            <a:r>
              <a:rPr lang="zh-CN" altLang="en-US" sz="2400" u="sng" dirty="0">
                <a:solidFill>
                  <a:srgbClr val="FF0000"/>
                </a:solidFill>
                <a:latin typeface="华文楷体" panose="02010600040101010101" pitchFamily="2" charset="-122"/>
                <a:ea typeface="宋体" panose="02010600030101010101" pitchFamily="2" charset="-122"/>
              </a:rPr>
              <a:t>）约束</a:t>
            </a:r>
            <a:r>
              <a:rPr lang="zh-CN" altLang="en-US" sz="2200" dirty="0">
                <a:latin typeface="华文楷体" panose="02010600040101010101" pitchFamily="2" charset="-122"/>
                <a:ea typeface="宋体" panose="02010600030101010101" pitchFamily="2" charset="-122"/>
              </a:rPr>
              <a:t>。</a:t>
            </a:r>
            <a:endParaRPr lang="zh-CN" altLang="en-US" sz="2200" dirty="0">
              <a:latin typeface="华文楷体" panose="02010600040101010101" pitchFamily="2" charset="-122"/>
              <a:ea typeface="宋体" panose="02010600030101010101" pitchFamily="2" charset="-122"/>
            </a:endParaRPr>
          </a:p>
          <a:p>
            <a:pPr marL="342900" lvl="0" indent="-342900">
              <a:lnSpc>
                <a:spcPct val="11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实体集</a:t>
            </a:r>
            <a:r>
              <a:rPr lang="en-US" altLang="x-none" sz="2200" dirty="0">
                <a:latin typeface="楷体" panose="02010609060101010101" pitchFamily="1" charset="-122"/>
                <a:ea typeface="楷体" panose="02010609060101010101" pitchFamily="1" charset="-122"/>
              </a:rPr>
              <a:t>E</a:t>
            </a:r>
            <a:r>
              <a:rPr lang="zh-CN" altLang="en-US" sz="2200" dirty="0">
                <a:latin typeface="楷体" panose="02010609060101010101" pitchFamily="1" charset="-122"/>
                <a:ea typeface="楷体" panose="02010609060101010101" pitchFamily="1" charset="-122"/>
              </a:rPr>
              <a:t>中只有部分实体参与到</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的联系中，称为</a:t>
            </a:r>
            <a:r>
              <a:rPr lang="zh-CN" altLang="en-US" sz="2400" u="sng" dirty="0">
                <a:solidFill>
                  <a:srgbClr val="FF0000"/>
                </a:solidFill>
                <a:latin typeface="华文楷体" panose="02010600040101010101" pitchFamily="2" charset="-122"/>
                <a:ea typeface="宋体" panose="02010600030101010101" pitchFamily="2" charset="-122"/>
              </a:rPr>
              <a:t>部分参与（</a:t>
            </a:r>
            <a:r>
              <a:rPr lang="en-US" altLang="x-none" sz="2400" u="sng" dirty="0">
                <a:solidFill>
                  <a:srgbClr val="FF0000"/>
                </a:solidFill>
                <a:latin typeface="华文楷体" panose="02010600040101010101" pitchFamily="2" charset="-122"/>
                <a:ea typeface="宋体" panose="02010600030101010101" pitchFamily="2" charset="-122"/>
              </a:rPr>
              <a:t>Partial Participation</a:t>
            </a:r>
            <a:r>
              <a:rPr lang="zh-CN" altLang="en-US" sz="2400" u="sng" dirty="0">
                <a:solidFill>
                  <a:srgbClr val="FF0000"/>
                </a:solidFill>
                <a:latin typeface="华文楷体" panose="02010600040101010101" pitchFamily="2" charset="-122"/>
                <a:ea typeface="宋体" panose="02010600030101010101" pitchFamily="2" charset="-122"/>
              </a:rPr>
              <a:t>）约束</a:t>
            </a:r>
            <a:r>
              <a:rPr lang="zh-CN" altLang="en-US"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实例：</a:t>
            </a:r>
            <a:r>
              <a:rPr lang="zh-CN" altLang="en-US" sz="2200" u="sng" dirty="0">
                <a:solidFill>
                  <a:srgbClr val="E73F97"/>
                </a:solidFill>
                <a:latin typeface="华文楷体" panose="02010600040101010101" pitchFamily="2" charset="-122"/>
                <a:ea typeface="宋体" panose="02010600030101010101" pitchFamily="2" charset="-122"/>
              </a:rPr>
              <a:t>教师</a:t>
            </a:r>
            <a:r>
              <a:rPr lang="zh-CN" altLang="en-US" sz="2200" u="sng" dirty="0">
                <a:latin typeface="华文楷体" panose="02010600040101010101" pitchFamily="2" charset="-122"/>
                <a:ea typeface="宋体" panose="02010600030101010101" pitchFamily="2" charset="-122"/>
              </a:rPr>
              <a:t>实体</a:t>
            </a:r>
            <a:r>
              <a:rPr lang="zh-CN" altLang="en-US" sz="2200" dirty="0">
                <a:latin typeface="华文楷体" panose="02010600040101010101" pitchFamily="2" charset="-122"/>
                <a:ea typeface="宋体" panose="02010600030101010101" pitchFamily="2" charset="-122"/>
              </a:rPr>
              <a:t>与</a:t>
            </a:r>
            <a:r>
              <a:rPr lang="zh-CN" altLang="en-US" sz="2200" u="sng" dirty="0">
                <a:solidFill>
                  <a:srgbClr val="E73F97"/>
                </a:solidFill>
                <a:latin typeface="华文楷体" panose="02010600040101010101" pitchFamily="2" charset="-122"/>
                <a:ea typeface="宋体" panose="02010600030101010101" pitchFamily="2" charset="-122"/>
              </a:rPr>
              <a:t>工作</a:t>
            </a:r>
            <a:r>
              <a:rPr lang="zh-CN" altLang="en-US" sz="2200" u="sng" dirty="0">
                <a:latin typeface="华文楷体" panose="02010600040101010101" pitchFamily="2" charset="-122"/>
                <a:ea typeface="宋体" panose="02010600030101010101" pitchFamily="2" charset="-122"/>
              </a:rPr>
              <a:t>联系</a:t>
            </a:r>
            <a:r>
              <a:rPr lang="zh-CN" altLang="en-US" sz="2200" dirty="0">
                <a:latin typeface="华文楷体" panose="02010600040101010101" pitchFamily="2" charset="-122"/>
                <a:ea typeface="宋体" panose="02010600030101010101" pitchFamily="2" charset="-122"/>
              </a:rPr>
              <a:t>之间就是一个完全参与约束，因为（在职）教师都必须参与到工作中。</a:t>
            </a:r>
            <a:r>
              <a:rPr lang="zh-CN" altLang="en-US" sz="2200" u="sng" dirty="0">
                <a:solidFill>
                  <a:srgbClr val="E73F97"/>
                </a:solidFill>
                <a:latin typeface="华文楷体" panose="02010600040101010101" pitchFamily="2" charset="-122"/>
                <a:ea typeface="宋体" panose="02010600030101010101" pitchFamily="2" charset="-122"/>
              </a:rPr>
              <a:t>大学</a:t>
            </a:r>
            <a:r>
              <a:rPr lang="zh-CN" altLang="en-US" sz="2200" dirty="0">
                <a:latin typeface="华文楷体" panose="02010600040101010101" pitchFamily="2" charset="-122"/>
                <a:ea typeface="宋体" panose="02010600030101010101" pitchFamily="2" charset="-122"/>
              </a:rPr>
              <a:t>和</a:t>
            </a:r>
            <a:r>
              <a:rPr lang="zh-CN" altLang="en-US" sz="2200" u="sng" dirty="0">
                <a:solidFill>
                  <a:srgbClr val="E73F97"/>
                </a:solidFill>
                <a:latin typeface="华文楷体" panose="02010600040101010101" pitchFamily="2" charset="-122"/>
                <a:ea typeface="宋体" panose="02010600030101010101" pitchFamily="2" charset="-122"/>
              </a:rPr>
              <a:t>工作</a:t>
            </a:r>
            <a:r>
              <a:rPr lang="zh-CN" altLang="en-US" sz="2200" dirty="0">
                <a:latin typeface="华文楷体" panose="02010600040101010101" pitchFamily="2" charset="-122"/>
                <a:ea typeface="宋体" panose="02010600030101010101" pitchFamily="2" charset="-122"/>
              </a:rPr>
              <a:t>也是完全参与约束，因为每个大学必须为其教师安排工作。</a:t>
            </a:r>
            <a:endParaRPr lang="zh-CN" altLang="en-US" sz="2200" dirty="0">
              <a:latin typeface="华文楷体" panose="02010600040101010101" pitchFamily="2" charset="-122"/>
              <a:ea typeface="宋体" panose="02010600030101010101" pitchFamily="2" charset="-122"/>
            </a:endParaRPr>
          </a:p>
        </p:txBody>
      </p:sp>
      <p:grpSp>
        <p:nvGrpSpPr>
          <p:cNvPr id="58373" name="组合 39"/>
          <p:cNvGrpSpPr/>
          <p:nvPr/>
        </p:nvGrpSpPr>
        <p:grpSpPr>
          <a:xfrm>
            <a:off x="511175" y="3381375"/>
            <a:ext cx="8378825" cy="2882900"/>
            <a:chOff x="0" y="0"/>
            <a:chExt cx="8378281" cy="2882967"/>
          </a:xfrm>
        </p:grpSpPr>
        <p:sp>
          <p:nvSpPr>
            <p:cNvPr id="60421" name="Line 30"/>
            <p:cNvSpPr/>
            <p:nvPr/>
          </p:nvSpPr>
          <p:spPr>
            <a:xfrm flipV="1">
              <a:off x="2114234" y="2044474"/>
              <a:ext cx="1338262" cy="46037"/>
            </a:xfrm>
            <a:prstGeom prst="line">
              <a:avLst/>
            </a:prstGeom>
            <a:ln w="63500" cap="flat" cmpd="sng">
              <a:solidFill>
                <a:schemeClr val="tx1"/>
              </a:solidFill>
              <a:prstDash val="solid"/>
              <a:round/>
              <a:headEnd type="none" w="med" len="med"/>
              <a:tailEnd type="triangle" w="med" len="med"/>
            </a:ln>
          </p:spPr>
        </p:sp>
        <p:sp>
          <p:nvSpPr>
            <p:cNvPr id="60422" name="Text Box 31"/>
            <p:cNvSpPr txBox="1"/>
            <p:nvPr/>
          </p:nvSpPr>
          <p:spPr>
            <a:xfrm>
              <a:off x="2314259" y="1550761"/>
              <a:ext cx="528637"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60423" name="Line 33"/>
            <p:cNvSpPr/>
            <p:nvPr/>
          </p:nvSpPr>
          <p:spPr>
            <a:xfrm flipV="1">
              <a:off x="4497071" y="2065111"/>
              <a:ext cx="1806575" cy="0"/>
            </a:xfrm>
            <a:prstGeom prst="line">
              <a:avLst/>
            </a:prstGeom>
            <a:ln w="69850" cap="flat" cmpd="sng">
              <a:solidFill>
                <a:schemeClr val="tx1"/>
              </a:solidFill>
              <a:prstDash val="solid"/>
              <a:round/>
              <a:headEnd type="none" w="med" len="med"/>
              <a:tailEnd type="none" w="med" len="med"/>
            </a:ln>
          </p:spPr>
        </p:sp>
        <p:sp>
          <p:nvSpPr>
            <p:cNvPr id="60424" name="Text Box 34"/>
            <p:cNvSpPr txBox="1"/>
            <p:nvPr/>
          </p:nvSpPr>
          <p:spPr>
            <a:xfrm>
              <a:off x="5657534" y="1525361"/>
              <a:ext cx="339725"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1</a:t>
              </a:r>
              <a:endParaRPr lang="en-US" altLang="x-none" sz="2400" dirty="0">
                <a:solidFill>
                  <a:srgbClr val="0033CC"/>
                </a:solidFill>
                <a:latin typeface="宋体" panose="02010600030101010101" pitchFamily="2" charset="-122"/>
                <a:ea typeface="宋体" panose="02010600030101010101" pitchFamily="2" charset="-122"/>
              </a:endParaRPr>
            </a:p>
          </p:txBody>
        </p:sp>
        <p:grpSp>
          <p:nvGrpSpPr>
            <p:cNvPr id="60425" name="组合 38"/>
            <p:cNvGrpSpPr/>
            <p:nvPr/>
          </p:nvGrpSpPr>
          <p:grpSpPr>
            <a:xfrm>
              <a:off x="0" y="0"/>
              <a:ext cx="8378281" cy="2882967"/>
              <a:chOff x="0" y="0"/>
              <a:chExt cx="8378281" cy="2882967"/>
            </a:xfrm>
          </p:grpSpPr>
          <p:grpSp>
            <p:nvGrpSpPr>
              <p:cNvPr id="60426" name="组合 4"/>
              <p:cNvGrpSpPr/>
              <p:nvPr/>
            </p:nvGrpSpPr>
            <p:grpSpPr>
              <a:xfrm>
                <a:off x="0" y="979259"/>
                <a:ext cx="8313420" cy="1903708"/>
                <a:chOff x="0" y="0"/>
                <a:chExt cx="8769350" cy="2130425"/>
              </a:xfrm>
            </p:grpSpPr>
            <p:grpSp>
              <p:nvGrpSpPr>
                <p:cNvPr id="60427" name="Group 5"/>
                <p:cNvGrpSpPr/>
                <p:nvPr/>
              </p:nvGrpSpPr>
              <p:grpSpPr>
                <a:xfrm>
                  <a:off x="0" y="152400"/>
                  <a:ext cx="2216150" cy="1905000"/>
                  <a:chOff x="0" y="0"/>
                  <a:chExt cx="1396" cy="1200"/>
                </a:xfrm>
              </p:grpSpPr>
              <p:sp>
                <p:nvSpPr>
                  <p:cNvPr id="60428" name="Rectangle 6"/>
                  <p:cNvSpPr/>
                  <p:nvPr/>
                </p:nvSpPr>
                <p:spPr>
                  <a:xfrm>
                    <a:off x="820"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10000"/>
                      </a:lnSpc>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60429" name="Oval 7"/>
                  <p:cNvSpPr/>
                  <p:nvPr/>
                </p:nvSpPr>
                <p:spPr>
                  <a:xfrm>
                    <a:off x="0" y="378"/>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0430" name="Line 8"/>
                  <p:cNvSpPr/>
                  <p:nvPr/>
                </p:nvSpPr>
                <p:spPr>
                  <a:xfrm flipH="1">
                    <a:off x="628" y="864"/>
                    <a:ext cx="336" cy="96"/>
                  </a:xfrm>
                  <a:prstGeom prst="line">
                    <a:avLst/>
                  </a:prstGeom>
                  <a:ln w="25400" cap="flat" cmpd="sng">
                    <a:solidFill>
                      <a:srgbClr val="000000"/>
                    </a:solidFill>
                    <a:prstDash val="solid"/>
                    <a:round/>
                    <a:headEnd type="none" w="med" len="med"/>
                    <a:tailEnd type="none" w="med" len="med"/>
                  </a:ln>
                </p:spPr>
              </p:sp>
              <p:sp>
                <p:nvSpPr>
                  <p:cNvPr id="60431" name="Oval 9"/>
                  <p:cNvSpPr/>
                  <p:nvPr/>
                </p:nvSpPr>
                <p:spPr>
                  <a:xfrm>
                    <a:off x="3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0432" name="Oval 10"/>
                  <p:cNvSpPr/>
                  <p:nvPr/>
                </p:nvSpPr>
                <p:spPr>
                  <a:xfrm>
                    <a:off x="10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0433" name="Line 11"/>
                  <p:cNvSpPr/>
                  <p:nvPr/>
                </p:nvSpPr>
                <p:spPr>
                  <a:xfrm>
                    <a:off x="636" y="639"/>
                    <a:ext cx="201" cy="140"/>
                  </a:xfrm>
                  <a:prstGeom prst="line">
                    <a:avLst/>
                  </a:prstGeom>
                  <a:ln w="25400" cap="flat" cmpd="sng">
                    <a:solidFill>
                      <a:srgbClr val="000000"/>
                    </a:solidFill>
                    <a:prstDash val="solid"/>
                    <a:round/>
                    <a:headEnd type="none" w="med" len="med"/>
                    <a:tailEnd type="none" w="med" len="med"/>
                  </a:ln>
                </p:spPr>
              </p:sp>
              <p:sp>
                <p:nvSpPr>
                  <p:cNvPr id="60434" name="Line 12"/>
                  <p:cNvSpPr/>
                  <p:nvPr/>
                </p:nvSpPr>
                <p:spPr>
                  <a:xfrm>
                    <a:off x="724" y="432"/>
                    <a:ext cx="288" cy="192"/>
                  </a:xfrm>
                  <a:prstGeom prst="line">
                    <a:avLst/>
                  </a:prstGeom>
                  <a:ln w="25400" cap="flat" cmpd="sng">
                    <a:solidFill>
                      <a:srgbClr val="000000"/>
                    </a:solidFill>
                    <a:prstDash val="solid"/>
                    <a:round/>
                    <a:headEnd type="none" w="med" len="med"/>
                    <a:tailEnd type="none" w="med" len="med"/>
                  </a:ln>
                </p:spPr>
              </p:sp>
            </p:grpSp>
            <p:sp>
              <p:nvSpPr>
                <p:cNvPr id="60435" name="AutoShape 14"/>
                <p:cNvSpPr/>
                <p:nvPr/>
              </p:nvSpPr>
              <p:spPr>
                <a:xfrm>
                  <a:off x="3587750" y="914400"/>
                  <a:ext cx="1143000"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工作于</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60436" name="Group 17"/>
                <p:cNvGrpSpPr/>
                <p:nvPr/>
              </p:nvGrpSpPr>
              <p:grpSpPr>
                <a:xfrm>
                  <a:off x="6254750" y="0"/>
                  <a:ext cx="2514600" cy="1447800"/>
                  <a:chOff x="0" y="0"/>
                  <a:chExt cx="1584" cy="912"/>
                </a:xfrm>
              </p:grpSpPr>
              <p:sp>
                <p:nvSpPr>
                  <p:cNvPr id="60437" name="Rectangle 18"/>
                  <p:cNvSpPr/>
                  <p:nvPr/>
                </p:nvSpPr>
                <p:spPr>
                  <a:xfrm>
                    <a:off x="240"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60438" name="Oval 19"/>
                  <p:cNvSpPr/>
                  <p:nvPr/>
                </p:nvSpPr>
                <p:spPr>
                  <a:xfrm>
                    <a:off x="864" y="19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0439" name="Oval 20"/>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0440" name="Line 21"/>
                  <p:cNvSpPr/>
                  <p:nvPr/>
                </p:nvSpPr>
                <p:spPr>
                  <a:xfrm>
                    <a:off x="432" y="384"/>
                    <a:ext cx="96" cy="240"/>
                  </a:xfrm>
                  <a:prstGeom prst="line">
                    <a:avLst/>
                  </a:prstGeom>
                  <a:ln w="25400" cap="flat" cmpd="sng">
                    <a:solidFill>
                      <a:srgbClr val="000000"/>
                    </a:solidFill>
                    <a:prstDash val="solid"/>
                    <a:round/>
                    <a:headEnd type="none" w="med" len="med"/>
                    <a:tailEnd type="none" w="med" len="med"/>
                  </a:ln>
                </p:spPr>
              </p:sp>
              <p:sp>
                <p:nvSpPr>
                  <p:cNvPr id="60441" name="Line 22"/>
                  <p:cNvSpPr/>
                  <p:nvPr/>
                </p:nvSpPr>
                <p:spPr>
                  <a:xfrm flipH="1">
                    <a:off x="816" y="576"/>
                    <a:ext cx="432" cy="192"/>
                  </a:xfrm>
                  <a:prstGeom prst="line">
                    <a:avLst/>
                  </a:prstGeom>
                  <a:ln w="25400" cap="flat" cmpd="sng">
                    <a:solidFill>
                      <a:srgbClr val="000000"/>
                    </a:solidFill>
                    <a:prstDash val="solid"/>
                    <a:round/>
                    <a:headEnd type="none" w="med" len="med"/>
                    <a:tailEnd type="none" w="med" len="med"/>
                  </a:ln>
                </p:spPr>
              </p:sp>
            </p:grpSp>
            <p:sp>
              <p:nvSpPr>
                <p:cNvPr id="60442" name="Text Box 37"/>
                <p:cNvSpPr txBox="1"/>
                <p:nvPr/>
              </p:nvSpPr>
              <p:spPr>
                <a:xfrm>
                  <a:off x="4370388" y="1550987"/>
                  <a:ext cx="358775" cy="579438"/>
                </a:xfrm>
                <a:prstGeom prst="rect">
                  <a:avLst/>
                </a:prstGeom>
                <a:noFill/>
                <a:ln w="9525">
                  <a:noFill/>
                </a:ln>
              </p:spPr>
              <p:txBody>
                <a:bodyPr anchor="t">
                  <a:spAutoFit/>
                </a:bodyPr>
                <a:lstStyle/>
                <a:p>
                  <a:pPr lvl="0" indent="0">
                    <a:spcBef>
                      <a:spcPct val="50000"/>
                    </a:spcBef>
                    <a:buNone/>
                  </a:pPr>
                  <a:endParaRPr lang="en-US" altLang="x-none" sz="2400" dirty="0">
                    <a:solidFill>
                      <a:srgbClr val="0033CC"/>
                    </a:solidFill>
                    <a:latin typeface="宋体" panose="02010600030101010101" pitchFamily="2" charset="-122"/>
                    <a:ea typeface="宋体" panose="02010600030101010101" pitchFamily="2" charset="-122"/>
                  </a:endParaRPr>
                </a:p>
              </p:txBody>
            </p:sp>
          </p:grpSp>
          <p:sp>
            <p:nvSpPr>
              <p:cNvPr id="60443" name="Rectangle 4"/>
              <p:cNvSpPr txBox="1"/>
              <p:nvPr/>
            </p:nvSpPr>
            <p:spPr>
              <a:xfrm>
                <a:off x="149215" y="0"/>
                <a:ext cx="8229066" cy="855683"/>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endParaRPr lang="zh-CN" altLang="en-US" sz="22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Font typeface="Wingdings" panose="05000000000000000000" pitchFamily="2" charset="2"/>
                  <a:buChar char="u"/>
                </a:pPr>
                <a:endParaRPr lang="zh-CN" altLang="en-US" sz="2400" dirty="0">
                  <a:latin typeface="华文楷体" panose="02010600040101010101" pitchFamily="2" charset="-122"/>
                  <a:ea typeface="宋体" panose="02010600030101010101" pitchFamily="2" charset="-122"/>
                </a:endParaRPr>
              </a:p>
            </p:txBody>
          </p:sp>
        </p:grpSp>
      </p:grpSp>
      <p:sp>
        <p:nvSpPr>
          <p:cNvPr id="59395" name="矩形 4"/>
          <p:cNvSpPr/>
          <p:nvPr/>
        </p:nvSpPr>
        <p:spPr>
          <a:xfrm>
            <a:off x="557213" y="881063"/>
            <a:ext cx="197231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en-US" altLang="x-none" sz="2800" dirty="0">
                <a:solidFill>
                  <a:srgbClr val="0033CC"/>
                </a:solidFill>
                <a:latin typeface="黑体" panose="02010609060101010101" pitchFamily="1" charset="-122"/>
                <a:ea typeface="黑体" panose="02010609060101010101" pitchFamily="1" charset="-122"/>
                <a:cs typeface="+mn-ea"/>
              </a:rPr>
              <a:t>参与约束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dissolve">
                                      <p:cBhvr>
                                        <p:cTn id="7" dur="500"/>
                                        <p:tgtEl>
                                          <p:spTgt spid="58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dissolve">
                                      <p:cBhvr>
                                        <p:cTn id="12" dur="500"/>
                                        <p:tgtEl>
                                          <p:spTgt spid="58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dissolve">
                                      <p:cBhvr>
                                        <p:cTn id="17" dur="500"/>
                                        <p:tgtEl>
                                          <p:spTgt spid="58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8373"/>
                                        </p:tgtEl>
                                        <p:attrNameLst>
                                          <p:attrName>style.visibility</p:attrName>
                                        </p:attrNameLst>
                                      </p:cBhvr>
                                      <p:to>
                                        <p:strVal val="visible"/>
                                      </p:to>
                                    </p:set>
                                    <p:anim calcmode="lin" valueType="num">
                                      <p:cBhvr additive="base">
                                        <p:cTn id="22" dur="500" fill="hold"/>
                                        <p:tgtEl>
                                          <p:spTgt spid="58373"/>
                                        </p:tgtEl>
                                        <p:attrNameLst>
                                          <p:attrName>ppt_x</p:attrName>
                                        </p:attrNameLst>
                                      </p:cBhvr>
                                      <p:tavLst>
                                        <p:tav tm="0">
                                          <p:val>
                                            <p:strVal val="#ppt_x"/>
                                          </p:val>
                                        </p:tav>
                                        <p:tav tm="100000">
                                          <p:val>
                                            <p:strVal val="#ppt_x"/>
                                          </p:val>
                                        </p:tav>
                                      </p:tavLst>
                                    </p:anim>
                                    <p:anim calcmode="lin" valueType="num">
                                      <p:cBhvr additive="base">
                                        <p:cTn id="23" dur="500" fill="hold"/>
                                        <p:tgtEl>
                                          <p:spTgt spid="583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组合 51"/>
          <p:cNvGrpSpPr/>
          <p:nvPr/>
        </p:nvGrpSpPr>
        <p:grpSpPr>
          <a:xfrm>
            <a:off x="715963" y="1587500"/>
            <a:ext cx="7864475" cy="3048000"/>
            <a:chOff x="0" y="152400"/>
            <a:chExt cx="8839200" cy="3048000"/>
          </a:xfrm>
        </p:grpSpPr>
        <p:grpSp>
          <p:nvGrpSpPr>
            <p:cNvPr id="63491" name="Group 4"/>
            <p:cNvGrpSpPr/>
            <p:nvPr/>
          </p:nvGrpSpPr>
          <p:grpSpPr>
            <a:xfrm>
              <a:off x="3657600" y="1219200"/>
              <a:ext cx="1676400" cy="1066800"/>
              <a:chOff x="0" y="0"/>
              <a:chExt cx="1056" cy="672"/>
            </a:xfrm>
          </p:grpSpPr>
          <p:sp>
            <p:nvSpPr>
              <p:cNvPr id="63492" name="AutoShape 5"/>
              <p:cNvSpPr/>
              <p:nvPr/>
            </p:nvSpPr>
            <p:spPr>
              <a:xfrm>
                <a:off x="0" y="336"/>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主持</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493" name="Line 6"/>
              <p:cNvSpPr/>
              <p:nvPr/>
            </p:nvSpPr>
            <p:spPr>
              <a:xfrm flipV="1">
                <a:off x="384" y="192"/>
                <a:ext cx="144" cy="144"/>
              </a:xfrm>
              <a:prstGeom prst="line">
                <a:avLst/>
              </a:prstGeom>
              <a:ln w="25400" cap="flat" cmpd="sng">
                <a:solidFill>
                  <a:srgbClr val="000000"/>
                </a:solidFill>
                <a:prstDash val="solid"/>
                <a:round/>
                <a:headEnd type="none" w="med" len="med"/>
                <a:tailEnd type="none" w="med" len="med"/>
              </a:ln>
            </p:spPr>
          </p:sp>
          <p:sp>
            <p:nvSpPr>
              <p:cNvPr id="63494" name="Oval 7"/>
              <p:cNvSpPr/>
              <p:nvPr/>
            </p:nvSpPr>
            <p:spPr>
              <a:xfrm>
                <a:off x="480"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任期</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63495" name="Group 8"/>
            <p:cNvGrpSpPr/>
            <p:nvPr/>
          </p:nvGrpSpPr>
          <p:grpSpPr>
            <a:xfrm>
              <a:off x="0" y="304800"/>
              <a:ext cx="2057400" cy="2362200"/>
              <a:chOff x="0" y="0"/>
              <a:chExt cx="1296" cy="1488"/>
            </a:xfrm>
          </p:grpSpPr>
          <p:sp>
            <p:nvSpPr>
              <p:cNvPr id="63496" name="Rectangle 9"/>
              <p:cNvSpPr/>
              <p:nvPr/>
            </p:nvSpPr>
            <p:spPr>
              <a:xfrm>
                <a:off x="720"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63497" name="Oval 10"/>
              <p:cNvSpPr/>
              <p:nvPr/>
            </p:nvSpPr>
            <p:spPr>
              <a:xfrm>
                <a:off x="672" y="110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498" name="Line 11"/>
              <p:cNvSpPr/>
              <p:nvPr/>
            </p:nvSpPr>
            <p:spPr>
              <a:xfrm flipH="1">
                <a:off x="528" y="864"/>
                <a:ext cx="336" cy="96"/>
              </a:xfrm>
              <a:prstGeom prst="line">
                <a:avLst/>
              </a:prstGeom>
              <a:ln w="25400" cap="flat" cmpd="sng">
                <a:solidFill>
                  <a:srgbClr val="000000"/>
                </a:solidFill>
                <a:prstDash val="solid"/>
                <a:round/>
                <a:headEnd type="none" w="med" len="med"/>
                <a:tailEnd type="none" w="med" len="med"/>
              </a:ln>
            </p:spPr>
          </p:sp>
          <p:sp>
            <p:nvSpPr>
              <p:cNvPr id="63499" name="Oval 12"/>
              <p:cNvSpPr/>
              <p:nvPr/>
            </p:nvSpPr>
            <p:spPr>
              <a:xfrm>
                <a:off x="2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3500" name="Oval 13"/>
              <p:cNvSpPr/>
              <p:nvPr/>
            </p:nvSpPr>
            <p:spPr>
              <a:xfrm>
                <a:off x="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501" name="Line 14"/>
              <p:cNvSpPr/>
              <p:nvPr/>
            </p:nvSpPr>
            <p:spPr>
              <a:xfrm>
                <a:off x="960" y="864"/>
                <a:ext cx="48" cy="240"/>
              </a:xfrm>
              <a:prstGeom prst="line">
                <a:avLst/>
              </a:prstGeom>
              <a:ln w="25400" cap="flat" cmpd="sng">
                <a:solidFill>
                  <a:srgbClr val="000000"/>
                </a:solidFill>
                <a:prstDash val="solid"/>
                <a:round/>
                <a:headEnd type="none" w="med" len="med"/>
                <a:tailEnd type="none" w="med" len="med"/>
              </a:ln>
            </p:spPr>
          </p:sp>
          <p:sp>
            <p:nvSpPr>
              <p:cNvPr id="63502" name="Line 15"/>
              <p:cNvSpPr/>
              <p:nvPr/>
            </p:nvSpPr>
            <p:spPr>
              <a:xfrm>
                <a:off x="624" y="432"/>
                <a:ext cx="288" cy="192"/>
              </a:xfrm>
              <a:prstGeom prst="line">
                <a:avLst/>
              </a:prstGeom>
              <a:ln w="25400" cap="flat" cmpd="sng">
                <a:solidFill>
                  <a:srgbClr val="000000"/>
                </a:solidFill>
                <a:prstDash val="solid"/>
                <a:round/>
                <a:headEnd type="none" w="med" len="med"/>
                <a:tailEnd type="none" w="med" len="med"/>
              </a:ln>
            </p:spPr>
          </p:sp>
        </p:grpSp>
        <p:sp>
          <p:nvSpPr>
            <p:cNvPr id="63503" name="AutoShape 17"/>
            <p:cNvSpPr/>
            <p:nvPr/>
          </p:nvSpPr>
          <p:spPr>
            <a:xfrm>
              <a:off x="3429000" y="609600"/>
              <a:ext cx="1143000"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63504" name="Group 20"/>
            <p:cNvGrpSpPr/>
            <p:nvPr/>
          </p:nvGrpSpPr>
          <p:grpSpPr>
            <a:xfrm>
              <a:off x="4572000" y="509588"/>
              <a:ext cx="1905000" cy="709612"/>
              <a:chOff x="0" y="0"/>
              <a:chExt cx="1200" cy="447"/>
            </a:xfrm>
          </p:grpSpPr>
          <p:sp>
            <p:nvSpPr>
              <p:cNvPr id="63505" name="Text Box 21"/>
              <p:cNvSpPr txBox="1"/>
              <p:nvPr/>
            </p:nvSpPr>
            <p:spPr>
              <a:xfrm>
                <a:off x="768" y="0"/>
                <a:ext cx="214" cy="326"/>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63506" name="Line 22"/>
              <p:cNvSpPr/>
              <p:nvPr/>
            </p:nvSpPr>
            <p:spPr>
              <a:xfrm>
                <a:off x="0" y="255"/>
                <a:ext cx="1200" cy="192"/>
              </a:xfrm>
              <a:prstGeom prst="line">
                <a:avLst/>
              </a:prstGeom>
              <a:ln w="63500" cap="flat" cmpd="sng">
                <a:solidFill>
                  <a:srgbClr val="FF6600"/>
                </a:solidFill>
                <a:prstDash val="solid"/>
                <a:round/>
                <a:headEnd type="none" w="med" len="med"/>
                <a:tailEnd type="none" w="med" len="med"/>
              </a:ln>
            </p:spPr>
          </p:sp>
        </p:grpSp>
        <p:grpSp>
          <p:nvGrpSpPr>
            <p:cNvPr id="63507" name="Group 23"/>
            <p:cNvGrpSpPr/>
            <p:nvPr/>
          </p:nvGrpSpPr>
          <p:grpSpPr>
            <a:xfrm>
              <a:off x="1828800" y="1676402"/>
              <a:ext cx="1447800" cy="1103313"/>
              <a:chOff x="0" y="0"/>
              <a:chExt cx="912" cy="695"/>
            </a:xfrm>
          </p:grpSpPr>
          <p:sp>
            <p:nvSpPr>
              <p:cNvPr id="63508" name="Line 24"/>
              <p:cNvSpPr/>
              <p:nvPr/>
            </p:nvSpPr>
            <p:spPr>
              <a:xfrm>
                <a:off x="0" y="0"/>
                <a:ext cx="912" cy="672"/>
              </a:xfrm>
              <a:prstGeom prst="line">
                <a:avLst/>
              </a:prstGeom>
              <a:ln w="25400" cap="flat" cmpd="sng">
                <a:solidFill>
                  <a:schemeClr val="tx1"/>
                </a:solidFill>
                <a:prstDash val="solid"/>
                <a:round/>
                <a:headEnd type="none" w="med" len="med"/>
                <a:tailEnd type="none" w="med" len="med"/>
              </a:ln>
            </p:spPr>
          </p:sp>
          <p:sp>
            <p:nvSpPr>
              <p:cNvPr id="63509" name="Text Box 25"/>
              <p:cNvSpPr txBox="1"/>
              <p:nvPr/>
            </p:nvSpPr>
            <p:spPr>
              <a:xfrm>
                <a:off x="364" y="369"/>
                <a:ext cx="214" cy="326"/>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63510" name="Group 26"/>
            <p:cNvGrpSpPr/>
            <p:nvPr/>
          </p:nvGrpSpPr>
          <p:grpSpPr>
            <a:xfrm>
              <a:off x="4343400" y="2643188"/>
              <a:ext cx="838200" cy="517525"/>
              <a:chOff x="0" y="0"/>
              <a:chExt cx="528" cy="326"/>
            </a:xfrm>
          </p:grpSpPr>
          <p:sp>
            <p:nvSpPr>
              <p:cNvPr id="63511" name="Line 27"/>
              <p:cNvSpPr/>
              <p:nvPr/>
            </p:nvSpPr>
            <p:spPr>
              <a:xfrm>
                <a:off x="0" y="63"/>
                <a:ext cx="528" cy="0"/>
              </a:xfrm>
              <a:prstGeom prst="line">
                <a:avLst/>
              </a:prstGeom>
              <a:ln w="63500" cap="flat" cmpd="sng">
                <a:solidFill>
                  <a:schemeClr val="tx1"/>
                </a:solidFill>
                <a:prstDash val="solid"/>
                <a:round/>
                <a:headEnd type="none" w="med" len="med"/>
                <a:tailEnd type="none" w="med" len="med"/>
              </a:ln>
            </p:spPr>
          </p:sp>
          <p:sp>
            <p:nvSpPr>
              <p:cNvPr id="63512" name="Text Box 28"/>
              <p:cNvSpPr txBox="1"/>
              <p:nvPr/>
            </p:nvSpPr>
            <p:spPr>
              <a:xfrm>
                <a:off x="144" y="0"/>
                <a:ext cx="214" cy="326"/>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63513" name="Group 29"/>
            <p:cNvGrpSpPr/>
            <p:nvPr/>
          </p:nvGrpSpPr>
          <p:grpSpPr>
            <a:xfrm>
              <a:off x="6324600" y="152400"/>
              <a:ext cx="2514600" cy="1447800"/>
              <a:chOff x="0" y="0"/>
              <a:chExt cx="1584" cy="912"/>
            </a:xfrm>
          </p:grpSpPr>
          <p:sp>
            <p:nvSpPr>
              <p:cNvPr id="63514" name="Rectangle 30"/>
              <p:cNvSpPr/>
              <p:nvPr/>
            </p:nvSpPr>
            <p:spPr>
              <a:xfrm>
                <a:off x="96"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63515" name="Oval 31"/>
              <p:cNvSpPr/>
              <p:nvPr/>
            </p:nvSpPr>
            <p:spPr>
              <a:xfrm>
                <a:off x="864" y="33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516" name="Oval 32"/>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3517" name="Line 33"/>
              <p:cNvSpPr/>
              <p:nvPr/>
            </p:nvSpPr>
            <p:spPr>
              <a:xfrm>
                <a:off x="288" y="384"/>
                <a:ext cx="96" cy="240"/>
              </a:xfrm>
              <a:prstGeom prst="line">
                <a:avLst/>
              </a:prstGeom>
              <a:ln w="25400" cap="flat" cmpd="sng">
                <a:solidFill>
                  <a:srgbClr val="000000"/>
                </a:solidFill>
                <a:prstDash val="solid"/>
                <a:round/>
                <a:headEnd type="none" w="med" len="med"/>
                <a:tailEnd type="none" w="med" len="med"/>
              </a:ln>
            </p:spPr>
          </p:sp>
          <p:sp>
            <p:nvSpPr>
              <p:cNvPr id="63518" name="Line 34"/>
              <p:cNvSpPr/>
              <p:nvPr/>
            </p:nvSpPr>
            <p:spPr>
              <a:xfrm flipH="1">
                <a:off x="672" y="672"/>
                <a:ext cx="288" cy="96"/>
              </a:xfrm>
              <a:prstGeom prst="line">
                <a:avLst/>
              </a:prstGeom>
              <a:ln w="25400" cap="flat" cmpd="sng">
                <a:solidFill>
                  <a:srgbClr val="000000"/>
                </a:solidFill>
                <a:prstDash val="solid"/>
                <a:round/>
                <a:headEnd type="none" w="med" len="med"/>
                <a:tailEnd type="none" w="med" len="med"/>
              </a:ln>
            </p:spPr>
          </p:sp>
        </p:grpSp>
        <p:grpSp>
          <p:nvGrpSpPr>
            <p:cNvPr id="63519" name="Group 35"/>
            <p:cNvGrpSpPr/>
            <p:nvPr/>
          </p:nvGrpSpPr>
          <p:grpSpPr>
            <a:xfrm>
              <a:off x="5181600" y="1905000"/>
              <a:ext cx="2590800" cy="1295400"/>
              <a:chOff x="0" y="0"/>
              <a:chExt cx="1632" cy="816"/>
            </a:xfrm>
          </p:grpSpPr>
          <p:sp>
            <p:nvSpPr>
              <p:cNvPr id="63520" name="Rectangle 36"/>
              <p:cNvSpPr/>
              <p:nvPr/>
            </p:nvSpPr>
            <p:spPr>
              <a:xfrm>
                <a:off x="0" y="38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63521" name="Oval 37"/>
              <p:cNvSpPr/>
              <p:nvPr/>
            </p:nvSpPr>
            <p:spPr>
              <a:xfrm>
                <a:off x="912"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522" name="Oval 38"/>
              <p:cNvSpPr/>
              <p:nvPr/>
            </p:nvSpPr>
            <p:spPr>
              <a:xfrm>
                <a:off x="912" y="43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3523" name="Line 39"/>
              <p:cNvSpPr/>
              <p:nvPr/>
            </p:nvSpPr>
            <p:spPr>
              <a:xfrm>
                <a:off x="528" y="576"/>
                <a:ext cx="384" cy="48"/>
              </a:xfrm>
              <a:prstGeom prst="line">
                <a:avLst/>
              </a:prstGeom>
              <a:ln w="25400" cap="flat" cmpd="sng">
                <a:solidFill>
                  <a:srgbClr val="000000"/>
                </a:solidFill>
                <a:prstDash val="solid"/>
                <a:round/>
                <a:headEnd type="none" w="med" len="med"/>
                <a:tailEnd type="none" w="med" len="med"/>
              </a:ln>
            </p:spPr>
          </p:sp>
          <p:sp>
            <p:nvSpPr>
              <p:cNvPr id="63524" name="Line 40"/>
              <p:cNvSpPr/>
              <p:nvPr/>
            </p:nvSpPr>
            <p:spPr>
              <a:xfrm flipH="1">
                <a:off x="528" y="288"/>
                <a:ext cx="432" cy="192"/>
              </a:xfrm>
              <a:prstGeom prst="line">
                <a:avLst/>
              </a:prstGeom>
              <a:ln w="25400" cap="flat" cmpd="sng">
                <a:solidFill>
                  <a:srgbClr val="000000"/>
                </a:solidFill>
                <a:prstDash val="solid"/>
                <a:round/>
                <a:headEnd type="none" w="med" len="med"/>
                <a:tailEnd type="none" w="med" len="med"/>
              </a:ln>
            </p:spPr>
          </p:sp>
        </p:grpSp>
        <p:grpSp>
          <p:nvGrpSpPr>
            <p:cNvPr id="63525" name="Group 41"/>
            <p:cNvGrpSpPr/>
            <p:nvPr/>
          </p:nvGrpSpPr>
          <p:grpSpPr>
            <a:xfrm>
              <a:off x="2057400" y="533400"/>
              <a:ext cx="1371600" cy="838200"/>
              <a:chOff x="0" y="0"/>
              <a:chExt cx="864" cy="528"/>
            </a:xfrm>
          </p:grpSpPr>
          <p:sp>
            <p:nvSpPr>
              <p:cNvPr id="63526" name="Line 42"/>
              <p:cNvSpPr/>
              <p:nvPr/>
            </p:nvSpPr>
            <p:spPr>
              <a:xfrm flipV="1">
                <a:off x="0" y="240"/>
                <a:ext cx="864" cy="288"/>
              </a:xfrm>
              <a:prstGeom prst="line">
                <a:avLst/>
              </a:prstGeom>
              <a:ln w="63500" cap="flat" cmpd="sng">
                <a:solidFill>
                  <a:srgbClr val="FF0000"/>
                </a:solidFill>
                <a:prstDash val="solid"/>
                <a:round/>
                <a:headEnd type="none" w="med" len="med"/>
                <a:tailEnd type="triangle" w="med" len="med"/>
              </a:ln>
            </p:spPr>
          </p:sp>
          <p:sp>
            <p:nvSpPr>
              <p:cNvPr id="63527" name="Text Box 43"/>
              <p:cNvSpPr txBox="1"/>
              <p:nvPr/>
            </p:nvSpPr>
            <p:spPr>
              <a:xfrm>
                <a:off x="432" y="0"/>
                <a:ext cx="288" cy="326"/>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63528" name="AutoShape 44"/>
            <p:cNvSpPr/>
            <p:nvPr/>
          </p:nvSpPr>
          <p:spPr>
            <a:xfrm>
              <a:off x="3200400" y="2438400"/>
              <a:ext cx="1219200" cy="5334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63529" name="Group 45"/>
            <p:cNvGrpSpPr/>
            <p:nvPr/>
          </p:nvGrpSpPr>
          <p:grpSpPr>
            <a:xfrm>
              <a:off x="2057400" y="1371600"/>
              <a:ext cx="1600200" cy="609600"/>
              <a:chOff x="0" y="0"/>
              <a:chExt cx="1056" cy="432"/>
            </a:xfrm>
          </p:grpSpPr>
          <p:sp>
            <p:nvSpPr>
              <p:cNvPr id="63530" name="Line 46"/>
              <p:cNvSpPr/>
              <p:nvPr/>
            </p:nvSpPr>
            <p:spPr>
              <a:xfrm>
                <a:off x="0" y="144"/>
                <a:ext cx="1056" cy="288"/>
              </a:xfrm>
              <a:prstGeom prst="line">
                <a:avLst/>
              </a:prstGeom>
              <a:ln w="25400" cap="flat" cmpd="sng">
                <a:solidFill>
                  <a:schemeClr val="tx1"/>
                </a:solidFill>
                <a:prstDash val="solid"/>
                <a:round/>
                <a:headEnd type="none" w="med" len="med"/>
                <a:tailEnd type="none" w="med" len="med"/>
              </a:ln>
            </p:spPr>
          </p:sp>
          <p:sp>
            <p:nvSpPr>
              <p:cNvPr id="63531" name="Text Box 47"/>
              <p:cNvSpPr txBox="1"/>
              <p:nvPr/>
            </p:nvSpPr>
            <p:spPr>
              <a:xfrm>
                <a:off x="624" y="0"/>
                <a:ext cx="288" cy="367"/>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grpSp>
        <p:grpSp>
          <p:nvGrpSpPr>
            <p:cNvPr id="63532" name="Group 48"/>
            <p:cNvGrpSpPr/>
            <p:nvPr/>
          </p:nvGrpSpPr>
          <p:grpSpPr>
            <a:xfrm>
              <a:off x="4876800" y="1295400"/>
              <a:ext cx="1600200" cy="685800"/>
              <a:chOff x="0" y="0"/>
              <a:chExt cx="1008" cy="432"/>
            </a:xfrm>
          </p:grpSpPr>
          <p:sp>
            <p:nvSpPr>
              <p:cNvPr id="63533" name="Line 49"/>
              <p:cNvSpPr/>
              <p:nvPr/>
            </p:nvSpPr>
            <p:spPr>
              <a:xfrm flipV="1">
                <a:off x="0" y="130"/>
                <a:ext cx="1008" cy="302"/>
              </a:xfrm>
              <a:prstGeom prst="line">
                <a:avLst/>
              </a:prstGeom>
              <a:ln w="63500" cap="flat" cmpd="sng">
                <a:solidFill>
                  <a:srgbClr val="FF6600"/>
                </a:solidFill>
                <a:prstDash val="solid"/>
                <a:round/>
                <a:headEnd type="none" w="med" len="med"/>
                <a:tailEnd type="none" w="med" len="med"/>
              </a:ln>
            </p:spPr>
          </p:sp>
          <p:sp>
            <p:nvSpPr>
              <p:cNvPr id="63534" name="Text Box 50"/>
              <p:cNvSpPr txBox="1"/>
              <p:nvPr/>
            </p:nvSpPr>
            <p:spPr>
              <a:xfrm>
                <a:off x="412" y="0"/>
                <a:ext cx="275" cy="326"/>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grpSp>
      </p:grpSp>
      <p:sp>
        <p:nvSpPr>
          <p:cNvPr id="61491" name="Text Box 51"/>
          <p:cNvSpPr txBox="1"/>
          <p:nvPr/>
        </p:nvSpPr>
        <p:spPr>
          <a:xfrm>
            <a:off x="808038" y="4770438"/>
            <a:ext cx="7954962" cy="1384300"/>
          </a:xfrm>
          <a:prstGeom prst="rect">
            <a:avLst/>
          </a:prstGeom>
          <a:noFill/>
          <a:ln w="9525">
            <a:noFill/>
          </a:ln>
        </p:spPr>
        <p:txBody>
          <a:bodyPr anchor="t">
            <a:spAutoFit/>
          </a:bodyPr>
          <a:lstStyle/>
          <a:p>
            <a:pPr lvl="0" indent="0">
              <a:lnSpc>
                <a:spcPct val="110000"/>
              </a:lnSpc>
              <a:spcBef>
                <a:spcPct val="20000"/>
              </a:spcBef>
              <a:buClr>
                <a:schemeClr val="tx1"/>
              </a:buClr>
              <a:buSzPct val="110000"/>
              <a:buNone/>
            </a:pPr>
            <a:r>
              <a:rPr lang="en-US" altLang="x-none"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在</a:t>
            </a:r>
            <a:r>
              <a:rPr lang="en-US" altLang="x-none" sz="2400" dirty="0">
                <a:latin typeface="华文楷体" panose="02010600040101010101" pitchFamily="2" charset="-122"/>
                <a:ea typeface="华文楷体" panose="02010600040101010101" pitchFamily="2" charset="-122"/>
              </a:rPr>
              <a:t>ER</a:t>
            </a:r>
            <a:r>
              <a:rPr lang="zh-CN" altLang="en-US" sz="2400" dirty="0">
                <a:latin typeface="华文楷体" panose="02010600040101010101" pitchFamily="2" charset="-122"/>
                <a:ea typeface="华文楷体" panose="02010600040101010101" pitchFamily="2" charset="-122"/>
              </a:rPr>
              <a:t>图中用</a:t>
            </a:r>
            <a:r>
              <a:rPr lang="zh-CN" altLang="en-US" sz="2400" u="sng" dirty="0">
                <a:latin typeface="华文楷体" panose="02010600040101010101" pitchFamily="2" charset="-122"/>
                <a:ea typeface="华文楷体" panose="02010600040101010101" pitchFamily="2" charset="-122"/>
              </a:rPr>
              <a:t>粗线</a:t>
            </a:r>
            <a:r>
              <a:rPr lang="zh-CN" altLang="en-US" sz="2400" dirty="0">
                <a:latin typeface="华文楷体" panose="02010600040101010101" pitchFamily="2" charset="-122"/>
                <a:ea typeface="华文楷体" panose="02010600040101010101" pitchFamily="2" charset="-122"/>
              </a:rPr>
              <a:t>表示</a:t>
            </a:r>
            <a:r>
              <a:rPr lang="zh-CN" altLang="en-US" sz="2400" u="sng" dirty="0">
                <a:latin typeface="华文楷体" panose="02010600040101010101" pitchFamily="2" charset="-122"/>
                <a:ea typeface="华文楷体" panose="02010600040101010101" pitchFamily="2" charset="-122"/>
              </a:rPr>
              <a:t>完全参与</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lvl="0" indent="0">
              <a:lnSpc>
                <a:spcPct val="110000"/>
              </a:lnSpc>
              <a:spcBef>
                <a:spcPct val="20000"/>
              </a:spcBef>
              <a:buClr>
                <a:schemeClr val="tx1"/>
              </a:buClr>
              <a:buSzPct val="110000"/>
              <a:buNone/>
            </a:pPr>
            <a:r>
              <a:rPr lang="en-US" altLang="x-none"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有的文献中，完全参与约束用双线表示，部分参与联系用单线表示。</a:t>
            </a:r>
            <a:endParaRPr lang="zh-CN" altLang="en-US" sz="2400" dirty="0">
              <a:latin typeface="华文楷体" panose="02010600040101010101" pitchFamily="2" charset="-122"/>
              <a:ea typeface="华文楷体" panose="02010600040101010101" pitchFamily="2" charset="-122"/>
            </a:endParaRPr>
          </a:p>
        </p:txBody>
      </p:sp>
      <p:sp>
        <p:nvSpPr>
          <p:cNvPr id="59395" name="矩形 4"/>
          <p:cNvSpPr/>
          <p:nvPr/>
        </p:nvSpPr>
        <p:spPr>
          <a:xfrm>
            <a:off x="557213" y="881063"/>
            <a:ext cx="197231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en-US" altLang="x-none" sz="2800" dirty="0">
                <a:solidFill>
                  <a:srgbClr val="0033CC"/>
                </a:solidFill>
                <a:latin typeface="黑体" panose="02010609060101010101" pitchFamily="1" charset="-122"/>
                <a:ea typeface="黑体" panose="02010609060101010101" pitchFamily="1" charset="-122"/>
                <a:cs typeface="+mn-ea"/>
              </a:rPr>
              <a:t>参与约束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91"/>
                                        </p:tgtEl>
                                        <p:attrNameLst>
                                          <p:attrName>style.visibility</p:attrName>
                                        </p:attrNameLst>
                                      </p:cBhvr>
                                      <p:to>
                                        <p:strVal val="visible"/>
                                      </p:to>
                                    </p:set>
                                    <p:anim calcmode="lin" valueType="num">
                                      <p:cBhvr additive="base">
                                        <p:cTn id="7" dur="500" fill="hold"/>
                                        <p:tgtEl>
                                          <p:spTgt spid="61491"/>
                                        </p:tgtEl>
                                        <p:attrNameLst>
                                          <p:attrName>ppt_x</p:attrName>
                                        </p:attrNameLst>
                                      </p:cBhvr>
                                      <p:tavLst>
                                        <p:tav tm="0">
                                          <p:val>
                                            <p:strVal val="0-#ppt_w/2"/>
                                          </p:val>
                                        </p:tav>
                                        <p:tav tm="100000">
                                          <p:val>
                                            <p:strVal val="#ppt_x"/>
                                          </p:val>
                                        </p:tav>
                                      </p:tavLst>
                                    </p:anim>
                                    <p:anim calcmode="lin" valueType="num">
                                      <p:cBhvr additive="base">
                                        <p:cTn id="8" dur="500" fill="hold"/>
                                        <p:tgtEl>
                                          <p:spTgt spid="614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5" name="Rectangle 2"/>
          <p:cNvSpPr txBox="1"/>
          <p:nvPr/>
        </p:nvSpPr>
        <p:spPr>
          <a:xfrm>
            <a:off x="480060" y="1398270"/>
            <a:ext cx="8229600" cy="2559685"/>
          </a:xfrm>
          <a:prstGeom prst="rect">
            <a:avLst/>
          </a:prstGeom>
          <a:noFill/>
          <a:ln w="9525">
            <a:noFill/>
          </a:ln>
        </p:spPr>
        <p:txBody>
          <a:bodyPr anchor="t"/>
          <a:lstStyle/>
          <a:p>
            <a:pPr lvl="0" indent="0">
              <a:lnSpc>
                <a:spcPct val="100000"/>
              </a:lnSpc>
              <a:buNone/>
            </a:pPr>
            <a:r>
              <a:rPr lang="zh-CN" altLang="en-US" sz="2400" dirty="0">
                <a:solidFill>
                  <a:srgbClr val="3333CC"/>
                </a:solidFill>
                <a:latin typeface="Arial" panose="020B0604020202020204" pitchFamily="34" charset="0"/>
                <a:ea typeface="黑体" panose="02010609060101010101" pitchFamily="1" charset="-122"/>
              </a:rPr>
              <a:t>例、</a:t>
            </a:r>
            <a:r>
              <a:rPr lang="zh-CN" altLang="en-US" sz="2200" dirty="0">
                <a:latin typeface="宋体" panose="02010600030101010101" pitchFamily="2" charset="-122"/>
                <a:cs typeface="+mn-ea"/>
              </a:rPr>
              <a:t>某学校课程管理系统有如下</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类实体：</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a:t>
            </a:r>
            <a:r>
              <a:rPr lang="en-US" altLang="zh-CN" sz="2200" dirty="0">
                <a:latin typeface="宋体" panose="02010600030101010101" pitchFamily="2" charset="-122"/>
                <a:cs typeface="+mn-ea"/>
              </a:rPr>
              <a:t>1</a:t>
            </a:r>
            <a:r>
              <a:rPr lang="zh-CN" altLang="en-US" sz="2200" dirty="0">
                <a:latin typeface="宋体" panose="02010600030101010101" pitchFamily="2" charset="-122"/>
                <a:cs typeface="+mn-ea"/>
              </a:rPr>
              <a:t>）学生（学号</a:t>
            </a:r>
            <a:r>
              <a:rPr lang="en-US" altLang="zh-CN" sz="2200" dirty="0">
                <a:latin typeface="宋体" panose="02010600030101010101" pitchFamily="2" charset="-122"/>
                <a:cs typeface="+mn-ea"/>
              </a:rPr>
              <a:t>,</a:t>
            </a:r>
            <a:r>
              <a:rPr lang="zh-CN" altLang="en-US" sz="2200" dirty="0">
                <a:latin typeface="宋体" panose="02010600030101010101" pitchFamily="2" charset="-122"/>
                <a:cs typeface="+mn-ea"/>
              </a:rPr>
              <a:t>姓名，性别，专业）；（</a:t>
            </a:r>
            <a:r>
              <a:rPr lang="en-US" altLang="zh-CN" sz="2200" dirty="0">
                <a:latin typeface="宋体" panose="02010600030101010101" pitchFamily="2" charset="-122"/>
                <a:cs typeface="+mn-ea"/>
              </a:rPr>
              <a:t>2</a:t>
            </a:r>
            <a:r>
              <a:rPr lang="zh-CN" altLang="en-US" sz="2200" dirty="0">
                <a:latin typeface="宋体" panose="02010600030101010101" pitchFamily="2" charset="-122"/>
                <a:cs typeface="+mn-ea"/>
              </a:rPr>
              <a:t>）教师（职工号，姓名，职称，所在系）；（</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）课程（课程编号，课程名，学分）。</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有如下规定：（1）每个学生每学期至少选修1门课，最多选修6门课；每门课程最多90个学生，可以没人选，每位教师最多讲授3门课，也可以不上课，每门课必须有一位老师上。根据语义画出</a:t>
            </a:r>
            <a:r>
              <a:rPr lang="en-US" altLang="zh-CN" sz="2200" dirty="0">
                <a:latin typeface="宋体" panose="02010600030101010101" pitchFamily="2" charset="-122"/>
                <a:cs typeface="+mn-ea"/>
              </a:rPr>
              <a:t>ER</a:t>
            </a:r>
            <a:r>
              <a:rPr lang="zh-CN" altLang="en-US" sz="2200" dirty="0">
                <a:latin typeface="宋体" panose="02010600030101010101" pitchFamily="2" charset="-122"/>
                <a:cs typeface="+mn-ea"/>
              </a:rPr>
              <a:t>图，标明一般性约束、键约束和参与约束。</a:t>
            </a:r>
            <a:endParaRPr lang="zh-CN" altLang="en-US" sz="2200" dirty="0">
              <a:latin typeface="宋体" panose="02010600030101010101" pitchFamily="2" charset="-122"/>
              <a:cs typeface="+mn-ea"/>
            </a:endParaRPr>
          </a:p>
        </p:txBody>
      </p:sp>
      <p:grpSp>
        <p:nvGrpSpPr>
          <p:cNvPr id="35" name="组合 34"/>
          <p:cNvGrpSpPr/>
          <p:nvPr/>
        </p:nvGrpSpPr>
        <p:grpSpPr>
          <a:xfrm>
            <a:off x="480060" y="3637915"/>
            <a:ext cx="7823835" cy="2632710"/>
            <a:chOff x="756" y="5729"/>
            <a:chExt cx="12321" cy="4146"/>
          </a:xfrm>
        </p:grpSpPr>
        <p:grpSp>
          <p:nvGrpSpPr>
            <p:cNvPr id="59398" name="Group 3"/>
            <p:cNvGrpSpPr/>
            <p:nvPr/>
          </p:nvGrpSpPr>
          <p:grpSpPr>
            <a:xfrm>
              <a:off x="5820" y="6657"/>
              <a:ext cx="7195" cy="2774"/>
              <a:chOff x="-798" y="0"/>
              <a:chExt cx="1706" cy="777"/>
            </a:xfrm>
          </p:grpSpPr>
          <p:sp>
            <p:nvSpPr>
              <p:cNvPr id="59399" name="Line 4"/>
              <p:cNvSpPr/>
              <p:nvPr/>
            </p:nvSpPr>
            <p:spPr>
              <a:xfrm flipV="1">
                <a:off x="240" y="192"/>
                <a:ext cx="0" cy="240"/>
              </a:xfrm>
              <a:prstGeom prst="line">
                <a:avLst/>
              </a:prstGeom>
              <a:ln w="60325" cap="flat" cmpd="sng">
                <a:solidFill>
                  <a:srgbClr val="C00000"/>
                </a:solidFill>
                <a:prstDash val="solid"/>
                <a:round/>
                <a:headEnd type="none" w="med" len="med"/>
                <a:tailEnd type="none" w="med" len="med"/>
              </a:ln>
            </p:spPr>
          </p:sp>
          <p:sp>
            <p:nvSpPr>
              <p:cNvPr id="59400" name="Line 5"/>
              <p:cNvSpPr/>
              <p:nvPr/>
            </p:nvSpPr>
            <p:spPr>
              <a:xfrm>
                <a:off x="-397" y="553"/>
                <a:ext cx="395" cy="2"/>
              </a:xfrm>
              <a:prstGeom prst="line">
                <a:avLst/>
              </a:prstGeom>
              <a:ln w="25400" cap="flat" cmpd="sng">
                <a:solidFill>
                  <a:srgbClr val="000000"/>
                </a:solidFill>
                <a:prstDash val="solid"/>
                <a:round/>
                <a:headEnd type="none" w="med" len="med"/>
                <a:tailEnd type="none" w="med" len="med"/>
              </a:ln>
            </p:spPr>
          </p:sp>
          <p:sp>
            <p:nvSpPr>
              <p:cNvPr id="59401" name="Line 6"/>
              <p:cNvSpPr/>
              <p:nvPr/>
            </p:nvSpPr>
            <p:spPr>
              <a:xfrm flipH="1" flipV="1">
                <a:off x="336" y="480"/>
                <a:ext cx="255" cy="20"/>
              </a:xfrm>
              <a:prstGeom prst="line">
                <a:avLst/>
              </a:prstGeom>
              <a:ln w="25400" cap="flat" cmpd="sng">
                <a:solidFill>
                  <a:srgbClr val="000000"/>
                </a:solidFill>
                <a:prstDash val="solid"/>
                <a:round/>
                <a:headEnd type="none" w="med" len="med"/>
                <a:tailEnd type="none" w="med" len="med"/>
              </a:ln>
            </p:spPr>
          </p:sp>
          <p:sp>
            <p:nvSpPr>
              <p:cNvPr id="59402"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9403" name="Rectangle 8"/>
              <p:cNvSpPr/>
              <p:nvPr/>
            </p:nvSpPr>
            <p:spPr>
              <a:xfrm>
                <a:off x="-798" y="427"/>
                <a:ext cx="401" cy="226"/>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9404" name="AutoShape 9"/>
              <p:cNvSpPr/>
              <p:nvPr/>
            </p:nvSpPr>
            <p:spPr>
              <a:xfrm>
                <a:off x="0" y="432"/>
                <a:ext cx="480" cy="240"/>
              </a:xfrm>
              <a:prstGeom prst="diamond">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5" name="Oval 10"/>
              <p:cNvSpPr/>
              <p:nvPr/>
            </p:nvSpPr>
            <p:spPr>
              <a:xfrm>
                <a:off x="581" y="437"/>
                <a:ext cx="327" cy="159"/>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6" name="Oval 11"/>
              <p:cNvSpPr/>
              <p:nvPr/>
            </p:nvSpPr>
            <p:spPr>
              <a:xfrm>
                <a:off x="576" y="620"/>
                <a:ext cx="332" cy="157"/>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7" name="Rectangle 12"/>
              <p:cNvSpPr/>
              <p:nvPr/>
            </p:nvSpPr>
            <p:spPr>
              <a:xfrm>
                <a:off x="48" y="0"/>
                <a:ext cx="401" cy="192"/>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sp>
          <p:nvSpPr>
            <p:cNvPr id="2" name="Rectangle 8"/>
            <p:cNvSpPr/>
            <p:nvPr/>
          </p:nvSpPr>
          <p:spPr>
            <a:xfrm>
              <a:off x="2780" y="6657"/>
              <a:ext cx="1552" cy="807"/>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zh-CN" altLang="de-DE" sz="1600" dirty="0">
                  <a:solidFill>
                    <a:srgbClr val="000000"/>
                  </a:solidFill>
                  <a:latin typeface="宋体" panose="02010600030101010101" pitchFamily="2" charset="-122"/>
                  <a:ea typeface="宋体" panose="02010600030101010101" pitchFamily="2" charset="-122"/>
                </a:rPr>
                <a:t>教师</a:t>
              </a:r>
              <a:endParaRPr lang="zh-CN" altLang="de-DE" sz="1600" dirty="0">
                <a:solidFill>
                  <a:srgbClr val="000000"/>
                </a:solidFill>
                <a:latin typeface="宋体" panose="02010600030101010101" pitchFamily="2" charset="-122"/>
                <a:ea typeface="宋体" panose="02010600030101010101" pitchFamily="2" charset="-122"/>
              </a:endParaRPr>
            </a:p>
          </p:txBody>
        </p:sp>
        <p:sp>
          <p:nvSpPr>
            <p:cNvPr id="3" name="Oval 10"/>
            <p:cNvSpPr/>
            <p:nvPr/>
          </p:nvSpPr>
          <p:spPr>
            <a:xfrm>
              <a:off x="11678" y="5729"/>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学号</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5" name="Oval 10"/>
            <p:cNvSpPr/>
            <p:nvPr/>
          </p:nvSpPr>
          <p:spPr>
            <a:xfrm>
              <a:off x="11678" y="633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姓名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6" name="Oval 10"/>
            <p:cNvSpPr/>
            <p:nvPr/>
          </p:nvSpPr>
          <p:spPr>
            <a:xfrm>
              <a:off x="11678" y="6905"/>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性别</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7" name="Oval 10"/>
            <p:cNvSpPr/>
            <p:nvPr/>
          </p:nvSpPr>
          <p:spPr>
            <a:xfrm>
              <a:off x="11698" y="7465"/>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专业</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8" name="Line 6"/>
            <p:cNvSpPr/>
            <p:nvPr/>
          </p:nvSpPr>
          <p:spPr>
            <a:xfrm flipH="1">
              <a:off x="11079" y="6094"/>
              <a:ext cx="619" cy="812"/>
            </a:xfrm>
            <a:prstGeom prst="line">
              <a:avLst/>
            </a:prstGeom>
            <a:ln w="25400" cap="flat" cmpd="sng">
              <a:solidFill>
                <a:srgbClr val="000000"/>
              </a:solidFill>
              <a:prstDash val="solid"/>
              <a:round/>
              <a:headEnd type="none" w="med" len="med"/>
              <a:tailEnd type="none" w="med" len="med"/>
            </a:ln>
          </p:spPr>
        </p:sp>
        <p:sp>
          <p:nvSpPr>
            <p:cNvPr id="9" name="Line 6"/>
            <p:cNvSpPr/>
            <p:nvPr/>
          </p:nvSpPr>
          <p:spPr>
            <a:xfrm flipH="1">
              <a:off x="11079" y="6657"/>
              <a:ext cx="619" cy="249"/>
            </a:xfrm>
            <a:prstGeom prst="line">
              <a:avLst/>
            </a:prstGeom>
            <a:ln w="25400" cap="flat" cmpd="sng">
              <a:solidFill>
                <a:srgbClr val="000000"/>
              </a:solidFill>
              <a:prstDash val="solid"/>
              <a:round/>
              <a:headEnd type="none" w="med" len="med"/>
              <a:tailEnd type="none" w="med" len="med"/>
            </a:ln>
          </p:spPr>
        </p:sp>
        <p:sp>
          <p:nvSpPr>
            <p:cNvPr id="10" name="Line 6"/>
            <p:cNvSpPr/>
            <p:nvPr/>
          </p:nvSpPr>
          <p:spPr>
            <a:xfrm flipH="1" flipV="1">
              <a:off x="11079" y="6906"/>
              <a:ext cx="619" cy="246"/>
            </a:xfrm>
            <a:prstGeom prst="line">
              <a:avLst/>
            </a:prstGeom>
            <a:ln w="25400" cap="flat" cmpd="sng">
              <a:solidFill>
                <a:srgbClr val="000000"/>
              </a:solidFill>
              <a:prstDash val="solid"/>
              <a:round/>
              <a:headEnd type="none" w="med" len="med"/>
              <a:tailEnd type="none" w="med" len="med"/>
            </a:ln>
          </p:spPr>
        </p:sp>
        <p:sp>
          <p:nvSpPr>
            <p:cNvPr id="11" name="Line 6"/>
            <p:cNvSpPr/>
            <p:nvPr/>
          </p:nvSpPr>
          <p:spPr>
            <a:xfrm flipH="1" flipV="1">
              <a:off x="11079" y="6906"/>
              <a:ext cx="619" cy="856"/>
            </a:xfrm>
            <a:prstGeom prst="line">
              <a:avLst/>
            </a:prstGeom>
            <a:ln w="25400" cap="flat" cmpd="sng">
              <a:solidFill>
                <a:srgbClr val="000000"/>
              </a:solidFill>
              <a:prstDash val="solid"/>
              <a:round/>
              <a:headEnd type="none" w="med" len="med"/>
              <a:tailEnd type="none" w="med" len="med"/>
            </a:ln>
          </p:spPr>
        </p:sp>
        <p:sp>
          <p:nvSpPr>
            <p:cNvPr id="12" name="Oval 10"/>
            <p:cNvSpPr/>
            <p:nvPr/>
          </p:nvSpPr>
          <p:spPr>
            <a:xfrm>
              <a:off x="756" y="6338"/>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职工号</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14" name="Oval 10"/>
            <p:cNvSpPr/>
            <p:nvPr/>
          </p:nvSpPr>
          <p:spPr>
            <a:xfrm>
              <a:off x="756" y="6970"/>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姓名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5" name="Oval 10"/>
            <p:cNvSpPr/>
            <p:nvPr/>
          </p:nvSpPr>
          <p:spPr>
            <a:xfrm>
              <a:off x="756" y="7602"/>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职称</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6" name="Oval 10"/>
            <p:cNvSpPr/>
            <p:nvPr/>
          </p:nvSpPr>
          <p:spPr>
            <a:xfrm>
              <a:off x="756" y="821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所在系</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7" name="Oval 10"/>
            <p:cNvSpPr/>
            <p:nvPr/>
          </p:nvSpPr>
          <p:spPr>
            <a:xfrm>
              <a:off x="4441" y="9227"/>
              <a:ext cx="1658" cy="64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课程编码</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18" name="Oval 10"/>
            <p:cNvSpPr/>
            <p:nvPr/>
          </p:nvSpPr>
          <p:spPr>
            <a:xfrm>
              <a:off x="6133" y="922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课程名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9" name="Oval 10"/>
            <p:cNvSpPr/>
            <p:nvPr/>
          </p:nvSpPr>
          <p:spPr>
            <a:xfrm>
              <a:off x="7512" y="9227"/>
              <a:ext cx="1021"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学分</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20" name="Line 6"/>
            <p:cNvSpPr/>
            <p:nvPr/>
          </p:nvSpPr>
          <p:spPr>
            <a:xfrm flipH="1" flipV="1">
              <a:off x="6759" y="8988"/>
              <a:ext cx="94" cy="240"/>
            </a:xfrm>
            <a:prstGeom prst="line">
              <a:avLst/>
            </a:prstGeom>
            <a:ln w="25400" cap="flat" cmpd="sng">
              <a:solidFill>
                <a:srgbClr val="000000"/>
              </a:solidFill>
              <a:prstDash val="solid"/>
              <a:round/>
              <a:headEnd type="none" w="med" len="med"/>
              <a:tailEnd type="none" w="med" len="med"/>
            </a:ln>
          </p:spPr>
        </p:sp>
        <p:sp>
          <p:nvSpPr>
            <p:cNvPr id="21" name="Line 6"/>
            <p:cNvSpPr/>
            <p:nvPr/>
          </p:nvSpPr>
          <p:spPr>
            <a:xfrm flipH="1" flipV="1">
              <a:off x="6759" y="8988"/>
              <a:ext cx="991" cy="240"/>
            </a:xfrm>
            <a:prstGeom prst="line">
              <a:avLst/>
            </a:prstGeom>
            <a:ln w="25400" cap="flat" cmpd="sng">
              <a:solidFill>
                <a:srgbClr val="000000"/>
              </a:solidFill>
              <a:prstDash val="solid"/>
              <a:round/>
              <a:headEnd type="none" w="med" len="med"/>
              <a:tailEnd type="none" w="med" len="med"/>
            </a:ln>
          </p:spPr>
        </p:sp>
        <p:sp>
          <p:nvSpPr>
            <p:cNvPr id="22" name="Line 6"/>
            <p:cNvSpPr/>
            <p:nvPr/>
          </p:nvSpPr>
          <p:spPr>
            <a:xfrm flipV="1">
              <a:off x="5454" y="8988"/>
              <a:ext cx="1398" cy="240"/>
            </a:xfrm>
            <a:prstGeom prst="line">
              <a:avLst/>
            </a:prstGeom>
            <a:ln w="25400" cap="flat" cmpd="sng">
              <a:solidFill>
                <a:srgbClr val="000000"/>
              </a:solidFill>
              <a:prstDash val="solid"/>
              <a:round/>
              <a:headEnd type="none" w="med" len="med"/>
              <a:tailEnd type="none" w="med" len="med"/>
            </a:ln>
          </p:spPr>
        </p:sp>
        <p:sp>
          <p:nvSpPr>
            <p:cNvPr id="23" name="Line 6"/>
            <p:cNvSpPr/>
            <p:nvPr/>
          </p:nvSpPr>
          <p:spPr>
            <a:xfrm flipV="1">
              <a:off x="2134" y="7151"/>
              <a:ext cx="647" cy="1219"/>
            </a:xfrm>
            <a:prstGeom prst="line">
              <a:avLst/>
            </a:prstGeom>
            <a:ln w="25400" cap="flat" cmpd="sng">
              <a:solidFill>
                <a:srgbClr val="000000"/>
              </a:solidFill>
              <a:prstDash val="solid"/>
              <a:round/>
              <a:headEnd type="none" w="med" len="med"/>
              <a:tailEnd type="none" w="med" len="med"/>
            </a:ln>
          </p:spPr>
        </p:sp>
        <p:sp>
          <p:nvSpPr>
            <p:cNvPr id="24" name="Line 6"/>
            <p:cNvSpPr/>
            <p:nvPr/>
          </p:nvSpPr>
          <p:spPr>
            <a:xfrm flipV="1">
              <a:off x="2133" y="7152"/>
              <a:ext cx="647" cy="646"/>
            </a:xfrm>
            <a:prstGeom prst="line">
              <a:avLst/>
            </a:prstGeom>
            <a:ln w="25400" cap="flat" cmpd="sng">
              <a:solidFill>
                <a:srgbClr val="000000"/>
              </a:solidFill>
              <a:prstDash val="solid"/>
              <a:round/>
              <a:headEnd type="none" w="med" len="med"/>
              <a:tailEnd type="none" w="med" len="med"/>
            </a:ln>
          </p:spPr>
        </p:sp>
        <p:sp>
          <p:nvSpPr>
            <p:cNvPr id="25" name="Line 6"/>
            <p:cNvSpPr/>
            <p:nvPr/>
          </p:nvSpPr>
          <p:spPr>
            <a:xfrm flipV="1">
              <a:off x="2133" y="7151"/>
              <a:ext cx="647" cy="191"/>
            </a:xfrm>
            <a:prstGeom prst="line">
              <a:avLst/>
            </a:prstGeom>
            <a:ln w="25400" cap="flat" cmpd="sng">
              <a:solidFill>
                <a:srgbClr val="000000"/>
              </a:solidFill>
              <a:prstDash val="solid"/>
              <a:round/>
              <a:headEnd type="none" w="med" len="med"/>
              <a:tailEnd type="none" w="med" len="med"/>
            </a:ln>
          </p:spPr>
        </p:sp>
        <p:sp>
          <p:nvSpPr>
            <p:cNvPr id="26" name="Line 6"/>
            <p:cNvSpPr/>
            <p:nvPr/>
          </p:nvSpPr>
          <p:spPr>
            <a:xfrm>
              <a:off x="2133" y="6657"/>
              <a:ext cx="647" cy="494"/>
            </a:xfrm>
            <a:prstGeom prst="line">
              <a:avLst/>
            </a:prstGeom>
            <a:ln w="25400" cap="flat" cmpd="sng">
              <a:solidFill>
                <a:srgbClr val="000000"/>
              </a:solidFill>
              <a:prstDash val="solid"/>
              <a:round/>
              <a:headEnd type="none" w="med" len="med"/>
              <a:tailEnd type="none" w="med" len="med"/>
            </a:ln>
          </p:spPr>
        </p:sp>
        <p:sp>
          <p:nvSpPr>
            <p:cNvPr id="27" name="AutoShape 9"/>
            <p:cNvSpPr/>
            <p:nvPr/>
          </p:nvSpPr>
          <p:spPr>
            <a:xfrm>
              <a:off x="2604" y="8073"/>
              <a:ext cx="1988" cy="857"/>
            </a:xfrm>
            <a:prstGeom prst="diamond">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8" name="Line 4"/>
            <p:cNvSpPr/>
            <p:nvPr/>
          </p:nvSpPr>
          <p:spPr>
            <a:xfrm flipV="1">
              <a:off x="4568" y="8442"/>
              <a:ext cx="1252" cy="18"/>
            </a:xfrm>
            <a:prstGeom prst="line">
              <a:avLst/>
            </a:prstGeom>
            <a:ln w="60325" cap="flat" cmpd="sng">
              <a:solidFill>
                <a:srgbClr val="C00000"/>
              </a:solidFill>
              <a:prstDash val="solid"/>
              <a:round/>
              <a:headEnd type="triangle" w="med" len="med"/>
              <a:tailEnd type="none" w="med" len="med"/>
            </a:ln>
          </p:spPr>
        </p:sp>
        <p:sp>
          <p:nvSpPr>
            <p:cNvPr id="29" name="Line 5"/>
            <p:cNvSpPr/>
            <p:nvPr/>
          </p:nvSpPr>
          <p:spPr>
            <a:xfrm flipH="1" flipV="1">
              <a:off x="3609" y="7473"/>
              <a:ext cx="3" cy="600"/>
            </a:xfrm>
            <a:prstGeom prst="line">
              <a:avLst/>
            </a:prstGeom>
            <a:ln w="25400" cap="flat" cmpd="sng">
              <a:solidFill>
                <a:srgbClr val="000000"/>
              </a:solidFill>
              <a:prstDash val="solid"/>
              <a:round/>
              <a:headEnd type="none" w="med" len="med"/>
              <a:tailEnd type="none" w="med" len="med"/>
            </a:ln>
          </p:spPr>
        </p:sp>
        <p:sp>
          <p:nvSpPr>
            <p:cNvPr id="30" name="Text Box 39"/>
            <p:cNvSpPr txBox="1"/>
            <p:nvPr/>
          </p:nvSpPr>
          <p:spPr>
            <a:xfrm>
              <a:off x="3713" y="7483"/>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1(0,3)</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1" name="Text Box 39"/>
            <p:cNvSpPr txBox="1"/>
            <p:nvPr/>
          </p:nvSpPr>
          <p:spPr>
            <a:xfrm>
              <a:off x="4323" y="8574"/>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n(1,1)</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2" name="Text Box 39"/>
            <p:cNvSpPr txBox="1"/>
            <p:nvPr/>
          </p:nvSpPr>
          <p:spPr>
            <a:xfrm>
              <a:off x="10339" y="7443"/>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m(1,6)</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3" name="Text Box 39"/>
            <p:cNvSpPr txBox="1"/>
            <p:nvPr/>
          </p:nvSpPr>
          <p:spPr>
            <a:xfrm>
              <a:off x="7887" y="7984"/>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n(0,90)</a:t>
              </a:r>
              <a:endParaRPr lang="zh-CN" altLang="en-US" sz="2000" dirty="0">
                <a:solidFill>
                  <a:srgbClr val="0033CC"/>
                </a:solidFill>
                <a:latin typeface="宋体" panose="02010600030101010101" pitchFamily="2" charset="-122"/>
                <a:ea typeface="宋体" panose="02010600030101010101" pitchFamily="2" charset="-122"/>
              </a:endParaRPr>
            </a:p>
          </p:txBody>
        </p:sp>
      </p:grpSp>
      <p:sp>
        <p:nvSpPr>
          <p:cNvPr id="59395" name="矩形 4"/>
          <p:cNvSpPr/>
          <p:nvPr/>
        </p:nvSpPr>
        <p:spPr>
          <a:xfrm>
            <a:off x="530543" y="881063"/>
            <a:ext cx="197231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en-US" altLang="x-none" sz="2800" dirty="0">
                <a:solidFill>
                  <a:srgbClr val="0033CC"/>
                </a:solidFill>
                <a:latin typeface="黑体" panose="02010609060101010101" pitchFamily="1" charset="-122"/>
                <a:ea typeface="黑体" panose="02010609060101010101" pitchFamily="1" charset="-122"/>
                <a:cs typeface="+mn-ea"/>
              </a:rPr>
              <a:t>参与约束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9"/>
          <p:cNvSpPr txBox="1"/>
          <p:nvPr/>
        </p:nvSpPr>
        <p:spPr>
          <a:xfrm>
            <a:off x="652463" y="1514475"/>
            <a:ext cx="8229600" cy="1017588"/>
          </a:xfrm>
          <a:prstGeom prst="rect">
            <a:avLst/>
          </a:prstGeom>
          <a:noFill/>
          <a:ln w="9525">
            <a:noFill/>
          </a:ln>
        </p:spPr>
        <p:txBody>
          <a:bodyPr anchor="t">
            <a:spAutoFit/>
          </a:bodyPr>
          <a:lstStyle/>
          <a:p>
            <a:pPr lvl="0" indent="0">
              <a:lnSpc>
                <a:spcPct val="125000"/>
              </a:lnSpc>
              <a:spcBef>
                <a:spcPts val="300"/>
              </a:spcBef>
              <a:buNone/>
            </a:pPr>
            <a:r>
              <a:rPr lang="zh-CN" altLang="en-US" sz="2600" dirty="0">
                <a:solidFill>
                  <a:schemeClr val="accent2"/>
                </a:solidFill>
                <a:latin typeface="Arial" panose="020B0604020202020204" pitchFamily="34" charset="0"/>
                <a:ea typeface="楷体_GB2312" pitchFamily="1" charset="-122"/>
              </a:rPr>
              <a:t>     </a:t>
            </a:r>
            <a:r>
              <a:rPr lang="en-US" altLang="x-none" sz="2600" dirty="0">
                <a:solidFill>
                  <a:schemeClr val="accent2"/>
                </a:solidFill>
                <a:latin typeface="Arial" panose="020B0604020202020204" pitchFamily="34" charset="0"/>
                <a:ea typeface="楷体_GB2312" pitchFamily="1" charset="-122"/>
              </a:rPr>
              <a:t> </a:t>
            </a:r>
            <a:r>
              <a:rPr lang="zh-CN" altLang="en-US" sz="2400" dirty="0">
                <a:latin typeface="华文楷体" panose="02010600040101010101" pitchFamily="2" charset="-122"/>
                <a:ea typeface="宋体" panose="02010600030101010101" pitchFamily="2" charset="-122"/>
              </a:rPr>
              <a:t>前面所涉及的实体型，均基于这种假设：总有一个属性是键。然而，实际情况中，并不总是如此。</a:t>
            </a:r>
            <a:endParaRPr lang="zh-CN" altLang="en-US" sz="2400" dirty="0">
              <a:latin typeface="华文楷体" panose="02010600040101010101" pitchFamily="2" charset="-122"/>
              <a:ea typeface="宋体" panose="02010600030101010101" pitchFamily="2" charset="-122"/>
            </a:endParaRPr>
          </a:p>
        </p:txBody>
      </p:sp>
      <p:sp>
        <p:nvSpPr>
          <p:cNvPr id="63492" name="Text Box 10"/>
          <p:cNvSpPr txBox="1"/>
          <p:nvPr/>
        </p:nvSpPr>
        <p:spPr>
          <a:xfrm>
            <a:off x="746125" y="2625725"/>
            <a:ext cx="8078788" cy="1052513"/>
          </a:xfrm>
          <a:prstGeom prst="rect">
            <a:avLst/>
          </a:prstGeom>
          <a:noFill/>
          <a:ln w="9525">
            <a:noFill/>
          </a:ln>
        </p:spPr>
        <p:txBody>
          <a:bodyPr anchor="t">
            <a:spAutoFit/>
          </a:bodyPr>
          <a:lstStyle/>
          <a:p>
            <a:pPr lvl="0" indent="0">
              <a:lnSpc>
                <a:spcPct val="120000"/>
              </a:lnSpc>
              <a:spcBef>
                <a:spcPts val="600"/>
              </a:spcBef>
              <a:buFont typeface="Wingdings" panose="05000000000000000000" pitchFamily="2" charset="2"/>
              <a:buChar char="p"/>
            </a:pPr>
            <a:r>
              <a:rPr lang="zh-CN" altLang="en-US" sz="2800" u="sng" dirty="0">
                <a:solidFill>
                  <a:srgbClr val="FF0000"/>
                </a:solidFill>
                <a:latin typeface="华文楷体" panose="02010600040101010101" pitchFamily="2" charset="-122"/>
                <a:ea typeface="宋体" panose="02010600030101010101" pitchFamily="2" charset="-122"/>
              </a:rPr>
              <a:t> 概念：</a:t>
            </a:r>
            <a:r>
              <a:rPr lang="zh-CN" altLang="en-US" sz="2400" dirty="0">
                <a:latin typeface="楷体" panose="02010609060101010101" pitchFamily="1" charset="-122"/>
                <a:ea typeface="楷体" panose="02010609060101010101" pitchFamily="1" charset="-122"/>
              </a:rPr>
              <a:t>没有键属性的实体型称为弱实体型。对应的，存在键属性的实体型称为强实体型。</a:t>
            </a:r>
            <a:endParaRPr lang="zh-CN" altLang="en-US" sz="2400" dirty="0">
              <a:latin typeface="楷体" panose="02010609060101010101" pitchFamily="1" charset="-122"/>
              <a:ea typeface="楷体" panose="02010609060101010101" pitchFamily="1" charset="-122"/>
            </a:endParaRPr>
          </a:p>
        </p:txBody>
      </p:sp>
      <p:sp>
        <p:nvSpPr>
          <p:cNvPr id="63494" name="Text Box 6"/>
          <p:cNvSpPr txBox="1"/>
          <p:nvPr/>
        </p:nvSpPr>
        <p:spPr>
          <a:xfrm>
            <a:off x="665163" y="3622675"/>
            <a:ext cx="8159750" cy="2246313"/>
          </a:xfrm>
          <a:prstGeom prst="rect">
            <a:avLst/>
          </a:prstGeom>
          <a:noFill/>
          <a:ln w="9525">
            <a:noFill/>
          </a:ln>
        </p:spPr>
        <p:txBody>
          <a:bodyPr anchor="t">
            <a:spAutoFit/>
          </a:bodyPr>
          <a:lstStyle/>
          <a:p>
            <a:pPr lvl="0" indent="0">
              <a:spcBef>
                <a:spcPct val="50000"/>
              </a:spcBef>
              <a:buFont typeface="Wingdings" panose="05000000000000000000" pitchFamily="2" charset="2"/>
              <a:buChar char="Ø"/>
            </a:pPr>
            <a:r>
              <a:rPr lang="zh-CN" altLang="en-US" sz="2600" dirty="0">
                <a:solidFill>
                  <a:srgbClr val="FF0000"/>
                </a:solidFill>
                <a:latin typeface="宋体" panose="02010600030101010101" pitchFamily="2" charset="-122"/>
                <a:ea typeface="宋体" panose="02010600030101010101" pitchFamily="2" charset="-122"/>
              </a:rPr>
              <a:t> 强实体</a:t>
            </a:r>
            <a:r>
              <a:rPr lang="en-US" altLang="x-none" sz="2600" dirty="0">
                <a:solidFill>
                  <a:srgbClr val="FF0000"/>
                </a:solidFill>
                <a:latin typeface="宋体" panose="02010600030101010101" pitchFamily="2" charset="-122"/>
                <a:ea typeface="宋体" panose="02010600030101010101" pitchFamily="2" charset="-122"/>
              </a:rPr>
              <a:t>(</a:t>
            </a:r>
            <a:r>
              <a:rPr lang="zh-CN" altLang="en-US" sz="2600" dirty="0">
                <a:solidFill>
                  <a:srgbClr val="FF0000"/>
                </a:solidFill>
                <a:latin typeface="宋体" panose="02010600030101010101" pitchFamily="2" charset="-122"/>
                <a:ea typeface="宋体" panose="02010600030101010101" pitchFamily="2" charset="-122"/>
              </a:rPr>
              <a:t>也称为强实体集</a:t>
            </a:r>
            <a:r>
              <a:rPr lang="en-US" altLang="x-none" sz="2600" dirty="0">
                <a:solidFill>
                  <a:srgbClr val="FF0000"/>
                </a:solidFill>
                <a:latin typeface="宋体" panose="02010600030101010101" pitchFamily="2" charset="-122"/>
                <a:ea typeface="宋体" panose="02010600030101010101" pitchFamily="2" charset="-122"/>
              </a:rPr>
              <a:t>)</a:t>
            </a:r>
            <a:r>
              <a:rPr lang="zh-CN" altLang="en-US" sz="2600" dirty="0">
                <a:solidFill>
                  <a:srgbClr val="FF0000"/>
                </a:solidFill>
                <a:latin typeface="宋体" panose="02010600030101010101" pitchFamily="2" charset="-122"/>
                <a:ea typeface="宋体" panose="02010600030101010101" pitchFamily="2" charset="-122"/>
              </a:rPr>
              <a:t> ：</a:t>
            </a:r>
            <a:r>
              <a:rPr lang="zh-CN" altLang="en-US" sz="2400" dirty="0">
                <a:latin typeface="楷体" panose="02010609060101010101" pitchFamily="1" charset="-122"/>
                <a:ea typeface="楷体" panose="02010609060101010101" pitchFamily="1" charset="-122"/>
              </a:rPr>
              <a:t>也称为父实体、主实体或同级实体。特点：每个实例都能被实体的主键唯一标识。</a:t>
            </a:r>
            <a:endParaRPr lang="en-US" altLang="x-none" sz="2400" dirty="0">
              <a:latin typeface="楷体" panose="02010609060101010101" pitchFamily="1" charset="-122"/>
              <a:ea typeface="楷体" panose="02010609060101010101" pitchFamily="1" charset="-122"/>
            </a:endParaRPr>
          </a:p>
          <a:p>
            <a:pPr lvl="0" indent="0">
              <a:spcBef>
                <a:spcPts val="600"/>
              </a:spcBef>
              <a:buFont typeface="Wingdings" panose="05000000000000000000" pitchFamily="2" charset="2"/>
              <a:buChar char="Ø"/>
            </a:pPr>
            <a:r>
              <a:rPr lang="zh-CN" altLang="en-US" sz="2600" dirty="0">
                <a:solidFill>
                  <a:srgbClr val="FF0000"/>
                </a:solidFill>
                <a:latin typeface="宋体" panose="02010600030101010101" pitchFamily="2" charset="-122"/>
                <a:ea typeface="宋体" panose="02010600030101010101" pitchFamily="2" charset="-122"/>
              </a:rPr>
              <a:t>弱实体（也称为弱实体集）：</a:t>
            </a:r>
            <a:r>
              <a:rPr lang="zh-CN" altLang="en-US" sz="2400" dirty="0">
                <a:latin typeface="楷体" panose="02010609060101010101" pitchFamily="1" charset="-122"/>
                <a:ea typeface="楷体" panose="02010609060101010101" pitchFamily="1" charset="-122"/>
              </a:rPr>
              <a:t>依赖于其他实体而存在的实体。特点：每个实例不能用该实体的属性唯一标识。</a:t>
            </a:r>
            <a:endParaRPr lang="zh-CN" altLang="en-US" sz="2400" dirty="0">
              <a:latin typeface="楷体" panose="02010609060101010101" pitchFamily="1" charset="-122"/>
              <a:ea typeface="楷体" panose="02010609060101010101" pitchFamily="1" charset="-122"/>
            </a:endParaRPr>
          </a:p>
        </p:txBody>
      </p:sp>
      <p:sp>
        <p:nvSpPr>
          <p:cNvPr id="59395" name="矩形 4"/>
          <p:cNvSpPr/>
          <p:nvPr/>
        </p:nvSpPr>
        <p:spPr>
          <a:xfrm>
            <a:off x="557213" y="881063"/>
            <a:ext cx="2329815"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cs typeface="+mn-ea"/>
              </a:rPr>
              <a:t>弱实体</a:t>
            </a:r>
            <a:r>
              <a:rPr lang="en-US" altLang="x-none" sz="2800" dirty="0">
                <a:solidFill>
                  <a:srgbClr val="0033CC"/>
                </a:solidFill>
                <a:latin typeface="黑体" panose="02010609060101010101" pitchFamily="1" charset="-122"/>
                <a:ea typeface="黑体" panose="02010609060101010101" pitchFamily="1" charset="-122"/>
                <a:cs typeface="+mn-ea"/>
              </a:rPr>
              <a:t>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anim calcmode="lin" valueType="num">
                                      <p:cBhvr additive="base">
                                        <p:cTn id="7" dur="500" fill="hold"/>
                                        <p:tgtEl>
                                          <p:spTgt spid="63492"/>
                                        </p:tgtEl>
                                        <p:attrNameLst>
                                          <p:attrName>ppt_x</p:attrName>
                                        </p:attrNameLst>
                                      </p:cBhvr>
                                      <p:tavLst>
                                        <p:tav tm="0">
                                          <p:val>
                                            <p:strVal val="#ppt_x"/>
                                          </p:val>
                                        </p:tav>
                                        <p:tav tm="100000">
                                          <p:val>
                                            <p:strVal val="#ppt_x"/>
                                          </p:val>
                                        </p:tav>
                                      </p:tavLst>
                                    </p:anim>
                                    <p:anim calcmode="lin" valueType="num">
                                      <p:cBhvr additive="base">
                                        <p:cTn id="8" dur="500" fill="hold"/>
                                        <p:tgtEl>
                                          <p:spTgt spid="634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3494">
                                            <p:txEl>
                                              <p:pRg st="0" end="0"/>
                                            </p:txEl>
                                          </p:spTgt>
                                        </p:tgtEl>
                                        <p:attrNameLst>
                                          <p:attrName>style.visibility</p:attrName>
                                        </p:attrNameLst>
                                      </p:cBhvr>
                                      <p:to>
                                        <p:strVal val="visible"/>
                                      </p:to>
                                    </p:set>
                                    <p:animEffect transition="in" filter="wipe(down)">
                                      <p:cBhvr>
                                        <p:cTn id="13" dur="500"/>
                                        <p:tgtEl>
                                          <p:spTgt spid="63494">
                                            <p:txEl>
                                              <p:pRg st="0" end="0"/>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3494">
                                            <p:txEl>
                                              <p:pRg st="1" end="1"/>
                                            </p:txEl>
                                          </p:spTgt>
                                        </p:tgtEl>
                                        <p:attrNameLst>
                                          <p:attrName>style.visibility</p:attrName>
                                        </p:attrNameLst>
                                      </p:cBhvr>
                                      <p:to>
                                        <p:strVal val="visible"/>
                                      </p:to>
                                    </p:set>
                                    <p:animEffect transition="in" filter="wipe(down)">
                                      <p:cBhvr>
                                        <p:cTn id="16" dur="500"/>
                                        <p:tgtEl>
                                          <p:spTgt spid="6349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p:bldP spid="63494" grpId="0" build="allAtOnce"/>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516" name="组合 9"/>
          <p:cNvGrpSpPr/>
          <p:nvPr/>
        </p:nvGrpSpPr>
        <p:grpSpPr>
          <a:xfrm>
            <a:off x="608013" y="1416050"/>
            <a:ext cx="8197850" cy="2778125"/>
            <a:chOff x="0" y="0"/>
            <a:chExt cx="8197850" cy="2778346"/>
          </a:xfrm>
        </p:grpSpPr>
        <p:sp>
          <p:nvSpPr>
            <p:cNvPr id="66564" name="Rectangle 3"/>
            <p:cNvSpPr txBox="1"/>
            <p:nvPr/>
          </p:nvSpPr>
          <p:spPr>
            <a:xfrm>
              <a:off x="0" y="577896"/>
              <a:ext cx="8197850" cy="2200450"/>
            </a:xfrm>
            <a:prstGeom prst="rect">
              <a:avLst/>
            </a:prstGeom>
            <a:noFill/>
            <a:ln w="9525">
              <a:noFill/>
            </a:ln>
          </p:spPr>
          <p:txBody>
            <a:bodyPr anchor="t"/>
            <a:lstStyle/>
            <a:p>
              <a:pPr marL="342900" lvl="0" indent="-342900">
                <a:lnSpc>
                  <a:spcPct val="12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例如：</a:t>
              </a:r>
              <a:r>
                <a:rPr lang="zh-CN" altLang="en-US" sz="2200" dirty="0">
                  <a:latin typeface="楷体" panose="02010609060101010101" pitchFamily="1" charset="-122"/>
                  <a:ea typeface="楷体" panose="02010609060101010101" pitchFamily="1" charset="-122"/>
                </a:rPr>
                <a:t>大学为教职工子女购买的儿童人身安全保险，受益人实体</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儿童</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是不属于大学的，他们必须通过教职工实体来识别。</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例如：</a:t>
              </a:r>
              <a:r>
                <a:rPr lang="zh-CN" altLang="en-US" sz="2200" dirty="0">
                  <a:latin typeface="楷体" panose="02010609060101010101" pitchFamily="1" charset="-122"/>
                  <a:ea typeface="楷体" panose="02010609060101010101" pitchFamily="1" charset="-122"/>
                </a:rPr>
                <a:t>一名学生可能有多个监护人，监护人必须通过学生实体来识别。</a:t>
              </a:r>
              <a:endParaRPr lang="zh-CN" altLang="en-US" sz="2200" dirty="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例如：</a:t>
              </a:r>
              <a:r>
                <a:rPr lang="zh-CN" altLang="en-US" sz="2200" dirty="0">
                  <a:latin typeface="楷体" panose="02010609060101010101" pitchFamily="1" charset="-122"/>
                  <a:ea typeface="楷体" panose="02010609060101010101" pitchFamily="1" charset="-122"/>
                </a:rPr>
                <a:t>一栋教学楼中的房间也是弱实体。不通过教学楼的键</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楼号</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是无法唯一确定某个房间的</a:t>
              </a:r>
              <a:r>
                <a:rPr lang="en-US" altLang="x-none"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例如</a:t>
              </a:r>
              <a:r>
                <a:rPr lang="en-US" altLang="x-none" sz="2400" dirty="0">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在一个利用传感器采集数据的系统中</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可能存在若干个采集区域</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如果传感器的编号或者命名只是在自身所在的区域范围之内，而在全局范围内不唯一。</a:t>
              </a:r>
              <a:endParaRPr lang="en-US" altLang="x-none" sz="2200" dirty="0">
                <a:latin typeface="楷体" panose="02010609060101010101" pitchFamily="1" charset="-122"/>
                <a:ea typeface="楷体" panose="02010609060101010101" pitchFamily="1" charset="-122"/>
              </a:endParaRPr>
            </a:p>
          </p:txBody>
        </p:sp>
        <p:sp>
          <p:nvSpPr>
            <p:cNvPr id="66565" name="Text Box 6"/>
            <p:cNvSpPr txBox="1"/>
            <p:nvPr/>
          </p:nvSpPr>
          <p:spPr>
            <a:xfrm>
              <a:off x="57150" y="0"/>
              <a:ext cx="4800600" cy="554082"/>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600" dirty="0">
                  <a:solidFill>
                    <a:srgbClr val="CC3300"/>
                  </a:solidFill>
                  <a:latin typeface="宋体" panose="02010600030101010101" pitchFamily="2" charset="-122"/>
                  <a:ea typeface="宋体" panose="02010600030101010101" pitchFamily="2" charset="-122"/>
                </a:rPr>
                <a:t> 弱实体的例子：</a:t>
              </a:r>
              <a:endParaRPr lang="zh-CN" altLang="en-US" sz="2600" dirty="0">
                <a:solidFill>
                  <a:srgbClr val="CC3300"/>
                </a:solidFill>
                <a:latin typeface="宋体" panose="02010600030101010101" pitchFamily="2" charset="-122"/>
                <a:ea typeface="宋体" panose="02010600030101010101" pitchFamily="2" charset="-122"/>
              </a:endParaRPr>
            </a:p>
          </p:txBody>
        </p:sp>
      </p:grpSp>
      <p:sp>
        <p:nvSpPr>
          <p:cNvPr id="59395" name="矩形 4"/>
          <p:cNvSpPr/>
          <p:nvPr/>
        </p:nvSpPr>
        <p:spPr>
          <a:xfrm>
            <a:off x="557213" y="881063"/>
            <a:ext cx="2329815"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cs typeface="+mn-ea"/>
              </a:rPr>
              <a:t>弱实体</a:t>
            </a:r>
            <a:r>
              <a:rPr lang="en-US" altLang="x-none" sz="2800" dirty="0">
                <a:solidFill>
                  <a:srgbClr val="0033CC"/>
                </a:solidFill>
                <a:latin typeface="黑体" panose="02010609060101010101" pitchFamily="1" charset="-122"/>
                <a:ea typeface="黑体" panose="02010609060101010101" pitchFamily="1" charset="-122"/>
                <a:cs typeface="+mn-ea"/>
              </a:rPr>
              <a:t>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516"/>
                                        </p:tgtEl>
                                        <p:attrNameLst>
                                          <p:attrName>style.visibility</p:attrName>
                                        </p:attrNameLst>
                                      </p:cBhvr>
                                      <p:to>
                                        <p:strVal val="visible"/>
                                      </p:to>
                                    </p:set>
                                    <p:anim calcmode="lin" valueType="num">
                                      <p:cBhvr additive="base">
                                        <p:cTn id="7" dur="500" fill="hold"/>
                                        <p:tgtEl>
                                          <p:spTgt spid="64516"/>
                                        </p:tgtEl>
                                        <p:attrNameLst>
                                          <p:attrName>ppt_x</p:attrName>
                                        </p:attrNameLst>
                                      </p:cBhvr>
                                      <p:tavLst>
                                        <p:tav tm="0">
                                          <p:val>
                                            <p:strVal val="#ppt_x"/>
                                          </p:val>
                                        </p:tav>
                                        <p:tav tm="100000">
                                          <p:val>
                                            <p:strVal val="#ppt_x"/>
                                          </p:val>
                                        </p:tav>
                                      </p:tavLst>
                                    </p:anim>
                                    <p:anim calcmode="lin" valueType="num">
                                      <p:cBhvr additive="base">
                                        <p:cTn id="8" dur="500" fill="hold"/>
                                        <p:tgtEl>
                                          <p:spTgt spid="645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11"/>
          <p:cNvSpPr txBox="1"/>
          <p:nvPr/>
        </p:nvSpPr>
        <p:spPr>
          <a:xfrm>
            <a:off x="657225" y="1458913"/>
            <a:ext cx="8047038" cy="2724150"/>
          </a:xfrm>
          <a:prstGeom prst="rect">
            <a:avLst/>
          </a:prstGeom>
          <a:noFill/>
          <a:ln w="9525">
            <a:noFill/>
          </a:ln>
        </p:spPr>
        <p:txBody>
          <a:bodyPr anchor="t">
            <a:spAutoFit/>
          </a:bodyPr>
          <a:lstStyle/>
          <a:p>
            <a:pPr lvl="0" indent="0">
              <a:lnSpc>
                <a:spcPct val="125000"/>
              </a:lnSpc>
              <a:spcBef>
                <a:spcPct val="50000"/>
              </a:spcBef>
              <a:buFont typeface="Wingdings" panose="05000000000000000000" pitchFamily="2" charset="2"/>
              <a:buChar char="p"/>
            </a:pPr>
            <a:r>
              <a:rPr lang="zh-CN" altLang="en-US" sz="2400" u="sng" dirty="0">
                <a:solidFill>
                  <a:srgbClr val="FF0000"/>
                </a:solidFill>
                <a:latin typeface="华文楷体" panose="02010600040101010101" pitchFamily="2" charset="-122"/>
                <a:ea typeface="宋体" panose="02010600030101010101" pitchFamily="2" charset="-122"/>
              </a:rPr>
              <a:t>识别实体型</a:t>
            </a:r>
            <a:r>
              <a:rPr lang="en-US" altLang="x-none" sz="2400" u="sng" dirty="0">
                <a:solidFill>
                  <a:srgbClr val="FF0000"/>
                </a:solidFill>
                <a:latin typeface="华文楷体" panose="02010600040101010101" pitchFamily="2" charset="-122"/>
                <a:ea typeface="宋体" panose="02010600030101010101" pitchFamily="2" charset="-122"/>
              </a:rPr>
              <a:t>(Identifying Owner)</a:t>
            </a:r>
            <a:r>
              <a:rPr lang="zh-CN" altLang="en-US" sz="2400" u="sng" dirty="0">
                <a:solidFill>
                  <a:srgbClr val="FF0000"/>
                </a:solidFill>
                <a:latin typeface="华文楷体" panose="02010600040101010101" pitchFamily="2" charset="-122"/>
                <a:ea typeface="宋体" panose="02010600030101010101" pitchFamily="2" charset="-122"/>
              </a:rPr>
              <a:t>与识别联系</a:t>
            </a:r>
            <a:r>
              <a:rPr lang="en-US" altLang="x-none" sz="2400" u="sng" dirty="0">
                <a:solidFill>
                  <a:srgbClr val="FF0000"/>
                </a:solidFill>
                <a:latin typeface="华文楷体" panose="02010600040101010101" pitchFamily="2" charset="-122"/>
                <a:ea typeface="宋体" panose="02010600030101010101" pitchFamily="2" charset="-122"/>
              </a:rPr>
              <a:t>(Identifying Relationship) </a:t>
            </a:r>
            <a:r>
              <a:rPr lang="zh-CN" altLang="en-US" sz="2400" u="sng" dirty="0">
                <a:solidFill>
                  <a:srgbClr val="FF0000"/>
                </a:solidFill>
                <a:latin typeface="华文楷体" panose="02010600040101010101" pitchFamily="2" charset="-122"/>
                <a:ea typeface="宋体" panose="02010600030101010101" pitchFamily="2" charset="-122"/>
              </a:rPr>
              <a:t>：</a:t>
            </a:r>
            <a:r>
              <a:rPr lang="zh-CN" altLang="en-US" sz="2300" dirty="0">
                <a:latin typeface="楷体" panose="02010609060101010101" pitchFamily="1" charset="-122"/>
                <a:ea typeface="楷体" panose="02010609060101010101" pitchFamily="1" charset="-122"/>
              </a:rPr>
              <a:t>由于弱实体型的不同实体的属性值可能完全相同，难以区别。为此，弱实体型需要与一般的实体型相关联。假如联系型</a:t>
            </a:r>
            <a:r>
              <a:rPr lang="en-US" altLang="x-none" sz="2300" dirty="0">
                <a:latin typeface="楷体" panose="02010609060101010101" pitchFamily="1" charset="-122"/>
                <a:ea typeface="楷体" panose="02010609060101010101" pitchFamily="1" charset="-122"/>
              </a:rPr>
              <a:t>R</a:t>
            </a:r>
            <a:r>
              <a:rPr lang="zh-CN" altLang="en-US" sz="2300" dirty="0">
                <a:latin typeface="楷体" panose="02010609060101010101" pitchFamily="1" charset="-122"/>
                <a:ea typeface="楷体" panose="02010609060101010101" pitchFamily="1" charset="-122"/>
              </a:rPr>
              <a:t>关联弱实体型</a:t>
            </a:r>
            <a:r>
              <a:rPr lang="en-US" altLang="x-none" sz="2300" dirty="0">
                <a:latin typeface="楷体" panose="02010609060101010101" pitchFamily="1" charset="-122"/>
                <a:ea typeface="楷体" panose="02010609060101010101" pitchFamily="1" charset="-122"/>
              </a:rPr>
              <a:t>A</a:t>
            </a:r>
            <a:r>
              <a:rPr lang="zh-CN" altLang="en-US" sz="2300" dirty="0">
                <a:latin typeface="楷体" panose="02010609060101010101" pitchFamily="1" charset="-122"/>
                <a:ea typeface="楷体" panose="02010609060101010101" pitchFamily="1" charset="-122"/>
              </a:rPr>
              <a:t>和一般实体型</a:t>
            </a:r>
            <a:r>
              <a:rPr lang="en-US" altLang="x-none" sz="2300" dirty="0">
                <a:latin typeface="楷体" panose="02010609060101010101" pitchFamily="1" charset="-122"/>
                <a:ea typeface="楷体" panose="02010609060101010101" pitchFamily="1" charset="-122"/>
              </a:rPr>
              <a:t>B</a:t>
            </a:r>
            <a:r>
              <a:rPr lang="zh-CN" altLang="en-US" sz="2300" dirty="0">
                <a:latin typeface="楷体" panose="02010609060101010101" pitchFamily="1" charset="-122"/>
                <a:ea typeface="楷体" panose="02010609060101010101" pitchFamily="1" charset="-122"/>
              </a:rPr>
              <a:t>，弱实体型</a:t>
            </a:r>
            <a:r>
              <a:rPr lang="en-US" altLang="x-none" sz="2300" dirty="0">
                <a:latin typeface="楷体" panose="02010609060101010101" pitchFamily="1" charset="-122"/>
                <a:ea typeface="楷体" panose="02010609060101010101" pitchFamily="1" charset="-122"/>
              </a:rPr>
              <a:t>A</a:t>
            </a:r>
            <a:r>
              <a:rPr lang="zh-CN" altLang="en-US" sz="2300" dirty="0">
                <a:latin typeface="楷体" panose="02010609060101010101" pitchFamily="1" charset="-122"/>
                <a:ea typeface="楷体" panose="02010609060101010101" pitchFamily="1" charset="-122"/>
              </a:rPr>
              <a:t>的不同实体可以通过与</a:t>
            </a:r>
            <a:r>
              <a:rPr lang="en-US" altLang="x-none" sz="2300" dirty="0">
                <a:latin typeface="楷体" panose="02010609060101010101" pitchFamily="1" charset="-122"/>
                <a:ea typeface="楷体" panose="02010609060101010101" pitchFamily="1" charset="-122"/>
              </a:rPr>
              <a:t>B</a:t>
            </a:r>
            <a:r>
              <a:rPr lang="zh-CN" altLang="en-US" sz="2300" dirty="0">
                <a:latin typeface="楷体" panose="02010609060101010101" pitchFamily="1" charset="-122"/>
                <a:ea typeface="楷体" panose="02010609060101010101" pitchFamily="1" charset="-122"/>
              </a:rPr>
              <a:t>的有关实体相结合来加以区别，则</a:t>
            </a:r>
            <a:r>
              <a:rPr lang="en-US" altLang="x-none" sz="2300" dirty="0">
                <a:latin typeface="楷体" panose="02010609060101010101" pitchFamily="1" charset="-122"/>
                <a:ea typeface="楷体" panose="02010609060101010101" pitchFamily="1" charset="-122"/>
              </a:rPr>
              <a:t>B</a:t>
            </a:r>
            <a:r>
              <a:rPr lang="zh-CN" altLang="en-US" sz="2300" dirty="0">
                <a:latin typeface="楷体" panose="02010609060101010101" pitchFamily="1" charset="-122"/>
                <a:ea typeface="楷体" panose="02010609060101010101" pitchFamily="1" charset="-122"/>
              </a:rPr>
              <a:t>称为弱实体型</a:t>
            </a:r>
            <a:r>
              <a:rPr lang="en-US" altLang="x-none" sz="2300" dirty="0">
                <a:latin typeface="楷体" panose="02010609060101010101" pitchFamily="1" charset="-122"/>
                <a:ea typeface="楷体" panose="02010609060101010101" pitchFamily="1" charset="-122"/>
              </a:rPr>
              <a:t>A</a:t>
            </a:r>
            <a:r>
              <a:rPr lang="zh-CN" altLang="en-US" sz="2300" dirty="0">
                <a:latin typeface="楷体" panose="02010609060101010101" pitchFamily="1" charset="-122"/>
                <a:ea typeface="楷体" panose="02010609060101010101" pitchFamily="1" charset="-122"/>
              </a:rPr>
              <a:t>的</a:t>
            </a:r>
            <a:r>
              <a:rPr lang="zh-CN" altLang="en-US" sz="2300" u="sng" dirty="0">
                <a:solidFill>
                  <a:srgbClr val="0033CC"/>
                </a:solidFill>
                <a:latin typeface="楷体" panose="02010609060101010101" pitchFamily="1" charset="-122"/>
                <a:ea typeface="楷体" panose="02010609060101010101" pitchFamily="1" charset="-122"/>
              </a:rPr>
              <a:t>识别实体型</a:t>
            </a:r>
            <a:r>
              <a:rPr lang="zh-CN" altLang="en-US" sz="2300" dirty="0">
                <a:latin typeface="楷体" panose="02010609060101010101" pitchFamily="1" charset="-122"/>
                <a:ea typeface="楷体" panose="02010609060101010101" pitchFamily="1" charset="-122"/>
              </a:rPr>
              <a:t>，</a:t>
            </a:r>
            <a:r>
              <a:rPr lang="en-US" altLang="x-none" sz="2300" dirty="0">
                <a:latin typeface="楷体" panose="02010609060101010101" pitchFamily="1" charset="-122"/>
                <a:ea typeface="楷体" panose="02010609060101010101" pitchFamily="1" charset="-122"/>
              </a:rPr>
              <a:t>R</a:t>
            </a:r>
            <a:r>
              <a:rPr lang="zh-CN" altLang="en-US" sz="2300" dirty="0">
                <a:latin typeface="楷体" panose="02010609060101010101" pitchFamily="1" charset="-122"/>
                <a:ea typeface="楷体" panose="02010609060101010101" pitchFamily="1" charset="-122"/>
              </a:rPr>
              <a:t>称为弱实体型</a:t>
            </a:r>
            <a:r>
              <a:rPr lang="en-US" altLang="x-none" sz="2300" dirty="0">
                <a:latin typeface="楷体" panose="02010609060101010101" pitchFamily="1" charset="-122"/>
                <a:ea typeface="楷体" panose="02010609060101010101" pitchFamily="1" charset="-122"/>
              </a:rPr>
              <a:t>A</a:t>
            </a:r>
            <a:r>
              <a:rPr lang="zh-CN" altLang="en-US" sz="2300" dirty="0">
                <a:latin typeface="楷体" panose="02010609060101010101" pitchFamily="1" charset="-122"/>
                <a:ea typeface="楷体" panose="02010609060101010101" pitchFamily="1" charset="-122"/>
              </a:rPr>
              <a:t>的</a:t>
            </a:r>
            <a:r>
              <a:rPr lang="zh-CN" altLang="en-US" sz="2300" u="sng" dirty="0">
                <a:solidFill>
                  <a:srgbClr val="0033CC"/>
                </a:solidFill>
                <a:latin typeface="楷体" panose="02010609060101010101" pitchFamily="1" charset="-122"/>
                <a:ea typeface="楷体" panose="02010609060101010101" pitchFamily="1" charset="-122"/>
              </a:rPr>
              <a:t>识别联系</a:t>
            </a:r>
            <a:r>
              <a:rPr lang="zh-CN" altLang="en-US" sz="2300" dirty="0">
                <a:latin typeface="楷体" panose="02010609060101010101" pitchFamily="1" charset="-122"/>
                <a:ea typeface="楷体" panose="02010609060101010101" pitchFamily="1" charset="-122"/>
              </a:rPr>
              <a:t>。</a:t>
            </a:r>
            <a:endParaRPr lang="zh-CN" altLang="en-US" sz="2300" dirty="0">
              <a:latin typeface="楷体" panose="02010609060101010101" pitchFamily="1" charset="-122"/>
              <a:ea typeface="楷体" panose="02010609060101010101" pitchFamily="1" charset="-122"/>
            </a:endParaRPr>
          </a:p>
        </p:txBody>
      </p:sp>
      <p:sp>
        <p:nvSpPr>
          <p:cNvPr id="68616" name="Rectangle 3"/>
          <p:cNvSpPr txBox="1"/>
          <p:nvPr/>
        </p:nvSpPr>
        <p:spPr>
          <a:xfrm>
            <a:off x="557530" y="4311015"/>
            <a:ext cx="8404225" cy="1427163"/>
          </a:xfrm>
          <a:prstGeom prst="rect">
            <a:avLst/>
          </a:prstGeom>
          <a:noFill/>
          <a:ln w="9525">
            <a:noFill/>
          </a:ln>
        </p:spPr>
        <p:txBody>
          <a:bodyPr anchor="t"/>
          <a:lstStyle/>
          <a:p>
            <a:pPr marL="342900" lvl="0" indent="-342900">
              <a:lnSpc>
                <a:spcPct val="125000"/>
              </a:lnSpc>
              <a:spcBef>
                <a:spcPts val="500"/>
              </a:spcBef>
              <a:buClr>
                <a:srgbClr val="0000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识别实体：</a:t>
            </a:r>
            <a:r>
              <a:rPr lang="zh-CN" altLang="en-US" sz="2200" dirty="0">
                <a:latin typeface="楷体" panose="02010609060101010101" pitchFamily="1" charset="-122"/>
                <a:ea typeface="楷体" panose="02010609060101010101" pitchFamily="1" charset="-122"/>
              </a:rPr>
              <a:t>例如，教师、教学楼。</a:t>
            </a:r>
            <a:endParaRPr lang="zh-CN" altLang="en-US" sz="2200" dirty="0">
              <a:latin typeface="楷体" panose="02010609060101010101" pitchFamily="1" charset="-122"/>
              <a:ea typeface="楷体" panose="02010609060101010101" pitchFamily="1" charset="-122"/>
            </a:endParaRPr>
          </a:p>
          <a:p>
            <a:pPr marL="342900" lvl="0" indent="-342900">
              <a:lnSpc>
                <a:spcPct val="125000"/>
              </a:lnSpc>
              <a:spcBef>
                <a:spcPts val="500"/>
              </a:spcBef>
              <a:buClr>
                <a:srgbClr val="0000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识别联系：</a:t>
            </a:r>
            <a:r>
              <a:rPr lang="zh-CN" altLang="en-US" sz="2200" dirty="0">
                <a:latin typeface="楷体" panose="02010609060101010101" pitchFamily="1" charset="-122"/>
                <a:ea typeface="楷体" panose="02010609060101010101" pitchFamily="1" charset="-122"/>
              </a:rPr>
              <a:t>弱实体类型和识别实体类型之间的联系，如：保险。</a:t>
            </a:r>
            <a:endParaRPr lang="zh-CN" altLang="en-US" sz="2200" dirty="0">
              <a:latin typeface="楷体" panose="02010609060101010101" pitchFamily="1" charset="-122"/>
              <a:ea typeface="楷体" panose="02010609060101010101" pitchFamily="1" charset="-122"/>
            </a:endParaRPr>
          </a:p>
        </p:txBody>
      </p:sp>
      <p:sp>
        <p:nvSpPr>
          <p:cNvPr id="59395" name="矩形 4"/>
          <p:cNvSpPr/>
          <p:nvPr/>
        </p:nvSpPr>
        <p:spPr>
          <a:xfrm>
            <a:off x="557213" y="881063"/>
            <a:ext cx="2329815"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cs typeface="+mn-ea"/>
              </a:rPr>
              <a:t>弱实体</a:t>
            </a:r>
            <a:r>
              <a:rPr lang="en-US" altLang="x-none" sz="2800" dirty="0">
                <a:solidFill>
                  <a:srgbClr val="0033CC"/>
                </a:solidFill>
                <a:latin typeface="黑体" panose="02010609060101010101" pitchFamily="1" charset="-122"/>
                <a:ea typeface="黑体" panose="02010609060101010101" pitchFamily="1" charset="-122"/>
                <a:cs typeface="+mn-ea"/>
              </a:rPr>
              <a:t>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4"/>
          <p:cNvSpPr txBox="1"/>
          <p:nvPr/>
        </p:nvSpPr>
        <p:spPr>
          <a:xfrm>
            <a:off x="609600" y="1679575"/>
            <a:ext cx="8077200" cy="858838"/>
          </a:xfrm>
          <a:prstGeom prst="rect">
            <a:avLst/>
          </a:prstGeom>
          <a:noFill/>
          <a:ln w="9525">
            <a:noFill/>
          </a:ln>
        </p:spPr>
        <p:txBody>
          <a:bodyPr anchor="t">
            <a:spAutoFit/>
          </a:bodyPr>
          <a:lstStyle/>
          <a:p>
            <a:pPr lvl="0" indent="0">
              <a:lnSpc>
                <a:spcPct val="110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识别实体与弱实体必须参与的是</a:t>
            </a:r>
            <a:r>
              <a:rPr lang="en-US" altLang="x-none" sz="2200" dirty="0">
                <a:latin typeface="楷体" panose="02010609060101010101" pitchFamily="1" charset="-122"/>
                <a:ea typeface="楷体" panose="02010609060101010101" pitchFamily="1" charset="-122"/>
              </a:rPr>
              <a:t>1:n</a:t>
            </a:r>
            <a:r>
              <a:rPr lang="zh-CN" altLang="en-US" sz="2200" dirty="0">
                <a:latin typeface="楷体" panose="02010609060101010101" pitchFamily="1" charset="-122"/>
                <a:ea typeface="楷体" panose="02010609060101010101" pitchFamily="1" charset="-122"/>
              </a:rPr>
              <a:t>联系，该联系即为该弱实体的识别联系。</a:t>
            </a:r>
            <a:endParaRPr lang="zh-CN" altLang="en-US" sz="2200" dirty="0">
              <a:latin typeface="楷体" panose="02010609060101010101" pitchFamily="1" charset="-122"/>
              <a:ea typeface="楷体" panose="02010609060101010101" pitchFamily="1" charset="-122"/>
            </a:endParaRPr>
          </a:p>
        </p:txBody>
      </p:sp>
      <p:sp>
        <p:nvSpPr>
          <p:cNvPr id="66563" name="Text Box 5"/>
          <p:cNvSpPr txBox="1"/>
          <p:nvPr/>
        </p:nvSpPr>
        <p:spPr>
          <a:xfrm>
            <a:off x="1143000" y="2435225"/>
            <a:ext cx="6308725" cy="484188"/>
          </a:xfrm>
          <a:prstGeom prst="rect">
            <a:avLst/>
          </a:prstGeom>
          <a:noFill/>
          <a:ln w="9525">
            <a:noFill/>
          </a:ln>
        </p:spPr>
        <p:txBody>
          <a:bodyPr anchor="t">
            <a:spAutoFit/>
          </a:bodyPr>
          <a:lstStyle/>
          <a:p>
            <a:pPr lvl="0" indent="0">
              <a:buNone/>
            </a:pPr>
            <a:r>
              <a:rPr lang="en-US" altLang="x-none" sz="2200" dirty="0">
                <a:latin typeface="楷体" panose="02010609060101010101" pitchFamily="1" charset="-122"/>
                <a:ea typeface="楷体" panose="02010609060101010101" pitchFamily="1" charset="-122"/>
              </a:rPr>
              <a:t>(2)</a:t>
            </a:r>
            <a:r>
              <a:rPr lang="zh-CN" altLang="en-US" sz="2200" dirty="0">
                <a:latin typeface="楷体" panose="02010609060101010101" pitchFamily="1" charset="-122"/>
                <a:ea typeface="楷体" panose="02010609060101010101" pitchFamily="1" charset="-122"/>
              </a:rPr>
              <a:t>弱实体型必须完全参与识别联系。</a:t>
            </a:r>
            <a:endParaRPr lang="zh-CN" altLang="en-US" sz="2200" dirty="0">
              <a:latin typeface="楷体" panose="02010609060101010101" pitchFamily="1" charset="-122"/>
              <a:ea typeface="楷体" panose="02010609060101010101" pitchFamily="1" charset="-122"/>
            </a:endParaRPr>
          </a:p>
        </p:txBody>
      </p:sp>
      <p:sp>
        <p:nvSpPr>
          <p:cNvPr id="66564" name="Text Box 6"/>
          <p:cNvSpPr txBox="1"/>
          <p:nvPr/>
        </p:nvSpPr>
        <p:spPr>
          <a:xfrm>
            <a:off x="557213" y="1188403"/>
            <a:ext cx="4800600" cy="631825"/>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600" dirty="0">
                <a:solidFill>
                  <a:srgbClr val="CC3300"/>
                </a:solidFill>
                <a:latin typeface="宋体" panose="02010600030101010101" pitchFamily="2" charset="-122"/>
                <a:ea typeface="宋体" panose="02010600030101010101" pitchFamily="2" charset="-122"/>
              </a:rPr>
              <a:t> 限制或约束：</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6565" name="Text Box 7"/>
          <p:cNvSpPr txBox="1"/>
          <p:nvPr/>
        </p:nvSpPr>
        <p:spPr>
          <a:xfrm>
            <a:off x="582930" y="2932113"/>
            <a:ext cx="8321675" cy="1198562"/>
          </a:xfrm>
          <a:prstGeom prst="rect">
            <a:avLst/>
          </a:prstGeom>
          <a:noFill/>
          <a:ln w="9525">
            <a:noFill/>
          </a:ln>
        </p:spPr>
        <p:txBody>
          <a:bodyPr anchor="t">
            <a:spAutoFit/>
          </a:bodyPr>
          <a:lstStyle/>
          <a:p>
            <a:pPr lvl="0" indent="0">
              <a:lnSpc>
                <a:spcPct val="110000"/>
              </a:lnSpc>
              <a:spcBef>
                <a:spcPts val="600"/>
              </a:spcBef>
              <a:buFont typeface="Wingdings" panose="05000000000000000000" pitchFamily="2" charset="2"/>
              <a:buChar char="p"/>
            </a:pPr>
            <a:r>
              <a:rPr lang="zh-CN" altLang="en-US" sz="2400" u="sng" dirty="0">
                <a:solidFill>
                  <a:srgbClr val="CC3300"/>
                </a:solidFill>
                <a:latin typeface="宋体" panose="02010600030101010101" pitchFamily="2" charset="-122"/>
                <a:ea typeface="宋体" panose="02010600030101010101" pitchFamily="2" charset="-122"/>
              </a:rPr>
              <a:t> 部分键</a:t>
            </a:r>
            <a:r>
              <a:rPr lang="zh-CN" altLang="en-US" sz="2400" u="sng" dirty="0">
                <a:solidFill>
                  <a:srgbClr val="007C00"/>
                </a:solidFill>
                <a:latin typeface="宋体" panose="02010600030101010101" pitchFamily="2" charset="-122"/>
                <a:ea typeface="宋体" panose="02010600030101010101" pitchFamily="2" charset="-122"/>
              </a:rPr>
              <a:t>（</a:t>
            </a:r>
            <a:r>
              <a:rPr lang="en-US" altLang="x-none" sz="2400" u="sng" dirty="0">
                <a:solidFill>
                  <a:srgbClr val="007C00"/>
                </a:solidFill>
                <a:latin typeface="宋体" panose="02010600030101010101" pitchFamily="2" charset="-122"/>
                <a:ea typeface="宋体" panose="02010600030101010101" pitchFamily="2" charset="-122"/>
              </a:rPr>
              <a:t>Partial Key</a:t>
            </a:r>
            <a:r>
              <a:rPr lang="zh-CN" altLang="en-US" sz="2400" u="sng" dirty="0">
                <a:solidFill>
                  <a:srgbClr val="007C00"/>
                </a:solidFill>
                <a:latin typeface="宋体" panose="02010600030101010101" pitchFamily="2" charset="-122"/>
                <a:ea typeface="宋体" panose="02010600030101010101" pitchFamily="2" charset="-122"/>
              </a:rPr>
              <a:t>）</a:t>
            </a:r>
            <a:r>
              <a:rPr lang="zh-CN" altLang="en-US" sz="2400" u="sng" dirty="0">
                <a:solidFill>
                  <a:srgbClr val="CC3300"/>
                </a:solidFill>
                <a:latin typeface="宋体" panose="0201060003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弱实体型必须具有一个或多个属性，使得这些属性可以与识别实体型的键结合形成相应弱实体型的键。这样的弱实体属性称为弱实体型的部分键。</a:t>
            </a:r>
            <a:endParaRPr lang="zh-CN" altLang="en-US" sz="2200" dirty="0">
              <a:latin typeface="楷体" panose="02010609060101010101" pitchFamily="1" charset="-122"/>
              <a:ea typeface="楷体" panose="02010609060101010101" pitchFamily="1" charset="-122"/>
            </a:endParaRPr>
          </a:p>
        </p:txBody>
      </p:sp>
      <p:sp>
        <p:nvSpPr>
          <p:cNvPr id="66566" name="Text Box 8"/>
          <p:cNvSpPr txBox="1"/>
          <p:nvPr/>
        </p:nvSpPr>
        <p:spPr>
          <a:xfrm>
            <a:off x="603250" y="4041775"/>
            <a:ext cx="8077200" cy="589280"/>
          </a:xfrm>
          <a:prstGeom prst="rect">
            <a:avLst/>
          </a:prstGeom>
          <a:noFill/>
          <a:ln w="9525">
            <a:noFill/>
          </a:ln>
        </p:spPr>
        <p:txBody>
          <a:bodyPr wrap="square" anchor="t">
            <a:spAutoFit/>
          </a:bodyPr>
          <a:lstStyle/>
          <a:p>
            <a:pPr lvl="0" indent="0">
              <a:spcBef>
                <a:spcPct val="50000"/>
              </a:spcBef>
              <a:buNone/>
            </a:pPr>
            <a:r>
              <a:rPr lang="zh-CN" altLang="en-US" sz="2400" dirty="0">
                <a:solidFill>
                  <a:srgbClr val="CC3300"/>
                </a:solidFill>
                <a:latin typeface="方正姚体" panose="02010601030101010101" pitchFamily="2" charset="-122"/>
                <a:ea typeface="方正姚体" panose="02010601030101010101" pitchFamily="2" charset="-122"/>
              </a:rPr>
              <a:t>图示：</a:t>
            </a:r>
            <a:r>
              <a:rPr lang="zh-CN" altLang="en-US" sz="2400" dirty="0">
                <a:latin typeface="方正姚体" panose="02010601030101010101" pitchFamily="2" charset="-122"/>
                <a:ea typeface="方正姚体" panose="02010601030101010101" pitchFamily="2" charset="-122"/>
              </a:rPr>
              <a:t>弱实体和识别联系用粗线条，部分键加虚下划线。</a:t>
            </a:r>
            <a:endParaRPr lang="zh-CN" altLang="en-US" sz="2400" dirty="0">
              <a:latin typeface="方正姚体" panose="02010601030101010101" pitchFamily="2" charset="-122"/>
              <a:ea typeface="方正姚体" panose="02010601030101010101" pitchFamily="2" charset="-122"/>
            </a:endParaRPr>
          </a:p>
        </p:txBody>
      </p:sp>
      <p:grpSp>
        <p:nvGrpSpPr>
          <p:cNvPr id="65541" name="组合 45"/>
          <p:cNvGrpSpPr/>
          <p:nvPr/>
        </p:nvGrpSpPr>
        <p:grpSpPr>
          <a:xfrm>
            <a:off x="678180" y="4752888"/>
            <a:ext cx="7932738" cy="1553297"/>
            <a:chOff x="0" y="-32898"/>
            <a:chExt cx="7932738" cy="1744223"/>
          </a:xfrm>
        </p:grpSpPr>
        <p:sp>
          <p:nvSpPr>
            <p:cNvPr id="67589" name="Freeform 2"/>
            <p:cNvSpPr/>
            <p:nvPr/>
          </p:nvSpPr>
          <p:spPr>
            <a:xfrm>
              <a:off x="0" y="0"/>
              <a:ext cx="1135063" cy="6096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solidFill>
            <a:ln w="9525" cap="flat" cmpd="sng">
              <a:solidFill>
                <a:schemeClr val="tx1"/>
              </a:solidFill>
              <a:prstDash val="solid"/>
              <a:miter/>
              <a:headEnd type="none" w="med" len="med"/>
              <a:tailEnd type="none" w="med" len="med"/>
            </a:ln>
          </p:spPr>
          <p:txBody>
            <a:bodyPr/>
            <a:lstStyle/>
            <a:p>
              <a:endParaRPr lang="zh-CN" altLang="en-US"/>
            </a:p>
          </p:txBody>
        </p:sp>
        <p:sp>
          <p:nvSpPr>
            <p:cNvPr id="67590" name="Freeform 6"/>
            <p:cNvSpPr/>
            <p:nvPr/>
          </p:nvSpPr>
          <p:spPr>
            <a:xfrm>
              <a:off x="3417888" y="1033463"/>
              <a:ext cx="1766887" cy="677862"/>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CCFFFF"/>
            </a:solidFill>
            <a:ln w="9525">
              <a:noFill/>
            </a:ln>
          </p:spPr>
          <p:txBody>
            <a:bodyPr/>
            <a:lstStyle/>
            <a:p>
              <a:endParaRPr lang="zh-CN" altLang="en-US"/>
            </a:p>
          </p:txBody>
        </p:sp>
        <p:sp>
          <p:nvSpPr>
            <p:cNvPr id="67591" name="Freeform 7"/>
            <p:cNvSpPr/>
            <p:nvPr/>
          </p:nvSpPr>
          <p:spPr>
            <a:xfrm>
              <a:off x="3417888" y="1033463"/>
              <a:ext cx="1766887" cy="677862"/>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FFCCFF"/>
            </a:solidFill>
            <a:ln w="47625" cap="flat" cmpd="sng">
              <a:solidFill>
                <a:srgbClr val="FF0000"/>
              </a:solidFill>
              <a:prstDash val="solid"/>
              <a:miter/>
              <a:headEnd type="none" w="med" len="med"/>
              <a:tailEnd type="none" w="med" len="med"/>
            </a:ln>
          </p:spPr>
          <p:txBody>
            <a:bodyPr/>
            <a:lstStyle/>
            <a:p>
              <a:endParaRPr lang="zh-CN" altLang="en-US"/>
            </a:p>
          </p:txBody>
        </p:sp>
        <p:sp>
          <p:nvSpPr>
            <p:cNvPr id="67592" name="Rectangle 8"/>
            <p:cNvSpPr/>
            <p:nvPr/>
          </p:nvSpPr>
          <p:spPr>
            <a:xfrm>
              <a:off x="3962400" y="1143000"/>
              <a:ext cx="685800" cy="414283"/>
            </a:xfrm>
            <a:prstGeom prst="rect">
              <a:avLst/>
            </a:prstGeom>
            <a:noFill/>
            <a:ln w="9525">
              <a:noFill/>
            </a:ln>
          </p:spPr>
          <p:txBody>
            <a:bodyPr lIns="0" tIns="0" rIns="0" bIns="0" anchor="t">
              <a:spAutoFit/>
            </a:bodyPr>
            <a:lstStyle/>
            <a:p>
              <a:pPr lvl="0" indent="0" algn="ctr">
                <a:lnSpc>
                  <a:spcPct val="100000"/>
                </a:lnSpc>
                <a:buNone/>
              </a:pPr>
              <a:r>
                <a:rPr lang="de-DE" altLang="en-US" sz="2400" dirty="0">
                  <a:solidFill>
                    <a:srgbClr val="000000"/>
                  </a:solidFill>
                  <a:latin typeface="宋体" panose="02010600030101010101" pitchFamily="2" charset="-122"/>
                  <a:ea typeface="宋体" panose="02010600030101010101" pitchFamily="2" charset="-122"/>
                </a:rPr>
                <a:t>保险</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67593" name="Rectangle 9"/>
            <p:cNvSpPr/>
            <p:nvPr/>
          </p:nvSpPr>
          <p:spPr>
            <a:xfrm>
              <a:off x="1600200" y="1143000"/>
              <a:ext cx="457200" cy="274638"/>
            </a:xfrm>
            <a:prstGeom prst="rect">
              <a:avLst/>
            </a:prstGeom>
            <a:noFill/>
            <a:ln w="9525">
              <a:noFill/>
            </a:ln>
          </p:spPr>
          <p:txBody>
            <a:bodyPr wrap="none" lIns="0" tIns="0" rIns="0" bIns="0" anchor="t">
              <a:spAutoFit/>
            </a:bodyPr>
            <a:lstStyle/>
            <a:p>
              <a:pPr lvl="0" indent="0"/>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33CC"/>
                </a:solidFill>
                <a:latin typeface="宋体" panose="02010600030101010101" pitchFamily="2" charset="-122"/>
                <a:ea typeface="宋体" panose="02010600030101010101" pitchFamily="2" charset="-122"/>
              </a:endParaRPr>
            </a:p>
          </p:txBody>
        </p:sp>
        <p:sp>
          <p:nvSpPr>
            <p:cNvPr id="67594" name="Rectangle 10"/>
            <p:cNvSpPr/>
            <p:nvPr/>
          </p:nvSpPr>
          <p:spPr>
            <a:xfrm>
              <a:off x="2074863" y="1160463"/>
              <a:ext cx="57150" cy="274637"/>
            </a:xfrm>
            <a:prstGeom prst="rect">
              <a:avLst/>
            </a:prstGeom>
            <a:noFill/>
            <a:ln w="9525">
              <a:noFill/>
            </a:ln>
          </p:spPr>
          <p:txBody>
            <a:bodyPr wrap="none" lIns="0" tIns="0" rIns="0" bIns="0" anchor="t">
              <a:spAutoFit/>
            </a:bodyPr>
            <a:lstStyle/>
            <a:p>
              <a:pPr lvl="0" indent="0"/>
              <a:r>
                <a:rPr lang="de-DE" altLang="en-US"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595" name="Freeform 11"/>
            <p:cNvSpPr/>
            <p:nvPr/>
          </p:nvSpPr>
          <p:spPr>
            <a:xfrm>
              <a:off x="4006850"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8" y="0"/>
                  </a:lnTo>
                  <a:lnTo>
                    <a:pt x="245" y="2"/>
                  </a:lnTo>
                  <a:lnTo>
                    <a:pt x="217" y="8"/>
                  </a:lnTo>
                  <a:lnTo>
                    <a:pt x="187" y="13"/>
                  </a:lnTo>
                  <a:lnTo>
                    <a:pt x="162" y="19"/>
                  </a:lnTo>
                  <a:lnTo>
                    <a:pt x="135" y="27"/>
                  </a:lnTo>
                  <a:lnTo>
                    <a:pt x="113" y="35"/>
                  </a:lnTo>
                  <a:lnTo>
                    <a:pt x="91" y="46"/>
                  </a:lnTo>
                  <a:lnTo>
                    <a:pt x="72" y="57"/>
                  </a:lnTo>
                  <a:lnTo>
                    <a:pt x="52" y="71"/>
                  </a:lnTo>
                  <a:lnTo>
                    <a:pt x="39" y="85"/>
                  </a:lnTo>
                  <a:lnTo>
                    <a:pt x="25" y="98"/>
                  </a:lnTo>
                  <a:lnTo>
                    <a:pt x="19" y="106"/>
                  </a:lnTo>
                  <a:lnTo>
                    <a:pt x="14" y="112"/>
                  </a:lnTo>
                  <a:lnTo>
                    <a:pt x="11" y="120"/>
                  </a:lnTo>
                  <a:lnTo>
                    <a:pt x="6" y="128"/>
                  </a:lnTo>
                  <a:lnTo>
                    <a:pt x="3" y="137"/>
                  </a:lnTo>
                  <a:lnTo>
                    <a:pt x="3" y="145"/>
                  </a:lnTo>
                  <a:lnTo>
                    <a:pt x="0" y="153"/>
                  </a:lnTo>
                  <a:lnTo>
                    <a:pt x="0" y="161"/>
                  </a:lnTo>
                  <a:lnTo>
                    <a:pt x="0" y="169"/>
                  </a:lnTo>
                  <a:lnTo>
                    <a:pt x="3" y="178"/>
                  </a:lnTo>
                  <a:lnTo>
                    <a:pt x="3" y="186"/>
                  </a:lnTo>
                  <a:lnTo>
                    <a:pt x="6" y="194"/>
                  </a:lnTo>
                  <a:lnTo>
                    <a:pt x="11" y="202"/>
                  </a:lnTo>
                  <a:lnTo>
                    <a:pt x="14" y="208"/>
                  </a:lnTo>
                  <a:lnTo>
                    <a:pt x="19" y="216"/>
                  </a:lnTo>
                  <a:lnTo>
                    <a:pt x="25" y="224"/>
                  </a:lnTo>
                  <a:lnTo>
                    <a:pt x="39" y="238"/>
                  </a:lnTo>
                  <a:lnTo>
                    <a:pt x="52" y="249"/>
                  </a:lnTo>
                  <a:lnTo>
                    <a:pt x="72" y="262"/>
                  </a:lnTo>
                  <a:lnTo>
                    <a:pt x="91" y="273"/>
                  </a:lnTo>
                  <a:lnTo>
                    <a:pt x="113" y="284"/>
                  </a:lnTo>
                  <a:lnTo>
                    <a:pt x="135" y="293"/>
                  </a:lnTo>
                  <a:lnTo>
                    <a:pt x="162" y="301"/>
                  </a:lnTo>
                  <a:lnTo>
                    <a:pt x="187" y="306"/>
                  </a:lnTo>
                  <a:lnTo>
                    <a:pt x="217" y="312"/>
                  </a:lnTo>
                  <a:lnTo>
                    <a:pt x="245" y="317"/>
                  </a:lnTo>
                  <a:lnTo>
                    <a:pt x="278" y="320"/>
                  </a:lnTo>
                  <a:lnTo>
                    <a:pt x="308" y="320"/>
                  </a:lnTo>
                  <a:lnTo>
                    <a:pt x="341" y="320"/>
                  </a:lnTo>
                  <a:lnTo>
                    <a:pt x="371" y="317"/>
                  </a:lnTo>
                  <a:lnTo>
                    <a:pt x="401" y="312"/>
                  </a:lnTo>
                  <a:lnTo>
                    <a:pt x="429" y="306"/>
                  </a:lnTo>
                  <a:lnTo>
                    <a:pt x="456" y="301"/>
                  </a:lnTo>
                  <a:lnTo>
                    <a:pt x="481" y="293"/>
                  </a:lnTo>
                  <a:lnTo>
                    <a:pt x="506" y="284"/>
                  </a:lnTo>
                  <a:lnTo>
                    <a:pt x="528" y="273"/>
                  </a:lnTo>
                  <a:lnTo>
                    <a:pt x="547" y="262"/>
                  </a:lnTo>
                  <a:lnTo>
                    <a:pt x="566" y="249"/>
                  </a:lnTo>
                  <a:lnTo>
                    <a:pt x="583" y="238"/>
                  </a:lnTo>
                  <a:lnTo>
                    <a:pt x="594" y="224"/>
                  </a:lnTo>
                  <a:lnTo>
                    <a:pt x="599" y="216"/>
                  </a:lnTo>
                  <a:lnTo>
                    <a:pt x="605" y="208"/>
                  </a:lnTo>
                  <a:lnTo>
                    <a:pt x="607" y="202"/>
                  </a:lnTo>
                  <a:lnTo>
                    <a:pt x="613" y="194"/>
                  </a:lnTo>
                  <a:lnTo>
                    <a:pt x="616" y="186"/>
                  </a:lnTo>
                  <a:lnTo>
                    <a:pt x="616" y="178"/>
                  </a:lnTo>
                  <a:lnTo>
                    <a:pt x="618" y="169"/>
                  </a:lnTo>
                  <a:lnTo>
                    <a:pt x="618" y="161"/>
                  </a:lnTo>
                  <a:lnTo>
                    <a:pt x="618" y="153"/>
                  </a:lnTo>
                  <a:lnTo>
                    <a:pt x="616" y="145"/>
                  </a:lnTo>
                  <a:lnTo>
                    <a:pt x="616" y="137"/>
                  </a:lnTo>
                  <a:lnTo>
                    <a:pt x="613" y="128"/>
                  </a:lnTo>
                  <a:lnTo>
                    <a:pt x="607" y="120"/>
                  </a:lnTo>
                  <a:lnTo>
                    <a:pt x="605" y="112"/>
                  </a:lnTo>
                  <a:lnTo>
                    <a:pt x="599" y="106"/>
                  </a:lnTo>
                  <a:lnTo>
                    <a:pt x="594" y="98"/>
                  </a:lnTo>
                  <a:lnTo>
                    <a:pt x="583" y="85"/>
                  </a:lnTo>
                  <a:lnTo>
                    <a:pt x="566" y="71"/>
                  </a:lnTo>
                  <a:lnTo>
                    <a:pt x="547" y="57"/>
                  </a:lnTo>
                  <a:lnTo>
                    <a:pt x="528" y="46"/>
                  </a:lnTo>
                  <a:lnTo>
                    <a:pt x="506" y="35"/>
                  </a:lnTo>
                  <a:lnTo>
                    <a:pt x="481" y="27"/>
                  </a:lnTo>
                  <a:lnTo>
                    <a:pt x="456" y="19"/>
                  </a:lnTo>
                  <a:lnTo>
                    <a:pt x="429" y="13"/>
                  </a:lnTo>
                  <a:lnTo>
                    <a:pt x="401" y="8"/>
                  </a:lnTo>
                  <a:lnTo>
                    <a:pt x="371" y="2"/>
                  </a:lnTo>
                  <a:lnTo>
                    <a:pt x="341" y="0"/>
                  </a:lnTo>
                  <a:lnTo>
                    <a:pt x="308" y="0"/>
                  </a:lnTo>
                  <a:close/>
                </a:path>
              </a:pathLst>
            </a:custGeom>
            <a:solidFill>
              <a:srgbClr val="00CCFF"/>
            </a:solidFill>
            <a:ln w="9525">
              <a:noFill/>
            </a:ln>
          </p:spPr>
          <p:txBody>
            <a:bodyPr/>
            <a:lstStyle/>
            <a:p>
              <a:endParaRPr lang="zh-CN" altLang="en-US"/>
            </a:p>
          </p:txBody>
        </p:sp>
        <p:sp>
          <p:nvSpPr>
            <p:cNvPr id="67596" name="Freeform 12"/>
            <p:cNvSpPr/>
            <p:nvPr/>
          </p:nvSpPr>
          <p:spPr>
            <a:xfrm>
              <a:off x="4006850"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8" y="0"/>
                  </a:lnTo>
                  <a:lnTo>
                    <a:pt x="245" y="2"/>
                  </a:lnTo>
                  <a:lnTo>
                    <a:pt x="217" y="8"/>
                  </a:lnTo>
                  <a:lnTo>
                    <a:pt x="187" y="13"/>
                  </a:lnTo>
                  <a:lnTo>
                    <a:pt x="162" y="19"/>
                  </a:lnTo>
                  <a:lnTo>
                    <a:pt x="135" y="27"/>
                  </a:lnTo>
                  <a:lnTo>
                    <a:pt x="113" y="35"/>
                  </a:lnTo>
                  <a:lnTo>
                    <a:pt x="91" y="46"/>
                  </a:lnTo>
                  <a:lnTo>
                    <a:pt x="72" y="57"/>
                  </a:lnTo>
                  <a:lnTo>
                    <a:pt x="52" y="71"/>
                  </a:lnTo>
                  <a:lnTo>
                    <a:pt x="39" y="85"/>
                  </a:lnTo>
                  <a:lnTo>
                    <a:pt x="25" y="98"/>
                  </a:lnTo>
                  <a:lnTo>
                    <a:pt x="19" y="106"/>
                  </a:lnTo>
                  <a:lnTo>
                    <a:pt x="14" y="112"/>
                  </a:lnTo>
                  <a:lnTo>
                    <a:pt x="11" y="120"/>
                  </a:lnTo>
                  <a:lnTo>
                    <a:pt x="6" y="128"/>
                  </a:lnTo>
                  <a:lnTo>
                    <a:pt x="3" y="137"/>
                  </a:lnTo>
                  <a:lnTo>
                    <a:pt x="3" y="145"/>
                  </a:lnTo>
                  <a:lnTo>
                    <a:pt x="0" y="153"/>
                  </a:lnTo>
                  <a:lnTo>
                    <a:pt x="0" y="161"/>
                  </a:lnTo>
                  <a:lnTo>
                    <a:pt x="0" y="169"/>
                  </a:lnTo>
                  <a:lnTo>
                    <a:pt x="3" y="178"/>
                  </a:lnTo>
                  <a:lnTo>
                    <a:pt x="3" y="186"/>
                  </a:lnTo>
                  <a:lnTo>
                    <a:pt x="6" y="194"/>
                  </a:lnTo>
                  <a:lnTo>
                    <a:pt x="11" y="202"/>
                  </a:lnTo>
                  <a:lnTo>
                    <a:pt x="14" y="208"/>
                  </a:lnTo>
                  <a:lnTo>
                    <a:pt x="19" y="216"/>
                  </a:lnTo>
                  <a:lnTo>
                    <a:pt x="25" y="224"/>
                  </a:lnTo>
                  <a:lnTo>
                    <a:pt x="39" y="238"/>
                  </a:lnTo>
                  <a:lnTo>
                    <a:pt x="52" y="249"/>
                  </a:lnTo>
                  <a:lnTo>
                    <a:pt x="72" y="262"/>
                  </a:lnTo>
                  <a:lnTo>
                    <a:pt x="91" y="273"/>
                  </a:lnTo>
                  <a:lnTo>
                    <a:pt x="113" y="284"/>
                  </a:lnTo>
                  <a:lnTo>
                    <a:pt x="135" y="293"/>
                  </a:lnTo>
                  <a:lnTo>
                    <a:pt x="162" y="301"/>
                  </a:lnTo>
                  <a:lnTo>
                    <a:pt x="187" y="306"/>
                  </a:lnTo>
                  <a:lnTo>
                    <a:pt x="217" y="312"/>
                  </a:lnTo>
                  <a:lnTo>
                    <a:pt x="245" y="317"/>
                  </a:lnTo>
                  <a:lnTo>
                    <a:pt x="278" y="320"/>
                  </a:lnTo>
                  <a:lnTo>
                    <a:pt x="308" y="320"/>
                  </a:lnTo>
                  <a:lnTo>
                    <a:pt x="341" y="320"/>
                  </a:lnTo>
                  <a:lnTo>
                    <a:pt x="371" y="317"/>
                  </a:lnTo>
                  <a:lnTo>
                    <a:pt x="401" y="312"/>
                  </a:lnTo>
                  <a:lnTo>
                    <a:pt x="429" y="306"/>
                  </a:lnTo>
                  <a:lnTo>
                    <a:pt x="456" y="301"/>
                  </a:lnTo>
                  <a:lnTo>
                    <a:pt x="481" y="293"/>
                  </a:lnTo>
                  <a:lnTo>
                    <a:pt x="506" y="284"/>
                  </a:lnTo>
                  <a:lnTo>
                    <a:pt x="528" y="273"/>
                  </a:lnTo>
                  <a:lnTo>
                    <a:pt x="547" y="262"/>
                  </a:lnTo>
                  <a:lnTo>
                    <a:pt x="566" y="249"/>
                  </a:lnTo>
                  <a:lnTo>
                    <a:pt x="583" y="238"/>
                  </a:lnTo>
                  <a:lnTo>
                    <a:pt x="594" y="224"/>
                  </a:lnTo>
                  <a:lnTo>
                    <a:pt x="599" y="216"/>
                  </a:lnTo>
                  <a:lnTo>
                    <a:pt x="605" y="208"/>
                  </a:lnTo>
                  <a:lnTo>
                    <a:pt x="607" y="202"/>
                  </a:lnTo>
                  <a:lnTo>
                    <a:pt x="613" y="194"/>
                  </a:lnTo>
                  <a:lnTo>
                    <a:pt x="616" y="186"/>
                  </a:lnTo>
                  <a:lnTo>
                    <a:pt x="616" y="178"/>
                  </a:lnTo>
                  <a:lnTo>
                    <a:pt x="618" y="169"/>
                  </a:lnTo>
                  <a:lnTo>
                    <a:pt x="618" y="161"/>
                  </a:lnTo>
                  <a:lnTo>
                    <a:pt x="618" y="153"/>
                  </a:lnTo>
                  <a:lnTo>
                    <a:pt x="616" y="145"/>
                  </a:lnTo>
                  <a:lnTo>
                    <a:pt x="616" y="137"/>
                  </a:lnTo>
                  <a:lnTo>
                    <a:pt x="613" y="128"/>
                  </a:lnTo>
                  <a:lnTo>
                    <a:pt x="607" y="120"/>
                  </a:lnTo>
                  <a:lnTo>
                    <a:pt x="605" y="112"/>
                  </a:lnTo>
                  <a:lnTo>
                    <a:pt x="599" y="106"/>
                  </a:lnTo>
                  <a:lnTo>
                    <a:pt x="594" y="98"/>
                  </a:lnTo>
                  <a:lnTo>
                    <a:pt x="583" y="85"/>
                  </a:lnTo>
                  <a:lnTo>
                    <a:pt x="566" y="71"/>
                  </a:lnTo>
                  <a:lnTo>
                    <a:pt x="547" y="57"/>
                  </a:lnTo>
                  <a:lnTo>
                    <a:pt x="528" y="46"/>
                  </a:lnTo>
                  <a:lnTo>
                    <a:pt x="506" y="35"/>
                  </a:lnTo>
                  <a:lnTo>
                    <a:pt x="481" y="27"/>
                  </a:lnTo>
                  <a:lnTo>
                    <a:pt x="456" y="19"/>
                  </a:lnTo>
                  <a:lnTo>
                    <a:pt x="429" y="13"/>
                  </a:lnTo>
                  <a:lnTo>
                    <a:pt x="401" y="8"/>
                  </a:lnTo>
                  <a:lnTo>
                    <a:pt x="371" y="2"/>
                  </a:lnTo>
                  <a:lnTo>
                    <a:pt x="341" y="0"/>
                  </a:lnTo>
                  <a:lnTo>
                    <a:pt x="308" y="0"/>
                  </a:lnTo>
                </a:path>
              </a:pathLst>
            </a:custGeom>
            <a:solidFill>
              <a:srgbClr val="CCFFFF"/>
            </a:solidFill>
            <a:ln w="17463" cap="flat" cmpd="sng">
              <a:solidFill>
                <a:srgbClr val="000000"/>
              </a:solidFill>
              <a:prstDash val="solid"/>
              <a:miter/>
              <a:headEnd type="none" w="med" len="med"/>
              <a:tailEnd type="none" w="med" len="med"/>
            </a:ln>
          </p:spPr>
          <p:txBody>
            <a:bodyPr/>
            <a:lstStyle/>
            <a:p>
              <a:endParaRPr lang="zh-CN" altLang="en-US"/>
            </a:p>
          </p:txBody>
        </p:sp>
        <p:sp>
          <p:nvSpPr>
            <p:cNvPr id="67597" name="Rectangle 13"/>
            <p:cNvSpPr/>
            <p:nvPr/>
          </p:nvSpPr>
          <p:spPr>
            <a:xfrm>
              <a:off x="4191000" y="16920"/>
              <a:ext cx="673100" cy="354905"/>
            </a:xfrm>
            <a:prstGeom prst="rect">
              <a:avLst/>
            </a:prstGeom>
            <a:noFill/>
            <a:ln w="9525">
              <a:noFill/>
            </a:ln>
          </p:spPr>
          <p:txBody>
            <a:bodyPr lIns="0" tIns="0" rIns="0" bIns="0" anchor="t">
              <a:spAutoFit/>
            </a:bodyPr>
            <a:lstStyle/>
            <a:p>
              <a:pPr lvl="0" indent="0" algn="ctr">
                <a:buNone/>
              </a:pPr>
              <a:r>
                <a:rPr lang="de-DE" altLang="en-US" sz="2000" dirty="0">
                  <a:solidFill>
                    <a:srgbClr val="000000"/>
                  </a:solidFill>
                  <a:latin typeface="宋体" panose="02010600030101010101" pitchFamily="2" charset="-122"/>
                  <a:ea typeface="宋体" panose="02010600030101010101" pitchFamily="2" charset="-122"/>
                </a:rPr>
                <a:t>保费</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598" name="Freeform 14"/>
            <p:cNvSpPr/>
            <p:nvPr/>
          </p:nvSpPr>
          <p:spPr>
            <a:xfrm>
              <a:off x="1455738"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close/>
                </a:path>
              </a:pathLst>
            </a:custGeom>
            <a:solidFill>
              <a:srgbClr val="FFCC00"/>
            </a:solidFill>
            <a:ln w="9525">
              <a:noFill/>
            </a:ln>
          </p:spPr>
          <p:txBody>
            <a:bodyPr/>
            <a:lstStyle/>
            <a:p>
              <a:endParaRPr lang="zh-CN" altLang="en-US"/>
            </a:p>
          </p:txBody>
        </p:sp>
        <p:sp>
          <p:nvSpPr>
            <p:cNvPr id="67599" name="Freeform 15"/>
            <p:cNvSpPr/>
            <p:nvPr/>
          </p:nvSpPr>
          <p:spPr>
            <a:xfrm>
              <a:off x="1455738"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solidFill>
            <a:ln w="17463" cap="flat" cmpd="sng">
              <a:solidFill>
                <a:srgbClr val="000000"/>
              </a:solidFill>
              <a:prstDash val="solid"/>
              <a:miter/>
              <a:headEnd type="none" w="med" len="med"/>
              <a:tailEnd type="none" w="med" len="med"/>
            </a:ln>
          </p:spPr>
          <p:txBody>
            <a:bodyPr/>
            <a:lstStyle/>
            <a:p>
              <a:endParaRPr lang="zh-CN" altLang="en-US"/>
            </a:p>
          </p:txBody>
        </p:sp>
        <p:sp>
          <p:nvSpPr>
            <p:cNvPr id="67600" name="Rectangle 16"/>
            <p:cNvSpPr/>
            <p:nvPr/>
          </p:nvSpPr>
          <p:spPr>
            <a:xfrm>
              <a:off x="1676400" y="76103"/>
              <a:ext cx="516167" cy="354905"/>
            </a:xfrm>
            <a:prstGeom prst="rect">
              <a:avLst/>
            </a:prstGeom>
            <a:noFill/>
            <a:ln w="9525">
              <a:noFill/>
            </a:ln>
          </p:spPr>
          <p:txBody>
            <a:bodyPr wrap="none" lIns="0" tIns="0" rIns="0" bIns="0" anchor="t">
              <a:spAutoFit/>
            </a:bodyPr>
            <a:lstStyle/>
            <a:p>
              <a:pPr lvl="0" indent="0">
                <a:buNone/>
              </a:pPr>
              <a:r>
                <a:rPr lang="de-DE" altLang="en-US" sz="2000" dirty="0">
                  <a:solidFill>
                    <a:srgbClr val="000000"/>
                  </a:solidFill>
                  <a:latin typeface="宋体" panose="02010600030101010101" pitchFamily="2" charset="-122"/>
                  <a:ea typeface="宋体" panose="02010600030101010101" pitchFamily="2" charset="-122"/>
                </a:rPr>
                <a:t>姓名</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01" name="Rectangle 17"/>
            <p:cNvSpPr/>
            <p:nvPr/>
          </p:nvSpPr>
          <p:spPr>
            <a:xfrm>
              <a:off x="2044700" y="238125"/>
              <a:ext cx="47625" cy="228600"/>
            </a:xfrm>
            <a:prstGeom prst="rect">
              <a:avLst/>
            </a:prstGeom>
            <a:noFill/>
            <a:ln w="9525">
              <a:noFill/>
            </a:ln>
          </p:spPr>
          <p:txBody>
            <a:bodyPr wrap="non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602" name="Freeform 18"/>
            <p:cNvSpPr/>
            <p:nvPr/>
          </p:nvSpPr>
          <p:spPr>
            <a:xfrm>
              <a:off x="2633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close/>
                </a:path>
              </a:pathLst>
            </a:custGeom>
            <a:solidFill>
              <a:srgbClr val="FFCCFF"/>
            </a:solidFill>
            <a:ln w="9525">
              <a:noFill/>
            </a:ln>
          </p:spPr>
          <p:txBody>
            <a:bodyPr/>
            <a:lstStyle/>
            <a:p>
              <a:endParaRPr lang="zh-CN" altLang="en-US"/>
            </a:p>
          </p:txBody>
        </p:sp>
        <p:sp>
          <p:nvSpPr>
            <p:cNvPr id="67603" name="Freeform 19"/>
            <p:cNvSpPr/>
            <p:nvPr/>
          </p:nvSpPr>
          <p:spPr>
            <a:xfrm>
              <a:off x="2633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7604" name="Rectangle 20"/>
            <p:cNvSpPr/>
            <p:nvPr/>
          </p:nvSpPr>
          <p:spPr>
            <a:xfrm>
              <a:off x="2836545" y="16920"/>
              <a:ext cx="516167" cy="354905"/>
            </a:xfrm>
            <a:prstGeom prst="rect">
              <a:avLst/>
            </a:prstGeom>
            <a:noFill/>
            <a:ln w="9525">
              <a:noFill/>
            </a:ln>
          </p:spPr>
          <p:txBody>
            <a:bodyPr wrap="none" lIns="0" tIns="0" rIns="0" bIns="0" anchor="t">
              <a:spAutoFit/>
            </a:bodyPr>
            <a:lstStyle/>
            <a:p>
              <a:pPr lvl="0" indent="0">
                <a:buNone/>
              </a:pPr>
              <a:r>
                <a:rPr lang="de-DE" altLang="en-US" sz="2000" dirty="0">
                  <a:solidFill>
                    <a:srgbClr val="000000"/>
                  </a:solidFill>
                  <a:latin typeface="宋体" panose="02010600030101010101" pitchFamily="2" charset="-122"/>
                  <a:ea typeface="宋体" panose="02010600030101010101" pitchFamily="2" charset="-122"/>
                </a:rPr>
                <a:t>生日</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05" name="Line 21"/>
            <p:cNvSpPr/>
            <p:nvPr/>
          </p:nvSpPr>
          <p:spPr>
            <a:xfrm>
              <a:off x="762000" y="609600"/>
              <a:ext cx="1066800" cy="457200"/>
            </a:xfrm>
            <a:prstGeom prst="line">
              <a:avLst/>
            </a:prstGeom>
            <a:ln w="17463" cap="flat" cmpd="sng">
              <a:solidFill>
                <a:srgbClr val="000000"/>
              </a:solidFill>
              <a:prstDash val="solid"/>
              <a:round/>
              <a:headEnd type="none" w="med" len="med"/>
              <a:tailEnd type="none" w="med" len="med"/>
            </a:ln>
          </p:spPr>
        </p:sp>
        <p:sp>
          <p:nvSpPr>
            <p:cNvPr id="67606" name="Line 22"/>
            <p:cNvSpPr/>
            <p:nvPr/>
          </p:nvSpPr>
          <p:spPr>
            <a:xfrm>
              <a:off x="1847850" y="525463"/>
              <a:ext cx="1588" cy="508000"/>
            </a:xfrm>
            <a:prstGeom prst="line">
              <a:avLst/>
            </a:prstGeom>
            <a:ln w="17463" cap="flat" cmpd="sng">
              <a:solidFill>
                <a:srgbClr val="000000"/>
              </a:solidFill>
              <a:prstDash val="solid"/>
              <a:round/>
              <a:headEnd type="none" w="med" len="med"/>
              <a:tailEnd type="none" w="med" len="med"/>
            </a:ln>
          </p:spPr>
        </p:sp>
        <p:sp>
          <p:nvSpPr>
            <p:cNvPr id="67607" name="Line 23"/>
            <p:cNvSpPr/>
            <p:nvPr/>
          </p:nvSpPr>
          <p:spPr>
            <a:xfrm flipH="1">
              <a:off x="1847850" y="525463"/>
              <a:ext cx="1177925" cy="508000"/>
            </a:xfrm>
            <a:prstGeom prst="line">
              <a:avLst/>
            </a:prstGeom>
            <a:ln w="17463" cap="flat" cmpd="sng">
              <a:solidFill>
                <a:srgbClr val="000000"/>
              </a:solidFill>
              <a:prstDash val="solid"/>
              <a:round/>
              <a:headEnd type="none" w="med" len="med"/>
              <a:tailEnd type="none" w="med" len="med"/>
            </a:ln>
          </p:spPr>
        </p:sp>
        <p:sp>
          <p:nvSpPr>
            <p:cNvPr id="67608" name="Line 24"/>
            <p:cNvSpPr/>
            <p:nvPr/>
          </p:nvSpPr>
          <p:spPr>
            <a:xfrm flipV="1">
              <a:off x="4298950" y="525463"/>
              <a:ext cx="100013" cy="485775"/>
            </a:xfrm>
            <a:prstGeom prst="line">
              <a:avLst/>
            </a:prstGeom>
            <a:ln w="17463" cap="flat" cmpd="sng">
              <a:solidFill>
                <a:srgbClr val="000000"/>
              </a:solidFill>
              <a:prstDash val="solid"/>
              <a:round/>
              <a:headEnd type="none" w="med" len="med"/>
              <a:tailEnd type="none" w="med" len="med"/>
            </a:ln>
          </p:spPr>
        </p:sp>
        <p:sp>
          <p:nvSpPr>
            <p:cNvPr id="67609" name="Line 25"/>
            <p:cNvSpPr/>
            <p:nvPr/>
          </p:nvSpPr>
          <p:spPr>
            <a:xfrm>
              <a:off x="2436813" y="1290638"/>
              <a:ext cx="955675" cy="82550"/>
            </a:xfrm>
            <a:prstGeom prst="line">
              <a:avLst/>
            </a:prstGeom>
            <a:ln w="17463" cap="flat" cmpd="sng">
              <a:solidFill>
                <a:srgbClr val="000000"/>
              </a:solidFill>
              <a:prstDash val="solid"/>
              <a:round/>
              <a:headEnd type="none" w="med" len="med"/>
              <a:tailEnd type="none" w="med" len="med"/>
            </a:ln>
          </p:spPr>
        </p:sp>
        <p:sp>
          <p:nvSpPr>
            <p:cNvPr id="67610" name="Rectangle 26"/>
            <p:cNvSpPr/>
            <p:nvPr/>
          </p:nvSpPr>
          <p:spPr>
            <a:xfrm>
              <a:off x="20955" y="45442"/>
              <a:ext cx="1114408" cy="411716"/>
            </a:xfrm>
            <a:prstGeom prst="rect">
              <a:avLst/>
            </a:prstGeom>
            <a:noFill/>
            <a:ln w="9525">
              <a:noFill/>
            </a:ln>
          </p:spPr>
          <p:txBody>
            <a:bodyPr wrap="none" anchor="t">
              <a:spAutoFit/>
            </a:bodyPr>
            <a:lstStyle/>
            <a:p>
              <a:pPr lvl="0" indent="0">
                <a:buNone/>
              </a:pPr>
              <a:r>
                <a:rPr lang="zh-CN" altLang="en-US" u="sng" dirty="0">
                  <a:solidFill>
                    <a:srgbClr val="000000"/>
                  </a:solidFill>
                  <a:latin typeface="宋体" panose="02010600030101010101" pitchFamily="2" charset="-122"/>
                  <a:ea typeface="宋体" panose="02010600030101010101" pitchFamily="2" charset="-122"/>
                </a:rPr>
                <a:t>教师证号</a:t>
              </a:r>
              <a:endParaRPr lang="de-DE" altLang="en-US" u="sng" dirty="0">
                <a:solidFill>
                  <a:srgbClr val="000000"/>
                </a:solidFill>
                <a:latin typeface="宋体" panose="02010600030101010101" pitchFamily="2" charset="-122"/>
                <a:ea typeface="宋体" panose="02010600030101010101" pitchFamily="2" charset="-122"/>
              </a:endParaRPr>
            </a:p>
          </p:txBody>
        </p:sp>
        <p:sp>
          <p:nvSpPr>
            <p:cNvPr id="67611" name="Rectangle 27"/>
            <p:cNvSpPr/>
            <p:nvPr/>
          </p:nvSpPr>
          <p:spPr>
            <a:xfrm>
              <a:off x="1219200" y="1049687"/>
              <a:ext cx="1177925" cy="508000"/>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3300"/>
                  </a:solidFill>
                  <a:latin typeface="宋体" panose="02010600030101010101" pitchFamily="2" charset="-122"/>
                  <a:ea typeface="宋体" panose="02010600030101010101" pitchFamily="2" charset="-122"/>
                </a:rPr>
                <a:t>教师</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67612" name="Rectangle 28"/>
            <p:cNvSpPr/>
            <p:nvPr/>
          </p:nvSpPr>
          <p:spPr>
            <a:xfrm>
              <a:off x="5943600" y="990600"/>
              <a:ext cx="1176338" cy="508000"/>
            </a:xfrm>
            <a:prstGeom prst="rect">
              <a:avLst/>
            </a:prstGeom>
            <a:solidFill>
              <a:srgbClr val="FFCCFF"/>
            </a:solidFill>
            <a:ln w="50800" cap="flat" cmpd="sng">
              <a:solidFill>
                <a:srgbClr val="CC0000"/>
              </a:solidFill>
              <a:prstDash val="solid"/>
              <a:miter/>
              <a:headEnd type="none" w="med" len="med"/>
              <a:tailEnd type="none" w="med" len="med"/>
            </a:ln>
          </p:spPr>
          <p:txBody>
            <a:bodyPr anchor="t"/>
            <a:lstStyle/>
            <a:p>
              <a:pPr lvl="0" indent="0">
                <a:lnSpc>
                  <a:spcPct val="100000"/>
                </a:lnSpc>
                <a:buNone/>
              </a:pPr>
              <a:r>
                <a:rPr lang="de-DE" altLang="en-US" sz="2400" dirty="0">
                  <a:solidFill>
                    <a:srgbClr val="000000"/>
                  </a:solidFill>
                  <a:latin typeface="宋体" panose="02010600030101010101" pitchFamily="2" charset="-122"/>
                  <a:ea typeface="宋体" panose="02010600030101010101" pitchFamily="2" charset="-122"/>
                </a:rPr>
                <a:t>子女</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67613" name="Freeform 29"/>
            <p:cNvSpPr/>
            <p:nvPr/>
          </p:nvSpPr>
          <p:spPr>
            <a:xfrm>
              <a:off x="5334000" y="0"/>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6"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6"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cap="flat" cmpd="sng">
              <a:solidFill>
                <a:srgbClr val="000000"/>
              </a:solidFill>
              <a:prstDash val="solid"/>
              <a:miter/>
              <a:headEnd type="none" w="med" len="med"/>
              <a:tailEnd type="none" w="med" len="med"/>
            </a:ln>
          </p:spPr>
          <p:txBody>
            <a:bodyPr/>
            <a:lstStyle/>
            <a:p>
              <a:endParaRPr lang="zh-CN" altLang="en-US"/>
            </a:p>
          </p:txBody>
        </p:sp>
        <p:sp>
          <p:nvSpPr>
            <p:cNvPr id="67614" name="Rectangle 30"/>
            <p:cNvSpPr/>
            <p:nvPr/>
          </p:nvSpPr>
          <p:spPr>
            <a:xfrm>
              <a:off x="5562600" y="-32898"/>
              <a:ext cx="516167" cy="354905"/>
            </a:xfrm>
            <a:prstGeom prst="rect">
              <a:avLst/>
            </a:prstGeom>
            <a:noFill/>
            <a:ln w="9525">
              <a:noFill/>
            </a:ln>
          </p:spPr>
          <p:txBody>
            <a:bodyPr wrap="none" lIns="0" tIns="0" rIns="0" bIns="0" anchor="t">
              <a:spAutoFit/>
            </a:bodyPr>
            <a:lstStyle/>
            <a:p>
              <a:pPr lvl="0" indent="0">
                <a:buNone/>
              </a:pPr>
              <a:r>
                <a:rPr lang="zh-CN" altLang="en-US" sz="2000" dirty="0">
                  <a:solidFill>
                    <a:srgbClr val="000000"/>
                  </a:solidFill>
                  <a:latin typeface="宋体" panose="02010600030101010101" pitchFamily="2" charset="-122"/>
                  <a:ea typeface="宋体" panose="02010600030101010101" pitchFamily="2" charset="-122"/>
                </a:rPr>
                <a:t>姓名</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67615" name="Rectangle 31"/>
            <p:cNvSpPr/>
            <p:nvPr/>
          </p:nvSpPr>
          <p:spPr>
            <a:xfrm>
              <a:off x="6065838" y="238125"/>
              <a:ext cx="47625" cy="228600"/>
            </a:xfrm>
            <a:prstGeom prst="rect">
              <a:avLst/>
            </a:prstGeom>
            <a:noFill/>
            <a:ln w="9525">
              <a:noFill/>
            </a:ln>
          </p:spPr>
          <p:txBody>
            <a:bodyPr wrap="non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616" name="Freeform 32"/>
            <p:cNvSpPr/>
            <p:nvPr/>
          </p:nvSpPr>
          <p:spPr>
            <a:xfrm>
              <a:off x="6951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a:noFill/>
            </a:ln>
          </p:spPr>
          <p:txBody>
            <a:bodyPr/>
            <a:lstStyle/>
            <a:p>
              <a:endParaRPr lang="zh-CN" altLang="en-US"/>
            </a:p>
          </p:txBody>
        </p:sp>
        <p:sp>
          <p:nvSpPr>
            <p:cNvPr id="67617" name="Freeform 33"/>
            <p:cNvSpPr/>
            <p:nvPr/>
          </p:nvSpPr>
          <p:spPr>
            <a:xfrm>
              <a:off x="6951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7618" name="Rectangle 34"/>
            <p:cNvSpPr/>
            <p:nvPr/>
          </p:nvSpPr>
          <p:spPr>
            <a:xfrm>
              <a:off x="7162800" y="75390"/>
              <a:ext cx="510540" cy="345117"/>
            </a:xfrm>
            <a:prstGeom prst="rect">
              <a:avLst/>
            </a:prstGeom>
            <a:noFill/>
            <a:ln w="9525">
              <a:noFill/>
            </a:ln>
          </p:spPr>
          <p:txBody>
            <a:bodyPr wrap="none" lIns="0" tIns="0" rIns="0" bIns="0" anchor="t">
              <a:spAutoFit/>
            </a:bodyPr>
            <a:lstStyle/>
            <a:p>
              <a:pPr lvl="0" indent="0">
                <a:lnSpc>
                  <a:spcPct val="100000"/>
                </a:lnSpc>
                <a:buNone/>
              </a:pPr>
              <a:r>
                <a:rPr lang="de-DE" altLang="en-US" sz="2000" dirty="0">
                  <a:solidFill>
                    <a:srgbClr val="000000"/>
                  </a:solidFill>
                  <a:latin typeface="宋体" panose="02010600030101010101" pitchFamily="2" charset="-122"/>
                  <a:ea typeface="宋体" panose="02010600030101010101" pitchFamily="2" charset="-122"/>
                </a:rPr>
                <a:t>年龄</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19" name="Line 35"/>
            <p:cNvSpPr/>
            <p:nvPr/>
          </p:nvSpPr>
          <p:spPr>
            <a:xfrm>
              <a:off x="5773738" y="525463"/>
              <a:ext cx="784225" cy="485775"/>
            </a:xfrm>
            <a:prstGeom prst="line">
              <a:avLst/>
            </a:prstGeom>
            <a:ln w="17463" cap="flat" cmpd="sng">
              <a:solidFill>
                <a:srgbClr val="000000"/>
              </a:solidFill>
              <a:prstDash val="solid"/>
              <a:round/>
              <a:headEnd type="none" w="med" len="med"/>
              <a:tailEnd type="none" w="med" len="med"/>
            </a:ln>
          </p:spPr>
        </p:sp>
        <p:sp>
          <p:nvSpPr>
            <p:cNvPr id="67620" name="Line 36"/>
            <p:cNvSpPr/>
            <p:nvPr/>
          </p:nvSpPr>
          <p:spPr>
            <a:xfrm flipH="1">
              <a:off x="6557963" y="525463"/>
              <a:ext cx="785812" cy="485775"/>
            </a:xfrm>
            <a:prstGeom prst="line">
              <a:avLst/>
            </a:prstGeom>
            <a:ln w="17463" cap="flat" cmpd="sng">
              <a:solidFill>
                <a:srgbClr val="000000"/>
              </a:solidFill>
              <a:prstDash val="solid"/>
              <a:round/>
              <a:headEnd type="none" w="med" len="med"/>
              <a:tailEnd type="none" w="med" len="med"/>
            </a:ln>
          </p:spPr>
        </p:sp>
        <p:sp>
          <p:nvSpPr>
            <p:cNvPr id="67621" name="Line 37"/>
            <p:cNvSpPr/>
            <p:nvPr/>
          </p:nvSpPr>
          <p:spPr>
            <a:xfrm flipV="1">
              <a:off x="5181600" y="1295400"/>
              <a:ext cx="736600" cy="76200"/>
            </a:xfrm>
            <a:prstGeom prst="line">
              <a:avLst/>
            </a:prstGeom>
            <a:ln w="50800" cap="flat" cmpd="sng">
              <a:solidFill>
                <a:srgbClr val="FF0000"/>
              </a:solidFill>
              <a:prstDash val="solid"/>
              <a:round/>
              <a:headEnd type="none" w="med" len="med"/>
              <a:tailEnd type="none" w="med" len="med"/>
            </a:ln>
          </p:spPr>
        </p:sp>
        <p:sp>
          <p:nvSpPr>
            <p:cNvPr id="67622" name="Line 38"/>
            <p:cNvSpPr/>
            <p:nvPr/>
          </p:nvSpPr>
          <p:spPr>
            <a:xfrm>
              <a:off x="5562600" y="407285"/>
              <a:ext cx="533400" cy="1588"/>
            </a:xfrm>
            <a:prstGeom prst="line">
              <a:avLst/>
            </a:prstGeom>
            <a:ln w="38100" cap="flat" cmpd="sng">
              <a:solidFill>
                <a:srgbClr val="000000"/>
              </a:solidFill>
              <a:prstDash val="sysDot"/>
              <a:round/>
              <a:headEnd type="none" w="med" len="med"/>
              <a:tailEnd type="none" w="med" len="med"/>
            </a:ln>
          </p:spPr>
        </p:sp>
        <p:sp>
          <p:nvSpPr>
            <p:cNvPr id="67623" name="Text Box 39"/>
            <p:cNvSpPr txBox="1"/>
            <p:nvPr/>
          </p:nvSpPr>
          <p:spPr>
            <a:xfrm>
              <a:off x="2971800" y="990600"/>
              <a:ext cx="381000" cy="447238"/>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24" name="Text Box 40"/>
            <p:cNvSpPr txBox="1"/>
            <p:nvPr/>
          </p:nvSpPr>
          <p:spPr>
            <a:xfrm>
              <a:off x="5334000" y="914400"/>
              <a:ext cx="381000" cy="447238"/>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59395" name="矩形 4"/>
          <p:cNvSpPr/>
          <p:nvPr/>
        </p:nvSpPr>
        <p:spPr>
          <a:xfrm>
            <a:off x="516393" y="766767"/>
            <a:ext cx="2329815"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cs typeface="+mn-ea"/>
              </a:rPr>
              <a:t>弱实体</a:t>
            </a:r>
            <a:r>
              <a:rPr lang="en-US" altLang="x-none" sz="2800" dirty="0">
                <a:solidFill>
                  <a:srgbClr val="0033CC"/>
                </a:solidFill>
                <a:latin typeface="黑体" panose="02010609060101010101" pitchFamily="1" charset="-122"/>
                <a:ea typeface="黑体" panose="02010609060101010101" pitchFamily="1" charset="-122"/>
                <a:cs typeface="+mn-ea"/>
              </a:rPr>
              <a:t>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checkerboard(across)">
                                      <p:cBhvr>
                                        <p:cTn id="7" dur="5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6562"/>
                                        </p:tgtEl>
                                        <p:attrNameLst>
                                          <p:attrName>style.visibility</p:attrName>
                                        </p:attrNameLst>
                                      </p:cBhvr>
                                      <p:to>
                                        <p:strVal val="visible"/>
                                      </p:to>
                                    </p:set>
                                    <p:anim calcmode="lin" valueType="num">
                                      <p:cBhvr additive="base">
                                        <p:cTn id="12" dur="500" fill="hold"/>
                                        <p:tgtEl>
                                          <p:spTgt spid="66562"/>
                                        </p:tgtEl>
                                        <p:attrNameLst>
                                          <p:attrName>ppt_x</p:attrName>
                                        </p:attrNameLst>
                                      </p:cBhvr>
                                      <p:tavLst>
                                        <p:tav tm="0">
                                          <p:val>
                                            <p:strVal val="#ppt_x"/>
                                          </p:val>
                                        </p:tav>
                                        <p:tav tm="100000">
                                          <p:val>
                                            <p:strVal val="#ppt_x"/>
                                          </p:val>
                                        </p:tav>
                                      </p:tavLst>
                                    </p:anim>
                                    <p:anim calcmode="lin" valueType="num">
                                      <p:cBhvr additive="base">
                                        <p:cTn id="13" dur="500" fill="hold"/>
                                        <p:tgtEl>
                                          <p:spTgt spid="6656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6563"/>
                                        </p:tgtEl>
                                        <p:attrNameLst>
                                          <p:attrName>style.visibility</p:attrName>
                                        </p:attrNameLst>
                                      </p:cBhvr>
                                      <p:to>
                                        <p:strVal val="visible"/>
                                      </p:to>
                                    </p:set>
                                    <p:anim calcmode="lin" valueType="num">
                                      <p:cBhvr additive="base">
                                        <p:cTn id="18" dur="500" fill="hold"/>
                                        <p:tgtEl>
                                          <p:spTgt spid="66563"/>
                                        </p:tgtEl>
                                        <p:attrNameLst>
                                          <p:attrName>ppt_x</p:attrName>
                                        </p:attrNameLst>
                                      </p:cBhvr>
                                      <p:tavLst>
                                        <p:tav tm="0">
                                          <p:val>
                                            <p:strVal val="#ppt_x"/>
                                          </p:val>
                                        </p:tav>
                                        <p:tav tm="100000">
                                          <p:val>
                                            <p:strVal val="#ppt_x"/>
                                          </p:val>
                                        </p:tav>
                                      </p:tavLst>
                                    </p:anim>
                                    <p:anim calcmode="lin" valueType="num">
                                      <p:cBhvr additive="base">
                                        <p:cTn id="19" dur="500" fill="hold"/>
                                        <p:tgtEl>
                                          <p:spTgt spid="6656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66565"/>
                                        </p:tgtEl>
                                        <p:attrNameLst>
                                          <p:attrName>style.visibility</p:attrName>
                                        </p:attrNameLst>
                                      </p:cBhvr>
                                      <p:to>
                                        <p:strVal val="visible"/>
                                      </p:to>
                                    </p:set>
                                    <p:animEffect transition="in" filter="checkerboard(across)">
                                      <p:cBhvr>
                                        <p:cTn id="24" dur="500"/>
                                        <p:tgtEl>
                                          <p:spTgt spid="6656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6566"/>
                                        </p:tgtEl>
                                        <p:attrNameLst>
                                          <p:attrName>style.visibility</p:attrName>
                                        </p:attrNameLst>
                                      </p:cBhvr>
                                      <p:to>
                                        <p:strVal val="visible"/>
                                      </p:to>
                                    </p:set>
                                    <p:animEffect transition="in" filter="blinds(horizontal)">
                                      <p:cBhvr>
                                        <p:cTn id="29" dur="500"/>
                                        <p:tgtEl>
                                          <p:spTgt spid="66566"/>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65541"/>
                                        </p:tgtEl>
                                        <p:attrNameLst>
                                          <p:attrName>style.visibility</p:attrName>
                                        </p:attrNameLst>
                                      </p:cBhvr>
                                      <p:to>
                                        <p:strVal val="visible"/>
                                      </p:to>
                                    </p:set>
                                    <p:anim calcmode="lin" valueType="num">
                                      <p:cBhvr additive="base">
                                        <p:cTn id="34" dur="500" fill="hold"/>
                                        <p:tgtEl>
                                          <p:spTgt spid="65541"/>
                                        </p:tgtEl>
                                        <p:attrNameLst>
                                          <p:attrName>ppt_x</p:attrName>
                                        </p:attrNameLst>
                                      </p:cBhvr>
                                      <p:tavLst>
                                        <p:tav tm="0">
                                          <p:val>
                                            <p:strVal val="#ppt_x"/>
                                          </p:val>
                                        </p:tav>
                                        <p:tav tm="100000">
                                          <p:val>
                                            <p:strVal val="#ppt_x"/>
                                          </p:val>
                                        </p:tav>
                                      </p:tavLst>
                                    </p:anim>
                                    <p:anim calcmode="lin" valueType="num">
                                      <p:cBhvr additive="base">
                                        <p:cTn id="35" dur="500" fill="hold"/>
                                        <p:tgtEl>
                                          <p:spTgt spid="655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P spid="66563" grpId="0"/>
      <p:bldP spid="66564" grpId="0"/>
      <p:bldP spid="66565" grpId="0"/>
      <p:bldP spid="6656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13715" y="1283970"/>
            <a:ext cx="6249035" cy="589280"/>
          </a:xfrm>
          <a:prstGeom prst="rect">
            <a:avLst/>
          </a:prstGeom>
          <a:noFill/>
        </p:spPr>
        <p:txBody>
          <a:bodyPr wrap="square" rtlCol="0" anchor="t">
            <a:spAutoFit/>
          </a:bodyPr>
          <a:lstStyle/>
          <a:p>
            <a:pPr>
              <a:buNone/>
            </a:pPr>
            <a:r>
              <a:rPr lang="en-US" altLang="zh-CN" sz="2400"/>
              <a:t>1</a:t>
            </a:r>
            <a:r>
              <a:rPr lang="zh-CN" altLang="en-US" sz="2400"/>
              <a:t>、数据库设计中，弱实体是指(     )</a:t>
            </a:r>
            <a:endParaRPr lang="zh-CN" altLang="en-US" sz="2400"/>
          </a:p>
        </p:txBody>
      </p:sp>
      <p:sp>
        <p:nvSpPr>
          <p:cNvPr id="22" name="文本框 21"/>
          <p:cNvSpPr txBox="1"/>
          <p:nvPr/>
        </p:nvSpPr>
        <p:spPr>
          <a:xfrm>
            <a:off x="687705" y="1784350"/>
            <a:ext cx="3094990" cy="527050"/>
          </a:xfrm>
          <a:prstGeom prst="rect">
            <a:avLst/>
          </a:prstGeom>
          <a:noFill/>
        </p:spPr>
        <p:txBody>
          <a:bodyPr wrap="square" rtlCol="0" anchor="t">
            <a:spAutoFit/>
          </a:bodyPr>
          <a:lstStyle/>
          <a:p>
            <a:pPr>
              <a:buNone/>
            </a:pPr>
            <a:r>
              <a:rPr lang="zh-CN" altLang="en-US" sz="2100"/>
              <a:t>A、属性只有一个的实体</a:t>
            </a:r>
            <a:endParaRPr lang="zh-CN" altLang="en-US" sz="2100"/>
          </a:p>
        </p:txBody>
      </p:sp>
      <p:sp>
        <p:nvSpPr>
          <p:cNvPr id="24" name="文本框 23"/>
          <p:cNvSpPr txBox="1"/>
          <p:nvPr/>
        </p:nvSpPr>
        <p:spPr>
          <a:xfrm>
            <a:off x="4739005" y="1764665"/>
            <a:ext cx="3201670" cy="527050"/>
          </a:xfrm>
          <a:prstGeom prst="rect">
            <a:avLst/>
          </a:prstGeom>
          <a:noFill/>
        </p:spPr>
        <p:txBody>
          <a:bodyPr wrap="square" rtlCol="0" anchor="t">
            <a:spAutoFit/>
          </a:bodyPr>
          <a:lstStyle/>
          <a:p>
            <a:pPr>
              <a:buNone/>
            </a:pPr>
            <a:r>
              <a:rPr lang="zh-CN" altLang="en-US" sz="2100"/>
              <a:t>B、不存在关键码的实体</a:t>
            </a:r>
            <a:endParaRPr lang="zh-CN" altLang="en-US" sz="2100"/>
          </a:p>
        </p:txBody>
      </p:sp>
      <p:sp>
        <p:nvSpPr>
          <p:cNvPr id="25" name="文本框 24"/>
          <p:cNvSpPr txBox="1"/>
          <p:nvPr/>
        </p:nvSpPr>
        <p:spPr>
          <a:xfrm>
            <a:off x="662305" y="2164715"/>
            <a:ext cx="6007100" cy="547370"/>
          </a:xfrm>
          <a:prstGeom prst="rect">
            <a:avLst/>
          </a:prstGeom>
          <a:noFill/>
        </p:spPr>
        <p:txBody>
          <a:bodyPr wrap="square" rtlCol="0" anchor="t">
            <a:spAutoFit/>
          </a:bodyPr>
          <a:lstStyle/>
          <a:p>
            <a:pPr>
              <a:buNone/>
            </a:pPr>
            <a:r>
              <a:rPr lang="zh-CN" altLang="en-US" sz="2200"/>
              <a:t>C、只能短时期存在的实体</a:t>
            </a:r>
            <a:endParaRPr lang="zh-CN" altLang="en-US" sz="2200"/>
          </a:p>
        </p:txBody>
      </p:sp>
      <p:sp>
        <p:nvSpPr>
          <p:cNvPr id="26" name="文本框 25"/>
          <p:cNvSpPr txBox="1"/>
          <p:nvPr/>
        </p:nvSpPr>
        <p:spPr>
          <a:xfrm>
            <a:off x="675005" y="2596515"/>
            <a:ext cx="5222875" cy="547370"/>
          </a:xfrm>
          <a:prstGeom prst="rect">
            <a:avLst/>
          </a:prstGeom>
          <a:noFill/>
        </p:spPr>
        <p:txBody>
          <a:bodyPr wrap="square" rtlCol="0" anchor="t">
            <a:spAutoFit/>
          </a:bodyPr>
          <a:lstStyle/>
          <a:p>
            <a:pPr>
              <a:buNone/>
            </a:pPr>
            <a:r>
              <a:rPr lang="zh-CN" altLang="en-US" sz="2200"/>
              <a:t>D、以其他实体存在为先决条件的实体</a:t>
            </a:r>
            <a:endParaRPr lang="zh-CN" altLang="en-US" sz="2200"/>
          </a:p>
        </p:txBody>
      </p:sp>
      <p:sp>
        <p:nvSpPr>
          <p:cNvPr id="29" name="文本框 28"/>
          <p:cNvSpPr txBox="1"/>
          <p:nvPr/>
        </p:nvSpPr>
        <p:spPr>
          <a:xfrm>
            <a:off x="551815" y="3093085"/>
            <a:ext cx="6959600" cy="589280"/>
          </a:xfrm>
          <a:prstGeom prst="rect">
            <a:avLst/>
          </a:prstGeom>
          <a:noFill/>
        </p:spPr>
        <p:txBody>
          <a:bodyPr wrap="square" rtlCol="0" anchor="t">
            <a:spAutoFit/>
          </a:bodyPr>
          <a:lstStyle/>
          <a:p>
            <a:pPr>
              <a:buNone/>
            </a:pPr>
            <a:r>
              <a:rPr lang="en-US" altLang="zh-CN" sz="2400"/>
              <a:t>2</a:t>
            </a:r>
            <a:r>
              <a:rPr lang="zh-CN" altLang="en-US" sz="2400"/>
              <a:t>、在有关“弱实体”的叙述中，不正确的是(     )</a:t>
            </a:r>
            <a:endParaRPr lang="zh-CN" altLang="en-US" sz="2400"/>
          </a:p>
        </p:txBody>
      </p:sp>
      <p:sp>
        <p:nvSpPr>
          <p:cNvPr id="30" name="文本框 29"/>
          <p:cNvSpPr txBox="1"/>
          <p:nvPr/>
        </p:nvSpPr>
        <p:spPr>
          <a:xfrm>
            <a:off x="662305" y="3529965"/>
            <a:ext cx="6209665" cy="547370"/>
          </a:xfrm>
          <a:prstGeom prst="rect">
            <a:avLst/>
          </a:prstGeom>
          <a:noFill/>
        </p:spPr>
        <p:txBody>
          <a:bodyPr wrap="square" rtlCol="0" anchor="t">
            <a:spAutoFit/>
          </a:bodyPr>
          <a:lstStyle/>
          <a:p>
            <a:pPr>
              <a:buNone/>
            </a:pPr>
            <a:r>
              <a:rPr lang="zh-CN" altLang="en-US" sz="2200"/>
              <a:t>A．弱实体的存在以识别实体的存在为前提</a:t>
            </a:r>
            <a:endParaRPr lang="zh-CN" altLang="en-US" sz="2200"/>
          </a:p>
        </p:txBody>
      </p:sp>
      <p:sp>
        <p:nvSpPr>
          <p:cNvPr id="31" name="文本框 30"/>
          <p:cNvSpPr txBox="1"/>
          <p:nvPr/>
        </p:nvSpPr>
        <p:spPr>
          <a:xfrm>
            <a:off x="675005" y="3936365"/>
            <a:ext cx="6209665" cy="547370"/>
          </a:xfrm>
          <a:prstGeom prst="rect">
            <a:avLst/>
          </a:prstGeom>
          <a:noFill/>
        </p:spPr>
        <p:txBody>
          <a:bodyPr wrap="square" rtlCol="0" anchor="t">
            <a:spAutoFit/>
          </a:bodyPr>
          <a:lstStyle/>
          <a:p>
            <a:pPr>
              <a:buNone/>
            </a:pPr>
            <a:r>
              <a:rPr lang="en-US" altLang="zh-CN" sz="2200"/>
              <a:t>B</a:t>
            </a:r>
            <a:r>
              <a:rPr lang="zh-CN" altLang="en-US" sz="2200"/>
              <a:t>．弱实体依赖于识别实体的存在</a:t>
            </a:r>
            <a:endParaRPr lang="zh-CN" altLang="en-US" sz="2200"/>
          </a:p>
        </p:txBody>
      </p:sp>
      <p:sp>
        <p:nvSpPr>
          <p:cNvPr id="32" name="文本框 31"/>
          <p:cNvSpPr txBox="1"/>
          <p:nvPr/>
        </p:nvSpPr>
        <p:spPr>
          <a:xfrm>
            <a:off x="675005" y="4344035"/>
            <a:ext cx="7252970" cy="547370"/>
          </a:xfrm>
          <a:prstGeom prst="rect">
            <a:avLst/>
          </a:prstGeom>
          <a:noFill/>
        </p:spPr>
        <p:txBody>
          <a:bodyPr wrap="square" rtlCol="0" anchor="t">
            <a:spAutoFit/>
          </a:bodyPr>
          <a:lstStyle/>
          <a:p>
            <a:pPr>
              <a:buNone/>
            </a:pPr>
            <a:r>
              <a:rPr lang="zh-CN" altLang="en-US" sz="2200"/>
              <a:t>C．父实体与弱实体的联系可以是1:1、1:N或M:N</a:t>
            </a:r>
            <a:endParaRPr lang="zh-CN" altLang="en-US" sz="2200"/>
          </a:p>
        </p:txBody>
      </p:sp>
      <p:sp>
        <p:nvSpPr>
          <p:cNvPr id="33" name="文本框 32"/>
          <p:cNvSpPr txBox="1"/>
          <p:nvPr/>
        </p:nvSpPr>
        <p:spPr>
          <a:xfrm>
            <a:off x="675005" y="4775835"/>
            <a:ext cx="7252970" cy="547370"/>
          </a:xfrm>
          <a:prstGeom prst="rect">
            <a:avLst/>
          </a:prstGeom>
          <a:noFill/>
        </p:spPr>
        <p:txBody>
          <a:bodyPr wrap="square" rtlCol="0" anchor="t">
            <a:spAutoFit/>
          </a:bodyPr>
          <a:lstStyle/>
          <a:p>
            <a:pPr>
              <a:buNone/>
            </a:pPr>
            <a:r>
              <a:rPr lang="en-US" altLang="zh-CN" sz="2200"/>
              <a:t>D</a:t>
            </a:r>
            <a:r>
              <a:rPr lang="zh-CN" altLang="en-US" sz="2200"/>
              <a:t>．父实体与弱实体的联系只能是1:1或1:N</a:t>
            </a:r>
            <a:endParaRPr lang="zh-CN" altLang="en-US" sz="2200"/>
          </a:p>
        </p:txBody>
      </p:sp>
      <p:sp>
        <p:nvSpPr>
          <p:cNvPr id="34" name="矩形 33"/>
          <p:cNvSpPr/>
          <p:nvPr/>
        </p:nvSpPr>
        <p:spPr>
          <a:xfrm>
            <a:off x="403450" y="647246"/>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zh-CN" sz="2800" kern="100" dirty="0" smtClean="0">
                <a:solidFill>
                  <a:srgbClr val="FF0000"/>
                </a:solidFill>
                <a:latin typeface="Calibri" panose="020F0502020204030204" pitchFamily="34" charset="0"/>
                <a:cs typeface="Times New Roman" panose="02020603050405020304" pitchFamily="2" charset="0"/>
              </a:rPr>
              <a:t>研讨问题：</a:t>
            </a:r>
            <a:endParaRPr lang="en-US" altLang="zh-CN" sz="2800" kern="100" dirty="0">
              <a:latin typeface="Calibri" panose="020F0502020204030204" pitchFamily="34" charset="0"/>
              <a:cs typeface="Times New Roman" panose="02020603050405020304" pitchFamily="2" charset="0"/>
            </a:endParaRPr>
          </a:p>
        </p:txBody>
      </p:sp>
      <p:sp>
        <p:nvSpPr>
          <p:cNvPr id="35" name="文本框 34"/>
          <p:cNvSpPr txBox="1"/>
          <p:nvPr/>
        </p:nvSpPr>
        <p:spPr>
          <a:xfrm>
            <a:off x="589915" y="5323205"/>
            <a:ext cx="8343900" cy="829945"/>
          </a:xfrm>
          <a:prstGeom prst="rect">
            <a:avLst/>
          </a:prstGeom>
          <a:noFill/>
        </p:spPr>
        <p:txBody>
          <a:bodyPr wrap="square" rtlCol="0" anchor="t">
            <a:spAutoFit/>
          </a:bodyPr>
          <a:lstStyle/>
          <a:p>
            <a:pPr>
              <a:lnSpc>
                <a:spcPct val="100000"/>
              </a:lnSpc>
              <a:buNone/>
            </a:pPr>
            <a:r>
              <a:rPr lang="en-US" altLang="zh-CN" sz="2400"/>
              <a:t>3</a:t>
            </a:r>
            <a:r>
              <a:rPr lang="zh-CN" altLang="en-US" sz="2400"/>
              <a:t>、在</a:t>
            </a:r>
            <a:r>
              <a:rPr lang="en-US" altLang="zh-CN" sz="2400"/>
              <a:t>ER</a:t>
            </a:r>
            <a:r>
              <a:rPr lang="zh-CN" altLang="en-US" sz="2400"/>
              <a:t>模型种，弱实体用</a:t>
            </a:r>
            <a:r>
              <a:rPr lang="zh-CN" altLang="en-US" sz="2400" u="sng"/>
              <a:t> </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u="sng"/>
              <a:t> </a:t>
            </a:r>
            <a:r>
              <a:rPr lang="zh-CN" altLang="en-US" sz="2400"/>
              <a:t>表示，弱实体与识别实体之间的联系称为</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kern="100" dirty="0" smtClean="0">
                <a:latin typeface="Calibri" panose="020F0502020204030204" pitchFamily="34" charset="0"/>
                <a:cs typeface="Times New Roman" panose="02020603050405020304" pitchFamily="2" charset="0"/>
                <a:sym typeface="+mn-ea"/>
              </a:rPr>
              <a:t> ，用</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kern="100" dirty="0" smtClean="0">
                <a:latin typeface="Calibri" panose="020F0502020204030204" pitchFamily="34" charset="0"/>
                <a:cs typeface="Times New Roman" panose="02020603050405020304" pitchFamily="2" charset="0"/>
                <a:sym typeface="+mn-ea"/>
              </a:rPr>
              <a:t>来表示。</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u="sng">
                <a:sym typeface="+mn-ea"/>
              </a:rPr>
              <a:t>   </a:t>
            </a:r>
            <a:endParaRPr lang="zh-CN" altLang="en-US" sz="2400" u="sng"/>
          </a:p>
        </p:txBody>
      </p:sp>
      <p:sp>
        <p:nvSpPr>
          <p:cNvPr id="1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687705" y="1784350"/>
            <a:ext cx="3094990" cy="527050"/>
          </a:xfrm>
          <a:prstGeom prst="rect">
            <a:avLst/>
          </a:prstGeom>
          <a:noFill/>
        </p:spPr>
        <p:txBody>
          <a:bodyPr wrap="square" rtlCol="0" anchor="t">
            <a:spAutoFit/>
          </a:bodyPr>
          <a:lstStyle/>
          <a:p>
            <a:pPr>
              <a:buNone/>
            </a:pPr>
            <a:r>
              <a:rPr lang="zh-CN" altLang="en-US" sz="2100"/>
              <a:t>A、属性只有一个的实体</a:t>
            </a:r>
            <a:endParaRPr lang="zh-CN" altLang="en-US" sz="2100"/>
          </a:p>
        </p:txBody>
      </p:sp>
      <p:sp>
        <p:nvSpPr>
          <p:cNvPr id="24" name="文本框 23"/>
          <p:cNvSpPr txBox="1"/>
          <p:nvPr/>
        </p:nvSpPr>
        <p:spPr>
          <a:xfrm>
            <a:off x="4739005" y="1764665"/>
            <a:ext cx="3201670" cy="527050"/>
          </a:xfrm>
          <a:prstGeom prst="rect">
            <a:avLst/>
          </a:prstGeom>
          <a:noFill/>
        </p:spPr>
        <p:txBody>
          <a:bodyPr wrap="square" rtlCol="0" anchor="t">
            <a:spAutoFit/>
          </a:bodyPr>
          <a:lstStyle/>
          <a:p>
            <a:pPr>
              <a:buNone/>
            </a:pPr>
            <a:r>
              <a:rPr lang="zh-CN" altLang="en-US" sz="2100"/>
              <a:t>B、不存在关键码的实体</a:t>
            </a:r>
            <a:endParaRPr lang="zh-CN" altLang="en-US" sz="2100"/>
          </a:p>
        </p:txBody>
      </p:sp>
      <p:sp>
        <p:nvSpPr>
          <p:cNvPr id="25" name="文本框 24"/>
          <p:cNvSpPr txBox="1"/>
          <p:nvPr/>
        </p:nvSpPr>
        <p:spPr>
          <a:xfrm>
            <a:off x="662305" y="2164715"/>
            <a:ext cx="6007100" cy="547370"/>
          </a:xfrm>
          <a:prstGeom prst="rect">
            <a:avLst/>
          </a:prstGeom>
          <a:noFill/>
        </p:spPr>
        <p:txBody>
          <a:bodyPr wrap="square" rtlCol="0" anchor="t">
            <a:spAutoFit/>
          </a:bodyPr>
          <a:lstStyle/>
          <a:p>
            <a:pPr>
              <a:buNone/>
            </a:pPr>
            <a:r>
              <a:rPr lang="zh-CN" altLang="en-US" sz="2200"/>
              <a:t>C、只能短时期存在的实体</a:t>
            </a:r>
            <a:endParaRPr lang="zh-CN" altLang="en-US" sz="2200"/>
          </a:p>
        </p:txBody>
      </p:sp>
      <p:sp>
        <p:nvSpPr>
          <p:cNvPr id="26" name="文本框 25"/>
          <p:cNvSpPr txBox="1"/>
          <p:nvPr/>
        </p:nvSpPr>
        <p:spPr>
          <a:xfrm>
            <a:off x="675005" y="2596515"/>
            <a:ext cx="5222875" cy="547370"/>
          </a:xfrm>
          <a:prstGeom prst="rect">
            <a:avLst/>
          </a:prstGeom>
          <a:noFill/>
        </p:spPr>
        <p:txBody>
          <a:bodyPr wrap="square" rtlCol="0" anchor="t">
            <a:spAutoFit/>
          </a:bodyPr>
          <a:lstStyle/>
          <a:p>
            <a:pPr>
              <a:buNone/>
            </a:pPr>
            <a:r>
              <a:rPr lang="zh-CN" altLang="en-US" sz="2200"/>
              <a:t>D、以其他实体存在为先决条件的实体</a:t>
            </a:r>
            <a:endParaRPr lang="zh-CN" altLang="en-US" sz="2200"/>
          </a:p>
        </p:txBody>
      </p:sp>
      <p:sp>
        <p:nvSpPr>
          <p:cNvPr id="29" name="文本框 28"/>
          <p:cNvSpPr txBox="1"/>
          <p:nvPr/>
        </p:nvSpPr>
        <p:spPr>
          <a:xfrm>
            <a:off x="551815" y="3093085"/>
            <a:ext cx="6959600" cy="589280"/>
          </a:xfrm>
          <a:prstGeom prst="rect">
            <a:avLst/>
          </a:prstGeom>
          <a:noFill/>
        </p:spPr>
        <p:txBody>
          <a:bodyPr wrap="square" rtlCol="0" anchor="t">
            <a:spAutoFit/>
          </a:bodyPr>
          <a:lstStyle/>
          <a:p>
            <a:pPr>
              <a:buNone/>
            </a:pPr>
            <a:r>
              <a:rPr lang="en-US" altLang="zh-CN" sz="2400"/>
              <a:t>2</a:t>
            </a:r>
            <a:r>
              <a:rPr lang="zh-CN" altLang="en-US" sz="2400"/>
              <a:t>、在有关“弱实体”的叙述中，不正确的是(  </a:t>
            </a:r>
            <a:r>
              <a:rPr lang="en-US" altLang="zh-CN" sz="2400">
                <a:solidFill>
                  <a:srgbClr val="FF0000"/>
                </a:solidFill>
              </a:rPr>
              <a:t>C</a:t>
            </a:r>
            <a:r>
              <a:rPr lang="zh-CN" altLang="en-US" sz="2400"/>
              <a:t>  )</a:t>
            </a:r>
            <a:endParaRPr lang="zh-CN" altLang="en-US" sz="2400"/>
          </a:p>
        </p:txBody>
      </p:sp>
      <p:sp>
        <p:nvSpPr>
          <p:cNvPr id="30" name="文本框 29"/>
          <p:cNvSpPr txBox="1"/>
          <p:nvPr/>
        </p:nvSpPr>
        <p:spPr>
          <a:xfrm>
            <a:off x="662305" y="3529965"/>
            <a:ext cx="6209665" cy="547370"/>
          </a:xfrm>
          <a:prstGeom prst="rect">
            <a:avLst/>
          </a:prstGeom>
          <a:noFill/>
        </p:spPr>
        <p:txBody>
          <a:bodyPr wrap="square" rtlCol="0" anchor="t">
            <a:spAutoFit/>
          </a:bodyPr>
          <a:lstStyle/>
          <a:p>
            <a:pPr>
              <a:buNone/>
            </a:pPr>
            <a:r>
              <a:rPr lang="zh-CN" altLang="en-US" sz="2200"/>
              <a:t>A．弱实体的存在以识别实体的存在为前提</a:t>
            </a:r>
            <a:endParaRPr lang="zh-CN" altLang="en-US" sz="2200"/>
          </a:p>
        </p:txBody>
      </p:sp>
      <p:sp>
        <p:nvSpPr>
          <p:cNvPr id="31" name="文本框 30"/>
          <p:cNvSpPr txBox="1"/>
          <p:nvPr/>
        </p:nvSpPr>
        <p:spPr>
          <a:xfrm>
            <a:off x="675005" y="3936365"/>
            <a:ext cx="6209665" cy="547370"/>
          </a:xfrm>
          <a:prstGeom prst="rect">
            <a:avLst/>
          </a:prstGeom>
          <a:noFill/>
        </p:spPr>
        <p:txBody>
          <a:bodyPr wrap="square" rtlCol="0" anchor="t">
            <a:spAutoFit/>
          </a:bodyPr>
          <a:lstStyle/>
          <a:p>
            <a:pPr>
              <a:buNone/>
            </a:pPr>
            <a:r>
              <a:rPr lang="en-US" altLang="zh-CN" sz="2200"/>
              <a:t>B</a:t>
            </a:r>
            <a:r>
              <a:rPr lang="zh-CN" altLang="en-US" sz="2200"/>
              <a:t>．弱实体依赖于识别实体的存在</a:t>
            </a:r>
            <a:endParaRPr lang="zh-CN" altLang="en-US" sz="2200"/>
          </a:p>
        </p:txBody>
      </p:sp>
      <p:sp>
        <p:nvSpPr>
          <p:cNvPr id="32" name="文本框 31"/>
          <p:cNvSpPr txBox="1"/>
          <p:nvPr/>
        </p:nvSpPr>
        <p:spPr>
          <a:xfrm>
            <a:off x="675005" y="4344035"/>
            <a:ext cx="7252970" cy="547370"/>
          </a:xfrm>
          <a:prstGeom prst="rect">
            <a:avLst/>
          </a:prstGeom>
          <a:noFill/>
        </p:spPr>
        <p:txBody>
          <a:bodyPr wrap="square" rtlCol="0" anchor="t">
            <a:spAutoFit/>
          </a:bodyPr>
          <a:lstStyle/>
          <a:p>
            <a:pPr>
              <a:buNone/>
            </a:pPr>
            <a:r>
              <a:rPr lang="zh-CN" altLang="en-US" sz="2200"/>
              <a:t>C．父实体与弱实体的联系可以是1:1、1:N或M:N</a:t>
            </a:r>
            <a:endParaRPr lang="zh-CN" altLang="en-US" sz="2200"/>
          </a:p>
        </p:txBody>
      </p:sp>
      <p:sp>
        <p:nvSpPr>
          <p:cNvPr id="33" name="文本框 32"/>
          <p:cNvSpPr txBox="1"/>
          <p:nvPr/>
        </p:nvSpPr>
        <p:spPr>
          <a:xfrm>
            <a:off x="675005" y="4775835"/>
            <a:ext cx="7252970" cy="547370"/>
          </a:xfrm>
          <a:prstGeom prst="rect">
            <a:avLst/>
          </a:prstGeom>
          <a:noFill/>
        </p:spPr>
        <p:txBody>
          <a:bodyPr wrap="square" rtlCol="0" anchor="t">
            <a:spAutoFit/>
          </a:bodyPr>
          <a:lstStyle/>
          <a:p>
            <a:pPr>
              <a:buNone/>
            </a:pPr>
            <a:r>
              <a:rPr lang="en-US" altLang="zh-CN" sz="2200"/>
              <a:t>D</a:t>
            </a:r>
            <a:r>
              <a:rPr lang="zh-CN" altLang="en-US" sz="2200"/>
              <a:t>．父实体与弱实体的联系只能是1:1或1:N</a:t>
            </a:r>
            <a:endParaRPr lang="zh-CN" altLang="en-US" sz="2200"/>
          </a:p>
        </p:txBody>
      </p:sp>
      <p:sp>
        <p:nvSpPr>
          <p:cNvPr id="35" name="文本框 34"/>
          <p:cNvSpPr txBox="1"/>
          <p:nvPr/>
        </p:nvSpPr>
        <p:spPr>
          <a:xfrm>
            <a:off x="589915" y="5323205"/>
            <a:ext cx="8343900" cy="829945"/>
          </a:xfrm>
          <a:prstGeom prst="rect">
            <a:avLst/>
          </a:prstGeom>
          <a:noFill/>
        </p:spPr>
        <p:txBody>
          <a:bodyPr wrap="square" rtlCol="0" anchor="t">
            <a:spAutoFit/>
          </a:bodyPr>
          <a:lstStyle/>
          <a:p>
            <a:pPr>
              <a:lnSpc>
                <a:spcPct val="100000"/>
              </a:lnSpc>
              <a:buNone/>
            </a:pPr>
            <a:r>
              <a:rPr lang="en-US" altLang="zh-CN" sz="2400"/>
              <a:t>3</a:t>
            </a:r>
            <a:r>
              <a:rPr lang="zh-CN" altLang="en-US" sz="2400"/>
              <a:t>、在</a:t>
            </a:r>
            <a:r>
              <a:rPr lang="en-US" altLang="zh-CN" sz="2400"/>
              <a:t>ER</a:t>
            </a:r>
            <a:r>
              <a:rPr lang="zh-CN" altLang="en-US" sz="2400"/>
              <a:t>模型种，弱实体用</a:t>
            </a:r>
            <a:r>
              <a:rPr lang="zh-CN" altLang="en-US" sz="2400" u="sng"/>
              <a:t>   </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u="sng"/>
              <a:t> </a:t>
            </a:r>
            <a:r>
              <a:rPr lang="zh-CN" altLang="en-US" sz="2400"/>
              <a:t>表示，弱实体与识别实体之间的联系称为</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kern="100" dirty="0" smtClean="0">
                <a:latin typeface="Calibri" panose="020F0502020204030204" pitchFamily="34" charset="0"/>
                <a:cs typeface="Times New Roman" panose="02020603050405020304" pitchFamily="2" charset="0"/>
                <a:sym typeface="+mn-ea"/>
              </a:rPr>
              <a:t> ，用</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kern="100" dirty="0" smtClean="0">
                <a:latin typeface="Calibri" panose="020F0502020204030204" pitchFamily="34" charset="0"/>
                <a:cs typeface="Times New Roman" panose="02020603050405020304" pitchFamily="2" charset="0"/>
                <a:sym typeface="+mn-ea"/>
              </a:rPr>
              <a:t>来表示。</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u="sng">
                <a:sym typeface="+mn-ea"/>
              </a:rPr>
              <a:t>   </a:t>
            </a:r>
            <a:endParaRPr lang="zh-CN" altLang="en-US" sz="2400" u="sng"/>
          </a:p>
        </p:txBody>
      </p:sp>
      <p:sp>
        <p:nvSpPr>
          <p:cNvPr id="3" name="文本框 2"/>
          <p:cNvSpPr txBox="1"/>
          <p:nvPr/>
        </p:nvSpPr>
        <p:spPr>
          <a:xfrm>
            <a:off x="513715" y="1283970"/>
            <a:ext cx="6249035" cy="589280"/>
          </a:xfrm>
          <a:prstGeom prst="rect">
            <a:avLst/>
          </a:prstGeom>
          <a:noFill/>
        </p:spPr>
        <p:txBody>
          <a:bodyPr wrap="square" rtlCol="0" anchor="t">
            <a:spAutoFit/>
          </a:bodyPr>
          <a:lstStyle/>
          <a:p>
            <a:pPr>
              <a:buNone/>
            </a:pPr>
            <a:r>
              <a:rPr lang="en-US" altLang="zh-CN" sz="2400"/>
              <a:t>1</a:t>
            </a:r>
            <a:r>
              <a:rPr lang="zh-CN" altLang="en-US" sz="2400"/>
              <a:t>、数据库设计中，弱实体是指( </a:t>
            </a:r>
            <a:r>
              <a:rPr lang="zh-CN" altLang="en-US" sz="2400">
                <a:solidFill>
                  <a:srgbClr val="FF0000"/>
                </a:solidFill>
              </a:rPr>
              <a:t>  </a:t>
            </a:r>
            <a:r>
              <a:rPr lang="en-US" altLang="zh-CN" sz="2400">
                <a:solidFill>
                  <a:srgbClr val="FF0000"/>
                </a:solidFill>
              </a:rPr>
              <a:t>D</a:t>
            </a:r>
            <a:r>
              <a:rPr lang="zh-CN" altLang="en-US" sz="2400">
                <a:solidFill>
                  <a:srgbClr val="FF0000"/>
                </a:solidFill>
              </a:rPr>
              <a:t> </a:t>
            </a:r>
            <a:r>
              <a:rPr lang="zh-CN" altLang="en-US" sz="2400"/>
              <a:t> )</a:t>
            </a:r>
            <a:endParaRPr lang="zh-CN" altLang="en-US" sz="2400"/>
          </a:p>
        </p:txBody>
      </p:sp>
      <p:sp>
        <p:nvSpPr>
          <p:cNvPr id="2" name="文本框 1"/>
          <p:cNvSpPr txBox="1"/>
          <p:nvPr/>
        </p:nvSpPr>
        <p:spPr>
          <a:xfrm>
            <a:off x="4260850" y="5228590"/>
            <a:ext cx="1560830" cy="527050"/>
          </a:xfrm>
          <a:prstGeom prst="rect">
            <a:avLst/>
          </a:prstGeom>
          <a:noFill/>
        </p:spPr>
        <p:txBody>
          <a:bodyPr wrap="square" rtlCol="0" anchor="t">
            <a:spAutoFit/>
          </a:bodyPr>
          <a:lstStyle/>
          <a:p>
            <a:pPr>
              <a:buNone/>
            </a:pPr>
            <a:r>
              <a:rPr lang="zh-CN" altLang="en-US" sz="2100">
                <a:solidFill>
                  <a:srgbClr val="FF0000"/>
                </a:solidFill>
              </a:rPr>
              <a:t>加粗矩形框</a:t>
            </a:r>
            <a:endParaRPr lang="zh-CN" altLang="en-US" sz="2100">
              <a:solidFill>
                <a:srgbClr val="FF0000"/>
              </a:solidFill>
            </a:endParaRPr>
          </a:p>
        </p:txBody>
      </p:sp>
      <p:sp>
        <p:nvSpPr>
          <p:cNvPr id="4" name="文本框 3"/>
          <p:cNvSpPr txBox="1"/>
          <p:nvPr/>
        </p:nvSpPr>
        <p:spPr>
          <a:xfrm>
            <a:off x="3295650" y="5565140"/>
            <a:ext cx="1560830" cy="527050"/>
          </a:xfrm>
          <a:prstGeom prst="rect">
            <a:avLst/>
          </a:prstGeom>
          <a:noFill/>
        </p:spPr>
        <p:txBody>
          <a:bodyPr wrap="square" rtlCol="0" anchor="t">
            <a:spAutoFit/>
          </a:bodyPr>
          <a:lstStyle/>
          <a:p>
            <a:pPr>
              <a:buNone/>
            </a:pPr>
            <a:r>
              <a:rPr lang="zh-CN" altLang="en-US" sz="2100">
                <a:solidFill>
                  <a:srgbClr val="FF0000"/>
                </a:solidFill>
              </a:rPr>
              <a:t>识别联系</a:t>
            </a:r>
            <a:endParaRPr lang="zh-CN" altLang="en-US" sz="2100">
              <a:solidFill>
                <a:srgbClr val="FF0000"/>
              </a:solidFill>
            </a:endParaRPr>
          </a:p>
        </p:txBody>
      </p:sp>
      <p:sp>
        <p:nvSpPr>
          <p:cNvPr id="6" name="文本框 5"/>
          <p:cNvSpPr txBox="1"/>
          <p:nvPr/>
        </p:nvSpPr>
        <p:spPr>
          <a:xfrm>
            <a:off x="5234940" y="5562600"/>
            <a:ext cx="1560830" cy="527050"/>
          </a:xfrm>
          <a:prstGeom prst="rect">
            <a:avLst/>
          </a:prstGeom>
          <a:noFill/>
        </p:spPr>
        <p:txBody>
          <a:bodyPr wrap="square" rtlCol="0" anchor="t">
            <a:spAutoFit/>
          </a:bodyPr>
          <a:lstStyle/>
          <a:p>
            <a:pPr>
              <a:buNone/>
            </a:pPr>
            <a:r>
              <a:rPr lang="zh-CN" altLang="en-US" sz="2100">
                <a:solidFill>
                  <a:srgbClr val="FF0000"/>
                </a:solidFill>
              </a:rPr>
              <a:t>加粗菱形框 </a:t>
            </a:r>
            <a:endParaRPr lang="zh-CN" altLang="en-US" sz="2100">
              <a:solidFill>
                <a:srgbClr val="FF0000"/>
              </a:solidFill>
            </a:endParaRPr>
          </a:p>
        </p:txBody>
      </p:sp>
      <p:sp>
        <p:nvSpPr>
          <p:cNvPr id="17"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21" name="矩形 20"/>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ppt_x"/>
                                          </p:val>
                                        </p:tav>
                                        <p:tav tm="100000">
                                          <p:val>
                                            <p:strVal val="#ppt_x"/>
                                          </p:val>
                                        </p:tav>
                                      </p:tavLst>
                                    </p:anim>
                                    <p:anim calcmode="lin" valueType="num">
                                      <p:cBhvr additive="base">
                                        <p:cTn id="34" dur="500" fill="hold"/>
                                        <p:tgtEl>
                                          <p:spTgt spid="3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ppt_x"/>
                                          </p:val>
                                        </p:tav>
                                        <p:tav tm="100000">
                                          <p:val>
                                            <p:strVal val="#ppt_x"/>
                                          </p:val>
                                        </p:tav>
                                      </p:tavLst>
                                    </p:anim>
                                    <p:anim calcmode="lin" valueType="num">
                                      <p:cBhvr additive="base">
                                        <p:cTn id="38" dur="500" fill="hold"/>
                                        <p:tgtEl>
                                          <p:spTgt spid="3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 calcmode="lin" valueType="num">
                                      <p:cBhvr additive="base">
                                        <p:cTn id="45" dur="500" fill="hold"/>
                                        <p:tgtEl>
                                          <p:spTgt spid="33"/>
                                        </p:tgtEl>
                                        <p:attrNameLst>
                                          <p:attrName>ppt_x</p:attrName>
                                        </p:attrNameLst>
                                      </p:cBhvr>
                                      <p:tavLst>
                                        <p:tav tm="0">
                                          <p:val>
                                            <p:strVal val="#ppt_x"/>
                                          </p:val>
                                        </p:tav>
                                        <p:tav tm="100000">
                                          <p:val>
                                            <p:strVal val="#ppt_x"/>
                                          </p:val>
                                        </p:tav>
                                      </p:tavLst>
                                    </p:anim>
                                    <p:anim calcmode="lin" valueType="num">
                                      <p:cBhvr additive="base">
                                        <p:cTn id="4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cBhvr additive="base">
                                        <p:cTn id="51" dur="500" fill="hold"/>
                                        <p:tgtEl>
                                          <p:spTgt spid="35"/>
                                        </p:tgtEl>
                                        <p:attrNameLst>
                                          <p:attrName>ppt_x</p:attrName>
                                        </p:attrNameLst>
                                      </p:cBhvr>
                                      <p:tavLst>
                                        <p:tav tm="0">
                                          <p:val>
                                            <p:strVal val="#ppt_x"/>
                                          </p:val>
                                        </p:tav>
                                        <p:tav tm="100000">
                                          <p:val>
                                            <p:strVal val="#ppt_x"/>
                                          </p:val>
                                        </p:tav>
                                      </p:tavLst>
                                    </p:anim>
                                    <p:anim calcmode="lin" valueType="num">
                                      <p:cBhvr additive="base">
                                        <p:cTn id="52"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anim calcmode="lin" valueType="num">
                                      <p:cBhvr additive="base">
                                        <p:cTn id="57" dur="500" fill="hold"/>
                                        <p:tgtEl>
                                          <p:spTgt spid="2"/>
                                        </p:tgtEl>
                                        <p:attrNameLst>
                                          <p:attrName>ppt_x</p:attrName>
                                        </p:attrNameLst>
                                      </p:cBhvr>
                                      <p:tavLst>
                                        <p:tav tm="0">
                                          <p:val>
                                            <p:strVal val="#ppt_x"/>
                                          </p:val>
                                        </p:tav>
                                        <p:tav tm="100000">
                                          <p:val>
                                            <p:strVal val="#ppt_x"/>
                                          </p:val>
                                        </p:tav>
                                      </p:tavLst>
                                    </p:anim>
                                    <p:anim calcmode="lin" valueType="num">
                                      <p:cBhvr additive="base">
                                        <p:cTn id="5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 calcmode="lin" valueType="num">
                                      <p:cBhvr additive="base">
                                        <p:cTn id="63" dur="500" fill="hold"/>
                                        <p:tgtEl>
                                          <p:spTgt spid="4"/>
                                        </p:tgtEl>
                                        <p:attrNameLst>
                                          <p:attrName>ppt_x</p:attrName>
                                        </p:attrNameLst>
                                      </p:cBhvr>
                                      <p:tavLst>
                                        <p:tav tm="0">
                                          <p:val>
                                            <p:strVal val="#ppt_x"/>
                                          </p:val>
                                        </p:tav>
                                        <p:tav tm="100000">
                                          <p:val>
                                            <p:strVal val="#ppt_x"/>
                                          </p:val>
                                        </p:tav>
                                      </p:tavLst>
                                    </p:anim>
                                    <p:anim calcmode="lin" valueType="num">
                                      <p:cBhvr additive="base">
                                        <p:cTn id="6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6"/>
                                        </p:tgtEl>
                                        <p:attrNameLst>
                                          <p:attrName>style.visibility</p:attrName>
                                        </p:attrNameLst>
                                      </p:cBhvr>
                                      <p:to>
                                        <p:strVal val="visible"/>
                                      </p:to>
                                    </p:set>
                                    <p:anim calcmode="lin" valueType="num">
                                      <p:cBhvr additive="base">
                                        <p:cTn id="69" dur="500" fill="hold"/>
                                        <p:tgtEl>
                                          <p:spTgt spid="6"/>
                                        </p:tgtEl>
                                        <p:attrNameLst>
                                          <p:attrName>ppt_x</p:attrName>
                                        </p:attrNameLst>
                                      </p:cBhvr>
                                      <p:tavLst>
                                        <p:tav tm="0">
                                          <p:val>
                                            <p:strVal val="#ppt_x"/>
                                          </p:val>
                                        </p:tav>
                                        <p:tav tm="100000">
                                          <p:val>
                                            <p:strVal val="#ppt_x"/>
                                          </p:val>
                                        </p:tav>
                                      </p:tavLst>
                                    </p:anim>
                                    <p:anim calcmode="lin" valueType="num">
                                      <p:cBhvr additive="base">
                                        <p:cTn id="7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5" grpId="0"/>
      <p:bldP spid="26" grpId="0"/>
      <p:bldP spid="29" grpId="0"/>
      <p:bldP spid="30" grpId="0"/>
      <p:bldP spid="31" grpId="0"/>
      <p:bldP spid="32" grpId="0"/>
      <p:bldP spid="33" grpId="0"/>
      <p:bldP spid="35" grpId="0"/>
      <p:bldP spid="3" grpId="0"/>
      <p:bldP spid="2" grpId="0"/>
      <p:bldP spid="4"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5" name="Rectangle 2"/>
          <p:cNvSpPr txBox="1"/>
          <p:nvPr/>
        </p:nvSpPr>
        <p:spPr>
          <a:xfrm>
            <a:off x="480060" y="1398270"/>
            <a:ext cx="8432800" cy="2559685"/>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4</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latin typeface="宋体" panose="02010600030101010101" pitchFamily="2" charset="-122"/>
                <a:cs typeface="+mn-ea"/>
              </a:rPr>
              <a:t>某学校课程管理系统有如下</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类实体：</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a:t>
            </a:r>
            <a:r>
              <a:rPr lang="en-US" altLang="zh-CN" sz="2200" dirty="0">
                <a:latin typeface="宋体" panose="02010600030101010101" pitchFamily="2" charset="-122"/>
                <a:cs typeface="+mn-ea"/>
              </a:rPr>
              <a:t>1</a:t>
            </a:r>
            <a:r>
              <a:rPr lang="zh-CN" altLang="en-US" sz="2200" dirty="0">
                <a:latin typeface="宋体" panose="02010600030101010101" pitchFamily="2" charset="-122"/>
                <a:cs typeface="+mn-ea"/>
              </a:rPr>
              <a:t>）学生（学号</a:t>
            </a:r>
            <a:r>
              <a:rPr lang="en-US" altLang="zh-CN" sz="2200" dirty="0">
                <a:latin typeface="宋体" panose="02010600030101010101" pitchFamily="2" charset="-122"/>
                <a:cs typeface="+mn-ea"/>
              </a:rPr>
              <a:t>,</a:t>
            </a:r>
            <a:r>
              <a:rPr lang="zh-CN" altLang="en-US" sz="2200" dirty="0">
                <a:latin typeface="宋体" panose="02010600030101010101" pitchFamily="2" charset="-122"/>
                <a:cs typeface="+mn-ea"/>
              </a:rPr>
              <a:t>姓名，性别，专业）；（</a:t>
            </a:r>
            <a:r>
              <a:rPr lang="en-US" altLang="zh-CN" sz="2200" dirty="0">
                <a:latin typeface="宋体" panose="02010600030101010101" pitchFamily="2" charset="-122"/>
                <a:cs typeface="+mn-ea"/>
              </a:rPr>
              <a:t>2</a:t>
            </a:r>
            <a:r>
              <a:rPr lang="zh-CN" altLang="en-US" sz="2200" dirty="0">
                <a:latin typeface="宋体" panose="02010600030101010101" pitchFamily="2" charset="-122"/>
                <a:cs typeface="+mn-ea"/>
              </a:rPr>
              <a:t>）教师（职工号，姓名，职称，所在系）；（</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）课程（课程编号，课程名，学分）。</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有如下规定：（1）每个学生每学期至少选修1门课，最多选修6门课；每门课程最多90个学生，可以没人选，选课有学期和成绩属性。每位教师最多讲授3门课，也可以不上课，没门课必须有一位老师上。根据语义画出</a:t>
            </a:r>
            <a:r>
              <a:rPr lang="en-US" altLang="zh-CN" sz="2200" dirty="0">
                <a:latin typeface="宋体" panose="02010600030101010101" pitchFamily="2" charset="-122"/>
                <a:cs typeface="+mn-ea"/>
              </a:rPr>
              <a:t>ER</a:t>
            </a:r>
            <a:r>
              <a:rPr lang="zh-CN" altLang="en-US" sz="2200" dirty="0">
                <a:latin typeface="宋体" panose="02010600030101010101" pitchFamily="2" charset="-122"/>
                <a:cs typeface="+mn-ea"/>
              </a:rPr>
              <a:t>图，标明一般性约束、键约束和参与约束。</a:t>
            </a:r>
            <a:endParaRPr lang="zh-CN" altLang="en-US" sz="2200" dirty="0">
              <a:latin typeface="宋体" panose="02010600030101010101" pitchFamily="2" charset="-122"/>
              <a:cs typeface="+mn-ea"/>
            </a:endParaRPr>
          </a:p>
        </p:txBody>
      </p:sp>
      <p:sp>
        <p:nvSpPr>
          <p:cNvPr id="4" name="矩形 3"/>
          <p:cNvSpPr/>
          <p:nvPr/>
        </p:nvSpPr>
        <p:spPr>
          <a:xfrm>
            <a:off x="403450" y="696230"/>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zh-CN" sz="2800" kern="100" dirty="0" smtClean="0">
                <a:solidFill>
                  <a:srgbClr val="FF0000"/>
                </a:solidFill>
                <a:latin typeface="Calibri" panose="020F0502020204030204" pitchFamily="34" charset="0"/>
                <a:cs typeface="Times New Roman" panose="02020603050405020304" pitchFamily="2" charset="0"/>
              </a:rPr>
              <a:t>研讨问题：</a:t>
            </a:r>
            <a:endParaRPr lang="en-US" altLang="zh-CN" sz="2800" kern="100" dirty="0">
              <a:latin typeface="Calibri" panose="020F0502020204030204" pitchFamily="34" charset="0"/>
              <a:cs typeface="Times New Roman" panose="02020603050405020304" pitchFamily="2" charset="0"/>
            </a:endParaRPr>
          </a:p>
        </p:txBody>
      </p:sp>
      <p:sp>
        <p:nvSpPr>
          <p:cNvPr id="5"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5" name="Rectangle 2"/>
          <p:cNvSpPr txBox="1"/>
          <p:nvPr/>
        </p:nvSpPr>
        <p:spPr>
          <a:xfrm>
            <a:off x="480060" y="1398270"/>
            <a:ext cx="8229600" cy="2559685"/>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4</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latin typeface="宋体" panose="02010600030101010101" pitchFamily="2" charset="-122"/>
                <a:cs typeface="+mn-ea"/>
              </a:rPr>
              <a:t>某学校课程管理系统有如下</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类实体：</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a:t>
            </a:r>
            <a:r>
              <a:rPr lang="en-US" altLang="zh-CN" sz="2200" dirty="0">
                <a:latin typeface="宋体" panose="02010600030101010101" pitchFamily="2" charset="-122"/>
                <a:cs typeface="+mn-ea"/>
              </a:rPr>
              <a:t>1</a:t>
            </a:r>
            <a:r>
              <a:rPr lang="zh-CN" altLang="en-US" sz="2200" dirty="0">
                <a:latin typeface="宋体" panose="02010600030101010101" pitchFamily="2" charset="-122"/>
                <a:cs typeface="+mn-ea"/>
              </a:rPr>
              <a:t>）学生（学号</a:t>
            </a:r>
            <a:r>
              <a:rPr lang="en-US" altLang="zh-CN" sz="2200" dirty="0">
                <a:latin typeface="宋体" panose="02010600030101010101" pitchFamily="2" charset="-122"/>
                <a:cs typeface="+mn-ea"/>
              </a:rPr>
              <a:t>,</a:t>
            </a:r>
            <a:r>
              <a:rPr lang="zh-CN" altLang="en-US" sz="2200" dirty="0">
                <a:latin typeface="宋体" panose="02010600030101010101" pitchFamily="2" charset="-122"/>
                <a:cs typeface="+mn-ea"/>
              </a:rPr>
              <a:t>姓名，性别，专业）；（</a:t>
            </a:r>
            <a:r>
              <a:rPr lang="en-US" altLang="zh-CN" sz="2200" dirty="0">
                <a:latin typeface="宋体" panose="02010600030101010101" pitchFamily="2" charset="-122"/>
                <a:cs typeface="+mn-ea"/>
              </a:rPr>
              <a:t>2</a:t>
            </a:r>
            <a:r>
              <a:rPr lang="zh-CN" altLang="en-US" sz="2200" dirty="0">
                <a:latin typeface="宋体" panose="02010600030101010101" pitchFamily="2" charset="-122"/>
                <a:cs typeface="+mn-ea"/>
              </a:rPr>
              <a:t>）教师（职工号，姓名，职称，所在系）；（</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）课程（课程编号，课程名，学分）。</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有如下规定：（1）每个学生每学期至少选修1门课，最多选修6门课；每门课程最多90个学生，可以没人选，每位教师最多讲授3门课，也可以不上课，每门课必须有一位老师上。根据语义画出</a:t>
            </a:r>
            <a:r>
              <a:rPr lang="en-US" altLang="zh-CN" sz="2200" dirty="0">
                <a:latin typeface="宋体" panose="02010600030101010101" pitchFamily="2" charset="-122"/>
                <a:cs typeface="+mn-ea"/>
              </a:rPr>
              <a:t>ER</a:t>
            </a:r>
            <a:r>
              <a:rPr lang="zh-CN" altLang="en-US" sz="2200" dirty="0">
                <a:latin typeface="宋体" panose="02010600030101010101" pitchFamily="2" charset="-122"/>
                <a:cs typeface="+mn-ea"/>
              </a:rPr>
              <a:t>图，标明一般性约束、键约束和参与约束。</a:t>
            </a:r>
            <a:endParaRPr lang="zh-CN" altLang="en-US" sz="2200" dirty="0">
              <a:latin typeface="宋体" panose="02010600030101010101" pitchFamily="2" charset="-122"/>
              <a:cs typeface="+mn-ea"/>
            </a:endParaRPr>
          </a:p>
        </p:txBody>
      </p:sp>
      <p:grpSp>
        <p:nvGrpSpPr>
          <p:cNvPr id="35" name="组合 34"/>
          <p:cNvGrpSpPr/>
          <p:nvPr/>
        </p:nvGrpSpPr>
        <p:grpSpPr>
          <a:xfrm>
            <a:off x="480060" y="3637915"/>
            <a:ext cx="7823835" cy="2632710"/>
            <a:chOff x="756" y="5729"/>
            <a:chExt cx="12321" cy="4146"/>
          </a:xfrm>
        </p:grpSpPr>
        <p:grpSp>
          <p:nvGrpSpPr>
            <p:cNvPr id="59398" name="Group 3"/>
            <p:cNvGrpSpPr/>
            <p:nvPr/>
          </p:nvGrpSpPr>
          <p:grpSpPr>
            <a:xfrm>
              <a:off x="5820" y="6657"/>
              <a:ext cx="7195" cy="2774"/>
              <a:chOff x="-798" y="0"/>
              <a:chExt cx="1706" cy="777"/>
            </a:xfrm>
          </p:grpSpPr>
          <p:sp>
            <p:nvSpPr>
              <p:cNvPr id="59399" name="Line 4"/>
              <p:cNvSpPr/>
              <p:nvPr/>
            </p:nvSpPr>
            <p:spPr>
              <a:xfrm flipV="1">
                <a:off x="240" y="192"/>
                <a:ext cx="0" cy="240"/>
              </a:xfrm>
              <a:prstGeom prst="line">
                <a:avLst/>
              </a:prstGeom>
              <a:ln w="60325" cap="flat" cmpd="sng">
                <a:solidFill>
                  <a:srgbClr val="C00000"/>
                </a:solidFill>
                <a:prstDash val="solid"/>
                <a:round/>
                <a:headEnd type="none" w="med" len="med"/>
                <a:tailEnd type="none" w="med" len="med"/>
              </a:ln>
            </p:spPr>
          </p:sp>
          <p:sp>
            <p:nvSpPr>
              <p:cNvPr id="59400" name="Line 5"/>
              <p:cNvSpPr/>
              <p:nvPr/>
            </p:nvSpPr>
            <p:spPr>
              <a:xfrm>
                <a:off x="-397" y="553"/>
                <a:ext cx="395" cy="2"/>
              </a:xfrm>
              <a:prstGeom prst="line">
                <a:avLst/>
              </a:prstGeom>
              <a:ln w="25400" cap="flat" cmpd="sng">
                <a:solidFill>
                  <a:srgbClr val="000000"/>
                </a:solidFill>
                <a:prstDash val="solid"/>
                <a:round/>
                <a:headEnd type="none" w="med" len="med"/>
                <a:tailEnd type="none" w="med" len="med"/>
              </a:ln>
            </p:spPr>
          </p:sp>
          <p:sp>
            <p:nvSpPr>
              <p:cNvPr id="59401" name="Line 6"/>
              <p:cNvSpPr/>
              <p:nvPr/>
            </p:nvSpPr>
            <p:spPr>
              <a:xfrm flipH="1" flipV="1">
                <a:off x="336" y="480"/>
                <a:ext cx="255" cy="20"/>
              </a:xfrm>
              <a:prstGeom prst="line">
                <a:avLst/>
              </a:prstGeom>
              <a:ln w="25400" cap="flat" cmpd="sng">
                <a:solidFill>
                  <a:srgbClr val="000000"/>
                </a:solidFill>
                <a:prstDash val="solid"/>
                <a:round/>
                <a:headEnd type="none" w="med" len="med"/>
                <a:tailEnd type="none" w="med" len="med"/>
              </a:ln>
            </p:spPr>
          </p:sp>
          <p:sp>
            <p:nvSpPr>
              <p:cNvPr id="59402"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9403" name="Rectangle 8"/>
              <p:cNvSpPr/>
              <p:nvPr/>
            </p:nvSpPr>
            <p:spPr>
              <a:xfrm>
                <a:off x="-798" y="427"/>
                <a:ext cx="401" cy="226"/>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9404" name="AutoShape 9"/>
              <p:cNvSpPr/>
              <p:nvPr/>
            </p:nvSpPr>
            <p:spPr>
              <a:xfrm>
                <a:off x="0" y="432"/>
                <a:ext cx="480" cy="240"/>
              </a:xfrm>
              <a:prstGeom prst="diamond">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5" name="Oval 10"/>
              <p:cNvSpPr/>
              <p:nvPr/>
            </p:nvSpPr>
            <p:spPr>
              <a:xfrm>
                <a:off x="581" y="437"/>
                <a:ext cx="327" cy="159"/>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6" name="Oval 11"/>
              <p:cNvSpPr/>
              <p:nvPr/>
            </p:nvSpPr>
            <p:spPr>
              <a:xfrm>
                <a:off x="576" y="620"/>
                <a:ext cx="332" cy="157"/>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7" name="Rectangle 12"/>
              <p:cNvSpPr/>
              <p:nvPr/>
            </p:nvSpPr>
            <p:spPr>
              <a:xfrm>
                <a:off x="48" y="0"/>
                <a:ext cx="401" cy="192"/>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sp>
          <p:nvSpPr>
            <p:cNvPr id="2" name="Rectangle 8"/>
            <p:cNvSpPr/>
            <p:nvPr/>
          </p:nvSpPr>
          <p:spPr>
            <a:xfrm>
              <a:off x="2780" y="6657"/>
              <a:ext cx="1552" cy="807"/>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zh-CN" altLang="de-DE" sz="1600" dirty="0">
                  <a:solidFill>
                    <a:srgbClr val="000000"/>
                  </a:solidFill>
                  <a:latin typeface="宋体" panose="02010600030101010101" pitchFamily="2" charset="-122"/>
                  <a:ea typeface="宋体" panose="02010600030101010101" pitchFamily="2" charset="-122"/>
                </a:rPr>
                <a:t>教师</a:t>
              </a:r>
              <a:endParaRPr lang="zh-CN" altLang="de-DE" sz="1600" dirty="0">
                <a:solidFill>
                  <a:srgbClr val="000000"/>
                </a:solidFill>
                <a:latin typeface="宋体" panose="02010600030101010101" pitchFamily="2" charset="-122"/>
                <a:ea typeface="宋体" panose="02010600030101010101" pitchFamily="2" charset="-122"/>
              </a:endParaRPr>
            </a:p>
          </p:txBody>
        </p:sp>
        <p:sp>
          <p:nvSpPr>
            <p:cNvPr id="3" name="Oval 10"/>
            <p:cNvSpPr/>
            <p:nvPr/>
          </p:nvSpPr>
          <p:spPr>
            <a:xfrm>
              <a:off x="11678" y="5729"/>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学号</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5" name="Oval 10"/>
            <p:cNvSpPr/>
            <p:nvPr/>
          </p:nvSpPr>
          <p:spPr>
            <a:xfrm>
              <a:off x="11678" y="633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姓名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6" name="Oval 10"/>
            <p:cNvSpPr/>
            <p:nvPr/>
          </p:nvSpPr>
          <p:spPr>
            <a:xfrm>
              <a:off x="11678" y="6905"/>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性别</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7" name="Oval 10"/>
            <p:cNvSpPr/>
            <p:nvPr/>
          </p:nvSpPr>
          <p:spPr>
            <a:xfrm>
              <a:off x="11698" y="7465"/>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专业</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8" name="Line 6"/>
            <p:cNvSpPr/>
            <p:nvPr/>
          </p:nvSpPr>
          <p:spPr>
            <a:xfrm flipH="1">
              <a:off x="11079" y="6094"/>
              <a:ext cx="619" cy="812"/>
            </a:xfrm>
            <a:prstGeom prst="line">
              <a:avLst/>
            </a:prstGeom>
            <a:ln w="25400" cap="flat" cmpd="sng">
              <a:solidFill>
                <a:srgbClr val="000000"/>
              </a:solidFill>
              <a:prstDash val="solid"/>
              <a:round/>
              <a:headEnd type="none" w="med" len="med"/>
              <a:tailEnd type="none" w="med" len="med"/>
            </a:ln>
          </p:spPr>
        </p:sp>
        <p:sp>
          <p:nvSpPr>
            <p:cNvPr id="9" name="Line 6"/>
            <p:cNvSpPr/>
            <p:nvPr/>
          </p:nvSpPr>
          <p:spPr>
            <a:xfrm flipH="1">
              <a:off x="11079" y="6657"/>
              <a:ext cx="619" cy="249"/>
            </a:xfrm>
            <a:prstGeom prst="line">
              <a:avLst/>
            </a:prstGeom>
            <a:ln w="25400" cap="flat" cmpd="sng">
              <a:solidFill>
                <a:srgbClr val="000000"/>
              </a:solidFill>
              <a:prstDash val="solid"/>
              <a:round/>
              <a:headEnd type="none" w="med" len="med"/>
              <a:tailEnd type="none" w="med" len="med"/>
            </a:ln>
          </p:spPr>
        </p:sp>
        <p:sp>
          <p:nvSpPr>
            <p:cNvPr id="10" name="Line 6"/>
            <p:cNvSpPr/>
            <p:nvPr/>
          </p:nvSpPr>
          <p:spPr>
            <a:xfrm flipH="1" flipV="1">
              <a:off x="11079" y="6906"/>
              <a:ext cx="619" cy="246"/>
            </a:xfrm>
            <a:prstGeom prst="line">
              <a:avLst/>
            </a:prstGeom>
            <a:ln w="25400" cap="flat" cmpd="sng">
              <a:solidFill>
                <a:srgbClr val="000000"/>
              </a:solidFill>
              <a:prstDash val="solid"/>
              <a:round/>
              <a:headEnd type="none" w="med" len="med"/>
              <a:tailEnd type="none" w="med" len="med"/>
            </a:ln>
          </p:spPr>
        </p:sp>
        <p:sp>
          <p:nvSpPr>
            <p:cNvPr id="11" name="Line 6"/>
            <p:cNvSpPr/>
            <p:nvPr/>
          </p:nvSpPr>
          <p:spPr>
            <a:xfrm flipH="1" flipV="1">
              <a:off x="11079" y="6906"/>
              <a:ext cx="619" cy="856"/>
            </a:xfrm>
            <a:prstGeom prst="line">
              <a:avLst/>
            </a:prstGeom>
            <a:ln w="25400" cap="flat" cmpd="sng">
              <a:solidFill>
                <a:srgbClr val="000000"/>
              </a:solidFill>
              <a:prstDash val="solid"/>
              <a:round/>
              <a:headEnd type="none" w="med" len="med"/>
              <a:tailEnd type="none" w="med" len="med"/>
            </a:ln>
          </p:spPr>
        </p:sp>
        <p:sp>
          <p:nvSpPr>
            <p:cNvPr id="12" name="Oval 10"/>
            <p:cNvSpPr/>
            <p:nvPr/>
          </p:nvSpPr>
          <p:spPr>
            <a:xfrm>
              <a:off x="756" y="6338"/>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职工号</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14" name="Oval 10"/>
            <p:cNvSpPr/>
            <p:nvPr/>
          </p:nvSpPr>
          <p:spPr>
            <a:xfrm>
              <a:off x="756" y="6970"/>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姓名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5" name="Oval 10"/>
            <p:cNvSpPr/>
            <p:nvPr/>
          </p:nvSpPr>
          <p:spPr>
            <a:xfrm>
              <a:off x="756" y="7602"/>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职称</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6" name="Oval 10"/>
            <p:cNvSpPr/>
            <p:nvPr/>
          </p:nvSpPr>
          <p:spPr>
            <a:xfrm>
              <a:off x="756" y="821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所在系</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7" name="Oval 10"/>
            <p:cNvSpPr/>
            <p:nvPr/>
          </p:nvSpPr>
          <p:spPr>
            <a:xfrm>
              <a:off x="4441" y="9227"/>
              <a:ext cx="1658" cy="64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课程编码</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18" name="Oval 10"/>
            <p:cNvSpPr/>
            <p:nvPr/>
          </p:nvSpPr>
          <p:spPr>
            <a:xfrm>
              <a:off x="6133" y="922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课程名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9" name="Oval 10"/>
            <p:cNvSpPr/>
            <p:nvPr/>
          </p:nvSpPr>
          <p:spPr>
            <a:xfrm>
              <a:off x="7512" y="9227"/>
              <a:ext cx="1021"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学分</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20" name="Line 6"/>
            <p:cNvSpPr/>
            <p:nvPr/>
          </p:nvSpPr>
          <p:spPr>
            <a:xfrm flipH="1" flipV="1">
              <a:off x="6759" y="8988"/>
              <a:ext cx="94" cy="240"/>
            </a:xfrm>
            <a:prstGeom prst="line">
              <a:avLst/>
            </a:prstGeom>
            <a:ln w="25400" cap="flat" cmpd="sng">
              <a:solidFill>
                <a:srgbClr val="000000"/>
              </a:solidFill>
              <a:prstDash val="solid"/>
              <a:round/>
              <a:headEnd type="none" w="med" len="med"/>
              <a:tailEnd type="none" w="med" len="med"/>
            </a:ln>
          </p:spPr>
        </p:sp>
        <p:sp>
          <p:nvSpPr>
            <p:cNvPr id="21" name="Line 6"/>
            <p:cNvSpPr/>
            <p:nvPr/>
          </p:nvSpPr>
          <p:spPr>
            <a:xfrm flipH="1" flipV="1">
              <a:off x="6759" y="8988"/>
              <a:ext cx="991" cy="240"/>
            </a:xfrm>
            <a:prstGeom prst="line">
              <a:avLst/>
            </a:prstGeom>
            <a:ln w="25400" cap="flat" cmpd="sng">
              <a:solidFill>
                <a:srgbClr val="000000"/>
              </a:solidFill>
              <a:prstDash val="solid"/>
              <a:round/>
              <a:headEnd type="none" w="med" len="med"/>
              <a:tailEnd type="none" w="med" len="med"/>
            </a:ln>
          </p:spPr>
        </p:sp>
        <p:sp>
          <p:nvSpPr>
            <p:cNvPr id="22" name="Line 6"/>
            <p:cNvSpPr/>
            <p:nvPr/>
          </p:nvSpPr>
          <p:spPr>
            <a:xfrm flipV="1">
              <a:off x="5454" y="8988"/>
              <a:ext cx="1398" cy="240"/>
            </a:xfrm>
            <a:prstGeom prst="line">
              <a:avLst/>
            </a:prstGeom>
            <a:ln w="25400" cap="flat" cmpd="sng">
              <a:solidFill>
                <a:srgbClr val="000000"/>
              </a:solidFill>
              <a:prstDash val="solid"/>
              <a:round/>
              <a:headEnd type="none" w="med" len="med"/>
              <a:tailEnd type="none" w="med" len="med"/>
            </a:ln>
          </p:spPr>
        </p:sp>
        <p:sp>
          <p:nvSpPr>
            <p:cNvPr id="23" name="Line 6"/>
            <p:cNvSpPr/>
            <p:nvPr/>
          </p:nvSpPr>
          <p:spPr>
            <a:xfrm flipV="1">
              <a:off x="2134" y="7151"/>
              <a:ext cx="647" cy="1219"/>
            </a:xfrm>
            <a:prstGeom prst="line">
              <a:avLst/>
            </a:prstGeom>
            <a:ln w="25400" cap="flat" cmpd="sng">
              <a:solidFill>
                <a:srgbClr val="000000"/>
              </a:solidFill>
              <a:prstDash val="solid"/>
              <a:round/>
              <a:headEnd type="none" w="med" len="med"/>
              <a:tailEnd type="none" w="med" len="med"/>
            </a:ln>
          </p:spPr>
        </p:sp>
        <p:sp>
          <p:nvSpPr>
            <p:cNvPr id="24" name="Line 6"/>
            <p:cNvSpPr/>
            <p:nvPr/>
          </p:nvSpPr>
          <p:spPr>
            <a:xfrm flipV="1">
              <a:off x="2133" y="7152"/>
              <a:ext cx="647" cy="646"/>
            </a:xfrm>
            <a:prstGeom prst="line">
              <a:avLst/>
            </a:prstGeom>
            <a:ln w="25400" cap="flat" cmpd="sng">
              <a:solidFill>
                <a:srgbClr val="000000"/>
              </a:solidFill>
              <a:prstDash val="solid"/>
              <a:round/>
              <a:headEnd type="none" w="med" len="med"/>
              <a:tailEnd type="none" w="med" len="med"/>
            </a:ln>
          </p:spPr>
        </p:sp>
        <p:sp>
          <p:nvSpPr>
            <p:cNvPr id="25" name="Line 6"/>
            <p:cNvSpPr/>
            <p:nvPr/>
          </p:nvSpPr>
          <p:spPr>
            <a:xfrm flipV="1">
              <a:off x="2133" y="7151"/>
              <a:ext cx="647" cy="191"/>
            </a:xfrm>
            <a:prstGeom prst="line">
              <a:avLst/>
            </a:prstGeom>
            <a:ln w="25400" cap="flat" cmpd="sng">
              <a:solidFill>
                <a:srgbClr val="000000"/>
              </a:solidFill>
              <a:prstDash val="solid"/>
              <a:round/>
              <a:headEnd type="none" w="med" len="med"/>
              <a:tailEnd type="none" w="med" len="med"/>
            </a:ln>
          </p:spPr>
        </p:sp>
        <p:sp>
          <p:nvSpPr>
            <p:cNvPr id="26" name="Line 6"/>
            <p:cNvSpPr/>
            <p:nvPr/>
          </p:nvSpPr>
          <p:spPr>
            <a:xfrm>
              <a:off x="2133" y="6657"/>
              <a:ext cx="647" cy="494"/>
            </a:xfrm>
            <a:prstGeom prst="line">
              <a:avLst/>
            </a:prstGeom>
            <a:ln w="25400" cap="flat" cmpd="sng">
              <a:solidFill>
                <a:srgbClr val="000000"/>
              </a:solidFill>
              <a:prstDash val="solid"/>
              <a:round/>
              <a:headEnd type="none" w="med" len="med"/>
              <a:tailEnd type="none" w="med" len="med"/>
            </a:ln>
          </p:spPr>
        </p:sp>
        <p:sp>
          <p:nvSpPr>
            <p:cNvPr id="27" name="AutoShape 9"/>
            <p:cNvSpPr/>
            <p:nvPr/>
          </p:nvSpPr>
          <p:spPr>
            <a:xfrm>
              <a:off x="2604" y="8073"/>
              <a:ext cx="1988" cy="857"/>
            </a:xfrm>
            <a:prstGeom prst="diamond">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8" name="Line 4"/>
            <p:cNvSpPr/>
            <p:nvPr/>
          </p:nvSpPr>
          <p:spPr>
            <a:xfrm flipV="1">
              <a:off x="4568" y="8442"/>
              <a:ext cx="1252" cy="18"/>
            </a:xfrm>
            <a:prstGeom prst="line">
              <a:avLst/>
            </a:prstGeom>
            <a:ln w="60325" cap="flat" cmpd="sng">
              <a:solidFill>
                <a:srgbClr val="C00000"/>
              </a:solidFill>
              <a:prstDash val="solid"/>
              <a:round/>
              <a:headEnd type="triangle" w="med" len="med"/>
              <a:tailEnd type="none" w="med" len="med"/>
            </a:ln>
          </p:spPr>
        </p:sp>
        <p:sp>
          <p:nvSpPr>
            <p:cNvPr id="29" name="Line 5"/>
            <p:cNvSpPr/>
            <p:nvPr/>
          </p:nvSpPr>
          <p:spPr>
            <a:xfrm flipH="1" flipV="1">
              <a:off x="3609" y="7473"/>
              <a:ext cx="3" cy="600"/>
            </a:xfrm>
            <a:prstGeom prst="line">
              <a:avLst/>
            </a:prstGeom>
            <a:ln w="25400" cap="flat" cmpd="sng">
              <a:solidFill>
                <a:srgbClr val="000000"/>
              </a:solidFill>
              <a:prstDash val="solid"/>
              <a:round/>
              <a:headEnd type="none" w="med" len="med"/>
              <a:tailEnd type="none" w="med" len="med"/>
            </a:ln>
          </p:spPr>
        </p:sp>
        <p:sp>
          <p:nvSpPr>
            <p:cNvPr id="30" name="Text Box 39"/>
            <p:cNvSpPr txBox="1"/>
            <p:nvPr/>
          </p:nvSpPr>
          <p:spPr>
            <a:xfrm>
              <a:off x="3713" y="7483"/>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1(0,3)</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1" name="Text Box 39"/>
            <p:cNvSpPr txBox="1"/>
            <p:nvPr/>
          </p:nvSpPr>
          <p:spPr>
            <a:xfrm>
              <a:off x="4323" y="8574"/>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n(1,1)</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2" name="Text Box 39"/>
            <p:cNvSpPr txBox="1"/>
            <p:nvPr/>
          </p:nvSpPr>
          <p:spPr>
            <a:xfrm>
              <a:off x="10339" y="7443"/>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m(1,6)</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3" name="Text Box 39"/>
            <p:cNvSpPr txBox="1"/>
            <p:nvPr/>
          </p:nvSpPr>
          <p:spPr>
            <a:xfrm>
              <a:off x="7887" y="7984"/>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n(0,90)</a:t>
              </a:r>
              <a:endParaRPr lang="zh-CN" altLang="en-US" sz="2000" dirty="0">
                <a:solidFill>
                  <a:srgbClr val="0033CC"/>
                </a:solidFill>
                <a:latin typeface="宋体" panose="02010600030101010101" pitchFamily="2" charset="-122"/>
                <a:ea typeface="宋体" panose="02010600030101010101" pitchFamily="2" charset="-122"/>
              </a:endParaRPr>
            </a:p>
          </p:txBody>
        </p:sp>
      </p:grpSp>
      <p:sp>
        <p:nvSpPr>
          <p:cNvPr id="45" name="矩形 44"/>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
        <p:nvSpPr>
          <p:cNvPr id="4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p:nvPr/>
        </p:nvSpPr>
        <p:spPr>
          <a:xfrm>
            <a:off x="518795" y="1449070"/>
            <a:ext cx="8329295" cy="2560320"/>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5</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solidFill>
                  <a:schemeClr val="tx1"/>
                </a:solidFill>
                <a:latin typeface="宋体" panose="02010600030101010101" pitchFamily="2" charset="-122"/>
              </a:rPr>
              <a:t>学生档案管理系统中，涉及到的实体有三类，一类是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班级</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（班号，班名），二是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学生</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（学号，姓名，性别，出生年月，年龄），三是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家长</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（称谓，姓名，联系电话）。其中学生和班级之间存在</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属于</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联系，一个学生只能属于一个班级，一个班级可以有多名学生；学生和家长之间存在</a:t>
            </a:r>
            <a:r>
              <a:rPr lang="en-US" altLang="zh-CN" sz="2200" dirty="0">
                <a:solidFill>
                  <a:schemeClr val="tx1"/>
                </a:solidFill>
                <a:latin typeface="宋体" panose="02010600030101010101" pitchFamily="2" charset="-122"/>
              </a:rPr>
              <a:t>“</a:t>
            </a:r>
            <a:r>
              <a:rPr lang="zh-CN" altLang="en-US" sz="2200" u="sng" dirty="0">
                <a:solidFill>
                  <a:srgbClr val="0033CC"/>
                </a:solidFill>
                <a:latin typeface="宋体" panose="02010600030101010101" pitchFamily="2" charset="-122"/>
              </a:rPr>
              <a:t>监护</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识别联系，一个学生可以有多个监护人。画出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p:txBody>
      </p:sp>
      <p:sp>
        <p:nvSpPr>
          <p:cNvPr id="5" name="矩形 4"/>
          <p:cNvSpPr/>
          <p:nvPr/>
        </p:nvSpPr>
        <p:spPr>
          <a:xfrm>
            <a:off x="403450" y="728886"/>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zh-CN" sz="2800" kern="100" dirty="0" smtClean="0">
                <a:solidFill>
                  <a:srgbClr val="FF0000"/>
                </a:solidFill>
                <a:latin typeface="Calibri" panose="020F0502020204030204" pitchFamily="34" charset="0"/>
                <a:cs typeface="Times New Roman" panose="02020603050405020304" pitchFamily="2" charset="0"/>
              </a:rPr>
              <a:t>研讨问题：</a:t>
            </a:r>
            <a:endParaRPr lang="en-US" altLang="zh-CN" sz="2800" kern="100" dirty="0">
              <a:latin typeface="Calibri" panose="020F0502020204030204" pitchFamily="34" charset="0"/>
              <a:cs typeface="Times New Roman" panose="02020603050405020304" pitchFamily="2" charset="0"/>
            </a:endParaRPr>
          </a:p>
        </p:txBody>
      </p:sp>
      <p:sp>
        <p:nvSpPr>
          <p:cNvPr id="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5" name="Rectangle 2"/>
          <p:cNvSpPr txBox="1"/>
          <p:nvPr/>
        </p:nvSpPr>
        <p:spPr>
          <a:xfrm>
            <a:off x="479743" y="1436053"/>
            <a:ext cx="8229600" cy="706437"/>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5</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solidFill>
                  <a:schemeClr val="tx1"/>
                </a:solidFill>
                <a:latin typeface="宋体" panose="02010600030101010101" pitchFamily="2" charset="-122"/>
              </a:rPr>
              <a:t>学生档案管理系统中，涉及到的实体有三类，一类是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班级</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（班号，班名），二是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学生</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（学号，姓名，性别，出生年月，年龄），三是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家长</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（称谓，姓名，联系电话）。其中学生和班级之间存在</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属于</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联系，一个学生只能属于一个班级，一个班级可以有多名学生；学生和家长之间存在</a:t>
            </a:r>
            <a:r>
              <a:rPr lang="en-US" altLang="zh-CN" sz="2200" dirty="0">
                <a:solidFill>
                  <a:schemeClr val="tx1"/>
                </a:solidFill>
                <a:latin typeface="宋体" panose="02010600030101010101" pitchFamily="2" charset="-122"/>
              </a:rPr>
              <a:t>“</a:t>
            </a:r>
            <a:r>
              <a:rPr lang="zh-CN" altLang="en-US" sz="2200" u="sng" dirty="0">
                <a:solidFill>
                  <a:srgbClr val="0033CC"/>
                </a:solidFill>
                <a:latin typeface="宋体" panose="02010600030101010101" pitchFamily="2" charset="-122"/>
              </a:rPr>
              <a:t>监护</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识别联系，一个学生可以有多个监护人。画出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p:txBody>
      </p:sp>
      <p:sp>
        <p:nvSpPr>
          <p:cNvPr id="67589" name="Freeform 2"/>
          <p:cNvSpPr/>
          <p:nvPr/>
        </p:nvSpPr>
        <p:spPr>
          <a:xfrm>
            <a:off x="1880870" y="4269105"/>
            <a:ext cx="721995" cy="54292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solidFill>
          <a:ln w="9525" cap="flat" cmpd="sng">
            <a:solidFill>
              <a:schemeClr val="tx1"/>
            </a:solidFill>
            <a:prstDash val="solid"/>
            <a:miter/>
            <a:headEnd type="none" w="med" len="med"/>
            <a:tailEnd type="none" w="med" len="med"/>
          </a:ln>
        </p:spPr>
        <p:txBody>
          <a:bodyPr lIns="0" tIns="0" rIns="0" bIns="0"/>
          <a:lstStyle/>
          <a:p>
            <a:endParaRPr lang="zh-CN" altLang="en-US"/>
          </a:p>
        </p:txBody>
      </p:sp>
      <p:sp>
        <p:nvSpPr>
          <p:cNvPr id="67590" name="Freeform 6"/>
          <p:cNvSpPr/>
          <p:nvPr/>
        </p:nvSpPr>
        <p:spPr>
          <a:xfrm>
            <a:off x="4479925" y="5189220"/>
            <a:ext cx="1597025" cy="603885"/>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CCFFFF"/>
          </a:solidFill>
          <a:ln w="9525">
            <a:noFill/>
          </a:ln>
        </p:spPr>
        <p:txBody>
          <a:bodyPr lIns="0" tIns="0" rIns="0" bIns="0"/>
          <a:lstStyle/>
          <a:p>
            <a:endParaRPr lang="zh-CN" altLang="en-US"/>
          </a:p>
        </p:txBody>
      </p:sp>
      <p:sp>
        <p:nvSpPr>
          <p:cNvPr id="67591" name="Freeform 7"/>
          <p:cNvSpPr/>
          <p:nvPr/>
        </p:nvSpPr>
        <p:spPr>
          <a:xfrm>
            <a:off x="4479925" y="5189220"/>
            <a:ext cx="1597025" cy="603885"/>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FFCCFF"/>
          </a:solidFill>
          <a:ln w="47625" cap="flat" cmpd="sng">
            <a:solidFill>
              <a:srgbClr val="FF0000"/>
            </a:solidFill>
            <a:prstDash val="solid"/>
            <a:miter/>
            <a:headEnd type="none" w="med" len="med"/>
            <a:tailEnd type="none" w="med" len="med"/>
          </a:ln>
        </p:spPr>
        <p:txBody>
          <a:bodyPr lIns="0" tIns="0" rIns="0" bIns="0"/>
          <a:lstStyle/>
          <a:p>
            <a:endParaRPr lang="zh-CN" altLang="en-US"/>
          </a:p>
        </p:txBody>
      </p:sp>
      <p:sp>
        <p:nvSpPr>
          <p:cNvPr id="67592" name="Rectangle 8"/>
          <p:cNvSpPr/>
          <p:nvPr/>
        </p:nvSpPr>
        <p:spPr>
          <a:xfrm>
            <a:off x="4972050" y="5287010"/>
            <a:ext cx="619760" cy="497840"/>
          </a:xfrm>
          <a:prstGeom prst="rect">
            <a:avLst/>
          </a:prstGeom>
          <a:noFill/>
          <a:ln w="9525">
            <a:noFill/>
          </a:ln>
        </p:spPr>
        <p:txBody>
          <a:bodyPr lIns="0" tIns="0" rIns="0" bIns="0" anchor="t">
            <a:spAutoFit/>
          </a:bodyPr>
          <a:lstStyle/>
          <a:p>
            <a:pPr lvl="0" indent="0" algn="ctr">
              <a:buNone/>
            </a:pPr>
            <a:r>
              <a:rPr lang="zh-CN" altLang="zh-CN" sz="2400" dirty="0">
                <a:solidFill>
                  <a:srgbClr val="000000"/>
                </a:solidFill>
                <a:latin typeface="宋体" panose="02010600030101010101" pitchFamily="2" charset="-122"/>
                <a:ea typeface="宋体" panose="02010600030101010101" pitchFamily="2" charset="-122"/>
              </a:rPr>
              <a:t>监护</a:t>
            </a:r>
            <a:endParaRPr lang="zh-CN" altLang="zh-CN" sz="2400" dirty="0">
              <a:solidFill>
                <a:srgbClr val="000000"/>
              </a:solidFill>
              <a:latin typeface="宋体" panose="02010600030101010101" pitchFamily="2" charset="-122"/>
              <a:ea typeface="宋体" panose="02010600030101010101" pitchFamily="2" charset="-122"/>
            </a:endParaRPr>
          </a:p>
        </p:txBody>
      </p:sp>
      <p:sp>
        <p:nvSpPr>
          <p:cNvPr id="67594" name="Rectangle 10"/>
          <p:cNvSpPr/>
          <p:nvPr/>
        </p:nvSpPr>
        <p:spPr>
          <a:xfrm>
            <a:off x="3266440" y="5302250"/>
            <a:ext cx="51435" cy="373380"/>
          </a:xfrm>
          <a:prstGeom prst="rect">
            <a:avLst/>
          </a:prstGeom>
          <a:noFill/>
          <a:ln w="9525">
            <a:noFill/>
          </a:ln>
        </p:spPr>
        <p:txBody>
          <a:bodyPr wrap="square" lIns="0" tIns="0" rIns="0" bIns="0" anchor="t">
            <a:spAutoFit/>
          </a:bodyPr>
          <a:lstStyle/>
          <a:p>
            <a:pPr lvl="0" indent="0"/>
            <a:r>
              <a:rPr lang="de-DE" altLang="en-US"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599" name="Freeform 15"/>
          <p:cNvSpPr/>
          <p:nvPr/>
        </p:nvSpPr>
        <p:spPr>
          <a:xfrm>
            <a:off x="2613660" y="4257675"/>
            <a:ext cx="71691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solid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67600" name="Rectangle 16"/>
          <p:cNvSpPr/>
          <p:nvPr/>
        </p:nvSpPr>
        <p:spPr>
          <a:xfrm>
            <a:off x="2727960" y="4222750"/>
            <a:ext cx="666115" cy="415290"/>
          </a:xfrm>
          <a:prstGeom prst="rect">
            <a:avLst/>
          </a:prstGeom>
          <a:noFill/>
          <a:ln w="9525">
            <a:noFill/>
          </a:ln>
        </p:spPr>
        <p:txBody>
          <a:bodyPr wrap="square" lIns="0" tIns="0" rIns="0" bIns="0" anchor="t">
            <a:spAutoFit/>
          </a:bodyPr>
          <a:lstStyle/>
          <a:p>
            <a:pPr lvl="0" indent="0">
              <a:buNone/>
            </a:pPr>
            <a:r>
              <a:rPr lang="de-DE" altLang="en-US" sz="2000" dirty="0">
                <a:solidFill>
                  <a:srgbClr val="000000"/>
                </a:solidFill>
                <a:latin typeface="宋体" panose="02010600030101010101" pitchFamily="2" charset="-122"/>
                <a:ea typeface="宋体" panose="02010600030101010101" pitchFamily="2" charset="-122"/>
              </a:rPr>
              <a:t>姓名</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02" name="Freeform 18"/>
          <p:cNvSpPr/>
          <p:nvPr/>
        </p:nvSpPr>
        <p:spPr>
          <a:xfrm>
            <a:off x="3377565" y="4258945"/>
            <a:ext cx="127444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close/>
              </a:path>
            </a:pathLst>
          </a:custGeom>
          <a:solidFill>
            <a:srgbClr val="FFCCFF"/>
          </a:solidFill>
          <a:ln w="9525">
            <a:noFill/>
          </a:ln>
        </p:spPr>
        <p:txBody>
          <a:bodyPr lIns="0" tIns="0" rIns="0" bIns="0"/>
          <a:lstStyle/>
          <a:p>
            <a:endParaRPr lang="zh-CN" altLang="en-US"/>
          </a:p>
        </p:txBody>
      </p:sp>
      <p:sp>
        <p:nvSpPr>
          <p:cNvPr id="67603" name="Freeform 19"/>
          <p:cNvSpPr/>
          <p:nvPr/>
        </p:nvSpPr>
        <p:spPr>
          <a:xfrm>
            <a:off x="3376930" y="4246245"/>
            <a:ext cx="127571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67604" name="Rectangle 20"/>
          <p:cNvSpPr/>
          <p:nvPr/>
        </p:nvSpPr>
        <p:spPr>
          <a:xfrm>
            <a:off x="3446780" y="4222750"/>
            <a:ext cx="103314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出生年月</a:t>
            </a:r>
            <a:endParaRPr lang="zh-CN" altLang="de-DE" sz="2000" dirty="0">
              <a:solidFill>
                <a:srgbClr val="0033CC"/>
              </a:solidFill>
              <a:latin typeface="宋体" panose="02010600030101010101" pitchFamily="2" charset="-122"/>
              <a:ea typeface="宋体" panose="02010600030101010101" pitchFamily="2" charset="-122"/>
            </a:endParaRPr>
          </a:p>
        </p:txBody>
      </p:sp>
      <p:sp>
        <p:nvSpPr>
          <p:cNvPr id="67605" name="Line 21"/>
          <p:cNvSpPr/>
          <p:nvPr/>
        </p:nvSpPr>
        <p:spPr>
          <a:xfrm>
            <a:off x="2408555" y="4754245"/>
            <a:ext cx="635000" cy="464820"/>
          </a:xfrm>
          <a:prstGeom prst="line">
            <a:avLst/>
          </a:prstGeom>
          <a:ln w="17463" cap="flat" cmpd="sng">
            <a:solidFill>
              <a:srgbClr val="000000"/>
            </a:solidFill>
            <a:prstDash val="solid"/>
            <a:round/>
            <a:headEnd type="none" w="med" len="med"/>
            <a:tailEnd type="none" w="med" len="med"/>
          </a:ln>
        </p:spPr>
      </p:sp>
      <p:sp>
        <p:nvSpPr>
          <p:cNvPr id="67606" name="Line 22"/>
          <p:cNvSpPr/>
          <p:nvPr/>
        </p:nvSpPr>
        <p:spPr>
          <a:xfrm>
            <a:off x="2903855" y="4698365"/>
            <a:ext cx="158115" cy="490855"/>
          </a:xfrm>
          <a:prstGeom prst="line">
            <a:avLst/>
          </a:prstGeom>
          <a:ln w="17463" cap="flat" cmpd="sng">
            <a:solidFill>
              <a:srgbClr val="000000"/>
            </a:solidFill>
            <a:prstDash val="solid"/>
            <a:round/>
            <a:headEnd type="none" w="med" len="med"/>
            <a:tailEnd type="none" w="med" len="med"/>
          </a:ln>
        </p:spPr>
      </p:sp>
      <p:sp>
        <p:nvSpPr>
          <p:cNvPr id="67607" name="Line 23"/>
          <p:cNvSpPr/>
          <p:nvPr/>
        </p:nvSpPr>
        <p:spPr>
          <a:xfrm flipH="1">
            <a:off x="3061970" y="4709795"/>
            <a:ext cx="694690" cy="508635"/>
          </a:xfrm>
          <a:prstGeom prst="line">
            <a:avLst/>
          </a:prstGeom>
          <a:ln w="17463" cap="flat" cmpd="sng">
            <a:solidFill>
              <a:srgbClr val="000000"/>
            </a:solidFill>
            <a:prstDash val="solid"/>
            <a:round/>
            <a:headEnd type="none" w="med" len="med"/>
            <a:tailEnd type="none" w="med" len="med"/>
          </a:ln>
        </p:spPr>
      </p:sp>
      <p:sp>
        <p:nvSpPr>
          <p:cNvPr id="67609" name="Line 25"/>
          <p:cNvSpPr/>
          <p:nvPr/>
        </p:nvSpPr>
        <p:spPr>
          <a:xfrm>
            <a:off x="3593465" y="5418455"/>
            <a:ext cx="863600" cy="73660"/>
          </a:xfrm>
          <a:prstGeom prst="line">
            <a:avLst/>
          </a:prstGeom>
          <a:ln w="17463" cap="flat" cmpd="sng">
            <a:solidFill>
              <a:srgbClr val="000000"/>
            </a:solidFill>
            <a:prstDash val="solid"/>
            <a:round/>
            <a:headEnd type="none" w="med" len="med"/>
            <a:tailEnd type="none" w="med" len="med"/>
          </a:ln>
        </p:spPr>
      </p:sp>
      <p:sp>
        <p:nvSpPr>
          <p:cNvPr id="67610" name="Rectangle 26"/>
          <p:cNvSpPr/>
          <p:nvPr/>
        </p:nvSpPr>
        <p:spPr>
          <a:xfrm>
            <a:off x="1969135" y="4323715"/>
            <a:ext cx="581025" cy="373380"/>
          </a:xfrm>
          <a:prstGeom prst="rect">
            <a:avLst/>
          </a:prstGeom>
          <a:noFill/>
          <a:ln w="9525">
            <a:noFill/>
          </a:ln>
        </p:spPr>
        <p:txBody>
          <a:bodyPr wrap="square" lIns="0" tIns="0" rIns="0" bIns="0" anchor="t">
            <a:spAutoFit/>
          </a:bodyPr>
          <a:lstStyle/>
          <a:p>
            <a:pPr lvl="0" indent="0">
              <a:buNone/>
            </a:pPr>
            <a:r>
              <a:rPr lang="zh-CN" altLang="en-US" u="sng" dirty="0">
                <a:solidFill>
                  <a:srgbClr val="000000"/>
                </a:solidFill>
                <a:latin typeface="宋体" panose="02010600030101010101" pitchFamily="2" charset="-122"/>
                <a:ea typeface="宋体" panose="02010600030101010101" pitchFamily="2" charset="-122"/>
              </a:rPr>
              <a:t>学号</a:t>
            </a:r>
            <a:endParaRPr lang="de-DE" altLang="en-US" u="sng" dirty="0">
              <a:solidFill>
                <a:srgbClr val="000000"/>
              </a:solidFill>
              <a:latin typeface="宋体" panose="02010600030101010101" pitchFamily="2" charset="-122"/>
              <a:ea typeface="宋体" panose="02010600030101010101" pitchFamily="2" charset="-122"/>
            </a:endParaRPr>
          </a:p>
        </p:txBody>
      </p:sp>
      <p:sp>
        <p:nvSpPr>
          <p:cNvPr id="67611" name="Rectangle 27"/>
          <p:cNvSpPr/>
          <p:nvPr/>
        </p:nvSpPr>
        <p:spPr>
          <a:xfrm>
            <a:off x="2708910" y="5219065"/>
            <a:ext cx="1064260" cy="452120"/>
          </a:xfrm>
          <a:prstGeom prst="rect">
            <a:avLst/>
          </a:prstGeom>
          <a:solidFill>
            <a:srgbClr val="28CE0C"/>
          </a:solidFill>
          <a:ln w="19050" cap="flat" cmpd="sng">
            <a:solidFill>
              <a:srgbClr val="99CC00"/>
            </a:solidFill>
            <a:prstDash val="solid"/>
            <a:miter/>
            <a:headEnd type="none" w="med" len="med"/>
            <a:tailEnd type="none" w="med" len="med"/>
          </a:ln>
        </p:spPr>
        <p:txBody>
          <a:bodyPr lIns="0" tIns="0" rIns="0" bIns="0" anchor="t"/>
          <a:lstStyle/>
          <a:p>
            <a:pPr lvl="0" indent="0" algn="ctr">
              <a:buNone/>
            </a:pPr>
            <a:r>
              <a:rPr lang="zh-CN" altLang="en-US" sz="2400" dirty="0">
                <a:solidFill>
                  <a:srgbClr val="003300"/>
                </a:solidFill>
                <a:latin typeface="宋体" panose="02010600030101010101" pitchFamily="2" charset="-122"/>
                <a:ea typeface="宋体" panose="02010600030101010101" pitchFamily="2" charset="-122"/>
              </a:rPr>
              <a:t>学生</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67612" name="Rectangle 28"/>
          <p:cNvSpPr/>
          <p:nvPr/>
        </p:nvSpPr>
        <p:spPr>
          <a:xfrm>
            <a:off x="6762750" y="5151120"/>
            <a:ext cx="1062990" cy="452120"/>
          </a:xfrm>
          <a:prstGeom prst="rect">
            <a:avLst/>
          </a:prstGeom>
          <a:solidFill>
            <a:srgbClr val="FFCCFF"/>
          </a:solidFill>
          <a:ln w="50800" cap="flat" cmpd="sng">
            <a:solidFill>
              <a:srgbClr val="CC0000"/>
            </a:solidFill>
            <a:prstDash val="solid"/>
            <a:miter/>
            <a:headEnd type="none" w="med" len="med"/>
            <a:tailEnd type="none" w="med" len="med"/>
          </a:ln>
        </p:spPr>
        <p:txBody>
          <a:bodyPr lIns="0" tIns="0" rIns="0" bIns="0" anchor="t"/>
          <a:lstStyle/>
          <a:p>
            <a:pPr lvl="0" indent="0">
              <a:buNone/>
            </a:pPr>
            <a:r>
              <a:rPr lang="en-US" altLang="zh-CN" sz="2400" dirty="0">
                <a:solidFill>
                  <a:srgbClr val="000000"/>
                </a:solidFill>
                <a:latin typeface="宋体" panose="02010600030101010101" pitchFamily="2" charset="-122"/>
                <a:ea typeface="宋体" panose="02010600030101010101" pitchFamily="2" charset="-122"/>
              </a:rPr>
              <a:t> </a:t>
            </a:r>
            <a:r>
              <a:rPr lang="zh-CN" altLang="en-US" sz="2400" dirty="0">
                <a:solidFill>
                  <a:srgbClr val="000000"/>
                </a:solidFill>
                <a:latin typeface="宋体" panose="02010600030101010101" pitchFamily="2" charset="-122"/>
                <a:ea typeface="宋体" panose="02010600030101010101" pitchFamily="2" charset="-122"/>
              </a:rPr>
              <a:t>家长</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67613" name="Freeform 29"/>
          <p:cNvSpPr/>
          <p:nvPr/>
        </p:nvSpPr>
        <p:spPr>
          <a:xfrm>
            <a:off x="6211570" y="4257675"/>
            <a:ext cx="886460"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6"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6"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cap="flat" cmpd="sng">
            <a:solidFill>
              <a:srgbClr val="000000"/>
            </a:solidFill>
            <a:prstDash val="solid"/>
            <a:miter/>
            <a:headEnd type="none" w="med" len="med"/>
            <a:tailEnd type="none" w="med" len="med"/>
          </a:ln>
        </p:spPr>
        <p:txBody>
          <a:bodyPr lIns="0" tIns="0" rIns="0" bIns="0"/>
          <a:lstStyle/>
          <a:p>
            <a:endParaRPr lang="zh-CN" altLang="en-US"/>
          </a:p>
        </p:txBody>
      </p:sp>
      <p:sp>
        <p:nvSpPr>
          <p:cNvPr id="67614" name="Rectangle 30"/>
          <p:cNvSpPr/>
          <p:nvPr/>
        </p:nvSpPr>
        <p:spPr>
          <a:xfrm>
            <a:off x="6367780" y="4210050"/>
            <a:ext cx="680085" cy="415290"/>
          </a:xfrm>
          <a:prstGeom prst="rect">
            <a:avLst/>
          </a:prstGeom>
          <a:noFill/>
          <a:ln w="9525">
            <a:noFill/>
          </a:ln>
        </p:spPr>
        <p:txBody>
          <a:bodyPr wrap="squar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称谓</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67615" name="Rectangle 31"/>
          <p:cNvSpPr/>
          <p:nvPr/>
        </p:nvSpPr>
        <p:spPr>
          <a:xfrm>
            <a:off x="6873240" y="4481195"/>
            <a:ext cx="43180" cy="311150"/>
          </a:xfrm>
          <a:prstGeom prst="rect">
            <a:avLst/>
          </a:prstGeom>
          <a:noFill/>
          <a:ln w="9525">
            <a:noFill/>
          </a:ln>
        </p:spPr>
        <p:txBody>
          <a:bodyPr wrap="squar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616" name="Freeform 32"/>
          <p:cNvSpPr/>
          <p:nvPr/>
        </p:nvSpPr>
        <p:spPr>
          <a:xfrm>
            <a:off x="7317740" y="4302125"/>
            <a:ext cx="886460"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a:noFill/>
          </a:ln>
        </p:spPr>
        <p:txBody>
          <a:bodyPr lIns="0" tIns="0" rIns="0" bIns="0"/>
          <a:lstStyle/>
          <a:p>
            <a:endParaRPr lang="zh-CN" altLang="en-US"/>
          </a:p>
        </p:txBody>
      </p:sp>
      <p:sp>
        <p:nvSpPr>
          <p:cNvPr id="67617" name="Freeform 33"/>
          <p:cNvSpPr/>
          <p:nvPr/>
        </p:nvSpPr>
        <p:spPr>
          <a:xfrm>
            <a:off x="7267575" y="4284345"/>
            <a:ext cx="886460"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67618" name="Rectangle 34"/>
          <p:cNvSpPr/>
          <p:nvPr/>
        </p:nvSpPr>
        <p:spPr>
          <a:xfrm>
            <a:off x="7356475" y="4257040"/>
            <a:ext cx="88582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姓名</a:t>
            </a:r>
            <a:endParaRPr lang="zh-CN" altLang="de-DE" sz="2000" dirty="0">
              <a:solidFill>
                <a:srgbClr val="0033CC"/>
              </a:solidFill>
              <a:latin typeface="宋体" panose="02010600030101010101" pitchFamily="2" charset="-122"/>
              <a:ea typeface="宋体" panose="02010600030101010101" pitchFamily="2" charset="-122"/>
            </a:endParaRPr>
          </a:p>
        </p:txBody>
      </p:sp>
      <p:sp>
        <p:nvSpPr>
          <p:cNvPr id="67619" name="Line 35"/>
          <p:cNvSpPr/>
          <p:nvPr/>
        </p:nvSpPr>
        <p:spPr>
          <a:xfrm>
            <a:off x="6609080" y="4737100"/>
            <a:ext cx="708660" cy="432435"/>
          </a:xfrm>
          <a:prstGeom prst="line">
            <a:avLst/>
          </a:prstGeom>
          <a:ln w="17463" cap="flat" cmpd="sng">
            <a:solidFill>
              <a:srgbClr val="000000"/>
            </a:solidFill>
            <a:prstDash val="solid"/>
            <a:round/>
            <a:headEnd type="none" w="med" len="med"/>
            <a:tailEnd type="none" w="med" len="med"/>
          </a:ln>
        </p:spPr>
      </p:sp>
      <p:sp>
        <p:nvSpPr>
          <p:cNvPr id="67620" name="Line 36"/>
          <p:cNvSpPr/>
          <p:nvPr/>
        </p:nvSpPr>
        <p:spPr>
          <a:xfrm flipH="1">
            <a:off x="7318375" y="4698365"/>
            <a:ext cx="156210" cy="471170"/>
          </a:xfrm>
          <a:prstGeom prst="line">
            <a:avLst/>
          </a:prstGeom>
          <a:ln w="17463" cap="flat" cmpd="sng">
            <a:solidFill>
              <a:srgbClr val="000000"/>
            </a:solidFill>
            <a:prstDash val="solid"/>
            <a:round/>
            <a:headEnd type="none" w="med" len="med"/>
            <a:tailEnd type="none" w="med" len="med"/>
          </a:ln>
        </p:spPr>
      </p:sp>
      <p:sp>
        <p:nvSpPr>
          <p:cNvPr id="67621" name="Line 37"/>
          <p:cNvSpPr/>
          <p:nvPr/>
        </p:nvSpPr>
        <p:spPr>
          <a:xfrm flipV="1">
            <a:off x="6074410" y="5422900"/>
            <a:ext cx="665480" cy="67945"/>
          </a:xfrm>
          <a:prstGeom prst="line">
            <a:avLst/>
          </a:prstGeom>
          <a:ln w="50800" cap="flat" cmpd="sng">
            <a:solidFill>
              <a:srgbClr val="FF0000"/>
            </a:solidFill>
            <a:prstDash val="solid"/>
            <a:round/>
            <a:headEnd type="triangle" w="med" len="med"/>
            <a:tailEnd type="none" w="med" len="med"/>
          </a:ln>
        </p:spPr>
      </p:sp>
      <p:sp>
        <p:nvSpPr>
          <p:cNvPr id="67622" name="Line 38"/>
          <p:cNvSpPr/>
          <p:nvPr/>
        </p:nvSpPr>
        <p:spPr>
          <a:xfrm>
            <a:off x="6414135" y="4599940"/>
            <a:ext cx="481965" cy="1270"/>
          </a:xfrm>
          <a:prstGeom prst="line">
            <a:avLst/>
          </a:prstGeom>
          <a:ln w="38100" cap="flat" cmpd="sng">
            <a:solidFill>
              <a:srgbClr val="000000"/>
            </a:solidFill>
            <a:prstDash val="sysDot"/>
            <a:round/>
            <a:headEnd type="none" w="med" len="med"/>
            <a:tailEnd type="none" w="med" len="med"/>
          </a:ln>
        </p:spPr>
      </p:sp>
      <p:sp>
        <p:nvSpPr>
          <p:cNvPr id="67623" name="Text Box 39"/>
          <p:cNvSpPr txBox="1"/>
          <p:nvPr/>
        </p:nvSpPr>
        <p:spPr>
          <a:xfrm>
            <a:off x="4077335" y="5151120"/>
            <a:ext cx="344170" cy="415290"/>
          </a:xfrm>
          <a:prstGeom prst="rect">
            <a:avLst/>
          </a:prstGeom>
          <a:noFill/>
          <a:ln w="9525">
            <a:noFill/>
          </a:ln>
        </p:spPr>
        <p:txBody>
          <a:bodyPr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24" name="Text Box 40"/>
          <p:cNvSpPr txBox="1"/>
          <p:nvPr/>
        </p:nvSpPr>
        <p:spPr>
          <a:xfrm>
            <a:off x="6211570" y="4971415"/>
            <a:ext cx="344170" cy="415290"/>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4" name="Line 23"/>
          <p:cNvSpPr/>
          <p:nvPr/>
        </p:nvSpPr>
        <p:spPr>
          <a:xfrm flipH="1">
            <a:off x="3061970" y="5044440"/>
            <a:ext cx="1010285" cy="179705"/>
          </a:xfrm>
          <a:prstGeom prst="line">
            <a:avLst/>
          </a:prstGeom>
          <a:ln w="17463" cap="flat" cmpd="sng">
            <a:solidFill>
              <a:srgbClr val="000000"/>
            </a:solidFill>
            <a:prstDash val="solid"/>
            <a:round/>
            <a:headEnd type="none" w="med" len="med"/>
            <a:tailEnd type="none" w="med" len="med"/>
          </a:ln>
        </p:spPr>
      </p:sp>
      <p:sp>
        <p:nvSpPr>
          <p:cNvPr id="5" name="Freeform 32"/>
          <p:cNvSpPr/>
          <p:nvPr/>
        </p:nvSpPr>
        <p:spPr>
          <a:xfrm>
            <a:off x="7812405" y="4736465"/>
            <a:ext cx="1202690" cy="32448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a:noFill/>
          </a:ln>
        </p:spPr>
        <p:txBody>
          <a:bodyPr lIns="0" tIns="0" rIns="0" bIns="0"/>
          <a:lstStyle/>
          <a:p>
            <a:endParaRPr lang="zh-CN" altLang="en-US"/>
          </a:p>
        </p:txBody>
      </p:sp>
      <p:sp>
        <p:nvSpPr>
          <p:cNvPr id="6" name="Freeform 33"/>
          <p:cNvSpPr/>
          <p:nvPr/>
        </p:nvSpPr>
        <p:spPr>
          <a:xfrm>
            <a:off x="7825740" y="4697095"/>
            <a:ext cx="118935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7" name="Rectangle 34"/>
          <p:cNvSpPr/>
          <p:nvPr/>
        </p:nvSpPr>
        <p:spPr>
          <a:xfrm>
            <a:off x="7826375" y="4672330"/>
            <a:ext cx="103695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联系电话</a:t>
            </a:r>
            <a:endParaRPr lang="zh-CN" altLang="de-DE" sz="2000" dirty="0">
              <a:solidFill>
                <a:srgbClr val="0033CC"/>
              </a:solidFill>
              <a:latin typeface="宋体" panose="02010600030101010101" pitchFamily="2" charset="-122"/>
              <a:ea typeface="宋体" panose="02010600030101010101" pitchFamily="2" charset="-122"/>
            </a:endParaRPr>
          </a:p>
        </p:txBody>
      </p:sp>
      <p:sp>
        <p:nvSpPr>
          <p:cNvPr id="8" name="Line 36"/>
          <p:cNvSpPr/>
          <p:nvPr/>
        </p:nvSpPr>
        <p:spPr>
          <a:xfrm flipH="1">
            <a:off x="7357110" y="4923155"/>
            <a:ext cx="455295" cy="226060"/>
          </a:xfrm>
          <a:prstGeom prst="line">
            <a:avLst/>
          </a:prstGeom>
          <a:ln w="17463" cap="flat" cmpd="sng">
            <a:solidFill>
              <a:srgbClr val="000000"/>
            </a:solidFill>
            <a:prstDash val="solid"/>
            <a:round/>
            <a:headEnd type="none" w="med" len="med"/>
            <a:tailEnd type="none" w="med" len="med"/>
          </a:ln>
        </p:spPr>
      </p:sp>
      <p:sp>
        <p:nvSpPr>
          <p:cNvPr id="9" name="Rectangle 27"/>
          <p:cNvSpPr/>
          <p:nvPr/>
        </p:nvSpPr>
        <p:spPr>
          <a:xfrm>
            <a:off x="158115" y="5231130"/>
            <a:ext cx="1064260" cy="452120"/>
          </a:xfrm>
          <a:prstGeom prst="rect">
            <a:avLst/>
          </a:prstGeom>
          <a:solidFill>
            <a:srgbClr val="28CE0C"/>
          </a:solidFill>
          <a:ln w="19050" cap="flat" cmpd="sng">
            <a:solidFill>
              <a:srgbClr val="99CC00"/>
            </a:solidFill>
            <a:prstDash val="solid"/>
            <a:miter/>
            <a:headEnd type="none" w="med" len="med"/>
            <a:tailEnd type="none" w="med" len="med"/>
          </a:ln>
        </p:spPr>
        <p:txBody>
          <a:bodyPr lIns="0" tIns="0" rIns="0" bIns="0" anchor="t"/>
          <a:lstStyle/>
          <a:p>
            <a:pPr lvl="0" indent="0" algn="ctr">
              <a:buNone/>
            </a:pPr>
            <a:r>
              <a:rPr lang="zh-CN" altLang="en-US" sz="2400" dirty="0">
                <a:solidFill>
                  <a:srgbClr val="003300"/>
                </a:solidFill>
                <a:latin typeface="宋体" panose="02010600030101010101" pitchFamily="2" charset="-122"/>
                <a:ea typeface="宋体" panose="02010600030101010101" pitchFamily="2" charset="-122"/>
              </a:rPr>
              <a:t>班级</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0" name="Freeform 2"/>
          <p:cNvSpPr/>
          <p:nvPr/>
        </p:nvSpPr>
        <p:spPr>
          <a:xfrm>
            <a:off x="128905" y="4053205"/>
            <a:ext cx="752475" cy="54292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solidFill>
          <a:ln w="9525" cap="flat" cmpd="sng">
            <a:solidFill>
              <a:schemeClr val="tx1"/>
            </a:solidFill>
            <a:prstDash val="solid"/>
            <a:miter/>
            <a:headEnd type="none" w="med" len="med"/>
            <a:tailEnd type="none" w="med" len="med"/>
          </a:ln>
        </p:spPr>
        <p:txBody>
          <a:bodyPr lIns="0" tIns="0" rIns="0" bIns="0"/>
          <a:lstStyle/>
          <a:p>
            <a:endParaRPr lang="zh-CN" altLang="en-US"/>
          </a:p>
        </p:txBody>
      </p:sp>
      <p:sp>
        <p:nvSpPr>
          <p:cNvPr id="11" name="Rectangle 26"/>
          <p:cNvSpPr/>
          <p:nvPr/>
        </p:nvSpPr>
        <p:spPr>
          <a:xfrm>
            <a:off x="249555" y="4107815"/>
            <a:ext cx="581025" cy="373380"/>
          </a:xfrm>
          <a:prstGeom prst="rect">
            <a:avLst/>
          </a:prstGeom>
          <a:noFill/>
          <a:ln w="9525">
            <a:noFill/>
          </a:ln>
        </p:spPr>
        <p:txBody>
          <a:bodyPr wrap="square" lIns="0" tIns="0" rIns="0" bIns="0" anchor="t">
            <a:spAutoFit/>
          </a:bodyPr>
          <a:lstStyle/>
          <a:p>
            <a:pPr lvl="0" indent="0">
              <a:buNone/>
            </a:pPr>
            <a:r>
              <a:rPr lang="zh-CN" altLang="en-US" u="sng" dirty="0">
                <a:solidFill>
                  <a:srgbClr val="000000"/>
                </a:solidFill>
                <a:latin typeface="宋体" panose="02010600030101010101" pitchFamily="2" charset="-122"/>
                <a:ea typeface="宋体" panose="02010600030101010101" pitchFamily="2" charset="-122"/>
              </a:rPr>
              <a:t>班号</a:t>
            </a:r>
            <a:endParaRPr lang="de-DE" altLang="en-US" u="sng" dirty="0">
              <a:solidFill>
                <a:srgbClr val="000000"/>
              </a:solidFill>
              <a:latin typeface="宋体" panose="02010600030101010101" pitchFamily="2" charset="-122"/>
              <a:ea typeface="宋体" panose="02010600030101010101" pitchFamily="2" charset="-122"/>
            </a:endParaRPr>
          </a:p>
        </p:txBody>
      </p:sp>
      <p:sp>
        <p:nvSpPr>
          <p:cNvPr id="12" name="Freeform 15"/>
          <p:cNvSpPr/>
          <p:nvPr/>
        </p:nvSpPr>
        <p:spPr>
          <a:xfrm>
            <a:off x="932815" y="4150995"/>
            <a:ext cx="835660"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solid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13" name="Rectangle 16"/>
          <p:cNvSpPr/>
          <p:nvPr/>
        </p:nvSpPr>
        <p:spPr>
          <a:xfrm>
            <a:off x="1102360" y="4070350"/>
            <a:ext cx="666115" cy="415290"/>
          </a:xfrm>
          <a:prstGeom prst="rect">
            <a:avLst/>
          </a:prstGeom>
          <a:noFill/>
          <a:ln w="9525">
            <a:noFill/>
          </a:ln>
        </p:spPr>
        <p:txBody>
          <a:bodyPr wrap="square" lIns="0" tIns="0" rIns="0" bIns="0" anchor="t">
            <a:spAutoFit/>
          </a:bodyPr>
          <a:lstStyle/>
          <a:p>
            <a:pPr lvl="0" indent="0">
              <a:buNone/>
            </a:pPr>
            <a:r>
              <a:rPr lang="de-DE" altLang="en-US" sz="2000" dirty="0">
                <a:solidFill>
                  <a:srgbClr val="000000"/>
                </a:solidFill>
                <a:latin typeface="宋体" panose="02010600030101010101" pitchFamily="2" charset="-122"/>
                <a:ea typeface="宋体" panose="02010600030101010101" pitchFamily="2" charset="-122"/>
              </a:rPr>
              <a:t>姓名</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14" name="菱形 13"/>
          <p:cNvSpPr/>
          <p:nvPr/>
        </p:nvSpPr>
        <p:spPr>
          <a:xfrm>
            <a:off x="1526540" y="5201920"/>
            <a:ext cx="882015" cy="52641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6"/>
          <p:cNvSpPr/>
          <p:nvPr/>
        </p:nvSpPr>
        <p:spPr>
          <a:xfrm>
            <a:off x="1672590" y="5222240"/>
            <a:ext cx="66611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组成</a:t>
            </a:r>
            <a:endParaRPr lang="zh-CN" altLang="de-DE" sz="2000" dirty="0">
              <a:solidFill>
                <a:srgbClr val="0033CC"/>
              </a:solidFill>
              <a:latin typeface="宋体" panose="02010600030101010101" pitchFamily="2" charset="-122"/>
              <a:ea typeface="宋体" panose="02010600030101010101" pitchFamily="2" charset="-122"/>
            </a:endParaRPr>
          </a:p>
        </p:txBody>
      </p:sp>
      <p:cxnSp>
        <p:nvCxnSpPr>
          <p:cNvPr id="16" name="直接连接符 15"/>
          <p:cNvCxnSpPr>
            <a:stCxn id="9" idx="3"/>
            <a:endCxn id="14" idx="1"/>
          </p:cNvCxnSpPr>
          <p:nvPr/>
        </p:nvCxnSpPr>
        <p:spPr>
          <a:xfrm>
            <a:off x="1222375" y="5444490"/>
            <a:ext cx="304165" cy="8255"/>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398395" y="5465445"/>
            <a:ext cx="304165" cy="8255"/>
          </a:xfrm>
          <a:prstGeom prst="line">
            <a:avLst/>
          </a:prstGeom>
          <a:ln w="444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8" name="Text Box 39"/>
          <p:cNvSpPr txBox="1"/>
          <p:nvPr/>
        </p:nvSpPr>
        <p:spPr>
          <a:xfrm>
            <a:off x="1329690" y="5041900"/>
            <a:ext cx="344170" cy="415290"/>
          </a:xfrm>
          <a:prstGeom prst="rect">
            <a:avLst/>
          </a:prstGeom>
          <a:noFill/>
          <a:ln w="9525">
            <a:noFill/>
          </a:ln>
        </p:spPr>
        <p:txBody>
          <a:bodyPr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19" name="Text Box 40"/>
          <p:cNvSpPr txBox="1"/>
          <p:nvPr/>
        </p:nvSpPr>
        <p:spPr>
          <a:xfrm>
            <a:off x="2466340" y="5003165"/>
            <a:ext cx="344170" cy="415290"/>
          </a:xfrm>
          <a:prstGeom prst="rect">
            <a:avLst/>
          </a:prstGeom>
          <a:noFill/>
          <a:ln w="9525">
            <a:noFill/>
          </a:ln>
        </p:spPr>
        <p:txBody>
          <a:bodyPr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20" name="Line 23"/>
          <p:cNvSpPr/>
          <p:nvPr/>
        </p:nvSpPr>
        <p:spPr>
          <a:xfrm flipH="1">
            <a:off x="662305" y="4595495"/>
            <a:ext cx="667385" cy="623570"/>
          </a:xfrm>
          <a:prstGeom prst="line">
            <a:avLst/>
          </a:prstGeom>
          <a:ln w="17463" cap="flat" cmpd="sng">
            <a:solidFill>
              <a:srgbClr val="000000"/>
            </a:solidFill>
            <a:prstDash val="solid"/>
            <a:round/>
            <a:headEnd type="none" w="med" len="med"/>
            <a:tailEnd type="none" w="med" len="med"/>
          </a:ln>
        </p:spPr>
      </p:sp>
      <p:sp>
        <p:nvSpPr>
          <p:cNvPr id="21" name="Line 23"/>
          <p:cNvSpPr/>
          <p:nvPr/>
        </p:nvSpPr>
        <p:spPr>
          <a:xfrm>
            <a:off x="379095" y="4595495"/>
            <a:ext cx="245110" cy="674370"/>
          </a:xfrm>
          <a:prstGeom prst="line">
            <a:avLst/>
          </a:prstGeom>
          <a:ln w="17463" cap="flat" cmpd="sng">
            <a:solidFill>
              <a:srgbClr val="000000"/>
            </a:solidFill>
            <a:prstDash val="solid"/>
            <a:round/>
            <a:headEnd type="none" w="med" len="med"/>
            <a:tailEnd type="none" w="med" len="med"/>
          </a:ln>
        </p:spPr>
      </p:sp>
      <p:sp>
        <p:nvSpPr>
          <p:cNvPr id="2" name="Rectangle 20"/>
          <p:cNvSpPr/>
          <p:nvPr/>
        </p:nvSpPr>
        <p:spPr>
          <a:xfrm>
            <a:off x="4289425" y="4715510"/>
            <a:ext cx="55054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年龄</a:t>
            </a:r>
            <a:endParaRPr lang="zh-CN" altLang="de-DE" sz="2000" dirty="0">
              <a:solidFill>
                <a:srgbClr val="0033CC"/>
              </a:solidFill>
              <a:latin typeface="宋体" panose="02010600030101010101" pitchFamily="2" charset="-122"/>
              <a:ea typeface="宋体" panose="02010600030101010101" pitchFamily="2" charset="-122"/>
            </a:endParaRPr>
          </a:p>
        </p:txBody>
      </p:sp>
      <p:sp>
        <p:nvSpPr>
          <p:cNvPr id="23" name="Freeform 19"/>
          <p:cNvSpPr/>
          <p:nvPr/>
        </p:nvSpPr>
        <p:spPr>
          <a:xfrm>
            <a:off x="4072255" y="4754245"/>
            <a:ext cx="89979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dash"/>
            <a:miter/>
            <a:headEnd type="none" w="med" len="med"/>
            <a:tailEnd type="none" w="med" len="med"/>
          </a:ln>
        </p:spPr>
        <p:txBody>
          <a:bodyPr lIns="0" tIns="0" rIns="0" bIns="0"/>
          <a:lstStyle/>
          <a:p>
            <a:endParaRPr lang="zh-CN" altLang="en-US"/>
          </a:p>
        </p:txBody>
      </p:sp>
      <p:sp>
        <p:nvSpPr>
          <p:cNvPr id="53" name="矩形 52"/>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
        <p:nvSpPr>
          <p:cNvPr id="5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2"/>
          <p:cNvSpPr/>
          <p:nvPr/>
        </p:nvSpPr>
        <p:spPr>
          <a:xfrm>
            <a:off x="557213" y="881063"/>
            <a:ext cx="176657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0033CC"/>
                </a:solidFill>
                <a:latin typeface="黑体" panose="02010609060101010101" pitchFamily="1" charset="-122"/>
                <a:ea typeface="黑体" panose="02010609060101010101" pitchFamily="1" charset="-122"/>
                <a:cs typeface="+mn-ea"/>
              </a:rPr>
              <a:t>.排除约束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62468" name="Rectangle 4"/>
          <p:cNvSpPr txBox="1"/>
          <p:nvPr/>
        </p:nvSpPr>
        <p:spPr>
          <a:xfrm>
            <a:off x="606425" y="1601788"/>
            <a:ext cx="4633913" cy="4494212"/>
          </a:xfrm>
          <a:prstGeom prst="rect">
            <a:avLst/>
          </a:prstGeom>
          <a:noFill/>
          <a:ln w="9525">
            <a:noFill/>
          </a:ln>
        </p:spPr>
        <p:txBody>
          <a:bodyPr anchor="t"/>
          <a:lstStyle/>
          <a:p>
            <a:pPr marL="342900" lvl="0" indent="-342900">
              <a:lnSpc>
                <a:spcPct val="120000"/>
              </a:lnSpc>
              <a:spcBef>
                <a:spcPts val="600"/>
              </a:spcBef>
              <a:buClr>
                <a:srgbClr val="0033CC"/>
              </a:buClr>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 在排除约束中，对多个联系的通常或默认的处理是包含</a:t>
            </a:r>
            <a:r>
              <a:rPr lang="en-US" altLang="x-none" sz="2400" dirty="0">
                <a:latin typeface="华文楷体" panose="02010600040101010101" pitchFamily="2" charset="-122"/>
                <a:ea typeface="宋体" panose="02010600030101010101" pitchFamily="2" charset="-122"/>
              </a:rPr>
              <a:t>OR</a:t>
            </a:r>
            <a:r>
              <a:rPr lang="zh-CN" altLang="en-US" sz="2400" dirty="0">
                <a:latin typeface="华文楷体" panose="02010600040101010101" pitchFamily="2" charset="-122"/>
                <a:ea typeface="宋体" panose="02010600030101010101" pitchFamily="2" charset="-122"/>
              </a:rPr>
              <a:t>。</a:t>
            </a:r>
            <a:endParaRPr lang="en-US" altLang="x-none" sz="2400" dirty="0">
              <a:latin typeface="华文楷体" panose="02010600040101010101" pitchFamily="2" charset="-122"/>
              <a:ea typeface="宋体" panose="02010600030101010101" pitchFamily="2" charset="-122"/>
            </a:endParaRPr>
          </a:p>
          <a:p>
            <a:pPr marL="342900" lvl="0" indent="-342900">
              <a:lnSpc>
                <a:spcPct val="120000"/>
              </a:lnSpc>
              <a:spcBef>
                <a:spcPts val="600"/>
              </a:spcBef>
              <a:buClr>
                <a:srgbClr val="0033CC"/>
              </a:buClr>
              <a:buFont typeface="Wingdings" panose="05000000000000000000" pitchFamily="2" charset="2"/>
              <a:buChar char="u"/>
            </a:pPr>
            <a:r>
              <a:rPr lang="en-US" altLang="x-none" sz="2400" dirty="0">
                <a:latin typeface="华文楷体" panose="02010600040101010101" pitchFamily="2" charset="-122"/>
                <a:ea typeface="宋体" panose="02010600030101010101" pitchFamily="2" charset="-122"/>
              </a:rPr>
              <a:t>OR</a:t>
            </a:r>
            <a:r>
              <a:rPr lang="zh-CN" altLang="en-US" sz="2400" dirty="0">
                <a:latin typeface="华文楷体" panose="02010600040101010101" pitchFamily="2" charset="-122"/>
                <a:ea typeface="宋体" panose="02010600030101010101" pitchFamily="2" charset="-122"/>
              </a:rPr>
              <a:t>允许某个实体或全部实体都参与。</a:t>
            </a:r>
            <a:endParaRPr lang="en-US" altLang="x-none" sz="2400" dirty="0">
              <a:latin typeface="华文楷体" panose="02010600040101010101" pitchFamily="2" charset="-122"/>
              <a:ea typeface="宋体" panose="02010600030101010101" pitchFamily="2" charset="-122"/>
            </a:endParaRPr>
          </a:p>
          <a:p>
            <a:pPr marL="342900" lvl="0" indent="-342900">
              <a:lnSpc>
                <a:spcPct val="120000"/>
              </a:lnSpc>
              <a:spcBef>
                <a:spcPts val="600"/>
              </a:spcBef>
              <a:buClr>
                <a:srgbClr val="0033CC"/>
              </a:buClr>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在有些情况下，排除约束（不相交或不包含</a:t>
            </a:r>
            <a:r>
              <a:rPr lang="en-US" altLang="x-none" sz="2400" dirty="0">
                <a:latin typeface="华文楷体" panose="02010600040101010101" pitchFamily="2" charset="-122"/>
                <a:ea typeface="宋体" panose="02010600030101010101" pitchFamily="2" charset="-122"/>
              </a:rPr>
              <a:t>OR</a:t>
            </a:r>
            <a:r>
              <a:rPr lang="zh-CN" altLang="en-US" sz="2400" dirty="0">
                <a:latin typeface="华文楷体" panose="02010600040101010101" pitchFamily="2" charset="-122"/>
                <a:ea typeface="宋体" panose="02010600030101010101" pitchFamily="2" charset="-122"/>
              </a:rPr>
              <a:t>）可能会影响多个联系，它允许在几个实体中最多只有一个实体实例参与到只有一个根实体的联系中。</a:t>
            </a:r>
            <a:endParaRPr lang="zh-CN" altLang="en-US" sz="2400" dirty="0">
              <a:latin typeface="华文楷体" panose="02010600040101010101" pitchFamily="2" charset="-122"/>
              <a:ea typeface="宋体" panose="02010600030101010101" pitchFamily="2" charset="-122"/>
            </a:endParaRPr>
          </a:p>
        </p:txBody>
      </p:sp>
      <p:grpSp>
        <p:nvGrpSpPr>
          <p:cNvPr id="62469" name="组合 17"/>
          <p:cNvGrpSpPr/>
          <p:nvPr/>
        </p:nvGrpSpPr>
        <p:grpSpPr>
          <a:xfrm>
            <a:off x="5195888" y="1625600"/>
            <a:ext cx="3948112" cy="4395788"/>
            <a:chOff x="0" y="0"/>
            <a:chExt cx="3948112" cy="4395788"/>
          </a:xfrm>
        </p:grpSpPr>
        <p:sp>
          <p:nvSpPr>
            <p:cNvPr id="64517" name="Rectangle 9"/>
            <p:cNvSpPr/>
            <p:nvPr/>
          </p:nvSpPr>
          <p:spPr>
            <a:xfrm>
              <a:off x="1239837" y="0"/>
              <a:ext cx="1155700" cy="38100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工作任务</a:t>
              </a:r>
              <a:endParaRPr lang="zh-CN" altLang="en-US" dirty="0">
                <a:solidFill>
                  <a:srgbClr val="000000"/>
                </a:solidFill>
                <a:latin typeface="宋体" panose="02010600030101010101" pitchFamily="2" charset="-122"/>
                <a:ea typeface="宋体" panose="02010600030101010101" pitchFamily="2" charset="-122"/>
              </a:endParaRPr>
            </a:p>
          </p:txBody>
        </p:sp>
        <p:sp>
          <p:nvSpPr>
            <p:cNvPr id="64518" name="Rectangle 9"/>
            <p:cNvSpPr/>
            <p:nvPr/>
          </p:nvSpPr>
          <p:spPr>
            <a:xfrm>
              <a:off x="347662" y="2547938"/>
              <a:ext cx="1154113" cy="38100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外部项目</a:t>
              </a:r>
              <a:endParaRPr lang="zh-CN" altLang="en-US" dirty="0">
                <a:solidFill>
                  <a:srgbClr val="000000"/>
                </a:solidFill>
                <a:latin typeface="宋体" panose="02010600030101010101" pitchFamily="2" charset="-122"/>
                <a:ea typeface="宋体" panose="02010600030101010101" pitchFamily="2" charset="-122"/>
              </a:endParaRPr>
            </a:p>
          </p:txBody>
        </p:sp>
        <p:sp>
          <p:nvSpPr>
            <p:cNvPr id="64519" name="Rectangle 9"/>
            <p:cNvSpPr/>
            <p:nvPr/>
          </p:nvSpPr>
          <p:spPr>
            <a:xfrm>
              <a:off x="2284412" y="2554288"/>
              <a:ext cx="1155700" cy="38100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内部项目</a:t>
              </a:r>
              <a:endParaRPr lang="zh-CN" altLang="en-US" dirty="0">
                <a:solidFill>
                  <a:srgbClr val="000000"/>
                </a:solidFill>
                <a:latin typeface="宋体" panose="02010600030101010101" pitchFamily="2" charset="-122"/>
                <a:ea typeface="宋体" panose="02010600030101010101" pitchFamily="2" charset="-122"/>
              </a:endParaRPr>
            </a:p>
          </p:txBody>
        </p:sp>
        <p:sp>
          <p:nvSpPr>
            <p:cNvPr id="64520" name="AutoShape 17"/>
            <p:cNvSpPr/>
            <p:nvPr/>
          </p:nvSpPr>
          <p:spPr>
            <a:xfrm>
              <a:off x="414337" y="1055688"/>
              <a:ext cx="1017588"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用于</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4521" name="AutoShape 17"/>
            <p:cNvSpPr/>
            <p:nvPr/>
          </p:nvSpPr>
          <p:spPr>
            <a:xfrm>
              <a:off x="2235200" y="1004888"/>
              <a:ext cx="1017587"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被分配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4522" name="Line 15"/>
            <p:cNvSpPr/>
            <p:nvPr/>
          </p:nvSpPr>
          <p:spPr>
            <a:xfrm>
              <a:off x="1757362" y="377825"/>
              <a:ext cx="985838" cy="652463"/>
            </a:xfrm>
            <a:prstGeom prst="line">
              <a:avLst/>
            </a:prstGeom>
            <a:ln w="25400" cap="flat" cmpd="sng">
              <a:solidFill>
                <a:srgbClr val="000000"/>
              </a:solidFill>
              <a:prstDash val="solid"/>
              <a:round/>
              <a:headEnd type="none" w="med" len="med"/>
              <a:tailEnd type="none" w="med" len="med"/>
            </a:ln>
          </p:spPr>
        </p:sp>
        <p:sp>
          <p:nvSpPr>
            <p:cNvPr id="64523" name="Line 15"/>
            <p:cNvSpPr/>
            <p:nvPr/>
          </p:nvSpPr>
          <p:spPr>
            <a:xfrm flipH="1">
              <a:off x="958850" y="412750"/>
              <a:ext cx="762000" cy="690563"/>
            </a:xfrm>
            <a:prstGeom prst="line">
              <a:avLst/>
            </a:prstGeom>
            <a:ln w="25400" cap="flat" cmpd="sng">
              <a:solidFill>
                <a:srgbClr val="000000"/>
              </a:solidFill>
              <a:prstDash val="solid"/>
              <a:round/>
              <a:headEnd type="none" w="med" len="med"/>
              <a:tailEnd type="none" w="med" len="med"/>
            </a:ln>
          </p:spPr>
        </p:sp>
        <p:sp>
          <p:nvSpPr>
            <p:cNvPr id="64524" name="Line 15"/>
            <p:cNvSpPr/>
            <p:nvPr/>
          </p:nvSpPr>
          <p:spPr>
            <a:xfrm flipH="1">
              <a:off x="942975" y="1639888"/>
              <a:ext cx="0" cy="928687"/>
            </a:xfrm>
            <a:prstGeom prst="line">
              <a:avLst/>
            </a:prstGeom>
            <a:ln w="25400" cap="flat" cmpd="sng">
              <a:solidFill>
                <a:srgbClr val="000000"/>
              </a:solidFill>
              <a:prstDash val="solid"/>
              <a:round/>
              <a:headEnd type="none" w="med" len="med"/>
              <a:tailEnd type="none" w="med" len="med"/>
            </a:ln>
          </p:spPr>
        </p:sp>
        <p:sp>
          <p:nvSpPr>
            <p:cNvPr id="64525" name="Line 15"/>
            <p:cNvSpPr/>
            <p:nvPr/>
          </p:nvSpPr>
          <p:spPr>
            <a:xfrm flipH="1">
              <a:off x="2763837" y="1617663"/>
              <a:ext cx="0" cy="930275"/>
            </a:xfrm>
            <a:prstGeom prst="line">
              <a:avLst/>
            </a:prstGeom>
            <a:ln w="25400" cap="flat" cmpd="sng">
              <a:solidFill>
                <a:srgbClr val="000000"/>
              </a:solidFill>
              <a:prstDash val="solid"/>
              <a:round/>
              <a:headEnd type="none" w="med" len="med"/>
              <a:tailEnd type="none" w="med" len="med"/>
            </a:ln>
          </p:spPr>
        </p:sp>
        <p:sp>
          <p:nvSpPr>
            <p:cNvPr id="64526" name="Line 15"/>
            <p:cNvSpPr/>
            <p:nvPr/>
          </p:nvSpPr>
          <p:spPr>
            <a:xfrm flipH="1">
              <a:off x="963612" y="2165350"/>
              <a:ext cx="755650" cy="0"/>
            </a:xfrm>
            <a:prstGeom prst="line">
              <a:avLst/>
            </a:prstGeom>
            <a:ln w="25400" cap="flat" cmpd="sng">
              <a:solidFill>
                <a:srgbClr val="000000"/>
              </a:solidFill>
              <a:prstDash val="solid"/>
              <a:round/>
              <a:headEnd type="none" w="med" len="med"/>
              <a:tailEnd type="none" w="med" len="med"/>
            </a:ln>
          </p:spPr>
        </p:sp>
        <p:sp>
          <p:nvSpPr>
            <p:cNvPr id="64527" name="Line 15"/>
            <p:cNvSpPr/>
            <p:nvPr/>
          </p:nvSpPr>
          <p:spPr>
            <a:xfrm flipH="1">
              <a:off x="2076450" y="2174875"/>
              <a:ext cx="688975" cy="0"/>
            </a:xfrm>
            <a:prstGeom prst="line">
              <a:avLst/>
            </a:prstGeom>
            <a:ln w="25400" cap="flat" cmpd="sng">
              <a:solidFill>
                <a:srgbClr val="000000"/>
              </a:solidFill>
              <a:prstDash val="solid"/>
              <a:round/>
              <a:headEnd type="none" w="med" len="med"/>
              <a:tailEnd type="none" w="med" len="med"/>
            </a:ln>
          </p:spPr>
        </p:sp>
        <p:sp>
          <p:nvSpPr>
            <p:cNvPr id="64528" name="Text Box 28"/>
            <p:cNvSpPr txBox="1"/>
            <p:nvPr/>
          </p:nvSpPr>
          <p:spPr>
            <a:xfrm>
              <a:off x="1635125" y="1871663"/>
              <a:ext cx="644525" cy="592137"/>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OR</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64529" name="Text Box 10"/>
            <p:cNvSpPr txBox="1"/>
            <p:nvPr/>
          </p:nvSpPr>
          <p:spPr>
            <a:xfrm>
              <a:off x="0" y="3251200"/>
              <a:ext cx="3948112" cy="1144588"/>
            </a:xfrm>
            <a:prstGeom prst="rect">
              <a:avLst/>
            </a:prstGeom>
            <a:noFill/>
            <a:ln w="9525">
              <a:noFill/>
            </a:ln>
          </p:spPr>
          <p:txBody>
            <a:bodyPr anchor="t">
              <a:spAutoFit/>
            </a:bodyPr>
            <a:lstStyle/>
            <a:p>
              <a:pPr lvl="0" indent="0">
                <a:lnSpc>
                  <a:spcPct val="114000"/>
                </a:lnSpc>
                <a:buNone/>
              </a:pPr>
              <a:r>
                <a:rPr lang="en-US" altLang="x-none" sz="2000" dirty="0">
                  <a:solidFill>
                    <a:srgbClr val="FF0000"/>
                  </a:solidFill>
                  <a:latin typeface="Arial" panose="020B0604020202020204" pitchFamily="34" charset="0"/>
                  <a:ea typeface="宋体" panose="02010600030101010101" pitchFamily="2" charset="-122"/>
                </a:rPr>
                <a:t>“</a:t>
              </a:r>
              <a:r>
                <a:rPr lang="zh-CN" altLang="en-US" sz="2000" dirty="0">
                  <a:solidFill>
                    <a:srgbClr val="FF0000"/>
                  </a:solidFill>
                  <a:latin typeface="Arial" panose="020B0604020202020204" pitchFamily="34" charset="0"/>
                  <a:ea typeface="宋体" panose="02010600030101010101" pitchFamily="2" charset="-122"/>
                </a:rPr>
                <a:t>工作任务”可以分配到“外部项目”中或者是“内部项目”中，但不能同时分配到这两个实体中。</a:t>
              </a:r>
              <a:endParaRPr lang="zh-CN" altLang="en-US" sz="2000" dirty="0">
                <a:solidFill>
                  <a:srgbClr val="FF0000"/>
                </a:solidFill>
                <a:latin typeface="楷体" panose="02010609060101010101" pitchFamily="1" charset="-122"/>
                <a:ea typeface="楷体" panose="02010609060101010101" pitchFamily="1" charset="-122"/>
              </a:endParaRPr>
            </a:p>
          </p:txBody>
        </p:sp>
      </p:gr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2468">
                                            <p:txEl>
                                              <p:pRg st="0" end="0"/>
                                            </p:txEl>
                                          </p:spTgt>
                                        </p:tgtEl>
                                        <p:attrNameLst>
                                          <p:attrName>style.visibility</p:attrName>
                                        </p:attrNameLst>
                                      </p:cBhvr>
                                      <p:to>
                                        <p:strVal val="visible"/>
                                      </p:to>
                                    </p:set>
                                    <p:animEffect transition="in" filter="wipe(down)">
                                      <p:cBhvr>
                                        <p:cTn id="7" dur="500"/>
                                        <p:tgtEl>
                                          <p:spTgt spid="62468">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2468">
                                            <p:txEl>
                                              <p:pRg st="1" end="1"/>
                                            </p:txEl>
                                          </p:spTgt>
                                        </p:tgtEl>
                                        <p:attrNameLst>
                                          <p:attrName>style.visibility</p:attrName>
                                        </p:attrNameLst>
                                      </p:cBhvr>
                                      <p:to>
                                        <p:strVal val="visible"/>
                                      </p:to>
                                    </p:set>
                                    <p:animEffect transition="in" filter="wipe(down)">
                                      <p:cBhvr>
                                        <p:cTn id="10" dur="500"/>
                                        <p:tgtEl>
                                          <p:spTgt spid="62468">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2468">
                                            <p:txEl>
                                              <p:pRg st="2" end="2"/>
                                            </p:txEl>
                                          </p:spTgt>
                                        </p:tgtEl>
                                        <p:attrNameLst>
                                          <p:attrName>style.visibility</p:attrName>
                                        </p:attrNameLst>
                                      </p:cBhvr>
                                      <p:to>
                                        <p:strVal val="visible"/>
                                      </p:to>
                                    </p:set>
                                    <p:animEffect transition="in" filter="wipe(down)">
                                      <p:cBhvr>
                                        <p:cTn id="13" dur="500"/>
                                        <p:tgtEl>
                                          <p:spTgt spid="6246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2469"/>
                                        </p:tgtEl>
                                        <p:attrNameLst>
                                          <p:attrName>style.visibility</p:attrName>
                                        </p:attrNameLst>
                                      </p:cBhvr>
                                      <p:to>
                                        <p:strVal val="visible"/>
                                      </p:to>
                                    </p:set>
                                    <p:anim calcmode="lin" valueType="num">
                                      <p:cBhvr additive="base">
                                        <p:cTn id="18" dur="500" fill="hold"/>
                                        <p:tgtEl>
                                          <p:spTgt spid="62469"/>
                                        </p:tgtEl>
                                        <p:attrNameLst>
                                          <p:attrName>ppt_x</p:attrName>
                                        </p:attrNameLst>
                                      </p:cBhvr>
                                      <p:tavLst>
                                        <p:tav tm="0">
                                          <p:val>
                                            <p:strVal val="#ppt_x"/>
                                          </p:val>
                                        </p:tav>
                                        <p:tav tm="100000">
                                          <p:val>
                                            <p:strVal val="#ppt_x"/>
                                          </p:val>
                                        </p:tav>
                                      </p:tavLst>
                                    </p:anim>
                                    <p:anim calcmode="lin" valueType="num">
                                      <p:cBhvr additive="base">
                                        <p:cTn id="19" dur="500" fill="hold"/>
                                        <p:tgtEl>
                                          <p:spTgt spid="624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build="allAtOnce"/>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2"/>
          <p:cNvSpPr/>
          <p:nvPr/>
        </p:nvSpPr>
        <p:spPr>
          <a:xfrm>
            <a:off x="528638" y="806450"/>
            <a:ext cx="4436110" cy="521970"/>
          </a:xfrm>
          <a:prstGeom prst="rect">
            <a:avLst/>
          </a:prstGeom>
          <a:noFill/>
          <a:ln w="9525">
            <a:noFill/>
          </a:ln>
        </p:spPr>
        <p:txBody>
          <a:bodyPr wrap="none" anchor="t">
            <a:spAutoFit/>
          </a:bodyPr>
          <a:lstStyle/>
          <a:p>
            <a:pPr lvl="0">
              <a:lnSpc>
                <a:spcPct val="100000"/>
              </a:lnSpc>
              <a:buFont typeface="Wingdings" panose="05000000000000000000" charset="0"/>
              <a:buChar char="p"/>
            </a:pPr>
            <a:r>
              <a:rPr lang="en-US" altLang="x-none" sz="2800" dirty="0">
                <a:solidFill>
                  <a:srgbClr val="0033CC"/>
                </a:solidFill>
                <a:latin typeface="黑体" panose="02010609060101010101" pitchFamily="1" charset="-122"/>
                <a:ea typeface="黑体" panose="02010609060101010101" pitchFamily="1" charset="-122"/>
              </a:rPr>
              <a:t> E-R</a:t>
            </a:r>
            <a:r>
              <a:rPr lang="zh-CN" altLang="en-US" sz="2800" dirty="0">
                <a:solidFill>
                  <a:srgbClr val="0033CC"/>
                </a:solidFill>
                <a:latin typeface="黑体" panose="02010609060101010101" pitchFamily="1" charset="-122"/>
                <a:ea typeface="黑体" panose="02010609060101010101" pitchFamily="1" charset="-122"/>
              </a:rPr>
              <a:t>模型的各种元素图示</a:t>
            </a:r>
            <a:endParaRPr lang="en-US" altLang="x-none" sz="2800" dirty="0">
              <a:solidFill>
                <a:srgbClr val="0033CC"/>
              </a:solidFill>
              <a:latin typeface="黑体" panose="02010609060101010101" pitchFamily="1" charset="-122"/>
              <a:ea typeface="黑体" panose="02010609060101010101" pitchFamily="1" charset="-122"/>
            </a:endParaRPr>
          </a:p>
        </p:txBody>
      </p:sp>
      <p:grpSp>
        <p:nvGrpSpPr>
          <p:cNvPr id="67588" name="组合 33"/>
          <p:cNvGrpSpPr/>
          <p:nvPr/>
        </p:nvGrpSpPr>
        <p:grpSpPr>
          <a:xfrm>
            <a:off x="655638" y="1493838"/>
            <a:ext cx="3260725" cy="631825"/>
            <a:chOff x="0" y="0"/>
            <a:chExt cx="3260725" cy="631825"/>
          </a:xfrm>
        </p:grpSpPr>
        <p:sp>
          <p:nvSpPr>
            <p:cNvPr id="69636" name="Rectangle 27"/>
            <p:cNvSpPr/>
            <p:nvPr/>
          </p:nvSpPr>
          <p:spPr>
            <a:xfrm>
              <a:off x="1905000" y="127000"/>
              <a:ext cx="1355725" cy="452437"/>
            </a:xfrm>
            <a:prstGeom prst="rect">
              <a:avLst/>
            </a:prstGeom>
            <a:noFill/>
            <a:ln w="19050" cap="flat" cmpd="sng">
              <a:solidFill>
                <a:schemeClr val="tx1"/>
              </a:solidFill>
              <a:prstDash val="solid"/>
              <a:miter/>
              <a:headEnd type="none" w="med" len="med"/>
              <a:tailEnd type="none" w="med" len="med"/>
            </a:ln>
          </p:spPr>
          <p:txBody>
            <a:bodyPr anchor="t"/>
            <a:lstStyle/>
            <a:p>
              <a:pPr lvl="0" indent="0" algn="ctr">
                <a:buNone/>
              </a:pP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69637" name="Text Box 6"/>
            <p:cNvSpPr txBox="1"/>
            <p:nvPr/>
          </p:nvSpPr>
          <p:spPr>
            <a:xfrm>
              <a:off x="0" y="0"/>
              <a:ext cx="1508125" cy="631825"/>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实体型</a:t>
              </a:r>
              <a:endParaRPr lang="zh-CN" altLang="en-US" sz="2600" dirty="0">
                <a:solidFill>
                  <a:srgbClr val="CC3300"/>
                </a:solidFill>
                <a:latin typeface="宋体" panose="02010600030101010101" pitchFamily="2" charset="-122"/>
                <a:ea typeface="宋体" panose="02010600030101010101" pitchFamily="2" charset="-122"/>
              </a:endParaRPr>
            </a:p>
          </p:txBody>
        </p:sp>
      </p:grpSp>
      <p:grpSp>
        <p:nvGrpSpPr>
          <p:cNvPr id="67591" name="组合 34"/>
          <p:cNvGrpSpPr/>
          <p:nvPr/>
        </p:nvGrpSpPr>
        <p:grpSpPr>
          <a:xfrm>
            <a:off x="669925" y="2286000"/>
            <a:ext cx="3308350" cy="655638"/>
            <a:chOff x="0" y="0"/>
            <a:chExt cx="3308350" cy="655638"/>
          </a:xfrm>
        </p:grpSpPr>
        <p:sp>
          <p:nvSpPr>
            <p:cNvPr id="69639" name="Freeform 7"/>
            <p:cNvSpPr/>
            <p:nvPr/>
          </p:nvSpPr>
          <p:spPr>
            <a:xfrm>
              <a:off x="1711325" y="52388"/>
              <a:ext cx="1597025" cy="603250"/>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noFill/>
            <a:ln w="19050" cap="flat" cmpd="sng">
              <a:solidFill>
                <a:schemeClr val="tx1"/>
              </a:solidFill>
              <a:prstDash val="solid"/>
              <a:miter/>
              <a:headEnd type="none" w="med" len="med"/>
              <a:tailEnd type="none" w="med" len="med"/>
            </a:ln>
          </p:spPr>
          <p:txBody>
            <a:bodyPr/>
            <a:lstStyle/>
            <a:p>
              <a:endParaRPr lang="zh-CN" altLang="en-US"/>
            </a:p>
          </p:txBody>
        </p:sp>
        <p:sp>
          <p:nvSpPr>
            <p:cNvPr id="69640" name="Text Box 6"/>
            <p:cNvSpPr txBox="1"/>
            <p:nvPr/>
          </p:nvSpPr>
          <p:spPr>
            <a:xfrm>
              <a:off x="0" y="0"/>
              <a:ext cx="1509713" cy="554038"/>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联系型</a:t>
              </a:r>
              <a:endParaRPr lang="zh-CN" altLang="en-US" sz="2600" dirty="0">
                <a:solidFill>
                  <a:srgbClr val="CC3300"/>
                </a:solidFill>
                <a:latin typeface="宋体" panose="02010600030101010101" pitchFamily="2" charset="-122"/>
                <a:ea typeface="宋体" panose="02010600030101010101" pitchFamily="2" charset="-122"/>
              </a:endParaRPr>
            </a:p>
          </p:txBody>
        </p:sp>
      </p:grpSp>
      <p:grpSp>
        <p:nvGrpSpPr>
          <p:cNvPr id="67594" name="组合 35"/>
          <p:cNvGrpSpPr/>
          <p:nvPr/>
        </p:nvGrpSpPr>
        <p:grpSpPr>
          <a:xfrm>
            <a:off x="685800" y="3124200"/>
            <a:ext cx="3306763" cy="554038"/>
            <a:chOff x="0" y="0"/>
            <a:chExt cx="3306763" cy="554038"/>
          </a:xfrm>
        </p:grpSpPr>
        <p:sp>
          <p:nvSpPr>
            <p:cNvPr id="69642" name="Text Box 6"/>
            <p:cNvSpPr txBox="1"/>
            <p:nvPr/>
          </p:nvSpPr>
          <p:spPr>
            <a:xfrm>
              <a:off x="0" y="0"/>
              <a:ext cx="1508125" cy="554038"/>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43" name="Freeform 19"/>
            <p:cNvSpPr/>
            <p:nvPr/>
          </p:nvSpPr>
          <p:spPr>
            <a:xfrm>
              <a:off x="1795463" y="33338"/>
              <a:ext cx="1511300"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grpSp>
      <p:grpSp>
        <p:nvGrpSpPr>
          <p:cNvPr id="67597" name="组合 36"/>
          <p:cNvGrpSpPr/>
          <p:nvPr/>
        </p:nvGrpSpPr>
        <p:grpSpPr>
          <a:xfrm>
            <a:off x="609600" y="3948113"/>
            <a:ext cx="3322638" cy="631825"/>
            <a:chOff x="0" y="0"/>
            <a:chExt cx="3322638" cy="631825"/>
          </a:xfrm>
        </p:grpSpPr>
        <p:sp>
          <p:nvSpPr>
            <p:cNvPr id="69645" name="Text Box 6"/>
            <p:cNvSpPr txBox="1"/>
            <p:nvPr/>
          </p:nvSpPr>
          <p:spPr>
            <a:xfrm>
              <a:off x="0" y="0"/>
              <a:ext cx="1660525" cy="631825"/>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导出属性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46" name="Freeform 19"/>
            <p:cNvSpPr/>
            <p:nvPr/>
          </p:nvSpPr>
          <p:spPr>
            <a:xfrm>
              <a:off x="1947863" y="47625"/>
              <a:ext cx="13747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dash"/>
              <a:miter/>
              <a:headEnd type="none" w="med" len="med"/>
              <a:tailEnd type="none" w="med" len="med"/>
            </a:ln>
          </p:spPr>
          <p:txBody>
            <a:bodyPr/>
            <a:lstStyle/>
            <a:p>
              <a:endParaRPr lang="zh-CN" altLang="en-US"/>
            </a:p>
          </p:txBody>
        </p:sp>
      </p:grpSp>
      <p:grpSp>
        <p:nvGrpSpPr>
          <p:cNvPr id="67600" name="组合 37"/>
          <p:cNvGrpSpPr/>
          <p:nvPr/>
        </p:nvGrpSpPr>
        <p:grpSpPr>
          <a:xfrm>
            <a:off x="593725" y="4648200"/>
            <a:ext cx="3368675" cy="554038"/>
            <a:chOff x="0" y="0"/>
            <a:chExt cx="3368675" cy="554038"/>
          </a:xfrm>
        </p:grpSpPr>
        <p:sp>
          <p:nvSpPr>
            <p:cNvPr id="69648" name="Text Box 6"/>
            <p:cNvSpPr txBox="1"/>
            <p:nvPr/>
          </p:nvSpPr>
          <p:spPr>
            <a:xfrm>
              <a:off x="0" y="0"/>
              <a:ext cx="1662113" cy="554038"/>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键约束</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49" name="Line 46"/>
            <p:cNvSpPr/>
            <p:nvPr/>
          </p:nvSpPr>
          <p:spPr>
            <a:xfrm>
              <a:off x="1981200" y="371475"/>
              <a:ext cx="1387475" cy="0"/>
            </a:xfrm>
            <a:prstGeom prst="line">
              <a:avLst/>
            </a:prstGeom>
            <a:ln w="25400" cap="flat" cmpd="sng">
              <a:solidFill>
                <a:schemeClr val="tx1"/>
              </a:solidFill>
              <a:prstDash val="solid"/>
              <a:round/>
              <a:headEnd type="none" w="med" len="med"/>
              <a:tailEnd type="triangle" w="med" len="med"/>
            </a:ln>
          </p:spPr>
        </p:sp>
      </p:grpSp>
      <p:grpSp>
        <p:nvGrpSpPr>
          <p:cNvPr id="67603" name="组合 38"/>
          <p:cNvGrpSpPr/>
          <p:nvPr/>
        </p:nvGrpSpPr>
        <p:grpSpPr>
          <a:xfrm>
            <a:off x="609600" y="5456238"/>
            <a:ext cx="3306763" cy="631825"/>
            <a:chOff x="0" y="0"/>
            <a:chExt cx="3306763" cy="631825"/>
          </a:xfrm>
        </p:grpSpPr>
        <p:sp>
          <p:nvSpPr>
            <p:cNvPr id="69651" name="Text Box 6"/>
            <p:cNvSpPr txBox="1"/>
            <p:nvPr/>
          </p:nvSpPr>
          <p:spPr>
            <a:xfrm>
              <a:off x="0" y="0"/>
              <a:ext cx="1706563" cy="631825"/>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弱实体型</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52" name="Rectangle 27"/>
            <p:cNvSpPr/>
            <p:nvPr/>
          </p:nvSpPr>
          <p:spPr>
            <a:xfrm>
              <a:off x="1951038" y="20637"/>
              <a:ext cx="1355725" cy="452438"/>
            </a:xfrm>
            <a:prstGeom prst="rect">
              <a:avLst/>
            </a:prstGeom>
            <a:noFill/>
            <a:ln w="38100" cap="flat" cmpd="sng">
              <a:solidFill>
                <a:schemeClr val="tx1"/>
              </a:solidFill>
              <a:prstDash val="solid"/>
              <a:miter/>
              <a:headEnd type="none" w="med" len="med"/>
              <a:tailEnd type="none" w="med" len="med"/>
            </a:ln>
          </p:spPr>
          <p:txBody>
            <a:bodyPr anchor="t"/>
            <a:lstStyle/>
            <a:p>
              <a:pPr lvl="0" indent="0" algn="ctr">
                <a:buNone/>
              </a:pPr>
              <a:endParaRPr lang="zh-CN" altLang="en-US" sz="2400" dirty="0">
                <a:solidFill>
                  <a:srgbClr val="003300"/>
                </a:solidFill>
                <a:latin typeface="宋体" panose="02010600030101010101" pitchFamily="2" charset="-122"/>
                <a:ea typeface="宋体" panose="02010600030101010101" pitchFamily="2" charset="-122"/>
              </a:endParaRPr>
            </a:p>
          </p:txBody>
        </p:sp>
      </p:grpSp>
      <p:grpSp>
        <p:nvGrpSpPr>
          <p:cNvPr id="67606" name="组合 39"/>
          <p:cNvGrpSpPr/>
          <p:nvPr/>
        </p:nvGrpSpPr>
        <p:grpSpPr>
          <a:xfrm>
            <a:off x="4846638" y="1404938"/>
            <a:ext cx="3382962" cy="676275"/>
            <a:chOff x="0" y="0"/>
            <a:chExt cx="3382962" cy="676275"/>
          </a:xfrm>
        </p:grpSpPr>
        <p:sp>
          <p:nvSpPr>
            <p:cNvPr id="69654" name="Text Box 6"/>
            <p:cNvSpPr txBox="1"/>
            <p:nvPr/>
          </p:nvSpPr>
          <p:spPr>
            <a:xfrm>
              <a:off x="0" y="42862"/>
              <a:ext cx="1614487" cy="633413"/>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多值属性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55" name="Freeform 19"/>
            <p:cNvSpPr/>
            <p:nvPr/>
          </p:nvSpPr>
          <p:spPr>
            <a:xfrm>
              <a:off x="1871662" y="90487"/>
              <a:ext cx="1358900" cy="40957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9656" name="Freeform 19"/>
            <p:cNvSpPr/>
            <p:nvPr/>
          </p:nvSpPr>
          <p:spPr>
            <a:xfrm>
              <a:off x="1765300" y="0"/>
              <a:ext cx="1617662" cy="576262"/>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grpSp>
      <p:grpSp>
        <p:nvGrpSpPr>
          <p:cNvPr id="67610" name="组合 41"/>
          <p:cNvGrpSpPr/>
          <p:nvPr/>
        </p:nvGrpSpPr>
        <p:grpSpPr>
          <a:xfrm>
            <a:off x="4876800" y="3627438"/>
            <a:ext cx="3306763" cy="554037"/>
            <a:chOff x="0" y="0"/>
            <a:chExt cx="3306763" cy="554037"/>
          </a:xfrm>
        </p:grpSpPr>
        <p:sp>
          <p:nvSpPr>
            <p:cNvPr id="69658" name="Text Box 6"/>
            <p:cNvSpPr txBox="1"/>
            <p:nvPr/>
          </p:nvSpPr>
          <p:spPr>
            <a:xfrm>
              <a:off x="0" y="0"/>
              <a:ext cx="1508125" cy="554037"/>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键属性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59" name="Freeform 19"/>
            <p:cNvSpPr/>
            <p:nvPr/>
          </p:nvSpPr>
          <p:spPr>
            <a:xfrm>
              <a:off x="1795463" y="31750"/>
              <a:ext cx="1511300"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cxnSp>
          <p:nvCxnSpPr>
            <p:cNvPr id="69660" name="直接连接符 32"/>
            <p:cNvCxnSpPr/>
            <p:nvPr/>
          </p:nvCxnSpPr>
          <p:spPr>
            <a:xfrm>
              <a:off x="2163763" y="427037"/>
              <a:ext cx="792162" cy="0"/>
            </a:xfrm>
            <a:prstGeom prst="line">
              <a:avLst/>
            </a:prstGeom>
            <a:ln w="9525" cap="flat" cmpd="sng">
              <a:solidFill>
                <a:schemeClr val="tx1"/>
              </a:solidFill>
              <a:prstDash val="solid"/>
              <a:round/>
              <a:headEnd type="none" w="med" len="med"/>
              <a:tailEnd type="none" w="med" len="med"/>
            </a:ln>
          </p:spPr>
        </p:cxnSp>
      </p:grpSp>
      <p:grpSp>
        <p:nvGrpSpPr>
          <p:cNvPr id="67614" name="组合 42"/>
          <p:cNvGrpSpPr/>
          <p:nvPr/>
        </p:nvGrpSpPr>
        <p:grpSpPr>
          <a:xfrm>
            <a:off x="4860925" y="4405313"/>
            <a:ext cx="3140075" cy="892175"/>
            <a:chOff x="0" y="0"/>
            <a:chExt cx="3140075" cy="892175"/>
          </a:xfrm>
        </p:grpSpPr>
        <p:sp>
          <p:nvSpPr>
            <p:cNvPr id="69662" name="Text Box 6"/>
            <p:cNvSpPr txBox="1"/>
            <p:nvPr/>
          </p:nvSpPr>
          <p:spPr>
            <a:xfrm>
              <a:off x="0" y="0"/>
              <a:ext cx="1662113" cy="892175"/>
            </a:xfrm>
            <a:prstGeom prst="rect">
              <a:avLst/>
            </a:prstGeom>
            <a:noFill/>
            <a:ln w="9525">
              <a:noFill/>
            </a:ln>
          </p:spPr>
          <p:txBody>
            <a:bodyPr anchor="t">
              <a:spAutoFit/>
            </a:bodyPr>
            <a:lstStyle/>
            <a:p>
              <a:pPr lvl="0" indent="0">
                <a:lnSpc>
                  <a:spcPct val="100000"/>
                </a:lnSpc>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完全参与约束</a:t>
              </a:r>
              <a:endParaRPr lang="zh-CN" altLang="en-US" sz="2600" dirty="0">
                <a:solidFill>
                  <a:srgbClr val="CC3300"/>
                </a:solidFill>
                <a:latin typeface="宋体" panose="02010600030101010101" pitchFamily="2" charset="-122"/>
                <a:ea typeface="宋体" panose="02010600030101010101" pitchFamily="2" charset="-122"/>
              </a:endParaRPr>
            </a:p>
          </p:txBody>
        </p:sp>
        <p:cxnSp>
          <p:nvCxnSpPr>
            <p:cNvPr id="69663" name="直接连接符 33"/>
            <p:cNvCxnSpPr/>
            <p:nvPr/>
          </p:nvCxnSpPr>
          <p:spPr>
            <a:xfrm>
              <a:off x="1936750" y="487362"/>
              <a:ext cx="1203325" cy="1588"/>
            </a:xfrm>
            <a:prstGeom prst="line">
              <a:avLst/>
            </a:prstGeom>
            <a:ln w="38100" cap="flat" cmpd="sng">
              <a:solidFill>
                <a:schemeClr val="tx1"/>
              </a:solidFill>
              <a:prstDash val="solid"/>
              <a:round/>
              <a:headEnd type="none" w="med" len="med"/>
              <a:tailEnd type="none" w="med" len="med"/>
            </a:ln>
          </p:spPr>
        </p:cxnSp>
      </p:grpSp>
      <p:grpSp>
        <p:nvGrpSpPr>
          <p:cNvPr id="67617" name="组合 43"/>
          <p:cNvGrpSpPr/>
          <p:nvPr/>
        </p:nvGrpSpPr>
        <p:grpSpPr>
          <a:xfrm>
            <a:off x="4830763" y="5370513"/>
            <a:ext cx="3414712" cy="603250"/>
            <a:chOff x="0" y="0"/>
            <a:chExt cx="3414712" cy="603250"/>
          </a:xfrm>
        </p:grpSpPr>
        <p:sp>
          <p:nvSpPr>
            <p:cNvPr id="69665" name="Text Box 6"/>
            <p:cNvSpPr txBox="1"/>
            <p:nvPr/>
          </p:nvSpPr>
          <p:spPr>
            <a:xfrm>
              <a:off x="0" y="9525"/>
              <a:ext cx="1706562" cy="554037"/>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识别联系</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66" name="Freeform 7"/>
            <p:cNvSpPr/>
            <p:nvPr/>
          </p:nvSpPr>
          <p:spPr>
            <a:xfrm>
              <a:off x="1817687" y="0"/>
              <a:ext cx="1597025" cy="603250"/>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noFill/>
            <a:ln w="38100" cap="flat" cmpd="sng">
              <a:solidFill>
                <a:schemeClr val="tx1"/>
              </a:solidFill>
              <a:prstDash val="solid"/>
              <a:miter/>
              <a:headEnd type="none" w="med" len="med"/>
              <a:tailEnd type="none" w="med" len="med"/>
            </a:ln>
          </p:spPr>
          <p:txBody>
            <a:bodyPr/>
            <a:lstStyle/>
            <a:p>
              <a:endParaRPr lang="zh-CN" altLang="en-US"/>
            </a:p>
          </p:txBody>
        </p:sp>
      </p:grpSp>
      <p:grpSp>
        <p:nvGrpSpPr>
          <p:cNvPr id="67620" name="组合 40"/>
          <p:cNvGrpSpPr/>
          <p:nvPr/>
        </p:nvGrpSpPr>
        <p:grpSpPr>
          <a:xfrm>
            <a:off x="4860925" y="2346325"/>
            <a:ext cx="3917950" cy="869950"/>
            <a:chOff x="0" y="0"/>
            <a:chExt cx="3917950" cy="869950"/>
          </a:xfrm>
        </p:grpSpPr>
        <p:sp>
          <p:nvSpPr>
            <p:cNvPr id="69668" name="Text Box 6"/>
            <p:cNvSpPr txBox="1"/>
            <p:nvPr/>
          </p:nvSpPr>
          <p:spPr>
            <a:xfrm>
              <a:off x="0" y="61913"/>
              <a:ext cx="1676400" cy="631825"/>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复合属性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69" name="Freeform 19"/>
            <p:cNvSpPr/>
            <p:nvPr/>
          </p:nvSpPr>
          <p:spPr>
            <a:xfrm>
              <a:off x="2165350" y="503238"/>
              <a:ext cx="1004888" cy="366712"/>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9670" name="Freeform 19"/>
            <p:cNvSpPr/>
            <p:nvPr/>
          </p:nvSpPr>
          <p:spPr>
            <a:xfrm>
              <a:off x="1552575" y="76200"/>
              <a:ext cx="749300" cy="2603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9671" name="Freeform 19"/>
            <p:cNvSpPr/>
            <p:nvPr/>
          </p:nvSpPr>
          <p:spPr>
            <a:xfrm>
              <a:off x="2390775" y="0"/>
              <a:ext cx="749300" cy="2603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9672" name="Freeform 19"/>
            <p:cNvSpPr/>
            <p:nvPr/>
          </p:nvSpPr>
          <p:spPr>
            <a:xfrm>
              <a:off x="3167063" y="168275"/>
              <a:ext cx="750887" cy="258763"/>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cxnSp>
          <p:nvCxnSpPr>
            <p:cNvPr id="69673" name="直接连接符 41"/>
            <p:cNvCxnSpPr/>
            <p:nvPr/>
          </p:nvCxnSpPr>
          <p:spPr>
            <a:xfrm flipV="1">
              <a:off x="2881313" y="366713"/>
              <a:ext cx="365125" cy="152400"/>
            </a:xfrm>
            <a:prstGeom prst="line">
              <a:avLst/>
            </a:prstGeom>
            <a:ln w="9525" cap="flat" cmpd="sng">
              <a:solidFill>
                <a:schemeClr val="tx1"/>
              </a:solidFill>
              <a:prstDash val="solid"/>
              <a:round/>
              <a:headEnd type="none" w="med" len="med"/>
              <a:tailEnd type="none" w="med" len="med"/>
            </a:ln>
          </p:spPr>
        </p:cxnSp>
        <p:cxnSp>
          <p:nvCxnSpPr>
            <p:cNvPr id="69674" name="直接连接符 44"/>
            <p:cNvCxnSpPr/>
            <p:nvPr/>
          </p:nvCxnSpPr>
          <p:spPr>
            <a:xfrm rot="5400000" flipH="1" flipV="1">
              <a:off x="2590792" y="366704"/>
              <a:ext cx="214312" cy="30163"/>
            </a:xfrm>
            <a:prstGeom prst="line">
              <a:avLst/>
            </a:prstGeom>
            <a:ln w="9525" cap="flat" cmpd="sng">
              <a:solidFill>
                <a:schemeClr val="tx1"/>
              </a:solidFill>
              <a:prstDash val="solid"/>
              <a:round/>
              <a:headEnd type="none" w="med" len="med"/>
              <a:tailEnd type="none" w="med" len="med"/>
            </a:ln>
          </p:spPr>
        </p:cxnSp>
        <p:cxnSp>
          <p:nvCxnSpPr>
            <p:cNvPr id="69675" name="直接连接符 46"/>
            <p:cNvCxnSpPr/>
            <p:nvPr/>
          </p:nvCxnSpPr>
          <p:spPr>
            <a:xfrm rot="10800000">
              <a:off x="2149475" y="304800"/>
              <a:ext cx="334963" cy="198438"/>
            </a:xfrm>
            <a:prstGeom prst="line">
              <a:avLst/>
            </a:prstGeom>
            <a:ln w="9525" cap="flat" cmpd="sng">
              <a:solidFill>
                <a:schemeClr val="tx1"/>
              </a:solidFill>
              <a:prstDash val="solid"/>
              <a:round/>
              <a:headEnd type="none" w="med" len="med"/>
              <a:tailEnd type="none" w="med" len="med"/>
            </a:ln>
          </p:spPr>
        </p:cxnSp>
      </p:grpSp>
      <p:sp>
        <p:nvSpPr>
          <p:cNvPr id="22530" name="Rectangle 2"/>
          <p:cNvSpPr/>
          <p:nvPr/>
        </p:nvSpPr>
        <p:spPr>
          <a:xfrm>
            <a:off x="457200" y="7429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四、基本实体联系模型小结</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 calcmode="lin" valueType="num">
                                      <p:cBhvr additive="base">
                                        <p:cTn id="7" dur="500" fill="hold"/>
                                        <p:tgtEl>
                                          <p:spTgt spid="67588"/>
                                        </p:tgtEl>
                                        <p:attrNameLst>
                                          <p:attrName>ppt_x</p:attrName>
                                        </p:attrNameLst>
                                      </p:cBhvr>
                                      <p:tavLst>
                                        <p:tav tm="0">
                                          <p:val>
                                            <p:strVal val="#ppt_x"/>
                                          </p:val>
                                        </p:tav>
                                        <p:tav tm="100000">
                                          <p:val>
                                            <p:strVal val="#ppt_x"/>
                                          </p:val>
                                        </p:tav>
                                      </p:tavLst>
                                    </p:anim>
                                    <p:anim calcmode="lin" valueType="num">
                                      <p:cBhvr additive="base">
                                        <p:cTn id="8" dur="500" fill="hold"/>
                                        <p:tgtEl>
                                          <p:spTgt spid="6758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591"/>
                                        </p:tgtEl>
                                        <p:attrNameLst>
                                          <p:attrName>style.visibility</p:attrName>
                                        </p:attrNameLst>
                                      </p:cBhvr>
                                      <p:to>
                                        <p:strVal val="visible"/>
                                      </p:to>
                                    </p:set>
                                    <p:anim calcmode="lin" valueType="num">
                                      <p:cBhvr additive="base">
                                        <p:cTn id="13" dur="500" fill="hold"/>
                                        <p:tgtEl>
                                          <p:spTgt spid="67591"/>
                                        </p:tgtEl>
                                        <p:attrNameLst>
                                          <p:attrName>ppt_x</p:attrName>
                                        </p:attrNameLst>
                                      </p:cBhvr>
                                      <p:tavLst>
                                        <p:tav tm="0">
                                          <p:val>
                                            <p:strVal val="#ppt_x"/>
                                          </p:val>
                                        </p:tav>
                                        <p:tav tm="100000">
                                          <p:val>
                                            <p:strVal val="#ppt_x"/>
                                          </p:val>
                                        </p:tav>
                                      </p:tavLst>
                                    </p:anim>
                                    <p:anim calcmode="lin" valueType="num">
                                      <p:cBhvr additive="base">
                                        <p:cTn id="14" dur="500" fill="hold"/>
                                        <p:tgtEl>
                                          <p:spTgt spid="6759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7594"/>
                                        </p:tgtEl>
                                        <p:attrNameLst>
                                          <p:attrName>style.visibility</p:attrName>
                                        </p:attrNameLst>
                                      </p:cBhvr>
                                      <p:to>
                                        <p:strVal val="visible"/>
                                      </p:to>
                                    </p:set>
                                    <p:anim calcmode="lin" valueType="num">
                                      <p:cBhvr additive="base">
                                        <p:cTn id="19" dur="500" fill="hold"/>
                                        <p:tgtEl>
                                          <p:spTgt spid="67594"/>
                                        </p:tgtEl>
                                        <p:attrNameLst>
                                          <p:attrName>ppt_x</p:attrName>
                                        </p:attrNameLst>
                                      </p:cBhvr>
                                      <p:tavLst>
                                        <p:tav tm="0">
                                          <p:val>
                                            <p:strVal val="#ppt_x"/>
                                          </p:val>
                                        </p:tav>
                                        <p:tav tm="100000">
                                          <p:val>
                                            <p:strVal val="#ppt_x"/>
                                          </p:val>
                                        </p:tav>
                                      </p:tavLst>
                                    </p:anim>
                                    <p:anim calcmode="lin" valueType="num">
                                      <p:cBhvr additive="base">
                                        <p:cTn id="20" dur="500" fill="hold"/>
                                        <p:tgtEl>
                                          <p:spTgt spid="6759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7597"/>
                                        </p:tgtEl>
                                        <p:attrNameLst>
                                          <p:attrName>style.visibility</p:attrName>
                                        </p:attrNameLst>
                                      </p:cBhvr>
                                      <p:to>
                                        <p:strVal val="visible"/>
                                      </p:to>
                                    </p:set>
                                    <p:anim calcmode="lin" valueType="num">
                                      <p:cBhvr additive="base">
                                        <p:cTn id="25" dur="500" fill="hold"/>
                                        <p:tgtEl>
                                          <p:spTgt spid="67597"/>
                                        </p:tgtEl>
                                        <p:attrNameLst>
                                          <p:attrName>ppt_x</p:attrName>
                                        </p:attrNameLst>
                                      </p:cBhvr>
                                      <p:tavLst>
                                        <p:tav tm="0">
                                          <p:val>
                                            <p:strVal val="#ppt_x"/>
                                          </p:val>
                                        </p:tav>
                                        <p:tav tm="100000">
                                          <p:val>
                                            <p:strVal val="#ppt_x"/>
                                          </p:val>
                                        </p:tav>
                                      </p:tavLst>
                                    </p:anim>
                                    <p:anim calcmode="lin" valueType="num">
                                      <p:cBhvr additive="base">
                                        <p:cTn id="26" dur="500" fill="hold"/>
                                        <p:tgtEl>
                                          <p:spTgt spid="6759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7600"/>
                                        </p:tgtEl>
                                        <p:attrNameLst>
                                          <p:attrName>style.visibility</p:attrName>
                                        </p:attrNameLst>
                                      </p:cBhvr>
                                      <p:to>
                                        <p:strVal val="visible"/>
                                      </p:to>
                                    </p:set>
                                    <p:anim calcmode="lin" valueType="num">
                                      <p:cBhvr additive="base">
                                        <p:cTn id="31" dur="500" fill="hold"/>
                                        <p:tgtEl>
                                          <p:spTgt spid="67600"/>
                                        </p:tgtEl>
                                        <p:attrNameLst>
                                          <p:attrName>ppt_x</p:attrName>
                                        </p:attrNameLst>
                                      </p:cBhvr>
                                      <p:tavLst>
                                        <p:tav tm="0">
                                          <p:val>
                                            <p:strVal val="#ppt_x"/>
                                          </p:val>
                                        </p:tav>
                                        <p:tav tm="100000">
                                          <p:val>
                                            <p:strVal val="#ppt_x"/>
                                          </p:val>
                                        </p:tav>
                                      </p:tavLst>
                                    </p:anim>
                                    <p:anim calcmode="lin" valueType="num">
                                      <p:cBhvr additive="base">
                                        <p:cTn id="32" dur="500" fill="hold"/>
                                        <p:tgtEl>
                                          <p:spTgt spid="6760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7603"/>
                                        </p:tgtEl>
                                        <p:attrNameLst>
                                          <p:attrName>style.visibility</p:attrName>
                                        </p:attrNameLst>
                                      </p:cBhvr>
                                      <p:to>
                                        <p:strVal val="visible"/>
                                      </p:to>
                                    </p:set>
                                    <p:anim calcmode="lin" valueType="num">
                                      <p:cBhvr additive="base">
                                        <p:cTn id="37" dur="500" fill="hold"/>
                                        <p:tgtEl>
                                          <p:spTgt spid="67603"/>
                                        </p:tgtEl>
                                        <p:attrNameLst>
                                          <p:attrName>ppt_x</p:attrName>
                                        </p:attrNameLst>
                                      </p:cBhvr>
                                      <p:tavLst>
                                        <p:tav tm="0">
                                          <p:val>
                                            <p:strVal val="#ppt_x"/>
                                          </p:val>
                                        </p:tav>
                                        <p:tav tm="100000">
                                          <p:val>
                                            <p:strVal val="#ppt_x"/>
                                          </p:val>
                                        </p:tav>
                                      </p:tavLst>
                                    </p:anim>
                                    <p:anim calcmode="lin" valueType="num">
                                      <p:cBhvr additive="base">
                                        <p:cTn id="38" dur="500" fill="hold"/>
                                        <p:tgtEl>
                                          <p:spTgt spid="6760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7606"/>
                                        </p:tgtEl>
                                        <p:attrNameLst>
                                          <p:attrName>style.visibility</p:attrName>
                                        </p:attrNameLst>
                                      </p:cBhvr>
                                      <p:to>
                                        <p:strVal val="visible"/>
                                      </p:to>
                                    </p:set>
                                    <p:anim calcmode="lin" valueType="num">
                                      <p:cBhvr additive="base">
                                        <p:cTn id="43" dur="500" fill="hold"/>
                                        <p:tgtEl>
                                          <p:spTgt spid="67606"/>
                                        </p:tgtEl>
                                        <p:attrNameLst>
                                          <p:attrName>ppt_x</p:attrName>
                                        </p:attrNameLst>
                                      </p:cBhvr>
                                      <p:tavLst>
                                        <p:tav tm="0">
                                          <p:val>
                                            <p:strVal val="#ppt_x"/>
                                          </p:val>
                                        </p:tav>
                                        <p:tav tm="100000">
                                          <p:val>
                                            <p:strVal val="#ppt_x"/>
                                          </p:val>
                                        </p:tav>
                                      </p:tavLst>
                                    </p:anim>
                                    <p:anim calcmode="lin" valueType="num">
                                      <p:cBhvr additive="base">
                                        <p:cTn id="44" dur="500" fill="hold"/>
                                        <p:tgtEl>
                                          <p:spTgt spid="6760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7620"/>
                                        </p:tgtEl>
                                        <p:attrNameLst>
                                          <p:attrName>style.visibility</p:attrName>
                                        </p:attrNameLst>
                                      </p:cBhvr>
                                      <p:to>
                                        <p:strVal val="visible"/>
                                      </p:to>
                                    </p:set>
                                    <p:anim calcmode="lin" valueType="num">
                                      <p:cBhvr additive="base">
                                        <p:cTn id="49" dur="500" fill="hold"/>
                                        <p:tgtEl>
                                          <p:spTgt spid="67620"/>
                                        </p:tgtEl>
                                        <p:attrNameLst>
                                          <p:attrName>ppt_x</p:attrName>
                                        </p:attrNameLst>
                                      </p:cBhvr>
                                      <p:tavLst>
                                        <p:tav tm="0">
                                          <p:val>
                                            <p:strVal val="#ppt_x"/>
                                          </p:val>
                                        </p:tav>
                                        <p:tav tm="100000">
                                          <p:val>
                                            <p:strVal val="#ppt_x"/>
                                          </p:val>
                                        </p:tav>
                                      </p:tavLst>
                                    </p:anim>
                                    <p:anim calcmode="lin" valueType="num">
                                      <p:cBhvr additive="base">
                                        <p:cTn id="50" dur="500" fill="hold"/>
                                        <p:tgtEl>
                                          <p:spTgt spid="6762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7610"/>
                                        </p:tgtEl>
                                        <p:attrNameLst>
                                          <p:attrName>style.visibility</p:attrName>
                                        </p:attrNameLst>
                                      </p:cBhvr>
                                      <p:to>
                                        <p:strVal val="visible"/>
                                      </p:to>
                                    </p:set>
                                    <p:anim calcmode="lin" valueType="num">
                                      <p:cBhvr additive="base">
                                        <p:cTn id="55" dur="500" fill="hold"/>
                                        <p:tgtEl>
                                          <p:spTgt spid="67610"/>
                                        </p:tgtEl>
                                        <p:attrNameLst>
                                          <p:attrName>ppt_x</p:attrName>
                                        </p:attrNameLst>
                                      </p:cBhvr>
                                      <p:tavLst>
                                        <p:tav tm="0">
                                          <p:val>
                                            <p:strVal val="#ppt_x"/>
                                          </p:val>
                                        </p:tav>
                                        <p:tav tm="100000">
                                          <p:val>
                                            <p:strVal val="#ppt_x"/>
                                          </p:val>
                                        </p:tav>
                                      </p:tavLst>
                                    </p:anim>
                                    <p:anim calcmode="lin" valueType="num">
                                      <p:cBhvr additive="base">
                                        <p:cTn id="56" dur="500" fill="hold"/>
                                        <p:tgtEl>
                                          <p:spTgt spid="6761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67614"/>
                                        </p:tgtEl>
                                        <p:attrNameLst>
                                          <p:attrName>style.visibility</p:attrName>
                                        </p:attrNameLst>
                                      </p:cBhvr>
                                      <p:to>
                                        <p:strVal val="visible"/>
                                      </p:to>
                                    </p:set>
                                    <p:anim calcmode="lin" valueType="num">
                                      <p:cBhvr additive="base">
                                        <p:cTn id="61" dur="500" fill="hold"/>
                                        <p:tgtEl>
                                          <p:spTgt spid="67614"/>
                                        </p:tgtEl>
                                        <p:attrNameLst>
                                          <p:attrName>ppt_x</p:attrName>
                                        </p:attrNameLst>
                                      </p:cBhvr>
                                      <p:tavLst>
                                        <p:tav tm="0">
                                          <p:val>
                                            <p:strVal val="#ppt_x"/>
                                          </p:val>
                                        </p:tav>
                                        <p:tav tm="100000">
                                          <p:val>
                                            <p:strVal val="#ppt_x"/>
                                          </p:val>
                                        </p:tav>
                                      </p:tavLst>
                                    </p:anim>
                                    <p:anim calcmode="lin" valueType="num">
                                      <p:cBhvr additive="base">
                                        <p:cTn id="62" dur="500" fill="hold"/>
                                        <p:tgtEl>
                                          <p:spTgt spid="6761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67617"/>
                                        </p:tgtEl>
                                        <p:attrNameLst>
                                          <p:attrName>style.visibility</p:attrName>
                                        </p:attrNameLst>
                                      </p:cBhvr>
                                      <p:to>
                                        <p:strVal val="visible"/>
                                      </p:to>
                                    </p:set>
                                    <p:anim calcmode="lin" valueType="num">
                                      <p:cBhvr additive="base">
                                        <p:cTn id="67" dur="500" fill="hold"/>
                                        <p:tgtEl>
                                          <p:spTgt spid="67617"/>
                                        </p:tgtEl>
                                        <p:attrNameLst>
                                          <p:attrName>ppt_x</p:attrName>
                                        </p:attrNameLst>
                                      </p:cBhvr>
                                      <p:tavLst>
                                        <p:tav tm="0">
                                          <p:val>
                                            <p:strVal val="#ppt_x"/>
                                          </p:val>
                                        </p:tav>
                                        <p:tav tm="100000">
                                          <p:val>
                                            <p:strVal val="#ppt_x"/>
                                          </p:val>
                                        </p:tav>
                                      </p:tavLst>
                                    </p:anim>
                                    <p:anim calcmode="lin" valueType="num">
                                      <p:cBhvr additive="base">
                                        <p:cTn id="68" dur="500" fill="hold"/>
                                        <p:tgtEl>
                                          <p:spTgt spid="676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3"/>
          <p:cNvSpPr/>
          <p:nvPr/>
        </p:nvSpPr>
        <p:spPr>
          <a:xfrm>
            <a:off x="557213" y="881063"/>
            <a:ext cx="2128837" cy="523875"/>
          </a:xfrm>
          <a:prstGeom prst="rect">
            <a:avLst/>
          </a:prstGeom>
          <a:noFill/>
          <a:ln w="9525">
            <a:noFill/>
          </a:ln>
        </p:spPr>
        <p:txBody>
          <a:bodyPr wrap="none" anchor="t">
            <a:spAutoFit/>
          </a:bodyPr>
          <a:lstStyle/>
          <a:p>
            <a:pPr lvl="0" indent="0">
              <a:lnSpc>
                <a:spcPct val="100000"/>
              </a:lnSpc>
              <a:buFont typeface="Wingdings" panose="05000000000000000000" pitchFamily="2" charset="2"/>
              <a:buChar char="p"/>
            </a:pPr>
            <a:r>
              <a:rPr lang="zh-CN" altLang="en-US" sz="2800" dirty="0">
                <a:solidFill>
                  <a:srgbClr val="0033CC"/>
                </a:solidFill>
                <a:latin typeface="黑体" panose="02010609060101010101" pitchFamily="1" charset="-122"/>
                <a:ea typeface="黑体" panose="02010609060101010101" pitchFamily="1" charset="-122"/>
              </a:rPr>
              <a:t> 课堂练习</a:t>
            </a:r>
            <a:endParaRPr lang="zh-CN" altLang="en-US" sz="2400" dirty="0">
              <a:solidFill>
                <a:srgbClr val="0033CC"/>
              </a:solidFill>
              <a:latin typeface="黑体" panose="02010609060101010101" pitchFamily="1" charset="-122"/>
              <a:ea typeface="黑体" panose="02010609060101010101" pitchFamily="1" charset="-122"/>
            </a:endParaRPr>
          </a:p>
        </p:txBody>
      </p:sp>
      <p:sp>
        <p:nvSpPr>
          <p:cNvPr id="70659" name="矩形 4"/>
          <p:cNvSpPr/>
          <p:nvPr/>
        </p:nvSpPr>
        <p:spPr>
          <a:xfrm>
            <a:off x="696913" y="1547813"/>
            <a:ext cx="7981950" cy="4400550"/>
          </a:xfrm>
          <a:prstGeom prst="rect">
            <a:avLst/>
          </a:prstGeom>
          <a:noFill/>
          <a:ln w="9525">
            <a:noFill/>
          </a:ln>
        </p:spPr>
        <p:txBody>
          <a:bodyPr anchor="t">
            <a:spAutoFit/>
          </a:bodyPr>
          <a:lstStyle/>
          <a:p>
            <a:pPr lvl="0" indent="0" algn="just">
              <a:lnSpc>
                <a:spcPct val="125000"/>
              </a:lnSpc>
              <a:buNone/>
            </a:pPr>
            <a:r>
              <a:rPr lang="zh-CN" altLang="en-US" sz="2400" dirty="0">
                <a:latin typeface="宋体" panose="02010600030101010101" pitchFamily="2" charset="-122"/>
                <a:ea typeface="宋体" panose="02010600030101010101" pitchFamily="2" charset="-122"/>
              </a:rPr>
              <a:t>    </a:t>
            </a:r>
            <a:r>
              <a:rPr lang="zh-CN" altLang="en-US" sz="2400" dirty="0">
                <a:solidFill>
                  <a:srgbClr val="0033CC"/>
                </a:solidFill>
                <a:latin typeface="宋体" panose="02010600030101010101" pitchFamily="2" charset="-122"/>
                <a:ea typeface="宋体" panose="02010600030101010101" pitchFamily="2" charset="-122"/>
              </a:rPr>
              <a:t>设有四个实体：</a:t>
            </a:r>
            <a:r>
              <a:rPr lang="zh-CN" altLang="en-US" sz="2400" u="sng" dirty="0">
                <a:solidFill>
                  <a:srgbClr val="0033CC"/>
                </a:solidFill>
                <a:latin typeface="宋体" panose="02010600030101010101" pitchFamily="2" charset="-122"/>
                <a:ea typeface="宋体" panose="02010600030101010101" pitchFamily="2" charset="-122"/>
              </a:rPr>
              <a:t>“团长”，“代表团”，“运动员”，“比赛项目”。</a:t>
            </a:r>
            <a:r>
              <a:rPr lang="zh-CN" altLang="en-US" sz="2400" dirty="0">
                <a:latin typeface="宋体" panose="02010600030101010101" pitchFamily="2" charset="-122"/>
                <a:ea typeface="宋体" panose="02010600030101010101" pitchFamily="2" charset="-122"/>
              </a:rPr>
              <a:t>“团长”的属性有身份证号、姓名、性别、年龄、电话；“代表团”的属性有团编号、来自地区、住所；“运动员”的属性有编号、姓名、性别、年龄；“比赛项目”的属性有项目编号、项目名、级别。</a:t>
            </a:r>
            <a:endParaRPr lang="zh-CN" altLang="en-US" sz="2400" dirty="0">
              <a:latin typeface="宋体" panose="02010600030101010101" pitchFamily="2" charset="-122"/>
              <a:ea typeface="宋体" panose="02010600030101010101" pitchFamily="2" charset="-122"/>
            </a:endParaRPr>
          </a:p>
          <a:p>
            <a:pPr lvl="0" indent="0" algn="just">
              <a:lnSpc>
                <a:spcPct val="125000"/>
              </a:lnSpc>
              <a:spcBef>
                <a:spcPts val="600"/>
              </a:spcBef>
              <a:buNone/>
            </a:pPr>
            <a:r>
              <a:rPr lang="zh-CN" altLang="en-US" sz="2400" dirty="0">
                <a:latin typeface="宋体" panose="02010600030101010101" pitchFamily="2" charset="-122"/>
                <a:ea typeface="宋体" panose="02010600030101010101" pitchFamily="2" charset="-122"/>
              </a:rPr>
              <a:t>    这些实体间的联系及它们的属性有：团长</a:t>
            </a:r>
            <a:r>
              <a:rPr lang="zh-CN" altLang="en-US" sz="2400" u="sng" dirty="0">
                <a:solidFill>
                  <a:srgbClr val="0033CC"/>
                </a:solidFill>
                <a:latin typeface="宋体" panose="02010600030101010101" pitchFamily="2" charset="-122"/>
                <a:ea typeface="宋体" panose="02010600030101010101" pitchFamily="2" charset="-122"/>
              </a:rPr>
              <a:t>“管理”</a:t>
            </a:r>
            <a:r>
              <a:rPr lang="zh-CN" altLang="en-US" sz="2400" dirty="0">
                <a:latin typeface="宋体" panose="02010600030101010101" pitchFamily="2" charset="-122"/>
                <a:ea typeface="宋体" panose="02010600030101010101" pitchFamily="2" charset="-122"/>
              </a:rPr>
              <a:t>代表团；代表团由运动员</a:t>
            </a:r>
            <a:r>
              <a:rPr lang="zh-CN" altLang="en-US" sz="2400" u="sng" dirty="0">
                <a:solidFill>
                  <a:srgbClr val="0033CC"/>
                </a:solidFill>
                <a:latin typeface="宋体" panose="02010600030101010101" pitchFamily="2" charset="-122"/>
                <a:ea typeface="宋体" panose="02010600030101010101" pitchFamily="2" charset="-122"/>
              </a:rPr>
              <a:t>“组成”</a:t>
            </a:r>
            <a:r>
              <a:rPr lang="zh-CN" altLang="en-US" sz="2400" dirty="0">
                <a:latin typeface="宋体" panose="02010600030101010101" pitchFamily="2" charset="-122"/>
                <a:ea typeface="宋体" panose="02010600030101010101" pitchFamily="2" charset="-122"/>
              </a:rPr>
              <a:t>；运动员</a:t>
            </a:r>
            <a:r>
              <a:rPr lang="zh-CN" altLang="en-US" sz="2400" u="sng" dirty="0">
                <a:solidFill>
                  <a:srgbClr val="0033CC"/>
                </a:solidFill>
                <a:latin typeface="宋体" panose="02010600030101010101" pitchFamily="2" charset="-122"/>
                <a:ea typeface="宋体" panose="02010600030101010101" pitchFamily="2" charset="-122"/>
              </a:rPr>
              <a:t>“参加”</a:t>
            </a:r>
            <a:r>
              <a:rPr lang="zh-CN" altLang="en-US" sz="2400" dirty="0">
                <a:latin typeface="宋体" panose="02010600030101010101" pitchFamily="2" charset="-122"/>
                <a:ea typeface="宋体" panose="02010600030101010101" pitchFamily="2" charset="-122"/>
              </a:rPr>
              <a:t>比赛项目。“参加”的属性是比赛时间和得分。</a:t>
            </a:r>
            <a:endParaRPr lang="zh-CN" altLang="en-US" sz="2400" dirty="0">
              <a:latin typeface="宋体" panose="02010600030101010101" pitchFamily="2" charset="-122"/>
              <a:ea typeface="宋体" panose="02010600030101010101" pitchFamily="2" charset="-122"/>
            </a:endParaRPr>
          </a:p>
          <a:p>
            <a:pPr lvl="0" indent="0" algn="just">
              <a:lnSpc>
                <a:spcPct val="125000"/>
              </a:lnSpc>
              <a:spcBef>
                <a:spcPts val="600"/>
              </a:spcBef>
              <a:buNone/>
            </a:pPr>
            <a:r>
              <a:rPr lang="zh-CN" altLang="en-US" sz="2400" dirty="0">
                <a:latin typeface="宋体" panose="02010600030101010101" pitchFamily="2" charset="-122"/>
                <a:ea typeface="宋体" panose="02010600030101010101" pitchFamily="2" charset="-122"/>
              </a:rPr>
              <a:t>    请根据以上描述，画出该体育运动会的</a:t>
            </a:r>
            <a:r>
              <a:rPr lang="en-US" altLang="x-none" sz="2400" dirty="0">
                <a:latin typeface="宋体" panose="02010600030101010101" pitchFamily="2" charset="-122"/>
                <a:ea typeface="宋体" panose="02010600030101010101" pitchFamily="2" charset="-122"/>
              </a:rPr>
              <a:t>ER</a:t>
            </a:r>
            <a:r>
              <a:rPr lang="zh-CN" altLang="en-US" sz="2400" dirty="0">
                <a:latin typeface="宋体" panose="02010600030101010101" pitchFamily="2" charset="-122"/>
                <a:ea typeface="宋体" panose="02010600030101010101" pitchFamily="2" charset="-122"/>
              </a:rPr>
              <a:t>图。</a:t>
            </a:r>
            <a:endParaRPr lang="zh-CN" altLang="en-US" sz="2400" dirty="0">
              <a:latin typeface="宋体" panose="02010600030101010101" pitchFamily="2" charset="-122"/>
              <a:ea typeface="宋体" panose="02010600030101010101" pitchFamily="2" charset="-122"/>
            </a:endParaRPr>
          </a:p>
        </p:txBody>
      </p:sp>
      <p:sp>
        <p:nvSpPr>
          <p:cNvPr id="3" name="Rectangle 2"/>
          <p:cNvSpPr/>
          <p:nvPr/>
        </p:nvSpPr>
        <p:spPr>
          <a:xfrm>
            <a:off x="457200" y="7429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四、基本实体联系模型小结</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矩形 3"/>
          <p:cNvSpPr/>
          <p:nvPr/>
        </p:nvSpPr>
        <p:spPr>
          <a:xfrm>
            <a:off x="557213" y="881063"/>
            <a:ext cx="2128837" cy="523875"/>
          </a:xfrm>
          <a:prstGeom prst="rect">
            <a:avLst/>
          </a:prstGeom>
          <a:noFill/>
          <a:ln w="9525">
            <a:noFill/>
          </a:ln>
        </p:spPr>
        <p:txBody>
          <a:bodyPr wrap="none" anchor="t">
            <a:spAutoFit/>
          </a:bodyPr>
          <a:lstStyle/>
          <a:p>
            <a:pPr lvl="0" indent="0">
              <a:lnSpc>
                <a:spcPct val="100000"/>
              </a:lnSpc>
              <a:buFont typeface="Wingdings" panose="05000000000000000000" pitchFamily="2" charset="2"/>
              <a:buChar char="p"/>
            </a:pPr>
            <a:r>
              <a:rPr lang="zh-CN" altLang="en-US" sz="2800" dirty="0">
                <a:solidFill>
                  <a:srgbClr val="0033CC"/>
                </a:solidFill>
                <a:latin typeface="黑体" panose="02010609060101010101" pitchFamily="1" charset="-122"/>
                <a:ea typeface="黑体" panose="02010609060101010101" pitchFamily="1" charset="-122"/>
              </a:rPr>
              <a:t> 课堂练习</a:t>
            </a:r>
            <a:endParaRPr lang="zh-CN" altLang="en-US" sz="2400" dirty="0">
              <a:solidFill>
                <a:srgbClr val="0033CC"/>
              </a:solidFill>
              <a:latin typeface="黑体" panose="02010609060101010101" pitchFamily="1" charset="-122"/>
              <a:ea typeface="黑体" panose="02010609060101010101" pitchFamily="1" charset="-122"/>
            </a:endParaRPr>
          </a:p>
        </p:txBody>
      </p:sp>
      <p:sp>
        <p:nvSpPr>
          <p:cNvPr id="3" name="Rectangle 2"/>
          <p:cNvSpPr/>
          <p:nvPr/>
        </p:nvSpPr>
        <p:spPr>
          <a:xfrm>
            <a:off x="457200" y="7429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四、基本实体联系模型小结</a:t>
            </a:r>
            <a:endParaRPr lang="zh-CN" altLang="en-US" sz="3200" dirty="0">
              <a:solidFill>
                <a:srgbClr val="FF0000"/>
              </a:solidFill>
              <a:latin typeface="Arial" panose="020B0604020202020204" pitchFamily="34" charset="0"/>
              <a:ea typeface="黑体" panose="02010609060101010101" pitchFamily="1" charset="-122"/>
            </a:endParaRPr>
          </a:p>
        </p:txBody>
      </p:sp>
      <p:graphicFrame>
        <p:nvGraphicFramePr>
          <p:cNvPr id="2" name="对象 1"/>
          <p:cNvGraphicFramePr>
            <a:graphicFrameLocks noChangeAspect="1"/>
          </p:cNvGraphicFramePr>
          <p:nvPr/>
        </p:nvGraphicFramePr>
        <p:xfrm>
          <a:off x="457200" y="1776730"/>
          <a:ext cx="8301287" cy="3636000"/>
        </p:xfrm>
        <a:graphic>
          <a:graphicData uri="http://schemas.openxmlformats.org/presentationml/2006/ole">
            <mc:AlternateContent xmlns:mc="http://schemas.openxmlformats.org/markup-compatibility/2006">
              <mc:Choice xmlns:v="urn:schemas-microsoft-com:vml" Requires="v">
                <p:oleObj spid="_x0000_s4" name="" r:id="rId1" imgW="7177405" imgH="3166110" progId="Visio.Drawing.15">
                  <p:embed/>
                </p:oleObj>
              </mc:Choice>
              <mc:Fallback>
                <p:oleObj name="" r:id="rId1" imgW="7177405" imgH="3166110" progId="Visio.Drawing.15">
                  <p:embed/>
                  <p:pic>
                    <p:nvPicPr>
                      <p:cNvPr id="0" name="图片 3"/>
                      <p:cNvPicPr/>
                      <p:nvPr/>
                    </p:nvPicPr>
                    <p:blipFill>
                      <a:blip r:embed="rId2"/>
                      <a:stretch>
                        <a:fillRect/>
                      </a:stretch>
                    </p:blipFill>
                    <p:spPr>
                      <a:xfrm>
                        <a:off x="457200" y="1776730"/>
                        <a:ext cx="8301287" cy="3636000"/>
                      </a:xfrm>
                      <a:prstGeom prst="rect">
                        <a:avLst/>
                      </a:prstGeom>
                    </p:spPr>
                  </p:pic>
                </p:oleObj>
              </mc:Fallback>
            </mc:AlternateContent>
          </a:graphicData>
        </a:graphic>
      </p:graphicFrame>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p:nvPr/>
        </p:nvSpPr>
        <p:spPr>
          <a:xfrm>
            <a:off x="457200" y="11493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72706" name="矩形 2"/>
          <p:cNvSpPr/>
          <p:nvPr/>
        </p:nvSpPr>
        <p:spPr>
          <a:xfrm>
            <a:off x="441325" y="2260600"/>
            <a:ext cx="6627813" cy="522288"/>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类层次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0660" name="Rectangle 4"/>
          <p:cNvSpPr txBox="1"/>
          <p:nvPr/>
        </p:nvSpPr>
        <p:spPr>
          <a:xfrm>
            <a:off x="547688" y="2733675"/>
            <a:ext cx="8232775" cy="2447925"/>
          </a:xfrm>
          <a:prstGeom prst="rect">
            <a:avLst/>
          </a:prstGeom>
          <a:noFill/>
          <a:ln w="9525">
            <a:noFill/>
          </a:ln>
        </p:spPr>
        <p:txBody>
          <a:bodyPr anchor="t"/>
          <a:lstStyle/>
          <a:p>
            <a:pPr marL="342900" lvl="0" indent="-342900">
              <a:lnSpc>
                <a:spcPct val="120000"/>
              </a:lnSpc>
              <a:spcBef>
                <a:spcPts val="600"/>
              </a:spcBef>
              <a:buClr>
                <a:srgbClr val="0033CC"/>
              </a:buClr>
              <a:buNone/>
            </a:pPr>
            <a:r>
              <a:rPr lang="zh-CN" altLang="en-US" sz="2400" u="sng" dirty="0">
                <a:solidFill>
                  <a:srgbClr val="FF0000"/>
                </a:solidFill>
                <a:latin typeface="华文楷体" panose="02010600040101010101" pitchFamily="2" charset="-122"/>
                <a:ea typeface="宋体" panose="02010600030101010101" pitchFamily="2" charset="-122"/>
              </a:rPr>
              <a:t>概念：</a:t>
            </a:r>
            <a:r>
              <a:rPr lang="zh-CN" altLang="en-US" sz="2200" dirty="0">
                <a:latin typeface="华文楷体" panose="02010600040101010101" pitchFamily="2" charset="-122"/>
                <a:ea typeface="宋体" panose="02010600030101010101" pitchFamily="2" charset="-122"/>
              </a:rPr>
              <a:t>有时，需要将实体型中的实体分成子类（</a:t>
            </a:r>
            <a:r>
              <a:rPr lang="en-US" altLang="x-none" sz="2200" dirty="0">
                <a:latin typeface="华文楷体" panose="02010600040101010101" pitchFamily="2" charset="-122"/>
                <a:ea typeface="宋体" panose="02010600030101010101" pitchFamily="2" charset="-122"/>
              </a:rPr>
              <a:t>Sub</a:t>
            </a:r>
            <a:r>
              <a:rPr lang="zh-CN" altLang="en-US" sz="2200" dirty="0">
                <a:latin typeface="华文楷体" panose="02010600040101010101" pitchFamily="2" charset="-122"/>
                <a:ea typeface="宋体" panose="02010600030101010101" pitchFamily="2" charset="-122"/>
              </a:rPr>
              <a:t> </a:t>
            </a:r>
            <a:r>
              <a:rPr lang="en-US" altLang="x-none" sz="2200" dirty="0">
                <a:latin typeface="华文楷体" panose="02010600040101010101" pitchFamily="2" charset="-122"/>
                <a:ea typeface="宋体" panose="02010600030101010101" pitchFamily="2" charset="-122"/>
              </a:rPr>
              <a:t>Class</a:t>
            </a:r>
            <a:r>
              <a:rPr lang="zh-CN" altLang="en-US" sz="2200" dirty="0">
                <a:latin typeface="华文楷体" panose="02010600040101010101" pitchFamily="2" charset="-122"/>
                <a:ea typeface="宋体" panose="02010600030101010101" pitchFamily="2" charset="-122"/>
              </a:rPr>
              <a:t>）。分类后体现为一种层次，</a:t>
            </a:r>
            <a:r>
              <a:rPr lang="zh-CN" altLang="en-US" sz="2200" u="sng" dirty="0">
                <a:solidFill>
                  <a:srgbClr val="0033CC"/>
                </a:solidFill>
                <a:latin typeface="华文楷体" panose="02010600040101010101" pitchFamily="2" charset="-122"/>
                <a:ea typeface="宋体" panose="02010600030101010101" pitchFamily="2" charset="-122"/>
              </a:rPr>
              <a:t>最上层称为超类，下层为子类。</a:t>
            </a:r>
            <a:endParaRPr lang="en-US" altLang="x-none" sz="2200" u="sng" dirty="0">
              <a:solidFill>
                <a:srgbClr val="0033CC"/>
              </a:solidFill>
              <a:latin typeface="华文楷体" panose="02010600040101010101" pitchFamily="2" charset="-122"/>
              <a:ea typeface="宋体" panose="02010600030101010101" pitchFamily="2" charset="-122"/>
            </a:endParaRPr>
          </a:p>
          <a:p>
            <a:pPr marL="342900" lvl="0" indent="-342900">
              <a:lnSpc>
                <a:spcPct val="120000"/>
              </a:lnSpc>
              <a:spcBef>
                <a:spcPts val="600"/>
              </a:spcBef>
              <a:buClr>
                <a:srgbClr val="0033CC"/>
              </a:buClr>
              <a:buNone/>
            </a:pPr>
            <a:r>
              <a:rPr lang="zh-CN" altLang="en-US" sz="2400" u="sng" dirty="0">
                <a:solidFill>
                  <a:srgbClr val="0033CC"/>
                </a:solidFill>
                <a:latin typeface="华文楷体" panose="02010600040101010101" pitchFamily="2" charset="-122"/>
                <a:ea typeface="宋体" panose="02010600030101010101" pitchFamily="2" charset="-122"/>
              </a:rPr>
              <a:t>例如：</a:t>
            </a:r>
            <a:r>
              <a:rPr lang="zh-CN" altLang="en-US" sz="2200" dirty="0">
                <a:latin typeface="华文楷体" panose="02010600040101010101" pitchFamily="2" charset="-122"/>
                <a:ea typeface="宋体" panose="02010600030101010101" pitchFamily="2" charset="-122"/>
              </a:rPr>
              <a:t>将“员工”按合同制分为“合同工”和“小时工”，这样“小时工”和“合同工”就是“员工”的子类。</a:t>
            </a:r>
            <a:endParaRPr lang="en-US" altLang="x-none" sz="2200" dirty="0">
              <a:latin typeface="华文楷体" panose="02010600040101010101" pitchFamily="2" charset="-122"/>
              <a:ea typeface="宋体" panose="02010600030101010101" pitchFamily="2" charset="-122"/>
            </a:endParaRPr>
          </a:p>
          <a:p>
            <a:pPr marL="342900" lvl="0" indent="-342900">
              <a:lnSpc>
                <a:spcPct val="120000"/>
              </a:lnSpc>
              <a:spcBef>
                <a:spcPts val="600"/>
              </a:spcBef>
              <a:buClr>
                <a:srgbClr val="0033CC"/>
              </a:buClr>
              <a:buNone/>
            </a:pPr>
            <a:endParaRPr lang="zh-CN" altLang="en-US" sz="2400" dirty="0">
              <a:latin typeface="华文楷体" panose="02010600040101010101" pitchFamily="2" charset="-122"/>
              <a:ea typeface="宋体" panose="02010600030101010101" pitchFamily="2" charset="-122"/>
            </a:endParaRPr>
          </a:p>
        </p:txBody>
      </p:sp>
      <p:sp>
        <p:nvSpPr>
          <p:cNvPr id="72708" name="Text Box 9"/>
          <p:cNvSpPr txBox="1"/>
          <p:nvPr/>
        </p:nvSpPr>
        <p:spPr>
          <a:xfrm>
            <a:off x="508000" y="831850"/>
            <a:ext cx="8229600" cy="1477963"/>
          </a:xfrm>
          <a:prstGeom prst="rect">
            <a:avLst/>
          </a:prstGeom>
          <a:noFill/>
          <a:ln w="9525">
            <a:noFill/>
          </a:ln>
        </p:spPr>
        <p:txBody>
          <a:bodyPr anchor="t">
            <a:spAutoFit/>
          </a:bodyPr>
          <a:lstStyle/>
          <a:p>
            <a:pPr lvl="0" indent="0">
              <a:lnSpc>
                <a:spcPct val="125000"/>
              </a:lnSpc>
              <a:spcBef>
                <a:spcPts val="300"/>
              </a:spcBef>
              <a:buNone/>
            </a:pPr>
            <a:r>
              <a:rPr lang="zh-CN" altLang="en-US" sz="2400" dirty="0">
                <a:latin typeface="华文楷体" panose="02010600040101010101" pitchFamily="2" charset="-122"/>
                <a:ea typeface="宋体" panose="02010600030101010101" pitchFamily="2" charset="-122"/>
              </a:rPr>
              <a:t>        在</a:t>
            </a:r>
            <a:r>
              <a:rPr lang="en-US" altLang="x-none" sz="2400" dirty="0">
                <a:latin typeface="华文楷体" panose="02010600040101010101" pitchFamily="2" charset="-122"/>
                <a:ea typeface="宋体" panose="02010600030101010101" pitchFamily="2" charset="-122"/>
              </a:rPr>
              <a:t>E-R</a:t>
            </a:r>
            <a:r>
              <a:rPr lang="zh-CN" altLang="en-US" sz="2400" dirty="0">
                <a:latin typeface="华文楷体" panose="02010600040101010101" pitchFamily="2" charset="-122"/>
                <a:ea typeface="宋体" panose="02010600030101010101" pitchFamily="2" charset="-122"/>
              </a:rPr>
              <a:t>模型描述的过程中，出现了一些超出</a:t>
            </a:r>
            <a:r>
              <a:rPr lang="en-US" altLang="x-none" sz="2400" dirty="0">
                <a:latin typeface="华文楷体" panose="02010600040101010101" pitchFamily="2" charset="-122"/>
                <a:ea typeface="宋体" panose="02010600030101010101" pitchFamily="2" charset="-122"/>
              </a:rPr>
              <a:t>E-R</a:t>
            </a:r>
            <a:r>
              <a:rPr lang="zh-CN" altLang="en-US" sz="2400" dirty="0">
                <a:latin typeface="华文楷体" panose="02010600040101010101" pitchFamily="2" charset="-122"/>
                <a:ea typeface="宋体" panose="02010600030101010101" pitchFamily="2" charset="-122"/>
              </a:rPr>
              <a:t>模型描述能力的问题，因此引入扩展实体联系模型（</a:t>
            </a:r>
            <a:r>
              <a:rPr lang="en-US" altLang="x-none" sz="2400" dirty="0">
                <a:latin typeface="华文楷体" panose="02010600040101010101" pitchFamily="2" charset="-122"/>
                <a:ea typeface="宋体" panose="02010600030101010101" pitchFamily="2" charset="-122"/>
              </a:rPr>
              <a:t>Extended ERM</a:t>
            </a:r>
            <a:r>
              <a:rPr lang="zh-CN" altLang="en-US" sz="2400" dirty="0">
                <a:latin typeface="华文楷体" panose="02010600040101010101" pitchFamily="2" charset="-122"/>
                <a:ea typeface="宋体" panose="02010600030101010101" pitchFamily="2" charset="-122"/>
              </a:rPr>
              <a:t>，简称</a:t>
            </a:r>
            <a:r>
              <a:rPr lang="en-US" altLang="x-none" sz="2400" dirty="0">
                <a:latin typeface="华文楷体" panose="02010600040101010101" pitchFamily="2" charset="-122"/>
                <a:ea typeface="宋体" panose="02010600030101010101" pitchFamily="2" charset="-122"/>
              </a:rPr>
              <a:t>:EERM)</a:t>
            </a:r>
            <a:r>
              <a:rPr lang="zh-CN" altLang="en-US"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p:txBody>
      </p:sp>
      <p:sp>
        <p:nvSpPr>
          <p:cNvPr id="72709" name="矩形 6"/>
          <p:cNvSpPr/>
          <p:nvPr/>
        </p:nvSpPr>
        <p:spPr>
          <a:xfrm>
            <a:off x="631825" y="4625975"/>
            <a:ext cx="8004175" cy="1281113"/>
          </a:xfrm>
          <a:prstGeom prst="rect">
            <a:avLst/>
          </a:prstGeom>
          <a:noFill/>
          <a:ln w="9525">
            <a:noFill/>
          </a:ln>
        </p:spPr>
        <p:txBody>
          <a:bodyPr anchor="t">
            <a:spAutoFit/>
          </a:bodyPr>
          <a:lstStyle/>
          <a:p>
            <a:pPr marL="342900" lvl="0" indent="-342900">
              <a:lnSpc>
                <a:spcPct val="120000"/>
              </a:lnSpc>
              <a:spcBef>
                <a:spcPts val="600"/>
              </a:spcBef>
              <a:buClr>
                <a:srgbClr val="0033CC"/>
              </a:buClr>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从语义上来讲，子类中的每一个实体同时也是超类中的一个实体，子类中实体属性必须包含所有超类实体集的属性，也就是说，子类将继承超类的属性。</a:t>
            </a:r>
            <a:endParaRPr lang="en-US" altLang="x-none" sz="22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0660">
                                            <p:txEl>
                                              <p:pRg st="0" end="0"/>
                                            </p:txEl>
                                          </p:spTgt>
                                        </p:tgtEl>
                                        <p:attrNameLst>
                                          <p:attrName>style.visibility</p:attrName>
                                        </p:attrNameLst>
                                      </p:cBhvr>
                                      <p:to>
                                        <p:strVal val="visible"/>
                                      </p:to>
                                    </p:set>
                                    <p:animEffect transition="in" filter="wipe(down)">
                                      <p:cBhvr>
                                        <p:cTn id="7" dur="500"/>
                                        <p:tgtEl>
                                          <p:spTgt spid="70660">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0660">
                                            <p:txEl>
                                              <p:pRg st="1" end="1"/>
                                            </p:txEl>
                                          </p:spTgt>
                                        </p:tgtEl>
                                        <p:attrNameLst>
                                          <p:attrName>style.visibility</p:attrName>
                                        </p:attrNameLst>
                                      </p:cBhvr>
                                      <p:to>
                                        <p:strVal val="visible"/>
                                      </p:to>
                                    </p:set>
                                    <p:animEffect transition="in" filter="wipe(down)">
                                      <p:cBhvr>
                                        <p:cTn id="10" dur="500"/>
                                        <p:tgtEl>
                                          <p:spTgt spid="7066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build="allAtOnce"/>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2"/>
          <p:cNvSpPr/>
          <p:nvPr/>
        </p:nvSpPr>
        <p:spPr>
          <a:xfrm>
            <a:off x="512763" y="838200"/>
            <a:ext cx="6627812" cy="522288"/>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类层次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1684" name="Rectangle 4"/>
          <p:cNvSpPr txBox="1"/>
          <p:nvPr/>
        </p:nvSpPr>
        <p:spPr>
          <a:xfrm>
            <a:off x="638175" y="1350645"/>
            <a:ext cx="8054975" cy="3827463"/>
          </a:xfrm>
          <a:prstGeom prst="rect">
            <a:avLst/>
          </a:prstGeom>
          <a:noFill/>
          <a:ln w="9525">
            <a:noFill/>
          </a:ln>
        </p:spPr>
        <p:txBody>
          <a:bodyPr anchor="t"/>
          <a:lstStyle/>
          <a:p>
            <a:pPr marL="342900" lvl="0" indent="-342900">
              <a:lnSpc>
                <a:spcPct val="120000"/>
              </a:lnSpc>
              <a:spcBef>
                <a:spcPts val="600"/>
              </a:spcBef>
              <a:buClr>
                <a:srgbClr val="0033CC"/>
              </a:buClr>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本质上，</a:t>
            </a:r>
            <a:r>
              <a:rPr lang="zh-CN" altLang="en-US" sz="2200" u="sng" dirty="0">
                <a:solidFill>
                  <a:srgbClr val="0033CC"/>
                </a:solidFill>
                <a:latin typeface="华文楷体" panose="02010600040101010101" pitchFamily="2" charset="-122"/>
                <a:ea typeface="宋体" panose="02010600030101010101" pitchFamily="2" charset="-122"/>
              </a:rPr>
              <a:t>类层次也是一种联系，它是一种特殊的联系，即“层次”联系。为体现这种特殊性，故用一个统一的名称“</a:t>
            </a:r>
            <a:r>
              <a:rPr lang="en-US" altLang="x-none" sz="2200" u="sng" dirty="0">
                <a:solidFill>
                  <a:srgbClr val="0033CC"/>
                </a:solidFill>
                <a:latin typeface="华文楷体" panose="02010600040101010101" pitchFamily="2" charset="-122"/>
                <a:ea typeface="宋体" panose="02010600030101010101" pitchFamily="2" charset="-122"/>
              </a:rPr>
              <a:t>ISA(is a)</a:t>
            </a:r>
            <a:r>
              <a:rPr lang="zh-CN" altLang="en-US" sz="2200" u="sng" dirty="0">
                <a:solidFill>
                  <a:srgbClr val="0033CC"/>
                </a:solidFill>
                <a:latin typeface="华文楷体" panose="02010600040101010101" pitchFamily="2" charset="-122"/>
                <a:ea typeface="宋体" panose="02010600030101010101" pitchFamily="2" charset="-122"/>
              </a:rPr>
              <a:t>”来表示类层次联系，而不像</a:t>
            </a:r>
            <a:r>
              <a:rPr lang="en-US" altLang="x-none" sz="2200" u="sng" dirty="0">
                <a:solidFill>
                  <a:srgbClr val="0033CC"/>
                </a:solidFill>
                <a:latin typeface="华文楷体" panose="02010600040101010101" pitchFamily="2" charset="-122"/>
                <a:ea typeface="宋体" panose="02010600030101010101" pitchFamily="2" charset="-122"/>
              </a:rPr>
              <a:t>E-R</a:t>
            </a:r>
            <a:r>
              <a:rPr lang="zh-CN" altLang="en-US" sz="2200" u="sng" dirty="0">
                <a:solidFill>
                  <a:srgbClr val="0033CC"/>
                </a:solidFill>
                <a:latin typeface="华文楷体" panose="02010600040101010101" pitchFamily="2" charset="-122"/>
                <a:ea typeface="宋体" panose="02010600030101010101" pitchFamily="2" charset="-122"/>
              </a:rPr>
              <a:t>模型中其他联系那样要分别命名。</a:t>
            </a:r>
            <a:endParaRPr lang="en-US" altLang="x-none" sz="2200" u="sng" dirty="0">
              <a:solidFill>
                <a:srgbClr val="0033CC"/>
              </a:solidFill>
              <a:latin typeface="华文楷体" panose="02010600040101010101" pitchFamily="2" charset="-122"/>
              <a:ea typeface="宋体" panose="02010600030101010101" pitchFamily="2" charset="-122"/>
            </a:endParaRPr>
          </a:p>
          <a:p>
            <a:pPr marL="342900" lvl="0" indent="-342900">
              <a:lnSpc>
                <a:spcPct val="125000"/>
              </a:lnSpc>
              <a:spcBef>
                <a:spcPts val="600"/>
              </a:spcBef>
              <a:buClr>
                <a:srgbClr val="0033CC"/>
              </a:buClr>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类层次的这种特殊的联系不仅体现在名称统一，而且图示符也与一般的联系不一样，</a:t>
            </a:r>
            <a:r>
              <a:rPr lang="zh-CN" altLang="en-US" sz="2200" u="sng" dirty="0">
                <a:solidFill>
                  <a:srgbClr val="0033CC"/>
                </a:solidFill>
                <a:latin typeface="华文楷体" panose="02010600040101010101" pitchFamily="2" charset="-122"/>
                <a:ea typeface="宋体" panose="02010600030101010101" pitchFamily="2" charset="-122"/>
              </a:rPr>
              <a:t>它用三角表示。</a:t>
            </a:r>
            <a:endParaRPr lang="en-US" altLang="x-none" sz="2200" u="sng" dirty="0">
              <a:solidFill>
                <a:srgbClr val="0033CC"/>
              </a:solidFill>
              <a:latin typeface="华文楷体" panose="02010600040101010101" pitchFamily="2" charset="-122"/>
              <a:ea typeface="宋体" panose="02010600030101010101" pitchFamily="2" charset="-122"/>
            </a:endParaRPr>
          </a:p>
          <a:p>
            <a:pPr marL="342900" lvl="0" indent="-342900">
              <a:lnSpc>
                <a:spcPct val="125000"/>
              </a:lnSpc>
              <a:spcBef>
                <a:spcPts val="300"/>
              </a:spcBef>
              <a:buClr>
                <a:srgbClr val="0033CC"/>
              </a:buClr>
              <a:buFont typeface="Wingdings" panose="05000000000000000000" pitchFamily="2" charset="2"/>
              <a:buChar char="u"/>
            </a:pPr>
            <a:r>
              <a:rPr lang="zh-CN" altLang="en-US" sz="2200" u="sng" dirty="0">
                <a:solidFill>
                  <a:srgbClr val="FF0000"/>
                </a:solidFill>
                <a:latin typeface="华文楷体" panose="02010600040101010101" pitchFamily="2" charset="-122"/>
                <a:ea typeface="宋体" panose="02010600030101010101" pitchFamily="2" charset="-122"/>
              </a:rPr>
              <a:t>例子：</a:t>
            </a:r>
            <a:r>
              <a:rPr lang="zh-CN" altLang="en-US" sz="2200" dirty="0">
                <a:latin typeface="华文楷体" panose="02010600040101010101" pitchFamily="2" charset="-122"/>
                <a:ea typeface="宋体" panose="02010600030101010101" pitchFamily="2" charset="-122"/>
              </a:rPr>
              <a:t>学校中学生，研究生，本科生</a:t>
            </a:r>
            <a:endParaRPr lang="en-US" altLang="x-none" sz="2200" dirty="0">
              <a:latin typeface="华文楷体" panose="02010600040101010101" pitchFamily="2" charset="-122"/>
              <a:ea typeface="宋体" panose="02010600030101010101" pitchFamily="2" charset="-122"/>
            </a:endParaRPr>
          </a:p>
          <a:p>
            <a:pPr marL="342900" lvl="0" indent="-342900">
              <a:lnSpc>
                <a:spcPct val="120000"/>
              </a:lnSpc>
              <a:spcBef>
                <a:spcPts val="300"/>
              </a:spcBef>
              <a:buClr>
                <a:srgbClr val="0033CC"/>
              </a:buClr>
              <a:buNone/>
            </a:pPr>
            <a:r>
              <a:rPr lang="zh-CN" altLang="en-US" sz="2400" dirty="0">
                <a:latin typeface="华文楷体" panose="02010600040101010101" pitchFamily="2" charset="-122"/>
                <a:ea typeface="宋体" panose="02010600030101010101" pitchFamily="2" charset="-122"/>
              </a:rPr>
              <a:t>    </a:t>
            </a: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实体集研究生和本科生称为实体集学生的子类，子类有它独特的属性，它们只有在子类属性中才具有意义。</a:t>
            </a:r>
            <a:endParaRPr lang="en-US" altLang="x-none" sz="2200" dirty="0">
              <a:latin typeface="华文楷体" panose="02010600040101010101" pitchFamily="2" charset="-122"/>
              <a:ea typeface="宋体" panose="02010600030101010101" pitchFamily="2" charset="-122"/>
            </a:endParaRPr>
          </a:p>
        </p:txBody>
      </p:sp>
      <p:sp>
        <p:nvSpPr>
          <p:cNvPr id="73732" name="矩形 6"/>
          <p:cNvSpPr/>
          <p:nvPr/>
        </p:nvSpPr>
        <p:spPr>
          <a:xfrm>
            <a:off x="493713" y="5297170"/>
            <a:ext cx="8404225" cy="831850"/>
          </a:xfrm>
          <a:prstGeom prst="rect">
            <a:avLst/>
          </a:prstGeom>
          <a:noFill/>
          <a:ln w="9525">
            <a:noFill/>
          </a:ln>
        </p:spPr>
        <p:txBody>
          <a:bodyPr anchor="t">
            <a:spAutoFit/>
          </a:bodyPr>
          <a:lstStyle/>
          <a:p>
            <a:pPr marL="342900" lvl="0" indent="-342900">
              <a:lnSpc>
                <a:spcPct val="120000"/>
              </a:lnSpc>
              <a:spcBef>
                <a:spcPts val="1200"/>
              </a:spcBef>
              <a:buClr>
                <a:srgbClr val="0033CC"/>
              </a:buClr>
              <a:buFont typeface="Wingdings" panose="05000000000000000000" pitchFamily="2" charset="2"/>
              <a:buChar char="u"/>
            </a:pPr>
            <a:r>
              <a:rPr lang="en-US" altLang="x-none" sz="2000" dirty="0">
                <a:solidFill>
                  <a:srgbClr val="FF0000"/>
                </a:solidFill>
                <a:latin typeface="华文楷体" panose="02010600040101010101" pitchFamily="2" charset="-122"/>
                <a:ea typeface="宋体" panose="02010600030101010101" pitchFamily="2" charset="-122"/>
              </a:rPr>
              <a:t>ISA</a:t>
            </a:r>
            <a:r>
              <a:rPr lang="zh-CN" altLang="en-US" sz="2000" dirty="0">
                <a:solidFill>
                  <a:srgbClr val="FF0000"/>
                </a:solidFill>
                <a:latin typeface="华文楷体" panose="02010600040101010101" pitchFamily="2" charset="-122"/>
                <a:ea typeface="宋体" panose="02010600030101010101" pitchFamily="2" charset="-122"/>
              </a:rPr>
              <a:t>联系可从两个方面看，</a:t>
            </a:r>
            <a:r>
              <a:rPr lang="zh-CN" altLang="en-US" sz="2000" dirty="0">
                <a:latin typeface="华文楷体" panose="02010600040101010101" pitchFamily="2" charset="-122"/>
                <a:ea typeface="宋体" panose="02010600030101010101" pitchFamily="2" charset="-122"/>
              </a:rPr>
              <a:t>可看作是一个特化，即子类是经过超类特化而得到的；也可看作是一个概括，即超类是对子类进行概括得到的。</a:t>
            </a:r>
            <a:endParaRPr lang="en-US" altLang="x-none" sz="2000" dirty="0">
              <a:latin typeface="华文楷体" panose="02010600040101010101" pitchFamily="2" charset="-122"/>
              <a:ea typeface="宋体" panose="02010600030101010101" pitchFamily="2" charset="-122"/>
            </a:endParaRPr>
          </a:p>
        </p:txBody>
      </p:sp>
      <p:sp>
        <p:nvSpPr>
          <p:cNvPr id="2" name="Rectangle 2"/>
          <p:cNvSpPr/>
          <p:nvPr/>
        </p:nvSpPr>
        <p:spPr>
          <a:xfrm>
            <a:off x="457200" y="11493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1684">
                                            <p:txEl>
                                              <p:pRg st="0" end="0"/>
                                            </p:txEl>
                                          </p:spTgt>
                                        </p:tgtEl>
                                        <p:attrNameLst>
                                          <p:attrName>style.visibility</p:attrName>
                                        </p:attrNameLst>
                                      </p:cBhvr>
                                      <p:to>
                                        <p:strVal val="visible"/>
                                      </p:to>
                                    </p:set>
                                    <p:animEffect transition="in" filter="wipe(down)">
                                      <p:cBhvr>
                                        <p:cTn id="7" dur="500"/>
                                        <p:tgtEl>
                                          <p:spTgt spid="71684">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1684">
                                            <p:txEl>
                                              <p:pRg st="1" end="1"/>
                                            </p:txEl>
                                          </p:spTgt>
                                        </p:tgtEl>
                                        <p:attrNameLst>
                                          <p:attrName>style.visibility</p:attrName>
                                        </p:attrNameLst>
                                      </p:cBhvr>
                                      <p:to>
                                        <p:strVal val="visible"/>
                                      </p:to>
                                    </p:set>
                                    <p:animEffect transition="in" filter="wipe(down)">
                                      <p:cBhvr>
                                        <p:cTn id="10" dur="500"/>
                                        <p:tgtEl>
                                          <p:spTgt spid="7168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1684">
                                            <p:txEl>
                                              <p:pRg st="2" end="2"/>
                                            </p:txEl>
                                          </p:spTgt>
                                        </p:tgtEl>
                                        <p:attrNameLst>
                                          <p:attrName>style.visibility</p:attrName>
                                        </p:attrNameLst>
                                      </p:cBhvr>
                                      <p:to>
                                        <p:strVal val="visible"/>
                                      </p:to>
                                    </p:set>
                                    <p:animEffect transition="in" filter="wipe(down)">
                                      <p:cBhvr>
                                        <p:cTn id="15" dur="500"/>
                                        <p:tgtEl>
                                          <p:spTgt spid="71684">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1684">
                                            <p:txEl>
                                              <p:pRg st="3" end="3"/>
                                            </p:txEl>
                                          </p:spTgt>
                                        </p:tgtEl>
                                        <p:attrNameLst>
                                          <p:attrName>style.visibility</p:attrName>
                                        </p:attrNameLst>
                                      </p:cBhvr>
                                      <p:to>
                                        <p:strVal val="visible"/>
                                      </p:to>
                                    </p:set>
                                    <p:animEffect transition="in" filter="wipe(down)">
                                      <p:cBhvr>
                                        <p:cTn id="18" dur="500"/>
                                        <p:tgtEl>
                                          <p:spTgt spid="716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build="allAtOnce"/>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4112578" y="2675890"/>
            <a:ext cx="1028700" cy="73977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nvGrpSpPr>
          <p:cNvPr id="75778" name="组合 1"/>
          <p:cNvGrpSpPr/>
          <p:nvPr/>
        </p:nvGrpSpPr>
        <p:grpSpPr>
          <a:xfrm>
            <a:off x="1335088" y="1369060"/>
            <a:ext cx="6604000" cy="4616450"/>
            <a:chOff x="7563" y="5852"/>
            <a:chExt cx="5895" cy="4425"/>
          </a:xfrm>
        </p:grpSpPr>
        <p:sp>
          <p:nvSpPr>
            <p:cNvPr id="75779" name="Rectangle 4"/>
            <p:cNvSpPr/>
            <p:nvPr/>
          </p:nvSpPr>
          <p:spPr>
            <a:xfrm>
              <a:off x="9828" y="6192"/>
              <a:ext cx="1362" cy="45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帐户</a:t>
              </a:r>
              <a:endParaRPr lang="zh-CN" altLang="en-US" sz="2000" dirty="0">
                <a:latin typeface="Arial" panose="020B0604020202020204" pitchFamily="34" charset="0"/>
                <a:ea typeface="宋体" panose="02010600030101010101" pitchFamily="2" charset="-122"/>
              </a:endParaRPr>
            </a:p>
          </p:txBody>
        </p:sp>
        <p:sp>
          <p:nvSpPr>
            <p:cNvPr id="75780" name="Line 6"/>
            <p:cNvSpPr/>
            <p:nvPr/>
          </p:nvSpPr>
          <p:spPr>
            <a:xfrm>
              <a:off x="10506" y="6642"/>
              <a:ext cx="2" cy="457"/>
            </a:xfrm>
            <a:prstGeom prst="line">
              <a:avLst/>
            </a:prstGeom>
            <a:ln w="9525" cap="flat" cmpd="sng">
              <a:solidFill>
                <a:schemeClr val="tx1"/>
              </a:solidFill>
              <a:prstDash val="solid"/>
              <a:round/>
              <a:headEnd type="none" w="med" len="med"/>
              <a:tailEnd type="none" w="med" len="med"/>
            </a:ln>
          </p:spPr>
        </p:sp>
        <p:sp>
          <p:nvSpPr>
            <p:cNvPr id="75781" name="Rectangle 10"/>
            <p:cNvSpPr/>
            <p:nvPr/>
          </p:nvSpPr>
          <p:spPr>
            <a:xfrm>
              <a:off x="8126" y="8800"/>
              <a:ext cx="1362" cy="45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支票帐户</a:t>
              </a:r>
              <a:endParaRPr lang="zh-CN" altLang="en-US" sz="2000" dirty="0">
                <a:latin typeface="Arial" panose="020B0604020202020204" pitchFamily="34" charset="0"/>
                <a:ea typeface="宋体" panose="02010600030101010101" pitchFamily="2" charset="-122"/>
              </a:endParaRPr>
            </a:p>
          </p:txBody>
        </p:sp>
        <p:sp>
          <p:nvSpPr>
            <p:cNvPr id="75782" name="Rectangle 14"/>
            <p:cNvSpPr/>
            <p:nvPr/>
          </p:nvSpPr>
          <p:spPr>
            <a:xfrm>
              <a:off x="9828" y="8800"/>
              <a:ext cx="1362" cy="45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存款帐户</a:t>
              </a:r>
              <a:endParaRPr lang="zh-CN" altLang="en-US" sz="2000" dirty="0">
                <a:latin typeface="Arial" panose="020B0604020202020204" pitchFamily="34" charset="0"/>
                <a:ea typeface="宋体" panose="02010600030101010101" pitchFamily="2" charset="-122"/>
              </a:endParaRPr>
            </a:p>
          </p:txBody>
        </p:sp>
        <p:sp>
          <p:nvSpPr>
            <p:cNvPr id="75783" name="Rectangle 15"/>
            <p:cNvSpPr/>
            <p:nvPr/>
          </p:nvSpPr>
          <p:spPr>
            <a:xfrm>
              <a:off x="11528" y="8800"/>
              <a:ext cx="1362" cy="45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贷款帐户</a:t>
              </a:r>
              <a:endParaRPr lang="zh-CN" altLang="en-US" sz="2000" dirty="0">
                <a:latin typeface="Arial" panose="020B0604020202020204" pitchFamily="34" charset="0"/>
                <a:ea typeface="宋体" panose="02010600030101010101" pitchFamily="2" charset="-122"/>
              </a:endParaRPr>
            </a:p>
          </p:txBody>
        </p:sp>
        <p:sp>
          <p:nvSpPr>
            <p:cNvPr id="75784" name="Oval 27"/>
            <p:cNvSpPr/>
            <p:nvPr/>
          </p:nvSpPr>
          <p:spPr>
            <a:xfrm>
              <a:off x="8583" y="585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u="sng" dirty="0">
                  <a:latin typeface="Arial" panose="020B0604020202020204" pitchFamily="34" charset="0"/>
                  <a:ea typeface="宋体" panose="02010600030101010101" pitchFamily="2" charset="-122"/>
                </a:rPr>
                <a:t>帐号</a:t>
              </a:r>
              <a:endParaRPr lang="zh-CN" altLang="en-US" sz="2000" u="sng" dirty="0">
                <a:latin typeface="Arial" panose="020B0604020202020204" pitchFamily="34" charset="0"/>
                <a:ea typeface="宋体" panose="02010600030101010101" pitchFamily="2" charset="-122"/>
              </a:endParaRPr>
            </a:p>
          </p:txBody>
        </p:sp>
        <p:sp>
          <p:nvSpPr>
            <p:cNvPr id="75785" name="Oval 28"/>
            <p:cNvSpPr/>
            <p:nvPr/>
          </p:nvSpPr>
          <p:spPr>
            <a:xfrm>
              <a:off x="8581" y="6647"/>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类型</a:t>
              </a:r>
              <a:endParaRPr lang="zh-CN" altLang="en-US" sz="2000" dirty="0">
                <a:latin typeface="Arial" panose="020B0604020202020204" pitchFamily="34" charset="0"/>
                <a:ea typeface="宋体" panose="02010600030101010101" pitchFamily="2" charset="-122"/>
              </a:endParaRPr>
            </a:p>
          </p:txBody>
        </p:sp>
        <p:sp>
          <p:nvSpPr>
            <p:cNvPr id="75786" name="Oval 29"/>
            <p:cNvSpPr/>
            <p:nvPr/>
          </p:nvSpPr>
          <p:spPr>
            <a:xfrm>
              <a:off x="11531" y="5852"/>
              <a:ext cx="158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开户日期</a:t>
              </a:r>
              <a:endParaRPr lang="zh-CN" altLang="en-US" sz="2000" dirty="0">
                <a:latin typeface="Arial" panose="020B0604020202020204" pitchFamily="34" charset="0"/>
                <a:ea typeface="宋体" panose="02010600030101010101" pitchFamily="2" charset="-122"/>
              </a:endParaRPr>
            </a:p>
          </p:txBody>
        </p:sp>
        <p:sp>
          <p:nvSpPr>
            <p:cNvPr id="75787" name="Oval 30"/>
            <p:cNvSpPr/>
            <p:nvPr/>
          </p:nvSpPr>
          <p:spPr>
            <a:xfrm>
              <a:off x="11531" y="6647"/>
              <a:ext cx="158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复核日期</a:t>
              </a:r>
              <a:endParaRPr lang="zh-CN" altLang="en-US" sz="2000" dirty="0">
                <a:latin typeface="Arial" panose="020B0604020202020204" pitchFamily="34" charset="0"/>
                <a:ea typeface="宋体" panose="02010600030101010101" pitchFamily="2" charset="-122"/>
              </a:endParaRPr>
            </a:p>
          </p:txBody>
        </p:sp>
        <p:sp>
          <p:nvSpPr>
            <p:cNvPr id="75788" name="Line 31"/>
            <p:cNvSpPr/>
            <p:nvPr/>
          </p:nvSpPr>
          <p:spPr>
            <a:xfrm>
              <a:off x="9376" y="6195"/>
              <a:ext cx="455" cy="225"/>
            </a:xfrm>
            <a:prstGeom prst="line">
              <a:avLst/>
            </a:prstGeom>
            <a:ln w="9525" cap="flat" cmpd="sng">
              <a:solidFill>
                <a:schemeClr val="tx1"/>
              </a:solidFill>
              <a:prstDash val="solid"/>
              <a:round/>
              <a:headEnd type="none" w="med" len="med"/>
              <a:tailEnd type="none" w="med" len="med"/>
            </a:ln>
          </p:spPr>
        </p:sp>
        <p:sp>
          <p:nvSpPr>
            <p:cNvPr id="75789" name="Line 32"/>
            <p:cNvSpPr/>
            <p:nvPr/>
          </p:nvSpPr>
          <p:spPr>
            <a:xfrm flipV="1">
              <a:off x="9376" y="6535"/>
              <a:ext cx="455" cy="225"/>
            </a:xfrm>
            <a:prstGeom prst="line">
              <a:avLst/>
            </a:prstGeom>
            <a:ln w="9525" cap="flat" cmpd="sng">
              <a:solidFill>
                <a:schemeClr val="tx1"/>
              </a:solidFill>
              <a:prstDash val="solid"/>
              <a:round/>
              <a:headEnd type="none" w="med" len="med"/>
              <a:tailEnd type="none" w="med" len="med"/>
            </a:ln>
          </p:spPr>
        </p:sp>
        <p:sp>
          <p:nvSpPr>
            <p:cNvPr id="75790" name="Line 33"/>
            <p:cNvSpPr/>
            <p:nvPr/>
          </p:nvSpPr>
          <p:spPr>
            <a:xfrm>
              <a:off x="11191" y="6535"/>
              <a:ext cx="455" cy="227"/>
            </a:xfrm>
            <a:prstGeom prst="line">
              <a:avLst/>
            </a:prstGeom>
            <a:ln w="9525" cap="flat" cmpd="sng">
              <a:solidFill>
                <a:schemeClr val="tx1"/>
              </a:solidFill>
              <a:prstDash val="solid"/>
              <a:round/>
              <a:headEnd type="none" w="med" len="med"/>
              <a:tailEnd type="none" w="med" len="med"/>
            </a:ln>
          </p:spPr>
        </p:sp>
        <p:sp>
          <p:nvSpPr>
            <p:cNvPr id="75791" name="Line 34"/>
            <p:cNvSpPr/>
            <p:nvPr/>
          </p:nvSpPr>
          <p:spPr>
            <a:xfrm flipV="1">
              <a:off x="11191" y="6195"/>
              <a:ext cx="452" cy="225"/>
            </a:xfrm>
            <a:prstGeom prst="line">
              <a:avLst/>
            </a:prstGeom>
            <a:ln w="9525" cap="flat" cmpd="sng">
              <a:solidFill>
                <a:schemeClr val="tx1"/>
              </a:solidFill>
              <a:prstDash val="solid"/>
              <a:round/>
              <a:headEnd type="none" w="med" len="med"/>
              <a:tailEnd type="none" w="med" len="med"/>
            </a:ln>
          </p:spPr>
        </p:sp>
        <p:sp>
          <p:nvSpPr>
            <p:cNvPr id="75792" name="Oval 38"/>
            <p:cNvSpPr/>
            <p:nvPr/>
          </p:nvSpPr>
          <p:spPr>
            <a:xfrm>
              <a:off x="7563"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结余</a:t>
              </a:r>
              <a:endParaRPr lang="zh-CN" altLang="en-US" sz="2000" dirty="0">
                <a:latin typeface="Arial" panose="020B0604020202020204" pitchFamily="34" charset="0"/>
                <a:ea typeface="宋体" panose="02010600030101010101" pitchFamily="2" charset="-122"/>
              </a:endParaRPr>
            </a:p>
          </p:txBody>
        </p:sp>
        <p:sp>
          <p:nvSpPr>
            <p:cNvPr id="75793" name="Oval 39"/>
            <p:cNvSpPr/>
            <p:nvPr/>
          </p:nvSpPr>
          <p:spPr>
            <a:xfrm>
              <a:off x="8583"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手续费</a:t>
              </a:r>
              <a:endParaRPr lang="zh-CN" altLang="en-US" sz="2000" dirty="0">
                <a:latin typeface="Arial" panose="020B0604020202020204" pitchFamily="34" charset="0"/>
                <a:ea typeface="宋体" panose="02010600030101010101" pitchFamily="2" charset="-122"/>
              </a:endParaRPr>
            </a:p>
          </p:txBody>
        </p:sp>
        <p:sp>
          <p:nvSpPr>
            <p:cNvPr id="75794" name="Line 41"/>
            <p:cNvSpPr/>
            <p:nvPr/>
          </p:nvSpPr>
          <p:spPr>
            <a:xfrm flipH="1" flipV="1">
              <a:off x="8923" y="9255"/>
              <a:ext cx="227" cy="567"/>
            </a:xfrm>
            <a:prstGeom prst="line">
              <a:avLst/>
            </a:prstGeom>
            <a:ln w="9525" cap="flat" cmpd="sng">
              <a:solidFill>
                <a:schemeClr val="tx1"/>
              </a:solidFill>
              <a:prstDash val="solid"/>
              <a:round/>
              <a:headEnd type="none" w="med" len="med"/>
              <a:tailEnd type="none" w="med" len="med"/>
            </a:ln>
          </p:spPr>
        </p:sp>
        <p:sp>
          <p:nvSpPr>
            <p:cNvPr id="75795" name="Line 42"/>
            <p:cNvSpPr/>
            <p:nvPr/>
          </p:nvSpPr>
          <p:spPr>
            <a:xfrm flipV="1">
              <a:off x="8243" y="9255"/>
              <a:ext cx="340" cy="567"/>
            </a:xfrm>
            <a:prstGeom prst="line">
              <a:avLst/>
            </a:prstGeom>
            <a:ln w="9525" cap="flat" cmpd="sng">
              <a:solidFill>
                <a:schemeClr val="tx1"/>
              </a:solidFill>
              <a:prstDash val="solid"/>
              <a:round/>
              <a:headEnd type="none" w="med" len="med"/>
              <a:tailEnd type="none" w="med" len="med"/>
            </a:ln>
          </p:spPr>
        </p:sp>
        <p:sp>
          <p:nvSpPr>
            <p:cNvPr id="75796" name="Oval 43"/>
            <p:cNvSpPr/>
            <p:nvPr/>
          </p:nvSpPr>
          <p:spPr>
            <a:xfrm>
              <a:off x="9603"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结余</a:t>
              </a:r>
              <a:endParaRPr lang="zh-CN" altLang="en-US" sz="2000" dirty="0">
                <a:latin typeface="Arial" panose="020B0604020202020204" pitchFamily="34" charset="0"/>
                <a:ea typeface="宋体" panose="02010600030101010101" pitchFamily="2" charset="-122"/>
              </a:endParaRPr>
            </a:p>
          </p:txBody>
        </p:sp>
        <p:sp>
          <p:nvSpPr>
            <p:cNvPr id="75797" name="Oval 44"/>
            <p:cNvSpPr/>
            <p:nvPr/>
          </p:nvSpPr>
          <p:spPr>
            <a:xfrm>
              <a:off x="10511"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利率</a:t>
              </a:r>
              <a:endParaRPr lang="zh-CN" altLang="en-US" sz="2000" dirty="0">
                <a:latin typeface="Arial" panose="020B0604020202020204" pitchFamily="34" charset="0"/>
                <a:ea typeface="宋体" panose="02010600030101010101" pitchFamily="2" charset="-122"/>
              </a:endParaRPr>
            </a:p>
          </p:txBody>
        </p:sp>
        <p:sp>
          <p:nvSpPr>
            <p:cNvPr id="75798" name="Line 46"/>
            <p:cNvSpPr/>
            <p:nvPr/>
          </p:nvSpPr>
          <p:spPr>
            <a:xfrm flipV="1">
              <a:off x="10058" y="9255"/>
              <a:ext cx="225" cy="567"/>
            </a:xfrm>
            <a:prstGeom prst="line">
              <a:avLst/>
            </a:prstGeom>
            <a:ln w="9525" cap="flat" cmpd="sng">
              <a:solidFill>
                <a:schemeClr val="tx1"/>
              </a:solidFill>
              <a:prstDash val="solid"/>
              <a:round/>
              <a:headEnd type="none" w="med" len="med"/>
              <a:tailEnd type="none" w="med" len="med"/>
            </a:ln>
          </p:spPr>
        </p:sp>
        <p:sp>
          <p:nvSpPr>
            <p:cNvPr id="75799" name="Line 47"/>
            <p:cNvSpPr/>
            <p:nvPr/>
          </p:nvSpPr>
          <p:spPr>
            <a:xfrm flipH="1" flipV="1">
              <a:off x="10738" y="9255"/>
              <a:ext cx="225" cy="567"/>
            </a:xfrm>
            <a:prstGeom prst="line">
              <a:avLst/>
            </a:prstGeom>
            <a:ln w="9525" cap="flat" cmpd="sng">
              <a:solidFill>
                <a:schemeClr val="tx1"/>
              </a:solidFill>
              <a:prstDash val="solid"/>
              <a:round/>
              <a:headEnd type="none" w="med" len="med"/>
              <a:tailEnd type="none" w="med" len="med"/>
            </a:ln>
          </p:spPr>
        </p:sp>
        <p:sp>
          <p:nvSpPr>
            <p:cNvPr id="75800" name="Oval 48"/>
            <p:cNvSpPr/>
            <p:nvPr/>
          </p:nvSpPr>
          <p:spPr>
            <a:xfrm>
              <a:off x="12551"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利率</a:t>
              </a:r>
              <a:endParaRPr lang="zh-CN" altLang="en-US" sz="2000" dirty="0">
                <a:latin typeface="Arial" panose="020B0604020202020204" pitchFamily="34" charset="0"/>
                <a:ea typeface="宋体" panose="02010600030101010101" pitchFamily="2" charset="-122"/>
              </a:endParaRPr>
            </a:p>
          </p:txBody>
        </p:sp>
        <p:sp>
          <p:nvSpPr>
            <p:cNvPr id="75801" name="Oval 49"/>
            <p:cNvSpPr/>
            <p:nvPr/>
          </p:nvSpPr>
          <p:spPr>
            <a:xfrm>
              <a:off x="11531"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总额</a:t>
              </a:r>
              <a:endParaRPr lang="zh-CN" altLang="en-US" sz="2000" dirty="0">
                <a:latin typeface="Arial" panose="020B0604020202020204" pitchFamily="34" charset="0"/>
                <a:ea typeface="宋体" panose="02010600030101010101" pitchFamily="2" charset="-122"/>
              </a:endParaRPr>
            </a:p>
          </p:txBody>
        </p:sp>
        <p:sp>
          <p:nvSpPr>
            <p:cNvPr id="75802" name="Line 51"/>
            <p:cNvSpPr/>
            <p:nvPr/>
          </p:nvSpPr>
          <p:spPr>
            <a:xfrm>
              <a:off x="12438" y="9255"/>
              <a:ext cx="455" cy="567"/>
            </a:xfrm>
            <a:prstGeom prst="line">
              <a:avLst/>
            </a:prstGeom>
            <a:ln w="9525" cap="flat" cmpd="sng">
              <a:solidFill>
                <a:schemeClr val="tx1"/>
              </a:solidFill>
              <a:prstDash val="solid"/>
              <a:round/>
              <a:headEnd type="none" w="med" len="med"/>
              <a:tailEnd type="none" w="med" len="med"/>
            </a:ln>
          </p:spPr>
        </p:sp>
        <p:sp>
          <p:nvSpPr>
            <p:cNvPr id="75803" name="Line 52"/>
            <p:cNvSpPr/>
            <p:nvPr/>
          </p:nvSpPr>
          <p:spPr>
            <a:xfrm flipH="1">
              <a:off x="11986" y="9255"/>
              <a:ext cx="115" cy="567"/>
            </a:xfrm>
            <a:prstGeom prst="line">
              <a:avLst/>
            </a:prstGeom>
            <a:ln w="9525" cap="flat" cmpd="sng">
              <a:solidFill>
                <a:schemeClr val="tx1"/>
              </a:solidFill>
              <a:prstDash val="solid"/>
              <a:round/>
              <a:headEnd type="none" w="med" len="med"/>
              <a:tailEnd type="none" w="med" len="med"/>
            </a:ln>
          </p:spPr>
        </p:sp>
        <p:sp>
          <p:nvSpPr>
            <p:cNvPr id="75804" name="Line 2"/>
            <p:cNvSpPr/>
            <p:nvPr/>
          </p:nvSpPr>
          <p:spPr>
            <a:xfrm flipH="1">
              <a:off x="8781" y="7778"/>
              <a:ext cx="1301" cy="1030"/>
            </a:xfrm>
            <a:prstGeom prst="line">
              <a:avLst/>
            </a:prstGeom>
            <a:ln w="9525" cap="flat" cmpd="sng">
              <a:solidFill>
                <a:schemeClr val="tx1"/>
              </a:solidFill>
              <a:prstDash val="solid"/>
              <a:round/>
              <a:headEnd type="none" w="med" len="med"/>
              <a:tailEnd type="none" w="med" len="med"/>
            </a:ln>
          </p:spPr>
        </p:sp>
        <p:sp>
          <p:nvSpPr>
            <p:cNvPr id="75805" name="Line 3"/>
            <p:cNvSpPr/>
            <p:nvPr/>
          </p:nvSpPr>
          <p:spPr>
            <a:xfrm flipH="1">
              <a:off x="10494" y="7819"/>
              <a:ext cx="16" cy="1020"/>
            </a:xfrm>
            <a:prstGeom prst="line">
              <a:avLst/>
            </a:prstGeom>
            <a:ln w="9525" cap="flat" cmpd="sng">
              <a:solidFill>
                <a:schemeClr val="tx1"/>
              </a:solidFill>
              <a:prstDash val="solid"/>
              <a:round/>
              <a:headEnd type="none" w="med" len="med"/>
              <a:tailEnd type="none" w="med" len="med"/>
            </a:ln>
          </p:spPr>
        </p:sp>
        <p:sp>
          <p:nvSpPr>
            <p:cNvPr id="75806" name="Line 4"/>
            <p:cNvSpPr/>
            <p:nvPr/>
          </p:nvSpPr>
          <p:spPr>
            <a:xfrm>
              <a:off x="10918" y="7782"/>
              <a:ext cx="1223" cy="978"/>
            </a:xfrm>
            <a:prstGeom prst="line">
              <a:avLst/>
            </a:prstGeom>
            <a:ln w="9525" cap="flat" cmpd="sng">
              <a:solidFill>
                <a:schemeClr val="tx1"/>
              </a:solidFill>
              <a:prstDash val="solid"/>
              <a:round/>
              <a:headEnd type="none" w="med" len="med"/>
              <a:tailEnd type="none" w="med" len="med"/>
            </a:ln>
          </p:spPr>
        </p:sp>
        <p:sp>
          <p:nvSpPr>
            <p:cNvPr id="75807" name="Text Box 54"/>
            <p:cNvSpPr txBox="1"/>
            <p:nvPr/>
          </p:nvSpPr>
          <p:spPr>
            <a:xfrm>
              <a:off x="10170" y="7346"/>
              <a:ext cx="680" cy="482"/>
            </a:xfrm>
            <a:prstGeom prst="rect">
              <a:avLst/>
            </a:prstGeom>
            <a:noFill/>
            <a:ln w="9525">
              <a:noFill/>
            </a:ln>
          </p:spPr>
          <p:txBody>
            <a:bodyPr lIns="0" rIns="0" anchor="t">
              <a:spAutoFit/>
            </a:bodyPr>
            <a:lstStyle/>
            <a:p>
              <a:pPr lvl="0" indent="0" algn="ctr">
                <a:spcBef>
                  <a:spcPct val="50000"/>
                </a:spcBef>
                <a:buNone/>
              </a:pPr>
              <a:r>
                <a:rPr lang="en-US" altLang="zh-CN" sz="2000" dirty="0">
                  <a:latin typeface="Arial" panose="020B0604020202020204" pitchFamily="34" charset="0"/>
                  <a:ea typeface="宋体" panose="02010600030101010101" pitchFamily="2" charset="-122"/>
                </a:rPr>
                <a:t>ISA</a:t>
              </a:r>
              <a:endParaRPr lang="en-US" altLang="zh-CN" sz="2000" dirty="0">
                <a:latin typeface="Arial" panose="020B0604020202020204" pitchFamily="34" charset="0"/>
                <a:ea typeface="宋体" panose="02010600030101010101" pitchFamily="2" charset="-122"/>
              </a:endParaRPr>
            </a:p>
          </p:txBody>
        </p:sp>
      </p:grpSp>
      <p:sp>
        <p:nvSpPr>
          <p:cNvPr id="75809" name="矩形 43"/>
          <p:cNvSpPr/>
          <p:nvPr/>
        </p:nvSpPr>
        <p:spPr>
          <a:xfrm>
            <a:off x="512763" y="838200"/>
            <a:ext cx="6627812" cy="522288"/>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类层次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 name="Rectangle 2"/>
          <p:cNvSpPr/>
          <p:nvPr/>
        </p:nvSpPr>
        <p:spPr>
          <a:xfrm>
            <a:off x="457200" y="11493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48030" y="2573020"/>
            <a:ext cx="7647305" cy="3583940"/>
            <a:chOff x="746" y="2543"/>
            <a:chExt cx="12830" cy="6782"/>
          </a:xfrm>
        </p:grpSpPr>
        <p:sp>
          <p:nvSpPr>
            <p:cNvPr id="74753" name="Rectangle 27"/>
            <p:cNvSpPr/>
            <p:nvPr/>
          </p:nvSpPr>
          <p:spPr>
            <a:xfrm>
              <a:off x="2126" y="3720"/>
              <a:ext cx="1855" cy="713"/>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学生</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54" name="Oval 12"/>
            <p:cNvSpPr/>
            <p:nvPr/>
          </p:nvSpPr>
          <p:spPr>
            <a:xfrm>
              <a:off x="1111" y="2578"/>
              <a:ext cx="1403" cy="64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4755" name="Oval 12"/>
            <p:cNvSpPr/>
            <p:nvPr/>
          </p:nvSpPr>
          <p:spPr>
            <a:xfrm>
              <a:off x="2724" y="2633"/>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56" name="Oval 12"/>
            <p:cNvSpPr/>
            <p:nvPr/>
          </p:nvSpPr>
          <p:spPr>
            <a:xfrm>
              <a:off x="4244" y="2578"/>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住处</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57" name="Line 21"/>
            <p:cNvSpPr/>
            <p:nvPr/>
          </p:nvSpPr>
          <p:spPr>
            <a:xfrm>
              <a:off x="2229" y="3148"/>
              <a:ext cx="580" cy="577"/>
            </a:xfrm>
            <a:prstGeom prst="line">
              <a:avLst/>
            </a:prstGeom>
            <a:ln w="17463" cap="flat" cmpd="sng">
              <a:solidFill>
                <a:srgbClr val="000000"/>
              </a:solidFill>
              <a:prstDash val="solid"/>
              <a:round/>
              <a:headEnd type="none" w="med" len="med"/>
              <a:tailEnd type="none" w="med" len="med"/>
            </a:ln>
          </p:spPr>
        </p:sp>
        <p:sp>
          <p:nvSpPr>
            <p:cNvPr id="74758" name="Line 21"/>
            <p:cNvSpPr/>
            <p:nvPr/>
          </p:nvSpPr>
          <p:spPr>
            <a:xfrm flipH="1">
              <a:off x="3084" y="3273"/>
              <a:ext cx="92" cy="475"/>
            </a:xfrm>
            <a:prstGeom prst="line">
              <a:avLst/>
            </a:prstGeom>
            <a:ln w="17463" cap="flat" cmpd="sng">
              <a:solidFill>
                <a:srgbClr val="000000"/>
              </a:solidFill>
              <a:prstDash val="solid"/>
              <a:round/>
              <a:headEnd type="none" w="med" len="med"/>
              <a:tailEnd type="none" w="med" len="med"/>
            </a:ln>
          </p:spPr>
        </p:sp>
        <p:sp>
          <p:nvSpPr>
            <p:cNvPr id="74759" name="Line 21"/>
            <p:cNvSpPr/>
            <p:nvPr/>
          </p:nvSpPr>
          <p:spPr>
            <a:xfrm flipH="1">
              <a:off x="3656" y="3183"/>
              <a:ext cx="960" cy="565"/>
            </a:xfrm>
            <a:prstGeom prst="line">
              <a:avLst/>
            </a:prstGeom>
            <a:ln w="17463" cap="flat" cmpd="sng">
              <a:solidFill>
                <a:srgbClr val="000000"/>
              </a:solidFill>
              <a:prstDash val="solid"/>
              <a:round/>
              <a:headEnd type="none" w="med" len="med"/>
              <a:tailEnd type="none" w="med" len="med"/>
            </a:ln>
          </p:spPr>
        </p:sp>
        <p:sp>
          <p:nvSpPr>
            <p:cNvPr id="74760" name="Line 21"/>
            <p:cNvSpPr/>
            <p:nvPr/>
          </p:nvSpPr>
          <p:spPr>
            <a:xfrm flipH="1">
              <a:off x="3119" y="4450"/>
              <a:ext cx="0" cy="475"/>
            </a:xfrm>
            <a:prstGeom prst="line">
              <a:avLst/>
            </a:prstGeom>
            <a:ln w="17463" cap="flat" cmpd="sng">
              <a:solidFill>
                <a:srgbClr val="000000"/>
              </a:solidFill>
              <a:prstDash val="solid"/>
              <a:round/>
              <a:headEnd type="none" w="med" len="med"/>
              <a:tailEnd type="none" w="med" len="med"/>
            </a:ln>
          </p:spPr>
        </p:sp>
        <p:sp>
          <p:nvSpPr>
            <p:cNvPr id="72714" name="等腰三角形 12"/>
            <p:cNvSpPr/>
            <p:nvPr/>
          </p:nvSpPr>
          <p:spPr>
            <a:xfrm>
              <a:off x="2146" y="4741"/>
              <a:ext cx="1898" cy="1324"/>
            </a:xfrm>
            <a:prstGeom prst="triangle">
              <a:avLst>
                <a:gd name="adj" fmla="val 50000"/>
              </a:avLst>
            </a:prstGeom>
            <a:solidFill>
              <a:schemeClr val="accent1"/>
            </a:solidFill>
            <a:ln w="9525" cap="flat" cmpd="sng">
              <a:solidFill>
                <a:srgbClr val="0033CC"/>
              </a:solidFill>
              <a:prstDash val="solid"/>
              <a:miter/>
              <a:headEnd type="none" w="med" len="med"/>
              <a:tailEnd type="none" w="med" len="med"/>
            </a:ln>
          </p:spPr>
          <p:txBody>
            <a:bodyPr lIns="72000" tIns="0" anchor="ctr">
              <a:spAutoFit/>
            </a:bodyPr>
            <a:lstStyle/>
            <a:p>
              <a:pPr marL="262255" lvl="0" indent="-262255" eaLnBrk="1" fontAlgn="base" hangingPunct="1">
                <a:lnSpc>
                  <a:spcPct val="110000"/>
                </a:lnSpc>
                <a:buNone/>
              </a:pPr>
              <a:r>
                <a:rPr lang="en-US" altLang="x-none"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ISA</a:t>
              </a:r>
              <a:endParaRPr lang="en-US" altLang="x-none"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74762" name="Rectangle 27"/>
            <p:cNvSpPr/>
            <p:nvPr/>
          </p:nvSpPr>
          <p:spPr>
            <a:xfrm>
              <a:off x="904" y="7183"/>
              <a:ext cx="1855" cy="712"/>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本科生</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63" name="Rectangle 27"/>
            <p:cNvSpPr/>
            <p:nvPr/>
          </p:nvSpPr>
          <p:spPr>
            <a:xfrm>
              <a:off x="3474" y="7125"/>
              <a:ext cx="1855" cy="713"/>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研究生</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64" name="Line 21"/>
            <p:cNvSpPr/>
            <p:nvPr/>
          </p:nvSpPr>
          <p:spPr>
            <a:xfrm flipH="1">
              <a:off x="1666" y="5999"/>
              <a:ext cx="480" cy="1131"/>
            </a:xfrm>
            <a:prstGeom prst="line">
              <a:avLst/>
            </a:prstGeom>
            <a:ln w="17463" cap="flat" cmpd="sng">
              <a:solidFill>
                <a:srgbClr val="000000"/>
              </a:solidFill>
              <a:prstDash val="solid"/>
              <a:round/>
              <a:headEnd type="none" w="med" len="med"/>
              <a:tailEnd type="none" w="med" len="med"/>
            </a:ln>
          </p:spPr>
        </p:sp>
        <p:sp>
          <p:nvSpPr>
            <p:cNvPr id="74765" name="Line 21"/>
            <p:cNvSpPr/>
            <p:nvPr/>
          </p:nvSpPr>
          <p:spPr>
            <a:xfrm>
              <a:off x="3999" y="5963"/>
              <a:ext cx="617" cy="1191"/>
            </a:xfrm>
            <a:prstGeom prst="line">
              <a:avLst/>
            </a:prstGeom>
            <a:ln w="17463" cap="flat" cmpd="sng">
              <a:solidFill>
                <a:srgbClr val="000000"/>
              </a:solidFill>
              <a:prstDash val="solid"/>
              <a:round/>
              <a:headEnd type="none" w="med" len="med"/>
              <a:tailEnd type="none" w="med" len="med"/>
            </a:ln>
          </p:spPr>
        </p:sp>
        <p:sp>
          <p:nvSpPr>
            <p:cNvPr id="74766" name="Oval 12"/>
            <p:cNvSpPr/>
            <p:nvPr/>
          </p:nvSpPr>
          <p:spPr>
            <a:xfrm>
              <a:off x="746" y="8520"/>
              <a:ext cx="1675"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是否四级</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67" name="Line 21"/>
            <p:cNvSpPr/>
            <p:nvPr/>
          </p:nvSpPr>
          <p:spPr>
            <a:xfrm flipH="1">
              <a:off x="1564" y="7908"/>
              <a:ext cx="310" cy="627"/>
            </a:xfrm>
            <a:prstGeom prst="line">
              <a:avLst/>
            </a:prstGeom>
            <a:ln w="17463" cap="flat" cmpd="sng">
              <a:solidFill>
                <a:srgbClr val="000000"/>
              </a:solidFill>
              <a:prstDash val="solid"/>
              <a:round/>
              <a:headEnd type="none" w="med" len="med"/>
              <a:tailEnd type="none" w="med" len="med"/>
            </a:ln>
          </p:spPr>
        </p:sp>
        <p:sp>
          <p:nvSpPr>
            <p:cNvPr id="74768" name="Oval 12"/>
            <p:cNvSpPr/>
            <p:nvPr/>
          </p:nvSpPr>
          <p:spPr>
            <a:xfrm>
              <a:off x="3134" y="8645"/>
              <a:ext cx="1675"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培养类型</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69" name="Oval 12"/>
            <p:cNvSpPr/>
            <p:nvPr/>
          </p:nvSpPr>
          <p:spPr>
            <a:xfrm>
              <a:off x="5089" y="8268"/>
              <a:ext cx="1675"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研究方向</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70" name="Line 21"/>
            <p:cNvSpPr/>
            <p:nvPr/>
          </p:nvSpPr>
          <p:spPr>
            <a:xfrm>
              <a:off x="4549" y="7845"/>
              <a:ext cx="637" cy="565"/>
            </a:xfrm>
            <a:prstGeom prst="line">
              <a:avLst/>
            </a:prstGeom>
            <a:ln w="17463" cap="flat" cmpd="sng">
              <a:solidFill>
                <a:srgbClr val="000000"/>
              </a:solidFill>
              <a:prstDash val="solid"/>
              <a:round/>
              <a:headEnd type="none" w="med" len="med"/>
              <a:tailEnd type="none" w="med" len="med"/>
            </a:ln>
          </p:spPr>
        </p:sp>
        <p:sp>
          <p:nvSpPr>
            <p:cNvPr id="74771" name="Line 21"/>
            <p:cNvSpPr/>
            <p:nvPr/>
          </p:nvSpPr>
          <p:spPr>
            <a:xfrm flipH="1">
              <a:off x="3999" y="7855"/>
              <a:ext cx="127" cy="760"/>
            </a:xfrm>
            <a:prstGeom prst="line">
              <a:avLst/>
            </a:prstGeom>
            <a:ln w="17463" cap="flat" cmpd="sng">
              <a:solidFill>
                <a:srgbClr val="000000"/>
              </a:solidFill>
              <a:prstDash val="solid"/>
              <a:round/>
              <a:headEnd type="none" w="med" len="med"/>
              <a:tailEnd type="none" w="med" len="med"/>
            </a:ln>
          </p:spPr>
        </p:sp>
        <p:sp>
          <p:nvSpPr>
            <p:cNvPr id="74772" name="Rectangle 27"/>
            <p:cNvSpPr/>
            <p:nvPr/>
          </p:nvSpPr>
          <p:spPr>
            <a:xfrm>
              <a:off x="9154" y="3685"/>
              <a:ext cx="1855" cy="713"/>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教师</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73" name="Oval 12"/>
            <p:cNvSpPr/>
            <p:nvPr/>
          </p:nvSpPr>
          <p:spPr>
            <a:xfrm>
              <a:off x="8139" y="2543"/>
              <a:ext cx="1402" cy="64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en-US" altLang="x-none" sz="1600" u="sng" dirty="0">
                  <a:solidFill>
                    <a:srgbClr val="0000CC"/>
                  </a:solidFill>
                  <a:latin typeface="宋体" panose="02010600030101010101" pitchFamily="2" charset="-122"/>
                  <a:ea typeface="宋体" panose="02010600030101010101" pitchFamily="2" charset="-122"/>
                </a:rPr>
                <a:t> </a:t>
              </a:r>
              <a:r>
                <a:rPr lang="zh-CN" altLang="en-US" sz="1600" u="sng" dirty="0">
                  <a:solidFill>
                    <a:srgbClr val="0000CC"/>
                  </a:solidFill>
                  <a:latin typeface="宋体" panose="02010600030101010101" pitchFamily="2" charset="-122"/>
                  <a:ea typeface="宋体" panose="02010600030101010101" pitchFamily="2" charset="-122"/>
                </a:rPr>
                <a:t>职工号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4774" name="Oval 12"/>
            <p:cNvSpPr/>
            <p:nvPr/>
          </p:nvSpPr>
          <p:spPr>
            <a:xfrm>
              <a:off x="9751" y="2600"/>
              <a:ext cx="1403"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75" name="Oval 12"/>
            <p:cNvSpPr/>
            <p:nvPr/>
          </p:nvSpPr>
          <p:spPr>
            <a:xfrm>
              <a:off x="11271" y="2543"/>
              <a:ext cx="1403"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职称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76" name="Line 21"/>
            <p:cNvSpPr/>
            <p:nvPr/>
          </p:nvSpPr>
          <p:spPr>
            <a:xfrm>
              <a:off x="9256" y="3113"/>
              <a:ext cx="583" cy="577"/>
            </a:xfrm>
            <a:prstGeom prst="line">
              <a:avLst/>
            </a:prstGeom>
            <a:ln w="17463" cap="flat" cmpd="sng">
              <a:solidFill>
                <a:srgbClr val="000000"/>
              </a:solidFill>
              <a:prstDash val="solid"/>
              <a:round/>
              <a:headEnd type="none" w="med" len="med"/>
              <a:tailEnd type="none" w="med" len="med"/>
            </a:ln>
          </p:spPr>
        </p:sp>
        <p:sp>
          <p:nvSpPr>
            <p:cNvPr id="74777" name="Line 21"/>
            <p:cNvSpPr/>
            <p:nvPr/>
          </p:nvSpPr>
          <p:spPr>
            <a:xfrm flipH="1">
              <a:off x="10114" y="3238"/>
              <a:ext cx="92" cy="475"/>
            </a:xfrm>
            <a:prstGeom prst="line">
              <a:avLst/>
            </a:prstGeom>
            <a:ln w="17463" cap="flat" cmpd="sng">
              <a:solidFill>
                <a:srgbClr val="000000"/>
              </a:solidFill>
              <a:prstDash val="solid"/>
              <a:round/>
              <a:headEnd type="none" w="med" len="med"/>
              <a:tailEnd type="none" w="med" len="med"/>
            </a:ln>
          </p:spPr>
        </p:sp>
        <p:sp>
          <p:nvSpPr>
            <p:cNvPr id="74778" name="Line 21"/>
            <p:cNvSpPr/>
            <p:nvPr/>
          </p:nvSpPr>
          <p:spPr>
            <a:xfrm flipH="1">
              <a:off x="10684" y="3148"/>
              <a:ext cx="962" cy="565"/>
            </a:xfrm>
            <a:prstGeom prst="line">
              <a:avLst/>
            </a:prstGeom>
            <a:ln w="17463" cap="flat" cmpd="sng">
              <a:solidFill>
                <a:srgbClr val="000000"/>
              </a:solidFill>
              <a:prstDash val="solid"/>
              <a:round/>
              <a:headEnd type="none" w="med" len="med"/>
              <a:tailEnd type="none" w="med" len="med"/>
            </a:ln>
          </p:spPr>
        </p:sp>
        <p:sp>
          <p:nvSpPr>
            <p:cNvPr id="74779" name="Line 21"/>
            <p:cNvSpPr/>
            <p:nvPr/>
          </p:nvSpPr>
          <p:spPr>
            <a:xfrm flipH="1">
              <a:off x="10146" y="4393"/>
              <a:ext cx="0" cy="475"/>
            </a:xfrm>
            <a:prstGeom prst="line">
              <a:avLst/>
            </a:prstGeom>
            <a:ln w="17463" cap="flat" cmpd="sng">
              <a:solidFill>
                <a:srgbClr val="000000"/>
              </a:solidFill>
              <a:prstDash val="solid"/>
              <a:round/>
              <a:headEnd type="none" w="med" len="med"/>
              <a:tailEnd type="none" w="med" len="med"/>
            </a:ln>
          </p:spPr>
        </p:sp>
        <p:sp>
          <p:nvSpPr>
            <p:cNvPr id="72733" name="等腰三角形 31"/>
            <p:cNvSpPr/>
            <p:nvPr/>
          </p:nvSpPr>
          <p:spPr>
            <a:xfrm>
              <a:off x="9176" y="4683"/>
              <a:ext cx="1898" cy="1324"/>
            </a:xfrm>
            <a:prstGeom prst="triangle">
              <a:avLst>
                <a:gd name="adj" fmla="val 50000"/>
              </a:avLst>
            </a:prstGeom>
            <a:solidFill>
              <a:schemeClr val="accent1"/>
            </a:solidFill>
            <a:ln w="9525" cap="flat" cmpd="sng">
              <a:solidFill>
                <a:srgbClr val="0033CC"/>
              </a:solidFill>
              <a:prstDash val="solid"/>
              <a:miter/>
              <a:headEnd type="none" w="med" len="med"/>
              <a:tailEnd type="none" w="med" len="med"/>
            </a:ln>
          </p:spPr>
          <p:txBody>
            <a:bodyPr lIns="72000" tIns="0" anchor="ctr">
              <a:spAutoFit/>
            </a:bodyPr>
            <a:lstStyle/>
            <a:p>
              <a:pPr marL="262255" lvl="0" indent="-262255" eaLnBrk="1" fontAlgn="base" hangingPunct="1">
                <a:lnSpc>
                  <a:spcPct val="110000"/>
                </a:lnSpc>
                <a:buNone/>
              </a:pPr>
              <a:r>
                <a:rPr lang="en-US" altLang="x-none"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ISA</a:t>
              </a:r>
              <a:endParaRPr lang="en-US" altLang="x-none"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74781" name="Rectangle 27"/>
            <p:cNvSpPr/>
            <p:nvPr/>
          </p:nvSpPr>
          <p:spPr>
            <a:xfrm>
              <a:off x="9509" y="7033"/>
              <a:ext cx="1855" cy="712"/>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教授</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82" name="Line 21"/>
            <p:cNvSpPr/>
            <p:nvPr/>
          </p:nvSpPr>
          <p:spPr>
            <a:xfrm flipH="1">
              <a:off x="10116" y="5873"/>
              <a:ext cx="0" cy="1142"/>
            </a:xfrm>
            <a:prstGeom prst="line">
              <a:avLst/>
            </a:prstGeom>
            <a:ln w="17463" cap="flat" cmpd="sng">
              <a:solidFill>
                <a:srgbClr val="000000"/>
              </a:solidFill>
              <a:prstDash val="solid"/>
              <a:round/>
              <a:headEnd type="none" w="med" len="med"/>
              <a:tailEnd type="none" w="med" len="med"/>
            </a:ln>
          </p:spPr>
        </p:sp>
        <p:sp>
          <p:nvSpPr>
            <p:cNvPr id="74783" name="Oval 12"/>
            <p:cNvSpPr/>
            <p:nvPr/>
          </p:nvSpPr>
          <p:spPr>
            <a:xfrm>
              <a:off x="9889" y="8565"/>
              <a:ext cx="1675"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指导人数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84" name="Oval 12"/>
            <p:cNvSpPr/>
            <p:nvPr/>
          </p:nvSpPr>
          <p:spPr>
            <a:xfrm>
              <a:off x="11544" y="8233"/>
              <a:ext cx="1677"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研究方向</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85" name="Line 21"/>
            <p:cNvSpPr/>
            <p:nvPr/>
          </p:nvSpPr>
          <p:spPr>
            <a:xfrm>
              <a:off x="11189" y="7743"/>
              <a:ext cx="640" cy="565"/>
            </a:xfrm>
            <a:prstGeom prst="line">
              <a:avLst/>
            </a:prstGeom>
            <a:ln w="17463" cap="flat" cmpd="sng">
              <a:solidFill>
                <a:srgbClr val="000000"/>
              </a:solidFill>
              <a:prstDash val="solid"/>
              <a:round/>
              <a:headEnd type="none" w="med" len="med"/>
              <a:tailEnd type="none" w="med" len="med"/>
            </a:ln>
          </p:spPr>
        </p:sp>
        <p:sp>
          <p:nvSpPr>
            <p:cNvPr id="74786" name="Line 21"/>
            <p:cNvSpPr/>
            <p:nvPr/>
          </p:nvSpPr>
          <p:spPr>
            <a:xfrm flipH="1">
              <a:off x="10706" y="7753"/>
              <a:ext cx="128" cy="762"/>
            </a:xfrm>
            <a:prstGeom prst="line">
              <a:avLst/>
            </a:prstGeom>
            <a:ln w="17463" cap="flat" cmpd="sng">
              <a:solidFill>
                <a:srgbClr val="000000"/>
              </a:solidFill>
              <a:prstDash val="solid"/>
              <a:round/>
              <a:headEnd type="none" w="med" len="med"/>
              <a:tailEnd type="none" w="med" len="med"/>
            </a:ln>
          </p:spPr>
        </p:sp>
        <p:sp>
          <p:nvSpPr>
            <p:cNvPr id="74787" name="Oval 12"/>
            <p:cNvSpPr/>
            <p:nvPr/>
          </p:nvSpPr>
          <p:spPr>
            <a:xfrm>
              <a:off x="12014" y="3490"/>
              <a:ext cx="1562"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研究方向</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88" name="Line 21"/>
            <p:cNvSpPr/>
            <p:nvPr/>
          </p:nvSpPr>
          <p:spPr>
            <a:xfrm flipH="1">
              <a:off x="10924" y="3815"/>
              <a:ext cx="1075" cy="138"/>
            </a:xfrm>
            <a:prstGeom prst="line">
              <a:avLst/>
            </a:prstGeom>
            <a:ln w="17463" cap="flat" cmpd="sng">
              <a:solidFill>
                <a:srgbClr val="000000"/>
              </a:solidFill>
              <a:prstDash val="solid"/>
              <a:round/>
              <a:headEnd type="none" w="med" len="med"/>
              <a:tailEnd type="none" w="med" len="med"/>
            </a:ln>
          </p:spPr>
        </p:sp>
        <p:sp>
          <p:nvSpPr>
            <p:cNvPr id="74789" name="AutoShape 17"/>
            <p:cNvSpPr/>
            <p:nvPr/>
          </p:nvSpPr>
          <p:spPr>
            <a:xfrm>
              <a:off x="6684" y="6828"/>
              <a:ext cx="1602" cy="960"/>
            </a:xfrm>
            <a:prstGeom prst="diamond">
              <a:avLst/>
            </a:prstGeom>
            <a:solidFill>
              <a:srgbClr val="FFFFCC"/>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指导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90" name="Line 21"/>
            <p:cNvSpPr/>
            <p:nvPr/>
          </p:nvSpPr>
          <p:spPr>
            <a:xfrm flipV="1">
              <a:off x="5336" y="7360"/>
              <a:ext cx="1383" cy="108"/>
            </a:xfrm>
            <a:prstGeom prst="line">
              <a:avLst/>
            </a:prstGeom>
            <a:ln w="38100" cap="flat" cmpd="sng">
              <a:solidFill>
                <a:srgbClr val="000000"/>
              </a:solidFill>
              <a:prstDash val="solid"/>
              <a:round/>
              <a:headEnd type="none" w="med" len="med"/>
              <a:tailEnd type="triangle" w="med" len="med"/>
            </a:ln>
          </p:spPr>
        </p:sp>
        <p:sp>
          <p:nvSpPr>
            <p:cNvPr id="74791" name="Line 21"/>
            <p:cNvSpPr/>
            <p:nvPr/>
          </p:nvSpPr>
          <p:spPr>
            <a:xfrm>
              <a:off x="8251" y="7320"/>
              <a:ext cx="1303" cy="73"/>
            </a:xfrm>
            <a:prstGeom prst="line">
              <a:avLst/>
            </a:prstGeom>
            <a:ln w="22225" cap="flat" cmpd="sng">
              <a:solidFill>
                <a:srgbClr val="000000"/>
              </a:solidFill>
              <a:prstDash val="solid"/>
              <a:round/>
              <a:headEnd type="none" w="med" len="med"/>
              <a:tailEnd type="none" w="med" len="med"/>
            </a:ln>
          </p:spPr>
        </p:sp>
        <p:sp>
          <p:nvSpPr>
            <p:cNvPr id="2" name="矩形 1"/>
            <p:cNvSpPr/>
            <p:nvPr/>
          </p:nvSpPr>
          <p:spPr>
            <a:xfrm>
              <a:off x="5903" y="6570"/>
              <a:ext cx="1243" cy="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n</a:t>
              </a:r>
              <a:endParaRPr lang="en-US" altLang="zh-CN">
                <a:solidFill>
                  <a:schemeClr val="tx1"/>
                </a:solidFill>
              </a:endParaRPr>
            </a:p>
          </p:txBody>
        </p:sp>
        <p:sp>
          <p:nvSpPr>
            <p:cNvPr id="3" name="矩形 2"/>
            <p:cNvSpPr/>
            <p:nvPr/>
          </p:nvSpPr>
          <p:spPr>
            <a:xfrm>
              <a:off x="8218" y="6623"/>
              <a:ext cx="1243" cy="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1</a:t>
              </a:r>
              <a:endParaRPr lang="en-US" altLang="zh-CN">
                <a:solidFill>
                  <a:schemeClr val="tx1"/>
                </a:solidFill>
              </a:endParaRPr>
            </a:p>
          </p:txBody>
        </p:sp>
      </p:grpSp>
      <p:sp>
        <p:nvSpPr>
          <p:cNvPr id="70658" name="矩形 3"/>
          <p:cNvSpPr/>
          <p:nvPr/>
        </p:nvSpPr>
        <p:spPr>
          <a:xfrm>
            <a:off x="585470" y="854710"/>
            <a:ext cx="8124190" cy="1537970"/>
          </a:xfrm>
          <a:prstGeom prst="rect">
            <a:avLst/>
          </a:prstGeom>
          <a:noFill/>
          <a:ln w="9525">
            <a:noFill/>
          </a:ln>
        </p:spPr>
        <p:txBody>
          <a:bodyPr wrap="square" anchor="t">
            <a:spAutoFit/>
          </a:bodyPr>
          <a:lstStyle/>
          <a:p>
            <a:pPr lvl="0" indent="0">
              <a:lnSpc>
                <a:spcPct val="100000"/>
              </a:lnSpc>
              <a:buFont typeface="Wingdings" panose="05000000000000000000" pitchFamily="2" charset="2"/>
              <a:buChar char="p"/>
            </a:pPr>
            <a:r>
              <a:rPr lang="zh-CN" altLang="en-US" sz="2800" dirty="0">
                <a:solidFill>
                  <a:srgbClr val="0033CC"/>
                </a:solidFill>
                <a:latin typeface="黑体" panose="02010609060101010101" pitchFamily="1" charset="-122"/>
                <a:ea typeface="黑体" panose="02010609060101010101" pitchFamily="1" charset="-122"/>
              </a:rPr>
              <a:t> 课堂练习</a:t>
            </a:r>
            <a:r>
              <a:rPr lang="en-US" altLang="zh-CN" sz="2800" dirty="0">
                <a:solidFill>
                  <a:srgbClr val="0033CC"/>
                </a:solidFill>
                <a:latin typeface="黑体" panose="02010609060101010101" pitchFamily="1" charset="-122"/>
                <a:ea typeface="黑体" panose="02010609060101010101" pitchFamily="1" charset="-122"/>
              </a:rPr>
              <a:t>:</a:t>
            </a:r>
            <a:r>
              <a:rPr lang="zh-CN" altLang="zh-CN" sz="2200" u="sng" dirty="0">
                <a:solidFill>
                  <a:srgbClr val="0033CC"/>
                </a:solidFill>
                <a:latin typeface="宋体" panose="02010600030101010101" pitchFamily="2" charset="-122"/>
              </a:rPr>
              <a:t>学生</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学号，姓名，住处</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可分为</a:t>
            </a:r>
            <a:r>
              <a:rPr lang="zh-CN" altLang="en-US" sz="2200" u="sng" dirty="0">
                <a:solidFill>
                  <a:srgbClr val="0033CC"/>
                </a:solidFill>
                <a:latin typeface="宋体" panose="02010600030101010101" pitchFamily="2" charset="-122"/>
              </a:rPr>
              <a:t>本科生</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是否四级</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和</a:t>
            </a:r>
            <a:r>
              <a:rPr lang="zh-CN" altLang="en-US" sz="2200" u="sng" dirty="0">
                <a:solidFill>
                  <a:srgbClr val="0033CC"/>
                </a:solidFill>
                <a:latin typeface="宋体" panose="02010600030101010101" pitchFamily="2" charset="-122"/>
              </a:rPr>
              <a:t>研究生</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培养类型，研究方向</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a:t>
            </a:r>
            <a:r>
              <a:rPr lang="zh-CN" altLang="en-US" sz="2200" u="sng" dirty="0">
                <a:solidFill>
                  <a:srgbClr val="0033CC"/>
                </a:solidFill>
                <a:latin typeface="宋体" panose="02010600030101010101" pitchFamily="2" charset="-122"/>
              </a:rPr>
              <a:t>教师</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职工号，姓名，职称，研究方向</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中有一类</a:t>
            </a:r>
            <a:r>
              <a:rPr lang="zh-CN" altLang="en-US" sz="2200" u="sng" dirty="0">
                <a:solidFill>
                  <a:srgbClr val="0033CC"/>
                </a:solidFill>
                <a:latin typeface="宋体" panose="02010600030101010101" pitchFamily="2" charset="-122"/>
              </a:rPr>
              <a:t>教授</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指导人数，研究方向</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，其中教授和研究生之间有</a:t>
            </a:r>
            <a:r>
              <a:rPr lang="zh-CN" altLang="en-US" sz="2200" u="sng" dirty="0">
                <a:solidFill>
                  <a:srgbClr val="0033CC"/>
                </a:solidFill>
                <a:latin typeface="宋体" panose="02010600030101010101" pitchFamily="2" charset="-122"/>
              </a:rPr>
              <a:t>指导</a:t>
            </a:r>
            <a:r>
              <a:rPr lang="zh-CN" altLang="en-US" sz="2200" dirty="0">
                <a:solidFill>
                  <a:schemeClr val="tx1"/>
                </a:solidFill>
                <a:latin typeface="宋体" panose="02010600030101010101" pitchFamily="2" charset="-122"/>
              </a:rPr>
              <a:t>联系。请画出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p:txBody>
      </p:sp>
      <p:sp>
        <p:nvSpPr>
          <p:cNvPr id="5" name="Rectangle 2"/>
          <p:cNvSpPr/>
          <p:nvPr/>
        </p:nvSpPr>
        <p:spPr>
          <a:xfrm>
            <a:off x="457200" y="11493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矩形 3"/>
          <p:cNvSpPr/>
          <p:nvPr/>
        </p:nvSpPr>
        <p:spPr>
          <a:xfrm>
            <a:off x="571500" y="838200"/>
            <a:ext cx="6627813" cy="523875"/>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聚集</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3731" name="Rectangle 4"/>
          <p:cNvSpPr txBox="1"/>
          <p:nvPr/>
        </p:nvSpPr>
        <p:spPr>
          <a:xfrm>
            <a:off x="453708" y="1362075"/>
            <a:ext cx="8189912" cy="1504950"/>
          </a:xfrm>
          <a:prstGeom prst="rect">
            <a:avLst/>
          </a:prstGeom>
          <a:noFill/>
          <a:ln w="9525">
            <a:noFill/>
          </a:ln>
        </p:spPr>
        <p:txBody>
          <a:bodyPr anchor="t"/>
          <a:lstStyle/>
          <a:p>
            <a:pPr marL="342900" lvl="0" indent="-342900">
              <a:lnSpc>
                <a:spcPct val="110000"/>
              </a:lnSpc>
              <a:spcBef>
                <a:spcPts val="300"/>
              </a:spcBef>
              <a:buClr>
                <a:srgbClr val="0033CC"/>
              </a:buClr>
              <a:buNone/>
            </a:pPr>
            <a:r>
              <a:rPr lang="zh-CN" altLang="en-US" sz="2400" dirty="0">
                <a:latin typeface="华文楷体" panose="02010600040101010101" pitchFamily="2" charset="-122"/>
                <a:ea typeface="宋体" panose="02010600030101010101" pitchFamily="2" charset="-122"/>
              </a:rPr>
              <a:t>            联系描述的是多个实体集之间的关联，只有实体才能参与联系，不允许联系参与联系，但实际应用中往往有时需要联系参与联系。</a:t>
            </a:r>
            <a:endParaRPr lang="en-US" altLang="x-none" sz="2400" dirty="0">
              <a:latin typeface="华文楷体" panose="02010600040101010101" pitchFamily="2" charset="-122"/>
              <a:ea typeface="宋体" panose="02010600030101010101" pitchFamily="2" charset="-122"/>
            </a:endParaRPr>
          </a:p>
          <a:p>
            <a:pPr marL="342900" lvl="0" indent="-342900">
              <a:lnSpc>
                <a:spcPct val="120000"/>
              </a:lnSpc>
              <a:spcBef>
                <a:spcPts val="300"/>
              </a:spcBef>
              <a:buClr>
                <a:srgbClr val="0033CC"/>
              </a:buClr>
              <a:buNone/>
            </a:pPr>
            <a:r>
              <a:rPr lang="zh-CN" altLang="en-US" sz="2400" dirty="0">
                <a:latin typeface="华文楷体" panose="02010600040101010101" pitchFamily="2" charset="-122"/>
                <a:ea typeface="宋体" panose="02010600030101010101" pitchFamily="2" charset="-122"/>
              </a:rPr>
              <a:t>      </a:t>
            </a:r>
            <a:endParaRPr lang="zh-CN" altLang="en-US" sz="2400" dirty="0">
              <a:latin typeface="华文楷体" panose="02010600040101010101" pitchFamily="2" charset="-122"/>
              <a:ea typeface="宋体" panose="02010600030101010101" pitchFamily="2" charset="-122"/>
            </a:endParaRPr>
          </a:p>
        </p:txBody>
      </p:sp>
      <p:sp>
        <p:nvSpPr>
          <p:cNvPr id="73732" name="Rectangle 4"/>
          <p:cNvSpPr txBox="1"/>
          <p:nvPr/>
        </p:nvSpPr>
        <p:spPr>
          <a:xfrm>
            <a:off x="571183" y="2676525"/>
            <a:ext cx="8261350" cy="1504950"/>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Ø"/>
            </a:pPr>
            <a:r>
              <a:rPr lang="zh-CN" altLang="en-US" sz="2400" u="sng" dirty="0">
                <a:solidFill>
                  <a:srgbClr val="FF0000"/>
                </a:solidFill>
                <a:latin typeface="华文楷体" panose="02010600040101010101" pitchFamily="2" charset="-122"/>
                <a:ea typeface="宋体" panose="02010600030101010101" pitchFamily="2" charset="-122"/>
              </a:rPr>
              <a:t>概念：</a:t>
            </a:r>
            <a:r>
              <a:rPr lang="zh-CN" altLang="en-US" sz="2400" u="sng" dirty="0">
                <a:solidFill>
                  <a:srgbClr val="0033CC"/>
                </a:solidFill>
                <a:latin typeface="华文楷体" panose="02010600040101010101" pitchFamily="2" charset="-122"/>
                <a:ea typeface="宋体" panose="02010600030101010101" pitchFamily="2" charset="-122"/>
              </a:rPr>
              <a:t>聚集是将联系以及该联系所关联的实体一起，作为一个高层实体（或虚实体）来对待，该高层实体即为聚集。</a:t>
            </a:r>
            <a:endParaRPr lang="en-US" altLang="x-none" sz="2400" u="sng" dirty="0">
              <a:solidFill>
                <a:srgbClr val="0033CC"/>
              </a:solidFill>
              <a:latin typeface="华文楷体" panose="02010600040101010101" pitchFamily="2" charset="-122"/>
              <a:ea typeface="宋体" panose="02010600030101010101" pitchFamily="2" charset="-122"/>
            </a:endParaRPr>
          </a:p>
          <a:p>
            <a:pPr marL="342900" lvl="0" indent="-342900">
              <a:lnSpc>
                <a:spcPct val="110000"/>
              </a:lnSpc>
              <a:spcBef>
                <a:spcPts val="600"/>
              </a:spcBef>
              <a:buClr>
                <a:srgbClr val="0033CC"/>
              </a:buClr>
              <a:buFont typeface="Wingdings" panose="05000000000000000000" pitchFamily="2" charset="2"/>
              <a:buChar char="Ø"/>
            </a:pPr>
            <a:r>
              <a:rPr lang="zh-CN" altLang="en-US" sz="2400" dirty="0">
                <a:latin typeface="华文楷体" panose="02010600040101010101" pitchFamily="2" charset="-122"/>
                <a:ea typeface="宋体" panose="02010600030101010101" pitchFamily="2" charset="-122"/>
              </a:rPr>
              <a:t>新实体的属性为参与联系的实体的属性和联系的属性的并</a:t>
            </a:r>
            <a:endParaRPr lang="zh-CN" altLang="en-US" sz="2400" dirty="0">
              <a:latin typeface="华文楷体" panose="02010600040101010101" pitchFamily="2" charset="-122"/>
              <a:ea typeface="宋体" panose="02010600030101010101" pitchFamily="2" charset="-122"/>
            </a:endParaRPr>
          </a:p>
        </p:txBody>
      </p:sp>
      <p:sp>
        <p:nvSpPr>
          <p:cNvPr id="73733" name="Rectangle 4"/>
          <p:cNvSpPr txBox="1"/>
          <p:nvPr/>
        </p:nvSpPr>
        <p:spPr>
          <a:xfrm>
            <a:off x="571183" y="4142423"/>
            <a:ext cx="8072437" cy="1504950"/>
          </a:xfrm>
          <a:prstGeom prst="rect">
            <a:avLst/>
          </a:prstGeom>
          <a:noFill/>
          <a:ln w="9525">
            <a:noFill/>
          </a:ln>
        </p:spPr>
        <p:txBody>
          <a:bodyPr anchor="t"/>
          <a:lstStyle/>
          <a:p>
            <a:pPr marL="342900" lvl="0" indent="-342900">
              <a:lnSpc>
                <a:spcPct val="120000"/>
              </a:lnSpc>
              <a:spcBef>
                <a:spcPts val="1200"/>
              </a:spcBef>
              <a:buClr>
                <a:srgbClr val="0033CC"/>
              </a:buClr>
              <a:buFont typeface="Wingdings" panose="05000000000000000000" pitchFamily="2" charset="2"/>
              <a:buChar char="u"/>
            </a:pPr>
            <a:r>
              <a:rPr lang="zh-CN" altLang="en-US" sz="2600" dirty="0">
                <a:solidFill>
                  <a:srgbClr val="FF0000"/>
                </a:solidFill>
                <a:latin typeface="华文楷体" panose="02010600040101010101" pitchFamily="2" charset="-122"/>
                <a:ea typeface="宋体" panose="02010600030101010101" pitchFamily="2" charset="-122"/>
              </a:rPr>
              <a:t>例：大学、研究所、公司合作承担科研项目</a:t>
            </a:r>
            <a:endParaRPr lang="en-US" altLang="x-none" sz="2600" dirty="0">
              <a:solidFill>
                <a:srgbClr val="FF0000"/>
              </a:solidFill>
              <a:latin typeface="华文楷体" panose="02010600040101010101" pitchFamily="2" charset="-122"/>
              <a:ea typeface="宋体" panose="02010600030101010101" pitchFamily="2" charset="-122"/>
            </a:endParaRPr>
          </a:p>
          <a:p>
            <a:pPr marL="342900" lvl="0" indent="-342900">
              <a:lnSpc>
                <a:spcPct val="120000"/>
              </a:lnSpc>
              <a:spcBef>
                <a:spcPts val="300"/>
              </a:spcBef>
              <a:buClr>
                <a:srgbClr val="0033CC"/>
              </a:buClr>
              <a:buFont typeface="Wingdings" panose="05000000000000000000" pitchFamily="2" charset="2"/>
              <a:buChar char="Ø"/>
            </a:pPr>
            <a:r>
              <a:rPr lang="zh-CN" altLang="en-US" sz="2400" dirty="0">
                <a:latin typeface="华文楷体" panose="02010600040101010101" pitchFamily="2" charset="-122"/>
                <a:ea typeface="宋体" panose="02010600030101010101" pitchFamily="2" charset="-122"/>
              </a:rPr>
              <a:t> </a:t>
            </a:r>
            <a:r>
              <a:rPr lang="zh-CN" altLang="en-US" sz="2200" dirty="0">
                <a:latin typeface="华文楷体" panose="02010600040101010101" pitchFamily="2" charset="-122"/>
                <a:ea typeface="宋体" panose="02010600030101010101" pitchFamily="2" charset="-122"/>
              </a:rPr>
              <a:t>合作是建立在大学、研究所和公司之间的联系</a:t>
            </a:r>
            <a:endParaRPr lang="en-US" altLang="x-none" sz="2200" dirty="0">
              <a:latin typeface="华文楷体" panose="02010600040101010101" pitchFamily="2" charset="-122"/>
              <a:ea typeface="宋体" panose="02010600030101010101" pitchFamily="2" charset="-122"/>
            </a:endParaRPr>
          </a:p>
          <a:p>
            <a:pPr marL="342900" lvl="0" indent="-342900">
              <a:lnSpc>
                <a:spcPct val="120000"/>
              </a:lnSpc>
              <a:spcBef>
                <a:spcPts val="300"/>
              </a:spcBef>
              <a:buClr>
                <a:srgbClr val="0033CC"/>
              </a:buClr>
              <a:buFont typeface="Wingdings" panose="05000000000000000000" pitchFamily="2" charset="2"/>
              <a:buChar char="Ø"/>
            </a:pPr>
            <a:r>
              <a:rPr lang="zh-CN" altLang="en-US" sz="2400" dirty="0">
                <a:latin typeface="华文楷体" panose="02010600040101010101" pitchFamily="2" charset="-122"/>
                <a:ea typeface="宋体" panose="02010600030101010101" pitchFamily="2" charset="-122"/>
              </a:rPr>
              <a:t> </a:t>
            </a:r>
            <a:r>
              <a:rPr lang="zh-CN" altLang="en-US" sz="2200" dirty="0">
                <a:latin typeface="华文楷体" panose="02010600040101010101" pitchFamily="2" charset="-122"/>
                <a:ea typeface="宋体" panose="02010600030101010101" pitchFamily="2" charset="-122"/>
              </a:rPr>
              <a:t>为了定义承担这样的联系，可以对联系合作、实体集大学、研究所和公司进行聚合，将其作为一个实体看待</a:t>
            </a:r>
            <a:endParaRPr lang="zh-CN" altLang="en-US" sz="2200" dirty="0">
              <a:latin typeface="华文楷体" panose="02010600040101010101" pitchFamily="2" charset="-122"/>
              <a:ea typeface="宋体" panose="02010600030101010101" pitchFamily="2" charset="-122"/>
            </a:endParaRPr>
          </a:p>
        </p:txBody>
      </p:sp>
      <p:sp>
        <p:nvSpPr>
          <p:cNvPr id="2" name="Rectangle 2"/>
          <p:cNvSpPr/>
          <p:nvPr/>
        </p:nvSpPr>
        <p:spPr>
          <a:xfrm>
            <a:off x="457200" y="8445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wipe(down)">
                                      <p:cBhvr>
                                        <p:cTn id="7" dur="500"/>
                                        <p:tgtEl>
                                          <p:spTgt spid="73731">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3731">
                                            <p:txEl>
                                              <p:pRg st="1" end="1"/>
                                            </p:txEl>
                                          </p:spTgt>
                                        </p:tgtEl>
                                        <p:attrNameLst>
                                          <p:attrName>style.visibility</p:attrName>
                                        </p:attrNameLst>
                                      </p:cBhvr>
                                      <p:to>
                                        <p:strVal val="visible"/>
                                      </p:to>
                                    </p:set>
                                    <p:animEffect transition="in" filter="wipe(down)">
                                      <p:cBhvr>
                                        <p:cTn id="10" dur="500"/>
                                        <p:tgtEl>
                                          <p:spTgt spid="7373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3732">
                                            <p:txEl>
                                              <p:pRg st="0" end="0"/>
                                            </p:txEl>
                                          </p:spTgt>
                                        </p:tgtEl>
                                        <p:attrNameLst>
                                          <p:attrName>style.visibility</p:attrName>
                                        </p:attrNameLst>
                                      </p:cBhvr>
                                      <p:to>
                                        <p:strVal val="visible"/>
                                      </p:to>
                                    </p:set>
                                    <p:animEffect transition="in" filter="wipe(down)">
                                      <p:cBhvr>
                                        <p:cTn id="15" dur="500"/>
                                        <p:tgtEl>
                                          <p:spTgt spid="73732">
                                            <p:txEl>
                                              <p:pRg st="0" end="0"/>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3732">
                                            <p:txEl>
                                              <p:pRg st="1" end="1"/>
                                            </p:txEl>
                                          </p:spTgt>
                                        </p:tgtEl>
                                        <p:attrNameLst>
                                          <p:attrName>style.visibility</p:attrName>
                                        </p:attrNameLst>
                                      </p:cBhvr>
                                      <p:to>
                                        <p:strVal val="visible"/>
                                      </p:to>
                                    </p:set>
                                    <p:animEffect transition="in" filter="wipe(down)">
                                      <p:cBhvr>
                                        <p:cTn id="18" dur="500"/>
                                        <p:tgtEl>
                                          <p:spTgt spid="7373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3733">
                                            <p:txEl>
                                              <p:pRg st="0" end="0"/>
                                            </p:txEl>
                                          </p:spTgt>
                                        </p:tgtEl>
                                        <p:attrNameLst>
                                          <p:attrName>style.visibility</p:attrName>
                                        </p:attrNameLst>
                                      </p:cBhvr>
                                      <p:to>
                                        <p:strVal val="visible"/>
                                      </p:to>
                                    </p:set>
                                    <p:animEffect transition="in" filter="wipe(down)">
                                      <p:cBhvr>
                                        <p:cTn id="23" dur="500"/>
                                        <p:tgtEl>
                                          <p:spTgt spid="73733">
                                            <p:txEl>
                                              <p:pRg st="0" end="0"/>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73733">
                                            <p:txEl>
                                              <p:pRg st="1" end="1"/>
                                            </p:txEl>
                                          </p:spTgt>
                                        </p:tgtEl>
                                        <p:attrNameLst>
                                          <p:attrName>style.visibility</p:attrName>
                                        </p:attrNameLst>
                                      </p:cBhvr>
                                      <p:to>
                                        <p:strVal val="visible"/>
                                      </p:to>
                                    </p:set>
                                    <p:animEffect transition="in" filter="wipe(down)">
                                      <p:cBhvr>
                                        <p:cTn id="26" dur="500"/>
                                        <p:tgtEl>
                                          <p:spTgt spid="73733">
                                            <p:txEl>
                                              <p:pRg st="1" end="1"/>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73733">
                                            <p:txEl>
                                              <p:pRg st="2" end="2"/>
                                            </p:txEl>
                                          </p:spTgt>
                                        </p:tgtEl>
                                        <p:attrNameLst>
                                          <p:attrName>style.visibility</p:attrName>
                                        </p:attrNameLst>
                                      </p:cBhvr>
                                      <p:to>
                                        <p:strVal val="visible"/>
                                      </p:to>
                                    </p:set>
                                    <p:animEffect transition="in" filter="wipe(down)">
                                      <p:cBhvr>
                                        <p:cTn id="29" dur="500"/>
                                        <p:tgtEl>
                                          <p:spTgt spid="737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allAtOnce"/>
      <p:bldP spid="73732" grpId="0" build="allAtOnce"/>
      <p:bldP spid="73733" grpId="0" build="allAtOnce"/>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5" name="组合 52"/>
          <p:cNvGrpSpPr/>
          <p:nvPr/>
        </p:nvGrpSpPr>
        <p:grpSpPr>
          <a:xfrm>
            <a:off x="692150" y="1666875"/>
            <a:ext cx="7980363" cy="2611438"/>
            <a:chOff x="0" y="0"/>
            <a:chExt cx="7980363" cy="2611438"/>
          </a:xfrm>
        </p:grpSpPr>
        <p:sp>
          <p:nvSpPr>
            <p:cNvPr id="77826" name="Rectangle 27"/>
            <p:cNvSpPr/>
            <p:nvPr/>
          </p:nvSpPr>
          <p:spPr>
            <a:xfrm>
              <a:off x="644525" y="725488"/>
              <a:ext cx="1177925" cy="452437"/>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大学</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7827" name="Oval 12"/>
            <p:cNvSpPr/>
            <p:nvPr/>
          </p:nvSpPr>
          <p:spPr>
            <a:xfrm>
              <a:off x="0" y="0"/>
              <a:ext cx="890588" cy="40957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校名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7828" name="Oval 12"/>
            <p:cNvSpPr/>
            <p:nvPr/>
          </p:nvSpPr>
          <p:spPr>
            <a:xfrm>
              <a:off x="1023938" y="34925"/>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29" name="Oval 12"/>
            <p:cNvSpPr/>
            <p:nvPr/>
          </p:nvSpPr>
          <p:spPr>
            <a:xfrm>
              <a:off x="1989138" y="0"/>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30" name="Line 21"/>
            <p:cNvSpPr/>
            <p:nvPr/>
          </p:nvSpPr>
          <p:spPr>
            <a:xfrm>
              <a:off x="709613" y="361950"/>
              <a:ext cx="368300" cy="366713"/>
            </a:xfrm>
            <a:prstGeom prst="line">
              <a:avLst/>
            </a:prstGeom>
            <a:ln w="17463" cap="flat" cmpd="sng">
              <a:solidFill>
                <a:srgbClr val="000000"/>
              </a:solidFill>
              <a:prstDash val="solid"/>
              <a:round/>
              <a:headEnd type="none" w="med" len="med"/>
              <a:tailEnd type="none" w="med" len="med"/>
            </a:ln>
          </p:spPr>
        </p:sp>
        <p:sp>
          <p:nvSpPr>
            <p:cNvPr id="77831" name="Line 21"/>
            <p:cNvSpPr/>
            <p:nvPr/>
          </p:nvSpPr>
          <p:spPr>
            <a:xfrm flipH="1">
              <a:off x="1252538" y="441325"/>
              <a:ext cx="58737" cy="301625"/>
            </a:xfrm>
            <a:prstGeom prst="line">
              <a:avLst/>
            </a:prstGeom>
            <a:ln w="17463" cap="flat" cmpd="sng">
              <a:solidFill>
                <a:srgbClr val="000000"/>
              </a:solidFill>
              <a:prstDash val="solid"/>
              <a:round/>
              <a:headEnd type="none" w="med" len="med"/>
              <a:tailEnd type="none" w="med" len="med"/>
            </a:ln>
          </p:spPr>
        </p:sp>
        <p:sp>
          <p:nvSpPr>
            <p:cNvPr id="77832" name="Line 21"/>
            <p:cNvSpPr/>
            <p:nvPr/>
          </p:nvSpPr>
          <p:spPr>
            <a:xfrm flipH="1">
              <a:off x="1616075" y="384175"/>
              <a:ext cx="609600" cy="358775"/>
            </a:xfrm>
            <a:prstGeom prst="line">
              <a:avLst/>
            </a:prstGeom>
            <a:ln w="17463" cap="flat" cmpd="sng">
              <a:solidFill>
                <a:srgbClr val="000000"/>
              </a:solidFill>
              <a:prstDash val="solid"/>
              <a:round/>
              <a:headEnd type="none" w="med" len="med"/>
              <a:tailEnd type="none" w="med" len="med"/>
            </a:ln>
          </p:spPr>
        </p:sp>
        <p:sp>
          <p:nvSpPr>
            <p:cNvPr id="77833" name="Rectangle 27"/>
            <p:cNvSpPr/>
            <p:nvPr/>
          </p:nvSpPr>
          <p:spPr>
            <a:xfrm>
              <a:off x="3105150" y="1182688"/>
              <a:ext cx="1177925" cy="452437"/>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研究所</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7834" name="Oval 12"/>
            <p:cNvSpPr/>
            <p:nvPr/>
          </p:nvSpPr>
          <p:spPr>
            <a:xfrm>
              <a:off x="2460625" y="457200"/>
              <a:ext cx="890588" cy="40957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所名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7835" name="Oval 12"/>
            <p:cNvSpPr/>
            <p:nvPr/>
          </p:nvSpPr>
          <p:spPr>
            <a:xfrm>
              <a:off x="3484563" y="492125"/>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36" name="Oval 12"/>
            <p:cNvSpPr/>
            <p:nvPr/>
          </p:nvSpPr>
          <p:spPr>
            <a:xfrm>
              <a:off x="4449763" y="457200"/>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37" name="Line 21"/>
            <p:cNvSpPr/>
            <p:nvPr/>
          </p:nvSpPr>
          <p:spPr>
            <a:xfrm>
              <a:off x="3170238" y="819150"/>
              <a:ext cx="368300" cy="366713"/>
            </a:xfrm>
            <a:prstGeom prst="line">
              <a:avLst/>
            </a:prstGeom>
            <a:ln w="17463" cap="flat" cmpd="sng">
              <a:solidFill>
                <a:srgbClr val="000000"/>
              </a:solidFill>
              <a:prstDash val="solid"/>
              <a:round/>
              <a:headEnd type="none" w="med" len="med"/>
              <a:tailEnd type="none" w="med" len="med"/>
            </a:ln>
          </p:spPr>
        </p:sp>
        <p:sp>
          <p:nvSpPr>
            <p:cNvPr id="77838" name="Line 21"/>
            <p:cNvSpPr/>
            <p:nvPr/>
          </p:nvSpPr>
          <p:spPr>
            <a:xfrm flipH="1">
              <a:off x="3713163" y="898525"/>
              <a:ext cx="58737" cy="301625"/>
            </a:xfrm>
            <a:prstGeom prst="line">
              <a:avLst/>
            </a:prstGeom>
            <a:ln w="17463" cap="flat" cmpd="sng">
              <a:solidFill>
                <a:srgbClr val="000000"/>
              </a:solidFill>
              <a:prstDash val="solid"/>
              <a:round/>
              <a:headEnd type="none" w="med" len="med"/>
              <a:tailEnd type="none" w="med" len="med"/>
            </a:ln>
          </p:spPr>
        </p:sp>
        <p:sp>
          <p:nvSpPr>
            <p:cNvPr id="77839" name="Line 21"/>
            <p:cNvSpPr/>
            <p:nvPr/>
          </p:nvSpPr>
          <p:spPr>
            <a:xfrm flipH="1">
              <a:off x="4076700" y="841375"/>
              <a:ext cx="609600" cy="358775"/>
            </a:xfrm>
            <a:prstGeom prst="line">
              <a:avLst/>
            </a:prstGeom>
            <a:ln w="17463" cap="flat" cmpd="sng">
              <a:solidFill>
                <a:srgbClr val="000000"/>
              </a:solidFill>
              <a:prstDash val="solid"/>
              <a:round/>
              <a:headEnd type="none" w="med" len="med"/>
              <a:tailEnd type="none" w="med" len="med"/>
            </a:ln>
          </p:spPr>
        </p:sp>
        <p:sp>
          <p:nvSpPr>
            <p:cNvPr id="77840" name="Rectangle 27"/>
            <p:cNvSpPr/>
            <p:nvPr/>
          </p:nvSpPr>
          <p:spPr>
            <a:xfrm>
              <a:off x="5905500" y="731838"/>
              <a:ext cx="1177925" cy="452437"/>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公司</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7841" name="Oval 12"/>
            <p:cNvSpPr/>
            <p:nvPr/>
          </p:nvSpPr>
          <p:spPr>
            <a:xfrm>
              <a:off x="5260975" y="6350"/>
              <a:ext cx="890588" cy="40957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公司名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7842" name="Oval 12"/>
            <p:cNvSpPr/>
            <p:nvPr/>
          </p:nvSpPr>
          <p:spPr>
            <a:xfrm>
              <a:off x="6169025" y="41275"/>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43" name="Oval 12"/>
            <p:cNvSpPr/>
            <p:nvPr/>
          </p:nvSpPr>
          <p:spPr>
            <a:xfrm>
              <a:off x="7091363" y="6350"/>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44" name="Line 21"/>
            <p:cNvSpPr/>
            <p:nvPr/>
          </p:nvSpPr>
          <p:spPr>
            <a:xfrm>
              <a:off x="5970588" y="368300"/>
              <a:ext cx="368300" cy="366713"/>
            </a:xfrm>
            <a:prstGeom prst="line">
              <a:avLst/>
            </a:prstGeom>
            <a:ln w="17463" cap="flat" cmpd="sng">
              <a:solidFill>
                <a:srgbClr val="000000"/>
              </a:solidFill>
              <a:prstDash val="solid"/>
              <a:round/>
              <a:headEnd type="none" w="med" len="med"/>
              <a:tailEnd type="none" w="med" len="med"/>
            </a:ln>
          </p:spPr>
        </p:sp>
        <p:sp>
          <p:nvSpPr>
            <p:cNvPr id="77845" name="Line 21"/>
            <p:cNvSpPr/>
            <p:nvPr/>
          </p:nvSpPr>
          <p:spPr>
            <a:xfrm flipH="1">
              <a:off x="6513513" y="447675"/>
              <a:ext cx="58737" cy="301625"/>
            </a:xfrm>
            <a:prstGeom prst="line">
              <a:avLst/>
            </a:prstGeom>
            <a:ln w="17463" cap="flat" cmpd="sng">
              <a:solidFill>
                <a:srgbClr val="000000"/>
              </a:solidFill>
              <a:prstDash val="solid"/>
              <a:round/>
              <a:headEnd type="none" w="med" len="med"/>
              <a:tailEnd type="none" w="med" len="med"/>
            </a:ln>
          </p:spPr>
        </p:sp>
        <p:sp>
          <p:nvSpPr>
            <p:cNvPr id="77846" name="Line 21"/>
            <p:cNvSpPr/>
            <p:nvPr/>
          </p:nvSpPr>
          <p:spPr>
            <a:xfrm flipH="1">
              <a:off x="6877050" y="390525"/>
              <a:ext cx="609600" cy="358775"/>
            </a:xfrm>
            <a:prstGeom prst="line">
              <a:avLst/>
            </a:prstGeom>
            <a:ln w="17463" cap="flat" cmpd="sng">
              <a:solidFill>
                <a:srgbClr val="000000"/>
              </a:solidFill>
              <a:prstDash val="solid"/>
              <a:round/>
              <a:headEnd type="none" w="med" len="med"/>
              <a:tailEnd type="none" w="med" len="med"/>
            </a:ln>
          </p:spPr>
        </p:sp>
        <p:sp>
          <p:nvSpPr>
            <p:cNvPr id="77847" name="AutoShape 17"/>
            <p:cNvSpPr/>
            <p:nvPr/>
          </p:nvSpPr>
          <p:spPr>
            <a:xfrm>
              <a:off x="3060700" y="2001838"/>
              <a:ext cx="1254125"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rgbClr val="0000CC"/>
                  </a:solidFill>
                  <a:latin typeface="宋体" panose="02010600030101010101" pitchFamily="2" charset="-122"/>
                  <a:ea typeface="宋体" panose="02010600030101010101" pitchFamily="2" charset="-122"/>
                </a:rPr>
                <a:t>合作</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77848" name="Line 15"/>
            <p:cNvSpPr/>
            <p:nvPr/>
          </p:nvSpPr>
          <p:spPr>
            <a:xfrm flipH="1">
              <a:off x="4314825" y="1206500"/>
              <a:ext cx="1741488" cy="1103313"/>
            </a:xfrm>
            <a:prstGeom prst="line">
              <a:avLst/>
            </a:prstGeom>
            <a:ln w="25400" cap="flat" cmpd="sng">
              <a:solidFill>
                <a:srgbClr val="000000"/>
              </a:solidFill>
              <a:prstDash val="solid"/>
              <a:round/>
              <a:headEnd type="none" w="med" len="med"/>
              <a:tailEnd type="none" w="med" len="med"/>
            </a:ln>
          </p:spPr>
        </p:sp>
        <p:sp>
          <p:nvSpPr>
            <p:cNvPr id="77849" name="Line 15"/>
            <p:cNvSpPr/>
            <p:nvPr/>
          </p:nvSpPr>
          <p:spPr>
            <a:xfrm>
              <a:off x="1630363" y="1177925"/>
              <a:ext cx="1465262" cy="1117600"/>
            </a:xfrm>
            <a:prstGeom prst="line">
              <a:avLst/>
            </a:prstGeom>
            <a:ln w="25400" cap="flat" cmpd="sng">
              <a:solidFill>
                <a:srgbClr val="000000"/>
              </a:solidFill>
              <a:prstDash val="solid"/>
              <a:round/>
              <a:headEnd type="none" w="med" len="med"/>
              <a:tailEnd type="none" w="med" len="med"/>
            </a:ln>
          </p:spPr>
        </p:sp>
        <p:sp>
          <p:nvSpPr>
            <p:cNvPr id="77850" name="Line 15"/>
            <p:cNvSpPr/>
            <p:nvPr/>
          </p:nvSpPr>
          <p:spPr>
            <a:xfrm flipH="1">
              <a:off x="3719513" y="1612900"/>
              <a:ext cx="0" cy="431800"/>
            </a:xfrm>
            <a:prstGeom prst="line">
              <a:avLst/>
            </a:prstGeom>
            <a:ln w="25400" cap="flat" cmpd="sng">
              <a:solidFill>
                <a:srgbClr val="000000"/>
              </a:solidFill>
              <a:prstDash val="solid"/>
              <a:round/>
              <a:headEnd type="none" w="med" len="med"/>
              <a:tailEnd type="none" w="med" len="med"/>
            </a:ln>
          </p:spPr>
        </p:sp>
        <p:sp>
          <p:nvSpPr>
            <p:cNvPr id="77851" name="Text Box 43"/>
            <p:cNvSpPr txBox="1"/>
            <p:nvPr/>
          </p:nvSpPr>
          <p:spPr>
            <a:xfrm>
              <a:off x="2697163" y="1460500"/>
              <a:ext cx="406400" cy="517525"/>
            </a:xfrm>
            <a:prstGeom prst="rect">
              <a:avLst/>
            </a:prstGeom>
            <a:noFill/>
            <a:ln w="9525">
              <a:noFill/>
            </a:ln>
          </p:spPr>
          <p:txBody>
            <a:bodyPr anchor="t">
              <a:spAutoFit/>
            </a:bodyPr>
            <a:lstStyle/>
            <a:p>
              <a:pPr lvl="0" indent="0">
                <a:buNone/>
              </a:pPr>
              <a:r>
                <a:rPr lang="en-US" altLang="x-none" sz="2400" dirty="0">
                  <a:latin typeface="宋体" panose="02010600030101010101" pitchFamily="2" charset="-122"/>
                  <a:ea typeface="宋体" panose="02010600030101010101" pitchFamily="2" charset="-122"/>
                </a:rPr>
                <a:t>n</a:t>
              </a:r>
              <a:endParaRPr lang="de-DE" altLang="en-US" sz="2400" dirty="0">
                <a:latin typeface="宋体" panose="02010600030101010101" pitchFamily="2" charset="-122"/>
                <a:ea typeface="宋体" panose="02010600030101010101" pitchFamily="2" charset="-122"/>
              </a:endParaRPr>
            </a:p>
          </p:txBody>
        </p:sp>
        <p:sp>
          <p:nvSpPr>
            <p:cNvPr id="77852" name="矩形 30"/>
            <p:cNvSpPr/>
            <p:nvPr/>
          </p:nvSpPr>
          <p:spPr>
            <a:xfrm>
              <a:off x="3903663" y="1528763"/>
              <a:ext cx="339725" cy="590550"/>
            </a:xfrm>
            <a:prstGeom prst="rect">
              <a:avLst/>
            </a:prstGeom>
            <a:noFill/>
            <a:ln w="9525">
              <a:noFill/>
            </a:ln>
          </p:spPr>
          <p:txBody>
            <a:bodyPr wrap="none" anchor="t">
              <a:spAutoFit/>
            </a:bodyPr>
            <a:lstStyle/>
            <a:p>
              <a:pPr lvl="0" indent="0">
                <a:buNone/>
              </a:pPr>
              <a:r>
                <a:rPr lang="de-DE" altLang="en-US" sz="2400" dirty="0">
                  <a:latin typeface="宋体" panose="02010600030101010101" pitchFamily="2" charset="-122"/>
                  <a:ea typeface="宋体" panose="02010600030101010101" pitchFamily="2" charset="-122"/>
                </a:rPr>
                <a:t>m</a:t>
              </a:r>
              <a:endParaRPr lang="de-DE" altLang="en-US" sz="2400" dirty="0">
                <a:latin typeface="宋体" panose="02010600030101010101" pitchFamily="2" charset="-122"/>
                <a:ea typeface="宋体" panose="02010600030101010101" pitchFamily="2" charset="-122"/>
              </a:endParaRPr>
            </a:p>
          </p:txBody>
        </p:sp>
        <p:sp>
          <p:nvSpPr>
            <p:cNvPr id="77853" name="矩形 31"/>
            <p:cNvSpPr/>
            <p:nvPr/>
          </p:nvSpPr>
          <p:spPr>
            <a:xfrm>
              <a:off x="5064125" y="1601788"/>
              <a:ext cx="339725" cy="517525"/>
            </a:xfrm>
            <a:prstGeom prst="rect">
              <a:avLst/>
            </a:prstGeom>
            <a:noFill/>
            <a:ln w="9525">
              <a:noFill/>
            </a:ln>
          </p:spPr>
          <p:txBody>
            <a:bodyPr wrap="none" anchor="t">
              <a:spAutoFit/>
            </a:bodyPr>
            <a:lstStyle/>
            <a:p>
              <a:pPr lvl="0" indent="0">
                <a:buNone/>
              </a:pPr>
              <a:r>
                <a:rPr lang="en-US" altLang="x-none" sz="2400" dirty="0">
                  <a:latin typeface="宋体" panose="02010600030101010101" pitchFamily="2" charset="-122"/>
                  <a:ea typeface="宋体" panose="02010600030101010101" pitchFamily="2" charset="-122"/>
                </a:rPr>
                <a:t>p</a:t>
              </a:r>
              <a:endParaRPr lang="de-DE" altLang="en-US" sz="2400" dirty="0">
                <a:latin typeface="宋体" panose="02010600030101010101" pitchFamily="2" charset="-122"/>
                <a:ea typeface="宋体" panose="02010600030101010101" pitchFamily="2" charset="-122"/>
              </a:endParaRPr>
            </a:p>
          </p:txBody>
        </p:sp>
      </p:grpSp>
      <p:grpSp>
        <p:nvGrpSpPr>
          <p:cNvPr id="74783" name="组合 55"/>
          <p:cNvGrpSpPr/>
          <p:nvPr/>
        </p:nvGrpSpPr>
        <p:grpSpPr>
          <a:xfrm>
            <a:off x="3759200" y="4087813"/>
            <a:ext cx="1255713" cy="1520825"/>
            <a:chOff x="0" y="0"/>
            <a:chExt cx="1255713" cy="1520820"/>
          </a:xfrm>
        </p:grpSpPr>
        <p:sp>
          <p:nvSpPr>
            <p:cNvPr id="77855" name="AutoShape 17"/>
            <p:cNvSpPr/>
            <p:nvPr/>
          </p:nvSpPr>
          <p:spPr>
            <a:xfrm>
              <a:off x="0" y="531812"/>
              <a:ext cx="1255713"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rgbClr val="0000CC"/>
                  </a:solidFill>
                  <a:latin typeface="宋体" panose="02010600030101010101" pitchFamily="2" charset="-122"/>
                  <a:ea typeface="宋体" panose="02010600030101010101" pitchFamily="2" charset="-122"/>
                </a:rPr>
                <a:t>承担</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77856" name="矩形 35"/>
            <p:cNvSpPr/>
            <p:nvPr/>
          </p:nvSpPr>
          <p:spPr>
            <a:xfrm>
              <a:off x="842963" y="0"/>
              <a:ext cx="341312" cy="519112"/>
            </a:xfrm>
            <a:prstGeom prst="rect">
              <a:avLst/>
            </a:prstGeom>
            <a:noFill/>
            <a:ln w="9525">
              <a:noFill/>
            </a:ln>
          </p:spPr>
          <p:txBody>
            <a:bodyPr wrap="none" anchor="t">
              <a:spAutoFit/>
            </a:bodyPr>
            <a:lstStyle/>
            <a:p>
              <a:pPr lvl="0" indent="0">
                <a:buNone/>
              </a:pPr>
              <a:r>
                <a:rPr lang="de-DE" altLang="en-US" sz="2400" dirty="0">
                  <a:latin typeface="宋体" panose="02010600030101010101" pitchFamily="2" charset="-122"/>
                  <a:ea typeface="宋体" panose="02010600030101010101" pitchFamily="2" charset="-122"/>
                </a:rPr>
                <a:t>n</a:t>
              </a:r>
              <a:endParaRPr lang="de-DE" altLang="en-US" sz="2400" dirty="0">
                <a:latin typeface="宋体" panose="02010600030101010101" pitchFamily="2" charset="-122"/>
                <a:ea typeface="宋体" panose="02010600030101010101" pitchFamily="2" charset="-122"/>
              </a:endParaRPr>
            </a:p>
          </p:txBody>
        </p:sp>
        <p:sp>
          <p:nvSpPr>
            <p:cNvPr id="77857" name="Line 15"/>
            <p:cNvSpPr/>
            <p:nvPr/>
          </p:nvSpPr>
          <p:spPr>
            <a:xfrm>
              <a:off x="658813" y="165100"/>
              <a:ext cx="0" cy="360362"/>
            </a:xfrm>
            <a:prstGeom prst="line">
              <a:avLst/>
            </a:prstGeom>
            <a:ln w="25400" cap="flat" cmpd="sng">
              <a:solidFill>
                <a:srgbClr val="000000"/>
              </a:solidFill>
              <a:prstDash val="solid"/>
              <a:round/>
              <a:headEnd type="none" w="med" len="med"/>
              <a:tailEnd type="none" w="med" len="med"/>
            </a:ln>
          </p:spPr>
        </p:sp>
        <p:sp>
          <p:nvSpPr>
            <p:cNvPr id="77858" name="矩形 34"/>
            <p:cNvSpPr/>
            <p:nvPr/>
          </p:nvSpPr>
          <p:spPr>
            <a:xfrm>
              <a:off x="755877" y="930270"/>
              <a:ext cx="341312" cy="590550"/>
            </a:xfrm>
            <a:prstGeom prst="rect">
              <a:avLst/>
            </a:prstGeom>
            <a:noFill/>
            <a:ln w="9525">
              <a:noFill/>
            </a:ln>
          </p:spPr>
          <p:txBody>
            <a:bodyPr wrap="none" anchor="t">
              <a:spAutoFit/>
            </a:bodyPr>
            <a:lstStyle/>
            <a:p>
              <a:pPr lvl="0" indent="0">
                <a:buNone/>
              </a:pPr>
              <a:r>
                <a:rPr lang="de-DE" altLang="en-US" sz="2400" dirty="0">
                  <a:latin typeface="宋体" panose="02010600030101010101" pitchFamily="2" charset="-122"/>
                  <a:ea typeface="宋体" panose="02010600030101010101" pitchFamily="2" charset="-122"/>
                </a:rPr>
                <a:t>m</a:t>
              </a:r>
              <a:endParaRPr lang="de-DE" altLang="en-US" sz="2400" dirty="0">
                <a:latin typeface="宋体" panose="02010600030101010101" pitchFamily="2" charset="-122"/>
                <a:ea typeface="宋体" panose="02010600030101010101" pitchFamily="2" charset="-122"/>
              </a:endParaRPr>
            </a:p>
          </p:txBody>
        </p:sp>
        <p:sp>
          <p:nvSpPr>
            <p:cNvPr id="77859" name="Line 15"/>
            <p:cNvSpPr/>
            <p:nvPr/>
          </p:nvSpPr>
          <p:spPr>
            <a:xfrm flipH="1">
              <a:off x="664483" y="1122345"/>
              <a:ext cx="0" cy="396875"/>
            </a:xfrm>
            <a:prstGeom prst="line">
              <a:avLst/>
            </a:prstGeom>
            <a:ln w="25400" cap="flat" cmpd="sng">
              <a:solidFill>
                <a:srgbClr val="000000"/>
              </a:solidFill>
              <a:prstDash val="solid"/>
              <a:round/>
              <a:headEnd type="none" w="med" len="med"/>
              <a:tailEnd type="none" w="med" len="med"/>
            </a:ln>
          </p:spPr>
        </p:sp>
      </p:grpSp>
      <p:grpSp>
        <p:nvGrpSpPr>
          <p:cNvPr id="77860" name="组合 54"/>
          <p:cNvGrpSpPr/>
          <p:nvPr/>
        </p:nvGrpSpPr>
        <p:grpSpPr>
          <a:xfrm>
            <a:off x="1331913" y="4983163"/>
            <a:ext cx="6411912" cy="1228725"/>
            <a:chOff x="0" y="0"/>
            <a:chExt cx="6411912" cy="1228725"/>
          </a:xfrm>
        </p:grpSpPr>
        <p:sp>
          <p:nvSpPr>
            <p:cNvPr id="77861" name="Rectangle 27"/>
            <p:cNvSpPr/>
            <p:nvPr/>
          </p:nvSpPr>
          <p:spPr>
            <a:xfrm>
              <a:off x="2116137" y="593725"/>
              <a:ext cx="1719263" cy="452437"/>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科研项目</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7862" name="Oval 12"/>
            <p:cNvSpPr/>
            <p:nvPr/>
          </p:nvSpPr>
          <p:spPr>
            <a:xfrm>
              <a:off x="746125" y="0"/>
              <a:ext cx="1071562" cy="40957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项目编号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7863" name="Oval 12"/>
            <p:cNvSpPr/>
            <p:nvPr/>
          </p:nvSpPr>
          <p:spPr>
            <a:xfrm>
              <a:off x="0" y="411162"/>
              <a:ext cx="1033462"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项目名称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4" name="Oval 12"/>
            <p:cNvSpPr/>
            <p:nvPr/>
          </p:nvSpPr>
          <p:spPr>
            <a:xfrm>
              <a:off x="762000" y="796925"/>
              <a:ext cx="1033462"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承担单位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5" name="Oval 12"/>
            <p:cNvSpPr/>
            <p:nvPr/>
          </p:nvSpPr>
          <p:spPr>
            <a:xfrm>
              <a:off x="4338637" y="106362"/>
              <a:ext cx="103505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负责人</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6" name="Oval 12"/>
            <p:cNvSpPr/>
            <p:nvPr/>
          </p:nvSpPr>
          <p:spPr>
            <a:xfrm>
              <a:off x="5376862" y="376237"/>
              <a:ext cx="103505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启始日期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7" name="Oval 12"/>
            <p:cNvSpPr/>
            <p:nvPr/>
          </p:nvSpPr>
          <p:spPr>
            <a:xfrm>
              <a:off x="4354512" y="760412"/>
              <a:ext cx="1033463"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结束日期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8" name="Line 21"/>
            <p:cNvSpPr/>
            <p:nvPr/>
          </p:nvSpPr>
          <p:spPr>
            <a:xfrm>
              <a:off x="1701800" y="358775"/>
              <a:ext cx="449262" cy="246062"/>
            </a:xfrm>
            <a:prstGeom prst="line">
              <a:avLst/>
            </a:prstGeom>
            <a:ln w="17463" cap="flat" cmpd="sng">
              <a:solidFill>
                <a:srgbClr val="000000"/>
              </a:solidFill>
              <a:prstDash val="solid"/>
              <a:round/>
              <a:headEnd type="none" w="med" len="med"/>
              <a:tailEnd type="none" w="med" len="med"/>
            </a:ln>
          </p:spPr>
        </p:sp>
        <p:sp>
          <p:nvSpPr>
            <p:cNvPr id="77869" name="Line 21"/>
            <p:cNvSpPr/>
            <p:nvPr/>
          </p:nvSpPr>
          <p:spPr>
            <a:xfrm>
              <a:off x="1012825" y="596900"/>
              <a:ext cx="1109662" cy="182562"/>
            </a:xfrm>
            <a:prstGeom prst="line">
              <a:avLst/>
            </a:prstGeom>
            <a:ln w="17463" cap="flat" cmpd="sng">
              <a:solidFill>
                <a:srgbClr val="000000"/>
              </a:solidFill>
              <a:prstDash val="solid"/>
              <a:round/>
              <a:headEnd type="none" w="med" len="med"/>
              <a:tailEnd type="none" w="med" len="med"/>
            </a:ln>
          </p:spPr>
        </p:sp>
        <p:sp>
          <p:nvSpPr>
            <p:cNvPr id="77870" name="Line 21"/>
            <p:cNvSpPr/>
            <p:nvPr/>
          </p:nvSpPr>
          <p:spPr>
            <a:xfrm flipV="1">
              <a:off x="1795462" y="928687"/>
              <a:ext cx="327025" cy="46038"/>
            </a:xfrm>
            <a:prstGeom prst="line">
              <a:avLst/>
            </a:prstGeom>
            <a:ln w="17463" cap="flat" cmpd="sng">
              <a:solidFill>
                <a:srgbClr val="000000"/>
              </a:solidFill>
              <a:prstDash val="solid"/>
              <a:round/>
              <a:headEnd type="none" w="med" len="med"/>
              <a:tailEnd type="none" w="med" len="med"/>
            </a:ln>
          </p:spPr>
        </p:sp>
        <p:sp>
          <p:nvSpPr>
            <p:cNvPr id="77871" name="Line 21"/>
            <p:cNvSpPr/>
            <p:nvPr/>
          </p:nvSpPr>
          <p:spPr>
            <a:xfrm>
              <a:off x="3841750" y="873125"/>
              <a:ext cx="530225" cy="138112"/>
            </a:xfrm>
            <a:prstGeom prst="line">
              <a:avLst/>
            </a:prstGeom>
            <a:ln w="17463" cap="flat" cmpd="sng">
              <a:solidFill>
                <a:srgbClr val="000000"/>
              </a:solidFill>
              <a:prstDash val="solid"/>
              <a:round/>
              <a:headEnd type="none" w="med" len="med"/>
              <a:tailEnd type="none" w="med" len="med"/>
            </a:ln>
          </p:spPr>
        </p:sp>
        <p:sp>
          <p:nvSpPr>
            <p:cNvPr id="77872" name="Line 21"/>
            <p:cNvSpPr/>
            <p:nvPr/>
          </p:nvSpPr>
          <p:spPr>
            <a:xfrm flipV="1">
              <a:off x="3841750" y="387350"/>
              <a:ext cx="530225" cy="282575"/>
            </a:xfrm>
            <a:prstGeom prst="line">
              <a:avLst/>
            </a:prstGeom>
            <a:ln w="17463" cap="flat" cmpd="sng">
              <a:solidFill>
                <a:srgbClr val="000000"/>
              </a:solidFill>
              <a:prstDash val="solid"/>
              <a:round/>
              <a:headEnd type="none" w="med" len="med"/>
              <a:tailEnd type="none" w="med" len="med"/>
            </a:ln>
          </p:spPr>
        </p:sp>
        <p:sp>
          <p:nvSpPr>
            <p:cNvPr id="77873" name="Line 21"/>
            <p:cNvSpPr/>
            <p:nvPr/>
          </p:nvSpPr>
          <p:spPr>
            <a:xfrm flipV="1">
              <a:off x="3841750" y="677862"/>
              <a:ext cx="1560512" cy="65088"/>
            </a:xfrm>
            <a:prstGeom prst="line">
              <a:avLst/>
            </a:prstGeom>
            <a:ln w="17463" cap="flat" cmpd="sng">
              <a:solidFill>
                <a:srgbClr val="000000"/>
              </a:solidFill>
              <a:prstDash val="solid"/>
              <a:round/>
              <a:headEnd type="none" w="med" len="med"/>
              <a:tailEnd type="none" w="med" len="med"/>
            </a:ln>
          </p:spPr>
        </p:sp>
      </p:grpSp>
      <p:sp>
        <p:nvSpPr>
          <p:cNvPr id="74803" name="矩形 50"/>
          <p:cNvSpPr/>
          <p:nvPr/>
        </p:nvSpPr>
        <p:spPr>
          <a:xfrm>
            <a:off x="449263" y="1495425"/>
            <a:ext cx="8353425" cy="2879725"/>
          </a:xfrm>
          <a:prstGeom prst="rect">
            <a:avLst/>
          </a:prstGeom>
          <a:noFill/>
          <a:ln w="25400" cap="flat" cmpd="sng">
            <a:solidFill>
              <a:srgbClr val="0033CC"/>
            </a:solidFill>
            <a:prstDash val="dash"/>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77875" name="矩形 56"/>
          <p:cNvSpPr/>
          <p:nvPr/>
        </p:nvSpPr>
        <p:spPr>
          <a:xfrm>
            <a:off x="571500" y="838200"/>
            <a:ext cx="6627813" cy="523875"/>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聚集</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 name="Rectangle 2"/>
          <p:cNvSpPr/>
          <p:nvPr/>
        </p:nvSpPr>
        <p:spPr>
          <a:xfrm>
            <a:off x="457200" y="8445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803"/>
                                        </p:tgtEl>
                                        <p:attrNameLst>
                                          <p:attrName>style.visibility</p:attrName>
                                        </p:attrNameLst>
                                      </p:cBhvr>
                                      <p:to>
                                        <p:strVal val="visible"/>
                                      </p:to>
                                    </p:set>
                                    <p:anim calcmode="lin" valueType="num">
                                      <p:cBhvr additive="base">
                                        <p:cTn id="7" dur="500" fill="hold"/>
                                        <p:tgtEl>
                                          <p:spTgt spid="74803"/>
                                        </p:tgtEl>
                                        <p:attrNameLst>
                                          <p:attrName>ppt_x</p:attrName>
                                        </p:attrNameLst>
                                      </p:cBhvr>
                                      <p:tavLst>
                                        <p:tav tm="0">
                                          <p:val>
                                            <p:strVal val="#ppt_x"/>
                                          </p:val>
                                        </p:tav>
                                        <p:tav tm="100000">
                                          <p:val>
                                            <p:strVal val="#ppt_x"/>
                                          </p:val>
                                        </p:tav>
                                      </p:tavLst>
                                    </p:anim>
                                    <p:anim calcmode="lin" valueType="num">
                                      <p:cBhvr additive="base">
                                        <p:cTn id="8" dur="500" fill="hold"/>
                                        <p:tgtEl>
                                          <p:spTgt spid="7480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783"/>
                                        </p:tgtEl>
                                        <p:attrNameLst>
                                          <p:attrName>style.visibility</p:attrName>
                                        </p:attrNameLst>
                                      </p:cBhvr>
                                      <p:to>
                                        <p:strVal val="visible"/>
                                      </p:to>
                                    </p:set>
                                    <p:anim calcmode="lin" valueType="num">
                                      <p:cBhvr additive="base">
                                        <p:cTn id="13" dur="500" fill="hold"/>
                                        <p:tgtEl>
                                          <p:spTgt spid="74783"/>
                                        </p:tgtEl>
                                        <p:attrNameLst>
                                          <p:attrName>ppt_x</p:attrName>
                                        </p:attrNameLst>
                                      </p:cBhvr>
                                      <p:tavLst>
                                        <p:tav tm="0">
                                          <p:val>
                                            <p:strVal val="#ppt_x"/>
                                          </p:val>
                                        </p:tav>
                                        <p:tav tm="100000">
                                          <p:val>
                                            <p:strVal val="#ppt_x"/>
                                          </p:val>
                                        </p:tav>
                                      </p:tavLst>
                                    </p:anim>
                                    <p:anim calcmode="lin" valueType="num">
                                      <p:cBhvr additive="base">
                                        <p:cTn id="14" dur="500" fill="hold"/>
                                        <p:tgtEl>
                                          <p:spTgt spid="747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0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78850" name="Text Box 3"/>
          <p:cNvSpPr txBox="1"/>
          <p:nvPr/>
        </p:nvSpPr>
        <p:spPr>
          <a:xfrm>
            <a:off x="744538" y="1536700"/>
            <a:ext cx="7094537" cy="3513138"/>
          </a:xfrm>
          <a:prstGeom prst="rect">
            <a:avLst/>
          </a:prstGeom>
          <a:noFill/>
          <a:ln w="9525">
            <a:noFill/>
          </a:ln>
        </p:spPr>
        <p:txBody>
          <a:bodyPr anchor="t">
            <a:spAutoFit/>
          </a:bodyPr>
          <a:lstStyle/>
          <a:p>
            <a:pPr lvl="0" indent="0">
              <a:spcBef>
                <a:spcPct val="50000"/>
              </a:spcBef>
              <a:buNone/>
            </a:pPr>
            <a:r>
              <a:rPr lang="zh-CN" altLang="en-US" sz="2800" dirty="0">
                <a:latin typeface="华文楷体" panose="02010600040101010101" pitchFamily="2" charset="-122"/>
                <a:ea typeface="华文楷体" panose="02010600040101010101" pitchFamily="2" charset="-122"/>
              </a:rPr>
              <a:t>利用</a:t>
            </a:r>
            <a:r>
              <a:rPr lang="en-US" altLang="x-none" sz="2800" dirty="0">
                <a:latin typeface="华文楷体" panose="02010600040101010101" pitchFamily="2" charset="-122"/>
                <a:ea typeface="华文楷体" panose="02010600040101010101" pitchFamily="2" charset="-122"/>
              </a:rPr>
              <a:t>ER</a:t>
            </a:r>
            <a:r>
              <a:rPr lang="zh-CN" altLang="en-US" sz="2800" dirty="0">
                <a:latin typeface="华文楷体" panose="02010600040101010101" pitchFamily="2" charset="-122"/>
                <a:ea typeface="华文楷体" panose="02010600040101010101" pitchFamily="2" charset="-122"/>
              </a:rPr>
              <a:t>图的概念</a:t>
            </a:r>
            <a:r>
              <a:rPr lang="en-US" altLang="x-none" sz="2800" dirty="0">
                <a:latin typeface="华文楷体" panose="02010600040101010101" pitchFamily="2" charset="-122"/>
                <a:ea typeface="华文楷体" panose="02010600040101010101" pitchFamily="2" charset="-122"/>
              </a:rPr>
              <a:t>DB</a:t>
            </a:r>
            <a:r>
              <a:rPr lang="zh-CN" altLang="en-US" sz="2800" dirty="0">
                <a:latin typeface="华文楷体" panose="02010600040101010101" pitchFamily="2" charset="-122"/>
                <a:ea typeface="华文楷体" panose="02010600040101010101" pitchFamily="2" charset="-122"/>
              </a:rPr>
              <a:t>设计，关键是确定</a:t>
            </a:r>
            <a:r>
              <a:rPr lang="en-US" altLang="x-none" sz="2800" dirty="0">
                <a:latin typeface="华文楷体" panose="02010600040101010101" pitchFamily="2" charset="-122"/>
                <a:ea typeface="华文楷体" panose="02010600040101010101" pitchFamily="2" charset="-122"/>
              </a:rPr>
              <a:t>:</a:t>
            </a:r>
            <a:endParaRPr lang="en-US" altLang="x-none" sz="2800" dirty="0">
              <a:latin typeface="华文楷体" panose="02010600040101010101" pitchFamily="2" charset="-122"/>
              <a:ea typeface="华文楷体" panose="02010600040101010101" pitchFamily="2" charset="-122"/>
            </a:endParaRPr>
          </a:p>
          <a:p>
            <a:pPr lvl="0" indent="0">
              <a:lnSpc>
                <a:spcPct val="120000"/>
              </a:lnSpc>
              <a:spcBef>
                <a:spcPts val="600"/>
              </a:spcBef>
              <a:buNone/>
            </a:pPr>
            <a:r>
              <a:rPr lang="zh-CN" altLang="en-US" sz="24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）一个概念是实体还是实体的属性；</a:t>
            </a:r>
            <a:endParaRPr lang="en-US" altLang="x-none" sz="2400" dirty="0">
              <a:latin typeface="华文楷体" panose="02010600040101010101" pitchFamily="2" charset="-122"/>
              <a:ea typeface="华文楷体" panose="02010600040101010101" pitchFamily="2" charset="-122"/>
            </a:endParaRPr>
          </a:p>
          <a:p>
            <a:pPr lvl="0" indent="0">
              <a:lnSpc>
                <a:spcPct val="120000"/>
              </a:lnSpc>
              <a:spcBef>
                <a:spcPts val="600"/>
              </a:spcBef>
              <a:buNone/>
            </a:pPr>
            <a:r>
              <a:rPr lang="zh-CN" altLang="en-US" sz="24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）一个概念是实体的属性还是联系的属性；</a:t>
            </a:r>
            <a:endParaRPr lang="en-US" altLang="x-none" sz="2400" dirty="0">
              <a:latin typeface="华文楷体" panose="02010600040101010101" pitchFamily="2" charset="-122"/>
              <a:ea typeface="华文楷体" panose="02010600040101010101" pitchFamily="2" charset="-122"/>
            </a:endParaRPr>
          </a:p>
          <a:p>
            <a:pPr lvl="0" indent="0">
              <a:lnSpc>
                <a:spcPct val="120000"/>
              </a:lnSpc>
              <a:spcBef>
                <a:spcPts val="600"/>
              </a:spcBef>
              <a:buNone/>
            </a:pPr>
            <a:r>
              <a:rPr lang="zh-CN" altLang="en-US" sz="24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）是用二元联系，三元联系，还是多元联系。</a:t>
            </a:r>
            <a:endParaRPr lang="en-US" altLang="x-none" sz="2400" dirty="0">
              <a:latin typeface="华文楷体" panose="02010600040101010101" pitchFamily="2" charset="-122"/>
              <a:ea typeface="华文楷体" panose="02010600040101010101" pitchFamily="2" charset="-122"/>
            </a:endParaRPr>
          </a:p>
          <a:p>
            <a:pPr lvl="0" indent="0">
              <a:lnSpc>
                <a:spcPct val="120000"/>
              </a:lnSpc>
              <a:spcBef>
                <a:spcPts val="600"/>
              </a:spcBef>
              <a:buNone/>
            </a:pPr>
            <a:r>
              <a:rPr lang="zh-CN" altLang="en-US" sz="24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）是否有弱实体需要考虑。</a:t>
            </a:r>
            <a:endParaRPr lang="zh-CN" altLang="en-US" sz="2400" dirty="0">
              <a:latin typeface="华文楷体" panose="02010600040101010101" pitchFamily="2" charset="-122"/>
              <a:ea typeface="华文楷体" panose="02010600040101010101" pitchFamily="2" charset="-122"/>
            </a:endParaRPr>
          </a:p>
          <a:p>
            <a:pPr lvl="0" indent="0">
              <a:spcBef>
                <a:spcPct val="50000"/>
              </a:spcBef>
            </a:pPr>
            <a:endParaRPr lang="en-US" altLang="x-none" sz="2400" dirty="0">
              <a:solidFill>
                <a:srgbClr val="0000CC"/>
              </a:solidFill>
              <a:latin typeface="华文楷体" panose="02010600040101010101" pitchFamily="2" charset="-122"/>
              <a:ea typeface="华文楷体" panose="02010600040101010101" pitchFamily="2" charset="-122"/>
            </a:endParaRPr>
          </a:p>
        </p:txBody>
      </p:sp>
      <p:sp>
        <p:nvSpPr>
          <p:cNvPr id="78851" name="矩形 3"/>
          <p:cNvSpPr/>
          <p:nvPr/>
        </p:nvSpPr>
        <p:spPr>
          <a:xfrm>
            <a:off x="498475" y="912813"/>
            <a:ext cx="6821488" cy="523875"/>
          </a:xfrm>
          <a:prstGeom prst="rect">
            <a:avLst/>
          </a:prstGeom>
          <a:noFill/>
          <a:ln w="9525">
            <a:noFill/>
          </a:ln>
        </p:spPr>
        <p:txBody>
          <a:bodyPr wrap="none" anchor="t">
            <a:spAutoFit/>
          </a:bodyPr>
          <a:lstStyle/>
          <a:p>
            <a:pPr lvl="0" indent="0">
              <a:lnSpc>
                <a:spcPct val="100000"/>
              </a:lnSpc>
              <a:buFont typeface="Wingdings" panose="05000000000000000000" pitchFamily="2" charset="2"/>
              <a:buChar char="p"/>
            </a:pPr>
            <a:r>
              <a:rPr lang="zh-CN" altLang="en-US" sz="2800" dirty="0">
                <a:solidFill>
                  <a:srgbClr val="0033CC"/>
                </a:solidFill>
                <a:latin typeface="黑体" panose="02010609060101010101" pitchFamily="1" charset="-122"/>
                <a:ea typeface="黑体" panose="02010609060101010101" pitchFamily="1" charset="-122"/>
              </a:rPr>
              <a:t> 利用</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图进行概念</a:t>
            </a:r>
            <a:r>
              <a:rPr lang="en-US" altLang="x-none" sz="2800" dirty="0">
                <a:solidFill>
                  <a:srgbClr val="0033CC"/>
                </a:solidFill>
                <a:latin typeface="黑体" panose="02010609060101010101" pitchFamily="1" charset="-122"/>
                <a:ea typeface="黑体" panose="02010609060101010101" pitchFamily="1" charset="-122"/>
              </a:rPr>
              <a:t>DB</a:t>
            </a:r>
            <a:r>
              <a:rPr lang="zh-CN" altLang="en-US" sz="2800" dirty="0">
                <a:solidFill>
                  <a:srgbClr val="0033CC"/>
                </a:solidFill>
                <a:latin typeface="黑体" panose="02010609060101010101" pitchFamily="1" charset="-122"/>
                <a:ea typeface="黑体" panose="02010609060101010101" pitchFamily="1" charset="-122"/>
              </a:rPr>
              <a:t>设计须考虑的问题</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3" name="文本框 2"/>
          <p:cNvSpPr txBox="1"/>
          <p:nvPr/>
        </p:nvSpPr>
        <p:spPr>
          <a:xfrm>
            <a:off x="625475" y="4475163"/>
            <a:ext cx="7972425" cy="1296988"/>
          </a:xfrm>
          <a:prstGeom prst="rect">
            <a:avLst/>
          </a:prstGeom>
          <a:solidFill>
            <a:schemeClr val="accent1">
              <a:lumMod val="90000"/>
            </a:schemeClr>
          </a:solidFill>
        </p:spPr>
        <p:txBody>
          <a:bodyPr wrap="square" rtlCol="0" anchor="t">
            <a:spAutoFit/>
          </a:bodyPr>
          <a:lstStyle/>
          <a:p>
            <a:pPr marL="285750" indent="-285750" fontAlgn="base">
              <a:lnSpc>
                <a:spcPct val="120000"/>
              </a:lnSpc>
              <a:spcBef>
                <a:spcPts val="0"/>
              </a:spcBef>
              <a:spcAft>
                <a:spcPts val="0"/>
              </a:spcAft>
              <a:buFont typeface="Wingdings" panose="05000000000000000000" charset="0"/>
              <a:buChar char="Ø"/>
            </a:pPr>
            <a:r>
              <a:rPr lang="en-US" altLang="zh-CN" sz="2200" b="0" strike="noStrike" kern="0" noProof="0" dirty="0" smtClean="0">
                <a:ln>
                  <a:noFill/>
                </a:ln>
                <a:effectLst>
                  <a:outerShdw blurRad="38100" dist="38100" dir="2700000" algn="tl">
                    <a:srgbClr val="000000"/>
                  </a:outerShdw>
                </a:effectLst>
                <a:uLnTx/>
                <a:uFillTx/>
                <a:latin typeface="微软雅黑" panose="020B0503020204020204" charset="-122"/>
                <a:ea typeface="微软雅黑" panose="020B0503020204020204" charset="-122"/>
                <a:cs typeface="+mn-ea"/>
                <a:sym typeface="+mn-ea"/>
              </a:rPr>
              <a:t>E-R</a:t>
            </a:r>
            <a:r>
              <a:rPr lang="zh-CN" altLang="en-US" sz="2200" b="0" strike="noStrike" kern="0" noProof="0" dirty="0" smtClean="0">
                <a:ln>
                  <a:noFill/>
                </a:ln>
                <a:effectLst>
                  <a:outerShdw blurRad="38100" dist="38100" dir="2700000" algn="tl">
                    <a:srgbClr val="000000"/>
                  </a:outerShdw>
                </a:effectLst>
                <a:uLnTx/>
                <a:uFillTx/>
                <a:latin typeface="微软雅黑" panose="020B0503020204020204" charset="-122"/>
                <a:ea typeface="微软雅黑" panose="020B0503020204020204" charset="-122"/>
                <a:cs typeface="+mn-ea"/>
                <a:sym typeface="+mn-ea"/>
              </a:rPr>
              <a:t>模型没有绝对的结果，不同的设计者基于不同的考虑所建立的模型很可能不同。但只要能满足业务的需求，它们都是正确的。</a:t>
            </a:r>
            <a:endParaRPr lang="zh-CN" altLang="en-US" sz="2200" strike="noStrike" noProof="1">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2"/>
          <p:cNvSpPr/>
          <p:nvPr/>
        </p:nvSpPr>
        <p:spPr>
          <a:xfrm>
            <a:off x="498475" y="898525"/>
            <a:ext cx="3581400" cy="51752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endParaRPr lang="zh-CN" altLang="zh-CN" sz="2800" dirty="0">
              <a:solidFill>
                <a:srgbClr val="0033CC"/>
              </a:solidFill>
              <a:latin typeface="黑体" panose="02010609060101010101" pitchFamily="1" charset="-122"/>
              <a:ea typeface="黑体" panose="02010609060101010101" pitchFamily="1" charset="-122"/>
            </a:endParaRPr>
          </a:p>
        </p:txBody>
      </p:sp>
      <p:sp>
        <p:nvSpPr>
          <p:cNvPr id="79875" name="Text Box 3"/>
          <p:cNvSpPr txBox="1"/>
          <p:nvPr/>
        </p:nvSpPr>
        <p:spPr>
          <a:xfrm>
            <a:off x="3930650" y="796925"/>
            <a:ext cx="5012055" cy="1198880"/>
          </a:xfrm>
          <a:prstGeom prst="rect">
            <a:avLst/>
          </a:prstGeom>
          <a:noFill/>
          <a:ln w="9525">
            <a:noFill/>
          </a:ln>
        </p:spPr>
        <p:txBody>
          <a:bodyPr wrap="square" anchor="t">
            <a:spAutoFit/>
          </a:bodyPr>
          <a:lstStyle/>
          <a:p>
            <a:pPr marL="457200" lvl="0" indent="-457200">
              <a:lnSpc>
                <a:spcPct val="100000"/>
              </a:lnSpc>
              <a:buNone/>
            </a:pPr>
            <a:r>
              <a:rPr lang="zh-CN" altLang="en-US" sz="2800" dirty="0">
                <a:latin typeface="宋体" panose="02010600030101010101" pitchFamily="2" charset="-122"/>
                <a:ea typeface="华文楷体" panose="02010600040101010101" pitchFamily="2" charset="-122"/>
              </a:rPr>
              <a:t>   </a:t>
            </a:r>
            <a:r>
              <a:rPr lang="zh-CN" altLang="en-US" sz="2200" dirty="0">
                <a:latin typeface="宋体" panose="02010600030101010101" pitchFamily="2" charset="-122"/>
                <a:ea typeface="宋体" panose="02010600030101010101" pitchFamily="2" charset="-122"/>
              </a:rPr>
              <a:t>一般情况下，一个概念是用实体描述还是用属性描述是比较明确的。只是在少数情况下，较难取舍。</a:t>
            </a:r>
            <a:endParaRPr lang="zh-CN" altLang="en-US" sz="2200" dirty="0">
              <a:latin typeface="宋体" panose="02010600030101010101" pitchFamily="2" charset="-122"/>
              <a:ea typeface="宋体" panose="02010600030101010101" pitchFamily="2" charset="-122"/>
            </a:endParaRPr>
          </a:p>
        </p:txBody>
      </p:sp>
      <p:sp>
        <p:nvSpPr>
          <p:cNvPr id="3"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grpSp>
        <p:nvGrpSpPr>
          <p:cNvPr id="2" name="组合 1"/>
          <p:cNvGrpSpPr/>
          <p:nvPr/>
        </p:nvGrpSpPr>
        <p:grpSpPr>
          <a:xfrm>
            <a:off x="690245" y="1534060"/>
            <a:ext cx="8363585" cy="1880682"/>
            <a:chOff x="534" y="6378"/>
            <a:chExt cx="13171" cy="2962"/>
          </a:xfrm>
        </p:grpSpPr>
        <p:sp>
          <p:nvSpPr>
            <p:cNvPr id="4" name="Rectangle 4"/>
            <p:cNvSpPr/>
            <p:nvPr/>
          </p:nvSpPr>
          <p:spPr>
            <a:xfrm>
              <a:off x="2437" y="8772"/>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职工</a:t>
              </a:r>
              <a:endParaRPr lang="zh-CN" altLang="en-US" sz="1400" dirty="0">
                <a:latin typeface="Arial" panose="020B0604020202020204" pitchFamily="34" charset="0"/>
                <a:ea typeface="宋体" panose="02010600030101010101" pitchFamily="2" charset="-122"/>
              </a:endParaRPr>
            </a:p>
          </p:txBody>
        </p:sp>
        <p:sp>
          <p:nvSpPr>
            <p:cNvPr id="5" name="Oval 5"/>
            <p:cNvSpPr/>
            <p:nvPr/>
          </p:nvSpPr>
          <p:spPr>
            <a:xfrm>
              <a:off x="737" y="8660"/>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职工号</a:t>
              </a:r>
              <a:endParaRPr lang="zh-CN" altLang="en-US" sz="1400" u="sng" dirty="0">
                <a:latin typeface="Arial" panose="020B0604020202020204" pitchFamily="34" charset="0"/>
                <a:ea typeface="宋体" panose="02010600030101010101" pitchFamily="2" charset="-122"/>
              </a:endParaRPr>
            </a:p>
          </p:txBody>
        </p:sp>
        <p:sp>
          <p:nvSpPr>
            <p:cNvPr id="6" name="Oval 6"/>
            <p:cNvSpPr/>
            <p:nvPr/>
          </p:nvSpPr>
          <p:spPr>
            <a:xfrm>
              <a:off x="962" y="763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7" name="Oval 7"/>
            <p:cNvSpPr/>
            <p:nvPr/>
          </p:nvSpPr>
          <p:spPr>
            <a:xfrm>
              <a:off x="1985" y="7185"/>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10" name="Oval 8"/>
            <p:cNvSpPr/>
            <p:nvPr/>
          </p:nvSpPr>
          <p:spPr>
            <a:xfrm>
              <a:off x="3005" y="7185"/>
              <a:ext cx="1344"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入职时间</a:t>
              </a:r>
              <a:endParaRPr lang="zh-CN" altLang="en-US" sz="1400" dirty="0">
                <a:latin typeface="Arial" panose="020B0604020202020204" pitchFamily="34" charset="0"/>
                <a:ea typeface="宋体" panose="02010600030101010101" pitchFamily="2" charset="-122"/>
              </a:endParaRPr>
            </a:p>
          </p:txBody>
        </p:sp>
        <p:sp>
          <p:nvSpPr>
            <p:cNvPr id="11" name="Oval 9"/>
            <p:cNvSpPr/>
            <p:nvPr/>
          </p:nvSpPr>
          <p:spPr>
            <a:xfrm>
              <a:off x="3976" y="7847"/>
              <a:ext cx="907" cy="56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职称</a:t>
              </a:r>
              <a:endParaRPr lang="zh-CN" altLang="en-US" sz="1400" dirty="0">
                <a:latin typeface="Arial" panose="020B0604020202020204" pitchFamily="34" charset="0"/>
                <a:ea typeface="宋体" panose="02010600030101010101" pitchFamily="2" charset="-122"/>
              </a:endParaRPr>
            </a:p>
          </p:txBody>
        </p:sp>
        <p:sp>
          <p:nvSpPr>
            <p:cNvPr id="12" name="Oval 10"/>
            <p:cNvSpPr/>
            <p:nvPr/>
          </p:nvSpPr>
          <p:spPr>
            <a:xfrm>
              <a:off x="4025" y="8660"/>
              <a:ext cx="905" cy="680"/>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bg1"/>
                  </a:solidFill>
                  <a:latin typeface="Arial" panose="020B0604020202020204" pitchFamily="34" charset="0"/>
                  <a:ea typeface="宋体" panose="02010600030101010101" pitchFamily="2" charset="-122"/>
                </a:rPr>
                <a:t>工资</a:t>
              </a:r>
              <a:endParaRPr lang="zh-CN" altLang="en-US" sz="1400" dirty="0">
                <a:solidFill>
                  <a:schemeClr val="bg1"/>
                </a:solidFill>
                <a:latin typeface="Arial" panose="020B0604020202020204" pitchFamily="34" charset="0"/>
                <a:ea typeface="宋体" panose="02010600030101010101" pitchFamily="2" charset="-122"/>
              </a:endParaRPr>
            </a:p>
          </p:txBody>
        </p:sp>
        <p:sp>
          <p:nvSpPr>
            <p:cNvPr id="13" name="Line 11"/>
            <p:cNvSpPr/>
            <p:nvPr/>
          </p:nvSpPr>
          <p:spPr>
            <a:xfrm>
              <a:off x="1870" y="9000"/>
              <a:ext cx="567" cy="0"/>
            </a:xfrm>
            <a:prstGeom prst="line">
              <a:avLst/>
            </a:prstGeom>
            <a:ln w="9525" cap="flat" cmpd="sng">
              <a:solidFill>
                <a:schemeClr val="tx1"/>
              </a:solidFill>
              <a:prstDash val="solid"/>
              <a:round/>
              <a:headEnd type="none" w="med" len="med"/>
              <a:tailEnd type="none" w="med" len="med"/>
            </a:ln>
          </p:spPr>
        </p:sp>
        <p:sp>
          <p:nvSpPr>
            <p:cNvPr id="14" name="Line 12"/>
            <p:cNvSpPr/>
            <p:nvPr/>
          </p:nvSpPr>
          <p:spPr>
            <a:xfrm>
              <a:off x="3457" y="9000"/>
              <a:ext cx="567" cy="0"/>
            </a:xfrm>
            <a:prstGeom prst="line">
              <a:avLst/>
            </a:prstGeom>
            <a:ln w="9525" cap="flat" cmpd="sng">
              <a:solidFill>
                <a:schemeClr val="tx1"/>
              </a:solidFill>
              <a:prstDash val="solid"/>
              <a:round/>
              <a:headEnd type="none" w="med" len="med"/>
              <a:tailEnd type="none" w="med" len="med"/>
            </a:ln>
          </p:spPr>
        </p:sp>
        <p:sp>
          <p:nvSpPr>
            <p:cNvPr id="15" name="Line 13"/>
            <p:cNvSpPr/>
            <p:nvPr/>
          </p:nvSpPr>
          <p:spPr>
            <a:xfrm>
              <a:off x="1757" y="8205"/>
              <a:ext cx="792" cy="567"/>
            </a:xfrm>
            <a:prstGeom prst="line">
              <a:avLst/>
            </a:prstGeom>
            <a:ln w="9525" cap="flat" cmpd="sng">
              <a:solidFill>
                <a:schemeClr val="tx1"/>
              </a:solidFill>
              <a:prstDash val="solid"/>
              <a:round/>
              <a:headEnd type="none" w="med" len="med"/>
              <a:tailEnd type="none" w="med" len="med"/>
            </a:ln>
          </p:spPr>
        </p:sp>
        <p:sp>
          <p:nvSpPr>
            <p:cNvPr id="16" name="Line 14"/>
            <p:cNvSpPr/>
            <p:nvPr/>
          </p:nvSpPr>
          <p:spPr>
            <a:xfrm flipH="1">
              <a:off x="3232" y="8205"/>
              <a:ext cx="792" cy="567"/>
            </a:xfrm>
            <a:prstGeom prst="line">
              <a:avLst/>
            </a:prstGeom>
            <a:ln w="9525" cap="flat" cmpd="sng">
              <a:solidFill>
                <a:schemeClr val="tx1"/>
              </a:solidFill>
              <a:prstDash val="solid"/>
              <a:round/>
              <a:headEnd type="none" w="med" len="med"/>
              <a:tailEnd type="none" w="med" len="med"/>
            </a:ln>
          </p:spPr>
        </p:sp>
        <p:sp>
          <p:nvSpPr>
            <p:cNvPr id="17" name="Line 15"/>
            <p:cNvSpPr/>
            <p:nvPr/>
          </p:nvSpPr>
          <p:spPr>
            <a:xfrm>
              <a:off x="2550" y="7865"/>
              <a:ext cx="227" cy="907"/>
            </a:xfrm>
            <a:prstGeom prst="line">
              <a:avLst/>
            </a:prstGeom>
            <a:ln w="9525" cap="flat" cmpd="sng">
              <a:solidFill>
                <a:schemeClr val="tx1"/>
              </a:solidFill>
              <a:prstDash val="solid"/>
              <a:round/>
              <a:headEnd type="none" w="med" len="med"/>
              <a:tailEnd type="none" w="med" len="med"/>
            </a:ln>
          </p:spPr>
        </p:sp>
        <p:sp>
          <p:nvSpPr>
            <p:cNvPr id="18" name="Line 16"/>
            <p:cNvSpPr/>
            <p:nvPr/>
          </p:nvSpPr>
          <p:spPr>
            <a:xfrm flipH="1">
              <a:off x="3117" y="7865"/>
              <a:ext cx="227" cy="907"/>
            </a:xfrm>
            <a:prstGeom prst="line">
              <a:avLst/>
            </a:prstGeom>
            <a:ln w="9525" cap="flat" cmpd="sng">
              <a:solidFill>
                <a:schemeClr val="tx1"/>
              </a:solidFill>
              <a:prstDash val="solid"/>
              <a:round/>
              <a:headEnd type="none" w="med" len="med"/>
              <a:tailEnd type="none" w="med" len="med"/>
            </a:ln>
          </p:spPr>
        </p:sp>
        <p:sp>
          <p:nvSpPr>
            <p:cNvPr id="19" name="文本框 18"/>
            <p:cNvSpPr txBox="1"/>
            <p:nvPr/>
          </p:nvSpPr>
          <p:spPr>
            <a:xfrm>
              <a:off x="534" y="6378"/>
              <a:ext cx="13171" cy="628"/>
            </a:xfrm>
            <a:prstGeom prst="rect">
              <a:avLst/>
            </a:prstGeom>
            <a:noFill/>
          </p:spPr>
          <p:txBody>
            <a:bodyPr wrap="square" rtlCol="0" anchor="t">
              <a:sp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Ø"/>
                <a:defRPr/>
              </a:pPr>
              <a:r>
                <a:rPr lang="zh-CN" altLang="en-US" sz="2000" b="0" strike="noStrike" kern="0" noProof="0">
                  <a:ln>
                    <a:noFill/>
                  </a:ln>
                  <a:effectLst>
                    <a:outerShdw blurRad="38100" dist="38100" dir="2700000" algn="tl">
                      <a:srgbClr val="000000"/>
                    </a:outerShdw>
                  </a:effectLst>
                  <a:uLnTx/>
                  <a:uFillTx/>
                  <a:latin typeface="+mn-lt"/>
                  <a:ea typeface="+mn-ea"/>
                  <a:cs typeface="+mn-cs"/>
                  <a:sym typeface="+mn-ea"/>
                </a:rPr>
                <a:t>例：职工和工资。</a:t>
              </a:r>
              <a:endParaRPr lang="zh-CN" altLang="en-US" sz="2000" strike="noStrike" noProof="1"/>
            </a:p>
          </p:txBody>
        </p:sp>
      </p:grpSp>
      <p:sp>
        <p:nvSpPr>
          <p:cNvPr id="20" name="文本框 19"/>
          <p:cNvSpPr txBox="1"/>
          <p:nvPr/>
        </p:nvSpPr>
        <p:spPr>
          <a:xfrm>
            <a:off x="3930015" y="2333625"/>
            <a:ext cx="4808220" cy="82994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t>适合于每个人每个月的工资固定不变的管理</a:t>
            </a:r>
            <a:endParaRPr lang="zh-CN" altLang="en-US" sz="2400"/>
          </a:p>
        </p:txBody>
      </p:sp>
      <p:sp>
        <p:nvSpPr>
          <p:cNvPr id="21" name="文本框 20"/>
          <p:cNvSpPr txBox="1"/>
          <p:nvPr/>
        </p:nvSpPr>
        <p:spPr>
          <a:xfrm>
            <a:off x="652780" y="3589020"/>
            <a:ext cx="7978775" cy="46037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solidFill>
                  <a:srgbClr val="C00000"/>
                </a:solidFill>
                <a:latin typeface="+mj-ea"/>
                <a:ea typeface="+mj-ea"/>
              </a:rPr>
              <a:t>要求工资按月考核（工资由基本工资、奖金、补贴构成）</a:t>
            </a:r>
            <a:endParaRPr lang="zh-CN" altLang="en-US" sz="2400">
              <a:solidFill>
                <a:srgbClr val="C00000"/>
              </a:solidFill>
              <a:latin typeface="+mj-ea"/>
              <a:ea typeface="+mj-ea"/>
            </a:endParaRPr>
          </a:p>
        </p:txBody>
      </p:sp>
      <p:grpSp>
        <p:nvGrpSpPr>
          <p:cNvPr id="49" name="组合 48"/>
          <p:cNvGrpSpPr/>
          <p:nvPr/>
        </p:nvGrpSpPr>
        <p:grpSpPr>
          <a:xfrm>
            <a:off x="4718685" y="4321810"/>
            <a:ext cx="3914140" cy="1852295"/>
            <a:chOff x="7431" y="6806"/>
            <a:chExt cx="6164" cy="2917"/>
          </a:xfrm>
        </p:grpSpPr>
        <p:grpSp>
          <p:nvGrpSpPr>
            <p:cNvPr id="22" name="组合 21"/>
            <p:cNvGrpSpPr/>
            <p:nvPr/>
          </p:nvGrpSpPr>
          <p:grpSpPr>
            <a:xfrm>
              <a:off x="7431" y="6806"/>
              <a:ext cx="6164" cy="2701"/>
              <a:chOff x="1087" y="6877"/>
              <a:chExt cx="6164" cy="2701"/>
            </a:xfrm>
          </p:grpSpPr>
          <p:sp>
            <p:nvSpPr>
              <p:cNvPr id="23" name="Rectangle 17"/>
              <p:cNvSpPr/>
              <p:nvPr/>
            </p:nvSpPr>
            <p:spPr>
              <a:xfrm>
                <a:off x="2787" y="8463"/>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职工</a:t>
                </a:r>
                <a:endParaRPr lang="zh-CN" altLang="en-US" sz="1400" dirty="0">
                  <a:latin typeface="Arial" panose="020B0604020202020204" pitchFamily="34" charset="0"/>
                  <a:ea typeface="宋体" panose="02010600030101010101" pitchFamily="2" charset="-122"/>
                </a:endParaRPr>
              </a:p>
            </p:txBody>
          </p:sp>
          <p:sp>
            <p:nvSpPr>
              <p:cNvPr id="24" name="Oval 18"/>
              <p:cNvSpPr/>
              <p:nvPr/>
            </p:nvSpPr>
            <p:spPr>
              <a:xfrm>
                <a:off x="1087" y="8351"/>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职工号</a:t>
                </a:r>
                <a:endParaRPr lang="zh-CN" altLang="en-US" sz="1400" u="sng" dirty="0">
                  <a:latin typeface="Arial" panose="020B0604020202020204" pitchFamily="34" charset="0"/>
                  <a:ea typeface="宋体" panose="02010600030101010101" pitchFamily="2" charset="-122"/>
                </a:endParaRPr>
              </a:p>
            </p:txBody>
          </p:sp>
          <p:sp>
            <p:nvSpPr>
              <p:cNvPr id="25" name="Oval 19"/>
              <p:cNvSpPr/>
              <p:nvPr/>
            </p:nvSpPr>
            <p:spPr>
              <a:xfrm>
                <a:off x="1312" y="7329"/>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26" name="Oval 20"/>
              <p:cNvSpPr/>
              <p:nvPr/>
            </p:nvSpPr>
            <p:spPr>
              <a:xfrm>
                <a:off x="2334" y="687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27" name="Oval 22"/>
              <p:cNvSpPr/>
              <p:nvPr/>
            </p:nvSpPr>
            <p:spPr>
              <a:xfrm>
                <a:off x="4374" y="755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职称</a:t>
                </a:r>
                <a:endParaRPr lang="zh-CN" altLang="en-US" sz="1400" dirty="0">
                  <a:latin typeface="Arial" panose="020B0604020202020204" pitchFamily="34" charset="0"/>
                  <a:ea typeface="宋体" panose="02010600030101010101" pitchFamily="2" charset="-122"/>
                </a:endParaRPr>
              </a:p>
            </p:txBody>
          </p:sp>
          <p:sp>
            <p:nvSpPr>
              <p:cNvPr id="28" name="Line 24"/>
              <p:cNvSpPr/>
              <p:nvPr/>
            </p:nvSpPr>
            <p:spPr>
              <a:xfrm>
                <a:off x="2219" y="8691"/>
                <a:ext cx="567" cy="0"/>
              </a:xfrm>
              <a:prstGeom prst="line">
                <a:avLst/>
              </a:prstGeom>
              <a:ln w="9525" cap="flat" cmpd="sng">
                <a:solidFill>
                  <a:schemeClr val="tx1"/>
                </a:solidFill>
                <a:prstDash val="solid"/>
                <a:round/>
                <a:headEnd type="none" w="med" len="med"/>
                <a:tailEnd type="none" w="med" len="med"/>
              </a:ln>
            </p:spPr>
          </p:sp>
          <p:sp>
            <p:nvSpPr>
              <p:cNvPr id="29" name="Line 26"/>
              <p:cNvSpPr/>
              <p:nvPr/>
            </p:nvSpPr>
            <p:spPr>
              <a:xfrm>
                <a:off x="2107" y="7897"/>
                <a:ext cx="792" cy="567"/>
              </a:xfrm>
              <a:prstGeom prst="line">
                <a:avLst/>
              </a:prstGeom>
              <a:ln w="9525" cap="flat" cmpd="sng">
                <a:solidFill>
                  <a:schemeClr val="tx1"/>
                </a:solidFill>
                <a:prstDash val="solid"/>
                <a:round/>
                <a:headEnd type="none" w="med" len="med"/>
                <a:tailEnd type="none" w="med" len="med"/>
              </a:ln>
            </p:spPr>
          </p:sp>
          <p:sp>
            <p:nvSpPr>
              <p:cNvPr id="31" name="Line 27"/>
              <p:cNvSpPr/>
              <p:nvPr/>
            </p:nvSpPr>
            <p:spPr>
              <a:xfrm flipH="1">
                <a:off x="3582" y="8009"/>
                <a:ext cx="792" cy="455"/>
              </a:xfrm>
              <a:prstGeom prst="line">
                <a:avLst/>
              </a:prstGeom>
              <a:ln w="9525" cap="flat" cmpd="sng">
                <a:solidFill>
                  <a:schemeClr val="tx1"/>
                </a:solidFill>
                <a:prstDash val="solid"/>
                <a:round/>
                <a:headEnd type="none" w="med" len="med"/>
                <a:tailEnd type="none" w="med" len="med"/>
              </a:ln>
            </p:spPr>
          </p:sp>
          <p:sp>
            <p:nvSpPr>
              <p:cNvPr id="32" name="Line 28"/>
              <p:cNvSpPr/>
              <p:nvPr/>
            </p:nvSpPr>
            <p:spPr>
              <a:xfrm>
                <a:off x="2899" y="7557"/>
                <a:ext cx="227" cy="907"/>
              </a:xfrm>
              <a:prstGeom prst="line">
                <a:avLst/>
              </a:prstGeom>
              <a:ln w="9525" cap="flat" cmpd="sng">
                <a:solidFill>
                  <a:schemeClr val="tx1"/>
                </a:solidFill>
                <a:prstDash val="solid"/>
                <a:round/>
                <a:headEnd type="none" w="med" len="med"/>
                <a:tailEnd type="none" w="med" len="med"/>
              </a:ln>
            </p:spPr>
          </p:sp>
          <p:sp>
            <p:nvSpPr>
              <p:cNvPr id="33" name="Line 29"/>
              <p:cNvSpPr/>
              <p:nvPr/>
            </p:nvSpPr>
            <p:spPr>
              <a:xfrm flipH="1">
                <a:off x="3467" y="7557"/>
                <a:ext cx="227" cy="907"/>
              </a:xfrm>
              <a:prstGeom prst="line">
                <a:avLst/>
              </a:prstGeom>
              <a:ln w="9525" cap="flat" cmpd="sng">
                <a:solidFill>
                  <a:schemeClr val="tx1"/>
                </a:solidFill>
                <a:prstDash val="solid"/>
                <a:round/>
                <a:headEnd type="none" w="med" len="med"/>
                <a:tailEnd type="none" w="med" len="med"/>
              </a:ln>
            </p:spPr>
          </p:sp>
          <p:sp>
            <p:nvSpPr>
              <p:cNvPr id="34" name="Oval 8"/>
              <p:cNvSpPr/>
              <p:nvPr/>
            </p:nvSpPr>
            <p:spPr>
              <a:xfrm>
                <a:off x="3330" y="6877"/>
                <a:ext cx="1344"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入职时间</a:t>
                </a:r>
                <a:endParaRPr lang="zh-CN" altLang="en-US" sz="1400" dirty="0">
                  <a:latin typeface="Arial" panose="020B0604020202020204" pitchFamily="34" charset="0"/>
                  <a:ea typeface="宋体" panose="02010600030101010101" pitchFamily="2" charset="-122"/>
                </a:endParaRPr>
              </a:p>
            </p:txBody>
          </p:sp>
          <p:sp>
            <p:nvSpPr>
              <p:cNvPr id="35" name="Oval 10"/>
              <p:cNvSpPr/>
              <p:nvPr/>
            </p:nvSpPr>
            <p:spPr>
              <a:xfrm>
                <a:off x="4529" y="8350"/>
                <a:ext cx="905" cy="680"/>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bg1"/>
                    </a:solidFill>
                    <a:latin typeface="Arial" panose="020B0604020202020204" pitchFamily="34" charset="0"/>
                    <a:ea typeface="宋体" panose="02010600030101010101" pitchFamily="2" charset="-122"/>
                  </a:rPr>
                  <a:t>工资</a:t>
                </a:r>
                <a:endParaRPr lang="zh-CN" altLang="en-US" sz="1400" dirty="0">
                  <a:solidFill>
                    <a:schemeClr val="bg1"/>
                  </a:solidFill>
                  <a:latin typeface="Arial" panose="020B0604020202020204" pitchFamily="34" charset="0"/>
                  <a:ea typeface="宋体" panose="02010600030101010101" pitchFamily="2" charset="-122"/>
                </a:endParaRPr>
              </a:p>
            </p:txBody>
          </p:sp>
          <p:sp>
            <p:nvSpPr>
              <p:cNvPr id="36" name="Line 27"/>
              <p:cNvSpPr/>
              <p:nvPr/>
            </p:nvSpPr>
            <p:spPr>
              <a:xfrm flipH="1" flipV="1">
                <a:off x="3782" y="8664"/>
                <a:ext cx="792" cy="27"/>
              </a:xfrm>
              <a:prstGeom prst="line">
                <a:avLst/>
              </a:prstGeom>
              <a:ln w="9525" cap="flat" cmpd="sng">
                <a:solidFill>
                  <a:schemeClr val="tx1"/>
                </a:solidFill>
                <a:prstDash val="solid"/>
                <a:round/>
                <a:headEnd type="none" w="med" len="med"/>
                <a:tailEnd type="none" w="med" len="med"/>
              </a:ln>
            </p:spPr>
          </p:sp>
          <p:sp>
            <p:nvSpPr>
              <p:cNvPr id="37" name="Oval 10"/>
              <p:cNvSpPr/>
              <p:nvPr/>
            </p:nvSpPr>
            <p:spPr>
              <a:xfrm>
                <a:off x="5739" y="7883"/>
                <a:ext cx="1329"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基本工资</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38" name="Oval 10"/>
              <p:cNvSpPr/>
              <p:nvPr/>
            </p:nvSpPr>
            <p:spPr>
              <a:xfrm>
                <a:off x="6189" y="8483"/>
                <a:ext cx="1062"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奖金</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39" name="Oval 10"/>
              <p:cNvSpPr/>
              <p:nvPr/>
            </p:nvSpPr>
            <p:spPr>
              <a:xfrm>
                <a:off x="5873" y="9030"/>
                <a:ext cx="1062"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补贴</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40" name="Line 14"/>
              <p:cNvSpPr/>
              <p:nvPr/>
            </p:nvSpPr>
            <p:spPr>
              <a:xfrm flipH="1">
                <a:off x="5419" y="8404"/>
                <a:ext cx="657" cy="207"/>
              </a:xfrm>
              <a:prstGeom prst="line">
                <a:avLst/>
              </a:prstGeom>
              <a:ln w="9525" cap="flat" cmpd="sng">
                <a:solidFill>
                  <a:schemeClr val="tx1"/>
                </a:solidFill>
                <a:prstDash val="solid"/>
                <a:round/>
                <a:headEnd type="none" w="med" len="med"/>
                <a:tailEnd type="none" w="med" len="med"/>
              </a:ln>
            </p:spPr>
          </p:sp>
          <p:sp>
            <p:nvSpPr>
              <p:cNvPr id="41" name="Line 14"/>
              <p:cNvSpPr/>
              <p:nvPr/>
            </p:nvSpPr>
            <p:spPr>
              <a:xfrm flipH="1" flipV="1">
                <a:off x="5397" y="8664"/>
                <a:ext cx="792" cy="134"/>
              </a:xfrm>
              <a:prstGeom prst="line">
                <a:avLst/>
              </a:prstGeom>
              <a:ln w="9525" cap="flat" cmpd="sng">
                <a:solidFill>
                  <a:schemeClr val="tx1"/>
                </a:solidFill>
                <a:prstDash val="solid"/>
                <a:round/>
                <a:headEnd type="none" w="med" len="med"/>
                <a:tailEnd type="none" w="med" len="med"/>
              </a:ln>
            </p:spPr>
          </p:sp>
          <p:sp>
            <p:nvSpPr>
              <p:cNvPr id="42" name="Line 14"/>
              <p:cNvSpPr/>
              <p:nvPr/>
            </p:nvSpPr>
            <p:spPr>
              <a:xfrm flipH="1" flipV="1">
                <a:off x="5282" y="8798"/>
                <a:ext cx="591" cy="448"/>
              </a:xfrm>
              <a:prstGeom prst="line">
                <a:avLst/>
              </a:prstGeom>
              <a:ln w="9525" cap="flat" cmpd="sng">
                <a:solidFill>
                  <a:schemeClr val="tx1"/>
                </a:solidFill>
                <a:prstDash val="solid"/>
                <a:round/>
                <a:headEnd type="none" w="med" len="med"/>
                <a:tailEnd type="none" w="med" len="med"/>
              </a:ln>
            </p:spPr>
          </p:sp>
        </p:grpSp>
        <p:sp>
          <p:nvSpPr>
            <p:cNvPr id="43" name="Oval 10"/>
            <p:cNvSpPr/>
            <p:nvPr/>
          </p:nvSpPr>
          <p:spPr>
            <a:xfrm>
              <a:off x="10701" y="9175"/>
              <a:ext cx="1062"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月份</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44" name="Line 27"/>
            <p:cNvSpPr/>
            <p:nvPr/>
          </p:nvSpPr>
          <p:spPr>
            <a:xfrm flipH="1" flipV="1">
              <a:off x="10126" y="8593"/>
              <a:ext cx="746" cy="653"/>
            </a:xfrm>
            <a:prstGeom prst="line">
              <a:avLst/>
            </a:prstGeom>
            <a:ln w="9525" cap="flat" cmpd="sng">
              <a:solidFill>
                <a:schemeClr val="tx1"/>
              </a:solidFill>
              <a:prstDash val="solid"/>
              <a:round/>
              <a:headEnd type="none" w="med" len="med"/>
              <a:tailEnd type="none" w="med" len="med"/>
            </a:ln>
          </p:spPr>
        </p:sp>
      </p:grpSp>
      <p:grpSp>
        <p:nvGrpSpPr>
          <p:cNvPr id="48" name="组合 47"/>
          <p:cNvGrpSpPr/>
          <p:nvPr/>
        </p:nvGrpSpPr>
        <p:grpSpPr>
          <a:xfrm>
            <a:off x="558165" y="4153535"/>
            <a:ext cx="3914140" cy="2007870"/>
            <a:chOff x="879" y="6541"/>
            <a:chExt cx="6164" cy="3162"/>
          </a:xfrm>
        </p:grpSpPr>
        <p:grpSp>
          <p:nvGrpSpPr>
            <p:cNvPr id="45" name="组合 44"/>
            <p:cNvGrpSpPr/>
            <p:nvPr/>
          </p:nvGrpSpPr>
          <p:grpSpPr>
            <a:xfrm>
              <a:off x="879" y="6541"/>
              <a:ext cx="6164" cy="2630"/>
              <a:chOff x="1087" y="6877"/>
              <a:chExt cx="6164" cy="2630"/>
            </a:xfrm>
          </p:grpSpPr>
          <p:sp>
            <p:nvSpPr>
              <p:cNvPr id="46" name="Rectangle 17"/>
              <p:cNvSpPr/>
              <p:nvPr/>
            </p:nvSpPr>
            <p:spPr>
              <a:xfrm>
                <a:off x="2787" y="8463"/>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职工</a:t>
                </a:r>
                <a:endParaRPr lang="zh-CN" altLang="en-US" sz="1400" dirty="0">
                  <a:latin typeface="Arial" panose="020B0604020202020204" pitchFamily="34" charset="0"/>
                  <a:ea typeface="宋体" panose="02010600030101010101" pitchFamily="2" charset="-122"/>
                </a:endParaRPr>
              </a:p>
            </p:txBody>
          </p:sp>
          <p:sp>
            <p:nvSpPr>
              <p:cNvPr id="47" name="Oval 18"/>
              <p:cNvSpPr/>
              <p:nvPr/>
            </p:nvSpPr>
            <p:spPr>
              <a:xfrm>
                <a:off x="1087" y="8351"/>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职工号</a:t>
                </a:r>
                <a:endParaRPr lang="zh-CN" altLang="en-US" sz="1400" u="sng" dirty="0">
                  <a:latin typeface="Arial" panose="020B0604020202020204" pitchFamily="34" charset="0"/>
                  <a:ea typeface="宋体" panose="02010600030101010101" pitchFamily="2" charset="-122"/>
                </a:endParaRPr>
              </a:p>
            </p:txBody>
          </p:sp>
          <p:sp>
            <p:nvSpPr>
              <p:cNvPr id="50" name="Oval 19"/>
              <p:cNvSpPr/>
              <p:nvPr/>
            </p:nvSpPr>
            <p:spPr>
              <a:xfrm>
                <a:off x="1312" y="7329"/>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51" name="Oval 20"/>
              <p:cNvSpPr/>
              <p:nvPr/>
            </p:nvSpPr>
            <p:spPr>
              <a:xfrm>
                <a:off x="2334" y="687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52" name="Oval 22"/>
              <p:cNvSpPr/>
              <p:nvPr/>
            </p:nvSpPr>
            <p:spPr>
              <a:xfrm>
                <a:off x="4374" y="755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职称</a:t>
                </a:r>
                <a:endParaRPr lang="zh-CN" altLang="en-US" sz="1400" dirty="0">
                  <a:latin typeface="Arial" panose="020B0604020202020204" pitchFamily="34" charset="0"/>
                  <a:ea typeface="宋体" panose="02010600030101010101" pitchFamily="2" charset="-122"/>
                </a:endParaRPr>
              </a:p>
            </p:txBody>
          </p:sp>
          <p:sp>
            <p:nvSpPr>
              <p:cNvPr id="53" name="Line 24"/>
              <p:cNvSpPr/>
              <p:nvPr/>
            </p:nvSpPr>
            <p:spPr>
              <a:xfrm>
                <a:off x="2219" y="8691"/>
                <a:ext cx="567" cy="0"/>
              </a:xfrm>
              <a:prstGeom prst="line">
                <a:avLst/>
              </a:prstGeom>
              <a:ln w="9525" cap="flat" cmpd="sng">
                <a:solidFill>
                  <a:schemeClr val="tx1"/>
                </a:solidFill>
                <a:prstDash val="solid"/>
                <a:round/>
                <a:headEnd type="none" w="med" len="med"/>
                <a:tailEnd type="none" w="med" len="med"/>
              </a:ln>
            </p:spPr>
          </p:sp>
          <p:sp>
            <p:nvSpPr>
              <p:cNvPr id="54" name="Line 26"/>
              <p:cNvSpPr/>
              <p:nvPr/>
            </p:nvSpPr>
            <p:spPr>
              <a:xfrm>
                <a:off x="2107" y="7897"/>
                <a:ext cx="792" cy="567"/>
              </a:xfrm>
              <a:prstGeom prst="line">
                <a:avLst/>
              </a:prstGeom>
              <a:ln w="9525" cap="flat" cmpd="sng">
                <a:solidFill>
                  <a:schemeClr val="tx1"/>
                </a:solidFill>
                <a:prstDash val="solid"/>
                <a:round/>
                <a:headEnd type="none" w="med" len="med"/>
                <a:tailEnd type="none" w="med" len="med"/>
              </a:ln>
            </p:spPr>
          </p:sp>
          <p:sp>
            <p:nvSpPr>
              <p:cNvPr id="55" name="Line 27"/>
              <p:cNvSpPr/>
              <p:nvPr/>
            </p:nvSpPr>
            <p:spPr>
              <a:xfrm flipH="1">
                <a:off x="3582" y="8009"/>
                <a:ext cx="792" cy="455"/>
              </a:xfrm>
              <a:prstGeom prst="line">
                <a:avLst/>
              </a:prstGeom>
              <a:ln w="9525" cap="flat" cmpd="sng">
                <a:solidFill>
                  <a:schemeClr val="tx1"/>
                </a:solidFill>
                <a:prstDash val="solid"/>
                <a:round/>
                <a:headEnd type="none" w="med" len="med"/>
                <a:tailEnd type="none" w="med" len="med"/>
              </a:ln>
            </p:spPr>
          </p:sp>
          <p:sp>
            <p:nvSpPr>
              <p:cNvPr id="56" name="Line 28"/>
              <p:cNvSpPr/>
              <p:nvPr/>
            </p:nvSpPr>
            <p:spPr>
              <a:xfrm>
                <a:off x="2899" y="7557"/>
                <a:ext cx="227" cy="907"/>
              </a:xfrm>
              <a:prstGeom prst="line">
                <a:avLst/>
              </a:prstGeom>
              <a:ln w="9525" cap="flat" cmpd="sng">
                <a:solidFill>
                  <a:schemeClr val="tx1"/>
                </a:solidFill>
                <a:prstDash val="solid"/>
                <a:round/>
                <a:headEnd type="none" w="med" len="med"/>
                <a:tailEnd type="none" w="med" len="med"/>
              </a:ln>
            </p:spPr>
          </p:sp>
          <p:sp>
            <p:nvSpPr>
              <p:cNvPr id="57" name="Line 29"/>
              <p:cNvSpPr/>
              <p:nvPr/>
            </p:nvSpPr>
            <p:spPr>
              <a:xfrm flipH="1">
                <a:off x="3467" y="7557"/>
                <a:ext cx="227" cy="907"/>
              </a:xfrm>
              <a:prstGeom prst="line">
                <a:avLst/>
              </a:prstGeom>
              <a:ln w="9525" cap="flat" cmpd="sng">
                <a:solidFill>
                  <a:schemeClr val="tx1"/>
                </a:solidFill>
                <a:prstDash val="solid"/>
                <a:round/>
                <a:headEnd type="none" w="med" len="med"/>
                <a:tailEnd type="none" w="med" len="med"/>
              </a:ln>
            </p:spPr>
          </p:sp>
          <p:sp>
            <p:nvSpPr>
              <p:cNvPr id="58" name="Oval 8"/>
              <p:cNvSpPr/>
              <p:nvPr/>
            </p:nvSpPr>
            <p:spPr>
              <a:xfrm>
                <a:off x="3330" y="6877"/>
                <a:ext cx="1344"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入职时间</a:t>
                </a:r>
                <a:endParaRPr lang="zh-CN" altLang="en-US" sz="1400" dirty="0">
                  <a:latin typeface="Arial" panose="020B0604020202020204" pitchFamily="34" charset="0"/>
                  <a:ea typeface="宋体" panose="02010600030101010101" pitchFamily="2" charset="-122"/>
                </a:endParaRPr>
              </a:p>
            </p:txBody>
          </p:sp>
          <p:sp>
            <p:nvSpPr>
              <p:cNvPr id="59" name="Oval 10"/>
              <p:cNvSpPr/>
              <p:nvPr/>
            </p:nvSpPr>
            <p:spPr>
              <a:xfrm>
                <a:off x="4529" y="8350"/>
                <a:ext cx="905" cy="610"/>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bg1"/>
                    </a:solidFill>
                    <a:latin typeface="Arial" panose="020B0604020202020204" pitchFamily="34" charset="0"/>
                    <a:ea typeface="宋体" panose="02010600030101010101" pitchFamily="2" charset="-122"/>
                  </a:rPr>
                  <a:t>工资</a:t>
                </a:r>
                <a:endParaRPr lang="zh-CN" altLang="en-US" sz="1400" dirty="0">
                  <a:solidFill>
                    <a:schemeClr val="bg1"/>
                  </a:solidFill>
                  <a:latin typeface="Arial" panose="020B0604020202020204" pitchFamily="34" charset="0"/>
                  <a:ea typeface="宋体" panose="02010600030101010101" pitchFamily="2" charset="-122"/>
                </a:endParaRPr>
              </a:p>
            </p:txBody>
          </p:sp>
          <p:sp>
            <p:nvSpPr>
              <p:cNvPr id="60" name="Line 27"/>
              <p:cNvSpPr/>
              <p:nvPr/>
            </p:nvSpPr>
            <p:spPr>
              <a:xfrm flipH="1" flipV="1">
                <a:off x="3782" y="8664"/>
                <a:ext cx="792" cy="27"/>
              </a:xfrm>
              <a:prstGeom prst="line">
                <a:avLst/>
              </a:prstGeom>
              <a:ln w="9525" cap="flat" cmpd="sng">
                <a:solidFill>
                  <a:schemeClr val="tx1"/>
                </a:solidFill>
                <a:prstDash val="solid"/>
                <a:round/>
                <a:headEnd type="none" w="med" len="med"/>
                <a:tailEnd type="none" w="med" len="med"/>
              </a:ln>
            </p:spPr>
          </p:sp>
          <p:sp>
            <p:nvSpPr>
              <p:cNvPr id="61" name="Oval 10"/>
              <p:cNvSpPr/>
              <p:nvPr/>
            </p:nvSpPr>
            <p:spPr>
              <a:xfrm>
                <a:off x="5739" y="7883"/>
                <a:ext cx="1329"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基本工资</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62" name="Oval 10"/>
              <p:cNvSpPr/>
              <p:nvPr/>
            </p:nvSpPr>
            <p:spPr>
              <a:xfrm>
                <a:off x="6189" y="8483"/>
                <a:ext cx="1062"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奖金</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63" name="Oval 10"/>
              <p:cNvSpPr/>
              <p:nvPr/>
            </p:nvSpPr>
            <p:spPr>
              <a:xfrm>
                <a:off x="5873" y="9030"/>
                <a:ext cx="1062" cy="47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补贴</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64" name="Line 14"/>
              <p:cNvSpPr/>
              <p:nvPr/>
            </p:nvSpPr>
            <p:spPr>
              <a:xfrm flipH="1">
                <a:off x="5419" y="8404"/>
                <a:ext cx="657" cy="207"/>
              </a:xfrm>
              <a:prstGeom prst="line">
                <a:avLst/>
              </a:prstGeom>
              <a:ln w="9525" cap="flat" cmpd="sng">
                <a:solidFill>
                  <a:schemeClr val="tx1"/>
                </a:solidFill>
                <a:prstDash val="solid"/>
                <a:round/>
                <a:headEnd type="none" w="med" len="med"/>
                <a:tailEnd type="none" w="med" len="med"/>
              </a:ln>
            </p:spPr>
          </p:sp>
          <p:sp>
            <p:nvSpPr>
              <p:cNvPr id="65" name="Line 14"/>
              <p:cNvSpPr/>
              <p:nvPr/>
            </p:nvSpPr>
            <p:spPr>
              <a:xfrm flipH="1" flipV="1">
                <a:off x="5397" y="8664"/>
                <a:ext cx="792" cy="134"/>
              </a:xfrm>
              <a:prstGeom prst="line">
                <a:avLst/>
              </a:prstGeom>
              <a:ln w="9525" cap="flat" cmpd="sng">
                <a:solidFill>
                  <a:schemeClr val="tx1"/>
                </a:solidFill>
                <a:prstDash val="solid"/>
                <a:round/>
                <a:headEnd type="none" w="med" len="med"/>
                <a:tailEnd type="none" w="med" len="med"/>
              </a:ln>
            </p:spPr>
          </p:sp>
          <p:sp>
            <p:nvSpPr>
              <p:cNvPr id="66" name="Line 14"/>
              <p:cNvSpPr/>
              <p:nvPr/>
            </p:nvSpPr>
            <p:spPr>
              <a:xfrm flipH="1" flipV="1">
                <a:off x="5282" y="8798"/>
                <a:ext cx="591" cy="448"/>
              </a:xfrm>
              <a:prstGeom prst="line">
                <a:avLst/>
              </a:prstGeom>
              <a:ln w="9525" cap="flat" cmpd="sng">
                <a:solidFill>
                  <a:schemeClr val="tx1"/>
                </a:solidFill>
                <a:prstDash val="solid"/>
                <a:round/>
                <a:headEnd type="none" w="med" len="med"/>
                <a:tailEnd type="none" w="med" len="med"/>
              </a:ln>
            </p:spPr>
          </p:sp>
        </p:grpSp>
        <p:sp>
          <p:nvSpPr>
            <p:cNvPr id="67" name="Oval 10"/>
            <p:cNvSpPr/>
            <p:nvPr/>
          </p:nvSpPr>
          <p:spPr>
            <a:xfrm>
              <a:off x="5531" y="9227"/>
              <a:ext cx="1062" cy="47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月份</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68" name="Oval 10"/>
            <p:cNvSpPr/>
            <p:nvPr/>
          </p:nvSpPr>
          <p:spPr>
            <a:xfrm>
              <a:off x="4241" y="7965"/>
              <a:ext cx="1062" cy="729"/>
            </a:xfrm>
            <a:prstGeom prst="ellipse">
              <a:avLst/>
            </a:prstGeom>
            <a:noFill/>
            <a:ln w="9525" cap="flat" cmpd="sng">
              <a:solidFill>
                <a:schemeClr val="tx1"/>
              </a:solidFill>
              <a:prstDash val="solid"/>
              <a:round/>
              <a:headEnd type="none" w="med" len="med"/>
              <a:tailEnd type="none" w="med" len="med"/>
            </a:ln>
          </p:spPr>
          <p:txBody>
            <a:bodyPr wrap="none" anchor="ctr"/>
            <a:lstStyle/>
            <a:p>
              <a:pPr lvl="0" indent="0" algn="ctr">
                <a:buNone/>
              </a:pPr>
              <a:endParaRPr lang="zh-CN" altLang="en-US" sz="1400" dirty="0">
                <a:solidFill>
                  <a:schemeClr val="tx1"/>
                </a:solidFill>
                <a:latin typeface="Arial" panose="020B0604020202020204" pitchFamily="34" charset="0"/>
                <a:ea typeface="宋体" panose="02010600030101010101" pitchFamily="2" charset="-122"/>
              </a:endParaRPr>
            </a:p>
          </p:txBody>
        </p:sp>
        <p:sp>
          <p:nvSpPr>
            <p:cNvPr id="69" name="Line 14"/>
            <p:cNvSpPr/>
            <p:nvPr/>
          </p:nvSpPr>
          <p:spPr>
            <a:xfrm flipH="1" flipV="1">
              <a:off x="5072" y="8623"/>
              <a:ext cx="459" cy="763"/>
            </a:xfrm>
            <a:prstGeom prst="line">
              <a:avLst/>
            </a:prstGeom>
            <a:ln w="9525" cap="flat" cmpd="sng">
              <a:solidFill>
                <a:schemeClr val="tx1"/>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fill="hold"/>
                                        <p:tgtEl>
                                          <p:spTgt spid="49"/>
                                        </p:tgtEl>
                                        <p:attrNameLst>
                                          <p:attrName>ppt_x</p:attrName>
                                        </p:attrNameLst>
                                      </p:cBhvr>
                                      <p:tavLst>
                                        <p:tav tm="0">
                                          <p:val>
                                            <p:strVal val="#ppt_x"/>
                                          </p:val>
                                        </p:tav>
                                        <p:tav tm="100000">
                                          <p:val>
                                            <p:strVal val="#ppt_x"/>
                                          </p:val>
                                        </p:tav>
                                      </p:tavLst>
                                    </p:anim>
                                    <p:anim calcmode="lin" valueType="num">
                                      <p:cBhvr additive="base">
                                        <p:cTn id="22" dur="500" fill="hold"/>
                                        <p:tgtEl>
                                          <p:spTgt spid="4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anim calcmode="lin" valueType="num">
                                      <p:cBhvr additive="base">
                                        <p:cTn id="25" dur="500" fill="hold"/>
                                        <p:tgtEl>
                                          <p:spTgt spid="48"/>
                                        </p:tgtEl>
                                        <p:attrNameLst>
                                          <p:attrName>ppt_x</p:attrName>
                                        </p:attrNameLst>
                                      </p:cBhvr>
                                      <p:tavLst>
                                        <p:tav tm="0">
                                          <p:val>
                                            <p:strVal val="#ppt_x"/>
                                          </p:val>
                                        </p:tav>
                                        <p:tav tm="100000">
                                          <p:val>
                                            <p:strVal val="#ppt_x"/>
                                          </p:val>
                                        </p:tav>
                                      </p:tavLst>
                                    </p:anim>
                                    <p:anim calcmode="lin" valueType="num">
                                      <p:cBhvr additive="base">
                                        <p:cTn id="2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 name="表格 49"/>
          <p:cNvGraphicFramePr/>
          <p:nvPr>
            <p:custDataLst>
              <p:tags r:id="rId1"/>
            </p:custDataLst>
          </p:nvPr>
        </p:nvGraphicFramePr>
        <p:xfrm>
          <a:off x="394335" y="1928495"/>
          <a:ext cx="8585200" cy="2701925"/>
        </p:xfrm>
        <a:graphic>
          <a:graphicData uri="http://schemas.openxmlformats.org/drawingml/2006/table">
            <a:tbl>
              <a:tblPr firstRow="1" bandRow="1">
                <a:tableStyleId>{5C22544A-7EE6-4342-B048-85BDC9FD1C3A}</a:tableStyleId>
              </a:tblPr>
              <a:tblGrid>
                <a:gridCol w="1005840"/>
                <a:gridCol w="1006475"/>
                <a:gridCol w="725170"/>
                <a:gridCol w="1285875"/>
                <a:gridCol w="879475"/>
                <a:gridCol w="1120140"/>
                <a:gridCol w="741045"/>
                <a:gridCol w="730885"/>
                <a:gridCol w="1090295"/>
              </a:tblGrid>
              <a:tr h="367030">
                <a:tc>
                  <a:txBody>
                    <a:bodyPr/>
                    <a:lstStyle/>
                    <a:p>
                      <a:pPr>
                        <a:lnSpc>
                          <a:spcPct val="100000"/>
                        </a:lnSpc>
                        <a:buNone/>
                      </a:pPr>
                      <a:r>
                        <a:rPr lang="zh-CN" altLang="en-US">
                          <a:solidFill>
                            <a:schemeClr val="tx1"/>
                          </a:solidFill>
                        </a:rPr>
                        <a:t>职工号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入职时间</a:t>
                      </a:r>
                      <a:endParaRPr lang="zh-CN" altLang="en-US">
                        <a:solidFill>
                          <a:schemeClr val="tx1"/>
                        </a:solidFill>
                      </a:endParaRPr>
                    </a:p>
                  </a:txBody>
                  <a:tcPr/>
                </a:tc>
                <a:tc>
                  <a:txBody>
                    <a:bodyPr/>
                    <a:lstStyle/>
                    <a:p>
                      <a:pPr>
                        <a:lnSpc>
                          <a:spcPct val="100000"/>
                        </a:lnSpc>
                        <a:buNone/>
                      </a:pPr>
                      <a:r>
                        <a:rPr lang="zh-CN" altLang="en-US">
                          <a:solidFill>
                            <a:schemeClr val="tx1"/>
                          </a:solidFill>
                        </a:rPr>
                        <a:t>职称</a:t>
                      </a:r>
                      <a:endParaRPr lang="zh-CN" altLang="en-US">
                        <a:solidFill>
                          <a:schemeClr val="tx1"/>
                        </a:solidFill>
                      </a:endParaRPr>
                    </a:p>
                  </a:txBody>
                  <a:tcPr/>
                </a:tc>
                <a:tc>
                  <a:txBody>
                    <a:bodyPr/>
                    <a:lstStyle/>
                    <a:p>
                      <a:pPr>
                        <a:lnSpc>
                          <a:spcPct val="100000"/>
                        </a:lnSpc>
                        <a:buNone/>
                      </a:pPr>
                      <a:r>
                        <a:rPr lang="zh-CN" altLang="en-US">
                          <a:solidFill>
                            <a:schemeClr val="tx1"/>
                          </a:solidFill>
                        </a:rPr>
                        <a:t>基本工资</a:t>
                      </a:r>
                      <a:endParaRPr lang="zh-CN" altLang="en-US">
                        <a:solidFill>
                          <a:schemeClr val="tx1"/>
                        </a:solidFill>
                      </a:endParaRPr>
                    </a:p>
                  </a:txBody>
                  <a:tcPr/>
                </a:tc>
                <a:tc>
                  <a:txBody>
                    <a:bodyPr/>
                    <a:lstStyle/>
                    <a:p>
                      <a:pPr>
                        <a:lnSpc>
                          <a:spcPct val="100000"/>
                        </a:lnSpc>
                        <a:buNone/>
                      </a:pPr>
                      <a:r>
                        <a:rPr lang="zh-CN" altLang="en-US">
                          <a:solidFill>
                            <a:schemeClr val="tx1"/>
                          </a:solidFill>
                        </a:rPr>
                        <a:t>奖金</a:t>
                      </a:r>
                      <a:endParaRPr lang="zh-CN" altLang="en-US">
                        <a:solidFill>
                          <a:schemeClr val="tx1"/>
                        </a:solidFill>
                      </a:endParaRPr>
                    </a:p>
                  </a:txBody>
                  <a:tcPr/>
                </a:tc>
                <a:tc>
                  <a:txBody>
                    <a:bodyPr/>
                    <a:lstStyle/>
                    <a:p>
                      <a:pPr>
                        <a:lnSpc>
                          <a:spcPct val="100000"/>
                        </a:lnSpc>
                        <a:buNone/>
                      </a:pPr>
                      <a:r>
                        <a:rPr lang="zh-CN" altLang="en-US">
                          <a:solidFill>
                            <a:schemeClr val="tx1"/>
                          </a:solidFill>
                        </a:rPr>
                        <a:t>补贴</a:t>
                      </a:r>
                      <a:endParaRPr lang="zh-CN" altLang="en-US">
                        <a:solidFill>
                          <a:schemeClr val="tx1"/>
                        </a:solidFill>
                      </a:endParaRPr>
                    </a:p>
                  </a:txBody>
                  <a:tcPr/>
                </a:tc>
                <a:tc>
                  <a:txBody>
                    <a:bodyPr/>
                    <a:lstStyle/>
                    <a:p>
                      <a:pPr>
                        <a:lnSpc>
                          <a:spcPct val="100000"/>
                        </a:lnSpc>
                        <a:buNone/>
                      </a:pPr>
                      <a:r>
                        <a:rPr lang="zh-CN" altLang="en-US">
                          <a:solidFill>
                            <a:schemeClr val="tx1"/>
                          </a:solidFill>
                        </a:rPr>
                        <a:t>月份</a:t>
                      </a:r>
                      <a:endParaRPr lang="zh-CN" altLang="en-US">
                        <a:solidFill>
                          <a:schemeClr val="tx1"/>
                        </a:solidFill>
                      </a:endParaRPr>
                    </a:p>
                  </a:txBody>
                  <a:tcPr/>
                </a:tc>
              </a:tr>
              <a:tr h="364490">
                <a:tc>
                  <a:txBody>
                    <a:bodyPr/>
                    <a:lstStyle/>
                    <a:p>
                      <a:pPr>
                        <a:lnSpc>
                          <a:spcPct val="100000"/>
                        </a:lnSpc>
                        <a:buNone/>
                      </a:pPr>
                      <a:r>
                        <a:rPr lang="en-US" altLang="zh-CN"/>
                        <a:t>6726</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zh-CN" altLang="en-US"/>
                        <a:t>教授</a:t>
                      </a:r>
                      <a:endParaRPr lang="zh-CN" altLang="en-US"/>
                    </a:p>
                  </a:txBody>
                  <a:tcPr/>
                </a:tc>
                <a:tc>
                  <a:txBody>
                    <a:bodyPr/>
                    <a:lstStyle/>
                    <a:p>
                      <a:pPr>
                        <a:lnSpc>
                          <a:spcPct val="100000"/>
                        </a:lnSpc>
                        <a:buNone/>
                      </a:pPr>
                      <a:r>
                        <a:rPr lang="en-US" altLang="zh-CN"/>
                        <a:t>4500</a:t>
                      </a:r>
                      <a:endParaRPr lang="en-US" altLang="zh-CN"/>
                    </a:p>
                  </a:txBody>
                  <a:tcPr/>
                </a:tc>
                <a:tc>
                  <a:txBody>
                    <a:bodyPr/>
                    <a:lstStyle/>
                    <a:p>
                      <a:pPr>
                        <a:lnSpc>
                          <a:spcPct val="100000"/>
                        </a:lnSpc>
                        <a:buNone/>
                      </a:pPr>
                      <a:r>
                        <a:rPr lang="en-US" altLang="zh-CN"/>
                        <a:t>1200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a:t>2020-01</a:t>
                      </a:r>
                      <a:endParaRPr lang="en-US" altLang="zh-CN"/>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zh-CN" altLang="en-US"/>
                        <a:t>教授</a:t>
                      </a:r>
                      <a:endParaRPr lang="zh-CN" altLang="en-US"/>
                    </a:p>
                  </a:txBody>
                  <a:tcPr/>
                </a:tc>
                <a:tc>
                  <a:txBody>
                    <a:bodyPr/>
                    <a:lstStyle/>
                    <a:p>
                      <a:pPr>
                        <a:lnSpc>
                          <a:spcPct val="100000"/>
                        </a:lnSpc>
                        <a:buNone/>
                      </a:pPr>
                      <a:r>
                        <a:rPr lang="en-US" altLang="zh-CN"/>
                        <a:t>5000</a:t>
                      </a:r>
                      <a:endParaRPr lang="en-US" altLang="zh-CN"/>
                    </a:p>
                  </a:txBody>
                  <a:tcPr/>
                </a:tc>
                <a:tc>
                  <a:txBody>
                    <a:bodyPr/>
                    <a:lstStyle/>
                    <a:p>
                      <a:pPr>
                        <a:lnSpc>
                          <a:spcPct val="100000"/>
                        </a:lnSpc>
                        <a:buNone/>
                      </a:pPr>
                      <a:r>
                        <a:rPr lang="en-US" altLang="zh-CN"/>
                        <a:t>1400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sz="1800">
                          <a:sym typeface="+mn-ea"/>
                        </a:rPr>
                        <a:t>2020-01</a:t>
                      </a:r>
                      <a:endParaRPr lang="zh-CN" alt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zh-CN" altLang="en-US"/>
                        <a:t>胡</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c>
                  <a:txBody>
                    <a:bodyPr/>
                    <a:lstStyle/>
                    <a:p>
                      <a:pPr>
                        <a:lnSpc>
                          <a:spcPct val="100000"/>
                        </a:lnSpc>
                        <a:buNone/>
                      </a:pPr>
                      <a:r>
                        <a:rPr lang="zh-CN" altLang="en-US"/>
                        <a:t>副教授</a:t>
                      </a:r>
                      <a:endParaRPr lang="zh-CN" altLang="en-US"/>
                    </a:p>
                  </a:txBody>
                  <a:tcPr/>
                </a:tc>
                <a:tc>
                  <a:txBody>
                    <a:bodyPr/>
                    <a:lstStyle/>
                    <a:p>
                      <a:pPr>
                        <a:lnSpc>
                          <a:spcPct val="100000"/>
                        </a:lnSpc>
                        <a:buNone/>
                      </a:pPr>
                      <a:r>
                        <a:rPr lang="en-US" altLang="zh-CN"/>
                        <a:t>4000</a:t>
                      </a:r>
                      <a:endParaRPr lang="en-US" altLang="zh-CN"/>
                    </a:p>
                  </a:txBody>
                  <a:tcPr/>
                </a:tc>
                <a:tc>
                  <a:txBody>
                    <a:bodyPr/>
                    <a:lstStyle/>
                    <a:p>
                      <a:pPr>
                        <a:lnSpc>
                          <a:spcPct val="100000"/>
                        </a:lnSpc>
                        <a:buNone/>
                      </a:pPr>
                      <a:r>
                        <a:rPr lang="en-US" altLang="zh-CN"/>
                        <a:t>1000</a:t>
                      </a:r>
                      <a:endParaRPr lang="en-US" altLang="zh-CN"/>
                    </a:p>
                  </a:txBody>
                  <a:tcPr/>
                </a:tc>
                <a:tc>
                  <a:txBody>
                    <a:bodyPr/>
                    <a:lstStyle/>
                    <a:p>
                      <a:pPr>
                        <a:lnSpc>
                          <a:spcPct val="100000"/>
                        </a:lnSpc>
                        <a:buNone/>
                      </a:pPr>
                      <a:r>
                        <a:rPr lang="en-US" altLang="zh-CN"/>
                        <a:t>180</a:t>
                      </a:r>
                      <a:endParaRPr lang="en-US" altLang="zh-CN"/>
                    </a:p>
                  </a:txBody>
                  <a:tcPr/>
                </a:tc>
                <a:tc>
                  <a:txBody>
                    <a:bodyPr/>
                    <a:lstStyle/>
                    <a:p>
                      <a:pPr>
                        <a:lnSpc>
                          <a:spcPct val="100000"/>
                        </a:lnSpc>
                        <a:buNone/>
                      </a:pPr>
                      <a:r>
                        <a:rPr lang="en-US" altLang="zh-CN" sz="1800">
                          <a:sym typeface="+mn-ea"/>
                        </a:rPr>
                        <a:t>2020-01</a:t>
                      </a:r>
                      <a:endParaRPr lang="zh-CN" altLang="en-US"/>
                    </a:p>
                  </a:txBody>
                  <a:tcPr/>
                </a:tc>
              </a:tr>
              <a:tr h="394335">
                <a:tc>
                  <a:txBody>
                    <a:bodyPr/>
                    <a:lstStyle/>
                    <a:p>
                      <a:pPr>
                        <a:lnSpc>
                          <a:spcPct val="100000"/>
                        </a:lnSpc>
                        <a:buNone/>
                      </a:pPr>
                      <a:r>
                        <a:rPr lang="en-US" altLang="zh-CN"/>
                        <a:t>6726</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zh-CN" altLang="en-US"/>
                        <a:t>教授</a:t>
                      </a:r>
                      <a:endParaRPr lang="zh-CN" altLang="en-US"/>
                    </a:p>
                  </a:txBody>
                  <a:tcPr/>
                </a:tc>
                <a:tc>
                  <a:txBody>
                    <a:bodyPr/>
                    <a:lstStyle/>
                    <a:p>
                      <a:pPr>
                        <a:lnSpc>
                          <a:spcPct val="100000"/>
                        </a:lnSpc>
                        <a:buNone/>
                      </a:pPr>
                      <a:r>
                        <a:rPr lang="en-US" altLang="zh-CN"/>
                        <a:t>4500</a:t>
                      </a:r>
                      <a:endParaRPr lang="en-US" altLang="zh-CN"/>
                    </a:p>
                  </a:txBody>
                  <a:tcPr/>
                </a:tc>
                <a:tc>
                  <a:txBody>
                    <a:bodyPr/>
                    <a:lstStyle/>
                    <a:p>
                      <a:pPr>
                        <a:lnSpc>
                          <a:spcPct val="100000"/>
                        </a:lnSpc>
                        <a:buNone/>
                      </a:pPr>
                      <a:r>
                        <a:rPr lang="en-US" altLang="zh-CN"/>
                        <a:t>1350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zh-CN" altLang="en-US"/>
                        <a:t>教授</a:t>
                      </a:r>
                      <a:endParaRPr lang="zh-CN" altLang="en-US"/>
                    </a:p>
                  </a:txBody>
                  <a:tcPr/>
                </a:tc>
                <a:tc>
                  <a:txBody>
                    <a:bodyPr/>
                    <a:lstStyle/>
                    <a:p>
                      <a:pPr>
                        <a:lnSpc>
                          <a:spcPct val="100000"/>
                        </a:lnSpc>
                        <a:buNone/>
                      </a:pPr>
                      <a:r>
                        <a:rPr lang="en-US" altLang="zh-CN"/>
                        <a:t>5000</a:t>
                      </a:r>
                      <a:endParaRPr lang="en-US" altLang="zh-CN"/>
                    </a:p>
                  </a:txBody>
                  <a:tcPr/>
                </a:tc>
                <a:tc>
                  <a:txBody>
                    <a:bodyPr/>
                    <a:lstStyle/>
                    <a:p>
                      <a:pPr>
                        <a:lnSpc>
                          <a:spcPct val="100000"/>
                        </a:lnSpc>
                        <a:buNone/>
                      </a:pPr>
                      <a:r>
                        <a:rPr lang="en-US" altLang="zh-CN"/>
                        <a:t>1400</a:t>
                      </a:r>
                      <a:endParaRPr lang="en-US" altLang="zh-CN"/>
                    </a:p>
                  </a:txBody>
                  <a:tcPr/>
                </a:tc>
                <a:tc>
                  <a:txBody>
                    <a:bodyPr/>
                    <a:lstStyle/>
                    <a:p>
                      <a:pPr>
                        <a:lnSpc>
                          <a:spcPct val="100000"/>
                        </a:lnSpc>
                        <a:buNone/>
                      </a:pPr>
                      <a:r>
                        <a:rPr lang="en-US" altLang="zh-CN"/>
                        <a:t>220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zh-CN" altLang="en-US"/>
                        <a:t>胡</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c>
                  <a:txBody>
                    <a:bodyPr/>
                    <a:lstStyle/>
                    <a:p>
                      <a:pPr>
                        <a:lnSpc>
                          <a:spcPct val="100000"/>
                        </a:lnSpc>
                        <a:buNone/>
                      </a:pPr>
                      <a:r>
                        <a:rPr lang="zh-CN" altLang="en-US"/>
                        <a:t>副教授</a:t>
                      </a:r>
                      <a:endParaRPr lang="zh-CN" altLang="en-US"/>
                    </a:p>
                  </a:txBody>
                  <a:tcPr/>
                </a:tc>
                <a:tc>
                  <a:txBody>
                    <a:bodyPr/>
                    <a:lstStyle/>
                    <a:p>
                      <a:pPr>
                        <a:lnSpc>
                          <a:spcPct val="100000"/>
                        </a:lnSpc>
                        <a:buNone/>
                      </a:pPr>
                      <a:r>
                        <a:rPr lang="en-US" altLang="zh-CN"/>
                        <a:t>4000</a:t>
                      </a:r>
                      <a:endParaRPr lang="en-US" altLang="zh-CN"/>
                    </a:p>
                  </a:txBody>
                  <a:tcPr/>
                </a:tc>
                <a:tc>
                  <a:txBody>
                    <a:bodyPr/>
                    <a:lstStyle/>
                    <a:p>
                      <a:pPr>
                        <a:lnSpc>
                          <a:spcPct val="100000"/>
                        </a:lnSpc>
                        <a:buNone/>
                      </a:pPr>
                      <a:r>
                        <a:rPr lang="en-US" altLang="zh-CN"/>
                        <a:t>1300</a:t>
                      </a:r>
                      <a:endParaRPr lang="en-US" altLang="zh-CN"/>
                    </a:p>
                  </a:txBody>
                  <a:tcPr/>
                </a:tc>
                <a:tc>
                  <a:txBody>
                    <a:bodyPr/>
                    <a:lstStyle/>
                    <a:p>
                      <a:pPr>
                        <a:lnSpc>
                          <a:spcPct val="100000"/>
                        </a:lnSpc>
                        <a:buNone/>
                      </a:pPr>
                      <a:r>
                        <a:rPr lang="en-US" altLang="zh-CN"/>
                        <a:t>280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bl>
          </a:graphicData>
        </a:graphic>
      </p:graphicFrame>
      <p:sp>
        <p:nvSpPr>
          <p:cNvPr id="7" name="文本框 6"/>
          <p:cNvSpPr txBox="1"/>
          <p:nvPr/>
        </p:nvSpPr>
        <p:spPr>
          <a:xfrm>
            <a:off x="394335" y="1417320"/>
            <a:ext cx="7978775" cy="46037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solidFill>
                  <a:srgbClr val="C00000"/>
                </a:solidFill>
              </a:rPr>
              <a:t>数据的实际存储</a:t>
            </a:r>
            <a:endParaRPr lang="zh-CN" altLang="en-US" sz="2400">
              <a:solidFill>
                <a:srgbClr val="C00000"/>
              </a:solidFill>
            </a:endParaRPr>
          </a:p>
        </p:txBody>
      </p:sp>
      <p:sp>
        <p:nvSpPr>
          <p:cNvPr id="4" name="矩形 3"/>
          <p:cNvSpPr/>
          <p:nvPr/>
        </p:nvSpPr>
        <p:spPr>
          <a:xfrm>
            <a:off x="419735" y="1881505"/>
            <a:ext cx="4892675" cy="2834640"/>
          </a:xfrm>
          <a:prstGeom prst="rect">
            <a:avLst/>
          </a:prstGeom>
          <a:noFill/>
          <a:ln w="28575" cmpd="sng">
            <a:solidFill>
              <a:srgbClr val="CC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94335" y="4867910"/>
            <a:ext cx="8501380" cy="82994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t>数据冗余存储；</a:t>
            </a:r>
            <a:endParaRPr lang="zh-CN" altLang="en-US" sz="2400"/>
          </a:p>
          <a:p>
            <a:pPr>
              <a:lnSpc>
                <a:spcPct val="100000"/>
              </a:lnSpc>
              <a:buFont typeface="Wingdings" panose="05000000000000000000" charset="0"/>
              <a:buChar char="p"/>
            </a:pPr>
            <a:r>
              <a:rPr lang="zh-CN" altLang="en-US" sz="2400"/>
              <a:t>有可能造成数据的不一致。</a:t>
            </a:r>
            <a:endParaRPr lang="zh-CN" altLang="en-US" sz="2400"/>
          </a:p>
        </p:txBody>
      </p:sp>
      <p:sp>
        <p:nvSpPr>
          <p:cNvPr id="79874" name="矩形 2"/>
          <p:cNvSpPr/>
          <p:nvPr/>
        </p:nvSpPr>
        <p:spPr>
          <a:xfrm>
            <a:off x="498475" y="898525"/>
            <a:ext cx="3581400" cy="51752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endParaRPr lang="zh-CN" altLang="zh-CN" sz="2800" dirty="0">
              <a:solidFill>
                <a:srgbClr val="0033CC"/>
              </a:solidFill>
              <a:latin typeface="黑体" panose="02010609060101010101" pitchFamily="1" charset="-122"/>
              <a:ea typeface="黑体" panose="02010609060101010101" pitchFamily="1" charset="-122"/>
            </a:endParaRPr>
          </a:p>
        </p:txBody>
      </p:sp>
      <p:sp>
        <p:nvSpPr>
          <p:cNvPr id="3"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17855" y="1581785"/>
            <a:ext cx="4771390" cy="1532890"/>
            <a:chOff x="973" y="1664"/>
            <a:chExt cx="7514" cy="2414"/>
          </a:xfrm>
        </p:grpSpPr>
        <p:sp>
          <p:nvSpPr>
            <p:cNvPr id="79894" name="Rectangle 17"/>
            <p:cNvSpPr/>
            <p:nvPr/>
          </p:nvSpPr>
          <p:spPr>
            <a:xfrm>
              <a:off x="2673" y="3250"/>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职工</a:t>
              </a:r>
              <a:endParaRPr lang="zh-CN" altLang="en-US" sz="1400" dirty="0">
                <a:latin typeface="Arial" panose="020B0604020202020204" pitchFamily="34" charset="0"/>
                <a:ea typeface="宋体" panose="02010600030101010101" pitchFamily="2" charset="-122"/>
              </a:endParaRPr>
            </a:p>
          </p:txBody>
        </p:sp>
        <p:sp>
          <p:nvSpPr>
            <p:cNvPr id="79895" name="Oval 18"/>
            <p:cNvSpPr/>
            <p:nvPr/>
          </p:nvSpPr>
          <p:spPr>
            <a:xfrm>
              <a:off x="973" y="3138"/>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职工号</a:t>
              </a:r>
              <a:endParaRPr lang="zh-CN" altLang="en-US" sz="1400" u="sng" dirty="0">
                <a:latin typeface="Arial" panose="020B0604020202020204" pitchFamily="34" charset="0"/>
                <a:ea typeface="宋体" panose="02010600030101010101" pitchFamily="2" charset="-122"/>
              </a:endParaRPr>
            </a:p>
          </p:txBody>
        </p:sp>
        <p:sp>
          <p:nvSpPr>
            <p:cNvPr id="79896" name="Oval 19"/>
            <p:cNvSpPr/>
            <p:nvPr/>
          </p:nvSpPr>
          <p:spPr>
            <a:xfrm>
              <a:off x="1198" y="211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79897" name="Oval 20"/>
            <p:cNvSpPr/>
            <p:nvPr/>
          </p:nvSpPr>
          <p:spPr>
            <a:xfrm>
              <a:off x="2220" y="1664"/>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79898" name="Oval 21"/>
            <p:cNvSpPr/>
            <p:nvPr/>
          </p:nvSpPr>
          <p:spPr>
            <a:xfrm>
              <a:off x="3240" y="1664"/>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年龄</a:t>
              </a:r>
              <a:endParaRPr lang="zh-CN" altLang="en-US" sz="1400" dirty="0">
                <a:latin typeface="Arial" panose="020B0604020202020204" pitchFamily="34" charset="0"/>
                <a:ea typeface="宋体" panose="02010600030101010101" pitchFamily="2" charset="-122"/>
              </a:endParaRPr>
            </a:p>
          </p:txBody>
        </p:sp>
        <p:sp>
          <p:nvSpPr>
            <p:cNvPr id="79899" name="Oval 22"/>
            <p:cNvSpPr/>
            <p:nvPr/>
          </p:nvSpPr>
          <p:spPr>
            <a:xfrm>
              <a:off x="4148" y="211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职称</a:t>
              </a:r>
              <a:endParaRPr lang="zh-CN" altLang="en-US" sz="1400" dirty="0">
                <a:latin typeface="Arial" panose="020B0604020202020204" pitchFamily="34" charset="0"/>
                <a:ea typeface="宋体" panose="02010600030101010101" pitchFamily="2" charset="-122"/>
              </a:endParaRPr>
            </a:p>
          </p:txBody>
        </p:sp>
        <p:sp>
          <p:nvSpPr>
            <p:cNvPr id="79900" name="Oval 23"/>
            <p:cNvSpPr/>
            <p:nvPr/>
          </p:nvSpPr>
          <p:spPr>
            <a:xfrm>
              <a:off x="5848" y="2004"/>
              <a:ext cx="124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基本工资</a:t>
              </a:r>
              <a:endParaRPr lang="zh-CN" altLang="en-US" sz="1400" dirty="0">
                <a:latin typeface="Arial" panose="020B0604020202020204" pitchFamily="34" charset="0"/>
                <a:ea typeface="宋体" panose="02010600030101010101" pitchFamily="2" charset="-122"/>
              </a:endParaRPr>
            </a:p>
          </p:txBody>
        </p:sp>
        <p:sp>
          <p:nvSpPr>
            <p:cNvPr id="79901" name="Line 24"/>
            <p:cNvSpPr/>
            <p:nvPr/>
          </p:nvSpPr>
          <p:spPr>
            <a:xfrm>
              <a:off x="2105" y="3478"/>
              <a:ext cx="567" cy="0"/>
            </a:xfrm>
            <a:prstGeom prst="line">
              <a:avLst/>
            </a:prstGeom>
            <a:ln w="9525" cap="flat" cmpd="sng">
              <a:solidFill>
                <a:schemeClr val="tx1"/>
              </a:solidFill>
              <a:prstDash val="solid"/>
              <a:round/>
              <a:headEnd type="none" w="med" len="med"/>
              <a:tailEnd type="none" w="med" len="med"/>
            </a:ln>
          </p:spPr>
        </p:sp>
        <p:sp>
          <p:nvSpPr>
            <p:cNvPr id="79902" name="Line 25"/>
            <p:cNvSpPr/>
            <p:nvPr/>
          </p:nvSpPr>
          <p:spPr>
            <a:xfrm>
              <a:off x="3693" y="3478"/>
              <a:ext cx="567" cy="0"/>
            </a:xfrm>
            <a:prstGeom prst="line">
              <a:avLst/>
            </a:prstGeom>
            <a:ln w="41275" cap="flat" cmpd="sng">
              <a:solidFill>
                <a:schemeClr val="tx1"/>
              </a:solidFill>
              <a:prstDash val="solid"/>
              <a:round/>
              <a:headEnd type="none" w="med" len="med"/>
              <a:tailEnd type="none" w="med" len="med"/>
            </a:ln>
          </p:spPr>
        </p:sp>
        <p:sp>
          <p:nvSpPr>
            <p:cNvPr id="79903" name="Line 26"/>
            <p:cNvSpPr/>
            <p:nvPr/>
          </p:nvSpPr>
          <p:spPr>
            <a:xfrm>
              <a:off x="1993" y="2684"/>
              <a:ext cx="792" cy="567"/>
            </a:xfrm>
            <a:prstGeom prst="line">
              <a:avLst/>
            </a:prstGeom>
            <a:ln w="9525" cap="flat" cmpd="sng">
              <a:solidFill>
                <a:schemeClr val="tx1"/>
              </a:solidFill>
              <a:prstDash val="solid"/>
              <a:round/>
              <a:headEnd type="none" w="med" len="med"/>
              <a:tailEnd type="none" w="med" len="med"/>
            </a:ln>
          </p:spPr>
        </p:sp>
        <p:sp>
          <p:nvSpPr>
            <p:cNvPr id="79904" name="Line 27"/>
            <p:cNvSpPr/>
            <p:nvPr/>
          </p:nvSpPr>
          <p:spPr>
            <a:xfrm flipH="1">
              <a:off x="3468" y="2684"/>
              <a:ext cx="792" cy="567"/>
            </a:xfrm>
            <a:prstGeom prst="line">
              <a:avLst/>
            </a:prstGeom>
            <a:ln w="9525" cap="flat" cmpd="sng">
              <a:solidFill>
                <a:schemeClr val="tx1"/>
              </a:solidFill>
              <a:prstDash val="solid"/>
              <a:round/>
              <a:headEnd type="none" w="med" len="med"/>
              <a:tailEnd type="none" w="med" len="med"/>
            </a:ln>
          </p:spPr>
        </p:sp>
        <p:sp>
          <p:nvSpPr>
            <p:cNvPr id="79905" name="Line 28"/>
            <p:cNvSpPr/>
            <p:nvPr/>
          </p:nvSpPr>
          <p:spPr>
            <a:xfrm>
              <a:off x="2785" y="2344"/>
              <a:ext cx="227" cy="907"/>
            </a:xfrm>
            <a:prstGeom prst="line">
              <a:avLst/>
            </a:prstGeom>
            <a:ln w="9525" cap="flat" cmpd="sng">
              <a:solidFill>
                <a:schemeClr val="tx1"/>
              </a:solidFill>
              <a:prstDash val="solid"/>
              <a:round/>
              <a:headEnd type="none" w="med" len="med"/>
              <a:tailEnd type="none" w="med" len="med"/>
            </a:ln>
          </p:spPr>
        </p:sp>
        <p:sp>
          <p:nvSpPr>
            <p:cNvPr id="79906" name="Line 29"/>
            <p:cNvSpPr/>
            <p:nvPr/>
          </p:nvSpPr>
          <p:spPr>
            <a:xfrm flipH="1">
              <a:off x="3353" y="2344"/>
              <a:ext cx="227" cy="907"/>
            </a:xfrm>
            <a:prstGeom prst="line">
              <a:avLst/>
            </a:prstGeom>
            <a:ln w="9525" cap="flat" cmpd="sng">
              <a:solidFill>
                <a:schemeClr val="tx1"/>
              </a:solidFill>
              <a:prstDash val="solid"/>
              <a:round/>
              <a:headEnd type="none" w="med" len="med"/>
              <a:tailEnd type="none" w="med" len="med"/>
            </a:ln>
          </p:spPr>
        </p:sp>
        <p:sp>
          <p:nvSpPr>
            <p:cNvPr id="79907" name="AutoShape 30"/>
            <p:cNvSpPr/>
            <p:nvPr/>
          </p:nvSpPr>
          <p:spPr>
            <a:xfrm>
              <a:off x="4260" y="3138"/>
              <a:ext cx="1247" cy="680"/>
            </a:xfrm>
            <a:prstGeom prst="diamond">
              <a:avLst/>
            </a:prstGeom>
            <a:solidFill>
              <a:srgbClr val="FFFF00"/>
            </a:solidFill>
            <a:ln w="47625" cap="flat" cmpd="sng">
              <a:solidFill>
                <a:schemeClr val="tx1"/>
              </a:solidFill>
              <a:prstDash val="solid"/>
              <a:miter/>
              <a:headEnd type="none" w="med" len="med"/>
              <a:tailEnd type="none" w="med" len="med"/>
            </a:ln>
          </p:spPr>
          <p:txBody>
            <a:bodyPr wrap="none" anchor="ctr"/>
            <a:lstStyle/>
            <a:p>
              <a:pPr lvl="0" algn="ctr">
                <a:buNone/>
              </a:pPr>
              <a:r>
                <a:rPr lang="zh-CN" altLang="en-US" sz="1400" dirty="0">
                  <a:solidFill>
                    <a:srgbClr val="000000"/>
                  </a:solidFill>
                  <a:latin typeface="Arial" panose="020B0604020202020204" pitchFamily="34" charset="0"/>
                  <a:ea typeface="宋体" panose="02010600030101010101" pitchFamily="2" charset="-122"/>
                </a:rPr>
                <a:t>拥有</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79908" name="Rectangle 31"/>
            <p:cNvSpPr/>
            <p:nvPr/>
          </p:nvSpPr>
          <p:spPr>
            <a:xfrm>
              <a:off x="6075" y="3250"/>
              <a:ext cx="1020" cy="567"/>
            </a:xfrm>
            <a:prstGeom prst="rect">
              <a:avLst/>
            </a:prstGeom>
            <a:solidFill>
              <a:srgbClr val="FF9933"/>
            </a:solidFill>
            <a:ln w="476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工资</a:t>
              </a:r>
              <a:endParaRPr lang="zh-CN" altLang="en-US" sz="1400" dirty="0">
                <a:latin typeface="Arial" panose="020B0604020202020204" pitchFamily="34" charset="0"/>
                <a:ea typeface="宋体" panose="02010600030101010101" pitchFamily="2" charset="-122"/>
              </a:endParaRPr>
            </a:p>
          </p:txBody>
        </p:sp>
        <p:sp>
          <p:nvSpPr>
            <p:cNvPr id="79909" name="Line 32"/>
            <p:cNvSpPr/>
            <p:nvPr/>
          </p:nvSpPr>
          <p:spPr>
            <a:xfrm>
              <a:off x="5508" y="3478"/>
              <a:ext cx="567" cy="0"/>
            </a:xfrm>
            <a:prstGeom prst="line">
              <a:avLst/>
            </a:prstGeom>
            <a:ln w="63500" cap="flat" cmpd="sng">
              <a:solidFill>
                <a:schemeClr val="tx1"/>
              </a:solidFill>
              <a:prstDash val="solid"/>
              <a:round/>
              <a:headEnd type="triangle" w="med" len="med"/>
              <a:tailEnd type="none" w="med" len="med"/>
            </a:ln>
          </p:spPr>
        </p:sp>
        <p:sp>
          <p:nvSpPr>
            <p:cNvPr id="79910" name="Oval 33"/>
            <p:cNvSpPr/>
            <p:nvPr/>
          </p:nvSpPr>
          <p:spPr>
            <a:xfrm>
              <a:off x="7363" y="211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奖金</a:t>
              </a:r>
              <a:endParaRPr lang="zh-CN" altLang="en-US" sz="1400" dirty="0">
                <a:latin typeface="Arial" panose="020B0604020202020204" pitchFamily="34" charset="0"/>
                <a:ea typeface="宋体" panose="02010600030101010101" pitchFamily="2" charset="-122"/>
              </a:endParaRPr>
            </a:p>
          </p:txBody>
        </p:sp>
        <p:sp>
          <p:nvSpPr>
            <p:cNvPr id="79911" name="Oval 34"/>
            <p:cNvSpPr/>
            <p:nvPr/>
          </p:nvSpPr>
          <p:spPr>
            <a:xfrm>
              <a:off x="7581" y="2832"/>
              <a:ext cx="907" cy="56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补贴</a:t>
              </a:r>
              <a:endParaRPr lang="zh-CN" altLang="en-US" sz="1400" dirty="0">
                <a:latin typeface="Arial" panose="020B0604020202020204" pitchFamily="34" charset="0"/>
                <a:ea typeface="宋体" panose="02010600030101010101" pitchFamily="2" charset="-122"/>
              </a:endParaRPr>
            </a:p>
          </p:txBody>
        </p:sp>
        <p:sp>
          <p:nvSpPr>
            <p:cNvPr id="79913" name="Line 36"/>
            <p:cNvSpPr/>
            <p:nvPr/>
          </p:nvSpPr>
          <p:spPr>
            <a:xfrm flipV="1">
              <a:off x="7095" y="3250"/>
              <a:ext cx="567" cy="260"/>
            </a:xfrm>
            <a:prstGeom prst="line">
              <a:avLst/>
            </a:prstGeom>
            <a:ln w="9525" cap="flat" cmpd="sng">
              <a:solidFill>
                <a:schemeClr val="tx1"/>
              </a:solidFill>
              <a:prstDash val="solid"/>
              <a:round/>
              <a:headEnd type="none" w="med" len="med"/>
              <a:tailEnd type="none" w="med" len="med"/>
            </a:ln>
          </p:spPr>
        </p:sp>
        <p:sp>
          <p:nvSpPr>
            <p:cNvPr id="79914" name="Line 37"/>
            <p:cNvSpPr/>
            <p:nvPr/>
          </p:nvSpPr>
          <p:spPr>
            <a:xfrm flipH="1">
              <a:off x="6983" y="2604"/>
              <a:ext cx="453" cy="647"/>
            </a:xfrm>
            <a:prstGeom prst="line">
              <a:avLst/>
            </a:prstGeom>
            <a:ln w="9525" cap="flat" cmpd="sng">
              <a:solidFill>
                <a:schemeClr val="tx1"/>
              </a:solidFill>
              <a:prstDash val="solid"/>
              <a:round/>
              <a:headEnd type="none" w="med" len="med"/>
              <a:tailEnd type="none" w="med" len="med"/>
            </a:ln>
          </p:spPr>
        </p:sp>
        <p:sp>
          <p:nvSpPr>
            <p:cNvPr id="79915" name="Line 38"/>
            <p:cNvSpPr/>
            <p:nvPr/>
          </p:nvSpPr>
          <p:spPr>
            <a:xfrm>
              <a:off x="6445" y="2685"/>
              <a:ext cx="198" cy="566"/>
            </a:xfrm>
            <a:prstGeom prst="line">
              <a:avLst/>
            </a:prstGeom>
            <a:ln w="9525" cap="flat" cmpd="sng">
              <a:solidFill>
                <a:schemeClr val="tx1"/>
              </a:solidFill>
              <a:prstDash val="solid"/>
              <a:round/>
              <a:headEnd type="none" w="med" len="med"/>
              <a:tailEnd type="none" w="med" len="med"/>
            </a:ln>
          </p:spPr>
        </p:sp>
        <p:sp>
          <p:nvSpPr>
            <p:cNvPr id="79918" name="Text Box 39"/>
            <p:cNvSpPr txBox="1"/>
            <p:nvPr/>
          </p:nvSpPr>
          <p:spPr>
            <a:xfrm>
              <a:off x="3693" y="2747"/>
              <a:ext cx="600" cy="727"/>
            </a:xfrm>
            <a:prstGeom prst="rect">
              <a:avLst/>
            </a:prstGeom>
            <a:noFill/>
            <a:ln w="9525">
              <a:noFill/>
            </a:ln>
          </p:spPr>
          <p:txBody>
            <a:bodyPr wrap="square" anchor="t">
              <a:spAutoFit/>
            </a:bodyPr>
            <a:lstStyle/>
            <a:p>
              <a:pPr lvl="0" indent="0">
                <a:spcBef>
                  <a:spcPct val="50000"/>
                </a:spcBef>
                <a:buNone/>
              </a:pPr>
              <a:r>
                <a:rPr lang="en-US" altLang="x-none" dirty="0">
                  <a:solidFill>
                    <a:srgbClr val="0033CC"/>
                  </a:solidFill>
                  <a:latin typeface="宋体" panose="02010600030101010101" pitchFamily="2" charset="-122"/>
                  <a:ea typeface="宋体" panose="02010600030101010101" pitchFamily="2" charset="-122"/>
                </a:rPr>
                <a:t>1</a:t>
              </a:r>
              <a:endParaRPr lang="de-DE" altLang="en-US" dirty="0">
                <a:solidFill>
                  <a:srgbClr val="0033CC"/>
                </a:solidFill>
                <a:latin typeface="宋体" panose="02010600030101010101" pitchFamily="2" charset="-122"/>
                <a:ea typeface="宋体" panose="02010600030101010101" pitchFamily="2" charset="-122"/>
              </a:endParaRPr>
            </a:p>
          </p:txBody>
        </p:sp>
        <p:sp>
          <p:nvSpPr>
            <p:cNvPr id="79919" name="Text Box 39"/>
            <p:cNvSpPr txBox="1"/>
            <p:nvPr/>
          </p:nvSpPr>
          <p:spPr>
            <a:xfrm>
              <a:off x="5475" y="2747"/>
              <a:ext cx="600" cy="732"/>
            </a:xfrm>
            <a:prstGeom prst="rect">
              <a:avLst/>
            </a:prstGeom>
            <a:noFill/>
            <a:ln w="9525">
              <a:noFill/>
            </a:ln>
          </p:spPr>
          <p:txBody>
            <a:bodyPr wrap="square" anchor="t">
              <a:spAutoFit/>
            </a:bodyPr>
            <a:lstStyle/>
            <a:p>
              <a:pPr lvl="0" indent="0">
                <a:spcBef>
                  <a:spcPct val="50000"/>
                </a:spcBef>
                <a:buNone/>
              </a:pPr>
              <a:r>
                <a:rPr lang="en-US" altLang="de-DE" dirty="0">
                  <a:solidFill>
                    <a:srgbClr val="0033CC"/>
                  </a:solidFill>
                  <a:latin typeface="宋体" panose="02010600030101010101" pitchFamily="2" charset="-122"/>
                  <a:ea typeface="宋体" panose="02010600030101010101" pitchFamily="2" charset="-122"/>
                </a:rPr>
                <a:t>n</a:t>
              </a:r>
              <a:endParaRPr lang="en-US" altLang="de-DE" dirty="0">
                <a:solidFill>
                  <a:srgbClr val="0033CC"/>
                </a:solidFill>
                <a:latin typeface="宋体" panose="02010600030101010101" pitchFamily="2" charset="-122"/>
                <a:ea typeface="宋体" panose="02010600030101010101" pitchFamily="2" charset="-122"/>
              </a:endParaRPr>
            </a:p>
          </p:txBody>
        </p:sp>
        <p:sp>
          <p:nvSpPr>
            <p:cNvPr id="3" name="Oval 34"/>
            <p:cNvSpPr/>
            <p:nvPr/>
          </p:nvSpPr>
          <p:spPr>
            <a:xfrm>
              <a:off x="7436" y="3478"/>
              <a:ext cx="907" cy="6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月份</a:t>
              </a:r>
              <a:endParaRPr lang="zh-CN" altLang="en-US" sz="1400" dirty="0">
                <a:latin typeface="Arial" panose="020B0604020202020204" pitchFamily="34" charset="0"/>
                <a:ea typeface="宋体" panose="02010600030101010101" pitchFamily="2" charset="-122"/>
              </a:endParaRPr>
            </a:p>
          </p:txBody>
        </p:sp>
        <p:sp>
          <p:nvSpPr>
            <p:cNvPr id="4" name="Line 36"/>
            <p:cNvSpPr/>
            <p:nvPr/>
          </p:nvSpPr>
          <p:spPr>
            <a:xfrm>
              <a:off x="7095" y="3512"/>
              <a:ext cx="342" cy="226"/>
            </a:xfrm>
            <a:prstGeom prst="line">
              <a:avLst/>
            </a:prstGeom>
            <a:ln w="9525" cap="flat" cmpd="sng">
              <a:solidFill>
                <a:schemeClr val="tx1"/>
              </a:solidFill>
              <a:prstDash val="solid"/>
              <a:round/>
              <a:headEnd type="none" w="med" len="med"/>
              <a:tailEnd type="none" w="med" len="med"/>
            </a:ln>
          </p:spPr>
        </p:sp>
        <p:cxnSp>
          <p:nvCxnSpPr>
            <p:cNvPr id="10" name="直接连接符 9"/>
            <p:cNvCxnSpPr>
              <a:stCxn id="3" idx="3"/>
              <a:endCxn id="3" idx="5"/>
            </p:cNvCxnSpPr>
            <p:nvPr/>
          </p:nvCxnSpPr>
          <p:spPr>
            <a:xfrm>
              <a:off x="7569" y="3990"/>
              <a:ext cx="641" cy="0"/>
            </a:xfrm>
            <a:prstGeom prst="line">
              <a:avLst/>
            </a:prstGeom>
            <a:ln>
              <a:solidFill>
                <a:srgbClr val="FF3300"/>
              </a:solidFill>
              <a:prstDash val="dash"/>
            </a:ln>
          </p:spPr>
          <p:style>
            <a:lnRef idx="1">
              <a:schemeClr val="accent1"/>
            </a:lnRef>
            <a:fillRef idx="0">
              <a:schemeClr val="accent1"/>
            </a:fillRef>
            <a:effectRef idx="0">
              <a:schemeClr val="accent1"/>
            </a:effectRef>
            <a:fontRef idx="minor">
              <a:schemeClr val="tx1"/>
            </a:fontRef>
          </p:style>
        </p:cxnSp>
      </p:grpSp>
      <p:graphicFrame>
        <p:nvGraphicFramePr>
          <p:cNvPr id="50" name="表格 49"/>
          <p:cNvGraphicFramePr/>
          <p:nvPr>
            <p:custDataLst>
              <p:tags r:id="rId1"/>
            </p:custDataLst>
          </p:nvPr>
        </p:nvGraphicFramePr>
        <p:xfrm>
          <a:off x="121285" y="3891915"/>
          <a:ext cx="4448810" cy="1520190"/>
        </p:xfrm>
        <a:graphic>
          <a:graphicData uri="http://schemas.openxmlformats.org/drawingml/2006/table">
            <a:tbl>
              <a:tblPr firstRow="1" bandRow="1">
                <a:tableStyleId>{5C22544A-7EE6-4342-B048-85BDC9FD1C3A}</a:tableStyleId>
              </a:tblPr>
              <a:tblGrid>
                <a:gridCol w="918845"/>
                <a:gridCol w="800100"/>
                <a:gridCol w="659130"/>
                <a:gridCol w="1118870"/>
                <a:gridCol w="951865"/>
              </a:tblGrid>
              <a:tr h="367030">
                <a:tc>
                  <a:txBody>
                    <a:bodyPr/>
                    <a:lstStyle/>
                    <a:p>
                      <a:pPr>
                        <a:lnSpc>
                          <a:spcPct val="100000"/>
                        </a:lnSpc>
                        <a:buNone/>
                      </a:pPr>
                      <a:r>
                        <a:rPr lang="zh-CN" altLang="en-US">
                          <a:solidFill>
                            <a:schemeClr val="tx1"/>
                          </a:solidFill>
                        </a:rPr>
                        <a:t>职工号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入职时间</a:t>
                      </a:r>
                      <a:endParaRPr lang="zh-CN" altLang="en-US">
                        <a:solidFill>
                          <a:schemeClr val="tx1"/>
                        </a:solidFill>
                      </a:endParaRPr>
                    </a:p>
                  </a:txBody>
                  <a:tcPr/>
                </a:tc>
                <a:tc>
                  <a:txBody>
                    <a:bodyPr/>
                    <a:lstStyle/>
                    <a:p>
                      <a:pPr>
                        <a:lnSpc>
                          <a:spcPct val="100000"/>
                        </a:lnSpc>
                        <a:buNone/>
                      </a:pPr>
                      <a:r>
                        <a:rPr lang="zh-CN" altLang="en-US">
                          <a:solidFill>
                            <a:schemeClr val="tx1"/>
                          </a:solidFill>
                        </a:rPr>
                        <a:t>职称</a:t>
                      </a:r>
                      <a:endParaRPr lang="zh-CN" altLang="en-US">
                        <a:solidFill>
                          <a:schemeClr val="tx1"/>
                        </a:solidFill>
                      </a:endParaRPr>
                    </a:p>
                  </a:txBody>
                  <a:tcPr/>
                </a:tc>
              </a:tr>
              <a:tr h="364490">
                <a:tc>
                  <a:txBody>
                    <a:bodyPr/>
                    <a:lstStyle/>
                    <a:p>
                      <a:pPr>
                        <a:lnSpc>
                          <a:spcPct val="100000"/>
                        </a:lnSpc>
                        <a:buNone/>
                      </a:pPr>
                      <a:r>
                        <a:rPr lang="en-US" altLang="zh-CN"/>
                        <a:t>6726</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zh-CN" altLang="en-US"/>
                        <a:t>教授</a:t>
                      </a:r>
                      <a:endParaRPr lang="zh-CN" altLang="en-US"/>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zh-CN" altLang="en-US"/>
                        <a:t>教授</a:t>
                      </a:r>
                      <a:endParaRPr lang="zh-CN" alt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zh-CN" altLang="en-US"/>
                        <a:t>胡</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c>
                  <a:txBody>
                    <a:bodyPr/>
                    <a:lstStyle/>
                    <a:p>
                      <a:pPr>
                        <a:lnSpc>
                          <a:spcPct val="100000"/>
                        </a:lnSpc>
                        <a:buNone/>
                      </a:pPr>
                      <a:r>
                        <a:rPr lang="zh-CN" altLang="en-US"/>
                        <a:t>副教授</a:t>
                      </a:r>
                      <a:endParaRPr lang="zh-CN" altLang="en-US"/>
                    </a:p>
                  </a:txBody>
                  <a:tcPr/>
                </a:tc>
              </a:tr>
            </a:tbl>
          </a:graphicData>
        </a:graphic>
      </p:graphicFrame>
      <p:graphicFrame>
        <p:nvGraphicFramePr>
          <p:cNvPr id="5" name="表格 4"/>
          <p:cNvGraphicFramePr/>
          <p:nvPr>
            <p:custDataLst>
              <p:tags r:id="rId2"/>
            </p:custDataLst>
          </p:nvPr>
        </p:nvGraphicFramePr>
        <p:xfrm>
          <a:off x="4570095" y="3230245"/>
          <a:ext cx="4554220" cy="2701925"/>
        </p:xfrm>
        <a:graphic>
          <a:graphicData uri="http://schemas.openxmlformats.org/drawingml/2006/table">
            <a:tbl>
              <a:tblPr firstRow="1" bandRow="1">
                <a:tableStyleId>{5C22544A-7EE6-4342-B048-85BDC9FD1C3A}</a:tableStyleId>
              </a:tblPr>
              <a:tblGrid>
                <a:gridCol w="943610"/>
                <a:gridCol w="1120140"/>
                <a:gridCol w="751840"/>
                <a:gridCol w="689610"/>
                <a:gridCol w="1049020"/>
              </a:tblGrid>
              <a:tr h="367030">
                <a:tc>
                  <a:txBody>
                    <a:bodyPr/>
                    <a:lstStyle/>
                    <a:p>
                      <a:pPr>
                        <a:lnSpc>
                          <a:spcPct val="100000"/>
                        </a:lnSpc>
                        <a:buNone/>
                      </a:pPr>
                      <a:r>
                        <a:rPr lang="zh-CN" altLang="en-US">
                          <a:solidFill>
                            <a:schemeClr val="tx1"/>
                          </a:solidFill>
                        </a:rPr>
                        <a:t>职工号</a:t>
                      </a:r>
                      <a:endParaRPr lang="zh-CN" altLang="en-US">
                        <a:solidFill>
                          <a:schemeClr val="tx1"/>
                        </a:solidFill>
                      </a:endParaRPr>
                    </a:p>
                  </a:txBody>
                  <a:tcPr/>
                </a:tc>
                <a:tc>
                  <a:txBody>
                    <a:bodyPr/>
                    <a:lstStyle/>
                    <a:p>
                      <a:pPr>
                        <a:lnSpc>
                          <a:spcPct val="100000"/>
                        </a:lnSpc>
                        <a:buNone/>
                      </a:pPr>
                      <a:r>
                        <a:rPr lang="zh-CN" altLang="en-US">
                          <a:solidFill>
                            <a:schemeClr val="tx1"/>
                          </a:solidFill>
                        </a:rPr>
                        <a:t>基本工资</a:t>
                      </a:r>
                      <a:endParaRPr lang="zh-CN" altLang="en-US">
                        <a:solidFill>
                          <a:schemeClr val="tx1"/>
                        </a:solidFill>
                      </a:endParaRPr>
                    </a:p>
                  </a:txBody>
                  <a:tcPr/>
                </a:tc>
                <a:tc>
                  <a:txBody>
                    <a:bodyPr/>
                    <a:lstStyle/>
                    <a:p>
                      <a:pPr>
                        <a:lnSpc>
                          <a:spcPct val="100000"/>
                        </a:lnSpc>
                        <a:buNone/>
                      </a:pPr>
                      <a:r>
                        <a:rPr lang="zh-CN" altLang="en-US">
                          <a:solidFill>
                            <a:schemeClr val="tx1"/>
                          </a:solidFill>
                        </a:rPr>
                        <a:t>奖金</a:t>
                      </a:r>
                      <a:endParaRPr lang="zh-CN" altLang="en-US">
                        <a:solidFill>
                          <a:schemeClr val="tx1"/>
                        </a:solidFill>
                      </a:endParaRPr>
                    </a:p>
                  </a:txBody>
                  <a:tcPr/>
                </a:tc>
                <a:tc>
                  <a:txBody>
                    <a:bodyPr/>
                    <a:lstStyle/>
                    <a:p>
                      <a:pPr>
                        <a:lnSpc>
                          <a:spcPct val="100000"/>
                        </a:lnSpc>
                        <a:buNone/>
                      </a:pPr>
                      <a:r>
                        <a:rPr lang="zh-CN" altLang="en-US">
                          <a:solidFill>
                            <a:schemeClr val="tx1"/>
                          </a:solidFill>
                        </a:rPr>
                        <a:t>补贴</a:t>
                      </a:r>
                      <a:endParaRPr lang="zh-CN" altLang="en-US">
                        <a:solidFill>
                          <a:schemeClr val="tx1"/>
                        </a:solidFill>
                      </a:endParaRPr>
                    </a:p>
                  </a:txBody>
                  <a:tcPr/>
                </a:tc>
                <a:tc>
                  <a:txBody>
                    <a:bodyPr/>
                    <a:lstStyle/>
                    <a:p>
                      <a:pPr>
                        <a:lnSpc>
                          <a:spcPct val="100000"/>
                        </a:lnSpc>
                        <a:buNone/>
                      </a:pPr>
                      <a:r>
                        <a:rPr lang="zh-CN" altLang="en-US">
                          <a:solidFill>
                            <a:schemeClr val="tx1"/>
                          </a:solidFill>
                        </a:rPr>
                        <a:t>月份</a:t>
                      </a:r>
                      <a:endParaRPr lang="zh-CN" altLang="en-US">
                        <a:solidFill>
                          <a:schemeClr val="tx1"/>
                        </a:solidFill>
                      </a:endParaRPr>
                    </a:p>
                  </a:txBody>
                  <a:tcPr/>
                </a:tc>
              </a:tr>
              <a:tr h="364490">
                <a:tc>
                  <a:txBody>
                    <a:bodyPr/>
                    <a:lstStyle/>
                    <a:p>
                      <a:pPr>
                        <a:lnSpc>
                          <a:spcPct val="100000"/>
                        </a:lnSpc>
                        <a:buNone/>
                      </a:pPr>
                      <a:r>
                        <a:rPr lang="en-US" altLang="zh-CN"/>
                        <a:t>6726</a:t>
                      </a:r>
                      <a:endParaRPr lang="en-US" altLang="zh-CN"/>
                    </a:p>
                  </a:txBody>
                  <a:tcPr/>
                </a:tc>
                <a:tc>
                  <a:txBody>
                    <a:bodyPr/>
                    <a:lstStyle/>
                    <a:p>
                      <a:pPr>
                        <a:lnSpc>
                          <a:spcPct val="100000"/>
                        </a:lnSpc>
                        <a:buNone/>
                      </a:pPr>
                      <a:r>
                        <a:rPr lang="en-US" altLang="zh-CN"/>
                        <a:t>4500</a:t>
                      </a:r>
                      <a:endParaRPr lang="en-US" altLang="zh-CN"/>
                    </a:p>
                  </a:txBody>
                  <a:tcPr/>
                </a:tc>
                <a:tc>
                  <a:txBody>
                    <a:bodyPr/>
                    <a:lstStyle/>
                    <a:p>
                      <a:pPr>
                        <a:lnSpc>
                          <a:spcPct val="100000"/>
                        </a:lnSpc>
                        <a:buNone/>
                      </a:pPr>
                      <a:r>
                        <a:rPr lang="en-US" altLang="zh-CN"/>
                        <a:t>1200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a:t>2020-01</a:t>
                      </a:r>
                      <a:endParaRPr lang="en-US" altLang="zh-CN"/>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en-US" altLang="zh-CN"/>
                        <a:t>5000</a:t>
                      </a:r>
                      <a:endParaRPr lang="en-US" altLang="zh-CN"/>
                    </a:p>
                  </a:txBody>
                  <a:tcPr/>
                </a:tc>
                <a:tc>
                  <a:txBody>
                    <a:bodyPr/>
                    <a:lstStyle/>
                    <a:p>
                      <a:pPr>
                        <a:lnSpc>
                          <a:spcPct val="100000"/>
                        </a:lnSpc>
                        <a:buNone/>
                      </a:pPr>
                      <a:r>
                        <a:rPr lang="en-US" altLang="zh-CN"/>
                        <a:t>1400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sz="1800">
                          <a:sym typeface="+mn-ea"/>
                        </a:rPr>
                        <a:t>2020-01</a:t>
                      </a:r>
                      <a:endParaRPr lang="zh-CN" alt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en-US" altLang="zh-CN"/>
                        <a:t>4000</a:t>
                      </a:r>
                      <a:endParaRPr lang="en-US" altLang="zh-CN"/>
                    </a:p>
                  </a:txBody>
                  <a:tcPr/>
                </a:tc>
                <a:tc>
                  <a:txBody>
                    <a:bodyPr/>
                    <a:lstStyle/>
                    <a:p>
                      <a:pPr>
                        <a:lnSpc>
                          <a:spcPct val="100000"/>
                        </a:lnSpc>
                        <a:buNone/>
                      </a:pPr>
                      <a:r>
                        <a:rPr lang="en-US" altLang="zh-CN"/>
                        <a:t>1000</a:t>
                      </a:r>
                      <a:endParaRPr lang="en-US" altLang="zh-CN"/>
                    </a:p>
                  </a:txBody>
                  <a:tcPr/>
                </a:tc>
                <a:tc>
                  <a:txBody>
                    <a:bodyPr/>
                    <a:lstStyle/>
                    <a:p>
                      <a:pPr>
                        <a:lnSpc>
                          <a:spcPct val="100000"/>
                        </a:lnSpc>
                        <a:buNone/>
                      </a:pPr>
                      <a:r>
                        <a:rPr lang="en-US" altLang="zh-CN"/>
                        <a:t>180</a:t>
                      </a:r>
                      <a:endParaRPr lang="en-US" altLang="zh-CN"/>
                    </a:p>
                  </a:txBody>
                  <a:tcPr/>
                </a:tc>
                <a:tc>
                  <a:txBody>
                    <a:bodyPr/>
                    <a:lstStyle/>
                    <a:p>
                      <a:pPr>
                        <a:lnSpc>
                          <a:spcPct val="100000"/>
                        </a:lnSpc>
                        <a:buNone/>
                      </a:pPr>
                      <a:r>
                        <a:rPr lang="en-US" altLang="zh-CN" sz="1800">
                          <a:sym typeface="+mn-ea"/>
                        </a:rPr>
                        <a:t>2020-01</a:t>
                      </a:r>
                      <a:endParaRPr lang="zh-CN" altLang="en-US"/>
                    </a:p>
                  </a:txBody>
                  <a:tcPr/>
                </a:tc>
              </a:tr>
              <a:tr h="394335">
                <a:tc>
                  <a:txBody>
                    <a:bodyPr/>
                    <a:lstStyle/>
                    <a:p>
                      <a:pPr>
                        <a:lnSpc>
                          <a:spcPct val="100000"/>
                        </a:lnSpc>
                        <a:buNone/>
                      </a:pPr>
                      <a:r>
                        <a:rPr lang="en-US" altLang="zh-CN"/>
                        <a:t>6726</a:t>
                      </a:r>
                      <a:endParaRPr lang="en-US" altLang="zh-CN"/>
                    </a:p>
                  </a:txBody>
                  <a:tcPr/>
                </a:tc>
                <a:tc>
                  <a:txBody>
                    <a:bodyPr/>
                    <a:lstStyle/>
                    <a:p>
                      <a:pPr>
                        <a:lnSpc>
                          <a:spcPct val="100000"/>
                        </a:lnSpc>
                        <a:buNone/>
                      </a:pPr>
                      <a:r>
                        <a:rPr lang="en-US" altLang="zh-CN"/>
                        <a:t>4500</a:t>
                      </a:r>
                      <a:endParaRPr lang="en-US" altLang="zh-CN"/>
                    </a:p>
                  </a:txBody>
                  <a:tcPr/>
                </a:tc>
                <a:tc>
                  <a:txBody>
                    <a:bodyPr/>
                    <a:lstStyle/>
                    <a:p>
                      <a:pPr>
                        <a:lnSpc>
                          <a:spcPct val="100000"/>
                        </a:lnSpc>
                        <a:buNone/>
                      </a:pPr>
                      <a:r>
                        <a:rPr lang="en-US" altLang="zh-CN"/>
                        <a:t>1350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en-US" altLang="zh-CN"/>
                        <a:t>5000</a:t>
                      </a:r>
                      <a:endParaRPr lang="en-US" altLang="zh-CN"/>
                    </a:p>
                  </a:txBody>
                  <a:tcPr/>
                </a:tc>
                <a:tc>
                  <a:txBody>
                    <a:bodyPr/>
                    <a:lstStyle/>
                    <a:p>
                      <a:pPr>
                        <a:lnSpc>
                          <a:spcPct val="100000"/>
                        </a:lnSpc>
                        <a:buNone/>
                      </a:pPr>
                      <a:r>
                        <a:rPr lang="en-US" altLang="zh-CN"/>
                        <a:t>1400</a:t>
                      </a:r>
                      <a:endParaRPr lang="en-US" altLang="zh-CN"/>
                    </a:p>
                  </a:txBody>
                  <a:tcPr/>
                </a:tc>
                <a:tc>
                  <a:txBody>
                    <a:bodyPr/>
                    <a:lstStyle/>
                    <a:p>
                      <a:pPr>
                        <a:lnSpc>
                          <a:spcPct val="100000"/>
                        </a:lnSpc>
                        <a:buNone/>
                      </a:pPr>
                      <a:r>
                        <a:rPr lang="en-US" altLang="zh-CN"/>
                        <a:t>220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en-US" altLang="zh-CN"/>
                        <a:t>4000</a:t>
                      </a:r>
                      <a:endParaRPr lang="en-US" altLang="zh-CN"/>
                    </a:p>
                  </a:txBody>
                  <a:tcPr/>
                </a:tc>
                <a:tc>
                  <a:txBody>
                    <a:bodyPr/>
                    <a:lstStyle/>
                    <a:p>
                      <a:pPr>
                        <a:lnSpc>
                          <a:spcPct val="100000"/>
                        </a:lnSpc>
                        <a:buNone/>
                      </a:pPr>
                      <a:r>
                        <a:rPr lang="en-US" altLang="zh-CN"/>
                        <a:t>1300</a:t>
                      </a:r>
                      <a:endParaRPr lang="en-US" altLang="zh-CN"/>
                    </a:p>
                  </a:txBody>
                  <a:tcPr/>
                </a:tc>
                <a:tc>
                  <a:txBody>
                    <a:bodyPr/>
                    <a:lstStyle/>
                    <a:p>
                      <a:pPr>
                        <a:lnSpc>
                          <a:spcPct val="100000"/>
                        </a:lnSpc>
                        <a:buNone/>
                      </a:pPr>
                      <a:r>
                        <a:rPr lang="en-US" altLang="zh-CN"/>
                        <a:t>280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bl>
          </a:graphicData>
        </a:graphic>
      </p:graphicFrame>
      <p:sp>
        <p:nvSpPr>
          <p:cNvPr id="79874" name="矩形 2"/>
          <p:cNvSpPr/>
          <p:nvPr/>
        </p:nvSpPr>
        <p:spPr>
          <a:xfrm>
            <a:off x="498475" y="898525"/>
            <a:ext cx="3581400" cy="51752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endParaRPr lang="zh-CN" altLang="zh-CN" sz="2800" dirty="0">
              <a:solidFill>
                <a:srgbClr val="0033CC"/>
              </a:solidFill>
              <a:latin typeface="黑体" panose="02010609060101010101" pitchFamily="1" charset="-122"/>
              <a:ea typeface="黑体" panose="02010609060101010101" pitchFamily="1" charset="-122"/>
            </a:endParaRPr>
          </a:p>
        </p:txBody>
      </p:sp>
      <p:sp>
        <p:nvSpPr>
          <p:cNvPr id="6"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9" name="Rectangle 3"/>
          <p:cNvSpPr>
            <a:spLocks noGrp="1" noChangeArrowheads="1"/>
          </p:cNvSpPr>
          <p:nvPr/>
        </p:nvSpPr>
        <p:spPr>
          <a:xfrm>
            <a:off x="457200" y="906463"/>
            <a:ext cx="8513763" cy="1223963"/>
          </a:xfrm>
          <a:prstGeom prst="rect">
            <a:avLst/>
          </a:prstGeom>
          <a:noFill/>
          <a:ln w="9525">
            <a:no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rgbClr val="FFFF99"/>
              </a:buClr>
              <a:buChar char="•"/>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rgbClr val="FF3300"/>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Ø"/>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例</a:t>
            </a:r>
            <a:r>
              <a:rPr kumimoji="0" lang="en-US" altLang="zh-CN"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：课程和教室。</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2"/>
              </a:buClr>
              <a:buSzPct val="50000"/>
              <a:buFont typeface="Wingdings" panose="05000000000000000000" pitchFamily="2" charset="2"/>
              <a:buChar char="l"/>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ea"/>
              </a:rPr>
              <a:t>若不需要考虑教室的特性，则作为属性；否则就应作为实体。</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endParaRPr>
          </a:p>
        </p:txBody>
      </p:sp>
      <p:grpSp>
        <p:nvGrpSpPr>
          <p:cNvPr id="7" name="组合 6"/>
          <p:cNvGrpSpPr/>
          <p:nvPr/>
        </p:nvGrpSpPr>
        <p:grpSpPr>
          <a:xfrm>
            <a:off x="342265" y="1739900"/>
            <a:ext cx="8496300" cy="1643380"/>
            <a:chOff x="539" y="2740"/>
            <a:chExt cx="13380" cy="2588"/>
          </a:xfrm>
        </p:grpSpPr>
        <p:sp>
          <p:nvSpPr>
            <p:cNvPr id="80899" name="Rectangle 5"/>
            <p:cNvSpPr/>
            <p:nvPr/>
          </p:nvSpPr>
          <p:spPr>
            <a:xfrm>
              <a:off x="539" y="2740"/>
              <a:ext cx="4650" cy="2588"/>
            </a:xfrm>
            <a:prstGeom prst="rect">
              <a:avLst/>
            </a:prstGeom>
            <a:solidFill>
              <a:schemeClr val="tx1">
                <a:alpha val="349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00" name="Rectangle 6"/>
            <p:cNvSpPr/>
            <p:nvPr/>
          </p:nvSpPr>
          <p:spPr>
            <a:xfrm>
              <a:off x="2467" y="4555"/>
              <a:ext cx="1020" cy="520"/>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课程</a:t>
              </a:r>
              <a:endParaRPr lang="zh-CN" altLang="en-US" sz="1400" dirty="0">
                <a:latin typeface="Arial" panose="020B0604020202020204" pitchFamily="34" charset="0"/>
                <a:ea typeface="宋体" panose="02010600030101010101" pitchFamily="2" charset="-122"/>
              </a:endParaRPr>
            </a:p>
          </p:txBody>
        </p:sp>
        <p:sp>
          <p:nvSpPr>
            <p:cNvPr id="80901" name="Oval 7"/>
            <p:cNvSpPr/>
            <p:nvPr/>
          </p:nvSpPr>
          <p:spPr>
            <a:xfrm>
              <a:off x="767" y="4443"/>
              <a:ext cx="1132"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u="sng" dirty="0">
                  <a:latin typeface="Arial" panose="020B0604020202020204" pitchFamily="34" charset="0"/>
                  <a:ea typeface="宋体" panose="02010600030101010101" pitchFamily="2" charset="-122"/>
                </a:rPr>
                <a:t>课程号</a:t>
              </a:r>
              <a:endParaRPr lang="zh-CN" altLang="en-US" sz="1400" u="sng" dirty="0">
                <a:latin typeface="Arial" panose="020B0604020202020204" pitchFamily="34" charset="0"/>
                <a:ea typeface="宋体" panose="02010600030101010101" pitchFamily="2" charset="-122"/>
              </a:endParaRPr>
            </a:p>
          </p:txBody>
        </p:sp>
        <p:sp>
          <p:nvSpPr>
            <p:cNvPr id="80902" name="Oval 8"/>
            <p:cNvSpPr/>
            <p:nvPr/>
          </p:nvSpPr>
          <p:spPr>
            <a:xfrm>
              <a:off x="879" y="3420"/>
              <a:ext cx="1020"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课程名</a:t>
              </a:r>
              <a:endParaRPr lang="zh-CN" altLang="en-US" sz="1400" dirty="0">
                <a:latin typeface="Arial" panose="020B0604020202020204" pitchFamily="34" charset="0"/>
                <a:ea typeface="宋体" panose="02010600030101010101" pitchFamily="2" charset="-122"/>
              </a:endParaRPr>
            </a:p>
          </p:txBody>
        </p:sp>
        <p:sp>
          <p:nvSpPr>
            <p:cNvPr id="80903" name="Oval 9"/>
            <p:cNvSpPr/>
            <p:nvPr/>
          </p:nvSpPr>
          <p:spPr>
            <a:xfrm>
              <a:off x="2014" y="2968"/>
              <a:ext cx="908"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学分</a:t>
              </a:r>
              <a:endParaRPr lang="zh-CN" altLang="en-US" sz="1400" dirty="0">
                <a:latin typeface="Arial" panose="020B0604020202020204" pitchFamily="34" charset="0"/>
                <a:ea typeface="宋体" panose="02010600030101010101" pitchFamily="2" charset="-122"/>
              </a:endParaRPr>
            </a:p>
          </p:txBody>
        </p:sp>
        <p:sp>
          <p:nvSpPr>
            <p:cNvPr id="80904" name="Oval 10"/>
            <p:cNvSpPr/>
            <p:nvPr/>
          </p:nvSpPr>
          <p:spPr>
            <a:xfrm>
              <a:off x="3034" y="2968"/>
              <a:ext cx="908"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学时</a:t>
              </a:r>
              <a:endParaRPr lang="zh-CN" altLang="en-US" sz="1400" dirty="0">
                <a:latin typeface="Arial" panose="020B0604020202020204" pitchFamily="34" charset="0"/>
                <a:ea typeface="宋体" panose="02010600030101010101" pitchFamily="2" charset="-122"/>
              </a:endParaRPr>
            </a:p>
          </p:txBody>
        </p:sp>
        <p:sp>
          <p:nvSpPr>
            <p:cNvPr id="80905" name="Oval 11"/>
            <p:cNvSpPr/>
            <p:nvPr/>
          </p:nvSpPr>
          <p:spPr>
            <a:xfrm>
              <a:off x="3942" y="3420"/>
              <a:ext cx="907"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类型</a:t>
              </a:r>
              <a:endParaRPr lang="zh-CN" altLang="en-US" sz="1400" dirty="0">
                <a:latin typeface="Arial" panose="020B0604020202020204" pitchFamily="34" charset="0"/>
                <a:ea typeface="宋体" panose="02010600030101010101" pitchFamily="2" charset="-122"/>
              </a:endParaRPr>
            </a:p>
          </p:txBody>
        </p:sp>
        <p:sp>
          <p:nvSpPr>
            <p:cNvPr id="80906" name="Oval 12"/>
            <p:cNvSpPr/>
            <p:nvPr/>
          </p:nvSpPr>
          <p:spPr>
            <a:xfrm>
              <a:off x="4054" y="4443"/>
              <a:ext cx="905" cy="622"/>
            </a:xfrm>
            <a:prstGeom prst="ellipse">
              <a:avLst/>
            </a:prstGeom>
            <a:no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solidFill>
                    <a:srgbClr val="000000"/>
                  </a:solidFill>
                  <a:latin typeface="Arial" panose="020B0604020202020204" pitchFamily="34" charset="0"/>
                  <a:ea typeface="宋体" panose="02010600030101010101" pitchFamily="2" charset="-122"/>
                </a:rPr>
                <a:t>教室</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80907" name="Line 13"/>
            <p:cNvSpPr/>
            <p:nvPr/>
          </p:nvSpPr>
          <p:spPr>
            <a:xfrm>
              <a:off x="1899" y="4783"/>
              <a:ext cx="568" cy="2"/>
            </a:xfrm>
            <a:prstGeom prst="line">
              <a:avLst/>
            </a:prstGeom>
            <a:ln w="9525" cap="flat" cmpd="sng">
              <a:solidFill>
                <a:schemeClr val="tx1"/>
              </a:solidFill>
              <a:prstDash val="solid"/>
              <a:round/>
              <a:headEnd type="none" w="med" len="med"/>
              <a:tailEnd type="none" w="med" len="med"/>
            </a:ln>
          </p:spPr>
        </p:sp>
        <p:sp>
          <p:nvSpPr>
            <p:cNvPr id="80908" name="Line 14"/>
            <p:cNvSpPr/>
            <p:nvPr/>
          </p:nvSpPr>
          <p:spPr>
            <a:xfrm>
              <a:off x="3487" y="4783"/>
              <a:ext cx="567" cy="2"/>
            </a:xfrm>
            <a:prstGeom prst="line">
              <a:avLst/>
            </a:prstGeom>
            <a:ln w="9525" cap="flat" cmpd="sng">
              <a:solidFill>
                <a:schemeClr val="tx1"/>
              </a:solidFill>
              <a:prstDash val="solid"/>
              <a:round/>
              <a:headEnd type="none" w="med" len="med"/>
              <a:tailEnd type="none" w="med" len="med"/>
            </a:ln>
          </p:spPr>
        </p:sp>
        <p:sp>
          <p:nvSpPr>
            <p:cNvPr id="80909" name="Line 15"/>
            <p:cNvSpPr/>
            <p:nvPr/>
          </p:nvSpPr>
          <p:spPr>
            <a:xfrm>
              <a:off x="1787" y="3988"/>
              <a:ext cx="792" cy="517"/>
            </a:xfrm>
            <a:prstGeom prst="line">
              <a:avLst/>
            </a:prstGeom>
            <a:ln w="9525" cap="flat" cmpd="sng">
              <a:solidFill>
                <a:schemeClr val="tx1"/>
              </a:solidFill>
              <a:prstDash val="solid"/>
              <a:round/>
              <a:headEnd type="none" w="med" len="med"/>
              <a:tailEnd type="none" w="med" len="med"/>
            </a:ln>
          </p:spPr>
        </p:sp>
        <p:sp>
          <p:nvSpPr>
            <p:cNvPr id="80910" name="Line 16"/>
            <p:cNvSpPr/>
            <p:nvPr/>
          </p:nvSpPr>
          <p:spPr>
            <a:xfrm flipH="1">
              <a:off x="3262" y="3988"/>
              <a:ext cx="792" cy="517"/>
            </a:xfrm>
            <a:prstGeom prst="line">
              <a:avLst/>
            </a:prstGeom>
            <a:ln w="9525" cap="flat" cmpd="sng">
              <a:solidFill>
                <a:schemeClr val="tx1"/>
              </a:solidFill>
              <a:prstDash val="solid"/>
              <a:round/>
              <a:headEnd type="none" w="med" len="med"/>
              <a:tailEnd type="none" w="med" len="med"/>
            </a:ln>
          </p:spPr>
        </p:sp>
        <p:sp>
          <p:nvSpPr>
            <p:cNvPr id="80911" name="Line 17"/>
            <p:cNvSpPr/>
            <p:nvPr/>
          </p:nvSpPr>
          <p:spPr>
            <a:xfrm>
              <a:off x="2579" y="3648"/>
              <a:ext cx="228" cy="827"/>
            </a:xfrm>
            <a:prstGeom prst="line">
              <a:avLst/>
            </a:prstGeom>
            <a:ln w="9525" cap="flat" cmpd="sng">
              <a:solidFill>
                <a:schemeClr val="tx1"/>
              </a:solidFill>
              <a:prstDash val="solid"/>
              <a:round/>
              <a:headEnd type="none" w="med" len="med"/>
              <a:tailEnd type="none" w="med" len="med"/>
            </a:ln>
          </p:spPr>
        </p:sp>
        <p:sp>
          <p:nvSpPr>
            <p:cNvPr id="80912" name="Line 18"/>
            <p:cNvSpPr/>
            <p:nvPr/>
          </p:nvSpPr>
          <p:spPr>
            <a:xfrm flipH="1">
              <a:off x="3147" y="3648"/>
              <a:ext cx="227" cy="827"/>
            </a:xfrm>
            <a:prstGeom prst="line">
              <a:avLst/>
            </a:prstGeom>
            <a:ln w="9525" cap="flat" cmpd="sng">
              <a:solidFill>
                <a:schemeClr val="tx1"/>
              </a:solidFill>
              <a:prstDash val="solid"/>
              <a:round/>
              <a:headEnd type="none" w="med" len="med"/>
              <a:tailEnd type="none" w="med" len="med"/>
            </a:ln>
          </p:spPr>
        </p:sp>
        <p:grpSp>
          <p:nvGrpSpPr>
            <p:cNvPr id="2" name="组合 1"/>
            <p:cNvGrpSpPr/>
            <p:nvPr/>
          </p:nvGrpSpPr>
          <p:grpSpPr>
            <a:xfrm>
              <a:off x="5869" y="2740"/>
              <a:ext cx="8050" cy="2588"/>
              <a:chOff x="5840" y="2740"/>
              <a:chExt cx="8050" cy="2588"/>
            </a:xfrm>
          </p:grpSpPr>
          <p:sp>
            <p:nvSpPr>
              <p:cNvPr id="80914" name="Rectangle 4"/>
              <p:cNvSpPr/>
              <p:nvPr/>
            </p:nvSpPr>
            <p:spPr>
              <a:xfrm>
                <a:off x="5840" y="2740"/>
                <a:ext cx="8050" cy="2588"/>
              </a:xfrm>
              <a:prstGeom prst="rect">
                <a:avLst/>
              </a:prstGeom>
              <a:solidFill>
                <a:schemeClr val="tx1">
                  <a:alpha val="349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15" name="Rectangle 19"/>
              <p:cNvSpPr/>
              <p:nvPr/>
            </p:nvSpPr>
            <p:spPr>
              <a:xfrm>
                <a:off x="7765" y="4555"/>
                <a:ext cx="1020" cy="520"/>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课程</a:t>
                </a:r>
                <a:endParaRPr lang="zh-CN" altLang="en-US" sz="1400" dirty="0">
                  <a:latin typeface="Arial" panose="020B0604020202020204" pitchFamily="34" charset="0"/>
                  <a:ea typeface="宋体" panose="02010600030101010101" pitchFamily="2" charset="-122"/>
                </a:endParaRPr>
              </a:p>
            </p:txBody>
          </p:sp>
          <p:sp>
            <p:nvSpPr>
              <p:cNvPr id="80916" name="Oval 20"/>
              <p:cNvSpPr/>
              <p:nvPr/>
            </p:nvSpPr>
            <p:spPr>
              <a:xfrm>
                <a:off x="6065" y="4443"/>
                <a:ext cx="1133"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u="sng" dirty="0">
                    <a:latin typeface="Arial" panose="020B0604020202020204" pitchFamily="34" charset="0"/>
                    <a:ea typeface="宋体" panose="02010600030101010101" pitchFamily="2" charset="-122"/>
                  </a:rPr>
                  <a:t>课程号</a:t>
                </a:r>
                <a:endParaRPr lang="zh-CN" altLang="en-US" sz="1400" u="sng" dirty="0">
                  <a:latin typeface="Arial" panose="020B0604020202020204" pitchFamily="34" charset="0"/>
                  <a:ea typeface="宋体" panose="02010600030101010101" pitchFamily="2" charset="-122"/>
                </a:endParaRPr>
              </a:p>
            </p:txBody>
          </p:sp>
          <p:sp>
            <p:nvSpPr>
              <p:cNvPr id="80917" name="Oval 21"/>
              <p:cNvSpPr/>
              <p:nvPr/>
            </p:nvSpPr>
            <p:spPr>
              <a:xfrm>
                <a:off x="6180" y="3420"/>
                <a:ext cx="1018"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课程名</a:t>
                </a:r>
                <a:endParaRPr lang="zh-CN" altLang="en-US" sz="1400" dirty="0">
                  <a:latin typeface="Arial" panose="020B0604020202020204" pitchFamily="34" charset="0"/>
                  <a:ea typeface="宋体" panose="02010600030101010101" pitchFamily="2" charset="-122"/>
                </a:endParaRPr>
              </a:p>
            </p:txBody>
          </p:sp>
          <p:sp>
            <p:nvSpPr>
              <p:cNvPr id="80918" name="Oval 22"/>
              <p:cNvSpPr/>
              <p:nvPr/>
            </p:nvSpPr>
            <p:spPr>
              <a:xfrm>
                <a:off x="7313" y="2968"/>
                <a:ext cx="907"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学分</a:t>
                </a:r>
                <a:endParaRPr lang="zh-CN" altLang="en-US" sz="1400" dirty="0">
                  <a:latin typeface="Arial" panose="020B0604020202020204" pitchFamily="34" charset="0"/>
                  <a:ea typeface="宋体" panose="02010600030101010101" pitchFamily="2" charset="-122"/>
                </a:endParaRPr>
              </a:p>
            </p:txBody>
          </p:sp>
          <p:sp>
            <p:nvSpPr>
              <p:cNvPr id="80919" name="Oval 23"/>
              <p:cNvSpPr/>
              <p:nvPr/>
            </p:nvSpPr>
            <p:spPr>
              <a:xfrm>
                <a:off x="8333" y="2968"/>
                <a:ext cx="907"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学时</a:t>
                </a:r>
                <a:endParaRPr lang="zh-CN" altLang="en-US" sz="1400" dirty="0">
                  <a:latin typeface="Arial" panose="020B0604020202020204" pitchFamily="34" charset="0"/>
                  <a:ea typeface="宋体" panose="02010600030101010101" pitchFamily="2" charset="-122"/>
                </a:endParaRPr>
              </a:p>
            </p:txBody>
          </p:sp>
          <p:sp>
            <p:nvSpPr>
              <p:cNvPr id="80920" name="Oval 24"/>
              <p:cNvSpPr/>
              <p:nvPr/>
            </p:nvSpPr>
            <p:spPr>
              <a:xfrm>
                <a:off x="9240" y="3420"/>
                <a:ext cx="908"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类型</a:t>
                </a:r>
                <a:endParaRPr lang="zh-CN" altLang="en-US" sz="1400" dirty="0">
                  <a:latin typeface="Arial" panose="020B0604020202020204" pitchFamily="34" charset="0"/>
                  <a:ea typeface="宋体" panose="02010600030101010101" pitchFamily="2" charset="-122"/>
                </a:endParaRPr>
              </a:p>
            </p:txBody>
          </p:sp>
          <p:sp>
            <p:nvSpPr>
              <p:cNvPr id="80921" name="Oval 25"/>
              <p:cNvSpPr/>
              <p:nvPr/>
            </p:nvSpPr>
            <p:spPr>
              <a:xfrm>
                <a:off x="11508" y="3080"/>
                <a:ext cx="1247"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设施情况</a:t>
                </a:r>
                <a:endParaRPr lang="zh-CN" altLang="en-US" sz="1400" dirty="0">
                  <a:latin typeface="Arial" panose="020B0604020202020204" pitchFamily="34" charset="0"/>
                  <a:ea typeface="宋体" panose="02010600030101010101" pitchFamily="2" charset="-122"/>
                </a:endParaRPr>
              </a:p>
            </p:txBody>
          </p:sp>
          <p:sp>
            <p:nvSpPr>
              <p:cNvPr id="80922" name="Line 26"/>
              <p:cNvSpPr/>
              <p:nvPr/>
            </p:nvSpPr>
            <p:spPr>
              <a:xfrm>
                <a:off x="7198" y="4783"/>
                <a:ext cx="567" cy="2"/>
              </a:xfrm>
              <a:prstGeom prst="line">
                <a:avLst/>
              </a:prstGeom>
              <a:ln w="9525" cap="flat" cmpd="sng">
                <a:solidFill>
                  <a:schemeClr val="tx1"/>
                </a:solidFill>
                <a:prstDash val="solid"/>
                <a:round/>
                <a:headEnd type="none" w="med" len="med"/>
                <a:tailEnd type="none" w="med" len="med"/>
              </a:ln>
            </p:spPr>
          </p:sp>
          <p:sp>
            <p:nvSpPr>
              <p:cNvPr id="80923" name="Line 27"/>
              <p:cNvSpPr/>
              <p:nvPr/>
            </p:nvSpPr>
            <p:spPr>
              <a:xfrm>
                <a:off x="8785" y="4783"/>
                <a:ext cx="568" cy="2"/>
              </a:xfrm>
              <a:prstGeom prst="line">
                <a:avLst/>
              </a:prstGeom>
              <a:ln w="9525" cap="flat" cmpd="sng">
                <a:solidFill>
                  <a:schemeClr val="tx1"/>
                </a:solidFill>
                <a:prstDash val="solid"/>
                <a:round/>
                <a:headEnd type="none" w="med" len="med"/>
                <a:tailEnd type="none" w="med" len="med"/>
              </a:ln>
            </p:spPr>
          </p:sp>
          <p:sp>
            <p:nvSpPr>
              <p:cNvPr id="80924" name="Line 28"/>
              <p:cNvSpPr/>
              <p:nvPr/>
            </p:nvSpPr>
            <p:spPr>
              <a:xfrm>
                <a:off x="7085" y="3988"/>
                <a:ext cx="793" cy="517"/>
              </a:xfrm>
              <a:prstGeom prst="line">
                <a:avLst/>
              </a:prstGeom>
              <a:ln w="9525" cap="flat" cmpd="sng">
                <a:solidFill>
                  <a:schemeClr val="tx1"/>
                </a:solidFill>
                <a:prstDash val="solid"/>
                <a:round/>
                <a:headEnd type="none" w="med" len="med"/>
                <a:tailEnd type="none" w="med" len="med"/>
              </a:ln>
            </p:spPr>
          </p:sp>
          <p:sp>
            <p:nvSpPr>
              <p:cNvPr id="80925" name="Line 29"/>
              <p:cNvSpPr/>
              <p:nvPr/>
            </p:nvSpPr>
            <p:spPr>
              <a:xfrm flipH="1">
                <a:off x="8560" y="3988"/>
                <a:ext cx="793" cy="517"/>
              </a:xfrm>
              <a:prstGeom prst="line">
                <a:avLst/>
              </a:prstGeom>
              <a:ln w="9525" cap="flat" cmpd="sng">
                <a:solidFill>
                  <a:schemeClr val="tx1"/>
                </a:solidFill>
                <a:prstDash val="solid"/>
                <a:round/>
                <a:headEnd type="none" w="med" len="med"/>
                <a:tailEnd type="none" w="med" len="med"/>
              </a:ln>
            </p:spPr>
          </p:sp>
          <p:sp>
            <p:nvSpPr>
              <p:cNvPr id="80926" name="Line 30"/>
              <p:cNvSpPr/>
              <p:nvPr/>
            </p:nvSpPr>
            <p:spPr>
              <a:xfrm>
                <a:off x="7878" y="3648"/>
                <a:ext cx="227" cy="827"/>
              </a:xfrm>
              <a:prstGeom prst="line">
                <a:avLst/>
              </a:prstGeom>
              <a:ln w="9525" cap="flat" cmpd="sng">
                <a:solidFill>
                  <a:schemeClr val="tx1"/>
                </a:solidFill>
                <a:prstDash val="solid"/>
                <a:round/>
                <a:headEnd type="none" w="med" len="med"/>
                <a:tailEnd type="none" w="med" len="med"/>
              </a:ln>
            </p:spPr>
          </p:sp>
          <p:sp>
            <p:nvSpPr>
              <p:cNvPr id="80927" name="Line 31"/>
              <p:cNvSpPr/>
              <p:nvPr/>
            </p:nvSpPr>
            <p:spPr>
              <a:xfrm flipH="1">
                <a:off x="8445" y="3648"/>
                <a:ext cx="228" cy="827"/>
              </a:xfrm>
              <a:prstGeom prst="line">
                <a:avLst/>
              </a:prstGeom>
              <a:ln w="9525" cap="flat" cmpd="sng">
                <a:solidFill>
                  <a:schemeClr val="tx1"/>
                </a:solidFill>
                <a:prstDash val="solid"/>
                <a:round/>
                <a:headEnd type="none" w="med" len="med"/>
                <a:tailEnd type="none" w="med" len="med"/>
              </a:ln>
            </p:spPr>
          </p:sp>
          <p:sp>
            <p:nvSpPr>
              <p:cNvPr id="80928" name="AutoShape 32"/>
              <p:cNvSpPr/>
              <p:nvPr/>
            </p:nvSpPr>
            <p:spPr>
              <a:xfrm>
                <a:off x="9353" y="4443"/>
                <a:ext cx="1247" cy="622"/>
              </a:xfrm>
              <a:prstGeom prst="diamond">
                <a:avLst/>
              </a:prstGeom>
              <a:solidFill>
                <a:srgbClr val="FFFF00"/>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solidFill>
                      <a:srgbClr val="000000"/>
                    </a:solidFill>
                    <a:latin typeface="Arial" panose="020B0604020202020204" pitchFamily="34" charset="0"/>
                    <a:ea typeface="宋体" panose="02010600030101010101" pitchFamily="2" charset="-122"/>
                  </a:rPr>
                  <a:t>地点</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80929" name="Rectangle 33"/>
              <p:cNvSpPr/>
              <p:nvPr/>
            </p:nvSpPr>
            <p:spPr>
              <a:xfrm>
                <a:off x="11168" y="4555"/>
                <a:ext cx="1020" cy="520"/>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教室</a:t>
                </a:r>
                <a:endParaRPr lang="zh-CN" altLang="en-US" sz="1400" dirty="0">
                  <a:latin typeface="Arial" panose="020B0604020202020204" pitchFamily="34" charset="0"/>
                  <a:ea typeface="宋体" panose="02010600030101010101" pitchFamily="2" charset="-122"/>
                </a:endParaRPr>
              </a:p>
            </p:txBody>
          </p:sp>
          <p:sp>
            <p:nvSpPr>
              <p:cNvPr id="80930" name="Line 34"/>
              <p:cNvSpPr/>
              <p:nvPr/>
            </p:nvSpPr>
            <p:spPr>
              <a:xfrm>
                <a:off x="10600" y="4783"/>
                <a:ext cx="568" cy="2"/>
              </a:xfrm>
              <a:prstGeom prst="line">
                <a:avLst/>
              </a:prstGeom>
              <a:ln w="9525" cap="flat" cmpd="sng">
                <a:solidFill>
                  <a:schemeClr val="tx1"/>
                </a:solidFill>
                <a:prstDash val="solid"/>
                <a:round/>
                <a:headEnd type="none" w="med" len="med"/>
                <a:tailEnd type="none" w="med" len="med"/>
              </a:ln>
            </p:spPr>
          </p:sp>
          <p:sp>
            <p:nvSpPr>
              <p:cNvPr id="80931" name="Oval 35"/>
              <p:cNvSpPr/>
              <p:nvPr/>
            </p:nvSpPr>
            <p:spPr>
              <a:xfrm>
                <a:off x="12755" y="3535"/>
                <a:ext cx="908"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座位数</a:t>
                </a:r>
                <a:endParaRPr lang="zh-CN" altLang="en-US" sz="1400" dirty="0">
                  <a:latin typeface="Arial" panose="020B0604020202020204" pitchFamily="34" charset="0"/>
                  <a:ea typeface="宋体" panose="02010600030101010101" pitchFamily="2" charset="-122"/>
                </a:endParaRPr>
              </a:p>
            </p:txBody>
          </p:sp>
          <p:sp>
            <p:nvSpPr>
              <p:cNvPr id="80932" name="Oval 36"/>
              <p:cNvSpPr/>
              <p:nvPr/>
            </p:nvSpPr>
            <p:spPr>
              <a:xfrm>
                <a:off x="12755" y="4443"/>
                <a:ext cx="908"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面积</a:t>
                </a:r>
                <a:endParaRPr lang="zh-CN" altLang="en-US" sz="1400" dirty="0">
                  <a:latin typeface="Arial" panose="020B0604020202020204" pitchFamily="34" charset="0"/>
                  <a:ea typeface="宋体" panose="02010600030101010101" pitchFamily="2" charset="-122"/>
                </a:endParaRPr>
              </a:p>
            </p:txBody>
          </p:sp>
          <p:sp>
            <p:nvSpPr>
              <p:cNvPr id="80933" name="Oval 37"/>
              <p:cNvSpPr/>
              <p:nvPr/>
            </p:nvSpPr>
            <p:spPr>
              <a:xfrm>
                <a:off x="10373" y="3420"/>
                <a:ext cx="1132"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u="sng" dirty="0">
                    <a:latin typeface="Arial" panose="020B0604020202020204" pitchFamily="34" charset="0"/>
                    <a:ea typeface="宋体" panose="02010600030101010101" pitchFamily="2" charset="-122"/>
                  </a:rPr>
                  <a:t>教室号</a:t>
                </a:r>
                <a:endParaRPr lang="zh-CN" altLang="en-US" sz="1400" u="sng" dirty="0">
                  <a:latin typeface="Arial" panose="020B0604020202020204" pitchFamily="34" charset="0"/>
                  <a:ea typeface="宋体" panose="02010600030101010101" pitchFamily="2" charset="-122"/>
                </a:endParaRPr>
              </a:p>
            </p:txBody>
          </p:sp>
          <p:sp>
            <p:nvSpPr>
              <p:cNvPr id="80934" name="Line 38"/>
              <p:cNvSpPr/>
              <p:nvPr/>
            </p:nvSpPr>
            <p:spPr>
              <a:xfrm>
                <a:off x="12188" y="4783"/>
                <a:ext cx="567" cy="2"/>
              </a:xfrm>
              <a:prstGeom prst="line">
                <a:avLst/>
              </a:prstGeom>
              <a:ln w="9525" cap="flat" cmpd="sng">
                <a:solidFill>
                  <a:schemeClr val="tx1"/>
                </a:solidFill>
                <a:prstDash val="solid"/>
                <a:round/>
                <a:headEnd type="none" w="med" len="med"/>
                <a:tailEnd type="none" w="med" len="med"/>
              </a:ln>
            </p:spPr>
          </p:sp>
          <p:sp>
            <p:nvSpPr>
              <p:cNvPr id="80935" name="Line 39"/>
              <p:cNvSpPr/>
              <p:nvPr/>
            </p:nvSpPr>
            <p:spPr>
              <a:xfrm flipH="1">
                <a:off x="12075" y="4100"/>
                <a:ext cx="793" cy="415"/>
              </a:xfrm>
              <a:prstGeom prst="line">
                <a:avLst/>
              </a:prstGeom>
              <a:ln w="9525" cap="flat" cmpd="sng">
                <a:solidFill>
                  <a:schemeClr val="tx1"/>
                </a:solidFill>
                <a:prstDash val="solid"/>
                <a:round/>
                <a:headEnd type="none" w="med" len="med"/>
                <a:tailEnd type="none" w="med" len="med"/>
              </a:ln>
            </p:spPr>
          </p:sp>
          <p:sp>
            <p:nvSpPr>
              <p:cNvPr id="80936" name="Line 40"/>
              <p:cNvSpPr/>
              <p:nvPr/>
            </p:nvSpPr>
            <p:spPr>
              <a:xfrm flipH="1">
                <a:off x="11735" y="3760"/>
                <a:ext cx="340" cy="725"/>
              </a:xfrm>
              <a:prstGeom prst="line">
                <a:avLst/>
              </a:prstGeom>
              <a:ln w="9525" cap="flat" cmpd="sng">
                <a:solidFill>
                  <a:schemeClr val="tx1"/>
                </a:solidFill>
                <a:prstDash val="solid"/>
                <a:round/>
                <a:headEnd type="none" w="med" len="med"/>
                <a:tailEnd type="none" w="med" len="med"/>
              </a:ln>
            </p:spPr>
          </p:sp>
          <p:sp>
            <p:nvSpPr>
              <p:cNvPr id="80937" name="Line 41"/>
              <p:cNvSpPr/>
              <p:nvPr/>
            </p:nvSpPr>
            <p:spPr>
              <a:xfrm>
                <a:off x="11055" y="4100"/>
                <a:ext cx="340" cy="415"/>
              </a:xfrm>
              <a:prstGeom prst="line">
                <a:avLst/>
              </a:prstGeom>
              <a:ln w="9525" cap="flat" cmpd="sng">
                <a:solidFill>
                  <a:schemeClr val="tx1"/>
                </a:solidFill>
                <a:prstDash val="solid"/>
                <a:round/>
                <a:headEnd type="none" w="med" len="med"/>
                <a:tailEnd type="none" w="med" len="med"/>
              </a:ln>
            </p:spPr>
          </p:sp>
        </p:grpSp>
        <p:sp>
          <p:nvSpPr>
            <p:cNvPr id="80938" name="AutoShape 42"/>
            <p:cNvSpPr/>
            <p:nvPr/>
          </p:nvSpPr>
          <p:spPr>
            <a:xfrm>
              <a:off x="5189" y="4100"/>
              <a:ext cx="680" cy="415"/>
            </a:xfrm>
            <a:prstGeom prst="rightArrow">
              <a:avLst>
                <a:gd name="adj1" fmla="val 50000"/>
                <a:gd name="adj2" fmla="val 37443"/>
              </a:avLst>
            </a:prstGeom>
            <a:solidFill>
              <a:srgbClr val="66FFFF"/>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4" name="矩形 3"/>
            <p:cNvSpPr/>
            <p:nvPr/>
          </p:nvSpPr>
          <p:spPr>
            <a:xfrm>
              <a:off x="8731" y="4050"/>
              <a:ext cx="964" cy="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m</a:t>
              </a:r>
              <a:endParaRPr lang="en-US" altLang="zh-CN">
                <a:solidFill>
                  <a:schemeClr val="tx1"/>
                </a:solidFill>
              </a:endParaRPr>
            </a:p>
          </p:txBody>
        </p:sp>
        <p:sp>
          <p:nvSpPr>
            <p:cNvPr id="6" name="矩形 5"/>
            <p:cNvSpPr/>
            <p:nvPr/>
          </p:nvSpPr>
          <p:spPr>
            <a:xfrm>
              <a:off x="10402" y="4071"/>
              <a:ext cx="964" cy="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n</a:t>
              </a:r>
              <a:endParaRPr lang="en-US" altLang="zh-CN">
                <a:solidFill>
                  <a:schemeClr val="tx1"/>
                </a:solidFill>
              </a:endParaRPr>
            </a:p>
          </p:txBody>
        </p:sp>
      </p:grpSp>
      <p:grpSp>
        <p:nvGrpSpPr>
          <p:cNvPr id="11" name="组合 10"/>
          <p:cNvGrpSpPr/>
          <p:nvPr/>
        </p:nvGrpSpPr>
        <p:grpSpPr>
          <a:xfrm>
            <a:off x="342265" y="3383280"/>
            <a:ext cx="8708390" cy="2966720"/>
            <a:chOff x="539" y="5328"/>
            <a:chExt cx="13714" cy="4672"/>
          </a:xfrm>
        </p:grpSpPr>
        <p:grpSp>
          <p:nvGrpSpPr>
            <p:cNvPr id="3" name="组合 2"/>
            <p:cNvGrpSpPr/>
            <p:nvPr/>
          </p:nvGrpSpPr>
          <p:grpSpPr>
            <a:xfrm>
              <a:off x="539" y="5328"/>
              <a:ext cx="13715" cy="4672"/>
              <a:chOff x="510" y="5423"/>
              <a:chExt cx="13716" cy="4672"/>
            </a:xfrm>
          </p:grpSpPr>
          <p:sp>
            <p:nvSpPr>
              <p:cNvPr id="220163" name="Rectangle 3"/>
              <p:cNvSpPr>
                <a:spLocks noGrp="1" noChangeArrowheads="1"/>
              </p:cNvSpPr>
              <p:nvPr/>
            </p:nvSpPr>
            <p:spPr>
              <a:xfrm>
                <a:off x="622" y="5423"/>
                <a:ext cx="13604" cy="1821"/>
              </a:xfrm>
              <a:prstGeom prst="rect">
                <a:avLst/>
              </a:prstGeom>
              <a:noFill/>
              <a:ln w="9525">
                <a:no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rgbClr val="FFFF99"/>
                  </a:buClr>
                  <a:buChar char="•"/>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rgbClr val="FF3300"/>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90000"/>
                  </a:lnSpc>
                  <a:spcBef>
                    <a:spcPct val="20000"/>
                  </a:spcBef>
                  <a:spcAft>
                    <a:spcPct val="0"/>
                  </a:spcAft>
                  <a:buClr>
                    <a:schemeClr val="hlink"/>
                  </a:buClr>
                  <a:buSzPct val="80000"/>
                  <a:buFont typeface="Wingdings" panose="05000000000000000000" pitchFamily="2" charset="2"/>
                  <a:buChar char="Ø"/>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例3：货物和仓库。</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2"/>
                  </a:buClr>
                  <a:buSzPct val="50000"/>
                  <a:buFont typeface="Wingdings" panose="05000000000000000000" pitchFamily="2" charset="2"/>
                  <a:buChar char="l"/>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如果货物只存放在一个仓库，则仓库可作为货物的属性；</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2"/>
                  </a:buClr>
                  <a:buSzPct val="50000"/>
                  <a:buFont typeface="Wingdings" panose="05000000000000000000" pitchFamily="2" charset="2"/>
                  <a:buChar char="l"/>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若还关心仓库的地点、面积、类型、成本等，应把它作为实体。</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80941" name="Rectangle 5"/>
              <p:cNvSpPr/>
              <p:nvPr/>
            </p:nvSpPr>
            <p:spPr>
              <a:xfrm>
                <a:off x="510" y="7261"/>
                <a:ext cx="4650" cy="2835"/>
              </a:xfrm>
              <a:prstGeom prst="rect">
                <a:avLst/>
              </a:prstGeom>
              <a:solidFill>
                <a:schemeClr val="tx1">
                  <a:alpha val="349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grpSp>
        <p:grpSp>
          <p:nvGrpSpPr>
            <p:cNvPr id="10" name="组合 9"/>
            <p:cNvGrpSpPr/>
            <p:nvPr/>
          </p:nvGrpSpPr>
          <p:grpSpPr>
            <a:xfrm>
              <a:off x="768" y="7149"/>
              <a:ext cx="13180" cy="2834"/>
              <a:chOff x="739" y="7244"/>
              <a:chExt cx="13180" cy="2834"/>
            </a:xfrm>
          </p:grpSpPr>
          <p:sp>
            <p:nvSpPr>
              <p:cNvPr id="80942" name="Rectangle 6"/>
              <p:cNvSpPr/>
              <p:nvPr/>
            </p:nvSpPr>
            <p:spPr>
              <a:xfrm>
                <a:off x="2439" y="9059"/>
                <a:ext cx="1020" cy="568"/>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货物</a:t>
                </a:r>
                <a:endParaRPr lang="zh-CN" altLang="en-US" sz="1400" dirty="0">
                  <a:latin typeface="Arial" panose="020B0604020202020204" pitchFamily="34" charset="0"/>
                  <a:ea typeface="宋体" panose="02010600030101010101" pitchFamily="2" charset="-122"/>
                </a:endParaRPr>
              </a:p>
            </p:txBody>
          </p:sp>
          <p:sp>
            <p:nvSpPr>
              <p:cNvPr id="80943" name="Oval 7"/>
              <p:cNvSpPr/>
              <p:nvPr/>
            </p:nvSpPr>
            <p:spPr>
              <a:xfrm>
                <a:off x="739" y="8947"/>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u="sng" dirty="0">
                    <a:latin typeface="Arial" panose="020B0604020202020204" pitchFamily="34" charset="0"/>
                    <a:ea typeface="宋体" panose="02010600030101010101" pitchFamily="2" charset="-122"/>
                  </a:rPr>
                  <a:t>货号</a:t>
                </a:r>
                <a:endParaRPr lang="zh-CN" altLang="en-US" sz="1400" u="sng" dirty="0">
                  <a:latin typeface="Arial" panose="020B0604020202020204" pitchFamily="34" charset="0"/>
                  <a:ea typeface="宋体" panose="02010600030101010101" pitchFamily="2" charset="-122"/>
                </a:endParaRPr>
              </a:p>
            </p:txBody>
          </p:sp>
          <p:sp>
            <p:nvSpPr>
              <p:cNvPr id="80944" name="Oval 8"/>
              <p:cNvSpPr/>
              <p:nvPr/>
            </p:nvSpPr>
            <p:spPr>
              <a:xfrm>
                <a:off x="851" y="7924"/>
                <a:ext cx="1020"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名称</a:t>
                </a:r>
                <a:endParaRPr lang="zh-CN" altLang="en-US" sz="1400" dirty="0">
                  <a:latin typeface="Arial" panose="020B0604020202020204" pitchFamily="34" charset="0"/>
                  <a:ea typeface="宋体" panose="02010600030101010101" pitchFamily="2" charset="-122"/>
                </a:endParaRPr>
              </a:p>
            </p:txBody>
          </p:sp>
          <p:sp>
            <p:nvSpPr>
              <p:cNvPr id="80945" name="Oval 9"/>
              <p:cNvSpPr/>
              <p:nvPr/>
            </p:nvSpPr>
            <p:spPr>
              <a:xfrm>
                <a:off x="1986" y="7472"/>
                <a:ext cx="908"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型号</a:t>
                </a:r>
                <a:endParaRPr lang="zh-CN" altLang="en-US" sz="1400" dirty="0">
                  <a:latin typeface="Arial" panose="020B0604020202020204" pitchFamily="34" charset="0"/>
                  <a:ea typeface="宋体" panose="02010600030101010101" pitchFamily="2" charset="-122"/>
                </a:endParaRPr>
              </a:p>
            </p:txBody>
          </p:sp>
          <p:sp>
            <p:nvSpPr>
              <p:cNvPr id="80946" name="Oval 10"/>
              <p:cNvSpPr/>
              <p:nvPr/>
            </p:nvSpPr>
            <p:spPr>
              <a:xfrm>
                <a:off x="3006" y="7472"/>
                <a:ext cx="908"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批次</a:t>
                </a:r>
                <a:endParaRPr lang="zh-CN" altLang="en-US" sz="1400" dirty="0">
                  <a:latin typeface="Arial" panose="020B0604020202020204" pitchFamily="34" charset="0"/>
                  <a:ea typeface="宋体" panose="02010600030101010101" pitchFamily="2" charset="-122"/>
                </a:endParaRPr>
              </a:p>
            </p:txBody>
          </p:sp>
          <p:sp>
            <p:nvSpPr>
              <p:cNvPr id="80947" name="Oval 11"/>
              <p:cNvSpPr/>
              <p:nvPr/>
            </p:nvSpPr>
            <p:spPr>
              <a:xfrm>
                <a:off x="3914" y="7924"/>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存量</a:t>
                </a:r>
                <a:endParaRPr lang="zh-CN" altLang="en-US" sz="1400" dirty="0">
                  <a:latin typeface="Arial" panose="020B0604020202020204" pitchFamily="34" charset="0"/>
                  <a:ea typeface="宋体" panose="02010600030101010101" pitchFamily="2" charset="-122"/>
                </a:endParaRPr>
              </a:p>
            </p:txBody>
          </p:sp>
          <p:sp>
            <p:nvSpPr>
              <p:cNvPr id="80948" name="Oval 12"/>
              <p:cNvSpPr/>
              <p:nvPr/>
            </p:nvSpPr>
            <p:spPr>
              <a:xfrm>
                <a:off x="4026" y="8947"/>
                <a:ext cx="905" cy="680"/>
              </a:xfrm>
              <a:prstGeom prst="ellipse">
                <a:avLst/>
              </a:prstGeom>
              <a:solidFill>
                <a:srgbClr val="66FFFF"/>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solidFill>
                      <a:srgbClr val="000000"/>
                    </a:solidFill>
                    <a:latin typeface="Arial" panose="020B0604020202020204" pitchFamily="34" charset="0"/>
                    <a:ea typeface="宋体" panose="02010600030101010101" pitchFamily="2" charset="-122"/>
                  </a:rPr>
                  <a:t>仓库</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80949" name="Line 13"/>
              <p:cNvSpPr/>
              <p:nvPr/>
            </p:nvSpPr>
            <p:spPr>
              <a:xfrm>
                <a:off x="1871" y="9287"/>
                <a:ext cx="568" cy="0"/>
              </a:xfrm>
              <a:prstGeom prst="line">
                <a:avLst/>
              </a:prstGeom>
              <a:ln w="9525" cap="flat" cmpd="sng">
                <a:solidFill>
                  <a:schemeClr val="tx1"/>
                </a:solidFill>
                <a:prstDash val="solid"/>
                <a:round/>
                <a:headEnd type="none" w="med" len="med"/>
                <a:tailEnd type="none" w="med" len="med"/>
              </a:ln>
            </p:spPr>
          </p:sp>
          <p:sp>
            <p:nvSpPr>
              <p:cNvPr id="80950" name="Line 14"/>
              <p:cNvSpPr/>
              <p:nvPr/>
            </p:nvSpPr>
            <p:spPr>
              <a:xfrm>
                <a:off x="3459" y="9287"/>
                <a:ext cx="567" cy="0"/>
              </a:xfrm>
              <a:prstGeom prst="line">
                <a:avLst/>
              </a:prstGeom>
              <a:ln w="9525" cap="flat" cmpd="sng">
                <a:solidFill>
                  <a:schemeClr val="tx1"/>
                </a:solidFill>
                <a:prstDash val="solid"/>
                <a:round/>
                <a:headEnd type="none" w="med" len="med"/>
                <a:tailEnd type="none" w="med" len="med"/>
              </a:ln>
            </p:spPr>
          </p:sp>
          <p:sp>
            <p:nvSpPr>
              <p:cNvPr id="80951" name="Line 15"/>
              <p:cNvSpPr/>
              <p:nvPr/>
            </p:nvSpPr>
            <p:spPr>
              <a:xfrm>
                <a:off x="1759" y="8492"/>
                <a:ext cx="792" cy="567"/>
              </a:xfrm>
              <a:prstGeom prst="line">
                <a:avLst/>
              </a:prstGeom>
              <a:ln w="9525" cap="flat" cmpd="sng">
                <a:solidFill>
                  <a:schemeClr val="tx1"/>
                </a:solidFill>
                <a:prstDash val="solid"/>
                <a:round/>
                <a:headEnd type="none" w="med" len="med"/>
                <a:tailEnd type="none" w="med" len="med"/>
              </a:ln>
            </p:spPr>
          </p:sp>
          <p:sp>
            <p:nvSpPr>
              <p:cNvPr id="80952" name="Line 16"/>
              <p:cNvSpPr/>
              <p:nvPr/>
            </p:nvSpPr>
            <p:spPr>
              <a:xfrm flipH="1">
                <a:off x="3234" y="8492"/>
                <a:ext cx="792" cy="567"/>
              </a:xfrm>
              <a:prstGeom prst="line">
                <a:avLst/>
              </a:prstGeom>
              <a:ln w="9525" cap="flat" cmpd="sng">
                <a:solidFill>
                  <a:schemeClr val="tx1"/>
                </a:solidFill>
                <a:prstDash val="solid"/>
                <a:round/>
                <a:headEnd type="none" w="med" len="med"/>
                <a:tailEnd type="none" w="med" len="med"/>
              </a:ln>
            </p:spPr>
          </p:sp>
          <p:sp>
            <p:nvSpPr>
              <p:cNvPr id="80953" name="Line 17"/>
              <p:cNvSpPr/>
              <p:nvPr/>
            </p:nvSpPr>
            <p:spPr>
              <a:xfrm>
                <a:off x="2551" y="8152"/>
                <a:ext cx="228" cy="907"/>
              </a:xfrm>
              <a:prstGeom prst="line">
                <a:avLst/>
              </a:prstGeom>
              <a:ln w="9525" cap="flat" cmpd="sng">
                <a:solidFill>
                  <a:schemeClr val="tx1"/>
                </a:solidFill>
                <a:prstDash val="solid"/>
                <a:round/>
                <a:headEnd type="none" w="med" len="med"/>
                <a:tailEnd type="none" w="med" len="med"/>
              </a:ln>
            </p:spPr>
          </p:sp>
          <p:sp>
            <p:nvSpPr>
              <p:cNvPr id="80954" name="Line 18"/>
              <p:cNvSpPr/>
              <p:nvPr/>
            </p:nvSpPr>
            <p:spPr>
              <a:xfrm flipH="1">
                <a:off x="3119" y="8152"/>
                <a:ext cx="227" cy="907"/>
              </a:xfrm>
              <a:prstGeom prst="line">
                <a:avLst/>
              </a:prstGeom>
              <a:ln w="9525" cap="flat" cmpd="sng">
                <a:solidFill>
                  <a:schemeClr val="tx1"/>
                </a:solidFill>
                <a:prstDash val="solid"/>
                <a:round/>
                <a:headEnd type="none" w="med" len="med"/>
                <a:tailEnd type="none" w="med" len="med"/>
              </a:ln>
            </p:spPr>
          </p:sp>
          <p:grpSp>
            <p:nvGrpSpPr>
              <p:cNvPr id="5" name="组合 4"/>
              <p:cNvGrpSpPr/>
              <p:nvPr/>
            </p:nvGrpSpPr>
            <p:grpSpPr>
              <a:xfrm>
                <a:off x="5189" y="7244"/>
                <a:ext cx="8730" cy="2835"/>
                <a:chOff x="5160" y="7261"/>
                <a:chExt cx="8730" cy="2834"/>
              </a:xfrm>
            </p:grpSpPr>
            <p:sp>
              <p:nvSpPr>
                <p:cNvPr id="80956" name="Rectangle 4"/>
                <p:cNvSpPr/>
                <p:nvPr/>
              </p:nvSpPr>
              <p:spPr>
                <a:xfrm>
                  <a:off x="5840" y="7261"/>
                  <a:ext cx="8051" cy="2835"/>
                </a:xfrm>
                <a:prstGeom prst="rect">
                  <a:avLst/>
                </a:prstGeom>
                <a:solidFill>
                  <a:schemeClr val="tx1">
                    <a:alpha val="349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57" name="Rectangle 19"/>
                <p:cNvSpPr/>
                <p:nvPr/>
              </p:nvSpPr>
              <p:spPr>
                <a:xfrm>
                  <a:off x="7766" y="9076"/>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货物</a:t>
                  </a:r>
                  <a:endParaRPr lang="zh-CN" altLang="en-US" sz="1400" dirty="0">
                    <a:latin typeface="Arial" panose="020B0604020202020204" pitchFamily="34" charset="0"/>
                    <a:ea typeface="宋体" panose="02010600030101010101" pitchFamily="2" charset="-122"/>
                  </a:endParaRPr>
                </a:p>
              </p:txBody>
            </p:sp>
            <p:sp>
              <p:nvSpPr>
                <p:cNvPr id="80958" name="Oval 20"/>
                <p:cNvSpPr/>
                <p:nvPr/>
              </p:nvSpPr>
              <p:spPr>
                <a:xfrm>
                  <a:off x="6065" y="8963"/>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u="sng" dirty="0">
                      <a:latin typeface="Arial" panose="020B0604020202020204" pitchFamily="34" charset="0"/>
                      <a:ea typeface="宋体" panose="02010600030101010101" pitchFamily="2" charset="-122"/>
                    </a:rPr>
                    <a:t>货号</a:t>
                  </a:r>
                  <a:endParaRPr lang="zh-CN" altLang="en-US" sz="1400" u="sng" dirty="0">
                    <a:latin typeface="Arial" panose="020B0604020202020204" pitchFamily="34" charset="0"/>
                    <a:ea typeface="宋体" panose="02010600030101010101" pitchFamily="2" charset="-122"/>
                  </a:endParaRPr>
                </a:p>
              </p:txBody>
            </p:sp>
            <p:sp>
              <p:nvSpPr>
                <p:cNvPr id="80959" name="Oval 21"/>
                <p:cNvSpPr/>
                <p:nvPr/>
              </p:nvSpPr>
              <p:spPr>
                <a:xfrm>
                  <a:off x="6180" y="7941"/>
                  <a:ext cx="101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名称</a:t>
                  </a:r>
                  <a:endParaRPr lang="zh-CN" altLang="en-US" sz="1400" dirty="0">
                    <a:latin typeface="Arial" panose="020B0604020202020204" pitchFamily="34" charset="0"/>
                    <a:ea typeface="宋体" panose="02010600030101010101" pitchFamily="2" charset="-122"/>
                  </a:endParaRPr>
                </a:p>
              </p:txBody>
            </p:sp>
            <p:sp>
              <p:nvSpPr>
                <p:cNvPr id="80960" name="Oval 22"/>
                <p:cNvSpPr/>
                <p:nvPr/>
              </p:nvSpPr>
              <p:spPr>
                <a:xfrm>
                  <a:off x="7312" y="7488"/>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型号</a:t>
                  </a:r>
                  <a:endParaRPr lang="zh-CN" altLang="en-US" sz="1400" dirty="0">
                    <a:latin typeface="Arial" panose="020B0604020202020204" pitchFamily="34" charset="0"/>
                    <a:ea typeface="宋体" panose="02010600030101010101" pitchFamily="2" charset="-122"/>
                  </a:endParaRPr>
                </a:p>
              </p:txBody>
            </p:sp>
            <p:sp>
              <p:nvSpPr>
                <p:cNvPr id="80961" name="Oval 23"/>
                <p:cNvSpPr/>
                <p:nvPr/>
              </p:nvSpPr>
              <p:spPr>
                <a:xfrm>
                  <a:off x="8333" y="7488"/>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批次</a:t>
                  </a:r>
                  <a:endParaRPr lang="zh-CN" altLang="en-US" sz="1400" dirty="0">
                    <a:latin typeface="Arial" panose="020B0604020202020204" pitchFamily="34" charset="0"/>
                    <a:ea typeface="宋体" panose="02010600030101010101" pitchFamily="2" charset="-122"/>
                  </a:endParaRPr>
                </a:p>
              </p:txBody>
            </p:sp>
            <p:sp>
              <p:nvSpPr>
                <p:cNvPr id="80962" name="Oval 24"/>
                <p:cNvSpPr/>
                <p:nvPr/>
              </p:nvSpPr>
              <p:spPr>
                <a:xfrm>
                  <a:off x="9496" y="7828"/>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存量</a:t>
                  </a:r>
                  <a:endParaRPr lang="zh-CN" altLang="en-US" sz="1400" dirty="0">
                    <a:latin typeface="Arial" panose="020B0604020202020204" pitchFamily="34" charset="0"/>
                    <a:ea typeface="宋体" panose="02010600030101010101" pitchFamily="2" charset="-122"/>
                  </a:endParaRPr>
                </a:p>
              </p:txBody>
            </p:sp>
            <p:sp>
              <p:nvSpPr>
                <p:cNvPr id="80963" name="Oval 25"/>
                <p:cNvSpPr/>
                <p:nvPr/>
              </p:nvSpPr>
              <p:spPr>
                <a:xfrm>
                  <a:off x="11396" y="737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地点</a:t>
                  </a:r>
                  <a:endParaRPr lang="zh-CN" altLang="en-US" sz="1400" dirty="0">
                    <a:latin typeface="Arial" panose="020B0604020202020204" pitchFamily="34" charset="0"/>
                    <a:ea typeface="宋体" panose="02010600030101010101" pitchFamily="2" charset="-122"/>
                  </a:endParaRPr>
                </a:p>
              </p:txBody>
            </p:sp>
            <p:sp>
              <p:nvSpPr>
                <p:cNvPr id="80964" name="Line 26"/>
                <p:cNvSpPr/>
                <p:nvPr/>
              </p:nvSpPr>
              <p:spPr>
                <a:xfrm>
                  <a:off x="7197" y="9303"/>
                  <a:ext cx="567" cy="0"/>
                </a:xfrm>
                <a:prstGeom prst="line">
                  <a:avLst/>
                </a:prstGeom>
                <a:ln w="9525" cap="flat" cmpd="sng">
                  <a:solidFill>
                    <a:schemeClr val="tx1"/>
                  </a:solidFill>
                  <a:prstDash val="solid"/>
                  <a:round/>
                  <a:headEnd type="none" w="med" len="med"/>
                  <a:tailEnd type="none" w="med" len="med"/>
                </a:ln>
              </p:spPr>
            </p:sp>
            <p:sp>
              <p:nvSpPr>
                <p:cNvPr id="80965" name="Line 27"/>
                <p:cNvSpPr/>
                <p:nvPr/>
              </p:nvSpPr>
              <p:spPr>
                <a:xfrm>
                  <a:off x="8786" y="9303"/>
                  <a:ext cx="567" cy="0"/>
                </a:xfrm>
                <a:prstGeom prst="line">
                  <a:avLst/>
                </a:prstGeom>
                <a:ln w="9525" cap="flat" cmpd="sng">
                  <a:solidFill>
                    <a:schemeClr val="tx1"/>
                  </a:solidFill>
                  <a:prstDash val="solid"/>
                  <a:round/>
                  <a:headEnd type="none" w="med" len="med"/>
                  <a:tailEnd type="none" w="med" len="med"/>
                </a:ln>
              </p:spPr>
            </p:sp>
            <p:sp>
              <p:nvSpPr>
                <p:cNvPr id="80966" name="Line 28"/>
                <p:cNvSpPr/>
                <p:nvPr/>
              </p:nvSpPr>
              <p:spPr>
                <a:xfrm>
                  <a:off x="7085" y="8508"/>
                  <a:ext cx="792" cy="567"/>
                </a:xfrm>
                <a:prstGeom prst="line">
                  <a:avLst/>
                </a:prstGeom>
                <a:ln w="9525" cap="flat" cmpd="sng">
                  <a:solidFill>
                    <a:schemeClr val="tx1"/>
                  </a:solidFill>
                  <a:prstDash val="solid"/>
                  <a:round/>
                  <a:headEnd type="none" w="med" len="med"/>
                  <a:tailEnd type="none" w="med" len="med"/>
                </a:ln>
              </p:spPr>
            </p:sp>
            <p:sp>
              <p:nvSpPr>
                <p:cNvPr id="80967" name="Line 29"/>
                <p:cNvSpPr/>
                <p:nvPr/>
              </p:nvSpPr>
              <p:spPr>
                <a:xfrm>
                  <a:off x="9981" y="8508"/>
                  <a:ext cx="0" cy="452"/>
                </a:xfrm>
                <a:prstGeom prst="line">
                  <a:avLst/>
                </a:prstGeom>
                <a:ln w="9525" cap="flat" cmpd="sng">
                  <a:solidFill>
                    <a:schemeClr val="tx1"/>
                  </a:solidFill>
                  <a:prstDash val="solid"/>
                  <a:round/>
                  <a:headEnd type="none" w="med" len="med"/>
                  <a:tailEnd type="none" w="med" len="med"/>
                </a:ln>
              </p:spPr>
            </p:sp>
            <p:sp>
              <p:nvSpPr>
                <p:cNvPr id="80968" name="Line 30"/>
                <p:cNvSpPr/>
                <p:nvPr/>
              </p:nvSpPr>
              <p:spPr>
                <a:xfrm>
                  <a:off x="7878" y="8168"/>
                  <a:ext cx="227" cy="907"/>
                </a:xfrm>
                <a:prstGeom prst="line">
                  <a:avLst/>
                </a:prstGeom>
                <a:ln w="9525" cap="flat" cmpd="sng">
                  <a:solidFill>
                    <a:schemeClr val="tx1"/>
                  </a:solidFill>
                  <a:prstDash val="solid"/>
                  <a:round/>
                  <a:headEnd type="none" w="med" len="med"/>
                  <a:tailEnd type="none" w="med" len="med"/>
                </a:ln>
              </p:spPr>
            </p:sp>
            <p:sp>
              <p:nvSpPr>
                <p:cNvPr id="80969" name="Line 31"/>
                <p:cNvSpPr/>
                <p:nvPr/>
              </p:nvSpPr>
              <p:spPr>
                <a:xfrm flipH="1">
                  <a:off x="8446" y="8168"/>
                  <a:ext cx="227" cy="907"/>
                </a:xfrm>
                <a:prstGeom prst="line">
                  <a:avLst/>
                </a:prstGeom>
                <a:ln w="9525" cap="flat" cmpd="sng">
                  <a:solidFill>
                    <a:schemeClr val="tx1"/>
                  </a:solidFill>
                  <a:prstDash val="solid"/>
                  <a:round/>
                  <a:headEnd type="none" w="med" len="med"/>
                  <a:tailEnd type="none" w="med" len="med"/>
                </a:ln>
              </p:spPr>
            </p:sp>
            <p:sp>
              <p:nvSpPr>
                <p:cNvPr id="80970" name="AutoShape 32"/>
                <p:cNvSpPr/>
                <p:nvPr/>
              </p:nvSpPr>
              <p:spPr>
                <a:xfrm>
                  <a:off x="9353" y="8963"/>
                  <a:ext cx="1247" cy="680"/>
                </a:xfrm>
                <a:prstGeom prst="diamond">
                  <a:avLst/>
                </a:prstGeom>
                <a:solidFill>
                  <a:srgbClr val="FFFF00"/>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solidFill>
                        <a:srgbClr val="000000"/>
                      </a:solidFill>
                      <a:latin typeface="Arial" panose="020B0604020202020204" pitchFamily="34" charset="0"/>
                      <a:ea typeface="宋体" panose="02010600030101010101" pitchFamily="2" charset="-122"/>
                    </a:rPr>
                    <a:t>存放</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80971" name="Rectangle 33"/>
                <p:cNvSpPr/>
                <p:nvPr/>
              </p:nvSpPr>
              <p:spPr>
                <a:xfrm>
                  <a:off x="11168" y="9076"/>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仓库</a:t>
                  </a:r>
                  <a:endParaRPr lang="zh-CN" altLang="en-US" sz="1400" dirty="0">
                    <a:latin typeface="Arial" panose="020B0604020202020204" pitchFamily="34" charset="0"/>
                    <a:ea typeface="宋体" panose="02010600030101010101" pitchFamily="2" charset="-122"/>
                  </a:endParaRPr>
                </a:p>
              </p:txBody>
            </p:sp>
            <p:sp>
              <p:nvSpPr>
                <p:cNvPr id="80972" name="Line 34"/>
                <p:cNvSpPr/>
                <p:nvPr/>
              </p:nvSpPr>
              <p:spPr>
                <a:xfrm>
                  <a:off x="10601" y="9303"/>
                  <a:ext cx="567" cy="0"/>
                </a:xfrm>
                <a:prstGeom prst="line">
                  <a:avLst/>
                </a:prstGeom>
                <a:ln w="9525" cap="flat" cmpd="sng">
                  <a:solidFill>
                    <a:schemeClr val="tx1"/>
                  </a:solidFill>
                  <a:prstDash val="solid"/>
                  <a:round/>
                  <a:headEnd type="none" w="med" len="med"/>
                  <a:tailEnd type="none" w="med" len="med"/>
                </a:ln>
              </p:spPr>
            </p:sp>
            <p:sp>
              <p:nvSpPr>
                <p:cNvPr id="80973" name="Oval 35"/>
                <p:cNvSpPr/>
                <p:nvPr/>
              </p:nvSpPr>
              <p:spPr>
                <a:xfrm>
                  <a:off x="12643" y="8168"/>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类型</a:t>
                  </a:r>
                  <a:endParaRPr lang="zh-CN" altLang="en-US" sz="1400" dirty="0">
                    <a:latin typeface="Arial" panose="020B0604020202020204" pitchFamily="34" charset="0"/>
                    <a:ea typeface="宋体" panose="02010600030101010101" pitchFamily="2" charset="-122"/>
                  </a:endParaRPr>
                </a:p>
              </p:txBody>
            </p:sp>
            <p:sp>
              <p:nvSpPr>
                <p:cNvPr id="80974" name="Oval 36"/>
                <p:cNvSpPr/>
                <p:nvPr/>
              </p:nvSpPr>
              <p:spPr>
                <a:xfrm>
                  <a:off x="12756" y="8963"/>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面积</a:t>
                  </a:r>
                  <a:endParaRPr lang="zh-CN" altLang="en-US" sz="1400" dirty="0">
                    <a:latin typeface="Arial" panose="020B0604020202020204" pitchFamily="34" charset="0"/>
                    <a:ea typeface="宋体" panose="02010600030101010101" pitchFamily="2" charset="-122"/>
                  </a:endParaRPr>
                </a:p>
              </p:txBody>
            </p:sp>
            <p:sp>
              <p:nvSpPr>
                <p:cNvPr id="80975" name="Oval 37"/>
                <p:cNvSpPr/>
                <p:nvPr/>
              </p:nvSpPr>
              <p:spPr>
                <a:xfrm>
                  <a:off x="10488" y="7941"/>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u="sng" dirty="0">
                      <a:latin typeface="Arial" panose="020B0604020202020204" pitchFamily="34" charset="0"/>
                      <a:ea typeface="宋体" panose="02010600030101010101" pitchFamily="2" charset="-122"/>
                    </a:rPr>
                    <a:t>仓库号</a:t>
                  </a:r>
                  <a:endParaRPr lang="zh-CN" altLang="en-US" sz="1400" u="sng" dirty="0">
                    <a:latin typeface="Arial" panose="020B0604020202020204" pitchFamily="34" charset="0"/>
                    <a:ea typeface="宋体" panose="02010600030101010101" pitchFamily="2" charset="-122"/>
                  </a:endParaRPr>
                </a:p>
              </p:txBody>
            </p:sp>
            <p:sp>
              <p:nvSpPr>
                <p:cNvPr id="80976" name="Line 38"/>
                <p:cNvSpPr/>
                <p:nvPr/>
              </p:nvSpPr>
              <p:spPr>
                <a:xfrm>
                  <a:off x="12188" y="9303"/>
                  <a:ext cx="567" cy="0"/>
                </a:xfrm>
                <a:prstGeom prst="line">
                  <a:avLst/>
                </a:prstGeom>
                <a:ln w="9525" cap="flat" cmpd="sng">
                  <a:solidFill>
                    <a:schemeClr val="tx1"/>
                  </a:solidFill>
                  <a:prstDash val="solid"/>
                  <a:round/>
                  <a:headEnd type="none" w="med" len="med"/>
                  <a:tailEnd type="none" w="med" len="med"/>
                </a:ln>
              </p:spPr>
            </p:sp>
            <p:sp>
              <p:nvSpPr>
                <p:cNvPr id="80977" name="Line 39"/>
                <p:cNvSpPr/>
                <p:nvPr/>
              </p:nvSpPr>
              <p:spPr>
                <a:xfrm flipH="1">
                  <a:off x="12191" y="8736"/>
                  <a:ext cx="567" cy="452"/>
                </a:xfrm>
                <a:prstGeom prst="line">
                  <a:avLst/>
                </a:prstGeom>
                <a:ln w="9525" cap="flat" cmpd="sng">
                  <a:solidFill>
                    <a:schemeClr val="tx1"/>
                  </a:solidFill>
                  <a:prstDash val="solid"/>
                  <a:round/>
                  <a:headEnd type="none" w="med" len="med"/>
                  <a:tailEnd type="none" w="med" len="med"/>
                </a:ln>
              </p:spPr>
            </p:sp>
            <p:sp>
              <p:nvSpPr>
                <p:cNvPr id="80978" name="Line 40"/>
                <p:cNvSpPr/>
                <p:nvPr/>
              </p:nvSpPr>
              <p:spPr>
                <a:xfrm flipH="1">
                  <a:off x="11736" y="8056"/>
                  <a:ext cx="115" cy="1020"/>
                </a:xfrm>
                <a:prstGeom prst="line">
                  <a:avLst/>
                </a:prstGeom>
                <a:ln w="9525" cap="flat" cmpd="sng">
                  <a:solidFill>
                    <a:schemeClr val="tx1"/>
                  </a:solidFill>
                  <a:prstDash val="solid"/>
                  <a:round/>
                  <a:headEnd type="none" w="med" len="med"/>
                  <a:tailEnd type="none" w="med" len="med"/>
                </a:ln>
              </p:spPr>
            </p:sp>
            <p:sp>
              <p:nvSpPr>
                <p:cNvPr id="80979" name="Line 41"/>
                <p:cNvSpPr/>
                <p:nvPr/>
              </p:nvSpPr>
              <p:spPr>
                <a:xfrm>
                  <a:off x="11171" y="8621"/>
                  <a:ext cx="225" cy="455"/>
                </a:xfrm>
                <a:prstGeom prst="line">
                  <a:avLst/>
                </a:prstGeom>
                <a:ln w="9525" cap="flat" cmpd="sng">
                  <a:solidFill>
                    <a:schemeClr val="tx1"/>
                  </a:solidFill>
                  <a:prstDash val="solid"/>
                  <a:round/>
                  <a:headEnd type="none" w="med" len="med"/>
                  <a:tailEnd type="none" w="med" len="med"/>
                </a:ln>
              </p:spPr>
            </p:sp>
            <p:sp>
              <p:nvSpPr>
                <p:cNvPr id="80980" name="AutoShape 42"/>
                <p:cNvSpPr/>
                <p:nvPr/>
              </p:nvSpPr>
              <p:spPr>
                <a:xfrm>
                  <a:off x="5160" y="8621"/>
                  <a:ext cx="680" cy="455"/>
                </a:xfrm>
                <a:prstGeom prst="rightArrow">
                  <a:avLst>
                    <a:gd name="adj1" fmla="val 50000"/>
                    <a:gd name="adj2" fmla="val 37348"/>
                  </a:avLst>
                </a:prstGeom>
                <a:solidFill>
                  <a:schemeClr val="tx2"/>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81" name="Oval 44"/>
                <p:cNvSpPr/>
                <p:nvPr/>
              </p:nvSpPr>
              <p:spPr>
                <a:xfrm>
                  <a:off x="12378" y="741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距离</a:t>
                  </a:r>
                  <a:endParaRPr lang="zh-CN" altLang="en-US" sz="1400" dirty="0">
                    <a:latin typeface="Arial" panose="020B0604020202020204" pitchFamily="34" charset="0"/>
                    <a:ea typeface="宋体" panose="02010600030101010101" pitchFamily="2" charset="-122"/>
                  </a:endParaRPr>
                </a:p>
              </p:txBody>
            </p:sp>
            <p:sp>
              <p:nvSpPr>
                <p:cNvPr id="80982" name="Line 45"/>
                <p:cNvSpPr/>
                <p:nvPr/>
              </p:nvSpPr>
              <p:spPr>
                <a:xfrm flipV="1">
                  <a:off x="11963" y="8056"/>
                  <a:ext cx="680" cy="1020"/>
                </a:xfrm>
                <a:prstGeom prst="line">
                  <a:avLst/>
                </a:prstGeom>
                <a:ln w="9525" cap="flat" cmpd="sng">
                  <a:solidFill>
                    <a:schemeClr val="tx1"/>
                  </a:solidFill>
                  <a:prstDash val="solid"/>
                  <a:round/>
                  <a:headEnd type="none" w="med" len="med"/>
                  <a:tailEnd type="none" w="med" len="med"/>
                </a:ln>
              </p:spPr>
            </p:sp>
          </p:grpSp>
          <p:sp>
            <p:nvSpPr>
              <p:cNvPr id="8" name="矩形 7"/>
              <p:cNvSpPr/>
              <p:nvPr/>
            </p:nvSpPr>
            <p:spPr>
              <a:xfrm>
                <a:off x="8702" y="8574"/>
                <a:ext cx="964" cy="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m</a:t>
                </a:r>
                <a:endParaRPr lang="en-US" altLang="zh-CN">
                  <a:solidFill>
                    <a:schemeClr val="tx1"/>
                  </a:solidFill>
                </a:endParaRPr>
              </a:p>
            </p:txBody>
          </p:sp>
          <p:sp>
            <p:nvSpPr>
              <p:cNvPr id="9" name="矩形 8"/>
              <p:cNvSpPr/>
              <p:nvPr/>
            </p:nvSpPr>
            <p:spPr>
              <a:xfrm>
                <a:off x="10403" y="8594"/>
                <a:ext cx="964" cy="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n</a:t>
                </a:r>
                <a:endParaRPr lang="en-US" altLang="zh-CN">
                  <a:solidFill>
                    <a:schemeClr val="tx1"/>
                  </a:solidFill>
                </a:endParaRPr>
              </a:p>
            </p:txBody>
          </p:sp>
        </p:grpSp>
      </p:grpSp>
      <p:sp>
        <p:nvSpPr>
          <p:cNvPr id="1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2"/>
          <p:cNvSpPr/>
          <p:nvPr/>
        </p:nvSpPr>
        <p:spPr>
          <a:xfrm>
            <a:off x="498475" y="898525"/>
            <a:ext cx="7686675" cy="8921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复合属性和多值属性的处理</a:t>
            </a:r>
            <a:endParaRPr lang="en-US" altLang="x-none" sz="2400" dirty="0">
              <a:solidFill>
                <a:srgbClr val="FF0000"/>
              </a:solidFill>
              <a:latin typeface="黑体" panose="02010609060101010101" pitchFamily="1" charset="-122"/>
              <a:ea typeface="宋体" panose="02010600030101010101" pitchFamily="2" charset="-122"/>
            </a:endParaRPr>
          </a:p>
          <a:p>
            <a:pPr lvl="0" indent="0">
              <a:lnSpc>
                <a:spcPct val="100000"/>
              </a:lnSpc>
              <a:buNone/>
            </a:pPr>
            <a:endParaRPr lang="en-US" altLang="x-none" sz="2400" dirty="0">
              <a:solidFill>
                <a:srgbClr val="FF0000"/>
              </a:solidFill>
              <a:latin typeface="黑体" panose="02010609060101010101" pitchFamily="1" charset="-122"/>
              <a:ea typeface="黑体" panose="02010609060101010101" pitchFamily="1" charset="-122"/>
            </a:endParaRPr>
          </a:p>
        </p:txBody>
      </p:sp>
      <p:grpSp>
        <p:nvGrpSpPr>
          <p:cNvPr id="76805" name="组合 8"/>
          <p:cNvGrpSpPr/>
          <p:nvPr/>
        </p:nvGrpSpPr>
        <p:grpSpPr>
          <a:xfrm>
            <a:off x="31750" y="1390650"/>
            <a:ext cx="8580438" cy="1431925"/>
            <a:chOff x="0" y="0"/>
            <a:chExt cx="8580437" cy="1431925"/>
          </a:xfrm>
        </p:grpSpPr>
        <p:sp>
          <p:nvSpPr>
            <p:cNvPr id="81924" name="矩形 8"/>
            <p:cNvSpPr/>
            <p:nvPr/>
          </p:nvSpPr>
          <p:spPr>
            <a:xfrm>
              <a:off x="623888" y="0"/>
              <a:ext cx="2320925" cy="554037"/>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用属性表示</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81925" name="矩形 5"/>
            <p:cNvSpPr/>
            <p:nvPr/>
          </p:nvSpPr>
          <p:spPr>
            <a:xfrm>
              <a:off x="0" y="485775"/>
              <a:ext cx="8580437" cy="946150"/>
            </a:xfrm>
            <a:prstGeom prst="rect">
              <a:avLst/>
            </a:prstGeom>
            <a:noFill/>
            <a:ln w="9525">
              <a:noFill/>
            </a:ln>
          </p:spPr>
          <p:txBody>
            <a:bodyPr anchor="t">
              <a:spAutoFit/>
            </a:bodyPr>
            <a:lstStyle/>
            <a:p>
              <a:pPr marL="914400" lvl="1" indent="-457200" eaLnBrk="1" hangingPunct="1">
                <a:lnSpc>
                  <a:spcPct val="120000"/>
                </a:lnSpc>
                <a:spcBef>
                  <a:spcPts val="600"/>
                </a:spcBef>
                <a:buSzPct val="50000"/>
                <a:buNone/>
              </a:pPr>
              <a:r>
                <a:rPr lang="zh-CN" altLang="en-US" sz="2400" dirty="0">
                  <a:latin typeface="宋体" panose="02010600030101010101" pitchFamily="2" charset="-122"/>
                  <a:ea typeface="华文楷体" panose="02010600040101010101" pitchFamily="2" charset="-122"/>
                </a:rPr>
                <a:t>   </a:t>
              </a: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示例：</a:t>
              </a:r>
              <a:r>
                <a:rPr lang="zh-CN" altLang="en-US" sz="2200" dirty="0">
                  <a:latin typeface="华文楷体" panose="02010600040101010101" pitchFamily="2" charset="-122"/>
                  <a:ea typeface="华文楷体" panose="02010600040101010101" pitchFamily="2" charset="-122"/>
                </a:rPr>
                <a:t>“</a:t>
              </a:r>
              <a:r>
                <a:rPr lang="zh-CN" altLang="en-US" sz="2200" dirty="0">
                  <a:latin typeface="宋体" panose="02010600030101010101" pitchFamily="2" charset="-122"/>
                  <a:ea typeface="华文楷体" panose="02010600040101010101" pitchFamily="2" charset="-122"/>
                </a:rPr>
                <a:t>地址</a:t>
              </a:r>
              <a:r>
                <a:rPr lang="zh-CN" altLang="en-US" sz="2200" dirty="0">
                  <a:latin typeface="华文楷体" panose="02010600040101010101" pitchFamily="2" charset="-122"/>
                  <a:ea typeface="华文楷体" panose="02010600040101010101" pitchFamily="2" charset="-122"/>
                </a:rPr>
                <a:t>”</a:t>
              </a:r>
              <a:r>
                <a:rPr lang="zh-CN" altLang="en-US" sz="2200" dirty="0">
                  <a:latin typeface="宋体" panose="02010600030101010101" pitchFamily="2" charset="-122"/>
                  <a:ea typeface="华文楷体" panose="02010600040101010101" pitchFamily="2" charset="-122"/>
                </a:rPr>
                <a:t>，如果每个员工只需记录一个地址，则将其作为员工实体的属性是合适的。</a:t>
              </a:r>
              <a:endParaRPr lang="zh-CN" altLang="en-US" sz="2200" dirty="0">
                <a:latin typeface="宋体" panose="02010600030101010101" pitchFamily="2" charset="-122"/>
                <a:ea typeface="华文楷体" panose="02010600040101010101" pitchFamily="2" charset="-122"/>
              </a:endParaRPr>
            </a:p>
          </p:txBody>
        </p:sp>
      </p:grpSp>
      <p:grpSp>
        <p:nvGrpSpPr>
          <p:cNvPr id="76808" name="组合 11"/>
          <p:cNvGrpSpPr/>
          <p:nvPr/>
        </p:nvGrpSpPr>
        <p:grpSpPr>
          <a:xfrm>
            <a:off x="444500" y="2979738"/>
            <a:ext cx="8305800" cy="2754312"/>
            <a:chOff x="0" y="-792092"/>
            <a:chExt cx="8305253" cy="2755173"/>
          </a:xfrm>
        </p:grpSpPr>
        <p:grpSp>
          <p:nvGrpSpPr>
            <p:cNvPr id="81927" name="组合 9"/>
            <p:cNvGrpSpPr/>
            <p:nvPr/>
          </p:nvGrpSpPr>
          <p:grpSpPr>
            <a:xfrm>
              <a:off x="0" y="-792092"/>
              <a:ext cx="8167688" cy="1733586"/>
              <a:chOff x="0" y="-792092"/>
              <a:chExt cx="8167688" cy="1733586"/>
            </a:xfrm>
          </p:grpSpPr>
          <p:sp>
            <p:nvSpPr>
              <p:cNvPr id="81928" name="矩形 12"/>
              <p:cNvSpPr/>
              <p:nvPr/>
            </p:nvSpPr>
            <p:spPr>
              <a:xfrm>
                <a:off x="211132" y="-792092"/>
                <a:ext cx="6006934" cy="568502"/>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下列情况时，可考虑用实体而非属性</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81929" name="矩形 7"/>
              <p:cNvSpPr/>
              <p:nvPr/>
            </p:nvSpPr>
            <p:spPr>
              <a:xfrm>
                <a:off x="0" y="91581"/>
                <a:ext cx="8167688" cy="849913"/>
              </a:xfrm>
              <a:prstGeom prst="rect">
                <a:avLst/>
              </a:prstGeom>
              <a:noFill/>
              <a:ln w="9525">
                <a:noFill/>
              </a:ln>
            </p:spPr>
            <p:txBody>
              <a:bodyPr anchor="t">
                <a:spAutoFit/>
              </a:bodyPr>
              <a:lstStyle/>
              <a:p>
                <a:pPr marL="914400" lvl="1" indent="-457200" eaLnBrk="1" hangingPunct="1">
                  <a:lnSpc>
                    <a:spcPct val="110000"/>
                  </a:lnSpc>
                  <a:spcBef>
                    <a:spcPts val="300"/>
                  </a:spcBef>
                  <a:buNone/>
                </a:pP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 </a:t>
                </a:r>
                <a:r>
                  <a:rPr lang="zh-CN" altLang="en-US" sz="2400" u="sng" dirty="0">
                    <a:latin typeface="宋体" panose="02010600030101010101" pitchFamily="2" charset="-122"/>
                    <a:ea typeface="华文楷体" panose="02010600040101010101" pitchFamily="2" charset="-122"/>
                  </a:rPr>
                  <a:t>需表达其结构或作细分查询。示例：</a:t>
                </a:r>
                <a:r>
                  <a:rPr lang="zh-CN" altLang="en-US" sz="2200" dirty="0">
                    <a:latin typeface="宋体" panose="02010600030101010101" pitchFamily="2" charset="-122"/>
                    <a:ea typeface="华文楷体" panose="02010600040101010101" pitchFamily="2" charset="-122"/>
                  </a:rPr>
                  <a:t>“地址”分成国家、省、市、区、街道等。</a:t>
                </a:r>
                <a:endParaRPr lang="zh-CN" altLang="en-US" sz="2200" dirty="0">
                  <a:latin typeface="宋体" panose="02010600030101010101" pitchFamily="2" charset="-122"/>
                  <a:ea typeface="华文楷体" panose="02010600040101010101" pitchFamily="2" charset="-122"/>
                </a:endParaRPr>
              </a:p>
            </p:txBody>
          </p:sp>
        </p:grpSp>
        <p:sp>
          <p:nvSpPr>
            <p:cNvPr id="81930" name="矩形 10"/>
            <p:cNvSpPr/>
            <p:nvPr/>
          </p:nvSpPr>
          <p:spPr>
            <a:xfrm>
              <a:off x="53882" y="1092073"/>
              <a:ext cx="8251371" cy="871008"/>
            </a:xfrm>
            <a:prstGeom prst="rect">
              <a:avLst/>
            </a:prstGeom>
            <a:noFill/>
            <a:ln w="9525">
              <a:noFill/>
            </a:ln>
          </p:spPr>
          <p:txBody>
            <a:bodyPr anchor="t">
              <a:spAutoFit/>
            </a:bodyPr>
            <a:lstStyle/>
            <a:p>
              <a:pPr marL="914400" lvl="1" indent="-457200" eaLnBrk="1" hangingPunct="1">
                <a:lnSpc>
                  <a:spcPct val="110000"/>
                </a:lnSpc>
                <a:spcBef>
                  <a:spcPts val="300"/>
                </a:spcBef>
                <a:buNone/>
              </a:pP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 </a:t>
              </a:r>
              <a:r>
                <a:rPr lang="zh-CN" altLang="en-US" sz="2400" u="sng" dirty="0">
                  <a:latin typeface="宋体" panose="02010600030101010101" pitchFamily="2" charset="-122"/>
                  <a:ea typeface="华文楷体" panose="02010600040101010101" pitchFamily="2" charset="-122"/>
                </a:rPr>
                <a:t>需记录多个值。例如：</a:t>
              </a:r>
              <a:r>
                <a:rPr lang="zh-CN" altLang="en-US" sz="2200" dirty="0">
                  <a:latin typeface="宋体" panose="02010600030101010101" pitchFamily="2" charset="-122"/>
                  <a:ea typeface="华文楷体" panose="02010600040101010101" pitchFamily="2" charset="-122"/>
                </a:rPr>
                <a:t>员工在同一部门的不同“地点”工作。院教务员有九里和犀浦两个工作地点。</a:t>
              </a:r>
              <a:endParaRPr lang="en-US" altLang="x-none" sz="2200" dirty="0">
                <a:latin typeface="宋体" panose="02010600030101010101" pitchFamily="2" charset="-122"/>
                <a:ea typeface="华文楷体" panose="02010600040101010101" pitchFamily="2" charset="-122"/>
              </a:endParaRPr>
            </a:p>
          </p:txBody>
        </p:sp>
      </p:gr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500" fill="hold"/>
                                        <p:tgtEl>
                                          <p:spTgt spid="76805"/>
                                        </p:tgtEl>
                                        <p:attrNameLst>
                                          <p:attrName>ppt_x</p:attrName>
                                        </p:attrNameLst>
                                      </p:cBhvr>
                                      <p:tavLst>
                                        <p:tav tm="0">
                                          <p:val>
                                            <p:strVal val="#ppt_x"/>
                                          </p:val>
                                        </p:tav>
                                        <p:tav tm="100000">
                                          <p:val>
                                            <p:strVal val="#ppt_x"/>
                                          </p:val>
                                        </p:tav>
                                      </p:tavLst>
                                    </p:anim>
                                    <p:anim calcmode="lin" valueType="num">
                                      <p:cBhvr>
                                        <p:cTn id="8"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6808"/>
                                        </p:tgtEl>
                                        <p:attrNameLst>
                                          <p:attrName>style.visibility</p:attrName>
                                        </p:attrNameLst>
                                      </p:cBhvr>
                                      <p:to>
                                        <p:strVal val="visible"/>
                                      </p:to>
                                    </p:set>
                                    <p:anim calcmode="lin" valueType="num">
                                      <p:cBhvr>
                                        <p:cTn id="13" dur="500" fill="hold"/>
                                        <p:tgtEl>
                                          <p:spTgt spid="76808"/>
                                        </p:tgtEl>
                                        <p:attrNameLst>
                                          <p:attrName>ppt_x</p:attrName>
                                        </p:attrNameLst>
                                      </p:cBhvr>
                                      <p:tavLst>
                                        <p:tav tm="0">
                                          <p:val>
                                            <p:strVal val="#ppt_x"/>
                                          </p:val>
                                        </p:tav>
                                        <p:tav tm="100000">
                                          <p:val>
                                            <p:strVal val="#ppt_x"/>
                                          </p:val>
                                        </p:tav>
                                      </p:tavLst>
                                    </p:anim>
                                    <p:anim calcmode="lin" valueType="num">
                                      <p:cBhvr>
                                        <p:cTn id="14" dur="500" fill="hold"/>
                                        <p:tgtEl>
                                          <p:spTgt spid="768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2"/>
          <p:cNvSpPr/>
          <p:nvPr/>
        </p:nvSpPr>
        <p:spPr>
          <a:xfrm>
            <a:off x="498475" y="884238"/>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pic>
        <p:nvPicPr>
          <p:cNvPr id="82947" name="Picture 2"/>
          <p:cNvPicPr>
            <a:picLocks noChangeAspect="1"/>
          </p:cNvPicPr>
          <p:nvPr/>
        </p:nvPicPr>
        <p:blipFill>
          <a:blip r:embed="rId1"/>
          <a:stretch>
            <a:fillRect/>
          </a:stretch>
        </p:blipFill>
        <p:spPr>
          <a:xfrm>
            <a:off x="528638" y="1693863"/>
            <a:ext cx="7386637" cy="3270250"/>
          </a:xfrm>
          <a:prstGeom prst="rect">
            <a:avLst/>
          </a:prstGeom>
          <a:noFill/>
          <a:ln w="9525">
            <a:noFill/>
          </a:ln>
        </p:spPr>
      </p:pic>
      <p:sp>
        <p:nvSpPr>
          <p:cNvPr id="82948" name="矩形 11"/>
          <p:cNvSpPr/>
          <p:nvPr/>
        </p:nvSpPr>
        <p:spPr>
          <a:xfrm>
            <a:off x="6516688" y="1409700"/>
            <a:ext cx="2322512" cy="904875"/>
          </a:xfrm>
          <a:prstGeom prst="rect">
            <a:avLst/>
          </a:prstGeom>
          <a:no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多值属性用双椭圆形表示</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82949" name="矩形 12"/>
          <p:cNvSpPr/>
          <p:nvPr/>
        </p:nvSpPr>
        <p:spPr>
          <a:xfrm>
            <a:off x="544513" y="5100638"/>
            <a:ext cx="7874000" cy="954087"/>
          </a:xfrm>
          <a:prstGeom prst="rect">
            <a:avLst/>
          </a:prstGeom>
          <a:noFill/>
          <a:ln w="9525">
            <a:noFill/>
          </a:ln>
        </p:spPr>
        <p:txBody>
          <a:bodyPr anchor="t">
            <a:spAutoFit/>
          </a:bodyPr>
          <a:lstStyle/>
          <a:p>
            <a:pPr lvl="0" indent="0">
              <a:buNone/>
            </a:pPr>
            <a:r>
              <a:rPr lang="zh-CN" altLang="en-US" dirty="0">
                <a:latin typeface="Arial" panose="020B0604020202020204" pitchFamily="34" charset="0"/>
                <a:ea typeface="宋体" panose="02010600030101010101" pitchFamily="2" charset="-122"/>
              </a:rPr>
              <a:t>        </a:t>
            </a:r>
            <a:r>
              <a:rPr lang="zh-CN" altLang="en-US" sz="2200" dirty="0">
                <a:latin typeface="Arial" panose="020B0604020202020204" pitchFamily="34" charset="0"/>
                <a:ea typeface="宋体" panose="02010600030101010101" pitchFamily="2" charset="-122"/>
              </a:rPr>
              <a:t>多值属性在数据库的实施过程中，将会产生大量的数据冗余，造成数据库潜在数据异常、数据不一致性和完整性的缺陷。</a:t>
            </a:r>
            <a:endParaRPr lang="zh-CN" altLang="en-US" sz="2200" dirty="0">
              <a:latin typeface="Arial" panose="020B0604020202020204" pitchFamily="34" charset="0"/>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矩形 5"/>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grpSp>
        <p:nvGrpSpPr>
          <p:cNvPr id="83971" name="组合 2"/>
          <p:cNvGrpSpPr/>
          <p:nvPr/>
        </p:nvGrpSpPr>
        <p:grpSpPr>
          <a:xfrm>
            <a:off x="628650" y="1373188"/>
            <a:ext cx="8312150" cy="2238375"/>
            <a:chOff x="990" y="2163"/>
            <a:chExt cx="13090" cy="3525"/>
          </a:xfrm>
        </p:grpSpPr>
        <p:sp>
          <p:nvSpPr>
            <p:cNvPr id="83972" name="Text Box 47"/>
            <p:cNvSpPr txBox="1"/>
            <p:nvPr/>
          </p:nvSpPr>
          <p:spPr>
            <a:xfrm>
              <a:off x="989" y="2378"/>
              <a:ext cx="3570" cy="3310"/>
            </a:xfrm>
            <a:prstGeom prst="rect">
              <a:avLst/>
            </a:prstGeom>
            <a:noFill/>
            <a:ln w="9525">
              <a:noFill/>
            </a:ln>
          </p:spPr>
          <p:txBody>
            <a:bodyPr anchor="t">
              <a:spAutoFit/>
            </a:bodyPr>
            <a:lstStyle/>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a:t>
              </a:r>
              <a:r>
                <a:rPr lang="en-US" altLang="x-none" sz="2200" dirty="0">
                  <a:solidFill>
                    <a:srgbClr val="0000CC"/>
                  </a:solidFill>
                  <a:latin typeface="华文楷体" panose="02010600040101010101" pitchFamily="2" charset="-122"/>
                  <a:ea typeface="华文楷体" panose="02010600040101010101" pitchFamily="2" charset="-122"/>
                </a:rPr>
                <a:t>1</a:t>
              </a:r>
              <a:r>
                <a:rPr lang="zh-CN" altLang="en-US" sz="2200" dirty="0">
                  <a:solidFill>
                    <a:srgbClr val="0000CC"/>
                  </a:solidFill>
                  <a:latin typeface="华文楷体" panose="02010600040101010101" pitchFamily="2" charset="-122"/>
                  <a:ea typeface="华文楷体" panose="02010600040101010101" pitchFamily="2" charset="-122"/>
                </a:rPr>
                <a:t>）方法一：</a:t>
              </a:r>
              <a:endParaRPr lang="en-US" altLang="x-none" sz="2200" dirty="0">
                <a:solidFill>
                  <a:srgbClr val="0000CC"/>
                </a:solidFill>
                <a:latin typeface="华文楷体" panose="02010600040101010101" pitchFamily="2" charset="-122"/>
                <a:ea typeface="华文楷体" panose="02010600040101010101" pitchFamily="2" charset="-122"/>
              </a:endParaRPr>
            </a:p>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增加几个新的属</a:t>
              </a:r>
              <a:endParaRPr lang="en-US" altLang="x-none" sz="2200" dirty="0">
                <a:solidFill>
                  <a:srgbClr val="0000CC"/>
                </a:solidFill>
                <a:latin typeface="华文楷体" panose="02010600040101010101" pitchFamily="2" charset="-122"/>
                <a:ea typeface="华文楷体" panose="02010600040101010101" pitchFamily="2" charset="-122"/>
              </a:endParaRPr>
            </a:p>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性：将原来的多</a:t>
              </a:r>
              <a:endParaRPr lang="en-US" altLang="x-none" sz="2200" dirty="0">
                <a:solidFill>
                  <a:srgbClr val="0000CC"/>
                </a:solidFill>
                <a:latin typeface="华文楷体" panose="02010600040101010101" pitchFamily="2" charset="-122"/>
                <a:ea typeface="华文楷体" panose="02010600040101010101" pitchFamily="2" charset="-122"/>
              </a:endParaRPr>
            </a:p>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值属性用几个新</a:t>
              </a:r>
              <a:endParaRPr lang="en-US" altLang="x-none" sz="2200" dirty="0">
                <a:solidFill>
                  <a:srgbClr val="0000CC"/>
                </a:solidFill>
                <a:latin typeface="华文楷体" panose="02010600040101010101" pitchFamily="2" charset="-122"/>
                <a:ea typeface="华文楷体" panose="02010600040101010101" pitchFamily="2" charset="-122"/>
              </a:endParaRPr>
            </a:p>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的属性来表示。</a:t>
              </a:r>
              <a:endParaRPr lang="de-DE" altLang="en-US" sz="2200" dirty="0">
                <a:solidFill>
                  <a:srgbClr val="0000CC"/>
                </a:solidFill>
                <a:latin typeface="华文楷体" panose="02010600040101010101" pitchFamily="2" charset="-122"/>
                <a:ea typeface="华文楷体" panose="02010600040101010101" pitchFamily="2" charset="-122"/>
              </a:endParaRPr>
            </a:p>
          </p:txBody>
        </p:sp>
        <p:pic>
          <p:nvPicPr>
            <p:cNvPr id="83973" name="Picture 3"/>
            <p:cNvPicPr>
              <a:picLocks noChangeAspect="1"/>
            </p:cNvPicPr>
            <p:nvPr/>
          </p:nvPicPr>
          <p:blipFill>
            <a:blip r:embed="rId1"/>
            <a:stretch>
              <a:fillRect/>
            </a:stretch>
          </p:blipFill>
          <p:spPr>
            <a:xfrm>
              <a:off x="4209" y="2420"/>
              <a:ext cx="9470" cy="3217"/>
            </a:xfrm>
            <a:prstGeom prst="rect">
              <a:avLst/>
            </a:prstGeom>
            <a:noFill/>
            <a:ln w="9525">
              <a:noFill/>
            </a:ln>
          </p:spPr>
        </p:pic>
        <p:cxnSp>
          <p:nvCxnSpPr>
            <p:cNvPr id="83974" name="直接连接符 7"/>
            <p:cNvCxnSpPr/>
            <p:nvPr/>
          </p:nvCxnSpPr>
          <p:spPr>
            <a:xfrm>
              <a:off x="10879" y="4010"/>
              <a:ext cx="1187" cy="0"/>
            </a:xfrm>
            <a:prstGeom prst="line">
              <a:avLst/>
            </a:prstGeom>
            <a:ln w="9525" cap="flat" cmpd="sng">
              <a:solidFill>
                <a:schemeClr val="tx1"/>
              </a:solidFill>
              <a:prstDash val="solid"/>
              <a:round/>
              <a:headEnd type="none" w="med" len="med"/>
              <a:tailEnd type="none" w="med" len="med"/>
            </a:ln>
          </p:spPr>
        </p:cxnSp>
        <p:sp>
          <p:nvSpPr>
            <p:cNvPr id="83975" name="矩形 8"/>
            <p:cNvSpPr/>
            <p:nvPr/>
          </p:nvSpPr>
          <p:spPr>
            <a:xfrm>
              <a:off x="11222" y="2163"/>
              <a:ext cx="2857" cy="785"/>
            </a:xfrm>
            <a:prstGeom prst="rect">
              <a:avLst/>
            </a:prstGeom>
            <a:no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数据冗余</a:t>
              </a:r>
              <a:endParaRPr lang="zh-CN" altLang="en-US" sz="2200" u="sng" dirty="0">
                <a:solidFill>
                  <a:srgbClr val="C00000"/>
                </a:solidFill>
                <a:latin typeface="华文楷体" panose="02010600040101010101" pitchFamily="2" charset="-122"/>
                <a:ea typeface="宋体" panose="02010600030101010101" pitchFamily="2" charset="-122"/>
              </a:endParaRPr>
            </a:p>
          </p:txBody>
        </p:sp>
      </p:grpSp>
      <p:pic>
        <p:nvPicPr>
          <p:cNvPr id="78852" name="Picture 4"/>
          <p:cNvPicPr>
            <a:picLocks noChangeAspect="1"/>
          </p:cNvPicPr>
          <p:nvPr/>
        </p:nvPicPr>
        <p:blipFill>
          <a:blip r:embed="rId2"/>
          <a:stretch>
            <a:fillRect/>
          </a:stretch>
        </p:blipFill>
        <p:spPr>
          <a:xfrm>
            <a:off x="739775" y="3695700"/>
            <a:ext cx="7947025" cy="2562225"/>
          </a:xfrm>
          <a:prstGeom prst="rect">
            <a:avLst/>
          </a:prstGeom>
          <a:noFill/>
          <a:ln w="9525">
            <a:noFill/>
          </a:ln>
        </p:spPr>
      </p:pic>
      <p:sp>
        <p:nvSpPr>
          <p:cNvPr id="81928" name="矩形 9"/>
          <p:cNvSpPr/>
          <p:nvPr/>
        </p:nvSpPr>
        <p:spPr>
          <a:xfrm>
            <a:off x="6626225" y="3697288"/>
            <a:ext cx="2314575" cy="1717675"/>
          </a:xfrm>
          <a:prstGeom prst="rect">
            <a:avLst/>
          </a:prstGeom>
          <a:solidFill>
            <a:schemeClr val="bg1"/>
          </a:solid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多值的数量确定时可以</a:t>
            </a:r>
            <a:r>
              <a:rPr lang="en-US" altLang="x-none" sz="2200" u="sng" dirty="0">
                <a:solidFill>
                  <a:srgbClr val="C00000"/>
                </a:solidFill>
                <a:latin typeface="华文楷体" panose="02010600040101010101" pitchFamily="2" charset="-122"/>
                <a:ea typeface="宋体" panose="02010600030101010101" pitchFamily="2" charset="-122"/>
              </a:rPr>
              <a:t>,</a:t>
            </a:r>
            <a:r>
              <a:rPr lang="zh-CN" altLang="en-US" sz="2200" u="sng" dirty="0">
                <a:solidFill>
                  <a:srgbClr val="C00000"/>
                </a:solidFill>
                <a:latin typeface="华文楷体" panose="02010600040101010101" pitchFamily="2" charset="-122"/>
                <a:ea typeface="宋体" panose="02010600030101010101" pitchFamily="2" charset="-122"/>
              </a:rPr>
              <a:t>但多值的数量不确定时</a:t>
            </a:r>
            <a:r>
              <a:rPr lang="en-US" altLang="x-none" sz="2200" u="sng" dirty="0">
                <a:solidFill>
                  <a:srgbClr val="C00000"/>
                </a:solidFill>
                <a:latin typeface="华文楷体" panose="02010600040101010101" pitchFamily="2" charset="-122"/>
                <a:ea typeface="宋体" panose="02010600030101010101" pitchFamily="2" charset="-122"/>
              </a:rPr>
              <a:t>,</a:t>
            </a:r>
            <a:r>
              <a:rPr lang="zh-CN" altLang="en-US" sz="2200" u="sng" dirty="0">
                <a:solidFill>
                  <a:srgbClr val="C00000"/>
                </a:solidFill>
                <a:latin typeface="华文楷体" panose="02010600040101010101" pitchFamily="2" charset="-122"/>
                <a:ea typeface="宋体" panose="02010600030101010101" pitchFamily="2" charset="-122"/>
              </a:rPr>
              <a:t>不能处理</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852"/>
                                        </p:tgtEl>
                                        <p:attrNameLst>
                                          <p:attrName>style.visibility</p:attrName>
                                        </p:attrNameLst>
                                      </p:cBhvr>
                                      <p:to>
                                        <p:strVal val="visible"/>
                                      </p:to>
                                    </p:set>
                                    <p:anim calcmode="lin" valueType="num">
                                      <p:cBhvr additive="base">
                                        <p:cTn id="7" dur="500" fill="hold"/>
                                        <p:tgtEl>
                                          <p:spTgt spid="78852"/>
                                        </p:tgtEl>
                                        <p:attrNameLst>
                                          <p:attrName>ppt_x</p:attrName>
                                        </p:attrNameLst>
                                      </p:cBhvr>
                                      <p:tavLst>
                                        <p:tav tm="0">
                                          <p:val>
                                            <p:strVal val="#ppt_x"/>
                                          </p:val>
                                        </p:tav>
                                        <p:tav tm="100000">
                                          <p:val>
                                            <p:strVal val="#ppt_x"/>
                                          </p:val>
                                        </p:tav>
                                      </p:tavLst>
                                    </p:anim>
                                    <p:anim calcmode="lin" valueType="num">
                                      <p:cBhvr additive="base">
                                        <p:cTn id="8" dur="500" fill="hold"/>
                                        <p:tgtEl>
                                          <p:spTgt spid="7885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28"/>
                                        </p:tgtEl>
                                        <p:attrNameLst>
                                          <p:attrName>style.visibility</p:attrName>
                                        </p:attrNameLst>
                                      </p:cBhvr>
                                      <p:to>
                                        <p:strVal val="visible"/>
                                      </p:to>
                                    </p:set>
                                    <p:anim calcmode="lin" valueType="num">
                                      <p:cBhvr additive="base">
                                        <p:cTn id="13" dur="500" fill="hold"/>
                                        <p:tgtEl>
                                          <p:spTgt spid="81928"/>
                                        </p:tgtEl>
                                        <p:attrNameLst>
                                          <p:attrName>ppt_x</p:attrName>
                                        </p:attrNameLst>
                                      </p:cBhvr>
                                      <p:tavLst>
                                        <p:tav tm="0">
                                          <p:val>
                                            <p:strVal val="#ppt_x"/>
                                          </p:val>
                                        </p:tav>
                                        <p:tav tm="100000">
                                          <p:val>
                                            <p:strVal val="#ppt_x"/>
                                          </p:val>
                                        </p:tav>
                                      </p:tavLst>
                                    </p:anim>
                                    <p:anim calcmode="lin" valueType="num">
                                      <p:cBhvr additive="base">
                                        <p:cTn id="14" dur="500" fill="hold"/>
                                        <p:tgtEl>
                                          <p:spTgt spid="819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8" grpId="0" animBg="1"/>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4993" name="Picture 2"/>
          <p:cNvPicPr>
            <a:picLocks noChangeAspect="1"/>
          </p:cNvPicPr>
          <p:nvPr/>
        </p:nvPicPr>
        <p:blipFill>
          <a:blip r:embed="rId1"/>
          <a:stretch>
            <a:fillRect/>
          </a:stretch>
        </p:blipFill>
        <p:spPr>
          <a:xfrm>
            <a:off x="406400" y="1684338"/>
            <a:ext cx="8305800" cy="3657600"/>
          </a:xfrm>
          <a:prstGeom prst="rect">
            <a:avLst/>
          </a:prstGeom>
          <a:noFill/>
          <a:ln w="9525">
            <a:noFill/>
          </a:ln>
        </p:spPr>
      </p:pic>
      <p:sp>
        <p:nvSpPr>
          <p:cNvPr id="84994" name="矩形 2"/>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84996" name="矩形 4"/>
          <p:cNvSpPr/>
          <p:nvPr/>
        </p:nvSpPr>
        <p:spPr>
          <a:xfrm>
            <a:off x="6364288" y="4116388"/>
            <a:ext cx="2314575" cy="1717675"/>
          </a:xfrm>
          <a:prstGeom prst="rect">
            <a:avLst/>
          </a:prstGeom>
          <a:solidFill>
            <a:schemeClr val="bg1"/>
          </a:solid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片区的划分在应用过程中不断的根据要求合并和分裂</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47"/>
          <p:cNvSpPr txBox="1"/>
          <p:nvPr/>
        </p:nvSpPr>
        <p:spPr>
          <a:xfrm>
            <a:off x="557213" y="1570038"/>
            <a:ext cx="8005762" cy="1447800"/>
          </a:xfrm>
          <a:prstGeom prst="rect">
            <a:avLst/>
          </a:prstGeom>
          <a:noFill/>
          <a:ln w="9525">
            <a:noFill/>
          </a:ln>
        </p:spPr>
        <p:txBody>
          <a:bodyPr anchor="t">
            <a:spAutoFit/>
          </a:bodyPr>
          <a:lstStyle/>
          <a:p>
            <a:pPr marL="457200" lvl="0" indent="-457200">
              <a:lnSpc>
                <a:spcPct val="125000"/>
              </a:lnSpc>
              <a:buNone/>
            </a:pPr>
            <a:r>
              <a:rPr lang="zh-CN" altLang="en-US" sz="2200" dirty="0">
                <a:solidFill>
                  <a:srgbClr val="0000CC"/>
                </a:solidFill>
                <a:latin typeface="华文楷体" panose="02010600040101010101" pitchFamily="2" charset="-122"/>
                <a:ea typeface="华文楷体" panose="02010600040101010101" pitchFamily="2" charset="-122"/>
              </a:rPr>
              <a:t>（</a:t>
            </a:r>
            <a:r>
              <a:rPr lang="en-US" altLang="x-none" sz="2200" dirty="0">
                <a:solidFill>
                  <a:srgbClr val="0000CC"/>
                </a:solidFill>
                <a:latin typeface="华文楷体" panose="02010600040101010101" pitchFamily="2" charset="-122"/>
                <a:ea typeface="华文楷体" panose="02010600040101010101" pitchFamily="2" charset="-122"/>
              </a:rPr>
              <a:t>2</a:t>
            </a:r>
            <a:r>
              <a:rPr lang="zh-CN" altLang="en-US" sz="2200" dirty="0">
                <a:solidFill>
                  <a:srgbClr val="0000CC"/>
                </a:solidFill>
                <a:latin typeface="华文楷体" panose="02010600040101010101" pitchFamily="2" charset="-122"/>
                <a:ea typeface="华文楷体" panose="02010600040101010101" pitchFamily="2" charset="-122"/>
              </a:rPr>
              <a:t>）</a:t>
            </a:r>
            <a:r>
              <a:rPr lang="zh-CN" altLang="en-US" sz="2400" dirty="0">
                <a:solidFill>
                  <a:srgbClr val="0000CC"/>
                </a:solidFill>
                <a:latin typeface="华文楷体" panose="02010600040101010101" pitchFamily="2" charset="-122"/>
                <a:ea typeface="华文楷体" panose="02010600040101010101" pitchFamily="2" charset="-122"/>
              </a:rPr>
              <a:t>方法二：增加一个新的实体。新实体和原来的实体之间是</a:t>
            </a:r>
            <a:r>
              <a:rPr lang="en-US" altLang="x-none" sz="2400" dirty="0">
                <a:solidFill>
                  <a:srgbClr val="0000CC"/>
                </a:solidFill>
                <a:latin typeface="华文楷体" panose="02010600040101010101" pitchFamily="2" charset="-122"/>
                <a:ea typeface="华文楷体" panose="02010600040101010101" pitchFamily="2" charset="-122"/>
              </a:rPr>
              <a:t>1</a:t>
            </a:r>
            <a:r>
              <a:rPr lang="zh-CN" altLang="en-US" sz="2400" dirty="0">
                <a:solidFill>
                  <a:srgbClr val="0000CC"/>
                </a:solidFill>
                <a:latin typeface="华文楷体" panose="02010600040101010101" pitchFamily="2" charset="-122"/>
                <a:ea typeface="华文楷体" panose="02010600040101010101" pitchFamily="2" charset="-122"/>
              </a:rPr>
              <a:t>：</a:t>
            </a:r>
            <a:r>
              <a:rPr lang="en-US" altLang="x-none" sz="2400" dirty="0">
                <a:solidFill>
                  <a:srgbClr val="0000CC"/>
                </a:solidFill>
                <a:latin typeface="华文楷体" panose="02010600040101010101" pitchFamily="2" charset="-122"/>
                <a:ea typeface="华文楷体" panose="02010600040101010101" pitchFamily="2" charset="-122"/>
              </a:rPr>
              <a:t>n</a:t>
            </a:r>
            <a:r>
              <a:rPr lang="zh-CN" altLang="en-US" sz="2400" dirty="0">
                <a:solidFill>
                  <a:srgbClr val="0000CC"/>
                </a:solidFill>
                <a:latin typeface="华文楷体" panose="02010600040101010101" pitchFamily="2" charset="-122"/>
                <a:ea typeface="华文楷体" panose="02010600040101010101" pitchFamily="2" charset="-122"/>
              </a:rPr>
              <a:t>联系。该实体依赖于原来的实体而存在，称之为弱实体。</a:t>
            </a:r>
            <a:endParaRPr lang="de-DE" altLang="en-US" sz="2400" dirty="0">
              <a:solidFill>
                <a:srgbClr val="0000CC"/>
              </a:solidFill>
              <a:latin typeface="华文楷体" panose="02010600040101010101" pitchFamily="2" charset="-122"/>
              <a:ea typeface="华文楷体" panose="02010600040101010101" pitchFamily="2" charset="-122"/>
            </a:endParaRPr>
          </a:p>
        </p:txBody>
      </p:sp>
      <p:pic>
        <p:nvPicPr>
          <p:cNvPr id="86018" name="Picture 3"/>
          <p:cNvPicPr>
            <a:picLocks noChangeAspect="1"/>
          </p:cNvPicPr>
          <p:nvPr/>
        </p:nvPicPr>
        <p:blipFill>
          <a:blip r:embed="rId1"/>
          <a:stretch>
            <a:fillRect/>
          </a:stretch>
        </p:blipFill>
        <p:spPr>
          <a:xfrm>
            <a:off x="661988" y="2922588"/>
            <a:ext cx="8056562" cy="2660650"/>
          </a:xfrm>
          <a:prstGeom prst="rect">
            <a:avLst/>
          </a:prstGeom>
          <a:noFill/>
          <a:ln w="9525">
            <a:noFill/>
          </a:ln>
        </p:spPr>
      </p:pic>
      <p:sp>
        <p:nvSpPr>
          <p:cNvPr id="86019" name="矩形 5"/>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dissolve">
                                      <p:cBhvr>
                                        <p:cTn id="7" dur="500"/>
                                        <p:tgtEl>
                                          <p:spTgt spid="8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1" name="Picture 2"/>
          <p:cNvPicPr>
            <a:picLocks noChangeAspect="1"/>
          </p:cNvPicPr>
          <p:nvPr/>
        </p:nvPicPr>
        <p:blipFill>
          <a:blip r:embed="rId1"/>
          <a:stretch>
            <a:fillRect/>
          </a:stretch>
        </p:blipFill>
        <p:spPr>
          <a:xfrm>
            <a:off x="406400" y="2039938"/>
            <a:ext cx="8359775" cy="3095625"/>
          </a:xfrm>
          <a:prstGeom prst="rect">
            <a:avLst/>
          </a:prstGeom>
          <a:noFill/>
          <a:ln w="9525">
            <a:noFill/>
          </a:ln>
          <a:effectLst>
            <a:prstShdw prst="shdw17" dist="17961" dir="2699999">
              <a:srgbClr val="708688"/>
            </a:prstShdw>
          </a:effectLst>
        </p:spPr>
      </p:pic>
      <p:sp>
        <p:nvSpPr>
          <p:cNvPr id="87042" name="矩形 5"/>
          <p:cNvSpPr/>
          <p:nvPr/>
        </p:nvSpPr>
        <p:spPr>
          <a:xfrm>
            <a:off x="-363537" y="5208588"/>
            <a:ext cx="9217025" cy="1209675"/>
          </a:xfrm>
          <a:prstGeom prst="rect">
            <a:avLst/>
          </a:prstGeom>
          <a:noFill/>
          <a:ln w="9525">
            <a:noFill/>
          </a:ln>
        </p:spPr>
        <p:txBody>
          <a:bodyPr anchor="t">
            <a:spAutoFit/>
          </a:bodyPr>
          <a:lstStyle/>
          <a:p>
            <a:pPr marL="914400" lvl="1" indent="-457200" eaLnBrk="1" hangingPunct="1">
              <a:lnSpc>
                <a:spcPct val="110000"/>
              </a:lnSpc>
              <a:spcBef>
                <a:spcPts val="300"/>
              </a:spcBef>
              <a:buSzPct val="50000"/>
              <a:buNone/>
            </a:pPr>
            <a:r>
              <a:rPr lang="zh-CN" altLang="en-US" sz="2000" dirty="0">
                <a:latin typeface="宋体" panose="02010600030101010101" pitchFamily="2" charset="-122"/>
                <a:ea typeface="华文楷体" panose="02010600040101010101" pitchFamily="2" charset="-122"/>
              </a:rPr>
              <a:t>    </a:t>
            </a:r>
            <a:r>
              <a:rPr lang="zh-CN" altLang="en-US" sz="2200" dirty="0">
                <a:latin typeface="宋体" panose="02010600030101010101" pitchFamily="2" charset="-122"/>
                <a:ea typeface="华文楷体" panose="02010600040101010101" pitchFamily="2" charset="-122"/>
              </a:rPr>
              <a:t>平台上的一个经销商实体对应多个门市，经销商订货时要求的送货地址可以在它注册的门市地址列表中选择，这时地址本身应设计为一个实体。</a:t>
            </a:r>
            <a:endParaRPr lang="zh-CN" altLang="en-US" sz="2200" dirty="0">
              <a:latin typeface="宋体" panose="02010600030101010101" pitchFamily="2" charset="-122"/>
              <a:ea typeface="华文楷体" panose="02010600040101010101" pitchFamily="2" charset="-122"/>
            </a:endParaRPr>
          </a:p>
        </p:txBody>
      </p:sp>
      <p:sp>
        <p:nvSpPr>
          <p:cNvPr id="87043" name="矩形 5"/>
          <p:cNvSpPr/>
          <p:nvPr/>
        </p:nvSpPr>
        <p:spPr>
          <a:xfrm>
            <a:off x="407988" y="1370013"/>
            <a:ext cx="6326187" cy="552450"/>
          </a:xfrm>
          <a:prstGeom prst="rect">
            <a:avLst/>
          </a:prstGeom>
          <a:noFill/>
          <a:ln w="9525">
            <a:noFill/>
          </a:ln>
        </p:spPr>
        <p:txBody>
          <a:bodyPr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汽车整车订单管理案例</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87044" name="矩形 6"/>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87046" name="矩形 7"/>
          <p:cNvSpPr/>
          <p:nvPr/>
        </p:nvSpPr>
        <p:spPr>
          <a:xfrm>
            <a:off x="5834063" y="1446213"/>
            <a:ext cx="2946400" cy="904875"/>
          </a:xfrm>
          <a:prstGeom prst="rect">
            <a:avLst/>
          </a:prstGeom>
          <a:solidFill>
            <a:schemeClr val="bg1"/>
          </a:solid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一个用户有多少个门市地址不确定</a:t>
            </a:r>
            <a:r>
              <a:rPr lang="en-US" altLang="x-none" sz="2200" u="sng" dirty="0">
                <a:solidFill>
                  <a:srgbClr val="C00000"/>
                </a:solidFill>
                <a:latin typeface="华文楷体" panose="02010600040101010101" pitchFamily="2" charset="-122"/>
                <a:ea typeface="宋体" panose="02010600030101010101" pitchFamily="2" charset="-122"/>
              </a:rPr>
              <a:t>!</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矩形 1"/>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88067" name="矩形 3"/>
          <p:cNvSpPr/>
          <p:nvPr/>
        </p:nvSpPr>
        <p:spPr>
          <a:xfrm>
            <a:off x="407988" y="1370013"/>
            <a:ext cx="6326187" cy="552450"/>
          </a:xfrm>
          <a:prstGeom prst="rect">
            <a:avLst/>
          </a:prstGeom>
          <a:noFill/>
          <a:ln w="9525">
            <a:noFill/>
          </a:ln>
        </p:spPr>
        <p:txBody>
          <a:bodyPr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汽车整车订单管理案例</a:t>
            </a:r>
            <a:endParaRPr lang="zh-CN" altLang="en-US" sz="2600" dirty="0">
              <a:solidFill>
                <a:srgbClr val="A50021"/>
              </a:solidFill>
              <a:latin typeface="宋体" panose="02010600030101010101" pitchFamily="2" charset="-122"/>
              <a:ea typeface="宋体" panose="02010600030101010101" pitchFamily="2" charset="-122"/>
            </a:endParaRPr>
          </a:p>
        </p:txBody>
      </p:sp>
      <p:grpSp>
        <p:nvGrpSpPr>
          <p:cNvPr id="88068" name="组合 45"/>
          <p:cNvGrpSpPr/>
          <p:nvPr/>
        </p:nvGrpSpPr>
        <p:grpSpPr>
          <a:xfrm>
            <a:off x="684213" y="2284413"/>
            <a:ext cx="7932737" cy="1524000"/>
            <a:chOff x="0" y="0"/>
            <a:chExt cx="7932738" cy="1711325"/>
          </a:xfrm>
        </p:grpSpPr>
        <p:sp>
          <p:nvSpPr>
            <p:cNvPr id="88069" name="Freeform 2"/>
            <p:cNvSpPr/>
            <p:nvPr/>
          </p:nvSpPr>
          <p:spPr>
            <a:xfrm>
              <a:off x="0" y="0"/>
              <a:ext cx="1135063" cy="6096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solidFill>
            <a:ln w="9525" cap="flat" cmpd="sng">
              <a:solidFill>
                <a:schemeClr val="tx1"/>
              </a:solidFill>
              <a:prstDash val="solid"/>
              <a:miter/>
              <a:headEnd type="none" w="med" len="med"/>
              <a:tailEnd type="none" w="med" len="med"/>
            </a:ln>
          </p:spPr>
          <p:txBody>
            <a:bodyPr/>
            <a:lstStyle/>
            <a:p>
              <a:endParaRPr lang="zh-CN" altLang="en-US"/>
            </a:p>
          </p:txBody>
        </p:sp>
        <p:sp>
          <p:nvSpPr>
            <p:cNvPr id="88070" name="Freeform 6"/>
            <p:cNvSpPr/>
            <p:nvPr/>
          </p:nvSpPr>
          <p:spPr>
            <a:xfrm>
              <a:off x="3417888" y="1033463"/>
              <a:ext cx="1766887" cy="677862"/>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CCFFFF"/>
            </a:solidFill>
            <a:ln w="9525">
              <a:noFill/>
            </a:ln>
          </p:spPr>
          <p:txBody>
            <a:bodyPr/>
            <a:lstStyle/>
            <a:p>
              <a:endParaRPr lang="zh-CN" altLang="en-US"/>
            </a:p>
          </p:txBody>
        </p:sp>
        <p:sp>
          <p:nvSpPr>
            <p:cNvPr id="88071" name="Freeform 7"/>
            <p:cNvSpPr/>
            <p:nvPr/>
          </p:nvSpPr>
          <p:spPr>
            <a:xfrm>
              <a:off x="3417888" y="1033463"/>
              <a:ext cx="1766887" cy="677862"/>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FFCCFF"/>
            </a:solidFill>
            <a:ln w="47625" cap="flat" cmpd="sng">
              <a:solidFill>
                <a:srgbClr val="FF0000"/>
              </a:solidFill>
              <a:prstDash val="solid"/>
              <a:miter/>
              <a:headEnd type="none" w="med" len="med"/>
              <a:tailEnd type="none" w="med" len="med"/>
            </a:ln>
          </p:spPr>
          <p:txBody>
            <a:bodyPr/>
            <a:lstStyle/>
            <a:p>
              <a:endParaRPr lang="zh-CN" altLang="en-US"/>
            </a:p>
          </p:txBody>
        </p:sp>
        <p:sp>
          <p:nvSpPr>
            <p:cNvPr id="88072" name="Rectangle 8"/>
            <p:cNvSpPr/>
            <p:nvPr/>
          </p:nvSpPr>
          <p:spPr>
            <a:xfrm>
              <a:off x="3962400" y="1143000"/>
              <a:ext cx="685800" cy="559884"/>
            </a:xfrm>
            <a:prstGeom prst="rect">
              <a:avLst/>
            </a:prstGeom>
            <a:noFill/>
            <a:ln w="9525">
              <a:noFill/>
            </a:ln>
          </p:spPr>
          <p:txBody>
            <a:bodyPr lIns="0" tIns="0" rIns="0" bIns="0" anchor="t">
              <a:spAutoFit/>
            </a:bodyPr>
            <a:lstStyle/>
            <a:p>
              <a:pPr lvl="0" indent="0" algn="ctr">
                <a:buNone/>
              </a:pPr>
              <a:r>
                <a:rPr lang="zh-CN" altLang="en-US" sz="2400" dirty="0">
                  <a:solidFill>
                    <a:srgbClr val="0033CC"/>
                  </a:solidFill>
                  <a:latin typeface="宋体" panose="02010600030101010101" pitchFamily="2" charset="-122"/>
                  <a:ea typeface="宋体" panose="02010600030101010101" pitchFamily="2" charset="-122"/>
                </a:rPr>
                <a:t>送货</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88073" name="Rectangle 9"/>
            <p:cNvSpPr/>
            <p:nvPr/>
          </p:nvSpPr>
          <p:spPr>
            <a:xfrm>
              <a:off x="1600200" y="1143000"/>
              <a:ext cx="457200" cy="274638"/>
            </a:xfrm>
            <a:prstGeom prst="rect">
              <a:avLst/>
            </a:prstGeom>
            <a:noFill/>
            <a:ln w="9525">
              <a:noFill/>
            </a:ln>
          </p:spPr>
          <p:txBody>
            <a:bodyPr wrap="none" lIns="0" tIns="0" rIns="0" bIns="0" anchor="t">
              <a:spAutoFit/>
            </a:bodyPr>
            <a:lstStyle/>
            <a:p>
              <a:pPr lvl="0" indent="0"/>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33CC"/>
                </a:solidFill>
                <a:latin typeface="宋体" panose="02010600030101010101" pitchFamily="2" charset="-122"/>
                <a:ea typeface="宋体" panose="02010600030101010101" pitchFamily="2" charset="-122"/>
              </a:endParaRPr>
            </a:p>
          </p:txBody>
        </p:sp>
        <p:sp>
          <p:nvSpPr>
            <p:cNvPr id="88074" name="Rectangle 10"/>
            <p:cNvSpPr/>
            <p:nvPr/>
          </p:nvSpPr>
          <p:spPr>
            <a:xfrm>
              <a:off x="2074863" y="1160463"/>
              <a:ext cx="57150" cy="274637"/>
            </a:xfrm>
            <a:prstGeom prst="rect">
              <a:avLst/>
            </a:prstGeom>
            <a:noFill/>
            <a:ln w="9525">
              <a:noFill/>
            </a:ln>
          </p:spPr>
          <p:txBody>
            <a:bodyPr wrap="none" lIns="0" tIns="0" rIns="0" bIns="0" anchor="t">
              <a:spAutoFit/>
            </a:bodyPr>
            <a:lstStyle/>
            <a:p>
              <a:pPr lvl="0" indent="0"/>
              <a:r>
                <a:rPr lang="de-DE" altLang="en-US"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88075" name="Freeform 14"/>
            <p:cNvSpPr/>
            <p:nvPr/>
          </p:nvSpPr>
          <p:spPr>
            <a:xfrm>
              <a:off x="1455738"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close/>
                </a:path>
              </a:pathLst>
            </a:custGeom>
            <a:solidFill>
              <a:srgbClr val="FFCC00"/>
            </a:solidFill>
            <a:ln w="9525">
              <a:noFill/>
            </a:ln>
          </p:spPr>
          <p:txBody>
            <a:bodyPr/>
            <a:lstStyle/>
            <a:p>
              <a:endParaRPr lang="zh-CN" altLang="en-US"/>
            </a:p>
          </p:txBody>
        </p:sp>
        <p:sp>
          <p:nvSpPr>
            <p:cNvPr id="88076" name="Freeform 15"/>
            <p:cNvSpPr/>
            <p:nvPr/>
          </p:nvSpPr>
          <p:spPr>
            <a:xfrm>
              <a:off x="1455738"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solidFill>
            <a:ln w="17463" cap="flat" cmpd="sng">
              <a:solidFill>
                <a:srgbClr val="000000"/>
              </a:solidFill>
              <a:prstDash val="solid"/>
              <a:miter/>
              <a:headEnd type="none" w="med" len="med"/>
              <a:tailEnd type="none" w="med" len="med"/>
            </a:ln>
          </p:spPr>
          <p:txBody>
            <a:bodyPr/>
            <a:lstStyle/>
            <a:p>
              <a:endParaRPr lang="zh-CN" altLang="en-US"/>
            </a:p>
          </p:txBody>
        </p:sp>
        <p:sp>
          <p:nvSpPr>
            <p:cNvPr id="88077" name="Rectangle 16"/>
            <p:cNvSpPr/>
            <p:nvPr/>
          </p:nvSpPr>
          <p:spPr>
            <a:xfrm>
              <a:off x="1676400" y="152400"/>
              <a:ext cx="516167" cy="46657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名称</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078" name="Rectangle 17"/>
            <p:cNvSpPr/>
            <p:nvPr/>
          </p:nvSpPr>
          <p:spPr>
            <a:xfrm>
              <a:off x="2044700" y="238125"/>
              <a:ext cx="47625" cy="228600"/>
            </a:xfrm>
            <a:prstGeom prst="rect">
              <a:avLst/>
            </a:prstGeom>
            <a:noFill/>
            <a:ln w="9525">
              <a:noFill/>
            </a:ln>
          </p:spPr>
          <p:txBody>
            <a:bodyPr wrap="non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88079" name="Freeform 18"/>
            <p:cNvSpPr/>
            <p:nvPr/>
          </p:nvSpPr>
          <p:spPr>
            <a:xfrm>
              <a:off x="2633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close/>
                </a:path>
              </a:pathLst>
            </a:custGeom>
            <a:solidFill>
              <a:srgbClr val="FFCCFF"/>
            </a:solidFill>
            <a:ln w="9525">
              <a:noFill/>
            </a:ln>
          </p:spPr>
          <p:txBody>
            <a:bodyPr/>
            <a:lstStyle/>
            <a:p>
              <a:endParaRPr lang="zh-CN" altLang="en-US"/>
            </a:p>
          </p:txBody>
        </p:sp>
        <p:sp>
          <p:nvSpPr>
            <p:cNvPr id="88080" name="Freeform 19"/>
            <p:cNvSpPr/>
            <p:nvPr/>
          </p:nvSpPr>
          <p:spPr>
            <a:xfrm>
              <a:off x="2633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88081" name="Rectangle 20"/>
            <p:cNvSpPr/>
            <p:nvPr/>
          </p:nvSpPr>
          <p:spPr>
            <a:xfrm>
              <a:off x="2819400" y="152400"/>
              <a:ext cx="774251" cy="46657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联系人</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082" name="Line 21"/>
            <p:cNvSpPr/>
            <p:nvPr/>
          </p:nvSpPr>
          <p:spPr>
            <a:xfrm>
              <a:off x="762000" y="609600"/>
              <a:ext cx="1066800" cy="457200"/>
            </a:xfrm>
            <a:prstGeom prst="line">
              <a:avLst/>
            </a:prstGeom>
            <a:ln w="17463" cap="flat" cmpd="sng">
              <a:solidFill>
                <a:srgbClr val="000000"/>
              </a:solidFill>
              <a:prstDash val="solid"/>
              <a:round/>
              <a:headEnd type="none" w="med" len="med"/>
              <a:tailEnd type="none" w="med" len="med"/>
            </a:ln>
          </p:spPr>
        </p:sp>
        <p:sp>
          <p:nvSpPr>
            <p:cNvPr id="88083" name="Line 22"/>
            <p:cNvSpPr/>
            <p:nvPr/>
          </p:nvSpPr>
          <p:spPr>
            <a:xfrm>
              <a:off x="1847850" y="525463"/>
              <a:ext cx="1588" cy="508000"/>
            </a:xfrm>
            <a:prstGeom prst="line">
              <a:avLst/>
            </a:prstGeom>
            <a:ln w="17463" cap="flat" cmpd="sng">
              <a:solidFill>
                <a:srgbClr val="000000"/>
              </a:solidFill>
              <a:prstDash val="solid"/>
              <a:round/>
              <a:headEnd type="none" w="med" len="med"/>
              <a:tailEnd type="none" w="med" len="med"/>
            </a:ln>
          </p:spPr>
        </p:sp>
        <p:sp>
          <p:nvSpPr>
            <p:cNvPr id="88084" name="Line 23"/>
            <p:cNvSpPr/>
            <p:nvPr/>
          </p:nvSpPr>
          <p:spPr>
            <a:xfrm flipH="1">
              <a:off x="1847850" y="525463"/>
              <a:ext cx="1177925" cy="508000"/>
            </a:xfrm>
            <a:prstGeom prst="line">
              <a:avLst/>
            </a:prstGeom>
            <a:ln w="17463" cap="flat" cmpd="sng">
              <a:solidFill>
                <a:srgbClr val="000000"/>
              </a:solidFill>
              <a:prstDash val="solid"/>
              <a:round/>
              <a:headEnd type="none" w="med" len="med"/>
              <a:tailEnd type="none" w="med" len="med"/>
            </a:ln>
          </p:spPr>
        </p:sp>
        <p:sp>
          <p:nvSpPr>
            <p:cNvPr id="88085" name="Line 25"/>
            <p:cNvSpPr/>
            <p:nvPr/>
          </p:nvSpPr>
          <p:spPr>
            <a:xfrm>
              <a:off x="2436813" y="1290638"/>
              <a:ext cx="955675" cy="82550"/>
            </a:xfrm>
            <a:prstGeom prst="line">
              <a:avLst/>
            </a:prstGeom>
            <a:ln w="17463" cap="flat" cmpd="sng">
              <a:solidFill>
                <a:srgbClr val="000000"/>
              </a:solidFill>
              <a:prstDash val="solid"/>
              <a:round/>
              <a:headEnd type="none" w="med" len="med"/>
              <a:tailEnd type="none" w="med" len="med"/>
            </a:ln>
          </p:spPr>
        </p:sp>
        <p:sp>
          <p:nvSpPr>
            <p:cNvPr id="88086" name="Rectangle 26"/>
            <p:cNvSpPr/>
            <p:nvPr/>
          </p:nvSpPr>
          <p:spPr>
            <a:xfrm>
              <a:off x="0" y="152400"/>
              <a:ext cx="1114408" cy="462323"/>
            </a:xfrm>
            <a:prstGeom prst="rect">
              <a:avLst/>
            </a:prstGeom>
            <a:noFill/>
            <a:ln w="9525">
              <a:noFill/>
            </a:ln>
          </p:spPr>
          <p:txBody>
            <a:bodyPr wrap="none" anchor="t">
              <a:spAutoFit/>
            </a:bodyPr>
            <a:lstStyle/>
            <a:p>
              <a:pPr lvl="0" indent="0">
                <a:buNone/>
              </a:pPr>
              <a:r>
                <a:rPr lang="zh-CN" altLang="en-US" u="sng" dirty="0">
                  <a:solidFill>
                    <a:srgbClr val="000000"/>
                  </a:solidFill>
                  <a:latin typeface="宋体" panose="02010600030101010101" pitchFamily="2" charset="-122"/>
                  <a:ea typeface="宋体" panose="02010600030101010101" pitchFamily="2" charset="-122"/>
                </a:rPr>
                <a:t>企业编号</a:t>
              </a:r>
              <a:endParaRPr lang="de-DE" altLang="en-US" u="sng" dirty="0">
                <a:solidFill>
                  <a:srgbClr val="000000"/>
                </a:solidFill>
                <a:latin typeface="宋体" panose="02010600030101010101" pitchFamily="2" charset="-122"/>
                <a:ea typeface="宋体" panose="02010600030101010101" pitchFamily="2" charset="-122"/>
              </a:endParaRPr>
            </a:p>
          </p:txBody>
        </p:sp>
        <p:sp>
          <p:nvSpPr>
            <p:cNvPr id="88087" name="Rectangle 27"/>
            <p:cNvSpPr/>
            <p:nvPr/>
          </p:nvSpPr>
          <p:spPr>
            <a:xfrm>
              <a:off x="1219200" y="1066800"/>
              <a:ext cx="1177925" cy="508000"/>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buNone/>
              </a:pPr>
              <a:r>
                <a:rPr lang="zh-CN" altLang="en-US" sz="2400" dirty="0">
                  <a:solidFill>
                    <a:srgbClr val="003300"/>
                  </a:solidFill>
                  <a:latin typeface="宋体" panose="02010600030101010101" pitchFamily="2" charset="-122"/>
                  <a:ea typeface="宋体" panose="02010600030101010101" pitchFamily="2" charset="-122"/>
                </a:rPr>
                <a:t>经销商</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88088" name="Rectangle 28"/>
            <p:cNvSpPr/>
            <p:nvPr/>
          </p:nvSpPr>
          <p:spPr>
            <a:xfrm>
              <a:off x="5943600" y="990600"/>
              <a:ext cx="1176338" cy="508000"/>
            </a:xfrm>
            <a:prstGeom prst="rect">
              <a:avLst/>
            </a:prstGeom>
            <a:solidFill>
              <a:srgbClr val="FFCCFF"/>
            </a:solidFill>
            <a:ln w="50800" cap="flat" cmpd="sng">
              <a:solidFill>
                <a:srgbClr val="CC0000"/>
              </a:solidFill>
              <a:prstDash val="solid"/>
              <a:miter/>
              <a:headEnd type="none" w="med" len="med"/>
              <a:tailEnd type="none" w="med" len="med"/>
            </a:ln>
          </p:spPr>
          <p:txBody>
            <a:bodyPr anchor="t"/>
            <a:lstStyle/>
            <a:p>
              <a:pPr lvl="0" indent="0">
                <a:buNone/>
              </a:pPr>
              <a:r>
                <a:rPr lang="zh-CN" altLang="en-US" sz="2400" dirty="0">
                  <a:solidFill>
                    <a:srgbClr val="000000"/>
                  </a:solidFill>
                  <a:latin typeface="宋体" panose="02010600030101010101" pitchFamily="2" charset="-122"/>
                  <a:ea typeface="宋体" panose="02010600030101010101" pitchFamily="2" charset="-122"/>
                </a:rPr>
                <a:t>地址</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88089" name="Freeform 29"/>
            <p:cNvSpPr/>
            <p:nvPr/>
          </p:nvSpPr>
          <p:spPr>
            <a:xfrm>
              <a:off x="5334000" y="0"/>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6"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6"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cap="flat" cmpd="sng">
              <a:solidFill>
                <a:srgbClr val="000000"/>
              </a:solidFill>
              <a:prstDash val="solid"/>
              <a:miter/>
              <a:headEnd type="none" w="med" len="med"/>
              <a:tailEnd type="none" w="med" len="med"/>
            </a:ln>
          </p:spPr>
          <p:txBody>
            <a:bodyPr/>
            <a:lstStyle/>
            <a:p>
              <a:endParaRPr lang="zh-CN" altLang="en-US"/>
            </a:p>
          </p:txBody>
        </p:sp>
        <p:sp>
          <p:nvSpPr>
            <p:cNvPr id="88090" name="Rectangle 30"/>
            <p:cNvSpPr/>
            <p:nvPr/>
          </p:nvSpPr>
          <p:spPr>
            <a:xfrm>
              <a:off x="5562600" y="76200"/>
              <a:ext cx="516167" cy="46657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地址</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88091" name="Rectangle 31"/>
            <p:cNvSpPr/>
            <p:nvPr/>
          </p:nvSpPr>
          <p:spPr>
            <a:xfrm>
              <a:off x="6065838" y="238125"/>
              <a:ext cx="47625" cy="228600"/>
            </a:xfrm>
            <a:prstGeom prst="rect">
              <a:avLst/>
            </a:prstGeom>
            <a:noFill/>
            <a:ln w="9525">
              <a:noFill/>
            </a:ln>
          </p:spPr>
          <p:txBody>
            <a:bodyPr wrap="non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88092" name="Freeform 32"/>
            <p:cNvSpPr/>
            <p:nvPr/>
          </p:nvSpPr>
          <p:spPr>
            <a:xfrm>
              <a:off x="6951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a:noFill/>
            </a:ln>
          </p:spPr>
          <p:txBody>
            <a:bodyPr/>
            <a:lstStyle/>
            <a:p>
              <a:endParaRPr lang="zh-CN" altLang="en-US"/>
            </a:p>
          </p:txBody>
        </p:sp>
        <p:sp>
          <p:nvSpPr>
            <p:cNvPr id="88093" name="Freeform 33"/>
            <p:cNvSpPr/>
            <p:nvPr/>
          </p:nvSpPr>
          <p:spPr>
            <a:xfrm>
              <a:off x="6951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88094" name="Rectangle 34"/>
            <p:cNvSpPr/>
            <p:nvPr/>
          </p:nvSpPr>
          <p:spPr>
            <a:xfrm>
              <a:off x="7162800" y="152400"/>
              <a:ext cx="516167" cy="46657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邮编</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095" name="Line 35"/>
            <p:cNvSpPr/>
            <p:nvPr/>
          </p:nvSpPr>
          <p:spPr>
            <a:xfrm>
              <a:off x="5773738" y="525463"/>
              <a:ext cx="784225" cy="485775"/>
            </a:xfrm>
            <a:prstGeom prst="line">
              <a:avLst/>
            </a:prstGeom>
            <a:ln w="17463" cap="flat" cmpd="sng">
              <a:solidFill>
                <a:srgbClr val="000000"/>
              </a:solidFill>
              <a:prstDash val="solid"/>
              <a:round/>
              <a:headEnd type="none" w="med" len="med"/>
              <a:tailEnd type="none" w="med" len="med"/>
            </a:ln>
          </p:spPr>
        </p:sp>
        <p:sp>
          <p:nvSpPr>
            <p:cNvPr id="88096" name="Line 36"/>
            <p:cNvSpPr/>
            <p:nvPr/>
          </p:nvSpPr>
          <p:spPr>
            <a:xfrm flipH="1">
              <a:off x="6557963" y="525463"/>
              <a:ext cx="785812" cy="485775"/>
            </a:xfrm>
            <a:prstGeom prst="line">
              <a:avLst/>
            </a:prstGeom>
            <a:ln w="17463" cap="flat" cmpd="sng">
              <a:solidFill>
                <a:srgbClr val="000000"/>
              </a:solidFill>
              <a:prstDash val="solid"/>
              <a:round/>
              <a:headEnd type="none" w="med" len="med"/>
              <a:tailEnd type="none" w="med" len="med"/>
            </a:ln>
          </p:spPr>
        </p:sp>
        <p:sp>
          <p:nvSpPr>
            <p:cNvPr id="88097" name="Line 37"/>
            <p:cNvSpPr/>
            <p:nvPr/>
          </p:nvSpPr>
          <p:spPr>
            <a:xfrm flipV="1">
              <a:off x="5181600" y="1295400"/>
              <a:ext cx="736600" cy="76200"/>
            </a:xfrm>
            <a:prstGeom prst="line">
              <a:avLst/>
            </a:prstGeom>
            <a:ln w="50800" cap="flat" cmpd="sng">
              <a:solidFill>
                <a:srgbClr val="FF0000"/>
              </a:solidFill>
              <a:prstDash val="solid"/>
              <a:round/>
              <a:headEnd type="none" w="med" len="med"/>
              <a:tailEnd type="none" w="med" len="med"/>
            </a:ln>
          </p:spPr>
        </p:sp>
        <p:sp>
          <p:nvSpPr>
            <p:cNvPr id="88098" name="Line 38"/>
            <p:cNvSpPr/>
            <p:nvPr/>
          </p:nvSpPr>
          <p:spPr>
            <a:xfrm>
              <a:off x="5562600" y="457200"/>
              <a:ext cx="533400" cy="1588"/>
            </a:xfrm>
            <a:prstGeom prst="line">
              <a:avLst/>
            </a:prstGeom>
            <a:ln w="38100" cap="flat" cmpd="sng">
              <a:solidFill>
                <a:srgbClr val="000000"/>
              </a:solidFill>
              <a:prstDash val="sysDot"/>
              <a:round/>
              <a:headEnd type="none" w="med" len="med"/>
              <a:tailEnd type="none" w="med" len="med"/>
            </a:ln>
          </p:spPr>
        </p:sp>
        <p:sp>
          <p:nvSpPr>
            <p:cNvPr id="88099" name="Text Box 39"/>
            <p:cNvSpPr txBox="1"/>
            <p:nvPr/>
          </p:nvSpPr>
          <p:spPr>
            <a:xfrm>
              <a:off x="2971800" y="990600"/>
              <a:ext cx="381000" cy="447238"/>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100" name="Text Box 40"/>
            <p:cNvSpPr txBox="1"/>
            <p:nvPr/>
          </p:nvSpPr>
          <p:spPr>
            <a:xfrm>
              <a:off x="5334000" y="914400"/>
              <a:ext cx="381000" cy="447238"/>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grpSp>
      <p:pic>
        <p:nvPicPr>
          <p:cNvPr id="88101" name="Picture 2"/>
          <p:cNvPicPr>
            <a:picLocks noChangeAspect="1"/>
          </p:cNvPicPr>
          <p:nvPr/>
        </p:nvPicPr>
        <p:blipFill>
          <a:blip r:embed="rId1"/>
          <a:stretch>
            <a:fillRect/>
          </a:stretch>
        </p:blipFill>
        <p:spPr>
          <a:xfrm>
            <a:off x="533400" y="4208463"/>
            <a:ext cx="4851400" cy="1520825"/>
          </a:xfrm>
          <a:prstGeom prst="rect">
            <a:avLst/>
          </a:prstGeom>
          <a:noFill/>
          <a:ln w="9525">
            <a:noFill/>
          </a:ln>
          <a:effectLst>
            <a:prstShdw prst="shdw17" dist="17961" dir="2699999">
              <a:srgbClr val="708688"/>
            </a:prstShdw>
          </a:effectLst>
        </p:spPr>
      </p:pic>
      <p:sp>
        <p:nvSpPr>
          <p:cNvPr id="88102" name="矩形 42"/>
          <p:cNvSpPr/>
          <p:nvPr/>
        </p:nvSpPr>
        <p:spPr>
          <a:xfrm>
            <a:off x="5791200" y="4232275"/>
            <a:ext cx="2700338" cy="904875"/>
          </a:xfrm>
          <a:prstGeom prst="rect">
            <a:avLst/>
          </a:prstGeom>
          <a:solidFill>
            <a:schemeClr val="bg1"/>
          </a:solid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送货地址可动态添加和修改</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88103" name="Freeform 32"/>
          <p:cNvSpPr/>
          <p:nvPr/>
        </p:nvSpPr>
        <p:spPr>
          <a:xfrm>
            <a:off x="6888163" y="1973263"/>
            <a:ext cx="981075" cy="452437"/>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cap="flat" cmpd="sng">
            <a:solidFill>
              <a:schemeClr val="tx1"/>
            </a:solidFill>
            <a:prstDash val="solid"/>
            <a:miter/>
            <a:headEnd type="none" w="med" len="med"/>
            <a:tailEnd type="none" w="med" len="med"/>
          </a:ln>
        </p:spPr>
        <p:txBody>
          <a:bodyPr/>
          <a:lstStyle/>
          <a:p>
            <a:endParaRPr lang="zh-CN" altLang="en-US"/>
          </a:p>
        </p:txBody>
      </p:sp>
      <p:sp>
        <p:nvSpPr>
          <p:cNvPr id="88104" name="Rectangle 34"/>
          <p:cNvSpPr/>
          <p:nvPr/>
        </p:nvSpPr>
        <p:spPr>
          <a:xfrm>
            <a:off x="6997700" y="1990725"/>
            <a:ext cx="773113" cy="35560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联系人</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105" name="Line 36"/>
          <p:cNvSpPr/>
          <p:nvPr/>
        </p:nvSpPr>
        <p:spPr>
          <a:xfrm flipH="1">
            <a:off x="7272338" y="2425700"/>
            <a:ext cx="211137" cy="695325"/>
          </a:xfrm>
          <a:prstGeom prst="line">
            <a:avLst/>
          </a:prstGeom>
          <a:ln w="17463" cap="flat" cmpd="sng">
            <a:solidFill>
              <a:srgbClr val="000000"/>
            </a:solidFill>
            <a:prstDash val="solid"/>
            <a:round/>
            <a:headEnd type="none" w="med" len="med"/>
            <a:tailEnd type="none" w="med" len="med"/>
          </a:ln>
        </p:spPr>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p:cNvPicPr>
          <p:nvPr/>
        </p:nvPicPr>
        <p:blipFill>
          <a:blip r:embed="rId1"/>
          <a:stretch>
            <a:fillRect/>
          </a:stretch>
        </p:blipFill>
        <p:spPr>
          <a:xfrm>
            <a:off x="406400" y="1928813"/>
            <a:ext cx="8120063" cy="3311525"/>
          </a:xfrm>
          <a:prstGeom prst="rect">
            <a:avLst/>
          </a:prstGeom>
          <a:noFill/>
          <a:ln w="9525">
            <a:noFill/>
          </a:ln>
          <a:effectLst>
            <a:prstShdw prst="shdw17" dist="17961" dir="2699999">
              <a:srgbClr val="708688"/>
            </a:prstShdw>
          </a:effectLst>
        </p:spPr>
      </p:pic>
      <p:pic>
        <p:nvPicPr>
          <p:cNvPr id="89091" name="Picture 3"/>
          <p:cNvPicPr>
            <a:picLocks noChangeAspect="1"/>
          </p:cNvPicPr>
          <p:nvPr/>
        </p:nvPicPr>
        <p:blipFill>
          <a:blip r:embed="rId2"/>
          <a:stretch>
            <a:fillRect/>
          </a:stretch>
        </p:blipFill>
        <p:spPr>
          <a:xfrm>
            <a:off x="3048000" y="2806700"/>
            <a:ext cx="5907088" cy="2498725"/>
          </a:xfrm>
          <a:prstGeom prst="rect">
            <a:avLst/>
          </a:prstGeom>
          <a:noFill/>
          <a:ln w="9525">
            <a:noFill/>
          </a:ln>
          <a:effectLst>
            <a:prstShdw prst="shdw17" dist="17961" dir="2699999">
              <a:srgbClr val="708688"/>
            </a:prstShdw>
          </a:effectLst>
        </p:spPr>
      </p:pic>
      <p:pic>
        <p:nvPicPr>
          <p:cNvPr id="89092" name="Picture 4"/>
          <p:cNvPicPr>
            <a:picLocks noChangeAspect="1"/>
          </p:cNvPicPr>
          <p:nvPr/>
        </p:nvPicPr>
        <p:blipFill>
          <a:blip r:embed="rId3"/>
          <a:stretch>
            <a:fillRect/>
          </a:stretch>
        </p:blipFill>
        <p:spPr>
          <a:xfrm>
            <a:off x="412750" y="4364038"/>
            <a:ext cx="8556625" cy="1733550"/>
          </a:xfrm>
          <a:prstGeom prst="rect">
            <a:avLst/>
          </a:prstGeom>
          <a:noFill/>
          <a:ln w="9525">
            <a:noFill/>
          </a:ln>
          <a:effectLst>
            <a:prstShdw prst="shdw17" dist="17961" dir="2699999">
              <a:srgbClr val="708688"/>
            </a:prstShdw>
          </a:effectLst>
        </p:spPr>
      </p:pic>
      <p:sp>
        <p:nvSpPr>
          <p:cNvPr id="89093" name="矩形 6"/>
          <p:cNvSpPr/>
          <p:nvPr/>
        </p:nvSpPr>
        <p:spPr>
          <a:xfrm>
            <a:off x="407988" y="1268413"/>
            <a:ext cx="6326187" cy="631825"/>
          </a:xfrm>
          <a:prstGeom prst="rect">
            <a:avLst/>
          </a:prstGeom>
          <a:noFill/>
          <a:ln w="9525">
            <a:noFill/>
          </a:ln>
        </p:spPr>
        <p:txBody>
          <a:bodyPr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汽车整车物流配送系统承运单管理案例</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89094" name="矩形 7"/>
          <p:cNvSpPr/>
          <p:nvPr/>
        </p:nvSpPr>
        <p:spPr>
          <a:xfrm>
            <a:off x="498475" y="839788"/>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复合属性的处理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354013" y="1566863"/>
            <a:ext cx="2994025" cy="13319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nvGrpSpPr>
          <p:cNvPr id="90115" name="组合 1"/>
          <p:cNvGrpSpPr/>
          <p:nvPr/>
        </p:nvGrpSpPr>
        <p:grpSpPr>
          <a:xfrm>
            <a:off x="501650" y="1778000"/>
            <a:ext cx="5349875" cy="914400"/>
            <a:chOff x="1150" y="2657"/>
            <a:chExt cx="11263" cy="1855"/>
          </a:xfrm>
        </p:grpSpPr>
        <p:sp>
          <p:nvSpPr>
            <p:cNvPr id="90116" name="Rectangle 27"/>
            <p:cNvSpPr/>
            <p:nvPr/>
          </p:nvSpPr>
          <p:spPr>
            <a:xfrm>
              <a:off x="3255" y="3800"/>
              <a:ext cx="1855" cy="712"/>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dirty="0">
                  <a:solidFill>
                    <a:srgbClr val="003300"/>
                  </a:solidFill>
                  <a:latin typeface="宋体" panose="02010600030101010101" pitchFamily="2" charset="-122"/>
                  <a:ea typeface="宋体" panose="02010600030101010101" pitchFamily="2" charset="-122"/>
                </a:rPr>
                <a:t>经销商</a:t>
              </a:r>
              <a:endParaRPr lang="zh-CN" altLang="en-US" dirty="0">
                <a:solidFill>
                  <a:srgbClr val="003300"/>
                </a:solidFill>
                <a:latin typeface="宋体" panose="02010600030101010101" pitchFamily="2" charset="-122"/>
                <a:ea typeface="宋体" panose="02010600030101010101" pitchFamily="2" charset="-122"/>
              </a:endParaRPr>
            </a:p>
          </p:txBody>
        </p:sp>
        <p:sp>
          <p:nvSpPr>
            <p:cNvPr id="90117" name="Oval 12"/>
            <p:cNvSpPr/>
            <p:nvPr/>
          </p:nvSpPr>
          <p:spPr>
            <a:xfrm>
              <a:off x="2240" y="2657"/>
              <a:ext cx="1402" cy="64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0118" name="Oval 12"/>
            <p:cNvSpPr/>
            <p:nvPr/>
          </p:nvSpPr>
          <p:spPr>
            <a:xfrm>
              <a:off x="3853" y="2712"/>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19" name="Oval 12"/>
            <p:cNvSpPr/>
            <p:nvPr/>
          </p:nvSpPr>
          <p:spPr>
            <a:xfrm>
              <a:off x="5373" y="2657"/>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联系人</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20" name="Line 21"/>
            <p:cNvSpPr/>
            <p:nvPr/>
          </p:nvSpPr>
          <p:spPr>
            <a:xfrm>
              <a:off x="2763" y="3755"/>
              <a:ext cx="580" cy="577"/>
            </a:xfrm>
            <a:prstGeom prst="line">
              <a:avLst/>
            </a:prstGeom>
            <a:ln w="17463" cap="flat" cmpd="sng">
              <a:solidFill>
                <a:srgbClr val="000000"/>
              </a:solidFill>
              <a:prstDash val="solid"/>
              <a:round/>
              <a:headEnd type="none" w="med" len="med"/>
              <a:tailEnd type="none" w="med" len="med"/>
            </a:ln>
          </p:spPr>
        </p:sp>
        <p:sp>
          <p:nvSpPr>
            <p:cNvPr id="90121" name="Line 21"/>
            <p:cNvSpPr/>
            <p:nvPr/>
          </p:nvSpPr>
          <p:spPr>
            <a:xfrm flipH="1">
              <a:off x="4213" y="3352"/>
              <a:ext cx="92" cy="475"/>
            </a:xfrm>
            <a:prstGeom prst="line">
              <a:avLst/>
            </a:prstGeom>
            <a:ln w="17463" cap="flat" cmpd="sng">
              <a:solidFill>
                <a:srgbClr val="000000"/>
              </a:solidFill>
              <a:prstDash val="solid"/>
              <a:round/>
              <a:headEnd type="none" w="med" len="med"/>
              <a:tailEnd type="none" w="med" len="med"/>
            </a:ln>
          </p:spPr>
        </p:sp>
        <p:sp>
          <p:nvSpPr>
            <p:cNvPr id="90122" name="Line 21"/>
            <p:cNvSpPr/>
            <p:nvPr/>
          </p:nvSpPr>
          <p:spPr>
            <a:xfrm flipH="1">
              <a:off x="4785" y="3262"/>
              <a:ext cx="960" cy="565"/>
            </a:xfrm>
            <a:prstGeom prst="line">
              <a:avLst/>
            </a:prstGeom>
            <a:ln w="17463" cap="flat" cmpd="sng">
              <a:solidFill>
                <a:srgbClr val="000000"/>
              </a:solidFill>
              <a:prstDash val="solid"/>
              <a:round/>
              <a:headEnd type="none" w="med" len="med"/>
              <a:tailEnd type="none" w="med" len="med"/>
            </a:ln>
          </p:spPr>
        </p:sp>
        <p:sp>
          <p:nvSpPr>
            <p:cNvPr id="90123" name="Oval 12"/>
            <p:cNvSpPr/>
            <p:nvPr/>
          </p:nvSpPr>
          <p:spPr>
            <a:xfrm>
              <a:off x="1150" y="3447"/>
              <a:ext cx="1617"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联系电话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24" name="Line 21"/>
            <p:cNvSpPr/>
            <p:nvPr/>
          </p:nvSpPr>
          <p:spPr>
            <a:xfrm flipH="1" flipV="1">
              <a:off x="3173" y="3337"/>
              <a:ext cx="765" cy="470"/>
            </a:xfrm>
            <a:prstGeom prst="line">
              <a:avLst/>
            </a:prstGeom>
            <a:ln w="17463" cap="flat" cmpd="sng">
              <a:solidFill>
                <a:srgbClr val="000000"/>
              </a:solidFill>
              <a:prstDash val="solid"/>
              <a:round/>
              <a:headEnd type="none" w="med" len="med"/>
              <a:tailEnd type="none" w="med" len="med"/>
            </a:ln>
          </p:spPr>
        </p:sp>
        <p:sp>
          <p:nvSpPr>
            <p:cNvPr id="90125" name="Text Box 39"/>
            <p:cNvSpPr txBox="1"/>
            <p:nvPr/>
          </p:nvSpPr>
          <p:spPr>
            <a:xfrm>
              <a:off x="11896" y="3208"/>
              <a:ext cx="517" cy="1020"/>
            </a:xfrm>
            <a:prstGeom prst="rect">
              <a:avLst/>
            </a:prstGeom>
            <a:noFill/>
            <a:ln w="9525">
              <a:noFill/>
            </a:ln>
          </p:spPr>
          <p:txBody>
            <a:bodyPr wrap="square"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90126" name="Line 21"/>
          <p:cNvSpPr/>
          <p:nvPr/>
        </p:nvSpPr>
        <p:spPr>
          <a:xfrm flipH="1">
            <a:off x="2382838" y="2468563"/>
            <a:ext cx="442912" cy="68262"/>
          </a:xfrm>
          <a:prstGeom prst="line">
            <a:avLst/>
          </a:prstGeom>
          <a:ln w="17463" cap="flat" cmpd="sng">
            <a:solidFill>
              <a:srgbClr val="000000"/>
            </a:solidFill>
            <a:prstDash val="solid"/>
            <a:round/>
            <a:headEnd type="none" w="med" len="med"/>
            <a:tailEnd type="none" w="med" len="med"/>
          </a:ln>
        </p:spPr>
      </p:sp>
      <p:sp>
        <p:nvSpPr>
          <p:cNvPr id="90127" name="Oval 12"/>
          <p:cNvSpPr/>
          <p:nvPr/>
        </p:nvSpPr>
        <p:spPr>
          <a:xfrm>
            <a:off x="2682875" y="2268538"/>
            <a:ext cx="665163" cy="33496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7" name="组合 6"/>
          <p:cNvGrpSpPr/>
          <p:nvPr/>
        </p:nvGrpSpPr>
        <p:grpSpPr>
          <a:xfrm>
            <a:off x="3359150" y="1558925"/>
            <a:ext cx="5511800" cy="2295525"/>
            <a:chOff x="5290" y="2275"/>
            <a:chExt cx="8679" cy="3614"/>
          </a:xfrm>
        </p:grpSpPr>
        <p:sp>
          <p:nvSpPr>
            <p:cNvPr id="29" name="矩形 28"/>
            <p:cNvSpPr/>
            <p:nvPr/>
          </p:nvSpPr>
          <p:spPr>
            <a:xfrm>
              <a:off x="5975" y="2275"/>
              <a:ext cx="7995" cy="36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90130" name="Rectangle 27"/>
            <p:cNvSpPr/>
            <p:nvPr/>
          </p:nvSpPr>
          <p:spPr>
            <a:xfrm>
              <a:off x="11617" y="5045"/>
              <a:ext cx="1482" cy="712"/>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dirty="0">
                  <a:solidFill>
                    <a:srgbClr val="003300"/>
                  </a:solidFill>
                  <a:latin typeface="宋体" panose="02010600030101010101" pitchFamily="2" charset="-122"/>
                  <a:ea typeface="宋体" panose="02010600030101010101" pitchFamily="2" charset="-122"/>
                </a:rPr>
                <a:t>行政省</a:t>
              </a:r>
              <a:endParaRPr lang="zh-CN" altLang="en-US" dirty="0">
                <a:solidFill>
                  <a:srgbClr val="003300"/>
                </a:solidFill>
                <a:latin typeface="宋体" panose="02010600030101010101" pitchFamily="2" charset="-122"/>
                <a:ea typeface="宋体" panose="02010600030101010101" pitchFamily="2" charset="-122"/>
              </a:endParaRPr>
            </a:p>
          </p:txBody>
        </p:sp>
        <p:sp>
          <p:nvSpPr>
            <p:cNvPr id="90131" name="Rectangle 27"/>
            <p:cNvSpPr/>
            <p:nvPr/>
          </p:nvSpPr>
          <p:spPr>
            <a:xfrm>
              <a:off x="11668" y="3365"/>
              <a:ext cx="1452" cy="615"/>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dirty="0">
                  <a:solidFill>
                    <a:srgbClr val="003300"/>
                  </a:solidFill>
                  <a:latin typeface="宋体" panose="02010600030101010101" pitchFamily="2" charset="-122"/>
                  <a:ea typeface="宋体" panose="02010600030101010101" pitchFamily="2" charset="-122"/>
                </a:rPr>
                <a:t>行政市</a:t>
              </a:r>
              <a:endParaRPr lang="zh-CN" altLang="en-US" dirty="0">
                <a:solidFill>
                  <a:srgbClr val="003300"/>
                </a:solidFill>
                <a:latin typeface="宋体" panose="02010600030101010101" pitchFamily="2" charset="-122"/>
                <a:ea typeface="宋体" panose="02010600030101010101" pitchFamily="2" charset="-122"/>
              </a:endParaRPr>
            </a:p>
          </p:txBody>
        </p:sp>
        <p:sp>
          <p:nvSpPr>
            <p:cNvPr id="90132" name="Oval 12"/>
            <p:cNvSpPr/>
            <p:nvPr/>
          </p:nvSpPr>
          <p:spPr>
            <a:xfrm>
              <a:off x="11330" y="2635"/>
              <a:ext cx="1155" cy="5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0133" name="Oval 12"/>
            <p:cNvSpPr/>
            <p:nvPr/>
          </p:nvSpPr>
          <p:spPr>
            <a:xfrm>
              <a:off x="12563" y="2705"/>
              <a:ext cx="1120" cy="4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34" name="Line 21"/>
            <p:cNvSpPr/>
            <p:nvPr/>
          </p:nvSpPr>
          <p:spPr>
            <a:xfrm>
              <a:off x="12005" y="3165"/>
              <a:ext cx="268" cy="225"/>
            </a:xfrm>
            <a:prstGeom prst="line">
              <a:avLst/>
            </a:prstGeom>
            <a:ln w="17463" cap="flat" cmpd="sng">
              <a:solidFill>
                <a:srgbClr val="000000"/>
              </a:solidFill>
              <a:prstDash val="solid"/>
              <a:round/>
              <a:headEnd type="none" w="med" len="med"/>
              <a:tailEnd type="none" w="med" len="med"/>
            </a:ln>
          </p:spPr>
        </p:sp>
        <p:sp>
          <p:nvSpPr>
            <p:cNvPr id="90135" name="Line 21"/>
            <p:cNvSpPr/>
            <p:nvPr/>
          </p:nvSpPr>
          <p:spPr>
            <a:xfrm flipH="1">
              <a:off x="12533" y="3123"/>
              <a:ext cx="317" cy="275"/>
            </a:xfrm>
            <a:prstGeom prst="line">
              <a:avLst/>
            </a:prstGeom>
            <a:ln w="17463" cap="flat" cmpd="sng">
              <a:solidFill>
                <a:srgbClr val="000000"/>
              </a:solidFill>
              <a:prstDash val="solid"/>
              <a:round/>
              <a:headEnd type="none" w="med" len="med"/>
              <a:tailEnd type="none" w="med" len="med"/>
            </a:ln>
          </p:spPr>
        </p:sp>
        <p:sp>
          <p:nvSpPr>
            <p:cNvPr id="90136" name="Line 21"/>
            <p:cNvSpPr/>
            <p:nvPr/>
          </p:nvSpPr>
          <p:spPr>
            <a:xfrm flipH="1" flipV="1">
              <a:off x="11259" y="5022"/>
              <a:ext cx="358" cy="325"/>
            </a:xfrm>
            <a:prstGeom prst="line">
              <a:avLst/>
            </a:prstGeom>
            <a:ln w="17463" cap="flat" cmpd="sng">
              <a:solidFill>
                <a:srgbClr val="000000"/>
              </a:solidFill>
              <a:prstDash val="solid"/>
              <a:round/>
              <a:headEnd type="none" w="med" len="med"/>
              <a:tailEnd type="none" w="med" len="med"/>
            </a:ln>
          </p:spPr>
        </p:sp>
        <p:sp>
          <p:nvSpPr>
            <p:cNvPr id="90137" name="AutoShape 10"/>
            <p:cNvSpPr/>
            <p:nvPr/>
          </p:nvSpPr>
          <p:spPr>
            <a:xfrm>
              <a:off x="9638" y="3473"/>
              <a:ext cx="1485" cy="537"/>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属于</a:t>
              </a:r>
              <a:endParaRPr lang="zh-CN" altLang="en-US" dirty="0">
                <a:solidFill>
                  <a:srgbClr val="0000CC"/>
                </a:solidFill>
                <a:latin typeface="宋体" panose="02010600030101010101" pitchFamily="2" charset="-122"/>
                <a:ea typeface="宋体" panose="02010600030101010101" pitchFamily="2" charset="-122"/>
              </a:endParaRPr>
            </a:p>
          </p:txBody>
        </p:sp>
        <p:sp>
          <p:nvSpPr>
            <p:cNvPr id="90138" name="Line 21"/>
            <p:cNvSpPr/>
            <p:nvPr/>
          </p:nvSpPr>
          <p:spPr>
            <a:xfrm flipH="1">
              <a:off x="9145" y="3735"/>
              <a:ext cx="585" cy="0"/>
            </a:xfrm>
            <a:prstGeom prst="line">
              <a:avLst/>
            </a:prstGeom>
            <a:ln w="28575" cap="flat" cmpd="sng">
              <a:solidFill>
                <a:srgbClr val="000000"/>
              </a:solidFill>
              <a:prstDash val="solid"/>
              <a:round/>
              <a:headEnd type="triangle" w="med" len="med"/>
              <a:tailEnd type="none" w="med" len="med"/>
            </a:ln>
          </p:spPr>
        </p:sp>
        <p:sp>
          <p:nvSpPr>
            <p:cNvPr id="90139" name="Line 42"/>
            <p:cNvSpPr/>
            <p:nvPr/>
          </p:nvSpPr>
          <p:spPr>
            <a:xfrm flipH="1">
              <a:off x="12395" y="3875"/>
              <a:ext cx="0" cy="453"/>
            </a:xfrm>
            <a:prstGeom prst="line">
              <a:avLst/>
            </a:prstGeom>
            <a:ln w="63500" cap="flat" cmpd="sng">
              <a:solidFill>
                <a:srgbClr val="FF0000"/>
              </a:solidFill>
              <a:prstDash val="solid"/>
              <a:round/>
              <a:headEnd type="none" w="med" len="med"/>
              <a:tailEnd type="triangle" w="med" len="med"/>
            </a:ln>
          </p:spPr>
        </p:sp>
        <p:sp>
          <p:nvSpPr>
            <p:cNvPr id="90140" name="Text Box 39"/>
            <p:cNvSpPr txBox="1"/>
            <p:nvPr/>
          </p:nvSpPr>
          <p:spPr>
            <a:xfrm>
              <a:off x="11167" y="3600"/>
              <a:ext cx="600" cy="728"/>
            </a:xfrm>
            <a:prstGeom prst="rect">
              <a:avLst/>
            </a:prstGeom>
            <a:noFill/>
            <a:ln w="9525">
              <a:noFill/>
            </a:ln>
          </p:spPr>
          <p:txBody>
            <a:bodyPr anchor="t">
              <a:spAutoFit/>
            </a:bodyPr>
            <a:lstStyle/>
            <a:p>
              <a:pPr lvl="0" indent="0">
                <a:spcBef>
                  <a:spcPct val="50000"/>
                </a:spcBef>
                <a:buNone/>
              </a:pPr>
              <a:r>
                <a:rPr lang="en-US" altLang="x-none" dirty="0">
                  <a:solidFill>
                    <a:srgbClr val="0033CC"/>
                  </a:solidFill>
                  <a:latin typeface="宋体" panose="02010600030101010101" pitchFamily="2" charset="-122"/>
                  <a:ea typeface="宋体" panose="02010600030101010101" pitchFamily="2" charset="-122"/>
                </a:rPr>
                <a:t>1</a:t>
              </a:r>
              <a:endParaRPr lang="de-DE" altLang="en-US" dirty="0">
                <a:solidFill>
                  <a:srgbClr val="0033CC"/>
                </a:solidFill>
                <a:latin typeface="宋体" panose="02010600030101010101" pitchFamily="2" charset="-122"/>
                <a:ea typeface="宋体" panose="02010600030101010101" pitchFamily="2" charset="-122"/>
              </a:endParaRPr>
            </a:p>
          </p:txBody>
        </p:sp>
        <p:sp>
          <p:nvSpPr>
            <p:cNvPr id="90141" name="Text Box 39"/>
            <p:cNvSpPr txBox="1"/>
            <p:nvPr/>
          </p:nvSpPr>
          <p:spPr>
            <a:xfrm>
              <a:off x="12563" y="3640"/>
              <a:ext cx="502" cy="793"/>
            </a:xfrm>
            <a:prstGeom prst="rect">
              <a:avLst/>
            </a:prstGeom>
            <a:noFill/>
            <a:ln w="9525">
              <a:noFill/>
            </a:ln>
          </p:spPr>
          <p:txBody>
            <a:bodyPr wrap="square"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m</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5" name="右箭头 4"/>
            <p:cNvSpPr/>
            <p:nvPr/>
          </p:nvSpPr>
          <p:spPr>
            <a:xfrm>
              <a:off x="5290" y="2988"/>
              <a:ext cx="685" cy="3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nvGrpSpPr>
            <p:cNvPr id="90143" name="组合 5"/>
            <p:cNvGrpSpPr/>
            <p:nvPr/>
          </p:nvGrpSpPr>
          <p:grpSpPr>
            <a:xfrm>
              <a:off x="6250" y="2595"/>
              <a:ext cx="4205" cy="1440"/>
              <a:chOff x="1151" y="2658"/>
              <a:chExt cx="5622" cy="1855"/>
            </a:xfrm>
          </p:grpSpPr>
          <p:sp>
            <p:nvSpPr>
              <p:cNvPr id="90144" name="Rectangle 27"/>
              <p:cNvSpPr/>
              <p:nvPr/>
            </p:nvSpPr>
            <p:spPr>
              <a:xfrm>
                <a:off x="3256" y="3800"/>
                <a:ext cx="1855" cy="713"/>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dirty="0">
                    <a:solidFill>
                      <a:srgbClr val="003300"/>
                    </a:solidFill>
                    <a:latin typeface="宋体" panose="02010600030101010101" pitchFamily="2" charset="-122"/>
                    <a:ea typeface="宋体" panose="02010600030101010101" pitchFamily="2" charset="-122"/>
                  </a:rPr>
                  <a:t>经销商</a:t>
                </a:r>
                <a:endParaRPr lang="zh-CN" altLang="en-US" dirty="0">
                  <a:solidFill>
                    <a:srgbClr val="003300"/>
                  </a:solidFill>
                  <a:latin typeface="宋体" panose="02010600030101010101" pitchFamily="2" charset="-122"/>
                  <a:ea typeface="宋体" panose="02010600030101010101" pitchFamily="2" charset="-122"/>
                </a:endParaRPr>
              </a:p>
            </p:txBody>
          </p:sp>
          <p:sp>
            <p:nvSpPr>
              <p:cNvPr id="90145" name="Oval 12"/>
              <p:cNvSpPr/>
              <p:nvPr/>
            </p:nvSpPr>
            <p:spPr>
              <a:xfrm>
                <a:off x="2241" y="2658"/>
                <a:ext cx="1402" cy="64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0146" name="Oval 12"/>
              <p:cNvSpPr/>
              <p:nvPr/>
            </p:nvSpPr>
            <p:spPr>
              <a:xfrm>
                <a:off x="3853" y="2713"/>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47" name="Oval 12"/>
              <p:cNvSpPr/>
              <p:nvPr/>
            </p:nvSpPr>
            <p:spPr>
              <a:xfrm>
                <a:off x="5373" y="2658"/>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联系人</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48" name="Line 21"/>
              <p:cNvSpPr/>
              <p:nvPr/>
            </p:nvSpPr>
            <p:spPr>
              <a:xfrm>
                <a:off x="2763" y="3755"/>
                <a:ext cx="580" cy="578"/>
              </a:xfrm>
              <a:prstGeom prst="line">
                <a:avLst/>
              </a:prstGeom>
              <a:ln w="17463" cap="flat" cmpd="sng">
                <a:solidFill>
                  <a:srgbClr val="000000"/>
                </a:solidFill>
                <a:prstDash val="solid"/>
                <a:round/>
                <a:headEnd type="none" w="med" len="med"/>
                <a:tailEnd type="none" w="med" len="med"/>
              </a:ln>
            </p:spPr>
          </p:sp>
          <p:sp>
            <p:nvSpPr>
              <p:cNvPr id="90149" name="Line 21"/>
              <p:cNvSpPr/>
              <p:nvPr/>
            </p:nvSpPr>
            <p:spPr>
              <a:xfrm flipH="1">
                <a:off x="4213" y="3353"/>
                <a:ext cx="93" cy="475"/>
              </a:xfrm>
              <a:prstGeom prst="line">
                <a:avLst/>
              </a:prstGeom>
              <a:ln w="17463" cap="flat" cmpd="sng">
                <a:solidFill>
                  <a:srgbClr val="000000"/>
                </a:solidFill>
                <a:prstDash val="solid"/>
                <a:round/>
                <a:headEnd type="none" w="med" len="med"/>
                <a:tailEnd type="none" w="med" len="med"/>
              </a:ln>
            </p:spPr>
          </p:sp>
          <p:sp>
            <p:nvSpPr>
              <p:cNvPr id="90150" name="Line 21"/>
              <p:cNvSpPr/>
              <p:nvPr/>
            </p:nvSpPr>
            <p:spPr>
              <a:xfrm flipH="1">
                <a:off x="4786" y="3263"/>
                <a:ext cx="960" cy="565"/>
              </a:xfrm>
              <a:prstGeom prst="line">
                <a:avLst/>
              </a:prstGeom>
              <a:ln w="17463" cap="flat" cmpd="sng">
                <a:solidFill>
                  <a:srgbClr val="000000"/>
                </a:solidFill>
                <a:prstDash val="solid"/>
                <a:round/>
                <a:headEnd type="none" w="med" len="med"/>
                <a:tailEnd type="none" w="med" len="med"/>
              </a:ln>
            </p:spPr>
          </p:sp>
          <p:sp>
            <p:nvSpPr>
              <p:cNvPr id="90151" name="Oval 12"/>
              <p:cNvSpPr/>
              <p:nvPr/>
            </p:nvSpPr>
            <p:spPr>
              <a:xfrm>
                <a:off x="1151" y="3448"/>
                <a:ext cx="1617"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联系电话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52" name="Line 21"/>
              <p:cNvSpPr/>
              <p:nvPr/>
            </p:nvSpPr>
            <p:spPr>
              <a:xfrm flipH="1" flipV="1">
                <a:off x="3173" y="3338"/>
                <a:ext cx="765" cy="470"/>
              </a:xfrm>
              <a:prstGeom prst="line">
                <a:avLst/>
              </a:prstGeom>
              <a:ln w="17463" cap="flat" cmpd="sng">
                <a:solidFill>
                  <a:srgbClr val="000000"/>
                </a:solidFill>
                <a:prstDash val="solid"/>
                <a:round/>
                <a:headEnd type="none" w="med" len="med"/>
                <a:tailEnd type="none" w="med" len="med"/>
              </a:ln>
            </p:spPr>
          </p:sp>
        </p:grpSp>
        <p:sp>
          <p:nvSpPr>
            <p:cNvPr id="90153" name="Line 21"/>
            <p:cNvSpPr/>
            <p:nvPr/>
          </p:nvSpPr>
          <p:spPr>
            <a:xfrm flipH="1">
              <a:off x="11088" y="3708"/>
              <a:ext cx="585" cy="0"/>
            </a:xfrm>
            <a:prstGeom prst="line">
              <a:avLst/>
            </a:prstGeom>
            <a:ln w="28575" cap="flat" cmpd="sng">
              <a:solidFill>
                <a:srgbClr val="000000"/>
              </a:solidFill>
              <a:prstDash val="solid"/>
              <a:round/>
              <a:headEnd type="none" w="med" len="med"/>
              <a:tailEnd type="none" w="med" len="med"/>
            </a:ln>
          </p:spPr>
        </p:sp>
        <p:sp>
          <p:nvSpPr>
            <p:cNvPr id="90154" name="AutoShape 10"/>
            <p:cNvSpPr/>
            <p:nvPr/>
          </p:nvSpPr>
          <p:spPr>
            <a:xfrm>
              <a:off x="11635" y="4198"/>
              <a:ext cx="1485" cy="537"/>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属于</a:t>
              </a:r>
              <a:endParaRPr lang="zh-CN" altLang="en-US" dirty="0">
                <a:solidFill>
                  <a:srgbClr val="0000CC"/>
                </a:solidFill>
                <a:latin typeface="宋体" panose="02010600030101010101" pitchFamily="2" charset="-122"/>
                <a:ea typeface="宋体" panose="02010600030101010101" pitchFamily="2" charset="-122"/>
              </a:endParaRPr>
            </a:p>
          </p:txBody>
        </p:sp>
        <p:sp>
          <p:nvSpPr>
            <p:cNvPr id="90155" name="Line 42"/>
            <p:cNvSpPr/>
            <p:nvPr/>
          </p:nvSpPr>
          <p:spPr>
            <a:xfrm>
              <a:off x="9213" y="3748"/>
              <a:ext cx="542" cy="27"/>
            </a:xfrm>
            <a:prstGeom prst="line">
              <a:avLst/>
            </a:prstGeom>
            <a:ln w="63500" cap="flat" cmpd="sng">
              <a:solidFill>
                <a:srgbClr val="FF0000"/>
              </a:solidFill>
              <a:prstDash val="solid"/>
              <a:round/>
              <a:headEnd type="none" w="med" len="med"/>
              <a:tailEnd type="triangle" w="med" len="med"/>
            </a:ln>
          </p:spPr>
        </p:sp>
        <p:sp>
          <p:nvSpPr>
            <p:cNvPr id="90156" name="Line 21"/>
            <p:cNvSpPr/>
            <p:nvPr/>
          </p:nvSpPr>
          <p:spPr>
            <a:xfrm flipH="1" flipV="1">
              <a:off x="12328" y="4735"/>
              <a:ext cx="0" cy="285"/>
            </a:xfrm>
            <a:prstGeom prst="line">
              <a:avLst/>
            </a:prstGeom>
            <a:ln w="28575" cap="flat" cmpd="sng">
              <a:solidFill>
                <a:srgbClr val="000000"/>
              </a:solidFill>
              <a:prstDash val="solid"/>
              <a:round/>
              <a:headEnd type="none" w="med" len="med"/>
              <a:tailEnd type="none" w="med" len="med"/>
            </a:ln>
          </p:spPr>
        </p:sp>
        <p:sp>
          <p:nvSpPr>
            <p:cNvPr id="90157" name="Text Box 39"/>
            <p:cNvSpPr txBox="1"/>
            <p:nvPr/>
          </p:nvSpPr>
          <p:spPr>
            <a:xfrm>
              <a:off x="12415" y="4473"/>
              <a:ext cx="600" cy="727"/>
            </a:xfrm>
            <a:prstGeom prst="rect">
              <a:avLst/>
            </a:prstGeom>
            <a:noFill/>
            <a:ln w="9525">
              <a:noFill/>
            </a:ln>
          </p:spPr>
          <p:txBody>
            <a:bodyPr anchor="t">
              <a:spAutoFit/>
            </a:bodyPr>
            <a:lstStyle/>
            <a:p>
              <a:pPr lvl="0" indent="0">
                <a:spcBef>
                  <a:spcPct val="50000"/>
                </a:spcBef>
                <a:buNone/>
              </a:pPr>
              <a:r>
                <a:rPr lang="en-US" altLang="x-none" dirty="0">
                  <a:solidFill>
                    <a:srgbClr val="0033CC"/>
                  </a:solidFill>
                  <a:latin typeface="宋体" panose="02010600030101010101" pitchFamily="2" charset="-122"/>
                  <a:ea typeface="宋体" panose="02010600030101010101" pitchFamily="2" charset="-122"/>
                </a:rPr>
                <a:t>1</a:t>
              </a:r>
              <a:endParaRPr lang="de-DE" altLang="en-US" dirty="0">
                <a:solidFill>
                  <a:srgbClr val="0033CC"/>
                </a:solidFill>
                <a:latin typeface="宋体" panose="02010600030101010101" pitchFamily="2" charset="-122"/>
                <a:ea typeface="宋体" panose="02010600030101010101" pitchFamily="2" charset="-122"/>
              </a:endParaRPr>
            </a:p>
          </p:txBody>
        </p:sp>
        <p:sp>
          <p:nvSpPr>
            <p:cNvPr id="90158" name="Oval 12"/>
            <p:cNvSpPr/>
            <p:nvPr/>
          </p:nvSpPr>
          <p:spPr>
            <a:xfrm>
              <a:off x="9908" y="4735"/>
              <a:ext cx="1292" cy="54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0159" name="Oval 12"/>
            <p:cNvSpPr/>
            <p:nvPr/>
          </p:nvSpPr>
          <p:spPr>
            <a:xfrm>
              <a:off x="10052" y="5402"/>
              <a:ext cx="1182" cy="4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60" name="Line 21"/>
            <p:cNvSpPr/>
            <p:nvPr/>
          </p:nvSpPr>
          <p:spPr>
            <a:xfrm flipH="1">
              <a:off x="11214" y="5402"/>
              <a:ext cx="453" cy="225"/>
            </a:xfrm>
            <a:prstGeom prst="line">
              <a:avLst/>
            </a:prstGeom>
            <a:ln w="17463" cap="flat" cmpd="sng">
              <a:solidFill>
                <a:srgbClr val="000000"/>
              </a:solidFill>
              <a:prstDash val="solid"/>
              <a:round/>
              <a:headEnd type="none" w="med" len="med"/>
              <a:tailEnd type="none" w="med" len="med"/>
            </a:ln>
          </p:spPr>
        </p:sp>
        <p:sp>
          <p:nvSpPr>
            <p:cNvPr id="90161" name="Text Box 39"/>
            <p:cNvSpPr txBox="1"/>
            <p:nvPr/>
          </p:nvSpPr>
          <p:spPr>
            <a:xfrm>
              <a:off x="9130" y="3738"/>
              <a:ext cx="600" cy="727"/>
            </a:xfrm>
            <a:prstGeom prst="rect">
              <a:avLst/>
            </a:prstGeom>
            <a:noFill/>
            <a:ln w="9525">
              <a:noFill/>
            </a:ln>
          </p:spPr>
          <p:txBody>
            <a:bodyPr anchor="t">
              <a:spAutoFit/>
            </a:bodyPr>
            <a:lstStyle/>
            <a:p>
              <a:pPr lvl="0" indent="0">
                <a:spcBef>
                  <a:spcPct val="50000"/>
                </a:spcBef>
                <a:buNone/>
              </a:pPr>
              <a:r>
                <a:rPr lang="en-US" altLang="en-US" dirty="0">
                  <a:solidFill>
                    <a:srgbClr val="0033CC"/>
                  </a:solidFill>
                  <a:latin typeface="宋体" panose="02010600030101010101" pitchFamily="2" charset="-122"/>
                  <a:ea typeface="宋体" panose="02010600030101010101" pitchFamily="2" charset="-122"/>
                </a:rPr>
                <a:t>m</a:t>
              </a:r>
              <a:endParaRPr lang="en-US" altLang="en-US" dirty="0">
                <a:solidFill>
                  <a:srgbClr val="0033CC"/>
                </a:solidFill>
                <a:latin typeface="宋体" panose="02010600030101010101" pitchFamily="2" charset="-122"/>
                <a:ea typeface="宋体" panose="02010600030101010101" pitchFamily="2" charset="-122"/>
              </a:endParaRPr>
            </a:p>
          </p:txBody>
        </p:sp>
      </p:grpSp>
      <p:sp>
        <p:nvSpPr>
          <p:cNvPr id="90162" name="矩形 7"/>
          <p:cNvSpPr/>
          <p:nvPr/>
        </p:nvSpPr>
        <p:spPr>
          <a:xfrm>
            <a:off x="498475" y="839788"/>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复合属性的处理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1138" name="Text Box 3"/>
          <p:cNvSpPr txBox="1"/>
          <p:nvPr/>
        </p:nvSpPr>
        <p:spPr>
          <a:xfrm>
            <a:off x="327025" y="1349375"/>
            <a:ext cx="7491413" cy="590550"/>
          </a:xfrm>
          <a:prstGeom prst="rect">
            <a:avLst/>
          </a:prstGeom>
          <a:noFill/>
          <a:ln w="9525">
            <a:noFill/>
          </a:ln>
        </p:spPr>
        <p:txBody>
          <a:bodyPr anchor="t">
            <a:spAutoFit/>
          </a:bodyPr>
          <a:lstStyle/>
          <a:p>
            <a:pPr marL="457200" lvl="0" indent="-457200">
              <a:spcBef>
                <a:spcPct val="50000"/>
              </a:spcBef>
              <a:buNone/>
            </a:pPr>
            <a:r>
              <a:rPr lang="zh-CN" altLang="en-US" sz="2400" dirty="0">
                <a:latin typeface="华文楷体" panose="0201060004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一个概念是描述为实体属性还是联系属性？</a:t>
            </a:r>
            <a:endParaRPr lang="en-US" altLang="x-none" sz="2400" dirty="0">
              <a:latin typeface="宋体" panose="02010600030101010101" pitchFamily="2" charset="-122"/>
              <a:ea typeface="宋体" panose="02010600030101010101" pitchFamily="2" charset="-122"/>
            </a:endParaRPr>
          </a:p>
        </p:txBody>
      </p:sp>
      <p:grpSp>
        <p:nvGrpSpPr>
          <p:cNvPr id="86020" name="组合 64"/>
          <p:cNvGrpSpPr/>
          <p:nvPr/>
        </p:nvGrpSpPr>
        <p:grpSpPr>
          <a:xfrm>
            <a:off x="719138" y="2243138"/>
            <a:ext cx="3322637" cy="3435350"/>
            <a:chOff x="0" y="0"/>
            <a:chExt cx="3323773" cy="3435652"/>
          </a:xfrm>
        </p:grpSpPr>
        <p:sp>
          <p:nvSpPr>
            <p:cNvPr id="91140" name="Line 5"/>
            <p:cNvSpPr/>
            <p:nvPr/>
          </p:nvSpPr>
          <p:spPr>
            <a:xfrm flipV="1">
              <a:off x="1191214" y="984250"/>
              <a:ext cx="0" cy="412750"/>
            </a:xfrm>
            <a:prstGeom prst="line">
              <a:avLst/>
            </a:prstGeom>
            <a:ln w="25400" cap="flat" cmpd="sng">
              <a:solidFill>
                <a:srgbClr val="000000"/>
              </a:solidFill>
              <a:prstDash val="solid"/>
              <a:round/>
              <a:headEnd type="none" w="med" len="med"/>
              <a:tailEnd type="none" w="med" len="med"/>
            </a:ln>
          </p:spPr>
        </p:sp>
        <p:sp>
          <p:nvSpPr>
            <p:cNvPr id="91141" name="Line 6"/>
            <p:cNvSpPr/>
            <p:nvPr/>
          </p:nvSpPr>
          <p:spPr>
            <a:xfrm>
              <a:off x="1191213" y="1777999"/>
              <a:ext cx="0" cy="464457"/>
            </a:xfrm>
            <a:prstGeom prst="line">
              <a:avLst/>
            </a:prstGeom>
            <a:ln w="25400" cap="flat" cmpd="sng">
              <a:solidFill>
                <a:srgbClr val="000000"/>
              </a:solidFill>
              <a:prstDash val="solid"/>
              <a:round/>
              <a:headEnd type="none" w="med" len="med"/>
              <a:tailEnd type="none" w="med" len="med"/>
            </a:ln>
          </p:spPr>
        </p:sp>
        <p:sp>
          <p:nvSpPr>
            <p:cNvPr id="91142" name="Line 7"/>
            <p:cNvSpPr/>
            <p:nvPr/>
          </p:nvSpPr>
          <p:spPr>
            <a:xfrm flipH="1" flipV="1">
              <a:off x="1530919" y="823912"/>
              <a:ext cx="726054" cy="126773"/>
            </a:xfrm>
            <a:prstGeom prst="line">
              <a:avLst/>
            </a:prstGeom>
            <a:ln w="25400" cap="flat" cmpd="sng">
              <a:solidFill>
                <a:srgbClr val="000000"/>
              </a:solidFill>
              <a:prstDash val="solid"/>
              <a:round/>
              <a:headEnd type="none" w="med" len="med"/>
              <a:tailEnd type="none" w="med" len="med"/>
            </a:ln>
          </p:spPr>
        </p:sp>
        <p:sp>
          <p:nvSpPr>
            <p:cNvPr id="91143" name="Rectangle 9"/>
            <p:cNvSpPr/>
            <p:nvPr/>
          </p:nvSpPr>
          <p:spPr>
            <a:xfrm>
              <a:off x="723828" y="2247447"/>
              <a:ext cx="996116" cy="38867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1144" name="AutoShape 10"/>
            <p:cNvSpPr/>
            <p:nvPr/>
          </p:nvSpPr>
          <p:spPr>
            <a:xfrm>
              <a:off x="723152" y="1365250"/>
              <a:ext cx="902397" cy="41275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45" name="Oval 12"/>
            <p:cNvSpPr/>
            <p:nvPr/>
          </p:nvSpPr>
          <p:spPr>
            <a:xfrm>
              <a:off x="2247080" y="741427"/>
              <a:ext cx="1025876" cy="412786"/>
            </a:xfrm>
            <a:prstGeom prst="ellipse">
              <a:avLst/>
            </a:prstGeom>
            <a:solidFill>
              <a:srgbClr val="9ED3D7"/>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46" name="Rectangle 13"/>
            <p:cNvSpPr/>
            <p:nvPr/>
          </p:nvSpPr>
          <p:spPr>
            <a:xfrm>
              <a:off x="747487" y="679449"/>
              <a:ext cx="892824" cy="343807"/>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1147" name="Oval 12"/>
            <p:cNvSpPr/>
            <p:nvPr/>
          </p:nvSpPr>
          <p:spPr>
            <a:xfrm>
              <a:off x="2123728" y="166914"/>
              <a:ext cx="896953" cy="36164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专业</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48" name="Oval 12"/>
            <p:cNvSpPr/>
            <p:nvPr/>
          </p:nvSpPr>
          <p:spPr>
            <a:xfrm>
              <a:off x="1173042" y="0"/>
              <a:ext cx="888357" cy="32233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49" name="Oval 12"/>
            <p:cNvSpPr/>
            <p:nvPr/>
          </p:nvSpPr>
          <p:spPr>
            <a:xfrm>
              <a:off x="137886" y="79828"/>
              <a:ext cx="842287"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1150" name="Line 7"/>
            <p:cNvSpPr/>
            <p:nvPr/>
          </p:nvSpPr>
          <p:spPr>
            <a:xfrm flipH="1">
              <a:off x="1654290" y="500743"/>
              <a:ext cx="631711" cy="214313"/>
            </a:xfrm>
            <a:prstGeom prst="line">
              <a:avLst/>
            </a:prstGeom>
            <a:ln w="25400" cap="flat" cmpd="sng">
              <a:solidFill>
                <a:srgbClr val="000000"/>
              </a:solidFill>
              <a:prstDash val="solid"/>
              <a:round/>
              <a:headEnd type="none" w="med" len="med"/>
              <a:tailEnd type="none" w="med" len="med"/>
            </a:ln>
          </p:spPr>
        </p:sp>
        <p:sp>
          <p:nvSpPr>
            <p:cNvPr id="91151" name="Line 7"/>
            <p:cNvSpPr/>
            <p:nvPr/>
          </p:nvSpPr>
          <p:spPr>
            <a:xfrm flipH="1">
              <a:off x="1197090" y="355601"/>
              <a:ext cx="319654" cy="337684"/>
            </a:xfrm>
            <a:prstGeom prst="line">
              <a:avLst/>
            </a:prstGeom>
            <a:ln w="25400" cap="flat" cmpd="sng">
              <a:solidFill>
                <a:srgbClr val="000000"/>
              </a:solidFill>
              <a:prstDash val="solid"/>
              <a:round/>
              <a:headEnd type="none" w="med" len="med"/>
              <a:tailEnd type="none" w="med" len="med"/>
            </a:ln>
          </p:spPr>
        </p:sp>
        <p:sp>
          <p:nvSpPr>
            <p:cNvPr id="91152" name="Line 7"/>
            <p:cNvSpPr/>
            <p:nvPr/>
          </p:nvSpPr>
          <p:spPr>
            <a:xfrm>
              <a:off x="834573" y="413657"/>
              <a:ext cx="123033" cy="243343"/>
            </a:xfrm>
            <a:prstGeom prst="line">
              <a:avLst/>
            </a:prstGeom>
            <a:ln w="25400" cap="flat" cmpd="sng">
              <a:solidFill>
                <a:srgbClr val="000000"/>
              </a:solidFill>
              <a:prstDash val="solid"/>
              <a:round/>
              <a:headEnd type="none" w="med" len="med"/>
              <a:tailEnd type="none" w="med" len="med"/>
            </a:ln>
          </p:spPr>
        </p:sp>
        <p:sp>
          <p:nvSpPr>
            <p:cNvPr id="91153" name="Oval 12"/>
            <p:cNvSpPr/>
            <p:nvPr/>
          </p:nvSpPr>
          <p:spPr>
            <a:xfrm>
              <a:off x="0" y="2989942"/>
              <a:ext cx="1008744"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1154" name="Oval 12"/>
            <p:cNvSpPr/>
            <p:nvPr/>
          </p:nvSpPr>
          <p:spPr>
            <a:xfrm>
              <a:off x="1165784" y="3026229"/>
              <a:ext cx="1062159" cy="40942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55" name="Oval 12"/>
            <p:cNvSpPr/>
            <p:nvPr/>
          </p:nvSpPr>
          <p:spPr>
            <a:xfrm>
              <a:off x="2297899" y="2983593"/>
              <a:ext cx="1025874" cy="41275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学时</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56" name="Line 7"/>
            <p:cNvSpPr/>
            <p:nvPr/>
          </p:nvSpPr>
          <p:spPr>
            <a:xfrm flipH="1" flipV="1">
              <a:off x="1523661" y="2645454"/>
              <a:ext cx="849425" cy="424317"/>
            </a:xfrm>
            <a:prstGeom prst="line">
              <a:avLst/>
            </a:prstGeom>
            <a:ln w="25400" cap="flat" cmpd="sng">
              <a:solidFill>
                <a:srgbClr val="000000"/>
              </a:solidFill>
              <a:prstDash val="solid"/>
              <a:round/>
              <a:headEnd type="none" w="med" len="med"/>
              <a:tailEnd type="none" w="med" len="med"/>
            </a:ln>
          </p:spPr>
        </p:sp>
        <p:sp>
          <p:nvSpPr>
            <p:cNvPr id="91157" name="Line 7"/>
            <p:cNvSpPr/>
            <p:nvPr/>
          </p:nvSpPr>
          <p:spPr>
            <a:xfrm flipH="1" flipV="1">
              <a:off x="1298690" y="2638197"/>
              <a:ext cx="319653" cy="402546"/>
            </a:xfrm>
            <a:prstGeom prst="line">
              <a:avLst/>
            </a:prstGeom>
            <a:ln w="25400" cap="flat" cmpd="sng">
              <a:solidFill>
                <a:srgbClr val="000000"/>
              </a:solidFill>
              <a:prstDash val="solid"/>
              <a:round/>
              <a:headEnd type="none" w="med" len="med"/>
              <a:tailEnd type="none" w="med" len="med"/>
            </a:ln>
          </p:spPr>
        </p:sp>
        <p:sp>
          <p:nvSpPr>
            <p:cNvPr id="91158" name="Line 7"/>
            <p:cNvSpPr/>
            <p:nvPr/>
          </p:nvSpPr>
          <p:spPr>
            <a:xfrm flipV="1">
              <a:off x="689430" y="2645454"/>
              <a:ext cx="282688" cy="337232"/>
            </a:xfrm>
            <a:prstGeom prst="line">
              <a:avLst/>
            </a:prstGeom>
            <a:ln w="25400" cap="flat" cmpd="sng">
              <a:solidFill>
                <a:srgbClr val="000000"/>
              </a:solidFill>
              <a:prstDash val="solid"/>
              <a:round/>
              <a:headEnd type="none" w="med" len="med"/>
              <a:tailEnd type="none" w="med" len="med"/>
            </a:ln>
          </p:spPr>
        </p:sp>
        <p:sp>
          <p:nvSpPr>
            <p:cNvPr id="91159" name="Text Box 47"/>
            <p:cNvSpPr txBox="1"/>
            <p:nvPr/>
          </p:nvSpPr>
          <p:spPr>
            <a:xfrm>
              <a:off x="1159850" y="896260"/>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1160" name="Text Box 47"/>
            <p:cNvSpPr txBox="1"/>
            <p:nvPr/>
          </p:nvSpPr>
          <p:spPr>
            <a:xfrm>
              <a:off x="1225164" y="1687289"/>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pic>
        <p:nvPicPr>
          <p:cNvPr id="86042" name="Picture 30"/>
          <p:cNvPicPr>
            <a:picLocks noChangeAspect="1"/>
          </p:cNvPicPr>
          <p:nvPr/>
        </p:nvPicPr>
        <p:blipFill>
          <a:blip r:embed="rId1"/>
          <a:stretch>
            <a:fillRect/>
          </a:stretch>
        </p:blipFill>
        <p:spPr>
          <a:xfrm>
            <a:off x="4089400" y="2800350"/>
            <a:ext cx="728663" cy="968375"/>
          </a:xfrm>
          <a:prstGeom prst="rect">
            <a:avLst/>
          </a:prstGeom>
          <a:noFill/>
          <a:ln w="9525">
            <a:noFill/>
          </a:ln>
          <a:effectLst>
            <a:prstShdw prst="shdw17" dist="17961" dir="2699999">
              <a:srgbClr val="708688"/>
            </a:prstShdw>
          </a:effectLst>
        </p:spPr>
      </p:pic>
      <p:grpSp>
        <p:nvGrpSpPr>
          <p:cNvPr id="86043" name="组合 89"/>
          <p:cNvGrpSpPr/>
          <p:nvPr/>
        </p:nvGrpSpPr>
        <p:grpSpPr>
          <a:xfrm>
            <a:off x="3759200" y="2235200"/>
            <a:ext cx="4637088" cy="3435350"/>
            <a:chOff x="0" y="0"/>
            <a:chExt cx="4637314" cy="3435652"/>
          </a:xfrm>
        </p:grpSpPr>
        <p:sp>
          <p:nvSpPr>
            <p:cNvPr id="86044" name="右箭头 65"/>
            <p:cNvSpPr/>
            <p:nvPr/>
          </p:nvSpPr>
          <p:spPr>
            <a:xfrm>
              <a:off x="0" y="1814673"/>
              <a:ext cx="1233548" cy="539797"/>
            </a:xfrm>
            <a:prstGeom prst="rightArrow">
              <a:avLst>
                <a:gd name="adj1" fmla="val 50000"/>
                <a:gd name="adj2" fmla="val 49999"/>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2"/>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grpSp>
          <p:nvGrpSpPr>
            <p:cNvPr id="91164" name="组合 66"/>
            <p:cNvGrpSpPr/>
            <p:nvPr/>
          </p:nvGrpSpPr>
          <p:grpSpPr>
            <a:xfrm>
              <a:off x="1248228" y="0"/>
              <a:ext cx="3389086" cy="3435652"/>
              <a:chOff x="0" y="0"/>
              <a:chExt cx="3389086" cy="3435652"/>
            </a:xfrm>
          </p:grpSpPr>
          <p:sp>
            <p:nvSpPr>
              <p:cNvPr id="91165" name="Line 5"/>
              <p:cNvSpPr/>
              <p:nvPr/>
            </p:nvSpPr>
            <p:spPr>
              <a:xfrm flipV="1">
                <a:off x="1191214" y="984250"/>
                <a:ext cx="0" cy="412750"/>
              </a:xfrm>
              <a:prstGeom prst="line">
                <a:avLst/>
              </a:prstGeom>
              <a:ln w="25400" cap="flat" cmpd="sng">
                <a:solidFill>
                  <a:srgbClr val="000000"/>
                </a:solidFill>
                <a:prstDash val="solid"/>
                <a:round/>
                <a:headEnd type="none" w="med" len="med"/>
                <a:tailEnd type="none" w="med" len="med"/>
              </a:ln>
            </p:spPr>
          </p:sp>
          <p:sp>
            <p:nvSpPr>
              <p:cNvPr id="91166" name="Line 6"/>
              <p:cNvSpPr/>
              <p:nvPr/>
            </p:nvSpPr>
            <p:spPr>
              <a:xfrm>
                <a:off x="1191213" y="1777999"/>
                <a:ext cx="0" cy="464457"/>
              </a:xfrm>
              <a:prstGeom prst="line">
                <a:avLst/>
              </a:prstGeom>
              <a:ln w="25400" cap="flat" cmpd="sng">
                <a:solidFill>
                  <a:srgbClr val="000000"/>
                </a:solidFill>
                <a:prstDash val="solid"/>
                <a:round/>
                <a:headEnd type="none" w="med" len="med"/>
                <a:tailEnd type="none" w="med" len="med"/>
              </a:ln>
            </p:spPr>
          </p:sp>
          <p:sp>
            <p:nvSpPr>
              <p:cNvPr id="91167" name="Line 7"/>
              <p:cNvSpPr/>
              <p:nvPr/>
            </p:nvSpPr>
            <p:spPr>
              <a:xfrm flipH="1" flipV="1">
                <a:off x="1676061" y="2623683"/>
                <a:ext cx="726054" cy="126773"/>
              </a:xfrm>
              <a:prstGeom prst="line">
                <a:avLst/>
              </a:prstGeom>
              <a:ln w="25400" cap="flat" cmpd="sng">
                <a:solidFill>
                  <a:srgbClr val="000000"/>
                </a:solidFill>
                <a:prstDash val="solid"/>
                <a:round/>
                <a:headEnd type="none" w="med" len="med"/>
                <a:tailEnd type="none" w="med" len="med"/>
              </a:ln>
            </p:spPr>
          </p:sp>
          <p:sp>
            <p:nvSpPr>
              <p:cNvPr id="91168" name="Rectangle 9"/>
              <p:cNvSpPr/>
              <p:nvPr/>
            </p:nvSpPr>
            <p:spPr>
              <a:xfrm>
                <a:off x="723828" y="2247447"/>
                <a:ext cx="996116" cy="38867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1169" name="AutoShape 10"/>
              <p:cNvSpPr/>
              <p:nvPr/>
            </p:nvSpPr>
            <p:spPr>
              <a:xfrm>
                <a:off x="723152" y="1365250"/>
                <a:ext cx="902397" cy="41275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70" name="Oval 12"/>
              <p:cNvSpPr/>
              <p:nvPr/>
            </p:nvSpPr>
            <p:spPr>
              <a:xfrm>
                <a:off x="2363511" y="2497358"/>
                <a:ext cx="1025575" cy="412786"/>
              </a:xfrm>
              <a:prstGeom prst="ellipse">
                <a:avLst/>
              </a:prstGeom>
              <a:solidFill>
                <a:srgbClr val="BADDE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71" name="Rectangle 13"/>
              <p:cNvSpPr/>
              <p:nvPr/>
            </p:nvSpPr>
            <p:spPr>
              <a:xfrm>
                <a:off x="747487" y="679449"/>
                <a:ext cx="892824" cy="343807"/>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1172" name="Oval 12"/>
              <p:cNvSpPr/>
              <p:nvPr/>
            </p:nvSpPr>
            <p:spPr>
              <a:xfrm>
                <a:off x="2123728" y="166914"/>
                <a:ext cx="896953" cy="36164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专业</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73" name="Oval 12"/>
              <p:cNvSpPr/>
              <p:nvPr/>
            </p:nvSpPr>
            <p:spPr>
              <a:xfrm>
                <a:off x="1173042" y="0"/>
                <a:ext cx="888357" cy="32233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74" name="Oval 12"/>
              <p:cNvSpPr/>
              <p:nvPr/>
            </p:nvSpPr>
            <p:spPr>
              <a:xfrm>
                <a:off x="137886" y="79828"/>
                <a:ext cx="842287"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1175" name="Line 7"/>
              <p:cNvSpPr/>
              <p:nvPr/>
            </p:nvSpPr>
            <p:spPr>
              <a:xfrm flipH="1">
                <a:off x="1654290" y="500743"/>
                <a:ext cx="631711" cy="214313"/>
              </a:xfrm>
              <a:prstGeom prst="line">
                <a:avLst/>
              </a:prstGeom>
              <a:ln w="25400" cap="flat" cmpd="sng">
                <a:solidFill>
                  <a:srgbClr val="000000"/>
                </a:solidFill>
                <a:prstDash val="solid"/>
                <a:round/>
                <a:headEnd type="none" w="med" len="med"/>
                <a:tailEnd type="none" w="med" len="med"/>
              </a:ln>
            </p:spPr>
          </p:sp>
          <p:sp>
            <p:nvSpPr>
              <p:cNvPr id="91176" name="Line 7"/>
              <p:cNvSpPr/>
              <p:nvPr/>
            </p:nvSpPr>
            <p:spPr>
              <a:xfrm flipH="1">
                <a:off x="1197090" y="355601"/>
                <a:ext cx="319654" cy="337684"/>
              </a:xfrm>
              <a:prstGeom prst="line">
                <a:avLst/>
              </a:prstGeom>
              <a:ln w="25400" cap="flat" cmpd="sng">
                <a:solidFill>
                  <a:srgbClr val="000000"/>
                </a:solidFill>
                <a:prstDash val="solid"/>
                <a:round/>
                <a:headEnd type="none" w="med" len="med"/>
                <a:tailEnd type="none" w="med" len="med"/>
              </a:ln>
            </p:spPr>
          </p:sp>
          <p:sp>
            <p:nvSpPr>
              <p:cNvPr id="91177" name="Line 7"/>
              <p:cNvSpPr/>
              <p:nvPr/>
            </p:nvSpPr>
            <p:spPr>
              <a:xfrm>
                <a:off x="834573" y="413657"/>
                <a:ext cx="123033" cy="243343"/>
              </a:xfrm>
              <a:prstGeom prst="line">
                <a:avLst/>
              </a:prstGeom>
              <a:ln w="25400" cap="flat" cmpd="sng">
                <a:solidFill>
                  <a:srgbClr val="000000"/>
                </a:solidFill>
                <a:prstDash val="solid"/>
                <a:round/>
                <a:headEnd type="none" w="med" len="med"/>
                <a:tailEnd type="none" w="med" len="med"/>
              </a:ln>
            </p:spPr>
          </p:sp>
          <p:sp>
            <p:nvSpPr>
              <p:cNvPr id="91178" name="Oval 12"/>
              <p:cNvSpPr/>
              <p:nvPr/>
            </p:nvSpPr>
            <p:spPr>
              <a:xfrm>
                <a:off x="0" y="2989942"/>
                <a:ext cx="1008744"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1179" name="Oval 12"/>
              <p:cNvSpPr/>
              <p:nvPr/>
            </p:nvSpPr>
            <p:spPr>
              <a:xfrm>
                <a:off x="1165784" y="3026229"/>
                <a:ext cx="1062159" cy="40942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80" name="Oval 12"/>
              <p:cNvSpPr/>
              <p:nvPr/>
            </p:nvSpPr>
            <p:spPr>
              <a:xfrm>
                <a:off x="2297899" y="2983593"/>
                <a:ext cx="1025874" cy="41275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学时</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81" name="Line 7"/>
              <p:cNvSpPr/>
              <p:nvPr/>
            </p:nvSpPr>
            <p:spPr>
              <a:xfrm flipH="1" flipV="1">
                <a:off x="1523661" y="2645454"/>
                <a:ext cx="849425" cy="424317"/>
              </a:xfrm>
              <a:prstGeom prst="line">
                <a:avLst/>
              </a:prstGeom>
              <a:ln w="25400" cap="flat" cmpd="sng">
                <a:solidFill>
                  <a:srgbClr val="000000"/>
                </a:solidFill>
                <a:prstDash val="solid"/>
                <a:round/>
                <a:headEnd type="none" w="med" len="med"/>
                <a:tailEnd type="none" w="med" len="med"/>
              </a:ln>
            </p:spPr>
          </p:sp>
          <p:sp>
            <p:nvSpPr>
              <p:cNvPr id="91182" name="Line 7"/>
              <p:cNvSpPr/>
              <p:nvPr/>
            </p:nvSpPr>
            <p:spPr>
              <a:xfrm flipH="1" flipV="1">
                <a:off x="1298690" y="2638197"/>
                <a:ext cx="319653" cy="402546"/>
              </a:xfrm>
              <a:prstGeom prst="line">
                <a:avLst/>
              </a:prstGeom>
              <a:ln w="25400" cap="flat" cmpd="sng">
                <a:solidFill>
                  <a:srgbClr val="000000"/>
                </a:solidFill>
                <a:prstDash val="solid"/>
                <a:round/>
                <a:headEnd type="none" w="med" len="med"/>
                <a:tailEnd type="none" w="med" len="med"/>
              </a:ln>
            </p:spPr>
          </p:sp>
          <p:sp>
            <p:nvSpPr>
              <p:cNvPr id="91183" name="Line 7"/>
              <p:cNvSpPr/>
              <p:nvPr/>
            </p:nvSpPr>
            <p:spPr>
              <a:xfrm flipV="1">
                <a:off x="689430" y="2645454"/>
                <a:ext cx="282688" cy="337232"/>
              </a:xfrm>
              <a:prstGeom prst="line">
                <a:avLst/>
              </a:prstGeom>
              <a:ln w="25400" cap="flat" cmpd="sng">
                <a:solidFill>
                  <a:srgbClr val="000000"/>
                </a:solidFill>
                <a:prstDash val="solid"/>
                <a:round/>
                <a:headEnd type="none" w="med" len="med"/>
                <a:tailEnd type="none" w="med" len="med"/>
              </a:ln>
            </p:spPr>
          </p:sp>
          <p:sp>
            <p:nvSpPr>
              <p:cNvPr id="91184" name="Text Box 47"/>
              <p:cNvSpPr txBox="1"/>
              <p:nvPr/>
            </p:nvSpPr>
            <p:spPr>
              <a:xfrm>
                <a:off x="1159850" y="896260"/>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1185" name="Text Box 47"/>
              <p:cNvSpPr txBox="1"/>
              <p:nvPr/>
            </p:nvSpPr>
            <p:spPr>
              <a:xfrm>
                <a:off x="1225164" y="1687289"/>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grpSp>
      <p:pic>
        <p:nvPicPr>
          <p:cNvPr id="86067" name="Picture 30"/>
          <p:cNvPicPr>
            <a:picLocks noChangeAspect="1"/>
          </p:cNvPicPr>
          <p:nvPr/>
        </p:nvPicPr>
        <p:blipFill>
          <a:blip r:embed="rId1"/>
          <a:stretch>
            <a:fillRect/>
          </a:stretch>
        </p:blipFill>
        <p:spPr>
          <a:xfrm>
            <a:off x="7797800" y="3562350"/>
            <a:ext cx="728663" cy="968375"/>
          </a:xfrm>
          <a:prstGeom prst="rect">
            <a:avLst/>
          </a:prstGeom>
          <a:noFill/>
          <a:ln w="9525">
            <a:noFill/>
          </a:ln>
          <a:effectLst>
            <a:prstShdw prst="shdw17" dist="17961" dir="2699999">
              <a:srgbClr val="708688"/>
            </a:prstShdw>
          </a:effectLst>
        </p:spPr>
      </p:pic>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6020"/>
                                        </p:tgtEl>
                                        <p:attrNameLst>
                                          <p:attrName>style.visibility</p:attrName>
                                        </p:attrNameLst>
                                      </p:cBhvr>
                                      <p:to>
                                        <p:strVal val="visible"/>
                                      </p:to>
                                    </p:set>
                                    <p:anim calcmode="lin" valueType="num">
                                      <p:cBhvr additive="base">
                                        <p:cTn id="7" dur="500" fill="hold"/>
                                        <p:tgtEl>
                                          <p:spTgt spid="86020"/>
                                        </p:tgtEl>
                                        <p:attrNameLst>
                                          <p:attrName>ppt_x</p:attrName>
                                        </p:attrNameLst>
                                      </p:cBhvr>
                                      <p:tavLst>
                                        <p:tav tm="0">
                                          <p:val>
                                            <p:strVal val="#ppt_x"/>
                                          </p:val>
                                        </p:tav>
                                        <p:tav tm="100000">
                                          <p:val>
                                            <p:strVal val="#ppt_x"/>
                                          </p:val>
                                        </p:tav>
                                      </p:tavLst>
                                    </p:anim>
                                    <p:anim calcmode="lin" valueType="num">
                                      <p:cBhvr additive="base">
                                        <p:cTn id="8" dur="500" fill="hold"/>
                                        <p:tgtEl>
                                          <p:spTgt spid="860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6042"/>
                                        </p:tgtEl>
                                        <p:attrNameLst>
                                          <p:attrName>style.visibility</p:attrName>
                                        </p:attrNameLst>
                                      </p:cBhvr>
                                      <p:to>
                                        <p:strVal val="visible"/>
                                      </p:to>
                                    </p:set>
                                    <p:anim calcmode="lin" valueType="num">
                                      <p:cBhvr additive="base">
                                        <p:cTn id="13" dur="500" fill="hold"/>
                                        <p:tgtEl>
                                          <p:spTgt spid="86042"/>
                                        </p:tgtEl>
                                        <p:attrNameLst>
                                          <p:attrName>ppt_x</p:attrName>
                                        </p:attrNameLst>
                                      </p:cBhvr>
                                      <p:tavLst>
                                        <p:tav tm="0">
                                          <p:val>
                                            <p:strVal val="#ppt_x"/>
                                          </p:val>
                                        </p:tav>
                                        <p:tav tm="100000">
                                          <p:val>
                                            <p:strVal val="#ppt_x"/>
                                          </p:val>
                                        </p:tav>
                                      </p:tavLst>
                                    </p:anim>
                                    <p:anim calcmode="lin" valueType="num">
                                      <p:cBhvr additive="base">
                                        <p:cTn id="14" dur="500" fill="hold"/>
                                        <p:tgtEl>
                                          <p:spTgt spid="860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6043"/>
                                        </p:tgtEl>
                                        <p:attrNameLst>
                                          <p:attrName>style.visibility</p:attrName>
                                        </p:attrNameLst>
                                      </p:cBhvr>
                                      <p:to>
                                        <p:strVal val="visible"/>
                                      </p:to>
                                    </p:set>
                                    <p:anim calcmode="lin" valueType="num">
                                      <p:cBhvr additive="base">
                                        <p:cTn id="19" dur="500" fill="hold"/>
                                        <p:tgtEl>
                                          <p:spTgt spid="86043"/>
                                        </p:tgtEl>
                                        <p:attrNameLst>
                                          <p:attrName>ppt_x</p:attrName>
                                        </p:attrNameLst>
                                      </p:cBhvr>
                                      <p:tavLst>
                                        <p:tav tm="0">
                                          <p:val>
                                            <p:strVal val="#ppt_x"/>
                                          </p:val>
                                        </p:tav>
                                        <p:tav tm="100000">
                                          <p:val>
                                            <p:strVal val="#ppt_x"/>
                                          </p:val>
                                        </p:tav>
                                      </p:tavLst>
                                    </p:anim>
                                    <p:anim calcmode="lin" valueType="num">
                                      <p:cBhvr additive="base">
                                        <p:cTn id="20" dur="500" fill="hold"/>
                                        <p:tgtEl>
                                          <p:spTgt spid="860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6067"/>
                                        </p:tgtEl>
                                        <p:attrNameLst>
                                          <p:attrName>style.visibility</p:attrName>
                                        </p:attrNameLst>
                                      </p:cBhvr>
                                      <p:to>
                                        <p:strVal val="visible"/>
                                      </p:to>
                                    </p:set>
                                    <p:anim calcmode="lin" valueType="num">
                                      <p:cBhvr additive="base">
                                        <p:cTn id="25" dur="500" fill="hold"/>
                                        <p:tgtEl>
                                          <p:spTgt spid="86067"/>
                                        </p:tgtEl>
                                        <p:attrNameLst>
                                          <p:attrName>ppt_x</p:attrName>
                                        </p:attrNameLst>
                                      </p:cBhvr>
                                      <p:tavLst>
                                        <p:tav tm="0">
                                          <p:val>
                                            <p:strVal val="#ppt_x"/>
                                          </p:val>
                                        </p:tav>
                                        <p:tav tm="100000">
                                          <p:val>
                                            <p:strVal val="#ppt_x"/>
                                          </p:val>
                                        </p:tav>
                                      </p:tavLst>
                                    </p:anim>
                                    <p:anim calcmode="lin" valueType="num">
                                      <p:cBhvr additive="base">
                                        <p:cTn id="26" dur="500" fill="hold"/>
                                        <p:tgtEl>
                                          <p:spTgt spid="860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2162" name="Text Box 3"/>
          <p:cNvSpPr txBox="1"/>
          <p:nvPr/>
        </p:nvSpPr>
        <p:spPr>
          <a:xfrm>
            <a:off x="369888" y="1408113"/>
            <a:ext cx="7491412" cy="590550"/>
          </a:xfrm>
          <a:prstGeom prst="rect">
            <a:avLst/>
          </a:prstGeom>
          <a:noFill/>
          <a:ln w="9525">
            <a:noFill/>
          </a:ln>
        </p:spPr>
        <p:txBody>
          <a:bodyPr anchor="t">
            <a:spAutoFit/>
          </a:bodyPr>
          <a:lstStyle/>
          <a:p>
            <a:pPr marL="457200" lvl="0" indent="-457200">
              <a:spcBef>
                <a:spcPct val="50000"/>
              </a:spcBef>
              <a:buNone/>
            </a:pPr>
            <a:r>
              <a:rPr lang="zh-CN" altLang="en-US" sz="2400" dirty="0">
                <a:latin typeface="华文楷体" panose="0201060004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一个概念是描述为实体属性还是联系属性？</a:t>
            </a:r>
            <a:endParaRPr lang="en-US" altLang="x-none" sz="2400" dirty="0">
              <a:latin typeface="宋体" panose="02010600030101010101" pitchFamily="2" charset="-122"/>
              <a:ea typeface="宋体" panose="02010600030101010101" pitchFamily="2" charset="-122"/>
            </a:endParaRPr>
          </a:p>
        </p:txBody>
      </p:sp>
      <p:grpSp>
        <p:nvGrpSpPr>
          <p:cNvPr id="87044" name="组合 4"/>
          <p:cNvGrpSpPr/>
          <p:nvPr/>
        </p:nvGrpSpPr>
        <p:grpSpPr>
          <a:xfrm>
            <a:off x="849313" y="2198688"/>
            <a:ext cx="3636962" cy="3679825"/>
            <a:chOff x="0" y="0"/>
            <a:chExt cx="3331029" cy="3408758"/>
          </a:xfrm>
        </p:grpSpPr>
        <p:sp>
          <p:nvSpPr>
            <p:cNvPr id="92164" name="Line 5"/>
            <p:cNvSpPr/>
            <p:nvPr/>
          </p:nvSpPr>
          <p:spPr>
            <a:xfrm flipV="1">
              <a:off x="1191214" y="957356"/>
              <a:ext cx="0" cy="412750"/>
            </a:xfrm>
            <a:prstGeom prst="line">
              <a:avLst/>
            </a:prstGeom>
            <a:ln w="25400" cap="flat" cmpd="sng">
              <a:solidFill>
                <a:srgbClr val="000000"/>
              </a:solidFill>
              <a:prstDash val="solid"/>
              <a:round/>
              <a:headEnd type="none" w="med" len="med"/>
              <a:tailEnd type="none" w="med" len="med"/>
            </a:ln>
          </p:spPr>
        </p:sp>
        <p:sp>
          <p:nvSpPr>
            <p:cNvPr id="92165" name="Line 6"/>
            <p:cNvSpPr/>
            <p:nvPr/>
          </p:nvSpPr>
          <p:spPr>
            <a:xfrm>
              <a:off x="1191213" y="1751105"/>
              <a:ext cx="0" cy="464457"/>
            </a:xfrm>
            <a:prstGeom prst="line">
              <a:avLst/>
            </a:prstGeom>
            <a:ln w="25400" cap="flat" cmpd="sng">
              <a:solidFill>
                <a:srgbClr val="000000"/>
              </a:solidFill>
              <a:prstDash val="solid"/>
              <a:round/>
              <a:headEnd type="none" w="med" len="med"/>
              <a:tailEnd type="none" w="med" len="med"/>
            </a:ln>
          </p:spPr>
        </p:sp>
        <p:sp>
          <p:nvSpPr>
            <p:cNvPr id="92166" name="Line 7"/>
            <p:cNvSpPr/>
            <p:nvPr/>
          </p:nvSpPr>
          <p:spPr>
            <a:xfrm flipH="1" flipV="1">
              <a:off x="1588976" y="1551761"/>
              <a:ext cx="726054" cy="126773"/>
            </a:xfrm>
            <a:prstGeom prst="line">
              <a:avLst/>
            </a:prstGeom>
            <a:ln w="25400" cap="flat" cmpd="sng">
              <a:solidFill>
                <a:srgbClr val="000000"/>
              </a:solidFill>
              <a:prstDash val="solid"/>
              <a:round/>
              <a:headEnd type="none" w="med" len="med"/>
              <a:tailEnd type="none" w="med" len="med"/>
            </a:ln>
          </p:spPr>
        </p:sp>
        <p:sp>
          <p:nvSpPr>
            <p:cNvPr id="92167" name="Rectangle 9"/>
            <p:cNvSpPr/>
            <p:nvPr/>
          </p:nvSpPr>
          <p:spPr>
            <a:xfrm>
              <a:off x="723828" y="2220553"/>
              <a:ext cx="996116" cy="38867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2168" name="AutoShape 10"/>
            <p:cNvSpPr/>
            <p:nvPr/>
          </p:nvSpPr>
          <p:spPr>
            <a:xfrm>
              <a:off x="723152" y="1338356"/>
              <a:ext cx="902397" cy="41275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69" name="Oval 12"/>
            <p:cNvSpPr/>
            <p:nvPr/>
          </p:nvSpPr>
          <p:spPr>
            <a:xfrm>
              <a:off x="2304531" y="1469089"/>
              <a:ext cx="1026498" cy="413228"/>
            </a:xfrm>
            <a:prstGeom prst="ellipse">
              <a:avLst/>
            </a:prstGeom>
            <a:solidFill>
              <a:srgbClr val="9ED3D7"/>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70" name="Rectangle 13"/>
            <p:cNvSpPr/>
            <p:nvPr/>
          </p:nvSpPr>
          <p:spPr>
            <a:xfrm>
              <a:off x="747487" y="652555"/>
              <a:ext cx="892824" cy="343807"/>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2171" name="Oval 12"/>
            <p:cNvSpPr/>
            <p:nvPr/>
          </p:nvSpPr>
          <p:spPr>
            <a:xfrm>
              <a:off x="2123728" y="140020"/>
              <a:ext cx="896953" cy="36164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专业</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72" name="Oval 12"/>
            <p:cNvSpPr/>
            <p:nvPr/>
          </p:nvSpPr>
          <p:spPr>
            <a:xfrm>
              <a:off x="1173042" y="0"/>
              <a:ext cx="888357" cy="32233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73" name="Oval 12"/>
            <p:cNvSpPr/>
            <p:nvPr/>
          </p:nvSpPr>
          <p:spPr>
            <a:xfrm>
              <a:off x="137886" y="52934"/>
              <a:ext cx="842287"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2174" name="Line 7"/>
            <p:cNvSpPr/>
            <p:nvPr/>
          </p:nvSpPr>
          <p:spPr>
            <a:xfrm flipH="1">
              <a:off x="1654290" y="473849"/>
              <a:ext cx="631711" cy="214313"/>
            </a:xfrm>
            <a:prstGeom prst="line">
              <a:avLst/>
            </a:prstGeom>
            <a:ln w="25400" cap="flat" cmpd="sng">
              <a:solidFill>
                <a:srgbClr val="000000"/>
              </a:solidFill>
              <a:prstDash val="solid"/>
              <a:round/>
              <a:headEnd type="none" w="med" len="med"/>
              <a:tailEnd type="none" w="med" len="med"/>
            </a:ln>
          </p:spPr>
        </p:sp>
        <p:sp>
          <p:nvSpPr>
            <p:cNvPr id="92175" name="Line 7"/>
            <p:cNvSpPr/>
            <p:nvPr/>
          </p:nvSpPr>
          <p:spPr>
            <a:xfrm flipH="1">
              <a:off x="1197090" y="328707"/>
              <a:ext cx="319654" cy="337684"/>
            </a:xfrm>
            <a:prstGeom prst="line">
              <a:avLst/>
            </a:prstGeom>
            <a:ln w="25400" cap="flat" cmpd="sng">
              <a:solidFill>
                <a:srgbClr val="000000"/>
              </a:solidFill>
              <a:prstDash val="solid"/>
              <a:round/>
              <a:headEnd type="none" w="med" len="med"/>
              <a:tailEnd type="none" w="med" len="med"/>
            </a:ln>
          </p:spPr>
        </p:sp>
        <p:sp>
          <p:nvSpPr>
            <p:cNvPr id="92176" name="Line 7"/>
            <p:cNvSpPr/>
            <p:nvPr/>
          </p:nvSpPr>
          <p:spPr>
            <a:xfrm>
              <a:off x="834573" y="413657"/>
              <a:ext cx="123033" cy="243343"/>
            </a:xfrm>
            <a:prstGeom prst="line">
              <a:avLst/>
            </a:prstGeom>
            <a:ln w="25400" cap="flat" cmpd="sng">
              <a:solidFill>
                <a:srgbClr val="000000"/>
              </a:solidFill>
              <a:prstDash val="solid"/>
              <a:round/>
              <a:headEnd type="none" w="med" len="med"/>
              <a:tailEnd type="none" w="med" len="med"/>
            </a:ln>
          </p:spPr>
        </p:sp>
        <p:sp>
          <p:nvSpPr>
            <p:cNvPr id="92177" name="Oval 12"/>
            <p:cNvSpPr/>
            <p:nvPr/>
          </p:nvSpPr>
          <p:spPr>
            <a:xfrm>
              <a:off x="0" y="2949603"/>
              <a:ext cx="1008744"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2178" name="Oval 12"/>
            <p:cNvSpPr/>
            <p:nvPr/>
          </p:nvSpPr>
          <p:spPr>
            <a:xfrm>
              <a:off x="1165784" y="2999335"/>
              <a:ext cx="1062159" cy="40942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79" name="Oval 12"/>
            <p:cNvSpPr/>
            <p:nvPr/>
          </p:nvSpPr>
          <p:spPr>
            <a:xfrm>
              <a:off x="2297899" y="2956699"/>
              <a:ext cx="1025874" cy="41275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学时</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80" name="Line 7"/>
            <p:cNvSpPr/>
            <p:nvPr/>
          </p:nvSpPr>
          <p:spPr>
            <a:xfrm flipH="1" flipV="1">
              <a:off x="1523661" y="2618560"/>
              <a:ext cx="849425" cy="424317"/>
            </a:xfrm>
            <a:prstGeom prst="line">
              <a:avLst/>
            </a:prstGeom>
            <a:ln w="25400" cap="flat" cmpd="sng">
              <a:solidFill>
                <a:srgbClr val="000000"/>
              </a:solidFill>
              <a:prstDash val="solid"/>
              <a:round/>
              <a:headEnd type="none" w="med" len="med"/>
              <a:tailEnd type="none" w="med" len="med"/>
            </a:ln>
          </p:spPr>
        </p:sp>
        <p:sp>
          <p:nvSpPr>
            <p:cNvPr id="92181" name="Line 7"/>
            <p:cNvSpPr/>
            <p:nvPr/>
          </p:nvSpPr>
          <p:spPr>
            <a:xfrm flipH="1" flipV="1">
              <a:off x="1298690" y="2611303"/>
              <a:ext cx="319653" cy="402546"/>
            </a:xfrm>
            <a:prstGeom prst="line">
              <a:avLst/>
            </a:prstGeom>
            <a:ln w="25400" cap="flat" cmpd="sng">
              <a:solidFill>
                <a:srgbClr val="000000"/>
              </a:solidFill>
              <a:prstDash val="solid"/>
              <a:round/>
              <a:headEnd type="none" w="med" len="med"/>
              <a:tailEnd type="none" w="med" len="med"/>
            </a:ln>
          </p:spPr>
        </p:sp>
        <p:sp>
          <p:nvSpPr>
            <p:cNvPr id="92182" name="Line 7"/>
            <p:cNvSpPr/>
            <p:nvPr/>
          </p:nvSpPr>
          <p:spPr>
            <a:xfrm flipV="1">
              <a:off x="689430" y="2618560"/>
              <a:ext cx="282688" cy="337232"/>
            </a:xfrm>
            <a:prstGeom prst="line">
              <a:avLst/>
            </a:prstGeom>
            <a:ln w="25400" cap="flat" cmpd="sng">
              <a:solidFill>
                <a:srgbClr val="000000"/>
              </a:solidFill>
              <a:prstDash val="solid"/>
              <a:round/>
              <a:headEnd type="none" w="med" len="med"/>
              <a:tailEnd type="none" w="med" len="med"/>
            </a:ln>
          </p:spPr>
        </p:sp>
        <p:sp>
          <p:nvSpPr>
            <p:cNvPr id="92183" name="Text Box 47"/>
            <p:cNvSpPr txBox="1"/>
            <p:nvPr/>
          </p:nvSpPr>
          <p:spPr>
            <a:xfrm>
              <a:off x="1159850" y="869366"/>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2184" name="Text Box 47"/>
            <p:cNvSpPr txBox="1"/>
            <p:nvPr/>
          </p:nvSpPr>
          <p:spPr>
            <a:xfrm>
              <a:off x="1225164" y="1660395"/>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pic>
        <p:nvPicPr>
          <p:cNvPr id="87066" name="Picture 2"/>
          <p:cNvPicPr>
            <a:picLocks noChangeAspect="1"/>
          </p:cNvPicPr>
          <p:nvPr/>
        </p:nvPicPr>
        <p:blipFill>
          <a:blip r:embed="rId1"/>
          <a:stretch>
            <a:fillRect/>
          </a:stretch>
        </p:blipFill>
        <p:spPr>
          <a:xfrm>
            <a:off x="4889500" y="2584450"/>
            <a:ext cx="1693863" cy="1646238"/>
          </a:xfrm>
          <a:prstGeom prst="rect">
            <a:avLst/>
          </a:prstGeom>
          <a:noFill/>
          <a:ln w="9525">
            <a:noFill/>
          </a:ln>
        </p:spPr>
      </p:pic>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7044"/>
                                        </p:tgtEl>
                                        <p:attrNameLst>
                                          <p:attrName>style.visibility</p:attrName>
                                        </p:attrNameLst>
                                      </p:cBhvr>
                                      <p:to>
                                        <p:strVal val="visible"/>
                                      </p:to>
                                    </p:set>
                                    <p:anim calcmode="lin" valueType="num">
                                      <p:cBhvr additive="base">
                                        <p:cTn id="7" dur="500" fill="hold"/>
                                        <p:tgtEl>
                                          <p:spTgt spid="87044"/>
                                        </p:tgtEl>
                                        <p:attrNameLst>
                                          <p:attrName>ppt_x</p:attrName>
                                        </p:attrNameLst>
                                      </p:cBhvr>
                                      <p:tavLst>
                                        <p:tav tm="0">
                                          <p:val>
                                            <p:strVal val="#ppt_x"/>
                                          </p:val>
                                        </p:tav>
                                        <p:tav tm="100000">
                                          <p:val>
                                            <p:strVal val="#ppt_x"/>
                                          </p:val>
                                        </p:tav>
                                      </p:tavLst>
                                    </p:anim>
                                    <p:anim calcmode="lin" valueType="num">
                                      <p:cBhvr additive="base">
                                        <p:cTn id="8" dur="500" fill="hold"/>
                                        <p:tgtEl>
                                          <p:spTgt spid="8704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7066"/>
                                        </p:tgtEl>
                                        <p:attrNameLst>
                                          <p:attrName>style.visibility</p:attrName>
                                        </p:attrNameLst>
                                      </p:cBhvr>
                                      <p:to>
                                        <p:strVal val="visible"/>
                                      </p:to>
                                    </p:set>
                                    <p:anim calcmode="lin" valueType="num">
                                      <p:cBhvr additive="base">
                                        <p:cTn id="13" dur="500" fill="hold"/>
                                        <p:tgtEl>
                                          <p:spTgt spid="87066"/>
                                        </p:tgtEl>
                                        <p:attrNameLst>
                                          <p:attrName>ppt_x</p:attrName>
                                        </p:attrNameLst>
                                      </p:cBhvr>
                                      <p:tavLst>
                                        <p:tav tm="0">
                                          <p:val>
                                            <p:strVal val="#ppt_x"/>
                                          </p:val>
                                        </p:tav>
                                        <p:tav tm="100000">
                                          <p:val>
                                            <p:strVal val="#ppt_x"/>
                                          </p:val>
                                        </p:tav>
                                      </p:tavLst>
                                    </p:anim>
                                    <p:anim calcmode="lin" valueType="num">
                                      <p:cBhvr additive="base">
                                        <p:cTn id="14" dur="500" fill="hold"/>
                                        <p:tgtEl>
                                          <p:spTgt spid="87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3187" name="Text Box 3"/>
          <p:cNvSpPr txBox="1"/>
          <p:nvPr/>
        </p:nvSpPr>
        <p:spPr>
          <a:xfrm>
            <a:off x="327025" y="1349375"/>
            <a:ext cx="7491413" cy="590550"/>
          </a:xfrm>
          <a:prstGeom prst="rect">
            <a:avLst/>
          </a:prstGeom>
          <a:noFill/>
          <a:ln w="9525">
            <a:noFill/>
          </a:ln>
        </p:spPr>
        <p:txBody>
          <a:bodyPr anchor="t">
            <a:spAutoFit/>
          </a:bodyPr>
          <a:lstStyle/>
          <a:p>
            <a:pPr marL="457200" lvl="0" indent="-457200">
              <a:spcBef>
                <a:spcPct val="50000"/>
              </a:spcBef>
              <a:buNone/>
            </a:pPr>
            <a:r>
              <a:rPr lang="zh-CN" altLang="en-US" sz="2400" dirty="0">
                <a:latin typeface="华文楷体" panose="0201060004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一个概念是描述为实体属性还是联系属性？</a:t>
            </a:r>
            <a:endParaRPr lang="en-US" altLang="x-none" sz="2400" dirty="0">
              <a:latin typeface="宋体" panose="02010600030101010101" pitchFamily="2" charset="-122"/>
              <a:ea typeface="宋体" panose="02010600030101010101" pitchFamily="2" charset="-122"/>
            </a:endParaRPr>
          </a:p>
        </p:txBody>
      </p:sp>
      <p:grpSp>
        <p:nvGrpSpPr>
          <p:cNvPr id="88069" name="组合 26"/>
          <p:cNvGrpSpPr/>
          <p:nvPr/>
        </p:nvGrpSpPr>
        <p:grpSpPr>
          <a:xfrm>
            <a:off x="614363" y="1906588"/>
            <a:ext cx="7831137" cy="1897062"/>
            <a:chOff x="0" y="0"/>
            <a:chExt cx="7831591" cy="1897063"/>
          </a:xfrm>
        </p:grpSpPr>
        <p:sp>
          <p:nvSpPr>
            <p:cNvPr id="93189" name="Text Box 3"/>
            <p:cNvSpPr txBox="1"/>
            <p:nvPr/>
          </p:nvSpPr>
          <p:spPr>
            <a:xfrm>
              <a:off x="0" y="108176"/>
              <a:ext cx="4813754" cy="1596463"/>
            </a:xfrm>
            <a:prstGeom prst="rect">
              <a:avLst/>
            </a:prstGeom>
            <a:noFill/>
            <a:ln w="9525">
              <a:noFill/>
            </a:ln>
          </p:spPr>
          <p:txBody>
            <a:bodyPr anchor="t">
              <a:spAutoFit/>
            </a:bodyPr>
            <a:lstStyle/>
            <a:p>
              <a:pPr marL="457200" lvl="0" indent="-457200">
                <a:lnSpc>
                  <a:spcPct val="112000"/>
                </a:lnSpc>
                <a:spcBef>
                  <a:spcPts val="300"/>
                </a:spcBef>
                <a:buFont typeface="Wingdings" panose="05000000000000000000" pitchFamily="2" charset="2"/>
                <a:buChar char="u"/>
              </a:pPr>
              <a:r>
                <a:rPr lang="zh-CN" altLang="en-US" sz="2400" u="sng" dirty="0">
                  <a:solidFill>
                    <a:srgbClr val="0033CC"/>
                  </a:solidFill>
                  <a:latin typeface="华文楷体" panose="02010600040101010101" pitchFamily="2" charset="-122"/>
                  <a:ea typeface="华文楷体" panose="02010600040101010101" pitchFamily="2" charset="-122"/>
                </a:rPr>
                <a:t>用实体的属性表示。</a:t>
              </a:r>
              <a:r>
                <a:rPr lang="zh-CN" altLang="en-US" sz="2200" dirty="0">
                  <a:latin typeface="楷体" panose="02010609060101010101" pitchFamily="1" charset="-122"/>
                  <a:ea typeface="楷体" panose="02010609060101010101" pitchFamily="1" charset="-122"/>
                </a:rPr>
                <a:t>例如“学生选修课平均成绩”，并不具体于某门课的成绩，是某个学生独有的。则作为实体的属性。</a:t>
              </a:r>
              <a:endParaRPr lang="en-US" altLang="x-none" sz="2200" dirty="0">
                <a:latin typeface="楷体" panose="02010609060101010101" pitchFamily="1" charset="-122"/>
                <a:ea typeface="楷体" panose="02010609060101010101" pitchFamily="1" charset="-122"/>
              </a:endParaRPr>
            </a:p>
          </p:txBody>
        </p:sp>
        <p:grpSp>
          <p:nvGrpSpPr>
            <p:cNvPr id="93190" name="Group 4"/>
            <p:cNvGrpSpPr/>
            <p:nvPr/>
          </p:nvGrpSpPr>
          <p:grpSpPr>
            <a:xfrm>
              <a:off x="5094741" y="0"/>
              <a:ext cx="2736850" cy="1897063"/>
              <a:chOff x="0" y="0"/>
              <a:chExt cx="1724" cy="1195"/>
            </a:xfrm>
          </p:grpSpPr>
          <p:sp>
            <p:nvSpPr>
              <p:cNvPr id="93191" name="Line 5"/>
              <p:cNvSpPr/>
              <p:nvPr/>
            </p:nvSpPr>
            <p:spPr>
              <a:xfrm flipV="1">
                <a:off x="240" y="283"/>
                <a:ext cx="0" cy="240"/>
              </a:xfrm>
              <a:prstGeom prst="line">
                <a:avLst/>
              </a:prstGeom>
              <a:ln w="25400" cap="flat" cmpd="sng">
                <a:solidFill>
                  <a:srgbClr val="000000"/>
                </a:solidFill>
                <a:prstDash val="solid"/>
                <a:round/>
                <a:headEnd type="none" w="med" len="med"/>
                <a:tailEnd type="none" w="med" len="med"/>
              </a:ln>
            </p:spPr>
          </p:sp>
          <p:sp>
            <p:nvSpPr>
              <p:cNvPr id="93192" name="Line 6"/>
              <p:cNvSpPr/>
              <p:nvPr/>
            </p:nvSpPr>
            <p:spPr>
              <a:xfrm flipH="1">
                <a:off x="240" y="763"/>
                <a:ext cx="0" cy="192"/>
              </a:xfrm>
              <a:prstGeom prst="line">
                <a:avLst/>
              </a:prstGeom>
              <a:ln w="25400" cap="flat" cmpd="sng">
                <a:solidFill>
                  <a:srgbClr val="000000"/>
                </a:solidFill>
                <a:prstDash val="solid"/>
                <a:round/>
                <a:headEnd type="none" w="med" len="med"/>
                <a:tailEnd type="none" w="med" len="med"/>
              </a:ln>
            </p:spPr>
          </p:sp>
          <p:sp>
            <p:nvSpPr>
              <p:cNvPr id="93193" name="Line 7"/>
              <p:cNvSpPr/>
              <p:nvPr/>
            </p:nvSpPr>
            <p:spPr>
              <a:xfrm flipH="1" flipV="1">
                <a:off x="454" y="182"/>
                <a:ext cx="272" cy="0"/>
              </a:xfrm>
              <a:prstGeom prst="line">
                <a:avLst/>
              </a:prstGeom>
              <a:ln w="25400" cap="flat" cmpd="sng">
                <a:solidFill>
                  <a:srgbClr val="000000"/>
                </a:solidFill>
                <a:prstDash val="solid"/>
                <a:round/>
                <a:headEnd type="none" w="med" len="med"/>
                <a:tailEnd type="none" w="med" len="med"/>
              </a:ln>
            </p:spPr>
          </p:sp>
          <p:sp>
            <p:nvSpPr>
              <p:cNvPr id="93194" name="Line 8"/>
              <p:cNvSpPr/>
              <p:nvPr/>
            </p:nvSpPr>
            <p:spPr>
              <a:xfrm>
                <a:off x="336" y="715"/>
                <a:ext cx="240" cy="96"/>
              </a:xfrm>
              <a:prstGeom prst="line">
                <a:avLst/>
              </a:prstGeom>
              <a:ln w="25400" cap="flat" cmpd="sng">
                <a:solidFill>
                  <a:srgbClr val="000000"/>
                </a:solidFill>
                <a:prstDash val="solid"/>
                <a:round/>
                <a:headEnd type="none" w="med" len="med"/>
                <a:tailEnd type="none" w="med" len="med"/>
              </a:ln>
            </p:spPr>
          </p:sp>
          <p:sp>
            <p:nvSpPr>
              <p:cNvPr id="93195" name="Rectangle 9"/>
              <p:cNvSpPr/>
              <p:nvPr/>
            </p:nvSpPr>
            <p:spPr>
              <a:xfrm>
                <a:off x="37" y="969"/>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3196" name="AutoShape 10"/>
              <p:cNvSpPr/>
              <p:nvPr/>
            </p:nvSpPr>
            <p:spPr>
              <a:xfrm>
                <a:off x="0" y="523"/>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197" name="Oval 11"/>
              <p:cNvSpPr/>
              <p:nvPr/>
            </p:nvSpPr>
            <p:spPr>
              <a:xfrm>
                <a:off x="726" y="0"/>
                <a:ext cx="998" cy="40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选修课平均成绩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198" name="Oval 12"/>
              <p:cNvSpPr/>
              <p:nvPr/>
            </p:nvSpPr>
            <p:spPr>
              <a:xfrm>
                <a:off x="576" y="715"/>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199" name="Rectangle 13"/>
              <p:cNvSpPr/>
              <p:nvPr/>
            </p:nvSpPr>
            <p:spPr>
              <a:xfrm>
                <a:off x="48" y="91"/>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grpSp>
      <p:grpSp>
        <p:nvGrpSpPr>
          <p:cNvPr id="88081" name="组合 27"/>
          <p:cNvGrpSpPr/>
          <p:nvPr/>
        </p:nvGrpSpPr>
        <p:grpSpPr>
          <a:xfrm>
            <a:off x="679450" y="4322763"/>
            <a:ext cx="7626350" cy="1752600"/>
            <a:chOff x="0" y="0"/>
            <a:chExt cx="7625443" cy="1752600"/>
          </a:xfrm>
        </p:grpSpPr>
        <p:grpSp>
          <p:nvGrpSpPr>
            <p:cNvPr id="93201" name="Group 14"/>
            <p:cNvGrpSpPr/>
            <p:nvPr/>
          </p:nvGrpSpPr>
          <p:grpSpPr>
            <a:xfrm>
              <a:off x="5033056" y="0"/>
              <a:ext cx="2592387" cy="1752600"/>
              <a:chOff x="0" y="0"/>
              <a:chExt cx="1633" cy="1104"/>
            </a:xfrm>
          </p:grpSpPr>
          <p:sp>
            <p:nvSpPr>
              <p:cNvPr id="93202" name="Line 15"/>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93203" name="Line 16"/>
              <p:cNvSpPr/>
              <p:nvPr/>
            </p:nvSpPr>
            <p:spPr>
              <a:xfrm flipH="1">
                <a:off x="240" y="672"/>
                <a:ext cx="0" cy="192"/>
              </a:xfrm>
              <a:prstGeom prst="line">
                <a:avLst/>
              </a:prstGeom>
              <a:ln w="25400" cap="flat" cmpd="sng">
                <a:solidFill>
                  <a:srgbClr val="000000"/>
                </a:solidFill>
                <a:prstDash val="solid"/>
                <a:round/>
                <a:headEnd type="none" w="med" len="med"/>
                <a:tailEnd type="none" w="med" len="med"/>
              </a:ln>
            </p:spPr>
          </p:sp>
          <p:sp>
            <p:nvSpPr>
              <p:cNvPr id="93204" name="Line 17"/>
              <p:cNvSpPr/>
              <p:nvPr/>
            </p:nvSpPr>
            <p:spPr>
              <a:xfrm flipH="1">
                <a:off x="336" y="272"/>
                <a:ext cx="254" cy="208"/>
              </a:xfrm>
              <a:prstGeom prst="line">
                <a:avLst/>
              </a:prstGeom>
              <a:ln w="25400" cap="flat" cmpd="sng">
                <a:solidFill>
                  <a:srgbClr val="000000"/>
                </a:solidFill>
                <a:prstDash val="solid"/>
                <a:round/>
                <a:headEnd type="none" w="med" len="med"/>
                <a:tailEnd type="none" w="med" len="med"/>
              </a:ln>
            </p:spPr>
          </p:sp>
          <p:sp>
            <p:nvSpPr>
              <p:cNvPr id="93205" name="Line 18"/>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93206" name="Rectangle 19"/>
              <p:cNvSpPr/>
              <p:nvPr/>
            </p:nvSpPr>
            <p:spPr>
              <a:xfrm>
                <a:off x="37"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3207" name="AutoShape 20"/>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208" name="Oval 21"/>
              <p:cNvSpPr/>
              <p:nvPr/>
            </p:nvSpPr>
            <p:spPr>
              <a:xfrm>
                <a:off x="576" y="45"/>
                <a:ext cx="1057" cy="43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选修课成绩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209" name="Oval 22"/>
              <p:cNvSpPr/>
              <p:nvPr/>
            </p:nvSpPr>
            <p:spPr>
              <a:xfrm>
                <a:off x="576" y="624"/>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210" name="Rectangle 23"/>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sp>
          <p:nvSpPr>
            <p:cNvPr id="93211" name="Text Box 3"/>
            <p:cNvSpPr txBox="1"/>
            <p:nvPr/>
          </p:nvSpPr>
          <p:spPr>
            <a:xfrm>
              <a:off x="0" y="4071"/>
              <a:ext cx="4813754" cy="1596463"/>
            </a:xfrm>
            <a:prstGeom prst="rect">
              <a:avLst/>
            </a:prstGeom>
            <a:noFill/>
            <a:ln w="9525">
              <a:noFill/>
            </a:ln>
          </p:spPr>
          <p:txBody>
            <a:bodyPr anchor="t">
              <a:spAutoFit/>
            </a:bodyPr>
            <a:lstStyle/>
            <a:p>
              <a:pPr lvl="1" indent="-457200" eaLnBrk="1" hangingPunct="1">
                <a:lnSpc>
                  <a:spcPct val="112000"/>
                </a:lnSpc>
                <a:spcBef>
                  <a:spcPts val="1200"/>
                </a:spcBef>
                <a:buFont typeface="Wingdings" panose="05000000000000000000" pitchFamily="2" charset="2"/>
                <a:buChar char="u"/>
              </a:pPr>
              <a:r>
                <a:rPr lang="zh-CN" altLang="en-US" sz="2400" u="sng" dirty="0">
                  <a:solidFill>
                    <a:srgbClr val="0033CC"/>
                  </a:solidFill>
                  <a:latin typeface="华文楷体" panose="02010600040101010101" pitchFamily="2" charset="-122"/>
                  <a:ea typeface="华文楷体" panose="02010600040101010101" pitchFamily="2" charset="-122"/>
                </a:rPr>
                <a:t>用联系的属性表示。</a:t>
              </a:r>
              <a:r>
                <a:rPr lang="zh-CN" altLang="en-US" sz="2200" dirty="0">
                  <a:latin typeface="楷体" panose="02010609060101010101" pitchFamily="1" charset="-122"/>
                  <a:ea typeface="楷体" panose="02010609060101010101" pitchFamily="1" charset="-122"/>
                </a:rPr>
                <a:t>例如“选修课的成绩”，必须对应是哪门选修课的成绩，不能由学生唯一决定。因此用联系的属性表示。</a:t>
              </a:r>
              <a:endParaRPr lang="zh-CN" altLang="en-US" sz="2200" dirty="0">
                <a:latin typeface="楷体" panose="02010609060101010101" pitchFamily="1" charset="-122"/>
                <a:ea typeface="楷体" panose="02010609060101010101" pitchFamily="1" charset="-122"/>
              </a:endParaRPr>
            </a:p>
          </p:txBody>
        </p:sp>
      </p:grpSp>
      <p:sp>
        <p:nvSpPr>
          <p:cNvPr id="93212" name="Text Box 47"/>
          <p:cNvSpPr txBox="1"/>
          <p:nvPr/>
        </p:nvSpPr>
        <p:spPr>
          <a:xfrm>
            <a:off x="6042025" y="2251075"/>
            <a:ext cx="387350" cy="590550"/>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3213" name="Text Box 47"/>
          <p:cNvSpPr txBox="1"/>
          <p:nvPr/>
        </p:nvSpPr>
        <p:spPr>
          <a:xfrm>
            <a:off x="6089650" y="2974975"/>
            <a:ext cx="388938" cy="584200"/>
          </a:xfrm>
          <a:prstGeom prst="rect">
            <a:avLst/>
          </a:prstGeom>
          <a:noFill/>
          <a:ln w="9525">
            <a:noFill/>
          </a:ln>
        </p:spPr>
        <p:txBody>
          <a:bodyPr anchor="t">
            <a:spAutoFit/>
          </a:bodyPr>
          <a:lstStyle/>
          <a:p>
            <a:pPr lvl="0" indent="0">
              <a:spcBef>
                <a:spcPct val="50000"/>
              </a:spcBef>
              <a:buNone/>
            </a:pPr>
            <a:r>
              <a:rPr lang="en-US" altLang="de-DE" sz="2400" dirty="0">
                <a:solidFill>
                  <a:srgbClr val="0000CC"/>
                </a:solidFill>
                <a:latin typeface="宋体" panose="02010600030101010101" pitchFamily="2" charset="-122"/>
                <a:ea typeface="宋体" panose="02010600030101010101" pitchFamily="2" charset="-122"/>
              </a:rPr>
              <a:t>n</a:t>
            </a:r>
            <a:endParaRPr lang="en-US" altLang="de-DE" sz="2400" dirty="0">
              <a:solidFill>
                <a:srgbClr val="0000CC"/>
              </a:solidFill>
              <a:latin typeface="宋体" panose="02010600030101010101" pitchFamily="2" charset="-122"/>
              <a:ea typeface="宋体" panose="02010600030101010101" pitchFamily="2" charset="-122"/>
            </a:endParaRPr>
          </a:p>
        </p:txBody>
      </p:sp>
      <p:sp>
        <p:nvSpPr>
          <p:cNvPr id="93214" name="Text Box 47"/>
          <p:cNvSpPr txBox="1"/>
          <p:nvPr/>
        </p:nvSpPr>
        <p:spPr>
          <a:xfrm>
            <a:off x="6083300" y="4510088"/>
            <a:ext cx="387350" cy="590550"/>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3215" name="Text Box 47"/>
          <p:cNvSpPr txBox="1"/>
          <p:nvPr/>
        </p:nvSpPr>
        <p:spPr>
          <a:xfrm>
            <a:off x="6088063" y="5186363"/>
            <a:ext cx="387350" cy="584200"/>
          </a:xfrm>
          <a:prstGeom prst="rect">
            <a:avLst/>
          </a:prstGeom>
          <a:noFill/>
          <a:ln w="9525">
            <a:noFill/>
          </a:ln>
        </p:spPr>
        <p:txBody>
          <a:bodyPr anchor="t">
            <a:spAutoFit/>
          </a:bodyPr>
          <a:lstStyle/>
          <a:p>
            <a:pPr lvl="0" indent="0">
              <a:spcBef>
                <a:spcPct val="50000"/>
              </a:spcBef>
              <a:buNone/>
            </a:pPr>
            <a:r>
              <a:rPr lang="en-US" altLang="de-DE" sz="2400" dirty="0">
                <a:solidFill>
                  <a:srgbClr val="0000CC"/>
                </a:solidFill>
                <a:latin typeface="宋体" panose="02010600030101010101" pitchFamily="2" charset="-122"/>
                <a:ea typeface="宋体" panose="02010600030101010101" pitchFamily="2" charset="-122"/>
              </a:rPr>
              <a:t>n</a:t>
            </a:r>
            <a:endParaRPr lang="en-US" altLang="de-DE" sz="2400" dirty="0">
              <a:solidFill>
                <a:srgbClr val="0000CC"/>
              </a:solidFill>
              <a:latin typeface="宋体" panose="0201060003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8069"/>
                                        </p:tgtEl>
                                        <p:attrNameLst>
                                          <p:attrName>style.visibility</p:attrName>
                                        </p:attrNameLst>
                                      </p:cBhvr>
                                      <p:to>
                                        <p:strVal val="visible"/>
                                      </p:to>
                                    </p:set>
                                    <p:anim calcmode="lin" valueType="num">
                                      <p:cBhvr additive="base">
                                        <p:cTn id="7" dur="500" fill="hold"/>
                                        <p:tgtEl>
                                          <p:spTgt spid="88069"/>
                                        </p:tgtEl>
                                        <p:attrNameLst>
                                          <p:attrName>ppt_x</p:attrName>
                                        </p:attrNameLst>
                                      </p:cBhvr>
                                      <p:tavLst>
                                        <p:tav tm="0">
                                          <p:val>
                                            <p:strVal val="#ppt_x"/>
                                          </p:val>
                                        </p:tav>
                                        <p:tav tm="100000">
                                          <p:val>
                                            <p:strVal val="#ppt_x"/>
                                          </p:val>
                                        </p:tav>
                                      </p:tavLst>
                                    </p:anim>
                                    <p:anim calcmode="lin" valueType="num">
                                      <p:cBhvr additive="base">
                                        <p:cTn id="8" dur="500" fill="hold"/>
                                        <p:tgtEl>
                                          <p:spTgt spid="8806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8081"/>
                                        </p:tgtEl>
                                        <p:attrNameLst>
                                          <p:attrName>style.visibility</p:attrName>
                                        </p:attrNameLst>
                                      </p:cBhvr>
                                      <p:to>
                                        <p:strVal val="visible"/>
                                      </p:to>
                                    </p:set>
                                    <p:anim calcmode="lin" valueType="num">
                                      <p:cBhvr additive="base">
                                        <p:cTn id="13" dur="500" fill="hold"/>
                                        <p:tgtEl>
                                          <p:spTgt spid="88081"/>
                                        </p:tgtEl>
                                        <p:attrNameLst>
                                          <p:attrName>ppt_x</p:attrName>
                                        </p:attrNameLst>
                                      </p:cBhvr>
                                      <p:tavLst>
                                        <p:tav tm="0">
                                          <p:val>
                                            <p:strVal val="#ppt_x"/>
                                          </p:val>
                                        </p:tav>
                                        <p:tav tm="100000">
                                          <p:val>
                                            <p:strVal val="#ppt_x"/>
                                          </p:val>
                                        </p:tav>
                                      </p:tavLst>
                                    </p:anim>
                                    <p:anim calcmode="lin" valueType="num">
                                      <p:cBhvr additive="base">
                                        <p:cTn id="14" dur="500" fill="hold"/>
                                        <p:tgtEl>
                                          <p:spTgt spid="880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4210" name="Text Box 3"/>
          <p:cNvSpPr txBox="1"/>
          <p:nvPr/>
        </p:nvSpPr>
        <p:spPr>
          <a:xfrm>
            <a:off x="541338" y="1492250"/>
            <a:ext cx="8162925" cy="1263650"/>
          </a:xfrm>
          <a:prstGeom prst="rect">
            <a:avLst/>
          </a:prstGeom>
          <a:noFill/>
          <a:ln w="9525">
            <a:noFill/>
          </a:ln>
        </p:spPr>
        <p:txBody>
          <a:bodyPr anchor="t">
            <a:spAutoFit/>
          </a:bodyPr>
          <a:lstStyle/>
          <a:p>
            <a:pPr marL="457200" lvl="0" indent="-457200">
              <a:lnSpc>
                <a:spcPct val="112000"/>
              </a:lnSpc>
              <a:spcBef>
                <a:spcPts val="300"/>
              </a:spcBef>
              <a:buFont typeface="Wingdings" panose="05000000000000000000" pitchFamily="2" charset="2"/>
              <a:buChar char="u"/>
            </a:pPr>
            <a:r>
              <a:rPr lang="zh-CN" altLang="en-US" sz="2400" u="sng" dirty="0">
                <a:solidFill>
                  <a:srgbClr val="0033CC"/>
                </a:solidFill>
                <a:latin typeface="华文楷体" panose="02010600040101010101" pitchFamily="2" charset="-122"/>
                <a:ea typeface="华文楷体" panose="02010600040101010101" pitchFamily="2" charset="-122"/>
              </a:rPr>
              <a:t>用联系的属性表示。</a:t>
            </a:r>
            <a:r>
              <a:rPr lang="zh-CN" altLang="en-US" sz="2200" dirty="0">
                <a:latin typeface="楷体" panose="02010609060101010101" pitchFamily="1" charset="-122"/>
                <a:ea typeface="楷体" panose="02010609060101010101" pitchFamily="1" charset="-122"/>
              </a:rPr>
              <a:t>例如部门经理与所管理部门间的“管理”联系，如果假定某个部门经理可能会同时管理多个部门，且要求各部门经费必须分开管理时。</a:t>
            </a:r>
            <a:endParaRPr lang="en-US" altLang="x-none" sz="2200" dirty="0">
              <a:latin typeface="楷体" panose="02010609060101010101" pitchFamily="1" charset="-122"/>
              <a:ea typeface="楷体" panose="02010609060101010101" pitchFamily="1" charset="-122"/>
            </a:endParaRPr>
          </a:p>
        </p:txBody>
      </p:sp>
      <p:graphicFrame>
        <p:nvGraphicFramePr>
          <p:cNvPr id="90116" name="Object 8"/>
          <p:cNvGraphicFramePr>
            <a:graphicFrameLocks noGrp="1" noChangeAspect="1"/>
          </p:cNvGraphicFramePr>
          <p:nvPr/>
        </p:nvGraphicFramePr>
        <p:xfrm>
          <a:off x="482600" y="2765425"/>
          <a:ext cx="8232775" cy="3165475"/>
        </p:xfrm>
        <a:graphic>
          <a:graphicData uri="http://schemas.openxmlformats.org/presentationml/2006/ole">
            <mc:AlternateContent xmlns:mc="http://schemas.openxmlformats.org/markup-compatibility/2006">
              <mc:Choice xmlns:v="urn:schemas-microsoft-com:vml" Requires="v">
                <p:oleObj spid="_x0000_s6159" name="" r:id="rId1" imgW="4695190" imgH="1682750" progId="Word.Picture.8">
                  <p:embed/>
                </p:oleObj>
              </mc:Choice>
              <mc:Fallback>
                <p:oleObj name="" r:id="rId1" imgW="4695190" imgH="1682750" progId="Word.Picture.8">
                  <p:embed/>
                  <p:pic>
                    <p:nvPicPr>
                      <p:cNvPr id="0" name="图片 3078"/>
                      <p:cNvPicPr/>
                      <p:nvPr/>
                    </p:nvPicPr>
                    <p:blipFill>
                      <a:blip r:embed="rId2"/>
                      <a:stretch>
                        <a:fillRect/>
                      </a:stretch>
                    </p:blipFill>
                    <p:spPr>
                      <a:xfrm>
                        <a:off x="482600" y="2765425"/>
                        <a:ext cx="8232775" cy="3165475"/>
                      </a:xfrm>
                      <a:prstGeom prst="rect">
                        <a:avLst/>
                      </a:prstGeom>
                      <a:noFill/>
                      <a:ln w="38100">
                        <a:noFill/>
                        <a:miter/>
                      </a:ln>
                    </p:spPr>
                  </p:pic>
                </p:oleObj>
              </mc:Fallback>
            </mc:AlternateContent>
          </a:graphicData>
        </a:graphic>
      </p:graphicFrame>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0116"/>
                                        </p:tgtEl>
                                        <p:attrNameLst>
                                          <p:attrName>style.visibility</p:attrName>
                                        </p:attrNameLst>
                                      </p:cBhvr>
                                      <p:to>
                                        <p:strVal val="visible"/>
                                      </p:to>
                                    </p:set>
                                    <p:animEffect transition="in" filter="checkerboard(across)">
                                      <p:cBhvr>
                                        <p:cTn id="7" dur="500"/>
                                        <p:tgtEl>
                                          <p:spTgt spid="90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5234" name="Text Box 3"/>
          <p:cNvSpPr txBox="1"/>
          <p:nvPr/>
        </p:nvSpPr>
        <p:spPr>
          <a:xfrm>
            <a:off x="585788" y="1854200"/>
            <a:ext cx="8162925" cy="1217613"/>
          </a:xfrm>
          <a:prstGeom prst="rect">
            <a:avLst/>
          </a:prstGeom>
          <a:noFill/>
          <a:ln w="9525">
            <a:noFill/>
          </a:ln>
        </p:spPr>
        <p:txBody>
          <a:bodyPr anchor="t">
            <a:spAutoFit/>
          </a:bodyPr>
          <a:lstStyle/>
          <a:p>
            <a:pPr marL="457200" lvl="0" indent="-457200">
              <a:lnSpc>
                <a:spcPct val="112000"/>
              </a:lnSpc>
              <a:spcBef>
                <a:spcPts val="300"/>
              </a:spcBef>
              <a:buFont typeface="Wingdings" panose="05000000000000000000" pitchFamily="2" charset="2"/>
              <a:buChar char="u"/>
            </a:pPr>
            <a:r>
              <a:rPr lang="zh-CN" altLang="en-US" sz="2400" u="sng" dirty="0">
                <a:solidFill>
                  <a:srgbClr val="0033CC"/>
                </a:solidFill>
                <a:latin typeface="华文楷体" panose="02010600040101010101" pitchFamily="2" charset="-122"/>
                <a:ea typeface="华文楷体" panose="02010600040101010101" pitchFamily="2" charset="-122"/>
              </a:rPr>
              <a:t>用实体的属性表示。</a:t>
            </a:r>
            <a:r>
              <a:rPr lang="zh-CN" altLang="en-US" sz="2200" dirty="0">
                <a:latin typeface="楷体" panose="02010609060101010101" pitchFamily="1" charset="-122"/>
                <a:ea typeface="楷体" panose="02010609060101010101" pitchFamily="1" charset="-122"/>
              </a:rPr>
              <a:t>例如部门经理与所管理部门间的“管理”联系，如果假定某个部门经理可能会同时管理多个部门，且其可支配的经费是所有管理部门经费之和。 </a:t>
            </a:r>
            <a:endParaRPr lang="en-US" altLang="x-none" sz="2200" dirty="0">
              <a:latin typeface="楷体" panose="02010609060101010101" pitchFamily="1" charset="-122"/>
              <a:ea typeface="楷体" panose="02010609060101010101" pitchFamily="1" charset="-122"/>
            </a:endParaRPr>
          </a:p>
        </p:txBody>
      </p:sp>
      <p:graphicFrame>
        <p:nvGraphicFramePr>
          <p:cNvPr id="89092" name="Object 8"/>
          <p:cNvGraphicFramePr>
            <a:graphicFrameLocks noGrp="1" noChangeAspect="1"/>
          </p:cNvGraphicFramePr>
          <p:nvPr/>
        </p:nvGraphicFramePr>
        <p:xfrm>
          <a:off x="773113" y="2938463"/>
          <a:ext cx="7789862" cy="2982912"/>
        </p:xfrm>
        <a:graphic>
          <a:graphicData uri="http://schemas.openxmlformats.org/presentationml/2006/ole">
            <mc:AlternateContent xmlns:mc="http://schemas.openxmlformats.org/markup-compatibility/2006">
              <mc:Choice xmlns:v="urn:schemas-microsoft-com:vml" Requires="v">
                <p:oleObj spid="_x0000_s7183" name="" r:id="rId1" imgW="4686300" imgH="1689735" progId="Word.Picture.8">
                  <p:embed/>
                </p:oleObj>
              </mc:Choice>
              <mc:Fallback>
                <p:oleObj name="" r:id="rId1" imgW="4686300" imgH="1689735" progId="Word.Picture.8">
                  <p:embed/>
                  <p:pic>
                    <p:nvPicPr>
                      <p:cNvPr id="0" name="图片 3079"/>
                      <p:cNvPicPr/>
                      <p:nvPr/>
                    </p:nvPicPr>
                    <p:blipFill>
                      <a:blip r:embed="rId2"/>
                      <a:stretch>
                        <a:fillRect/>
                      </a:stretch>
                    </p:blipFill>
                    <p:spPr>
                      <a:xfrm>
                        <a:off x="773113" y="2938463"/>
                        <a:ext cx="7789862" cy="2982912"/>
                      </a:xfrm>
                      <a:prstGeom prst="rect">
                        <a:avLst/>
                      </a:prstGeom>
                      <a:noFill/>
                      <a:ln w="38100">
                        <a:noFill/>
                        <a:miter/>
                      </a:ln>
                    </p:spPr>
                  </p:pic>
                </p:oleObj>
              </mc:Fallback>
            </mc:AlternateContent>
          </a:graphicData>
        </a:graphic>
      </p:graphicFrame>
      <p:sp>
        <p:nvSpPr>
          <p:cNvPr id="95236" name="Text Box 3"/>
          <p:cNvSpPr txBox="1"/>
          <p:nvPr/>
        </p:nvSpPr>
        <p:spPr>
          <a:xfrm>
            <a:off x="0" y="1243013"/>
            <a:ext cx="7605713" cy="554037"/>
          </a:xfrm>
          <a:prstGeom prst="rect">
            <a:avLst/>
          </a:prstGeom>
          <a:noFill/>
          <a:ln w="9525">
            <a:noFill/>
          </a:ln>
        </p:spPr>
        <p:txBody>
          <a:bodyPr anchor="t">
            <a:spAutoFit/>
          </a:bodyPr>
          <a:lstStyle/>
          <a:p>
            <a:pPr lvl="0" indent="0">
              <a:buNone/>
            </a:pPr>
            <a:r>
              <a:rPr lang="zh-CN" altLang="en-US" sz="2600" dirty="0">
                <a:solidFill>
                  <a:schemeClr val="accent2"/>
                </a:solidFill>
                <a:latin typeface="楷体_GB2312" pitchFamily="1" charset="-122"/>
                <a:ea typeface="楷体_GB2312" pitchFamily="1" charset="-122"/>
              </a:rPr>
              <a:t>    </a:t>
            </a:r>
            <a:r>
              <a:rPr lang="zh-CN" altLang="en-US" sz="2200" dirty="0">
                <a:latin typeface="宋体" panose="02010600030101010101" pitchFamily="2" charset="-122"/>
                <a:ea typeface="宋体" panose="02010600030101010101" pitchFamily="2" charset="-122"/>
              </a:rPr>
              <a:t>少数情况下，实体的属性还是联系的属性较难取舍。</a:t>
            </a:r>
            <a:endParaRPr lang="zh-CN" altLang="en-US" sz="2200" dirty="0">
              <a:latin typeface="宋体" panose="02010600030101010101" pitchFamily="2" charset="-122"/>
              <a:ea typeface="宋体" panose="02010600030101010101" pitchFamily="2" charset="-122"/>
            </a:endParaRPr>
          </a:p>
        </p:txBody>
      </p:sp>
      <p:sp>
        <p:nvSpPr>
          <p:cNvPr id="95238" name="Text Box 47"/>
          <p:cNvSpPr txBox="1"/>
          <p:nvPr/>
        </p:nvSpPr>
        <p:spPr>
          <a:xfrm>
            <a:off x="6275388" y="3844925"/>
            <a:ext cx="387350" cy="584200"/>
          </a:xfrm>
          <a:prstGeom prst="rect">
            <a:avLst/>
          </a:prstGeom>
          <a:noFill/>
          <a:ln w="9525">
            <a:noFill/>
          </a:ln>
        </p:spPr>
        <p:txBody>
          <a:bodyPr anchor="t">
            <a:spAutoFit/>
          </a:bodyPr>
          <a:lstStyle/>
          <a:p>
            <a:pPr lvl="0" indent="0">
              <a:spcBef>
                <a:spcPct val="50000"/>
              </a:spcBef>
              <a:buNone/>
            </a:pPr>
            <a:r>
              <a:rPr lang="en-US" altLang="de-DE" sz="2400" dirty="0">
                <a:solidFill>
                  <a:srgbClr val="0000CC"/>
                </a:solidFill>
                <a:latin typeface="宋体" panose="02010600030101010101" pitchFamily="2" charset="-122"/>
                <a:ea typeface="宋体" panose="02010600030101010101" pitchFamily="2" charset="-122"/>
              </a:rPr>
              <a:t>n</a:t>
            </a:r>
            <a:endParaRPr lang="en-US" altLang="de-DE" sz="2400" dirty="0">
              <a:solidFill>
                <a:srgbClr val="0000CC"/>
              </a:solidFill>
              <a:latin typeface="宋体" panose="02010600030101010101" pitchFamily="2" charset="-122"/>
              <a:ea typeface="宋体" panose="02010600030101010101" pitchFamily="2" charset="-122"/>
            </a:endParaRPr>
          </a:p>
        </p:txBody>
      </p:sp>
      <p:sp>
        <p:nvSpPr>
          <p:cNvPr id="95239" name="Text Box 47"/>
          <p:cNvSpPr txBox="1"/>
          <p:nvPr/>
        </p:nvSpPr>
        <p:spPr>
          <a:xfrm>
            <a:off x="3408363" y="3984625"/>
            <a:ext cx="387350" cy="503238"/>
          </a:xfrm>
          <a:prstGeom prst="rect">
            <a:avLst/>
          </a:prstGeom>
          <a:noFill/>
          <a:ln w="9525">
            <a:noFill/>
          </a:ln>
        </p:spPr>
        <p:txBody>
          <a:bodyPr anchor="t">
            <a:spAutoFit/>
          </a:bodyPr>
          <a:lstStyle/>
          <a:p>
            <a:pPr lvl="0" indent="0">
              <a:spcBef>
                <a:spcPct val="50000"/>
              </a:spcBef>
              <a:buNone/>
            </a:pPr>
            <a:r>
              <a:rPr lang="en-US" altLang="de-DE" sz="2000" dirty="0">
                <a:solidFill>
                  <a:srgbClr val="0000CC"/>
                </a:solidFill>
                <a:latin typeface="宋体" panose="02010600030101010101" pitchFamily="2" charset="-122"/>
                <a:ea typeface="宋体" panose="02010600030101010101" pitchFamily="2" charset="-122"/>
              </a:rPr>
              <a:t>1</a:t>
            </a:r>
            <a:endParaRPr lang="en-US" altLang="de-DE" sz="2000" dirty="0">
              <a:solidFill>
                <a:srgbClr val="0000CC"/>
              </a:solidFill>
              <a:latin typeface="宋体" panose="02010600030101010101" pitchFamily="2" charset="-122"/>
              <a:ea typeface="宋体" panose="02010600030101010101" pitchFamily="2" charset="-122"/>
            </a:endParaRPr>
          </a:p>
        </p:txBody>
      </p:sp>
      <p:sp>
        <p:nvSpPr>
          <p:cNvPr id="95240" name="Text Box 47"/>
          <p:cNvSpPr txBox="1"/>
          <p:nvPr/>
        </p:nvSpPr>
        <p:spPr>
          <a:xfrm>
            <a:off x="4576763" y="4797425"/>
            <a:ext cx="387350" cy="503238"/>
          </a:xfrm>
          <a:prstGeom prst="rect">
            <a:avLst/>
          </a:prstGeom>
          <a:noFill/>
          <a:ln w="9525">
            <a:noFill/>
          </a:ln>
        </p:spPr>
        <p:txBody>
          <a:bodyPr anchor="t">
            <a:spAutoFit/>
          </a:bodyPr>
          <a:lstStyle/>
          <a:p>
            <a:pPr lvl="0" indent="0">
              <a:spcBef>
                <a:spcPct val="50000"/>
              </a:spcBef>
              <a:buNone/>
            </a:pPr>
            <a:r>
              <a:rPr lang="en-US" altLang="de-DE" sz="2000" dirty="0">
                <a:solidFill>
                  <a:srgbClr val="0000CC"/>
                </a:solidFill>
                <a:latin typeface="宋体" panose="02010600030101010101" pitchFamily="2" charset="-122"/>
                <a:ea typeface="宋体" panose="02010600030101010101" pitchFamily="2" charset="-122"/>
              </a:rPr>
              <a:t>1</a:t>
            </a:r>
            <a:endParaRPr lang="en-US" altLang="de-DE" sz="2000" dirty="0">
              <a:solidFill>
                <a:srgbClr val="0000CC"/>
              </a:solidFill>
              <a:latin typeface="宋体" panose="0201060003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checkerboard(across)">
                                      <p:cBhvr>
                                        <p:cTn id="7"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64976" y="749753"/>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FF0000"/>
                </a:solidFill>
                <a:latin typeface="Calibri" panose="020F0502020204030204" pitchFamily="34" charset="0"/>
                <a:cs typeface="Times New Roman" panose="02020603050405020304" pitchFamily="2" charset="0"/>
              </a:rPr>
              <a:t>知识点检测</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
        <p:nvSpPr>
          <p:cNvPr id="4" name="Rectangle 2"/>
          <p:cNvSpPr txBox="1"/>
          <p:nvPr/>
        </p:nvSpPr>
        <p:spPr>
          <a:xfrm>
            <a:off x="518795" y="1449070"/>
            <a:ext cx="8329295" cy="2560320"/>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1</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solidFill>
                  <a:schemeClr val="tx1"/>
                </a:solidFill>
                <a:latin typeface="宋体" panose="02010600030101010101" pitchFamily="2" charset="-122"/>
              </a:rPr>
              <a:t>学生学籍档案管理</a:t>
            </a:r>
            <a:endParaRPr lang="zh-CN" altLang="en-US" sz="2200" dirty="0">
              <a:solidFill>
                <a:schemeClr val="tx1"/>
              </a:solidFill>
              <a:latin typeface="宋体" panose="02010600030101010101" pitchFamily="2" charset="-122"/>
            </a:endParaRPr>
          </a:p>
          <a:p>
            <a:pPr lvl="0" indent="0">
              <a:lnSpc>
                <a:spcPct val="100000"/>
              </a:lnSpc>
              <a:buNone/>
            </a:pPr>
            <a:r>
              <a:rPr lang="zh-CN" altLang="en-US" sz="2200" dirty="0">
                <a:solidFill>
                  <a:schemeClr val="tx1"/>
                </a:solidFill>
                <a:latin typeface="宋体" panose="02010600030101010101" pitchFamily="2" charset="-122"/>
              </a:rPr>
              <a:t>（</a:t>
            </a:r>
            <a:r>
              <a:rPr lang="en-US" altLang="zh-CN" sz="2200" dirty="0">
                <a:solidFill>
                  <a:schemeClr val="tx1"/>
                </a:solidFill>
                <a:latin typeface="宋体" panose="02010600030101010101" pitchFamily="2" charset="-122"/>
              </a:rPr>
              <a:t>1</a:t>
            </a:r>
            <a:r>
              <a:rPr lang="zh-CN" altLang="en-US" sz="2200" dirty="0">
                <a:solidFill>
                  <a:schemeClr val="tx1"/>
                </a:solidFill>
                <a:latin typeface="宋体" panose="02010600030101010101" pitchFamily="2" charset="-122"/>
              </a:rPr>
              <a:t>）要求设计数据库存储每位学生的现读学校、入学时间、</a:t>
            </a:r>
            <a:r>
              <a:rPr lang="zh-CN" altLang="en-US" sz="2200" dirty="0">
                <a:latin typeface="宋体" panose="02010600030101010101" pitchFamily="2" charset="-122"/>
                <a:sym typeface="+mn-ea"/>
              </a:rPr>
              <a:t>证明人</a:t>
            </a:r>
            <a:r>
              <a:rPr lang="zh-CN" altLang="en-US" sz="2200" dirty="0">
                <a:solidFill>
                  <a:schemeClr val="tx1"/>
                </a:solidFill>
                <a:latin typeface="宋体" panose="02010600030101010101" pitchFamily="2" charset="-122"/>
              </a:rPr>
              <a:t>（辅导员或班主任），为其画出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r>
              <a:rPr lang="zh-CN" altLang="en-US" sz="2200" dirty="0">
                <a:solidFill>
                  <a:schemeClr val="tx1"/>
                </a:solidFill>
                <a:latin typeface="宋体" panose="02010600030101010101" pitchFamily="2" charset="-122"/>
              </a:rPr>
              <a:t>（</a:t>
            </a:r>
            <a:r>
              <a:rPr lang="en-US" altLang="zh-CN" sz="2200" dirty="0">
                <a:solidFill>
                  <a:schemeClr val="tx1"/>
                </a:solidFill>
                <a:latin typeface="宋体" panose="02010600030101010101" pitchFamily="2" charset="-122"/>
              </a:rPr>
              <a:t>2</a:t>
            </a:r>
            <a:r>
              <a:rPr lang="zh-CN" altLang="en-US" sz="2200" dirty="0">
                <a:solidFill>
                  <a:schemeClr val="tx1"/>
                </a:solidFill>
                <a:latin typeface="宋体" panose="02010600030101010101" pitchFamily="2" charset="-122"/>
              </a:rPr>
              <a:t>）要求设计</a:t>
            </a:r>
            <a:r>
              <a:rPr lang="zh-CN" altLang="en-US" sz="2200" dirty="0">
                <a:latin typeface="宋体" panose="02010600030101010101" pitchFamily="2" charset="-122"/>
                <a:sym typeface="+mn-ea"/>
              </a:rPr>
              <a:t>数据库存储每位同学从小学至今的学习经历，包括就读学校、入学时间、结束时间、证明人（辅导员或班主任）</a:t>
            </a:r>
            <a:endParaRPr lang="zh-CN" altLang="en-US" sz="2200" dirty="0">
              <a:latin typeface="宋体" panose="02010600030101010101" pitchFamily="2" charset="-122"/>
              <a:sym typeface="+mn-ea"/>
            </a:endParaRPr>
          </a:p>
        </p:txBody>
      </p:sp>
      <p:sp>
        <p:nvSpPr>
          <p:cNvPr id="5"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p:nvPr/>
        </p:nvSpPr>
        <p:spPr>
          <a:xfrm>
            <a:off x="518795" y="1449070"/>
            <a:ext cx="8329295" cy="2560320"/>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1</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solidFill>
                  <a:schemeClr val="tx1"/>
                </a:solidFill>
                <a:latin typeface="宋体" panose="02010600030101010101" pitchFamily="2" charset="-122"/>
              </a:rPr>
              <a:t>学生学籍档案管理</a:t>
            </a:r>
            <a:endParaRPr lang="zh-CN" altLang="en-US" sz="2200" dirty="0">
              <a:solidFill>
                <a:schemeClr val="tx1"/>
              </a:solidFill>
              <a:latin typeface="宋体" panose="02010600030101010101" pitchFamily="2" charset="-122"/>
            </a:endParaRPr>
          </a:p>
          <a:p>
            <a:pPr lvl="0" indent="0">
              <a:lnSpc>
                <a:spcPct val="100000"/>
              </a:lnSpc>
              <a:buNone/>
            </a:pPr>
            <a:r>
              <a:rPr lang="zh-CN" altLang="en-US" sz="2200" dirty="0">
                <a:solidFill>
                  <a:schemeClr val="tx1"/>
                </a:solidFill>
                <a:latin typeface="宋体" panose="02010600030101010101" pitchFamily="2" charset="-122"/>
              </a:rPr>
              <a:t>（</a:t>
            </a:r>
            <a:r>
              <a:rPr lang="en-US" altLang="zh-CN" sz="2200" dirty="0">
                <a:solidFill>
                  <a:schemeClr val="tx1"/>
                </a:solidFill>
                <a:latin typeface="宋体" panose="02010600030101010101" pitchFamily="2" charset="-122"/>
              </a:rPr>
              <a:t>1</a:t>
            </a:r>
            <a:r>
              <a:rPr lang="zh-CN" altLang="en-US" sz="2200" dirty="0">
                <a:solidFill>
                  <a:schemeClr val="tx1"/>
                </a:solidFill>
                <a:latin typeface="宋体" panose="02010600030101010101" pitchFamily="2" charset="-122"/>
              </a:rPr>
              <a:t>）要求设计数据库存储每位学生的现读学校、入学时间、</a:t>
            </a:r>
            <a:r>
              <a:rPr lang="zh-CN" altLang="en-US" sz="2200" dirty="0">
                <a:latin typeface="宋体" panose="02010600030101010101" pitchFamily="2" charset="-122"/>
                <a:sym typeface="+mn-ea"/>
              </a:rPr>
              <a:t>证明人</a:t>
            </a:r>
            <a:r>
              <a:rPr lang="zh-CN" altLang="en-US" sz="2200" dirty="0">
                <a:solidFill>
                  <a:schemeClr val="tx1"/>
                </a:solidFill>
                <a:latin typeface="宋体" panose="02010600030101010101" pitchFamily="2" charset="-122"/>
              </a:rPr>
              <a:t>（辅导员或班主任），为其画出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r>
              <a:rPr lang="zh-CN" altLang="en-US" sz="2100" dirty="0">
                <a:latin typeface="宋体" panose="02010600030101010101" pitchFamily="2" charset="-122"/>
                <a:sym typeface="+mn-ea"/>
              </a:rPr>
              <a:t>（</a:t>
            </a:r>
            <a:r>
              <a:rPr lang="en-US" altLang="zh-CN" sz="2100" dirty="0">
                <a:latin typeface="宋体" panose="02010600030101010101" pitchFamily="2" charset="-122"/>
                <a:sym typeface="+mn-ea"/>
              </a:rPr>
              <a:t>2</a:t>
            </a:r>
            <a:r>
              <a:rPr lang="zh-CN" altLang="en-US" sz="2100" dirty="0">
                <a:latin typeface="宋体" panose="02010600030101010101" pitchFamily="2" charset="-122"/>
                <a:sym typeface="+mn-ea"/>
              </a:rPr>
              <a:t>）要求设计数据库存储每位同学从小学至今的学习经历，包括阶段名称、就读学校、入学时间、结束时间、证明人（辅导员或班主任）</a:t>
            </a:r>
            <a:endParaRPr lang="zh-CN" altLang="en-US" sz="2100" dirty="0">
              <a:latin typeface="宋体" panose="02010600030101010101" pitchFamily="2" charset="-122"/>
              <a:sym typeface="+mn-ea"/>
            </a:endParaRPr>
          </a:p>
        </p:txBody>
      </p:sp>
      <p:grpSp>
        <p:nvGrpSpPr>
          <p:cNvPr id="45" name="组合 44"/>
          <p:cNvGrpSpPr/>
          <p:nvPr/>
        </p:nvGrpSpPr>
        <p:grpSpPr>
          <a:xfrm>
            <a:off x="857250" y="2610485"/>
            <a:ext cx="3798570" cy="1092835"/>
            <a:chOff x="1350" y="4111"/>
            <a:chExt cx="5982" cy="1721"/>
          </a:xfrm>
        </p:grpSpPr>
        <p:sp>
          <p:nvSpPr>
            <p:cNvPr id="5" name="Rectangle 17"/>
            <p:cNvSpPr/>
            <p:nvPr/>
          </p:nvSpPr>
          <p:spPr>
            <a:xfrm>
              <a:off x="3907" y="5266"/>
              <a:ext cx="130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dirty="0">
                  <a:latin typeface="Arial" panose="020B0604020202020204" pitchFamily="34" charset="0"/>
                  <a:ea typeface="宋体" panose="02010600030101010101" pitchFamily="2" charset="-122"/>
                </a:rPr>
                <a:t>学生</a:t>
              </a:r>
              <a:endParaRPr lang="zh-CN" altLang="en-US" dirty="0">
                <a:latin typeface="Arial" panose="020B0604020202020204" pitchFamily="34" charset="0"/>
                <a:ea typeface="宋体" panose="02010600030101010101" pitchFamily="2" charset="-122"/>
              </a:endParaRPr>
            </a:p>
          </p:txBody>
        </p:sp>
        <p:sp>
          <p:nvSpPr>
            <p:cNvPr id="6" name="Oval 20"/>
            <p:cNvSpPr/>
            <p:nvPr/>
          </p:nvSpPr>
          <p:spPr>
            <a:xfrm>
              <a:off x="1350" y="5062"/>
              <a:ext cx="1300" cy="582"/>
            </a:xfrm>
            <a:prstGeom prst="ellipse">
              <a:avLst/>
            </a:prstGeom>
            <a:solidFill>
              <a:schemeClr val="accent2">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solidFill>
                    <a:srgbClr val="C00000"/>
                  </a:solidFill>
                  <a:latin typeface="Arial" panose="020B0604020202020204" pitchFamily="34" charset="0"/>
                  <a:ea typeface="宋体" panose="02010600030101010101" pitchFamily="2" charset="-122"/>
                </a:rPr>
                <a:t>学号</a:t>
              </a:r>
              <a:endParaRPr lang="zh-CN" altLang="en-US" sz="1400" u="sng" dirty="0">
                <a:solidFill>
                  <a:srgbClr val="C00000"/>
                </a:solidFill>
                <a:latin typeface="Arial" panose="020B0604020202020204" pitchFamily="34" charset="0"/>
                <a:ea typeface="宋体" panose="02010600030101010101" pitchFamily="2" charset="-122"/>
              </a:endParaRPr>
            </a:p>
          </p:txBody>
        </p:sp>
        <p:sp>
          <p:nvSpPr>
            <p:cNvPr id="22" name="Oval 33"/>
            <p:cNvSpPr/>
            <p:nvPr/>
          </p:nvSpPr>
          <p:spPr>
            <a:xfrm>
              <a:off x="1912" y="4390"/>
              <a:ext cx="104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3" name="Oval 33"/>
            <p:cNvSpPr/>
            <p:nvPr/>
          </p:nvSpPr>
          <p:spPr>
            <a:xfrm>
              <a:off x="2959" y="4111"/>
              <a:ext cx="104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7" name="Oval 33"/>
            <p:cNvSpPr/>
            <p:nvPr/>
          </p:nvSpPr>
          <p:spPr>
            <a:xfrm>
              <a:off x="4145" y="4111"/>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现读学校</a:t>
              </a:r>
              <a:endParaRPr lang="zh-CN" altLang="en-US" sz="1400" dirty="0">
                <a:latin typeface="Arial" panose="020B0604020202020204" pitchFamily="34" charset="0"/>
                <a:ea typeface="宋体" panose="02010600030101010101" pitchFamily="2" charset="-122"/>
              </a:endParaRPr>
            </a:p>
          </p:txBody>
        </p:sp>
        <p:sp>
          <p:nvSpPr>
            <p:cNvPr id="9" name="Oval 33"/>
            <p:cNvSpPr/>
            <p:nvPr/>
          </p:nvSpPr>
          <p:spPr>
            <a:xfrm>
              <a:off x="5514" y="4390"/>
              <a:ext cx="142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入学时间</a:t>
              </a:r>
              <a:endParaRPr lang="zh-CN" altLang="en-US" sz="1400" dirty="0">
                <a:latin typeface="Arial" panose="020B0604020202020204" pitchFamily="34" charset="0"/>
                <a:ea typeface="宋体" panose="02010600030101010101" pitchFamily="2" charset="-122"/>
              </a:endParaRPr>
            </a:p>
          </p:txBody>
        </p:sp>
        <p:sp>
          <p:nvSpPr>
            <p:cNvPr id="10" name="Oval 33"/>
            <p:cNvSpPr/>
            <p:nvPr/>
          </p:nvSpPr>
          <p:spPr>
            <a:xfrm>
              <a:off x="6184" y="5062"/>
              <a:ext cx="114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证明人</a:t>
              </a:r>
              <a:endParaRPr lang="zh-CN" altLang="en-US" sz="1400" dirty="0">
                <a:latin typeface="Arial" panose="020B0604020202020204" pitchFamily="34" charset="0"/>
                <a:ea typeface="宋体" panose="02010600030101010101" pitchFamily="2" charset="-122"/>
              </a:endParaRPr>
            </a:p>
          </p:txBody>
        </p:sp>
        <p:cxnSp>
          <p:nvCxnSpPr>
            <p:cNvPr id="11" name="直接连接符 10"/>
            <p:cNvCxnSpPr>
              <a:stCxn id="6" idx="5"/>
              <a:endCxn id="5" idx="1"/>
            </p:cNvCxnSpPr>
            <p:nvPr/>
          </p:nvCxnSpPr>
          <p:spPr>
            <a:xfrm flipV="1">
              <a:off x="2460" y="5550"/>
              <a:ext cx="1447" cy="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endCxn id="5" idx="1"/>
            </p:cNvCxnSpPr>
            <p:nvPr/>
          </p:nvCxnSpPr>
          <p:spPr>
            <a:xfrm>
              <a:off x="2919" y="4804"/>
              <a:ext cx="988" cy="7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5" idx="0"/>
            </p:cNvCxnSpPr>
            <p:nvPr/>
          </p:nvCxnSpPr>
          <p:spPr>
            <a:xfrm>
              <a:off x="3728" y="4657"/>
              <a:ext cx="829" cy="6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7" idx="4"/>
            </p:cNvCxnSpPr>
            <p:nvPr/>
          </p:nvCxnSpPr>
          <p:spPr>
            <a:xfrm flipH="1">
              <a:off x="4566" y="4678"/>
              <a:ext cx="264" cy="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 idx="3"/>
            </p:cNvCxnSpPr>
            <p:nvPr/>
          </p:nvCxnSpPr>
          <p:spPr>
            <a:xfrm flipH="1">
              <a:off x="5232" y="4874"/>
              <a:ext cx="491" cy="5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0" idx="2"/>
              <a:endCxn id="5" idx="3"/>
            </p:cNvCxnSpPr>
            <p:nvPr/>
          </p:nvCxnSpPr>
          <p:spPr>
            <a:xfrm flipH="1">
              <a:off x="5207" y="5346"/>
              <a:ext cx="977" cy="2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833755" y="4554220"/>
            <a:ext cx="6901815" cy="1647190"/>
            <a:chOff x="1313" y="7172"/>
            <a:chExt cx="10869" cy="2594"/>
          </a:xfrm>
        </p:grpSpPr>
        <p:sp>
          <p:nvSpPr>
            <p:cNvPr id="18" name="Rectangle 17"/>
            <p:cNvSpPr/>
            <p:nvPr/>
          </p:nvSpPr>
          <p:spPr>
            <a:xfrm>
              <a:off x="3122" y="8066"/>
              <a:ext cx="130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dirty="0">
                  <a:latin typeface="Arial" panose="020B0604020202020204" pitchFamily="34" charset="0"/>
                  <a:ea typeface="宋体" panose="02010600030101010101" pitchFamily="2" charset="-122"/>
                </a:rPr>
                <a:t>学生</a:t>
              </a:r>
              <a:endParaRPr lang="zh-CN" altLang="en-US" dirty="0">
                <a:latin typeface="Arial" panose="020B0604020202020204" pitchFamily="34" charset="0"/>
                <a:ea typeface="宋体" panose="02010600030101010101" pitchFamily="2" charset="-122"/>
              </a:endParaRPr>
            </a:p>
          </p:txBody>
        </p:sp>
        <p:sp>
          <p:nvSpPr>
            <p:cNvPr id="19" name="Oval 20"/>
            <p:cNvSpPr/>
            <p:nvPr/>
          </p:nvSpPr>
          <p:spPr>
            <a:xfrm>
              <a:off x="1350" y="7398"/>
              <a:ext cx="1300" cy="582"/>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solidFill>
                    <a:srgbClr val="C00000"/>
                  </a:solidFill>
                  <a:latin typeface="Arial" panose="020B0604020202020204" pitchFamily="34" charset="0"/>
                  <a:ea typeface="宋体" panose="02010600030101010101" pitchFamily="2" charset="-122"/>
                </a:rPr>
                <a:t>学号</a:t>
              </a:r>
              <a:endParaRPr lang="zh-CN" altLang="en-US" sz="1400" u="sng" dirty="0">
                <a:solidFill>
                  <a:srgbClr val="C00000"/>
                </a:solidFill>
                <a:latin typeface="Arial" panose="020B0604020202020204" pitchFamily="34" charset="0"/>
                <a:ea typeface="宋体" panose="02010600030101010101" pitchFamily="2" charset="-122"/>
              </a:endParaRPr>
            </a:p>
          </p:txBody>
        </p:sp>
        <p:sp>
          <p:nvSpPr>
            <p:cNvPr id="20" name="Oval 33"/>
            <p:cNvSpPr/>
            <p:nvPr/>
          </p:nvSpPr>
          <p:spPr>
            <a:xfrm>
              <a:off x="1313" y="8066"/>
              <a:ext cx="104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21" name="Oval 33"/>
            <p:cNvSpPr/>
            <p:nvPr/>
          </p:nvSpPr>
          <p:spPr>
            <a:xfrm>
              <a:off x="1477" y="8633"/>
              <a:ext cx="104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cxnSp>
          <p:nvCxnSpPr>
            <p:cNvPr id="23" name="直接连接符 22"/>
            <p:cNvCxnSpPr>
              <a:stCxn id="19" idx="5"/>
              <a:endCxn id="18" idx="1"/>
            </p:cNvCxnSpPr>
            <p:nvPr/>
          </p:nvCxnSpPr>
          <p:spPr>
            <a:xfrm>
              <a:off x="2460" y="7895"/>
              <a:ext cx="662" cy="4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2360" y="8289"/>
              <a:ext cx="681" cy="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endCxn id="18" idx="1"/>
            </p:cNvCxnSpPr>
            <p:nvPr/>
          </p:nvCxnSpPr>
          <p:spPr>
            <a:xfrm flipV="1">
              <a:off x="2524" y="8350"/>
              <a:ext cx="598" cy="5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17"/>
            <p:cNvSpPr/>
            <p:nvPr/>
          </p:nvSpPr>
          <p:spPr>
            <a:xfrm>
              <a:off x="8223" y="8066"/>
              <a:ext cx="1697" cy="567"/>
            </a:xfrm>
            <a:prstGeom prst="rect">
              <a:avLst/>
            </a:prstGeom>
            <a:solidFill>
              <a:srgbClr val="FF9933"/>
            </a:solidFill>
            <a:ln w="44450" cap="flat" cmpd="sng">
              <a:solidFill>
                <a:srgbClr val="CC00FF"/>
              </a:solidFill>
              <a:prstDash val="solid"/>
              <a:miter/>
              <a:headEnd type="none" w="med" len="med"/>
              <a:tailEnd type="none" w="med" len="med"/>
            </a:ln>
          </p:spPr>
          <p:txBody>
            <a:bodyPr wrap="none" anchor="ctr"/>
            <a:lstStyle/>
            <a:p>
              <a:pPr lvl="0" algn="ctr">
                <a:buNone/>
              </a:pPr>
              <a:r>
                <a:rPr lang="zh-CN" altLang="en-US" dirty="0">
                  <a:latin typeface="Arial" panose="020B0604020202020204" pitchFamily="34" charset="0"/>
                  <a:ea typeface="宋体" panose="02010600030101010101" pitchFamily="2" charset="-122"/>
                </a:rPr>
                <a:t>学习经历</a:t>
              </a:r>
              <a:endParaRPr lang="zh-CN" altLang="en-US" dirty="0">
                <a:latin typeface="Arial" panose="020B0604020202020204" pitchFamily="34" charset="0"/>
                <a:ea typeface="宋体" panose="02010600030101010101" pitchFamily="2" charset="-122"/>
              </a:endParaRPr>
            </a:p>
          </p:txBody>
        </p:sp>
        <p:sp>
          <p:nvSpPr>
            <p:cNvPr id="27" name="Oval 33"/>
            <p:cNvSpPr/>
            <p:nvPr/>
          </p:nvSpPr>
          <p:spPr>
            <a:xfrm>
              <a:off x="10599" y="7413"/>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就读学校</a:t>
              </a:r>
              <a:endParaRPr lang="zh-CN" altLang="en-US" sz="1400" dirty="0">
                <a:latin typeface="Arial" panose="020B0604020202020204" pitchFamily="34" charset="0"/>
                <a:ea typeface="宋体" panose="02010600030101010101" pitchFamily="2" charset="-122"/>
              </a:endParaRPr>
            </a:p>
          </p:txBody>
        </p:sp>
        <p:sp>
          <p:nvSpPr>
            <p:cNvPr id="28" name="Oval 33"/>
            <p:cNvSpPr/>
            <p:nvPr/>
          </p:nvSpPr>
          <p:spPr>
            <a:xfrm>
              <a:off x="10814" y="8066"/>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入学时间</a:t>
              </a:r>
              <a:endParaRPr lang="zh-CN" altLang="en-US" sz="1400" dirty="0">
                <a:latin typeface="Arial" panose="020B0604020202020204" pitchFamily="34" charset="0"/>
                <a:ea typeface="宋体" panose="02010600030101010101" pitchFamily="2" charset="-122"/>
              </a:endParaRPr>
            </a:p>
          </p:txBody>
        </p:sp>
        <p:sp>
          <p:nvSpPr>
            <p:cNvPr id="29" name="Oval 33"/>
            <p:cNvSpPr/>
            <p:nvPr/>
          </p:nvSpPr>
          <p:spPr>
            <a:xfrm>
              <a:off x="10814" y="8797"/>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结束时间</a:t>
              </a:r>
              <a:endParaRPr lang="zh-CN" altLang="en-US" sz="1400" dirty="0">
                <a:latin typeface="Arial" panose="020B0604020202020204" pitchFamily="34" charset="0"/>
                <a:ea typeface="宋体" panose="02010600030101010101" pitchFamily="2" charset="-122"/>
              </a:endParaRPr>
            </a:p>
          </p:txBody>
        </p:sp>
        <p:sp>
          <p:nvSpPr>
            <p:cNvPr id="30" name="Oval 33"/>
            <p:cNvSpPr/>
            <p:nvPr/>
          </p:nvSpPr>
          <p:spPr>
            <a:xfrm>
              <a:off x="9661" y="9200"/>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证明人</a:t>
              </a:r>
              <a:endParaRPr lang="zh-CN" altLang="en-US" sz="1400" dirty="0">
                <a:latin typeface="Arial" panose="020B0604020202020204" pitchFamily="34" charset="0"/>
                <a:ea typeface="宋体" panose="02010600030101010101" pitchFamily="2" charset="-122"/>
              </a:endParaRPr>
            </a:p>
          </p:txBody>
        </p:sp>
        <p:sp>
          <p:nvSpPr>
            <p:cNvPr id="31" name="Oval 33"/>
            <p:cNvSpPr/>
            <p:nvPr/>
          </p:nvSpPr>
          <p:spPr>
            <a:xfrm>
              <a:off x="9342" y="7172"/>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阶段名称</a:t>
              </a:r>
              <a:endParaRPr lang="zh-CN" altLang="en-US" sz="1400" dirty="0">
                <a:latin typeface="Arial" panose="020B0604020202020204" pitchFamily="34" charset="0"/>
                <a:ea typeface="宋体" panose="02010600030101010101" pitchFamily="2" charset="-122"/>
              </a:endParaRPr>
            </a:p>
          </p:txBody>
        </p:sp>
        <p:cxnSp>
          <p:nvCxnSpPr>
            <p:cNvPr id="32" name="直接连接符 31"/>
            <p:cNvCxnSpPr/>
            <p:nvPr/>
          </p:nvCxnSpPr>
          <p:spPr>
            <a:xfrm>
              <a:off x="11014" y="8548"/>
              <a:ext cx="969" cy="0"/>
            </a:xfrm>
            <a:prstGeom prst="line">
              <a:avLst/>
            </a:prstGeom>
            <a:ln w="28575" cmpd="sng">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31" idx="4"/>
            </p:cNvCxnSpPr>
            <p:nvPr/>
          </p:nvCxnSpPr>
          <p:spPr>
            <a:xfrm flipV="1">
              <a:off x="9356" y="7739"/>
              <a:ext cx="685" cy="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6" idx="3"/>
              <a:endCxn id="27" idx="3"/>
            </p:cNvCxnSpPr>
            <p:nvPr/>
          </p:nvCxnSpPr>
          <p:spPr>
            <a:xfrm flipV="1">
              <a:off x="9934" y="7897"/>
              <a:ext cx="879" cy="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6" idx="3"/>
              <a:endCxn id="28" idx="2"/>
            </p:cNvCxnSpPr>
            <p:nvPr/>
          </p:nvCxnSpPr>
          <p:spPr>
            <a:xfrm>
              <a:off x="9934" y="8350"/>
              <a:ext cx="8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6" idx="3"/>
              <a:endCxn id="29" idx="1"/>
            </p:cNvCxnSpPr>
            <p:nvPr/>
          </p:nvCxnSpPr>
          <p:spPr>
            <a:xfrm>
              <a:off x="9934" y="8350"/>
              <a:ext cx="1094" cy="5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endCxn id="30" idx="0"/>
            </p:cNvCxnSpPr>
            <p:nvPr/>
          </p:nvCxnSpPr>
          <p:spPr>
            <a:xfrm>
              <a:off x="9950" y="8613"/>
              <a:ext cx="410" cy="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菱形 38"/>
            <p:cNvSpPr/>
            <p:nvPr/>
          </p:nvSpPr>
          <p:spPr>
            <a:xfrm>
              <a:off x="5514" y="7930"/>
              <a:ext cx="1660" cy="839"/>
            </a:xfrm>
            <a:prstGeom prst="diamond">
              <a:avLst/>
            </a:prstGeom>
            <a:ln w="47625">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a:solidFill>
                    <a:schemeClr val="tx1"/>
                  </a:solidFill>
                </a:rPr>
                <a:t>拥有</a:t>
              </a:r>
              <a:endParaRPr lang="zh-CN" altLang="en-US">
                <a:solidFill>
                  <a:schemeClr val="tx1"/>
                </a:solidFill>
              </a:endParaRPr>
            </a:p>
          </p:txBody>
        </p:sp>
        <p:cxnSp>
          <p:nvCxnSpPr>
            <p:cNvPr id="40" name="直接连接符 39"/>
            <p:cNvCxnSpPr>
              <a:stCxn id="39" idx="1"/>
              <a:endCxn id="18" idx="3"/>
            </p:cNvCxnSpPr>
            <p:nvPr/>
          </p:nvCxnSpPr>
          <p:spPr>
            <a:xfrm flipH="1">
              <a:off x="4422" y="8350"/>
              <a:ext cx="10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26" idx="1"/>
              <a:endCxn id="39" idx="3"/>
            </p:cNvCxnSpPr>
            <p:nvPr/>
          </p:nvCxnSpPr>
          <p:spPr>
            <a:xfrm flipH="1">
              <a:off x="7174" y="8350"/>
              <a:ext cx="1049" cy="0"/>
            </a:xfrm>
            <a:prstGeom prst="straightConnector1">
              <a:avLst/>
            </a:prstGeom>
            <a:ln w="41275">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flipH="1">
              <a:off x="7516" y="7595"/>
              <a:ext cx="374" cy="732"/>
            </a:xfrm>
            <a:prstGeom prst="rect">
              <a:avLst/>
            </a:prstGeom>
            <a:noFill/>
          </p:spPr>
          <p:txBody>
            <a:bodyPr wrap="square" rtlCol="0" anchor="t">
              <a:spAutoFit/>
            </a:bodyPr>
            <a:lstStyle/>
            <a:p>
              <a:pPr>
                <a:buNone/>
              </a:pPr>
              <a:r>
                <a:rPr lang="en-US" altLang="zh-CN"/>
                <a:t>n</a:t>
              </a:r>
              <a:endParaRPr lang="en-US" altLang="zh-CN"/>
            </a:p>
          </p:txBody>
        </p:sp>
        <p:sp>
          <p:nvSpPr>
            <p:cNvPr id="43" name="文本框 42"/>
            <p:cNvSpPr txBox="1"/>
            <p:nvPr/>
          </p:nvSpPr>
          <p:spPr>
            <a:xfrm flipH="1">
              <a:off x="4934" y="7595"/>
              <a:ext cx="298" cy="732"/>
            </a:xfrm>
            <a:prstGeom prst="rect">
              <a:avLst/>
            </a:prstGeom>
            <a:noFill/>
          </p:spPr>
          <p:txBody>
            <a:bodyPr wrap="square" rtlCol="0" anchor="t">
              <a:spAutoFit/>
            </a:bodyPr>
            <a:lstStyle/>
            <a:p>
              <a:pPr>
                <a:buNone/>
              </a:pPr>
              <a:r>
                <a:rPr lang="en-US" altLang="zh-CN"/>
                <a:t>1</a:t>
              </a:r>
              <a:endParaRPr lang="en-US" altLang="zh-CN"/>
            </a:p>
          </p:txBody>
        </p:sp>
      </p:grpSp>
      <p:sp>
        <p:nvSpPr>
          <p:cNvPr id="46"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7" name="矩形 46"/>
          <p:cNvSpPr/>
          <p:nvPr/>
        </p:nvSpPr>
        <p:spPr>
          <a:xfrm>
            <a:off x="464976" y="749753"/>
            <a:ext cx="4441760"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ppt_x"/>
                                          </p:val>
                                        </p:tav>
                                        <p:tav tm="100000">
                                          <p:val>
                                            <p:strVal val="#ppt_x"/>
                                          </p:val>
                                        </p:tav>
                                      </p:tavLst>
                                    </p:anim>
                                    <p:anim calcmode="lin" valueType="num">
                                      <p:cBhvr additive="base">
                                        <p:cTn id="1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矩形 2"/>
          <p:cNvSpPr/>
          <p:nvPr/>
        </p:nvSpPr>
        <p:spPr>
          <a:xfrm>
            <a:off x="498475" y="822325"/>
            <a:ext cx="5056188"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6258" name="矩形 3"/>
          <p:cNvSpPr/>
          <p:nvPr/>
        </p:nvSpPr>
        <p:spPr>
          <a:xfrm>
            <a:off x="563563" y="1366838"/>
            <a:ext cx="2320925" cy="633412"/>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用三元联系</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96259" name="Text Box 5"/>
          <p:cNvSpPr txBox="1"/>
          <p:nvPr/>
        </p:nvSpPr>
        <p:spPr>
          <a:xfrm>
            <a:off x="685800" y="1954213"/>
            <a:ext cx="8016875" cy="1163637"/>
          </a:xfrm>
          <a:prstGeom prst="rect">
            <a:avLst/>
          </a:prstGeom>
          <a:noFill/>
          <a:ln w="9525">
            <a:noFill/>
          </a:ln>
        </p:spPr>
        <p:txBody>
          <a:bodyPr anchor="t">
            <a:spAutoFit/>
          </a:bodyPr>
          <a:lstStyle/>
          <a:p>
            <a:pPr lvl="0" indent="0">
              <a:lnSpc>
                <a:spcPct val="110000"/>
              </a:lnSpc>
              <a:spcBef>
                <a:spcPts val="600"/>
              </a:spcBef>
              <a:buNone/>
            </a:pPr>
            <a:r>
              <a:rPr lang="zh-CN" altLang="en-US" sz="2200" dirty="0">
                <a:solidFill>
                  <a:srgbClr val="CC3300"/>
                </a:solidFill>
                <a:latin typeface="楷体" panose="02010609060101010101" pitchFamily="1" charset="-122"/>
                <a:ea typeface="楷体" panose="02010609060101010101" pitchFamily="1" charset="-122"/>
              </a:rPr>
              <a:t>示例：</a:t>
            </a:r>
            <a:r>
              <a:rPr lang="zh-CN" altLang="en-US" sz="2200" dirty="0">
                <a:latin typeface="楷体" panose="02010609060101010101" pitchFamily="1" charset="-122"/>
                <a:ea typeface="楷体" panose="02010609060101010101" pitchFamily="1" charset="-122"/>
              </a:rPr>
              <a:t>客户、产品及供应商三个实体之间，一个客户可购买多种产品、一种产品可以由多个供应商提供。</a:t>
            </a:r>
            <a:r>
              <a:rPr lang="zh-CN" altLang="en-US" sz="2200" u="sng" dirty="0">
                <a:solidFill>
                  <a:srgbClr val="FF3300"/>
                </a:solidFill>
                <a:latin typeface="楷体" panose="02010609060101010101" pitchFamily="1" charset="-122"/>
                <a:ea typeface="楷体" panose="02010609060101010101" pitchFamily="1" charset="-122"/>
              </a:rPr>
              <a:t>要求表达：某客户从特定的供应商购买某种产品。</a:t>
            </a:r>
            <a:endParaRPr lang="zh-CN" altLang="en-US" sz="2200" u="sng" dirty="0">
              <a:solidFill>
                <a:srgbClr val="FF3300"/>
              </a:solidFill>
              <a:latin typeface="楷体" panose="02010609060101010101" pitchFamily="1" charset="-122"/>
              <a:ea typeface="楷体" panose="02010609060101010101" pitchFamily="1" charset="-122"/>
            </a:endParaRPr>
          </a:p>
        </p:txBody>
      </p:sp>
      <p:sp>
        <p:nvSpPr>
          <p:cNvPr id="96260" name="矩形 6"/>
          <p:cNvSpPr/>
          <p:nvPr/>
        </p:nvSpPr>
        <p:spPr>
          <a:xfrm>
            <a:off x="625475" y="3195638"/>
            <a:ext cx="8183563" cy="2890837"/>
          </a:xfrm>
          <a:prstGeom prst="rect">
            <a:avLst/>
          </a:prstGeom>
          <a:noFill/>
          <a:ln w="9525">
            <a:noFill/>
          </a:ln>
        </p:spPr>
        <p:txBody>
          <a:bodyPr anchor="t">
            <a:spAutoFit/>
          </a:bodyPr>
          <a:lstStyle/>
          <a:p>
            <a:pPr lvl="0" indent="0">
              <a:lnSpc>
                <a:spcPct val="110000"/>
              </a:lnSpc>
              <a:spcBef>
                <a:spcPts val="300"/>
              </a:spcBef>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 如果用三个二元联系，只能表示：</a:t>
            </a:r>
            <a:endParaRPr lang="zh-CN" altLang="en-US" sz="22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   (1)</a:t>
            </a:r>
            <a:r>
              <a:rPr lang="zh-CN" altLang="en-US" sz="2200" dirty="0">
                <a:latin typeface="楷体" panose="02010609060101010101" pitchFamily="1" charset="-122"/>
                <a:ea typeface="楷体" panose="02010609060101010101" pitchFamily="1" charset="-122"/>
              </a:rPr>
              <a:t>供应商能供应产品；</a:t>
            </a:r>
            <a:endParaRPr lang="zh-CN" altLang="en-US" sz="22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   (2)</a:t>
            </a:r>
            <a:r>
              <a:rPr lang="zh-CN" altLang="en-US" sz="2200" dirty="0">
                <a:latin typeface="楷体" panose="02010609060101010101" pitchFamily="1" charset="-122"/>
                <a:ea typeface="楷体" panose="02010609060101010101" pitchFamily="1" charset="-122"/>
              </a:rPr>
              <a:t>客户需要产品；</a:t>
            </a:r>
            <a:endParaRPr lang="zh-CN" altLang="en-US" sz="22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   (3)</a:t>
            </a:r>
            <a:r>
              <a:rPr lang="zh-CN" altLang="en-US" sz="2200" dirty="0">
                <a:latin typeface="楷体" panose="02010609060101010101" pitchFamily="1" charset="-122"/>
                <a:ea typeface="楷体" panose="02010609060101010101" pitchFamily="1" charset="-122"/>
              </a:rPr>
              <a:t>客户与供应商的业务往来。</a:t>
            </a:r>
            <a:endParaRPr lang="zh-CN" altLang="en-US" sz="2200" dirty="0">
              <a:latin typeface="楷体" panose="02010609060101010101" pitchFamily="1" charset="-122"/>
              <a:ea typeface="楷体" panose="02010609060101010101" pitchFamily="1" charset="-122"/>
            </a:endParaRPr>
          </a:p>
          <a:p>
            <a:pPr lvl="0" indent="0">
              <a:lnSpc>
                <a:spcPct val="110000"/>
              </a:lnSpc>
              <a:spcBef>
                <a:spcPts val="600"/>
              </a:spcBef>
              <a:buNone/>
            </a:pPr>
            <a:r>
              <a:rPr lang="zh-CN" altLang="en-US" sz="2200" dirty="0">
                <a:latin typeface="楷体" panose="02010609060101010101" pitchFamily="1" charset="-122"/>
                <a:ea typeface="楷体" panose="02010609060101010101" pitchFamily="1" charset="-122"/>
              </a:rPr>
              <a:t>    在这三个二元联系中，供应商</a:t>
            </a:r>
            <a:r>
              <a:rPr lang="en-US" altLang="x-none" sz="2200" dirty="0">
                <a:latin typeface="楷体" panose="02010609060101010101" pitchFamily="1" charset="-122"/>
                <a:ea typeface="楷体" panose="02010609060101010101" pitchFamily="1" charset="-122"/>
              </a:rPr>
              <a:t>S</a:t>
            </a:r>
            <a:r>
              <a:rPr lang="zh-CN" altLang="en-US" sz="2200" dirty="0">
                <a:latin typeface="楷体" panose="02010609060101010101" pitchFamily="1" charset="-122"/>
                <a:ea typeface="楷体" panose="02010609060101010101" pitchFamily="1" charset="-122"/>
              </a:rPr>
              <a:t>能供应产品</a:t>
            </a:r>
            <a:r>
              <a:rPr lang="en-US" altLang="x-none" sz="2200" dirty="0">
                <a:latin typeface="楷体" panose="02010609060101010101" pitchFamily="1" charset="-122"/>
                <a:ea typeface="楷体" panose="02010609060101010101" pitchFamily="1" charset="-122"/>
              </a:rPr>
              <a:t>P</a:t>
            </a:r>
            <a:r>
              <a:rPr lang="zh-CN" altLang="en-US" sz="2200" dirty="0">
                <a:latin typeface="楷体" panose="02010609060101010101" pitchFamily="1" charset="-122"/>
                <a:ea typeface="楷体" panose="02010609060101010101" pitchFamily="1" charset="-122"/>
              </a:rPr>
              <a:t>；客户</a:t>
            </a:r>
            <a:r>
              <a:rPr lang="en-US" altLang="x-none" sz="2200" dirty="0">
                <a:latin typeface="楷体" panose="02010609060101010101" pitchFamily="1" charset="-122"/>
                <a:ea typeface="楷体" panose="02010609060101010101" pitchFamily="1" charset="-122"/>
              </a:rPr>
              <a:t>C</a:t>
            </a:r>
            <a:r>
              <a:rPr lang="zh-CN" altLang="en-US" sz="2200" dirty="0">
                <a:latin typeface="楷体" panose="02010609060101010101" pitchFamily="1" charset="-122"/>
                <a:ea typeface="楷体" panose="02010609060101010101" pitchFamily="1" charset="-122"/>
              </a:rPr>
              <a:t>需要产品</a:t>
            </a:r>
            <a:r>
              <a:rPr lang="en-US" altLang="x-none" sz="2200" dirty="0">
                <a:latin typeface="楷体" panose="02010609060101010101" pitchFamily="1" charset="-122"/>
                <a:ea typeface="楷体" panose="02010609060101010101" pitchFamily="1" charset="-122"/>
              </a:rPr>
              <a:t>P</a:t>
            </a:r>
            <a:r>
              <a:rPr lang="zh-CN" altLang="en-US" sz="2200" dirty="0">
                <a:latin typeface="楷体" panose="02010609060101010101" pitchFamily="1" charset="-122"/>
                <a:ea typeface="楷体" panose="02010609060101010101" pitchFamily="1" charset="-122"/>
              </a:rPr>
              <a:t>；客户</a:t>
            </a:r>
            <a:r>
              <a:rPr lang="en-US" altLang="x-none" sz="2200" dirty="0">
                <a:latin typeface="楷体" panose="02010609060101010101" pitchFamily="1" charset="-122"/>
                <a:ea typeface="楷体" panose="02010609060101010101" pitchFamily="1" charset="-122"/>
              </a:rPr>
              <a:t>C</a:t>
            </a:r>
            <a:r>
              <a:rPr lang="zh-CN" altLang="en-US" sz="2200" dirty="0">
                <a:latin typeface="楷体" panose="02010609060101010101" pitchFamily="1" charset="-122"/>
                <a:ea typeface="楷体" panose="02010609060101010101" pitchFamily="1" charset="-122"/>
              </a:rPr>
              <a:t>从供应商</a:t>
            </a:r>
            <a:r>
              <a:rPr lang="en-US" altLang="x-none" sz="2200" dirty="0">
                <a:latin typeface="楷体" panose="02010609060101010101" pitchFamily="1" charset="-122"/>
                <a:ea typeface="楷体" panose="02010609060101010101" pitchFamily="1" charset="-122"/>
              </a:rPr>
              <a:t>S</a:t>
            </a:r>
            <a:r>
              <a:rPr lang="zh-CN" altLang="en-US" sz="2200" dirty="0">
                <a:latin typeface="楷体" panose="02010609060101010101" pitchFamily="1" charset="-122"/>
                <a:ea typeface="楷体" panose="02010609060101010101" pitchFamily="1" charset="-122"/>
              </a:rPr>
              <a:t>购买，</a:t>
            </a:r>
            <a:r>
              <a:rPr lang="zh-CN" altLang="en-US" sz="2200" u="sng" dirty="0">
                <a:solidFill>
                  <a:srgbClr val="0033CC"/>
                </a:solidFill>
                <a:latin typeface="楷体" panose="02010609060101010101" pitchFamily="1" charset="-122"/>
                <a:ea typeface="楷体" panose="02010609060101010101" pitchFamily="1" charset="-122"/>
              </a:rPr>
              <a:t>不一定意味着</a:t>
            </a:r>
            <a:r>
              <a:rPr lang="en-US" altLang="x-none" sz="2200" u="sng" dirty="0">
                <a:solidFill>
                  <a:srgbClr val="0033CC"/>
                </a:solidFill>
                <a:latin typeface="楷体" panose="02010609060101010101" pitchFamily="1" charset="-122"/>
                <a:ea typeface="楷体" panose="02010609060101010101" pitchFamily="1" charset="-122"/>
              </a:rPr>
              <a:t>C</a:t>
            </a:r>
            <a:r>
              <a:rPr lang="zh-CN" altLang="en-US" sz="2200" u="sng" dirty="0">
                <a:solidFill>
                  <a:srgbClr val="0033CC"/>
                </a:solidFill>
                <a:latin typeface="楷体" panose="02010609060101010101" pitchFamily="1" charset="-122"/>
                <a:ea typeface="楷体" panose="02010609060101010101" pitchFamily="1" charset="-122"/>
              </a:rPr>
              <a:t>确实是从</a:t>
            </a:r>
            <a:r>
              <a:rPr lang="en-US" altLang="x-none" sz="2200" u="sng" dirty="0">
                <a:solidFill>
                  <a:srgbClr val="0033CC"/>
                </a:solidFill>
                <a:latin typeface="楷体" panose="02010609060101010101" pitchFamily="1" charset="-122"/>
                <a:ea typeface="楷体" panose="02010609060101010101" pitchFamily="1" charset="-122"/>
              </a:rPr>
              <a:t>S</a:t>
            </a:r>
            <a:r>
              <a:rPr lang="zh-CN" altLang="en-US" sz="2200" u="sng" dirty="0">
                <a:solidFill>
                  <a:srgbClr val="0033CC"/>
                </a:solidFill>
                <a:latin typeface="楷体" panose="02010609060101010101" pitchFamily="1" charset="-122"/>
                <a:ea typeface="楷体" panose="02010609060101010101" pitchFamily="1" charset="-122"/>
              </a:rPr>
              <a:t>购买产品</a:t>
            </a:r>
            <a:r>
              <a:rPr lang="en-US" altLang="x-none" sz="2200" u="sng" dirty="0">
                <a:solidFill>
                  <a:srgbClr val="0033CC"/>
                </a:solidFill>
                <a:latin typeface="楷体" panose="02010609060101010101" pitchFamily="1" charset="-122"/>
                <a:ea typeface="楷体" panose="02010609060101010101" pitchFamily="1" charset="-122"/>
              </a:rPr>
              <a:t>P</a:t>
            </a:r>
            <a:r>
              <a:rPr lang="zh-CN" altLang="en-US" sz="2200" u="sng" dirty="0">
                <a:solidFill>
                  <a:srgbClr val="0033CC"/>
                </a:solidFill>
                <a:latin typeface="楷体" panose="02010609060101010101" pitchFamily="1" charset="-122"/>
                <a:ea typeface="楷体" panose="02010609060101010101" pitchFamily="1" charset="-122"/>
              </a:rPr>
              <a:t>。也不能清晰表达出合同的数量属性。</a:t>
            </a:r>
            <a:endParaRPr lang="zh-CN" altLang="en-US" sz="2200" u="sng" dirty="0">
              <a:solidFill>
                <a:srgbClr val="0033CC"/>
              </a:solidFill>
              <a:latin typeface="楷体" panose="02010609060101010101" pitchFamily="1" charset="-122"/>
              <a:ea typeface="楷体" panose="02010609060101010101" pitchFamily="1" charset="-122"/>
            </a:endParaRPr>
          </a:p>
        </p:txBody>
      </p:sp>
      <p:sp>
        <p:nvSpPr>
          <p:cNvPr id="96261" name="AutoShape 9"/>
          <p:cNvSpPr/>
          <p:nvPr/>
        </p:nvSpPr>
        <p:spPr>
          <a:xfrm>
            <a:off x="5654675" y="3606800"/>
            <a:ext cx="1009650" cy="503238"/>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需要</a:t>
            </a:r>
            <a:endParaRPr lang="zh-CN" altLang="en-US" dirty="0">
              <a:solidFill>
                <a:srgbClr val="0000CC"/>
              </a:solidFill>
              <a:latin typeface="宋体" panose="02010600030101010101" pitchFamily="2" charset="-122"/>
              <a:ea typeface="宋体" panose="02010600030101010101" pitchFamily="2" charset="-122"/>
            </a:endParaRPr>
          </a:p>
        </p:txBody>
      </p:sp>
      <p:grpSp>
        <p:nvGrpSpPr>
          <p:cNvPr id="96262" name="Group 10"/>
          <p:cNvGrpSpPr/>
          <p:nvPr/>
        </p:nvGrpSpPr>
        <p:grpSpPr>
          <a:xfrm>
            <a:off x="5857875" y="2814638"/>
            <a:ext cx="2463800" cy="2014537"/>
            <a:chOff x="0" y="0"/>
            <a:chExt cx="1552" cy="1269"/>
          </a:xfrm>
        </p:grpSpPr>
        <p:sp>
          <p:nvSpPr>
            <p:cNvPr id="96263" name="Line 11"/>
            <p:cNvSpPr/>
            <p:nvPr/>
          </p:nvSpPr>
          <p:spPr>
            <a:xfrm flipV="1">
              <a:off x="203" y="283"/>
              <a:ext cx="0" cy="240"/>
            </a:xfrm>
            <a:prstGeom prst="line">
              <a:avLst/>
            </a:prstGeom>
            <a:ln w="25400" cap="flat" cmpd="sng">
              <a:solidFill>
                <a:srgbClr val="000000"/>
              </a:solidFill>
              <a:prstDash val="solid"/>
              <a:round/>
              <a:headEnd type="none" w="med" len="med"/>
              <a:tailEnd type="none" w="med" len="med"/>
            </a:ln>
          </p:spPr>
        </p:sp>
        <p:sp>
          <p:nvSpPr>
            <p:cNvPr id="96264" name="Line 12"/>
            <p:cNvSpPr/>
            <p:nvPr/>
          </p:nvSpPr>
          <p:spPr>
            <a:xfrm>
              <a:off x="190" y="816"/>
              <a:ext cx="13" cy="139"/>
            </a:xfrm>
            <a:prstGeom prst="line">
              <a:avLst/>
            </a:prstGeom>
            <a:ln w="25400" cap="flat" cmpd="sng">
              <a:solidFill>
                <a:srgbClr val="000000"/>
              </a:solidFill>
              <a:prstDash val="solid"/>
              <a:round/>
              <a:headEnd type="none" w="med" len="med"/>
              <a:tailEnd type="none" w="med" len="med"/>
            </a:ln>
          </p:spPr>
        </p:sp>
        <p:sp>
          <p:nvSpPr>
            <p:cNvPr id="96265" name="Rectangle 13"/>
            <p:cNvSpPr/>
            <p:nvPr/>
          </p:nvSpPr>
          <p:spPr>
            <a:xfrm>
              <a:off x="0" y="969"/>
              <a:ext cx="553" cy="25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产品</a:t>
              </a:r>
              <a:endParaRPr lang="zh-CN" altLang="en-US" dirty="0">
                <a:solidFill>
                  <a:srgbClr val="000000"/>
                </a:solidFill>
                <a:latin typeface="宋体" panose="02010600030101010101" pitchFamily="2" charset="-122"/>
                <a:ea typeface="宋体" panose="02010600030101010101" pitchFamily="2" charset="-122"/>
              </a:endParaRPr>
            </a:p>
          </p:txBody>
        </p:sp>
        <p:sp>
          <p:nvSpPr>
            <p:cNvPr id="96266" name="Rectangle 14"/>
            <p:cNvSpPr/>
            <p:nvPr/>
          </p:nvSpPr>
          <p:spPr>
            <a:xfrm>
              <a:off x="11" y="45"/>
              <a:ext cx="542" cy="23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客户</a:t>
              </a:r>
              <a:endParaRPr lang="zh-CN" altLang="en-US" dirty="0">
                <a:solidFill>
                  <a:srgbClr val="000000"/>
                </a:solidFill>
                <a:latin typeface="宋体" panose="02010600030101010101" pitchFamily="2" charset="-122"/>
                <a:ea typeface="宋体" panose="02010600030101010101" pitchFamily="2" charset="-122"/>
              </a:endParaRPr>
            </a:p>
          </p:txBody>
        </p:sp>
        <p:sp>
          <p:nvSpPr>
            <p:cNvPr id="96267" name="Rectangle 15"/>
            <p:cNvSpPr/>
            <p:nvPr/>
          </p:nvSpPr>
          <p:spPr>
            <a:xfrm>
              <a:off x="961" y="499"/>
              <a:ext cx="582"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供应商</a:t>
              </a:r>
              <a:endParaRPr lang="zh-CN" altLang="en-US" dirty="0">
                <a:solidFill>
                  <a:srgbClr val="000000"/>
                </a:solidFill>
                <a:latin typeface="宋体" panose="02010600030101010101" pitchFamily="2" charset="-122"/>
                <a:ea typeface="宋体" panose="02010600030101010101" pitchFamily="2" charset="-122"/>
              </a:endParaRPr>
            </a:p>
          </p:txBody>
        </p:sp>
        <p:sp>
          <p:nvSpPr>
            <p:cNvPr id="96268" name="AutoShape 16"/>
            <p:cNvSpPr/>
            <p:nvPr/>
          </p:nvSpPr>
          <p:spPr>
            <a:xfrm>
              <a:off x="916" y="0"/>
              <a:ext cx="636" cy="317"/>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联系</a:t>
              </a:r>
              <a:endParaRPr lang="zh-CN" altLang="en-US" dirty="0">
                <a:solidFill>
                  <a:srgbClr val="0000CC"/>
                </a:solidFill>
                <a:latin typeface="宋体" panose="02010600030101010101" pitchFamily="2" charset="-122"/>
                <a:ea typeface="宋体" panose="02010600030101010101" pitchFamily="2" charset="-122"/>
              </a:endParaRPr>
            </a:p>
          </p:txBody>
        </p:sp>
        <p:sp>
          <p:nvSpPr>
            <p:cNvPr id="96269" name="AutoShape 17"/>
            <p:cNvSpPr/>
            <p:nvPr/>
          </p:nvSpPr>
          <p:spPr>
            <a:xfrm>
              <a:off x="916" y="952"/>
              <a:ext cx="636" cy="317"/>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供应</a:t>
              </a:r>
              <a:endParaRPr lang="zh-CN" altLang="en-US" dirty="0">
                <a:solidFill>
                  <a:srgbClr val="0000CC"/>
                </a:solidFill>
                <a:latin typeface="宋体" panose="02010600030101010101" pitchFamily="2" charset="-122"/>
                <a:ea typeface="宋体" panose="02010600030101010101" pitchFamily="2" charset="-122"/>
              </a:endParaRPr>
            </a:p>
          </p:txBody>
        </p:sp>
        <p:sp>
          <p:nvSpPr>
            <p:cNvPr id="96270" name="Line 18"/>
            <p:cNvSpPr/>
            <p:nvPr/>
          </p:nvSpPr>
          <p:spPr>
            <a:xfrm>
              <a:off x="553" y="1134"/>
              <a:ext cx="363" cy="0"/>
            </a:xfrm>
            <a:prstGeom prst="line">
              <a:avLst/>
            </a:prstGeom>
            <a:ln w="38100" cap="flat" cmpd="sng">
              <a:solidFill>
                <a:schemeClr val="tx1"/>
              </a:solidFill>
              <a:prstDash val="solid"/>
              <a:round/>
              <a:headEnd type="none" w="med" len="med"/>
              <a:tailEnd type="none" w="med" len="med"/>
            </a:ln>
          </p:spPr>
        </p:sp>
        <p:sp>
          <p:nvSpPr>
            <p:cNvPr id="96271" name="Line 19"/>
            <p:cNvSpPr/>
            <p:nvPr/>
          </p:nvSpPr>
          <p:spPr>
            <a:xfrm>
              <a:off x="553" y="181"/>
              <a:ext cx="363" cy="0"/>
            </a:xfrm>
            <a:prstGeom prst="line">
              <a:avLst/>
            </a:prstGeom>
            <a:ln w="38100" cap="flat" cmpd="sng">
              <a:solidFill>
                <a:schemeClr val="tx1"/>
              </a:solidFill>
              <a:prstDash val="solid"/>
              <a:round/>
              <a:headEnd type="none" w="med" len="med"/>
              <a:tailEnd type="none" w="med" len="med"/>
            </a:ln>
          </p:spPr>
        </p:sp>
        <p:sp>
          <p:nvSpPr>
            <p:cNvPr id="96272" name="Line 20"/>
            <p:cNvSpPr/>
            <p:nvPr/>
          </p:nvSpPr>
          <p:spPr>
            <a:xfrm flipV="1">
              <a:off x="1233" y="317"/>
              <a:ext cx="0" cy="195"/>
            </a:xfrm>
            <a:prstGeom prst="line">
              <a:avLst/>
            </a:prstGeom>
            <a:ln w="25400" cap="flat" cmpd="sng">
              <a:solidFill>
                <a:srgbClr val="000000"/>
              </a:solidFill>
              <a:prstDash val="solid"/>
              <a:round/>
              <a:headEnd type="none" w="med" len="med"/>
              <a:tailEnd type="none" w="med" len="med"/>
            </a:ln>
          </p:spPr>
        </p:sp>
        <p:sp>
          <p:nvSpPr>
            <p:cNvPr id="96273" name="Line 21"/>
            <p:cNvSpPr/>
            <p:nvPr/>
          </p:nvSpPr>
          <p:spPr>
            <a:xfrm flipV="1">
              <a:off x="1233" y="726"/>
              <a:ext cx="0" cy="226"/>
            </a:xfrm>
            <a:prstGeom prst="line">
              <a:avLst/>
            </a:prstGeom>
            <a:ln w="25400" cap="flat" cmpd="sng">
              <a:solidFill>
                <a:srgbClr val="000000"/>
              </a:solidFill>
              <a:prstDash val="solid"/>
              <a:round/>
              <a:headEnd type="none" w="med" len="med"/>
              <a:tailEnd type="none" w="med" len="med"/>
            </a:ln>
          </p:spPr>
        </p:sp>
      </p:gr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矩形 2"/>
          <p:cNvSpPr/>
          <p:nvPr/>
        </p:nvSpPr>
        <p:spPr>
          <a:xfrm>
            <a:off x="498475" y="822325"/>
            <a:ext cx="5056188"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graphicFrame>
        <p:nvGraphicFramePr>
          <p:cNvPr id="92163" name="Object 11"/>
          <p:cNvGraphicFramePr>
            <a:graphicFrameLocks noChangeAspect="1"/>
          </p:cNvGraphicFramePr>
          <p:nvPr/>
        </p:nvGraphicFramePr>
        <p:xfrm>
          <a:off x="503238" y="1677988"/>
          <a:ext cx="8351837" cy="3421062"/>
        </p:xfrm>
        <a:graphic>
          <a:graphicData uri="http://schemas.openxmlformats.org/presentationml/2006/ole">
            <mc:AlternateContent xmlns:mc="http://schemas.openxmlformats.org/markup-compatibility/2006">
              <mc:Choice xmlns:v="urn:schemas-microsoft-com:vml" Requires="v">
                <p:oleObj spid="_x0000_s8207" name="" r:id="rId1" imgW="5266055" imgH="2117725" progId="Word.Picture.8">
                  <p:embed/>
                </p:oleObj>
              </mc:Choice>
              <mc:Fallback>
                <p:oleObj name="" r:id="rId1" imgW="5266055" imgH="2117725" progId="Word.Picture.8">
                  <p:embed/>
                  <p:pic>
                    <p:nvPicPr>
                      <p:cNvPr id="0" name="图片 3080"/>
                      <p:cNvPicPr/>
                      <p:nvPr/>
                    </p:nvPicPr>
                    <p:blipFill>
                      <a:blip r:embed="rId2"/>
                      <a:stretch>
                        <a:fillRect/>
                      </a:stretch>
                    </p:blipFill>
                    <p:spPr>
                      <a:xfrm>
                        <a:off x="503238" y="1677988"/>
                        <a:ext cx="8351837" cy="3421062"/>
                      </a:xfrm>
                      <a:prstGeom prst="rect">
                        <a:avLst/>
                      </a:prstGeom>
                      <a:noFill/>
                      <a:ln w="38100">
                        <a:noFill/>
                        <a:miter/>
                      </a:ln>
                    </p:spPr>
                  </p:pic>
                </p:oleObj>
              </mc:Fallback>
            </mc:AlternateContent>
          </a:graphicData>
        </a:graphic>
      </p:graphicFrame>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2163"/>
                                        </p:tgtEl>
                                        <p:attrNameLst>
                                          <p:attrName>style.visibility</p:attrName>
                                        </p:attrNameLst>
                                      </p:cBhvr>
                                      <p:to>
                                        <p:strVal val="visible"/>
                                      </p:to>
                                    </p:set>
                                    <p:animEffect transition="in" filter="checkerboard(across)">
                                      <p:cBhvr>
                                        <p:cTn id="7" dur="500"/>
                                        <p:tgtEl>
                                          <p:spTgt spid="92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矩形 3"/>
          <p:cNvSpPr/>
          <p:nvPr/>
        </p:nvSpPr>
        <p:spPr>
          <a:xfrm>
            <a:off x="498475" y="792163"/>
            <a:ext cx="5056188" cy="522287"/>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100354" name="矩形 4"/>
          <p:cNvSpPr/>
          <p:nvPr/>
        </p:nvSpPr>
        <p:spPr>
          <a:xfrm>
            <a:off x="531813" y="1214438"/>
            <a:ext cx="2322512" cy="633412"/>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用二元联系</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100355" name="矩形 5"/>
          <p:cNvSpPr/>
          <p:nvPr/>
        </p:nvSpPr>
        <p:spPr>
          <a:xfrm>
            <a:off x="715963" y="1719263"/>
            <a:ext cx="8031162" cy="1560512"/>
          </a:xfrm>
          <a:prstGeom prst="rect">
            <a:avLst/>
          </a:prstGeom>
          <a:noFill/>
          <a:ln w="9525">
            <a:noFill/>
          </a:ln>
        </p:spPr>
        <p:txBody>
          <a:bodyPr anchor="t">
            <a:spAutoFit/>
          </a:bodyPr>
          <a:lstStyle/>
          <a:p>
            <a:pPr lvl="0" indent="0">
              <a:lnSpc>
                <a:spcPct val="110000"/>
              </a:lnSpc>
              <a:buFont typeface="Wingdings" panose="05000000000000000000" pitchFamily="2" charset="2"/>
              <a:buChar char="u"/>
            </a:pPr>
            <a:r>
              <a:rPr lang="zh-CN" altLang="en-US" sz="2200" u="sng" dirty="0">
                <a:solidFill>
                  <a:srgbClr val="0033CC"/>
                </a:solidFill>
                <a:latin typeface="宋体" panose="02010600030101010101" pitchFamily="2" charset="-122"/>
                <a:ea typeface="华文楷体" panose="02010600040101010101" pitchFamily="2" charset="-122"/>
              </a:rPr>
              <a:t> 例子：</a:t>
            </a:r>
            <a:r>
              <a:rPr lang="zh-CN" altLang="en-US" sz="2200" dirty="0">
                <a:latin typeface="宋体" panose="02010600030101010101" pitchFamily="2" charset="-122"/>
                <a:ea typeface="华文楷体" panose="02010600040101010101" pitchFamily="2" charset="-122"/>
              </a:rPr>
              <a:t>客户、担保人和贷款三个实体之间，一个客户可有多笔贷款、每一笔贷款有且仅有一个客户；一笔贷款可有多个担保人、但一个担保人只能担保一笔贷款。</a:t>
            </a:r>
            <a:endParaRPr lang="zh-CN" altLang="en-US" sz="2200" dirty="0">
              <a:latin typeface="宋体" panose="02010600030101010101" pitchFamily="2" charset="-122"/>
              <a:ea typeface="华文楷体" panose="02010600040101010101" pitchFamily="2" charset="-122"/>
            </a:endParaRPr>
          </a:p>
          <a:p>
            <a:pPr lvl="0" indent="0">
              <a:lnSpc>
                <a:spcPct val="110000"/>
              </a:lnSpc>
              <a:buFont typeface="Wingdings" panose="05000000000000000000" pitchFamily="2" charset="2"/>
              <a:buChar char="u"/>
            </a:pPr>
            <a:r>
              <a:rPr lang="zh-CN" altLang="en-US" sz="2200" u="sng" dirty="0">
                <a:solidFill>
                  <a:srgbClr val="0033CC"/>
                </a:solidFill>
                <a:latin typeface="宋体" panose="02010600030101010101" pitchFamily="2" charset="-122"/>
                <a:ea typeface="华文楷体" panose="02010600040101010101" pitchFamily="2" charset="-122"/>
              </a:rPr>
              <a:t>没有特别强调：</a:t>
            </a:r>
            <a:r>
              <a:rPr lang="zh-CN" altLang="en-US" sz="2200" dirty="0">
                <a:latin typeface="宋体" panose="02010600030101010101" pitchFamily="2" charset="-122"/>
                <a:ea typeface="华文楷体" panose="02010600040101010101" pitchFamily="2" charset="-122"/>
              </a:rPr>
              <a:t>客户的某笔贷款中担保人是谁时可用二元联系。</a:t>
            </a:r>
            <a:endParaRPr lang="zh-CN" altLang="en-US" sz="2200" dirty="0">
              <a:latin typeface="宋体" panose="02010600030101010101" pitchFamily="2" charset="-122"/>
              <a:ea typeface="华文楷体" panose="02010600040101010101" pitchFamily="2" charset="-122"/>
            </a:endParaRPr>
          </a:p>
        </p:txBody>
      </p:sp>
      <p:graphicFrame>
        <p:nvGraphicFramePr>
          <p:cNvPr id="95237" name="Object 7"/>
          <p:cNvGraphicFramePr>
            <a:graphicFrameLocks noChangeAspect="1"/>
          </p:cNvGraphicFramePr>
          <p:nvPr/>
        </p:nvGraphicFramePr>
        <p:xfrm>
          <a:off x="625475" y="3322638"/>
          <a:ext cx="8077200" cy="3017837"/>
        </p:xfrm>
        <a:graphic>
          <a:graphicData uri="http://schemas.openxmlformats.org/presentationml/2006/ole">
            <mc:AlternateContent xmlns:mc="http://schemas.openxmlformats.org/markup-compatibility/2006">
              <mc:Choice xmlns:v="urn:schemas-microsoft-com:vml" Requires="v">
                <p:oleObj spid="_x0000_s9231" name="" r:id="rId1" imgW="5076190" imgH="2193290" progId="Word.Picture.8">
                  <p:embed/>
                </p:oleObj>
              </mc:Choice>
              <mc:Fallback>
                <p:oleObj name="" r:id="rId1" imgW="5076190" imgH="2193290" progId="Word.Picture.8">
                  <p:embed/>
                  <p:pic>
                    <p:nvPicPr>
                      <p:cNvPr id="0" name="图片 3081"/>
                      <p:cNvPicPr/>
                      <p:nvPr/>
                    </p:nvPicPr>
                    <p:blipFill>
                      <a:blip r:embed="rId2"/>
                      <a:stretch>
                        <a:fillRect/>
                      </a:stretch>
                    </p:blipFill>
                    <p:spPr>
                      <a:xfrm>
                        <a:off x="625475" y="3322638"/>
                        <a:ext cx="8077200" cy="3017837"/>
                      </a:xfrm>
                      <a:prstGeom prst="rect">
                        <a:avLst/>
                      </a:prstGeom>
                      <a:noFill/>
                      <a:ln w="38100">
                        <a:noFill/>
                        <a:miter/>
                      </a:ln>
                    </p:spPr>
                  </p:pic>
                </p:oleObj>
              </mc:Fallback>
            </mc:AlternateContent>
          </a:graphicData>
        </a:graphic>
      </p:graphicFrame>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5237"/>
                                        </p:tgtEl>
                                        <p:attrNameLst>
                                          <p:attrName>style.visibility</p:attrName>
                                        </p:attrNameLst>
                                      </p:cBhvr>
                                      <p:to>
                                        <p:strVal val="visible"/>
                                      </p:to>
                                    </p:set>
                                    <p:animEffect transition="in" filter="checkerboard(across)">
                                      <p:cBhvr>
                                        <p:cTn id="7" dur="500"/>
                                        <p:tgtEl>
                                          <p:spTgt spid="95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563880" y="2613073"/>
            <a:ext cx="8121650" cy="3816098"/>
            <a:chOff x="790" y="2984"/>
            <a:chExt cx="12790" cy="6504"/>
          </a:xfrm>
        </p:grpSpPr>
        <p:sp>
          <p:nvSpPr>
            <p:cNvPr id="2058" name="Rectangle 19"/>
            <p:cNvSpPr/>
            <p:nvPr/>
          </p:nvSpPr>
          <p:spPr>
            <a:xfrm>
              <a:off x="3128" y="4223"/>
              <a:ext cx="1405" cy="630"/>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05000"/>
                </a:lnSpc>
                <a:buNone/>
              </a:pPr>
              <a:r>
                <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rPr>
                <a:t>演员</a:t>
              </a:r>
              <a:endPar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endParaRPr>
            </a:p>
          </p:txBody>
        </p:sp>
        <p:sp>
          <p:nvSpPr>
            <p:cNvPr id="2059" name="Oval 20"/>
            <p:cNvSpPr/>
            <p:nvPr/>
          </p:nvSpPr>
          <p:spPr>
            <a:xfrm>
              <a:off x="985" y="4150"/>
              <a:ext cx="1323" cy="46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rPr>
                <a:t>出生年</a:t>
              </a:r>
              <a:endPar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endParaRPr>
            </a:p>
          </p:txBody>
        </p:sp>
        <p:sp>
          <p:nvSpPr>
            <p:cNvPr id="2060" name="Oval 21"/>
            <p:cNvSpPr/>
            <p:nvPr/>
          </p:nvSpPr>
          <p:spPr>
            <a:xfrm>
              <a:off x="2190" y="2984"/>
              <a:ext cx="1755" cy="689"/>
            </a:xfrm>
            <a:prstGeom prst="ellipse">
              <a:avLst/>
            </a:prstGeom>
            <a:solidFill>
              <a:srgbClr val="FFCCFF"/>
            </a:solidFill>
            <a:ln w="9525" cap="flat" cmpd="sng">
              <a:solidFill>
                <a:schemeClr val="tx1"/>
              </a:solidFill>
              <a:prstDash val="solid"/>
              <a:miter/>
              <a:headEnd type="none" w="med" len="med"/>
              <a:tailEnd type="none" w="med" len="med"/>
            </a:ln>
          </p:spPr>
          <p:txBody>
            <a:bodyPr wrap="none" lIns="90170" tIns="46990" rIns="90170" bIns="46990"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工作证号</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61" name="Line 22"/>
            <p:cNvSpPr/>
            <p:nvPr/>
          </p:nvSpPr>
          <p:spPr>
            <a:xfrm>
              <a:off x="2895" y="3695"/>
              <a:ext cx="233" cy="528"/>
            </a:xfrm>
            <a:prstGeom prst="line">
              <a:avLst/>
            </a:prstGeom>
            <a:ln w="25400" cap="flat" cmpd="sng">
              <a:solidFill>
                <a:srgbClr val="000000"/>
              </a:solidFill>
              <a:prstDash val="solid"/>
              <a:miter/>
              <a:headEnd type="none" w="med" len="med"/>
              <a:tailEnd type="none" w="med" len="med"/>
            </a:ln>
          </p:spPr>
        </p:sp>
        <p:sp>
          <p:nvSpPr>
            <p:cNvPr id="2062" name="Line 23"/>
            <p:cNvSpPr/>
            <p:nvPr/>
          </p:nvSpPr>
          <p:spPr>
            <a:xfrm flipH="1" flipV="1">
              <a:off x="2248" y="4500"/>
              <a:ext cx="877" cy="115"/>
            </a:xfrm>
            <a:prstGeom prst="line">
              <a:avLst/>
            </a:prstGeom>
            <a:ln w="25400" cap="flat" cmpd="sng">
              <a:solidFill>
                <a:srgbClr val="000000"/>
              </a:solidFill>
              <a:prstDash val="solid"/>
              <a:miter/>
              <a:headEnd type="none" w="med" len="med"/>
              <a:tailEnd type="none" w="med" len="med"/>
            </a:ln>
          </p:spPr>
        </p:sp>
        <p:sp>
          <p:nvSpPr>
            <p:cNvPr id="2063" name="Oval 24"/>
            <p:cNvSpPr/>
            <p:nvPr/>
          </p:nvSpPr>
          <p:spPr>
            <a:xfrm>
              <a:off x="985" y="3465"/>
              <a:ext cx="1470" cy="62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2064" name="Oval 25"/>
            <p:cNvSpPr/>
            <p:nvPr/>
          </p:nvSpPr>
          <p:spPr>
            <a:xfrm>
              <a:off x="848" y="4635"/>
              <a:ext cx="1440" cy="598"/>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dirty="0">
                <a:latin typeface="Arial" panose="020B0604020202020204" pitchFamily="34" charset="0"/>
                <a:ea typeface="宋体" panose="02010600030101010101" pitchFamily="2" charset="-122"/>
              </a:endParaRPr>
            </a:p>
          </p:txBody>
        </p:sp>
        <p:sp>
          <p:nvSpPr>
            <p:cNvPr id="2065" name="Line 26"/>
            <p:cNvSpPr/>
            <p:nvPr/>
          </p:nvSpPr>
          <p:spPr>
            <a:xfrm>
              <a:off x="2348" y="3945"/>
              <a:ext cx="770" cy="555"/>
            </a:xfrm>
            <a:prstGeom prst="line">
              <a:avLst/>
            </a:prstGeom>
            <a:ln w="25400" cap="flat" cmpd="sng">
              <a:solidFill>
                <a:srgbClr val="000000"/>
              </a:solidFill>
              <a:prstDash val="solid"/>
              <a:miter/>
              <a:headEnd type="none" w="med" len="med"/>
              <a:tailEnd type="none" w="med" len="med"/>
            </a:ln>
          </p:spPr>
        </p:sp>
        <p:sp>
          <p:nvSpPr>
            <p:cNvPr id="2066" name="Line 27"/>
            <p:cNvSpPr/>
            <p:nvPr/>
          </p:nvSpPr>
          <p:spPr>
            <a:xfrm flipH="1">
              <a:off x="2288" y="4823"/>
              <a:ext cx="840" cy="112"/>
            </a:xfrm>
            <a:prstGeom prst="line">
              <a:avLst/>
            </a:prstGeom>
            <a:ln w="25400" cap="flat" cmpd="sng">
              <a:solidFill>
                <a:srgbClr val="000000"/>
              </a:solidFill>
              <a:prstDash val="solid"/>
              <a:miter/>
              <a:headEnd type="none" w="med" len="med"/>
              <a:tailEnd type="none" w="med" len="med"/>
            </a:ln>
          </p:spPr>
        </p:sp>
        <p:sp>
          <p:nvSpPr>
            <p:cNvPr id="2067" name="Rectangle 19"/>
            <p:cNvSpPr/>
            <p:nvPr/>
          </p:nvSpPr>
          <p:spPr>
            <a:xfrm>
              <a:off x="9895" y="7955"/>
              <a:ext cx="1405" cy="630"/>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05000"/>
                </a:lnSpc>
                <a:buNone/>
              </a:pPr>
              <a:r>
                <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rPr>
                <a:t>导演</a:t>
              </a:r>
              <a:endParaRPr lang="zh-CN" altLang="en-US" dirty="0">
                <a:latin typeface="Arial" panose="020B0604020202020204" pitchFamily="34" charset="0"/>
                <a:ea typeface="宋体" panose="02010600030101010101" pitchFamily="2" charset="-122"/>
              </a:endParaRPr>
            </a:p>
          </p:txBody>
        </p:sp>
        <p:sp>
          <p:nvSpPr>
            <p:cNvPr id="2068" name="Oval 20"/>
            <p:cNvSpPr/>
            <p:nvPr/>
          </p:nvSpPr>
          <p:spPr>
            <a:xfrm>
              <a:off x="11925" y="7513"/>
              <a:ext cx="1323" cy="467"/>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rPr>
                <a:t>出生年</a:t>
              </a:r>
              <a:endParaRPr lang="zh-CN" altLang="en-US" dirty="0">
                <a:latin typeface="Arial" panose="020B0604020202020204" pitchFamily="34" charset="0"/>
                <a:ea typeface="宋体" panose="02010600030101010101" pitchFamily="2" charset="-122"/>
              </a:endParaRPr>
            </a:p>
          </p:txBody>
        </p:sp>
        <p:sp>
          <p:nvSpPr>
            <p:cNvPr id="2069" name="Oval 21"/>
            <p:cNvSpPr/>
            <p:nvPr/>
          </p:nvSpPr>
          <p:spPr>
            <a:xfrm>
              <a:off x="11453" y="8830"/>
              <a:ext cx="1755" cy="658"/>
            </a:xfrm>
            <a:prstGeom prst="ellipse">
              <a:avLst/>
            </a:prstGeom>
            <a:solidFill>
              <a:srgbClr val="FFCCFF"/>
            </a:solidFill>
            <a:ln w="9525" cap="flat" cmpd="sng">
              <a:solidFill>
                <a:schemeClr val="tx1"/>
              </a:solidFill>
              <a:prstDash val="solid"/>
              <a:round/>
              <a:headEnd type="none" w="med" len="med"/>
              <a:tailEnd type="none" w="med" len="med"/>
            </a:ln>
          </p:spPr>
          <p:txBody>
            <a:bodyPr wrap="none" lIns="90170" tIns="46990" rIns="90170" bIns="46990" anchor="ctr"/>
            <a:lstStyle/>
            <a:p>
              <a:pPr lvl="0" algn="ctr">
                <a:lnSpc>
                  <a:spcPct val="135000"/>
                </a:lnSpc>
                <a:buNone/>
              </a:pPr>
              <a:r>
                <a:rPr lang="zh-CN" altLang="en-US" sz="1600" b="1" u="sng" dirty="0">
                  <a:solidFill>
                    <a:srgbClr val="0000CC"/>
                  </a:solidFill>
                  <a:latin typeface="宋体" panose="02010600030101010101" pitchFamily="2" charset="-122"/>
                  <a:ea typeface="宋体" panose="02010600030101010101" pitchFamily="2" charset="-122"/>
                </a:rPr>
                <a:t>工作证号</a:t>
              </a:r>
              <a:endParaRPr lang="zh-CN" altLang="en-US" sz="1600" b="1" u="sng" dirty="0">
                <a:solidFill>
                  <a:srgbClr val="0000CC"/>
                </a:solidFill>
                <a:latin typeface="宋体" panose="02010600030101010101" pitchFamily="2" charset="-122"/>
                <a:ea typeface="宋体" panose="02010600030101010101" pitchFamily="2" charset="-122"/>
              </a:endParaRPr>
            </a:p>
          </p:txBody>
        </p:sp>
        <p:sp>
          <p:nvSpPr>
            <p:cNvPr id="2070" name="Line 22"/>
            <p:cNvSpPr/>
            <p:nvPr/>
          </p:nvSpPr>
          <p:spPr>
            <a:xfrm>
              <a:off x="11220" y="8598"/>
              <a:ext cx="233" cy="525"/>
            </a:xfrm>
            <a:prstGeom prst="line">
              <a:avLst/>
            </a:prstGeom>
            <a:ln w="25400" cap="flat" cmpd="sng">
              <a:solidFill>
                <a:srgbClr val="000000"/>
              </a:solidFill>
              <a:prstDash val="solid"/>
              <a:round/>
              <a:headEnd type="none" w="med" len="med"/>
              <a:tailEnd type="none" w="med" len="med"/>
            </a:ln>
          </p:spPr>
        </p:sp>
        <p:sp>
          <p:nvSpPr>
            <p:cNvPr id="2071" name="Line 23"/>
            <p:cNvSpPr/>
            <p:nvPr/>
          </p:nvSpPr>
          <p:spPr>
            <a:xfrm flipH="1">
              <a:off x="11300" y="7680"/>
              <a:ext cx="620" cy="598"/>
            </a:xfrm>
            <a:prstGeom prst="line">
              <a:avLst/>
            </a:prstGeom>
            <a:ln w="25400" cap="flat" cmpd="sng">
              <a:solidFill>
                <a:srgbClr val="000000"/>
              </a:solidFill>
              <a:prstDash val="solid"/>
              <a:round/>
              <a:headEnd type="none" w="med" len="med"/>
              <a:tailEnd type="none" w="med" len="med"/>
            </a:ln>
          </p:spPr>
        </p:sp>
        <p:sp>
          <p:nvSpPr>
            <p:cNvPr id="2072" name="Oval 24"/>
            <p:cNvSpPr/>
            <p:nvPr/>
          </p:nvSpPr>
          <p:spPr>
            <a:xfrm>
              <a:off x="11533" y="6708"/>
              <a:ext cx="1472" cy="622"/>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2073" name="Oval 25"/>
            <p:cNvSpPr/>
            <p:nvPr/>
          </p:nvSpPr>
          <p:spPr>
            <a:xfrm>
              <a:off x="12143" y="8078"/>
              <a:ext cx="1437" cy="597"/>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dirty="0">
                <a:latin typeface="Arial" panose="020B0604020202020204" pitchFamily="34" charset="0"/>
                <a:ea typeface="宋体" panose="02010600030101010101" pitchFamily="2" charset="-122"/>
              </a:endParaRPr>
            </a:p>
          </p:txBody>
        </p:sp>
        <p:sp>
          <p:nvSpPr>
            <p:cNvPr id="2074" name="Line 26"/>
            <p:cNvSpPr/>
            <p:nvPr/>
          </p:nvSpPr>
          <p:spPr>
            <a:xfrm flipH="1">
              <a:off x="11315" y="7185"/>
              <a:ext cx="383" cy="893"/>
            </a:xfrm>
            <a:prstGeom prst="line">
              <a:avLst/>
            </a:prstGeom>
            <a:ln w="25400" cap="flat" cmpd="sng">
              <a:solidFill>
                <a:srgbClr val="000000"/>
              </a:solidFill>
              <a:prstDash val="solid"/>
              <a:round/>
              <a:headEnd type="none" w="med" len="med"/>
              <a:tailEnd type="none" w="med" len="med"/>
            </a:ln>
          </p:spPr>
        </p:sp>
        <p:sp>
          <p:nvSpPr>
            <p:cNvPr id="2075" name="Line 27"/>
            <p:cNvSpPr/>
            <p:nvPr/>
          </p:nvSpPr>
          <p:spPr>
            <a:xfrm flipH="1">
              <a:off x="11298" y="8375"/>
              <a:ext cx="842" cy="113"/>
            </a:xfrm>
            <a:prstGeom prst="line">
              <a:avLst/>
            </a:prstGeom>
            <a:ln w="25400" cap="flat" cmpd="sng">
              <a:solidFill>
                <a:srgbClr val="000000"/>
              </a:solidFill>
              <a:prstDash val="solid"/>
              <a:round/>
              <a:headEnd type="none" w="med" len="med"/>
              <a:tailEnd type="none" w="med" len="med"/>
            </a:ln>
          </p:spPr>
        </p:sp>
        <p:sp>
          <p:nvSpPr>
            <p:cNvPr id="2076" name="Rectangle 11"/>
            <p:cNvSpPr/>
            <p:nvPr/>
          </p:nvSpPr>
          <p:spPr>
            <a:xfrm>
              <a:off x="3160" y="7915"/>
              <a:ext cx="1950" cy="731"/>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电影公司</a:t>
              </a:r>
              <a:endParaRPr lang="zh-CN" altLang="en-US" dirty="0">
                <a:latin typeface="Arial" panose="020B0604020202020204" pitchFamily="34" charset="0"/>
                <a:ea typeface="宋体" panose="02010600030101010101" pitchFamily="2" charset="-122"/>
              </a:endParaRPr>
            </a:p>
          </p:txBody>
        </p:sp>
        <p:sp>
          <p:nvSpPr>
            <p:cNvPr id="2077" name="Oval 14"/>
            <p:cNvSpPr/>
            <p:nvPr/>
          </p:nvSpPr>
          <p:spPr>
            <a:xfrm>
              <a:off x="790" y="7598"/>
              <a:ext cx="1740" cy="63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公司名称</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78" name="Line 16"/>
            <p:cNvSpPr/>
            <p:nvPr/>
          </p:nvSpPr>
          <p:spPr>
            <a:xfrm>
              <a:off x="2530" y="7875"/>
              <a:ext cx="630" cy="363"/>
            </a:xfrm>
            <a:prstGeom prst="line">
              <a:avLst/>
            </a:prstGeom>
            <a:ln w="25400" cap="flat" cmpd="sng">
              <a:solidFill>
                <a:srgbClr val="000000"/>
              </a:solidFill>
              <a:prstDash val="solid"/>
              <a:round/>
              <a:headEnd type="none" w="med" len="med"/>
              <a:tailEnd type="none" w="med" len="med"/>
            </a:ln>
          </p:spPr>
        </p:sp>
        <p:sp>
          <p:nvSpPr>
            <p:cNvPr id="2079" name="Oval 12"/>
            <p:cNvSpPr/>
            <p:nvPr/>
          </p:nvSpPr>
          <p:spPr>
            <a:xfrm>
              <a:off x="878" y="8478"/>
              <a:ext cx="1527" cy="627"/>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所在国家</a:t>
              </a:r>
              <a:endParaRPr lang="zh-CN" altLang="en-US" dirty="0">
                <a:latin typeface="Arial" panose="020B0604020202020204" pitchFamily="34" charset="0"/>
                <a:ea typeface="宋体" panose="02010600030101010101" pitchFamily="2" charset="-122"/>
              </a:endParaRPr>
            </a:p>
          </p:txBody>
        </p:sp>
        <p:sp>
          <p:nvSpPr>
            <p:cNvPr id="2080" name="Line 13"/>
            <p:cNvSpPr/>
            <p:nvPr/>
          </p:nvSpPr>
          <p:spPr>
            <a:xfrm flipH="1">
              <a:off x="2325" y="8415"/>
              <a:ext cx="843" cy="360"/>
            </a:xfrm>
            <a:prstGeom prst="line">
              <a:avLst/>
            </a:prstGeom>
            <a:ln w="25400" cap="flat" cmpd="sng">
              <a:solidFill>
                <a:srgbClr val="000000"/>
              </a:solidFill>
              <a:prstDash val="solid"/>
              <a:round/>
              <a:headEnd type="none" w="med" len="med"/>
              <a:tailEnd type="none" w="med" len="med"/>
            </a:ln>
          </p:spPr>
        </p:sp>
        <p:sp>
          <p:nvSpPr>
            <p:cNvPr id="2088" name="AutoShape 49"/>
            <p:cNvSpPr/>
            <p:nvPr/>
          </p:nvSpPr>
          <p:spPr>
            <a:xfrm>
              <a:off x="2933" y="5890"/>
              <a:ext cx="1925" cy="738"/>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b="1" dirty="0">
                  <a:solidFill>
                    <a:srgbClr val="0000CC"/>
                  </a:solidFill>
                  <a:latin typeface="宋体" panose="02010600030101010101" pitchFamily="2" charset="-122"/>
                  <a:ea typeface="宋体" panose="02010600030101010101" pitchFamily="2" charset="-122"/>
                </a:rPr>
                <a:t>属于</a:t>
              </a:r>
              <a:endParaRPr lang="zh-CN" altLang="en-US" dirty="0">
                <a:latin typeface="Arial" panose="020B0604020202020204" pitchFamily="34" charset="0"/>
                <a:ea typeface="宋体" panose="02010600030101010101" pitchFamily="2" charset="-122"/>
              </a:endParaRPr>
            </a:p>
          </p:txBody>
        </p:sp>
        <p:sp>
          <p:nvSpPr>
            <p:cNvPr id="2090" name="Line 50"/>
            <p:cNvSpPr/>
            <p:nvPr/>
          </p:nvSpPr>
          <p:spPr>
            <a:xfrm>
              <a:off x="3895" y="4873"/>
              <a:ext cx="0" cy="1017"/>
            </a:xfrm>
            <a:prstGeom prst="line">
              <a:avLst/>
            </a:prstGeom>
            <a:ln w="50800" cap="flat" cmpd="sng">
              <a:solidFill>
                <a:srgbClr val="CC0000"/>
              </a:solidFill>
              <a:prstDash val="solid"/>
              <a:round/>
              <a:headEnd type="none" w="med" len="med"/>
              <a:tailEnd type="triangle" w="med" len="lg"/>
            </a:ln>
          </p:spPr>
        </p:sp>
        <p:sp>
          <p:nvSpPr>
            <p:cNvPr id="2091" name="Line 50"/>
            <p:cNvSpPr/>
            <p:nvPr/>
          </p:nvSpPr>
          <p:spPr>
            <a:xfrm>
              <a:off x="3895" y="6580"/>
              <a:ext cx="0" cy="1295"/>
            </a:xfrm>
            <a:prstGeom prst="line">
              <a:avLst/>
            </a:prstGeom>
            <a:ln w="50800" cap="flat" cmpd="sng">
              <a:solidFill>
                <a:srgbClr val="CC0000"/>
              </a:solidFill>
              <a:prstDash val="solid"/>
              <a:round/>
              <a:headEnd type="none" w="med" len="med"/>
              <a:tailEnd type="none" w="med" len="med"/>
            </a:ln>
          </p:spPr>
        </p:sp>
        <p:sp>
          <p:nvSpPr>
            <p:cNvPr id="2092" name="Text Box 53"/>
            <p:cNvSpPr txBox="1"/>
            <p:nvPr/>
          </p:nvSpPr>
          <p:spPr>
            <a:xfrm>
              <a:off x="4005" y="4935"/>
              <a:ext cx="468" cy="1004"/>
            </a:xfrm>
            <a:prstGeom prst="rect">
              <a:avLst/>
            </a:prstGeom>
            <a:noFill/>
            <a:ln w="9525">
              <a:noFill/>
            </a:ln>
          </p:spPr>
          <p:txBody>
            <a:bodyPr wrap="square" anchor="t">
              <a:spAutoFit/>
            </a:bodyPr>
            <a:lstStyle/>
            <a:p>
              <a:pPr lvl="0">
                <a:lnSpc>
                  <a:spcPct val="135000"/>
                </a:lnSpc>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093" name="Text Box 53"/>
            <p:cNvSpPr txBox="1"/>
            <p:nvPr/>
          </p:nvSpPr>
          <p:spPr>
            <a:xfrm>
              <a:off x="3945" y="6675"/>
              <a:ext cx="468" cy="1004"/>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2094" name="AutoShape 49"/>
            <p:cNvSpPr/>
            <p:nvPr/>
          </p:nvSpPr>
          <p:spPr>
            <a:xfrm>
              <a:off x="6533" y="7910"/>
              <a:ext cx="1925" cy="73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b="1" dirty="0">
                  <a:solidFill>
                    <a:srgbClr val="0000CC"/>
                  </a:solidFill>
                  <a:latin typeface="宋体" panose="02010600030101010101" pitchFamily="2" charset="-122"/>
                  <a:ea typeface="宋体" panose="02010600030101010101" pitchFamily="2" charset="-122"/>
                </a:rPr>
                <a:t>属于</a:t>
              </a:r>
              <a:endParaRPr lang="zh-CN" altLang="en-US" dirty="0">
                <a:latin typeface="Arial" panose="020B0604020202020204" pitchFamily="34" charset="0"/>
                <a:ea typeface="宋体" panose="02010600030101010101" pitchFamily="2" charset="-122"/>
              </a:endParaRPr>
            </a:p>
          </p:txBody>
        </p:sp>
        <p:sp>
          <p:nvSpPr>
            <p:cNvPr id="2095" name="Line 50"/>
            <p:cNvSpPr/>
            <p:nvPr/>
          </p:nvSpPr>
          <p:spPr>
            <a:xfrm flipV="1">
              <a:off x="5110" y="8278"/>
              <a:ext cx="1538" cy="0"/>
            </a:xfrm>
            <a:prstGeom prst="line">
              <a:avLst/>
            </a:prstGeom>
            <a:ln w="50800" cap="flat" cmpd="sng">
              <a:solidFill>
                <a:srgbClr val="CC0000"/>
              </a:solidFill>
              <a:prstDash val="solid"/>
              <a:round/>
              <a:headEnd type="none" w="med" len="med"/>
              <a:tailEnd type="none" w="med" len="med"/>
            </a:ln>
          </p:spPr>
        </p:sp>
        <p:sp>
          <p:nvSpPr>
            <p:cNvPr id="2096" name="Line 50"/>
            <p:cNvSpPr/>
            <p:nvPr/>
          </p:nvSpPr>
          <p:spPr>
            <a:xfrm flipH="1" flipV="1">
              <a:off x="8275" y="8278"/>
              <a:ext cx="1628" cy="0"/>
            </a:xfrm>
            <a:prstGeom prst="line">
              <a:avLst/>
            </a:prstGeom>
            <a:ln w="50800" cap="flat" cmpd="sng">
              <a:solidFill>
                <a:srgbClr val="CC0000"/>
              </a:solidFill>
              <a:prstDash val="solid"/>
              <a:round/>
              <a:headEnd type="none" w="med" len="med"/>
              <a:tailEnd type="triangle" w="med" len="lg"/>
            </a:ln>
          </p:spPr>
        </p:sp>
        <p:sp>
          <p:nvSpPr>
            <p:cNvPr id="2097" name="Text Box 53"/>
            <p:cNvSpPr txBox="1"/>
            <p:nvPr/>
          </p:nvSpPr>
          <p:spPr>
            <a:xfrm>
              <a:off x="8925" y="7333"/>
              <a:ext cx="470" cy="1004"/>
            </a:xfrm>
            <a:prstGeom prst="rect">
              <a:avLst/>
            </a:prstGeom>
            <a:noFill/>
            <a:ln w="9525">
              <a:noFill/>
            </a:ln>
          </p:spPr>
          <p:txBody>
            <a:bodyPr wrap="square" anchor="t">
              <a:spAutoFit/>
            </a:bodyPr>
            <a:lstStyle/>
            <a:p>
              <a:pPr lvl="0">
                <a:lnSpc>
                  <a:spcPct val="135000"/>
                </a:lnSpc>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098" name="Text Box 53"/>
            <p:cNvSpPr txBox="1"/>
            <p:nvPr/>
          </p:nvSpPr>
          <p:spPr>
            <a:xfrm>
              <a:off x="5763" y="7355"/>
              <a:ext cx="467" cy="1004"/>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grpSp>
      <p:graphicFrame>
        <p:nvGraphicFramePr>
          <p:cNvPr id="50" name="表格 49"/>
          <p:cNvGraphicFramePr/>
          <p:nvPr>
            <p:custDataLst>
              <p:tags r:id="rId1"/>
            </p:custDataLst>
          </p:nvPr>
        </p:nvGraphicFramePr>
        <p:xfrm>
          <a:off x="3477895" y="1347470"/>
          <a:ext cx="4934585" cy="1914525"/>
        </p:xfrm>
        <a:graphic>
          <a:graphicData uri="http://schemas.openxmlformats.org/drawingml/2006/table">
            <a:tbl>
              <a:tblPr firstRow="1" bandRow="1">
                <a:tableStyleId>{5C22544A-7EE6-4342-B048-85BDC9FD1C3A}</a:tableStyleId>
              </a:tblPr>
              <a:tblGrid>
                <a:gridCol w="1156335"/>
                <a:gridCol w="728345"/>
                <a:gridCol w="679450"/>
                <a:gridCol w="1097915"/>
                <a:gridCol w="1272540"/>
              </a:tblGrid>
              <a:tr h="367030">
                <a:tc>
                  <a:txBody>
                    <a:bodyPr/>
                    <a:lstStyle/>
                    <a:p>
                      <a:pPr>
                        <a:lnSpc>
                          <a:spcPct val="100000"/>
                        </a:lnSpc>
                        <a:buNone/>
                      </a:pPr>
                      <a:r>
                        <a:rPr lang="zh-CN" altLang="en-US">
                          <a:solidFill>
                            <a:schemeClr val="tx1"/>
                          </a:solidFill>
                        </a:rPr>
                        <a:t>工作证号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出生年</a:t>
                      </a:r>
                      <a:endParaRPr lang="zh-CN" altLang="en-US">
                        <a:solidFill>
                          <a:schemeClr val="tx1"/>
                        </a:solidFill>
                      </a:endParaRPr>
                    </a:p>
                  </a:txBody>
                  <a:tcPr/>
                </a:tc>
                <a:tc>
                  <a:txBody>
                    <a:bodyPr/>
                    <a:lstStyle/>
                    <a:p>
                      <a:pPr>
                        <a:lnSpc>
                          <a:spcPct val="100000"/>
                        </a:lnSpc>
                        <a:buNone/>
                      </a:pPr>
                      <a:r>
                        <a:rPr lang="zh-CN" altLang="en-US">
                          <a:solidFill>
                            <a:schemeClr val="tx1"/>
                          </a:solidFill>
                        </a:rPr>
                        <a:t>公司名称</a:t>
                      </a:r>
                      <a:endParaRPr lang="zh-CN" altLang="en-US">
                        <a:solidFill>
                          <a:schemeClr val="tx1"/>
                        </a:solidFill>
                      </a:endParaRPr>
                    </a:p>
                  </a:txBody>
                  <a:tcPr/>
                </a:tc>
              </a:tr>
              <a:tr h="365760">
                <a:tc>
                  <a:txBody>
                    <a:bodyPr/>
                    <a:lstStyle/>
                    <a:p>
                      <a:pPr>
                        <a:lnSpc>
                          <a:spcPct val="100000"/>
                        </a:lnSpc>
                        <a:buNone/>
                      </a:pPr>
                      <a:r>
                        <a:rPr lang="en-US" altLang="zh-CN"/>
                        <a:t>100201</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en-US" altLang="zh-CN"/>
                        <a:t>XX</a:t>
                      </a:r>
                      <a:r>
                        <a:rPr lang="zh-CN" altLang="en-US"/>
                        <a:t>影业</a:t>
                      </a:r>
                      <a:endParaRPr lang="zh-CN" altLang="en-US"/>
                    </a:p>
                  </a:txBody>
                  <a:tcPr/>
                </a:tc>
              </a:tr>
              <a:tr h="393065">
                <a:tc>
                  <a:txBody>
                    <a:bodyPr/>
                    <a:lstStyle/>
                    <a:p>
                      <a:pPr>
                        <a:lnSpc>
                          <a:spcPct val="100000"/>
                        </a:lnSpc>
                        <a:buNone/>
                      </a:pPr>
                      <a:r>
                        <a:rPr lang="en-US" altLang="zh-CN" sz="1800">
                          <a:sym typeface="+mn-ea"/>
                        </a:rPr>
                        <a:t>100202</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en-US" altLang="zh-CN" sz="1800">
                          <a:sym typeface="+mn-ea"/>
                        </a:rPr>
                        <a:t>XX</a:t>
                      </a:r>
                      <a:r>
                        <a:rPr lang="zh-CN" altLang="en-US" sz="1800">
                          <a:sym typeface="+mn-ea"/>
                        </a:rPr>
                        <a:t>影业</a:t>
                      </a:r>
                      <a:endParaRPr lang="zh-CN" altLang="en-US"/>
                    </a:p>
                  </a:txBody>
                  <a:tcPr/>
                </a:tc>
              </a:tr>
              <a:tr h="394335">
                <a:tc>
                  <a:txBody>
                    <a:bodyPr/>
                    <a:lstStyle/>
                    <a:p>
                      <a:pPr>
                        <a:lnSpc>
                          <a:spcPct val="100000"/>
                        </a:lnSpc>
                        <a:buNone/>
                      </a:pPr>
                      <a:r>
                        <a:rPr lang="en-US" altLang="zh-CN" sz="1800">
                          <a:sym typeface="+mn-ea"/>
                        </a:rPr>
                        <a:t>100203</a:t>
                      </a:r>
                      <a:endParaRPr lang="en-US" altLang="zh-CN"/>
                    </a:p>
                  </a:txBody>
                  <a:tcPr/>
                </a:tc>
                <a:tc>
                  <a:txBody>
                    <a:bodyPr/>
                    <a:lstStyle/>
                    <a:p>
                      <a:pPr>
                        <a:lnSpc>
                          <a:spcPct val="100000"/>
                        </a:lnSpc>
                        <a:buNone/>
                      </a:pPr>
                      <a:r>
                        <a:rPr lang="zh-CN" altLang="en-US"/>
                        <a:t>何</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c>
                  <a:txBody>
                    <a:bodyPr/>
                    <a:lstStyle/>
                    <a:p>
                      <a:pPr>
                        <a:lnSpc>
                          <a:spcPct val="100000"/>
                        </a:lnSpc>
                        <a:buNone/>
                      </a:pPr>
                      <a:r>
                        <a:rPr lang="en-US" altLang="zh-CN" sz="1800">
                          <a:sym typeface="+mn-ea"/>
                        </a:rPr>
                        <a:t>XX</a:t>
                      </a:r>
                      <a:r>
                        <a:rPr lang="zh-CN" altLang="en-US" sz="1800">
                          <a:sym typeface="+mn-ea"/>
                        </a:rPr>
                        <a:t>影业</a:t>
                      </a:r>
                      <a:endParaRPr lang="zh-CN" altLang="en-US"/>
                    </a:p>
                  </a:txBody>
                  <a:tcPr/>
                </a:tc>
              </a:tr>
              <a:tr h="394335">
                <a:tc>
                  <a:txBody>
                    <a:bodyPr/>
                    <a:lstStyle/>
                    <a:p>
                      <a:pPr>
                        <a:lnSpc>
                          <a:spcPct val="100000"/>
                        </a:lnSpc>
                        <a:buNone/>
                      </a:pPr>
                      <a:r>
                        <a:rPr lang="en-US" altLang="zh-CN" sz="1800">
                          <a:sym typeface="+mn-ea"/>
                        </a:rPr>
                        <a:t>100204</a:t>
                      </a:r>
                      <a:endParaRPr lang="en-US" altLang="zh-CN"/>
                    </a:p>
                  </a:txBody>
                  <a:tcPr/>
                </a:tc>
                <a:tc>
                  <a:txBody>
                    <a:bodyPr/>
                    <a:lstStyle/>
                    <a:p>
                      <a:pPr>
                        <a:lnSpc>
                          <a:spcPct val="100000"/>
                        </a:lnSpc>
                        <a:buNone/>
                      </a:pPr>
                      <a:r>
                        <a:rPr lang="zh-CN" altLang="en-US"/>
                        <a:t>肖</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en-US" altLang="zh-CN"/>
                        <a:t>XX</a:t>
                      </a:r>
                      <a:r>
                        <a:rPr lang="zh-CN" altLang="en-US"/>
                        <a:t>工作室</a:t>
                      </a:r>
                      <a:endParaRPr lang="zh-CN" altLang="en-US"/>
                    </a:p>
                  </a:txBody>
                  <a:tcPr/>
                </a:tc>
              </a:tr>
            </a:tbl>
          </a:graphicData>
        </a:graphic>
      </p:graphicFrame>
      <p:graphicFrame>
        <p:nvGraphicFramePr>
          <p:cNvPr id="7" name="表格 6"/>
          <p:cNvGraphicFramePr/>
          <p:nvPr>
            <p:custDataLst>
              <p:tags r:id="rId2"/>
            </p:custDataLst>
          </p:nvPr>
        </p:nvGraphicFramePr>
        <p:xfrm>
          <a:off x="3477895" y="3535045"/>
          <a:ext cx="4934585" cy="1125855"/>
        </p:xfrm>
        <a:graphic>
          <a:graphicData uri="http://schemas.openxmlformats.org/drawingml/2006/table">
            <a:tbl>
              <a:tblPr firstRow="1" bandRow="1">
                <a:tableStyleId>{5C22544A-7EE6-4342-B048-85BDC9FD1C3A}</a:tableStyleId>
              </a:tblPr>
              <a:tblGrid>
                <a:gridCol w="1156335"/>
                <a:gridCol w="728345"/>
                <a:gridCol w="679450"/>
                <a:gridCol w="1097915"/>
                <a:gridCol w="1272540"/>
              </a:tblGrid>
              <a:tr h="367030">
                <a:tc>
                  <a:txBody>
                    <a:bodyPr/>
                    <a:lstStyle/>
                    <a:p>
                      <a:pPr>
                        <a:lnSpc>
                          <a:spcPct val="100000"/>
                        </a:lnSpc>
                        <a:buNone/>
                      </a:pPr>
                      <a:r>
                        <a:rPr lang="zh-CN" altLang="en-US">
                          <a:solidFill>
                            <a:schemeClr val="tx1"/>
                          </a:solidFill>
                        </a:rPr>
                        <a:t>工作证号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出生年</a:t>
                      </a:r>
                      <a:endParaRPr lang="zh-CN" altLang="en-US">
                        <a:solidFill>
                          <a:schemeClr val="tx1"/>
                        </a:solidFill>
                      </a:endParaRPr>
                    </a:p>
                  </a:txBody>
                  <a:tcPr/>
                </a:tc>
                <a:tc>
                  <a:txBody>
                    <a:bodyPr/>
                    <a:lstStyle/>
                    <a:p>
                      <a:pPr>
                        <a:lnSpc>
                          <a:spcPct val="100000"/>
                        </a:lnSpc>
                        <a:buNone/>
                      </a:pPr>
                      <a:r>
                        <a:rPr lang="zh-CN" altLang="en-US">
                          <a:solidFill>
                            <a:schemeClr val="tx1"/>
                          </a:solidFill>
                        </a:rPr>
                        <a:t>公司名称</a:t>
                      </a:r>
                      <a:endParaRPr lang="zh-CN" altLang="en-US">
                        <a:solidFill>
                          <a:schemeClr val="tx1"/>
                        </a:solidFill>
                      </a:endParaRPr>
                    </a:p>
                  </a:txBody>
                  <a:tcPr/>
                </a:tc>
              </a:tr>
              <a:tr h="365760">
                <a:tc>
                  <a:txBody>
                    <a:bodyPr/>
                    <a:lstStyle/>
                    <a:p>
                      <a:pPr>
                        <a:lnSpc>
                          <a:spcPct val="100000"/>
                        </a:lnSpc>
                        <a:buNone/>
                      </a:pPr>
                      <a:r>
                        <a:rPr lang="en-US" altLang="zh-CN"/>
                        <a:t>100111</a:t>
                      </a:r>
                      <a:endParaRPr lang="en-US" altLang="zh-CN"/>
                    </a:p>
                  </a:txBody>
                  <a:tcPr/>
                </a:tc>
                <a:tc>
                  <a:txBody>
                    <a:bodyPr/>
                    <a:lstStyle/>
                    <a:p>
                      <a:pPr>
                        <a:lnSpc>
                          <a:spcPct val="100000"/>
                        </a:lnSpc>
                        <a:buNone/>
                      </a:pPr>
                      <a:r>
                        <a:rPr lang="zh-CN" altLang="en-US"/>
                        <a:t>陈</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1967-07</a:t>
                      </a:r>
                      <a:endParaRPr lang="en-US" altLang="zh-CN"/>
                    </a:p>
                  </a:txBody>
                  <a:tcPr/>
                </a:tc>
                <a:tc>
                  <a:txBody>
                    <a:bodyPr/>
                    <a:lstStyle/>
                    <a:p>
                      <a:pPr>
                        <a:lnSpc>
                          <a:spcPct val="100000"/>
                        </a:lnSpc>
                        <a:buNone/>
                      </a:pPr>
                      <a:r>
                        <a:rPr lang="en-US" altLang="zh-CN"/>
                        <a:t>XX</a:t>
                      </a:r>
                      <a:r>
                        <a:rPr lang="zh-CN" altLang="en-US"/>
                        <a:t>影业</a:t>
                      </a:r>
                      <a:endParaRPr lang="zh-CN" altLang="en-US"/>
                    </a:p>
                  </a:txBody>
                  <a:tcPr/>
                </a:tc>
              </a:tr>
              <a:tr h="393065">
                <a:tc>
                  <a:txBody>
                    <a:bodyPr/>
                    <a:lstStyle/>
                    <a:p>
                      <a:pPr>
                        <a:lnSpc>
                          <a:spcPct val="100000"/>
                        </a:lnSpc>
                        <a:buNone/>
                      </a:pPr>
                      <a:r>
                        <a:rPr lang="en-US" altLang="zh-CN" sz="1800">
                          <a:sym typeface="+mn-ea"/>
                        </a:rPr>
                        <a:t>100202</a:t>
                      </a:r>
                      <a:endParaRPr lang="en-US" altLang="zh-CN"/>
                    </a:p>
                  </a:txBody>
                  <a:tcPr/>
                </a:tc>
                <a:tc>
                  <a:txBody>
                    <a:bodyPr/>
                    <a:lstStyle/>
                    <a:p>
                      <a:pPr>
                        <a:lnSpc>
                          <a:spcPct val="100000"/>
                        </a:lnSpc>
                        <a:buNone/>
                      </a:pPr>
                      <a:r>
                        <a:rPr lang="zh-CN" altLang="en-US"/>
                        <a:t>赵</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en-US" altLang="zh-CN" sz="1800">
                          <a:sym typeface="+mn-ea"/>
                        </a:rPr>
                        <a:t>XX</a:t>
                      </a:r>
                      <a:r>
                        <a:rPr lang="zh-CN" altLang="en-US" sz="1800">
                          <a:sym typeface="+mn-ea"/>
                        </a:rPr>
                        <a:t>影业</a:t>
                      </a:r>
                      <a:endParaRPr lang="zh-CN" altLang="en-US"/>
                    </a:p>
                  </a:txBody>
                  <a:tcPr/>
                </a:tc>
              </a:tr>
            </a:tbl>
          </a:graphicData>
        </a:graphic>
      </p:graphicFrame>
      <p:sp>
        <p:nvSpPr>
          <p:cNvPr id="8" name="椭圆 7"/>
          <p:cNvSpPr/>
          <p:nvPr/>
        </p:nvSpPr>
        <p:spPr>
          <a:xfrm>
            <a:off x="426720" y="1902460"/>
            <a:ext cx="3062605" cy="3175635"/>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右箭头 8"/>
          <p:cNvSpPr/>
          <p:nvPr/>
        </p:nvSpPr>
        <p:spPr>
          <a:xfrm>
            <a:off x="2776855" y="1902460"/>
            <a:ext cx="701040" cy="351790"/>
          </a:xfrm>
          <a:prstGeom prst="ben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椭圆 9"/>
          <p:cNvSpPr/>
          <p:nvPr/>
        </p:nvSpPr>
        <p:spPr>
          <a:xfrm>
            <a:off x="3378200" y="4688840"/>
            <a:ext cx="5757545" cy="1993900"/>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右箭头 10"/>
          <p:cNvSpPr/>
          <p:nvPr/>
        </p:nvSpPr>
        <p:spPr>
          <a:xfrm rot="16200000">
            <a:off x="4013200" y="4565015"/>
            <a:ext cx="363220" cy="403225"/>
          </a:xfrm>
          <a:prstGeom prst="ben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4" name="矩形 3"/>
          <p:cNvSpPr/>
          <p:nvPr/>
        </p:nvSpPr>
        <p:spPr>
          <a:xfrm>
            <a:off x="498475" y="792163"/>
            <a:ext cx="5056188" cy="522287"/>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ppt_x"/>
                                          </p:val>
                                        </p:tav>
                                        <p:tav tm="100000">
                                          <p:val>
                                            <p:strVal val="#ppt_x"/>
                                          </p:val>
                                        </p:tav>
                                      </p:tavLst>
                                    </p:anim>
                                    <p:anim calcmode="lin" valueType="num">
                                      <p:cBhvr additive="base">
                                        <p:cTn id="1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animBg="1"/>
      <p:bldP spid="10" grpId="0" animBg="1"/>
      <p:bldP spid="11"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Rectangle 19"/>
          <p:cNvSpPr/>
          <p:nvPr/>
        </p:nvSpPr>
        <p:spPr>
          <a:xfrm>
            <a:off x="4196715" y="4444365"/>
            <a:ext cx="892175" cy="369570"/>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05000"/>
              </a:lnSpc>
              <a:buNone/>
            </a:pPr>
            <a:r>
              <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rPr>
              <a:t>演员</a:t>
            </a:r>
            <a:endPar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endParaRPr>
          </a:p>
        </p:txBody>
      </p:sp>
      <p:sp>
        <p:nvSpPr>
          <p:cNvPr id="2059" name="Oval 20"/>
          <p:cNvSpPr/>
          <p:nvPr/>
        </p:nvSpPr>
        <p:spPr>
          <a:xfrm>
            <a:off x="2835910" y="4401185"/>
            <a:ext cx="840105" cy="273050"/>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rPr>
              <a:t>出生年</a:t>
            </a:r>
            <a:endPar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endParaRPr>
          </a:p>
        </p:txBody>
      </p:sp>
      <p:sp>
        <p:nvSpPr>
          <p:cNvPr id="2060" name="Oval 21"/>
          <p:cNvSpPr/>
          <p:nvPr/>
        </p:nvSpPr>
        <p:spPr>
          <a:xfrm>
            <a:off x="3601085" y="3717290"/>
            <a:ext cx="1114425" cy="404495"/>
          </a:xfrm>
          <a:prstGeom prst="ellipse">
            <a:avLst/>
          </a:prstGeom>
          <a:solidFill>
            <a:srgbClr val="FFCCFF"/>
          </a:solidFill>
          <a:ln w="9525" cap="flat" cmpd="sng">
            <a:solidFill>
              <a:schemeClr val="tx1"/>
            </a:solidFill>
            <a:prstDash val="solid"/>
            <a:miter/>
            <a:headEnd type="none" w="med" len="med"/>
            <a:tailEnd type="none" w="med" len="med"/>
          </a:ln>
        </p:spPr>
        <p:txBody>
          <a:bodyPr wrap="none" lIns="90170" tIns="46990" rIns="90170" bIns="46990"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工作证号</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61" name="Line 22"/>
          <p:cNvSpPr/>
          <p:nvPr/>
        </p:nvSpPr>
        <p:spPr>
          <a:xfrm>
            <a:off x="4048760" y="4134485"/>
            <a:ext cx="147955" cy="309880"/>
          </a:xfrm>
          <a:prstGeom prst="line">
            <a:avLst/>
          </a:prstGeom>
          <a:ln w="25400" cap="flat" cmpd="sng">
            <a:solidFill>
              <a:srgbClr val="000000"/>
            </a:solidFill>
            <a:prstDash val="solid"/>
            <a:miter/>
            <a:headEnd type="none" w="med" len="med"/>
            <a:tailEnd type="none" w="med" len="med"/>
          </a:ln>
        </p:spPr>
      </p:sp>
      <p:sp>
        <p:nvSpPr>
          <p:cNvPr id="2062" name="Line 23"/>
          <p:cNvSpPr/>
          <p:nvPr/>
        </p:nvSpPr>
        <p:spPr>
          <a:xfrm flipH="1" flipV="1">
            <a:off x="3637915" y="4606925"/>
            <a:ext cx="556895" cy="67310"/>
          </a:xfrm>
          <a:prstGeom prst="line">
            <a:avLst/>
          </a:prstGeom>
          <a:ln w="25400" cap="flat" cmpd="sng">
            <a:solidFill>
              <a:srgbClr val="000000"/>
            </a:solidFill>
            <a:prstDash val="solid"/>
            <a:miter/>
            <a:headEnd type="none" w="med" len="med"/>
            <a:tailEnd type="none" w="med" len="med"/>
          </a:ln>
        </p:spPr>
      </p:sp>
      <p:sp>
        <p:nvSpPr>
          <p:cNvPr id="2063" name="Oval 24"/>
          <p:cNvSpPr/>
          <p:nvPr/>
        </p:nvSpPr>
        <p:spPr>
          <a:xfrm>
            <a:off x="2835910" y="3999865"/>
            <a:ext cx="933450"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2064" name="Oval 25"/>
          <p:cNvSpPr/>
          <p:nvPr/>
        </p:nvSpPr>
        <p:spPr>
          <a:xfrm>
            <a:off x="2748915" y="4686300"/>
            <a:ext cx="914400" cy="35115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dirty="0">
              <a:latin typeface="Arial" panose="020B0604020202020204" pitchFamily="34" charset="0"/>
              <a:ea typeface="宋体" panose="02010600030101010101" pitchFamily="2" charset="-122"/>
            </a:endParaRPr>
          </a:p>
        </p:txBody>
      </p:sp>
      <p:sp>
        <p:nvSpPr>
          <p:cNvPr id="2065" name="Line 26"/>
          <p:cNvSpPr/>
          <p:nvPr/>
        </p:nvSpPr>
        <p:spPr>
          <a:xfrm>
            <a:off x="3701415" y="4281170"/>
            <a:ext cx="488950" cy="325755"/>
          </a:xfrm>
          <a:prstGeom prst="line">
            <a:avLst/>
          </a:prstGeom>
          <a:ln w="25400" cap="flat" cmpd="sng">
            <a:solidFill>
              <a:srgbClr val="000000"/>
            </a:solidFill>
            <a:prstDash val="solid"/>
            <a:miter/>
            <a:headEnd type="none" w="med" len="med"/>
            <a:tailEnd type="none" w="med" len="med"/>
          </a:ln>
        </p:spPr>
      </p:sp>
      <p:sp>
        <p:nvSpPr>
          <p:cNvPr id="2066" name="Line 27"/>
          <p:cNvSpPr/>
          <p:nvPr/>
        </p:nvSpPr>
        <p:spPr>
          <a:xfrm flipH="1">
            <a:off x="3663315" y="4796155"/>
            <a:ext cx="533400" cy="65405"/>
          </a:xfrm>
          <a:prstGeom prst="line">
            <a:avLst/>
          </a:prstGeom>
          <a:ln w="25400" cap="flat" cmpd="sng">
            <a:solidFill>
              <a:srgbClr val="000000"/>
            </a:solidFill>
            <a:prstDash val="solid"/>
            <a:miter/>
            <a:headEnd type="none" w="med" len="med"/>
            <a:tailEnd type="none" w="med" len="med"/>
          </a:ln>
        </p:spPr>
      </p:sp>
      <p:sp>
        <p:nvSpPr>
          <p:cNvPr id="2067" name="Rectangle 19"/>
          <p:cNvSpPr/>
          <p:nvPr/>
        </p:nvSpPr>
        <p:spPr>
          <a:xfrm>
            <a:off x="6231890" y="5433695"/>
            <a:ext cx="892175" cy="369570"/>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05000"/>
              </a:lnSpc>
              <a:buNone/>
            </a:pPr>
            <a:r>
              <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rPr>
              <a:t>导演</a:t>
            </a:r>
            <a:endParaRPr lang="zh-CN" altLang="en-US" dirty="0">
              <a:latin typeface="Arial" panose="020B0604020202020204" pitchFamily="34" charset="0"/>
              <a:ea typeface="宋体" panose="02010600030101010101" pitchFamily="2" charset="-122"/>
            </a:endParaRPr>
          </a:p>
        </p:txBody>
      </p:sp>
      <p:sp>
        <p:nvSpPr>
          <p:cNvPr id="2068" name="Oval 20"/>
          <p:cNvSpPr/>
          <p:nvPr/>
        </p:nvSpPr>
        <p:spPr>
          <a:xfrm>
            <a:off x="7520940" y="5174615"/>
            <a:ext cx="840105" cy="274320"/>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rPr>
              <a:t>出生年</a:t>
            </a:r>
            <a:endParaRPr lang="zh-CN" altLang="en-US" dirty="0">
              <a:latin typeface="Arial" panose="020B0604020202020204" pitchFamily="34" charset="0"/>
              <a:ea typeface="宋体" panose="02010600030101010101" pitchFamily="2" charset="-122"/>
            </a:endParaRPr>
          </a:p>
        </p:txBody>
      </p:sp>
      <p:sp>
        <p:nvSpPr>
          <p:cNvPr id="2069" name="Oval 21"/>
          <p:cNvSpPr/>
          <p:nvPr/>
        </p:nvSpPr>
        <p:spPr>
          <a:xfrm>
            <a:off x="7221220" y="5947410"/>
            <a:ext cx="1114425" cy="386080"/>
          </a:xfrm>
          <a:prstGeom prst="ellipse">
            <a:avLst/>
          </a:prstGeom>
          <a:solidFill>
            <a:srgbClr val="FFCCFF"/>
          </a:solidFill>
          <a:ln w="9525" cap="flat" cmpd="sng">
            <a:solidFill>
              <a:schemeClr val="tx1"/>
            </a:solidFill>
            <a:prstDash val="solid"/>
            <a:round/>
            <a:headEnd type="none" w="med" len="med"/>
            <a:tailEnd type="none" w="med" len="med"/>
          </a:ln>
        </p:spPr>
        <p:txBody>
          <a:bodyPr wrap="none" lIns="90170" tIns="46990" rIns="90170" bIns="46990" anchor="ctr"/>
          <a:lstStyle/>
          <a:p>
            <a:pPr lvl="0" algn="ctr">
              <a:lnSpc>
                <a:spcPct val="135000"/>
              </a:lnSpc>
              <a:buNone/>
            </a:pPr>
            <a:r>
              <a:rPr lang="zh-CN" altLang="en-US" sz="1600" b="1" u="sng" dirty="0">
                <a:solidFill>
                  <a:srgbClr val="0000CC"/>
                </a:solidFill>
                <a:latin typeface="宋体" panose="02010600030101010101" pitchFamily="2" charset="-122"/>
                <a:ea typeface="宋体" panose="02010600030101010101" pitchFamily="2" charset="-122"/>
              </a:rPr>
              <a:t>工作证号</a:t>
            </a:r>
            <a:endParaRPr lang="zh-CN" altLang="en-US" sz="1600" b="1" u="sng" dirty="0">
              <a:solidFill>
                <a:srgbClr val="0000CC"/>
              </a:solidFill>
              <a:latin typeface="宋体" panose="02010600030101010101" pitchFamily="2" charset="-122"/>
              <a:ea typeface="宋体" panose="02010600030101010101" pitchFamily="2" charset="-122"/>
            </a:endParaRPr>
          </a:p>
        </p:txBody>
      </p:sp>
      <p:sp>
        <p:nvSpPr>
          <p:cNvPr id="2070" name="Line 22"/>
          <p:cNvSpPr/>
          <p:nvPr/>
        </p:nvSpPr>
        <p:spPr>
          <a:xfrm>
            <a:off x="7073265" y="5810885"/>
            <a:ext cx="147955" cy="307975"/>
          </a:xfrm>
          <a:prstGeom prst="line">
            <a:avLst/>
          </a:prstGeom>
          <a:ln w="25400" cap="flat" cmpd="sng">
            <a:solidFill>
              <a:srgbClr val="000000"/>
            </a:solidFill>
            <a:prstDash val="solid"/>
            <a:round/>
            <a:headEnd type="none" w="med" len="med"/>
            <a:tailEnd type="none" w="med" len="med"/>
          </a:ln>
        </p:spPr>
      </p:sp>
      <p:sp>
        <p:nvSpPr>
          <p:cNvPr id="2071" name="Line 23"/>
          <p:cNvSpPr/>
          <p:nvPr/>
        </p:nvSpPr>
        <p:spPr>
          <a:xfrm flipH="1">
            <a:off x="7124065" y="5272405"/>
            <a:ext cx="393700" cy="351155"/>
          </a:xfrm>
          <a:prstGeom prst="line">
            <a:avLst/>
          </a:prstGeom>
          <a:ln w="25400" cap="flat" cmpd="sng">
            <a:solidFill>
              <a:srgbClr val="000000"/>
            </a:solidFill>
            <a:prstDash val="solid"/>
            <a:round/>
            <a:headEnd type="none" w="med" len="med"/>
            <a:tailEnd type="none" w="med" len="med"/>
          </a:ln>
        </p:spPr>
      </p:sp>
      <p:sp>
        <p:nvSpPr>
          <p:cNvPr id="2072" name="Oval 24"/>
          <p:cNvSpPr/>
          <p:nvPr/>
        </p:nvSpPr>
        <p:spPr>
          <a:xfrm>
            <a:off x="7272020" y="4702175"/>
            <a:ext cx="934720" cy="365125"/>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2073" name="Oval 25"/>
          <p:cNvSpPr/>
          <p:nvPr/>
        </p:nvSpPr>
        <p:spPr>
          <a:xfrm>
            <a:off x="7659370" y="5506085"/>
            <a:ext cx="912495" cy="350520"/>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dirty="0">
              <a:latin typeface="Arial" panose="020B0604020202020204" pitchFamily="34" charset="0"/>
              <a:ea typeface="宋体" panose="02010600030101010101" pitchFamily="2" charset="-122"/>
            </a:endParaRPr>
          </a:p>
        </p:txBody>
      </p:sp>
      <p:sp>
        <p:nvSpPr>
          <p:cNvPr id="2074" name="Line 26"/>
          <p:cNvSpPr/>
          <p:nvPr/>
        </p:nvSpPr>
        <p:spPr>
          <a:xfrm flipH="1">
            <a:off x="7133590" y="4982210"/>
            <a:ext cx="243205" cy="523875"/>
          </a:xfrm>
          <a:prstGeom prst="line">
            <a:avLst/>
          </a:prstGeom>
          <a:ln w="25400" cap="flat" cmpd="sng">
            <a:solidFill>
              <a:srgbClr val="000000"/>
            </a:solidFill>
            <a:prstDash val="solid"/>
            <a:round/>
            <a:headEnd type="none" w="med" len="med"/>
            <a:tailEnd type="none" w="med" len="med"/>
          </a:ln>
        </p:spPr>
      </p:sp>
      <p:sp>
        <p:nvSpPr>
          <p:cNvPr id="2075" name="Line 27"/>
          <p:cNvSpPr/>
          <p:nvPr/>
        </p:nvSpPr>
        <p:spPr>
          <a:xfrm flipH="1">
            <a:off x="7122795" y="5680075"/>
            <a:ext cx="534670" cy="66040"/>
          </a:xfrm>
          <a:prstGeom prst="line">
            <a:avLst/>
          </a:prstGeom>
          <a:ln w="25400" cap="flat" cmpd="sng">
            <a:solidFill>
              <a:srgbClr val="000000"/>
            </a:solidFill>
            <a:prstDash val="solid"/>
            <a:round/>
            <a:headEnd type="none" w="med" len="med"/>
            <a:tailEnd type="none" w="med" len="med"/>
          </a:ln>
        </p:spPr>
      </p:sp>
      <p:sp>
        <p:nvSpPr>
          <p:cNvPr id="2" name="Rectangle 11"/>
          <p:cNvSpPr/>
          <p:nvPr/>
        </p:nvSpPr>
        <p:spPr>
          <a:xfrm>
            <a:off x="1955165" y="5410200"/>
            <a:ext cx="1238250" cy="428625"/>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电影公司</a:t>
            </a:r>
            <a:endParaRPr lang="zh-CN" altLang="en-US" dirty="0">
              <a:latin typeface="Arial" panose="020B0604020202020204" pitchFamily="34" charset="0"/>
              <a:ea typeface="宋体" panose="02010600030101010101" pitchFamily="2" charset="-122"/>
            </a:endParaRPr>
          </a:p>
        </p:txBody>
      </p:sp>
      <p:sp>
        <p:nvSpPr>
          <p:cNvPr id="2077" name="Oval 14"/>
          <p:cNvSpPr/>
          <p:nvPr/>
        </p:nvSpPr>
        <p:spPr>
          <a:xfrm>
            <a:off x="450215" y="5224145"/>
            <a:ext cx="1104900" cy="3740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公司名称</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78" name="Line 16"/>
          <p:cNvSpPr/>
          <p:nvPr/>
        </p:nvSpPr>
        <p:spPr>
          <a:xfrm>
            <a:off x="1555115" y="5386705"/>
            <a:ext cx="400050" cy="212725"/>
          </a:xfrm>
          <a:prstGeom prst="line">
            <a:avLst/>
          </a:prstGeom>
          <a:ln w="25400" cap="flat" cmpd="sng">
            <a:solidFill>
              <a:srgbClr val="000000"/>
            </a:solidFill>
            <a:prstDash val="solid"/>
            <a:round/>
            <a:headEnd type="none" w="med" len="med"/>
            <a:tailEnd type="none" w="med" len="med"/>
          </a:ln>
        </p:spPr>
      </p:sp>
      <p:sp>
        <p:nvSpPr>
          <p:cNvPr id="2079" name="Oval 12"/>
          <p:cNvSpPr/>
          <p:nvPr/>
        </p:nvSpPr>
        <p:spPr>
          <a:xfrm>
            <a:off x="506095" y="5740400"/>
            <a:ext cx="969645" cy="367665"/>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所在国家</a:t>
            </a:r>
            <a:endParaRPr lang="zh-CN" altLang="en-US" dirty="0">
              <a:latin typeface="Arial" panose="020B0604020202020204" pitchFamily="34" charset="0"/>
              <a:ea typeface="宋体" panose="02010600030101010101" pitchFamily="2" charset="-122"/>
            </a:endParaRPr>
          </a:p>
        </p:txBody>
      </p:sp>
      <p:sp>
        <p:nvSpPr>
          <p:cNvPr id="2080" name="Line 13"/>
          <p:cNvSpPr/>
          <p:nvPr/>
        </p:nvSpPr>
        <p:spPr>
          <a:xfrm flipH="1">
            <a:off x="1424940" y="5703570"/>
            <a:ext cx="535305" cy="211455"/>
          </a:xfrm>
          <a:prstGeom prst="line">
            <a:avLst/>
          </a:prstGeom>
          <a:ln w="25400" cap="flat" cmpd="sng">
            <a:solidFill>
              <a:srgbClr val="000000"/>
            </a:solidFill>
            <a:prstDash val="solid"/>
            <a:round/>
            <a:headEnd type="none" w="med" len="med"/>
            <a:tailEnd type="none" w="med" len="med"/>
          </a:ln>
        </p:spPr>
      </p:sp>
      <p:sp>
        <p:nvSpPr>
          <p:cNvPr id="2090" name="Line 50"/>
          <p:cNvSpPr/>
          <p:nvPr/>
        </p:nvSpPr>
        <p:spPr>
          <a:xfrm>
            <a:off x="4683760" y="4825365"/>
            <a:ext cx="0" cy="596900"/>
          </a:xfrm>
          <a:prstGeom prst="line">
            <a:avLst/>
          </a:prstGeom>
          <a:ln w="50800" cap="flat" cmpd="sng">
            <a:solidFill>
              <a:srgbClr val="CC0000"/>
            </a:solidFill>
            <a:prstDash val="solid"/>
            <a:round/>
            <a:headEnd type="none" w="med" len="med"/>
            <a:tailEnd type="none" w="med" len="lg"/>
          </a:ln>
        </p:spPr>
      </p:sp>
      <p:sp>
        <p:nvSpPr>
          <p:cNvPr id="2092" name="Text Box 53"/>
          <p:cNvSpPr txBox="1"/>
          <p:nvPr/>
        </p:nvSpPr>
        <p:spPr>
          <a:xfrm>
            <a:off x="4753610" y="4862195"/>
            <a:ext cx="297180" cy="589280"/>
          </a:xfrm>
          <a:prstGeom prst="rect">
            <a:avLst/>
          </a:prstGeom>
          <a:noFill/>
          <a:ln w="9525">
            <a:noFill/>
          </a:ln>
        </p:spPr>
        <p:txBody>
          <a:bodyPr wrap="square" anchor="t">
            <a:spAutoFit/>
          </a:bodyPr>
          <a:lstStyle/>
          <a:p>
            <a:pPr lvl="0">
              <a:lnSpc>
                <a:spcPct val="135000"/>
              </a:lnSpc>
              <a:buNone/>
            </a:pPr>
            <a:r>
              <a:rPr lang="en-US" altLang="de-DE" sz="2400" dirty="0">
                <a:solidFill>
                  <a:srgbClr val="0033CC"/>
                </a:solidFill>
                <a:latin typeface="宋体" panose="02010600030101010101" pitchFamily="2" charset="-122"/>
                <a:ea typeface="宋体" panose="02010600030101010101" pitchFamily="2" charset="-122"/>
              </a:rPr>
              <a:t>m</a:t>
            </a:r>
            <a:endParaRPr lang="en-US" altLang="de-DE" sz="2400" dirty="0">
              <a:solidFill>
                <a:srgbClr val="0033CC"/>
              </a:solidFill>
              <a:latin typeface="宋体" panose="02010600030101010101" pitchFamily="2" charset="-122"/>
              <a:ea typeface="宋体" panose="02010600030101010101" pitchFamily="2" charset="-122"/>
            </a:endParaRPr>
          </a:p>
        </p:txBody>
      </p:sp>
      <p:sp>
        <p:nvSpPr>
          <p:cNvPr id="2094" name="AutoShape 49"/>
          <p:cNvSpPr/>
          <p:nvPr/>
        </p:nvSpPr>
        <p:spPr>
          <a:xfrm>
            <a:off x="4101465" y="5402580"/>
            <a:ext cx="1222375" cy="43116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b="1" dirty="0">
                <a:solidFill>
                  <a:srgbClr val="0000CC"/>
                </a:solidFill>
                <a:latin typeface="宋体" panose="02010600030101010101" pitchFamily="2" charset="-122"/>
                <a:ea typeface="宋体" panose="02010600030101010101" pitchFamily="2" charset="-122"/>
              </a:rPr>
              <a:t>属于</a:t>
            </a:r>
            <a:endParaRPr lang="zh-CN" altLang="en-US" dirty="0">
              <a:latin typeface="Arial" panose="020B0604020202020204" pitchFamily="34" charset="0"/>
              <a:ea typeface="宋体" panose="02010600030101010101" pitchFamily="2" charset="-122"/>
            </a:endParaRPr>
          </a:p>
        </p:txBody>
      </p:sp>
      <p:sp>
        <p:nvSpPr>
          <p:cNvPr id="2095" name="Line 50"/>
          <p:cNvSpPr/>
          <p:nvPr/>
        </p:nvSpPr>
        <p:spPr>
          <a:xfrm flipV="1">
            <a:off x="3193415" y="5623560"/>
            <a:ext cx="976630" cy="0"/>
          </a:xfrm>
          <a:prstGeom prst="line">
            <a:avLst/>
          </a:prstGeom>
          <a:ln w="50800" cap="flat" cmpd="sng">
            <a:solidFill>
              <a:srgbClr val="CC0000"/>
            </a:solidFill>
            <a:prstDash val="solid"/>
            <a:round/>
            <a:headEnd type="none" w="med" len="med"/>
            <a:tailEnd type="none" w="med" len="med"/>
          </a:ln>
        </p:spPr>
      </p:sp>
      <p:sp>
        <p:nvSpPr>
          <p:cNvPr id="2096" name="Line 50"/>
          <p:cNvSpPr/>
          <p:nvPr/>
        </p:nvSpPr>
        <p:spPr>
          <a:xfrm flipH="1" flipV="1">
            <a:off x="5203190" y="5623560"/>
            <a:ext cx="1033780" cy="0"/>
          </a:xfrm>
          <a:prstGeom prst="line">
            <a:avLst/>
          </a:prstGeom>
          <a:ln w="50800" cap="flat" cmpd="sng">
            <a:solidFill>
              <a:srgbClr val="CC0000"/>
            </a:solidFill>
            <a:prstDash val="solid"/>
            <a:round/>
            <a:headEnd type="none" w="med" len="med"/>
            <a:tailEnd type="none" w="med" len="lg"/>
          </a:ln>
        </p:spPr>
      </p:sp>
      <p:sp>
        <p:nvSpPr>
          <p:cNvPr id="2097" name="Text Box 53"/>
          <p:cNvSpPr txBox="1"/>
          <p:nvPr/>
        </p:nvSpPr>
        <p:spPr>
          <a:xfrm>
            <a:off x="5615940" y="5068570"/>
            <a:ext cx="298450" cy="589280"/>
          </a:xfrm>
          <a:prstGeom prst="rect">
            <a:avLst/>
          </a:prstGeom>
          <a:noFill/>
          <a:ln w="9525">
            <a:noFill/>
          </a:ln>
        </p:spPr>
        <p:txBody>
          <a:bodyPr wrap="square" anchor="t">
            <a:spAutoFit/>
          </a:bodyPr>
          <a:lstStyle/>
          <a:p>
            <a:pPr lvl="0">
              <a:lnSpc>
                <a:spcPct val="135000"/>
              </a:lnSpc>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098" name="Text Box 53"/>
          <p:cNvSpPr txBox="1"/>
          <p:nvPr/>
        </p:nvSpPr>
        <p:spPr>
          <a:xfrm>
            <a:off x="3608070" y="5081905"/>
            <a:ext cx="296545" cy="589280"/>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graphicFrame>
        <p:nvGraphicFramePr>
          <p:cNvPr id="50" name="表格 49"/>
          <p:cNvGraphicFramePr/>
          <p:nvPr>
            <p:custDataLst>
              <p:tags r:id="rId1"/>
            </p:custDataLst>
          </p:nvPr>
        </p:nvGraphicFramePr>
        <p:xfrm>
          <a:off x="386715" y="1564640"/>
          <a:ext cx="3662045" cy="1914525"/>
        </p:xfrm>
        <a:graphic>
          <a:graphicData uri="http://schemas.openxmlformats.org/drawingml/2006/table">
            <a:tbl>
              <a:tblPr firstRow="1" bandRow="1">
                <a:tableStyleId>{5C22544A-7EE6-4342-B048-85BDC9FD1C3A}</a:tableStyleId>
              </a:tblPr>
              <a:tblGrid>
                <a:gridCol w="1156335"/>
                <a:gridCol w="728345"/>
                <a:gridCol w="679450"/>
                <a:gridCol w="1097915"/>
              </a:tblGrid>
              <a:tr h="367030">
                <a:tc>
                  <a:txBody>
                    <a:bodyPr/>
                    <a:lstStyle/>
                    <a:p>
                      <a:pPr>
                        <a:lnSpc>
                          <a:spcPct val="100000"/>
                        </a:lnSpc>
                        <a:buNone/>
                      </a:pPr>
                      <a:r>
                        <a:rPr lang="zh-CN" altLang="en-US">
                          <a:solidFill>
                            <a:schemeClr val="tx1"/>
                          </a:solidFill>
                        </a:rPr>
                        <a:t>工作证号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出生年</a:t>
                      </a:r>
                      <a:endParaRPr lang="zh-CN" altLang="en-US">
                        <a:solidFill>
                          <a:schemeClr val="tx1"/>
                        </a:solidFill>
                      </a:endParaRPr>
                    </a:p>
                  </a:txBody>
                  <a:tcPr/>
                </a:tc>
              </a:tr>
              <a:tr h="365760">
                <a:tc>
                  <a:txBody>
                    <a:bodyPr/>
                    <a:lstStyle/>
                    <a:p>
                      <a:pPr>
                        <a:lnSpc>
                          <a:spcPct val="100000"/>
                        </a:lnSpc>
                        <a:buNone/>
                      </a:pPr>
                      <a:r>
                        <a:rPr lang="en-US" altLang="zh-CN"/>
                        <a:t>100201</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r>
              <a:tr h="393065">
                <a:tc>
                  <a:txBody>
                    <a:bodyPr/>
                    <a:lstStyle/>
                    <a:p>
                      <a:pPr>
                        <a:lnSpc>
                          <a:spcPct val="100000"/>
                        </a:lnSpc>
                        <a:buNone/>
                      </a:pPr>
                      <a:r>
                        <a:rPr lang="en-US" altLang="zh-CN" sz="1800">
                          <a:sym typeface="+mn-ea"/>
                        </a:rPr>
                        <a:t>100202</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r>
              <a:tr h="394335">
                <a:tc>
                  <a:txBody>
                    <a:bodyPr/>
                    <a:lstStyle/>
                    <a:p>
                      <a:pPr>
                        <a:lnSpc>
                          <a:spcPct val="100000"/>
                        </a:lnSpc>
                        <a:buNone/>
                      </a:pPr>
                      <a:r>
                        <a:rPr lang="en-US" altLang="zh-CN" sz="1800">
                          <a:sym typeface="+mn-ea"/>
                        </a:rPr>
                        <a:t>100203</a:t>
                      </a:r>
                      <a:endParaRPr lang="en-US" altLang="zh-CN"/>
                    </a:p>
                  </a:txBody>
                  <a:tcPr/>
                </a:tc>
                <a:tc>
                  <a:txBody>
                    <a:bodyPr/>
                    <a:lstStyle/>
                    <a:p>
                      <a:pPr>
                        <a:lnSpc>
                          <a:spcPct val="100000"/>
                        </a:lnSpc>
                        <a:buNone/>
                      </a:pPr>
                      <a:r>
                        <a:rPr lang="zh-CN" altLang="en-US"/>
                        <a:t>何</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r>
              <a:tr h="394335">
                <a:tc>
                  <a:txBody>
                    <a:bodyPr/>
                    <a:lstStyle/>
                    <a:p>
                      <a:pPr>
                        <a:lnSpc>
                          <a:spcPct val="100000"/>
                        </a:lnSpc>
                        <a:buNone/>
                      </a:pPr>
                      <a:r>
                        <a:rPr lang="en-US" altLang="zh-CN" sz="1800">
                          <a:sym typeface="+mn-ea"/>
                        </a:rPr>
                        <a:t>100204</a:t>
                      </a:r>
                      <a:endParaRPr lang="en-US" altLang="zh-CN"/>
                    </a:p>
                  </a:txBody>
                  <a:tcPr/>
                </a:tc>
                <a:tc>
                  <a:txBody>
                    <a:bodyPr/>
                    <a:lstStyle/>
                    <a:p>
                      <a:pPr>
                        <a:lnSpc>
                          <a:spcPct val="100000"/>
                        </a:lnSpc>
                        <a:buNone/>
                      </a:pPr>
                      <a:r>
                        <a:rPr lang="zh-CN" altLang="en-US"/>
                        <a:t>肖</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r>
            </a:tbl>
          </a:graphicData>
        </a:graphic>
      </p:graphicFrame>
      <p:graphicFrame>
        <p:nvGraphicFramePr>
          <p:cNvPr id="7" name="表格 6"/>
          <p:cNvGraphicFramePr/>
          <p:nvPr>
            <p:custDataLst>
              <p:tags r:id="rId2"/>
            </p:custDataLst>
          </p:nvPr>
        </p:nvGraphicFramePr>
        <p:xfrm>
          <a:off x="4909820" y="1420495"/>
          <a:ext cx="3662045" cy="1125855"/>
        </p:xfrm>
        <a:graphic>
          <a:graphicData uri="http://schemas.openxmlformats.org/drawingml/2006/table">
            <a:tbl>
              <a:tblPr firstRow="1" bandRow="1">
                <a:tableStyleId>{5C22544A-7EE6-4342-B048-85BDC9FD1C3A}</a:tableStyleId>
              </a:tblPr>
              <a:tblGrid>
                <a:gridCol w="1156335"/>
                <a:gridCol w="728345"/>
                <a:gridCol w="679450"/>
                <a:gridCol w="1097915"/>
              </a:tblGrid>
              <a:tr h="367030">
                <a:tc>
                  <a:txBody>
                    <a:bodyPr/>
                    <a:lstStyle/>
                    <a:p>
                      <a:pPr>
                        <a:lnSpc>
                          <a:spcPct val="100000"/>
                        </a:lnSpc>
                        <a:buNone/>
                      </a:pPr>
                      <a:r>
                        <a:rPr lang="zh-CN" altLang="en-US">
                          <a:solidFill>
                            <a:schemeClr val="tx1"/>
                          </a:solidFill>
                        </a:rPr>
                        <a:t>工作证号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出生年</a:t>
                      </a:r>
                      <a:endParaRPr lang="zh-CN" altLang="en-US">
                        <a:solidFill>
                          <a:schemeClr val="tx1"/>
                        </a:solidFill>
                      </a:endParaRPr>
                    </a:p>
                  </a:txBody>
                  <a:tcPr/>
                </a:tc>
              </a:tr>
              <a:tr h="365760">
                <a:tc>
                  <a:txBody>
                    <a:bodyPr/>
                    <a:lstStyle/>
                    <a:p>
                      <a:pPr>
                        <a:lnSpc>
                          <a:spcPct val="100000"/>
                        </a:lnSpc>
                        <a:buNone/>
                      </a:pPr>
                      <a:r>
                        <a:rPr lang="en-US" altLang="zh-CN"/>
                        <a:t>100111</a:t>
                      </a:r>
                      <a:endParaRPr lang="en-US" altLang="zh-CN"/>
                    </a:p>
                  </a:txBody>
                  <a:tcPr/>
                </a:tc>
                <a:tc>
                  <a:txBody>
                    <a:bodyPr/>
                    <a:lstStyle/>
                    <a:p>
                      <a:pPr>
                        <a:lnSpc>
                          <a:spcPct val="100000"/>
                        </a:lnSpc>
                        <a:buNone/>
                      </a:pPr>
                      <a:r>
                        <a:rPr lang="zh-CN" altLang="en-US"/>
                        <a:t>陈</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1967-07</a:t>
                      </a:r>
                      <a:endParaRPr lang="en-US" altLang="zh-CN"/>
                    </a:p>
                  </a:txBody>
                  <a:tcPr/>
                </a:tc>
              </a:tr>
              <a:tr h="393065">
                <a:tc>
                  <a:txBody>
                    <a:bodyPr/>
                    <a:lstStyle/>
                    <a:p>
                      <a:pPr>
                        <a:lnSpc>
                          <a:spcPct val="100000"/>
                        </a:lnSpc>
                        <a:buNone/>
                      </a:pPr>
                      <a:r>
                        <a:rPr lang="en-US" altLang="zh-CN" sz="1800">
                          <a:sym typeface="+mn-ea"/>
                        </a:rPr>
                        <a:t>100112</a:t>
                      </a:r>
                      <a:endParaRPr lang="en-US" altLang="zh-CN"/>
                    </a:p>
                  </a:txBody>
                  <a:tcPr/>
                </a:tc>
                <a:tc>
                  <a:txBody>
                    <a:bodyPr/>
                    <a:lstStyle/>
                    <a:p>
                      <a:pPr>
                        <a:lnSpc>
                          <a:spcPct val="100000"/>
                        </a:lnSpc>
                        <a:buNone/>
                      </a:pPr>
                      <a:r>
                        <a:rPr lang="zh-CN" altLang="en-US"/>
                        <a:t>赵</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1998-07</a:t>
                      </a:r>
                      <a:endParaRPr lang="en-US" altLang="zh-CN"/>
                    </a:p>
                  </a:txBody>
                  <a:tcPr/>
                </a:tc>
              </a:tr>
            </a:tbl>
          </a:graphicData>
        </a:graphic>
      </p:graphicFrame>
      <p:graphicFrame>
        <p:nvGraphicFramePr>
          <p:cNvPr id="5" name="表格 4"/>
          <p:cNvGraphicFramePr/>
          <p:nvPr>
            <p:custDataLst>
              <p:tags r:id="rId3"/>
            </p:custDataLst>
          </p:nvPr>
        </p:nvGraphicFramePr>
        <p:xfrm>
          <a:off x="4815840" y="2734310"/>
          <a:ext cx="3390900" cy="1125855"/>
        </p:xfrm>
        <a:graphic>
          <a:graphicData uri="http://schemas.openxmlformats.org/drawingml/2006/table">
            <a:tbl>
              <a:tblPr firstRow="1" bandRow="1">
                <a:tableStyleId>{5C22544A-7EE6-4342-B048-85BDC9FD1C3A}</a:tableStyleId>
              </a:tblPr>
              <a:tblGrid>
                <a:gridCol w="1156335"/>
                <a:gridCol w="1111250"/>
                <a:gridCol w="1123315"/>
              </a:tblGrid>
              <a:tr h="367030">
                <a:tc>
                  <a:txBody>
                    <a:bodyPr/>
                    <a:lstStyle/>
                    <a:p>
                      <a:pPr>
                        <a:lnSpc>
                          <a:spcPct val="100000"/>
                        </a:lnSpc>
                        <a:buNone/>
                      </a:pPr>
                      <a:r>
                        <a:rPr lang="zh-CN" altLang="en-US">
                          <a:solidFill>
                            <a:schemeClr val="tx1"/>
                          </a:solidFill>
                        </a:rPr>
                        <a:t>演员证号</a:t>
                      </a:r>
                      <a:endParaRPr lang="zh-CN" altLang="en-US">
                        <a:solidFill>
                          <a:schemeClr val="tx1"/>
                        </a:solidFill>
                      </a:endParaRPr>
                    </a:p>
                  </a:txBody>
                  <a:tcPr/>
                </a:tc>
                <a:tc>
                  <a:txBody>
                    <a:bodyPr/>
                    <a:lstStyle/>
                    <a:p>
                      <a:pPr>
                        <a:lnSpc>
                          <a:spcPct val="100000"/>
                        </a:lnSpc>
                        <a:buNone/>
                      </a:pPr>
                      <a:r>
                        <a:rPr lang="zh-CN" altLang="en-US">
                          <a:solidFill>
                            <a:schemeClr val="tx1"/>
                          </a:solidFill>
                        </a:rPr>
                        <a:t>导演证号</a:t>
                      </a:r>
                      <a:endParaRPr lang="zh-CN" altLang="en-US">
                        <a:solidFill>
                          <a:schemeClr val="tx1"/>
                        </a:solidFill>
                      </a:endParaRPr>
                    </a:p>
                  </a:txBody>
                  <a:tcPr/>
                </a:tc>
                <a:tc>
                  <a:txBody>
                    <a:bodyPr/>
                    <a:lstStyle/>
                    <a:p>
                      <a:pPr>
                        <a:lnSpc>
                          <a:spcPct val="100000"/>
                        </a:lnSpc>
                        <a:buNone/>
                      </a:pPr>
                      <a:r>
                        <a:rPr lang="zh-CN" altLang="en-US">
                          <a:solidFill>
                            <a:schemeClr val="tx1"/>
                          </a:solidFill>
                        </a:rPr>
                        <a:t>公司名称</a:t>
                      </a:r>
                      <a:endParaRPr lang="zh-CN" altLang="en-US">
                        <a:solidFill>
                          <a:schemeClr val="tx1"/>
                        </a:solidFill>
                      </a:endParaRPr>
                    </a:p>
                  </a:txBody>
                  <a:tcPr/>
                </a:tc>
              </a:tr>
              <a:tr h="365760">
                <a:tc>
                  <a:txBody>
                    <a:bodyPr/>
                    <a:lstStyle/>
                    <a:p>
                      <a:pPr>
                        <a:lnSpc>
                          <a:spcPct val="100000"/>
                        </a:lnSpc>
                        <a:buNone/>
                      </a:pPr>
                      <a:r>
                        <a:rPr lang="en-US" altLang="zh-CN"/>
                        <a:t>100201</a:t>
                      </a:r>
                      <a:endParaRPr lang="en-US" altLang="zh-CN"/>
                    </a:p>
                  </a:txBody>
                  <a:tcPr/>
                </a:tc>
                <a:tc>
                  <a:txBody>
                    <a:bodyPr/>
                    <a:lstStyle/>
                    <a:p>
                      <a:pPr>
                        <a:lnSpc>
                          <a:spcPct val="100000"/>
                        </a:lnSpc>
                        <a:buNone/>
                      </a:pPr>
                      <a:r>
                        <a:rPr lang="en-US"/>
                        <a:t>100111</a:t>
                      </a:r>
                      <a:endParaRPr lang="en-US"/>
                    </a:p>
                  </a:txBody>
                  <a:tcPr/>
                </a:tc>
                <a:tc>
                  <a:txBody>
                    <a:bodyPr/>
                    <a:lstStyle/>
                    <a:p>
                      <a:pPr>
                        <a:lnSpc>
                          <a:spcPct val="100000"/>
                        </a:lnSpc>
                        <a:buNone/>
                      </a:pPr>
                      <a:r>
                        <a:rPr lang="en-US" altLang="zh-CN"/>
                        <a:t>XX</a:t>
                      </a:r>
                      <a:r>
                        <a:rPr lang="zh-CN" altLang="en-US"/>
                        <a:t>影业</a:t>
                      </a:r>
                      <a:endParaRPr lang="zh-CN" altLang="en-US"/>
                    </a:p>
                  </a:txBody>
                  <a:tcPr/>
                </a:tc>
              </a:tr>
              <a:tr h="393065">
                <a:tc>
                  <a:txBody>
                    <a:bodyPr/>
                    <a:lstStyle/>
                    <a:p>
                      <a:pPr>
                        <a:lnSpc>
                          <a:spcPct val="100000"/>
                        </a:lnSpc>
                        <a:buNone/>
                      </a:pPr>
                      <a:r>
                        <a:rPr lang="en-US" altLang="zh-CN" sz="1800">
                          <a:sym typeface="+mn-ea"/>
                        </a:rPr>
                        <a:t>100202</a:t>
                      </a:r>
                      <a:endParaRPr lang="en-US" altLang="zh-CN"/>
                    </a:p>
                  </a:txBody>
                  <a:tcPr/>
                </a:tc>
                <a:tc>
                  <a:txBody>
                    <a:bodyPr/>
                    <a:lstStyle/>
                    <a:p>
                      <a:pPr>
                        <a:lnSpc>
                          <a:spcPct val="100000"/>
                        </a:lnSpc>
                        <a:buNone/>
                      </a:pPr>
                      <a:r>
                        <a:rPr lang="en-US" sz="1800">
                          <a:sym typeface="+mn-ea"/>
                        </a:rPr>
                        <a:t>100111</a:t>
                      </a:r>
                      <a:endParaRPr lang="en-US" altLang="zh-CN"/>
                    </a:p>
                  </a:txBody>
                  <a:tcPr/>
                </a:tc>
                <a:tc>
                  <a:txBody>
                    <a:bodyPr/>
                    <a:lstStyle/>
                    <a:p>
                      <a:pPr>
                        <a:lnSpc>
                          <a:spcPct val="100000"/>
                        </a:lnSpc>
                        <a:buNone/>
                      </a:pPr>
                      <a:r>
                        <a:rPr lang="en-US" altLang="zh-CN" sz="1800">
                          <a:sym typeface="+mn-ea"/>
                        </a:rPr>
                        <a:t>XX</a:t>
                      </a:r>
                      <a:r>
                        <a:rPr lang="zh-CN" altLang="en-US" sz="1800">
                          <a:sym typeface="+mn-ea"/>
                        </a:rPr>
                        <a:t>影业</a:t>
                      </a:r>
                      <a:endParaRPr lang="zh-CN" altLang="en-US"/>
                    </a:p>
                  </a:txBody>
                  <a:tcPr/>
                </a:tc>
              </a:tr>
            </a:tbl>
          </a:graphicData>
        </a:graphic>
      </p:graphicFrame>
      <p:sp>
        <p:nvSpPr>
          <p:cNvPr id="6" name="椭圆 5"/>
          <p:cNvSpPr/>
          <p:nvPr/>
        </p:nvSpPr>
        <p:spPr>
          <a:xfrm>
            <a:off x="2425065" y="3499485"/>
            <a:ext cx="2896235" cy="1664970"/>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右箭头 8"/>
          <p:cNvSpPr/>
          <p:nvPr/>
        </p:nvSpPr>
        <p:spPr>
          <a:xfrm rot="16440000">
            <a:off x="1980565" y="3665220"/>
            <a:ext cx="701040" cy="351790"/>
          </a:xfrm>
          <a:prstGeom prst="ben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圆角右箭头 9"/>
          <p:cNvSpPr/>
          <p:nvPr/>
        </p:nvSpPr>
        <p:spPr>
          <a:xfrm rot="16020000" flipV="1">
            <a:off x="7231380" y="3248660"/>
            <a:ext cx="2552065" cy="429260"/>
          </a:xfrm>
          <a:prstGeom prst="ben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椭圆 10"/>
          <p:cNvSpPr/>
          <p:nvPr/>
        </p:nvSpPr>
        <p:spPr>
          <a:xfrm>
            <a:off x="6048375" y="4607560"/>
            <a:ext cx="2896235" cy="1759585"/>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联系 11"/>
          <p:cNvSpPr/>
          <p:nvPr/>
        </p:nvSpPr>
        <p:spPr>
          <a:xfrm>
            <a:off x="3410585" y="5164455"/>
            <a:ext cx="2420620" cy="930910"/>
          </a:xfrm>
          <a:prstGeom prst="flowChartConnector">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右箭头 12"/>
          <p:cNvSpPr/>
          <p:nvPr/>
        </p:nvSpPr>
        <p:spPr>
          <a:xfrm rot="16020000" flipV="1">
            <a:off x="4956810" y="4373245"/>
            <a:ext cx="1576705" cy="429260"/>
          </a:xfrm>
          <a:prstGeom prst="bentArrow">
            <a:avLst/>
          </a:prstGeom>
          <a:gradFill>
            <a:gsLst>
              <a:gs pos="0">
                <a:srgbClr val="14CD68"/>
              </a:gs>
              <a:gs pos="100000">
                <a:srgbClr val="035C7D"/>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3" name="矩形 3"/>
          <p:cNvSpPr/>
          <p:nvPr/>
        </p:nvSpPr>
        <p:spPr>
          <a:xfrm>
            <a:off x="498475" y="792163"/>
            <a:ext cx="5056188" cy="522287"/>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ppt_x"/>
                                          </p:val>
                                        </p:tav>
                                        <p:tav tm="100000">
                                          <p:val>
                                            <p:strVal val="#ppt_x"/>
                                          </p:val>
                                        </p:tav>
                                      </p:tavLst>
                                    </p:anim>
                                    <p:anim calcmode="lin" valueType="num">
                                      <p:cBhvr additive="base">
                                        <p:cTn id="1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2" grpId="0" animBg="1"/>
      <p:bldP spid="13"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p:nvPr/>
        </p:nvSpPr>
        <p:spPr>
          <a:xfrm>
            <a:off x="1127760" y="2346960"/>
            <a:ext cx="1238250" cy="428625"/>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顾客</a:t>
            </a:r>
            <a:endParaRPr lang="zh-CN" altLang="en-US" sz="2000" b="1" dirty="0">
              <a:solidFill>
                <a:srgbClr val="000000"/>
              </a:solidFill>
              <a:latin typeface="宋体" panose="02010600030101010101" pitchFamily="2" charset="-122"/>
              <a:ea typeface="宋体" panose="02010600030101010101" pitchFamily="2" charset="-122"/>
            </a:endParaRPr>
          </a:p>
        </p:txBody>
      </p:sp>
      <p:sp>
        <p:nvSpPr>
          <p:cNvPr id="3" name="Rectangle 11"/>
          <p:cNvSpPr/>
          <p:nvPr/>
        </p:nvSpPr>
        <p:spPr>
          <a:xfrm>
            <a:off x="3458210" y="3285490"/>
            <a:ext cx="1238250" cy="428625"/>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店员</a:t>
            </a:r>
            <a:endParaRPr lang="zh-CN" altLang="en-US" sz="2000" b="1" dirty="0">
              <a:solidFill>
                <a:srgbClr val="000000"/>
              </a:solidFill>
              <a:latin typeface="宋体" panose="02010600030101010101" pitchFamily="2" charset="-122"/>
              <a:ea typeface="宋体" panose="02010600030101010101" pitchFamily="2" charset="-122"/>
            </a:endParaRPr>
          </a:p>
        </p:txBody>
      </p:sp>
      <p:sp>
        <p:nvSpPr>
          <p:cNvPr id="4" name="Rectangle 11"/>
          <p:cNvSpPr/>
          <p:nvPr/>
        </p:nvSpPr>
        <p:spPr>
          <a:xfrm>
            <a:off x="5899150" y="2339340"/>
            <a:ext cx="1238250" cy="428625"/>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商品</a:t>
            </a:r>
            <a:endParaRPr lang="zh-CN" altLang="en-US" sz="2000" b="1" dirty="0">
              <a:solidFill>
                <a:srgbClr val="000000"/>
              </a:solidFill>
              <a:latin typeface="宋体" panose="02010600030101010101" pitchFamily="2" charset="-122"/>
              <a:ea typeface="宋体" panose="02010600030101010101" pitchFamily="2" charset="-122"/>
            </a:endParaRPr>
          </a:p>
        </p:txBody>
      </p:sp>
      <p:sp>
        <p:nvSpPr>
          <p:cNvPr id="5" name="菱形 4"/>
          <p:cNvSpPr/>
          <p:nvPr/>
        </p:nvSpPr>
        <p:spPr>
          <a:xfrm>
            <a:off x="3213735" y="2240280"/>
            <a:ext cx="1727200" cy="641350"/>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购买</a:t>
            </a:r>
            <a:endParaRPr lang="zh-CN" altLang="en-US">
              <a:solidFill>
                <a:schemeClr val="tx1"/>
              </a:solidFill>
            </a:endParaRPr>
          </a:p>
        </p:txBody>
      </p:sp>
      <p:cxnSp>
        <p:nvCxnSpPr>
          <p:cNvPr id="6" name="直接连接符 5"/>
          <p:cNvCxnSpPr/>
          <p:nvPr/>
        </p:nvCxnSpPr>
        <p:spPr>
          <a:xfrm flipV="1">
            <a:off x="2366010" y="2546350"/>
            <a:ext cx="854710" cy="0"/>
          </a:xfrm>
          <a:prstGeom prst="line">
            <a:avLst/>
          </a:prstGeom>
          <a:ln w="41275">
            <a:solidFill>
              <a:srgbClr val="CC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3" idx="0"/>
            <a:endCxn id="5" idx="2"/>
          </p:cNvCxnSpPr>
          <p:nvPr/>
        </p:nvCxnSpPr>
        <p:spPr>
          <a:xfrm flipV="1">
            <a:off x="4077335" y="2891790"/>
            <a:ext cx="0" cy="4038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4940935" y="2546350"/>
            <a:ext cx="958215" cy="15240"/>
          </a:xfrm>
          <a:prstGeom prst="line">
            <a:avLst/>
          </a:prstGeom>
          <a:ln w="41275">
            <a:solidFill>
              <a:srgbClr val="CC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077" name="Oval 14"/>
          <p:cNvSpPr/>
          <p:nvPr/>
        </p:nvSpPr>
        <p:spPr>
          <a:xfrm>
            <a:off x="408940" y="1664335"/>
            <a:ext cx="1104900" cy="3740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顾客编码</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63" name="Oval 24"/>
          <p:cNvSpPr/>
          <p:nvPr/>
        </p:nvSpPr>
        <p:spPr>
          <a:xfrm>
            <a:off x="1432560" y="1474470"/>
            <a:ext cx="757555"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9" name="Oval 24"/>
          <p:cNvSpPr/>
          <p:nvPr/>
        </p:nvSpPr>
        <p:spPr>
          <a:xfrm>
            <a:off x="2190115" y="1603375"/>
            <a:ext cx="757555" cy="304800"/>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 name="Oval 14"/>
          <p:cNvSpPr/>
          <p:nvPr/>
        </p:nvSpPr>
        <p:spPr>
          <a:xfrm>
            <a:off x="2522220" y="3933190"/>
            <a:ext cx="936625" cy="3740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员工号</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11" name="Oval 24"/>
          <p:cNvSpPr/>
          <p:nvPr/>
        </p:nvSpPr>
        <p:spPr>
          <a:xfrm>
            <a:off x="3519805" y="4021455"/>
            <a:ext cx="757555"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12" name="Oval 24"/>
          <p:cNvSpPr/>
          <p:nvPr/>
        </p:nvSpPr>
        <p:spPr>
          <a:xfrm>
            <a:off x="4340860" y="4021455"/>
            <a:ext cx="912495"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入职时间</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3" name="Oval 14"/>
          <p:cNvSpPr/>
          <p:nvPr/>
        </p:nvSpPr>
        <p:spPr>
          <a:xfrm>
            <a:off x="7211060" y="1840865"/>
            <a:ext cx="1049655" cy="3740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商品条码</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14" name="Oval 24"/>
          <p:cNvSpPr/>
          <p:nvPr/>
        </p:nvSpPr>
        <p:spPr>
          <a:xfrm>
            <a:off x="7503160" y="2240280"/>
            <a:ext cx="758190"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商品名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5" name="Oval 24"/>
          <p:cNvSpPr/>
          <p:nvPr/>
        </p:nvSpPr>
        <p:spPr>
          <a:xfrm>
            <a:off x="7440930" y="2626995"/>
            <a:ext cx="902970"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规格型号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6" name="Oval 24"/>
          <p:cNvSpPr/>
          <p:nvPr/>
        </p:nvSpPr>
        <p:spPr>
          <a:xfrm>
            <a:off x="7441565" y="3023870"/>
            <a:ext cx="746125" cy="29273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单价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7" name="Oval 24"/>
          <p:cNvSpPr/>
          <p:nvPr/>
        </p:nvSpPr>
        <p:spPr>
          <a:xfrm>
            <a:off x="3625850" y="1664335"/>
            <a:ext cx="652145"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8" name="Oval 24"/>
          <p:cNvSpPr/>
          <p:nvPr/>
        </p:nvSpPr>
        <p:spPr>
          <a:xfrm>
            <a:off x="4340860" y="1671955"/>
            <a:ext cx="652145"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时间</a:t>
            </a:r>
            <a:endParaRPr lang="zh-CN" altLang="en-US" sz="1600" dirty="0">
              <a:solidFill>
                <a:srgbClr val="0000CC"/>
              </a:solidFill>
              <a:latin typeface="宋体" panose="02010600030101010101" pitchFamily="2" charset="-122"/>
              <a:ea typeface="宋体" panose="02010600030101010101" pitchFamily="2" charset="-122"/>
            </a:endParaRPr>
          </a:p>
        </p:txBody>
      </p:sp>
      <p:cxnSp>
        <p:nvCxnSpPr>
          <p:cNvPr id="19" name="直接连接符 18"/>
          <p:cNvCxnSpPr>
            <a:stCxn id="17" idx="4"/>
            <a:endCxn id="5" idx="0"/>
          </p:cNvCxnSpPr>
          <p:nvPr/>
        </p:nvCxnSpPr>
        <p:spPr>
          <a:xfrm>
            <a:off x="3952240" y="2040890"/>
            <a:ext cx="125095" cy="2095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endCxn id="5" idx="0"/>
          </p:cNvCxnSpPr>
          <p:nvPr/>
        </p:nvCxnSpPr>
        <p:spPr>
          <a:xfrm flipH="1">
            <a:off x="4077335" y="2039620"/>
            <a:ext cx="467360" cy="2108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3" idx="3"/>
          </p:cNvCxnSpPr>
          <p:nvPr/>
        </p:nvCxnSpPr>
        <p:spPr>
          <a:xfrm flipH="1">
            <a:off x="7137400" y="2170430"/>
            <a:ext cx="227330" cy="401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4" idx="2"/>
          </p:cNvCxnSpPr>
          <p:nvPr/>
        </p:nvCxnSpPr>
        <p:spPr>
          <a:xfrm flipH="1">
            <a:off x="7130415" y="2433955"/>
            <a:ext cx="372745" cy="1435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5" idx="2"/>
          </p:cNvCxnSpPr>
          <p:nvPr/>
        </p:nvCxnSpPr>
        <p:spPr>
          <a:xfrm flipH="1" flipV="1">
            <a:off x="7151370" y="2577465"/>
            <a:ext cx="289560" cy="2432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6" idx="2"/>
          </p:cNvCxnSpPr>
          <p:nvPr/>
        </p:nvCxnSpPr>
        <p:spPr>
          <a:xfrm flipH="1" flipV="1">
            <a:off x="7161530" y="2597785"/>
            <a:ext cx="280035" cy="582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3" idx="2"/>
          </p:cNvCxnSpPr>
          <p:nvPr/>
        </p:nvCxnSpPr>
        <p:spPr>
          <a:xfrm flipH="1">
            <a:off x="3086100" y="3724275"/>
            <a:ext cx="991235" cy="219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1" idx="0"/>
          </p:cNvCxnSpPr>
          <p:nvPr/>
        </p:nvCxnSpPr>
        <p:spPr>
          <a:xfrm flipH="1">
            <a:off x="3898900" y="3735705"/>
            <a:ext cx="138430" cy="2959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2" idx="0"/>
          </p:cNvCxnSpPr>
          <p:nvPr/>
        </p:nvCxnSpPr>
        <p:spPr>
          <a:xfrm>
            <a:off x="3996055" y="3725545"/>
            <a:ext cx="801370" cy="306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4"/>
          <p:cNvSpPr/>
          <p:nvPr/>
        </p:nvSpPr>
        <p:spPr>
          <a:xfrm>
            <a:off x="4993005" y="1840865"/>
            <a:ext cx="982980"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支付金额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 name="Oval 24"/>
          <p:cNvSpPr/>
          <p:nvPr/>
        </p:nvSpPr>
        <p:spPr>
          <a:xfrm>
            <a:off x="4940935" y="2767965"/>
            <a:ext cx="652145"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找零</a:t>
            </a:r>
            <a:endParaRPr lang="zh-CN" altLang="en-US" sz="1600" dirty="0">
              <a:solidFill>
                <a:srgbClr val="0000CC"/>
              </a:solidFill>
              <a:latin typeface="宋体" panose="02010600030101010101" pitchFamily="2" charset="-122"/>
              <a:ea typeface="宋体" panose="02010600030101010101" pitchFamily="2" charset="-122"/>
            </a:endParaRPr>
          </a:p>
        </p:txBody>
      </p:sp>
      <p:cxnSp>
        <p:nvCxnSpPr>
          <p:cNvPr id="30" name="直接连接符 29"/>
          <p:cNvCxnSpPr>
            <a:stCxn id="28" idx="3"/>
            <a:endCxn id="5" idx="0"/>
          </p:cNvCxnSpPr>
          <p:nvPr/>
        </p:nvCxnSpPr>
        <p:spPr>
          <a:xfrm flipH="1">
            <a:off x="4077335" y="2164080"/>
            <a:ext cx="1059815" cy="863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9" idx="2"/>
          </p:cNvCxnSpPr>
          <p:nvPr/>
        </p:nvCxnSpPr>
        <p:spPr>
          <a:xfrm flipH="1" flipV="1">
            <a:off x="4607560" y="2703195"/>
            <a:ext cx="333375" cy="2584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24"/>
          <p:cNvSpPr/>
          <p:nvPr/>
        </p:nvSpPr>
        <p:spPr>
          <a:xfrm>
            <a:off x="2536825" y="1952625"/>
            <a:ext cx="982980"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支付方式</a:t>
            </a:r>
            <a:endParaRPr lang="zh-CN" altLang="en-US" sz="1600" dirty="0">
              <a:solidFill>
                <a:srgbClr val="0000CC"/>
              </a:solidFill>
              <a:latin typeface="宋体" panose="02010600030101010101" pitchFamily="2" charset="-122"/>
              <a:ea typeface="宋体" panose="02010600030101010101" pitchFamily="2" charset="-122"/>
            </a:endParaRPr>
          </a:p>
        </p:txBody>
      </p:sp>
      <p:cxnSp>
        <p:nvCxnSpPr>
          <p:cNvPr id="33" name="直接连接符 32"/>
          <p:cNvCxnSpPr/>
          <p:nvPr/>
        </p:nvCxnSpPr>
        <p:spPr>
          <a:xfrm flipH="1">
            <a:off x="3281045" y="2235835"/>
            <a:ext cx="798195" cy="577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9" idx="3"/>
          </p:cNvCxnSpPr>
          <p:nvPr/>
        </p:nvCxnSpPr>
        <p:spPr>
          <a:xfrm flipH="1">
            <a:off x="1816735" y="1873885"/>
            <a:ext cx="484505" cy="4832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063" idx="4"/>
          </p:cNvCxnSpPr>
          <p:nvPr/>
        </p:nvCxnSpPr>
        <p:spPr>
          <a:xfrm flipH="1">
            <a:off x="1705610" y="1851025"/>
            <a:ext cx="106045" cy="498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121410" y="2030730"/>
            <a:ext cx="464820" cy="3086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98" name="Text Box 53"/>
          <p:cNvSpPr txBox="1"/>
          <p:nvPr/>
        </p:nvSpPr>
        <p:spPr>
          <a:xfrm>
            <a:off x="2651125" y="2434590"/>
            <a:ext cx="296545" cy="589280"/>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39" name="Text Box 53"/>
          <p:cNvSpPr txBox="1"/>
          <p:nvPr/>
        </p:nvSpPr>
        <p:spPr>
          <a:xfrm>
            <a:off x="3655695" y="2799080"/>
            <a:ext cx="296545" cy="589280"/>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40" name="Text Box 53"/>
          <p:cNvSpPr txBox="1"/>
          <p:nvPr/>
        </p:nvSpPr>
        <p:spPr>
          <a:xfrm>
            <a:off x="5296535" y="2076450"/>
            <a:ext cx="296545" cy="589280"/>
          </a:xfrm>
          <a:prstGeom prst="rect">
            <a:avLst/>
          </a:prstGeom>
          <a:noFill/>
          <a:ln w="9525">
            <a:noFill/>
          </a:ln>
        </p:spPr>
        <p:txBody>
          <a:bodyPr wrap="square" anchor="t">
            <a:spAutoFit/>
          </a:bodyPr>
          <a:lstStyle/>
          <a:p>
            <a:pPr lvl="0">
              <a:lnSpc>
                <a:spcPct val="135000"/>
              </a:lnSpc>
              <a:buNone/>
            </a:pPr>
            <a:r>
              <a:rPr lang="en-US" altLang="zh-CN" sz="2400" dirty="0">
                <a:solidFill>
                  <a:srgbClr val="0033CC"/>
                </a:solidFill>
                <a:latin typeface="宋体" panose="02010600030101010101" pitchFamily="2" charset="-122"/>
                <a:ea typeface="宋体" panose="02010600030101010101" pitchFamily="2" charset="-122"/>
              </a:rPr>
              <a:t>n</a:t>
            </a:r>
            <a:endParaRPr lang="en-US" altLang="zh-CN" sz="2400" dirty="0">
              <a:solidFill>
                <a:srgbClr val="0033CC"/>
              </a:solidFill>
              <a:latin typeface="宋体" panose="02010600030101010101" pitchFamily="2" charset="-122"/>
              <a:ea typeface="宋体" panose="02010600030101010101" pitchFamily="2" charset="-122"/>
            </a:endParaRPr>
          </a:p>
        </p:txBody>
      </p:sp>
      <p:sp>
        <p:nvSpPr>
          <p:cNvPr id="41" name="文本框 40"/>
          <p:cNvSpPr txBox="1"/>
          <p:nvPr/>
        </p:nvSpPr>
        <p:spPr>
          <a:xfrm>
            <a:off x="394335" y="4867910"/>
            <a:ext cx="8501380" cy="82994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t>问题：一次支付包含多个商品的数量，在购买联系中支付方式、时间、支付金额和找零等属性会重复。</a:t>
            </a:r>
            <a:endParaRPr lang="zh-CN" altLang="en-US" sz="2400"/>
          </a:p>
        </p:txBody>
      </p:sp>
      <p:sp>
        <p:nvSpPr>
          <p:cNvPr id="44"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5" name="矩形 3"/>
          <p:cNvSpPr/>
          <p:nvPr/>
        </p:nvSpPr>
        <p:spPr>
          <a:xfrm>
            <a:off x="498475" y="792163"/>
            <a:ext cx="5056188" cy="522287"/>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矩形 3"/>
          <p:cNvSpPr/>
          <p:nvPr/>
        </p:nvSpPr>
        <p:spPr>
          <a:xfrm>
            <a:off x="498475" y="792163"/>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101378" name="Text Box 3"/>
          <p:cNvSpPr txBox="1"/>
          <p:nvPr/>
        </p:nvSpPr>
        <p:spPr>
          <a:xfrm>
            <a:off x="271463" y="1373188"/>
            <a:ext cx="8474075" cy="993775"/>
          </a:xfrm>
          <a:prstGeom prst="rect">
            <a:avLst/>
          </a:prstGeom>
          <a:noFill/>
          <a:ln w="9525">
            <a:noFill/>
          </a:ln>
        </p:spPr>
        <p:txBody>
          <a:bodyPr anchor="t">
            <a:spAutoFit/>
          </a:bodyPr>
          <a:lstStyle/>
          <a:p>
            <a:pPr marL="457200" lvl="0" indent="-457200">
              <a:lnSpc>
                <a:spcPct val="120000"/>
              </a:lnSpc>
              <a:spcBef>
                <a:spcPts val="600"/>
              </a:spcBef>
              <a:buNone/>
            </a:pPr>
            <a:r>
              <a:rPr lang="zh-CN" altLang="en-US" sz="2800" dirty="0">
                <a:latin typeface="宋体" panose="0201060003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在构建</a:t>
            </a:r>
            <a:r>
              <a:rPr lang="en-US" altLang="x-none" sz="2400" dirty="0">
                <a:latin typeface="宋体" panose="02010600030101010101" pitchFamily="2" charset="-122"/>
                <a:ea typeface="宋体" panose="02010600030101010101" pitchFamily="2" charset="-122"/>
              </a:rPr>
              <a:t>E-R</a:t>
            </a:r>
            <a:r>
              <a:rPr lang="zh-CN" altLang="en-US" sz="2400" dirty="0">
                <a:latin typeface="宋体" panose="02010600030101010101" pitchFamily="2" charset="-122"/>
                <a:ea typeface="宋体" panose="02010600030101010101" pitchFamily="2" charset="-122"/>
              </a:rPr>
              <a:t>模型过程中，可能出现连接陷阱问题，连接陷阱通常是由于曲解了某些联系的含义而造成的。</a:t>
            </a:r>
            <a:endParaRPr lang="zh-CN" altLang="en-US" sz="2400" dirty="0">
              <a:latin typeface="宋体" panose="02010600030101010101" pitchFamily="2" charset="-122"/>
              <a:ea typeface="宋体" panose="02010600030101010101" pitchFamily="2" charset="-122"/>
            </a:endParaRPr>
          </a:p>
        </p:txBody>
      </p:sp>
      <p:grpSp>
        <p:nvGrpSpPr>
          <p:cNvPr id="96260" name="组合 8"/>
          <p:cNvGrpSpPr/>
          <p:nvPr/>
        </p:nvGrpSpPr>
        <p:grpSpPr>
          <a:xfrm>
            <a:off x="0" y="2370138"/>
            <a:ext cx="8580438" cy="1628775"/>
            <a:chOff x="0" y="0"/>
            <a:chExt cx="8580437" cy="1628378"/>
          </a:xfrm>
        </p:grpSpPr>
        <p:sp>
          <p:nvSpPr>
            <p:cNvPr id="101380" name="矩形 6"/>
            <p:cNvSpPr/>
            <p:nvPr/>
          </p:nvSpPr>
          <p:spPr>
            <a:xfrm>
              <a:off x="669925" y="0"/>
              <a:ext cx="3997325" cy="631671"/>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连接陷阱主要有两类：</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101381" name="矩形 5"/>
            <p:cNvSpPr/>
            <p:nvPr/>
          </p:nvSpPr>
          <p:spPr>
            <a:xfrm>
              <a:off x="0" y="572860"/>
              <a:ext cx="8580437" cy="1055518"/>
            </a:xfrm>
            <a:prstGeom prst="rect">
              <a:avLst/>
            </a:prstGeom>
            <a:noFill/>
            <a:ln w="9525">
              <a:noFill/>
            </a:ln>
          </p:spPr>
          <p:txBody>
            <a:bodyPr anchor="t">
              <a:spAutoFit/>
            </a:bodyPr>
            <a:lstStyle/>
            <a:p>
              <a:pPr marL="914400" lvl="1" indent="-457200" eaLnBrk="1" hangingPunct="1">
                <a:lnSpc>
                  <a:spcPct val="120000"/>
                </a:lnSpc>
                <a:spcBef>
                  <a:spcPts val="1200"/>
                </a:spcBef>
                <a:buSzPct val="50000"/>
                <a:buNone/>
              </a:pPr>
              <a:r>
                <a:rPr lang="zh-CN" altLang="en-US" sz="2400" dirty="0">
                  <a:latin typeface="宋体" panose="02010600030101010101" pitchFamily="2" charset="-122"/>
                  <a:ea typeface="华文楷体" panose="02010600040101010101" pitchFamily="2" charset="-122"/>
                </a:rPr>
                <a:t>   </a:t>
              </a: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扇形陷阱</a:t>
              </a:r>
              <a:r>
                <a:rPr lang="en-US" altLang="x-none" sz="2400" dirty="0">
                  <a:latin typeface="宋体" panose="02010600030101010101" pitchFamily="2" charset="-122"/>
                  <a:ea typeface="华文楷体" panose="02010600040101010101" pitchFamily="2" charset="-122"/>
                </a:rPr>
                <a:t>—</a:t>
              </a:r>
              <a:r>
                <a:rPr lang="zh-CN" altLang="en-US" sz="2200" dirty="0">
                  <a:latin typeface="宋体" panose="02010600030101010101" pitchFamily="2" charset="-122"/>
                  <a:ea typeface="华文楷体" panose="02010600040101010101" pitchFamily="2" charset="-122"/>
                </a:rPr>
                <a:t>某些特殊实体实例间出现的回路不明确</a:t>
              </a:r>
              <a:endParaRPr lang="en-US" altLang="x-none" sz="2200" dirty="0">
                <a:latin typeface="宋体" panose="02010600030101010101" pitchFamily="2" charset="-122"/>
                <a:ea typeface="华文楷体" panose="02010600040101010101" pitchFamily="2" charset="-122"/>
              </a:endParaRPr>
            </a:p>
            <a:p>
              <a:pPr marL="914400" lvl="1" indent="-457200" eaLnBrk="1" hangingPunct="1">
                <a:lnSpc>
                  <a:spcPct val="120000"/>
                </a:lnSpc>
                <a:spcBef>
                  <a:spcPts val="600"/>
                </a:spcBef>
                <a:buSzPct val="50000"/>
                <a:buNone/>
              </a:pPr>
              <a:r>
                <a:rPr lang="zh-CN" altLang="en-US" sz="2400" dirty="0">
                  <a:latin typeface="宋体" panose="02010600030101010101" pitchFamily="2" charset="-122"/>
                  <a:ea typeface="华文楷体" panose="02010600040101010101" pitchFamily="2" charset="-122"/>
                </a:rPr>
                <a:t>   </a:t>
              </a: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深坑陷阱</a:t>
              </a:r>
              <a:r>
                <a:rPr lang="en-US" altLang="x-none" sz="2400" dirty="0">
                  <a:latin typeface="宋体" panose="02010600030101010101" pitchFamily="2" charset="-122"/>
                  <a:ea typeface="华文楷体" panose="02010600040101010101" pitchFamily="2" charset="-122"/>
                </a:rPr>
                <a:t>—</a:t>
              </a:r>
              <a:r>
                <a:rPr lang="zh-CN" altLang="en-US" sz="2200" dirty="0">
                  <a:latin typeface="宋体" panose="02010600030101010101" pitchFamily="2" charset="-122"/>
                  <a:ea typeface="华文楷体" panose="02010600040101010101" pitchFamily="2" charset="-122"/>
                </a:rPr>
                <a:t>实体间暗示存在联系，但有些实例的回路不通</a:t>
              </a:r>
              <a:endParaRPr lang="zh-CN" altLang="en-US" sz="2200" dirty="0">
                <a:latin typeface="宋体" panose="02010600030101010101" pitchFamily="2" charset="-122"/>
                <a:ea typeface="华文楷体" panose="02010600040101010101" pitchFamily="2" charset="-122"/>
              </a:endParaRPr>
            </a:p>
          </p:txBody>
        </p:sp>
      </p:grpSp>
      <p:sp>
        <p:nvSpPr>
          <p:cNvPr id="101382" name="矩形 8"/>
          <p:cNvSpPr/>
          <p:nvPr/>
        </p:nvSpPr>
        <p:spPr>
          <a:xfrm>
            <a:off x="585788" y="4057650"/>
            <a:ext cx="3667125" cy="1901825"/>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1</a:t>
            </a:r>
            <a:r>
              <a:rPr lang="zh-CN" altLang="en-US" sz="2600" dirty="0">
                <a:solidFill>
                  <a:srgbClr val="0033CC"/>
                </a:solidFill>
                <a:latin typeface="黑体" panose="02010609060101010101" pitchFamily="1" charset="-122"/>
                <a:ea typeface="黑体" panose="02010609060101010101" pitchFamily="1" charset="-122"/>
              </a:rPr>
              <a:t>）扇形陷阱：</a:t>
            </a:r>
            <a:r>
              <a:rPr lang="zh-CN" altLang="en-US" sz="2400" dirty="0">
                <a:latin typeface="宋体" panose="02010600030101010101" pitchFamily="2" charset="-122"/>
                <a:ea typeface="华文楷体" panose="02010600040101010101" pitchFamily="2" charset="-122"/>
              </a:rPr>
              <a:t>当一个实体与其它实体之间存在两个或更多的一对多联系时，可能存在扇形陷阱。</a:t>
            </a:r>
            <a:endParaRPr lang="en-US" altLang="x-none" sz="2400" dirty="0">
              <a:latin typeface="宋体" panose="02010600030101010101" pitchFamily="2" charset="-122"/>
              <a:ea typeface="华文楷体" panose="02010600040101010101" pitchFamily="2" charset="-122"/>
            </a:endParaRPr>
          </a:p>
        </p:txBody>
      </p:sp>
      <p:sp>
        <p:nvSpPr>
          <p:cNvPr id="101383" name="矩形 10"/>
          <p:cNvSpPr/>
          <p:nvPr/>
        </p:nvSpPr>
        <p:spPr>
          <a:xfrm>
            <a:off x="4743450" y="4137025"/>
            <a:ext cx="3667125" cy="1458913"/>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示例：</a:t>
            </a:r>
            <a:r>
              <a:rPr lang="zh-CN" altLang="en-US" sz="2400" dirty="0">
                <a:latin typeface="宋体" panose="02010600030101010101" pitchFamily="2" charset="-122"/>
                <a:ea typeface="华文楷体" panose="02010600040101010101" pitchFamily="2" charset="-122"/>
              </a:rPr>
              <a:t>一个银行有一个或者多个柜台，有一个或者多个人员。</a:t>
            </a:r>
            <a:endParaRPr lang="en-US" altLang="x-none" sz="2400" dirty="0">
              <a:latin typeface="宋体" panose="02010600030101010101" pitchFamily="2" charset="-122"/>
              <a:ea typeface="华文楷体" panose="0201060004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6260"/>
                                        </p:tgtEl>
                                        <p:attrNameLst>
                                          <p:attrName>style.visibility</p:attrName>
                                        </p:attrNameLst>
                                      </p:cBhvr>
                                      <p:to>
                                        <p:strVal val="visible"/>
                                      </p:to>
                                    </p:set>
                                    <p:anim calcmode="lin" valueType="num">
                                      <p:cBhvr additive="base">
                                        <p:cTn id="7" dur="500" fill="hold"/>
                                        <p:tgtEl>
                                          <p:spTgt spid="96260"/>
                                        </p:tgtEl>
                                        <p:attrNameLst>
                                          <p:attrName>ppt_x</p:attrName>
                                        </p:attrNameLst>
                                      </p:cBhvr>
                                      <p:tavLst>
                                        <p:tav tm="0">
                                          <p:val>
                                            <p:strVal val="#ppt_x"/>
                                          </p:val>
                                        </p:tav>
                                        <p:tav tm="100000">
                                          <p:val>
                                            <p:strVal val="#ppt_x"/>
                                          </p:val>
                                        </p:tav>
                                      </p:tavLst>
                                    </p:anim>
                                    <p:anim calcmode="lin" valueType="num">
                                      <p:cBhvr additive="base">
                                        <p:cTn id="8" dur="500" fill="hold"/>
                                        <p:tgtEl>
                                          <p:spTgt spid="962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grpSp>
        <p:nvGrpSpPr>
          <p:cNvPr id="102402" name="组合 19"/>
          <p:cNvGrpSpPr/>
          <p:nvPr/>
        </p:nvGrpSpPr>
        <p:grpSpPr>
          <a:xfrm>
            <a:off x="1041400" y="1597025"/>
            <a:ext cx="4554538" cy="1828800"/>
            <a:chOff x="0" y="0"/>
            <a:chExt cx="4553177" cy="2656398"/>
          </a:xfrm>
        </p:grpSpPr>
        <p:sp>
          <p:nvSpPr>
            <p:cNvPr id="102403" name="Rectangle 14"/>
            <p:cNvSpPr/>
            <p:nvPr/>
          </p:nvSpPr>
          <p:spPr>
            <a:xfrm>
              <a:off x="0" y="0"/>
              <a:ext cx="989919" cy="5368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人员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2404" name="Rectangle 14"/>
            <p:cNvSpPr/>
            <p:nvPr/>
          </p:nvSpPr>
          <p:spPr>
            <a:xfrm>
              <a:off x="50800" y="2068448"/>
              <a:ext cx="989919" cy="47867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银行</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2405" name="Rectangle 14"/>
            <p:cNvSpPr/>
            <p:nvPr/>
          </p:nvSpPr>
          <p:spPr>
            <a:xfrm>
              <a:off x="3563258" y="1948735"/>
              <a:ext cx="989919" cy="58249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柜台</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2406" name="AutoShape 16"/>
            <p:cNvSpPr/>
            <p:nvPr/>
          </p:nvSpPr>
          <p:spPr>
            <a:xfrm>
              <a:off x="43316" y="1054128"/>
              <a:ext cx="1009650" cy="55274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具有</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2407" name="AutoShape 16"/>
            <p:cNvSpPr/>
            <p:nvPr/>
          </p:nvSpPr>
          <p:spPr>
            <a:xfrm>
              <a:off x="1835830" y="1939593"/>
              <a:ext cx="1009650" cy="71680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操作</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2408" name="Line 11"/>
            <p:cNvSpPr/>
            <p:nvPr/>
          </p:nvSpPr>
          <p:spPr>
            <a:xfrm flipV="1">
              <a:off x="549367" y="536895"/>
              <a:ext cx="0" cy="596900"/>
            </a:xfrm>
            <a:prstGeom prst="line">
              <a:avLst/>
            </a:prstGeom>
            <a:ln w="25400" cap="flat" cmpd="sng">
              <a:solidFill>
                <a:srgbClr val="000000"/>
              </a:solidFill>
              <a:prstDash val="solid"/>
              <a:round/>
              <a:headEnd type="none" w="med" len="med"/>
              <a:tailEnd type="none" w="med" len="med"/>
            </a:ln>
          </p:spPr>
        </p:sp>
        <p:sp>
          <p:nvSpPr>
            <p:cNvPr id="102409" name="Line 11"/>
            <p:cNvSpPr/>
            <p:nvPr/>
          </p:nvSpPr>
          <p:spPr>
            <a:xfrm flipH="1" flipV="1">
              <a:off x="556623" y="1603693"/>
              <a:ext cx="0" cy="464754"/>
            </a:xfrm>
            <a:prstGeom prst="line">
              <a:avLst/>
            </a:prstGeom>
            <a:ln w="25400" cap="flat" cmpd="sng">
              <a:solidFill>
                <a:srgbClr val="000000"/>
              </a:solidFill>
              <a:prstDash val="solid"/>
              <a:round/>
              <a:headEnd type="none" w="med" len="med"/>
              <a:tailEnd type="none" w="med" len="med"/>
            </a:ln>
          </p:spPr>
        </p:sp>
        <p:sp>
          <p:nvSpPr>
            <p:cNvPr id="102410" name="Line 11"/>
            <p:cNvSpPr/>
            <p:nvPr/>
          </p:nvSpPr>
          <p:spPr>
            <a:xfrm flipV="1">
              <a:off x="1028338" y="2307273"/>
              <a:ext cx="817924" cy="0"/>
            </a:xfrm>
            <a:prstGeom prst="line">
              <a:avLst/>
            </a:prstGeom>
            <a:ln w="25400" cap="flat" cmpd="sng">
              <a:solidFill>
                <a:srgbClr val="000000"/>
              </a:solidFill>
              <a:prstDash val="solid"/>
              <a:round/>
              <a:headEnd type="none" w="med" len="med"/>
              <a:tailEnd type="none" w="med" len="med"/>
            </a:ln>
          </p:spPr>
        </p:sp>
        <p:sp>
          <p:nvSpPr>
            <p:cNvPr id="102411" name="Line 11"/>
            <p:cNvSpPr/>
            <p:nvPr/>
          </p:nvSpPr>
          <p:spPr>
            <a:xfrm flipV="1">
              <a:off x="2820852" y="2312354"/>
              <a:ext cx="723582" cy="0"/>
            </a:xfrm>
            <a:prstGeom prst="line">
              <a:avLst/>
            </a:prstGeom>
            <a:ln w="25400" cap="flat" cmpd="sng">
              <a:solidFill>
                <a:srgbClr val="000000"/>
              </a:solidFill>
              <a:prstDash val="solid"/>
              <a:round/>
              <a:headEnd type="none" w="med" len="med"/>
              <a:tailEnd type="none" w="med" len="med"/>
            </a:ln>
          </p:spPr>
        </p:sp>
        <p:sp>
          <p:nvSpPr>
            <p:cNvPr id="102412" name="Text Box 47"/>
            <p:cNvSpPr txBox="1"/>
            <p:nvPr/>
          </p:nvSpPr>
          <p:spPr>
            <a:xfrm>
              <a:off x="538945" y="366957"/>
              <a:ext cx="388160" cy="59087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2413" name="Text Box 47"/>
            <p:cNvSpPr txBox="1"/>
            <p:nvPr/>
          </p:nvSpPr>
          <p:spPr>
            <a:xfrm>
              <a:off x="647802" y="1307118"/>
              <a:ext cx="400174"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2414" name="Text Box 47"/>
            <p:cNvSpPr txBox="1"/>
            <p:nvPr/>
          </p:nvSpPr>
          <p:spPr>
            <a:xfrm>
              <a:off x="1242888" y="1517943"/>
              <a:ext cx="313088"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2415" name="Text Box 47"/>
            <p:cNvSpPr txBox="1"/>
            <p:nvPr/>
          </p:nvSpPr>
          <p:spPr>
            <a:xfrm>
              <a:off x="2955573" y="1486624"/>
              <a:ext cx="388160"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sp>
        <p:nvSpPr>
          <p:cNvPr id="102416" name="矩形 21"/>
          <p:cNvSpPr/>
          <p:nvPr/>
        </p:nvSpPr>
        <p:spPr>
          <a:xfrm>
            <a:off x="4859338" y="1757363"/>
            <a:ext cx="3495675" cy="969962"/>
          </a:xfrm>
          <a:prstGeom prst="rect">
            <a:avLst/>
          </a:prstGeom>
          <a:noFill/>
          <a:ln w="9525">
            <a:noFill/>
          </a:ln>
        </p:spPr>
        <p:txBody>
          <a:bodyPr wrap="square" anchor="t">
            <a:spAutoFit/>
          </a:bodyPr>
          <a:lstStyle/>
          <a:p>
            <a:pPr lvl="0" indent="0">
              <a:lnSpc>
                <a:spcPct val="120000"/>
              </a:lnSpc>
              <a:buNone/>
            </a:pPr>
            <a:r>
              <a:rPr lang="zh-CN" altLang="en-US" sz="2400" dirty="0">
                <a:solidFill>
                  <a:srgbClr val="FF0000"/>
                </a:solidFill>
                <a:latin typeface="宋体" panose="02010600030101010101" pitchFamily="2" charset="-122"/>
                <a:ea typeface="华文楷体" panose="02010600040101010101" pitchFamily="2" charset="-122"/>
              </a:rPr>
              <a:t>想知道在某个特定柜台工作的有哪些人员？</a:t>
            </a:r>
            <a:endParaRPr lang="en-US" altLang="x-none" sz="2400" dirty="0">
              <a:solidFill>
                <a:srgbClr val="FF0000"/>
              </a:solidFill>
              <a:latin typeface="宋体" panose="02010600030101010101" pitchFamily="2" charset="-122"/>
              <a:ea typeface="华文楷体" panose="02010600040101010101" pitchFamily="2" charset="-122"/>
            </a:endParaRPr>
          </a:p>
        </p:txBody>
      </p:sp>
      <p:pic>
        <p:nvPicPr>
          <p:cNvPr id="102417" name="Picture 4"/>
          <p:cNvPicPr>
            <a:picLocks noChangeAspect="1"/>
          </p:cNvPicPr>
          <p:nvPr/>
        </p:nvPicPr>
        <p:blipFill>
          <a:blip r:embed="rId1"/>
          <a:stretch>
            <a:fillRect/>
          </a:stretch>
        </p:blipFill>
        <p:spPr>
          <a:xfrm>
            <a:off x="1331913" y="3706813"/>
            <a:ext cx="5954712" cy="2339975"/>
          </a:xfrm>
          <a:prstGeom prst="rect">
            <a:avLst/>
          </a:prstGeom>
          <a:noFill/>
          <a:ln w="9525">
            <a:noFill/>
          </a:ln>
          <a:effectLst>
            <a:prstShdw prst="shdw17" dist="17961" dir="2699999">
              <a:srgbClr val="708688"/>
            </a:prstShdw>
          </a:effectLst>
        </p:spPr>
      </p:pic>
      <p:sp>
        <p:nvSpPr>
          <p:cNvPr id="102418" name="矩形 23"/>
          <p:cNvSpPr/>
          <p:nvPr/>
        </p:nvSpPr>
        <p:spPr>
          <a:xfrm>
            <a:off x="276225" y="5262563"/>
            <a:ext cx="1233488" cy="830262"/>
          </a:xfrm>
          <a:prstGeom prst="rect">
            <a:avLst/>
          </a:prstGeom>
          <a:noFill/>
          <a:ln w="9525">
            <a:noFill/>
          </a:ln>
        </p:spPr>
        <p:txBody>
          <a:bodyPr anchor="t">
            <a:spAutoFit/>
          </a:bodyPr>
          <a:lstStyle/>
          <a:p>
            <a:pPr lvl="0" indent="0">
              <a:lnSpc>
                <a:spcPct val="100000"/>
              </a:lnSpc>
              <a:buNone/>
            </a:pP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模型语义图</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102419" name="矩形 25"/>
          <p:cNvSpPr/>
          <p:nvPr/>
        </p:nvSpPr>
        <p:spPr>
          <a:xfrm>
            <a:off x="7272338" y="4391025"/>
            <a:ext cx="1774825" cy="1627188"/>
          </a:xfrm>
          <a:prstGeom prst="rect">
            <a:avLst/>
          </a:prstGeom>
          <a:noFill/>
          <a:ln w="9525">
            <a:noFill/>
          </a:ln>
        </p:spPr>
        <p:txBody>
          <a:bodyPr wrap="square" anchor="t">
            <a:spAutoFit/>
          </a:bodyPr>
          <a:lstStyle/>
          <a:p>
            <a:pPr lvl="0" indent="0">
              <a:lnSpc>
                <a:spcPct val="120000"/>
              </a:lnSpc>
              <a:buNone/>
            </a:pPr>
            <a:r>
              <a:rPr lang="zh-CN" altLang="en-US" sz="2400" dirty="0">
                <a:solidFill>
                  <a:srgbClr val="FF0000"/>
                </a:solidFill>
                <a:latin typeface="宋体" panose="02010600030101010101" pitchFamily="2" charset="-122"/>
                <a:ea typeface="华文楷体" panose="02010600040101010101" pitchFamily="2" charset="-122"/>
              </a:rPr>
              <a:t>问题：</a:t>
            </a:r>
            <a:r>
              <a:rPr lang="zh-CN" altLang="en-US" sz="2000" dirty="0">
                <a:latin typeface="宋体" panose="02010600030101010101" pitchFamily="2" charset="-122"/>
                <a:ea typeface="华文楷体" panose="02010600040101010101" pitchFamily="2" charset="-122"/>
              </a:rPr>
              <a:t>编号为‘</a:t>
            </a:r>
            <a:r>
              <a:rPr lang="en-US" altLang="x-none" sz="2000" dirty="0">
                <a:latin typeface="宋体" panose="02010600030101010101" pitchFamily="2" charset="-122"/>
                <a:ea typeface="华文楷体" panose="02010600040101010101" pitchFamily="2" charset="-122"/>
              </a:rPr>
              <a:t>110345</a:t>
            </a:r>
            <a:r>
              <a:rPr lang="zh-CN" altLang="en-US" sz="2000" dirty="0">
                <a:latin typeface="宋体" panose="02010600030101010101" pitchFamily="2" charset="-122"/>
                <a:ea typeface="华文楷体" panose="02010600040101010101" pitchFamily="2" charset="-122"/>
              </a:rPr>
              <a:t>’的人员在哪个柜台工作？</a:t>
            </a:r>
            <a:endParaRPr lang="en-US" altLang="x-none" sz="2000" dirty="0">
              <a:latin typeface="宋体" panose="02010600030101010101" pitchFamily="2" charset="-122"/>
              <a:ea typeface="华文楷体" panose="0201060004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grpSp>
        <p:nvGrpSpPr>
          <p:cNvPr id="103426" name="组合 3"/>
          <p:cNvGrpSpPr/>
          <p:nvPr/>
        </p:nvGrpSpPr>
        <p:grpSpPr>
          <a:xfrm>
            <a:off x="882650" y="1552575"/>
            <a:ext cx="4552950" cy="1828800"/>
            <a:chOff x="0" y="0"/>
            <a:chExt cx="4553177" cy="2656398"/>
          </a:xfrm>
        </p:grpSpPr>
        <p:sp>
          <p:nvSpPr>
            <p:cNvPr id="103427" name="Rectangle 14"/>
            <p:cNvSpPr/>
            <p:nvPr/>
          </p:nvSpPr>
          <p:spPr>
            <a:xfrm>
              <a:off x="0" y="0"/>
              <a:ext cx="989919" cy="5368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银行</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3428" name="Rectangle 14"/>
            <p:cNvSpPr/>
            <p:nvPr/>
          </p:nvSpPr>
          <p:spPr>
            <a:xfrm>
              <a:off x="50800" y="2068448"/>
              <a:ext cx="989919" cy="47867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柜台</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3429" name="Rectangle 14"/>
            <p:cNvSpPr/>
            <p:nvPr/>
          </p:nvSpPr>
          <p:spPr>
            <a:xfrm>
              <a:off x="3563258" y="1948735"/>
              <a:ext cx="989919" cy="58249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人员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3430" name="AutoShape 16"/>
            <p:cNvSpPr/>
            <p:nvPr/>
          </p:nvSpPr>
          <p:spPr>
            <a:xfrm>
              <a:off x="43316" y="1054128"/>
              <a:ext cx="1009650" cy="55274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具有</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3431" name="AutoShape 16"/>
            <p:cNvSpPr/>
            <p:nvPr/>
          </p:nvSpPr>
          <p:spPr>
            <a:xfrm>
              <a:off x="1835830" y="1939593"/>
              <a:ext cx="1009650" cy="71680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操作</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3432" name="Line 11"/>
            <p:cNvSpPr/>
            <p:nvPr/>
          </p:nvSpPr>
          <p:spPr>
            <a:xfrm flipV="1">
              <a:off x="549367" y="536895"/>
              <a:ext cx="0" cy="596900"/>
            </a:xfrm>
            <a:prstGeom prst="line">
              <a:avLst/>
            </a:prstGeom>
            <a:ln w="25400" cap="flat" cmpd="sng">
              <a:solidFill>
                <a:srgbClr val="000000"/>
              </a:solidFill>
              <a:prstDash val="solid"/>
              <a:round/>
              <a:headEnd type="none" w="med" len="med"/>
              <a:tailEnd type="none" w="med" len="med"/>
            </a:ln>
          </p:spPr>
        </p:sp>
        <p:sp>
          <p:nvSpPr>
            <p:cNvPr id="103433" name="Line 11"/>
            <p:cNvSpPr/>
            <p:nvPr/>
          </p:nvSpPr>
          <p:spPr>
            <a:xfrm flipH="1" flipV="1">
              <a:off x="556623" y="1603693"/>
              <a:ext cx="0" cy="464754"/>
            </a:xfrm>
            <a:prstGeom prst="line">
              <a:avLst/>
            </a:prstGeom>
            <a:ln w="25400" cap="flat" cmpd="sng">
              <a:solidFill>
                <a:srgbClr val="000000"/>
              </a:solidFill>
              <a:prstDash val="solid"/>
              <a:round/>
              <a:headEnd type="none" w="med" len="med"/>
              <a:tailEnd type="none" w="med" len="med"/>
            </a:ln>
          </p:spPr>
        </p:sp>
        <p:sp>
          <p:nvSpPr>
            <p:cNvPr id="103434" name="Line 11"/>
            <p:cNvSpPr/>
            <p:nvPr/>
          </p:nvSpPr>
          <p:spPr>
            <a:xfrm flipV="1">
              <a:off x="1028338" y="2307273"/>
              <a:ext cx="817924" cy="0"/>
            </a:xfrm>
            <a:prstGeom prst="line">
              <a:avLst/>
            </a:prstGeom>
            <a:ln w="25400" cap="flat" cmpd="sng">
              <a:solidFill>
                <a:srgbClr val="000000"/>
              </a:solidFill>
              <a:prstDash val="solid"/>
              <a:round/>
              <a:headEnd type="none" w="med" len="med"/>
              <a:tailEnd type="none" w="med" len="med"/>
            </a:ln>
          </p:spPr>
        </p:sp>
        <p:sp>
          <p:nvSpPr>
            <p:cNvPr id="103435" name="Line 11"/>
            <p:cNvSpPr/>
            <p:nvPr/>
          </p:nvSpPr>
          <p:spPr>
            <a:xfrm flipV="1">
              <a:off x="2820852" y="2312354"/>
              <a:ext cx="723582" cy="0"/>
            </a:xfrm>
            <a:prstGeom prst="line">
              <a:avLst/>
            </a:prstGeom>
            <a:ln w="25400" cap="flat" cmpd="sng">
              <a:solidFill>
                <a:srgbClr val="000000"/>
              </a:solidFill>
              <a:prstDash val="solid"/>
              <a:round/>
              <a:headEnd type="none" w="med" len="med"/>
              <a:tailEnd type="none" w="med" len="med"/>
            </a:ln>
          </p:spPr>
        </p:sp>
        <p:sp>
          <p:nvSpPr>
            <p:cNvPr id="103436" name="Text Box 47"/>
            <p:cNvSpPr txBox="1"/>
            <p:nvPr/>
          </p:nvSpPr>
          <p:spPr>
            <a:xfrm>
              <a:off x="538945" y="366957"/>
              <a:ext cx="388160" cy="752732"/>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3437" name="Text Box 47"/>
            <p:cNvSpPr txBox="1"/>
            <p:nvPr/>
          </p:nvSpPr>
          <p:spPr>
            <a:xfrm>
              <a:off x="647802" y="1307118"/>
              <a:ext cx="400174"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3438" name="Text Box 47"/>
            <p:cNvSpPr txBox="1"/>
            <p:nvPr/>
          </p:nvSpPr>
          <p:spPr>
            <a:xfrm>
              <a:off x="1242888" y="1517943"/>
              <a:ext cx="313088"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3439" name="Text Box 47"/>
            <p:cNvSpPr txBox="1"/>
            <p:nvPr/>
          </p:nvSpPr>
          <p:spPr>
            <a:xfrm>
              <a:off x="2955573" y="1486624"/>
              <a:ext cx="388160"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pic>
        <p:nvPicPr>
          <p:cNvPr id="103440" name="Picture 2"/>
          <p:cNvPicPr>
            <a:picLocks noChangeAspect="1"/>
          </p:cNvPicPr>
          <p:nvPr/>
        </p:nvPicPr>
        <p:blipFill>
          <a:blip r:embed="rId1"/>
          <a:stretch>
            <a:fillRect/>
          </a:stretch>
        </p:blipFill>
        <p:spPr>
          <a:xfrm>
            <a:off x="1435100" y="3603625"/>
            <a:ext cx="6924675" cy="2495550"/>
          </a:xfrm>
          <a:prstGeom prst="rect">
            <a:avLst/>
          </a:prstGeom>
          <a:noFill/>
          <a:ln w="9525">
            <a:noFill/>
          </a:ln>
          <a:effectLst>
            <a:prstShdw prst="shdw17" dist="17961" dir="2699999">
              <a:srgbClr val="708688"/>
            </a:prstShdw>
          </a:effectLst>
        </p:spPr>
      </p:pic>
      <p:sp>
        <p:nvSpPr>
          <p:cNvPr id="103441" name="矩形 18"/>
          <p:cNvSpPr/>
          <p:nvPr/>
        </p:nvSpPr>
        <p:spPr>
          <a:xfrm>
            <a:off x="363538" y="5262563"/>
            <a:ext cx="1233487" cy="830262"/>
          </a:xfrm>
          <a:prstGeom prst="rect">
            <a:avLst/>
          </a:prstGeom>
          <a:noFill/>
          <a:ln w="9525">
            <a:noFill/>
          </a:ln>
        </p:spPr>
        <p:txBody>
          <a:bodyPr anchor="t">
            <a:spAutoFit/>
          </a:bodyPr>
          <a:lstStyle/>
          <a:p>
            <a:pPr lvl="0" indent="0">
              <a:lnSpc>
                <a:spcPct val="100000"/>
              </a:lnSpc>
              <a:buNone/>
            </a:pP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模型语义图</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103442" name="矩形 19"/>
          <p:cNvSpPr/>
          <p:nvPr/>
        </p:nvSpPr>
        <p:spPr>
          <a:xfrm>
            <a:off x="5614988" y="1292225"/>
            <a:ext cx="2439987" cy="979488"/>
          </a:xfrm>
          <a:prstGeom prst="rect">
            <a:avLst/>
          </a:prstGeom>
          <a:noFill/>
          <a:ln w="9525">
            <a:noFill/>
          </a:ln>
        </p:spPr>
        <p:txBody>
          <a:bodyPr anchor="t">
            <a:spAutoFit/>
          </a:bodyPr>
          <a:lstStyle/>
          <a:p>
            <a:pPr lvl="0" indent="0">
              <a:lnSpc>
                <a:spcPct val="120000"/>
              </a:lnSpc>
              <a:buFont typeface="Wingdings" panose="05000000000000000000" pitchFamily="2" charset="2"/>
              <a:buChar char="p"/>
            </a:pPr>
            <a:r>
              <a:rPr lang="zh-CN" altLang="en-US" sz="2400" dirty="0">
                <a:solidFill>
                  <a:srgbClr val="FF0000"/>
                </a:solidFill>
                <a:latin typeface="宋体" panose="02010600030101010101" pitchFamily="2" charset="-122"/>
                <a:ea typeface="华文楷体" panose="02010600040101010101" pitchFamily="2" charset="-122"/>
              </a:rPr>
              <a:t>消除扇形陷阱后重建的</a:t>
            </a: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104450" name="矩形 4"/>
          <p:cNvSpPr/>
          <p:nvPr/>
        </p:nvSpPr>
        <p:spPr>
          <a:xfrm>
            <a:off x="628650" y="1444625"/>
            <a:ext cx="7891463" cy="1016000"/>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2</a:t>
            </a:r>
            <a:r>
              <a:rPr lang="zh-CN" altLang="en-US" sz="2600" dirty="0">
                <a:solidFill>
                  <a:srgbClr val="0033CC"/>
                </a:solidFill>
                <a:latin typeface="黑体" panose="02010609060101010101" pitchFamily="1" charset="-122"/>
                <a:ea typeface="黑体" panose="02010609060101010101" pitchFamily="1" charset="-122"/>
              </a:rPr>
              <a:t>）深坑陷阱：</a:t>
            </a:r>
            <a:r>
              <a:rPr lang="zh-CN" altLang="en-US" sz="2400" dirty="0">
                <a:latin typeface="宋体" panose="02010600030101010101" pitchFamily="2" charset="-122"/>
                <a:ea typeface="华文楷体" panose="02010600040101010101" pitchFamily="2" charset="-122"/>
              </a:rPr>
              <a:t>实体之间存在联系，但某些实体之间却不存在相应的通路。</a:t>
            </a:r>
            <a:endParaRPr lang="en-US" altLang="x-none" sz="2400" dirty="0">
              <a:latin typeface="宋体" panose="02010600030101010101" pitchFamily="2" charset="-122"/>
              <a:ea typeface="华文楷体" panose="02010600040101010101" pitchFamily="2" charset="-122"/>
            </a:endParaRPr>
          </a:p>
        </p:txBody>
      </p:sp>
      <p:sp>
        <p:nvSpPr>
          <p:cNvPr id="104451" name="矩形 5"/>
          <p:cNvSpPr/>
          <p:nvPr/>
        </p:nvSpPr>
        <p:spPr>
          <a:xfrm>
            <a:off x="739775" y="2366963"/>
            <a:ext cx="7837488" cy="1901825"/>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示例：</a:t>
            </a:r>
            <a:r>
              <a:rPr lang="zh-CN" altLang="en-US" sz="2400" dirty="0">
                <a:latin typeface="宋体" panose="02010600030101010101" pitchFamily="2" charset="-122"/>
                <a:ea typeface="华文楷体" panose="02010600040101010101" pitchFamily="2" charset="-122"/>
              </a:rPr>
              <a:t>一个柜台有一个或者多个人员，每个人员可以进行零次或多次贷款查询。不是所有人员都要进行贷款查询，也不是所有的贷款都被查询到。</a:t>
            </a:r>
            <a:endParaRPr lang="en-US" altLang="x-none" sz="2400" dirty="0">
              <a:latin typeface="宋体" panose="02010600030101010101" pitchFamily="2" charset="-122"/>
              <a:ea typeface="华文楷体" panose="02010600040101010101" pitchFamily="2" charset="-122"/>
            </a:endParaRPr>
          </a:p>
          <a:p>
            <a:pPr lvl="0" indent="0">
              <a:lnSpc>
                <a:spcPct val="120000"/>
              </a:lnSpc>
              <a:buNone/>
            </a:pPr>
            <a:endParaRPr lang="en-US" altLang="x-none" sz="2400" dirty="0">
              <a:latin typeface="宋体" panose="02010600030101010101" pitchFamily="2" charset="-122"/>
              <a:ea typeface="华文楷体" panose="02010600040101010101" pitchFamily="2" charset="-122"/>
            </a:endParaRPr>
          </a:p>
        </p:txBody>
      </p:sp>
      <p:sp>
        <p:nvSpPr>
          <p:cNvPr id="104452" name="矩形 6"/>
          <p:cNvSpPr/>
          <p:nvPr/>
        </p:nvSpPr>
        <p:spPr>
          <a:xfrm>
            <a:off x="803275" y="3854450"/>
            <a:ext cx="2578100" cy="1458913"/>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问题：</a:t>
            </a:r>
            <a:r>
              <a:rPr lang="zh-CN" altLang="en-US" sz="2400" dirty="0">
                <a:latin typeface="宋体" panose="02010600030101010101" pitchFamily="2" charset="-122"/>
                <a:ea typeface="华文楷体" panose="02010600040101010101" pitchFamily="2" charset="-122"/>
              </a:rPr>
              <a:t>每个柜台可以进行哪些贷款查询？</a:t>
            </a:r>
            <a:endParaRPr lang="en-US" altLang="x-none" sz="2400" dirty="0">
              <a:latin typeface="宋体" panose="02010600030101010101" pitchFamily="2" charset="-122"/>
              <a:ea typeface="华文楷体" panose="02010600040101010101" pitchFamily="2" charset="-122"/>
            </a:endParaRPr>
          </a:p>
        </p:txBody>
      </p:sp>
      <p:grpSp>
        <p:nvGrpSpPr>
          <p:cNvPr id="104453" name="组合 7"/>
          <p:cNvGrpSpPr/>
          <p:nvPr/>
        </p:nvGrpSpPr>
        <p:grpSpPr>
          <a:xfrm>
            <a:off x="3871913" y="3962400"/>
            <a:ext cx="4552950" cy="1828800"/>
            <a:chOff x="0" y="0"/>
            <a:chExt cx="4553177" cy="2656398"/>
          </a:xfrm>
        </p:grpSpPr>
        <p:sp>
          <p:nvSpPr>
            <p:cNvPr id="104454" name="Rectangle 14"/>
            <p:cNvSpPr/>
            <p:nvPr/>
          </p:nvSpPr>
          <p:spPr>
            <a:xfrm>
              <a:off x="0" y="0"/>
              <a:ext cx="989919" cy="5368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柜台</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4455" name="Rectangle 14"/>
            <p:cNvSpPr/>
            <p:nvPr/>
          </p:nvSpPr>
          <p:spPr>
            <a:xfrm>
              <a:off x="50800" y="2068448"/>
              <a:ext cx="989919" cy="47867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人员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4456" name="Rectangle 14"/>
            <p:cNvSpPr/>
            <p:nvPr/>
          </p:nvSpPr>
          <p:spPr>
            <a:xfrm>
              <a:off x="3563258" y="1948735"/>
              <a:ext cx="989919" cy="58249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贷款</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4457" name="AutoShape 16"/>
            <p:cNvSpPr/>
            <p:nvPr/>
          </p:nvSpPr>
          <p:spPr>
            <a:xfrm>
              <a:off x="43316" y="1054128"/>
              <a:ext cx="1009650" cy="55274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具有</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4458" name="AutoShape 16"/>
            <p:cNvSpPr/>
            <p:nvPr/>
          </p:nvSpPr>
          <p:spPr>
            <a:xfrm>
              <a:off x="1835830" y="1939593"/>
              <a:ext cx="1009650" cy="71680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操作</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4459" name="Line 11"/>
            <p:cNvSpPr/>
            <p:nvPr/>
          </p:nvSpPr>
          <p:spPr>
            <a:xfrm flipV="1">
              <a:off x="549367" y="536895"/>
              <a:ext cx="0" cy="596900"/>
            </a:xfrm>
            <a:prstGeom prst="line">
              <a:avLst/>
            </a:prstGeom>
            <a:ln w="25400" cap="flat" cmpd="sng">
              <a:solidFill>
                <a:srgbClr val="000000"/>
              </a:solidFill>
              <a:prstDash val="solid"/>
              <a:round/>
              <a:headEnd type="none" w="med" len="med"/>
              <a:tailEnd type="none" w="med" len="med"/>
            </a:ln>
          </p:spPr>
        </p:sp>
        <p:sp>
          <p:nvSpPr>
            <p:cNvPr id="104460" name="Line 11"/>
            <p:cNvSpPr/>
            <p:nvPr/>
          </p:nvSpPr>
          <p:spPr>
            <a:xfrm flipH="1" flipV="1">
              <a:off x="556623" y="1603693"/>
              <a:ext cx="0" cy="464754"/>
            </a:xfrm>
            <a:prstGeom prst="line">
              <a:avLst/>
            </a:prstGeom>
            <a:ln w="25400" cap="flat" cmpd="sng">
              <a:solidFill>
                <a:srgbClr val="000000"/>
              </a:solidFill>
              <a:prstDash val="solid"/>
              <a:round/>
              <a:headEnd type="none" w="med" len="med"/>
              <a:tailEnd type="none" w="med" len="med"/>
            </a:ln>
          </p:spPr>
        </p:sp>
        <p:sp>
          <p:nvSpPr>
            <p:cNvPr id="104461" name="Line 11"/>
            <p:cNvSpPr/>
            <p:nvPr/>
          </p:nvSpPr>
          <p:spPr>
            <a:xfrm flipV="1">
              <a:off x="1028338" y="2307273"/>
              <a:ext cx="817924" cy="0"/>
            </a:xfrm>
            <a:prstGeom prst="line">
              <a:avLst/>
            </a:prstGeom>
            <a:ln w="25400" cap="flat" cmpd="sng">
              <a:solidFill>
                <a:srgbClr val="000000"/>
              </a:solidFill>
              <a:prstDash val="solid"/>
              <a:round/>
              <a:headEnd type="none" w="med" len="med"/>
              <a:tailEnd type="none" w="med" len="med"/>
            </a:ln>
          </p:spPr>
        </p:sp>
        <p:sp>
          <p:nvSpPr>
            <p:cNvPr id="104462" name="Line 11"/>
            <p:cNvSpPr/>
            <p:nvPr/>
          </p:nvSpPr>
          <p:spPr>
            <a:xfrm flipV="1">
              <a:off x="2820852" y="2312354"/>
              <a:ext cx="723582" cy="0"/>
            </a:xfrm>
            <a:prstGeom prst="line">
              <a:avLst/>
            </a:prstGeom>
            <a:ln w="25400" cap="flat" cmpd="sng">
              <a:solidFill>
                <a:srgbClr val="000000"/>
              </a:solidFill>
              <a:prstDash val="solid"/>
              <a:round/>
              <a:headEnd type="none" w="med" len="med"/>
              <a:tailEnd type="none" w="med" len="med"/>
            </a:ln>
          </p:spPr>
        </p:sp>
        <p:sp>
          <p:nvSpPr>
            <p:cNvPr id="104463" name="Text Box 47"/>
            <p:cNvSpPr txBox="1"/>
            <p:nvPr/>
          </p:nvSpPr>
          <p:spPr>
            <a:xfrm>
              <a:off x="538945" y="366957"/>
              <a:ext cx="388160" cy="752732"/>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4464" name="Text Box 47"/>
            <p:cNvSpPr txBox="1"/>
            <p:nvPr/>
          </p:nvSpPr>
          <p:spPr>
            <a:xfrm>
              <a:off x="647802" y="1307118"/>
              <a:ext cx="400174"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4465" name="Text Box 47"/>
            <p:cNvSpPr txBox="1"/>
            <p:nvPr/>
          </p:nvSpPr>
          <p:spPr>
            <a:xfrm>
              <a:off x="1242888" y="1517943"/>
              <a:ext cx="313088"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4466" name="Text Box 47"/>
            <p:cNvSpPr txBox="1"/>
            <p:nvPr/>
          </p:nvSpPr>
          <p:spPr>
            <a:xfrm>
              <a:off x="2955573" y="1486624"/>
              <a:ext cx="388160"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sp>
        <p:nvSpPr>
          <p:cNvPr id="104467" name="矩形 22"/>
          <p:cNvSpPr/>
          <p:nvPr/>
        </p:nvSpPr>
        <p:spPr>
          <a:xfrm>
            <a:off x="5037138" y="3840163"/>
            <a:ext cx="3556000" cy="1323975"/>
          </a:xfrm>
          <a:prstGeom prst="rect">
            <a:avLst/>
          </a:prstGeom>
          <a:noFill/>
          <a:ln w="9525">
            <a:noFill/>
          </a:ln>
        </p:spPr>
        <p:txBody>
          <a:bodyPr anchor="t">
            <a:spAutoFit/>
          </a:bodyPr>
          <a:lstStyle/>
          <a:p>
            <a:pPr lvl="0" indent="0">
              <a:lnSpc>
                <a:spcPct val="100000"/>
              </a:lnSpc>
              <a:buNone/>
            </a:pPr>
            <a:r>
              <a:rPr lang="zh-CN" altLang="en-US" sz="2000" dirty="0">
                <a:solidFill>
                  <a:srgbClr val="FF0000"/>
                </a:solidFill>
                <a:latin typeface="宋体" panose="02010600030101010101" pitchFamily="2" charset="-122"/>
                <a:ea typeface="华文楷体" panose="02010600040101010101" pitchFamily="2" charset="-122"/>
              </a:rPr>
              <a:t>联系“操作”两端的“人员”和“贷款”实体的多样性的最小值为零，说明一些贷款不能通过人员与柜台关联。</a:t>
            </a:r>
            <a:endParaRPr lang="en-US" altLang="x-none" sz="2000" dirty="0">
              <a:solidFill>
                <a:srgbClr val="FF0000"/>
              </a:solidFill>
              <a:latin typeface="宋体" panose="02010600030101010101" pitchFamily="2" charset="-122"/>
              <a:ea typeface="华文楷体" panose="02010600040101010101" pitchFamily="2" charset="-122"/>
            </a:endParaRPr>
          </a:p>
        </p:txBody>
      </p:sp>
      <p:sp>
        <p:nvSpPr>
          <p:cNvPr id="104468" name="矩形 23"/>
          <p:cNvSpPr/>
          <p:nvPr/>
        </p:nvSpPr>
        <p:spPr>
          <a:xfrm>
            <a:off x="3163888" y="5748338"/>
            <a:ext cx="5588000" cy="400050"/>
          </a:xfrm>
          <a:prstGeom prst="rect">
            <a:avLst/>
          </a:prstGeom>
          <a:noFill/>
          <a:ln w="9525">
            <a:noFill/>
          </a:ln>
        </p:spPr>
        <p:txBody>
          <a:bodyPr anchor="t">
            <a:spAutoFit/>
          </a:bodyPr>
          <a:lstStyle/>
          <a:p>
            <a:pPr lvl="0" indent="0">
              <a:lnSpc>
                <a:spcPct val="100000"/>
              </a:lnSpc>
              <a:buNone/>
            </a:pPr>
            <a:r>
              <a:rPr lang="zh-CN" altLang="en-US" sz="2000" dirty="0">
                <a:solidFill>
                  <a:srgbClr val="FF0000"/>
                </a:solidFill>
                <a:latin typeface="宋体" panose="02010600030101010101" pitchFamily="2" charset="-122"/>
                <a:ea typeface="华文楷体" panose="02010600040101010101" pitchFamily="2" charset="-122"/>
              </a:rPr>
              <a:t>“柜台”和“贷款”之间丢失了“提供”联系。</a:t>
            </a:r>
            <a:endParaRPr lang="en-US" altLang="x-none" sz="2000" dirty="0">
              <a:solidFill>
                <a:srgbClr val="FF0000"/>
              </a:solidFill>
              <a:latin typeface="宋体" panose="02010600030101010101" pitchFamily="2" charset="-122"/>
              <a:ea typeface="华文楷体" panose="0201060004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pic>
        <p:nvPicPr>
          <p:cNvPr id="105474" name="Picture 2"/>
          <p:cNvPicPr>
            <a:picLocks noChangeAspect="1"/>
          </p:cNvPicPr>
          <p:nvPr/>
        </p:nvPicPr>
        <p:blipFill>
          <a:blip r:embed="rId1"/>
          <a:stretch>
            <a:fillRect/>
          </a:stretch>
        </p:blipFill>
        <p:spPr>
          <a:xfrm>
            <a:off x="1439863" y="2192338"/>
            <a:ext cx="7137400" cy="2916237"/>
          </a:xfrm>
          <a:prstGeom prst="rect">
            <a:avLst/>
          </a:prstGeom>
          <a:noFill/>
          <a:ln w="9525">
            <a:noFill/>
          </a:ln>
          <a:effectLst>
            <a:prstShdw prst="shdw17" dist="17961" dir="2699999">
              <a:srgbClr val="708688"/>
            </a:prstShdw>
          </a:effectLst>
        </p:spPr>
      </p:pic>
      <p:sp>
        <p:nvSpPr>
          <p:cNvPr id="105475" name="矩形 4"/>
          <p:cNvSpPr/>
          <p:nvPr/>
        </p:nvSpPr>
        <p:spPr>
          <a:xfrm>
            <a:off x="347663" y="4289425"/>
            <a:ext cx="1235075" cy="831850"/>
          </a:xfrm>
          <a:prstGeom prst="rect">
            <a:avLst/>
          </a:prstGeom>
          <a:noFill/>
          <a:ln w="9525">
            <a:noFill/>
          </a:ln>
        </p:spPr>
        <p:txBody>
          <a:bodyPr anchor="t">
            <a:spAutoFit/>
          </a:bodyPr>
          <a:lstStyle/>
          <a:p>
            <a:pPr lvl="0" indent="0">
              <a:lnSpc>
                <a:spcPct val="100000"/>
              </a:lnSpc>
              <a:buNone/>
            </a:pP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模型语义图</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105476" name="矩形 6"/>
          <p:cNvSpPr/>
          <p:nvPr/>
        </p:nvSpPr>
        <p:spPr>
          <a:xfrm>
            <a:off x="642938" y="5203825"/>
            <a:ext cx="7369175" cy="533400"/>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问题：</a:t>
            </a:r>
            <a:r>
              <a:rPr lang="zh-CN" altLang="en-US" sz="2400" dirty="0">
                <a:solidFill>
                  <a:srgbClr val="FF0000"/>
                </a:solidFill>
                <a:latin typeface="宋体" panose="02010600030101010101" pitchFamily="2" charset="-122"/>
                <a:ea typeface="华文楷体" panose="02010600040101010101" pitchFamily="2" charset="-122"/>
              </a:rPr>
              <a:t>哪个柜台可以进行“汽车贷款”查询？</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105477" name="矩形 7"/>
          <p:cNvSpPr/>
          <p:nvPr/>
        </p:nvSpPr>
        <p:spPr>
          <a:xfrm>
            <a:off x="546100" y="1425575"/>
            <a:ext cx="2128838" cy="606425"/>
          </a:xfrm>
          <a:prstGeom prst="rect">
            <a:avLst/>
          </a:prstGeom>
          <a:noFill/>
          <a:ln w="9525">
            <a:noFill/>
          </a:ln>
        </p:spPr>
        <p:txBody>
          <a:bodyPr wrap="none" anchor="t">
            <a:spAutoFit/>
          </a:bodyPr>
          <a:lstStyle/>
          <a:p>
            <a:pPr lvl="0" indent="0">
              <a:buFont typeface="Wingdings" panose="05000000000000000000" pitchFamily="2" charset="2"/>
              <a:buChar char="p"/>
            </a:pPr>
            <a:r>
              <a:rPr lang="zh-CN" altLang="en-US" sz="2800" dirty="0">
                <a:solidFill>
                  <a:srgbClr val="0033CC"/>
                </a:solidFill>
                <a:latin typeface="黑体" panose="02010609060101010101" pitchFamily="1" charset="-122"/>
                <a:ea typeface="宋体" panose="02010600030101010101" pitchFamily="2" charset="-122"/>
              </a:rPr>
              <a:t> 深坑陷阱</a:t>
            </a:r>
            <a:endParaRPr lang="zh-CN" altLang="en-US" sz="2800" dirty="0">
              <a:latin typeface="Arial" panose="020B0604020202020204" pitchFamily="34" charset="0"/>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grpSp>
        <p:nvGrpSpPr>
          <p:cNvPr id="106498" name="组合 23"/>
          <p:cNvGrpSpPr/>
          <p:nvPr/>
        </p:nvGrpSpPr>
        <p:grpSpPr>
          <a:xfrm>
            <a:off x="882650" y="1449388"/>
            <a:ext cx="5024438" cy="2368550"/>
            <a:chOff x="0" y="0"/>
            <a:chExt cx="4553177" cy="2120453"/>
          </a:xfrm>
        </p:grpSpPr>
        <p:grpSp>
          <p:nvGrpSpPr>
            <p:cNvPr id="106499" name="组合 3"/>
            <p:cNvGrpSpPr/>
            <p:nvPr/>
          </p:nvGrpSpPr>
          <p:grpSpPr>
            <a:xfrm>
              <a:off x="0" y="291654"/>
              <a:ext cx="4553177" cy="1828799"/>
              <a:chOff x="0" y="0"/>
              <a:chExt cx="4553177" cy="2656398"/>
            </a:xfrm>
          </p:grpSpPr>
          <p:sp>
            <p:nvSpPr>
              <p:cNvPr id="106500" name="Rectangle 14"/>
              <p:cNvSpPr/>
              <p:nvPr/>
            </p:nvSpPr>
            <p:spPr>
              <a:xfrm>
                <a:off x="0" y="0"/>
                <a:ext cx="989919" cy="5368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柜台</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6501" name="Rectangle 14"/>
              <p:cNvSpPr/>
              <p:nvPr/>
            </p:nvSpPr>
            <p:spPr>
              <a:xfrm>
                <a:off x="50800" y="2068448"/>
                <a:ext cx="989919" cy="47867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人员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6502" name="Rectangle 14"/>
              <p:cNvSpPr/>
              <p:nvPr/>
            </p:nvSpPr>
            <p:spPr>
              <a:xfrm>
                <a:off x="3563258" y="1948735"/>
                <a:ext cx="989919" cy="58249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贷款</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6503" name="AutoShape 16"/>
              <p:cNvSpPr/>
              <p:nvPr/>
            </p:nvSpPr>
            <p:spPr>
              <a:xfrm>
                <a:off x="43316" y="1054128"/>
                <a:ext cx="1009650" cy="55274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具有</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6504" name="AutoShape 16"/>
              <p:cNvSpPr/>
              <p:nvPr/>
            </p:nvSpPr>
            <p:spPr>
              <a:xfrm>
                <a:off x="1835830" y="1939593"/>
                <a:ext cx="1009650" cy="71680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操作</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6505" name="Line 11"/>
              <p:cNvSpPr/>
              <p:nvPr/>
            </p:nvSpPr>
            <p:spPr>
              <a:xfrm flipV="1">
                <a:off x="549367" y="536895"/>
                <a:ext cx="0" cy="596900"/>
              </a:xfrm>
              <a:prstGeom prst="line">
                <a:avLst/>
              </a:prstGeom>
              <a:ln w="25400" cap="flat" cmpd="sng">
                <a:solidFill>
                  <a:srgbClr val="000000"/>
                </a:solidFill>
                <a:prstDash val="solid"/>
                <a:round/>
                <a:headEnd type="none" w="med" len="med"/>
                <a:tailEnd type="none" w="med" len="med"/>
              </a:ln>
            </p:spPr>
          </p:sp>
          <p:sp>
            <p:nvSpPr>
              <p:cNvPr id="106506" name="Line 11"/>
              <p:cNvSpPr/>
              <p:nvPr/>
            </p:nvSpPr>
            <p:spPr>
              <a:xfrm flipH="1" flipV="1">
                <a:off x="556623" y="1603693"/>
                <a:ext cx="0" cy="464754"/>
              </a:xfrm>
              <a:prstGeom prst="line">
                <a:avLst/>
              </a:prstGeom>
              <a:ln w="25400" cap="flat" cmpd="sng">
                <a:solidFill>
                  <a:srgbClr val="000000"/>
                </a:solidFill>
                <a:prstDash val="solid"/>
                <a:round/>
                <a:headEnd type="none" w="med" len="med"/>
                <a:tailEnd type="none" w="med" len="med"/>
              </a:ln>
            </p:spPr>
          </p:sp>
          <p:sp>
            <p:nvSpPr>
              <p:cNvPr id="106507" name="Line 11"/>
              <p:cNvSpPr/>
              <p:nvPr/>
            </p:nvSpPr>
            <p:spPr>
              <a:xfrm flipV="1">
                <a:off x="1028338" y="2307273"/>
                <a:ext cx="817924" cy="0"/>
              </a:xfrm>
              <a:prstGeom prst="line">
                <a:avLst/>
              </a:prstGeom>
              <a:ln w="25400" cap="flat" cmpd="sng">
                <a:solidFill>
                  <a:srgbClr val="000000"/>
                </a:solidFill>
                <a:prstDash val="solid"/>
                <a:round/>
                <a:headEnd type="none" w="med" len="med"/>
                <a:tailEnd type="none" w="med" len="med"/>
              </a:ln>
            </p:spPr>
          </p:sp>
          <p:sp>
            <p:nvSpPr>
              <p:cNvPr id="106508" name="Line 11"/>
              <p:cNvSpPr/>
              <p:nvPr/>
            </p:nvSpPr>
            <p:spPr>
              <a:xfrm flipV="1">
                <a:off x="2820852" y="2312354"/>
                <a:ext cx="723582" cy="0"/>
              </a:xfrm>
              <a:prstGeom prst="line">
                <a:avLst/>
              </a:prstGeom>
              <a:ln w="25400" cap="flat" cmpd="sng">
                <a:solidFill>
                  <a:srgbClr val="000000"/>
                </a:solidFill>
                <a:prstDash val="solid"/>
                <a:round/>
                <a:headEnd type="none" w="med" len="med"/>
                <a:tailEnd type="none" w="med" len="med"/>
              </a:ln>
            </p:spPr>
          </p:sp>
          <p:sp>
            <p:nvSpPr>
              <p:cNvPr id="106509" name="Text Box 47"/>
              <p:cNvSpPr txBox="1"/>
              <p:nvPr/>
            </p:nvSpPr>
            <p:spPr>
              <a:xfrm>
                <a:off x="538945" y="366957"/>
                <a:ext cx="388160" cy="752732"/>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6510" name="Text Box 47"/>
              <p:cNvSpPr txBox="1"/>
              <p:nvPr/>
            </p:nvSpPr>
            <p:spPr>
              <a:xfrm>
                <a:off x="647802" y="1307118"/>
                <a:ext cx="400174"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6511" name="Text Box 47"/>
              <p:cNvSpPr txBox="1"/>
              <p:nvPr/>
            </p:nvSpPr>
            <p:spPr>
              <a:xfrm>
                <a:off x="1242888" y="1517943"/>
                <a:ext cx="313088"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6512" name="Text Box 47"/>
              <p:cNvSpPr txBox="1"/>
              <p:nvPr/>
            </p:nvSpPr>
            <p:spPr>
              <a:xfrm>
                <a:off x="2955573" y="1486624"/>
                <a:ext cx="388160"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sp>
          <p:nvSpPr>
            <p:cNvPr id="106513" name="AutoShape 16"/>
            <p:cNvSpPr/>
            <p:nvPr/>
          </p:nvSpPr>
          <p:spPr>
            <a:xfrm>
              <a:off x="3454173" y="792397"/>
              <a:ext cx="1009650" cy="49348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提供</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6514" name="Line 11"/>
            <p:cNvSpPr/>
            <p:nvPr/>
          </p:nvSpPr>
          <p:spPr>
            <a:xfrm>
              <a:off x="977538" y="479467"/>
              <a:ext cx="3016840" cy="0"/>
            </a:xfrm>
            <a:prstGeom prst="line">
              <a:avLst/>
            </a:prstGeom>
            <a:ln w="25400" cap="flat" cmpd="sng">
              <a:solidFill>
                <a:srgbClr val="000000"/>
              </a:solidFill>
              <a:prstDash val="solid"/>
              <a:round/>
              <a:headEnd type="none" w="med" len="med"/>
              <a:tailEnd type="none" w="med" len="med"/>
            </a:ln>
          </p:spPr>
        </p:sp>
        <p:sp>
          <p:nvSpPr>
            <p:cNvPr id="106515" name="Line 11"/>
            <p:cNvSpPr/>
            <p:nvPr/>
          </p:nvSpPr>
          <p:spPr>
            <a:xfrm flipH="1" flipV="1">
              <a:off x="3974737" y="474061"/>
              <a:ext cx="0" cy="319960"/>
            </a:xfrm>
            <a:prstGeom prst="line">
              <a:avLst/>
            </a:prstGeom>
            <a:ln w="25400" cap="flat" cmpd="sng">
              <a:solidFill>
                <a:srgbClr val="000000"/>
              </a:solidFill>
              <a:prstDash val="solid"/>
              <a:round/>
              <a:headEnd type="none" w="med" len="med"/>
              <a:tailEnd type="none" w="med" len="med"/>
            </a:ln>
          </p:spPr>
        </p:sp>
        <p:sp>
          <p:nvSpPr>
            <p:cNvPr id="106516" name="Line 11"/>
            <p:cNvSpPr/>
            <p:nvPr/>
          </p:nvSpPr>
          <p:spPr>
            <a:xfrm flipH="1" flipV="1">
              <a:off x="3981994" y="1308632"/>
              <a:ext cx="0" cy="319960"/>
            </a:xfrm>
            <a:prstGeom prst="line">
              <a:avLst/>
            </a:prstGeom>
            <a:ln w="25400" cap="flat" cmpd="sng">
              <a:solidFill>
                <a:srgbClr val="000000"/>
              </a:solidFill>
              <a:prstDash val="solid"/>
              <a:round/>
              <a:headEnd type="none" w="med" len="med"/>
              <a:tailEnd type="none" w="med" len="med"/>
            </a:ln>
          </p:spPr>
        </p:sp>
        <p:sp>
          <p:nvSpPr>
            <p:cNvPr id="106517" name="Text Box 47"/>
            <p:cNvSpPr txBox="1"/>
            <p:nvPr/>
          </p:nvSpPr>
          <p:spPr>
            <a:xfrm>
              <a:off x="1054202" y="0"/>
              <a:ext cx="388160" cy="51821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6518" name="Text Box 47"/>
            <p:cNvSpPr txBox="1"/>
            <p:nvPr/>
          </p:nvSpPr>
          <p:spPr>
            <a:xfrm>
              <a:off x="3986087" y="1132115"/>
              <a:ext cx="388160" cy="51821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grpSp>
      <p:grpSp>
        <p:nvGrpSpPr>
          <p:cNvPr id="101400" name="组合 26"/>
          <p:cNvGrpSpPr/>
          <p:nvPr/>
        </p:nvGrpSpPr>
        <p:grpSpPr>
          <a:xfrm>
            <a:off x="2235200" y="1566863"/>
            <a:ext cx="6365875" cy="4591050"/>
            <a:chOff x="0" y="0"/>
            <a:chExt cx="6365195" cy="4589688"/>
          </a:xfrm>
        </p:grpSpPr>
        <p:pic>
          <p:nvPicPr>
            <p:cNvPr id="106520" name="Picture 2"/>
            <p:cNvPicPr>
              <a:picLocks noChangeAspect="1"/>
            </p:cNvPicPr>
            <p:nvPr/>
          </p:nvPicPr>
          <p:blipFill>
            <a:blip r:embed="rId1"/>
            <a:stretch>
              <a:fillRect/>
            </a:stretch>
          </p:blipFill>
          <p:spPr>
            <a:xfrm>
              <a:off x="0" y="0"/>
              <a:ext cx="6365195" cy="4589688"/>
            </a:xfrm>
            <a:prstGeom prst="rect">
              <a:avLst/>
            </a:prstGeom>
            <a:noFill/>
            <a:ln w="9525">
              <a:noFill/>
            </a:ln>
            <a:effectLst>
              <a:prstShdw prst="shdw17" dist="17961" dir="2699999">
                <a:srgbClr val="708688"/>
              </a:prstShdw>
            </a:effectLst>
          </p:spPr>
        </p:pic>
        <p:sp>
          <p:nvSpPr>
            <p:cNvPr id="106521" name="矩形 25"/>
            <p:cNvSpPr/>
            <p:nvPr/>
          </p:nvSpPr>
          <p:spPr>
            <a:xfrm>
              <a:off x="72572" y="3607933"/>
              <a:ext cx="1233714" cy="830997"/>
            </a:xfrm>
            <a:prstGeom prst="rect">
              <a:avLst/>
            </a:prstGeom>
            <a:noFill/>
            <a:ln w="9525">
              <a:noFill/>
            </a:ln>
          </p:spPr>
          <p:txBody>
            <a:bodyPr anchor="t">
              <a:spAutoFit/>
            </a:bodyPr>
            <a:lstStyle/>
            <a:p>
              <a:pPr lvl="0" indent="0">
                <a:lnSpc>
                  <a:spcPct val="100000"/>
                </a:lnSpc>
                <a:buNone/>
              </a:pP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模型语义图</a:t>
              </a:r>
              <a:endParaRPr lang="en-US" altLang="x-none" sz="2400" dirty="0">
                <a:solidFill>
                  <a:srgbClr val="FF0000"/>
                </a:solidFill>
                <a:latin typeface="宋体" panose="02010600030101010101" pitchFamily="2" charset="-122"/>
                <a:ea typeface="华文楷体" panose="02010600040101010101" pitchFamily="2" charset="-122"/>
              </a:endParaRPr>
            </a:p>
          </p:txBody>
        </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1400"/>
                                        </p:tgtEl>
                                        <p:attrNameLst>
                                          <p:attrName>style.visibility</p:attrName>
                                        </p:attrNameLst>
                                      </p:cBhvr>
                                      <p:to>
                                        <p:strVal val="visible"/>
                                      </p:to>
                                    </p:set>
                                    <p:anim calcmode="lin" valueType="num">
                                      <p:cBhvr additive="base">
                                        <p:cTn id="7" dur="500" fill="hold"/>
                                        <p:tgtEl>
                                          <p:spTgt spid="101400"/>
                                        </p:tgtEl>
                                        <p:attrNameLst>
                                          <p:attrName>ppt_x</p:attrName>
                                        </p:attrNameLst>
                                      </p:cBhvr>
                                      <p:tavLst>
                                        <p:tav tm="0">
                                          <p:val>
                                            <p:strVal val="#ppt_x"/>
                                          </p:val>
                                        </p:tav>
                                        <p:tav tm="100000">
                                          <p:val>
                                            <p:strVal val="#ppt_x"/>
                                          </p:val>
                                        </p:tav>
                                      </p:tavLst>
                                    </p:anim>
                                    <p:anim calcmode="lin" valueType="num">
                                      <p:cBhvr additive="base">
                                        <p:cTn id="8" dur="500" fill="hold"/>
                                        <p:tgtEl>
                                          <p:spTgt spid="1014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矩形 2"/>
          <p:cNvSpPr/>
          <p:nvPr/>
        </p:nvSpPr>
        <p:spPr>
          <a:xfrm>
            <a:off x="473075" y="860425"/>
            <a:ext cx="7650163" cy="522288"/>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de-DE" altLang="en-US"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用</a:t>
            </a:r>
            <a:r>
              <a:rPr lang="de-DE" altLang="en-US" sz="2800" dirty="0">
                <a:solidFill>
                  <a:srgbClr val="0033CC"/>
                </a:solidFill>
                <a:latin typeface="黑体" panose="02010609060101010101" pitchFamily="1" charset="-122"/>
                <a:ea typeface="黑体" panose="02010609060101010101" pitchFamily="1" charset="-122"/>
              </a:rPr>
              <a:t>ERM</a:t>
            </a:r>
            <a:r>
              <a:rPr lang="zh-CN" altLang="en-US" sz="2800" dirty="0">
                <a:solidFill>
                  <a:srgbClr val="0033CC"/>
                </a:solidFill>
                <a:latin typeface="黑体" panose="02010609060101010101" pitchFamily="1" charset="-122"/>
                <a:ea typeface="黑体" panose="02010609060101010101" pitchFamily="1" charset="-122"/>
              </a:rPr>
              <a:t>为出版社数据库做概念设计</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07523" name="组合 10"/>
          <p:cNvGrpSpPr/>
          <p:nvPr/>
        </p:nvGrpSpPr>
        <p:grpSpPr>
          <a:xfrm>
            <a:off x="403225" y="1717675"/>
            <a:ext cx="4489450" cy="3506788"/>
            <a:chOff x="0" y="0"/>
            <a:chExt cx="4489450" cy="3506108"/>
          </a:xfrm>
        </p:grpSpPr>
        <p:sp>
          <p:nvSpPr>
            <p:cNvPr id="107524" name="Rectangle 2"/>
            <p:cNvSpPr txBox="1"/>
            <p:nvPr/>
          </p:nvSpPr>
          <p:spPr>
            <a:xfrm>
              <a:off x="0" y="0"/>
              <a:ext cx="4489450" cy="2380788"/>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1</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标识实体及属性</a:t>
              </a:r>
              <a:endParaRPr lang="zh-CN" altLang="en-US" sz="2400" dirty="0">
                <a:solidFill>
                  <a:srgbClr val="006600"/>
                </a:solidFill>
                <a:latin typeface="华文楷体" panose="02010600040101010101" pitchFamily="2" charset="-122"/>
                <a:ea typeface="宋体" panose="02010600030101010101" pitchFamily="2" charset="-122"/>
              </a:endParaRPr>
            </a:p>
          </p:txBody>
        </p:sp>
        <p:sp>
          <p:nvSpPr>
            <p:cNvPr id="102406" name="AutoShape 2"/>
            <p:cNvSpPr/>
            <p:nvPr/>
          </p:nvSpPr>
          <p:spPr>
            <a:xfrm>
              <a:off x="128588" y="544407"/>
              <a:ext cx="4360862" cy="2961701"/>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102407" name="组合 8"/>
          <p:cNvGrpSpPr/>
          <p:nvPr/>
        </p:nvGrpSpPr>
        <p:grpSpPr>
          <a:xfrm>
            <a:off x="5045075" y="1717675"/>
            <a:ext cx="3748088" cy="3692525"/>
            <a:chOff x="0" y="0"/>
            <a:chExt cx="3748088" cy="3692525"/>
          </a:xfrm>
        </p:grpSpPr>
        <p:sp>
          <p:nvSpPr>
            <p:cNvPr id="107527" name="Rectangle 2"/>
            <p:cNvSpPr txBox="1"/>
            <p:nvPr/>
          </p:nvSpPr>
          <p:spPr>
            <a:xfrm>
              <a:off x="0" y="0"/>
              <a:ext cx="3748088" cy="36925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步骤</a:t>
              </a:r>
              <a:r>
                <a:rPr lang="en-US" altLang="x-none"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标识联系及属性</a:t>
              </a:r>
              <a:endParaRPr lang="zh-CN" altLang="en-US" sz="24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ts val="1800"/>
                </a:spcBef>
                <a:buClr>
                  <a:srgbClr val="0033CC"/>
                </a:buClr>
                <a:buSzPct val="80000"/>
                <a:buNone/>
              </a:pPr>
              <a:r>
                <a:rPr lang="zh-CN" altLang="en-US" sz="2000" dirty="0">
                  <a:latin typeface="华文楷体" panose="02010600040101010101" pitchFamily="2" charset="-122"/>
                  <a:ea typeface="宋体" panose="02010600030101010101" pitchFamily="2" charset="-122"/>
                </a:rPr>
                <a:t>  </a:t>
              </a: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02409" name="AutoShape 2"/>
            <p:cNvSpPr/>
            <p:nvPr/>
          </p:nvSpPr>
          <p:spPr>
            <a:xfrm>
              <a:off x="74613" y="455613"/>
              <a:ext cx="3659187" cy="29622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102410" name="矩形 11"/>
          <p:cNvSpPr/>
          <p:nvPr/>
        </p:nvSpPr>
        <p:spPr>
          <a:xfrm>
            <a:off x="544513" y="2954338"/>
            <a:ext cx="4462462" cy="785812"/>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zh-CN" altLang="en-US" dirty="0">
                <a:latin typeface="华文楷体" panose="02010600040101010101" pitchFamily="2" charset="-122"/>
                <a:ea typeface="宋体" panose="02010600030101010101" pitchFamily="2" charset="-122"/>
              </a:rPr>
              <a:t> </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作者（</a:t>
            </a:r>
            <a:r>
              <a:rPr lang="zh-CN" altLang="en-US" u="sng" dirty="0">
                <a:latin typeface="华文楷体" panose="02010600040101010101" pitchFamily="2" charset="-122"/>
                <a:ea typeface="宋体" panose="02010600030101010101" pitchFamily="2" charset="-122"/>
              </a:rPr>
              <a:t>身份证号</a:t>
            </a:r>
            <a:r>
              <a:rPr lang="zh-CN" altLang="en-US" dirty="0">
                <a:latin typeface="华文楷体" panose="02010600040101010101" pitchFamily="2" charset="-122"/>
                <a:ea typeface="宋体" panose="02010600030101010101" pitchFamily="2" charset="-122"/>
              </a:rPr>
              <a:t>、姓名、性别，</a:t>
            </a:r>
            <a:r>
              <a:rPr lang="en-US" altLang="x-none" dirty="0">
                <a:latin typeface="华文楷体" panose="02010600040101010101" pitchFamily="2" charset="-122"/>
                <a:ea typeface="宋体" panose="02010600030101010101" pitchFamily="2" charset="-122"/>
              </a:rPr>
              <a:t>…)</a:t>
            </a:r>
            <a:endParaRPr lang="en-US" altLang="x-none"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dirty="0">
              <a:latin typeface="Arial" panose="020B0604020202020204" pitchFamily="34" charset="0"/>
              <a:ea typeface="宋体" panose="02010600030101010101" pitchFamily="2" charset="-122"/>
            </a:endParaRPr>
          </a:p>
        </p:txBody>
      </p:sp>
      <p:sp>
        <p:nvSpPr>
          <p:cNvPr id="102411" name="矩形 12"/>
          <p:cNvSpPr/>
          <p:nvPr/>
        </p:nvSpPr>
        <p:spPr>
          <a:xfrm>
            <a:off x="566738" y="3455988"/>
            <a:ext cx="4462462" cy="368300"/>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编辑（</a:t>
            </a:r>
            <a:r>
              <a:rPr lang="zh-CN" altLang="en-US" u="sng" dirty="0">
                <a:latin typeface="华文楷体" panose="02010600040101010101" pitchFamily="2" charset="-122"/>
                <a:ea typeface="宋体" panose="02010600030101010101" pitchFamily="2" charset="-122"/>
              </a:rPr>
              <a:t>身份证号</a:t>
            </a:r>
            <a:r>
              <a:rPr lang="zh-CN" altLang="en-US" dirty="0">
                <a:latin typeface="华文楷体" panose="02010600040101010101" pitchFamily="2" charset="-122"/>
                <a:ea typeface="宋体" panose="02010600030101010101" pitchFamily="2" charset="-122"/>
              </a:rPr>
              <a:t>、姓名、性别、</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102412" name="矩形 13"/>
          <p:cNvSpPr/>
          <p:nvPr/>
        </p:nvSpPr>
        <p:spPr>
          <a:xfrm>
            <a:off x="617538" y="2446338"/>
            <a:ext cx="4462462" cy="369887"/>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书 </a:t>
            </a:r>
            <a:r>
              <a:rPr lang="en-US" altLang="x-none" dirty="0">
                <a:latin typeface="华文楷体" panose="02010600040101010101" pitchFamily="2" charset="-122"/>
                <a:ea typeface="宋体" panose="02010600030101010101" pitchFamily="2" charset="-122"/>
              </a:rPr>
              <a:t>(</a:t>
            </a:r>
            <a:r>
              <a:rPr lang="zh-CN" altLang="en-US" u="sng" dirty="0">
                <a:latin typeface="华文楷体" panose="02010600040101010101" pitchFamily="2" charset="-122"/>
                <a:ea typeface="宋体" panose="02010600030101010101" pitchFamily="2" charset="-122"/>
              </a:rPr>
              <a:t>书号</a:t>
            </a:r>
            <a:r>
              <a:rPr lang="zh-CN" altLang="en-US" dirty="0">
                <a:latin typeface="华文楷体" panose="02010600040101010101" pitchFamily="2" charset="-122"/>
                <a:ea typeface="宋体" panose="02010600030101010101" pitchFamily="2" charset="-122"/>
              </a:rPr>
              <a:t>、书名、类别、价格）</a:t>
            </a:r>
            <a:endParaRPr lang="zh-CN" altLang="en-US" dirty="0">
              <a:latin typeface="华文楷体" panose="02010600040101010101" pitchFamily="2" charset="-122"/>
              <a:ea typeface="宋体" panose="02010600030101010101" pitchFamily="2" charset="-122"/>
            </a:endParaRPr>
          </a:p>
        </p:txBody>
      </p:sp>
      <p:sp>
        <p:nvSpPr>
          <p:cNvPr id="102413" name="矩形 15"/>
          <p:cNvSpPr/>
          <p:nvPr/>
        </p:nvSpPr>
        <p:spPr>
          <a:xfrm>
            <a:off x="515938" y="3587750"/>
            <a:ext cx="4462462" cy="1200150"/>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zh-CN" altLang="en-US" dirty="0">
                <a:latin typeface="华文楷体" panose="02010600040101010101" pitchFamily="2" charset="-122"/>
                <a:ea typeface="宋体" panose="02010600030101010101" pitchFamily="2" charset="-122"/>
              </a:rPr>
              <a:t> </a:t>
            </a:r>
            <a:endParaRPr lang="zh-CN" altLang="en-US"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r>
              <a:rPr lang="zh-CN" altLang="en-US" dirty="0">
                <a:latin typeface="华文楷体" panose="02010600040101010101" pitchFamily="2" charset="-122"/>
                <a:ea typeface="宋体" panose="02010600030101010101" pitchFamily="2" charset="-122"/>
              </a:rPr>
              <a:t> </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出版社（</a:t>
            </a:r>
            <a:r>
              <a:rPr lang="zh-CN" altLang="en-US" u="sng" dirty="0">
                <a:latin typeface="华文楷体" panose="02010600040101010101" pitchFamily="2" charset="-122"/>
                <a:ea typeface="宋体" panose="02010600030101010101" pitchFamily="2" charset="-122"/>
              </a:rPr>
              <a:t>出版社号</a:t>
            </a:r>
            <a:r>
              <a:rPr lang="zh-CN" altLang="en-US" dirty="0">
                <a:latin typeface="华文楷体" panose="02010600040101010101" pitchFamily="2" charset="-122"/>
                <a:ea typeface="宋体" panose="02010600030101010101" pitchFamily="2" charset="-122"/>
              </a:rPr>
              <a:t>、名称、地址、电话）</a:t>
            </a:r>
            <a:endParaRPr lang="zh-CN" altLang="en-US"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r>
              <a:rPr lang="zh-CN" altLang="en-US" dirty="0">
                <a:latin typeface="华文楷体" panose="02010600040101010101" pitchFamily="2" charset="-122"/>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102414" name="矩形 17"/>
          <p:cNvSpPr/>
          <p:nvPr/>
        </p:nvSpPr>
        <p:spPr>
          <a:xfrm>
            <a:off x="5122863" y="2314575"/>
            <a:ext cx="4572000" cy="784225"/>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zh-CN" altLang="en-US" dirty="0">
                <a:latin typeface="华文楷体" panose="02010600040101010101" pitchFamily="2" charset="-122"/>
                <a:ea typeface="宋体" panose="02010600030101010101" pitchFamily="2" charset="-122"/>
              </a:rPr>
              <a:t>  </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写作</a:t>
            </a:r>
            <a:endParaRPr lang="en-US" altLang="x-none"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dirty="0">
              <a:latin typeface="华文楷体" panose="02010600040101010101" pitchFamily="2" charset="-122"/>
              <a:ea typeface="宋体" panose="02010600030101010101" pitchFamily="2" charset="-122"/>
            </a:endParaRPr>
          </a:p>
        </p:txBody>
      </p:sp>
      <p:sp>
        <p:nvSpPr>
          <p:cNvPr id="102415" name="矩形 18"/>
          <p:cNvSpPr/>
          <p:nvPr/>
        </p:nvSpPr>
        <p:spPr>
          <a:xfrm>
            <a:off x="5251450" y="2701925"/>
            <a:ext cx="787400" cy="461963"/>
          </a:xfrm>
          <a:prstGeom prst="rect">
            <a:avLst/>
          </a:prstGeom>
          <a:noFill/>
          <a:ln w="9525">
            <a:noFill/>
          </a:ln>
        </p:spPr>
        <p:txBody>
          <a:bodyPr wrap="none" anchor="t">
            <a:spAutoFit/>
          </a:bodyPr>
          <a:lstStyle/>
          <a:p>
            <a:pPr lvl="0" indent="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出版</a:t>
            </a:r>
            <a:endParaRPr lang="zh-CN" altLang="en-US" dirty="0">
              <a:latin typeface="Arial" panose="020B0604020202020204" pitchFamily="34" charset="0"/>
              <a:ea typeface="宋体" panose="02010600030101010101" pitchFamily="2" charset="-122"/>
            </a:endParaRPr>
          </a:p>
        </p:txBody>
      </p:sp>
      <p:sp>
        <p:nvSpPr>
          <p:cNvPr id="102416" name="矩形 19"/>
          <p:cNvSpPr/>
          <p:nvPr/>
        </p:nvSpPr>
        <p:spPr>
          <a:xfrm>
            <a:off x="5251450" y="3152775"/>
            <a:ext cx="787400" cy="461963"/>
          </a:xfrm>
          <a:prstGeom prst="rect">
            <a:avLst/>
          </a:prstGeom>
          <a:noFill/>
          <a:ln w="9525">
            <a:noFill/>
          </a:ln>
        </p:spPr>
        <p:txBody>
          <a:bodyPr wrap="none" anchor="t">
            <a:spAutoFit/>
          </a:bodyPr>
          <a:lstStyle/>
          <a:p>
            <a:pPr lvl="0" indent="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工作</a:t>
            </a:r>
            <a:endParaRPr lang="zh-CN" altLang="en-US" dirty="0">
              <a:latin typeface="Arial" panose="020B0604020202020204" pitchFamily="34" charset="0"/>
              <a:ea typeface="宋体" panose="02010600030101010101" pitchFamily="2" charset="-122"/>
            </a:endParaRPr>
          </a:p>
        </p:txBody>
      </p:sp>
      <p:sp>
        <p:nvSpPr>
          <p:cNvPr id="102417" name="矩形 20"/>
          <p:cNvSpPr/>
          <p:nvPr/>
        </p:nvSpPr>
        <p:spPr>
          <a:xfrm>
            <a:off x="5249863" y="3621088"/>
            <a:ext cx="793750" cy="369887"/>
          </a:xfrm>
          <a:prstGeom prst="rect">
            <a:avLst/>
          </a:prstGeom>
          <a:noFill/>
          <a:ln w="9525">
            <a:noFill/>
          </a:ln>
        </p:spPr>
        <p:txBody>
          <a:bodyPr wrap="none" anchor="t">
            <a:spAutoFit/>
          </a:bodyPr>
          <a:lstStyle/>
          <a:p>
            <a:pPr marL="533400" lvl="0" indent="-533400">
              <a:lnSpc>
                <a:spcPct val="100000"/>
              </a:lnSpc>
              <a:spcBef>
                <a:spcPct val="500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编辑</a:t>
            </a:r>
            <a:endParaRPr lang="en-US" altLang="x-none" dirty="0">
              <a:latin typeface="华文楷体" panose="02010600040101010101" pitchFamily="2" charset="-122"/>
              <a:ea typeface="宋体" panose="02010600030101010101" pitchFamily="2" charset="-122"/>
            </a:endParaRPr>
          </a:p>
        </p:txBody>
      </p:sp>
      <p:sp>
        <p:nvSpPr>
          <p:cNvPr id="102418" name="矩形 21"/>
          <p:cNvSpPr/>
          <p:nvPr/>
        </p:nvSpPr>
        <p:spPr>
          <a:xfrm>
            <a:off x="5278438" y="4043363"/>
            <a:ext cx="793750" cy="368300"/>
          </a:xfrm>
          <a:prstGeom prst="rect">
            <a:avLst/>
          </a:prstGeom>
          <a:noFill/>
          <a:ln w="9525">
            <a:noFill/>
          </a:ln>
        </p:spPr>
        <p:txBody>
          <a:bodyPr wrap="none" anchor="t">
            <a:spAutoFit/>
          </a:bodyPr>
          <a:lstStyle/>
          <a:p>
            <a:pPr marL="533400" lvl="0" indent="-533400">
              <a:lnSpc>
                <a:spcPct val="100000"/>
              </a:lnSpc>
              <a:spcBef>
                <a:spcPct val="500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合作</a:t>
            </a:r>
            <a:endParaRPr lang="zh-CN" altLang="en-US" dirty="0">
              <a:latin typeface="华文楷体" panose="02010600040101010101" pitchFamily="2" charset="-122"/>
              <a:ea typeface="宋体" panose="02010600030101010101" pitchFamily="2" charset="-122"/>
            </a:endParaRPr>
          </a:p>
        </p:txBody>
      </p:sp>
      <p:sp>
        <p:nvSpPr>
          <p:cNvPr id="102419" name="矩形 22"/>
          <p:cNvSpPr/>
          <p:nvPr/>
        </p:nvSpPr>
        <p:spPr>
          <a:xfrm>
            <a:off x="5272088" y="4506913"/>
            <a:ext cx="3476625" cy="369887"/>
          </a:xfrm>
          <a:prstGeom prst="rect">
            <a:avLst/>
          </a:prstGeom>
          <a:noFill/>
          <a:ln w="9525">
            <a:noFill/>
          </a:ln>
        </p:spPr>
        <p:txBody>
          <a:bodyPr wrap="none" anchor="t">
            <a:spAutoFit/>
          </a:bodyPr>
          <a:lstStyle/>
          <a:p>
            <a:pPr marL="533400" lvl="0" indent="-533400">
              <a:lnSpc>
                <a:spcPct val="100000"/>
              </a:lnSpc>
              <a:spcBef>
                <a:spcPct val="500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出版合同 </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合同号，起止日期）</a:t>
            </a:r>
            <a:endParaRPr lang="zh-CN" altLang="en-US" dirty="0">
              <a:latin typeface="华文楷体" panose="02010600040101010101" pitchFamily="2" charset="-122"/>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12">
                                            <p:txEl>
                                              <p:pRg st="0" end="0"/>
                                            </p:txEl>
                                          </p:spTgt>
                                        </p:tgtEl>
                                        <p:attrNameLst>
                                          <p:attrName>style.visibility</p:attrName>
                                        </p:attrNameLst>
                                      </p:cBhvr>
                                      <p:to>
                                        <p:strVal val="visible"/>
                                      </p:to>
                                    </p:set>
                                    <p:animEffect transition="in" filter="wipe(down)">
                                      <p:cBhvr>
                                        <p:cTn id="7" dur="500"/>
                                        <p:tgtEl>
                                          <p:spTgt spid="1024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2410">
                                            <p:txEl>
                                              <p:pRg st="0" end="0"/>
                                            </p:txEl>
                                          </p:spTgt>
                                        </p:tgtEl>
                                        <p:attrNameLst>
                                          <p:attrName>style.visibility</p:attrName>
                                        </p:attrNameLst>
                                      </p:cBhvr>
                                      <p:to>
                                        <p:strVal val="visible"/>
                                      </p:to>
                                    </p:set>
                                    <p:animEffect transition="in" filter="wipe(down)">
                                      <p:cBhvr>
                                        <p:cTn id="12" dur="500"/>
                                        <p:tgtEl>
                                          <p:spTgt spid="1024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2411">
                                            <p:txEl>
                                              <p:pRg st="0" end="0"/>
                                            </p:txEl>
                                          </p:spTgt>
                                        </p:tgtEl>
                                        <p:attrNameLst>
                                          <p:attrName>style.visibility</p:attrName>
                                        </p:attrNameLst>
                                      </p:cBhvr>
                                      <p:to>
                                        <p:strVal val="visible"/>
                                      </p:to>
                                    </p:set>
                                    <p:animEffect transition="in" filter="wipe(down)">
                                      <p:cBhvr>
                                        <p:cTn id="17" dur="500"/>
                                        <p:tgtEl>
                                          <p:spTgt spid="1024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2413">
                                            <p:txEl>
                                              <p:pRg st="0" end="0"/>
                                            </p:txEl>
                                          </p:spTgt>
                                        </p:tgtEl>
                                        <p:attrNameLst>
                                          <p:attrName>style.visibility</p:attrName>
                                        </p:attrNameLst>
                                      </p:cBhvr>
                                      <p:to>
                                        <p:strVal val="visible"/>
                                      </p:to>
                                    </p:set>
                                    <p:animEffect transition="in" filter="wipe(down)">
                                      <p:cBhvr>
                                        <p:cTn id="22" dur="500"/>
                                        <p:tgtEl>
                                          <p:spTgt spid="102413">
                                            <p:txEl>
                                              <p:pRg st="0" end="0"/>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13">
                                            <p:txEl>
                                              <p:pRg st="1" end="1"/>
                                            </p:txEl>
                                          </p:spTgt>
                                        </p:tgtEl>
                                        <p:attrNameLst>
                                          <p:attrName>style.visibility</p:attrName>
                                        </p:attrNameLst>
                                      </p:cBhvr>
                                      <p:to>
                                        <p:strVal val="visible"/>
                                      </p:to>
                                    </p:set>
                                    <p:animEffect transition="in" filter="wipe(down)">
                                      <p:cBhvr>
                                        <p:cTn id="25" dur="500"/>
                                        <p:tgtEl>
                                          <p:spTgt spid="102413">
                                            <p:txEl>
                                              <p:pRg st="1" end="1"/>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02413">
                                            <p:txEl>
                                              <p:pRg st="2" end="2"/>
                                            </p:txEl>
                                          </p:spTgt>
                                        </p:tgtEl>
                                        <p:attrNameLst>
                                          <p:attrName>style.visibility</p:attrName>
                                        </p:attrNameLst>
                                      </p:cBhvr>
                                      <p:to>
                                        <p:strVal val="visible"/>
                                      </p:to>
                                    </p:set>
                                    <p:animEffect transition="in" filter="wipe(down)">
                                      <p:cBhvr>
                                        <p:cTn id="28" dur="500"/>
                                        <p:tgtEl>
                                          <p:spTgt spid="10241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02407"/>
                                        </p:tgtEl>
                                        <p:attrNameLst>
                                          <p:attrName>style.visibility</p:attrName>
                                        </p:attrNameLst>
                                      </p:cBhvr>
                                      <p:to>
                                        <p:strVal val="visible"/>
                                      </p:to>
                                    </p:set>
                                    <p:anim calcmode="lin" valueType="num">
                                      <p:cBhvr additive="base">
                                        <p:cTn id="33" dur="500" fill="hold"/>
                                        <p:tgtEl>
                                          <p:spTgt spid="102407"/>
                                        </p:tgtEl>
                                        <p:attrNameLst>
                                          <p:attrName>ppt_x</p:attrName>
                                        </p:attrNameLst>
                                      </p:cBhvr>
                                      <p:tavLst>
                                        <p:tav tm="0">
                                          <p:val>
                                            <p:strVal val="#ppt_x"/>
                                          </p:val>
                                        </p:tav>
                                        <p:tav tm="100000">
                                          <p:val>
                                            <p:strVal val="#ppt_x"/>
                                          </p:val>
                                        </p:tav>
                                      </p:tavLst>
                                    </p:anim>
                                    <p:anim calcmode="lin" valueType="num">
                                      <p:cBhvr additive="base">
                                        <p:cTn id="34" dur="500" fill="hold"/>
                                        <p:tgtEl>
                                          <p:spTgt spid="10240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02414">
                                            <p:txEl>
                                              <p:pRg st="0" end="0"/>
                                            </p:txEl>
                                          </p:spTgt>
                                        </p:tgtEl>
                                        <p:attrNameLst>
                                          <p:attrName>style.visibility</p:attrName>
                                        </p:attrNameLst>
                                      </p:cBhvr>
                                      <p:to>
                                        <p:strVal val="visible"/>
                                      </p:to>
                                    </p:set>
                                    <p:animEffect transition="in" filter="wipe(down)">
                                      <p:cBhvr>
                                        <p:cTn id="39" dur="500"/>
                                        <p:tgtEl>
                                          <p:spTgt spid="102414">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02415">
                                            <p:txEl>
                                              <p:pRg st="0" end="0"/>
                                            </p:txEl>
                                          </p:spTgt>
                                        </p:tgtEl>
                                        <p:attrNameLst>
                                          <p:attrName>style.visibility</p:attrName>
                                        </p:attrNameLst>
                                      </p:cBhvr>
                                      <p:to>
                                        <p:strVal val="visible"/>
                                      </p:to>
                                    </p:set>
                                    <p:animEffect transition="in" filter="wipe(down)">
                                      <p:cBhvr>
                                        <p:cTn id="44" dur="500"/>
                                        <p:tgtEl>
                                          <p:spTgt spid="102415">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02416">
                                            <p:txEl>
                                              <p:pRg st="0" end="0"/>
                                            </p:txEl>
                                          </p:spTgt>
                                        </p:tgtEl>
                                        <p:attrNameLst>
                                          <p:attrName>style.visibility</p:attrName>
                                        </p:attrNameLst>
                                      </p:cBhvr>
                                      <p:to>
                                        <p:strVal val="visible"/>
                                      </p:to>
                                    </p:set>
                                    <p:animEffect transition="in" filter="wipe(down)">
                                      <p:cBhvr>
                                        <p:cTn id="49" dur="500"/>
                                        <p:tgtEl>
                                          <p:spTgt spid="102416">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02417">
                                            <p:txEl>
                                              <p:pRg st="0" end="0"/>
                                            </p:txEl>
                                          </p:spTgt>
                                        </p:tgtEl>
                                        <p:attrNameLst>
                                          <p:attrName>style.visibility</p:attrName>
                                        </p:attrNameLst>
                                      </p:cBhvr>
                                      <p:to>
                                        <p:strVal val="visible"/>
                                      </p:to>
                                    </p:set>
                                    <p:animEffect transition="in" filter="wipe(down)">
                                      <p:cBhvr>
                                        <p:cTn id="54" dur="500"/>
                                        <p:tgtEl>
                                          <p:spTgt spid="102417">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102418">
                                            <p:txEl>
                                              <p:pRg st="0" end="0"/>
                                            </p:txEl>
                                          </p:spTgt>
                                        </p:tgtEl>
                                        <p:attrNameLst>
                                          <p:attrName>style.visibility</p:attrName>
                                        </p:attrNameLst>
                                      </p:cBhvr>
                                      <p:to>
                                        <p:strVal val="visible"/>
                                      </p:to>
                                    </p:set>
                                    <p:animEffect transition="in" filter="wipe(down)">
                                      <p:cBhvr>
                                        <p:cTn id="59" dur="500"/>
                                        <p:tgtEl>
                                          <p:spTgt spid="102418">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102419">
                                            <p:txEl>
                                              <p:pRg st="0" end="0"/>
                                            </p:txEl>
                                          </p:spTgt>
                                        </p:tgtEl>
                                        <p:attrNameLst>
                                          <p:attrName>style.visibility</p:attrName>
                                        </p:attrNameLst>
                                      </p:cBhvr>
                                      <p:to>
                                        <p:strVal val="visible"/>
                                      </p:to>
                                    </p:set>
                                    <p:animEffect transition="in" filter="wipe(down)">
                                      <p:cBhvr>
                                        <p:cTn id="64" dur="500"/>
                                        <p:tgtEl>
                                          <p:spTgt spid="1024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0" grpId="0" build="allAtOnce"/>
      <p:bldP spid="102411" grpId="0" build="allAtOnce"/>
      <p:bldP spid="102412" grpId="0" build="allAtOnce"/>
      <p:bldP spid="102413" grpId="0" build="allAtOnce"/>
      <p:bldP spid="102414" grpId="0" build="allAtOnce"/>
      <p:bldP spid="102415" grpId="0" build="allAtOnce"/>
      <p:bldP spid="102416" grpId="0" build="allAtOnce"/>
      <p:bldP spid="102417" grpId="0" build="allAtOnce"/>
      <p:bldP spid="102418" grpId="0" build="allAtOnce"/>
      <p:bldP spid="102419" grpId="0" build="allAtOnce"/>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3</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a:t>
            </a:r>
            <a:r>
              <a:rPr lang="zh-CN" altLang="en-US" sz="2400" dirty="0">
                <a:latin typeface="Arial" panose="020B0604020202020204" pitchFamily="34" charset="0"/>
                <a:ea typeface="宋体" panose="02010600030101010101" pitchFamily="2" charset="-122"/>
              </a:rPr>
              <a:t>实体与联系的各种完整性约束</a:t>
            </a:r>
            <a:endParaRPr lang="zh-CN" altLang="en-US" sz="2400" dirty="0">
              <a:solidFill>
                <a:srgbClr val="006600"/>
              </a:solidFill>
              <a:latin typeface="华文楷体" panose="02010600040101010101" pitchFamily="2" charset="-122"/>
              <a:ea typeface="宋体" panose="02010600030101010101" pitchFamily="2" charset="-122"/>
            </a:endParaRPr>
          </a:p>
        </p:txBody>
      </p:sp>
      <p:graphicFrame>
        <p:nvGraphicFramePr>
          <p:cNvPr id="103427" name="表格 103426"/>
          <p:cNvGraphicFramePr/>
          <p:nvPr/>
        </p:nvGraphicFramePr>
        <p:xfrm>
          <a:off x="463550" y="1433513"/>
          <a:ext cx="8280400" cy="4910773"/>
        </p:xfrm>
        <a:graphic>
          <a:graphicData uri="http://schemas.openxmlformats.org/drawingml/2006/table">
            <a:tbl>
              <a:tblPr/>
              <a:tblGrid>
                <a:gridCol w="1152525"/>
                <a:gridCol w="1295400"/>
                <a:gridCol w="1439863"/>
                <a:gridCol w="1223962"/>
                <a:gridCol w="1081088"/>
                <a:gridCol w="2087562"/>
              </a:tblGrid>
              <a:tr h="822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实体</a:t>
                      </a:r>
                      <a:r>
                        <a:rPr lang="en-US" altLang="x-none" sz="2400" dirty="0">
                          <a:latin typeface="华文楷体" panose="02010600040101010101" pitchFamily="2" charset="-122"/>
                          <a:ea typeface="华文楷体" panose="02010600040101010101" pitchFamily="2" charset="-122"/>
                        </a:rPr>
                        <a:t>1</a:t>
                      </a:r>
                      <a:endParaRPr lang="en-US" altLang="x-none" sz="2400" dirty="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联系</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实体</a:t>
                      </a:r>
                      <a:r>
                        <a:rPr lang="en-US" altLang="x-none" sz="2400" dirty="0">
                          <a:latin typeface="华文楷体" panose="02010600040101010101" pitchFamily="2" charset="-122"/>
                          <a:ea typeface="华文楷体" panose="02010600040101010101" pitchFamily="2" charset="-122"/>
                        </a:rPr>
                        <a:t>2</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联系类型约束</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键约束</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参与约束</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842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7048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en-US" altLang="x-none" sz="2400" dirty="0">
                          <a:latin typeface="华文楷体" panose="02010600040101010101" pitchFamily="2" charset="-122"/>
                          <a:ea typeface="华文楷体" panose="02010600040101010101" pitchFamily="2" charset="-122"/>
                        </a:rPr>
                        <a:t> </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572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endParaRPr lang="zh-CN" altLang="en-US" sz="2000">
                        <a:solidFill>
                          <a:srgbClr val="0000CC"/>
                        </a:solidFill>
                        <a:latin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794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en-US" altLang="x-none" sz="2400" dirty="0">
                          <a:latin typeface="华文楷体" panose="02010600040101010101" pitchFamily="2" charset="-122"/>
                          <a:ea typeface="华文楷体" panose="02010600040101010101" pitchFamily="2" charset="-122"/>
                        </a:rPr>
                        <a:t> </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826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en-US" altLang="x-none" sz="2400" dirty="0">
                          <a:latin typeface="华文楷体" panose="02010600040101010101" pitchFamily="2" charset="-122"/>
                          <a:ea typeface="华文楷体" panose="02010600040101010101" pitchFamily="2" charset="-122"/>
                        </a:rPr>
                        <a:t> </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794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en-US" altLang="x-none" sz="2400" dirty="0">
                          <a:latin typeface="华文楷体" panose="02010600040101010101" pitchFamily="2" charset="-122"/>
                          <a:ea typeface="华文楷体" panose="02010600040101010101" pitchFamily="2" charset="-122"/>
                        </a:rPr>
                        <a:t> </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bl>
          </a:graphicData>
        </a:graphic>
      </p:graphicFrame>
      <p:grpSp>
        <p:nvGrpSpPr>
          <p:cNvPr id="108604" name="组合 6"/>
          <p:cNvGrpSpPr/>
          <p:nvPr/>
        </p:nvGrpSpPr>
        <p:grpSpPr>
          <a:xfrm>
            <a:off x="649288" y="2233613"/>
            <a:ext cx="3230562" cy="517525"/>
            <a:chOff x="0" y="0"/>
            <a:chExt cx="3230896" cy="518219"/>
          </a:xfrm>
        </p:grpSpPr>
        <p:sp>
          <p:nvSpPr>
            <p:cNvPr id="108605" name="Rectangle 63"/>
            <p:cNvSpPr/>
            <p:nvPr/>
          </p:nvSpPr>
          <p:spPr>
            <a:xfrm>
              <a:off x="0" y="0"/>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作者</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06" name="Rectangle 64"/>
            <p:cNvSpPr/>
            <p:nvPr/>
          </p:nvSpPr>
          <p:spPr>
            <a:xfrm>
              <a:off x="2736850" y="0"/>
              <a:ext cx="494046"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书</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3488" name="组合 45"/>
          <p:cNvGrpSpPr/>
          <p:nvPr/>
        </p:nvGrpSpPr>
        <p:grpSpPr>
          <a:xfrm>
            <a:off x="4610100" y="2205038"/>
            <a:ext cx="4060825" cy="708025"/>
            <a:chOff x="0" y="0"/>
            <a:chExt cx="4060825" cy="708025"/>
          </a:xfrm>
        </p:grpSpPr>
        <p:sp>
          <p:nvSpPr>
            <p:cNvPr id="108608" name="Rectangle 61"/>
            <p:cNvSpPr/>
            <p:nvPr/>
          </p:nvSpPr>
          <p:spPr>
            <a:xfrm>
              <a:off x="0" y="28575"/>
              <a:ext cx="650875" cy="517525"/>
            </a:xfrm>
            <a:prstGeom prst="rect">
              <a:avLst/>
            </a:prstGeom>
            <a:noFill/>
            <a:ln w="9525">
              <a:noFill/>
            </a:ln>
          </p:spPr>
          <p:txBody>
            <a:bodyPr wrap="none"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m:n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09" name="Rectangle 69"/>
            <p:cNvSpPr/>
            <p:nvPr/>
          </p:nvSpPr>
          <p:spPr>
            <a:xfrm>
              <a:off x="2160588" y="0"/>
              <a:ext cx="1900237"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grpSp>
      <p:grpSp>
        <p:nvGrpSpPr>
          <p:cNvPr id="108610" name="组合 24"/>
          <p:cNvGrpSpPr/>
          <p:nvPr/>
        </p:nvGrpSpPr>
        <p:grpSpPr>
          <a:xfrm>
            <a:off x="777875" y="2933700"/>
            <a:ext cx="3562350" cy="549275"/>
            <a:chOff x="0" y="0"/>
            <a:chExt cx="3562667" cy="548699"/>
          </a:xfrm>
        </p:grpSpPr>
        <p:sp>
          <p:nvSpPr>
            <p:cNvPr id="108611" name="Rectangle 71"/>
            <p:cNvSpPr/>
            <p:nvPr/>
          </p:nvSpPr>
          <p:spPr>
            <a:xfrm>
              <a:off x="0" y="0"/>
              <a:ext cx="494046"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书</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12" name="Rectangle 72"/>
            <p:cNvSpPr/>
            <p:nvPr/>
          </p:nvSpPr>
          <p:spPr>
            <a:xfrm>
              <a:off x="2265680" y="30480"/>
              <a:ext cx="1296987"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出版社</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8613" name="组合 28"/>
          <p:cNvGrpSpPr/>
          <p:nvPr/>
        </p:nvGrpSpPr>
        <p:grpSpPr>
          <a:xfrm>
            <a:off x="1560513" y="2286000"/>
            <a:ext cx="1471612" cy="3968750"/>
            <a:chOff x="0" y="0"/>
            <a:chExt cx="1471930" cy="4095949"/>
          </a:xfrm>
        </p:grpSpPr>
        <p:sp>
          <p:nvSpPr>
            <p:cNvPr id="108614" name="Rectangle 86"/>
            <p:cNvSpPr/>
            <p:nvPr/>
          </p:nvSpPr>
          <p:spPr>
            <a:xfrm>
              <a:off x="301625" y="0"/>
              <a:ext cx="863600" cy="518219"/>
            </a:xfrm>
            <a:prstGeom prst="rect">
              <a:avLst/>
            </a:prstGeom>
            <a:noFill/>
            <a:ln w="9525">
              <a:noFill/>
            </a:ln>
          </p:spPr>
          <p:txBody>
            <a:bodyPr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写作</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5" name="Rectangle 87"/>
            <p:cNvSpPr/>
            <p:nvPr/>
          </p:nvSpPr>
          <p:spPr>
            <a:xfrm>
              <a:off x="347345" y="713514"/>
              <a:ext cx="803425" cy="518219"/>
            </a:xfrm>
            <a:prstGeom prst="rect">
              <a:avLst/>
            </a:prstGeom>
            <a:noFill/>
            <a:ln w="9525">
              <a:noFill/>
            </a:ln>
          </p:spPr>
          <p:txBody>
            <a:bodyPr wrap="none"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出版</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6" name="Rectangle 88"/>
            <p:cNvSpPr/>
            <p:nvPr/>
          </p:nvSpPr>
          <p:spPr>
            <a:xfrm>
              <a:off x="329565" y="2122796"/>
              <a:ext cx="920750" cy="534877"/>
            </a:xfrm>
            <a:prstGeom prst="rect">
              <a:avLst/>
            </a:prstGeom>
            <a:noFill/>
            <a:ln w="9525">
              <a:noFill/>
            </a:ln>
          </p:spPr>
          <p:txBody>
            <a:bodyPr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编辑</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7" name="Rectangle 89"/>
            <p:cNvSpPr/>
            <p:nvPr/>
          </p:nvSpPr>
          <p:spPr>
            <a:xfrm>
              <a:off x="332105" y="2820579"/>
              <a:ext cx="803425" cy="534877"/>
            </a:xfrm>
            <a:prstGeom prst="rect">
              <a:avLst/>
            </a:prstGeom>
            <a:noFill/>
            <a:ln w="9525">
              <a:noFill/>
            </a:ln>
          </p:spPr>
          <p:txBody>
            <a:bodyPr wrap="none"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合作</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8" name="Rectangle 90"/>
            <p:cNvSpPr/>
            <p:nvPr/>
          </p:nvSpPr>
          <p:spPr>
            <a:xfrm>
              <a:off x="342583" y="1388356"/>
              <a:ext cx="803425" cy="534877"/>
            </a:xfrm>
            <a:prstGeom prst="rect">
              <a:avLst/>
            </a:prstGeom>
            <a:noFill/>
            <a:ln w="9525">
              <a:noFill/>
            </a:ln>
          </p:spPr>
          <p:txBody>
            <a:bodyPr wrap="none"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工作</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9" name="Rectangle 91"/>
            <p:cNvSpPr/>
            <p:nvPr/>
          </p:nvSpPr>
          <p:spPr>
            <a:xfrm>
              <a:off x="0" y="3486023"/>
              <a:ext cx="1471930" cy="609926"/>
            </a:xfrm>
            <a:prstGeom prst="rect">
              <a:avLst/>
            </a:prstGeom>
            <a:noFill/>
            <a:ln w="9525">
              <a:noFill/>
            </a:ln>
          </p:spPr>
          <p:txBody>
            <a:bodyPr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出版合同</a:t>
              </a:r>
              <a:endParaRPr lang="zh-CN" altLang="en-US" sz="2400" dirty="0">
                <a:solidFill>
                  <a:srgbClr val="A50021"/>
                </a:solidFill>
                <a:latin typeface="宋体" panose="02010600030101010101" pitchFamily="2" charset="-122"/>
                <a:ea typeface="宋体" panose="02010600030101010101" pitchFamily="2" charset="-122"/>
              </a:endParaRPr>
            </a:p>
          </p:txBody>
        </p:sp>
      </p:grpSp>
      <p:grpSp>
        <p:nvGrpSpPr>
          <p:cNvPr id="108620" name="组合 35"/>
          <p:cNvGrpSpPr/>
          <p:nvPr/>
        </p:nvGrpSpPr>
        <p:grpSpPr>
          <a:xfrm>
            <a:off x="684213" y="3644900"/>
            <a:ext cx="3671887" cy="569913"/>
            <a:chOff x="0" y="0"/>
            <a:chExt cx="3671887" cy="570607"/>
          </a:xfrm>
        </p:grpSpPr>
        <p:sp>
          <p:nvSpPr>
            <p:cNvPr id="108621" name="Rectangle 67"/>
            <p:cNvSpPr/>
            <p:nvPr/>
          </p:nvSpPr>
          <p:spPr>
            <a:xfrm>
              <a:off x="2374900" y="0"/>
              <a:ext cx="1296987"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出版社</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22" name="Rectangle 68"/>
            <p:cNvSpPr/>
            <p:nvPr/>
          </p:nvSpPr>
          <p:spPr>
            <a:xfrm>
              <a:off x="0" y="52388"/>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编辑</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8623" name="组合 40"/>
          <p:cNvGrpSpPr/>
          <p:nvPr/>
        </p:nvGrpSpPr>
        <p:grpSpPr>
          <a:xfrm>
            <a:off x="668338" y="4314825"/>
            <a:ext cx="3246437" cy="568325"/>
            <a:chOff x="0" y="0"/>
            <a:chExt cx="3245802" cy="568701"/>
          </a:xfrm>
        </p:grpSpPr>
        <p:sp>
          <p:nvSpPr>
            <p:cNvPr id="108624" name="Rectangle 75"/>
            <p:cNvSpPr/>
            <p:nvPr/>
          </p:nvSpPr>
          <p:spPr>
            <a:xfrm>
              <a:off x="2679065" y="50482"/>
              <a:ext cx="566737"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书</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25" name="Rectangle 76"/>
            <p:cNvSpPr/>
            <p:nvPr/>
          </p:nvSpPr>
          <p:spPr>
            <a:xfrm>
              <a:off x="0" y="0"/>
              <a:ext cx="920750"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编辑</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3507" name="组合 50"/>
          <p:cNvGrpSpPr/>
          <p:nvPr/>
        </p:nvGrpSpPr>
        <p:grpSpPr>
          <a:xfrm>
            <a:off x="4716463" y="4292600"/>
            <a:ext cx="3884612" cy="708025"/>
            <a:chOff x="0" y="0"/>
            <a:chExt cx="3884612" cy="708025"/>
          </a:xfrm>
        </p:grpSpPr>
        <p:sp>
          <p:nvSpPr>
            <p:cNvPr id="108627" name="Rectangle 77"/>
            <p:cNvSpPr/>
            <p:nvPr/>
          </p:nvSpPr>
          <p:spPr>
            <a:xfrm>
              <a:off x="0" y="0"/>
              <a:ext cx="742950" cy="517525"/>
            </a:xfrm>
            <a:prstGeom prst="rect">
              <a:avLst/>
            </a:prstGeom>
            <a:noFill/>
            <a:ln w="9525">
              <a:noFill/>
            </a:ln>
          </p:spPr>
          <p:txBody>
            <a:bodyPr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m:n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28" name="Rectangle 94"/>
            <p:cNvSpPr/>
            <p:nvPr/>
          </p:nvSpPr>
          <p:spPr>
            <a:xfrm>
              <a:off x="2084387" y="0"/>
              <a:ext cx="1800225"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grpSp>
      <p:grpSp>
        <p:nvGrpSpPr>
          <p:cNvPr id="108629" name="组合 45"/>
          <p:cNvGrpSpPr/>
          <p:nvPr/>
        </p:nvGrpSpPr>
        <p:grpSpPr>
          <a:xfrm>
            <a:off x="654050" y="4984750"/>
            <a:ext cx="3322638" cy="549275"/>
            <a:chOff x="0" y="0"/>
            <a:chExt cx="3322787" cy="548699"/>
          </a:xfrm>
        </p:grpSpPr>
        <p:sp>
          <p:nvSpPr>
            <p:cNvPr id="108630" name="Rectangle 79"/>
            <p:cNvSpPr/>
            <p:nvPr/>
          </p:nvSpPr>
          <p:spPr>
            <a:xfrm>
              <a:off x="0" y="30480"/>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作者</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31" name="Rectangle 80"/>
            <p:cNvSpPr/>
            <p:nvPr/>
          </p:nvSpPr>
          <p:spPr>
            <a:xfrm>
              <a:off x="2519362" y="0"/>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作者</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3513" name="组合 51"/>
          <p:cNvGrpSpPr/>
          <p:nvPr/>
        </p:nvGrpSpPr>
        <p:grpSpPr>
          <a:xfrm>
            <a:off x="4381500" y="4962525"/>
            <a:ext cx="4264025" cy="762000"/>
            <a:chOff x="0" y="0"/>
            <a:chExt cx="4264025" cy="762000"/>
          </a:xfrm>
        </p:grpSpPr>
        <p:sp>
          <p:nvSpPr>
            <p:cNvPr id="108633" name="Rectangle 81"/>
            <p:cNvSpPr/>
            <p:nvPr/>
          </p:nvSpPr>
          <p:spPr>
            <a:xfrm>
              <a:off x="2392363" y="0"/>
              <a:ext cx="1871662"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部分参与约束部分参与约束</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108634" name="Rectangle 96"/>
            <p:cNvSpPr/>
            <p:nvPr/>
          </p:nvSpPr>
          <p:spPr>
            <a:xfrm>
              <a:off x="0" y="4763"/>
              <a:ext cx="1152525" cy="757237"/>
            </a:xfrm>
            <a:prstGeom prst="rect">
              <a:avLst/>
            </a:prstGeom>
            <a:noFill/>
            <a:ln w="9525">
              <a:noFill/>
            </a:ln>
          </p:spPr>
          <p:txBody>
            <a:bodyPr anchor="t">
              <a:spAutoFit/>
            </a:bodyPr>
            <a:lstStyle/>
            <a:p>
              <a:pPr lvl="0" indent="0" algn="ctr">
                <a:lnSpc>
                  <a:spcPct val="90000"/>
                </a:lnSpc>
                <a:spcBef>
                  <a:spcPct val="20000"/>
                </a:spcBef>
                <a:buClr>
                  <a:schemeClr val="tx1"/>
                </a:buClr>
                <a:buSzPct val="110000"/>
                <a:buNone/>
              </a:pPr>
              <a:r>
                <a:rPr lang="zh-CN" altLang="en-US" sz="2400" dirty="0">
                  <a:solidFill>
                    <a:srgbClr val="0000CC"/>
                  </a:solidFill>
                  <a:latin typeface="宋体" panose="02010600030101010101" pitchFamily="2" charset="-122"/>
                  <a:ea typeface="宋体" panose="02010600030101010101" pitchFamily="2" charset="-122"/>
                </a:rPr>
                <a:t>递归联系型</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8635" name="组合 50"/>
          <p:cNvGrpSpPr/>
          <p:nvPr/>
        </p:nvGrpSpPr>
        <p:grpSpPr>
          <a:xfrm>
            <a:off x="649288" y="5665788"/>
            <a:ext cx="3752850" cy="568325"/>
            <a:chOff x="0" y="0"/>
            <a:chExt cx="3752851" cy="568702"/>
          </a:xfrm>
        </p:grpSpPr>
        <p:sp>
          <p:nvSpPr>
            <p:cNvPr id="108636" name="Rectangle 83"/>
            <p:cNvSpPr/>
            <p:nvPr/>
          </p:nvSpPr>
          <p:spPr>
            <a:xfrm>
              <a:off x="0" y="0"/>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作者</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37" name="Rectangle 84"/>
            <p:cNvSpPr/>
            <p:nvPr/>
          </p:nvSpPr>
          <p:spPr>
            <a:xfrm>
              <a:off x="2455863" y="50483"/>
              <a:ext cx="1296988"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出版社</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3519" name="组合 52"/>
          <p:cNvGrpSpPr/>
          <p:nvPr/>
        </p:nvGrpSpPr>
        <p:grpSpPr>
          <a:xfrm>
            <a:off x="4643438" y="5656263"/>
            <a:ext cx="3960812" cy="668337"/>
            <a:chOff x="0" y="0"/>
            <a:chExt cx="3960812" cy="668337"/>
          </a:xfrm>
        </p:grpSpPr>
        <p:sp>
          <p:nvSpPr>
            <p:cNvPr id="108639" name="Rectangle 92"/>
            <p:cNvSpPr/>
            <p:nvPr/>
          </p:nvSpPr>
          <p:spPr>
            <a:xfrm>
              <a:off x="0" y="0"/>
              <a:ext cx="742950" cy="517525"/>
            </a:xfrm>
            <a:prstGeom prst="rect">
              <a:avLst/>
            </a:prstGeom>
            <a:noFill/>
            <a:ln w="9525">
              <a:noFill/>
            </a:ln>
          </p:spPr>
          <p:txBody>
            <a:bodyPr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m:n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40" name="Rectangle 97"/>
            <p:cNvSpPr/>
            <p:nvPr/>
          </p:nvSpPr>
          <p:spPr>
            <a:xfrm>
              <a:off x="2160587" y="22225"/>
              <a:ext cx="1800225" cy="646112"/>
            </a:xfrm>
            <a:prstGeom prst="rect">
              <a:avLst/>
            </a:prstGeom>
            <a:noFill/>
            <a:ln w="9525">
              <a:noFill/>
            </a:ln>
          </p:spPr>
          <p:txBody>
            <a:bodyPr anchor="t">
              <a:spAutoFit/>
            </a:bodyPr>
            <a:lstStyle/>
            <a:p>
              <a:pPr lvl="0" indent="0">
                <a:lnSpc>
                  <a:spcPct val="9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grpSp>
      <p:grpSp>
        <p:nvGrpSpPr>
          <p:cNvPr id="103522" name="组合 46"/>
          <p:cNvGrpSpPr/>
          <p:nvPr/>
        </p:nvGrpSpPr>
        <p:grpSpPr>
          <a:xfrm>
            <a:off x="4594225" y="2852738"/>
            <a:ext cx="4122738" cy="822325"/>
            <a:chOff x="0" y="0"/>
            <a:chExt cx="4122738" cy="822325"/>
          </a:xfrm>
        </p:grpSpPr>
        <p:sp>
          <p:nvSpPr>
            <p:cNvPr id="108642" name="Rectangle 65"/>
            <p:cNvSpPr/>
            <p:nvPr/>
          </p:nvSpPr>
          <p:spPr>
            <a:xfrm>
              <a:off x="0" y="73025"/>
              <a:ext cx="650875" cy="517525"/>
            </a:xfrm>
            <a:prstGeom prst="rect">
              <a:avLst/>
            </a:prstGeom>
            <a:noFill/>
            <a:ln w="9525">
              <a:noFill/>
            </a:ln>
          </p:spPr>
          <p:txBody>
            <a:bodyPr wrap="none"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1:n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43" name="Rectangle 93"/>
            <p:cNvSpPr/>
            <p:nvPr/>
          </p:nvSpPr>
          <p:spPr>
            <a:xfrm>
              <a:off x="2203450" y="114300"/>
              <a:ext cx="1919288"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108644" name="Text Box 99"/>
            <p:cNvSpPr txBox="1"/>
            <p:nvPr/>
          </p:nvSpPr>
          <p:spPr>
            <a:xfrm>
              <a:off x="1201738" y="0"/>
              <a:ext cx="576262" cy="589098"/>
            </a:xfrm>
            <a:prstGeom prst="rect">
              <a:avLst/>
            </a:prstGeom>
            <a:noFill/>
            <a:ln w="9525">
              <a:noFill/>
            </a:ln>
          </p:spPr>
          <p:txBody>
            <a:bodyPr anchor="t">
              <a:spAutoFit/>
            </a:bodyPr>
            <a:lstStyle/>
            <a:p>
              <a:pPr lvl="0" indent="0">
                <a:spcBef>
                  <a:spcPct val="50000"/>
                </a:spcBef>
                <a:buNone/>
              </a:pPr>
              <a:r>
                <a:rPr lang="en-US" altLang="x-none" sz="2800" dirty="0">
                  <a:solidFill>
                    <a:srgbClr val="0033CC"/>
                  </a:solidFill>
                  <a:latin typeface="宋体" panose="02010600030101010101" pitchFamily="2" charset="-122"/>
                  <a:ea typeface="宋体" panose="02010600030101010101" pitchFamily="2" charset="-122"/>
                </a:rPr>
                <a:t>√</a:t>
              </a:r>
              <a:endParaRPr lang="en-US" altLang="x-none" sz="2800" dirty="0">
                <a:solidFill>
                  <a:srgbClr val="0033CC"/>
                </a:solidFill>
                <a:latin typeface="宋体" panose="02010600030101010101" pitchFamily="2" charset="-122"/>
                <a:ea typeface="宋体" panose="02010600030101010101" pitchFamily="2" charset="-122"/>
              </a:endParaRPr>
            </a:p>
          </p:txBody>
        </p:sp>
      </p:grpSp>
      <p:grpSp>
        <p:nvGrpSpPr>
          <p:cNvPr id="103526" name="组合 47"/>
          <p:cNvGrpSpPr/>
          <p:nvPr/>
        </p:nvGrpSpPr>
        <p:grpSpPr>
          <a:xfrm>
            <a:off x="4579938" y="3609975"/>
            <a:ext cx="4013200" cy="735013"/>
            <a:chOff x="0" y="0"/>
            <a:chExt cx="4013200" cy="735013"/>
          </a:xfrm>
        </p:grpSpPr>
        <p:sp>
          <p:nvSpPr>
            <p:cNvPr id="108646" name="Rectangle 73"/>
            <p:cNvSpPr/>
            <p:nvPr/>
          </p:nvSpPr>
          <p:spPr>
            <a:xfrm>
              <a:off x="0" y="0"/>
              <a:ext cx="650875" cy="519113"/>
            </a:xfrm>
            <a:prstGeom prst="rect">
              <a:avLst/>
            </a:prstGeom>
            <a:noFill/>
            <a:ln w="9525">
              <a:noFill/>
            </a:ln>
          </p:spPr>
          <p:txBody>
            <a:bodyPr wrap="none"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1:n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47" name="Rectangle 95"/>
            <p:cNvSpPr/>
            <p:nvPr/>
          </p:nvSpPr>
          <p:spPr>
            <a:xfrm>
              <a:off x="2212975" y="26988"/>
              <a:ext cx="1800225"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108648" name="Text Box 100"/>
            <p:cNvSpPr txBox="1"/>
            <p:nvPr/>
          </p:nvSpPr>
          <p:spPr>
            <a:xfrm>
              <a:off x="1216025" y="34790"/>
              <a:ext cx="576262" cy="589098"/>
            </a:xfrm>
            <a:prstGeom prst="rect">
              <a:avLst/>
            </a:prstGeom>
            <a:noFill/>
            <a:ln w="9525">
              <a:noFill/>
            </a:ln>
          </p:spPr>
          <p:txBody>
            <a:bodyPr anchor="t">
              <a:spAutoFit/>
            </a:bodyPr>
            <a:lstStyle/>
            <a:p>
              <a:pPr lvl="0" indent="0">
                <a:spcBef>
                  <a:spcPct val="50000"/>
                </a:spcBef>
                <a:buNone/>
              </a:pPr>
              <a:r>
                <a:rPr lang="en-US" altLang="x-none" sz="2800" dirty="0">
                  <a:solidFill>
                    <a:srgbClr val="0033CC"/>
                  </a:solidFill>
                  <a:latin typeface="宋体" panose="02010600030101010101" pitchFamily="2" charset="-122"/>
                  <a:ea typeface="宋体" panose="02010600030101010101" pitchFamily="2" charset="-122"/>
                </a:rPr>
                <a:t>√</a:t>
              </a:r>
              <a:endParaRPr lang="en-US" altLang="x-none" sz="2800" dirty="0">
                <a:solidFill>
                  <a:srgbClr val="0033CC"/>
                </a:solidFill>
                <a:latin typeface="宋体" panose="02010600030101010101" pitchFamily="2" charset="-122"/>
                <a:ea typeface="宋体" panose="02010600030101010101" pitchFamily="2" charset="-122"/>
              </a:endParaRPr>
            </a:p>
          </p:txBody>
        </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488"/>
                                        </p:tgtEl>
                                        <p:attrNameLst>
                                          <p:attrName>style.visibility</p:attrName>
                                        </p:attrNameLst>
                                      </p:cBhvr>
                                      <p:to>
                                        <p:strVal val="visible"/>
                                      </p:to>
                                    </p:set>
                                    <p:animEffect transition="in" filter="fade">
                                      <p:cBhvr>
                                        <p:cTn id="7" dur="2000"/>
                                        <p:tgtEl>
                                          <p:spTgt spid="1034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522"/>
                                        </p:tgtEl>
                                        <p:attrNameLst>
                                          <p:attrName>style.visibility</p:attrName>
                                        </p:attrNameLst>
                                      </p:cBhvr>
                                      <p:to>
                                        <p:strVal val="visible"/>
                                      </p:to>
                                    </p:set>
                                    <p:animEffect transition="in" filter="fade">
                                      <p:cBhvr>
                                        <p:cTn id="12" dur="2000"/>
                                        <p:tgtEl>
                                          <p:spTgt spid="1035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526"/>
                                        </p:tgtEl>
                                        <p:attrNameLst>
                                          <p:attrName>style.visibility</p:attrName>
                                        </p:attrNameLst>
                                      </p:cBhvr>
                                      <p:to>
                                        <p:strVal val="visible"/>
                                      </p:to>
                                    </p:set>
                                    <p:animEffect transition="in" filter="fade">
                                      <p:cBhvr>
                                        <p:cTn id="17" dur="2000"/>
                                        <p:tgtEl>
                                          <p:spTgt spid="1035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3507"/>
                                        </p:tgtEl>
                                        <p:attrNameLst>
                                          <p:attrName>style.visibility</p:attrName>
                                        </p:attrNameLst>
                                      </p:cBhvr>
                                      <p:to>
                                        <p:strVal val="visible"/>
                                      </p:to>
                                    </p:set>
                                    <p:animEffect transition="in" filter="fade">
                                      <p:cBhvr>
                                        <p:cTn id="22" dur="2000"/>
                                        <p:tgtEl>
                                          <p:spTgt spid="10350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3513"/>
                                        </p:tgtEl>
                                        <p:attrNameLst>
                                          <p:attrName>style.visibility</p:attrName>
                                        </p:attrNameLst>
                                      </p:cBhvr>
                                      <p:to>
                                        <p:strVal val="visible"/>
                                      </p:to>
                                    </p:set>
                                    <p:animEffect transition="in" filter="fade">
                                      <p:cBhvr>
                                        <p:cTn id="27" dur="2000"/>
                                        <p:tgtEl>
                                          <p:spTgt spid="1035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3519"/>
                                        </p:tgtEl>
                                        <p:attrNameLst>
                                          <p:attrName>style.visibility</p:attrName>
                                        </p:attrNameLst>
                                      </p:cBhvr>
                                      <p:to>
                                        <p:strVal val="visible"/>
                                      </p:to>
                                    </p:set>
                                    <p:animEffect transition="in" filter="fade">
                                      <p:cBhvr>
                                        <p:cTn id="32" dur="2000"/>
                                        <p:tgtEl>
                                          <p:spTgt spid="103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569" name="组合 1"/>
          <p:cNvGrpSpPr/>
          <p:nvPr/>
        </p:nvGrpSpPr>
        <p:grpSpPr>
          <a:xfrm>
            <a:off x="244475" y="1327150"/>
            <a:ext cx="8578850" cy="4999038"/>
            <a:chOff x="0" y="0"/>
            <a:chExt cx="9144001" cy="6308734"/>
          </a:xfrm>
        </p:grpSpPr>
        <p:grpSp>
          <p:nvGrpSpPr>
            <p:cNvPr id="109570" name="Group 4"/>
            <p:cNvGrpSpPr/>
            <p:nvPr/>
          </p:nvGrpSpPr>
          <p:grpSpPr>
            <a:xfrm>
              <a:off x="6516688" y="2159002"/>
              <a:ext cx="1143000" cy="2160588"/>
              <a:chOff x="0" y="0"/>
              <a:chExt cx="720" cy="1361"/>
            </a:xfrm>
          </p:grpSpPr>
          <p:sp>
            <p:nvSpPr>
              <p:cNvPr id="109571" name="AutoShape 5"/>
              <p:cNvSpPr/>
              <p:nvPr/>
            </p:nvSpPr>
            <p:spPr>
              <a:xfrm>
                <a:off x="0" y="611"/>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572" name="Text Box 8"/>
              <p:cNvSpPr txBox="1"/>
              <p:nvPr/>
            </p:nvSpPr>
            <p:spPr>
              <a:xfrm>
                <a:off x="408" y="182"/>
                <a:ext cx="228" cy="41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573" name="Line 9"/>
              <p:cNvSpPr/>
              <p:nvPr/>
            </p:nvSpPr>
            <p:spPr>
              <a:xfrm flipV="1">
                <a:off x="363" y="0"/>
                <a:ext cx="45" cy="635"/>
              </a:xfrm>
              <a:prstGeom prst="line">
                <a:avLst/>
              </a:prstGeom>
              <a:ln w="50800" cap="flat" cmpd="sng">
                <a:solidFill>
                  <a:srgbClr val="CC0000"/>
                </a:solidFill>
                <a:prstDash val="solid"/>
                <a:round/>
                <a:headEnd type="none" w="med" len="med"/>
                <a:tailEnd type="none" w="med" len="med"/>
              </a:ln>
            </p:spPr>
          </p:sp>
          <p:sp>
            <p:nvSpPr>
              <p:cNvPr id="109574" name="Line 10"/>
              <p:cNvSpPr/>
              <p:nvPr/>
            </p:nvSpPr>
            <p:spPr>
              <a:xfrm flipV="1">
                <a:off x="272" y="998"/>
                <a:ext cx="91" cy="363"/>
              </a:xfrm>
              <a:prstGeom prst="line">
                <a:avLst/>
              </a:prstGeom>
              <a:ln w="50800" cap="flat" cmpd="sng">
                <a:solidFill>
                  <a:srgbClr val="CC0000"/>
                </a:solidFill>
                <a:prstDash val="solid"/>
                <a:round/>
                <a:headEnd type="none" w="med" len="med"/>
                <a:tailEnd type="triangle" w="med" len="med"/>
              </a:ln>
            </p:spPr>
          </p:sp>
          <p:sp>
            <p:nvSpPr>
              <p:cNvPr id="109575" name="Text Box 11"/>
              <p:cNvSpPr txBox="1"/>
              <p:nvPr/>
            </p:nvSpPr>
            <p:spPr>
              <a:xfrm>
                <a:off x="357" y="925"/>
                <a:ext cx="288" cy="41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09576" name="Group 12"/>
            <p:cNvGrpSpPr/>
            <p:nvPr/>
          </p:nvGrpSpPr>
          <p:grpSpPr>
            <a:xfrm>
              <a:off x="2051048" y="719140"/>
              <a:ext cx="1652588" cy="936627"/>
              <a:chOff x="0" y="0"/>
              <a:chExt cx="1041" cy="590"/>
            </a:xfrm>
          </p:grpSpPr>
          <p:sp>
            <p:nvSpPr>
              <p:cNvPr id="109577" name="Line 13"/>
              <p:cNvSpPr/>
              <p:nvPr/>
            </p:nvSpPr>
            <p:spPr>
              <a:xfrm flipV="1">
                <a:off x="137" y="272"/>
                <a:ext cx="408" cy="318"/>
              </a:xfrm>
              <a:prstGeom prst="line">
                <a:avLst/>
              </a:prstGeom>
              <a:ln w="25400" cap="flat" cmpd="sng">
                <a:solidFill>
                  <a:srgbClr val="0000FF"/>
                </a:solidFill>
                <a:prstDash val="solid"/>
                <a:round/>
                <a:headEnd type="none" w="med" len="med"/>
                <a:tailEnd type="none" w="med" len="med"/>
              </a:ln>
            </p:spPr>
          </p:sp>
          <p:sp>
            <p:nvSpPr>
              <p:cNvPr id="109578" name="Line 14"/>
              <p:cNvSpPr/>
              <p:nvPr/>
            </p:nvSpPr>
            <p:spPr>
              <a:xfrm flipV="1">
                <a:off x="0" y="227"/>
                <a:ext cx="409" cy="318"/>
              </a:xfrm>
              <a:prstGeom prst="line">
                <a:avLst/>
              </a:prstGeom>
              <a:ln w="25400" cap="flat" cmpd="sng">
                <a:solidFill>
                  <a:srgbClr val="0000FF"/>
                </a:solidFill>
                <a:prstDash val="solid"/>
                <a:round/>
                <a:headEnd type="none" w="med" len="med"/>
                <a:tailEnd type="none" w="med" len="med"/>
              </a:ln>
            </p:spPr>
          </p:sp>
          <p:sp>
            <p:nvSpPr>
              <p:cNvPr id="109579" name="AutoShape 15"/>
              <p:cNvSpPr/>
              <p:nvPr/>
            </p:nvSpPr>
            <p:spPr>
              <a:xfrm>
                <a:off x="273" y="0"/>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合作</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109580" name="Group 16"/>
            <p:cNvGrpSpPr/>
            <p:nvPr/>
          </p:nvGrpSpPr>
          <p:grpSpPr>
            <a:xfrm>
              <a:off x="179387" y="0"/>
              <a:ext cx="2428876" cy="2951165"/>
              <a:chOff x="0" y="0"/>
              <a:chExt cx="1530" cy="1859"/>
            </a:xfrm>
          </p:grpSpPr>
          <p:sp>
            <p:nvSpPr>
              <p:cNvPr id="109581" name="Rectangle 17"/>
              <p:cNvSpPr/>
              <p:nvPr/>
            </p:nvSpPr>
            <p:spPr>
              <a:xfrm>
                <a:off x="765" y="987"/>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作者</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9582" name="Oval 18"/>
              <p:cNvSpPr/>
              <p:nvPr/>
            </p:nvSpPr>
            <p:spPr>
              <a:xfrm>
                <a:off x="0" y="1088"/>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583" name="Line 19"/>
              <p:cNvSpPr/>
              <p:nvPr/>
            </p:nvSpPr>
            <p:spPr>
              <a:xfrm flipH="1">
                <a:off x="499" y="1134"/>
                <a:ext cx="272" cy="90"/>
              </a:xfrm>
              <a:prstGeom prst="line">
                <a:avLst/>
              </a:prstGeom>
              <a:ln w="25400" cap="flat" cmpd="sng">
                <a:solidFill>
                  <a:srgbClr val="000000"/>
                </a:solidFill>
                <a:prstDash val="solid"/>
                <a:round/>
                <a:headEnd type="none" w="med" len="med"/>
                <a:tailEnd type="none" w="med" len="med"/>
              </a:ln>
            </p:spPr>
          </p:sp>
          <p:sp>
            <p:nvSpPr>
              <p:cNvPr id="109584" name="Oval 20"/>
              <p:cNvSpPr/>
              <p:nvPr/>
            </p:nvSpPr>
            <p:spPr>
              <a:xfrm>
                <a:off x="285" y="363"/>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身份证号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09585" name="Oval 21"/>
              <p:cNvSpPr/>
              <p:nvPr/>
            </p:nvSpPr>
            <p:spPr>
              <a:xfrm>
                <a:off x="0" y="771"/>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586" name="Line 22"/>
              <p:cNvSpPr/>
              <p:nvPr/>
            </p:nvSpPr>
            <p:spPr>
              <a:xfrm>
                <a:off x="817" y="771"/>
                <a:ext cx="90" cy="227"/>
              </a:xfrm>
              <a:prstGeom prst="line">
                <a:avLst/>
              </a:prstGeom>
              <a:ln w="25400" cap="flat" cmpd="sng">
                <a:solidFill>
                  <a:srgbClr val="000000"/>
                </a:solidFill>
                <a:prstDash val="solid"/>
                <a:round/>
                <a:headEnd type="none" w="med" len="med"/>
                <a:tailEnd type="none" w="med" len="med"/>
              </a:ln>
            </p:spPr>
          </p:sp>
          <p:sp>
            <p:nvSpPr>
              <p:cNvPr id="109587" name="Oval 23"/>
              <p:cNvSpPr/>
              <p:nvPr/>
            </p:nvSpPr>
            <p:spPr>
              <a:xfrm>
                <a:off x="45" y="1496"/>
                <a:ext cx="567" cy="36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出生</a:t>
                </a:r>
                <a:endParaRPr lang="zh-CN" altLang="en-US" sz="1600" dirty="0">
                  <a:solidFill>
                    <a:srgbClr val="0000CC"/>
                  </a:solidFill>
                  <a:latin typeface="宋体" panose="02010600030101010101" pitchFamily="2" charset="-122"/>
                  <a:ea typeface="宋体" panose="02010600030101010101" pitchFamily="2" charset="-122"/>
                </a:endParaRPr>
              </a:p>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588" name="Oval 24"/>
              <p:cNvSpPr/>
              <p:nvPr/>
            </p:nvSpPr>
            <p:spPr>
              <a:xfrm>
                <a:off x="817" y="0"/>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工作单位</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589" name="Line 25"/>
              <p:cNvSpPr/>
              <p:nvPr/>
            </p:nvSpPr>
            <p:spPr>
              <a:xfrm flipH="1">
                <a:off x="998" y="408"/>
                <a:ext cx="136" cy="590"/>
              </a:xfrm>
              <a:prstGeom prst="line">
                <a:avLst/>
              </a:prstGeom>
              <a:ln w="25400" cap="flat" cmpd="sng">
                <a:solidFill>
                  <a:srgbClr val="000000"/>
                </a:solidFill>
                <a:prstDash val="solid"/>
                <a:round/>
                <a:headEnd type="none" w="med" len="med"/>
                <a:tailEnd type="none" w="med" len="med"/>
              </a:ln>
            </p:spPr>
          </p:sp>
          <p:sp>
            <p:nvSpPr>
              <p:cNvPr id="109590" name="Line 26"/>
              <p:cNvSpPr/>
              <p:nvPr/>
            </p:nvSpPr>
            <p:spPr>
              <a:xfrm flipH="1" flipV="1">
                <a:off x="454" y="952"/>
                <a:ext cx="317" cy="136"/>
              </a:xfrm>
              <a:prstGeom prst="line">
                <a:avLst/>
              </a:prstGeom>
              <a:ln w="25400" cap="flat" cmpd="sng">
                <a:solidFill>
                  <a:srgbClr val="000000"/>
                </a:solidFill>
                <a:prstDash val="solid"/>
                <a:round/>
                <a:headEnd type="none" w="med" len="med"/>
                <a:tailEnd type="none" w="med" len="med"/>
              </a:ln>
            </p:spPr>
          </p:sp>
          <p:sp>
            <p:nvSpPr>
              <p:cNvPr id="109591" name="Line 27"/>
              <p:cNvSpPr/>
              <p:nvPr/>
            </p:nvSpPr>
            <p:spPr>
              <a:xfrm flipH="1">
                <a:off x="544" y="1224"/>
                <a:ext cx="227" cy="363"/>
              </a:xfrm>
              <a:prstGeom prst="line">
                <a:avLst/>
              </a:prstGeom>
              <a:ln w="25400" cap="flat" cmpd="sng">
                <a:solidFill>
                  <a:srgbClr val="000000"/>
                </a:solidFill>
                <a:prstDash val="solid"/>
                <a:round/>
                <a:headEnd type="none" w="med" len="med"/>
                <a:tailEnd type="none" w="med" len="med"/>
              </a:ln>
            </p:spPr>
          </p:sp>
        </p:grpSp>
        <p:grpSp>
          <p:nvGrpSpPr>
            <p:cNvPr id="109592" name="Group 28"/>
            <p:cNvGrpSpPr/>
            <p:nvPr/>
          </p:nvGrpSpPr>
          <p:grpSpPr>
            <a:xfrm>
              <a:off x="0" y="3600456"/>
              <a:ext cx="2097088" cy="2708278"/>
              <a:chOff x="0" y="0"/>
              <a:chExt cx="1321" cy="1706"/>
            </a:xfrm>
          </p:grpSpPr>
          <p:sp>
            <p:nvSpPr>
              <p:cNvPr id="109593" name="Line 29"/>
              <p:cNvSpPr/>
              <p:nvPr/>
            </p:nvSpPr>
            <p:spPr>
              <a:xfrm flipH="1" flipV="1">
                <a:off x="521" y="226"/>
                <a:ext cx="318" cy="273"/>
              </a:xfrm>
              <a:prstGeom prst="line">
                <a:avLst/>
              </a:prstGeom>
              <a:ln w="25400" cap="flat" cmpd="sng">
                <a:solidFill>
                  <a:srgbClr val="000000"/>
                </a:solidFill>
                <a:prstDash val="solid"/>
                <a:round/>
                <a:headEnd type="none" w="med" len="med"/>
                <a:tailEnd type="none" w="med" len="med"/>
              </a:ln>
            </p:spPr>
          </p:sp>
          <p:sp>
            <p:nvSpPr>
              <p:cNvPr id="109594" name="Rectangle 30"/>
              <p:cNvSpPr/>
              <p:nvPr/>
            </p:nvSpPr>
            <p:spPr>
              <a:xfrm>
                <a:off x="793" y="47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书</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9595" name="Oval 31"/>
              <p:cNvSpPr/>
              <p:nvPr/>
            </p:nvSpPr>
            <p:spPr>
              <a:xfrm>
                <a:off x="249" y="1088"/>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书名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596" name="Oval 32"/>
              <p:cNvSpPr/>
              <p:nvPr/>
            </p:nvSpPr>
            <p:spPr>
              <a:xfrm>
                <a:off x="0" y="725"/>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09597" name="Line 33"/>
              <p:cNvSpPr/>
              <p:nvPr/>
            </p:nvSpPr>
            <p:spPr>
              <a:xfrm flipV="1">
                <a:off x="567" y="589"/>
                <a:ext cx="226" cy="272"/>
              </a:xfrm>
              <a:prstGeom prst="line">
                <a:avLst/>
              </a:prstGeom>
              <a:ln w="25400" cap="flat" cmpd="sng">
                <a:solidFill>
                  <a:srgbClr val="000000"/>
                </a:solidFill>
                <a:prstDash val="solid"/>
                <a:round/>
                <a:headEnd type="none" w="med" len="med"/>
                <a:tailEnd type="none" w="med" len="med"/>
              </a:ln>
            </p:spPr>
          </p:sp>
          <p:sp>
            <p:nvSpPr>
              <p:cNvPr id="109598" name="Line 34"/>
              <p:cNvSpPr/>
              <p:nvPr/>
            </p:nvSpPr>
            <p:spPr>
              <a:xfrm flipH="1">
                <a:off x="567" y="544"/>
                <a:ext cx="226" cy="0"/>
              </a:xfrm>
              <a:prstGeom prst="line">
                <a:avLst/>
              </a:prstGeom>
              <a:ln w="25400" cap="flat" cmpd="sng">
                <a:solidFill>
                  <a:srgbClr val="000000"/>
                </a:solidFill>
                <a:prstDash val="solid"/>
                <a:round/>
                <a:headEnd type="none" w="med" len="med"/>
                <a:tailEnd type="none" w="med" len="med"/>
              </a:ln>
            </p:spPr>
          </p:sp>
          <p:sp>
            <p:nvSpPr>
              <p:cNvPr id="109599" name="Oval 35"/>
              <p:cNvSpPr/>
              <p:nvPr/>
            </p:nvSpPr>
            <p:spPr>
              <a:xfrm>
                <a:off x="0" y="408"/>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类别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00" name="Oval 36"/>
              <p:cNvSpPr/>
              <p:nvPr/>
            </p:nvSpPr>
            <p:spPr>
              <a:xfrm>
                <a:off x="521" y="1343"/>
                <a:ext cx="567" cy="36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出版</a:t>
                </a:r>
                <a:endParaRPr lang="zh-CN" altLang="en-US" sz="1600" dirty="0">
                  <a:solidFill>
                    <a:srgbClr val="0000CC"/>
                  </a:solidFill>
                  <a:latin typeface="宋体" panose="02010600030101010101" pitchFamily="2" charset="-122"/>
                  <a:ea typeface="宋体" panose="02010600030101010101" pitchFamily="2" charset="-122"/>
                </a:endParaRPr>
              </a:p>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年份</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601" name="Oval 37"/>
              <p:cNvSpPr/>
              <p:nvPr/>
            </p:nvSpPr>
            <p:spPr>
              <a:xfrm>
                <a:off x="0" y="0"/>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价格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02" name="Line 38"/>
              <p:cNvSpPr/>
              <p:nvPr/>
            </p:nvSpPr>
            <p:spPr>
              <a:xfrm flipV="1">
                <a:off x="567" y="680"/>
                <a:ext cx="226" cy="408"/>
              </a:xfrm>
              <a:prstGeom prst="line">
                <a:avLst/>
              </a:prstGeom>
              <a:ln w="25400" cap="flat" cmpd="sng">
                <a:solidFill>
                  <a:srgbClr val="000000"/>
                </a:solidFill>
                <a:prstDash val="solid"/>
                <a:round/>
                <a:headEnd type="none" w="med" len="med"/>
                <a:tailEnd type="none" w="med" len="med"/>
              </a:ln>
            </p:spPr>
          </p:sp>
          <p:sp>
            <p:nvSpPr>
              <p:cNvPr id="109603" name="Line 39"/>
              <p:cNvSpPr/>
              <p:nvPr/>
            </p:nvSpPr>
            <p:spPr>
              <a:xfrm flipH="1" flipV="1">
                <a:off x="884" y="725"/>
                <a:ext cx="0" cy="635"/>
              </a:xfrm>
              <a:prstGeom prst="line">
                <a:avLst/>
              </a:prstGeom>
              <a:ln w="25400" cap="flat" cmpd="sng">
                <a:solidFill>
                  <a:srgbClr val="000000"/>
                </a:solidFill>
                <a:prstDash val="solid"/>
                <a:round/>
                <a:headEnd type="none" w="med" len="med"/>
                <a:tailEnd type="none" w="med" len="med"/>
              </a:ln>
            </p:spPr>
          </p:sp>
        </p:grpSp>
        <p:grpSp>
          <p:nvGrpSpPr>
            <p:cNvPr id="109604" name="Group 40"/>
            <p:cNvGrpSpPr/>
            <p:nvPr/>
          </p:nvGrpSpPr>
          <p:grpSpPr>
            <a:xfrm>
              <a:off x="5795963" y="4302123"/>
              <a:ext cx="3348038" cy="1563688"/>
              <a:chOff x="0" y="0"/>
              <a:chExt cx="2109" cy="985"/>
            </a:xfrm>
          </p:grpSpPr>
          <p:sp>
            <p:nvSpPr>
              <p:cNvPr id="109605" name="Rectangle 41"/>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编辑</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9606" name="Oval 42"/>
              <p:cNvSpPr/>
              <p:nvPr/>
            </p:nvSpPr>
            <p:spPr>
              <a:xfrm>
                <a:off x="1389" y="283"/>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出生年月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607" name="Oval 43"/>
              <p:cNvSpPr/>
              <p:nvPr/>
            </p:nvSpPr>
            <p:spPr>
              <a:xfrm>
                <a:off x="0" y="601"/>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工作证号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09608" name="Line 44"/>
              <p:cNvSpPr/>
              <p:nvPr/>
            </p:nvSpPr>
            <p:spPr>
              <a:xfrm>
                <a:off x="998" y="238"/>
                <a:ext cx="408" cy="181"/>
              </a:xfrm>
              <a:prstGeom prst="line">
                <a:avLst/>
              </a:prstGeom>
              <a:ln w="25400" cap="flat" cmpd="sng">
                <a:solidFill>
                  <a:srgbClr val="000000"/>
                </a:solidFill>
                <a:prstDash val="solid"/>
                <a:round/>
                <a:headEnd type="none" w="med" len="med"/>
                <a:tailEnd type="none" w="med" len="med"/>
              </a:ln>
            </p:spPr>
          </p:sp>
          <p:sp>
            <p:nvSpPr>
              <p:cNvPr id="109609" name="Oval 45"/>
              <p:cNvSpPr/>
              <p:nvPr/>
            </p:nvSpPr>
            <p:spPr>
              <a:xfrm>
                <a:off x="726"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10" name="Oval 46"/>
              <p:cNvSpPr/>
              <p:nvPr/>
            </p:nvSpPr>
            <p:spPr>
              <a:xfrm>
                <a:off x="1179"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11" name="Line 47"/>
              <p:cNvSpPr/>
              <p:nvPr/>
            </p:nvSpPr>
            <p:spPr>
              <a:xfrm flipH="1">
                <a:off x="454" y="283"/>
                <a:ext cx="136" cy="318"/>
              </a:xfrm>
              <a:prstGeom prst="line">
                <a:avLst/>
              </a:prstGeom>
              <a:ln w="25400" cap="flat" cmpd="sng">
                <a:solidFill>
                  <a:srgbClr val="000000"/>
                </a:solidFill>
                <a:prstDash val="solid"/>
                <a:round/>
                <a:headEnd type="none" w="med" len="med"/>
                <a:tailEnd type="none" w="med" len="med"/>
              </a:ln>
            </p:spPr>
          </p:sp>
          <p:sp>
            <p:nvSpPr>
              <p:cNvPr id="109612" name="Line 48"/>
              <p:cNvSpPr/>
              <p:nvPr/>
            </p:nvSpPr>
            <p:spPr>
              <a:xfrm>
                <a:off x="726" y="283"/>
                <a:ext cx="227" cy="363"/>
              </a:xfrm>
              <a:prstGeom prst="line">
                <a:avLst/>
              </a:prstGeom>
              <a:ln w="25400" cap="flat" cmpd="sng">
                <a:solidFill>
                  <a:srgbClr val="000000"/>
                </a:solidFill>
                <a:prstDash val="solid"/>
                <a:round/>
                <a:headEnd type="none" w="med" len="med"/>
                <a:tailEnd type="none" w="med" len="med"/>
              </a:ln>
            </p:spPr>
          </p:sp>
          <p:sp>
            <p:nvSpPr>
              <p:cNvPr id="109613" name="Line 49"/>
              <p:cNvSpPr/>
              <p:nvPr/>
            </p:nvSpPr>
            <p:spPr>
              <a:xfrm>
                <a:off x="817" y="283"/>
                <a:ext cx="544" cy="363"/>
              </a:xfrm>
              <a:prstGeom prst="line">
                <a:avLst/>
              </a:prstGeom>
              <a:ln w="25400" cap="flat" cmpd="sng">
                <a:solidFill>
                  <a:srgbClr val="000000"/>
                </a:solidFill>
                <a:prstDash val="solid"/>
                <a:round/>
                <a:headEnd type="none" w="med" len="med"/>
                <a:tailEnd type="none" w="med" len="med"/>
              </a:ln>
            </p:spPr>
          </p:sp>
        </p:grpSp>
        <p:grpSp>
          <p:nvGrpSpPr>
            <p:cNvPr id="109614" name="Group 50"/>
            <p:cNvGrpSpPr/>
            <p:nvPr/>
          </p:nvGrpSpPr>
          <p:grpSpPr>
            <a:xfrm>
              <a:off x="6629406" y="576264"/>
              <a:ext cx="2335216" cy="2014539"/>
              <a:chOff x="0" y="0"/>
              <a:chExt cx="1471" cy="1269"/>
            </a:xfrm>
          </p:grpSpPr>
          <p:sp>
            <p:nvSpPr>
              <p:cNvPr id="109615" name="Rectangle 51"/>
              <p:cNvSpPr/>
              <p:nvPr/>
            </p:nvSpPr>
            <p:spPr>
              <a:xfrm>
                <a:off x="96" y="752"/>
                <a:ext cx="608" cy="259"/>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出版社</a:t>
                </a:r>
                <a:endParaRPr lang="de-DE" altLang="en-US" dirty="0">
                  <a:solidFill>
                    <a:srgbClr val="000000"/>
                  </a:solidFill>
                  <a:latin typeface="宋体" panose="02010600030101010101" pitchFamily="2" charset="-122"/>
                  <a:ea typeface="宋体" panose="02010600030101010101" pitchFamily="2" charset="-122"/>
                </a:endParaRPr>
              </a:p>
            </p:txBody>
          </p:sp>
          <p:sp>
            <p:nvSpPr>
              <p:cNvPr id="109616" name="Oval 52"/>
              <p:cNvSpPr/>
              <p:nvPr/>
            </p:nvSpPr>
            <p:spPr>
              <a:xfrm>
                <a:off x="927" y="408"/>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17" name="Oval 53"/>
              <p:cNvSpPr/>
              <p:nvPr/>
            </p:nvSpPr>
            <p:spPr>
              <a:xfrm>
                <a:off x="0" y="99"/>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出版社号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09618" name="Line 54"/>
              <p:cNvSpPr/>
              <p:nvPr/>
            </p:nvSpPr>
            <p:spPr>
              <a:xfrm>
                <a:off x="288" y="483"/>
                <a:ext cx="96" cy="240"/>
              </a:xfrm>
              <a:prstGeom prst="line">
                <a:avLst/>
              </a:prstGeom>
              <a:ln w="25400" cap="flat" cmpd="sng">
                <a:solidFill>
                  <a:srgbClr val="000000"/>
                </a:solidFill>
                <a:prstDash val="solid"/>
                <a:round/>
                <a:headEnd type="none" w="med" len="med"/>
                <a:tailEnd type="none" w="med" len="med"/>
              </a:ln>
            </p:spPr>
          </p:sp>
          <p:sp>
            <p:nvSpPr>
              <p:cNvPr id="109619" name="Line 55"/>
              <p:cNvSpPr/>
              <p:nvPr/>
            </p:nvSpPr>
            <p:spPr>
              <a:xfrm flipH="1">
                <a:off x="564" y="568"/>
                <a:ext cx="363" cy="187"/>
              </a:xfrm>
              <a:prstGeom prst="line">
                <a:avLst/>
              </a:prstGeom>
              <a:ln w="25400" cap="flat" cmpd="sng">
                <a:solidFill>
                  <a:srgbClr val="000000"/>
                </a:solidFill>
                <a:prstDash val="solid"/>
                <a:round/>
                <a:headEnd type="none" w="med" len="med"/>
                <a:tailEnd type="none" w="med" len="med"/>
              </a:ln>
            </p:spPr>
          </p:sp>
          <p:sp>
            <p:nvSpPr>
              <p:cNvPr id="109620" name="Oval 56"/>
              <p:cNvSpPr/>
              <p:nvPr/>
            </p:nvSpPr>
            <p:spPr>
              <a:xfrm>
                <a:off x="70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出版社名称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21" name="Oval 57"/>
              <p:cNvSpPr/>
              <p:nvPr/>
            </p:nvSpPr>
            <p:spPr>
              <a:xfrm>
                <a:off x="1017" y="725"/>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22" name="Oval 58"/>
              <p:cNvSpPr/>
              <p:nvPr/>
            </p:nvSpPr>
            <p:spPr>
              <a:xfrm>
                <a:off x="927" y="997"/>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主页</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623" name="Line 59"/>
              <p:cNvSpPr/>
              <p:nvPr/>
            </p:nvSpPr>
            <p:spPr>
              <a:xfrm flipH="1">
                <a:off x="428" y="353"/>
                <a:ext cx="408" cy="414"/>
              </a:xfrm>
              <a:prstGeom prst="line">
                <a:avLst/>
              </a:prstGeom>
              <a:ln w="25400" cap="flat" cmpd="sng">
                <a:solidFill>
                  <a:srgbClr val="000000"/>
                </a:solidFill>
                <a:prstDash val="solid"/>
                <a:round/>
                <a:headEnd type="none" w="med" len="med"/>
                <a:tailEnd type="none" w="med" len="med"/>
              </a:ln>
            </p:spPr>
          </p:sp>
          <p:sp>
            <p:nvSpPr>
              <p:cNvPr id="109624" name="Line 60"/>
              <p:cNvSpPr/>
              <p:nvPr/>
            </p:nvSpPr>
            <p:spPr>
              <a:xfrm flipH="1">
                <a:off x="694" y="861"/>
                <a:ext cx="323" cy="36"/>
              </a:xfrm>
              <a:prstGeom prst="line">
                <a:avLst/>
              </a:prstGeom>
              <a:ln w="25400" cap="flat" cmpd="sng">
                <a:solidFill>
                  <a:srgbClr val="000000"/>
                </a:solidFill>
                <a:prstDash val="solid"/>
                <a:round/>
                <a:headEnd type="none" w="med" len="med"/>
                <a:tailEnd type="none" w="med" len="med"/>
              </a:ln>
            </p:spPr>
          </p:sp>
          <p:sp>
            <p:nvSpPr>
              <p:cNvPr id="109625" name="Line 61"/>
              <p:cNvSpPr/>
              <p:nvPr/>
            </p:nvSpPr>
            <p:spPr>
              <a:xfrm flipH="1" flipV="1">
                <a:off x="673" y="921"/>
                <a:ext cx="254" cy="167"/>
              </a:xfrm>
              <a:prstGeom prst="line">
                <a:avLst/>
              </a:prstGeom>
              <a:ln w="25400" cap="flat" cmpd="sng">
                <a:solidFill>
                  <a:srgbClr val="000000"/>
                </a:solidFill>
                <a:prstDash val="solid"/>
                <a:round/>
                <a:headEnd type="none" w="med" len="med"/>
                <a:tailEnd type="none" w="med" len="med"/>
              </a:ln>
            </p:spPr>
          </p:sp>
        </p:grpSp>
        <p:grpSp>
          <p:nvGrpSpPr>
            <p:cNvPr id="109626" name="Group 62"/>
            <p:cNvGrpSpPr/>
            <p:nvPr/>
          </p:nvGrpSpPr>
          <p:grpSpPr>
            <a:xfrm>
              <a:off x="2124073" y="4464049"/>
              <a:ext cx="4319588" cy="798513"/>
              <a:chOff x="0" y="0"/>
              <a:chExt cx="2721" cy="503"/>
            </a:xfrm>
          </p:grpSpPr>
          <p:sp>
            <p:nvSpPr>
              <p:cNvPr id="109627" name="Line 63"/>
              <p:cNvSpPr/>
              <p:nvPr/>
            </p:nvSpPr>
            <p:spPr>
              <a:xfrm>
                <a:off x="0" y="63"/>
                <a:ext cx="1134" cy="118"/>
              </a:xfrm>
              <a:prstGeom prst="line">
                <a:avLst/>
              </a:prstGeom>
              <a:ln w="50800" cap="flat" cmpd="sng">
                <a:solidFill>
                  <a:srgbClr val="CC0000"/>
                </a:solidFill>
                <a:prstDash val="solid"/>
                <a:round/>
                <a:headEnd type="none" w="med" len="med"/>
                <a:tailEnd type="none" w="med" len="med"/>
              </a:ln>
            </p:spPr>
          </p:sp>
          <p:sp>
            <p:nvSpPr>
              <p:cNvPr id="109628" name="Text Box 64"/>
              <p:cNvSpPr txBox="1"/>
              <p:nvPr/>
            </p:nvSpPr>
            <p:spPr>
              <a:xfrm>
                <a:off x="499" y="45"/>
                <a:ext cx="226" cy="41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629" name="AutoShape 65"/>
              <p:cNvSpPr/>
              <p:nvPr/>
            </p:nvSpPr>
            <p:spPr>
              <a:xfrm>
                <a:off x="1088" y="0"/>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编辑</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30" name="Line 66"/>
              <p:cNvSpPr/>
              <p:nvPr/>
            </p:nvSpPr>
            <p:spPr>
              <a:xfrm flipV="1">
                <a:off x="1860" y="45"/>
                <a:ext cx="861" cy="109"/>
              </a:xfrm>
              <a:prstGeom prst="line">
                <a:avLst/>
              </a:prstGeom>
              <a:ln w="57150" cap="flat" cmpd="sng">
                <a:solidFill>
                  <a:srgbClr val="CC0000"/>
                </a:solidFill>
                <a:prstDash val="solid"/>
                <a:round/>
                <a:headEnd type="none" w="med" len="med"/>
                <a:tailEnd type="none" w="med" len="med"/>
              </a:ln>
            </p:spPr>
          </p:sp>
          <p:sp>
            <p:nvSpPr>
              <p:cNvPr id="109631" name="Text Box 67"/>
              <p:cNvSpPr txBox="1"/>
              <p:nvPr/>
            </p:nvSpPr>
            <p:spPr>
              <a:xfrm>
                <a:off x="2004" y="91"/>
                <a:ext cx="228" cy="41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09632" name="Group 68"/>
            <p:cNvGrpSpPr/>
            <p:nvPr/>
          </p:nvGrpSpPr>
          <p:grpSpPr>
            <a:xfrm>
              <a:off x="1042986" y="1943101"/>
              <a:ext cx="1219200" cy="2376489"/>
              <a:chOff x="0" y="0"/>
              <a:chExt cx="768" cy="1497"/>
            </a:xfrm>
          </p:grpSpPr>
          <p:sp>
            <p:nvSpPr>
              <p:cNvPr id="109633" name="AutoShape 69"/>
              <p:cNvSpPr/>
              <p:nvPr/>
            </p:nvSpPr>
            <p:spPr>
              <a:xfrm>
                <a:off x="0" y="635"/>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写作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34" name="Text Box 70"/>
              <p:cNvSpPr txBox="1"/>
              <p:nvPr/>
            </p:nvSpPr>
            <p:spPr>
              <a:xfrm>
                <a:off x="363" y="998"/>
                <a:ext cx="275" cy="412"/>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9635" name="Line 71"/>
              <p:cNvSpPr/>
              <p:nvPr/>
            </p:nvSpPr>
            <p:spPr>
              <a:xfrm flipH="1">
                <a:off x="363" y="0"/>
                <a:ext cx="90" cy="635"/>
              </a:xfrm>
              <a:prstGeom prst="line">
                <a:avLst/>
              </a:prstGeom>
              <a:ln w="50800" cap="flat" cmpd="sng">
                <a:solidFill>
                  <a:srgbClr val="CC0000"/>
                </a:solidFill>
                <a:prstDash val="solid"/>
                <a:round/>
                <a:headEnd type="none" w="med" len="med"/>
                <a:tailEnd type="none" w="med" len="med"/>
              </a:ln>
            </p:spPr>
          </p:sp>
          <p:sp>
            <p:nvSpPr>
              <p:cNvPr id="109636" name="Line 72"/>
              <p:cNvSpPr/>
              <p:nvPr/>
            </p:nvSpPr>
            <p:spPr>
              <a:xfrm flipH="1">
                <a:off x="363" y="953"/>
                <a:ext cx="0" cy="544"/>
              </a:xfrm>
              <a:prstGeom prst="line">
                <a:avLst/>
              </a:prstGeom>
              <a:ln w="50800" cap="flat" cmpd="sng">
                <a:solidFill>
                  <a:srgbClr val="CC0000"/>
                </a:solidFill>
                <a:prstDash val="solid"/>
                <a:round/>
                <a:headEnd type="none" w="med" len="med"/>
                <a:tailEnd type="none" w="med" len="med"/>
              </a:ln>
            </p:spPr>
          </p:sp>
          <p:sp>
            <p:nvSpPr>
              <p:cNvPr id="109637" name="Text Box 73"/>
              <p:cNvSpPr txBox="1"/>
              <p:nvPr/>
            </p:nvSpPr>
            <p:spPr>
              <a:xfrm>
                <a:off x="454" y="182"/>
                <a:ext cx="228" cy="41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09638" name="Group 74"/>
            <p:cNvGrpSpPr/>
            <p:nvPr/>
          </p:nvGrpSpPr>
          <p:grpSpPr>
            <a:xfrm>
              <a:off x="2124073" y="2159000"/>
              <a:ext cx="4824413" cy="2305050"/>
              <a:chOff x="0" y="0"/>
              <a:chExt cx="3039" cy="1452"/>
            </a:xfrm>
          </p:grpSpPr>
          <p:sp>
            <p:nvSpPr>
              <p:cNvPr id="109639" name="AutoShape 75"/>
              <p:cNvSpPr/>
              <p:nvPr/>
            </p:nvSpPr>
            <p:spPr>
              <a:xfrm>
                <a:off x="1633" y="862"/>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40" name="Line 76"/>
              <p:cNvSpPr/>
              <p:nvPr/>
            </p:nvSpPr>
            <p:spPr>
              <a:xfrm flipH="1">
                <a:off x="1996" y="0"/>
                <a:ext cx="1043" cy="862"/>
              </a:xfrm>
              <a:prstGeom prst="line">
                <a:avLst/>
              </a:prstGeom>
              <a:ln w="50800" cap="flat" cmpd="sng">
                <a:solidFill>
                  <a:srgbClr val="CC0000"/>
                </a:solidFill>
                <a:prstDash val="solid"/>
                <a:round/>
                <a:headEnd type="none" w="med" len="med"/>
                <a:tailEnd type="none" w="med" len="med"/>
              </a:ln>
            </p:spPr>
          </p:sp>
          <p:sp>
            <p:nvSpPr>
              <p:cNvPr id="109641" name="Line 77"/>
              <p:cNvSpPr/>
              <p:nvPr/>
            </p:nvSpPr>
            <p:spPr>
              <a:xfrm flipH="1">
                <a:off x="0" y="1044"/>
                <a:ext cx="1633" cy="408"/>
              </a:xfrm>
              <a:prstGeom prst="line">
                <a:avLst/>
              </a:prstGeom>
              <a:ln w="50800" cap="flat" cmpd="sng">
                <a:solidFill>
                  <a:srgbClr val="CC0000"/>
                </a:solidFill>
                <a:prstDash val="solid"/>
                <a:round/>
                <a:headEnd type="triangle" w="med" len="med"/>
                <a:tailEnd type="none" w="med" len="med"/>
              </a:ln>
            </p:spPr>
          </p:sp>
          <p:sp>
            <p:nvSpPr>
              <p:cNvPr id="109642" name="Text Box 80"/>
              <p:cNvSpPr txBox="1"/>
              <p:nvPr/>
            </p:nvSpPr>
            <p:spPr>
              <a:xfrm>
                <a:off x="504" y="899"/>
                <a:ext cx="212" cy="4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643" name="Text Box 81"/>
              <p:cNvSpPr txBox="1"/>
              <p:nvPr/>
            </p:nvSpPr>
            <p:spPr>
              <a:xfrm>
                <a:off x="2268" y="176"/>
                <a:ext cx="251" cy="4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09644" name="Group 82"/>
            <p:cNvGrpSpPr/>
            <p:nvPr/>
          </p:nvGrpSpPr>
          <p:grpSpPr>
            <a:xfrm>
              <a:off x="2339973" y="935055"/>
              <a:ext cx="4464050" cy="1284301"/>
              <a:chOff x="0" y="0"/>
              <a:chExt cx="2812" cy="809"/>
            </a:xfrm>
          </p:grpSpPr>
          <p:sp>
            <p:nvSpPr>
              <p:cNvPr id="109645" name="Line 83"/>
              <p:cNvSpPr/>
              <p:nvPr/>
            </p:nvSpPr>
            <p:spPr>
              <a:xfrm>
                <a:off x="0" y="545"/>
                <a:ext cx="906" cy="90"/>
              </a:xfrm>
              <a:prstGeom prst="line">
                <a:avLst/>
              </a:prstGeom>
              <a:ln w="50800" cap="flat" cmpd="sng">
                <a:solidFill>
                  <a:srgbClr val="CC0000"/>
                </a:solidFill>
                <a:prstDash val="solid"/>
                <a:round/>
                <a:headEnd type="none" w="med" len="med"/>
                <a:tailEnd type="none" w="med" len="med"/>
              </a:ln>
            </p:spPr>
          </p:sp>
          <p:sp>
            <p:nvSpPr>
              <p:cNvPr id="109646" name="Line 84"/>
              <p:cNvSpPr/>
              <p:nvPr/>
            </p:nvSpPr>
            <p:spPr>
              <a:xfrm flipH="1">
                <a:off x="1587" y="635"/>
                <a:ext cx="1225" cy="1"/>
              </a:xfrm>
              <a:prstGeom prst="line">
                <a:avLst/>
              </a:prstGeom>
              <a:ln w="50800" cap="flat" cmpd="sng">
                <a:solidFill>
                  <a:srgbClr val="CC0000"/>
                </a:solidFill>
                <a:prstDash val="solid"/>
                <a:round/>
                <a:headEnd type="none" w="med" len="med"/>
                <a:tailEnd type="none" w="med" len="med"/>
              </a:ln>
            </p:spPr>
          </p:sp>
          <p:sp>
            <p:nvSpPr>
              <p:cNvPr id="109647" name="Text Box 85"/>
              <p:cNvSpPr txBox="1"/>
              <p:nvPr/>
            </p:nvSpPr>
            <p:spPr>
              <a:xfrm>
                <a:off x="169" y="68"/>
                <a:ext cx="251" cy="4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648" name="Text Box 86"/>
              <p:cNvSpPr txBox="1"/>
              <p:nvPr/>
            </p:nvSpPr>
            <p:spPr>
              <a:xfrm>
                <a:off x="2495" y="218"/>
                <a:ext cx="251" cy="4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649" name="Line 87"/>
              <p:cNvSpPr/>
              <p:nvPr/>
            </p:nvSpPr>
            <p:spPr>
              <a:xfrm flipV="1">
                <a:off x="1406" y="409"/>
                <a:ext cx="363" cy="136"/>
              </a:xfrm>
              <a:prstGeom prst="line">
                <a:avLst/>
              </a:prstGeom>
              <a:ln w="25400" cap="flat" cmpd="sng">
                <a:solidFill>
                  <a:srgbClr val="000000"/>
                </a:solidFill>
                <a:prstDash val="solid"/>
                <a:round/>
                <a:headEnd type="none" w="med" len="med"/>
                <a:tailEnd type="none" w="med" len="med"/>
              </a:ln>
            </p:spPr>
          </p:sp>
          <p:sp>
            <p:nvSpPr>
              <p:cNvPr id="109650" name="Line 88"/>
              <p:cNvSpPr/>
              <p:nvPr/>
            </p:nvSpPr>
            <p:spPr>
              <a:xfrm flipH="1" flipV="1">
                <a:off x="1179" y="273"/>
                <a:ext cx="91" cy="226"/>
              </a:xfrm>
              <a:prstGeom prst="line">
                <a:avLst/>
              </a:prstGeom>
              <a:ln w="25400" cap="flat" cmpd="sng">
                <a:solidFill>
                  <a:srgbClr val="000000"/>
                </a:solidFill>
                <a:prstDash val="solid"/>
                <a:round/>
                <a:headEnd type="none" w="med" len="med"/>
                <a:tailEnd type="none" w="med" len="med"/>
              </a:ln>
            </p:spPr>
          </p:sp>
          <p:sp>
            <p:nvSpPr>
              <p:cNvPr id="109651" name="AutoShape 89"/>
              <p:cNvSpPr/>
              <p:nvPr/>
            </p:nvSpPr>
            <p:spPr>
              <a:xfrm>
                <a:off x="907" y="473"/>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出版合同</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52" name="Oval 90"/>
              <p:cNvSpPr/>
              <p:nvPr/>
            </p:nvSpPr>
            <p:spPr>
              <a:xfrm>
                <a:off x="1497" y="91"/>
                <a:ext cx="861" cy="37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合同起止</a:t>
                </a:r>
                <a:endParaRPr lang="zh-CN" altLang="en-US" sz="1600" dirty="0">
                  <a:solidFill>
                    <a:srgbClr val="0000CC"/>
                  </a:solidFill>
                  <a:latin typeface="宋体" panose="02010600030101010101" pitchFamily="2" charset="-122"/>
                  <a:ea typeface="宋体" panose="02010600030101010101" pitchFamily="2" charset="-122"/>
                </a:endParaRPr>
              </a:p>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日期</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653" name="Oval 91"/>
              <p:cNvSpPr/>
              <p:nvPr/>
            </p:nvSpPr>
            <p:spPr>
              <a:xfrm>
                <a:off x="952"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合同号</a:t>
                </a:r>
                <a:endParaRPr lang="de-DE" altLang="en-US" sz="1600" dirty="0">
                  <a:solidFill>
                    <a:srgbClr val="0000CC"/>
                  </a:solidFill>
                  <a:latin typeface="宋体" panose="02010600030101010101" pitchFamily="2" charset="-122"/>
                  <a:ea typeface="宋体" panose="02010600030101010101" pitchFamily="2" charset="-122"/>
                </a:endParaRPr>
              </a:p>
            </p:txBody>
          </p:sp>
        </p:grpSp>
      </p:grpSp>
      <p:sp>
        <p:nvSpPr>
          <p:cNvPr id="109654"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4</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完成</a:t>
            </a:r>
            <a:r>
              <a:rPr lang="en-US" altLang="x-none" sz="2400" dirty="0">
                <a:solidFill>
                  <a:srgbClr val="006600"/>
                </a:solidFill>
                <a:latin typeface="华文楷体" panose="02010600040101010101" pitchFamily="2" charset="-122"/>
                <a:ea typeface="宋体" panose="02010600030101010101" pitchFamily="2" charset="-122"/>
              </a:rPr>
              <a:t>ER</a:t>
            </a:r>
            <a:r>
              <a:rPr lang="zh-CN" altLang="en-US" sz="2400" dirty="0">
                <a:solidFill>
                  <a:srgbClr val="006600"/>
                </a:solidFill>
                <a:latin typeface="华文楷体" panose="02010600040101010101" pitchFamily="2" charset="-122"/>
                <a:ea typeface="宋体" panose="02010600030101010101" pitchFamily="2" charset="-122"/>
              </a:rPr>
              <a:t>图的绘制</a:t>
            </a:r>
            <a:endParaRPr lang="zh-CN" altLang="en-US" sz="2400" dirty="0">
              <a:solidFill>
                <a:srgbClr val="006600"/>
              </a:solidFill>
              <a:latin typeface="华文楷体" panose="02010600040101010101" pitchFamily="2" charset="-122"/>
              <a:ea typeface="宋体" panose="02010600030101010101" pitchFamily="2" charset="-122"/>
            </a:endParaRPr>
          </a:p>
        </p:txBody>
      </p:sp>
      <p:sp>
        <p:nvSpPr>
          <p:cNvPr id="109656" name="Text Box 81"/>
          <p:cNvSpPr txBox="1"/>
          <p:nvPr/>
        </p:nvSpPr>
        <p:spPr>
          <a:xfrm>
            <a:off x="2211388" y="1957388"/>
            <a:ext cx="414337" cy="584200"/>
          </a:xfrm>
          <a:prstGeom prst="rect">
            <a:avLst/>
          </a:prstGeom>
          <a:noFill/>
          <a:ln w="9525">
            <a:noFill/>
          </a:ln>
        </p:spPr>
        <p:txBody>
          <a:bodyPr wrap="square" anchor="t">
            <a:spAutoFit/>
          </a:bodyPr>
          <a:lstStyle/>
          <a:p>
            <a:pPr lvl="0" indent="0">
              <a:buNone/>
            </a:pPr>
            <a:r>
              <a:rPr lang="en-US" altLang="zh-CN" sz="2400" dirty="0">
                <a:solidFill>
                  <a:srgbClr val="0033CC"/>
                </a:solidFill>
                <a:latin typeface="宋体" panose="02010600030101010101" pitchFamily="2" charset="-122"/>
                <a:ea typeface="宋体" panose="02010600030101010101" pitchFamily="2" charset="-122"/>
              </a:rPr>
              <a:t>n</a:t>
            </a:r>
            <a:endParaRPr lang="en-US" altLang="zh-CN" sz="2400" dirty="0">
              <a:solidFill>
                <a:srgbClr val="0033CC"/>
              </a:solidFill>
              <a:latin typeface="宋体" panose="02010600030101010101" pitchFamily="2" charset="-122"/>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2"/>
          <p:cNvSpPr/>
          <p:nvPr/>
        </p:nvSpPr>
        <p:spPr>
          <a:xfrm>
            <a:off x="473075" y="860425"/>
            <a:ext cx="7650163" cy="522288"/>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：为银行数据库设计</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05476" name="组合 8"/>
          <p:cNvGrpSpPr/>
          <p:nvPr/>
        </p:nvGrpSpPr>
        <p:grpSpPr>
          <a:xfrm>
            <a:off x="234950" y="1504950"/>
            <a:ext cx="5480050" cy="4164013"/>
            <a:chOff x="0" y="0"/>
            <a:chExt cx="5480050" cy="4164013"/>
          </a:xfrm>
        </p:grpSpPr>
        <p:sp>
          <p:nvSpPr>
            <p:cNvPr id="110596" name="Rectangle 2"/>
            <p:cNvSpPr txBox="1"/>
            <p:nvPr/>
          </p:nvSpPr>
          <p:spPr>
            <a:xfrm>
              <a:off x="0" y="0"/>
              <a:ext cx="5403850" cy="2381250"/>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宋体" panose="02010600030101010101" pitchFamily="2" charset="-122"/>
                  <a:ea typeface="宋体" panose="02010600030101010101" pitchFamily="2" charset="-122"/>
                </a:rPr>
                <a:t>  步骤</a:t>
              </a:r>
              <a:r>
                <a:rPr lang="en-US" altLang="x-none" sz="2400" dirty="0">
                  <a:solidFill>
                    <a:srgbClr val="FF0000"/>
                  </a:solidFill>
                  <a:latin typeface="宋体" panose="02010600030101010101" pitchFamily="2" charset="-122"/>
                  <a:ea typeface="宋体" panose="02010600030101010101" pitchFamily="2" charset="-122"/>
                </a:rPr>
                <a:t>1</a:t>
              </a:r>
              <a:r>
                <a:rPr lang="zh-CN" altLang="en-US" sz="2400" dirty="0">
                  <a:solidFill>
                    <a:srgbClr val="FF0000"/>
                  </a:solidFill>
                  <a:latin typeface="宋体" panose="02010600030101010101" pitchFamily="2" charset="-122"/>
                  <a:ea typeface="宋体" panose="02010600030101010101" pitchFamily="2" charset="-122"/>
                </a:rPr>
                <a:t>：</a:t>
              </a:r>
              <a:r>
                <a:rPr lang="zh-CN" altLang="en-US" sz="2400" dirty="0">
                  <a:solidFill>
                    <a:srgbClr val="006600"/>
                  </a:solidFill>
                  <a:latin typeface="宋体" panose="02010600030101010101" pitchFamily="2" charset="-122"/>
                  <a:ea typeface="宋体" panose="02010600030101010101" pitchFamily="2" charset="-122"/>
                </a:rPr>
                <a:t>标识实体及属性</a:t>
              </a:r>
              <a:endParaRPr lang="zh-CN" altLang="en-US" sz="2400" dirty="0">
                <a:solidFill>
                  <a:srgbClr val="006600"/>
                </a:solidFill>
                <a:latin typeface="宋体" panose="02010600030101010101" pitchFamily="2" charset="-122"/>
                <a:ea typeface="宋体" panose="02010600030101010101" pitchFamily="2" charset="-122"/>
              </a:endParaRPr>
            </a:p>
            <a:p>
              <a:pPr marL="533400" lvl="0" indent="-533400">
                <a:lnSpc>
                  <a:spcPct val="125000"/>
                </a:lnSpc>
                <a:spcBef>
                  <a:spcPts val="1800"/>
                </a:spcBef>
                <a:buClr>
                  <a:srgbClr val="0033CC"/>
                </a:buClr>
                <a:buSzPct val="80000"/>
                <a:buNone/>
              </a:pPr>
              <a:r>
                <a:rPr lang="zh-CN" altLang="en-US" sz="2000" dirty="0">
                  <a:latin typeface="宋体" panose="02010600030101010101" pitchFamily="2" charset="-122"/>
                  <a:ea typeface="宋体" panose="02010600030101010101" pitchFamily="2" charset="-122"/>
                </a:rPr>
                <a:t>   </a:t>
              </a: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客户 </a:t>
              </a:r>
              <a:r>
                <a:rPr lang="en-US" altLang="x-none" sz="2200" dirty="0">
                  <a:latin typeface="宋体" panose="02010600030101010101" pitchFamily="2" charset="-122"/>
                  <a:ea typeface="宋体" panose="02010600030101010101" pitchFamily="2" charset="-122"/>
                </a:rPr>
                <a:t>(</a:t>
              </a:r>
              <a:r>
                <a:rPr lang="zh-CN" altLang="en-US" sz="2200" u="sng" dirty="0">
                  <a:latin typeface="宋体" panose="02010600030101010101" pitchFamily="2" charset="-122"/>
                  <a:ea typeface="宋体" panose="02010600030101010101" pitchFamily="2" charset="-122"/>
                </a:rPr>
                <a:t>客户标识</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姓名</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性别</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出生年月，所在城市</a:t>
              </a:r>
              <a:r>
                <a:rPr lang="en-US" altLang="x-none" sz="2200" dirty="0">
                  <a:latin typeface="宋体" panose="02010600030101010101" pitchFamily="2" charset="-122"/>
                  <a:ea typeface="宋体" panose="02010600030101010101" pitchFamily="2" charset="-122"/>
                </a:rPr>
                <a:t>) </a:t>
              </a:r>
              <a:endParaRPr lang="en-US" altLang="x-none" sz="2200" dirty="0">
                <a:latin typeface="宋体" panose="02010600030101010101" pitchFamily="2" charset="-122"/>
                <a:ea typeface="宋体" panose="02010600030101010101" pitchFamily="2" charset="-122"/>
              </a:endParaRPr>
            </a:p>
            <a:p>
              <a:pPr marL="533400" lvl="0" indent="-533400">
                <a:lnSpc>
                  <a:spcPct val="125000"/>
                </a:lnSpc>
                <a:spcBef>
                  <a:spcPts val="600"/>
                </a:spcBef>
                <a:buClr>
                  <a:srgbClr val="0033CC"/>
                </a:buClr>
                <a:buSzPct val="80000"/>
                <a:buNone/>
              </a:pP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帐户 </a:t>
              </a:r>
              <a:r>
                <a:rPr lang="en-US" altLang="x-none" sz="2200" dirty="0">
                  <a:latin typeface="宋体" panose="02010600030101010101" pitchFamily="2" charset="-122"/>
                  <a:ea typeface="宋体" panose="02010600030101010101" pitchFamily="2" charset="-122"/>
                </a:rPr>
                <a:t>(</a:t>
              </a:r>
              <a:r>
                <a:rPr lang="zh-CN" altLang="en-US" sz="2200" u="sng" dirty="0">
                  <a:latin typeface="宋体" panose="02010600030101010101" pitchFamily="2" charset="-122"/>
                  <a:ea typeface="宋体" panose="02010600030101010101" pitchFamily="2" charset="-122"/>
                </a:rPr>
                <a:t>帐户号</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帐户类型，收支平衡</a:t>
              </a:r>
              <a:r>
                <a:rPr lang="en-US" altLang="x-none" sz="2200" dirty="0">
                  <a:latin typeface="宋体" panose="02010600030101010101" pitchFamily="2" charset="-122"/>
                  <a:ea typeface="宋体" panose="02010600030101010101" pitchFamily="2" charset="-122"/>
                </a:rPr>
                <a:t>)</a:t>
              </a:r>
              <a:endParaRPr lang="en-US" altLang="x-none" sz="2200" dirty="0">
                <a:latin typeface="宋体" panose="02010600030101010101" pitchFamily="2" charset="-122"/>
                <a:ea typeface="宋体" panose="02010600030101010101" pitchFamily="2" charset="-122"/>
              </a:endParaRPr>
            </a:p>
            <a:p>
              <a:pPr marL="533400" lvl="0" indent="-533400">
                <a:lnSpc>
                  <a:spcPct val="125000"/>
                </a:lnSpc>
                <a:spcBef>
                  <a:spcPts val="600"/>
                </a:spcBef>
                <a:buClr>
                  <a:srgbClr val="0033CC"/>
                </a:buClr>
                <a:buSzPct val="80000"/>
                <a:buNone/>
              </a:pP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贷款 </a:t>
              </a:r>
              <a:r>
                <a:rPr lang="en-US" altLang="x-none" sz="2200" dirty="0">
                  <a:latin typeface="宋体" panose="02010600030101010101" pitchFamily="2" charset="-122"/>
                  <a:ea typeface="宋体" panose="02010600030101010101" pitchFamily="2" charset="-122"/>
                </a:rPr>
                <a:t>(</a:t>
              </a:r>
              <a:r>
                <a:rPr lang="zh-CN" altLang="en-US" sz="2200" u="sng" dirty="0">
                  <a:latin typeface="宋体" panose="02010600030101010101" pitchFamily="2" charset="-122"/>
                  <a:ea typeface="宋体" panose="02010600030101010101" pitchFamily="2" charset="-122"/>
                </a:rPr>
                <a:t>贷款号</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贷款期限，贷款额</a:t>
              </a:r>
              <a:r>
                <a:rPr lang="en-US" altLang="x-none" sz="2200" dirty="0">
                  <a:latin typeface="宋体" panose="02010600030101010101" pitchFamily="2" charset="-122"/>
                  <a:ea typeface="宋体" panose="02010600030101010101" pitchFamily="2" charset="-122"/>
                </a:rPr>
                <a:t>)</a:t>
              </a:r>
              <a:endParaRPr lang="en-US" altLang="x-none" sz="2200" dirty="0">
                <a:latin typeface="宋体" panose="02010600030101010101" pitchFamily="2" charset="-122"/>
                <a:ea typeface="宋体" panose="02010600030101010101" pitchFamily="2" charset="-122"/>
              </a:endParaRPr>
            </a:p>
            <a:p>
              <a:pPr marL="533400" lvl="0" indent="-533400">
                <a:lnSpc>
                  <a:spcPct val="125000"/>
                </a:lnSpc>
                <a:spcBef>
                  <a:spcPts val="600"/>
                </a:spcBef>
                <a:buClr>
                  <a:srgbClr val="0033CC"/>
                </a:buClr>
                <a:buSzPct val="80000"/>
                <a:buNone/>
              </a:pP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银行分支 </a:t>
              </a:r>
              <a:r>
                <a:rPr lang="en-US" altLang="x-none" sz="2200" dirty="0">
                  <a:latin typeface="宋体" panose="02010600030101010101" pitchFamily="2" charset="-122"/>
                  <a:ea typeface="宋体" panose="02010600030101010101" pitchFamily="2" charset="-122"/>
                </a:rPr>
                <a:t>(</a:t>
              </a:r>
              <a:r>
                <a:rPr lang="zh-CN" altLang="en-US" sz="2200" u="sng" dirty="0">
                  <a:latin typeface="宋体" panose="02010600030101010101" pitchFamily="2" charset="-122"/>
                  <a:ea typeface="宋体" panose="02010600030101010101" pitchFamily="2" charset="-122"/>
                </a:rPr>
                <a:t>分支号</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分支名，资产，所在城市</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电话</a:t>
              </a:r>
              <a:r>
                <a:rPr lang="en-US" altLang="x-none" sz="2200" dirty="0">
                  <a:latin typeface="宋体" panose="02010600030101010101" pitchFamily="2" charset="-122"/>
                  <a:ea typeface="宋体" panose="02010600030101010101" pitchFamily="2" charset="-122"/>
                </a:rPr>
                <a:t>)</a:t>
              </a:r>
              <a:endParaRPr lang="en-US" altLang="x-none" sz="2200" dirty="0">
                <a:latin typeface="宋体" panose="02010600030101010101" pitchFamily="2" charset="-122"/>
                <a:ea typeface="宋体" panose="02010600030101010101" pitchFamily="2" charset="-122"/>
              </a:endParaRPr>
            </a:p>
            <a:p>
              <a:pPr marL="742950" lvl="1" indent="-285750" eaLnBrk="1" hangingPunct="1">
                <a:lnSpc>
                  <a:spcPct val="125000"/>
                </a:lnSpc>
                <a:spcBef>
                  <a:spcPts val="600"/>
                </a:spcBef>
                <a:buNone/>
              </a:pP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雇员 （</a:t>
              </a:r>
              <a:r>
                <a:rPr lang="zh-CN" altLang="en-US" sz="2200" u="sng" dirty="0">
                  <a:latin typeface="宋体" panose="02010600030101010101" pitchFamily="2" charset="-122"/>
                  <a:ea typeface="宋体" panose="02010600030101010101" pitchFamily="2" charset="-122"/>
                </a:rPr>
                <a:t>雇员号</a:t>
              </a:r>
              <a:r>
                <a:rPr lang="zh-CN" altLang="en-US" sz="2200" dirty="0">
                  <a:latin typeface="宋体" panose="02010600030101010101" pitchFamily="2" charset="-122"/>
                  <a:ea typeface="宋体" panose="02010600030101010101" pitchFamily="2" charset="-122"/>
                </a:rPr>
                <a:t>，姓名，性别，职称）</a:t>
              </a:r>
              <a:endParaRPr lang="zh-CN" altLang="en-US" sz="2200" i="1" dirty="0">
                <a:latin typeface="宋体" panose="02010600030101010101" pitchFamily="2" charset="-122"/>
                <a:ea typeface="宋体" panose="02010600030101010101" pitchFamily="2" charset="-122"/>
              </a:endParaRPr>
            </a:p>
            <a:p>
              <a:pPr marL="533400" lvl="0" indent="-533400">
                <a:lnSpc>
                  <a:spcPct val="110000"/>
                </a:lnSpc>
                <a:spcBef>
                  <a:spcPct val="50000"/>
                </a:spcBef>
                <a:buClr>
                  <a:srgbClr val="0033CC"/>
                </a:buClr>
                <a:buSzPct val="80000"/>
                <a:buNone/>
              </a:pPr>
              <a:endParaRPr lang="en-US" altLang="x-none" sz="2000" dirty="0">
                <a:latin typeface="宋体" panose="0201060003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000" dirty="0">
                <a:latin typeface="宋体" panose="02010600030101010101" pitchFamily="2" charset="-122"/>
                <a:ea typeface="宋体" panose="02010600030101010101" pitchFamily="2" charset="-122"/>
              </a:endParaRPr>
            </a:p>
          </p:txBody>
        </p:sp>
        <p:sp>
          <p:nvSpPr>
            <p:cNvPr id="105478" name="AutoShape 2"/>
            <p:cNvSpPr/>
            <p:nvPr/>
          </p:nvSpPr>
          <p:spPr>
            <a:xfrm>
              <a:off x="342900" y="608013"/>
              <a:ext cx="5137150" cy="355600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105479" name="组合 11"/>
          <p:cNvGrpSpPr/>
          <p:nvPr/>
        </p:nvGrpSpPr>
        <p:grpSpPr>
          <a:xfrm>
            <a:off x="5472113" y="1585913"/>
            <a:ext cx="3503612" cy="4052887"/>
            <a:chOff x="0" y="0"/>
            <a:chExt cx="3503612" cy="4052887"/>
          </a:xfrm>
        </p:grpSpPr>
        <p:sp>
          <p:nvSpPr>
            <p:cNvPr id="110599" name="矩形 4"/>
            <p:cNvSpPr/>
            <p:nvPr/>
          </p:nvSpPr>
          <p:spPr>
            <a:xfrm>
              <a:off x="563562" y="631825"/>
              <a:ext cx="2651125" cy="3230880"/>
            </a:xfrm>
            <a:prstGeom prst="rect">
              <a:avLst/>
            </a:prstGeom>
            <a:noFill/>
            <a:ln w="9525">
              <a:noFill/>
            </a:ln>
          </p:spPr>
          <p:txBody>
            <a:bodyPr anchor="t">
              <a:spAutoFit/>
            </a:bodyPr>
            <a:lstStyle/>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储蓄 </a:t>
              </a:r>
              <a:endParaRPr lang="en-US" altLang="x-none"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借款</a:t>
              </a:r>
              <a:endParaRPr lang="en-US" altLang="x-none"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接待</a:t>
              </a:r>
              <a:endParaRPr lang="zh-CN" altLang="en-US"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帐户管理</a:t>
              </a:r>
              <a:endParaRPr lang="zh-CN" altLang="en-US"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贷款管理</a:t>
              </a:r>
              <a:endParaRPr lang="zh-CN" altLang="en-US"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工作 </a:t>
              </a:r>
              <a:endParaRPr lang="zh-CN" altLang="en-US"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领导 （任期）</a:t>
              </a:r>
              <a:endParaRPr lang="zh-CN" altLang="en-US" sz="2200" dirty="0">
                <a:latin typeface="华文楷体" panose="02010600040101010101" pitchFamily="2" charset="-122"/>
                <a:ea typeface="宋体" panose="02010600030101010101" pitchFamily="2" charset="-122"/>
              </a:endParaRPr>
            </a:p>
          </p:txBody>
        </p:sp>
        <p:grpSp>
          <p:nvGrpSpPr>
            <p:cNvPr id="110600" name="组合 10"/>
            <p:cNvGrpSpPr/>
            <p:nvPr/>
          </p:nvGrpSpPr>
          <p:grpSpPr>
            <a:xfrm>
              <a:off x="0" y="0"/>
              <a:ext cx="3503612" cy="4052887"/>
              <a:chOff x="0" y="0"/>
              <a:chExt cx="3503612" cy="4052887"/>
            </a:xfrm>
          </p:grpSpPr>
          <p:sp>
            <p:nvSpPr>
              <p:cNvPr id="110601" name="Rectangle 2"/>
              <p:cNvSpPr txBox="1"/>
              <p:nvPr/>
            </p:nvSpPr>
            <p:spPr>
              <a:xfrm>
                <a:off x="0" y="0"/>
                <a:ext cx="3503612" cy="8985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步骤</a:t>
                </a:r>
                <a:r>
                  <a:rPr lang="en-US" altLang="x-none"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标识联系及属性</a:t>
                </a:r>
                <a:endParaRPr lang="zh-CN" altLang="en-US" sz="24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ts val="1200"/>
                  </a:spcBef>
                  <a:buClr>
                    <a:srgbClr val="0033CC"/>
                  </a:buClr>
                  <a:buSzPct val="80000"/>
                  <a:buNone/>
                </a:pPr>
                <a:r>
                  <a:rPr lang="zh-CN" altLang="en-US" sz="2000" dirty="0">
                    <a:latin typeface="华文楷体" panose="02010600040101010101" pitchFamily="2" charset="-122"/>
                    <a:ea typeface="宋体" panose="02010600030101010101" pitchFamily="2" charset="-122"/>
                  </a:rPr>
                  <a:t>  </a:t>
                </a: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05483" name="AutoShape 2"/>
              <p:cNvSpPr/>
              <p:nvPr/>
            </p:nvSpPr>
            <p:spPr>
              <a:xfrm>
                <a:off x="439737" y="496887"/>
                <a:ext cx="2897188" cy="355600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476"/>
                                        </p:tgtEl>
                                        <p:attrNameLst>
                                          <p:attrName>style.visibility</p:attrName>
                                        </p:attrNameLst>
                                      </p:cBhvr>
                                      <p:to>
                                        <p:strVal val="visible"/>
                                      </p:to>
                                    </p:set>
                                    <p:anim calcmode="lin" valueType="num">
                                      <p:cBhvr additive="base">
                                        <p:cTn id="7" dur="500" fill="hold"/>
                                        <p:tgtEl>
                                          <p:spTgt spid="105476"/>
                                        </p:tgtEl>
                                        <p:attrNameLst>
                                          <p:attrName>ppt_x</p:attrName>
                                        </p:attrNameLst>
                                      </p:cBhvr>
                                      <p:tavLst>
                                        <p:tav tm="0">
                                          <p:val>
                                            <p:strVal val="#ppt_x"/>
                                          </p:val>
                                        </p:tav>
                                        <p:tav tm="100000">
                                          <p:val>
                                            <p:strVal val="#ppt_x"/>
                                          </p:val>
                                        </p:tav>
                                      </p:tavLst>
                                    </p:anim>
                                    <p:anim calcmode="lin" valueType="num">
                                      <p:cBhvr additive="base">
                                        <p:cTn id="8" dur="500" fill="hold"/>
                                        <p:tgtEl>
                                          <p:spTgt spid="1054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5479"/>
                                        </p:tgtEl>
                                        <p:attrNameLst>
                                          <p:attrName>style.visibility</p:attrName>
                                        </p:attrNameLst>
                                      </p:cBhvr>
                                      <p:to>
                                        <p:strVal val="visible"/>
                                      </p:to>
                                    </p:set>
                                    <p:anim calcmode="lin" valueType="num">
                                      <p:cBhvr additive="base">
                                        <p:cTn id="13" dur="500" fill="hold"/>
                                        <p:tgtEl>
                                          <p:spTgt spid="105479"/>
                                        </p:tgtEl>
                                        <p:attrNameLst>
                                          <p:attrName>ppt_x</p:attrName>
                                        </p:attrNameLst>
                                      </p:cBhvr>
                                      <p:tavLst>
                                        <p:tav tm="0">
                                          <p:val>
                                            <p:strVal val="#ppt_x"/>
                                          </p:val>
                                        </p:tav>
                                        <p:tav tm="100000">
                                          <p:val>
                                            <p:strVal val="#ppt_x"/>
                                          </p:val>
                                        </p:tav>
                                      </p:tavLst>
                                    </p:anim>
                                    <p:anim calcmode="lin" valueType="num">
                                      <p:cBhvr additive="base">
                                        <p:cTn id="14" dur="500" fill="hold"/>
                                        <p:tgtEl>
                                          <p:spTgt spid="1054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3</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a:t>
            </a:r>
            <a:r>
              <a:rPr lang="zh-CN" altLang="en-US" sz="2400" dirty="0">
                <a:latin typeface="Arial" panose="020B0604020202020204" pitchFamily="34" charset="0"/>
                <a:ea typeface="宋体" panose="02010600030101010101" pitchFamily="2" charset="-122"/>
              </a:rPr>
              <a:t>实体与联系的各种完整性约束</a:t>
            </a:r>
            <a:endParaRPr lang="zh-CN" altLang="en-US" sz="2400" dirty="0">
              <a:solidFill>
                <a:srgbClr val="006600"/>
              </a:solidFill>
              <a:latin typeface="华文楷体" panose="02010600040101010101" pitchFamily="2" charset="-122"/>
              <a:ea typeface="宋体" panose="02010600030101010101" pitchFamily="2" charset="-122"/>
            </a:endParaRPr>
          </a:p>
        </p:txBody>
      </p:sp>
      <p:graphicFrame>
        <p:nvGraphicFramePr>
          <p:cNvPr id="106500" name="表格 106499"/>
          <p:cNvGraphicFramePr/>
          <p:nvPr/>
        </p:nvGraphicFramePr>
        <p:xfrm>
          <a:off x="293688" y="1422400"/>
          <a:ext cx="8713788" cy="4904173"/>
        </p:xfrm>
        <a:graphic>
          <a:graphicData uri="http://schemas.openxmlformats.org/drawingml/2006/table">
            <a:tbl>
              <a:tblPr/>
              <a:tblGrid>
                <a:gridCol w="1212850"/>
                <a:gridCol w="1308100"/>
                <a:gridCol w="1512888"/>
                <a:gridCol w="1150937"/>
                <a:gridCol w="1008063"/>
                <a:gridCol w="2520950"/>
              </a:tblGrid>
              <a:tr h="6762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dirty="0"/>
                        <a:t>实体</a:t>
                      </a:r>
                      <a:r>
                        <a:rPr lang="en-US" altLang="x-none" sz="2400" dirty="0"/>
                        <a:t>1</a:t>
                      </a:r>
                      <a:endParaRPr lang="en-US" altLang="x-none" sz="2400" dirty="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80000"/>
                        </a:lnSpc>
                        <a:spcBef>
                          <a:spcPct val="0"/>
                        </a:spcBef>
                        <a:buClr>
                          <a:srgbClr val="000000"/>
                        </a:buClr>
                        <a:buFont typeface="Arial" panose="020B0604020202020204" pitchFamily="34" charset="0"/>
                        <a:buNone/>
                      </a:pPr>
                      <a:r>
                        <a:rPr lang="zh-CN" altLang="en-US" sz="2400"/>
                        <a:t>联系</a:t>
                      </a:r>
                      <a:endParaRPr lang="zh-CN" altLang="en-US" sz="24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dirty="0"/>
                        <a:t>实体</a:t>
                      </a:r>
                      <a:r>
                        <a:rPr lang="en-US" altLang="x-none" sz="2400" dirty="0"/>
                        <a:t>2</a:t>
                      </a:r>
                      <a:endParaRPr lang="en-US" altLang="x-none" sz="24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a:t>联系类型约束</a:t>
                      </a:r>
                      <a:endParaRPr lang="zh-CN" altLang="en-US" sz="24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a:t>键约束</a:t>
                      </a:r>
                      <a:endParaRPr lang="zh-CN" altLang="en-US" sz="24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a:t>参与约束</a:t>
                      </a:r>
                      <a:endParaRPr lang="zh-CN" altLang="en-US" sz="24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016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客户</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储蓄  </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帐户</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u="sng"/>
                        <a:t>帐户</a:t>
                      </a:r>
                      <a:r>
                        <a:rPr lang="zh-CN" altLang="en-US" sz="2000"/>
                        <a:t>部分参与 </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u="sng"/>
                        <a:t>客户</a:t>
                      </a:r>
                      <a:r>
                        <a:rPr lang="zh-CN" altLang="en-US" sz="2000"/>
                        <a:t>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5984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客户</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借款  </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贷款</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u="sng"/>
                        <a:t>贷款</a:t>
                      </a:r>
                      <a:r>
                        <a:rPr lang="zh-CN" altLang="en-US" sz="2000"/>
                        <a:t>完全参与</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u="sng"/>
                        <a:t>客户</a:t>
                      </a:r>
                      <a:r>
                        <a:rPr lang="zh-CN" altLang="en-US" sz="2000"/>
                        <a:t>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5794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dirty="0"/>
                        <a:t>客户</a:t>
                      </a:r>
                      <a:endParaRPr lang="zh-CN" altLang="en-US" sz="2000" dirty="0"/>
                    </a:p>
                    <a:p>
                      <a:pPr marL="0" lvl="0" indent="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接待</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雇员</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m:n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客户完全参与</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a:t>雇员部分参与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5984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银行分支</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帐户管理</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帐户</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分支完全参与</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a:t>帐户完全参与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016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dirty="0"/>
                        <a:t>银行分支</a:t>
                      </a:r>
                      <a:endParaRPr lang="zh-CN" altLang="en-US" sz="2000" dirty="0"/>
                    </a:p>
                    <a:p>
                      <a:pPr marL="0" lvl="0" indent="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457200" lvl="0" indent="-457200" eaLnBrk="1" hangingPunct="1">
                        <a:lnSpc>
                          <a:spcPct val="80000"/>
                        </a:lnSpc>
                        <a:spcBef>
                          <a:spcPct val="0"/>
                        </a:spcBef>
                        <a:buClr>
                          <a:srgbClr val="000000"/>
                        </a:buClr>
                        <a:buFont typeface="Arial" panose="020B0604020202020204" pitchFamily="34" charset="0"/>
                        <a:buNone/>
                      </a:pPr>
                      <a:r>
                        <a:rPr lang="zh-CN" altLang="en-US" sz="2000" dirty="0"/>
                        <a:t>贷款管理  </a:t>
                      </a:r>
                      <a:endParaRPr lang="zh-CN" altLang="en-US" sz="2000" dirty="0"/>
                    </a:p>
                    <a:p>
                      <a:pPr marL="457200" lvl="0" indent="-45720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贷款</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a:t>
                      </a:r>
                      <a:r>
                        <a:rPr lang="zh-CN" altLang="en-US" sz="2000" dirty="0"/>
                        <a:t>：</a:t>
                      </a:r>
                      <a:r>
                        <a:rPr lang="en-US" altLang="x-none" sz="2000" dirty="0"/>
                        <a:t>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u="sng"/>
                        <a:t>贷款</a:t>
                      </a:r>
                      <a:r>
                        <a:rPr lang="zh-CN" altLang="en-US" sz="2000"/>
                        <a:t>完全参与</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a:t>银行分支部分参与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492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雇员</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dirty="0"/>
                        <a:t>工作</a:t>
                      </a:r>
                      <a:endParaRPr lang="zh-CN" altLang="en-US" sz="2000" dirty="0"/>
                    </a:p>
                    <a:p>
                      <a:pPr marL="0" lvl="0" indent="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dirty="0"/>
                        <a:t>银行分支</a:t>
                      </a:r>
                      <a:endParaRPr lang="zh-CN" altLang="en-US" sz="2000" dirty="0"/>
                    </a:p>
                    <a:p>
                      <a:pPr marL="0" lvl="0" indent="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457200" lvl="0" indent="-457200" eaLnBrk="1" hangingPunct="1">
                        <a:lnSpc>
                          <a:spcPct val="80000"/>
                        </a:lnSpc>
                        <a:spcBef>
                          <a:spcPct val="0"/>
                        </a:spcBef>
                        <a:buClr>
                          <a:srgbClr val="000000"/>
                        </a:buClr>
                        <a:buFont typeface="Arial" panose="020B0604020202020204" pitchFamily="34" charset="0"/>
                        <a:buNone/>
                      </a:pPr>
                      <a:r>
                        <a:rPr lang="en-US" altLang="x-none" sz="2000" dirty="0"/>
                        <a:t>1:n</a:t>
                      </a:r>
                      <a:endParaRPr lang="en-US" altLang="x-none" sz="2000" dirty="0"/>
                    </a:p>
                    <a:p>
                      <a:pPr marL="457200" lvl="0" indent="-45720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雇员、银行分支均是完全参与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5984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雇员</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领导</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银行分支</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1:1</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银行分支是完全参与约束，雇员部分参与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bl>
          </a:graphicData>
        </a:graphic>
      </p:graphicFrame>
      <p:sp>
        <p:nvSpPr>
          <p:cNvPr id="111684" name="Text Box 67"/>
          <p:cNvSpPr txBox="1"/>
          <p:nvPr/>
        </p:nvSpPr>
        <p:spPr>
          <a:xfrm>
            <a:off x="5757863" y="2039938"/>
            <a:ext cx="431800"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111685" name="Text Box 68"/>
          <p:cNvSpPr txBox="1"/>
          <p:nvPr/>
        </p:nvSpPr>
        <p:spPr>
          <a:xfrm>
            <a:off x="5727700" y="2741613"/>
            <a:ext cx="596900"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111686" name="Text Box 71"/>
          <p:cNvSpPr txBox="1"/>
          <p:nvPr/>
        </p:nvSpPr>
        <p:spPr>
          <a:xfrm>
            <a:off x="5722938" y="3860800"/>
            <a:ext cx="503237"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111687" name="Text Box 72"/>
          <p:cNvSpPr txBox="1"/>
          <p:nvPr/>
        </p:nvSpPr>
        <p:spPr>
          <a:xfrm>
            <a:off x="5743575" y="4516438"/>
            <a:ext cx="503238"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111688" name="Text Box 73"/>
          <p:cNvSpPr txBox="1"/>
          <p:nvPr/>
        </p:nvSpPr>
        <p:spPr>
          <a:xfrm>
            <a:off x="5743575" y="5094288"/>
            <a:ext cx="503238"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fade/>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4</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完成</a:t>
            </a:r>
            <a:r>
              <a:rPr lang="en-US" altLang="x-none" sz="2400" dirty="0">
                <a:solidFill>
                  <a:srgbClr val="006600"/>
                </a:solidFill>
                <a:latin typeface="华文楷体" panose="02010600040101010101" pitchFamily="2" charset="-122"/>
                <a:ea typeface="宋体" panose="02010600030101010101" pitchFamily="2" charset="-122"/>
              </a:rPr>
              <a:t>ER</a:t>
            </a:r>
            <a:r>
              <a:rPr lang="zh-CN" altLang="en-US" sz="2400" dirty="0">
                <a:solidFill>
                  <a:srgbClr val="006600"/>
                </a:solidFill>
                <a:latin typeface="华文楷体" panose="02010600040101010101" pitchFamily="2" charset="-122"/>
                <a:ea typeface="宋体" panose="02010600030101010101" pitchFamily="2" charset="-122"/>
              </a:rPr>
              <a:t>图的绘制</a:t>
            </a:r>
            <a:endParaRPr lang="zh-CN" altLang="en-US" sz="2400" dirty="0">
              <a:solidFill>
                <a:srgbClr val="006600"/>
              </a:solidFill>
              <a:latin typeface="华文楷体" panose="02010600040101010101" pitchFamily="2" charset="-122"/>
              <a:ea typeface="宋体" panose="02010600030101010101" pitchFamily="2" charset="-122"/>
            </a:endParaRPr>
          </a:p>
        </p:txBody>
      </p:sp>
      <p:grpSp>
        <p:nvGrpSpPr>
          <p:cNvPr id="112643" name="组合 3"/>
          <p:cNvGrpSpPr/>
          <p:nvPr/>
        </p:nvGrpSpPr>
        <p:grpSpPr>
          <a:xfrm>
            <a:off x="320675" y="1311275"/>
            <a:ext cx="8455025" cy="5059363"/>
            <a:chOff x="0" y="0"/>
            <a:chExt cx="8964624" cy="5805490"/>
          </a:xfrm>
        </p:grpSpPr>
        <p:grpSp>
          <p:nvGrpSpPr>
            <p:cNvPr id="112644" name="Group 4"/>
            <p:cNvGrpSpPr/>
            <p:nvPr/>
          </p:nvGrpSpPr>
          <p:grpSpPr>
            <a:xfrm>
              <a:off x="6877050" y="1728786"/>
              <a:ext cx="1358900" cy="2519364"/>
              <a:chOff x="0" y="0"/>
              <a:chExt cx="856" cy="1587"/>
            </a:xfrm>
          </p:grpSpPr>
          <p:sp>
            <p:nvSpPr>
              <p:cNvPr id="112645" name="AutoShape 5"/>
              <p:cNvSpPr/>
              <p:nvPr/>
            </p:nvSpPr>
            <p:spPr>
              <a:xfrm>
                <a:off x="136" y="544"/>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46" name="Text Box 7"/>
              <p:cNvSpPr txBox="1"/>
              <p:nvPr/>
            </p:nvSpPr>
            <p:spPr>
              <a:xfrm>
                <a:off x="544" y="227"/>
                <a:ext cx="227" cy="375"/>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647" name="Line 8"/>
              <p:cNvSpPr/>
              <p:nvPr/>
            </p:nvSpPr>
            <p:spPr>
              <a:xfrm flipV="1">
                <a:off x="498" y="0"/>
                <a:ext cx="45" cy="544"/>
              </a:xfrm>
              <a:prstGeom prst="line">
                <a:avLst/>
              </a:prstGeom>
              <a:ln w="50800" cap="flat" cmpd="sng">
                <a:solidFill>
                  <a:srgbClr val="CC0000"/>
                </a:solidFill>
                <a:prstDash val="solid"/>
                <a:round/>
                <a:headEnd type="none" w="med" len="med"/>
                <a:tailEnd type="none" w="med" len="med"/>
              </a:ln>
            </p:spPr>
          </p:sp>
          <p:sp>
            <p:nvSpPr>
              <p:cNvPr id="112648" name="Line 9"/>
              <p:cNvSpPr/>
              <p:nvPr/>
            </p:nvSpPr>
            <p:spPr>
              <a:xfrm flipV="1">
                <a:off x="0" y="907"/>
                <a:ext cx="544" cy="680"/>
              </a:xfrm>
              <a:prstGeom prst="line">
                <a:avLst/>
              </a:prstGeom>
              <a:ln w="50800" cap="flat" cmpd="sng">
                <a:solidFill>
                  <a:srgbClr val="CC0000"/>
                </a:solidFill>
                <a:prstDash val="solid"/>
                <a:round/>
                <a:headEnd type="none" w="med" len="med"/>
                <a:tailEnd type="triangle" w="med" len="med"/>
              </a:ln>
            </p:spPr>
          </p:sp>
          <p:sp>
            <p:nvSpPr>
              <p:cNvPr id="112649" name="Text Box 10"/>
              <p:cNvSpPr txBox="1"/>
              <p:nvPr/>
            </p:nvSpPr>
            <p:spPr>
              <a:xfrm>
                <a:off x="226" y="1134"/>
                <a:ext cx="288" cy="375"/>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650" name="Group 12"/>
            <p:cNvGrpSpPr/>
            <p:nvPr/>
          </p:nvGrpSpPr>
          <p:grpSpPr>
            <a:xfrm>
              <a:off x="5651500" y="4241802"/>
              <a:ext cx="3097213" cy="1563688"/>
              <a:chOff x="0" y="0"/>
              <a:chExt cx="1951" cy="985"/>
            </a:xfrm>
          </p:grpSpPr>
          <p:sp>
            <p:nvSpPr>
              <p:cNvPr id="112651" name="Rectangle 13"/>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雇员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652" name="Oval 14"/>
              <p:cNvSpPr/>
              <p:nvPr/>
            </p:nvSpPr>
            <p:spPr>
              <a:xfrm>
                <a:off x="0" y="601"/>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工作证号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653" name="Line 15"/>
              <p:cNvSpPr/>
              <p:nvPr/>
            </p:nvSpPr>
            <p:spPr>
              <a:xfrm flipH="1" flipV="1">
                <a:off x="998" y="193"/>
                <a:ext cx="408" cy="181"/>
              </a:xfrm>
              <a:prstGeom prst="line">
                <a:avLst/>
              </a:prstGeom>
              <a:ln w="25400" cap="flat" cmpd="sng">
                <a:solidFill>
                  <a:srgbClr val="000000"/>
                </a:solidFill>
                <a:prstDash val="solid"/>
                <a:round/>
                <a:headEnd type="none" w="med" len="med"/>
                <a:tailEnd type="none" w="med" len="med"/>
              </a:ln>
            </p:spPr>
          </p:sp>
          <p:sp>
            <p:nvSpPr>
              <p:cNvPr id="112654" name="Oval 16"/>
              <p:cNvSpPr/>
              <p:nvPr/>
            </p:nvSpPr>
            <p:spPr>
              <a:xfrm>
                <a:off x="771"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55" name="Oval 17"/>
              <p:cNvSpPr/>
              <p:nvPr/>
            </p:nvSpPr>
            <p:spPr>
              <a:xfrm>
                <a:off x="1270"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56" name="Oval 18"/>
              <p:cNvSpPr/>
              <p:nvPr/>
            </p:nvSpPr>
            <p:spPr>
              <a:xfrm>
                <a:off x="1389" y="193"/>
                <a:ext cx="562"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职称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57" name="Line 19"/>
              <p:cNvSpPr/>
              <p:nvPr/>
            </p:nvSpPr>
            <p:spPr>
              <a:xfrm flipH="1">
                <a:off x="454" y="283"/>
                <a:ext cx="136" cy="318"/>
              </a:xfrm>
              <a:prstGeom prst="line">
                <a:avLst/>
              </a:prstGeom>
              <a:ln w="25400" cap="flat" cmpd="sng">
                <a:solidFill>
                  <a:srgbClr val="000000"/>
                </a:solidFill>
                <a:prstDash val="solid"/>
                <a:round/>
                <a:headEnd type="none" w="med" len="med"/>
                <a:tailEnd type="none" w="med" len="med"/>
              </a:ln>
            </p:spPr>
          </p:sp>
          <p:sp>
            <p:nvSpPr>
              <p:cNvPr id="112658" name="Line 20"/>
              <p:cNvSpPr/>
              <p:nvPr/>
            </p:nvSpPr>
            <p:spPr>
              <a:xfrm>
                <a:off x="726" y="283"/>
                <a:ext cx="227" cy="363"/>
              </a:xfrm>
              <a:prstGeom prst="line">
                <a:avLst/>
              </a:prstGeom>
              <a:ln w="25400" cap="flat" cmpd="sng">
                <a:solidFill>
                  <a:srgbClr val="000000"/>
                </a:solidFill>
                <a:prstDash val="solid"/>
                <a:round/>
                <a:headEnd type="none" w="med" len="med"/>
                <a:tailEnd type="none" w="med" len="med"/>
              </a:ln>
            </p:spPr>
          </p:sp>
          <p:sp>
            <p:nvSpPr>
              <p:cNvPr id="112659" name="Line 21"/>
              <p:cNvSpPr/>
              <p:nvPr/>
            </p:nvSpPr>
            <p:spPr>
              <a:xfrm>
                <a:off x="862" y="283"/>
                <a:ext cx="544" cy="363"/>
              </a:xfrm>
              <a:prstGeom prst="line">
                <a:avLst/>
              </a:prstGeom>
              <a:ln w="25400" cap="flat" cmpd="sng">
                <a:solidFill>
                  <a:srgbClr val="000000"/>
                </a:solidFill>
                <a:prstDash val="solid"/>
                <a:round/>
                <a:headEnd type="none" w="med" len="med"/>
                <a:tailEnd type="none" w="med" len="med"/>
              </a:ln>
            </p:spPr>
          </p:sp>
        </p:grpSp>
        <p:grpSp>
          <p:nvGrpSpPr>
            <p:cNvPr id="112660" name="Group 22"/>
            <p:cNvGrpSpPr/>
            <p:nvPr/>
          </p:nvGrpSpPr>
          <p:grpSpPr>
            <a:xfrm>
              <a:off x="6629408" y="73024"/>
              <a:ext cx="2335216" cy="2014539"/>
              <a:chOff x="0" y="0"/>
              <a:chExt cx="1471" cy="1269"/>
            </a:xfrm>
          </p:grpSpPr>
          <p:sp>
            <p:nvSpPr>
              <p:cNvPr id="112661" name="Rectangle 23"/>
              <p:cNvSpPr/>
              <p:nvPr/>
            </p:nvSpPr>
            <p:spPr>
              <a:xfrm>
                <a:off x="65" y="725"/>
                <a:ext cx="726" cy="320"/>
              </a:xfrm>
              <a:prstGeom prst="rect">
                <a:avLst/>
              </a:prstGeom>
              <a:solidFill>
                <a:srgbClr val="FECF70"/>
              </a:solidFill>
              <a:ln w="9525" cap="flat" cmpd="sng">
                <a:solidFill>
                  <a:srgbClr val="000000"/>
                </a:solidFill>
                <a:prstDash val="solid"/>
                <a:miter/>
                <a:headEnd type="none" w="med" len="med"/>
                <a:tailEnd type="none" w="med" len="med"/>
              </a:ln>
            </p:spPr>
            <p:txBody>
              <a:bodyPr lIns="36000" rIns="36000"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银行分支</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662" name="Oval 24"/>
              <p:cNvSpPr/>
              <p:nvPr/>
            </p:nvSpPr>
            <p:spPr>
              <a:xfrm>
                <a:off x="927" y="408"/>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63" name="Oval 25"/>
              <p:cNvSpPr/>
              <p:nvPr/>
            </p:nvSpPr>
            <p:spPr>
              <a:xfrm>
                <a:off x="0" y="99"/>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分支号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664" name="Line 26"/>
              <p:cNvSpPr/>
              <p:nvPr/>
            </p:nvSpPr>
            <p:spPr>
              <a:xfrm>
                <a:off x="288" y="483"/>
                <a:ext cx="96" cy="240"/>
              </a:xfrm>
              <a:prstGeom prst="line">
                <a:avLst/>
              </a:prstGeom>
              <a:ln w="25400" cap="flat" cmpd="sng">
                <a:solidFill>
                  <a:srgbClr val="000000"/>
                </a:solidFill>
                <a:prstDash val="solid"/>
                <a:round/>
                <a:headEnd type="none" w="med" len="med"/>
                <a:tailEnd type="none" w="med" len="med"/>
              </a:ln>
            </p:spPr>
          </p:sp>
          <p:sp>
            <p:nvSpPr>
              <p:cNvPr id="112665" name="Line 27"/>
              <p:cNvSpPr/>
              <p:nvPr/>
            </p:nvSpPr>
            <p:spPr>
              <a:xfrm flipH="1">
                <a:off x="654" y="544"/>
                <a:ext cx="273" cy="181"/>
              </a:xfrm>
              <a:prstGeom prst="line">
                <a:avLst/>
              </a:prstGeom>
              <a:ln w="25400" cap="flat" cmpd="sng">
                <a:solidFill>
                  <a:srgbClr val="000000"/>
                </a:solidFill>
                <a:prstDash val="solid"/>
                <a:round/>
                <a:headEnd type="none" w="med" len="med"/>
                <a:tailEnd type="none" w="med" len="med"/>
              </a:ln>
            </p:spPr>
          </p:sp>
          <p:sp>
            <p:nvSpPr>
              <p:cNvPr id="112666" name="Oval 28"/>
              <p:cNvSpPr/>
              <p:nvPr/>
            </p:nvSpPr>
            <p:spPr>
              <a:xfrm>
                <a:off x="70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分支名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67" name="Oval 29"/>
              <p:cNvSpPr/>
              <p:nvPr/>
            </p:nvSpPr>
            <p:spPr>
              <a:xfrm>
                <a:off x="1017" y="725"/>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68" name="Oval 30"/>
              <p:cNvSpPr/>
              <p:nvPr/>
            </p:nvSpPr>
            <p:spPr>
              <a:xfrm>
                <a:off x="927" y="997"/>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资产</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69" name="Line 31"/>
              <p:cNvSpPr/>
              <p:nvPr/>
            </p:nvSpPr>
            <p:spPr>
              <a:xfrm flipH="1">
                <a:off x="518" y="362"/>
                <a:ext cx="318" cy="363"/>
              </a:xfrm>
              <a:prstGeom prst="line">
                <a:avLst/>
              </a:prstGeom>
              <a:ln w="25400" cap="flat" cmpd="sng">
                <a:solidFill>
                  <a:srgbClr val="000000"/>
                </a:solidFill>
                <a:prstDash val="solid"/>
                <a:round/>
                <a:headEnd type="none" w="med" len="med"/>
                <a:tailEnd type="none" w="med" len="med"/>
              </a:ln>
            </p:spPr>
          </p:sp>
          <p:sp>
            <p:nvSpPr>
              <p:cNvPr id="112670" name="Line 32"/>
              <p:cNvSpPr/>
              <p:nvPr/>
            </p:nvSpPr>
            <p:spPr>
              <a:xfrm flipH="1" flipV="1">
                <a:off x="791" y="861"/>
                <a:ext cx="226" cy="0"/>
              </a:xfrm>
              <a:prstGeom prst="line">
                <a:avLst/>
              </a:prstGeom>
              <a:ln w="25400" cap="flat" cmpd="sng">
                <a:solidFill>
                  <a:srgbClr val="000000"/>
                </a:solidFill>
                <a:prstDash val="solid"/>
                <a:round/>
                <a:headEnd type="none" w="med" len="med"/>
                <a:tailEnd type="none" w="med" len="med"/>
              </a:ln>
            </p:spPr>
          </p:sp>
          <p:sp>
            <p:nvSpPr>
              <p:cNvPr id="112671" name="Line 33"/>
              <p:cNvSpPr/>
              <p:nvPr/>
            </p:nvSpPr>
            <p:spPr>
              <a:xfrm flipH="1" flipV="1">
                <a:off x="791" y="952"/>
                <a:ext cx="136" cy="136"/>
              </a:xfrm>
              <a:prstGeom prst="line">
                <a:avLst/>
              </a:prstGeom>
              <a:ln w="25400" cap="flat" cmpd="sng">
                <a:solidFill>
                  <a:srgbClr val="000000"/>
                </a:solidFill>
                <a:prstDash val="solid"/>
                <a:round/>
                <a:headEnd type="none" w="med" len="med"/>
                <a:tailEnd type="none" w="med" len="med"/>
              </a:ln>
            </p:spPr>
          </p:sp>
        </p:grpSp>
        <p:grpSp>
          <p:nvGrpSpPr>
            <p:cNvPr id="112672" name="Group 34"/>
            <p:cNvGrpSpPr/>
            <p:nvPr/>
          </p:nvGrpSpPr>
          <p:grpSpPr>
            <a:xfrm>
              <a:off x="611188" y="1439861"/>
              <a:ext cx="1366839" cy="2592389"/>
              <a:chOff x="0" y="0"/>
              <a:chExt cx="861" cy="1633"/>
            </a:xfrm>
          </p:grpSpPr>
          <p:sp>
            <p:nvSpPr>
              <p:cNvPr id="112673" name="Line 35"/>
              <p:cNvSpPr/>
              <p:nvPr/>
            </p:nvSpPr>
            <p:spPr>
              <a:xfrm flipH="1">
                <a:off x="408" y="0"/>
                <a:ext cx="317" cy="681"/>
              </a:xfrm>
              <a:prstGeom prst="line">
                <a:avLst/>
              </a:prstGeom>
              <a:ln w="25400" cap="flat" cmpd="sng">
                <a:solidFill>
                  <a:srgbClr val="0000CC"/>
                </a:solidFill>
                <a:prstDash val="solid"/>
                <a:round/>
                <a:headEnd type="none" w="med" len="med"/>
                <a:tailEnd type="triangle" w="med" len="med"/>
              </a:ln>
            </p:spPr>
          </p:sp>
          <p:sp>
            <p:nvSpPr>
              <p:cNvPr id="112674" name="AutoShape 36"/>
              <p:cNvSpPr/>
              <p:nvPr/>
            </p:nvSpPr>
            <p:spPr>
              <a:xfrm>
                <a:off x="0" y="681"/>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储蓄</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2675" name="Text Box 37"/>
              <p:cNvSpPr txBox="1"/>
              <p:nvPr/>
            </p:nvSpPr>
            <p:spPr>
              <a:xfrm>
                <a:off x="499" y="1044"/>
                <a:ext cx="275" cy="375"/>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12676" name="Line 38"/>
              <p:cNvSpPr/>
              <p:nvPr/>
            </p:nvSpPr>
            <p:spPr>
              <a:xfrm>
                <a:off x="363" y="998"/>
                <a:ext cx="182" cy="635"/>
              </a:xfrm>
              <a:prstGeom prst="line">
                <a:avLst/>
              </a:prstGeom>
              <a:ln w="28575" cap="flat" cmpd="sng">
                <a:solidFill>
                  <a:srgbClr val="0000FF"/>
                </a:solidFill>
                <a:prstDash val="solid"/>
                <a:round/>
                <a:headEnd type="none" w="med" len="med"/>
                <a:tailEnd type="none" w="med" len="med"/>
              </a:ln>
            </p:spPr>
          </p:sp>
          <p:sp>
            <p:nvSpPr>
              <p:cNvPr id="112677" name="Text Box 39"/>
              <p:cNvSpPr txBox="1"/>
              <p:nvPr/>
            </p:nvSpPr>
            <p:spPr>
              <a:xfrm>
                <a:off x="634" y="91"/>
                <a:ext cx="227" cy="375"/>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678" name="Group 40"/>
            <p:cNvGrpSpPr/>
            <p:nvPr/>
          </p:nvGrpSpPr>
          <p:grpSpPr>
            <a:xfrm>
              <a:off x="2339975" y="360360"/>
              <a:ext cx="4392613" cy="1152525"/>
              <a:chOff x="0" y="0"/>
              <a:chExt cx="2767" cy="726"/>
            </a:xfrm>
          </p:grpSpPr>
          <p:sp>
            <p:nvSpPr>
              <p:cNvPr id="112679" name="AutoShape 41"/>
              <p:cNvSpPr/>
              <p:nvPr/>
            </p:nvSpPr>
            <p:spPr>
              <a:xfrm>
                <a:off x="907" y="0"/>
                <a:ext cx="862" cy="408"/>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帐户管理</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2680" name="Line 42"/>
              <p:cNvSpPr/>
              <p:nvPr/>
            </p:nvSpPr>
            <p:spPr>
              <a:xfrm flipH="1" flipV="1">
                <a:off x="1724" y="181"/>
                <a:ext cx="1043" cy="545"/>
              </a:xfrm>
              <a:prstGeom prst="line">
                <a:avLst/>
              </a:prstGeom>
              <a:ln w="50800" cap="flat" cmpd="sng">
                <a:solidFill>
                  <a:srgbClr val="CC0000"/>
                </a:solidFill>
                <a:prstDash val="solid"/>
                <a:round/>
                <a:headEnd type="none" w="med" len="med"/>
                <a:tailEnd type="none" w="med" len="med"/>
              </a:ln>
            </p:spPr>
          </p:sp>
          <p:sp>
            <p:nvSpPr>
              <p:cNvPr id="112681" name="Text Box 43"/>
              <p:cNvSpPr txBox="1"/>
              <p:nvPr/>
            </p:nvSpPr>
            <p:spPr>
              <a:xfrm>
                <a:off x="357" y="45"/>
                <a:ext cx="251"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682" name="Text Box 44"/>
              <p:cNvSpPr txBox="1"/>
              <p:nvPr/>
            </p:nvSpPr>
            <p:spPr>
              <a:xfrm>
                <a:off x="1996" y="45"/>
                <a:ext cx="251"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683" name="Line 45"/>
              <p:cNvSpPr/>
              <p:nvPr/>
            </p:nvSpPr>
            <p:spPr>
              <a:xfrm flipH="1">
                <a:off x="0" y="181"/>
                <a:ext cx="952" cy="409"/>
              </a:xfrm>
              <a:prstGeom prst="line">
                <a:avLst/>
              </a:prstGeom>
              <a:ln w="50800" cap="flat" cmpd="sng">
                <a:solidFill>
                  <a:srgbClr val="CC0000"/>
                </a:solidFill>
                <a:prstDash val="solid"/>
                <a:round/>
                <a:headEnd type="triangle" w="med" len="med"/>
                <a:tailEnd type="none" w="med" len="med"/>
              </a:ln>
            </p:spPr>
          </p:sp>
        </p:grpSp>
        <p:grpSp>
          <p:nvGrpSpPr>
            <p:cNvPr id="112684" name="Group 46"/>
            <p:cNvGrpSpPr/>
            <p:nvPr/>
          </p:nvGrpSpPr>
          <p:grpSpPr>
            <a:xfrm>
              <a:off x="2698752" y="1296989"/>
              <a:ext cx="2511426" cy="1752603"/>
              <a:chOff x="0" y="0"/>
              <a:chExt cx="1582" cy="1104"/>
            </a:xfrm>
          </p:grpSpPr>
          <p:sp>
            <p:nvSpPr>
              <p:cNvPr id="112685" name="Line 47"/>
              <p:cNvSpPr/>
              <p:nvPr/>
            </p:nvSpPr>
            <p:spPr>
              <a:xfrm flipH="1" flipV="1">
                <a:off x="635" y="635"/>
                <a:ext cx="136" cy="181"/>
              </a:xfrm>
              <a:prstGeom prst="line">
                <a:avLst/>
              </a:prstGeom>
              <a:ln w="25400" cap="flat" cmpd="sng">
                <a:solidFill>
                  <a:srgbClr val="000000"/>
                </a:solidFill>
                <a:prstDash val="solid"/>
                <a:round/>
                <a:headEnd type="none" w="med" len="med"/>
                <a:tailEnd type="none" w="med" len="med"/>
              </a:ln>
            </p:spPr>
          </p:sp>
          <p:sp>
            <p:nvSpPr>
              <p:cNvPr id="112686" name="Rectangle 48"/>
              <p:cNvSpPr/>
              <p:nvPr/>
            </p:nvSpPr>
            <p:spPr>
              <a:xfrm>
                <a:off x="726" y="816"/>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endParaRPr lang="zh-CN" altLang="en-US" dirty="0">
                  <a:solidFill>
                    <a:srgbClr val="000000"/>
                  </a:solidFill>
                  <a:latin typeface="宋体" panose="02010600030101010101" pitchFamily="2" charset="-122"/>
                  <a:ea typeface="宋体" panose="02010600030101010101" pitchFamily="2" charset="-122"/>
                </a:endParaRPr>
              </a:p>
            </p:txBody>
          </p:sp>
          <p:sp>
            <p:nvSpPr>
              <p:cNvPr id="112687" name="Oval 49"/>
              <p:cNvSpPr/>
              <p:nvPr/>
            </p:nvSpPr>
            <p:spPr>
              <a:xfrm>
                <a:off x="0" y="36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贷款号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688" name="Oval 50"/>
              <p:cNvSpPr/>
              <p:nvPr/>
            </p:nvSpPr>
            <p:spPr>
              <a:xfrm>
                <a:off x="862" y="22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贷款额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89" name="Line 51"/>
              <p:cNvSpPr/>
              <p:nvPr/>
            </p:nvSpPr>
            <p:spPr>
              <a:xfrm flipH="1">
                <a:off x="1089" y="589"/>
                <a:ext cx="91" cy="227"/>
              </a:xfrm>
              <a:prstGeom prst="line">
                <a:avLst/>
              </a:prstGeom>
              <a:ln w="25400" cap="flat" cmpd="sng">
                <a:solidFill>
                  <a:srgbClr val="000000"/>
                </a:solidFill>
                <a:prstDash val="solid"/>
                <a:round/>
                <a:headEnd type="none" w="med" len="med"/>
                <a:tailEnd type="none" w="med" len="med"/>
              </a:ln>
            </p:spPr>
          </p:sp>
          <p:sp>
            <p:nvSpPr>
              <p:cNvPr id="112690" name="Oval 52"/>
              <p:cNvSpPr/>
              <p:nvPr/>
            </p:nvSpPr>
            <p:spPr>
              <a:xfrm>
                <a:off x="318"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贷款期限</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91" name="Line 53"/>
              <p:cNvSpPr/>
              <p:nvPr/>
            </p:nvSpPr>
            <p:spPr>
              <a:xfrm>
                <a:off x="726" y="362"/>
                <a:ext cx="182" cy="454"/>
              </a:xfrm>
              <a:prstGeom prst="line">
                <a:avLst/>
              </a:prstGeom>
              <a:ln w="25400" cap="flat" cmpd="sng">
                <a:solidFill>
                  <a:srgbClr val="000000"/>
                </a:solidFill>
                <a:prstDash val="solid"/>
                <a:round/>
                <a:headEnd type="none" w="med" len="med"/>
                <a:tailEnd type="none" w="med" len="med"/>
              </a:ln>
            </p:spPr>
          </p:sp>
        </p:grpSp>
        <p:grpSp>
          <p:nvGrpSpPr>
            <p:cNvPr id="112692" name="Group 54"/>
            <p:cNvGrpSpPr/>
            <p:nvPr/>
          </p:nvGrpSpPr>
          <p:grpSpPr>
            <a:xfrm>
              <a:off x="1979613" y="4176720"/>
              <a:ext cx="4392612" cy="811214"/>
              <a:chOff x="0" y="0"/>
              <a:chExt cx="2767" cy="511"/>
            </a:xfrm>
          </p:grpSpPr>
          <p:sp>
            <p:nvSpPr>
              <p:cNvPr id="112693" name="Line 55"/>
              <p:cNvSpPr/>
              <p:nvPr/>
            </p:nvSpPr>
            <p:spPr>
              <a:xfrm>
                <a:off x="0" y="91"/>
                <a:ext cx="1225" cy="90"/>
              </a:xfrm>
              <a:prstGeom prst="line">
                <a:avLst/>
              </a:prstGeom>
              <a:ln w="50800" cap="flat" cmpd="sng">
                <a:solidFill>
                  <a:srgbClr val="CC0000"/>
                </a:solidFill>
                <a:prstDash val="solid"/>
                <a:round/>
                <a:headEnd type="none" w="med" len="med"/>
                <a:tailEnd type="none" w="med" len="med"/>
              </a:ln>
            </p:spPr>
          </p:sp>
          <p:sp>
            <p:nvSpPr>
              <p:cNvPr id="112694" name="Text Box 56"/>
              <p:cNvSpPr txBox="1"/>
              <p:nvPr/>
            </p:nvSpPr>
            <p:spPr>
              <a:xfrm>
                <a:off x="953" y="136"/>
                <a:ext cx="226"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695" name="AutoShape 57"/>
              <p:cNvSpPr/>
              <p:nvPr/>
            </p:nvSpPr>
            <p:spPr>
              <a:xfrm>
                <a:off x="1179" y="0"/>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接待</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96" name="Line 58"/>
              <p:cNvSpPr/>
              <p:nvPr/>
            </p:nvSpPr>
            <p:spPr>
              <a:xfrm flipV="1">
                <a:off x="1905" y="181"/>
                <a:ext cx="862" cy="0"/>
              </a:xfrm>
              <a:prstGeom prst="line">
                <a:avLst/>
              </a:prstGeom>
              <a:ln w="28575" cap="flat" cmpd="sng">
                <a:solidFill>
                  <a:srgbClr val="0000FF"/>
                </a:solidFill>
                <a:prstDash val="solid"/>
                <a:round/>
                <a:headEnd type="none" w="med" len="med"/>
                <a:tailEnd type="none" w="med" len="med"/>
              </a:ln>
            </p:spPr>
          </p:sp>
          <p:sp>
            <p:nvSpPr>
              <p:cNvPr id="112697" name="Text Box 59"/>
              <p:cNvSpPr txBox="1"/>
              <p:nvPr/>
            </p:nvSpPr>
            <p:spPr>
              <a:xfrm>
                <a:off x="2404" y="136"/>
                <a:ext cx="227"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698" name="Group 60"/>
            <p:cNvGrpSpPr/>
            <p:nvPr/>
          </p:nvGrpSpPr>
          <p:grpSpPr>
            <a:xfrm>
              <a:off x="4787907" y="1512888"/>
              <a:ext cx="1944691" cy="1674814"/>
              <a:chOff x="0" y="0"/>
              <a:chExt cx="1225" cy="1055"/>
            </a:xfrm>
          </p:grpSpPr>
          <p:sp>
            <p:nvSpPr>
              <p:cNvPr id="112699" name="Text Box 61"/>
              <p:cNvSpPr txBox="1"/>
              <p:nvPr/>
            </p:nvSpPr>
            <p:spPr>
              <a:xfrm>
                <a:off x="91" y="680"/>
                <a:ext cx="227"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700" name="AutoShape 63"/>
              <p:cNvSpPr/>
              <p:nvPr/>
            </p:nvSpPr>
            <p:spPr>
              <a:xfrm rot="-1363704">
                <a:off x="227" y="272"/>
                <a:ext cx="862" cy="408"/>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贷款管理</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2701" name="Line 64"/>
              <p:cNvSpPr/>
              <p:nvPr/>
            </p:nvSpPr>
            <p:spPr>
              <a:xfrm flipV="1">
                <a:off x="0" y="635"/>
                <a:ext cx="318" cy="226"/>
              </a:xfrm>
              <a:prstGeom prst="line">
                <a:avLst/>
              </a:prstGeom>
              <a:ln w="50800" cap="flat" cmpd="sng">
                <a:solidFill>
                  <a:srgbClr val="CC0000"/>
                </a:solidFill>
                <a:prstDash val="solid"/>
                <a:round/>
                <a:headEnd type="none" w="med" len="med"/>
                <a:tailEnd type="triangle" w="med" len="med"/>
              </a:ln>
            </p:spPr>
          </p:sp>
          <p:sp>
            <p:nvSpPr>
              <p:cNvPr id="112702" name="Line 65"/>
              <p:cNvSpPr/>
              <p:nvPr/>
            </p:nvSpPr>
            <p:spPr>
              <a:xfrm flipV="1">
                <a:off x="1043" y="136"/>
                <a:ext cx="182" cy="181"/>
              </a:xfrm>
              <a:prstGeom prst="line">
                <a:avLst/>
              </a:prstGeom>
              <a:ln w="28575" cap="flat" cmpd="sng">
                <a:solidFill>
                  <a:srgbClr val="0000FF"/>
                </a:solidFill>
                <a:prstDash val="solid"/>
                <a:round/>
                <a:headEnd type="none" w="med" len="med"/>
                <a:tailEnd type="none" w="med" len="med"/>
              </a:ln>
            </p:spPr>
          </p:sp>
          <p:sp>
            <p:nvSpPr>
              <p:cNvPr id="112703" name="Text Box 66"/>
              <p:cNvSpPr txBox="1"/>
              <p:nvPr/>
            </p:nvSpPr>
            <p:spPr>
              <a:xfrm>
                <a:off x="907" y="0"/>
                <a:ext cx="251"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704" name="Group 67"/>
            <p:cNvGrpSpPr/>
            <p:nvPr/>
          </p:nvGrpSpPr>
          <p:grpSpPr>
            <a:xfrm>
              <a:off x="2" y="4076700"/>
              <a:ext cx="3563939" cy="1728788"/>
              <a:chOff x="0" y="0"/>
              <a:chExt cx="2245" cy="1089"/>
            </a:xfrm>
          </p:grpSpPr>
          <p:sp>
            <p:nvSpPr>
              <p:cNvPr id="112705" name="Rectangle 68"/>
              <p:cNvSpPr/>
              <p:nvPr/>
            </p:nvSpPr>
            <p:spPr>
              <a:xfrm>
                <a:off x="793" y="0"/>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客户</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706" name="Oval 69"/>
              <p:cNvSpPr/>
              <p:nvPr/>
            </p:nvSpPr>
            <p:spPr>
              <a:xfrm>
                <a:off x="0" y="251"/>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客户名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07" name="Oval 70"/>
              <p:cNvSpPr/>
              <p:nvPr/>
            </p:nvSpPr>
            <p:spPr>
              <a:xfrm>
                <a:off x="839" y="750"/>
                <a:ext cx="635"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所在城市</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08" name="Line 71"/>
              <p:cNvSpPr/>
              <p:nvPr/>
            </p:nvSpPr>
            <p:spPr>
              <a:xfrm flipV="1">
                <a:off x="476" y="206"/>
                <a:ext cx="317" cy="91"/>
              </a:xfrm>
              <a:prstGeom prst="line">
                <a:avLst/>
              </a:prstGeom>
              <a:ln w="25400" cap="flat" cmpd="sng">
                <a:solidFill>
                  <a:srgbClr val="000000"/>
                </a:solidFill>
                <a:prstDash val="solid"/>
                <a:round/>
                <a:headEnd type="none" w="med" len="med"/>
                <a:tailEnd type="none" w="med" len="med"/>
              </a:ln>
            </p:spPr>
          </p:sp>
          <p:sp>
            <p:nvSpPr>
              <p:cNvPr id="112709" name="Oval 72"/>
              <p:cNvSpPr/>
              <p:nvPr/>
            </p:nvSpPr>
            <p:spPr>
              <a:xfrm>
                <a:off x="113" y="750"/>
                <a:ext cx="680"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客户标识</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710" name="Line 73"/>
              <p:cNvSpPr/>
              <p:nvPr/>
            </p:nvSpPr>
            <p:spPr>
              <a:xfrm flipV="1">
                <a:off x="476" y="251"/>
                <a:ext cx="363" cy="499"/>
              </a:xfrm>
              <a:prstGeom prst="line">
                <a:avLst/>
              </a:prstGeom>
              <a:ln w="25400" cap="flat" cmpd="sng">
                <a:solidFill>
                  <a:srgbClr val="000000"/>
                </a:solidFill>
                <a:prstDash val="solid"/>
                <a:round/>
                <a:headEnd type="none" w="med" len="med"/>
                <a:tailEnd type="none" w="med" len="med"/>
              </a:ln>
            </p:spPr>
          </p:sp>
          <p:sp>
            <p:nvSpPr>
              <p:cNvPr id="112711" name="Line 74"/>
              <p:cNvSpPr/>
              <p:nvPr/>
            </p:nvSpPr>
            <p:spPr>
              <a:xfrm flipH="1" flipV="1">
                <a:off x="975" y="251"/>
                <a:ext cx="136" cy="499"/>
              </a:xfrm>
              <a:prstGeom prst="line">
                <a:avLst/>
              </a:prstGeom>
              <a:ln w="25400" cap="flat" cmpd="sng">
                <a:solidFill>
                  <a:srgbClr val="000000"/>
                </a:solidFill>
                <a:prstDash val="solid"/>
                <a:round/>
                <a:headEnd type="none" w="med" len="med"/>
                <a:tailEnd type="none" w="med" len="med"/>
              </a:ln>
            </p:spPr>
          </p:sp>
          <p:sp>
            <p:nvSpPr>
              <p:cNvPr id="112712" name="Oval 75"/>
              <p:cNvSpPr/>
              <p:nvPr/>
            </p:nvSpPr>
            <p:spPr>
              <a:xfrm>
                <a:off x="1565" y="705"/>
                <a:ext cx="68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出生年月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2713" name="Line 76"/>
              <p:cNvSpPr/>
              <p:nvPr/>
            </p:nvSpPr>
            <p:spPr>
              <a:xfrm flipH="1" flipV="1">
                <a:off x="1111" y="251"/>
                <a:ext cx="454" cy="590"/>
              </a:xfrm>
              <a:prstGeom prst="line">
                <a:avLst/>
              </a:prstGeom>
              <a:ln w="25400" cap="flat" cmpd="sng">
                <a:solidFill>
                  <a:srgbClr val="000000"/>
                </a:solidFill>
                <a:prstDash val="solid"/>
                <a:round/>
                <a:headEnd type="none" w="med" len="med"/>
                <a:tailEnd type="none" w="med" len="med"/>
              </a:ln>
            </p:spPr>
          </p:sp>
          <p:sp>
            <p:nvSpPr>
              <p:cNvPr id="112714" name="Oval 77"/>
              <p:cNvSpPr/>
              <p:nvPr/>
            </p:nvSpPr>
            <p:spPr>
              <a:xfrm>
                <a:off x="1383" y="297"/>
                <a:ext cx="499"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15" name="Line 78"/>
              <p:cNvSpPr/>
              <p:nvPr/>
            </p:nvSpPr>
            <p:spPr>
              <a:xfrm flipH="1" flipV="1">
                <a:off x="1247" y="251"/>
                <a:ext cx="227" cy="91"/>
              </a:xfrm>
              <a:prstGeom prst="line">
                <a:avLst/>
              </a:prstGeom>
              <a:ln w="25400" cap="flat" cmpd="sng">
                <a:solidFill>
                  <a:srgbClr val="000000"/>
                </a:solidFill>
                <a:prstDash val="solid"/>
                <a:round/>
                <a:headEnd type="none" w="med" len="med"/>
                <a:tailEnd type="none" w="med" len="med"/>
              </a:ln>
            </p:spPr>
          </p:sp>
        </p:grpSp>
        <p:grpSp>
          <p:nvGrpSpPr>
            <p:cNvPr id="112716" name="Group 79"/>
            <p:cNvGrpSpPr/>
            <p:nvPr/>
          </p:nvGrpSpPr>
          <p:grpSpPr>
            <a:xfrm>
              <a:off x="0" y="0"/>
              <a:ext cx="2319338" cy="2414588"/>
              <a:chOff x="0" y="0"/>
              <a:chExt cx="1461" cy="1521"/>
            </a:xfrm>
          </p:grpSpPr>
          <p:sp>
            <p:nvSpPr>
              <p:cNvPr id="112717" name="Rectangle 80"/>
              <p:cNvSpPr/>
              <p:nvPr/>
            </p:nvSpPr>
            <p:spPr>
              <a:xfrm>
                <a:off x="878" y="670"/>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帐户</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718" name="Oval 81"/>
              <p:cNvSpPr/>
              <p:nvPr/>
            </p:nvSpPr>
            <p:spPr>
              <a:xfrm>
                <a:off x="0" y="1089"/>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帐户号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719" name="Line 82"/>
              <p:cNvSpPr/>
              <p:nvPr/>
            </p:nvSpPr>
            <p:spPr>
              <a:xfrm flipH="1">
                <a:off x="476" y="862"/>
                <a:ext cx="408" cy="227"/>
              </a:xfrm>
              <a:prstGeom prst="line">
                <a:avLst/>
              </a:prstGeom>
              <a:ln w="25400" cap="flat" cmpd="sng">
                <a:solidFill>
                  <a:srgbClr val="000000"/>
                </a:solidFill>
                <a:prstDash val="solid"/>
                <a:round/>
                <a:headEnd type="none" w="med" len="med"/>
                <a:tailEnd type="none" w="med" len="med"/>
              </a:ln>
            </p:spPr>
          </p:sp>
          <p:sp>
            <p:nvSpPr>
              <p:cNvPr id="112720" name="Oval 83"/>
              <p:cNvSpPr/>
              <p:nvPr/>
            </p:nvSpPr>
            <p:spPr>
              <a:xfrm>
                <a:off x="0" y="272"/>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收支平衡</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21" name="Line 84"/>
              <p:cNvSpPr/>
              <p:nvPr/>
            </p:nvSpPr>
            <p:spPr>
              <a:xfrm>
                <a:off x="567" y="681"/>
                <a:ext cx="317" cy="45"/>
              </a:xfrm>
              <a:prstGeom prst="line">
                <a:avLst/>
              </a:prstGeom>
              <a:ln w="25400" cap="flat" cmpd="sng">
                <a:solidFill>
                  <a:srgbClr val="000000"/>
                </a:solidFill>
                <a:prstDash val="solid"/>
                <a:round/>
                <a:headEnd type="none" w="med" len="med"/>
                <a:tailEnd type="none" w="med" len="med"/>
              </a:ln>
            </p:spPr>
          </p:sp>
          <p:sp>
            <p:nvSpPr>
              <p:cNvPr id="112722" name="Oval 85"/>
              <p:cNvSpPr/>
              <p:nvPr/>
            </p:nvSpPr>
            <p:spPr>
              <a:xfrm>
                <a:off x="748" y="0"/>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帐户类型</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23" name="Line 86"/>
              <p:cNvSpPr/>
              <p:nvPr/>
            </p:nvSpPr>
            <p:spPr>
              <a:xfrm>
                <a:off x="1066" y="408"/>
                <a:ext cx="90" cy="273"/>
              </a:xfrm>
              <a:prstGeom prst="line">
                <a:avLst/>
              </a:prstGeom>
              <a:ln w="25400" cap="flat" cmpd="sng">
                <a:solidFill>
                  <a:srgbClr val="000000"/>
                </a:solidFill>
                <a:prstDash val="solid"/>
                <a:round/>
                <a:headEnd type="none" w="med" len="med"/>
                <a:tailEnd type="none" w="med" len="med"/>
              </a:ln>
            </p:spPr>
          </p:sp>
        </p:grpSp>
        <p:grpSp>
          <p:nvGrpSpPr>
            <p:cNvPr id="112724" name="Group 87"/>
            <p:cNvGrpSpPr/>
            <p:nvPr/>
          </p:nvGrpSpPr>
          <p:grpSpPr>
            <a:xfrm>
              <a:off x="6372227" y="3201985"/>
              <a:ext cx="504825" cy="1046162"/>
              <a:chOff x="1043" y="928"/>
              <a:chExt cx="318" cy="659"/>
            </a:xfrm>
          </p:grpSpPr>
          <p:sp>
            <p:nvSpPr>
              <p:cNvPr id="112725" name="Line 90"/>
              <p:cNvSpPr/>
              <p:nvPr/>
            </p:nvSpPr>
            <p:spPr>
              <a:xfrm flipH="1" flipV="1">
                <a:off x="1043" y="998"/>
                <a:ext cx="136" cy="589"/>
              </a:xfrm>
              <a:prstGeom prst="line">
                <a:avLst/>
              </a:prstGeom>
              <a:ln w="25400" cap="flat" cmpd="sng">
                <a:solidFill>
                  <a:srgbClr val="0000FF"/>
                </a:solidFill>
                <a:prstDash val="solid"/>
                <a:round/>
                <a:headEnd type="none" w="med" len="med"/>
                <a:tailEnd type="none" w="med" len="med"/>
              </a:ln>
            </p:spPr>
          </p:sp>
          <p:sp>
            <p:nvSpPr>
              <p:cNvPr id="112726" name="Text Box 92"/>
              <p:cNvSpPr txBox="1"/>
              <p:nvPr/>
            </p:nvSpPr>
            <p:spPr>
              <a:xfrm>
                <a:off x="1110" y="928"/>
                <a:ext cx="251"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727" name="Group 95"/>
            <p:cNvGrpSpPr/>
            <p:nvPr/>
          </p:nvGrpSpPr>
          <p:grpSpPr>
            <a:xfrm>
              <a:off x="2051049" y="3035294"/>
              <a:ext cx="1806575" cy="1160460"/>
              <a:chOff x="0" y="272"/>
              <a:chExt cx="1138" cy="731"/>
            </a:xfrm>
          </p:grpSpPr>
          <p:sp>
            <p:nvSpPr>
              <p:cNvPr id="112728" name="Line 96"/>
              <p:cNvSpPr/>
              <p:nvPr/>
            </p:nvSpPr>
            <p:spPr>
              <a:xfrm flipV="1">
                <a:off x="46" y="726"/>
                <a:ext cx="226" cy="265"/>
              </a:xfrm>
              <a:prstGeom prst="line">
                <a:avLst/>
              </a:prstGeom>
              <a:ln w="28575" cap="flat" cmpd="sng">
                <a:solidFill>
                  <a:srgbClr val="0000FF"/>
                </a:solidFill>
                <a:prstDash val="solid"/>
                <a:round/>
                <a:headEnd type="none" w="med" len="med"/>
                <a:tailEnd type="none" w="med" len="med"/>
              </a:ln>
            </p:spPr>
          </p:sp>
          <p:sp>
            <p:nvSpPr>
              <p:cNvPr id="112729" name="AutoShape 97"/>
              <p:cNvSpPr/>
              <p:nvPr/>
            </p:nvSpPr>
            <p:spPr>
              <a:xfrm rot="-1701101">
                <a:off x="182" y="408"/>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借款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30" name="Line 98"/>
              <p:cNvSpPr/>
              <p:nvPr/>
            </p:nvSpPr>
            <p:spPr>
              <a:xfrm flipV="1">
                <a:off x="908" y="272"/>
                <a:ext cx="226" cy="135"/>
              </a:xfrm>
              <a:prstGeom prst="line">
                <a:avLst/>
              </a:prstGeom>
              <a:ln w="50800" cap="flat" cmpd="sng">
                <a:solidFill>
                  <a:srgbClr val="CC0000"/>
                </a:solidFill>
                <a:prstDash val="solid"/>
                <a:round/>
                <a:headEnd type="triangle" w="med" len="med"/>
                <a:tailEnd type="none" w="med" len="med"/>
              </a:ln>
            </p:spPr>
          </p:sp>
          <p:sp>
            <p:nvSpPr>
              <p:cNvPr id="112731" name="Text Box 101"/>
              <p:cNvSpPr txBox="1"/>
              <p:nvPr/>
            </p:nvSpPr>
            <p:spPr>
              <a:xfrm>
                <a:off x="0" y="628"/>
                <a:ext cx="275" cy="375"/>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12732" name="Text Box 102"/>
              <p:cNvSpPr txBox="1"/>
              <p:nvPr/>
            </p:nvSpPr>
            <p:spPr>
              <a:xfrm>
                <a:off x="863" y="277"/>
                <a:ext cx="275" cy="375"/>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grpSp>
      <p:sp>
        <p:nvSpPr>
          <p:cNvPr id="112733" name="Rectangle 23"/>
          <p:cNvSpPr/>
          <p:nvPr/>
        </p:nvSpPr>
        <p:spPr>
          <a:xfrm>
            <a:off x="3884613" y="3570288"/>
            <a:ext cx="1087437" cy="442912"/>
          </a:xfrm>
          <a:prstGeom prst="rect">
            <a:avLst/>
          </a:prstGeom>
          <a:solidFill>
            <a:srgbClr val="FECF70"/>
          </a:solidFill>
          <a:ln w="9525" cap="flat" cmpd="sng">
            <a:solidFill>
              <a:srgbClr val="000000"/>
            </a:solidFill>
            <a:prstDash val="solid"/>
            <a:miter/>
            <a:headEnd type="none" w="med" len="med"/>
            <a:tailEnd type="none" w="med" len="med"/>
          </a:ln>
        </p:spPr>
        <p:txBody>
          <a:bodyPr lIns="36000" rIns="36000"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贷款</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734" name="AutoShape 5"/>
          <p:cNvSpPr/>
          <p:nvPr/>
        </p:nvSpPr>
        <p:spPr>
          <a:xfrm>
            <a:off x="5843588" y="3695700"/>
            <a:ext cx="1077912" cy="53181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领导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35" name="Line 8"/>
          <p:cNvSpPr/>
          <p:nvPr/>
        </p:nvSpPr>
        <p:spPr>
          <a:xfrm flipV="1">
            <a:off x="6397625" y="2808288"/>
            <a:ext cx="495300" cy="889000"/>
          </a:xfrm>
          <a:prstGeom prst="line">
            <a:avLst/>
          </a:prstGeom>
          <a:ln w="50800" cap="flat" cmpd="sng">
            <a:solidFill>
              <a:srgbClr val="CC0000"/>
            </a:solidFill>
            <a:prstDash val="solid"/>
            <a:round/>
            <a:headEnd type="none" w="med" len="med"/>
            <a:tailEnd type="none" w="med" len="med"/>
          </a:ln>
        </p:spPr>
      </p:sp>
      <p:sp>
        <p:nvSpPr>
          <p:cNvPr id="112736" name="Text Box 92"/>
          <p:cNvSpPr txBox="1"/>
          <p:nvPr/>
        </p:nvSpPr>
        <p:spPr>
          <a:xfrm>
            <a:off x="6670675" y="3052763"/>
            <a:ext cx="376238" cy="51752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737" name="Oval 50"/>
          <p:cNvSpPr/>
          <p:nvPr/>
        </p:nvSpPr>
        <p:spPr>
          <a:xfrm>
            <a:off x="5289550" y="4198938"/>
            <a:ext cx="792163" cy="39846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任期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38" name="Line 84"/>
          <p:cNvSpPr/>
          <p:nvPr/>
        </p:nvSpPr>
        <p:spPr>
          <a:xfrm flipV="1">
            <a:off x="5843588" y="3956050"/>
            <a:ext cx="26987" cy="271463"/>
          </a:xfrm>
          <a:prstGeom prst="line">
            <a:avLst/>
          </a:prstGeom>
          <a:ln w="25400" cap="flat" cmpd="sng">
            <a:solidFill>
              <a:srgbClr val="000000"/>
            </a:solidFill>
            <a:prstDash val="solid"/>
            <a:round/>
            <a:headEnd type="none" w="med" len="med"/>
            <a:tailEnd type="none" w="med" len="med"/>
          </a:ln>
        </p:spPr>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5" name="Picture 50"/>
          <p:cNvPicPr>
            <a:picLocks noChangeAspect="1"/>
          </p:cNvPicPr>
          <p:nvPr/>
        </p:nvPicPr>
        <p:blipFill>
          <a:blip r:embed="rId1"/>
          <a:stretch>
            <a:fillRect/>
          </a:stretch>
        </p:blipFill>
        <p:spPr>
          <a:xfrm>
            <a:off x="577850" y="1547813"/>
            <a:ext cx="8185150" cy="4487862"/>
          </a:xfrm>
          <a:prstGeom prst="rect">
            <a:avLst/>
          </a:prstGeom>
          <a:noFill/>
          <a:ln w="9525">
            <a:noFill/>
          </a:ln>
        </p:spPr>
      </p:pic>
      <p:sp>
        <p:nvSpPr>
          <p:cNvPr id="113667" name="矩形 6"/>
          <p:cNvSpPr/>
          <p:nvPr/>
        </p:nvSpPr>
        <p:spPr>
          <a:xfrm>
            <a:off x="473075" y="860425"/>
            <a:ext cx="7650163" cy="522288"/>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用</a:t>
            </a:r>
            <a:r>
              <a:rPr lang="de-DE" altLang="en-US" sz="2800" dirty="0">
                <a:solidFill>
                  <a:srgbClr val="0033CC"/>
                </a:solidFill>
                <a:latin typeface="黑体" panose="02010609060101010101" pitchFamily="1" charset="-122"/>
                <a:ea typeface="黑体" panose="02010609060101010101" pitchFamily="1" charset="-122"/>
              </a:rPr>
              <a:t>ERM</a:t>
            </a:r>
            <a:r>
              <a:rPr lang="zh-CN" altLang="en-US" sz="2800" dirty="0">
                <a:solidFill>
                  <a:srgbClr val="0033CC"/>
                </a:solidFill>
                <a:latin typeface="黑体" panose="02010609060101010101" pitchFamily="1" charset="-122"/>
                <a:ea typeface="黑体" panose="02010609060101010101" pitchFamily="1" charset="-122"/>
              </a:rPr>
              <a:t>为包裹邮寄数据库做概念设计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570" name="组合 7"/>
          <p:cNvGrpSpPr/>
          <p:nvPr/>
        </p:nvGrpSpPr>
        <p:grpSpPr>
          <a:xfrm>
            <a:off x="509588" y="1428750"/>
            <a:ext cx="8126412" cy="3157538"/>
            <a:chOff x="0" y="0"/>
            <a:chExt cx="8116887" cy="3157764"/>
          </a:xfrm>
        </p:grpSpPr>
        <p:sp>
          <p:nvSpPr>
            <p:cNvPr id="109571" name="Rectangle 2"/>
            <p:cNvSpPr txBox="1"/>
            <p:nvPr/>
          </p:nvSpPr>
          <p:spPr>
            <a:xfrm>
              <a:off x="0" y="0"/>
              <a:ext cx="8059804" cy="2381420"/>
            </a:xfrm>
            <a:prstGeom prst="rect">
              <a:avLst/>
            </a:prstGeom>
            <a:noFill/>
            <a:ln w="9525">
              <a:noFill/>
            </a:ln>
          </p:spPr>
          <p:txBody>
            <a:bodyPr/>
            <a:lstStyle/>
            <a:p>
              <a:pPr marL="533400" lvl="0" indent="-533400" eaLnBrk="1" fontAlgn="base" hangingPunct="1">
                <a:lnSpc>
                  <a:spcPct val="100000"/>
                </a:lnSpc>
                <a:spcBef>
                  <a:spcPct val="50000"/>
                </a:spcBef>
                <a:buClr>
                  <a:srgbClr val="0033CC"/>
                </a:buClr>
                <a:buSzPct val="80000"/>
                <a:buNone/>
              </a:pPr>
              <a:r>
                <a:rPr lang="zh-CN" altLang="en-US" sz="2400" strike="noStrike" noProof="1">
                  <a:solidFill>
                    <a:srgbClr val="FF0000"/>
                  </a:solidFill>
                  <a:latin typeface="华文楷体" panose="02010600040101010101" pitchFamily="2" charset="-122"/>
                  <a:ea typeface="宋体" panose="02010600030101010101" pitchFamily="2" charset="-122"/>
                  <a:cs typeface="+mn-ea"/>
                </a:rPr>
                <a:t> 步骤</a:t>
              </a:r>
              <a:r>
                <a:rPr lang="en-US" altLang="x-none" sz="2400" strike="noStrike" noProof="1">
                  <a:solidFill>
                    <a:srgbClr val="FF0000"/>
                  </a:solidFill>
                  <a:latin typeface="华文楷体" panose="02010600040101010101" pitchFamily="2" charset="-122"/>
                  <a:ea typeface="宋体" panose="02010600030101010101" pitchFamily="2" charset="-122"/>
                  <a:cs typeface="+mn-ea"/>
                </a:rPr>
                <a:t>1</a:t>
              </a:r>
              <a:r>
                <a:rPr lang="zh-CN" altLang="en-US" sz="2400" strike="noStrike" noProof="1">
                  <a:solidFill>
                    <a:srgbClr val="FF0000"/>
                  </a:solidFill>
                  <a:latin typeface="华文楷体" panose="02010600040101010101" pitchFamily="2" charset="-122"/>
                  <a:ea typeface="宋体" panose="02010600030101010101" pitchFamily="2" charset="-122"/>
                  <a:cs typeface="+mn-ea"/>
                </a:rPr>
                <a:t>：</a:t>
              </a:r>
              <a:r>
                <a:rPr lang="zh-CN" altLang="en-US" sz="2400" strike="noStrike" noProof="1">
                  <a:solidFill>
                    <a:srgbClr val="006600"/>
                  </a:solidFill>
                  <a:latin typeface="华文楷体" panose="02010600040101010101" pitchFamily="2" charset="-122"/>
                  <a:ea typeface="宋体" panose="02010600030101010101" pitchFamily="2" charset="-122"/>
                  <a:cs typeface="+mn-ea"/>
                </a:rPr>
                <a:t>标识实体及属性</a:t>
              </a:r>
              <a:endParaRPr lang="zh-CN" altLang="en-US" sz="2400" strike="noStrike" noProof="1">
                <a:solidFill>
                  <a:srgbClr val="006600"/>
                </a:solidFill>
                <a:latin typeface="华文楷体" panose="02010600040101010101" pitchFamily="2" charset="-122"/>
                <a:ea typeface="宋体" panose="02010600030101010101" pitchFamily="2" charset="-122"/>
              </a:endParaRPr>
            </a:p>
            <a:p>
              <a:pPr marL="533400" lvl="0" indent="-533400" eaLnBrk="1" fontAlgn="base" hangingPunct="1">
                <a:lnSpc>
                  <a:spcPct val="110000"/>
                </a:lnSpc>
                <a:spcBef>
                  <a:spcPts val="1800"/>
                </a:spcBef>
                <a:buClr>
                  <a:srgbClr val="0033CC"/>
                </a:buClr>
                <a:buSzPct val="80000"/>
                <a:buNone/>
              </a:pP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寄件人 （</a:t>
              </a:r>
              <a:r>
                <a:rPr lang="zh-CN" altLang="en-US" sz="2000" u="sng" strike="noStrike" noProof="1">
                  <a:latin typeface="华文楷体" panose="02010600040101010101" pitchFamily="2" charset="-122"/>
                  <a:ea typeface="宋体" panose="02010600030101010101" pitchFamily="2" charset="-122"/>
                  <a:cs typeface="+mn-ea"/>
                </a:rPr>
                <a:t>用户代码</a:t>
              </a:r>
              <a:r>
                <a:rPr lang="zh-CN" altLang="en-US" sz="2000" strike="noStrike" noProof="1">
                  <a:latin typeface="华文楷体" panose="02010600040101010101" pitchFamily="2" charset="-122"/>
                  <a:ea typeface="宋体" panose="02010600030101010101" pitchFamily="2" charset="-122"/>
                  <a:cs typeface="+mn-ea"/>
                </a:rPr>
                <a:t>、姓名、电话、地址、邮编）</a:t>
              </a:r>
              <a:endParaRPr lang="zh-CN" altLang="en-US" sz="2000" strike="noStrike" noProof="1">
                <a:latin typeface="华文楷体" panose="02010600040101010101" pitchFamily="2" charset="-122"/>
                <a:ea typeface="宋体" panose="02010600030101010101" pitchFamily="2" charset="-122"/>
              </a:endParaRPr>
            </a:p>
            <a:p>
              <a:pPr marL="533400" lvl="0" indent="-533400" eaLnBrk="1" fontAlgn="base" hangingPunct="1">
                <a:lnSpc>
                  <a:spcPct val="110000"/>
                </a:lnSpc>
                <a:spcBef>
                  <a:spcPts val="600"/>
                </a:spcBef>
                <a:buClr>
                  <a:srgbClr val="0033CC"/>
                </a:buClr>
                <a:buSzPct val="80000"/>
                <a:buNone/>
              </a:pP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包 裹（</a:t>
              </a:r>
              <a:r>
                <a:rPr lang="zh-CN" altLang="en-US" sz="2000" u="sng" strike="noStrike" noProof="1">
                  <a:latin typeface="华文楷体" panose="02010600040101010101" pitchFamily="2" charset="-122"/>
                  <a:ea typeface="宋体" panose="02010600030101010101" pitchFamily="2" charset="-122"/>
                  <a:cs typeface="+mn-ea"/>
                </a:rPr>
                <a:t>包裹号</a:t>
              </a:r>
              <a:r>
                <a:rPr lang="zh-CN" altLang="en-US" sz="2000" strike="noStrike" noProof="1">
                  <a:latin typeface="华文楷体" panose="02010600040101010101" pitchFamily="2" charset="-122"/>
                  <a:ea typeface="宋体" panose="02010600030101010101" pitchFamily="2" charset="-122"/>
                  <a:cs typeface="+mn-ea"/>
                </a:rPr>
                <a:t>、</a:t>
              </a:r>
              <a:r>
                <a:rPr lang="zh-CN"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内容、是否保价、保价金额、备注、资费、回执费、保价费、挂号费、重量）</a:t>
              </a:r>
              <a:endParaRPr lang="zh-CN"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533400" lvl="0" indent="-533400" eaLnBrk="1" fontAlgn="base" hangingPunct="1">
                <a:lnSpc>
                  <a:spcPct val="110000"/>
                </a:lnSpc>
                <a:spcBef>
                  <a:spcPts val="600"/>
                </a:spcBef>
                <a:buClr>
                  <a:srgbClr val="0033CC"/>
                </a:buClr>
                <a:buSzPct val="80000"/>
                <a:buNone/>
              </a:pP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收件人（</a:t>
              </a:r>
              <a:r>
                <a:rPr lang="zh-CN" altLang="en-US" sz="2000" u="sng" strike="noStrike" noProof="1">
                  <a:latin typeface="华文楷体" panose="02010600040101010101" pitchFamily="2" charset="-122"/>
                  <a:ea typeface="宋体" panose="02010600030101010101" pitchFamily="2" charset="-122"/>
                  <a:cs typeface="+mn-ea"/>
                </a:rPr>
                <a:t>姓名、电话</a:t>
              </a:r>
              <a:r>
                <a:rPr lang="zh-CN" altLang="en-US" sz="2000" strike="noStrike" noProof="1">
                  <a:latin typeface="华文楷体" panose="02010600040101010101" pitchFamily="2" charset="-122"/>
                  <a:ea typeface="宋体" panose="02010600030101010101" pitchFamily="2" charset="-122"/>
                  <a:cs typeface="+mn-ea"/>
                </a:rPr>
                <a:t>、地址、邮编）</a:t>
              </a:r>
              <a:endPar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533400" lvl="0" indent="-533400" eaLnBrk="1" fontAlgn="base" hangingPunct="1">
                <a:lnSpc>
                  <a:spcPct val="110000"/>
                </a:lnSpc>
                <a:spcBef>
                  <a:spcPts val="600"/>
                </a:spcBef>
                <a:buClr>
                  <a:srgbClr val="0033CC"/>
                </a:buClr>
                <a:buSzPct val="80000"/>
                <a:buNone/>
              </a:pPr>
              <a:r>
                <a:rPr lang="zh-CN"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邮局分支（</a:t>
              </a:r>
              <a:r>
                <a:rPr lang="zh-CN" altLang="en-US" sz="2000" u="sng" strike="noStrike" noProof="1">
                  <a:latin typeface="华文楷体" panose="02010600040101010101" pitchFamily="2" charset="-122"/>
                  <a:ea typeface="宋体" panose="02010600030101010101" pitchFamily="2" charset="-122"/>
                  <a:cs typeface="+mn-ea"/>
                </a:rPr>
                <a:t>邮局编号</a:t>
              </a:r>
              <a:r>
                <a:rPr lang="zh-CN" altLang="en-US" sz="2000" strike="noStrike" noProof="1">
                  <a:latin typeface="华文楷体" panose="02010600040101010101" pitchFamily="2" charset="-122"/>
                  <a:ea typeface="宋体" panose="02010600030101010101" pitchFamily="2" charset="-122"/>
                  <a:cs typeface="+mn-ea"/>
                </a:rPr>
                <a:t>、名称）</a:t>
              </a:r>
              <a:endParaRPr lang="en-US" altLang="x-none" sz="2000" strike="noStrike" noProof="1">
                <a:latin typeface="华文楷体" panose="02010600040101010101" pitchFamily="2" charset="-122"/>
                <a:ea typeface="宋体" panose="02010600030101010101" pitchFamily="2" charset="-122"/>
              </a:endParaRPr>
            </a:p>
            <a:p>
              <a:pPr marL="533400" lvl="0" indent="-533400" eaLnBrk="1" fontAlgn="base" hangingPunct="1">
                <a:lnSpc>
                  <a:spcPct val="110000"/>
                </a:lnSpc>
                <a:spcBef>
                  <a:spcPts val="600"/>
                </a:spcBef>
                <a:buClr>
                  <a:srgbClr val="0033CC"/>
                </a:buClr>
                <a:buSzPct val="80000"/>
                <a:buNone/>
              </a:pP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员 工（</a:t>
              </a:r>
              <a:r>
                <a:rPr lang="zh-CN" altLang="en-US" sz="2000" u="sng" strike="noStrike" noProof="1">
                  <a:latin typeface="华文楷体" panose="02010600040101010101" pitchFamily="2" charset="-122"/>
                  <a:ea typeface="宋体" panose="02010600030101010101" pitchFamily="2" charset="-122"/>
                  <a:cs typeface="+mn-ea"/>
                </a:rPr>
                <a:t>员工编号、</a:t>
              </a:r>
              <a:r>
                <a:rPr lang="zh-CN" altLang="en-US" sz="2000" strike="noStrike" noProof="1">
                  <a:latin typeface="华文楷体" panose="02010600040101010101" pitchFamily="2" charset="-122"/>
                  <a:ea typeface="宋体" panose="02010600030101010101" pitchFamily="2" charset="-122"/>
                  <a:cs typeface="+mn-ea"/>
                </a:rPr>
                <a:t>工作时间）</a:t>
              </a:r>
              <a:endParaRPr lang="en-US" altLang="x-none" sz="2000" strike="noStrike" noProof="1">
                <a:latin typeface="华文楷体" panose="02010600040101010101" pitchFamily="2" charset="-122"/>
                <a:ea typeface="宋体" panose="02010600030101010101" pitchFamily="2" charset="-122"/>
              </a:endParaRPr>
            </a:p>
            <a:p>
              <a:pPr marL="533400" lvl="0" indent="-533400" eaLnBrk="1" fontAlgn="base" hangingPunct="1">
                <a:lnSpc>
                  <a:spcPct val="100000"/>
                </a:lnSpc>
                <a:spcBef>
                  <a:spcPct val="50000"/>
                </a:spcBef>
                <a:buClr>
                  <a:srgbClr val="0033CC"/>
                </a:buClr>
                <a:buSzPct val="80000"/>
                <a:buNone/>
              </a:pPr>
              <a:endParaRPr lang="zh-CN" altLang="en-US" sz="2000" strike="noStrike" noProof="1">
                <a:latin typeface="华文楷体" panose="02010600040101010101" pitchFamily="2" charset="-122"/>
                <a:ea typeface="宋体" panose="02010600030101010101" pitchFamily="2" charset="-122"/>
              </a:endParaRPr>
            </a:p>
          </p:txBody>
        </p:sp>
        <p:sp>
          <p:nvSpPr>
            <p:cNvPr id="109572" name="AutoShape 2"/>
            <p:cNvSpPr/>
            <p:nvPr/>
          </p:nvSpPr>
          <p:spPr>
            <a:xfrm>
              <a:off x="174420" y="469934"/>
              <a:ext cx="7942467" cy="268783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109573" name="组合 8"/>
          <p:cNvGrpSpPr/>
          <p:nvPr/>
        </p:nvGrpSpPr>
        <p:grpSpPr>
          <a:xfrm>
            <a:off x="673100" y="4610100"/>
            <a:ext cx="7910513" cy="1376363"/>
            <a:chOff x="0" y="0"/>
            <a:chExt cx="7910512" cy="1375231"/>
          </a:xfrm>
        </p:grpSpPr>
        <p:sp>
          <p:nvSpPr>
            <p:cNvPr id="114693" name="Rectangle 2"/>
            <p:cNvSpPr txBox="1"/>
            <p:nvPr/>
          </p:nvSpPr>
          <p:spPr>
            <a:xfrm>
              <a:off x="0" y="0"/>
              <a:ext cx="7910512" cy="897786"/>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步骤</a:t>
              </a:r>
              <a:r>
                <a:rPr lang="en-US" altLang="x-none"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标识联系及属性</a:t>
              </a:r>
              <a:endParaRPr lang="zh-CN" altLang="en-US" sz="24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ts val="1200"/>
                </a:spcBef>
                <a:buClr>
                  <a:srgbClr val="0033CC"/>
                </a:buClr>
                <a:buSzPct val="80000"/>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邮寄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收发（收发时间）</a:t>
              </a:r>
              <a:endParaRPr lang="en-US" altLang="x-none" sz="2000" dirty="0">
                <a:latin typeface="华文楷体" panose="02010600040101010101" pitchFamily="2" charset="-122"/>
                <a:ea typeface="宋体" panose="02010600030101010101" pitchFamily="2" charset="-122"/>
              </a:endParaRPr>
            </a:p>
            <a:p>
              <a:pPr marL="533400" lvl="0" indent="-533400">
                <a:lnSpc>
                  <a:spcPct val="100000"/>
                </a:lnSpc>
                <a:spcBef>
                  <a:spcPts val="1200"/>
                </a:spcBef>
                <a:buClr>
                  <a:srgbClr val="0033CC"/>
                </a:buClr>
                <a:buSzPct val="80000"/>
                <a:buNone/>
              </a:pPr>
              <a:r>
                <a:rPr lang="en-US" altLang="x-none" sz="2000" dirty="0">
                  <a:latin typeface="华文楷体" panose="02010600040101010101" pitchFamily="2" charset="-122"/>
                  <a:ea typeface="宋体" panose="02010600030101010101" pitchFamily="2" charset="-122"/>
                </a:rPr>
                <a:t> --</a:t>
              </a:r>
              <a:r>
                <a:rPr lang="zh-CN" altLang="en-US" sz="2000" dirty="0">
                  <a:latin typeface="华文楷体" panose="02010600040101010101" pitchFamily="2" charset="-122"/>
                  <a:ea typeface="宋体" panose="02010600030101010101" pitchFamily="2" charset="-122"/>
                </a:rPr>
                <a:t>签收 （签收时间）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工作（起始时间） </a:t>
              </a: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09575" name="AutoShape 2"/>
            <p:cNvSpPr/>
            <p:nvPr/>
          </p:nvSpPr>
          <p:spPr>
            <a:xfrm>
              <a:off x="103188" y="442549"/>
              <a:ext cx="7788274" cy="932682"/>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114696" name="矩形 9"/>
          <p:cNvSpPr/>
          <p:nvPr/>
        </p:nvSpPr>
        <p:spPr>
          <a:xfrm>
            <a:off x="473075" y="860425"/>
            <a:ext cx="7650163" cy="522288"/>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用</a:t>
            </a:r>
            <a:r>
              <a:rPr lang="de-DE" altLang="en-US" sz="2800" dirty="0">
                <a:solidFill>
                  <a:srgbClr val="0033CC"/>
                </a:solidFill>
                <a:latin typeface="黑体" panose="02010609060101010101" pitchFamily="1" charset="-122"/>
                <a:ea typeface="黑体" panose="02010609060101010101" pitchFamily="1" charset="-122"/>
              </a:rPr>
              <a:t>ERM</a:t>
            </a:r>
            <a:r>
              <a:rPr lang="zh-CN" altLang="en-US" sz="2800" dirty="0">
                <a:solidFill>
                  <a:srgbClr val="0033CC"/>
                </a:solidFill>
                <a:latin typeface="黑体" panose="02010609060101010101" pitchFamily="1" charset="-122"/>
                <a:ea typeface="黑体" panose="02010609060101010101" pitchFamily="1" charset="-122"/>
              </a:rPr>
              <a:t>为包裹邮寄数据库做概念设计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additive="base">
                                        <p:cTn id="7" dur="500" fill="hold"/>
                                        <p:tgtEl>
                                          <p:spTgt spid="109570"/>
                                        </p:tgtEl>
                                        <p:attrNameLst>
                                          <p:attrName>ppt_x</p:attrName>
                                        </p:attrNameLst>
                                      </p:cBhvr>
                                      <p:tavLst>
                                        <p:tav tm="0">
                                          <p:val>
                                            <p:strVal val="#ppt_x"/>
                                          </p:val>
                                        </p:tav>
                                        <p:tav tm="100000">
                                          <p:val>
                                            <p:strVal val="#ppt_x"/>
                                          </p:val>
                                        </p:tav>
                                      </p:tavLst>
                                    </p:anim>
                                    <p:anim calcmode="lin" valueType="num">
                                      <p:cBhvr additive="base">
                                        <p:cTn id="8" dur="500" fill="hold"/>
                                        <p:tgtEl>
                                          <p:spTgt spid="1095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9573"/>
                                        </p:tgtEl>
                                        <p:attrNameLst>
                                          <p:attrName>style.visibility</p:attrName>
                                        </p:attrNameLst>
                                      </p:cBhvr>
                                      <p:to>
                                        <p:strVal val="visible"/>
                                      </p:to>
                                    </p:set>
                                    <p:anim calcmode="lin" valueType="num">
                                      <p:cBhvr additive="base">
                                        <p:cTn id="13" dur="500" fill="hold"/>
                                        <p:tgtEl>
                                          <p:spTgt spid="109573"/>
                                        </p:tgtEl>
                                        <p:attrNameLst>
                                          <p:attrName>ppt_x</p:attrName>
                                        </p:attrNameLst>
                                      </p:cBhvr>
                                      <p:tavLst>
                                        <p:tav tm="0">
                                          <p:val>
                                            <p:strVal val="#ppt_x"/>
                                          </p:val>
                                        </p:tav>
                                        <p:tav tm="100000">
                                          <p:val>
                                            <p:strVal val="#ppt_x"/>
                                          </p:val>
                                        </p:tav>
                                      </p:tavLst>
                                    </p:anim>
                                    <p:anim calcmode="lin" valueType="num">
                                      <p:cBhvr additive="base">
                                        <p:cTn id="14" dur="500" fill="hold"/>
                                        <p:tgtEl>
                                          <p:spTgt spid="1095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5"/>
          <p:cNvSpPr/>
          <p:nvPr/>
        </p:nvSpPr>
        <p:spPr>
          <a:xfrm>
            <a:off x="1935163" y="2176463"/>
            <a:ext cx="1006475" cy="3873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收件人</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595" name="Oval 7"/>
          <p:cNvSpPr/>
          <p:nvPr/>
        </p:nvSpPr>
        <p:spPr>
          <a:xfrm>
            <a:off x="1327150" y="1654175"/>
            <a:ext cx="792163" cy="2952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邮编</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596" name="Oval 8"/>
          <p:cNvSpPr/>
          <p:nvPr/>
        </p:nvSpPr>
        <p:spPr>
          <a:xfrm>
            <a:off x="695325" y="2117725"/>
            <a:ext cx="792163" cy="296863"/>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详细地址</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597" name="Oval 9"/>
          <p:cNvSpPr/>
          <p:nvPr/>
        </p:nvSpPr>
        <p:spPr>
          <a:xfrm>
            <a:off x="2405063" y="1679575"/>
            <a:ext cx="792163" cy="2921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姓名</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598" name="Oval 10"/>
          <p:cNvSpPr/>
          <p:nvPr/>
        </p:nvSpPr>
        <p:spPr>
          <a:xfrm>
            <a:off x="3178175" y="2046288"/>
            <a:ext cx="792163" cy="29845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电话</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18" name="AutoShape 11"/>
          <p:cNvCxnSpPr/>
          <p:nvPr/>
        </p:nvCxnSpPr>
        <p:spPr>
          <a:xfrm>
            <a:off x="2003425" y="1906588"/>
            <a:ext cx="431800" cy="255587"/>
          </a:xfrm>
          <a:prstGeom prst="straightConnector1">
            <a:avLst/>
          </a:prstGeom>
          <a:ln w="9525" cap="flat" cmpd="sng">
            <a:solidFill>
              <a:schemeClr val="tx1"/>
            </a:solidFill>
            <a:prstDash val="solid"/>
            <a:round/>
            <a:headEnd type="none" w="med" len="med"/>
            <a:tailEnd type="none" w="med" len="med"/>
          </a:ln>
        </p:spPr>
      </p:cxnSp>
      <p:cxnSp>
        <p:nvCxnSpPr>
          <p:cNvPr id="115719" name="AutoShape 12"/>
          <p:cNvCxnSpPr>
            <a:stCxn id="110596" idx="6"/>
          </p:cNvCxnSpPr>
          <p:nvPr/>
        </p:nvCxnSpPr>
        <p:spPr>
          <a:xfrm>
            <a:off x="1487488" y="2266950"/>
            <a:ext cx="442912" cy="101600"/>
          </a:xfrm>
          <a:prstGeom prst="straightConnector1">
            <a:avLst/>
          </a:prstGeom>
          <a:ln w="9525" cap="flat" cmpd="sng">
            <a:solidFill>
              <a:schemeClr val="tx1"/>
            </a:solidFill>
            <a:prstDash val="solid"/>
            <a:round/>
            <a:headEnd type="none" w="med" len="med"/>
            <a:tailEnd type="none" w="med" len="med"/>
          </a:ln>
        </p:spPr>
      </p:cxnSp>
      <p:cxnSp>
        <p:nvCxnSpPr>
          <p:cNvPr id="115720" name="AutoShape 13"/>
          <p:cNvCxnSpPr>
            <a:endCxn id="110597" idx="3"/>
          </p:cNvCxnSpPr>
          <p:nvPr/>
        </p:nvCxnSpPr>
        <p:spPr>
          <a:xfrm flipV="1">
            <a:off x="2435225" y="1931988"/>
            <a:ext cx="85725" cy="230187"/>
          </a:xfrm>
          <a:prstGeom prst="straightConnector1">
            <a:avLst/>
          </a:prstGeom>
          <a:ln w="9525" cap="flat" cmpd="sng">
            <a:solidFill>
              <a:schemeClr val="tx1"/>
            </a:solidFill>
            <a:prstDash val="solid"/>
            <a:round/>
            <a:headEnd type="none" w="med" len="med"/>
            <a:tailEnd type="none" w="med" len="med"/>
          </a:ln>
        </p:spPr>
      </p:cxnSp>
      <p:cxnSp>
        <p:nvCxnSpPr>
          <p:cNvPr id="115721" name="AutoShape 14"/>
          <p:cNvCxnSpPr>
            <a:endCxn id="110598" idx="2"/>
          </p:cNvCxnSpPr>
          <p:nvPr/>
        </p:nvCxnSpPr>
        <p:spPr>
          <a:xfrm flipV="1">
            <a:off x="2940050" y="2195513"/>
            <a:ext cx="238125" cy="173037"/>
          </a:xfrm>
          <a:prstGeom prst="straightConnector1">
            <a:avLst/>
          </a:prstGeom>
          <a:ln w="9525" cap="flat" cmpd="sng">
            <a:solidFill>
              <a:schemeClr val="tx1"/>
            </a:solidFill>
            <a:prstDash val="solid"/>
            <a:round/>
            <a:headEnd type="none" w="med" len="med"/>
            <a:tailEnd type="none" w="med" len="med"/>
          </a:ln>
        </p:spPr>
      </p:cxnSp>
      <p:sp>
        <p:nvSpPr>
          <p:cNvPr id="110603" name="Rectangle 16"/>
          <p:cNvSpPr/>
          <p:nvPr/>
        </p:nvSpPr>
        <p:spPr>
          <a:xfrm>
            <a:off x="6308725" y="4786313"/>
            <a:ext cx="990600" cy="4413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寄件人</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4" name="Oval 18"/>
          <p:cNvSpPr/>
          <p:nvPr/>
        </p:nvSpPr>
        <p:spPr>
          <a:xfrm>
            <a:off x="5614988" y="5541963"/>
            <a:ext cx="792163" cy="2952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详细地址</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5" name="Oval 19"/>
          <p:cNvSpPr/>
          <p:nvPr/>
        </p:nvSpPr>
        <p:spPr>
          <a:xfrm>
            <a:off x="5200650" y="5233988"/>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姓名</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6" name="Oval 20"/>
          <p:cNvSpPr/>
          <p:nvPr/>
        </p:nvSpPr>
        <p:spPr>
          <a:xfrm>
            <a:off x="7327900" y="5470525"/>
            <a:ext cx="792163" cy="29845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电话</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7" name="Oval 21"/>
          <p:cNvSpPr/>
          <p:nvPr/>
        </p:nvSpPr>
        <p:spPr>
          <a:xfrm>
            <a:off x="7588250" y="5149850"/>
            <a:ext cx="792163" cy="296863"/>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用户代码</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8" name="Oval 22"/>
          <p:cNvSpPr/>
          <p:nvPr/>
        </p:nvSpPr>
        <p:spPr>
          <a:xfrm>
            <a:off x="6435725" y="5600700"/>
            <a:ext cx="792163" cy="2952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邮编</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28" name="AutoShape 23"/>
          <p:cNvCxnSpPr>
            <a:stCxn id="110605" idx="6"/>
          </p:cNvCxnSpPr>
          <p:nvPr/>
        </p:nvCxnSpPr>
        <p:spPr>
          <a:xfrm flipV="1">
            <a:off x="5992813" y="5199063"/>
            <a:ext cx="747712" cy="182562"/>
          </a:xfrm>
          <a:prstGeom prst="straightConnector1">
            <a:avLst/>
          </a:prstGeom>
          <a:ln w="9525" cap="flat" cmpd="sng">
            <a:solidFill>
              <a:schemeClr val="tx1"/>
            </a:solidFill>
            <a:prstDash val="solid"/>
            <a:round/>
            <a:headEnd type="none" w="med" len="med"/>
            <a:tailEnd type="none" w="med" len="med"/>
          </a:ln>
        </p:spPr>
      </p:cxnSp>
      <p:cxnSp>
        <p:nvCxnSpPr>
          <p:cNvPr id="115729" name="AutoShape 24"/>
          <p:cNvCxnSpPr>
            <a:stCxn id="110604" idx="7"/>
          </p:cNvCxnSpPr>
          <p:nvPr/>
        </p:nvCxnSpPr>
        <p:spPr>
          <a:xfrm flipV="1">
            <a:off x="6291263" y="5199063"/>
            <a:ext cx="449262" cy="385762"/>
          </a:xfrm>
          <a:prstGeom prst="straightConnector1">
            <a:avLst/>
          </a:prstGeom>
          <a:ln w="9525" cap="flat" cmpd="sng">
            <a:solidFill>
              <a:schemeClr val="tx1"/>
            </a:solidFill>
            <a:prstDash val="solid"/>
            <a:round/>
            <a:headEnd type="none" w="med" len="med"/>
            <a:tailEnd type="none" w="med" len="med"/>
          </a:ln>
        </p:spPr>
      </p:cxnSp>
      <p:cxnSp>
        <p:nvCxnSpPr>
          <p:cNvPr id="115730" name="AutoShape 25"/>
          <p:cNvCxnSpPr>
            <a:stCxn id="110608" idx="0"/>
          </p:cNvCxnSpPr>
          <p:nvPr/>
        </p:nvCxnSpPr>
        <p:spPr>
          <a:xfrm flipH="1" flipV="1">
            <a:off x="6740525" y="5199063"/>
            <a:ext cx="92075" cy="401637"/>
          </a:xfrm>
          <a:prstGeom prst="straightConnector1">
            <a:avLst/>
          </a:prstGeom>
          <a:ln w="9525" cap="flat" cmpd="sng">
            <a:solidFill>
              <a:schemeClr val="tx1"/>
            </a:solidFill>
            <a:prstDash val="solid"/>
            <a:round/>
            <a:headEnd type="none" w="med" len="med"/>
            <a:tailEnd type="none" w="med" len="med"/>
          </a:ln>
        </p:spPr>
      </p:cxnSp>
      <p:cxnSp>
        <p:nvCxnSpPr>
          <p:cNvPr id="115731" name="AutoShape 26"/>
          <p:cNvCxnSpPr>
            <a:stCxn id="110606" idx="1"/>
          </p:cNvCxnSpPr>
          <p:nvPr/>
        </p:nvCxnSpPr>
        <p:spPr>
          <a:xfrm flipH="1" flipV="1">
            <a:off x="6740525" y="5199063"/>
            <a:ext cx="703263" cy="314325"/>
          </a:xfrm>
          <a:prstGeom prst="straightConnector1">
            <a:avLst/>
          </a:prstGeom>
          <a:ln w="9525" cap="flat" cmpd="sng">
            <a:solidFill>
              <a:schemeClr val="tx1"/>
            </a:solidFill>
            <a:prstDash val="solid"/>
            <a:round/>
            <a:headEnd type="none" w="med" len="med"/>
            <a:tailEnd type="none" w="med" len="med"/>
          </a:ln>
        </p:spPr>
      </p:cxnSp>
      <p:cxnSp>
        <p:nvCxnSpPr>
          <p:cNvPr id="115732" name="AutoShape 27"/>
          <p:cNvCxnSpPr>
            <a:stCxn id="110607" idx="2"/>
          </p:cNvCxnSpPr>
          <p:nvPr/>
        </p:nvCxnSpPr>
        <p:spPr>
          <a:xfrm flipH="1" flipV="1">
            <a:off x="6740525" y="5199063"/>
            <a:ext cx="847725" cy="100012"/>
          </a:xfrm>
          <a:prstGeom prst="straightConnector1">
            <a:avLst/>
          </a:prstGeom>
          <a:ln w="9525" cap="flat" cmpd="sng">
            <a:solidFill>
              <a:schemeClr val="tx1"/>
            </a:solidFill>
            <a:prstDash val="solid"/>
            <a:round/>
            <a:headEnd type="none" w="med" len="med"/>
            <a:tailEnd type="none" w="med" len="med"/>
          </a:ln>
        </p:spPr>
      </p:cxnSp>
      <p:sp>
        <p:nvSpPr>
          <p:cNvPr id="110614" name="Rectangle 28"/>
          <p:cNvSpPr/>
          <p:nvPr/>
        </p:nvSpPr>
        <p:spPr>
          <a:xfrm>
            <a:off x="3930650" y="3427413"/>
            <a:ext cx="863600" cy="3381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包裹</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5" name="Oval 29"/>
          <p:cNvSpPr/>
          <p:nvPr/>
        </p:nvSpPr>
        <p:spPr>
          <a:xfrm>
            <a:off x="4659313" y="2401888"/>
            <a:ext cx="792163" cy="2921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内容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6" name="Oval 31"/>
          <p:cNvSpPr/>
          <p:nvPr/>
        </p:nvSpPr>
        <p:spPr>
          <a:xfrm>
            <a:off x="5743575" y="4040188"/>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保价金额</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7" name="Oval 32"/>
          <p:cNvSpPr/>
          <p:nvPr/>
        </p:nvSpPr>
        <p:spPr>
          <a:xfrm>
            <a:off x="6611938" y="3902075"/>
            <a:ext cx="792163" cy="2921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备注</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8" name="Oval 34"/>
          <p:cNvSpPr/>
          <p:nvPr/>
        </p:nvSpPr>
        <p:spPr>
          <a:xfrm>
            <a:off x="6811963" y="3425825"/>
            <a:ext cx="792163" cy="29845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重量</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9" name="Oval 35"/>
          <p:cNvSpPr/>
          <p:nvPr/>
        </p:nvSpPr>
        <p:spPr>
          <a:xfrm>
            <a:off x="5803900" y="3603625"/>
            <a:ext cx="792163" cy="2952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挂号费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20" name="Oval 36"/>
          <p:cNvSpPr/>
          <p:nvPr/>
        </p:nvSpPr>
        <p:spPr>
          <a:xfrm>
            <a:off x="6307138" y="3130550"/>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保价费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21" name="Oval 37"/>
          <p:cNvSpPr/>
          <p:nvPr/>
        </p:nvSpPr>
        <p:spPr>
          <a:xfrm>
            <a:off x="5659438" y="2894013"/>
            <a:ext cx="792163" cy="296863"/>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回执费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22" name="Oval 38"/>
          <p:cNvSpPr/>
          <p:nvPr/>
        </p:nvSpPr>
        <p:spPr>
          <a:xfrm>
            <a:off x="5370513" y="2540000"/>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资费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42" name="AutoShape 40"/>
          <p:cNvCxnSpPr/>
          <p:nvPr/>
        </p:nvCxnSpPr>
        <p:spPr>
          <a:xfrm rot="5400000" flipH="1" flipV="1">
            <a:off x="4540250" y="2954338"/>
            <a:ext cx="779463" cy="269875"/>
          </a:xfrm>
          <a:prstGeom prst="straightConnector1">
            <a:avLst/>
          </a:prstGeom>
          <a:ln w="9525" cap="flat" cmpd="sng">
            <a:solidFill>
              <a:schemeClr val="tx1"/>
            </a:solidFill>
            <a:prstDash val="solid"/>
            <a:round/>
            <a:headEnd type="none" w="med" len="med"/>
            <a:tailEnd type="none" w="med" len="med"/>
          </a:ln>
        </p:spPr>
      </p:cxnSp>
      <p:cxnSp>
        <p:nvCxnSpPr>
          <p:cNvPr id="115743" name="AutoShape 41"/>
          <p:cNvCxnSpPr/>
          <p:nvPr/>
        </p:nvCxnSpPr>
        <p:spPr>
          <a:xfrm>
            <a:off x="4813300" y="3622675"/>
            <a:ext cx="992188" cy="469900"/>
          </a:xfrm>
          <a:prstGeom prst="straightConnector1">
            <a:avLst/>
          </a:prstGeom>
          <a:ln w="9525" cap="flat" cmpd="sng">
            <a:solidFill>
              <a:schemeClr val="tx1"/>
            </a:solidFill>
            <a:prstDash val="solid"/>
            <a:round/>
            <a:headEnd type="none" w="med" len="med"/>
            <a:tailEnd type="none" w="med" len="med"/>
          </a:ln>
        </p:spPr>
      </p:cxnSp>
      <p:cxnSp>
        <p:nvCxnSpPr>
          <p:cNvPr id="115744" name="AutoShape 42"/>
          <p:cNvCxnSpPr>
            <a:stCxn id="110614" idx="3"/>
          </p:cNvCxnSpPr>
          <p:nvPr/>
        </p:nvCxnSpPr>
        <p:spPr>
          <a:xfrm>
            <a:off x="4794250" y="3595688"/>
            <a:ext cx="1838325" cy="468312"/>
          </a:xfrm>
          <a:prstGeom prst="straightConnector1">
            <a:avLst/>
          </a:prstGeom>
          <a:ln w="9525" cap="flat" cmpd="sng">
            <a:solidFill>
              <a:schemeClr val="tx1"/>
            </a:solidFill>
            <a:prstDash val="solid"/>
            <a:round/>
            <a:headEnd type="none" w="med" len="med"/>
            <a:tailEnd type="none" w="med" len="med"/>
          </a:ln>
        </p:spPr>
      </p:cxnSp>
      <p:cxnSp>
        <p:nvCxnSpPr>
          <p:cNvPr id="115745" name="AutoShape 44"/>
          <p:cNvCxnSpPr>
            <a:stCxn id="110614" idx="3"/>
            <a:endCxn id="110618" idx="2"/>
          </p:cNvCxnSpPr>
          <p:nvPr/>
        </p:nvCxnSpPr>
        <p:spPr>
          <a:xfrm flipV="1">
            <a:off x="4794250" y="3575050"/>
            <a:ext cx="2017713" cy="20638"/>
          </a:xfrm>
          <a:prstGeom prst="straightConnector1">
            <a:avLst/>
          </a:prstGeom>
          <a:ln w="9525" cap="flat" cmpd="sng">
            <a:solidFill>
              <a:schemeClr val="tx1"/>
            </a:solidFill>
            <a:prstDash val="solid"/>
            <a:round/>
            <a:headEnd type="none" w="med" len="med"/>
            <a:tailEnd type="none" w="med" len="med"/>
          </a:ln>
        </p:spPr>
      </p:cxnSp>
      <p:cxnSp>
        <p:nvCxnSpPr>
          <p:cNvPr id="115746" name="AutoShape 45"/>
          <p:cNvCxnSpPr>
            <a:stCxn id="110614" idx="3"/>
            <a:endCxn id="110619" idx="2"/>
          </p:cNvCxnSpPr>
          <p:nvPr/>
        </p:nvCxnSpPr>
        <p:spPr>
          <a:xfrm>
            <a:off x="4794250" y="3595688"/>
            <a:ext cx="1009650" cy="155575"/>
          </a:xfrm>
          <a:prstGeom prst="straightConnector1">
            <a:avLst/>
          </a:prstGeom>
          <a:ln w="9525" cap="flat" cmpd="sng">
            <a:solidFill>
              <a:schemeClr val="tx1"/>
            </a:solidFill>
            <a:prstDash val="solid"/>
            <a:round/>
            <a:headEnd type="none" w="med" len="med"/>
            <a:tailEnd type="none" w="med" len="med"/>
          </a:ln>
        </p:spPr>
      </p:cxnSp>
      <p:cxnSp>
        <p:nvCxnSpPr>
          <p:cNvPr id="115747" name="AutoShape 46"/>
          <p:cNvCxnSpPr>
            <a:stCxn id="110614" idx="3"/>
            <a:endCxn id="110620" idx="2"/>
          </p:cNvCxnSpPr>
          <p:nvPr/>
        </p:nvCxnSpPr>
        <p:spPr>
          <a:xfrm flipV="1">
            <a:off x="4794250" y="3276600"/>
            <a:ext cx="1512888" cy="319088"/>
          </a:xfrm>
          <a:prstGeom prst="straightConnector1">
            <a:avLst/>
          </a:prstGeom>
          <a:ln w="9525" cap="flat" cmpd="sng">
            <a:solidFill>
              <a:schemeClr val="tx1"/>
            </a:solidFill>
            <a:prstDash val="solid"/>
            <a:round/>
            <a:headEnd type="none" w="med" len="med"/>
            <a:tailEnd type="none" w="med" len="med"/>
          </a:ln>
        </p:spPr>
      </p:cxnSp>
      <p:cxnSp>
        <p:nvCxnSpPr>
          <p:cNvPr id="115748" name="AutoShape 47"/>
          <p:cNvCxnSpPr>
            <a:stCxn id="110614" idx="3"/>
            <a:endCxn id="110621" idx="2"/>
          </p:cNvCxnSpPr>
          <p:nvPr/>
        </p:nvCxnSpPr>
        <p:spPr>
          <a:xfrm flipV="1">
            <a:off x="4794250" y="3043238"/>
            <a:ext cx="865188" cy="552450"/>
          </a:xfrm>
          <a:prstGeom prst="straightConnector1">
            <a:avLst/>
          </a:prstGeom>
          <a:ln w="9525" cap="flat" cmpd="sng">
            <a:solidFill>
              <a:schemeClr val="tx1"/>
            </a:solidFill>
            <a:prstDash val="solid"/>
            <a:round/>
            <a:headEnd type="none" w="med" len="med"/>
            <a:tailEnd type="none" w="med" len="med"/>
          </a:ln>
        </p:spPr>
      </p:cxnSp>
      <p:cxnSp>
        <p:nvCxnSpPr>
          <p:cNvPr id="115749" name="AutoShape 48"/>
          <p:cNvCxnSpPr>
            <a:stCxn id="110614" idx="3"/>
            <a:endCxn id="110622" idx="2"/>
          </p:cNvCxnSpPr>
          <p:nvPr/>
        </p:nvCxnSpPr>
        <p:spPr>
          <a:xfrm flipV="1">
            <a:off x="4794250" y="2687638"/>
            <a:ext cx="576263" cy="909637"/>
          </a:xfrm>
          <a:prstGeom prst="straightConnector1">
            <a:avLst/>
          </a:prstGeom>
          <a:ln w="9525" cap="flat" cmpd="sng">
            <a:solidFill>
              <a:schemeClr val="tx1"/>
            </a:solidFill>
            <a:prstDash val="solid"/>
            <a:round/>
            <a:headEnd type="none" w="med" len="med"/>
            <a:tailEnd type="none" w="med" len="med"/>
          </a:ln>
        </p:spPr>
      </p:cxnSp>
      <p:sp>
        <p:nvSpPr>
          <p:cNvPr id="110631" name="AutoShape 49"/>
          <p:cNvSpPr/>
          <p:nvPr/>
        </p:nvSpPr>
        <p:spPr>
          <a:xfrm>
            <a:off x="3211513" y="2657475"/>
            <a:ext cx="863600" cy="355600"/>
          </a:xfrm>
          <a:prstGeom prst="diamond">
            <a:avLst/>
          </a:prstGeom>
          <a:solidFill>
            <a:srgbClr val="FFFF00"/>
          </a:solidFill>
          <a:ln w="9525" cap="flat" cmpd="sng">
            <a:solidFill>
              <a:schemeClr val="tx1"/>
            </a:solidFill>
            <a:prstDash val="solid"/>
            <a:miter/>
            <a:headEnd type="none" w="med" len="med"/>
            <a:tailEnd type="none" w="med" len="med"/>
          </a:ln>
        </p:spPr>
        <p:txBody>
          <a:bodyPr wrap="none" lIns="18000" rIns="18000" anchor="ctr"/>
          <a:lstStyle/>
          <a:p>
            <a:pPr lvl="0" algn="ctr" eaLnBrk="1" fontAlgn="base" hangingPunct="1">
              <a:lnSpc>
                <a:spcPct val="100000"/>
              </a:lnSpc>
              <a:buNone/>
            </a:pPr>
            <a:r>
              <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签收</a:t>
            </a:r>
            <a:endPar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32" name="AutoShape 50"/>
          <p:cNvSpPr/>
          <p:nvPr/>
        </p:nvSpPr>
        <p:spPr>
          <a:xfrm>
            <a:off x="4795838" y="4373563"/>
            <a:ext cx="1223963" cy="350838"/>
          </a:xfrm>
          <a:prstGeom prst="diamond">
            <a:avLst/>
          </a:prstGeom>
          <a:solidFill>
            <a:srgbClr val="FFFF00"/>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邮寄</a:t>
            </a:r>
            <a:endPar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52" name="AutoShape 51"/>
          <p:cNvCxnSpPr>
            <a:endCxn id="110631" idx="1"/>
          </p:cNvCxnSpPr>
          <p:nvPr/>
        </p:nvCxnSpPr>
        <p:spPr>
          <a:xfrm>
            <a:off x="2435225" y="2574925"/>
            <a:ext cx="776288" cy="260350"/>
          </a:xfrm>
          <a:prstGeom prst="straightConnector1">
            <a:avLst/>
          </a:prstGeom>
          <a:ln w="9525" cap="flat" cmpd="sng">
            <a:solidFill>
              <a:schemeClr val="tx1"/>
            </a:solidFill>
            <a:prstDash val="solid"/>
            <a:round/>
            <a:headEnd type="none" w="med" len="med"/>
            <a:tailEnd type="none" w="med" len="med"/>
          </a:ln>
        </p:spPr>
      </p:cxnSp>
      <p:cxnSp>
        <p:nvCxnSpPr>
          <p:cNvPr id="115753" name="AutoShape 52"/>
          <p:cNvCxnSpPr>
            <a:stCxn id="110631" idx="3"/>
            <a:endCxn id="110614" idx="0"/>
          </p:cNvCxnSpPr>
          <p:nvPr/>
        </p:nvCxnSpPr>
        <p:spPr>
          <a:xfrm>
            <a:off x="4075113" y="2835275"/>
            <a:ext cx="287337" cy="592138"/>
          </a:xfrm>
          <a:prstGeom prst="straightConnector1">
            <a:avLst/>
          </a:prstGeom>
          <a:ln w="28575" cap="flat" cmpd="sng">
            <a:solidFill>
              <a:schemeClr val="tx1"/>
            </a:solidFill>
            <a:prstDash val="solid"/>
            <a:round/>
            <a:headEnd type="arrow" w="med" len="med"/>
            <a:tailEnd type="none" w="med" len="med"/>
          </a:ln>
        </p:spPr>
      </p:cxnSp>
      <p:cxnSp>
        <p:nvCxnSpPr>
          <p:cNvPr id="115754" name="AutoShape 53"/>
          <p:cNvCxnSpPr>
            <a:stCxn id="110614" idx="2"/>
            <a:endCxn id="110632" idx="1"/>
          </p:cNvCxnSpPr>
          <p:nvPr/>
        </p:nvCxnSpPr>
        <p:spPr>
          <a:xfrm rot="-5400000" flipH="1">
            <a:off x="4187825" y="3940175"/>
            <a:ext cx="782638" cy="433388"/>
          </a:xfrm>
          <a:prstGeom prst="straightConnector1">
            <a:avLst/>
          </a:prstGeom>
          <a:ln w="28575" cap="flat" cmpd="sng">
            <a:solidFill>
              <a:schemeClr val="tx1"/>
            </a:solidFill>
            <a:prstDash val="solid"/>
            <a:round/>
            <a:headEnd type="none" w="med" len="med"/>
            <a:tailEnd type="arrow" w="med" len="med"/>
          </a:ln>
        </p:spPr>
      </p:cxnSp>
      <p:cxnSp>
        <p:nvCxnSpPr>
          <p:cNvPr id="115755" name="AutoShape 54"/>
          <p:cNvCxnSpPr/>
          <p:nvPr/>
        </p:nvCxnSpPr>
        <p:spPr>
          <a:xfrm>
            <a:off x="6019800" y="4564063"/>
            <a:ext cx="720725" cy="220662"/>
          </a:xfrm>
          <a:prstGeom prst="straightConnector1">
            <a:avLst/>
          </a:prstGeom>
          <a:ln w="9525" cap="flat" cmpd="sng">
            <a:solidFill>
              <a:schemeClr val="tx1"/>
            </a:solidFill>
            <a:prstDash val="solid"/>
            <a:round/>
            <a:headEnd type="none" w="med" len="med"/>
            <a:tailEnd type="none" w="med" len="med"/>
          </a:ln>
        </p:spPr>
      </p:cxnSp>
      <p:sp>
        <p:nvSpPr>
          <p:cNvPr id="115756" name="Rectangle 55"/>
          <p:cNvSpPr/>
          <p:nvPr/>
        </p:nvSpPr>
        <p:spPr>
          <a:xfrm>
            <a:off x="2992438" y="2465388"/>
            <a:ext cx="184150"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endParaRPr lang="en-US" altLang="x-none" dirty="0">
              <a:latin typeface="Arial" panose="020B0604020202020204" pitchFamily="34" charset="0"/>
              <a:ea typeface="宋体" panose="02010600030101010101" pitchFamily="2" charset="-122"/>
            </a:endParaRPr>
          </a:p>
        </p:txBody>
      </p:sp>
      <p:sp>
        <p:nvSpPr>
          <p:cNvPr id="115757" name="Rectangle 56"/>
          <p:cNvSpPr/>
          <p:nvPr/>
        </p:nvSpPr>
        <p:spPr>
          <a:xfrm>
            <a:off x="4206875" y="2868613"/>
            <a:ext cx="184150" cy="423862"/>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endParaRPr lang="en-US" altLang="x-none" dirty="0">
              <a:latin typeface="Arial" panose="020B0604020202020204" pitchFamily="34" charset="0"/>
              <a:ea typeface="宋体" panose="02010600030101010101" pitchFamily="2" charset="-122"/>
            </a:endParaRPr>
          </a:p>
        </p:txBody>
      </p:sp>
      <p:sp>
        <p:nvSpPr>
          <p:cNvPr id="115758" name="Rectangle 57"/>
          <p:cNvSpPr/>
          <p:nvPr/>
        </p:nvSpPr>
        <p:spPr>
          <a:xfrm>
            <a:off x="6149975" y="4357688"/>
            <a:ext cx="184150"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endParaRPr lang="en-US" altLang="x-none" dirty="0">
              <a:latin typeface="Arial" panose="020B0604020202020204" pitchFamily="34" charset="0"/>
              <a:ea typeface="宋体" panose="02010600030101010101" pitchFamily="2" charset="-122"/>
            </a:endParaRPr>
          </a:p>
        </p:txBody>
      </p:sp>
      <p:sp>
        <p:nvSpPr>
          <p:cNvPr id="115759" name="Rectangle 58"/>
          <p:cNvSpPr/>
          <p:nvPr/>
        </p:nvSpPr>
        <p:spPr>
          <a:xfrm>
            <a:off x="4697413" y="4035425"/>
            <a:ext cx="184150"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endParaRPr lang="en-US" altLang="x-none" dirty="0">
              <a:latin typeface="Arial" panose="020B0604020202020204" pitchFamily="34" charset="0"/>
              <a:ea typeface="宋体" panose="02010600030101010101" pitchFamily="2" charset="-122"/>
            </a:endParaRPr>
          </a:p>
        </p:txBody>
      </p:sp>
      <p:sp>
        <p:nvSpPr>
          <p:cNvPr id="110641" name="AutoShape 49"/>
          <p:cNvSpPr/>
          <p:nvPr/>
        </p:nvSpPr>
        <p:spPr>
          <a:xfrm>
            <a:off x="1230313" y="5065713"/>
            <a:ext cx="863600" cy="392113"/>
          </a:xfrm>
          <a:prstGeom prst="diamond">
            <a:avLst/>
          </a:prstGeom>
          <a:solidFill>
            <a:srgbClr val="FFFF00"/>
          </a:solidFill>
          <a:ln w="9525" cap="flat" cmpd="sng">
            <a:solidFill>
              <a:schemeClr val="tx1"/>
            </a:solidFill>
            <a:prstDash val="solid"/>
            <a:miter/>
            <a:headEnd type="none" w="med" len="med"/>
            <a:tailEnd type="none" w="med" len="med"/>
          </a:ln>
        </p:spPr>
        <p:txBody>
          <a:bodyPr wrap="none" lIns="18000" rIns="18000" anchor="ctr"/>
          <a:lstStyle/>
          <a:p>
            <a:pPr lvl="0" algn="ctr" eaLnBrk="1" fontAlgn="base" hangingPunct="1">
              <a:lnSpc>
                <a:spcPct val="100000"/>
              </a:lnSpc>
              <a:buNone/>
            </a:pPr>
            <a:r>
              <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工作</a:t>
            </a:r>
            <a:endPar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42" name="Oval 10"/>
          <p:cNvSpPr/>
          <p:nvPr/>
        </p:nvSpPr>
        <p:spPr>
          <a:xfrm>
            <a:off x="4168775" y="2022475"/>
            <a:ext cx="949325" cy="295275"/>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签收时间</a:t>
            </a:r>
            <a:endPar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cxnSp>
        <p:nvCxnSpPr>
          <p:cNvPr id="115762" name="AutoShape 14"/>
          <p:cNvCxnSpPr>
            <a:endCxn id="110642" idx="3"/>
          </p:cNvCxnSpPr>
          <p:nvPr/>
        </p:nvCxnSpPr>
        <p:spPr>
          <a:xfrm flipV="1">
            <a:off x="3727450" y="2274888"/>
            <a:ext cx="581025" cy="398462"/>
          </a:xfrm>
          <a:prstGeom prst="straightConnector1">
            <a:avLst/>
          </a:prstGeom>
          <a:ln w="9525" cap="flat" cmpd="sng">
            <a:solidFill>
              <a:schemeClr val="tx1"/>
            </a:solidFill>
            <a:prstDash val="solid"/>
            <a:round/>
            <a:headEnd type="none" w="med" len="med"/>
            <a:tailEnd type="none" w="med" len="med"/>
          </a:ln>
        </p:spPr>
      </p:cxnSp>
      <p:sp>
        <p:nvSpPr>
          <p:cNvPr id="110644" name="Rectangle 28"/>
          <p:cNvSpPr/>
          <p:nvPr/>
        </p:nvSpPr>
        <p:spPr>
          <a:xfrm>
            <a:off x="736600" y="4456113"/>
            <a:ext cx="1208088" cy="2762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邮局分支</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45" name="Oval 32"/>
          <p:cNvSpPr/>
          <p:nvPr/>
        </p:nvSpPr>
        <p:spPr>
          <a:xfrm>
            <a:off x="320675" y="3873500"/>
            <a:ext cx="950913" cy="3048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u="sng"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邮局编号</a:t>
            </a:r>
            <a:endParaRPr lang="zh-CN" altLang="en-US" sz="1400" u="sng"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46" name="Oval 32"/>
          <p:cNvSpPr/>
          <p:nvPr/>
        </p:nvSpPr>
        <p:spPr>
          <a:xfrm>
            <a:off x="282575" y="4997450"/>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名称</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66" name="AutoShape 23"/>
          <p:cNvCxnSpPr>
            <a:endCxn id="110644" idx="0"/>
          </p:cNvCxnSpPr>
          <p:nvPr/>
        </p:nvCxnSpPr>
        <p:spPr>
          <a:xfrm>
            <a:off x="925513" y="4179888"/>
            <a:ext cx="414337" cy="276225"/>
          </a:xfrm>
          <a:prstGeom prst="straightConnector1">
            <a:avLst/>
          </a:prstGeom>
          <a:ln w="9525" cap="flat" cmpd="sng">
            <a:solidFill>
              <a:schemeClr val="tx1"/>
            </a:solidFill>
            <a:prstDash val="solid"/>
            <a:round/>
            <a:headEnd type="none" w="med" len="med"/>
            <a:tailEnd type="none" w="med" len="med"/>
          </a:ln>
        </p:spPr>
      </p:cxnSp>
      <p:cxnSp>
        <p:nvCxnSpPr>
          <p:cNvPr id="115767" name="AutoShape 23"/>
          <p:cNvCxnSpPr/>
          <p:nvPr/>
        </p:nvCxnSpPr>
        <p:spPr>
          <a:xfrm rot="-10800000" flipV="1">
            <a:off x="808038" y="4745038"/>
            <a:ext cx="304800" cy="244475"/>
          </a:xfrm>
          <a:prstGeom prst="straightConnector1">
            <a:avLst/>
          </a:prstGeom>
          <a:ln w="9525" cap="flat" cmpd="sng">
            <a:solidFill>
              <a:schemeClr val="tx1"/>
            </a:solidFill>
            <a:prstDash val="solid"/>
            <a:round/>
            <a:headEnd type="none" w="med" len="med"/>
            <a:tailEnd type="none" w="med" len="med"/>
          </a:ln>
        </p:spPr>
      </p:cxnSp>
      <p:sp>
        <p:nvSpPr>
          <p:cNvPr id="115769"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3</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a:t>
            </a:r>
            <a:r>
              <a:rPr lang="zh-CN" altLang="en-US" sz="2400" dirty="0">
                <a:latin typeface="Arial" panose="020B0604020202020204" pitchFamily="34" charset="0"/>
                <a:ea typeface="宋体" panose="02010600030101010101" pitchFamily="2" charset="-122"/>
              </a:rPr>
              <a:t>实体与联系的各种完整性约束，完成</a:t>
            </a:r>
            <a:r>
              <a:rPr lang="en-US" altLang="x-none" sz="2400" dirty="0">
                <a:latin typeface="Arial" panose="020B0604020202020204" pitchFamily="34" charset="0"/>
                <a:ea typeface="宋体" panose="02010600030101010101" pitchFamily="2" charset="-122"/>
              </a:rPr>
              <a:t>ER</a:t>
            </a:r>
            <a:r>
              <a:rPr lang="zh-CN" altLang="en-US" sz="2400" dirty="0">
                <a:latin typeface="Arial" panose="020B0604020202020204" pitchFamily="34" charset="0"/>
                <a:ea typeface="宋体" panose="02010600030101010101" pitchFamily="2" charset="-122"/>
              </a:rPr>
              <a:t>图</a:t>
            </a:r>
            <a:endParaRPr lang="zh-CN" altLang="en-US" sz="2400" dirty="0">
              <a:solidFill>
                <a:srgbClr val="006600"/>
              </a:solidFill>
              <a:latin typeface="华文楷体" panose="02010600040101010101" pitchFamily="2" charset="-122"/>
              <a:ea typeface="宋体" panose="02010600030101010101" pitchFamily="2" charset="-122"/>
            </a:endParaRPr>
          </a:p>
        </p:txBody>
      </p:sp>
      <p:sp>
        <p:nvSpPr>
          <p:cNvPr id="115770" name="Rectangle 55"/>
          <p:cNvSpPr/>
          <p:nvPr/>
        </p:nvSpPr>
        <p:spPr>
          <a:xfrm>
            <a:off x="2916238" y="2379663"/>
            <a:ext cx="311150" cy="4635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5771" name="Rectangle 55"/>
          <p:cNvSpPr/>
          <p:nvPr/>
        </p:nvSpPr>
        <p:spPr>
          <a:xfrm>
            <a:off x="4271963" y="2957513"/>
            <a:ext cx="327025"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n</a:t>
            </a:r>
            <a:endParaRPr lang="en-US" altLang="x-none" dirty="0">
              <a:latin typeface="Arial" panose="020B0604020202020204" pitchFamily="34" charset="0"/>
              <a:ea typeface="宋体" panose="02010600030101010101" pitchFamily="2" charset="-122"/>
            </a:endParaRPr>
          </a:p>
        </p:txBody>
      </p:sp>
      <p:sp>
        <p:nvSpPr>
          <p:cNvPr id="115772" name="Rectangle 55"/>
          <p:cNvSpPr/>
          <p:nvPr/>
        </p:nvSpPr>
        <p:spPr>
          <a:xfrm>
            <a:off x="6315075" y="4314825"/>
            <a:ext cx="311150" cy="4635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5773" name="Rectangle 55"/>
          <p:cNvSpPr/>
          <p:nvPr/>
        </p:nvSpPr>
        <p:spPr>
          <a:xfrm>
            <a:off x="4652963" y="3917950"/>
            <a:ext cx="327025"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n</a:t>
            </a:r>
            <a:endParaRPr lang="en-US" altLang="x-none" dirty="0">
              <a:latin typeface="Arial" panose="020B0604020202020204" pitchFamily="34" charset="0"/>
              <a:ea typeface="宋体" panose="02010600030101010101" pitchFamily="2" charset="-122"/>
            </a:endParaRPr>
          </a:p>
        </p:txBody>
      </p:sp>
      <p:sp>
        <p:nvSpPr>
          <p:cNvPr id="110655" name="Rectangle 28"/>
          <p:cNvSpPr/>
          <p:nvPr/>
        </p:nvSpPr>
        <p:spPr>
          <a:xfrm>
            <a:off x="2768600" y="5108575"/>
            <a:ext cx="1208088" cy="27781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员工</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56" name="Oval 32"/>
          <p:cNvSpPr/>
          <p:nvPr/>
        </p:nvSpPr>
        <p:spPr>
          <a:xfrm>
            <a:off x="2671763" y="5659438"/>
            <a:ext cx="950913" cy="3048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u="sng"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员工编号</a:t>
            </a:r>
            <a:endParaRPr lang="zh-CN" altLang="en-US" sz="1400" u="sng"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57" name="Oval 32"/>
          <p:cNvSpPr/>
          <p:nvPr/>
        </p:nvSpPr>
        <p:spPr>
          <a:xfrm>
            <a:off x="3679825" y="5635625"/>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姓名</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77" name="AutoShape 23"/>
          <p:cNvCxnSpPr/>
          <p:nvPr/>
        </p:nvCxnSpPr>
        <p:spPr>
          <a:xfrm>
            <a:off x="3508375" y="5399088"/>
            <a:ext cx="415925" cy="276225"/>
          </a:xfrm>
          <a:prstGeom prst="straightConnector1">
            <a:avLst/>
          </a:prstGeom>
          <a:ln w="9525" cap="flat" cmpd="sng">
            <a:solidFill>
              <a:schemeClr val="tx1"/>
            </a:solidFill>
            <a:prstDash val="solid"/>
            <a:round/>
            <a:headEnd type="none" w="med" len="med"/>
            <a:tailEnd type="none" w="med" len="med"/>
          </a:ln>
        </p:spPr>
      </p:cxnSp>
      <p:cxnSp>
        <p:nvCxnSpPr>
          <p:cNvPr id="115778" name="AutoShape 23"/>
          <p:cNvCxnSpPr/>
          <p:nvPr/>
        </p:nvCxnSpPr>
        <p:spPr>
          <a:xfrm rot="-10800000" flipV="1">
            <a:off x="3086100" y="5397500"/>
            <a:ext cx="304800" cy="244475"/>
          </a:xfrm>
          <a:prstGeom prst="straightConnector1">
            <a:avLst/>
          </a:prstGeom>
          <a:ln w="9525" cap="flat" cmpd="sng">
            <a:solidFill>
              <a:schemeClr val="tx1"/>
            </a:solidFill>
            <a:prstDash val="solid"/>
            <a:round/>
            <a:headEnd type="none" w="med" len="med"/>
            <a:tailEnd type="none" w="med" len="med"/>
          </a:ln>
        </p:spPr>
      </p:cxnSp>
      <p:cxnSp>
        <p:nvCxnSpPr>
          <p:cNvPr id="115779" name="AutoShape 52"/>
          <p:cNvCxnSpPr>
            <a:stCxn id="110641" idx="3"/>
            <a:endCxn id="110655" idx="1"/>
          </p:cNvCxnSpPr>
          <p:nvPr/>
        </p:nvCxnSpPr>
        <p:spPr>
          <a:xfrm flipV="1">
            <a:off x="2093913" y="5248275"/>
            <a:ext cx="674687" cy="14288"/>
          </a:xfrm>
          <a:prstGeom prst="straightConnector1">
            <a:avLst/>
          </a:prstGeom>
          <a:ln w="28575" cap="flat" cmpd="sng">
            <a:solidFill>
              <a:schemeClr val="tx1"/>
            </a:solidFill>
            <a:prstDash val="solid"/>
            <a:round/>
            <a:headEnd type="arrow" w="med" len="med"/>
            <a:tailEnd type="none" w="med" len="med"/>
          </a:ln>
        </p:spPr>
      </p:cxnSp>
      <p:cxnSp>
        <p:nvCxnSpPr>
          <p:cNvPr id="115780" name="AutoShape 51"/>
          <p:cNvCxnSpPr/>
          <p:nvPr/>
        </p:nvCxnSpPr>
        <p:spPr>
          <a:xfrm rot="-5400000" flipH="1">
            <a:off x="908050" y="4940300"/>
            <a:ext cx="546100" cy="98425"/>
          </a:xfrm>
          <a:prstGeom prst="straightConnector1">
            <a:avLst/>
          </a:prstGeom>
          <a:ln w="28575" cap="flat" cmpd="sng">
            <a:solidFill>
              <a:schemeClr val="tx1"/>
            </a:solidFill>
            <a:prstDash val="solid"/>
            <a:round/>
            <a:headEnd type="none" w="med" len="med"/>
            <a:tailEnd type="none" w="med" len="med"/>
          </a:ln>
        </p:spPr>
      </p:cxnSp>
      <p:sp>
        <p:nvSpPr>
          <p:cNvPr id="115781" name="Rectangle 55"/>
          <p:cNvSpPr/>
          <p:nvPr/>
        </p:nvSpPr>
        <p:spPr>
          <a:xfrm>
            <a:off x="1225550" y="4708525"/>
            <a:ext cx="327025" cy="466725"/>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5782" name="Rectangle 55"/>
          <p:cNvSpPr/>
          <p:nvPr/>
        </p:nvSpPr>
        <p:spPr>
          <a:xfrm>
            <a:off x="2276475" y="5170488"/>
            <a:ext cx="327025"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n</a:t>
            </a:r>
            <a:endParaRPr lang="en-US" altLang="x-none" dirty="0">
              <a:latin typeface="Arial" panose="020B0604020202020204" pitchFamily="34" charset="0"/>
              <a:ea typeface="宋体" panose="02010600030101010101" pitchFamily="2" charset="-122"/>
            </a:endParaRPr>
          </a:p>
        </p:txBody>
      </p:sp>
      <p:cxnSp>
        <p:nvCxnSpPr>
          <p:cNvPr id="115783" name="AutoShape 51"/>
          <p:cNvCxnSpPr>
            <a:stCxn id="110632" idx="2"/>
            <a:endCxn id="110655" idx="3"/>
          </p:cNvCxnSpPr>
          <p:nvPr/>
        </p:nvCxnSpPr>
        <p:spPr>
          <a:xfrm rot="5400000">
            <a:off x="4430713" y="4270375"/>
            <a:ext cx="523875" cy="1431925"/>
          </a:xfrm>
          <a:prstGeom prst="straightConnector1">
            <a:avLst/>
          </a:prstGeom>
          <a:ln w="19050" cap="flat" cmpd="sng">
            <a:solidFill>
              <a:schemeClr val="tx1"/>
            </a:solidFill>
            <a:prstDash val="solid"/>
            <a:round/>
            <a:headEnd type="none" w="med" len="med"/>
            <a:tailEnd type="none" w="med" len="med"/>
          </a:ln>
        </p:spPr>
      </p:cxnSp>
      <p:sp>
        <p:nvSpPr>
          <p:cNvPr id="115784" name="Rectangle 55"/>
          <p:cNvSpPr/>
          <p:nvPr/>
        </p:nvSpPr>
        <p:spPr>
          <a:xfrm>
            <a:off x="5487988" y="4694238"/>
            <a:ext cx="388937"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m</a:t>
            </a:r>
            <a:endParaRPr lang="en-US" altLang="x-none" dirty="0">
              <a:latin typeface="Arial" panose="020B0604020202020204" pitchFamily="34" charset="0"/>
              <a:ea typeface="宋体" panose="02010600030101010101" pitchFamily="2" charset="-122"/>
            </a:endParaRPr>
          </a:p>
        </p:txBody>
      </p:sp>
      <p:cxnSp>
        <p:nvCxnSpPr>
          <p:cNvPr id="115785" name="AutoShape 23"/>
          <p:cNvCxnSpPr>
            <a:stCxn id="110631" idx="2"/>
          </p:cNvCxnSpPr>
          <p:nvPr/>
        </p:nvCxnSpPr>
        <p:spPr>
          <a:xfrm rot="5400000">
            <a:off x="2544763" y="3995738"/>
            <a:ext cx="2081212" cy="115887"/>
          </a:xfrm>
          <a:prstGeom prst="straightConnector1">
            <a:avLst/>
          </a:prstGeom>
          <a:ln w="9525" cap="flat" cmpd="sng">
            <a:solidFill>
              <a:schemeClr val="tx1"/>
            </a:solidFill>
            <a:prstDash val="solid"/>
            <a:round/>
            <a:headEnd type="none" w="med" len="med"/>
            <a:tailEnd type="none" w="med" len="med"/>
          </a:ln>
        </p:spPr>
      </p:cxnSp>
      <p:sp>
        <p:nvSpPr>
          <p:cNvPr id="110667" name="AutoShape 50"/>
          <p:cNvSpPr/>
          <p:nvPr/>
        </p:nvSpPr>
        <p:spPr>
          <a:xfrm>
            <a:off x="1719263" y="3473450"/>
            <a:ext cx="1223963" cy="350838"/>
          </a:xfrm>
          <a:prstGeom prst="diamond">
            <a:avLst/>
          </a:prstGeom>
          <a:solidFill>
            <a:srgbClr val="FFFF00"/>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收发</a:t>
            </a:r>
            <a:endPar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87" name="AutoShape 53"/>
          <p:cNvCxnSpPr/>
          <p:nvPr/>
        </p:nvCxnSpPr>
        <p:spPr>
          <a:xfrm rot="-10800000" flipV="1">
            <a:off x="2946400" y="3635375"/>
            <a:ext cx="1023938" cy="36513"/>
          </a:xfrm>
          <a:prstGeom prst="straightConnector1">
            <a:avLst/>
          </a:prstGeom>
          <a:ln w="28575" cap="flat" cmpd="sng">
            <a:solidFill>
              <a:schemeClr val="tx1"/>
            </a:solidFill>
            <a:prstDash val="solid"/>
            <a:round/>
            <a:headEnd type="none" w="med" len="med"/>
            <a:tailEnd type="arrow" w="med" len="med"/>
          </a:ln>
        </p:spPr>
      </p:cxnSp>
      <p:cxnSp>
        <p:nvCxnSpPr>
          <p:cNvPr id="115788" name="AutoShape 51"/>
          <p:cNvCxnSpPr/>
          <p:nvPr/>
        </p:nvCxnSpPr>
        <p:spPr>
          <a:xfrm rot="5400000">
            <a:off x="1254125" y="3990975"/>
            <a:ext cx="777875" cy="152400"/>
          </a:xfrm>
          <a:prstGeom prst="straightConnector1">
            <a:avLst/>
          </a:prstGeom>
          <a:ln w="28575" cap="flat" cmpd="sng">
            <a:solidFill>
              <a:schemeClr val="tx1"/>
            </a:solidFill>
            <a:prstDash val="solid"/>
            <a:round/>
            <a:headEnd type="none" w="med" len="med"/>
            <a:tailEnd type="none" w="med" len="med"/>
          </a:ln>
        </p:spPr>
      </p:cxnSp>
      <p:sp>
        <p:nvSpPr>
          <p:cNvPr id="115789" name="Rectangle 55"/>
          <p:cNvSpPr/>
          <p:nvPr/>
        </p:nvSpPr>
        <p:spPr>
          <a:xfrm>
            <a:off x="3190875" y="3254375"/>
            <a:ext cx="327025"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n</a:t>
            </a:r>
            <a:endParaRPr lang="en-US" altLang="x-none" dirty="0">
              <a:latin typeface="Arial" panose="020B0604020202020204" pitchFamily="34" charset="0"/>
              <a:ea typeface="宋体" panose="02010600030101010101" pitchFamily="2" charset="-122"/>
            </a:endParaRPr>
          </a:p>
        </p:txBody>
      </p:sp>
      <p:sp>
        <p:nvSpPr>
          <p:cNvPr id="115790" name="Rectangle 55"/>
          <p:cNvSpPr/>
          <p:nvPr/>
        </p:nvSpPr>
        <p:spPr>
          <a:xfrm>
            <a:off x="1493838" y="3889375"/>
            <a:ext cx="639762" cy="466725"/>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0672" name="Oval 10"/>
          <p:cNvSpPr/>
          <p:nvPr/>
        </p:nvSpPr>
        <p:spPr>
          <a:xfrm>
            <a:off x="1139825" y="5681663"/>
            <a:ext cx="884238" cy="334963"/>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起始时间</a:t>
            </a:r>
            <a:endPar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cxnSp>
        <p:nvCxnSpPr>
          <p:cNvPr id="115792" name="AutoShape 14"/>
          <p:cNvCxnSpPr>
            <a:endCxn id="110672" idx="0"/>
          </p:cNvCxnSpPr>
          <p:nvPr/>
        </p:nvCxnSpPr>
        <p:spPr>
          <a:xfrm rot="5400000">
            <a:off x="1527175" y="5534025"/>
            <a:ext cx="203200" cy="92075"/>
          </a:xfrm>
          <a:prstGeom prst="straightConnector1">
            <a:avLst/>
          </a:prstGeom>
          <a:ln w="9525" cap="flat" cmpd="sng">
            <a:solidFill>
              <a:schemeClr val="tx1"/>
            </a:solidFill>
            <a:prstDash val="solid"/>
            <a:round/>
            <a:headEnd type="none" w="med" len="med"/>
            <a:tailEnd type="none" w="med" len="med"/>
          </a:ln>
        </p:spPr>
      </p:cxnSp>
      <p:sp>
        <p:nvSpPr>
          <p:cNvPr id="115793" name="Rectangle 55"/>
          <p:cNvSpPr/>
          <p:nvPr/>
        </p:nvSpPr>
        <p:spPr>
          <a:xfrm>
            <a:off x="4392613" y="4729163"/>
            <a:ext cx="311150" cy="4635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0675" name="Oval 32"/>
          <p:cNvSpPr/>
          <p:nvPr/>
        </p:nvSpPr>
        <p:spPr>
          <a:xfrm>
            <a:off x="3759200" y="4475163"/>
            <a:ext cx="792163" cy="2921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时间</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95" name="AutoShape 23"/>
          <p:cNvCxnSpPr>
            <a:endCxn id="110632" idx="1"/>
          </p:cNvCxnSpPr>
          <p:nvPr/>
        </p:nvCxnSpPr>
        <p:spPr>
          <a:xfrm flipV="1">
            <a:off x="4578350" y="4549775"/>
            <a:ext cx="217488" cy="41275"/>
          </a:xfrm>
          <a:prstGeom prst="straightConnector1">
            <a:avLst/>
          </a:prstGeom>
          <a:ln w="9525" cap="flat" cmpd="sng">
            <a:solidFill>
              <a:schemeClr val="tx1"/>
            </a:solidFill>
            <a:prstDash val="solid"/>
            <a:round/>
            <a:headEnd type="none" w="med" len="med"/>
            <a:tailEnd type="none" w="med" len="med"/>
          </a:ln>
        </p:spPr>
      </p:cxnSp>
      <p:sp>
        <p:nvSpPr>
          <p:cNvPr id="110677" name="Oval 10"/>
          <p:cNvSpPr/>
          <p:nvPr/>
        </p:nvSpPr>
        <p:spPr>
          <a:xfrm>
            <a:off x="1244600" y="3001963"/>
            <a:ext cx="949325" cy="295275"/>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分发时间</a:t>
            </a:r>
            <a:endPar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cxnSp>
        <p:nvCxnSpPr>
          <p:cNvPr id="115797" name="AutoShape 11"/>
          <p:cNvCxnSpPr/>
          <p:nvPr/>
        </p:nvCxnSpPr>
        <p:spPr>
          <a:xfrm>
            <a:off x="1604963" y="3278188"/>
            <a:ext cx="431800" cy="255587"/>
          </a:xfrm>
          <a:prstGeom prst="straightConnector1">
            <a:avLst/>
          </a:prstGeom>
          <a:ln w="9525" cap="flat" cmpd="sng">
            <a:solidFill>
              <a:schemeClr val="tx1"/>
            </a:solidFill>
            <a:prstDash val="solid"/>
            <a:round/>
            <a:headEnd type="none" w="med" len="med"/>
            <a:tailEnd type="none" w="med" len="med"/>
          </a:ln>
        </p:spPr>
      </p:cxnSp>
      <p:cxnSp>
        <p:nvCxnSpPr>
          <p:cNvPr id="115798" name="AutoShape 51"/>
          <p:cNvCxnSpPr>
            <a:stCxn id="110667" idx="2"/>
          </p:cNvCxnSpPr>
          <p:nvPr/>
        </p:nvCxnSpPr>
        <p:spPr>
          <a:xfrm rot="-5400000" flipH="1">
            <a:off x="2047875" y="4108450"/>
            <a:ext cx="1270000" cy="701675"/>
          </a:xfrm>
          <a:prstGeom prst="straightConnector1">
            <a:avLst/>
          </a:prstGeom>
          <a:ln w="28575" cap="flat" cmpd="sng">
            <a:solidFill>
              <a:schemeClr val="tx1"/>
            </a:solidFill>
            <a:prstDash val="solid"/>
            <a:round/>
            <a:headEnd type="none" w="med" len="med"/>
            <a:tailEnd type="none" w="med" len="med"/>
          </a:ln>
        </p:spPr>
      </p:cxnSp>
      <p:sp>
        <p:nvSpPr>
          <p:cNvPr id="115799" name="Rectangle 55"/>
          <p:cNvSpPr/>
          <p:nvPr/>
        </p:nvSpPr>
        <p:spPr>
          <a:xfrm>
            <a:off x="2444750" y="4041775"/>
            <a:ext cx="639763" cy="466725"/>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矩形 2"/>
          <p:cNvSpPr/>
          <p:nvPr/>
        </p:nvSpPr>
        <p:spPr>
          <a:xfrm>
            <a:off x="473075" y="860425"/>
            <a:ext cx="7650163" cy="523875"/>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：含弱实体的</a:t>
            </a:r>
            <a:r>
              <a:rPr lang="de-DE" altLang="en-US"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 </a:t>
            </a:r>
            <a:r>
              <a:rPr lang="en-US" altLang="x-none" sz="2800" dirty="0">
                <a:solidFill>
                  <a:srgbClr val="0033CC"/>
                </a:solidFill>
                <a:latin typeface="黑体" panose="02010609060101010101" pitchFamily="1" charset="-122"/>
                <a:ea typeface="黑体" panose="02010609060101010101" pitchFamily="1" charset="-122"/>
              </a:rPr>
              <a:t>–</a:t>
            </a:r>
            <a:r>
              <a:rPr lang="zh-CN" altLang="en-US" sz="2800" dirty="0">
                <a:solidFill>
                  <a:srgbClr val="0033CC"/>
                </a:solidFill>
                <a:latin typeface="黑体" panose="02010609060101010101" pitchFamily="1" charset="-122"/>
                <a:ea typeface="黑体" panose="02010609060101010101" pitchFamily="1" charset="-122"/>
              </a:rPr>
              <a:t>学生管理数据库</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16739" name="组合 5"/>
          <p:cNvGrpSpPr/>
          <p:nvPr/>
        </p:nvGrpSpPr>
        <p:grpSpPr>
          <a:xfrm>
            <a:off x="509588" y="1504950"/>
            <a:ext cx="8085137" cy="4149725"/>
            <a:chOff x="0" y="0"/>
            <a:chExt cx="8085137" cy="4149725"/>
          </a:xfrm>
        </p:grpSpPr>
        <p:sp>
          <p:nvSpPr>
            <p:cNvPr id="116740" name="Rectangle 2"/>
            <p:cNvSpPr txBox="1"/>
            <p:nvPr/>
          </p:nvSpPr>
          <p:spPr>
            <a:xfrm>
              <a:off x="0" y="0"/>
              <a:ext cx="8085137" cy="41497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宋体" panose="02010600030101010101" pitchFamily="2" charset="-122"/>
                  <a:ea typeface="宋体" panose="02010600030101010101" pitchFamily="2" charset="-122"/>
                </a:rPr>
                <a:t> 步骤</a:t>
              </a:r>
              <a:r>
                <a:rPr lang="en-US" altLang="x-none" sz="2400" dirty="0">
                  <a:solidFill>
                    <a:srgbClr val="FF0000"/>
                  </a:solidFill>
                  <a:latin typeface="宋体" panose="02010600030101010101" pitchFamily="2" charset="-122"/>
                  <a:ea typeface="宋体" panose="02010600030101010101" pitchFamily="2" charset="-122"/>
                </a:rPr>
                <a:t>1</a:t>
              </a:r>
              <a:r>
                <a:rPr lang="zh-CN" altLang="en-US" sz="2400" dirty="0">
                  <a:solidFill>
                    <a:srgbClr val="FF0000"/>
                  </a:solidFill>
                  <a:latin typeface="宋体" panose="02010600030101010101" pitchFamily="2" charset="-122"/>
                  <a:ea typeface="宋体" panose="02010600030101010101" pitchFamily="2" charset="-122"/>
                </a:rPr>
                <a:t>：</a:t>
              </a:r>
              <a:r>
                <a:rPr lang="zh-CN" altLang="en-US" sz="2400" dirty="0">
                  <a:solidFill>
                    <a:srgbClr val="006600"/>
                  </a:solidFill>
                  <a:latin typeface="宋体" panose="02010600030101010101" pitchFamily="2" charset="-122"/>
                  <a:ea typeface="宋体" panose="02010600030101010101" pitchFamily="2" charset="-122"/>
                </a:rPr>
                <a:t>标识实体、属性及约束</a:t>
              </a:r>
              <a:endParaRPr lang="zh-CN" altLang="en-US" sz="2400" dirty="0">
                <a:solidFill>
                  <a:srgbClr val="006600"/>
                </a:solidFill>
                <a:latin typeface="宋体" panose="02010600030101010101" pitchFamily="2" charset="-122"/>
                <a:ea typeface="宋体" panose="02010600030101010101" pitchFamily="2" charset="-122"/>
              </a:endParaRPr>
            </a:p>
            <a:p>
              <a:pPr marL="533400" lvl="0" indent="-533400">
                <a:spcBef>
                  <a:spcPts val="18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系（</a:t>
              </a:r>
              <a:r>
                <a:rPr lang="zh-CN" altLang="en-US" sz="2000" u="sng" dirty="0">
                  <a:latin typeface="华文楷体" panose="02010600040101010101" pitchFamily="2" charset="-122"/>
                  <a:ea typeface="宋体" panose="02010600030101010101" pitchFamily="2" charset="-122"/>
                </a:rPr>
                <a:t>系名</a:t>
              </a:r>
              <a:r>
                <a:rPr lang="zh-CN" altLang="en-US" sz="2000" dirty="0">
                  <a:latin typeface="华文楷体" panose="02010600040101010101" pitchFamily="2" charset="-122"/>
                  <a:ea typeface="宋体" panose="02010600030101010101" pitchFamily="2" charset="-122"/>
                </a:rPr>
                <a:t>，地址，电话）</a:t>
              </a:r>
              <a:endParaRPr lang="zh-CN" altLang="en-US" sz="2000" dirty="0">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班级（</a:t>
              </a:r>
              <a:r>
                <a:rPr lang="zh-CN" altLang="en-US" sz="2000" u="sng" dirty="0">
                  <a:latin typeface="华文楷体" panose="02010600040101010101" pitchFamily="2" charset="-122"/>
                  <a:ea typeface="宋体" panose="02010600030101010101" pitchFamily="2" charset="-122"/>
                </a:rPr>
                <a:t>班号</a:t>
              </a:r>
              <a:r>
                <a:rPr lang="zh-CN" altLang="en-US" sz="2000" dirty="0">
                  <a:latin typeface="华文楷体" panose="02010600040101010101" pitchFamily="2" charset="-122"/>
                  <a:ea typeface="宋体" panose="02010600030101010101" pitchFamily="2" charset="-122"/>
                </a:rPr>
                <a:t>，班名）</a:t>
              </a:r>
              <a:endParaRPr lang="zh-CN" altLang="en-US" sz="2000" dirty="0">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学生 （</a:t>
              </a:r>
              <a:r>
                <a:rPr lang="zh-CN" altLang="en-US" sz="2000" u="sng" dirty="0">
                  <a:latin typeface="华文楷体" panose="02010600040101010101" pitchFamily="2" charset="-122"/>
                  <a:ea typeface="宋体" panose="02010600030101010101" pitchFamily="2" charset="-122"/>
                </a:rPr>
                <a:t>学号</a:t>
              </a:r>
              <a:r>
                <a:rPr lang="zh-CN" altLang="en-US" sz="2000" dirty="0">
                  <a:latin typeface="华文楷体" panose="02010600040101010101" pitchFamily="2" charset="-122"/>
                  <a:ea typeface="宋体" panose="02010600030101010101" pitchFamily="2" charset="-122"/>
                </a:rPr>
                <a:t>，姓名，性别，出生年月）  </a:t>
              </a:r>
              <a:endParaRPr lang="en-US" altLang="x-none" sz="2000" dirty="0">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solidFill>
                    <a:srgbClr val="CC0000"/>
                  </a:solidFill>
                  <a:latin typeface="华文楷体" panose="02010600040101010101" pitchFamily="2" charset="-122"/>
                  <a:ea typeface="宋体" panose="02010600030101010101" pitchFamily="2" charset="-122"/>
                </a:rPr>
                <a:t>      </a:t>
              </a:r>
              <a:r>
                <a:rPr lang="en-US" altLang="x-none" sz="2000" dirty="0">
                  <a:solidFill>
                    <a:srgbClr val="CC0000"/>
                  </a:solidFill>
                  <a:latin typeface="华文楷体" panose="02010600040101010101" pitchFamily="2" charset="-122"/>
                  <a:ea typeface="宋体" panose="02010600030101010101" pitchFamily="2" charset="-122"/>
                </a:rPr>
                <a:t>--</a:t>
              </a:r>
              <a:r>
                <a:rPr lang="zh-CN" altLang="en-US" sz="2000" dirty="0">
                  <a:solidFill>
                    <a:srgbClr val="CC0000"/>
                  </a:solidFill>
                  <a:latin typeface="华文楷体" panose="02010600040101010101" pitchFamily="2" charset="-122"/>
                  <a:ea typeface="宋体" panose="02010600030101010101" pitchFamily="2" charset="-122"/>
                </a:rPr>
                <a:t>学生家长（称谓，姓名，性别，家庭住址，电话）</a:t>
              </a:r>
              <a:endParaRPr lang="zh-CN" altLang="en-US" sz="2000" dirty="0">
                <a:solidFill>
                  <a:srgbClr val="CC0000"/>
                </a:solidFill>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辅导员（</a:t>
              </a:r>
              <a:r>
                <a:rPr lang="zh-CN" altLang="en-US" sz="2000" u="sng" dirty="0">
                  <a:latin typeface="华文楷体" panose="02010600040101010101" pitchFamily="2" charset="-122"/>
                  <a:ea typeface="宋体" panose="02010600030101010101" pitchFamily="2" charset="-122"/>
                </a:rPr>
                <a:t>工作证号</a:t>
              </a:r>
              <a:r>
                <a:rPr lang="zh-CN" altLang="en-US" sz="2000" dirty="0">
                  <a:latin typeface="华文楷体" panose="02010600040101010101" pitchFamily="2" charset="-122"/>
                  <a:ea typeface="宋体" panose="02010600030101010101" pitchFamily="2" charset="-122"/>
                </a:rPr>
                <a:t>，姓名，性别，电话）</a:t>
              </a:r>
              <a:endParaRPr lang="en-US" altLang="x-none" sz="2000" dirty="0">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宿舍</a:t>
              </a:r>
              <a:r>
                <a:rPr lang="en-US" altLang="x-none" sz="2000" dirty="0">
                  <a:latin typeface="华文楷体" panose="02010600040101010101" pitchFamily="2" charset="-122"/>
                  <a:ea typeface="宋体" panose="02010600030101010101" pitchFamily="2" charset="-122"/>
                </a:rPr>
                <a:t>(</a:t>
              </a:r>
              <a:r>
                <a:rPr lang="zh-CN" altLang="en-US" sz="2000" u="sng" dirty="0">
                  <a:latin typeface="华文楷体" panose="02010600040101010101" pitchFamily="2" charset="-122"/>
                  <a:ea typeface="宋体" panose="02010600030101010101" pitchFamily="2" charset="-122"/>
                </a:rPr>
                <a:t>宿舍号</a:t>
              </a:r>
              <a:r>
                <a:rPr lang="zh-CN" altLang="en-US" sz="2000" dirty="0">
                  <a:latin typeface="华文楷体" panose="02010600040101010101" pitchFamily="2" charset="-122"/>
                  <a:ea typeface="宋体" panose="02010600030101010101" pitchFamily="2" charset="-122"/>
                </a:rPr>
                <a:t>）</a:t>
              </a:r>
              <a:endParaRPr lang="zh-CN" altLang="en-US" sz="2000" dirty="0">
                <a:latin typeface="华文楷体" panose="02010600040101010101" pitchFamily="2" charset="-122"/>
                <a:ea typeface="宋体" panose="02010600030101010101" pitchFamily="2" charset="-122"/>
              </a:endParaRPr>
            </a:p>
            <a:p>
              <a:pPr marL="533400" lvl="0" indent="-533400">
                <a:lnSpc>
                  <a:spcPct val="125000"/>
                </a:lnSpc>
                <a:spcBef>
                  <a:spcPts val="1200"/>
                </a:spcBef>
                <a:buClr>
                  <a:srgbClr val="0033CC"/>
                </a:buClr>
                <a:buSzPct val="80000"/>
                <a:buNone/>
              </a:pPr>
              <a:endParaRPr lang="en-US" altLang="x-none" sz="2000" dirty="0">
                <a:latin typeface="宋体" panose="0201060003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000" dirty="0">
                <a:latin typeface="宋体" panose="02010600030101010101" pitchFamily="2" charset="-122"/>
                <a:ea typeface="宋体" panose="02010600030101010101" pitchFamily="2" charset="-122"/>
              </a:endParaRPr>
            </a:p>
          </p:txBody>
        </p:sp>
        <p:sp>
          <p:nvSpPr>
            <p:cNvPr id="111622" name="AutoShape 2"/>
            <p:cNvSpPr/>
            <p:nvPr/>
          </p:nvSpPr>
          <p:spPr>
            <a:xfrm>
              <a:off x="220662" y="582613"/>
              <a:ext cx="7758113" cy="35210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矩形 2"/>
          <p:cNvSpPr/>
          <p:nvPr/>
        </p:nvSpPr>
        <p:spPr>
          <a:xfrm>
            <a:off x="473075" y="860425"/>
            <a:ext cx="7650163" cy="523875"/>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：含弱实体的</a:t>
            </a:r>
            <a:r>
              <a:rPr lang="de-DE" altLang="en-US"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 </a:t>
            </a:r>
            <a:r>
              <a:rPr lang="en-US" altLang="x-none" sz="2800" dirty="0">
                <a:solidFill>
                  <a:srgbClr val="0033CC"/>
                </a:solidFill>
                <a:latin typeface="黑体" panose="02010609060101010101" pitchFamily="1" charset="-122"/>
                <a:ea typeface="黑体" panose="02010609060101010101" pitchFamily="1" charset="-122"/>
              </a:rPr>
              <a:t>–</a:t>
            </a:r>
            <a:r>
              <a:rPr lang="zh-CN" altLang="en-US" sz="2800" dirty="0">
                <a:solidFill>
                  <a:srgbClr val="0033CC"/>
                </a:solidFill>
                <a:latin typeface="黑体" panose="02010609060101010101" pitchFamily="1" charset="-122"/>
                <a:ea typeface="黑体" panose="02010609060101010101" pitchFamily="1" charset="-122"/>
              </a:rPr>
              <a:t>学生管理数据库</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17763" name="矩形 3"/>
          <p:cNvSpPr/>
          <p:nvPr/>
        </p:nvSpPr>
        <p:spPr>
          <a:xfrm>
            <a:off x="822325" y="2195513"/>
            <a:ext cx="7758113" cy="3511550"/>
          </a:xfrm>
          <a:prstGeom prst="rect">
            <a:avLst/>
          </a:prstGeom>
          <a:noFill/>
          <a:ln w="9525">
            <a:noFill/>
          </a:ln>
        </p:spPr>
        <p:txBody>
          <a:bodyPr anchor="t">
            <a:spAutoFit/>
          </a:bodyPr>
          <a:lstStyle/>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系有班级 （</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键约束，两个实体均为完全参与约束）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班级由学生组成（</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键约束，两个实体均为完全参与约束）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学生有家长（</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两个实体均为完全参与约束）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辅导员管理班级（</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，键约束，两个实体均为完全参与约束）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学生住宿在宿舍</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键约束</a:t>
            </a: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宿舍完全参与到联系中，学生部分参与）</a:t>
            </a:r>
            <a:endParaRPr lang="zh-CN" altLang="en-US" sz="2200" dirty="0">
              <a:latin typeface="华文楷体" panose="02010600040101010101" pitchFamily="2" charset="-122"/>
              <a:ea typeface="宋体" panose="02010600030101010101" pitchFamily="2" charset="-122"/>
            </a:endParaRPr>
          </a:p>
        </p:txBody>
      </p:sp>
      <p:sp>
        <p:nvSpPr>
          <p:cNvPr id="117764" name="Rectangle 2"/>
          <p:cNvSpPr txBox="1"/>
          <p:nvPr/>
        </p:nvSpPr>
        <p:spPr>
          <a:xfrm>
            <a:off x="609600" y="1524000"/>
            <a:ext cx="7908925" cy="8985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步骤</a:t>
            </a:r>
            <a:r>
              <a:rPr lang="en-US" altLang="x-none"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标识联系及属性</a:t>
            </a:r>
            <a:endParaRPr lang="zh-CN" altLang="en-US" sz="24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ts val="1200"/>
              </a:spcBef>
              <a:buClr>
                <a:srgbClr val="0033CC"/>
              </a:buClr>
              <a:buSzPct val="80000"/>
              <a:buNone/>
            </a:pPr>
            <a:r>
              <a:rPr lang="zh-CN" altLang="en-US" sz="2000" dirty="0">
                <a:latin typeface="华文楷体" panose="02010600040101010101" pitchFamily="2" charset="-122"/>
                <a:ea typeface="宋体" panose="02010600030101010101" pitchFamily="2" charset="-122"/>
              </a:rPr>
              <a:t>  </a:t>
            </a: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12646" name="AutoShape 2"/>
          <p:cNvSpPr/>
          <p:nvPr/>
        </p:nvSpPr>
        <p:spPr>
          <a:xfrm>
            <a:off x="684213" y="2087563"/>
            <a:ext cx="7850188" cy="35210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矩形 2"/>
          <p:cNvSpPr/>
          <p:nvPr/>
        </p:nvSpPr>
        <p:spPr>
          <a:xfrm>
            <a:off x="533400" y="860425"/>
            <a:ext cx="7650163" cy="523875"/>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：含弱实体的</a:t>
            </a:r>
            <a:r>
              <a:rPr lang="de-DE" altLang="en-US"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 </a:t>
            </a:r>
            <a:r>
              <a:rPr lang="en-US" altLang="x-none" sz="2800" dirty="0">
                <a:solidFill>
                  <a:srgbClr val="0033CC"/>
                </a:solidFill>
                <a:latin typeface="黑体" panose="02010609060101010101" pitchFamily="1" charset="-122"/>
                <a:ea typeface="黑体" panose="02010609060101010101" pitchFamily="1" charset="-122"/>
              </a:rPr>
              <a:t>–</a:t>
            </a:r>
            <a:r>
              <a:rPr lang="zh-CN" altLang="en-US" sz="2800" dirty="0">
                <a:solidFill>
                  <a:srgbClr val="0033CC"/>
                </a:solidFill>
                <a:latin typeface="黑体" panose="02010609060101010101" pitchFamily="1" charset="-122"/>
                <a:ea typeface="黑体" panose="02010609060101010101" pitchFamily="1" charset="-122"/>
              </a:rPr>
              <a:t>学生管理数据库</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18787" name="组合 85"/>
          <p:cNvGrpSpPr/>
          <p:nvPr/>
        </p:nvGrpSpPr>
        <p:grpSpPr>
          <a:xfrm>
            <a:off x="365125" y="1539875"/>
            <a:ext cx="8474075" cy="4443413"/>
            <a:chOff x="0" y="0"/>
            <a:chExt cx="8686800" cy="5068888"/>
          </a:xfrm>
        </p:grpSpPr>
        <p:grpSp>
          <p:nvGrpSpPr>
            <p:cNvPr id="118788" name="Group 4"/>
            <p:cNvGrpSpPr/>
            <p:nvPr/>
          </p:nvGrpSpPr>
          <p:grpSpPr>
            <a:xfrm>
              <a:off x="3962400" y="1371600"/>
              <a:ext cx="1181100" cy="2225675"/>
              <a:chOff x="0" y="0"/>
              <a:chExt cx="744" cy="1402"/>
            </a:xfrm>
          </p:grpSpPr>
          <p:sp>
            <p:nvSpPr>
              <p:cNvPr id="118789" name="AutoShape 5"/>
              <p:cNvSpPr/>
              <p:nvPr/>
            </p:nvSpPr>
            <p:spPr>
              <a:xfrm>
                <a:off x="0" y="528"/>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组成</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790" name="Text Box 6"/>
              <p:cNvSpPr txBox="1"/>
              <p:nvPr/>
            </p:nvSpPr>
            <p:spPr>
              <a:xfrm>
                <a:off x="240" y="0"/>
                <a:ext cx="220" cy="37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791" name="Line 7"/>
              <p:cNvSpPr/>
              <p:nvPr/>
            </p:nvSpPr>
            <p:spPr>
              <a:xfrm flipH="1" flipV="1">
                <a:off x="264" y="0"/>
                <a:ext cx="72" cy="528"/>
              </a:xfrm>
              <a:prstGeom prst="line">
                <a:avLst/>
              </a:prstGeom>
              <a:ln w="50800" cap="flat" cmpd="sng">
                <a:solidFill>
                  <a:srgbClr val="CC0000"/>
                </a:solidFill>
                <a:prstDash val="solid"/>
                <a:round/>
                <a:headEnd type="none" w="med" len="med"/>
                <a:tailEnd type="none" w="med" len="med"/>
              </a:ln>
            </p:spPr>
          </p:sp>
          <p:sp>
            <p:nvSpPr>
              <p:cNvPr id="118792" name="Line 8"/>
              <p:cNvSpPr/>
              <p:nvPr/>
            </p:nvSpPr>
            <p:spPr>
              <a:xfrm flipH="1" flipV="1">
                <a:off x="384" y="912"/>
                <a:ext cx="48" cy="490"/>
              </a:xfrm>
              <a:prstGeom prst="line">
                <a:avLst/>
              </a:prstGeom>
              <a:ln w="50800" cap="flat" cmpd="sng">
                <a:solidFill>
                  <a:srgbClr val="CC0000"/>
                </a:solidFill>
                <a:prstDash val="solid"/>
                <a:round/>
                <a:headEnd type="none" w="med" len="med"/>
                <a:tailEnd type="triangle" w="med" len="med"/>
              </a:ln>
            </p:spPr>
          </p:sp>
          <p:sp>
            <p:nvSpPr>
              <p:cNvPr id="118793" name="Text Box 9"/>
              <p:cNvSpPr txBox="1"/>
              <p:nvPr/>
            </p:nvSpPr>
            <p:spPr>
              <a:xfrm>
                <a:off x="456" y="1008"/>
                <a:ext cx="288" cy="37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794" name="Group 10"/>
            <p:cNvGrpSpPr/>
            <p:nvPr/>
          </p:nvGrpSpPr>
          <p:grpSpPr>
            <a:xfrm>
              <a:off x="179388" y="134938"/>
              <a:ext cx="2128837" cy="1655762"/>
              <a:chOff x="0" y="0"/>
              <a:chExt cx="1341" cy="1043"/>
            </a:xfrm>
          </p:grpSpPr>
          <p:sp>
            <p:nvSpPr>
              <p:cNvPr id="118795" name="Rectangle 11"/>
              <p:cNvSpPr/>
              <p:nvPr/>
            </p:nvSpPr>
            <p:spPr>
              <a:xfrm>
                <a:off x="765"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000" dirty="0">
                    <a:solidFill>
                      <a:srgbClr val="000000"/>
                    </a:solidFill>
                    <a:latin typeface="宋体" panose="02010600030101010101" pitchFamily="2" charset="-122"/>
                    <a:ea typeface="宋体" panose="02010600030101010101" pitchFamily="2" charset="-122"/>
                  </a:rPr>
                  <a:t>系</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18796" name="Oval 12"/>
              <p:cNvSpPr/>
              <p:nvPr/>
            </p:nvSpPr>
            <p:spPr>
              <a:xfrm>
                <a:off x="0" y="725"/>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797" name="Line 13"/>
              <p:cNvSpPr/>
              <p:nvPr/>
            </p:nvSpPr>
            <p:spPr>
              <a:xfrm flipH="1">
                <a:off x="499" y="771"/>
                <a:ext cx="272" cy="90"/>
              </a:xfrm>
              <a:prstGeom prst="line">
                <a:avLst/>
              </a:prstGeom>
              <a:ln w="25400" cap="flat" cmpd="sng">
                <a:solidFill>
                  <a:srgbClr val="000000"/>
                </a:solidFill>
                <a:prstDash val="solid"/>
                <a:round/>
                <a:headEnd type="none" w="med" len="med"/>
                <a:tailEnd type="none" w="med" len="med"/>
              </a:ln>
            </p:spPr>
          </p:sp>
          <p:sp>
            <p:nvSpPr>
              <p:cNvPr id="118798" name="Oval 14"/>
              <p:cNvSpPr/>
              <p:nvPr/>
            </p:nvSpPr>
            <p:spPr>
              <a:xfrm>
                <a:off x="285" y="0"/>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系名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8799" name="Oval 15"/>
              <p:cNvSpPr/>
              <p:nvPr/>
            </p:nvSpPr>
            <p:spPr>
              <a:xfrm>
                <a:off x="0" y="408"/>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00" name="Line 16"/>
              <p:cNvSpPr/>
              <p:nvPr/>
            </p:nvSpPr>
            <p:spPr>
              <a:xfrm>
                <a:off x="817" y="408"/>
                <a:ext cx="90" cy="227"/>
              </a:xfrm>
              <a:prstGeom prst="line">
                <a:avLst/>
              </a:prstGeom>
              <a:ln w="25400" cap="flat" cmpd="sng">
                <a:solidFill>
                  <a:srgbClr val="000000"/>
                </a:solidFill>
                <a:prstDash val="solid"/>
                <a:round/>
                <a:headEnd type="none" w="med" len="med"/>
                <a:tailEnd type="none" w="med" len="med"/>
              </a:ln>
            </p:spPr>
          </p:sp>
          <p:sp>
            <p:nvSpPr>
              <p:cNvPr id="118801" name="Line 17"/>
              <p:cNvSpPr/>
              <p:nvPr/>
            </p:nvSpPr>
            <p:spPr>
              <a:xfrm flipH="1" flipV="1">
                <a:off x="454" y="589"/>
                <a:ext cx="317" cy="136"/>
              </a:xfrm>
              <a:prstGeom prst="line">
                <a:avLst/>
              </a:prstGeom>
              <a:ln w="25400" cap="flat" cmpd="sng">
                <a:solidFill>
                  <a:srgbClr val="000000"/>
                </a:solidFill>
                <a:prstDash val="solid"/>
                <a:round/>
                <a:headEnd type="none" w="med" len="med"/>
                <a:tailEnd type="none" w="med" len="med"/>
              </a:ln>
            </p:spPr>
          </p:sp>
        </p:grpSp>
        <p:grpSp>
          <p:nvGrpSpPr>
            <p:cNvPr id="118802" name="Group 18"/>
            <p:cNvGrpSpPr/>
            <p:nvPr/>
          </p:nvGrpSpPr>
          <p:grpSpPr>
            <a:xfrm>
              <a:off x="6248400" y="0"/>
              <a:ext cx="2335213" cy="1604963"/>
              <a:chOff x="0" y="0"/>
              <a:chExt cx="1471" cy="1011"/>
            </a:xfrm>
          </p:grpSpPr>
          <p:sp>
            <p:nvSpPr>
              <p:cNvPr id="118803" name="Rectangle 19"/>
              <p:cNvSpPr/>
              <p:nvPr/>
            </p:nvSpPr>
            <p:spPr>
              <a:xfrm>
                <a:off x="96" y="723"/>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辅导员</a:t>
                </a:r>
                <a:endParaRPr lang="de-DE" altLang="en-US" dirty="0">
                  <a:solidFill>
                    <a:srgbClr val="000000"/>
                  </a:solidFill>
                  <a:latin typeface="宋体" panose="02010600030101010101" pitchFamily="2" charset="-122"/>
                  <a:ea typeface="宋体" panose="02010600030101010101" pitchFamily="2" charset="-122"/>
                </a:endParaRPr>
              </a:p>
            </p:txBody>
          </p:sp>
          <p:sp>
            <p:nvSpPr>
              <p:cNvPr id="118804" name="Oval 20"/>
              <p:cNvSpPr/>
              <p:nvPr/>
            </p:nvSpPr>
            <p:spPr>
              <a:xfrm>
                <a:off x="927" y="408"/>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05" name="Oval 21"/>
              <p:cNvSpPr/>
              <p:nvPr/>
            </p:nvSpPr>
            <p:spPr>
              <a:xfrm>
                <a:off x="0" y="99"/>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工作证号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8806" name="Line 22"/>
              <p:cNvSpPr/>
              <p:nvPr/>
            </p:nvSpPr>
            <p:spPr>
              <a:xfrm>
                <a:off x="288" y="483"/>
                <a:ext cx="96" cy="240"/>
              </a:xfrm>
              <a:prstGeom prst="line">
                <a:avLst/>
              </a:prstGeom>
              <a:ln w="25400" cap="flat" cmpd="sng">
                <a:solidFill>
                  <a:srgbClr val="000000"/>
                </a:solidFill>
                <a:prstDash val="solid"/>
                <a:round/>
                <a:headEnd type="none" w="med" len="med"/>
                <a:tailEnd type="none" w="med" len="med"/>
              </a:ln>
            </p:spPr>
          </p:sp>
          <p:sp>
            <p:nvSpPr>
              <p:cNvPr id="118807" name="Line 23"/>
              <p:cNvSpPr/>
              <p:nvPr/>
            </p:nvSpPr>
            <p:spPr>
              <a:xfrm flipH="1">
                <a:off x="672" y="544"/>
                <a:ext cx="255" cy="272"/>
              </a:xfrm>
              <a:prstGeom prst="line">
                <a:avLst/>
              </a:prstGeom>
              <a:ln w="25400" cap="flat" cmpd="sng">
                <a:solidFill>
                  <a:srgbClr val="000000"/>
                </a:solidFill>
                <a:prstDash val="solid"/>
                <a:round/>
                <a:headEnd type="none" w="med" len="med"/>
                <a:tailEnd type="none" w="med" len="med"/>
              </a:ln>
            </p:spPr>
          </p:sp>
          <p:sp>
            <p:nvSpPr>
              <p:cNvPr id="118808" name="Oval 24"/>
              <p:cNvSpPr/>
              <p:nvPr/>
            </p:nvSpPr>
            <p:spPr>
              <a:xfrm>
                <a:off x="768" y="0"/>
                <a:ext cx="60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09" name="Oval 25"/>
              <p:cNvSpPr/>
              <p:nvPr/>
            </p:nvSpPr>
            <p:spPr>
              <a:xfrm>
                <a:off x="1017" y="725"/>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10" name="Line 26"/>
              <p:cNvSpPr/>
              <p:nvPr/>
            </p:nvSpPr>
            <p:spPr>
              <a:xfrm flipH="1">
                <a:off x="528" y="317"/>
                <a:ext cx="308" cy="403"/>
              </a:xfrm>
              <a:prstGeom prst="line">
                <a:avLst/>
              </a:prstGeom>
              <a:ln w="25400" cap="flat" cmpd="sng">
                <a:solidFill>
                  <a:srgbClr val="000000"/>
                </a:solidFill>
                <a:prstDash val="solid"/>
                <a:round/>
                <a:headEnd type="none" w="med" len="med"/>
                <a:tailEnd type="none" w="med" len="med"/>
              </a:ln>
            </p:spPr>
          </p:sp>
          <p:sp>
            <p:nvSpPr>
              <p:cNvPr id="118811" name="Line 27"/>
              <p:cNvSpPr/>
              <p:nvPr/>
            </p:nvSpPr>
            <p:spPr>
              <a:xfrm flipH="1">
                <a:off x="672" y="861"/>
                <a:ext cx="345" cy="51"/>
              </a:xfrm>
              <a:prstGeom prst="line">
                <a:avLst/>
              </a:prstGeom>
              <a:ln w="25400" cap="flat" cmpd="sng">
                <a:solidFill>
                  <a:srgbClr val="000000"/>
                </a:solidFill>
                <a:prstDash val="solid"/>
                <a:round/>
                <a:headEnd type="none" w="med" len="med"/>
                <a:tailEnd type="none" w="med" len="med"/>
              </a:ln>
            </p:spPr>
          </p:sp>
        </p:grpSp>
        <p:grpSp>
          <p:nvGrpSpPr>
            <p:cNvPr id="118812" name="Group 28"/>
            <p:cNvGrpSpPr/>
            <p:nvPr/>
          </p:nvGrpSpPr>
          <p:grpSpPr>
            <a:xfrm>
              <a:off x="3935413" y="7938"/>
              <a:ext cx="1703387" cy="1363662"/>
              <a:chOff x="0" y="0"/>
              <a:chExt cx="1073" cy="859"/>
            </a:xfrm>
          </p:grpSpPr>
          <p:sp>
            <p:nvSpPr>
              <p:cNvPr id="118813" name="Line 29"/>
              <p:cNvSpPr/>
              <p:nvPr/>
            </p:nvSpPr>
            <p:spPr>
              <a:xfrm flipV="1">
                <a:off x="449" y="379"/>
                <a:ext cx="144" cy="192"/>
              </a:xfrm>
              <a:prstGeom prst="line">
                <a:avLst/>
              </a:prstGeom>
              <a:ln w="25400" cap="flat" cmpd="sng">
                <a:solidFill>
                  <a:srgbClr val="000000"/>
                </a:solidFill>
                <a:prstDash val="solid"/>
                <a:round/>
                <a:headEnd type="none" w="med" len="med"/>
                <a:tailEnd type="none" w="med" len="med"/>
              </a:ln>
            </p:spPr>
          </p:sp>
          <p:sp>
            <p:nvSpPr>
              <p:cNvPr id="118814" name="Line 30"/>
              <p:cNvSpPr/>
              <p:nvPr/>
            </p:nvSpPr>
            <p:spPr>
              <a:xfrm flipH="1" flipV="1">
                <a:off x="227" y="273"/>
                <a:ext cx="78" cy="298"/>
              </a:xfrm>
              <a:prstGeom prst="line">
                <a:avLst/>
              </a:prstGeom>
              <a:ln w="25400" cap="flat" cmpd="sng">
                <a:solidFill>
                  <a:srgbClr val="000000"/>
                </a:solidFill>
                <a:prstDash val="solid"/>
                <a:round/>
                <a:headEnd type="none" w="med" len="med"/>
                <a:tailEnd type="none" w="med" len="med"/>
              </a:ln>
            </p:spPr>
          </p:sp>
          <p:sp>
            <p:nvSpPr>
              <p:cNvPr id="118815" name="Oval 31"/>
              <p:cNvSpPr/>
              <p:nvPr/>
            </p:nvSpPr>
            <p:spPr>
              <a:xfrm>
                <a:off x="545" y="139"/>
                <a:ext cx="528" cy="33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班名</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8816" name="Oval 32"/>
              <p:cNvSpPr/>
              <p:nvPr/>
            </p:nvSpPr>
            <p:spPr>
              <a:xfrm>
                <a:off x="0"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班号</a:t>
                </a:r>
                <a:endParaRPr lang="de-DE" altLang="en-US" sz="1600" u="sng" dirty="0">
                  <a:solidFill>
                    <a:srgbClr val="0000CC"/>
                  </a:solidFill>
                  <a:latin typeface="宋体" panose="02010600030101010101" pitchFamily="2" charset="-122"/>
                  <a:ea typeface="宋体" panose="02010600030101010101" pitchFamily="2" charset="-122"/>
                </a:endParaRPr>
              </a:p>
            </p:txBody>
          </p:sp>
          <p:sp>
            <p:nvSpPr>
              <p:cNvPr id="118817" name="Rectangle 33"/>
              <p:cNvSpPr/>
              <p:nvPr/>
            </p:nvSpPr>
            <p:spPr>
              <a:xfrm>
                <a:off x="17" y="571"/>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班级</a:t>
                </a:r>
                <a:endParaRPr lang="de-DE" altLang="en-US" dirty="0">
                  <a:solidFill>
                    <a:srgbClr val="000000"/>
                  </a:solidFill>
                  <a:latin typeface="宋体" panose="02010600030101010101" pitchFamily="2" charset="-122"/>
                  <a:ea typeface="宋体" panose="02010600030101010101" pitchFamily="2" charset="-122"/>
                </a:endParaRPr>
              </a:p>
            </p:txBody>
          </p:sp>
        </p:grpSp>
        <p:grpSp>
          <p:nvGrpSpPr>
            <p:cNvPr id="118818" name="Group 34"/>
            <p:cNvGrpSpPr/>
            <p:nvPr/>
          </p:nvGrpSpPr>
          <p:grpSpPr>
            <a:xfrm>
              <a:off x="3429000" y="3505200"/>
              <a:ext cx="3348038" cy="1563688"/>
              <a:chOff x="0" y="0"/>
              <a:chExt cx="2109" cy="985"/>
            </a:xfrm>
          </p:grpSpPr>
          <p:sp>
            <p:nvSpPr>
              <p:cNvPr id="118819" name="Rectangle 35"/>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学生</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8820" name="Oval 36"/>
              <p:cNvSpPr/>
              <p:nvPr/>
            </p:nvSpPr>
            <p:spPr>
              <a:xfrm>
                <a:off x="1389" y="283"/>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出生年月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8821" name="Oval 37"/>
              <p:cNvSpPr/>
              <p:nvPr/>
            </p:nvSpPr>
            <p:spPr>
              <a:xfrm>
                <a:off x="0" y="601"/>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8822" name="Line 38"/>
              <p:cNvSpPr/>
              <p:nvPr/>
            </p:nvSpPr>
            <p:spPr>
              <a:xfrm>
                <a:off x="998" y="238"/>
                <a:ext cx="408" cy="181"/>
              </a:xfrm>
              <a:prstGeom prst="line">
                <a:avLst/>
              </a:prstGeom>
              <a:ln w="25400" cap="flat" cmpd="sng">
                <a:solidFill>
                  <a:srgbClr val="000000"/>
                </a:solidFill>
                <a:prstDash val="solid"/>
                <a:round/>
                <a:headEnd type="none" w="med" len="med"/>
                <a:tailEnd type="none" w="med" len="med"/>
              </a:ln>
            </p:spPr>
          </p:sp>
          <p:sp>
            <p:nvSpPr>
              <p:cNvPr id="118823" name="Oval 39"/>
              <p:cNvSpPr/>
              <p:nvPr/>
            </p:nvSpPr>
            <p:spPr>
              <a:xfrm>
                <a:off x="726"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24" name="Oval 40"/>
              <p:cNvSpPr/>
              <p:nvPr/>
            </p:nvSpPr>
            <p:spPr>
              <a:xfrm>
                <a:off x="1179"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25" name="Line 41"/>
              <p:cNvSpPr/>
              <p:nvPr/>
            </p:nvSpPr>
            <p:spPr>
              <a:xfrm>
                <a:off x="726" y="283"/>
                <a:ext cx="227" cy="363"/>
              </a:xfrm>
              <a:prstGeom prst="line">
                <a:avLst/>
              </a:prstGeom>
              <a:ln w="25400" cap="flat" cmpd="sng">
                <a:solidFill>
                  <a:srgbClr val="000000"/>
                </a:solidFill>
                <a:prstDash val="solid"/>
                <a:round/>
                <a:headEnd type="none" w="med" len="med"/>
                <a:tailEnd type="none" w="med" len="med"/>
              </a:ln>
            </p:spPr>
          </p:sp>
          <p:sp>
            <p:nvSpPr>
              <p:cNvPr id="118826" name="Line 42"/>
              <p:cNvSpPr/>
              <p:nvPr/>
            </p:nvSpPr>
            <p:spPr>
              <a:xfrm>
                <a:off x="817" y="283"/>
                <a:ext cx="544" cy="363"/>
              </a:xfrm>
              <a:prstGeom prst="line">
                <a:avLst/>
              </a:prstGeom>
              <a:ln w="25400" cap="flat" cmpd="sng">
                <a:solidFill>
                  <a:srgbClr val="000000"/>
                </a:solidFill>
                <a:prstDash val="solid"/>
                <a:round/>
                <a:headEnd type="none" w="med" len="med"/>
                <a:tailEnd type="none" w="med" len="med"/>
              </a:ln>
            </p:spPr>
          </p:sp>
          <p:sp>
            <p:nvSpPr>
              <p:cNvPr id="118827" name="Line 43"/>
              <p:cNvSpPr/>
              <p:nvPr/>
            </p:nvSpPr>
            <p:spPr>
              <a:xfrm flipH="1">
                <a:off x="336" y="298"/>
                <a:ext cx="192" cy="318"/>
              </a:xfrm>
              <a:prstGeom prst="line">
                <a:avLst/>
              </a:prstGeom>
              <a:ln w="25400" cap="flat" cmpd="sng">
                <a:solidFill>
                  <a:srgbClr val="000000"/>
                </a:solidFill>
                <a:prstDash val="solid"/>
                <a:round/>
                <a:headEnd type="none" w="med" len="med"/>
                <a:tailEnd type="none" w="med" len="med"/>
              </a:ln>
            </p:spPr>
          </p:sp>
        </p:grpSp>
        <p:grpSp>
          <p:nvGrpSpPr>
            <p:cNvPr id="118828" name="Group 44"/>
            <p:cNvGrpSpPr/>
            <p:nvPr/>
          </p:nvGrpSpPr>
          <p:grpSpPr>
            <a:xfrm>
              <a:off x="7620000" y="3589338"/>
              <a:ext cx="1066800" cy="1363662"/>
              <a:chOff x="0" y="0"/>
              <a:chExt cx="672" cy="859"/>
            </a:xfrm>
          </p:grpSpPr>
          <p:sp>
            <p:nvSpPr>
              <p:cNvPr id="118829" name="Line 45"/>
              <p:cNvSpPr/>
              <p:nvPr/>
            </p:nvSpPr>
            <p:spPr>
              <a:xfrm flipV="1">
                <a:off x="288" y="293"/>
                <a:ext cx="48" cy="278"/>
              </a:xfrm>
              <a:prstGeom prst="line">
                <a:avLst/>
              </a:prstGeom>
              <a:ln w="25400" cap="flat" cmpd="sng">
                <a:solidFill>
                  <a:srgbClr val="000000"/>
                </a:solidFill>
                <a:prstDash val="solid"/>
                <a:round/>
                <a:headEnd type="none" w="med" len="med"/>
                <a:tailEnd type="none" w="med" len="med"/>
              </a:ln>
            </p:spPr>
          </p:sp>
          <p:sp>
            <p:nvSpPr>
              <p:cNvPr id="118830" name="Oval 46"/>
              <p:cNvSpPr/>
              <p:nvPr/>
            </p:nvSpPr>
            <p:spPr>
              <a:xfrm>
                <a:off x="0" y="571"/>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宿舍号</a:t>
                </a:r>
                <a:endParaRPr lang="de-DE" altLang="en-US" sz="1600" u="sng" dirty="0">
                  <a:solidFill>
                    <a:srgbClr val="0000CC"/>
                  </a:solidFill>
                  <a:latin typeface="宋体" panose="02010600030101010101" pitchFamily="2" charset="-122"/>
                  <a:ea typeface="宋体" panose="02010600030101010101" pitchFamily="2" charset="-122"/>
                </a:endParaRPr>
              </a:p>
            </p:txBody>
          </p:sp>
          <p:sp>
            <p:nvSpPr>
              <p:cNvPr id="118831" name="Rectangle 47"/>
              <p:cNvSpPr/>
              <p:nvPr/>
            </p:nvSpPr>
            <p:spPr>
              <a:xfrm>
                <a:off x="96"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宿舍</a:t>
                </a:r>
                <a:endParaRPr lang="de-DE" altLang="en-US" dirty="0">
                  <a:solidFill>
                    <a:srgbClr val="000000"/>
                  </a:solidFill>
                  <a:latin typeface="宋体" panose="02010600030101010101" pitchFamily="2" charset="-122"/>
                  <a:ea typeface="宋体" panose="02010600030101010101" pitchFamily="2" charset="-122"/>
                </a:endParaRPr>
              </a:p>
            </p:txBody>
          </p:sp>
        </p:grpSp>
        <p:grpSp>
          <p:nvGrpSpPr>
            <p:cNvPr id="118832" name="Group 48"/>
            <p:cNvGrpSpPr/>
            <p:nvPr/>
          </p:nvGrpSpPr>
          <p:grpSpPr>
            <a:xfrm>
              <a:off x="2286000" y="914400"/>
              <a:ext cx="1676400" cy="990600"/>
              <a:chOff x="0" y="0"/>
              <a:chExt cx="1056" cy="624"/>
            </a:xfrm>
          </p:grpSpPr>
          <p:sp>
            <p:nvSpPr>
              <p:cNvPr id="118833" name="AutoShape 49"/>
              <p:cNvSpPr/>
              <p:nvPr/>
            </p:nvSpPr>
            <p:spPr>
              <a:xfrm>
                <a:off x="144" y="288"/>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有</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34" name="Line 50"/>
              <p:cNvSpPr/>
              <p:nvPr/>
            </p:nvSpPr>
            <p:spPr>
              <a:xfrm>
                <a:off x="0" y="240"/>
                <a:ext cx="192" cy="192"/>
              </a:xfrm>
              <a:prstGeom prst="line">
                <a:avLst/>
              </a:prstGeom>
              <a:ln w="50800" cap="flat" cmpd="sng">
                <a:solidFill>
                  <a:srgbClr val="CC0000"/>
                </a:solidFill>
                <a:prstDash val="solid"/>
                <a:round/>
                <a:headEnd type="none" w="med" len="med"/>
                <a:tailEnd type="none" w="med" len="med"/>
              </a:ln>
            </p:spPr>
          </p:sp>
          <p:sp>
            <p:nvSpPr>
              <p:cNvPr id="118835" name="Line 51"/>
              <p:cNvSpPr/>
              <p:nvPr/>
            </p:nvSpPr>
            <p:spPr>
              <a:xfrm flipH="1">
                <a:off x="864" y="144"/>
                <a:ext cx="192" cy="336"/>
              </a:xfrm>
              <a:prstGeom prst="line">
                <a:avLst/>
              </a:prstGeom>
              <a:ln w="50800" cap="flat" cmpd="sng">
                <a:solidFill>
                  <a:srgbClr val="CC0000"/>
                </a:solidFill>
                <a:prstDash val="solid"/>
                <a:round/>
                <a:headEnd type="none" w="med" len="med"/>
                <a:tailEnd type="triangle" w="med" len="med"/>
              </a:ln>
            </p:spPr>
          </p:sp>
          <p:sp>
            <p:nvSpPr>
              <p:cNvPr id="118836" name="Text Box 52"/>
              <p:cNvSpPr txBox="1"/>
              <p:nvPr/>
            </p:nvSpPr>
            <p:spPr>
              <a:xfrm>
                <a:off x="96" y="0"/>
                <a:ext cx="220" cy="37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837" name="Text Box 53"/>
              <p:cNvSpPr txBox="1"/>
              <p:nvPr/>
            </p:nvSpPr>
            <p:spPr>
              <a:xfrm>
                <a:off x="768" y="0"/>
                <a:ext cx="220" cy="37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838" name="Group 54"/>
            <p:cNvGrpSpPr/>
            <p:nvPr/>
          </p:nvGrpSpPr>
          <p:grpSpPr>
            <a:xfrm>
              <a:off x="4876800" y="990600"/>
              <a:ext cx="1524000" cy="1066800"/>
              <a:chOff x="0" y="0"/>
              <a:chExt cx="960" cy="672"/>
            </a:xfrm>
          </p:grpSpPr>
          <p:sp>
            <p:nvSpPr>
              <p:cNvPr id="118839" name="Line 55"/>
              <p:cNvSpPr/>
              <p:nvPr/>
            </p:nvSpPr>
            <p:spPr>
              <a:xfrm flipH="1">
                <a:off x="864" y="240"/>
                <a:ext cx="96" cy="288"/>
              </a:xfrm>
              <a:prstGeom prst="line">
                <a:avLst/>
              </a:prstGeom>
              <a:ln w="50800" cap="flat" cmpd="sng">
                <a:solidFill>
                  <a:srgbClr val="CC0000"/>
                </a:solidFill>
                <a:prstDash val="solid"/>
                <a:round/>
                <a:headEnd type="none" w="med" len="med"/>
                <a:tailEnd type="none" w="med" len="med"/>
              </a:ln>
            </p:spPr>
          </p:sp>
          <p:sp>
            <p:nvSpPr>
              <p:cNvPr id="118840" name="AutoShape 56"/>
              <p:cNvSpPr/>
              <p:nvPr/>
            </p:nvSpPr>
            <p:spPr>
              <a:xfrm>
                <a:off x="144" y="336"/>
                <a:ext cx="720"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41" name="Line 57"/>
              <p:cNvSpPr/>
              <p:nvPr/>
            </p:nvSpPr>
            <p:spPr>
              <a:xfrm>
                <a:off x="0" y="144"/>
                <a:ext cx="192" cy="384"/>
              </a:xfrm>
              <a:prstGeom prst="line">
                <a:avLst/>
              </a:prstGeom>
              <a:ln w="50800" cap="flat" cmpd="sng">
                <a:solidFill>
                  <a:srgbClr val="CC0000"/>
                </a:solidFill>
                <a:prstDash val="solid"/>
                <a:round/>
                <a:headEnd type="none" w="med" len="med"/>
                <a:tailEnd type="triangle" w="med" len="med"/>
              </a:ln>
            </p:spPr>
          </p:sp>
          <p:sp>
            <p:nvSpPr>
              <p:cNvPr id="118842" name="Text Box 58"/>
              <p:cNvSpPr txBox="1"/>
              <p:nvPr/>
            </p:nvSpPr>
            <p:spPr>
              <a:xfrm>
                <a:off x="720" y="96"/>
                <a:ext cx="220" cy="37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843" name="Text Box 59"/>
              <p:cNvSpPr txBox="1"/>
              <p:nvPr/>
            </p:nvSpPr>
            <p:spPr>
              <a:xfrm>
                <a:off x="96" y="0"/>
                <a:ext cx="220" cy="37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844" name="Group 60"/>
            <p:cNvGrpSpPr/>
            <p:nvPr/>
          </p:nvGrpSpPr>
          <p:grpSpPr>
            <a:xfrm>
              <a:off x="4995863" y="2747964"/>
              <a:ext cx="3157537" cy="866776"/>
              <a:chOff x="0" y="0"/>
              <a:chExt cx="1989" cy="546"/>
            </a:xfrm>
          </p:grpSpPr>
          <p:sp>
            <p:nvSpPr>
              <p:cNvPr id="118845" name="Line 61"/>
              <p:cNvSpPr/>
              <p:nvPr/>
            </p:nvSpPr>
            <p:spPr>
              <a:xfrm flipV="1">
                <a:off x="0" y="307"/>
                <a:ext cx="635" cy="182"/>
              </a:xfrm>
              <a:prstGeom prst="line">
                <a:avLst/>
              </a:prstGeom>
              <a:ln w="28575" cap="flat" cmpd="sng">
                <a:solidFill>
                  <a:schemeClr val="tx1"/>
                </a:solidFill>
                <a:prstDash val="solid"/>
                <a:round/>
                <a:headEnd type="none" w="med" len="med"/>
                <a:tailEnd type="triangle" w="med" len="med"/>
              </a:ln>
            </p:spPr>
          </p:sp>
          <p:sp>
            <p:nvSpPr>
              <p:cNvPr id="118846" name="AutoShape 62"/>
              <p:cNvSpPr/>
              <p:nvPr/>
            </p:nvSpPr>
            <p:spPr>
              <a:xfrm>
                <a:off x="645" y="114"/>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住宿</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47" name="Line 63"/>
              <p:cNvSpPr/>
              <p:nvPr/>
            </p:nvSpPr>
            <p:spPr>
              <a:xfrm>
                <a:off x="1413" y="295"/>
                <a:ext cx="576" cy="251"/>
              </a:xfrm>
              <a:prstGeom prst="line">
                <a:avLst/>
              </a:prstGeom>
              <a:ln w="57150" cap="flat" cmpd="sng">
                <a:solidFill>
                  <a:srgbClr val="CC0000"/>
                </a:solidFill>
                <a:prstDash val="solid"/>
                <a:round/>
                <a:headEnd type="none" w="med" len="med"/>
                <a:tailEnd type="none" w="med" len="med"/>
              </a:ln>
            </p:spPr>
          </p:sp>
          <p:sp>
            <p:nvSpPr>
              <p:cNvPr id="118848" name="Text Box 64"/>
              <p:cNvSpPr txBox="1"/>
              <p:nvPr/>
            </p:nvSpPr>
            <p:spPr>
              <a:xfrm>
                <a:off x="357" y="0"/>
                <a:ext cx="212" cy="37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849" name="Text Box 65"/>
              <p:cNvSpPr txBox="1"/>
              <p:nvPr/>
            </p:nvSpPr>
            <p:spPr>
              <a:xfrm>
                <a:off x="1605" y="59"/>
                <a:ext cx="220" cy="37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850" name="Group 66"/>
            <p:cNvGrpSpPr/>
            <p:nvPr/>
          </p:nvGrpSpPr>
          <p:grpSpPr>
            <a:xfrm>
              <a:off x="2286000" y="2720986"/>
              <a:ext cx="1860550" cy="952503"/>
              <a:chOff x="0" y="0"/>
              <a:chExt cx="1172" cy="600"/>
            </a:xfrm>
          </p:grpSpPr>
          <p:sp>
            <p:nvSpPr>
              <p:cNvPr id="118851" name="Text Box 67"/>
              <p:cNvSpPr txBox="1"/>
              <p:nvPr/>
            </p:nvSpPr>
            <p:spPr>
              <a:xfrm>
                <a:off x="18" y="0"/>
                <a:ext cx="226" cy="37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852" name="AutoShape 68"/>
              <p:cNvSpPr/>
              <p:nvPr/>
            </p:nvSpPr>
            <p:spPr>
              <a:xfrm>
                <a:off x="240" y="120"/>
                <a:ext cx="640" cy="336"/>
              </a:xfrm>
              <a:prstGeom prst="diamond">
                <a:avLst/>
              </a:prstGeom>
              <a:solidFill>
                <a:schemeClr val="folHlink"/>
              </a:solidFill>
              <a:ln w="50800" cap="flat" cmpd="sng">
                <a:solidFill>
                  <a:srgbClr val="CC0000"/>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有</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53" name="Line 69"/>
              <p:cNvSpPr/>
              <p:nvPr/>
            </p:nvSpPr>
            <p:spPr>
              <a:xfrm>
                <a:off x="864" y="302"/>
                <a:ext cx="288" cy="298"/>
              </a:xfrm>
              <a:prstGeom prst="line">
                <a:avLst/>
              </a:prstGeom>
              <a:ln w="50800" cap="flat" cmpd="sng">
                <a:solidFill>
                  <a:srgbClr val="CC0000"/>
                </a:solidFill>
                <a:prstDash val="solid"/>
                <a:round/>
                <a:headEnd type="none" w="med" len="med"/>
                <a:tailEnd type="none" w="med" len="med"/>
              </a:ln>
            </p:spPr>
          </p:sp>
          <p:sp>
            <p:nvSpPr>
              <p:cNvPr id="118854" name="Line 70"/>
              <p:cNvSpPr/>
              <p:nvPr/>
            </p:nvSpPr>
            <p:spPr>
              <a:xfrm flipH="1">
                <a:off x="0" y="302"/>
                <a:ext cx="288" cy="154"/>
              </a:xfrm>
              <a:prstGeom prst="line">
                <a:avLst/>
              </a:prstGeom>
              <a:ln w="50800" cap="flat" cmpd="sng">
                <a:solidFill>
                  <a:srgbClr val="CC0000"/>
                </a:solidFill>
                <a:prstDash val="solid"/>
                <a:round/>
                <a:headEnd type="none" w="med" len="med"/>
                <a:tailEnd type="none" w="med" len="med"/>
              </a:ln>
            </p:spPr>
          </p:sp>
          <p:sp>
            <p:nvSpPr>
              <p:cNvPr id="118855" name="Text Box 71"/>
              <p:cNvSpPr txBox="1"/>
              <p:nvPr/>
            </p:nvSpPr>
            <p:spPr>
              <a:xfrm>
                <a:off x="960" y="161"/>
                <a:ext cx="212" cy="37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856" name="Group 72"/>
            <p:cNvGrpSpPr/>
            <p:nvPr/>
          </p:nvGrpSpPr>
          <p:grpSpPr>
            <a:xfrm>
              <a:off x="0" y="2378075"/>
              <a:ext cx="2519363" cy="2393950"/>
              <a:chOff x="0" y="0"/>
              <a:chExt cx="1587" cy="1508"/>
            </a:xfrm>
          </p:grpSpPr>
          <p:sp>
            <p:nvSpPr>
              <p:cNvPr id="118857" name="Rectangle 73"/>
              <p:cNvSpPr/>
              <p:nvPr/>
            </p:nvSpPr>
            <p:spPr>
              <a:xfrm>
                <a:off x="720" y="672"/>
                <a:ext cx="867" cy="422"/>
              </a:xfrm>
              <a:prstGeom prst="rect">
                <a:avLst/>
              </a:prstGeom>
              <a:solidFill>
                <a:srgbClr val="FECF70"/>
              </a:solidFill>
              <a:ln w="50800" cap="flat" cmpd="sng">
                <a:solidFill>
                  <a:srgbClr val="CC0000"/>
                </a:solidFill>
                <a:prstDash val="solid"/>
                <a:miter/>
                <a:headEnd type="none" w="med" len="med"/>
                <a:tailEnd type="none" w="med" len="med"/>
              </a:ln>
            </p:spPr>
            <p:txBody>
              <a:bodyPr anchor="t"/>
              <a:lstStyle/>
              <a:p>
                <a:pPr lvl="0" indent="0" algn="ctr">
                  <a:buNone/>
                </a:pPr>
                <a:r>
                  <a:rPr lang="zh-CN" altLang="en-US" sz="2000" dirty="0">
                    <a:solidFill>
                      <a:srgbClr val="000000"/>
                    </a:solidFill>
                    <a:latin typeface="宋体" panose="02010600030101010101" pitchFamily="2" charset="-122"/>
                    <a:ea typeface="宋体" panose="02010600030101010101" pitchFamily="2" charset="-122"/>
                  </a:rPr>
                  <a:t>学生家长 </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18858" name="Oval 74"/>
              <p:cNvSpPr/>
              <p:nvPr/>
            </p:nvSpPr>
            <p:spPr>
              <a:xfrm>
                <a:off x="96" y="1190"/>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59" name="Oval 75"/>
              <p:cNvSpPr/>
              <p:nvPr/>
            </p:nvSpPr>
            <p:spPr>
              <a:xfrm>
                <a:off x="192" y="0"/>
                <a:ext cx="576"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60" name="Oval 76"/>
              <p:cNvSpPr/>
              <p:nvPr/>
            </p:nvSpPr>
            <p:spPr>
              <a:xfrm>
                <a:off x="0" y="854"/>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61" name="Line 77"/>
              <p:cNvSpPr/>
              <p:nvPr/>
            </p:nvSpPr>
            <p:spPr>
              <a:xfrm flipH="1">
                <a:off x="960" y="336"/>
                <a:ext cx="240" cy="336"/>
              </a:xfrm>
              <a:prstGeom prst="line">
                <a:avLst/>
              </a:prstGeom>
              <a:ln w="25400" cap="flat" cmpd="sng">
                <a:solidFill>
                  <a:srgbClr val="000000"/>
                </a:solidFill>
                <a:prstDash val="solid"/>
                <a:round/>
                <a:headEnd type="none" w="med" len="med"/>
                <a:tailEnd type="none" w="med" len="med"/>
              </a:ln>
            </p:spPr>
          </p:sp>
          <p:sp>
            <p:nvSpPr>
              <p:cNvPr id="118862" name="Line 78"/>
              <p:cNvSpPr/>
              <p:nvPr/>
            </p:nvSpPr>
            <p:spPr>
              <a:xfrm flipH="1" flipV="1">
                <a:off x="480" y="672"/>
                <a:ext cx="240" cy="144"/>
              </a:xfrm>
              <a:prstGeom prst="line">
                <a:avLst/>
              </a:prstGeom>
              <a:ln w="25400" cap="flat" cmpd="sng">
                <a:solidFill>
                  <a:srgbClr val="000000"/>
                </a:solidFill>
                <a:prstDash val="solid"/>
                <a:round/>
                <a:headEnd type="none" w="med" len="med"/>
                <a:tailEnd type="none" w="med" len="med"/>
              </a:ln>
            </p:spPr>
          </p:sp>
          <p:sp>
            <p:nvSpPr>
              <p:cNvPr id="118863" name="Oval 79"/>
              <p:cNvSpPr/>
              <p:nvPr/>
            </p:nvSpPr>
            <p:spPr>
              <a:xfrm>
                <a:off x="0" y="374"/>
                <a:ext cx="576"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64" name="Oval 80"/>
              <p:cNvSpPr/>
              <p:nvPr/>
            </p:nvSpPr>
            <p:spPr>
              <a:xfrm>
                <a:off x="942" y="12"/>
                <a:ext cx="576" cy="336"/>
              </a:xfrm>
              <a:prstGeom prst="ellipse">
                <a:avLst/>
              </a:prstGeom>
              <a:solidFill>
                <a:srgbClr val="FFCCFF"/>
              </a:solidFill>
              <a:ln w="9525" cap="flat" cmpd="sng">
                <a:solidFill>
                  <a:schemeClr val="tx1"/>
                </a:solidFill>
                <a:prstDash val="dash"/>
                <a:round/>
                <a:headEnd type="none" w="med" len="med"/>
                <a:tailEnd type="none" w="med" len="med"/>
              </a:ln>
            </p:spPr>
            <p:txBody>
              <a:bodyPr wrap="none" tIns="108000" anchor="ctr"/>
              <a:lstStyle/>
              <a:p>
                <a:pPr lvl="0" indent="0" algn="ctr">
                  <a:lnSpc>
                    <a:spcPct val="100000"/>
                  </a:lnSpc>
                  <a:spcBef>
                    <a:spcPts val="1200"/>
                  </a:spcBef>
                  <a:buNone/>
                </a:pPr>
                <a:r>
                  <a:rPr lang="zh-CN" altLang="en-US" sz="1600" dirty="0">
                    <a:solidFill>
                      <a:srgbClr val="0000CC"/>
                    </a:solidFill>
                    <a:latin typeface="宋体" panose="02010600030101010101" pitchFamily="2" charset="-122"/>
                    <a:ea typeface="宋体" panose="02010600030101010101" pitchFamily="2" charset="-122"/>
                  </a:rPr>
                  <a:t>称谓</a:t>
                </a:r>
                <a:endParaRPr lang="zh-CN" altLang="en-US" sz="1600" dirty="0">
                  <a:solidFill>
                    <a:srgbClr val="0000CC"/>
                  </a:solidFill>
                  <a:latin typeface="宋体" panose="02010600030101010101" pitchFamily="2" charset="-122"/>
                  <a:ea typeface="宋体" panose="02010600030101010101" pitchFamily="2" charset="-122"/>
                </a:endParaRPr>
              </a:p>
              <a:p>
                <a:pPr lvl="0" indent="0" algn="ct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65" name="Line 81"/>
              <p:cNvSpPr/>
              <p:nvPr/>
            </p:nvSpPr>
            <p:spPr>
              <a:xfrm flipH="1">
                <a:off x="480" y="998"/>
                <a:ext cx="240" cy="240"/>
              </a:xfrm>
              <a:prstGeom prst="line">
                <a:avLst/>
              </a:prstGeom>
              <a:ln w="25400" cap="flat" cmpd="sng">
                <a:solidFill>
                  <a:srgbClr val="000000"/>
                </a:solidFill>
                <a:prstDash val="solid"/>
                <a:round/>
                <a:headEnd type="none" w="med" len="med"/>
                <a:tailEnd type="none" w="med" len="med"/>
              </a:ln>
            </p:spPr>
          </p:sp>
          <p:sp>
            <p:nvSpPr>
              <p:cNvPr id="118866" name="Line 82"/>
              <p:cNvSpPr/>
              <p:nvPr/>
            </p:nvSpPr>
            <p:spPr>
              <a:xfrm>
                <a:off x="672" y="288"/>
                <a:ext cx="144" cy="384"/>
              </a:xfrm>
              <a:prstGeom prst="line">
                <a:avLst/>
              </a:prstGeom>
              <a:ln w="25400" cap="flat" cmpd="sng">
                <a:solidFill>
                  <a:srgbClr val="000000"/>
                </a:solidFill>
                <a:prstDash val="solid"/>
                <a:round/>
                <a:headEnd type="none" w="med" len="med"/>
                <a:tailEnd type="none" w="med" len="med"/>
              </a:ln>
            </p:spPr>
          </p:sp>
          <p:sp>
            <p:nvSpPr>
              <p:cNvPr id="118867" name="Line 83"/>
              <p:cNvSpPr/>
              <p:nvPr/>
            </p:nvSpPr>
            <p:spPr>
              <a:xfrm flipV="1">
                <a:off x="480" y="950"/>
                <a:ext cx="240" cy="48"/>
              </a:xfrm>
              <a:prstGeom prst="line">
                <a:avLst/>
              </a:prstGeom>
              <a:ln w="25400" cap="flat" cmpd="sng">
                <a:solidFill>
                  <a:srgbClr val="000000"/>
                </a:solidFill>
                <a:prstDash val="solid"/>
                <a:round/>
                <a:headEnd type="none" w="med" len="med"/>
                <a:tailEnd type="none" w="med" len="med"/>
              </a:ln>
            </p:spPr>
          </p:sp>
          <p:sp>
            <p:nvSpPr>
              <p:cNvPr id="118868" name="Line 84"/>
              <p:cNvSpPr/>
              <p:nvPr/>
            </p:nvSpPr>
            <p:spPr>
              <a:xfrm>
                <a:off x="1008" y="230"/>
                <a:ext cx="432" cy="0"/>
              </a:xfrm>
              <a:prstGeom prst="line">
                <a:avLst/>
              </a:prstGeom>
              <a:ln w="28575" cap="flat" cmpd="sng">
                <a:solidFill>
                  <a:schemeClr val="tx1"/>
                </a:solidFill>
                <a:prstDash val="dash"/>
                <a:round/>
                <a:headEnd type="none" w="med" len="med"/>
                <a:tailEnd type="none" w="med" len="med"/>
              </a:ln>
            </p:spPr>
          </p:sp>
          <p:sp>
            <p:nvSpPr>
              <p:cNvPr id="118869" name="Line 85"/>
              <p:cNvSpPr/>
              <p:nvPr/>
            </p:nvSpPr>
            <p:spPr>
              <a:xfrm>
                <a:off x="288" y="278"/>
                <a:ext cx="336" cy="0"/>
              </a:xfrm>
              <a:prstGeom prst="line">
                <a:avLst/>
              </a:prstGeom>
              <a:ln w="28575" cap="flat" cmpd="sng">
                <a:solidFill>
                  <a:schemeClr val="tx1"/>
                </a:solidFill>
                <a:prstDash val="dash"/>
                <a:round/>
                <a:headEnd type="none" w="med" len="med"/>
                <a:tailEnd type="none" w="med" len="med"/>
              </a:ln>
            </p:spPr>
          </p:sp>
        </p:gr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矩形 2"/>
          <p:cNvSpPr/>
          <p:nvPr/>
        </p:nvSpPr>
        <p:spPr>
          <a:xfrm>
            <a:off x="533400" y="860425"/>
            <a:ext cx="7650163" cy="523875"/>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：含弱实体的</a:t>
            </a:r>
            <a:r>
              <a:rPr lang="de-DE" altLang="en-US"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 </a:t>
            </a:r>
            <a:r>
              <a:rPr lang="en-US" altLang="x-none" sz="2800" dirty="0">
                <a:solidFill>
                  <a:srgbClr val="0033CC"/>
                </a:solidFill>
                <a:latin typeface="黑体" panose="02010609060101010101" pitchFamily="1" charset="-122"/>
                <a:ea typeface="黑体" panose="02010609060101010101" pitchFamily="1" charset="-122"/>
              </a:rPr>
              <a:t>–</a:t>
            </a:r>
            <a:r>
              <a:rPr lang="zh-CN" altLang="en-US" sz="2800" dirty="0">
                <a:solidFill>
                  <a:srgbClr val="0033CC"/>
                </a:solidFill>
                <a:latin typeface="黑体" panose="02010609060101010101" pitchFamily="1" charset="-122"/>
                <a:ea typeface="黑体" panose="02010609060101010101" pitchFamily="1" charset="-122"/>
              </a:rPr>
              <a:t>学生管理数据库</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19811" name="组合 6"/>
          <p:cNvGrpSpPr/>
          <p:nvPr/>
        </p:nvGrpSpPr>
        <p:grpSpPr>
          <a:xfrm>
            <a:off x="609600" y="1524000"/>
            <a:ext cx="7924800" cy="3444875"/>
            <a:chOff x="0" y="0"/>
            <a:chExt cx="7924800" cy="3444875"/>
          </a:xfrm>
        </p:grpSpPr>
        <p:sp>
          <p:nvSpPr>
            <p:cNvPr id="119812" name="Rectangle 3"/>
            <p:cNvSpPr txBox="1"/>
            <p:nvPr/>
          </p:nvSpPr>
          <p:spPr>
            <a:xfrm>
              <a:off x="177800" y="698500"/>
              <a:ext cx="7345363" cy="2105025"/>
            </a:xfrm>
            <a:prstGeom prst="rect">
              <a:avLst/>
            </a:prstGeom>
            <a:noFill/>
            <a:ln w="9525">
              <a:noFill/>
            </a:ln>
          </p:spPr>
          <p:txBody>
            <a:bodyPr anchor="t"/>
            <a:lstStyle/>
            <a:p>
              <a:pPr marL="533400" lvl="0" indent="-533400">
                <a:spcBef>
                  <a:spcPct val="50000"/>
                </a:spcBef>
                <a:buClr>
                  <a:srgbClr val="0033CC"/>
                </a:buClr>
                <a:buSzPct val="80000"/>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弱实体与识别实体之间的联系类型必须是</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（上例）。</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Clr>
                  <a:srgbClr val="0033CC"/>
                </a:buClr>
                <a:buSzPct val="80000"/>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弱实体是完全参与到联系中。</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Clr>
                  <a:srgbClr val="0033CC"/>
                </a:buClr>
                <a:buSzPct val="80000"/>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弱实体因为没有独立主键，所以没有键约束。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Clr>
                  <a:srgbClr val="0033CC"/>
                </a:buClr>
                <a:buSzPct val="80000"/>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弱实体的主键全部或部分来自识别实体。 </a:t>
              </a:r>
              <a:endParaRPr lang="zh-CN" altLang="en-US" sz="2200" dirty="0">
                <a:latin typeface="华文楷体" panose="02010600040101010101" pitchFamily="2" charset="-122"/>
                <a:ea typeface="宋体" panose="02010600030101010101" pitchFamily="2" charset="-122"/>
              </a:endParaRPr>
            </a:p>
          </p:txBody>
        </p:sp>
        <p:sp>
          <p:nvSpPr>
            <p:cNvPr id="119813" name="Rectangle 2"/>
            <p:cNvSpPr txBox="1"/>
            <p:nvPr/>
          </p:nvSpPr>
          <p:spPr>
            <a:xfrm>
              <a:off x="0" y="0"/>
              <a:ext cx="7908925" cy="8985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Arial" panose="020B0604020202020204" pitchFamily="34" charset="0"/>
                  <a:ea typeface="宋体" panose="02010600030101010101" pitchFamily="2" charset="-122"/>
                </a:rPr>
                <a:t>强化：</a:t>
              </a:r>
              <a:r>
                <a:rPr lang="zh-CN" altLang="en-US" sz="2400" dirty="0">
                  <a:solidFill>
                    <a:srgbClr val="006600"/>
                  </a:solidFill>
                  <a:latin typeface="Arial" panose="020B0604020202020204" pitchFamily="34" charset="0"/>
                  <a:ea typeface="宋体" panose="02010600030101010101" pitchFamily="2" charset="-122"/>
                </a:rPr>
                <a:t>几个问题引出的概念</a:t>
              </a:r>
              <a:endParaRPr lang="zh-CN" altLang="en-US" sz="20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14695" name="AutoShape 2"/>
            <p:cNvSpPr/>
            <p:nvPr/>
          </p:nvSpPr>
          <p:spPr>
            <a:xfrm>
              <a:off x="74613" y="563563"/>
              <a:ext cx="7850187" cy="2881312"/>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txBox="1"/>
          <p:nvPr/>
        </p:nvSpPr>
        <p:spPr>
          <a:xfrm>
            <a:off x="546100" y="2259013"/>
            <a:ext cx="8335963" cy="2109787"/>
          </a:xfrm>
          <a:prstGeom prst="rect">
            <a:avLst/>
          </a:prstGeom>
          <a:noFill/>
          <a:ln w="9525">
            <a:noFill/>
          </a:ln>
        </p:spPr>
        <p:txBody>
          <a:bodyPr anchor="t"/>
          <a:lstStyle/>
          <a:p>
            <a:pPr marL="342900" lvl="0" indent="-342900">
              <a:lnSpc>
                <a:spcPct val="100000"/>
              </a:lnSpc>
              <a:spcBef>
                <a:spcPct val="50000"/>
              </a:spcBef>
              <a:buClr>
                <a:srgbClr val="0033CC"/>
              </a:buClr>
              <a:buSzPct val="80000"/>
              <a:buFont typeface="Wingdings" panose="05000000000000000000" pitchFamily="2" charset="2"/>
              <a:buChar char="p"/>
            </a:pPr>
            <a:r>
              <a:rPr lang="zh-CN" altLang="en-US" sz="2400" dirty="0">
                <a:latin typeface="华文楷体" panose="02010600040101010101" pitchFamily="2" charset="-122"/>
                <a:ea typeface="宋体" panose="02010600030101010101" pitchFamily="2" charset="-122"/>
              </a:rPr>
              <a:t>完整性约束：</a:t>
            </a:r>
            <a:endParaRPr lang="zh-CN" altLang="en-US" sz="2400" dirty="0">
              <a:latin typeface="华文楷体" panose="02010600040101010101" pitchFamily="2" charset="-122"/>
              <a:ea typeface="宋体" panose="02010600030101010101" pitchFamily="2" charset="-122"/>
            </a:endParaRPr>
          </a:p>
          <a:p>
            <a:pPr marL="742950" lvl="1" indent="-285750" eaLnBrk="1" hangingPunct="1">
              <a:lnSpc>
                <a:spcPct val="10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联系类型约束（二元约束的基数比</a:t>
            </a:r>
            <a:r>
              <a:rPr lang="en-US" altLang="x-none" sz="2200" dirty="0">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M</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0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键约束（只有联系类型约束中的</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和</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才存在</a:t>
            </a:r>
            <a:r>
              <a:rPr lang="zh-CN" altLang="en-US" sz="2200" dirty="0">
                <a:solidFill>
                  <a:srgbClr val="CC0000"/>
                </a:solidFill>
                <a:latin typeface="楷体" panose="02010609060101010101" pitchFamily="1" charset="-122"/>
                <a:ea typeface="楷体" panose="02010609060101010101" pitchFamily="1" charset="-122"/>
              </a:rPr>
              <a:t>键约束</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0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键约束扩展（三元联系等也存在键约束）</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0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参与约束（完全参与，部分参与）</a:t>
            </a:r>
            <a:endParaRPr lang="zh-CN" altLang="en-US" sz="2200" dirty="0">
              <a:latin typeface="楷体" panose="02010609060101010101" pitchFamily="1" charset="-122"/>
              <a:ea typeface="楷体" panose="02010609060101010101" pitchFamily="1" charset="-122"/>
            </a:endParaRPr>
          </a:p>
        </p:txBody>
      </p:sp>
      <p:sp>
        <p:nvSpPr>
          <p:cNvPr id="115715" name="矩形 2"/>
          <p:cNvSpPr/>
          <p:nvPr/>
        </p:nvSpPr>
        <p:spPr>
          <a:xfrm>
            <a:off x="533400" y="960438"/>
            <a:ext cx="8153400" cy="1311275"/>
          </a:xfrm>
          <a:prstGeom prst="rect">
            <a:avLst/>
          </a:prstGeom>
          <a:noFill/>
          <a:ln w="9525">
            <a:noFill/>
          </a:ln>
        </p:spPr>
        <p:txBody>
          <a:bodyPr anchor="t">
            <a:spAutoFit/>
          </a:bodyPr>
          <a:lstStyle/>
          <a:p>
            <a:pPr marL="342900" lvl="0" indent="-342900">
              <a:lnSpc>
                <a:spcPct val="100000"/>
              </a:lnSpc>
              <a:spcBef>
                <a:spcPct val="50000"/>
              </a:spcBef>
              <a:buClr>
                <a:srgbClr val="0033CC"/>
              </a:buClr>
              <a:buSzPct val="80000"/>
              <a:buFont typeface="Wingdings" panose="05000000000000000000" pitchFamily="2" charset="2"/>
              <a:buChar char="p"/>
            </a:pPr>
            <a:r>
              <a:rPr lang="en-US" altLang="x-none" sz="2400" dirty="0">
                <a:latin typeface="华文楷体" panose="02010600040101010101" pitchFamily="2" charset="-122"/>
                <a:ea typeface="宋体" panose="02010600030101010101" pitchFamily="2" charset="-122"/>
              </a:rPr>
              <a:t>ERM</a:t>
            </a:r>
            <a:r>
              <a:rPr lang="zh-CN" altLang="en-US" sz="2400" dirty="0">
                <a:latin typeface="华文楷体" panose="02010600040101010101" pitchFamily="2" charset="-122"/>
                <a:ea typeface="宋体" panose="02010600030101010101" pitchFamily="2" charset="-122"/>
              </a:rPr>
              <a:t>的概念：</a:t>
            </a:r>
            <a:endParaRPr lang="zh-CN" altLang="en-US" sz="2400" dirty="0">
              <a:latin typeface="华文楷体" panose="02010600040101010101" pitchFamily="2" charset="-122"/>
              <a:ea typeface="宋体" panose="02010600030101010101" pitchFamily="2" charset="-122"/>
            </a:endParaRPr>
          </a:p>
          <a:p>
            <a:pPr marL="742950" lvl="1" indent="-285750" eaLnBrk="1" hangingPunct="1">
              <a:lnSpc>
                <a:spcPct val="12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实体、</a:t>
            </a:r>
            <a:r>
              <a:rPr lang="zh-CN" altLang="en-US" sz="2200" u="sng" dirty="0">
                <a:latin typeface="楷体" panose="02010609060101010101" pitchFamily="1" charset="-122"/>
                <a:ea typeface="楷体" panose="02010609060101010101" pitchFamily="1" charset="-122"/>
              </a:rPr>
              <a:t>实体型</a:t>
            </a:r>
            <a:r>
              <a:rPr lang="zh-CN" altLang="en-US" sz="2200" dirty="0">
                <a:latin typeface="楷体" panose="02010609060101010101" pitchFamily="1" charset="-122"/>
                <a:ea typeface="楷体" panose="02010609060101010101" pitchFamily="1" charset="-122"/>
              </a:rPr>
              <a:t>；属性；键；联系、</a:t>
            </a:r>
            <a:r>
              <a:rPr lang="zh-CN" altLang="en-US" sz="2200" u="sng" dirty="0">
                <a:latin typeface="楷体" panose="02010609060101010101" pitchFamily="1" charset="-122"/>
                <a:ea typeface="楷体" panose="02010609060101010101" pitchFamily="1" charset="-122"/>
              </a:rPr>
              <a:t>联系型、</a:t>
            </a:r>
            <a:r>
              <a:rPr lang="zh-CN" altLang="en-US" sz="2200" dirty="0">
                <a:latin typeface="楷体" panose="02010609060101010101" pitchFamily="1" charset="-122"/>
                <a:ea typeface="楷体" panose="02010609060101010101" pitchFamily="1" charset="-122"/>
              </a:rPr>
              <a:t>联系的类型（一个联系联结几个实体等）。</a:t>
            </a:r>
            <a:endParaRPr lang="zh-CN" altLang="en-US" sz="2200" dirty="0">
              <a:latin typeface="楷体" panose="02010609060101010101" pitchFamily="1" charset="-122"/>
              <a:ea typeface="楷体" panose="02010609060101010101" pitchFamily="1" charset="-122"/>
            </a:endParaRPr>
          </a:p>
        </p:txBody>
      </p:sp>
      <p:sp>
        <p:nvSpPr>
          <p:cNvPr id="120835" name="Rectangle 4"/>
          <p:cNvSpPr txBox="1"/>
          <p:nvPr/>
        </p:nvSpPr>
        <p:spPr>
          <a:xfrm>
            <a:off x="530225" y="101600"/>
            <a:ext cx="8229600" cy="706438"/>
          </a:xfrm>
          <a:prstGeom prst="rect">
            <a:avLst/>
          </a:prstGeom>
          <a:noFill/>
          <a:ln w="9525">
            <a:noFill/>
          </a:ln>
        </p:spPr>
        <p:txBody>
          <a:bodyPr anchor="t"/>
          <a:lstStyle/>
          <a:p>
            <a:pPr lvl="0" indent="0">
              <a:lnSpc>
                <a:spcPct val="100000"/>
              </a:lnSpc>
              <a:buNone/>
            </a:pPr>
            <a:r>
              <a:rPr lang="zh-CN" altLang="en-US" sz="3200" dirty="0">
                <a:solidFill>
                  <a:srgbClr val="3333CC"/>
                </a:solidFill>
                <a:latin typeface="楷体_GB2312" pitchFamily="1" charset="-122"/>
                <a:ea typeface="楷体_GB2312" pitchFamily="1" charset="-122"/>
              </a:rPr>
              <a:t>本章小结</a:t>
            </a:r>
            <a:endParaRPr lang="de-DE" altLang="en-US" sz="3200" dirty="0">
              <a:solidFill>
                <a:srgbClr val="3333CC"/>
              </a:solidFill>
              <a:latin typeface="楷体_GB2312" pitchFamily="1" charset="-122"/>
              <a:ea typeface="楷体_GB2312" pitchFamily="1" charset="-122"/>
            </a:endParaRPr>
          </a:p>
        </p:txBody>
      </p:sp>
      <p:sp>
        <p:nvSpPr>
          <p:cNvPr id="115717" name="Rectangle 3"/>
          <p:cNvSpPr txBox="1"/>
          <p:nvPr/>
        </p:nvSpPr>
        <p:spPr>
          <a:xfrm>
            <a:off x="619125" y="4268788"/>
            <a:ext cx="8335963" cy="1116012"/>
          </a:xfrm>
          <a:prstGeom prst="rect">
            <a:avLst/>
          </a:prstGeom>
          <a:noFill/>
          <a:ln w="9525">
            <a:noFill/>
          </a:ln>
        </p:spPr>
        <p:txBody>
          <a:bodyPr anchor="t"/>
          <a:lstStyle/>
          <a:p>
            <a:pPr marL="342900" lvl="0" indent="-342900">
              <a:lnSpc>
                <a:spcPct val="120000"/>
              </a:lnSpc>
              <a:spcBef>
                <a:spcPts val="600"/>
              </a:spcBef>
              <a:buClr>
                <a:srgbClr val="0033CC"/>
              </a:buClr>
              <a:buSzPct val="80000"/>
              <a:buFont typeface="Wingdings" panose="05000000000000000000" pitchFamily="2" charset="2"/>
              <a:buChar char="p"/>
            </a:pPr>
            <a:r>
              <a:rPr lang="zh-CN" altLang="en-US" sz="2400" dirty="0">
                <a:latin typeface="华文楷体" panose="02010600040101010101" pitchFamily="2" charset="-122"/>
                <a:ea typeface="宋体" panose="02010600030101010101" pitchFamily="2" charset="-122"/>
              </a:rPr>
              <a:t>弱实体、弱实体的约束</a:t>
            </a:r>
            <a:endParaRPr lang="en-US" altLang="x-none" sz="2400" dirty="0">
              <a:latin typeface="华文楷体" panose="02010600040101010101" pitchFamily="2" charset="-122"/>
              <a:ea typeface="宋体" panose="02010600030101010101" pitchFamily="2" charset="-122"/>
            </a:endParaRPr>
          </a:p>
          <a:p>
            <a:pPr marL="742950" lvl="1" indent="-285750" eaLnBrk="1" hangingPunct="1">
              <a:lnSpc>
                <a:spcPct val="100000"/>
              </a:lnSpc>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识别实体型与识别联系型，识别联系是</a:t>
            </a:r>
            <a:r>
              <a:rPr lang="en-US" altLang="x-none" sz="2200" dirty="0">
                <a:latin typeface="楷体" panose="02010609060101010101" pitchFamily="1" charset="-122"/>
                <a:ea typeface="楷体" panose="02010609060101010101" pitchFamily="1" charset="-122"/>
              </a:rPr>
              <a:t>1:n</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sp>
        <p:nvSpPr>
          <p:cNvPr id="115718" name="Rectangle 3"/>
          <p:cNvSpPr txBox="1"/>
          <p:nvPr/>
        </p:nvSpPr>
        <p:spPr>
          <a:xfrm>
            <a:off x="619125" y="5148263"/>
            <a:ext cx="8335963" cy="1020762"/>
          </a:xfrm>
          <a:prstGeom prst="rect">
            <a:avLst/>
          </a:prstGeom>
          <a:noFill/>
          <a:ln w="9525">
            <a:noFill/>
          </a:ln>
        </p:spPr>
        <p:txBody>
          <a:bodyPr anchor="t"/>
          <a:lstStyle/>
          <a:p>
            <a:pPr marL="342900" lvl="0" indent="-342900">
              <a:lnSpc>
                <a:spcPct val="100000"/>
              </a:lnSpc>
              <a:spcBef>
                <a:spcPts val="600"/>
              </a:spcBef>
              <a:buClr>
                <a:srgbClr val="0033CC"/>
              </a:buClr>
              <a:buSzPct val="80000"/>
              <a:buFont typeface="Wingdings" panose="05000000000000000000" pitchFamily="2" charset="2"/>
              <a:buChar char="p"/>
            </a:pPr>
            <a:r>
              <a:rPr lang="zh-CN" altLang="en-US" sz="2400" dirty="0">
                <a:latin typeface="华文楷体" panose="02010600040101010101" pitchFamily="2" charset="-122"/>
                <a:ea typeface="宋体" panose="02010600030101010101" pitchFamily="2" charset="-122"/>
              </a:rPr>
              <a:t>使用</a:t>
            </a:r>
            <a:r>
              <a:rPr lang="en-US" altLang="x-none" sz="2400" dirty="0">
                <a:latin typeface="华文楷体" panose="02010600040101010101" pitchFamily="2" charset="-122"/>
                <a:ea typeface="宋体" panose="02010600030101010101" pitchFamily="2" charset="-122"/>
              </a:rPr>
              <a:t>ERM</a:t>
            </a:r>
            <a:r>
              <a:rPr lang="zh-CN" altLang="en-US" sz="2400" dirty="0">
                <a:latin typeface="华文楷体" panose="02010600040101010101" pitchFamily="2" charset="-122"/>
                <a:ea typeface="宋体" panose="02010600030101010101" pitchFamily="2" charset="-122"/>
              </a:rPr>
              <a:t>进行概念数据库设计</a:t>
            </a:r>
            <a:endParaRPr lang="zh-CN" altLang="en-US" sz="2400" dirty="0">
              <a:latin typeface="华文楷体" panose="02010600040101010101" pitchFamily="2" charset="-122"/>
              <a:ea typeface="宋体" panose="02010600030101010101" pitchFamily="2" charset="-122"/>
            </a:endParaRPr>
          </a:p>
          <a:p>
            <a:pPr marL="742950" lvl="1" indent="-285750" eaLnBrk="1" hangingPunct="1">
              <a:lnSpc>
                <a:spcPct val="100000"/>
              </a:lnSpc>
              <a:spcBef>
                <a:spcPts val="6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确定实体或属性、实体或联系、联系的类型</a:t>
            </a:r>
            <a:endParaRPr lang="zh-CN" altLang="en-US" sz="2200" dirty="0">
              <a:latin typeface="楷体" panose="02010609060101010101" pitchFamily="1" charset="-122"/>
              <a:ea typeface="楷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wipe(down)">
                                      <p:cBhvr>
                                        <p:cTn id="7" dur="500"/>
                                        <p:tgtEl>
                                          <p:spTgt spid="115715">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5715">
                                            <p:txEl>
                                              <p:pRg st="1" end="1"/>
                                            </p:txEl>
                                          </p:spTgt>
                                        </p:tgtEl>
                                        <p:attrNameLst>
                                          <p:attrName>style.visibility</p:attrName>
                                        </p:attrNameLst>
                                      </p:cBhvr>
                                      <p:to>
                                        <p:strVal val="visible"/>
                                      </p:to>
                                    </p:set>
                                    <p:animEffect transition="in" filter="wipe(down)">
                                      <p:cBhvr>
                                        <p:cTn id="10" dur="500"/>
                                        <p:tgtEl>
                                          <p:spTgt spid="1157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15714">
                                            <p:txEl>
                                              <p:pRg st="0" end="0"/>
                                            </p:txEl>
                                          </p:spTgt>
                                        </p:tgtEl>
                                        <p:attrNameLst>
                                          <p:attrName>style.visibility</p:attrName>
                                        </p:attrNameLst>
                                      </p:cBhvr>
                                      <p:to>
                                        <p:strVal val="visible"/>
                                      </p:to>
                                    </p:set>
                                    <p:animEffect transition="in" filter="wipe(down)">
                                      <p:cBhvr>
                                        <p:cTn id="15" dur="500"/>
                                        <p:tgtEl>
                                          <p:spTgt spid="115714">
                                            <p:txEl>
                                              <p:pRg st="0" end="0"/>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15714">
                                            <p:txEl>
                                              <p:pRg st="1" end="1"/>
                                            </p:txEl>
                                          </p:spTgt>
                                        </p:tgtEl>
                                        <p:attrNameLst>
                                          <p:attrName>style.visibility</p:attrName>
                                        </p:attrNameLst>
                                      </p:cBhvr>
                                      <p:to>
                                        <p:strVal val="visible"/>
                                      </p:to>
                                    </p:set>
                                    <p:animEffect transition="in" filter="wipe(down)">
                                      <p:cBhvr>
                                        <p:cTn id="18" dur="500"/>
                                        <p:tgtEl>
                                          <p:spTgt spid="115714">
                                            <p:txEl>
                                              <p:pRg st="1" end="1"/>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15714">
                                            <p:txEl>
                                              <p:pRg st="2" end="2"/>
                                            </p:txEl>
                                          </p:spTgt>
                                        </p:tgtEl>
                                        <p:attrNameLst>
                                          <p:attrName>style.visibility</p:attrName>
                                        </p:attrNameLst>
                                      </p:cBhvr>
                                      <p:to>
                                        <p:strVal val="visible"/>
                                      </p:to>
                                    </p:set>
                                    <p:animEffect transition="in" filter="wipe(down)">
                                      <p:cBhvr>
                                        <p:cTn id="21" dur="500"/>
                                        <p:tgtEl>
                                          <p:spTgt spid="115714">
                                            <p:txEl>
                                              <p:pRg st="2" end="2"/>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15714">
                                            <p:txEl>
                                              <p:pRg st="3" end="3"/>
                                            </p:txEl>
                                          </p:spTgt>
                                        </p:tgtEl>
                                        <p:attrNameLst>
                                          <p:attrName>style.visibility</p:attrName>
                                        </p:attrNameLst>
                                      </p:cBhvr>
                                      <p:to>
                                        <p:strVal val="visible"/>
                                      </p:to>
                                    </p:set>
                                    <p:animEffect transition="in" filter="wipe(down)">
                                      <p:cBhvr>
                                        <p:cTn id="24" dur="500"/>
                                        <p:tgtEl>
                                          <p:spTgt spid="115714">
                                            <p:txEl>
                                              <p:pRg st="3" end="3"/>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15714">
                                            <p:txEl>
                                              <p:pRg st="4" end="4"/>
                                            </p:txEl>
                                          </p:spTgt>
                                        </p:tgtEl>
                                        <p:attrNameLst>
                                          <p:attrName>style.visibility</p:attrName>
                                        </p:attrNameLst>
                                      </p:cBhvr>
                                      <p:to>
                                        <p:strVal val="visible"/>
                                      </p:to>
                                    </p:set>
                                    <p:animEffect transition="in" filter="wipe(down)">
                                      <p:cBhvr>
                                        <p:cTn id="27" dur="500"/>
                                        <p:tgtEl>
                                          <p:spTgt spid="1157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5717">
                                            <p:txEl>
                                              <p:pRg st="0" end="0"/>
                                            </p:txEl>
                                          </p:spTgt>
                                        </p:tgtEl>
                                        <p:attrNameLst>
                                          <p:attrName>style.visibility</p:attrName>
                                        </p:attrNameLst>
                                      </p:cBhvr>
                                      <p:to>
                                        <p:strVal val="visible"/>
                                      </p:to>
                                    </p:set>
                                    <p:animEffect transition="in" filter="wipe(down)">
                                      <p:cBhvr>
                                        <p:cTn id="32" dur="500"/>
                                        <p:tgtEl>
                                          <p:spTgt spid="115717">
                                            <p:txEl>
                                              <p:pRg st="0" end="0"/>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15717">
                                            <p:txEl>
                                              <p:pRg st="1" end="1"/>
                                            </p:txEl>
                                          </p:spTgt>
                                        </p:tgtEl>
                                        <p:attrNameLst>
                                          <p:attrName>style.visibility</p:attrName>
                                        </p:attrNameLst>
                                      </p:cBhvr>
                                      <p:to>
                                        <p:strVal val="visible"/>
                                      </p:to>
                                    </p:set>
                                    <p:animEffect transition="in" filter="wipe(down)">
                                      <p:cBhvr>
                                        <p:cTn id="35" dur="500"/>
                                        <p:tgtEl>
                                          <p:spTgt spid="115717">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15718">
                                            <p:txEl>
                                              <p:pRg st="0" end="0"/>
                                            </p:txEl>
                                          </p:spTgt>
                                        </p:tgtEl>
                                        <p:attrNameLst>
                                          <p:attrName>style.visibility</p:attrName>
                                        </p:attrNameLst>
                                      </p:cBhvr>
                                      <p:to>
                                        <p:strVal val="visible"/>
                                      </p:to>
                                    </p:set>
                                    <p:animEffect transition="in" filter="wipe(down)">
                                      <p:cBhvr>
                                        <p:cTn id="40" dur="500"/>
                                        <p:tgtEl>
                                          <p:spTgt spid="115718">
                                            <p:txEl>
                                              <p:pRg st="0" end="0"/>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15718">
                                            <p:txEl>
                                              <p:pRg st="1" end="1"/>
                                            </p:txEl>
                                          </p:spTgt>
                                        </p:tgtEl>
                                        <p:attrNameLst>
                                          <p:attrName>style.visibility</p:attrName>
                                        </p:attrNameLst>
                                      </p:cBhvr>
                                      <p:to>
                                        <p:strVal val="visible"/>
                                      </p:to>
                                    </p:set>
                                    <p:animEffect transition="in" filter="wipe(down)">
                                      <p:cBhvr>
                                        <p:cTn id="43" dur="500"/>
                                        <p:tgtEl>
                                          <p:spTgt spid="1157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build="allAtOnce"/>
      <p:bldP spid="115715" grpId="0" build="allAtOnce"/>
      <p:bldP spid="115717" grpId="0" build="allAtOnce"/>
      <p:bldP spid="115718" grpId="0" build="allAtOnce"/>
    </p:bldLst>
  </p:timing>
</p:sld>
</file>

<file path=ppt/tags/tag1.xml><?xml version="1.0" encoding="utf-8"?>
<p:tagLst xmlns:p="http://schemas.openxmlformats.org/presentationml/2006/main">
  <p:tag name="KSO_WM_UNIT_TABLE_BEAUTIFY" val="smartTable{9f78ded7-126e-4ed0-a0df-70ed019dbf33}"/>
</p:tagLst>
</file>

<file path=ppt/tags/tag2.xml><?xml version="1.0" encoding="utf-8"?>
<p:tagLst xmlns:p="http://schemas.openxmlformats.org/presentationml/2006/main">
  <p:tag name="KSO_WM_UNIT_TABLE_BEAUTIFY" val="smartTable{9f78ded7-126e-4ed0-a0df-70ed019dbf33}"/>
</p:tagLst>
</file>

<file path=ppt/tags/tag3.xml><?xml version="1.0" encoding="utf-8"?>
<p:tagLst xmlns:p="http://schemas.openxmlformats.org/presentationml/2006/main">
  <p:tag name="KSO_WM_UNIT_TABLE_BEAUTIFY" val="smartTable{9f78ded7-126e-4ed0-a0df-70ed019dbf33}"/>
</p:tagLst>
</file>

<file path=ppt/tags/tag4.xml><?xml version="1.0" encoding="utf-8"?>
<p:tagLst xmlns:p="http://schemas.openxmlformats.org/presentationml/2006/main">
  <p:tag name="KSO_WM_UNIT_TABLE_BEAUTIFY" val="smartTable{9f78ded7-126e-4ed0-a0df-70ed019dbf33}"/>
</p:tagLst>
</file>

<file path=ppt/tags/tag5.xml><?xml version="1.0" encoding="utf-8"?>
<p:tagLst xmlns:p="http://schemas.openxmlformats.org/presentationml/2006/main">
  <p:tag name="KSO_WM_UNIT_TABLE_BEAUTIFY" val="smartTable{9f78ded7-126e-4ed0-a0df-70ed019dbf33}"/>
</p:tagLst>
</file>

<file path=ppt/tags/tag6.xml><?xml version="1.0" encoding="utf-8"?>
<p:tagLst xmlns:p="http://schemas.openxmlformats.org/presentationml/2006/main">
  <p:tag name="KSO_WM_UNIT_TABLE_BEAUTIFY" val="smartTable{9f78ded7-126e-4ed0-a0df-70ed019dbf33}"/>
</p:tagLst>
</file>

<file path=ppt/tags/tag7.xml><?xml version="1.0" encoding="utf-8"?>
<p:tagLst xmlns:p="http://schemas.openxmlformats.org/presentationml/2006/main">
  <p:tag name="KSO_WM_UNIT_TABLE_BEAUTIFY" val="smartTable{9f78ded7-126e-4ed0-a0df-70ed019dbf33}"/>
</p:tagLst>
</file>

<file path=ppt/tags/tag8.xml><?xml version="1.0" encoding="utf-8"?>
<p:tagLst xmlns:p="http://schemas.openxmlformats.org/presentationml/2006/main">
  <p:tag name="KSO_WM_UNIT_TABLE_BEAUTIFY" val="smartTable{a474b2d3-9fc4-4728-8b2d-2678016c59b5}"/>
</p:tagLst>
</file>

<file path=ppt/tags/tag9.xml><?xml version="1.0" encoding="utf-8"?>
<p:tagLst xmlns:p="http://schemas.openxmlformats.org/presentationml/2006/main">
  <p:tag name="commondata" val="eyJoZGlkIjoiN2MwNGZlODUyOThjOGE4NWQyMjhmMDY2NzI1NjFkNG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w="9525">
          <a:noFill/>
        </a:ln>
      </a:spPr>
      <a:bodyPr anchor="t"/>
      <a:lstStyle>
        <a:defPPr lvl="0" indent="0">
          <a:lnSpc>
            <a:spcPct val="120000"/>
          </a:lnSpc>
          <a:spcBef>
            <a:spcPts val="25"/>
          </a:spcBef>
          <a:buClrTx/>
          <a:buSzPct val="80000"/>
          <a:buFont typeface="Wingdings" panose="05000000000000000000" pitchFamily="2" charset="2"/>
          <a:buChar char="u"/>
          <a:defRPr lang="zh-CN" altLang="en-US" sz="2400" dirty="0">
            <a:latin typeface="华文楷体" panose="02010600040101010101" pitchFamily="2" charset="-122"/>
            <a:ea typeface="宋体" panose="02010600030101010101" pitchFamily="2" charset="-122"/>
          </a:defRPr>
        </a:defPPr>
      </a:lstStyle>
    </a:txDef>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21855</Words>
  <Application>WPS 演示</Application>
  <PresentationFormat>全屏显示(4:3)</PresentationFormat>
  <Paragraphs>3940</Paragraphs>
  <Slides>117</Slides>
  <Notes>20</Notes>
  <HiddenSlides>1</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7</vt:i4>
      </vt:variant>
      <vt:variant>
        <vt:lpstr>幻灯片标题</vt:lpstr>
      </vt:variant>
      <vt:variant>
        <vt:i4>117</vt:i4>
      </vt:variant>
    </vt:vector>
  </HeadingPairs>
  <TitlesOfParts>
    <vt:vector size="146" baseType="lpstr">
      <vt:lpstr>Arial</vt:lpstr>
      <vt:lpstr>宋体</vt:lpstr>
      <vt:lpstr>Wingdings</vt:lpstr>
      <vt:lpstr>华文楷体</vt:lpstr>
      <vt:lpstr>楷体_GB2312</vt:lpstr>
      <vt:lpstr>Times New Roman</vt:lpstr>
      <vt:lpstr>黑体</vt:lpstr>
      <vt:lpstr>新宋体</vt:lpstr>
      <vt:lpstr>楷体</vt:lpstr>
      <vt:lpstr>方正舒体</vt:lpstr>
      <vt:lpstr>Wingdings</vt:lpstr>
      <vt:lpstr>微软雅黑</vt:lpstr>
      <vt:lpstr>Tahoma</vt:lpstr>
      <vt:lpstr>Calibri</vt:lpstr>
      <vt:lpstr>&amp;quot</vt:lpstr>
      <vt:lpstr>Segoe Print</vt:lpstr>
      <vt:lpstr>Arial Unicode MS</vt:lpstr>
      <vt:lpstr>华文中宋</vt:lpstr>
      <vt:lpstr>方正姚体</vt:lpstr>
      <vt:lpstr>华文仿宋</vt:lpstr>
      <vt:lpstr>1_默认设计模板</vt:lpstr>
      <vt:lpstr>2_默认设计模板</vt:lpstr>
      <vt:lpstr>Paint.Picture</vt:lpstr>
      <vt:lpstr>Visio.Drawing.15</vt:lpstr>
      <vt:lpstr>Visio.Drawing.15</vt:lpstr>
      <vt:lpstr>Word.Picture.8</vt:lpstr>
      <vt:lpstr>Word.Picture.8</vt:lpstr>
      <vt:lpstr>Word.Picture.8</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youzc</cp:lastModifiedBy>
  <cp:revision>2818</cp:revision>
  <dcterms:created xsi:type="dcterms:W3CDTF">2001-06-18T05:13:00Z</dcterms:created>
  <dcterms:modified xsi:type="dcterms:W3CDTF">2026-03-05T06:27:08Z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7A6669BD234F4277AD2C021A2412A068_13</vt:lpwstr>
  </property>
</Properties>
</file>