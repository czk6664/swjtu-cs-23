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92"/>
  </p:handoutMasterIdLst>
  <p:sldIdLst>
    <p:sldId id="917" r:id="rId4"/>
    <p:sldId id="1590" r:id="rId6"/>
    <p:sldId id="1589" r:id="rId7"/>
    <p:sldId id="1022" r:id="rId8"/>
    <p:sldId id="988" r:id="rId9"/>
    <p:sldId id="1193" r:id="rId10"/>
    <p:sldId id="996" r:id="rId11"/>
    <p:sldId id="997" r:id="rId12"/>
    <p:sldId id="998" r:id="rId13"/>
    <p:sldId id="999" r:id="rId14"/>
    <p:sldId id="1586" r:id="rId15"/>
    <p:sldId id="1706" r:id="rId16"/>
    <p:sldId id="1712" r:id="rId17"/>
    <p:sldId id="1000" r:id="rId18"/>
    <p:sldId id="1001" r:id="rId19"/>
    <p:sldId id="1065" r:id="rId20"/>
    <p:sldId id="1041" r:id="rId21"/>
    <p:sldId id="1002" r:id="rId22"/>
    <p:sldId id="1003" r:id="rId23"/>
    <p:sldId id="1145" r:id="rId24"/>
    <p:sldId id="1478" r:id="rId25"/>
    <p:sldId id="1482" r:id="rId26"/>
    <p:sldId id="1591" r:id="rId27"/>
    <p:sldId id="1593" r:id="rId28"/>
    <p:sldId id="1433" r:id="rId29"/>
    <p:sldId id="1434" r:id="rId30"/>
    <p:sldId id="1707" r:id="rId31"/>
    <p:sldId id="1709" r:id="rId32"/>
    <p:sldId id="1711" r:id="rId33"/>
    <p:sldId id="1423" r:id="rId34"/>
    <p:sldId id="1424" r:id="rId35"/>
    <p:sldId id="1427" r:id="rId36"/>
    <p:sldId id="1425" r:id="rId37"/>
    <p:sldId id="1426" r:id="rId38"/>
    <p:sldId id="1428" r:id="rId39"/>
    <p:sldId id="1429" r:id="rId40"/>
    <p:sldId id="1430" r:id="rId41"/>
    <p:sldId id="1007" r:id="rId42"/>
    <p:sldId id="1328" r:id="rId43"/>
    <p:sldId id="1329" r:id="rId44"/>
    <p:sldId id="1667" r:id="rId45"/>
    <p:sldId id="1708" r:id="rId46"/>
    <p:sldId id="1714" r:id="rId47"/>
    <p:sldId id="1715" r:id="rId48"/>
    <p:sldId id="1010" r:id="rId49"/>
    <p:sldId id="1042" r:id="rId50"/>
    <p:sldId id="1011" r:id="rId51"/>
    <p:sldId id="1066" r:id="rId52"/>
    <p:sldId id="1071" r:id="rId53"/>
    <p:sldId id="1716" r:id="rId54"/>
    <p:sldId id="1719" r:id="rId55"/>
    <p:sldId id="1721" r:id="rId56"/>
    <p:sldId id="1012" r:id="rId57"/>
    <p:sldId id="1670" r:id="rId58"/>
    <p:sldId id="1671" r:id="rId59"/>
    <p:sldId id="1436" r:id="rId60"/>
    <p:sldId id="1722" r:id="rId61"/>
    <p:sldId id="1724" r:id="rId62"/>
    <p:sldId id="1725" r:id="rId63"/>
    <p:sldId id="1013" r:id="rId64"/>
    <p:sldId id="1063" r:id="rId65"/>
    <p:sldId id="1015" r:id="rId66"/>
    <p:sldId id="1552" r:id="rId67"/>
    <p:sldId id="1553" r:id="rId68"/>
    <p:sldId id="1554" r:id="rId69"/>
    <p:sldId id="1555" r:id="rId70"/>
    <p:sldId id="1556" r:id="rId71"/>
    <p:sldId id="1557" r:id="rId72"/>
    <p:sldId id="1558" r:id="rId73"/>
    <p:sldId id="1559" r:id="rId74"/>
    <p:sldId id="1560" r:id="rId75"/>
    <p:sldId id="1561" r:id="rId76"/>
    <p:sldId id="1562" r:id="rId77"/>
    <p:sldId id="1563" r:id="rId78"/>
    <p:sldId id="1534" r:id="rId79"/>
    <p:sldId id="1018" r:id="rId80"/>
    <p:sldId id="1019" r:id="rId81"/>
    <p:sldId id="1020" r:id="rId82"/>
    <p:sldId id="1021" r:id="rId83"/>
    <p:sldId id="1064" r:id="rId84"/>
    <p:sldId id="1535" r:id="rId85"/>
    <p:sldId id="1564" r:id="rId86"/>
    <p:sldId id="1726" r:id="rId87"/>
    <p:sldId id="1727" r:id="rId88"/>
    <p:sldId id="1728" r:id="rId89"/>
    <p:sldId id="1040" r:id="rId90"/>
    <p:sldId id="548" r:id="rId91"/>
  </p:sldIdLst>
  <p:sldSz cx="9144000" cy="6858000" type="screen4x3"/>
  <p:notesSz cx="6781800" cy="9926320"/>
  <p:custDataLst>
    <p:tags r:id="rId96"/>
  </p:custDataLst>
  <p:defaultTextStyle>
    <a:defPPr>
      <a:defRPr lang="zh-CN"/>
    </a:defPPr>
    <a:lvl1pPr marL="0" lvl="0"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9pPr>
  </p:defaultTextStyle>
  <p:extLst>
    <p:ext uri="{EFAFB233-063F-42B5-8137-9DF3F51BA10A}">
      <p15:sldGuideLst xmlns:p15="http://schemas.microsoft.com/office/powerpoint/2012/main">
        <p15:guide id="1" orient="horz" pos="479" userDrawn="1">
          <p15:clr>
            <a:srgbClr val="A4A3A4"/>
          </p15:clr>
        </p15:guide>
        <p15:guide id="2" pos="2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6600"/>
    <a:srgbClr val="FF3300"/>
    <a:srgbClr val="FFFFCC"/>
    <a:srgbClr val="CC0000"/>
    <a:srgbClr val="A50021"/>
    <a:srgbClr val="FF993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9" autoAdjust="0"/>
    <p:restoredTop sz="76910" autoAdjust="0"/>
  </p:normalViewPr>
  <p:slideViewPr>
    <p:cSldViewPr snapToGrid="0" showGuides="1">
      <p:cViewPr varScale="1">
        <p:scale>
          <a:sx n="59" d="100"/>
          <a:sy n="59" d="100"/>
        </p:scale>
        <p:origin x="1596" y="72"/>
      </p:cViewPr>
      <p:guideLst>
        <p:guide orient="horz" pos="479"/>
        <p:guide pos="288"/>
      </p:guideLst>
    </p:cSldViewPr>
  </p:slideViewPr>
  <p:notesTextViewPr>
    <p:cViewPr>
      <p:scale>
        <a:sx n="100" d="100"/>
        <a:sy n="100" d="100"/>
      </p:scale>
      <p:origin x="0" y="0"/>
    </p:cViewPr>
  </p:notesTextViewPr>
  <p:notesViewPr>
    <p:cSldViewPr snapToGrid="0">
      <p:cViewPr varScale="1">
        <p:scale>
          <a:sx n="54" d="100"/>
          <a:sy n="54" d="100"/>
        </p:scale>
        <p:origin x="2658" y="84"/>
      </p:cViewPr>
      <p:guideLst/>
    </p:cSldViewPr>
  </p:notesViewPr>
  <p:gridSpacing cx="72008" cy="72008"/>
</p:viewPr>
</file>

<file path=ppt/_rels/presentation.xml.rels><?xml version="1.0" encoding="UTF-8" standalone="yes"?>
<Relationships xmlns="http://schemas.openxmlformats.org/package/2006/relationships"><Relationship Id="rId96" Type="http://schemas.openxmlformats.org/officeDocument/2006/relationships/tags" Target="tags/tag1.xml"/><Relationship Id="rId95" Type="http://schemas.openxmlformats.org/officeDocument/2006/relationships/tableStyles" Target="tableStyles.xml"/><Relationship Id="rId94" Type="http://schemas.openxmlformats.org/officeDocument/2006/relationships/viewProps" Target="viewProps.xml"/><Relationship Id="rId93" Type="http://schemas.openxmlformats.org/officeDocument/2006/relationships/presProps" Target="presProps.xml"/><Relationship Id="rId92" Type="http://schemas.openxmlformats.org/officeDocument/2006/relationships/handoutMaster" Target="handoutMasters/handoutMaster1.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emf"/><Relationship Id="rId1" Type="http://schemas.openxmlformats.org/officeDocument/2006/relationships/image" Target="../media/image28.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38463"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41750" y="0"/>
            <a:ext cx="2938463" cy="496888"/>
          </a:xfrm>
          <a:prstGeom prst="rect">
            <a:avLst/>
          </a:prstGeom>
        </p:spPr>
        <p:txBody>
          <a:bodyPr vert="horz" lIns="91440" tIns="45720" rIns="91440" bIns="45720" rtlCol="0"/>
          <a:lstStyle>
            <a:lvl1pPr algn="r">
              <a:defRPr sz="1200"/>
            </a:lvl1pPr>
          </a:lstStyle>
          <a:p>
            <a:fld id="{BE51366F-1299-4696-9288-FF8AC7E7EAA9}" type="datetimeFigureOut">
              <a:rPr lang="zh-CN" altLang="en-US" smtClean="0"/>
            </a:fld>
            <a:endParaRPr lang="zh-CN" altLang="en-US"/>
          </a:p>
        </p:txBody>
      </p:sp>
      <p:sp>
        <p:nvSpPr>
          <p:cNvPr id="4" name="页脚占位符 3"/>
          <p:cNvSpPr>
            <a:spLocks noGrp="1"/>
          </p:cNvSpPr>
          <p:nvPr>
            <p:ph type="ftr" sz="quarter" idx="2"/>
          </p:nvPr>
        </p:nvSpPr>
        <p:spPr>
          <a:xfrm>
            <a:off x="0" y="9429750"/>
            <a:ext cx="2938463" cy="496888"/>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41750" y="9429750"/>
            <a:ext cx="2938463" cy="496888"/>
          </a:xfrm>
          <a:prstGeom prst="rect">
            <a:avLst/>
          </a:prstGeom>
        </p:spPr>
        <p:txBody>
          <a:bodyPr vert="horz" lIns="91440" tIns="45720" rIns="91440" bIns="45720" rtlCol="0" anchor="b"/>
          <a:lstStyle>
            <a:lvl1pPr algn="r">
              <a:defRPr sz="1200"/>
            </a:lvl1pPr>
          </a:lstStyle>
          <a:p>
            <a:fld id="{C2CBEB52-2D26-4951-B890-8C35C7D339F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p:cNvSpPr>
          <p:nvPr>
            <p:ph type="hdr" sz="quarter"/>
          </p:nvPr>
        </p:nvSpPr>
        <p:spPr>
          <a:xfrm>
            <a:off x="0" y="0"/>
            <a:ext cx="2938463" cy="496888"/>
          </a:xfrm>
          <a:prstGeom prst="rect">
            <a:avLst/>
          </a:prstGeom>
          <a:noFill/>
          <a:ln w="9525">
            <a:noFill/>
          </a:ln>
        </p:spPr>
        <p:txBody>
          <a:bodyPr/>
          <a:lstStyle/>
          <a:p>
            <a:pPr lvl="0" eaLnBrk="1" fontAlgn="base" hangingPunct="1">
              <a:lnSpc>
                <a:spcPct val="100000"/>
              </a:lnSpc>
              <a:buNone/>
            </a:pPr>
            <a:endParaRPr lang="en-US" altLang="x-none" sz="1200" b="0" strike="noStrike" noProof="1">
              <a:latin typeface="Times New Roman" panose="02020603050405020304" pitchFamily="2" charset="0"/>
            </a:endParaRPr>
          </a:p>
        </p:txBody>
      </p:sp>
      <p:sp>
        <p:nvSpPr>
          <p:cNvPr id="3075" name="Rectangle 3"/>
          <p:cNvSpPr>
            <a:spLocks noGrp="1"/>
          </p:cNvSpPr>
          <p:nvPr>
            <p:ph type="dt" idx="1"/>
          </p:nvPr>
        </p:nvSpPr>
        <p:spPr>
          <a:xfrm>
            <a:off x="3843338" y="0"/>
            <a:ext cx="2938463" cy="496888"/>
          </a:xfrm>
          <a:prstGeom prst="rect">
            <a:avLst/>
          </a:prstGeom>
          <a:noFill/>
          <a:ln w="9525">
            <a:noFill/>
          </a:ln>
        </p:spPr>
        <p:txBody>
          <a:bodyPr/>
          <a:lstStyle/>
          <a:p>
            <a:pPr lvl="0" algn="r" eaLnBrk="1" fontAlgn="base" hangingPunct="1">
              <a:lnSpc>
                <a:spcPct val="100000"/>
              </a:lnSpc>
              <a:buNone/>
            </a:pPr>
            <a:endParaRPr lang="en-US" altLang="x-none" sz="1200" b="0" strike="noStrike" noProof="1">
              <a:latin typeface="Times New Roman" panose="02020603050405020304" pitchFamily="2" charset="0"/>
            </a:endParaRPr>
          </a:p>
        </p:txBody>
      </p:sp>
      <p:sp>
        <p:nvSpPr>
          <p:cNvPr id="3076" name="Rectangle 4"/>
          <p:cNvSpPr>
            <a:spLocks noGrp="1" noRot="1" noChangeAspect="1"/>
          </p:cNvSpPr>
          <p:nvPr>
            <p:ph type="sldImg"/>
          </p:nvPr>
        </p:nvSpPr>
        <p:spPr>
          <a:xfrm>
            <a:off x="909638" y="744538"/>
            <a:ext cx="4964112" cy="3722687"/>
          </a:xfrm>
          <a:prstGeom prst="rect">
            <a:avLst/>
          </a:prstGeom>
          <a:noFill/>
          <a:ln w="9525">
            <a:noFill/>
          </a:ln>
        </p:spPr>
      </p:sp>
      <p:sp>
        <p:nvSpPr>
          <p:cNvPr id="3077" name="Rectangle 5"/>
          <p:cNvSpPr>
            <a:spLocks noGrp="1"/>
          </p:cNvSpPr>
          <p:nvPr>
            <p:ph type="body" sz="quarter"/>
          </p:nvPr>
        </p:nvSpPr>
        <p:spPr>
          <a:xfrm>
            <a:off x="904875" y="4714875"/>
            <a:ext cx="4972050" cy="4467225"/>
          </a:xfrm>
          <a:prstGeom prst="rect">
            <a:avLst/>
          </a:prstGeom>
          <a:noFill/>
          <a:ln w="9525">
            <a:noFill/>
          </a:ln>
        </p:spPr>
        <p:txBody>
          <a:bodyPr anchor="ctr"/>
          <a:lstStyle/>
          <a:p>
            <a:pPr lvl="0" indent="0"/>
            <a:r>
              <a:rPr lang="zh-CN" altLang="en-US" dirty="0"/>
              <a:t>单击此处编辑母版文本样式</a:t>
            </a:r>
            <a:endParaRPr lang="zh-CN" altLang="en-US" dirty="0"/>
          </a:p>
          <a:p>
            <a:pPr lvl="1" indent="0"/>
            <a:r>
              <a:rPr lang="zh-CN" altLang="en-US" dirty="0"/>
              <a:t>第二级</a:t>
            </a:r>
            <a:endParaRPr lang="zh-CN" altLang="en-US" dirty="0"/>
          </a:p>
          <a:p>
            <a:pPr lvl="2" indent="0"/>
            <a:r>
              <a:rPr lang="zh-CN" altLang="en-US" dirty="0"/>
              <a:t>第三级</a:t>
            </a:r>
            <a:endParaRPr lang="zh-CN" altLang="en-US" dirty="0"/>
          </a:p>
          <a:p>
            <a:pPr lvl="3" indent="0"/>
            <a:r>
              <a:rPr lang="zh-CN" altLang="en-US" dirty="0"/>
              <a:t>第四级</a:t>
            </a:r>
            <a:endParaRPr lang="zh-CN" altLang="en-US" dirty="0"/>
          </a:p>
          <a:p>
            <a:pPr lvl="4" indent="0"/>
            <a:r>
              <a:rPr lang="zh-CN" altLang="en-US" dirty="0"/>
              <a:t>第五级</a:t>
            </a:r>
            <a:endParaRPr lang="zh-CN" altLang="en-US" dirty="0"/>
          </a:p>
        </p:txBody>
      </p:sp>
      <p:sp>
        <p:nvSpPr>
          <p:cNvPr id="3078" name="Rectangle 6"/>
          <p:cNvSpPr>
            <a:spLocks noGrp="1"/>
          </p:cNvSpPr>
          <p:nvPr>
            <p:ph type="ftr" sz="quarter" idx="4"/>
          </p:nvPr>
        </p:nvSpPr>
        <p:spPr>
          <a:xfrm>
            <a:off x="0" y="9429750"/>
            <a:ext cx="2938463" cy="496888"/>
          </a:xfrm>
          <a:prstGeom prst="rect">
            <a:avLst/>
          </a:prstGeom>
          <a:noFill/>
          <a:ln w="9525">
            <a:noFill/>
          </a:ln>
        </p:spPr>
        <p:txBody>
          <a:bodyPr anchor="b"/>
          <a:lstStyle/>
          <a:p>
            <a:pPr lvl="0" eaLnBrk="1" fontAlgn="base" hangingPunct="1">
              <a:lnSpc>
                <a:spcPct val="100000"/>
              </a:lnSpc>
              <a:buNone/>
            </a:pPr>
            <a:endParaRPr lang="en-US" altLang="x-none" sz="1200" b="0" strike="noStrike" noProof="1">
              <a:latin typeface="Times New Roman" panose="02020603050405020304" pitchFamily="2" charset="0"/>
            </a:endParaRPr>
          </a:p>
        </p:txBody>
      </p:sp>
      <p:sp>
        <p:nvSpPr>
          <p:cNvPr id="3079" name="Rectangle 7"/>
          <p:cNvSpPr>
            <a:spLocks noGrp="1"/>
          </p:cNvSpPr>
          <p:nvPr>
            <p:ph type="sldNum" sz="quarter" idx="5"/>
          </p:nvPr>
        </p:nvSpPr>
        <p:spPr>
          <a:xfrm>
            <a:off x="3843338" y="9429750"/>
            <a:ext cx="2938463" cy="496888"/>
          </a:xfrm>
          <a:prstGeom prst="rect">
            <a:avLst/>
          </a:prstGeom>
          <a:noFill/>
          <a:ln w="9525">
            <a:noFill/>
          </a:ln>
        </p:spPr>
        <p:txBody>
          <a:bodyPr anchor="b"/>
          <a:lstStyle/>
          <a:p>
            <a:pPr lvl="0" algn="r" eaLnBrk="1" fontAlgn="base" hangingPunct="1">
              <a:lnSpc>
                <a:spcPct val="100000"/>
              </a:lnSpc>
              <a:buNone/>
            </a:pPr>
            <a:fld id="{9A0DB2DC-4C9A-4742-B13C-FB6460FD3503}" type="slidenum">
              <a:rPr lang="en-US" altLang="x-none" sz="1200" b="0" strike="noStrike" noProof="1" dirty="0">
                <a:latin typeface="Times New Roman" panose="02020603050405020304" pitchFamily="2" charset="0"/>
                <a:ea typeface="宋体" panose="02010600030101010101" pitchFamily="2" charset="-122"/>
                <a:cs typeface="+mn-ea"/>
              </a:rPr>
            </a:fld>
            <a:endParaRPr lang="en-US" altLang="x-none" sz="1200" b="0" strike="noStrike" noProof="1">
              <a:latin typeface="Times New Roman" panose="02020603050405020304" pitchFamily="2" charset="0"/>
            </a:endParaRPr>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2pPr>
    <a:lvl3pPr marL="914400" lvl="2"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3pPr>
    <a:lvl4pPr marL="1371600" lvl="3"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4pPr>
    <a:lvl5pPr marL="1828800" lvl="4"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5pPr>
    <a:lvl6pPr marL="2286000" lvl="5"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6pPr>
    <a:lvl7pPr marL="2743200" lvl="6"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7pPr>
    <a:lvl8pPr marL="3200400" lvl="7"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8pPr>
    <a:lvl9pPr marL="3657600" lvl="8"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1506" name="幻灯片图像占位符 19457"/>
          <p:cNvSpPr>
            <a:spLocks noGrp="1" noRot="1" noChangeAspect="1"/>
          </p:cNvSpPr>
          <p:nvPr>
            <p:ph type="sldImg"/>
          </p:nvPr>
        </p:nvSpPr>
        <p:spPr>
          <a:ln w="1"/>
        </p:spPr>
      </p:sp>
      <p:sp>
        <p:nvSpPr>
          <p:cNvPr id="21507" name="文本占位符 19458"/>
          <p:cNvSpPr>
            <a:spLocks noGrp="1"/>
          </p:cNvSpPr>
          <p:nvPr>
            <p:ph type="body"/>
          </p:nvPr>
        </p:nvSpPr>
        <p:spPr>
          <a:ln w="1"/>
        </p:spPr>
        <p:txBody>
          <a:bodyPr anchor="ctr"/>
          <a:lstStyle/>
          <a:p>
            <a:pPr lvl="0" indent="0"/>
            <a:r>
              <a:rPr lang="zh-CN" altLang="en-US" dirty="0"/>
              <a:t>以上是关于这门课的背景及要求。下面我们言归正传，开始第一章内容的学习。</a:t>
            </a:r>
            <a:endParaRPr lang="zh-CN" altLang="en-US" dirty="0"/>
          </a:p>
          <a:p>
            <a:pPr lvl="0" indent="0"/>
            <a:r>
              <a:rPr lang="zh-CN" altLang="en-US" dirty="0"/>
              <a:t>本章的内容主要从总体上对数据库系统进行概述，内容共包括以下几个方面。</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p:nvPr>
        </p:nvSpPr>
        <p:spPr/>
        <p:txBody>
          <a:bodyPr wrap="square" anchor="t"/>
          <a:lstStyle/>
          <a:p>
            <a:pPr lvl="0" indent="0"/>
            <a:r>
              <a:rPr lang="zh-CN" altLang="en-US" dirty="0"/>
              <a:t>数据库管理系统是数据库的核心，数据库的一切活动，包括应用、设计与开发都是围绕着</a:t>
            </a:r>
            <a:r>
              <a:rPr lang="en-US" altLang="x-none" dirty="0"/>
              <a:t>DBMS</a:t>
            </a:r>
            <a:r>
              <a:rPr lang="zh-CN" altLang="en-US" dirty="0"/>
              <a:t>系统展开的，因此要了解数据库，应先了解数据库管理系统出现的背景。</a:t>
            </a:r>
            <a:endParaRPr lang="zh-CN" altLang="en-US" dirty="0"/>
          </a:p>
          <a:p>
            <a:pPr lvl="0" indent="0"/>
            <a:r>
              <a:rPr lang="zh-CN" altLang="en-US" dirty="0"/>
              <a:t>为了有真切的感受，我带大家一起穿越到20世纪50年代，那时候计算机的应用推广才开始起步。</a:t>
            </a:r>
            <a:endParaRPr lang="zh-CN" altLang="en-US" dirty="0"/>
          </a:p>
        </p:txBody>
      </p:sp>
      <p:sp>
        <p:nvSpPr>
          <p:cNvPr id="23556"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p:nvPr>
        </p:nvSpPr>
        <p:spPr/>
        <p:txBody>
          <a:bodyPr wrap="square" anchor="t"/>
          <a:lstStyle/>
          <a:p>
            <a:pPr lvl="0" indent="0"/>
            <a:r>
              <a:rPr lang="zh-CN" altLang="en-US" dirty="0"/>
              <a:t>数据库管理系统是数据库的核心，数据库的一切活动，包括应用、设计与开发都是围绕着</a:t>
            </a:r>
            <a:r>
              <a:rPr lang="en-US" altLang="x-none" dirty="0"/>
              <a:t>DBMS</a:t>
            </a:r>
            <a:r>
              <a:rPr lang="zh-CN" altLang="en-US" dirty="0"/>
              <a:t>系统展开的，因此要了解数据库，应先了解数据库管理系统出现的背景。</a:t>
            </a:r>
            <a:endParaRPr lang="zh-CN" altLang="en-US" dirty="0"/>
          </a:p>
          <a:p>
            <a:pPr lvl="0" indent="0"/>
            <a:r>
              <a:rPr lang="zh-CN" altLang="en-US" dirty="0"/>
              <a:t>为了有真切的感受，我带大家一起穿越到20世纪50年代，那时候计算机的应用推广才开始起步。</a:t>
            </a:r>
            <a:endParaRPr lang="zh-CN" altLang="en-US" dirty="0"/>
          </a:p>
        </p:txBody>
      </p:sp>
      <p:sp>
        <p:nvSpPr>
          <p:cNvPr id="23556"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p:nvPr>
        </p:nvSpPr>
        <p:spPr/>
        <p:txBody>
          <a:bodyPr wrap="square" anchor="t"/>
          <a:lstStyle/>
          <a:p>
            <a:pPr lvl="0" indent="0"/>
            <a:r>
              <a:rPr lang="zh-CN" altLang="en-US" dirty="0"/>
              <a:t>数据库管理系统是数据库的核心，数据库的一切活动，包括应用、设计与开发都是围绕着</a:t>
            </a:r>
            <a:r>
              <a:rPr lang="en-US" altLang="x-none" dirty="0"/>
              <a:t>DBMS</a:t>
            </a:r>
            <a:r>
              <a:rPr lang="zh-CN" altLang="en-US" dirty="0"/>
              <a:t>系统展开的，因此要了解数据库，应先了解数据库管理系统出现的背景。</a:t>
            </a:r>
            <a:endParaRPr lang="zh-CN" altLang="en-US" dirty="0"/>
          </a:p>
          <a:p>
            <a:pPr lvl="0" indent="0"/>
            <a:r>
              <a:rPr lang="zh-CN" altLang="en-US" dirty="0"/>
              <a:t>为了有真切的感受，我带大家一起穿越到20世纪50年代，那时候计算机的应用推广才开始起步。</a:t>
            </a:r>
            <a:endParaRPr lang="zh-CN" altLang="en-US" dirty="0"/>
          </a:p>
        </p:txBody>
      </p:sp>
      <p:sp>
        <p:nvSpPr>
          <p:cNvPr id="23556"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p:sp>
      <p:sp>
        <p:nvSpPr>
          <p:cNvPr id="25603" name="备注占位符 2"/>
          <p:cNvSpPr>
            <a:spLocks noGrp="1"/>
          </p:cNvSpPr>
          <p:nvPr>
            <p:ph type="body"/>
          </p:nvPr>
        </p:nvSpPr>
        <p:spPr/>
        <p:txBody>
          <a:bodyPr wrap="square" anchor="t"/>
          <a:lstStyle/>
          <a:p>
            <a:pPr lvl="0" indent="0"/>
            <a:r>
              <a:rPr lang="zh-CN" altLang="en-US" dirty="0"/>
              <a:t>于是你决定挺身而出，开发一个学生管理系统，让系统来减轻你的工作量，但那个时候没有数据库产品，也就是你正处于</a:t>
            </a:r>
            <a:r>
              <a:rPr lang="zh-CN" altLang="en-US" dirty="0">
                <a:latin typeface="楷体" panose="02010609060101010101" pitchFamily="1" charset="-122"/>
                <a:ea typeface="楷体" panose="02010609060101010101" pitchFamily="1" charset="-122"/>
              </a:rPr>
              <a:t>数据库的“史前时期”，</a:t>
            </a:r>
            <a:r>
              <a:rPr lang="zh-CN" altLang="en-US" dirty="0"/>
              <a:t>但这难不倒你，有了</a:t>
            </a:r>
            <a:r>
              <a:rPr lang="en-US" altLang="zh-CN" dirty="0"/>
              <a:t>C</a:t>
            </a:r>
            <a:r>
              <a:rPr lang="zh-CN" altLang="zh-CN" dirty="0"/>
              <a:t>语言编程和数据结构的基础，我们知道</a:t>
            </a:r>
            <a:r>
              <a:rPr lang="zh-CN" altLang="en-US" dirty="0"/>
              <a:t>操作系统的文件系统可以实现数据的存储和操作。</a:t>
            </a:r>
            <a:endParaRPr lang="en-US" altLang="x-none" dirty="0"/>
          </a:p>
          <a:p>
            <a:pPr lvl="0" indent="0"/>
            <a:r>
              <a:rPr lang="zh-CN" altLang="en-US" dirty="0"/>
              <a:t>怎么把我们做的工作变成计算机能帮我们做呢？我们不能把整个对象塞到计算机里，更不能拍拍计算机告诉它，只能把你想让它做的翻译成它能理解和处理的格式，所以你的第一步就是对象主要特征的抽取。</a:t>
            </a:r>
            <a:endParaRPr lang="en-US" altLang="x-none" dirty="0"/>
          </a:p>
          <a:p>
            <a:pPr lvl="0" indent="0"/>
            <a:r>
              <a:rPr lang="zh-CN" altLang="en-US" dirty="0"/>
              <a:t>以学生为例</a:t>
            </a:r>
            <a:r>
              <a:rPr lang="en-US" altLang="x-none" dirty="0"/>
              <a:t>,</a:t>
            </a:r>
            <a:r>
              <a:rPr lang="zh-CN" altLang="en-US" dirty="0"/>
              <a:t> 学生本身属性非常多，但作为教务系统</a:t>
            </a:r>
            <a:r>
              <a:rPr lang="en-US" altLang="x-none" dirty="0"/>
              <a:t>,</a:t>
            </a:r>
            <a:r>
              <a:rPr lang="zh-CN" altLang="en-US" dirty="0"/>
              <a:t>我们一般并不关心学生双眼皮还是单眼皮</a:t>
            </a:r>
            <a:r>
              <a:rPr lang="en-US" altLang="x-none" dirty="0"/>
              <a:t>\</a:t>
            </a:r>
            <a:r>
              <a:rPr lang="zh-CN" altLang="en-US" dirty="0"/>
              <a:t>皮肤是白还是黑</a:t>
            </a:r>
            <a:r>
              <a:rPr lang="en-US" altLang="x-none" dirty="0"/>
              <a:t>\</a:t>
            </a:r>
            <a:r>
              <a:rPr lang="zh-CN" altLang="en-US" dirty="0"/>
              <a:t>个子是高还是矮</a:t>
            </a:r>
            <a:r>
              <a:rPr lang="en-US" altLang="x-none" dirty="0"/>
              <a:t>,</a:t>
            </a:r>
            <a:r>
              <a:rPr lang="zh-CN" altLang="en-US" dirty="0"/>
              <a:t>我们只关心：姓名</a:t>
            </a:r>
            <a:r>
              <a:rPr lang="en-US" altLang="x-none" dirty="0"/>
              <a:t>\</a:t>
            </a:r>
            <a:r>
              <a:rPr lang="zh-CN" altLang="en-US" dirty="0"/>
              <a:t>身份证</a:t>
            </a:r>
            <a:r>
              <a:rPr lang="en-US" altLang="x-none" dirty="0"/>
              <a:t>\</a:t>
            </a:r>
            <a:r>
              <a:rPr lang="zh-CN" altLang="en-US" dirty="0"/>
              <a:t>性别</a:t>
            </a:r>
            <a:r>
              <a:rPr lang="en-US" altLang="x-none" dirty="0"/>
              <a:t>\</a:t>
            </a:r>
            <a:r>
              <a:rPr lang="zh-CN" altLang="en-US" dirty="0"/>
              <a:t>所属院系</a:t>
            </a:r>
            <a:r>
              <a:rPr lang="en-US" altLang="x-none" dirty="0"/>
              <a:t>\</a:t>
            </a:r>
            <a:r>
              <a:rPr lang="zh-CN" altLang="en-US" dirty="0"/>
              <a:t>年级</a:t>
            </a:r>
            <a:endParaRPr lang="en-US" altLang="x-none" dirty="0"/>
          </a:p>
        </p:txBody>
      </p:sp>
      <p:sp>
        <p:nvSpPr>
          <p:cNvPr id="25604"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p:cNvSpPr>
          <p:nvPr>
            <p:ph type="sldImg"/>
          </p:nvPr>
        </p:nvSpPr>
        <p:spPr/>
      </p:sp>
      <p:sp>
        <p:nvSpPr>
          <p:cNvPr id="27650" name="文本占位符 2"/>
          <p:cNvSpPr>
            <a:spLocks noGrp="1"/>
          </p:cNvSpPr>
          <p:nvPr>
            <p:ph type="body"/>
          </p:nvPr>
        </p:nvSpPr>
        <p:spPr/>
        <p:txBody>
          <a:bodyPr anchor="ctr"/>
          <a:lstStyle/>
          <a:p>
            <a:pPr lvl="0" indent="0"/>
            <a:endParaRPr lang="en-US" altLang="x-none" dirty="0"/>
          </a:p>
          <a:p>
            <a:pPr lvl="0" indent="0"/>
            <a:r>
              <a:rPr lang="zh-CN" altLang="en-US" dirty="0"/>
              <a:t>抽取了这些特征后，我们还是不能把它们放到计算机里，必须把这些特征组织起来才能代表对象，怎么组织起来呢</a:t>
            </a:r>
            <a:r>
              <a:rPr lang="en-US" altLang="x-none" dirty="0"/>
              <a:t>?</a:t>
            </a:r>
            <a:endParaRPr lang="en-US" altLang="x-none" dirty="0"/>
          </a:p>
          <a:p>
            <a:pPr lvl="0" indent="0"/>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p:sp>
      <p:sp>
        <p:nvSpPr>
          <p:cNvPr id="29699" name="备注占位符 2"/>
          <p:cNvSpPr>
            <a:spLocks noGrp="1"/>
          </p:cNvSpPr>
          <p:nvPr>
            <p:ph type="body"/>
          </p:nvPr>
        </p:nvSpPr>
        <p:spPr/>
        <p:txBody>
          <a:bodyPr wrap="square" anchor="t"/>
          <a:lstStyle/>
          <a:p>
            <a:pPr lvl="0" indent="0"/>
            <a:r>
              <a:rPr lang="zh-CN" altLang="en-US" dirty="0"/>
              <a:t>要对要管理的对象抽取特征并组织起来，于是你想到了</a:t>
            </a:r>
            <a:r>
              <a:rPr lang="en-US" altLang="x-none" dirty="0"/>
              <a:t>C/C++</a:t>
            </a:r>
            <a:r>
              <a:rPr lang="zh-CN" altLang="en-US" dirty="0"/>
              <a:t>中的数据结构， 用结构类型为工具，组织和管理数据。</a:t>
            </a:r>
            <a:endParaRPr lang="zh-CN" altLang="en-US" dirty="0"/>
          </a:p>
          <a:p>
            <a:pPr lvl="0" indent="0"/>
            <a:r>
              <a:rPr lang="zh-CN" altLang="en-US" dirty="0"/>
              <a:t>数据结构是计算机存储、组织数据的方式。数据结构是指相互之间存在一种或多种特定关系的数据元素的集合。</a:t>
            </a:r>
            <a:endParaRPr lang="zh-CN" altLang="en-US" dirty="0"/>
          </a:p>
          <a:p>
            <a:pPr lvl="0" indent="0"/>
            <a:r>
              <a:rPr lang="zh-CN" altLang="en-US" dirty="0"/>
              <a:t>我们常用的数据结构就包括数组、栈、队列、链表、树、堆等。</a:t>
            </a:r>
            <a:endParaRPr lang="zh-CN" altLang="en-US" dirty="0"/>
          </a:p>
          <a:p>
            <a:pPr lvl="0" indent="0"/>
            <a:r>
              <a:rPr lang="zh-CN" altLang="en-US" dirty="0"/>
              <a:t>有了数据结构就相当于有了个装数据的容器，但怎么把数据装进去，装进去之后又怎么用</a:t>
            </a:r>
            <a:r>
              <a:rPr lang="en-US" altLang="x-none" dirty="0"/>
              <a:t>?</a:t>
            </a:r>
            <a:endParaRPr lang="zh-CN" altLang="en-US" dirty="0"/>
          </a:p>
        </p:txBody>
      </p:sp>
      <p:sp>
        <p:nvSpPr>
          <p:cNvPr id="2970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p:sp>
      <p:sp>
        <p:nvSpPr>
          <p:cNvPr id="31747" name="备注占位符 2"/>
          <p:cNvSpPr>
            <a:spLocks noGrp="1"/>
          </p:cNvSpPr>
          <p:nvPr>
            <p:ph type="body"/>
          </p:nvPr>
        </p:nvSpPr>
        <p:spPr/>
        <p:txBody>
          <a:bodyPr wrap="square" anchor="t"/>
          <a:lstStyle/>
          <a:p>
            <a:pPr lvl="0" indent="0"/>
            <a:r>
              <a:rPr lang="zh-CN" altLang="en-US" dirty="0"/>
              <a:t>这就涉及到为了对数据结构中的数据进行操作，还要构造链表，并对链表进行操作</a:t>
            </a:r>
            <a:endParaRPr lang="zh-CN" altLang="en-US" dirty="0"/>
          </a:p>
          <a:p>
            <a:pPr lvl="0" indent="0"/>
            <a:r>
              <a:rPr lang="zh-CN" altLang="en-US" dirty="0"/>
              <a:t>链表是一种物理存储单元上非连续、非顺序的存储结构，数据元素的逻辑顺序是通过链表中的指针链接次序实现的。</a:t>
            </a:r>
            <a:endParaRPr lang="zh-CN" altLang="en-US" dirty="0"/>
          </a:p>
        </p:txBody>
      </p:sp>
      <p:sp>
        <p:nvSpPr>
          <p:cNvPr id="31748"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p:sp>
      <p:sp>
        <p:nvSpPr>
          <p:cNvPr id="33795" name="备注占位符 2"/>
          <p:cNvSpPr>
            <a:spLocks noGrp="1"/>
          </p:cNvSpPr>
          <p:nvPr>
            <p:ph type="body"/>
          </p:nvPr>
        </p:nvSpPr>
        <p:spPr/>
        <p:txBody>
          <a:bodyPr wrap="square" anchor="t"/>
          <a:lstStyle/>
          <a:p>
            <a:pPr lvl="0" indent="0"/>
            <a:r>
              <a:rPr lang="zh-CN" altLang="en-US" dirty="0"/>
              <a:t>接下来</a:t>
            </a:r>
            <a:r>
              <a:rPr lang="en-US" altLang="x-none" dirty="0"/>
              <a:t>,</a:t>
            </a:r>
            <a:r>
              <a:rPr lang="zh-CN" altLang="en-US" dirty="0"/>
              <a:t>为了方便操作</a:t>
            </a:r>
            <a:r>
              <a:rPr lang="en-US" altLang="x-none" dirty="0"/>
              <a:t>,</a:t>
            </a:r>
            <a:r>
              <a:rPr lang="zh-CN" altLang="en-US" dirty="0"/>
              <a:t>还需要设计用户对数据的操作界面</a:t>
            </a:r>
            <a:endParaRPr lang="en-US" altLang="x-none" dirty="0"/>
          </a:p>
          <a:p>
            <a:pPr lvl="0" indent="0"/>
            <a:r>
              <a:rPr lang="zh-CN" altLang="en-US" dirty="0"/>
              <a:t>这样</a:t>
            </a:r>
            <a:r>
              <a:rPr lang="en-US" altLang="x-none" dirty="0"/>
              <a:t>,</a:t>
            </a:r>
            <a:r>
              <a:rPr lang="zh-CN" altLang="en-US" dirty="0"/>
              <a:t>这个系统是不是大功告成了呢</a:t>
            </a:r>
            <a:r>
              <a:rPr lang="en-US" altLang="x-none" dirty="0"/>
              <a:t>?</a:t>
            </a:r>
            <a:r>
              <a:rPr lang="zh-CN" altLang="en-US" dirty="0"/>
              <a:t>如果没有还需要做什么</a:t>
            </a:r>
            <a:r>
              <a:rPr lang="en-US" altLang="x-none" dirty="0"/>
              <a:t>?</a:t>
            </a:r>
            <a:endParaRPr lang="en-US" altLang="x-none" dirty="0"/>
          </a:p>
          <a:p>
            <a:pPr lvl="0" indent="0"/>
            <a:r>
              <a:rPr lang="zh-CN" altLang="en-US" dirty="0"/>
              <a:t>当然没有，因为我们的数据还没有永久保存，不然下次开机就什么都没有了</a:t>
            </a:r>
            <a:r>
              <a:rPr lang="en-US" altLang="x-none" dirty="0"/>
              <a:t>!</a:t>
            </a:r>
            <a:r>
              <a:rPr lang="zh-CN" altLang="en-US" dirty="0"/>
              <a:t> </a:t>
            </a:r>
            <a:endParaRPr lang="en-US" altLang="x-none" dirty="0"/>
          </a:p>
          <a:p>
            <a:pPr lvl="0" indent="0"/>
            <a:r>
              <a:rPr lang="zh-CN" altLang="en-US" dirty="0"/>
              <a:t>怎么才能实现永久的保存呢</a:t>
            </a:r>
            <a:r>
              <a:rPr lang="en-US" altLang="x-none" dirty="0"/>
              <a:t>?</a:t>
            </a:r>
            <a:endParaRPr lang="en-US" altLang="x-none" dirty="0"/>
          </a:p>
          <a:p>
            <a:pPr lvl="0" indent="0"/>
            <a:endParaRPr lang="zh-CN" altLang="en-US" dirty="0"/>
          </a:p>
        </p:txBody>
      </p:sp>
      <p:sp>
        <p:nvSpPr>
          <p:cNvPr id="33796"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p:nvPr>
        </p:nvSpPr>
        <p:spPr/>
        <p:txBody>
          <a:bodyPr wrap="square" anchor="t"/>
          <a:lstStyle/>
          <a:p>
            <a:pPr lvl="0" indent="0"/>
            <a:r>
              <a:rPr lang="zh-CN" altLang="en-US" dirty="0"/>
              <a:t>为了实现数据的永久保存，我们需要创建数据存储文件，并用输入</a:t>
            </a:r>
            <a:r>
              <a:rPr lang="en-US" altLang="x-none" dirty="0"/>
              <a:t>/</a:t>
            </a:r>
            <a:r>
              <a:rPr lang="zh-CN" altLang="en-US" dirty="0"/>
              <a:t>输出函数完成对数据的读写。</a:t>
            </a:r>
            <a:endParaRPr lang="en-US" altLang="x-none" dirty="0"/>
          </a:p>
          <a:p>
            <a:pPr lvl="0" indent="0"/>
            <a:r>
              <a:rPr lang="zh-CN" altLang="en-US" dirty="0"/>
              <a:t>这样这个具有最原始功能的系统就大功告成了。</a:t>
            </a:r>
            <a:endParaRPr lang="en-US" altLang="x-none" dirty="0"/>
          </a:p>
          <a:p>
            <a:pPr lvl="0" indent="0"/>
            <a:r>
              <a:rPr lang="zh-CN" altLang="en-US" dirty="0"/>
              <a:t>但你是不是就可以高枕无忧了呢</a:t>
            </a:r>
            <a:r>
              <a:rPr lang="en-US" altLang="x-none" dirty="0"/>
              <a:t>?</a:t>
            </a:r>
            <a:endParaRPr lang="en-US" altLang="x-none" dirty="0"/>
          </a:p>
          <a:p>
            <a:pPr lvl="0" indent="0"/>
            <a:r>
              <a:rPr lang="zh-CN" altLang="en-US" dirty="0"/>
              <a:t>回答肯定不是，如果是的话</a:t>
            </a:r>
            <a:r>
              <a:rPr lang="en-US" altLang="x-none" dirty="0"/>
              <a:t>,</a:t>
            </a:r>
            <a:r>
              <a:rPr lang="zh-CN" altLang="en-US" dirty="0"/>
              <a:t>数据库管理系统就没必要出现了</a:t>
            </a:r>
            <a:r>
              <a:rPr lang="en-US" altLang="x-none" dirty="0"/>
              <a:t>!</a:t>
            </a:r>
            <a:endParaRPr lang="zh-CN" altLang="en-US" dirty="0"/>
          </a:p>
        </p:txBody>
      </p:sp>
      <p:sp>
        <p:nvSpPr>
          <p:cNvPr id="35844"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eaLnBrk="0" fontAlgn="base" latinLnBrk="0" hangingPunct="0">
              <a:lnSpc>
                <a:spcPct val="100000"/>
              </a:lnSpc>
              <a:spcBef>
                <a:spcPct val="30000"/>
              </a:spcBef>
              <a:spcAft>
                <a:spcPct val="0"/>
              </a:spcAft>
              <a:buClrTx/>
              <a:buSzTx/>
              <a:buFontTx/>
              <a:buNone/>
              <a:defRPr/>
            </a:pPr>
            <a:r>
              <a:rPr lang="en-US" altLang="zh-CN" dirty="0">
                <a:solidFill>
                  <a:schemeClr val="tx1">
                    <a:lumMod val="50000"/>
                    <a:lumOff val="50000"/>
                  </a:schemeClr>
                </a:solidFill>
              </a:rPr>
              <a:t>1</a:t>
            </a:r>
            <a:r>
              <a:rPr lang="zh-CN" altLang="en-US" dirty="0">
                <a:solidFill>
                  <a:schemeClr val="tx1">
                    <a:lumMod val="50000"/>
                    <a:lumOff val="50000"/>
                  </a:schemeClr>
                </a:solidFill>
              </a:rPr>
              <a:t>、</a:t>
            </a:r>
            <a:endParaRPr lang="en-US" altLang="zh-CN" dirty="0">
              <a:solidFill>
                <a:schemeClr val="tx1">
                  <a:lumMod val="50000"/>
                  <a:lumOff val="50000"/>
                </a:schemeClr>
              </a:solidFill>
            </a:endParaRPr>
          </a:p>
          <a:p>
            <a:pPr marL="0" marR="0" indent="0" algn="l" defTabSz="914400" eaLnBrk="0" fontAlgn="base" latinLnBrk="0" hangingPunct="0">
              <a:lnSpc>
                <a:spcPct val="100000"/>
              </a:lnSpc>
              <a:spcBef>
                <a:spcPct val="30000"/>
              </a:spcBef>
              <a:spcAft>
                <a:spcPct val="0"/>
              </a:spcAft>
              <a:buClrTx/>
              <a:buSzTx/>
              <a:buFontTx/>
              <a:buNone/>
              <a:defRPr/>
            </a:pPr>
            <a:r>
              <a:rPr lang="en-US" altLang="zh-CN" dirty="0">
                <a:solidFill>
                  <a:schemeClr val="tx1">
                    <a:lumMod val="50000"/>
                    <a:lumOff val="50000"/>
                  </a:schemeClr>
                </a:solidFill>
              </a:rPr>
              <a:t>2</a:t>
            </a:r>
            <a:r>
              <a:rPr lang="zh-CN" altLang="en-US" dirty="0">
                <a:solidFill>
                  <a:schemeClr val="tx1">
                    <a:lumMod val="50000"/>
                    <a:lumOff val="50000"/>
                  </a:schemeClr>
                </a:solidFill>
              </a:rPr>
              <a:t>、如</a:t>
            </a:r>
            <a:r>
              <a:rPr lang="en-US" altLang="zh-CN" dirty="0">
                <a:solidFill>
                  <a:schemeClr val="tx1">
                    <a:lumMod val="50000"/>
                    <a:lumOff val="50000"/>
                  </a:schemeClr>
                </a:solidFill>
              </a:rPr>
              <a:t>C</a:t>
            </a:r>
            <a:r>
              <a:rPr lang="zh-CN" altLang="en-US" dirty="0">
                <a:solidFill>
                  <a:schemeClr val="tx1">
                    <a:lumMod val="50000"/>
                    <a:lumOff val="50000"/>
                  </a:schemeClr>
                </a:solidFill>
              </a:rPr>
              <a:t>语言的文件</a:t>
            </a:r>
            <a:r>
              <a:rPr lang="en-US" altLang="zh-CN" dirty="0">
                <a:solidFill>
                  <a:schemeClr val="tx1">
                    <a:lumMod val="50000"/>
                    <a:lumOff val="50000"/>
                  </a:schemeClr>
                </a:solidFill>
              </a:rPr>
              <a:t>I/O</a:t>
            </a:r>
            <a:r>
              <a:rPr lang="zh-CN" altLang="en-US" dirty="0">
                <a:solidFill>
                  <a:schemeClr val="tx1">
                    <a:lumMod val="50000"/>
                    <a:lumOff val="50000"/>
                  </a:schemeClr>
                </a:solidFill>
              </a:rPr>
              <a:t>函数，</a:t>
            </a:r>
            <a:r>
              <a:rPr lang="en-US" altLang="zh-CN" sz="1200" b="1" i="0" u="none" kern="1200" baseline="0" dirty="0" err="1">
                <a:solidFill>
                  <a:schemeClr val="tx1">
                    <a:lumMod val="50000"/>
                    <a:lumOff val="50000"/>
                  </a:schemeClr>
                </a:solidFill>
                <a:effectLst/>
                <a:latin typeface="Times New Roman" panose="02020603050405020304" pitchFamily="2" charset="0"/>
                <a:ea typeface="宋体" panose="02010600030101010101" pitchFamily="2" charset="-122"/>
              </a:rPr>
              <a:t>fopen</a:t>
            </a:r>
            <a:r>
              <a:rPr lang="zh-CN" altLang="en-US" sz="1200" b="1" i="0" u="none" kern="1200" baseline="0" dirty="0">
                <a:solidFill>
                  <a:schemeClr val="tx1">
                    <a:lumMod val="50000"/>
                    <a:lumOff val="50000"/>
                  </a:schemeClr>
                </a:solidFill>
                <a:effectLst/>
                <a:latin typeface="Times New Roman" panose="02020603050405020304" pitchFamily="2" charset="0"/>
                <a:ea typeface="宋体" panose="02010600030101010101" pitchFamily="2" charset="-122"/>
              </a:rPr>
              <a:t>、</a:t>
            </a:r>
            <a:r>
              <a:rPr lang="en-US" altLang="zh-CN" sz="1200" b="1" i="0" u="none" kern="1200" baseline="0" dirty="0" err="1">
                <a:solidFill>
                  <a:schemeClr val="tx1">
                    <a:lumMod val="50000"/>
                    <a:lumOff val="50000"/>
                  </a:schemeClr>
                </a:solidFill>
                <a:effectLst/>
                <a:latin typeface="Times New Roman" panose="02020603050405020304" pitchFamily="2" charset="0"/>
                <a:ea typeface="宋体" panose="02010600030101010101" pitchFamily="2" charset="-122"/>
              </a:rPr>
              <a:t>fclose</a:t>
            </a:r>
            <a:r>
              <a:rPr lang="zh-CN" altLang="en-US" sz="1200" b="1" i="0" u="none" kern="1200" baseline="0" dirty="0">
                <a:solidFill>
                  <a:schemeClr val="tx1">
                    <a:lumMod val="50000"/>
                    <a:lumOff val="50000"/>
                  </a:schemeClr>
                </a:solidFill>
                <a:effectLst/>
                <a:latin typeface="Times New Roman" panose="02020603050405020304" pitchFamily="2" charset="0"/>
                <a:ea typeface="宋体" panose="02010600030101010101" pitchFamily="2" charset="-122"/>
              </a:rPr>
              <a:t>、</a:t>
            </a:r>
            <a:r>
              <a:rPr lang="en-US" altLang="zh-CN" sz="1200" b="1" i="0" u="none" kern="1200" baseline="0" dirty="0" err="1">
                <a:solidFill>
                  <a:schemeClr val="tx1">
                    <a:lumMod val="50000"/>
                    <a:lumOff val="50000"/>
                  </a:schemeClr>
                </a:solidFill>
                <a:effectLst/>
                <a:latin typeface="Times New Roman" panose="02020603050405020304" pitchFamily="2" charset="0"/>
                <a:ea typeface="宋体" panose="02010600030101010101" pitchFamily="2" charset="-122"/>
              </a:rPr>
              <a:t>fprintf</a:t>
            </a:r>
            <a:r>
              <a:rPr lang="zh-CN" altLang="en-US" sz="1200" b="1" i="0" u="none" kern="1200" baseline="0" dirty="0">
                <a:solidFill>
                  <a:schemeClr val="tx1">
                    <a:lumMod val="50000"/>
                    <a:lumOff val="50000"/>
                  </a:schemeClr>
                </a:solidFill>
                <a:effectLst/>
                <a:latin typeface="Times New Roman" panose="02020603050405020304" pitchFamily="2" charset="0"/>
                <a:ea typeface="宋体" panose="02010600030101010101" pitchFamily="2" charset="-122"/>
              </a:rPr>
              <a:t>、</a:t>
            </a:r>
            <a:r>
              <a:rPr lang="en-US" altLang="zh-CN" sz="1200" b="1" i="0" u="none" kern="1200" baseline="0" dirty="0" err="1">
                <a:solidFill>
                  <a:schemeClr val="tx1">
                    <a:lumMod val="50000"/>
                    <a:lumOff val="50000"/>
                  </a:schemeClr>
                </a:solidFill>
                <a:effectLst/>
                <a:latin typeface="Times New Roman" panose="02020603050405020304" pitchFamily="2" charset="0"/>
                <a:ea typeface="宋体" panose="02010600030101010101" pitchFamily="2" charset="-122"/>
              </a:rPr>
              <a:t>fread</a:t>
            </a:r>
            <a:r>
              <a:rPr lang="zh-CN" altLang="en-US" sz="1200" b="1" i="0" u="none" kern="1200" baseline="0" dirty="0">
                <a:solidFill>
                  <a:schemeClr val="tx1">
                    <a:lumMod val="50000"/>
                    <a:lumOff val="50000"/>
                  </a:schemeClr>
                </a:solidFill>
                <a:effectLst/>
                <a:latin typeface="Times New Roman" panose="02020603050405020304" pitchFamily="2" charset="0"/>
                <a:ea typeface="宋体" panose="02010600030101010101" pitchFamily="2" charset="-122"/>
              </a:rPr>
              <a:t>、</a:t>
            </a:r>
            <a:r>
              <a:rPr lang="en-US" altLang="zh-CN" sz="1200" b="1" i="0" u="none" kern="1200" baseline="0" dirty="0" err="1">
                <a:solidFill>
                  <a:schemeClr val="tx1">
                    <a:lumMod val="50000"/>
                    <a:lumOff val="50000"/>
                  </a:schemeClr>
                </a:solidFill>
                <a:effectLst/>
                <a:latin typeface="Times New Roman" panose="02020603050405020304" pitchFamily="2" charset="0"/>
                <a:ea typeface="宋体" panose="02010600030101010101" pitchFamily="2" charset="-122"/>
              </a:rPr>
              <a:t>fwrite</a:t>
            </a:r>
            <a:r>
              <a:rPr lang="zh-CN" altLang="en-US" sz="1200" b="1" i="0" u="none" kern="1200" baseline="0" dirty="0">
                <a:solidFill>
                  <a:schemeClr val="tx1">
                    <a:lumMod val="50000"/>
                    <a:lumOff val="50000"/>
                  </a:schemeClr>
                </a:solidFill>
                <a:effectLst/>
                <a:latin typeface="Times New Roman" panose="02020603050405020304" pitchFamily="2" charset="0"/>
                <a:ea typeface="宋体" panose="02010600030101010101" pitchFamily="2" charset="-122"/>
              </a:rPr>
              <a:t>等。</a:t>
            </a:r>
            <a:endParaRPr lang="en-US" altLang="zh-CN" sz="1200" b="1" i="0" u="none" kern="1200" baseline="0" dirty="0">
              <a:solidFill>
                <a:schemeClr val="tx1">
                  <a:lumMod val="50000"/>
                  <a:lumOff val="50000"/>
                </a:schemeClr>
              </a:solidFill>
              <a:effectLst/>
              <a:latin typeface="Times New Roman" panose="02020603050405020304" pitchFamily="2" charset="0"/>
              <a:ea typeface="宋体" panose="02010600030101010101" pitchFamily="2" charset="-122"/>
            </a:endParaRPr>
          </a:p>
          <a:p>
            <a:pPr marL="0" marR="0" lvl="0" indent="0" algn="l" defTabSz="914400" eaLnBrk="0" fontAlgn="base" latinLnBrk="0" hangingPunct="0">
              <a:lnSpc>
                <a:spcPct val="100000"/>
              </a:lnSpc>
              <a:spcBef>
                <a:spcPct val="30000"/>
              </a:spcBef>
              <a:spcAft>
                <a:spcPct val="0"/>
              </a:spcAft>
              <a:buClrTx/>
              <a:buSzTx/>
              <a:buFontTx/>
              <a:buNone/>
              <a:defRPr/>
            </a:pPr>
            <a:r>
              <a:rPr lang="en-US" altLang="zh-CN" sz="1200" b="0" dirty="0">
                <a:latin typeface="楷体" panose="02010609060101010101" pitchFamily="1" charset="-122"/>
                <a:ea typeface="楷体" panose="02010609060101010101" pitchFamily="1" charset="-122"/>
              </a:rPr>
              <a:t>3</a:t>
            </a:r>
            <a:r>
              <a:rPr lang="zh-CN" altLang="en-US" sz="1200" b="0" dirty="0">
                <a:latin typeface="楷体" panose="02010609060101010101" pitchFamily="1" charset="-122"/>
                <a:ea typeface="楷体" panose="02010609060101010101" pitchFamily="1" charset="-122"/>
              </a:rPr>
              <a:t>、（</a:t>
            </a:r>
            <a:r>
              <a:rPr lang="en-US" altLang="zh-CN" sz="1200" b="0" dirty="0">
                <a:latin typeface="楷体" panose="02010609060101010101" pitchFamily="1" charset="-122"/>
                <a:ea typeface="楷体" panose="02010609060101010101" pitchFamily="1" charset="-122"/>
              </a:rPr>
              <a:t>1</a:t>
            </a:r>
            <a:r>
              <a:rPr lang="zh-CN" altLang="en-US" sz="1200" b="0" dirty="0">
                <a:latin typeface="楷体" panose="02010609060101010101" pitchFamily="1" charset="-122"/>
                <a:ea typeface="楷体" panose="02010609060101010101" pitchFamily="1" charset="-122"/>
              </a:rPr>
              <a:t>）程序运行时，将文件中的数据读出，放置到程序对应链表中；（</a:t>
            </a:r>
            <a:r>
              <a:rPr lang="en-US" altLang="zh-CN" sz="1200" b="0" dirty="0">
                <a:latin typeface="楷体" panose="02010609060101010101" pitchFamily="1" charset="-122"/>
                <a:ea typeface="楷体" panose="02010609060101010101" pitchFamily="1" charset="-122"/>
              </a:rPr>
              <a:t>2</a:t>
            </a:r>
            <a:r>
              <a:rPr lang="zh-CN" altLang="en-US" sz="1200" b="0" dirty="0">
                <a:latin typeface="楷体" panose="02010609060101010101" pitchFamily="1" charset="-122"/>
                <a:ea typeface="楷体" panose="02010609060101010101" pitchFamily="1" charset="-122"/>
              </a:rPr>
              <a:t>）程序结束运行前，将链表中的数据存入到对应数据文件中。</a:t>
            </a:r>
            <a:endParaRPr lang="zh-CN" altLang="en-US" sz="1200" b="0" dirty="0">
              <a:latin typeface="楷体" panose="02010609060101010101" pitchFamily="1" charset="-122"/>
              <a:ea typeface="楷体" panose="02010609060101010101" pitchFamily="1" charset="-122"/>
            </a:endParaRPr>
          </a:p>
          <a:p>
            <a:pPr marL="0" marR="0" indent="0" algn="l" defTabSz="914400" eaLnBrk="0" fontAlgn="base" latinLnBrk="0" hangingPunct="0">
              <a:lnSpc>
                <a:spcPct val="100000"/>
              </a:lnSpc>
              <a:spcBef>
                <a:spcPct val="30000"/>
              </a:spcBef>
              <a:spcAft>
                <a:spcPct val="0"/>
              </a:spcAft>
              <a:buClrTx/>
              <a:buSzTx/>
              <a:buFontTx/>
              <a:buNone/>
              <a:defRPr/>
            </a:pPr>
            <a:endParaRPr lang="en-US" altLang="zh-CN" sz="1200" b="0" i="0" u="none" kern="1200" baseline="0" dirty="0">
              <a:solidFill>
                <a:schemeClr val="tx1">
                  <a:lumMod val="50000"/>
                  <a:lumOff val="50000"/>
                </a:schemeClr>
              </a:solidFill>
              <a:effectLst/>
              <a:latin typeface="Times New Roman" panose="02020603050405020304" pitchFamily="2" charset="0"/>
              <a:ea typeface="宋体" panose="02010600030101010101" pitchFamily="2" charset="-122"/>
            </a:endParaRPr>
          </a:p>
          <a:p>
            <a:pPr marL="0" marR="0" indent="0" algn="l" defTabSz="914400" eaLnBrk="0" fontAlgn="base" latinLnBrk="0" hangingPunct="0">
              <a:lnSpc>
                <a:spcPct val="100000"/>
              </a:lnSpc>
              <a:spcBef>
                <a:spcPct val="30000"/>
              </a:spcBef>
              <a:spcAft>
                <a:spcPct val="0"/>
              </a:spcAft>
              <a:buClrTx/>
              <a:buSzTx/>
              <a:buFontTx/>
              <a:buNone/>
              <a:defRPr/>
            </a:pPr>
            <a:endParaRPr lang="en-US" altLang="zh-CN" sz="1200" b="0" i="0" u="none" kern="1200" baseline="0" dirty="0">
              <a:solidFill>
                <a:schemeClr val="tx1"/>
              </a:solidFill>
              <a:effectLst/>
              <a:latin typeface="Times New Roman" panose="02020603050405020304" pitchFamily="2" charset="0"/>
              <a:ea typeface="宋体" panose="02010600030101010101" pitchFamily="2" charset="-122"/>
            </a:endParaRPr>
          </a:p>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p:sp>
      <p:sp>
        <p:nvSpPr>
          <p:cNvPr id="37891" name="备注占位符 2"/>
          <p:cNvSpPr>
            <a:spLocks noGrp="1"/>
          </p:cNvSpPr>
          <p:nvPr>
            <p:ph type="body"/>
          </p:nvPr>
        </p:nvSpPr>
        <p:spPr/>
        <p:txBody>
          <a:bodyPr wrap="square" anchor="t"/>
          <a:lstStyle/>
          <a:p>
            <a:pPr lvl="0" indent="0"/>
            <a:r>
              <a:rPr lang="zh-CN" altLang="en-US" dirty="0"/>
              <a:t>那么我们一起来看看我们这样设计出来的系统都有哪些缺陷呢</a:t>
            </a:r>
            <a:r>
              <a:rPr lang="en-US" altLang="x-none" dirty="0"/>
              <a:t>?</a:t>
            </a:r>
            <a:endParaRPr lang="en-US" altLang="x-none" dirty="0"/>
          </a:p>
          <a:p>
            <a:pPr lvl="0" indent="0"/>
            <a:r>
              <a:rPr lang="zh-CN" altLang="en-US" dirty="0"/>
              <a:t>第一个问题就是处理大数据量的问题，随着学生的扩招，学生数量越来越多，随着管理的不断完善，要管理的学生信息越来越多，从学生第一次注册</a:t>
            </a:r>
            <a:r>
              <a:rPr lang="en-US" altLang="x-none" dirty="0"/>
              <a:t>\</a:t>
            </a:r>
            <a:r>
              <a:rPr lang="zh-CN" altLang="en-US" dirty="0"/>
              <a:t>第一次选课</a:t>
            </a:r>
            <a:r>
              <a:rPr lang="en-US" altLang="x-none" dirty="0"/>
              <a:t>\</a:t>
            </a:r>
            <a:r>
              <a:rPr lang="zh-CN" altLang="en-US" dirty="0"/>
              <a:t>第一次上课</a:t>
            </a:r>
            <a:r>
              <a:rPr lang="en-US" altLang="x-none" dirty="0"/>
              <a:t>\</a:t>
            </a:r>
            <a:r>
              <a:rPr lang="zh-CN" altLang="en-US" dirty="0"/>
              <a:t>第一试验等等，数据量越来越大。</a:t>
            </a:r>
            <a:endParaRPr lang="en-US" altLang="x-none" dirty="0"/>
          </a:p>
          <a:p>
            <a:pPr lvl="0" indent="0"/>
            <a:r>
              <a:rPr lang="zh-CN" altLang="en-US" dirty="0"/>
              <a:t>数据量大带来的第一个问题就是内存的问题，链表结构要把数据一次性读入内存，对于大数据量</a:t>
            </a:r>
            <a:r>
              <a:rPr lang="en-US" altLang="x-none" dirty="0"/>
              <a:t>(GB)</a:t>
            </a:r>
            <a:r>
              <a:rPr lang="zh-CN" altLang="en-US" dirty="0"/>
              <a:t>以上的数据量内存是无法满足的。</a:t>
            </a:r>
            <a:endParaRPr lang="en-US" altLang="x-none" dirty="0"/>
          </a:p>
          <a:p>
            <a:pPr lvl="0" indent="0"/>
            <a:r>
              <a:rPr lang="zh-CN" altLang="en-US" dirty="0"/>
              <a:t>这里提的大数据量和现在流行的名词</a:t>
            </a:r>
            <a:r>
              <a:rPr lang="en-US" altLang="x-none" dirty="0"/>
              <a:t>"</a:t>
            </a:r>
            <a:r>
              <a:rPr lang="zh-CN" altLang="en-US" dirty="0"/>
              <a:t>大数据</a:t>
            </a:r>
            <a:r>
              <a:rPr lang="en-US" altLang="x-none" dirty="0"/>
              <a:t>"</a:t>
            </a:r>
            <a:r>
              <a:rPr lang="zh-CN" altLang="en-US" dirty="0"/>
              <a:t>是有区别的，大数据有四个特征</a:t>
            </a:r>
            <a:r>
              <a:rPr lang="en-US" altLang="x-none" dirty="0"/>
              <a:t>(Volume</a:t>
            </a:r>
            <a:r>
              <a:rPr lang="zh-CN" altLang="en-US" dirty="0"/>
              <a:t>、</a:t>
            </a:r>
            <a:r>
              <a:rPr lang="en-US" altLang="x-none" dirty="0"/>
              <a:t>Variety</a:t>
            </a:r>
            <a:r>
              <a:rPr lang="zh-CN" altLang="en-US" dirty="0"/>
              <a:t>、</a:t>
            </a:r>
            <a:r>
              <a:rPr lang="en-US" altLang="x-none" dirty="0"/>
              <a:t>Value</a:t>
            </a:r>
            <a:r>
              <a:rPr lang="zh-CN" altLang="en-US" dirty="0"/>
              <a:t>、</a:t>
            </a:r>
            <a:r>
              <a:rPr lang="en-US" altLang="x-none" dirty="0"/>
              <a:t>Velocity)</a:t>
            </a:r>
            <a:endParaRPr lang="en-US" altLang="x-none" dirty="0"/>
          </a:p>
          <a:p>
            <a:pPr lvl="0" indent="0"/>
            <a:endParaRPr lang="zh-CN" altLang="en-US" dirty="0"/>
          </a:p>
        </p:txBody>
      </p:sp>
      <p:sp>
        <p:nvSpPr>
          <p:cNvPr id="37892"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p:sp>
      <p:sp>
        <p:nvSpPr>
          <p:cNvPr id="39939" name="备注占位符 2"/>
          <p:cNvSpPr>
            <a:spLocks noGrp="1"/>
          </p:cNvSpPr>
          <p:nvPr>
            <p:ph type="body"/>
          </p:nvPr>
        </p:nvSpPr>
        <p:spPr/>
        <p:txBody>
          <a:bodyPr wrap="square" anchor="t"/>
          <a:lstStyle/>
          <a:p>
            <a:pPr lvl="0" indent="0"/>
            <a:r>
              <a:rPr lang="zh-CN" altLang="en-US" dirty="0"/>
              <a:t>第二一个问题就是多用户并发访问的问题，我们前面设计的教务管理系统只适合单人单机版，当多个人同时对同一数据进行操作，就会导致数据的不一致</a:t>
            </a:r>
            <a:r>
              <a:rPr lang="en-US" altLang="x-none" dirty="0"/>
              <a:t>.</a:t>
            </a:r>
            <a:r>
              <a:rPr lang="zh-CN" altLang="en-US" dirty="0"/>
              <a:t>比如当你发现有个学生信息录入有误，把计算机学院的学生录入成了机械学院，这时你修改了该学生的信息，但旁边正在做查询统计的同事不能立即得到你的更新的信息，除非你告诉她让她重新从磁盘读取数据。</a:t>
            </a:r>
            <a:endParaRPr lang="zh-CN" altLang="en-US" dirty="0"/>
          </a:p>
        </p:txBody>
      </p:sp>
      <p:sp>
        <p:nvSpPr>
          <p:cNvPr id="3994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3010" name="幻灯片图像占位符 38913"/>
          <p:cNvSpPr>
            <a:spLocks noGrp="1" noRot="1" noChangeAspect="1"/>
          </p:cNvSpPr>
          <p:nvPr>
            <p:ph type="sldImg"/>
          </p:nvPr>
        </p:nvSpPr>
        <p:spPr>
          <a:ln w="1"/>
        </p:spPr>
      </p:sp>
      <p:sp>
        <p:nvSpPr>
          <p:cNvPr id="43011" name="文本占位符 38914"/>
          <p:cNvSpPr>
            <a:spLocks noGrp="1"/>
          </p:cNvSpPr>
          <p:nvPr>
            <p:ph type="body"/>
          </p:nvPr>
        </p:nvSpPr>
        <p:spPr>
          <a:ln w="1"/>
        </p:spPr>
        <p:txBody>
          <a:bodyPr anchor="ctr"/>
          <a:lstStyle/>
          <a:p>
            <a:pPr lvl="0" indent="0" eaLnBrk="1" hangingPunct="1"/>
            <a:r>
              <a:rPr lang="zh-CN" altLang="en-US" sz="1400" i="1" dirty="0">
                <a:latin typeface="宋体" panose="02010600030101010101" pitchFamily="2" charset="-122"/>
              </a:rPr>
              <a:t>IBM公司研究员</a:t>
            </a:r>
            <a:r>
              <a:rPr lang="de-DE" altLang="en-US" sz="1400" i="1" dirty="0">
                <a:latin typeface="宋体" panose="02010600030101010101" pitchFamily="2" charset="-122"/>
              </a:rPr>
              <a:t>E.F.Codd、</a:t>
            </a:r>
            <a:r>
              <a:rPr lang="zh-CN" altLang="en-US" sz="1400" i="1" dirty="0">
                <a:latin typeface="宋体" panose="02010600030101010101" pitchFamily="2" charset="-122"/>
              </a:rPr>
              <a:t>James Gray</a:t>
            </a:r>
            <a:endParaRPr lang="zh-CN" altLang="en-US" sz="1400" i="1" dirty="0">
              <a:latin typeface="宋体" panose="02010600030101010101" pitchFamily="2" charset="-122"/>
            </a:endParaRPr>
          </a:p>
          <a:p>
            <a:pPr lvl="0" indent="0" eaLnBrk="1" hangingPunct="1"/>
            <a:r>
              <a:rPr lang="zh-CN" altLang="en-US" sz="1400" i="1" dirty="0">
                <a:latin typeface="宋体" panose="02010600030101010101" pitchFamily="2" charset="-122"/>
              </a:rPr>
              <a:t>美国通用电气公司的</a:t>
            </a:r>
            <a:r>
              <a:rPr lang="zh-CN" altLang="en-US" sz="1400" i="1" dirty="0"/>
              <a:t>Charles W. Bachman</a:t>
            </a:r>
            <a:r>
              <a:rPr lang="zh-CN" altLang="en-US" sz="1400" dirty="0"/>
              <a:t> （</a:t>
            </a:r>
            <a:r>
              <a:rPr lang="zh-CN" altLang="en-US" sz="1400" i="1" dirty="0"/>
              <a:t>查理士</a:t>
            </a:r>
            <a:r>
              <a:rPr lang="en-US" altLang="x-none" sz="1400" i="1" dirty="0"/>
              <a:t>·</a:t>
            </a:r>
            <a:r>
              <a:rPr lang="zh-CN" altLang="en-US" sz="1400" i="1" dirty="0"/>
              <a:t>巴赫曼）、甲骨文公司的创始人</a:t>
            </a:r>
            <a:r>
              <a:rPr lang="zh-CN" altLang="en-US" sz="1400" dirty="0">
                <a:latin typeface="Arial" panose="020B0604020202020204" pitchFamily="34" charset="0"/>
              </a:rPr>
              <a:t>L</a:t>
            </a:r>
            <a:r>
              <a:rPr lang="zh-CN" altLang="en-US" dirty="0">
                <a:latin typeface="Arial" panose="020B0604020202020204" pitchFamily="34" charset="0"/>
              </a:rPr>
              <a:t>arry Ellison</a:t>
            </a:r>
            <a:endParaRPr lang="zh-CN" altLang="en-US" dirty="0">
              <a:latin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p:sp>
      <p:sp>
        <p:nvSpPr>
          <p:cNvPr id="45059" name="备注占位符 2"/>
          <p:cNvSpPr>
            <a:spLocks noGrp="1"/>
          </p:cNvSpPr>
          <p:nvPr>
            <p:ph type="body"/>
          </p:nvPr>
        </p:nvSpPr>
        <p:spPr/>
        <p:txBody>
          <a:bodyPr wrap="square" anchor="t"/>
          <a:lstStyle/>
          <a:p>
            <a:pPr lvl="0" indent="0"/>
            <a:r>
              <a:rPr lang="zh-CN" altLang="en-US" dirty="0">
                <a:latin typeface="楷体" panose="02010609060101010101" pitchFamily="1" charset="-122"/>
                <a:ea typeface="楷体" panose="02010609060101010101" pitchFamily="1" charset="-122"/>
              </a:rPr>
              <a:t>这些对技术、对商机比较敏感的人，就开辟了数据库管理系统这一技术和产品的研究、系统开发和推广，导致了数据库管理系统的诞生。每开发一个类似的基于文件系统的管理应用，都必须编写处理大容量数据，并发访问，故障恢复，安全性和完整性等基本“公共功能”代码。</a:t>
            </a:r>
            <a:endParaRPr lang="zh-CN" altLang="en-US" dirty="0">
              <a:latin typeface="楷体" panose="02010609060101010101" pitchFamily="1" charset="-122"/>
              <a:ea typeface="楷体" panose="02010609060101010101" pitchFamily="1" charset="-122"/>
            </a:endParaRPr>
          </a:p>
          <a:p>
            <a:pPr lvl="0" indent="0"/>
            <a:endParaRPr lang="zh-CN" altLang="en-US" dirty="0"/>
          </a:p>
        </p:txBody>
      </p:sp>
      <p:sp>
        <p:nvSpPr>
          <p:cNvPr id="4506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p:sp>
      <p:sp>
        <p:nvSpPr>
          <p:cNvPr id="78851" name="备注占位符 2"/>
          <p:cNvSpPr>
            <a:spLocks noGrp="1"/>
          </p:cNvSpPr>
          <p:nvPr>
            <p:ph type="body"/>
          </p:nvPr>
        </p:nvSpPr>
        <p:spPr/>
        <p:txBody>
          <a:bodyPr wrap="square" anchor="t"/>
          <a:lstStyle/>
          <a:p>
            <a:pPr lvl="0" indent="0" eaLnBrk="1" hangingPunct="1"/>
            <a:r>
              <a:rPr lang="zh-CN" altLang="en-US" dirty="0"/>
              <a:t>举个生活中的例子：计算机只认识，只能管理苹果汁。可真实世界中没有天然的</a:t>
            </a:r>
            <a:endParaRPr lang="zh-CN" altLang="en-US" dirty="0"/>
          </a:p>
          <a:p>
            <a:pPr lvl="0" indent="0" eaLnBrk="1" hangingPunct="1"/>
            <a:r>
              <a:rPr lang="zh-CN" altLang="en-US" dirty="0"/>
              <a:t>苹果汁。谁见过，跑到苹果树下，一摇，流下来的是泉水似的苹果汁，不可能。</a:t>
            </a:r>
            <a:endParaRPr lang="zh-CN" altLang="en-US" dirty="0"/>
          </a:p>
          <a:p>
            <a:pPr lvl="0" indent="0" eaLnBrk="1" hangingPunct="1"/>
            <a:r>
              <a:rPr lang="zh-CN" altLang="en-US" dirty="0"/>
              <a:t>因此，为了从真实世界中的苹果得到苹果汁，就必须进行数据抽象。这个抽象的过程就是榨苹果汁的过程。</a:t>
            </a:r>
            <a:endParaRPr lang="zh-CN" altLang="en-US" dirty="0"/>
          </a:p>
          <a:p>
            <a:pPr lvl="0" indent="0" eaLnBrk="1" hangingPunct="1"/>
            <a:r>
              <a:rPr lang="zh-CN" altLang="en-US" dirty="0"/>
              <a:t>怎么榨？必须使用工具-榨汁机，这就是数据模型。榨苹果汁就是一种榨汁机，关系数据库的数据模型是统一的。但不同的数据库有不同的数据模型，就好象榨苹果汁的机器不同与榨菠萝汁的，关系数据库的模型不同与面向对象数据库的数据模型。</a:t>
            </a:r>
            <a:endParaRPr lang="zh-CN" altLang="en-US" dirty="0"/>
          </a:p>
          <a:p>
            <a:pPr lvl="0" indent="0" eaLnBrk="1" hangingPunct="1"/>
            <a:r>
              <a:rPr lang="zh-CN" altLang="en-US" dirty="0"/>
              <a:t>有了榨汁机（数据模型），苹果进去，出来的是一种浅浅的黄色，清亮，甜中带些微酸的汁液。我的这个描述就是数据模式。不论是国光，红富士还是黄元帅，所有的苹果汁都八九不离十，少量差别可能在色泽，口感上。这也说明数据模式是与应用相关的，关系数据库系统的不同的应用形成的数据模式存大同有小异。</a:t>
            </a:r>
            <a:endParaRPr lang="zh-CN" altLang="en-US" dirty="0"/>
          </a:p>
          <a:p>
            <a:pPr lvl="0" indent="0"/>
            <a:endParaRPr lang="zh-CN" altLang="en-US" dirty="0"/>
          </a:p>
        </p:txBody>
      </p:sp>
      <p:sp>
        <p:nvSpPr>
          <p:cNvPr id="78852"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幻灯片图像占位符 1"/>
          <p:cNvSpPr>
            <a:spLocks noGrp="1" noRot="1" noChangeAspect="1"/>
          </p:cNvSpPr>
          <p:nvPr>
            <p:ph type="sldImg"/>
          </p:nvPr>
        </p:nvSpPr>
        <p:spPr/>
      </p:sp>
      <p:sp>
        <p:nvSpPr>
          <p:cNvPr id="75778" name="文本占位符 2"/>
          <p:cNvSpPr>
            <a:spLocks noGrp="1"/>
          </p:cNvSpPr>
          <p:nvPr>
            <p:ph type="body"/>
          </p:nvPr>
        </p:nvSpPr>
        <p:spPr/>
        <p:txBody>
          <a:bodyPr anchor="ctr"/>
          <a:lstStyle/>
          <a:p>
            <a:pPr lvl="0" indent="0"/>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p:sp>
      <p:sp>
        <p:nvSpPr>
          <p:cNvPr id="50179" name="备注占位符 2"/>
          <p:cNvSpPr>
            <a:spLocks noGrp="1"/>
          </p:cNvSpPr>
          <p:nvPr>
            <p:ph type="body"/>
          </p:nvPr>
        </p:nvSpPr>
        <p:spPr/>
        <p:txBody>
          <a:bodyPr wrap="square" anchor="t"/>
          <a:lstStyle/>
          <a:p>
            <a:pPr lvl="0" indent="0"/>
            <a:r>
              <a:rPr lang="zh-CN" altLang="en-US" dirty="0"/>
              <a:t>前面我们讲过，要实现计算机对数据对象的管理，就要对数据进行抽取，有了数据库管理系统，我们可以把数据库系统分为三个抽象层次，分别是视图抽象、概念抽象和物理抽象。对于这个抽象层次，我们可以从两个方面来来理解。</a:t>
            </a:r>
            <a:endParaRPr lang="zh-CN" altLang="en-US" dirty="0"/>
          </a:p>
          <a:p>
            <a:pPr lvl="0" indent="0"/>
            <a:endParaRPr lang="zh-CN" altLang="en-US" dirty="0"/>
          </a:p>
        </p:txBody>
      </p:sp>
      <p:sp>
        <p:nvSpPr>
          <p:cNvPr id="5018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幻灯片图像占位符 1"/>
          <p:cNvSpPr>
            <a:spLocks noGrp="1" noRot="1" noChangeAspect="1"/>
          </p:cNvSpPr>
          <p:nvPr>
            <p:ph type="sldImg"/>
          </p:nvPr>
        </p:nvSpPr>
        <p:spPr/>
      </p:sp>
      <p:sp>
        <p:nvSpPr>
          <p:cNvPr id="56322" name="文本占位符 2"/>
          <p:cNvSpPr>
            <a:spLocks noGrp="1"/>
          </p:cNvSpPr>
          <p:nvPr>
            <p:ph type="body"/>
          </p:nvPr>
        </p:nvSpPr>
        <p:spPr/>
        <p:txBody>
          <a:bodyPr anchor="ctr"/>
          <a:lstStyle/>
          <a:p>
            <a:pPr lvl="0" indent="0"/>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p:sp>
      <p:sp>
        <p:nvSpPr>
          <p:cNvPr id="60419" name="备注占位符 2"/>
          <p:cNvSpPr>
            <a:spLocks noGrp="1"/>
          </p:cNvSpPr>
          <p:nvPr>
            <p:ph type="body"/>
          </p:nvPr>
        </p:nvSpPr>
        <p:spPr/>
        <p:txBody>
          <a:bodyPr wrap="square" anchor="t"/>
          <a:lstStyle/>
          <a:p>
            <a:pPr lvl="0" indent="0"/>
            <a:r>
              <a:rPr lang="zh-CN" altLang="en-US" dirty="0"/>
              <a:t>从图中可以看出，数据库的内容可分为三大部分：数据库原理部分、数据库设计部分、数据库应用部分。数据库原理部分说明</a:t>
            </a:r>
            <a:r>
              <a:rPr lang="en-US" altLang="x-none" dirty="0"/>
              <a:t>DBMS</a:t>
            </a:r>
            <a:r>
              <a:rPr lang="zh-CN" altLang="en-US" dirty="0"/>
              <a:t>本身的功能设计以及它对外界提供的操作及应用平台；数据库设计部分说明如何将现实系统的数据，通过某种数据模型组织起来，并利用</a:t>
            </a:r>
            <a:r>
              <a:rPr lang="en-US" altLang="x-none" dirty="0"/>
              <a:t>DBMS</a:t>
            </a:r>
            <a:r>
              <a:rPr lang="zh-CN" altLang="en-US" dirty="0"/>
              <a:t>系统提供的功能界面将其结构和约束存入</a:t>
            </a:r>
            <a:r>
              <a:rPr lang="en-US" altLang="x-none" dirty="0"/>
              <a:t>DBMS</a:t>
            </a:r>
            <a:r>
              <a:rPr lang="zh-CN" altLang="en-US" dirty="0"/>
              <a:t>中。数据库的应用部分着重于系统业务逻辑的实现。</a:t>
            </a:r>
            <a:endParaRPr lang="zh-CN" altLang="en-US" dirty="0"/>
          </a:p>
        </p:txBody>
      </p:sp>
      <p:sp>
        <p:nvSpPr>
          <p:cNvPr id="6042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幻灯片图像占位符 1"/>
          <p:cNvSpPr>
            <a:spLocks noGrp="1" noRot="1" noChangeAspect="1"/>
          </p:cNvSpPr>
          <p:nvPr>
            <p:ph type="sldImg"/>
          </p:nvPr>
        </p:nvSpPr>
        <p:spPr/>
      </p:sp>
      <p:sp>
        <p:nvSpPr>
          <p:cNvPr id="62466" name="文本占位符 2"/>
          <p:cNvSpPr>
            <a:spLocks noGrp="1"/>
          </p:cNvSpPr>
          <p:nvPr>
            <p:ph type="body"/>
          </p:nvPr>
        </p:nvSpPr>
        <p:spPr/>
        <p:txBody>
          <a:bodyPr anchor="ctr"/>
          <a:lstStyle/>
          <a:p>
            <a:pPr lvl="0" indent="0"/>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p:sp>
      <p:sp>
        <p:nvSpPr>
          <p:cNvPr id="94211" name="备注占位符 2"/>
          <p:cNvSpPr>
            <a:spLocks noGrp="1"/>
          </p:cNvSpPr>
          <p:nvPr>
            <p:ph type="body"/>
          </p:nvPr>
        </p:nvSpPr>
        <p:spPr/>
        <p:txBody>
          <a:bodyPr wrap="square" anchor="t"/>
          <a:lstStyle/>
          <a:p>
            <a:pPr lvl="0" indent="0"/>
            <a:r>
              <a:rPr lang="zh-CN" altLang="en-US" dirty="0"/>
              <a:t>一是无明确的逻辑数据模型的文件系统时期</a:t>
            </a:r>
            <a:endParaRPr lang="zh-CN" altLang="en-US" dirty="0"/>
          </a:p>
        </p:txBody>
      </p:sp>
      <p:sp>
        <p:nvSpPr>
          <p:cNvPr id="94212"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p:sp>
      <p:sp>
        <p:nvSpPr>
          <p:cNvPr id="96259" name="备注占位符 2"/>
          <p:cNvSpPr>
            <a:spLocks noGrp="1"/>
          </p:cNvSpPr>
          <p:nvPr>
            <p:ph type="body"/>
          </p:nvPr>
        </p:nvSpPr>
        <p:spPr/>
        <p:txBody>
          <a:bodyPr wrap="square" anchor="t"/>
          <a:lstStyle/>
          <a:p>
            <a:pPr lvl="0" indent="0" eaLnBrk="1" hangingPunct="1"/>
            <a:r>
              <a:rPr lang="zh-CN" altLang="en-US" dirty="0">
                <a:latin typeface="Arial" panose="020B0604020202020204" pitchFamily="34" charset="0"/>
              </a:rPr>
              <a:t>最早出现的是网状DBMS，是美国通用电气公司Bachman等人在1961年开发成功的IDS(Integrated DataStore)。1961年通用电气公司(General Electric Co.)的Charles Bachman成功地开发出世界上第一个网状DBMS也是第一个数据库管理系统</a:t>
            </a:r>
            <a:r>
              <a:rPr lang="zh-CN" altLang="en-US" dirty="0"/>
              <a:t>——</a:t>
            </a:r>
            <a:r>
              <a:rPr lang="zh-CN" altLang="en-US" dirty="0">
                <a:latin typeface="Arial" panose="020B0604020202020204" pitchFamily="34" charset="0"/>
              </a:rPr>
              <a:t>集成数据存储(Integrated DataStore IDS)，奠定了网状数据库的基础，并在当时得到了广泛的发行和应用。IDS具有数据模式和日志的特征。但它只能在GE主机上运行，并且数据库只有一个文件，数据库所有的表必须通过手工编码来生成。</a:t>
            </a:r>
            <a:endParaRPr lang="zh-CN" altLang="en-US" dirty="0">
              <a:latin typeface="Arial" panose="020B0604020202020204" pitchFamily="34" charset="0"/>
            </a:endParaRPr>
          </a:p>
          <a:p>
            <a:pPr lvl="0" indent="0" eaLnBrk="1" hangingPunct="1"/>
            <a:r>
              <a:rPr lang="zh-CN" altLang="en-US" dirty="0"/>
              <a:t>  </a:t>
            </a:r>
            <a:r>
              <a:rPr lang="zh-CN" altLang="en-US" dirty="0">
                <a:latin typeface="Arial" panose="020B0604020202020204" pitchFamily="34" charset="0"/>
              </a:rPr>
              <a:t>之后，通用电气公司的一个客户</a:t>
            </a:r>
            <a:r>
              <a:rPr lang="zh-CN" altLang="en-US" dirty="0"/>
              <a:t>——</a:t>
            </a:r>
            <a:r>
              <a:rPr lang="zh-CN" altLang="en-US" dirty="0">
                <a:latin typeface="Arial" panose="020B0604020202020204" pitchFamily="34" charset="0"/>
              </a:rPr>
              <a:t>BF Goodrich Chemical公司最终不得不重写了整个系统。并将重写后的系统命名为集成数据管理系统(IDMS)。</a:t>
            </a:r>
            <a:endParaRPr lang="zh-CN" altLang="en-US" dirty="0">
              <a:latin typeface="Arial" panose="020B0604020202020204" pitchFamily="34" charset="0"/>
            </a:endParaRPr>
          </a:p>
          <a:p>
            <a:pPr lvl="0" indent="0" eaLnBrk="1" hangingPunct="1"/>
            <a:r>
              <a:rPr lang="zh-CN" altLang="en-US" dirty="0"/>
              <a:t>  </a:t>
            </a:r>
            <a:r>
              <a:rPr lang="zh-CN" altLang="en-US" dirty="0">
                <a:latin typeface="Arial" panose="020B0604020202020204" pitchFamily="34" charset="0"/>
              </a:rPr>
              <a:t> 网状数据库模型对于层次和非层次结构的事物都能比较自然的模拟，在关系数据库出现之前网状DBMS要比层次DBMS用得普遍。在数据库发展史上，网状数据库占有重要地位。</a:t>
            </a:r>
            <a:endParaRPr lang="zh-CN" altLang="en-US" dirty="0">
              <a:latin typeface="Arial" panose="020B0604020202020204" pitchFamily="34" charset="0"/>
            </a:endParaRPr>
          </a:p>
          <a:p>
            <a:pPr lvl="0" indent="0"/>
            <a:endParaRPr lang="zh-CN" altLang="en-US" dirty="0"/>
          </a:p>
        </p:txBody>
      </p:sp>
      <p:sp>
        <p:nvSpPr>
          <p:cNvPr id="9626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p:sp>
      <p:sp>
        <p:nvSpPr>
          <p:cNvPr id="83971" name="备注占位符 2"/>
          <p:cNvSpPr>
            <a:spLocks noGrp="1"/>
          </p:cNvSpPr>
          <p:nvPr>
            <p:ph type="body"/>
          </p:nvPr>
        </p:nvSpPr>
        <p:spPr/>
        <p:txBody>
          <a:bodyPr wrap="square" anchor="t"/>
          <a:lstStyle/>
          <a:p>
            <a:pPr lvl="0" indent="0"/>
            <a:r>
              <a:rPr lang="zh-CN" altLang="en-US" dirty="0"/>
              <a:t>由于逻辑数据模型反映的是数据的逻辑结构，是具体</a:t>
            </a:r>
            <a:r>
              <a:rPr lang="en-US" altLang="x-none" dirty="0"/>
              <a:t>DBMS</a:t>
            </a:r>
            <a:r>
              <a:rPr lang="zh-CN" altLang="en-US" dirty="0"/>
              <a:t>所能够实现和支持的数据模型，它对数据管的结构、性能具有重要的影响，因此这里有必要花一定的时间来介绍一下传统的逻辑数据模型。</a:t>
            </a:r>
            <a:endParaRPr lang="en-US" altLang="x-none" dirty="0"/>
          </a:p>
          <a:p>
            <a:pPr lvl="0" indent="0"/>
            <a:r>
              <a:rPr lang="zh-CN" altLang="en-US" dirty="0"/>
              <a:t>传统的逻辑数据模型包括：层次数据模型、网状数据模型和关系数据模型。关系数据模型在第三章用一章来专门学习，是我们本课程学习的重点，因此这里简略介绍一下层次数据模型和网状数据模型。</a:t>
            </a:r>
            <a:endParaRPr lang="zh-CN" altLang="en-US" dirty="0"/>
          </a:p>
        </p:txBody>
      </p:sp>
      <p:sp>
        <p:nvSpPr>
          <p:cNvPr id="83972"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p:sp>
      <p:sp>
        <p:nvSpPr>
          <p:cNvPr id="98307" name="备注占位符 2"/>
          <p:cNvSpPr>
            <a:spLocks noGrp="1"/>
          </p:cNvSpPr>
          <p:nvPr>
            <p:ph type="body"/>
          </p:nvPr>
        </p:nvSpPr>
        <p:spPr/>
        <p:txBody>
          <a:bodyPr wrap="square" anchor="t"/>
          <a:lstStyle/>
          <a:p>
            <a:pPr lvl="0" indent="0" eaLnBrk="1" hangingPunct="1"/>
            <a:r>
              <a:rPr lang="en-US" altLang="zh-CN" dirty="0">
                <a:latin typeface="Arial" panose="020B0604020202020204" pitchFamily="34" charset="0"/>
              </a:rPr>
              <a:t>1923</a:t>
            </a:r>
            <a:r>
              <a:rPr lang="zh-CN" altLang="en-US" dirty="0">
                <a:latin typeface="Arial" panose="020B0604020202020204" pitchFamily="34" charset="0"/>
              </a:rPr>
              <a:t>年出生，毕业于牛津大学，主修数学和化学专业，第二次世界大战期间曾在皇家空军服役。第二次世界大战后。</a:t>
            </a:r>
            <a:r>
              <a:rPr lang="en-US" altLang="zh-CN" dirty="0">
                <a:latin typeface="Arial" panose="020B0604020202020204" pitchFamily="34" charset="0"/>
              </a:rPr>
              <a:t>codd</a:t>
            </a:r>
            <a:r>
              <a:rPr lang="zh-CN" altLang="en-US" dirty="0">
                <a:latin typeface="Arial" panose="020B0604020202020204" pitchFamily="34" charset="0"/>
              </a:rPr>
              <a:t>前往纽约并成为</a:t>
            </a:r>
            <a:r>
              <a:rPr lang="en-US" altLang="zh-CN" dirty="0">
                <a:latin typeface="Arial" panose="020B0604020202020204" pitchFamily="34" charset="0"/>
              </a:rPr>
              <a:t>IBM</a:t>
            </a:r>
            <a:r>
              <a:rPr lang="zh-CN" altLang="zh-CN" dirty="0">
                <a:latin typeface="Arial" panose="020B0604020202020204" pitchFamily="34" charset="0"/>
              </a:rPr>
              <a:t>的一名数学编程员。</a:t>
            </a:r>
            <a:endParaRPr lang="zh-CN" altLang="zh-CN" dirty="0">
              <a:latin typeface="Arial" panose="020B0604020202020204" pitchFamily="34" charset="0"/>
            </a:endParaRPr>
          </a:p>
          <a:p>
            <a:pPr lvl="0" indent="0"/>
            <a:r>
              <a:rPr lang="en-US" altLang="zh-CN" b="1" dirty="0"/>
              <a:t>20</a:t>
            </a:r>
            <a:r>
              <a:rPr lang="zh-CN" altLang="en-US" b="1" dirty="0"/>
              <a:t>世界</a:t>
            </a:r>
            <a:r>
              <a:rPr lang="en-US" altLang="zh-CN" b="1" dirty="0"/>
              <a:t>60</a:t>
            </a:r>
            <a:r>
              <a:rPr lang="zh-CN" altLang="en-US" b="1" dirty="0"/>
              <a:t>年代中期获得了密歇根大学计算机科学专业博士学位，</a:t>
            </a:r>
            <a:r>
              <a:rPr lang="en-US" altLang="zh-CN" b="1" dirty="0"/>
              <a:t>1970</a:t>
            </a:r>
            <a:r>
              <a:rPr lang="zh-CN" altLang="en-US" b="1" dirty="0"/>
              <a:t>年发表了关系数据库模型的论文。</a:t>
            </a:r>
            <a:endParaRPr lang="zh-CN" altLang="en-US" b="1" dirty="0"/>
          </a:p>
        </p:txBody>
      </p:sp>
      <p:sp>
        <p:nvSpPr>
          <p:cNvPr id="98308"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p:sp>
      <p:sp>
        <p:nvSpPr>
          <p:cNvPr id="101379" name="备注占位符 2"/>
          <p:cNvSpPr>
            <a:spLocks noGrp="1"/>
          </p:cNvSpPr>
          <p:nvPr>
            <p:ph type="body"/>
          </p:nvPr>
        </p:nvSpPr>
        <p:spPr/>
        <p:txBody>
          <a:bodyPr wrap="square" anchor="t"/>
          <a:lstStyle/>
          <a:p>
            <a:pPr lvl="0" indent="0" eaLnBrk="1" hangingPunct="1"/>
            <a:r>
              <a:rPr lang="zh-CN" altLang="en-US" dirty="0">
                <a:latin typeface="Arial" panose="020B0604020202020204" pitchFamily="34" charset="0"/>
              </a:rPr>
              <a:t>由于数据库是计算机各种应用的基础，所以关系模型的提出不仅为数据库技术的发展奠定了基础，同时也成为促进计算机普及应用的极大推动力。</a:t>
            </a:r>
            <a:endParaRPr lang="zh-CN" altLang="en-US" dirty="0">
              <a:latin typeface="Arial" panose="020B0604020202020204" pitchFamily="34" charset="0"/>
            </a:endParaRPr>
          </a:p>
          <a:p>
            <a:pPr lvl="0" indent="0" eaLnBrk="1" hangingPunct="1"/>
            <a:endParaRPr lang="zh-CN" altLang="en-US" dirty="0">
              <a:latin typeface="Arial" panose="020B0604020202020204" pitchFamily="34" charset="0"/>
            </a:endParaRPr>
          </a:p>
          <a:p>
            <a:pPr lvl="0" indent="0" eaLnBrk="1" hangingPunct="1"/>
            <a:r>
              <a:rPr lang="zh-CN" altLang="en-US" dirty="0"/>
              <a:t> </a:t>
            </a:r>
            <a:r>
              <a:rPr lang="zh-CN" altLang="en-US" dirty="0">
                <a:latin typeface="Arial" panose="020B0604020202020204" pitchFamily="34" charset="0"/>
              </a:rPr>
              <a:t>如果没有美国科学家詹姆斯</a:t>
            </a:r>
            <a:r>
              <a:rPr lang="zh-CN" altLang="en-US" dirty="0"/>
              <a:t>·</a:t>
            </a:r>
            <a:r>
              <a:rPr lang="zh-CN" altLang="en-US" dirty="0">
                <a:latin typeface="Arial" panose="020B0604020202020204" pitchFamily="34" charset="0"/>
              </a:rPr>
              <a:t>格雷，那么世界大概不会是今天的样子，自动提款机、网上购物、甚至谷歌地图（google earth）的问世或许都要推迟。</a:t>
            </a:r>
            <a:br>
              <a:rPr lang="zh-CN" altLang="en-US" dirty="0">
                <a:latin typeface="Arial" panose="020B0604020202020204" pitchFamily="34" charset="0"/>
              </a:rPr>
            </a:br>
            <a:r>
              <a:rPr lang="zh-CN" altLang="en-US" dirty="0"/>
              <a:t> </a:t>
            </a:r>
            <a:r>
              <a:rPr lang="zh-CN" altLang="en-US" dirty="0">
                <a:latin typeface="Arial" panose="020B0604020202020204" pitchFamily="34" charset="0"/>
              </a:rPr>
              <a:t>但是这个一生都致力于把人与人连通起来的技术天才却在驾船出海后与所有人失去了联系。 2007.1.28，Jim Gray，63岁，有10年的驾船经验，在旧金山附近海上失踪了。</a:t>
            </a:r>
            <a:endParaRPr lang="zh-CN" altLang="en-US" dirty="0">
              <a:latin typeface="Arial" panose="020B0604020202020204" pitchFamily="34" charset="0"/>
            </a:endParaRPr>
          </a:p>
          <a:p>
            <a:pPr lvl="0" indent="0"/>
            <a:endParaRPr lang="zh-CN" altLang="en-US" dirty="0"/>
          </a:p>
        </p:txBody>
      </p:sp>
      <p:sp>
        <p:nvSpPr>
          <p:cNvPr id="10138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p:sp>
      <p:sp>
        <p:nvSpPr>
          <p:cNvPr id="103427" name="备注占位符 2"/>
          <p:cNvSpPr>
            <a:spLocks noGrp="1"/>
          </p:cNvSpPr>
          <p:nvPr>
            <p:ph type="body"/>
          </p:nvPr>
        </p:nvSpPr>
        <p:spPr/>
        <p:txBody>
          <a:bodyPr wrap="square" anchor="t"/>
          <a:lstStyle/>
          <a:p>
            <a:pPr lvl="0" indent="0" eaLnBrk="1" hangingPunct="1"/>
            <a:r>
              <a:rPr lang="zh-CN" altLang="en-US" dirty="0">
                <a:latin typeface="Arial" panose="020B0604020202020204" pitchFamily="34" charset="0"/>
              </a:rPr>
              <a:t>Larry Ellison，Oracle CEO</a:t>
            </a:r>
            <a:endParaRPr lang="zh-CN" altLang="en-US" dirty="0">
              <a:latin typeface="Arial" panose="020B0604020202020204" pitchFamily="34" charset="0"/>
            </a:endParaRPr>
          </a:p>
          <a:p>
            <a:pPr lvl="0" indent="0" eaLnBrk="1" hangingPunct="1"/>
            <a:r>
              <a:rPr lang="zh-CN" altLang="en-US" dirty="0">
                <a:latin typeface="Arial" panose="020B0604020202020204" pitchFamily="34" charset="0"/>
              </a:rPr>
              <a:t>埃里森是从俄罗斯移民的美国犹太人后裔，出生在1944年的曼哈顿。</a:t>
            </a:r>
            <a:br>
              <a:rPr lang="zh-CN" altLang="en-US" dirty="0">
                <a:latin typeface="Arial" panose="020B0604020202020204" pitchFamily="34" charset="0"/>
              </a:rPr>
            </a:br>
            <a:r>
              <a:rPr lang="zh-CN" altLang="en-US" dirty="0">
                <a:latin typeface="Arial" panose="020B0604020202020204" pitchFamily="34" charset="0"/>
              </a:rPr>
              <a:t>埃里森是个传奇人物，大学没有毕业，四处游荡到了30岁，埃里森在32岁以前还一事无成, 读了三个大学，没得到一个学位文凭, 换了十几家公司，老婆也离他而去。然后建立了一家尖端的数据库科技公司，开发Oracle数据库产品取得巨大的成功。</a:t>
            </a:r>
            <a:br>
              <a:rPr lang="zh-CN" altLang="en-US" dirty="0">
                <a:latin typeface="Arial" panose="020B0604020202020204" pitchFamily="34" charset="0"/>
              </a:rPr>
            </a:br>
            <a:r>
              <a:rPr lang="zh-CN" altLang="en-US" dirty="0">
                <a:latin typeface="Arial" panose="020B0604020202020204" pitchFamily="34" charset="0"/>
              </a:rPr>
              <a:t>开始创业时只有1200美元,却使得Oracle公司连续十二年销售额每年翻一翻,成为世界上第二大的软件公司,他拥有的Oracle是世界上最大的数据库软件公司. Ellison以不择手段的经营手腕和强力甚至欺骗的市场竞争，击败了一个又一个的对手, Ellison要打倒的最后一个目标就是软件帝国之王微软的比尔.盖茨。</a:t>
            </a:r>
            <a:endParaRPr lang="en-US" altLang="x-none" dirty="0">
              <a:latin typeface="Arial" panose="020B0604020202020204" pitchFamily="34" charset="0"/>
            </a:endParaRPr>
          </a:p>
          <a:p>
            <a:pPr lvl="0" indent="0" eaLnBrk="1" hangingPunct="1"/>
            <a:r>
              <a:rPr lang="en-US" altLang="x-none" dirty="0"/>
              <a:t>2014</a:t>
            </a:r>
            <a:r>
              <a:rPr lang="zh-CN" altLang="en-US" dirty="0"/>
              <a:t>年</a:t>
            </a:r>
            <a:r>
              <a:rPr lang="en-US" altLang="x-none" dirty="0"/>
              <a:t>《</a:t>
            </a:r>
            <a:r>
              <a:rPr lang="zh-CN" altLang="en-US" dirty="0"/>
              <a:t>福布斯</a:t>
            </a:r>
            <a:r>
              <a:rPr lang="en-US" altLang="x-none" dirty="0"/>
              <a:t>》</a:t>
            </a:r>
            <a:r>
              <a:rPr lang="zh-CN" altLang="en-US" dirty="0"/>
              <a:t>发布美国富豪</a:t>
            </a:r>
            <a:r>
              <a:rPr lang="en-US" altLang="x-none" dirty="0"/>
              <a:t>400</a:t>
            </a:r>
            <a:r>
              <a:rPr lang="zh-CN" altLang="en-US" dirty="0"/>
              <a:t>强榜单显示，甲骨文公司创始人拉里</a:t>
            </a:r>
            <a:r>
              <a:rPr lang="en-US" altLang="x-none" dirty="0"/>
              <a:t>·</a:t>
            </a:r>
            <a:r>
              <a:rPr lang="zh-CN" altLang="en-US" dirty="0"/>
              <a:t>埃里森，以</a:t>
            </a:r>
            <a:r>
              <a:rPr lang="en-US" altLang="x-none" dirty="0"/>
              <a:t>500</a:t>
            </a:r>
            <a:r>
              <a:rPr lang="zh-CN" altLang="en-US" dirty="0"/>
              <a:t>亿美元排名第五。</a:t>
            </a:r>
            <a:endParaRPr lang="zh-CN" altLang="en-US" dirty="0">
              <a:latin typeface="Arial" panose="020B0604020202020204" pitchFamily="34" charset="0"/>
            </a:endParaRPr>
          </a:p>
          <a:p>
            <a:pPr lvl="0" indent="0" eaLnBrk="1" hangingPunct="1"/>
            <a:r>
              <a:rPr lang="zh-CN" altLang="en-US" dirty="0">
                <a:latin typeface="Arial" panose="020B0604020202020204" pitchFamily="34" charset="0"/>
              </a:rPr>
              <a:t>惊人之举：</a:t>
            </a:r>
            <a:endParaRPr lang="zh-CN" altLang="en-US" dirty="0">
              <a:latin typeface="Arial" panose="020B0604020202020204" pitchFamily="34" charset="0"/>
            </a:endParaRPr>
          </a:p>
          <a:p>
            <a:pPr lvl="0" indent="0" eaLnBrk="1" hangingPunct="1"/>
            <a:r>
              <a:rPr lang="zh-CN" altLang="en-US" dirty="0">
                <a:latin typeface="Arial" panose="020B0604020202020204" pitchFamily="34" charset="0"/>
              </a:rPr>
              <a:t>1. 他曾经想花2000万美元购买一架俄罗斯米格战斗机，令美国海关手足无措。 </a:t>
            </a:r>
            <a:br>
              <a:rPr lang="zh-CN" altLang="en-US" dirty="0">
                <a:latin typeface="Arial" panose="020B0604020202020204" pitchFamily="34" charset="0"/>
              </a:rPr>
            </a:br>
            <a:r>
              <a:rPr lang="zh-CN" altLang="en-US" dirty="0">
                <a:latin typeface="Arial" panose="020B0604020202020204" pitchFamily="34" charset="0"/>
              </a:rPr>
              <a:t>2、开着一架意大利产战斗机在太平洋上空和别人进行模拟空战。 </a:t>
            </a:r>
            <a:br>
              <a:rPr lang="zh-CN" altLang="en-US" dirty="0">
                <a:latin typeface="Arial" panose="020B0604020202020204" pitchFamily="34" charset="0"/>
              </a:rPr>
            </a:br>
            <a:r>
              <a:rPr lang="zh-CN" altLang="en-US" dirty="0">
                <a:latin typeface="Arial" panose="020B0604020202020204" pitchFamily="34" charset="0"/>
              </a:rPr>
              <a:t>3、因冒险玩命多次住进医院：上大学踢球时弄断过鼻梁骨，在夏威夷冲浪时扭伤过颈骨，还有一次因骑车摔断过肘骨。 </a:t>
            </a:r>
            <a:br>
              <a:rPr lang="zh-CN" altLang="en-US" dirty="0">
                <a:latin typeface="Arial" panose="020B0604020202020204" pitchFamily="34" charset="0"/>
              </a:rPr>
            </a:br>
            <a:r>
              <a:rPr lang="zh-CN" altLang="en-US" dirty="0">
                <a:latin typeface="Arial" panose="020B0604020202020204" pitchFamily="34" charset="0"/>
              </a:rPr>
              <a:t>4、拥有一架拆除武器的意大利产</a:t>
            </a:r>
            <a:r>
              <a:rPr lang="zh-CN" altLang="en-US" dirty="0"/>
              <a:t>‘</a:t>
            </a:r>
            <a:r>
              <a:rPr lang="zh-CN" altLang="en-US" dirty="0">
                <a:latin typeface="Arial" panose="020B0604020202020204" pitchFamily="34" charset="0"/>
              </a:rPr>
              <a:t>马尔切蒂S.211</a:t>
            </a:r>
            <a:r>
              <a:rPr lang="zh-CN" altLang="en-US" dirty="0"/>
              <a:t>’</a:t>
            </a:r>
            <a:r>
              <a:rPr lang="zh-CN" altLang="en-US" dirty="0">
                <a:latin typeface="Arial" panose="020B0604020202020204" pitchFamily="34" charset="0"/>
              </a:rPr>
              <a:t>型战斗机。</a:t>
            </a:r>
            <a:endParaRPr lang="zh-CN" altLang="en-US" dirty="0">
              <a:latin typeface="Arial" panose="020B0604020202020204" pitchFamily="34" charset="0"/>
            </a:endParaRPr>
          </a:p>
        </p:txBody>
      </p:sp>
      <p:sp>
        <p:nvSpPr>
          <p:cNvPr id="103428"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p:sp>
      <p:sp>
        <p:nvSpPr>
          <p:cNvPr id="106499" name="备注占位符 2"/>
          <p:cNvSpPr>
            <a:spLocks noGrp="1"/>
          </p:cNvSpPr>
          <p:nvPr>
            <p:ph type="body"/>
          </p:nvPr>
        </p:nvSpPr>
        <p:spPr/>
        <p:txBody>
          <a:bodyPr wrap="square" anchor="t"/>
          <a:lstStyle/>
          <a:p>
            <a:pPr lvl="0" indent="0"/>
            <a:r>
              <a:rPr lang="zh-CN" altLang="en-US" dirty="0">
                <a:latin typeface="Arial" panose="020B0604020202020204" pitchFamily="34" charset="0"/>
              </a:rPr>
              <a:t>数据分析关键到企业、商业的存亡，那么现在的技术，如数据库，报表等能否完成任务呢？</a:t>
            </a:r>
            <a:endParaRPr lang="zh-CN" altLang="en-US" dirty="0">
              <a:latin typeface="Arial" panose="020B0604020202020204" pitchFamily="34" charset="0"/>
            </a:endParaRPr>
          </a:p>
          <a:p>
            <a:pPr lvl="0" indent="0"/>
            <a:endParaRPr lang="zh-CN" altLang="en-US" dirty="0"/>
          </a:p>
        </p:txBody>
      </p:sp>
      <p:sp>
        <p:nvSpPr>
          <p:cNvPr id="10650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44463"/>
            <a:ext cx="6052930" cy="59817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44463"/>
            <a:ext cx="6052930" cy="59817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a:xfrm>
          <a:off x="0" y="0"/>
          <a:ext cx="0" cy="0"/>
          <a:chOff x="0" y="0"/>
          <a:chExt cx="0" cy="0"/>
        </a:xfrm>
      </p:grpSpPr>
      <p:sp>
        <p:nvSpPr>
          <p:cNvPr id="1026" name="Rectangle 9"/>
          <p:cNvSpPr/>
          <p:nvPr userDrawn="1"/>
        </p:nvSpPr>
        <p:spPr>
          <a:xfrm>
            <a:off x="-12700" y="6489700"/>
            <a:ext cx="9156700" cy="368300"/>
          </a:xfrm>
          <a:prstGeom prst="rect">
            <a:avLst/>
          </a:prstGeom>
          <a:solidFill>
            <a:schemeClr val="accent2">
              <a:alpha val="81000"/>
            </a:schemeClr>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27" name="Rectangle 6"/>
          <p:cNvSpPr/>
          <p:nvPr userDrawn="1"/>
        </p:nvSpPr>
        <p:spPr>
          <a:xfrm>
            <a:off x="2463800" y="6472238"/>
            <a:ext cx="4240213" cy="386080"/>
          </a:xfrm>
          <a:prstGeom prst="rect">
            <a:avLst/>
          </a:prstGeom>
          <a:noFill/>
          <a:ln w="9525">
            <a:noFill/>
          </a:ln>
        </p:spPr>
        <p:txBody>
          <a:bodyPr anchor="t">
            <a:spAutoFit/>
          </a:bodyPr>
          <a:lstStyle/>
          <a:p>
            <a:pPr lvl="0" indent="0" algn="ctr">
              <a:lnSpc>
                <a:spcPct val="120000"/>
              </a:lnSpc>
              <a:buNone/>
            </a:pPr>
            <a:r>
              <a:rPr lang="en-US" altLang="x-none" sz="1600" dirty="0" smtClean="0">
                <a:solidFill>
                  <a:schemeClr val="bg1"/>
                </a:solidFill>
                <a:latin typeface="Arial" panose="020B0604020202020204" pitchFamily="34" charset="0"/>
                <a:ea typeface="宋体" panose="02010600030101010101" pitchFamily="2" charset="-122"/>
              </a:rPr>
              <a:t>2025~2026</a:t>
            </a:r>
            <a:r>
              <a:rPr lang="zh-CN" altLang="en-US" sz="1600" dirty="0" smtClean="0">
                <a:solidFill>
                  <a:schemeClr val="bg1"/>
                </a:solidFill>
                <a:latin typeface="Arial" panose="020B0604020202020204" pitchFamily="34" charset="0"/>
                <a:ea typeface="宋体" panose="02010600030101010101" pitchFamily="2" charset="-122"/>
              </a:rPr>
              <a:t>年度第</a:t>
            </a:r>
            <a:r>
              <a:rPr lang="en-US" altLang="zh-CN" sz="1600" dirty="0" smtClean="0">
                <a:solidFill>
                  <a:schemeClr val="bg1"/>
                </a:solidFill>
                <a:latin typeface="Arial" panose="020B0604020202020204" pitchFamily="34" charset="0"/>
                <a:ea typeface="宋体" panose="02010600030101010101" pitchFamily="2" charset="-122"/>
              </a:rPr>
              <a:t>2</a:t>
            </a:r>
            <a:r>
              <a:rPr lang="zh-CN" altLang="en-US" sz="1600" dirty="0" smtClean="0">
                <a:solidFill>
                  <a:schemeClr val="bg1"/>
                </a:solidFill>
                <a:latin typeface="Arial" panose="020B0604020202020204" pitchFamily="34" charset="0"/>
                <a:ea typeface="宋体" panose="02010600030101010101" pitchFamily="2" charset="-122"/>
              </a:rPr>
              <a:t>学期</a:t>
            </a:r>
            <a:endParaRPr lang="zh-CN" altLang="en-US" sz="1600" dirty="0">
              <a:solidFill>
                <a:schemeClr val="bg1"/>
              </a:solidFill>
              <a:latin typeface="Arial" panose="020B0604020202020204" pitchFamily="34" charset="0"/>
              <a:ea typeface="宋体" panose="02010600030101010101" pitchFamily="2" charset="-122"/>
            </a:endParaRPr>
          </a:p>
        </p:txBody>
      </p:sp>
      <p:sp>
        <p:nvSpPr>
          <p:cNvPr id="1028" name="Rectangle 10"/>
          <p:cNvSpPr/>
          <p:nvPr userDrawn="1"/>
        </p:nvSpPr>
        <p:spPr>
          <a:xfrm>
            <a:off x="282575" y="774700"/>
            <a:ext cx="8582025" cy="50800"/>
          </a:xfrm>
          <a:prstGeom prst="rect">
            <a:avLst/>
          </a:prstGeom>
          <a:gradFill rotWithShape="1">
            <a:gsLst>
              <a:gs pos="0">
                <a:srgbClr val="FFFF00"/>
              </a:gs>
              <a:gs pos="50000">
                <a:srgbClr val="FF0066"/>
              </a:gs>
              <a:gs pos="100000">
                <a:srgbClr val="FFFF00"/>
              </a:gs>
            </a:gsLst>
            <a:lin ang="0" scaled="1"/>
            <a:tileRect/>
          </a:gradFill>
          <a:ln w="9525">
            <a:noFill/>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29" name="Rectangle 11"/>
          <p:cNvSpPr/>
          <p:nvPr userDrawn="1"/>
        </p:nvSpPr>
        <p:spPr>
          <a:xfrm>
            <a:off x="8178800" y="6511925"/>
            <a:ext cx="889000" cy="269875"/>
          </a:xfrm>
          <a:prstGeom prst="rect">
            <a:avLst/>
          </a:prstGeom>
          <a:noFill/>
          <a:ln w="9525">
            <a:noFill/>
          </a:ln>
        </p:spPr>
        <p:txBody>
          <a:bodyPr anchor="t"/>
          <a:lstStyle/>
          <a:p>
            <a:pPr lvl="0" indent="0" algn="r">
              <a:lnSpc>
                <a:spcPct val="100000"/>
              </a:lnSpc>
              <a:buNone/>
            </a:pPr>
            <a:fld id="{9A0DB2DC-4C9A-4742-B13C-FB6460FD3503}" type="slidenum">
              <a:rPr lang="en-US" altLang="x-none" sz="1400" b="0" dirty="0">
                <a:solidFill>
                  <a:schemeClr val="bg1"/>
                </a:solidFill>
                <a:latin typeface="Arial" panose="020B0604020202020204" pitchFamily="34" charset="0"/>
                <a:ea typeface="楷体_GB2312" pitchFamily="1" charset="-122"/>
              </a:rPr>
            </a:fld>
            <a:endParaRPr lang="en-US" altLang="x-none" sz="1400" b="0" dirty="0">
              <a:solidFill>
                <a:schemeClr val="bg1"/>
              </a:solidFill>
              <a:latin typeface="Arial" panose="020B0604020202020204" pitchFamily="34" charset="0"/>
              <a:ea typeface="楷体_GB2312" pitchFamily="1" charset="-122"/>
            </a:endParaRPr>
          </a:p>
        </p:txBody>
      </p:sp>
      <p:sp>
        <p:nvSpPr>
          <p:cNvPr id="1030" name="Rectangle 14"/>
          <p:cNvSpPr>
            <a:spLocks noGrp="1"/>
          </p:cNvSpPr>
          <p:nvPr>
            <p:ph type="body"/>
          </p:nvPr>
        </p:nvSpPr>
        <p:spPr>
          <a:xfrm>
            <a:off x="457200" y="996950"/>
            <a:ext cx="8229600" cy="5129213"/>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31" name="Rectangle 15"/>
          <p:cNvSpPr>
            <a:spLocks noGrp="1"/>
          </p:cNvSpPr>
          <p:nvPr>
            <p:ph type="title"/>
          </p:nvPr>
        </p:nvSpPr>
        <p:spPr>
          <a:xfrm>
            <a:off x="457200" y="144463"/>
            <a:ext cx="8229600" cy="577850"/>
          </a:xfrm>
          <a:prstGeom prst="rect">
            <a:avLst/>
          </a:prstGeom>
          <a:noFill/>
          <a:ln w="9525">
            <a:noFill/>
          </a:ln>
        </p:spPr>
        <p:txBody>
          <a:bodyPr anchor="ctr"/>
          <a:lstStyle/>
          <a:p>
            <a:pPr lvl="0" indent="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marL="0" lvl="0" indent="0" algn="l" defTabSz="914400" eaLnBrk="0" fontAlgn="base" latinLnBrk="0" hangingPunct="0">
        <a:lnSpc>
          <a:spcPct val="100000"/>
        </a:lnSpc>
        <a:spcBef>
          <a:spcPct val="0"/>
        </a:spcBef>
        <a:spcAft>
          <a:spcPct val="0"/>
        </a:spcAft>
        <a:buClr>
          <a:srgbClr val="000000"/>
        </a:buClr>
        <a:buNone/>
        <a:defRPr sz="3200" b="1" i="0" u="none" kern="1200" baseline="0">
          <a:solidFill>
            <a:srgbClr val="3333CC"/>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2000" b="1"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sz="28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l"/>
        <a:defRPr sz="1600" b="1"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1pPr>
      <a:lvl2pPr marL="457200" lvl="1"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2pPr>
      <a:lvl3pPr marL="914400" lvl="2"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a:xfrm>
          <a:off x="0" y="0"/>
          <a:ext cx="0" cy="0"/>
          <a:chOff x="0" y="0"/>
          <a:chExt cx="0" cy="0"/>
        </a:xfrm>
      </p:grpSpPr>
      <p:sp>
        <p:nvSpPr>
          <p:cNvPr id="2050" name="Rectangle 2"/>
          <p:cNvSpPr/>
          <p:nvPr userDrawn="1"/>
        </p:nvSpPr>
        <p:spPr>
          <a:xfrm>
            <a:off x="-12700" y="6489700"/>
            <a:ext cx="9156700" cy="368300"/>
          </a:xfrm>
          <a:prstGeom prst="rect">
            <a:avLst/>
          </a:prstGeom>
          <a:solidFill>
            <a:schemeClr val="accent2">
              <a:alpha val="81000"/>
            </a:schemeClr>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2051" name="Rectangle 3"/>
          <p:cNvSpPr/>
          <p:nvPr userDrawn="1"/>
        </p:nvSpPr>
        <p:spPr>
          <a:xfrm>
            <a:off x="3165475" y="6472238"/>
            <a:ext cx="2979738" cy="386080"/>
          </a:xfrm>
          <a:prstGeom prst="rect">
            <a:avLst/>
          </a:prstGeom>
          <a:noFill/>
          <a:ln w="9525">
            <a:noFill/>
          </a:ln>
        </p:spPr>
        <p:txBody>
          <a:bodyPr anchor="t">
            <a:spAutoFit/>
          </a:bodyPr>
          <a:lstStyle/>
          <a:p>
            <a:pPr lvl="0" indent="0" algn="ctr">
              <a:lnSpc>
                <a:spcPct val="120000"/>
              </a:lnSpc>
              <a:buNone/>
            </a:pPr>
            <a:r>
              <a:rPr lang="en-US" altLang="x-none" sz="1600" b="0" dirty="0" smtClean="0">
                <a:solidFill>
                  <a:schemeClr val="bg1"/>
                </a:solidFill>
                <a:latin typeface="Arial" panose="020B0604020202020204" pitchFamily="34" charset="0"/>
                <a:ea typeface="黑体" panose="02010609060101010101" pitchFamily="1" charset="-122"/>
              </a:rPr>
              <a:t>2025~2026</a:t>
            </a:r>
            <a:r>
              <a:rPr lang="zh-CN" altLang="en-US" sz="1600" b="0" dirty="0" smtClean="0">
                <a:solidFill>
                  <a:schemeClr val="bg1"/>
                </a:solidFill>
                <a:latin typeface="Arial" panose="020B0604020202020204" pitchFamily="34" charset="0"/>
                <a:ea typeface="黑体" panose="02010609060101010101" pitchFamily="1" charset="-122"/>
              </a:rPr>
              <a:t>年度第</a:t>
            </a:r>
            <a:r>
              <a:rPr lang="en-US" altLang="zh-CN" sz="1600" b="0" dirty="0" smtClean="0">
                <a:solidFill>
                  <a:schemeClr val="bg1"/>
                </a:solidFill>
                <a:latin typeface="Arial" panose="020B0604020202020204" pitchFamily="34" charset="0"/>
                <a:ea typeface="黑体" panose="02010609060101010101" pitchFamily="1" charset="-122"/>
              </a:rPr>
              <a:t>2</a:t>
            </a:r>
            <a:r>
              <a:rPr lang="zh-CN" altLang="en-US" sz="1600" b="0" dirty="0" smtClean="0">
                <a:solidFill>
                  <a:schemeClr val="bg1"/>
                </a:solidFill>
                <a:latin typeface="Arial" panose="020B0604020202020204" pitchFamily="34" charset="0"/>
                <a:ea typeface="黑体" panose="02010609060101010101" pitchFamily="1" charset="-122"/>
              </a:rPr>
              <a:t>学期</a:t>
            </a:r>
            <a:endParaRPr lang="zh-CN" altLang="en-US" sz="1600" b="0" dirty="0">
              <a:solidFill>
                <a:schemeClr val="bg1"/>
              </a:solidFill>
              <a:latin typeface="Arial" panose="020B0604020202020204" pitchFamily="34" charset="0"/>
              <a:ea typeface="黑体" panose="02010609060101010101" pitchFamily="1" charset="-122"/>
            </a:endParaRPr>
          </a:p>
        </p:txBody>
      </p:sp>
      <p:sp>
        <p:nvSpPr>
          <p:cNvPr id="2052" name="Rectangle 4"/>
          <p:cNvSpPr/>
          <p:nvPr userDrawn="1"/>
        </p:nvSpPr>
        <p:spPr>
          <a:xfrm>
            <a:off x="282575" y="774700"/>
            <a:ext cx="8582025" cy="50800"/>
          </a:xfrm>
          <a:prstGeom prst="rect">
            <a:avLst/>
          </a:prstGeom>
          <a:gradFill rotWithShape="1">
            <a:gsLst>
              <a:gs pos="0">
                <a:srgbClr val="FFFF00"/>
              </a:gs>
              <a:gs pos="50000">
                <a:srgbClr val="FF0066"/>
              </a:gs>
              <a:gs pos="100000">
                <a:srgbClr val="FFFF00"/>
              </a:gs>
            </a:gsLst>
            <a:lin ang="0" scaled="1"/>
            <a:tileRect/>
          </a:gradFill>
          <a:ln w="9525">
            <a:noFill/>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2053" name="Rectangle 5"/>
          <p:cNvSpPr/>
          <p:nvPr userDrawn="1"/>
        </p:nvSpPr>
        <p:spPr>
          <a:xfrm>
            <a:off x="8178800" y="6511925"/>
            <a:ext cx="889000" cy="269875"/>
          </a:xfrm>
          <a:prstGeom prst="rect">
            <a:avLst/>
          </a:prstGeom>
          <a:noFill/>
          <a:ln w="9525">
            <a:noFill/>
          </a:ln>
        </p:spPr>
        <p:txBody>
          <a:bodyPr anchor="t"/>
          <a:lstStyle/>
          <a:p>
            <a:pPr lvl="0" indent="0" algn="r">
              <a:lnSpc>
                <a:spcPct val="100000"/>
              </a:lnSpc>
              <a:buNone/>
            </a:pPr>
            <a:fld id="{9A0DB2DC-4C9A-4742-B13C-FB6460FD3503}" type="slidenum">
              <a:rPr lang="en-US" altLang="x-none" sz="1400" b="0" dirty="0">
                <a:solidFill>
                  <a:schemeClr val="bg1"/>
                </a:solidFill>
                <a:latin typeface="Arial" panose="020B0604020202020204" pitchFamily="34" charset="0"/>
                <a:ea typeface="楷体_GB2312" pitchFamily="1" charset="-122"/>
              </a:rPr>
            </a:fld>
            <a:endParaRPr lang="en-US" altLang="x-none" sz="1400" b="0" dirty="0">
              <a:solidFill>
                <a:schemeClr val="bg1"/>
              </a:solidFill>
              <a:latin typeface="Arial" panose="020B0604020202020204" pitchFamily="34" charset="0"/>
              <a:ea typeface="楷体_GB2312" pitchFamily="1" charset="-122"/>
            </a:endParaRPr>
          </a:p>
        </p:txBody>
      </p:sp>
      <p:sp>
        <p:nvSpPr>
          <p:cNvPr id="2054" name="Rectangle 6"/>
          <p:cNvSpPr/>
          <p:nvPr userDrawn="1"/>
        </p:nvSpPr>
        <p:spPr>
          <a:xfrm>
            <a:off x="309563" y="174625"/>
            <a:ext cx="7237412" cy="560388"/>
          </a:xfrm>
          <a:prstGeom prst="rect">
            <a:avLst/>
          </a:prstGeom>
          <a:noFill/>
          <a:ln w="9525">
            <a:noFill/>
          </a:ln>
        </p:spPr>
        <p:txBody>
          <a:bodyPr anchor="t"/>
          <a:lstStyle/>
          <a:p>
            <a:pPr lvl="0" indent="0">
              <a:lnSpc>
                <a:spcPct val="100000"/>
              </a:lnSpc>
              <a:buNone/>
            </a:pPr>
            <a:r>
              <a:rPr lang="en-US" altLang="x-none" sz="2800" dirty="0">
                <a:solidFill>
                  <a:srgbClr val="FF0000"/>
                </a:solidFill>
                <a:latin typeface="Times New Roman" panose="02020603050405020304" pitchFamily="2" charset="0"/>
                <a:ea typeface="宋体" panose="02010600030101010101" pitchFamily="2" charset="-122"/>
              </a:rPr>
              <a:t>Principle and Design of Database</a:t>
            </a:r>
            <a:endParaRPr lang="en-US" altLang="x-none" sz="2000" dirty="0">
              <a:solidFill>
                <a:srgbClr val="FF0000"/>
              </a:solidFill>
              <a:latin typeface="Times New Roman" panose="02020603050405020304" pitchFamily="2" charset="0"/>
              <a:ea typeface="宋体" panose="02010600030101010101" pitchFamily="2" charset="-122"/>
            </a:endParaRPr>
          </a:p>
          <a:p>
            <a:pPr lvl="0" indent="0">
              <a:lnSpc>
                <a:spcPct val="100000"/>
              </a:lnSpc>
              <a:buNone/>
            </a:pPr>
            <a:endParaRPr lang="en-US" altLang="x-none" sz="2800" dirty="0">
              <a:solidFill>
                <a:srgbClr val="FF3300"/>
              </a:solidFill>
              <a:latin typeface="黑体" panose="02010609060101010101" pitchFamily="1" charset="-122"/>
              <a:ea typeface="黑体" panose="02010609060101010101" pitchFamily="1" charset="-122"/>
            </a:endParaRPr>
          </a:p>
        </p:txBody>
      </p:sp>
      <p:sp>
        <p:nvSpPr>
          <p:cNvPr id="2055" name="Rectangle 14"/>
          <p:cNvSpPr>
            <a:spLocks noGrp="1"/>
          </p:cNvSpPr>
          <p:nvPr>
            <p:ph type="body"/>
          </p:nvPr>
        </p:nvSpPr>
        <p:spPr>
          <a:xfrm>
            <a:off x="457200" y="996950"/>
            <a:ext cx="8229600" cy="5129213"/>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056" name="Rectangle 15"/>
          <p:cNvSpPr>
            <a:spLocks noGrp="1"/>
          </p:cNvSpPr>
          <p:nvPr>
            <p:ph type="title"/>
          </p:nvPr>
        </p:nvSpPr>
        <p:spPr>
          <a:xfrm>
            <a:off x="457200" y="144463"/>
            <a:ext cx="8229600" cy="577850"/>
          </a:xfrm>
          <a:prstGeom prst="rect">
            <a:avLst/>
          </a:prstGeom>
          <a:noFill/>
          <a:ln w="9525">
            <a:noFill/>
          </a:ln>
        </p:spPr>
        <p:txBody>
          <a:bodyPr anchor="ctr"/>
          <a:lstStyle/>
          <a:p>
            <a:pPr lvl="0" indent="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sldNum="0" hdr="0" ftr="0" dt="0"/>
  <p:txStyles>
    <p:titleStyle>
      <a:lvl1pPr marL="0" lvl="0" indent="0" algn="l" defTabSz="914400" eaLnBrk="0" fontAlgn="base" latinLnBrk="0" hangingPunct="0">
        <a:lnSpc>
          <a:spcPct val="100000"/>
        </a:lnSpc>
        <a:spcBef>
          <a:spcPct val="0"/>
        </a:spcBef>
        <a:spcAft>
          <a:spcPct val="0"/>
        </a:spcAft>
        <a:buClr>
          <a:srgbClr val="000000"/>
        </a:buClr>
        <a:buNone/>
        <a:defRPr sz="3200" b="1" i="0" u="none" kern="1200" baseline="0">
          <a:solidFill>
            <a:srgbClr val="3333CC"/>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2000" b="1"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sz="28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l"/>
        <a:defRPr sz="1600" b="1"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1pPr>
      <a:lvl2pPr marL="457200" lvl="1"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2pPr>
      <a:lvl3pPr marL="914400" lvl="2"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image" Target="../media/image1.w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4.emf"/><Relationship Id="rId1"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5.wmf"/><Relationship Id="rId1"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10.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9.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7.xml"/><Relationship Id="rId2" Type="http://schemas.openxmlformats.org/officeDocument/2006/relationships/image" Target="../media/image25.jpeg"/><Relationship Id="rId1" Type="http://schemas.openxmlformats.org/officeDocument/2006/relationships/image" Target="../media/image24.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7.xml"/><Relationship Id="rId7" Type="http://schemas.openxmlformats.org/officeDocument/2006/relationships/image" Target="../media/image29.png"/><Relationship Id="rId6" Type="http://schemas.openxmlformats.org/officeDocument/2006/relationships/oleObject" Target="../embeddings/oleObject6.bin"/><Relationship Id="rId5" Type="http://schemas.openxmlformats.org/officeDocument/2006/relationships/image" Target="../media/image4.emf"/><Relationship Id="rId4" Type="http://schemas.openxmlformats.org/officeDocument/2006/relationships/oleObject" Target="../embeddings/oleObject5.bin"/><Relationship Id="rId3" Type="http://schemas.openxmlformats.org/officeDocument/2006/relationships/image" Target="../media/image16.jpeg"/><Relationship Id="rId2" Type="http://schemas.openxmlformats.org/officeDocument/2006/relationships/image" Target="../media/image28.png"/><Relationship Id="rId10" Type="http://schemas.openxmlformats.org/officeDocument/2006/relationships/notesSlide" Target="../notesSlides/notesSlide23.xml"/><Relationship Id="rId1" Type="http://schemas.openxmlformats.org/officeDocument/2006/relationships/oleObject" Target="../embeddings/oleObject4.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30.wmf"/><Relationship Id="rId1" Type="http://schemas.openxmlformats.org/officeDocument/2006/relationships/oleObject" Target="../embeddings/oleObject7.bin"/></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7.xml"/><Relationship Id="rId3" Type="http://schemas.openxmlformats.org/officeDocument/2006/relationships/image" Target="../media/image37.png"/><Relationship Id="rId2" Type="http://schemas.openxmlformats.org/officeDocument/2006/relationships/image" Target="../media/image36.wmf"/><Relationship Id="rId1" Type="http://schemas.openxmlformats.org/officeDocument/2006/relationships/oleObject" Target="../embeddings/oleObject8.bin"/></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image" Target="../media/image38.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image" Target="../media/image40.jpeg"/></Relationships>
</file>

<file path=ppt/slides/_rels/slide75.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7.xml"/><Relationship Id="rId3" Type="http://schemas.openxmlformats.org/officeDocument/2006/relationships/image" Target="../media/image42.wmf"/><Relationship Id="rId2" Type="http://schemas.openxmlformats.org/officeDocument/2006/relationships/oleObject" Target="../embeddings/oleObject9.bin"/><Relationship Id="rId1" Type="http://schemas.openxmlformats.org/officeDocument/2006/relationships/image" Target="../media/image41.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7" Type="http://schemas.openxmlformats.org/officeDocument/2006/relationships/notesSlide" Target="../notesSlides/notesSlide31.xml"/><Relationship Id="rId6" Type="http://schemas.openxmlformats.org/officeDocument/2006/relationships/slideLayout" Target="../slideLayouts/slideLayout7.xml"/><Relationship Id="rId5" Type="http://schemas.openxmlformats.org/officeDocument/2006/relationships/image" Target="../media/image47.jpeg"/><Relationship Id="rId4" Type="http://schemas.openxmlformats.org/officeDocument/2006/relationships/image" Target="../media/image46.jpeg"/><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image" Target="../media/image43.jpeg"/></Relationships>
</file>

<file path=ppt/slides/_rels/slide78.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52.jpeg"/><Relationship Id="rId5" Type="http://schemas.openxmlformats.org/officeDocument/2006/relationships/image" Target="../media/image51.jpeg"/><Relationship Id="rId4" Type="http://schemas.openxmlformats.org/officeDocument/2006/relationships/image" Target="../media/image50.jpeg"/><Relationship Id="rId3" Type="http://schemas.openxmlformats.org/officeDocument/2006/relationships/image" Target="../media/image49.jpeg"/><Relationship Id="rId2" Type="http://schemas.openxmlformats.org/officeDocument/2006/relationships/image" Target="../media/image43.jpeg"/><Relationship Id="rId1" Type="http://schemas.openxmlformats.org/officeDocument/2006/relationships/image" Target="../media/image48.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53.emf"/><Relationship Id="rId1" Type="http://schemas.openxmlformats.org/officeDocument/2006/relationships/oleObject" Target="../embeddings/oleObject10.bin"/></Relationships>
</file>

<file path=ppt/slides/_rels/slide82.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54.wmf"/><Relationship Id="rId1" Type="http://schemas.openxmlformats.org/officeDocument/2006/relationships/oleObject" Target="../embeddings/oleObject11.bin"/></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AutoShape 51"/>
          <p:cNvSpPr/>
          <p:nvPr/>
        </p:nvSpPr>
        <p:spPr>
          <a:xfrm>
            <a:off x="1436688" y="1320800"/>
            <a:ext cx="6561137" cy="1001713"/>
          </a:xfrm>
          <a:prstGeom prst="roundRect">
            <a:avLst>
              <a:gd name="adj" fmla="val 50000"/>
            </a:avLst>
          </a:prstGeom>
          <a:solidFill>
            <a:srgbClr val="99CCFF"/>
          </a:solidFill>
          <a:ln w="28575" cap="flat" cmpd="sng">
            <a:solidFill>
              <a:srgbClr val="C0C0C0"/>
            </a:solidFill>
            <a:prstDash val="solid"/>
            <a:round/>
            <a:headEnd type="none" w="med" len="med"/>
            <a:tailEnd type="none" w="med" len="med"/>
          </a:ln>
        </p:spPr>
        <p:txBody>
          <a:bodyPr anchor="ctr"/>
          <a:lstStyle/>
          <a:p>
            <a:pPr lvl="0" indent="0" algn="ctr" eaLnBrk="0" hangingPunct="0">
              <a:lnSpc>
                <a:spcPct val="125000"/>
              </a:lnSpc>
              <a:spcBef>
                <a:spcPct val="50000"/>
              </a:spcBef>
              <a:buNone/>
            </a:pPr>
            <a:r>
              <a:rPr lang="zh-CN" altLang="en-US" sz="3200" dirty="0">
                <a:latin typeface="Times New Roman" panose="02020603050405020304" pitchFamily="2" charset="0"/>
                <a:ea typeface="楷体_GB2312" pitchFamily="1" charset="-122"/>
              </a:rPr>
              <a:t>第一章：数据库系统概述</a:t>
            </a:r>
            <a:endParaRPr lang="en-US" altLang="x-none" sz="3200" dirty="0">
              <a:latin typeface="Times New Roman" panose="02020603050405020304" pitchFamily="2" charset="0"/>
              <a:ea typeface="楷体_GB2312" pitchFamily="1" charset="-122"/>
            </a:endParaRPr>
          </a:p>
        </p:txBody>
      </p:sp>
      <p:sp>
        <p:nvSpPr>
          <p:cNvPr id="20482" name="Rectangle 7"/>
          <p:cNvSpPr>
            <a:spLocks noGrp="1"/>
          </p:cNvSpPr>
          <p:nvPr>
            <p:ph type="body"/>
          </p:nvPr>
        </p:nvSpPr>
        <p:spPr>
          <a:xfrm>
            <a:off x="1589088" y="3430588"/>
            <a:ext cx="6784975" cy="1919287"/>
          </a:xfrm>
        </p:spPr>
        <p:txBody>
          <a:bodyPr wrap="square" lIns="0" tIns="0" rIns="0" bIns="0" anchor="t"/>
          <a:lstStyle/>
          <a:p>
            <a:pPr lvl="0" indent="-342900">
              <a:lnSpc>
                <a:spcPct val="110000"/>
              </a:lnSpc>
            </a:pPr>
            <a:r>
              <a:rPr lang="zh-CN" altLang="en-US" sz="2400" dirty="0">
                <a:latin typeface="宋体" panose="02010600030101010101" pitchFamily="2" charset="-122"/>
              </a:rPr>
              <a:t>数据库管理系统出现的背景</a:t>
            </a:r>
            <a:r>
              <a:rPr lang="en-US" altLang="x-none" sz="2400" dirty="0">
                <a:solidFill>
                  <a:srgbClr val="FF0000"/>
                </a:solidFill>
                <a:latin typeface="宋体" panose="02010600030101010101" pitchFamily="2" charset="-122"/>
              </a:rPr>
              <a:t>—</a:t>
            </a:r>
            <a:r>
              <a:rPr lang="zh-CN" altLang="en-US" sz="2400" dirty="0">
                <a:solidFill>
                  <a:srgbClr val="FF0000"/>
                </a:solidFill>
                <a:latin typeface="宋体" panose="02010600030101010101" pitchFamily="2" charset="-122"/>
              </a:rPr>
              <a:t>理解</a:t>
            </a:r>
            <a:endParaRPr lang="en-US" altLang="x-none" sz="2400" dirty="0">
              <a:solidFill>
                <a:srgbClr val="FF0000"/>
              </a:solidFill>
              <a:latin typeface="宋体" panose="02010600030101010101" pitchFamily="2" charset="-122"/>
            </a:endParaRPr>
          </a:p>
          <a:p>
            <a:pPr lvl="0" indent="-342900">
              <a:lnSpc>
                <a:spcPct val="110000"/>
              </a:lnSpc>
            </a:pPr>
            <a:r>
              <a:rPr lang="zh-CN" altLang="en-US" sz="2400" dirty="0">
                <a:latin typeface="宋体" panose="02010600030101010101" pitchFamily="2" charset="-122"/>
              </a:rPr>
              <a:t>数据库管理系统基本功能、抽象层次</a:t>
            </a:r>
            <a:r>
              <a:rPr lang="en-US" altLang="x-none" sz="2400" dirty="0">
                <a:solidFill>
                  <a:srgbClr val="FF0000"/>
                </a:solidFill>
                <a:latin typeface="宋体" panose="02010600030101010101" pitchFamily="2" charset="-122"/>
              </a:rPr>
              <a:t>—</a:t>
            </a:r>
            <a:r>
              <a:rPr lang="zh-CN" altLang="en-US" sz="2400" dirty="0">
                <a:solidFill>
                  <a:srgbClr val="FF0000"/>
                </a:solidFill>
                <a:latin typeface="宋体" panose="02010600030101010101" pitchFamily="2" charset="-122"/>
              </a:rPr>
              <a:t>掌握</a:t>
            </a:r>
            <a:endParaRPr lang="en-US" altLang="x-none" sz="2400" dirty="0">
              <a:latin typeface="宋体" panose="02010600030101010101" pitchFamily="2" charset="-122"/>
            </a:endParaRPr>
          </a:p>
          <a:p>
            <a:pPr marL="342900" lvl="1" indent="-342900">
              <a:lnSpc>
                <a:spcPct val="110000"/>
              </a:lnSpc>
              <a:buChar char="u"/>
            </a:pPr>
            <a:r>
              <a:rPr lang="zh-CN" altLang="en-US" sz="2400" dirty="0">
                <a:latin typeface="宋体" panose="02010600030101010101" pitchFamily="2" charset="-122"/>
              </a:rPr>
              <a:t>数据库系统总体结构</a:t>
            </a:r>
            <a:r>
              <a:rPr lang="en-US" altLang="x-none" sz="2400" dirty="0">
                <a:solidFill>
                  <a:srgbClr val="FF0000"/>
                </a:solidFill>
                <a:latin typeface="宋体" panose="02010600030101010101" pitchFamily="2" charset="-122"/>
              </a:rPr>
              <a:t>—</a:t>
            </a:r>
            <a:r>
              <a:rPr lang="zh-CN" altLang="en-US" sz="2400" dirty="0" smtClean="0">
                <a:solidFill>
                  <a:srgbClr val="FF0000"/>
                </a:solidFill>
                <a:latin typeface="宋体" panose="02010600030101010101" pitchFamily="2" charset="-122"/>
              </a:rPr>
              <a:t>掌握</a:t>
            </a:r>
            <a:endParaRPr lang="zh-CN" altLang="en-US" sz="2400" dirty="0">
              <a:solidFill>
                <a:srgbClr val="FF0000"/>
              </a:solidFill>
              <a:latin typeface="宋体" panose="02010600030101010101" pitchFamily="2" charset="-122"/>
            </a:endParaRPr>
          </a:p>
          <a:p>
            <a:pPr marL="342900" lvl="1" indent="-342900">
              <a:lnSpc>
                <a:spcPct val="110000"/>
              </a:lnSpc>
              <a:buChar char="u"/>
            </a:pPr>
            <a:r>
              <a:rPr lang="zh-CN" altLang="en-US" sz="2400" dirty="0">
                <a:latin typeface="宋体" panose="02010600030101010101" pitchFamily="2" charset="-122"/>
              </a:rPr>
              <a:t>数据库技术的发展历程</a:t>
            </a:r>
            <a:r>
              <a:rPr lang="en-US" altLang="x-none" sz="2400" dirty="0">
                <a:solidFill>
                  <a:srgbClr val="FF0000"/>
                </a:solidFill>
                <a:latin typeface="宋体" panose="02010600030101010101" pitchFamily="2" charset="-122"/>
              </a:rPr>
              <a:t>—</a:t>
            </a:r>
            <a:r>
              <a:rPr lang="zh-CN" altLang="en-US" sz="2400" dirty="0">
                <a:solidFill>
                  <a:srgbClr val="FF0000"/>
                </a:solidFill>
                <a:latin typeface="宋体" panose="02010600030101010101" pitchFamily="2" charset="-122"/>
              </a:rPr>
              <a:t>了解</a:t>
            </a:r>
            <a:endParaRPr lang="en-US" altLang="x-none" sz="2400" dirty="0">
              <a:latin typeface="宋体" panose="02010600030101010101" pitchFamily="2" charset="-122"/>
            </a:endParaRPr>
          </a:p>
          <a:p>
            <a:pPr marL="342900" lvl="1" indent="-342900">
              <a:buNone/>
            </a:pPr>
            <a:endParaRPr lang="zh-CN" altLang="en-US" sz="2200" dirty="0">
              <a:latin typeface="楷体" panose="02010609060101010101" pitchFamily="1" charset="-122"/>
              <a:ea typeface="楷体" panose="02010609060101010101" pitchFamily="1" charset="-122"/>
            </a:endParaRPr>
          </a:p>
        </p:txBody>
      </p:sp>
      <p:sp>
        <p:nvSpPr>
          <p:cNvPr id="20483" name="Rectangle 8"/>
          <p:cNvSpPr/>
          <p:nvPr/>
        </p:nvSpPr>
        <p:spPr>
          <a:xfrm>
            <a:off x="1292225" y="3295650"/>
            <a:ext cx="7227888" cy="2700338"/>
          </a:xfrm>
          <a:prstGeom prst="rect">
            <a:avLst/>
          </a:prstGeom>
          <a:noFill/>
          <a:ln w="9525" cap="flat" cmpd="sng">
            <a:solidFill>
              <a:srgbClr val="0000FF"/>
            </a:solidFill>
            <a:prstDash val="solid"/>
            <a:miter/>
            <a:headEnd type="none" w="med" len="med"/>
            <a:tailEnd type="none" w="med" len="med"/>
          </a:ln>
          <a:effectLst>
            <a:prstShdw prst="shdw17" dist="17961" dir="2699999">
              <a:srgbClr val="000099"/>
            </a:prstShdw>
          </a:effectLst>
        </p:spPr>
        <p:txBody>
          <a:bodyPr anchor="ctr">
            <a:spAutoFit/>
          </a:bodyPr>
          <a:lstStyle/>
          <a:p>
            <a:pPr lvl="0" indent="0"/>
            <a:endParaRPr lang="zh-CN" altLang="en-US" dirty="0">
              <a:latin typeface="Arial" panose="020B0604020202020204" pitchFamily="34" charset="0"/>
              <a:ea typeface="宋体" panose="02010600030101010101" pitchFamily="2" charset="-122"/>
            </a:endParaRPr>
          </a:p>
        </p:txBody>
      </p:sp>
      <p:pic>
        <p:nvPicPr>
          <p:cNvPr id="20484" name="Picture 6" descr="j0233174"/>
          <p:cNvPicPr>
            <a:picLocks noChangeAspect="1"/>
          </p:cNvPicPr>
          <p:nvPr/>
        </p:nvPicPr>
        <p:blipFill>
          <a:blip r:embed="rId1" cstate="print"/>
          <a:stretch>
            <a:fillRect/>
          </a:stretch>
        </p:blipFill>
        <p:spPr>
          <a:xfrm>
            <a:off x="242888" y="4198938"/>
            <a:ext cx="1460500" cy="1882775"/>
          </a:xfrm>
          <a:prstGeom prst="rect">
            <a:avLst/>
          </a:prstGeom>
          <a:noFill/>
          <a:ln w="9525">
            <a:noFill/>
          </a:ln>
        </p:spPr>
      </p:pic>
      <p:sp>
        <p:nvSpPr>
          <p:cNvPr id="20485" name="Text Box 10"/>
          <p:cNvSpPr txBox="1"/>
          <p:nvPr/>
        </p:nvSpPr>
        <p:spPr>
          <a:xfrm>
            <a:off x="1355725" y="2603500"/>
            <a:ext cx="4348163" cy="757238"/>
          </a:xfrm>
          <a:prstGeom prst="rect">
            <a:avLst/>
          </a:prstGeom>
          <a:noFill/>
          <a:ln w="9525">
            <a:noFill/>
          </a:ln>
        </p:spPr>
        <p:txBody>
          <a:bodyPr anchor="t">
            <a:spAutoFit/>
          </a:bodyPr>
          <a:lstStyle/>
          <a:p>
            <a:pPr lvl="0" indent="0">
              <a:spcBef>
                <a:spcPct val="50000"/>
              </a:spcBef>
            </a:pPr>
            <a:r>
              <a:rPr lang="zh-CN" altLang="en-US" sz="3200" dirty="0">
                <a:latin typeface="Times New Roman" panose="02020603050405020304" pitchFamily="2" charset="0"/>
                <a:ea typeface="方正舒体" panose="02010601030101010101" pitchFamily="2" charset="-122"/>
              </a:rPr>
              <a:t>学习目的和要求</a:t>
            </a:r>
            <a:endParaRPr lang="zh-CN" altLang="en-US" sz="3200" dirty="0">
              <a:latin typeface="Times New Roman" panose="02020603050405020304" pitchFamily="2" charset="0"/>
              <a:ea typeface="方正舒体" panose="02010601030101010101" pitchFamily="2" charset="-122"/>
            </a:endParaRPr>
          </a:p>
        </p:txBody>
      </p:sp>
    </p:spTree>
  </p:cSld>
  <p:clrMapOvr>
    <a:masterClrMapping/>
  </p:clrMapOvr>
  <p:transition advTm="54672"/>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2" name="Rectangle 2"/>
          <p:cNvSpPr txBox="1"/>
          <p:nvPr/>
        </p:nvSpPr>
        <p:spPr>
          <a:xfrm>
            <a:off x="437832" y="875799"/>
            <a:ext cx="6354853" cy="545147"/>
          </a:xfrm>
          <a:prstGeom prst="rect">
            <a:avLst/>
          </a:prstGeom>
          <a:solidFill>
            <a:srgbClr val="FFFFFF"/>
          </a:solidFill>
          <a:ln w="9525">
            <a:noFill/>
          </a:ln>
        </p:spPr>
        <p:txBody>
          <a:bodyPr anchor="ctr"/>
          <a:lstStyle/>
          <a:p>
            <a:pPr lvl="0">
              <a:lnSpc>
                <a:spcPct val="100000"/>
              </a:lnSpc>
              <a:buNone/>
            </a:pPr>
            <a:r>
              <a:rPr lang="zh-CN" altLang="en-US" sz="2800" dirty="0" smtClean="0">
                <a:solidFill>
                  <a:srgbClr val="3333CC"/>
                </a:solidFill>
                <a:latin typeface="华文中宋" panose="02010600040101010101" pitchFamily="2" charset="-122"/>
                <a:ea typeface="华文中宋" panose="02010600040101010101" pitchFamily="2" charset="-122"/>
              </a:rPr>
              <a:t>数据库</a:t>
            </a:r>
            <a:r>
              <a:rPr lang="zh-CN" altLang="en-US" sz="2800" dirty="0">
                <a:solidFill>
                  <a:srgbClr val="3333CC"/>
                </a:solidFill>
                <a:latin typeface="华文中宋" panose="02010600040101010101" pitchFamily="2" charset="-122"/>
                <a:ea typeface="华文中宋" panose="02010600040101010101" pitchFamily="2" charset="-122"/>
              </a:rPr>
              <a:t>的</a:t>
            </a:r>
            <a:r>
              <a:rPr lang="zh-CN" altLang="en-US" sz="2800" dirty="0" smtClean="0">
                <a:solidFill>
                  <a:srgbClr val="3333CC"/>
                </a:solidFill>
                <a:latin typeface="华文中宋" panose="02010600040101010101" pitchFamily="2" charset="-122"/>
                <a:ea typeface="华文中宋" panose="02010600040101010101" pitchFamily="2" charset="-122"/>
              </a:rPr>
              <a:t>史前时代大致可分为两个阶段</a:t>
            </a:r>
            <a:endParaRPr lang="zh-CN" altLang="zh-CN" sz="2800" dirty="0">
              <a:solidFill>
                <a:srgbClr val="3333CC"/>
              </a:solidFill>
              <a:latin typeface="华文中宋" panose="02010600040101010101" pitchFamily="2" charset="-122"/>
              <a:ea typeface="华文中宋" panose="02010600040101010101" pitchFamily="2" charset="-122"/>
            </a:endParaRPr>
          </a:p>
        </p:txBody>
      </p:sp>
      <p:sp>
        <p:nvSpPr>
          <p:cNvPr id="4" name="AutoShape 3"/>
          <p:cNvSpPr/>
          <p:nvPr/>
        </p:nvSpPr>
        <p:spPr>
          <a:xfrm>
            <a:off x="624710" y="1726266"/>
            <a:ext cx="2789821" cy="550863"/>
          </a:xfrm>
          <a:prstGeom prst="roundRect">
            <a:avLst>
              <a:gd name="adj" fmla="val 7574"/>
            </a:avLst>
          </a:prstGeom>
          <a:gradFill rotWithShape="1">
            <a:gsLst>
              <a:gs pos="0">
                <a:srgbClr val="97CCF3"/>
              </a:gs>
              <a:gs pos="100000">
                <a:srgbClr val="D5EBFA"/>
              </a:gs>
            </a:gsLst>
            <a:lin ang="0" scaled="1"/>
            <a:tileRect/>
          </a:gradFill>
          <a:ln w="9525">
            <a:noFill/>
          </a:ln>
        </p:spPr>
        <p:txBody>
          <a:bodyPr wrap="none" anchor="ctr"/>
          <a:lstStyle/>
          <a:p>
            <a:pPr eaLnBrk="0" hangingPunct="0">
              <a:lnSpc>
                <a:spcPct val="100000"/>
              </a:lnSpc>
              <a:buFont typeface="Wingdings" panose="05000000000000000000" pitchFamily="2" charset="2"/>
              <a:buChar char="p"/>
            </a:pPr>
            <a:r>
              <a:rPr lang="zh-CN" altLang="en-US" sz="2400" dirty="0">
                <a:latin typeface="Arial" panose="020B0604020202020204" pitchFamily="34" charset="0"/>
                <a:ea typeface="宋体" panose="02010600030101010101" pitchFamily="2" charset="-122"/>
              </a:rPr>
              <a:t> 人工管理阶段</a:t>
            </a:r>
            <a:endParaRPr lang="en-US" altLang="x-none" sz="2400" dirty="0">
              <a:latin typeface="Arial" panose="020B0604020202020204" pitchFamily="34" charset="0"/>
              <a:ea typeface="宋体" panose="02010600030101010101" pitchFamily="2" charset="-122"/>
            </a:endParaRPr>
          </a:p>
        </p:txBody>
      </p:sp>
      <p:sp>
        <p:nvSpPr>
          <p:cNvPr id="5" name="矩形 4"/>
          <p:cNvSpPr/>
          <p:nvPr/>
        </p:nvSpPr>
        <p:spPr>
          <a:xfrm>
            <a:off x="437833" y="2430176"/>
            <a:ext cx="3381813" cy="904863"/>
          </a:xfrm>
          <a:prstGeom prst="rect">
            <a:avLst/>
          </a:prstGeom>
        </p:spPr>
        <p:txBody>
          <a:bodyPr wrap="square">
            <a:spAutoFit/>
          </a:bodyPr>
          <a:lstStyle/>
          <a:p>
            <a:pPr eaLnBrk="0" hangingPunct="0">
              <a:lnSpc>
                <a:spcPct val="120000"/>
              </a:lnSpc>
              <a:buNone/>
            </a:pPr>
            <a:r>
              <a:rPr lang="zh-CN" altLang="en-US" sz="2200" dirty="0"/>
              <a:t>（</a:t>
            </a:r>
            <a:r>
              <a:rPr lang="en-US" altLang="zh-CN" sz="2200" dirty="0"/>
              <a:t>20</a:t>
            </a:r>
            <a:r>
              <a:rPr lang="zh-CN" altLang="en-US" sz="2200" dirty="0"/>
              <a:t>世纪</a:t>
            </a:r>
            <a:r>
              <a:rPr lang="en-US" altLang="zh-CN" sz="2200" dirty="0"/>
              <a:t>40</a:t>
            </a:r>
            <a:r>
              <a:rPr lang="zh-CN" altLang="en-US" sz="2200" dirty="0"/>
              <a:t>年代中</a:t>
            </a:r>
            <a:r>
              <a:rPr lang="en-US" altLang="zh-CN" sz="2200" dirty="0"/>
              <a:t>—50</a:t>
            </a:r>
            <a:r>
              <a:rPr lang="zh-CN" altLang="en-US" sz="2200" dirty="0"/>
              <a:t>年代中，</a:t>
            </a:r>
            <a:r>
              <a:rPr lang="en-US" altLang="zh-CN" sz="2200" dirty="0"/>
              <a:t>1946</a:t>
            </a:r>
            <a:r>
              <a:rPr lang="zh-CN" altLang="en-US" sz="2200" dirty="0"/>
              <a:t>年电脑诞生）</a:t>
            </a:r>
            <a:endParaRPr lang="en-US" altLang="x-none" sz="2200" dirty="0"/>
          </a:p>
        </p:txBody>
      </p:sp>
      <p:sp>
        <p:nvSpPr>
          <p:cNvPr id="7" name="AutoShape 3"/>
          <p:cNvSpPr/>
          <p:nvPr/>
        </p:nvSpPr>
        <p:spPr>
          <a:xfrm>
            <a:off x="649788" y="4076507"/>
            <a:ext cx="2764744" cy="550863"/>
          </a:xfrm>
          <a:prstGeom prst="roundRect">
            <a:avLst>
              <a:gd name="adj" fmla="val 7574"/>
            </a:avLst>
          </a:prstGeom>
          <a:gradFill rotWithShape="1">
            <a:gsLst>
              <a:gs pos="0">
                <a:srgbClr val="97CCF3"/>
              </a:gs>
              <a:gs pos="100000">
                <a:srgbClr val="D5EBFA"/>
              </a:gs>
            </a:gsLst>
            <a:lin ang="0" scaled="1"/>
            <a:tileRect/>
          </a:gradFill>
          <a:ln w="9525">
            <a:noFill/>
          </a:ln>
        </p:spPr>
        <p:txBody>
          <a:bodyPr wrap="none" anchor="ctr"/>
          <a:lstStyle/>
          <a:p>
            <a:pPr eaLnBrk="0" hangingPunct="0">
              <a:lnSpc>
                <a:spcPct val="100000"/>
              </a:lnSpc>
              <a:buFont typeface="Wingdings" panose="05000000000000000000" pitchFamily="2" charset="2"/>
              <a:buChar char="p"/>
            </a:pPr>
            <a:r>
              <a:rPr lang="zh-CN" altLang="en-US" sz="2400" dirty="0">
                <a:latin typeface="Arial" panose="020B0604020202020204" pitchFamily="34" charset="0"/>
                <a:ea typeface="宋体" panose="02010600030101010101" pitchFamily="2" charset="-122"/>
              </a:rPr>
              <a:t> </a:t>
            </a:r>
            <a:r>
              <a:rPr lang="zh-CN" altLang="en-US" sz="2400" dirty="0"/>
              <a:t>文件系统</a:t>
            </a:r>
            <a:r>
              <a:rPr lang="zh-CN" altLang="en-US" sz="2400" dirty="0">
                <a:latin typeface="Arial" panose="020B0604020202020204" pitchFamily="34" charset="0"/>
                <a:ea typeface="宋体" panose="02010600030101010101" pitchFamily="2" charset="-122"/>
              </a:rPr>
              <a:t>阶段</a:t>
            </a:r>
            <a:endParaRPr lang="en-US" altLang="x-none" sz="2400" dirty="0">
              <a:latin typeface="Arial" panose="020B0604020202020204" pitchFamily="34" charset="0"/>
              <a:ea typeface="宋体" panose="02010600030101010101" pitchFamily="2" charset="-122"/>
            </a:endParaRPr>
          </a:p>
        </p:txBody>
      </p:sp>
      <p:sp>
        <p:nvSpPr>
          <p:cNvPr id="9" name="矩形 8"/>
          <p:cNvSpPr/>
          <p:nvPr/>
        </p:nvSpPr>
        <p:spPr>
          <a:xfrm>
            <a:off x="437833" y="4679791"/>
            <a:ext cx="2602375" cy="864467"/>
          </a:xfrm>
          <a:prstGeom prst="rect">
            <a:avLst/>
          </a:prstGeom>
        </p:spPr>
        <p:txBody>
          <a:bodyPr wrap="square">
            <a:spAutoFit/>
          </a:bodyPr>
          <a:lstStyle/>
          <a:p>
            <a:pPr algn="ctr" eaLnBrk="0" hangingPunct="0">
              <a:lnSpc>
                <a:spcPct val="120000"/>
              </a:lnSpc>
              <a:buNone/>
            </a:pPr>
            <a:r>
              <a:rPr lang="zh-CN" altLang="en-US" sz="2200" dirty="0"/>
              <a:t>（</a:t>
            </a:r>
            <a:r>
              <a:rPr lang="en-US" altLang="zh-CN" sz="2200" dirty="0"/>
              <a:t>20</a:t>
            </a:r>
            <a:r>
              <a:rPr lang="zh-CN" altLang="en-US" sz="2200" dirty="0"/>
              <a:t>世纪</a:t>
            </a:r>
            <a:r>
              <a:rPr lang="en-US" altLang="zh-CN" sz="2200" dirty="0"/>
              <a:t>50</a:t>
            </a:r>
            <a:r>
              <a:rPr lang="zh-CN" altLang="en-US" sz="2200" dirty="0"/>
              <a:t>年代末</a:t>
            </a:r>
            <a:r>
              <a:rPr lang="en-US" altLang="zh-CN" sz="2200" dirty="0"/>
              <a:t>—60</a:t>
            </a:r>
            <a:r>
              <a:rPr lang="zh-CN" altLang="en-US" sz="2200" dirty="0"/>
              <a:t>年代）</a:t>
            </a:r>
            <a:endParaRPr lang="en-US" altLang="x-none" sz="2200" dirty="0"/>
          </a:p>
        </p:txBody>
      </p:sp>
      <p:sp>
        <p:nvSpPr>
          <p:cNvPr id="12" name="Text Box 8"/>
          <p:cNvSpPr txBox="1"/>
          <p:nvPr/>
        </p:nvSpPr>
        <p:spPr>
          <a:xfrm>
            <a:off x="3733205" y="3779158"/>
            <a:ext cx="4984460" cy="2031325"/>
          </a:xfrm>
          <a:prstGeom prst="rect">
            <a:avLst/>
          </a:prstGeom>
          <a:noFill/>
          <a:ln w="9525">
            <a:noFill/>
          </a:ln>
        </p:spPr>
        <p:txBody>
          <a:bodyPr wrap="square" anchor="t">
            <a:spAutoFit/>
          </a:bodyPr>
          <a:lstStyle/>
          <a:p>
            <a:pPr>
              <a:lnSpc>
                <a:spcPct val="105000"/>
              </a:lnSpc>
              <a:spcBef>
                <a:spcPts val="0"/>
              </a:spcBef>
              <a:spcAft>
                <a:spcPts val="0"/>
              </a:spcAft>
              <a:buNone/>
            </a:pP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产生背景：</a:t>
            </a:r>
            <a:endParaRPr lang="en-US" altLang="zh-CN" sz="2400" dirty="0">
              <a:latin typeface="楷体" panose="02010609060101010101" pitchFamily="1" charset="-122"/>
              <a:ea typeface="楷体" panose="02010609060101010101" pitchFamily="1" charset="-122"/>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应用需求：</a:t>
            </a:r>
            <a:r>
              <a:rPr lang="zh-CN" altLang="en-US" sz="2400" dirty="0">
                <a:latin typeface="楷体" panose="02010609060101010101" pitchFamily="1" charset="-122"/>
                <a:ea typeface="楷体" panose="02010609060101010101" pitchFamily="1" charset="-122"/>
                <a:sym typeface="+mn-ea"/>
              </a:rPr>
              <a:t>科学计算、管理    </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硬件水平：</a:t>
            </a:r>
            <a:r>
              <a:rPr lang="zh-CN" altLang="en-US" sz="2400" dirty="0">
                <a:latin typeface="楷体" panose="02010609060101010101" pitchFamily="1" charset="-122"/>
                <a:ea typeface="楷体" panose="02010609060101010101" pitchFamily="1" charset="-122"/>
                <a:sym typeface="+mn-ea"/>
              </a:rPr>
              <a:t>磁盘、磁鼓</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软件水平：</a:t>
            </a:r>
            <a:r>
              <a:rPr lang="zh-CN" altLang="en-US" sz="2400" dirty="0">
                <a:latin typeface="楷体" panose="02010609060101010101" pitchFamily="1" charset="-122"/>
                <a:ea typeface="楷体" panose="02010609060101010101" pitchFamily="1" charset="-122"/>
                <a:sym typeface="+mn-ea"/>
              </a:rPr>
              <a:t>有文件系统  </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处理方式：</a:t>
            </a:r>
            <a:r>
              <a:rPr lang="zh-CN" altLang="en-US" sz="2400" dirty="0">
                <a:latin typeface="楷体" panose="02010609060101010101" pitchFamily="1" charset="-122"/>
                <a:ea typeface="楷体" panose="02010609060101010101" pitchFamily="1" charset="-122"/>
                <a:sym typeface="+mn-ea"/>
              </a:rPr>
              <a:t>联机实时处理、批处理  </a:t>
            </a:r>
            <a:endParaRPr lang="en-US" altLang="zh-CN" sz="2400" dirty="0">
              <a:latin typeface="楷体" panose="02010609060101010101" pitchFamily="1" charset="-122"/>
              <a:ea typeface="楷体" panose="02010609060101010101" pitchFamily="1" charset="-122"/>
              <a:sym typeface="+mn-ea"/>
            </a:endParaRPr>
          </a:p>
        </p:txBody>
      </p:sp>
      <p:sp>
        <p:nvSpPr>
          <p:cNvPr id="13" name="Text Box 8"/>
          <p:cNvSpPr txBox="1"/>
          <p:nvPr/>
        </p:nvSpPr>
        <p:spPr>
          <a:xfrm>
            <a:off x="3733205" y="1594011"/>
            <a:ext cx="4984460" cy="2031325"/>
          </a:xfrm>
          <a:prstGeom prst="rect">
            <a:avLst/>
          </a:prstGeom>
          <a:noFill/>
          <a:ln w="9525">
            <a:noFill/>
          </a:ln>
        </p:spPr>
        <p:txBody>
          <a:bodyPr wrap="square" anchor="t">
            <a:spAutoFit/>
          </a:bodyPr>
          <a:lstStyle/>
          <a:p>
            <a:pPr>
              <a:lnSpc>
                <a:spcPct val="105000"/>
              </a:lnSpc>
              <a:spcBef>
                <a:spcPts val="0"/>
              </a:spcBef>
              <a:spcAft>
                <a:spcPts val="0"/>
              </a:spcAft>
              <a:buNone/>
            </a:pP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产生背景：</a:t>
            </a:r>
            <a:endParaRPr lang="en-US" altLang="zh-CN" sz="2400" dirty="0">
              <a:latin typeface="楷体" panose="02010609060101010101" pitchFamily="1" charset="-122"/>
              <a:ea typeface="楷体" panose="02010609060101010101" pitchFamily="1" charset="-122"/>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应用需求：</a:t>
            </a:r>
            <a:r>
              <a:rPr lang="zh-CN" altLang="en-US" sz="2400" dirty="0">
                <a:latin typeface="楷体" panose="02010609060101010101" pitchFamily="1" charset="-122"/>
                <a:ea typeface="楷体" panose="02010609060101010101" pitchFamily="1" charset="-122"/>
                <a:sym typeface="+mn-ea"/>
              </a:rPr>
              <a:t>科学计算</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硬件水平：</a:t>
            </a:r>
            <a:r>
              <a:rPr lang="zh-CN" altLang="en-US" sz="2400" dirty="0">
                <a:latin typeface="楷体" panose="02010609060101010101" pitchFamily="1" charset="-122"/>
                <a:ea typeface="楷体" panose="02010609060101010101" pitchFamily="1" charset="-122"/>
                <a:sym typeface="+mn-ea"/>
              </a:rPr>
              <a:t>无直接存储存取设备</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软件水平：</a:t>
            </a:r>
            <a:r>
              <a:rPr lang="zh-CN" altLang="en-US" sz="2400" dirty="0">
                <a:latin typeface="楷体" panose="02010609060101010101" pitchFamily="1" charset="-122"/>
                <a:ea typeface="楷体" panose="02010609060101010101" pitchFamily="1" charset="-122"/>
                <a:sym typeface="+mn-ea"/>
              </a:rPr>
              <a:t>没有操作系统</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处理方式：</a:t>
            </a:r>
            <a:r>
              <a:rPr lang="zh-CN" altLang="en-US" sz="2400" dirty="0">
                <a:latin typeface="楷体" panose="02010609060101010101" pitchFamily="1" charset="-122"/>
                <a:ea typeface="楷体" panose="02010609060101010101" pitchFamily="1" charset="-122"/>
                <a:sym typeface="+mn-ea"/>
              </a:rPr>
              <a:t>批处理  </a:t>
            </a:r>
            <a:endParaRPr lang="en-US" altLang="zh-CN" sz="2400" dirty="0">
              <a:latin typeface="楷体" panose="02010609060101010101" pitchFamily="1" charset="-122"/>
              <a:ea typeface="楷体" panose="02010609060101010101" pitchFamily="1" charset="-122"/>
              <a:sym typeface="+mn-ea"/>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572000" y="4021129"/>
            <a:ext cx="3927678" cy="459613"/>
          </a:xfrm>
          <a:prstGeom prst="rect">
            <a:avLst/>
          </a:prstGeom>
        </p:spPr>
        <p:txBody>
          <a:bodyPr wrap="none">
            <a:spAutoFit/>
          </a:bodyPr>
          <a:lstStyle/>
          <a:p>
            <a:pPr>
              <a:buNone/>
            </a:pPr>
            <a:r>
              <a:rPr lang="zh-CN" altLang="en-US" sz="2000" dirty="0">
                <a:solidFill>
                  <a:srgbClr val="0033CC"/>
                </a:solidFill>
                <a:latin typeface="楷体" panose="02010609060101010101" pitchFamily="1" charset="-122"/>
                <a:ea typeface="楷体" panose="02010609060101010101" pitchFamily="1" charset="-122"/>
                <a:sym typeface="+mn-ea"/>
              </a:rPr>
              <a:t>应用程序与数据之间的对应关系 </a:t>
            </a:r>
            <a:endParaRPr lang="zh-CN" altLang="en-US" sz="2000" dirty="0">
              <a:solidFill>
                <a:srgbClr val="0033CC"/>
              </a:solidFill>
            </a:endParaRPr>
          </a:p>
        </p:txBody>
      </p:sp>
      <p:sp>
        <p:nvSpPr>
          <p:cNvPr id="8" name="Text Box 8"/>
          <p:cNvSpPr txBox="1"/>
          <p:nvPr/>
        </p:nvSpPr>
        <p:spPr>
          <a:xfrm>
            <a:off x="576044" y="3321159"/>
            <a:ext cx="5266804" cy="2806922"/>
          </a:xfrm>
          <a:prstGeom prst="rect">
            <a:avLst/>
          </a:prstGeom>
          <a:noFill/>
          <a:ln w="9525">
            <a:noFill/>
          </a:ln>
        </p:spPr>
        <p:txBody>
          <a:bodyPr wrap="square" anchor="t">
            <a:spAutoFit/>
          </a:bodyPr>
          <a:lstStyle/>
          <a:p>
            <a:pPr>
              <a:lnSpc>
                <a:spcPct val="105000"/>
              </a:lnSpc>
              <a:spcBef>
                <a:spcPts val="0"/>
              </a:spcBef>
              <a:spcAft>
                <a:spcPts val="0"/>
              </a:spcAft>
              <a:buNone/>
            </a:pP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特点：</a:t>
            </a:r>
            <a:endParaRPr lang="en-US" altLang="zh-CN" sz="2400" dirty="0">
              <a:latin typeface="楷体" panose="02010609060101010101" pitchFamily="1" charset="-122"/>
              <a:ea typeface="楷体" panose="02010609060101010101" pitchFamily="1" charset="-122"/>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数据的管理者：</a:t>
            </a:r>
            <a:r>
              <a:rPr lang="zh-CN" altLang="en-US" sz="2400" dirty="0">
                <a:latin typeface="楷体" panose="02010609060101010101" pitchFamily="1" charset="-122"/>
                <a:ea typeface="楷体" panose="02010609060101010101" pitchFamily="1" charset="-122"/>
                <a:sym typeface="+mn-ea"/>
              </a:rPr>
              <a:t>程序员</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数据储存：</a:t>
            </a:r>
            <a:r>
              <a:rPr lang="zh-CN" altLang="en-US" sz="2400" dirty="0">
                <a:latin typeface="楷体" panose="02010609060101010101" pitchFamily="1" charset="-122"/>
                <a:ea typeface="楷体" panose="02010609060101010101" pitchFamily="1" charset="-122"/>
                <a:sym typeface="+mn-ea"/>
              </a:rPr>
              <a:t>不保存</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共享程度：</a:t>
            </a:r>
            <a:r>
              <a:rPr lang="zh-CN" altLang="en-US" sz="2400" dirty="0">
                <a:latin typeface="楷体" panose="02010609060101010101" pitchFamily="1" charset="-122"/>
                <a:ea typeface="楷体" panose="02010609060101010101" pitchFamily="1" charset="-122"/>
                <a:sym typeface="+mn-ea"/>
              </a:rPr>
              <a:t>无共享</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数据独立性：</a:t>
            </a:r>
            <a:r>
              <a:rPr lang="zh-CN" altLang="en-US" sz="2400" dirty="0">
                <a:latin typeface="楷体" panose="02010609060101010101" pitchFamily="1" charset="-122"/>
                <a:ea typeface="楷体" panose="02010609060101010101" pitchFamily="1" charset="-122"/>
                <a:sym typeface="+mn-ea"/>
              </a:rPr>
              <a:t>不独立，</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en-US" altLang="zh-CN" sz="2400" dirty="0">
                <a:latin typeface="楷体" panose="02010609060101010101" pitchFamily="1" charset="-122"/>
                <a:ea typeface="楷体" panose="02010609060101010101" pitchFamily="1" charset="-122"/>
                <a:sym typeface="+mn-ea"/>
              </a:rPr>
              <a:t>            </a:t>
            </a:r>
            <a:r>
              <a:rPr lang="zh-CN" altLang="en-US" sz="2400" dirty="0">
                <a:latin typeface="楷体" panose="02010609060101010101" pitchFamily="1" charset="-122"/>
                <a:ea typeface="楷体" panose="02010609060101010101" pitchFamily="1" charset="-122"/>
                <a:sym typeface="+mn-ea"/>
              </a:rPr>
              <a:t>完全依赖于程序</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smtClean="0">
                <a:latin typeface="楷体" panose="02010609060101010101" pitchFamily="1" charset="-122"/>
                <a:ea typeface="楷体" panose="02010609060101010101" pitchFamily="1" charset="-122"/>
                <a:sym typeface="+mn-ea"/>
              </a:rPr>
              <a:t>数据</a:t>
            </a:r>
            <a:r>
              <a:rPr lang="zh-CN" altLang="en-US" sz="2400" dirty="0">
                <a:latin typeface="楷体" panose="02010609060101010101" pitchFamily="1" charset="-122"/>
                <a:ea typeface="楷体" panose="02010609060101010101" pitchFamily="1" charset="-122"/>
                <a:sym typeface="+mn-ea"/>
              </a:rPr>
              <a:t>控制能力：应用程序自己控制  </a:t>
            </a:r>
            <a:endParaRPr lang="en-US" altLang="zh-CN" sz="2400" dirty="0">
              <a:latin typeface="楷体" panose="02010609060101010101" pitchFamily="1" charset="-122"/>
              <a:ea typeface="楷体" panose="02010609060101010101" pitchFamily="1" charset="-122"/>
              <a:sym typeface="+mn-ea"/>
            </a:endParaRPr>
          </a:p>
        </p:txBody>
      </p:sp>
      <p:pic>
        <p:nvPicPr>
          <p:cNvPr id="10" name="图片 9"/>
          <p:cNvPicPr>
            <a:picLocks noChangeAspect="1"/>
          </p:cNvPicPr>
          <p:nvPr/>
        </p:nvPicPr>
        <p:blipFill>
          <a:blip r:embed="rId1"/>
          <a:stretch>
            <a:fillRect/>
          </a:stretch>
        </p:blipFill>
        <p:spPr>
          <a:xfrm>
            <a:off x="3953562" y="1198041"/>
            <a:ext cx="5011838" cy="2823088"/>
          </a:xfrm>
          <a:prstGeom prst="rect">
            <a:avLst/>
          </a:prstGeom>
        </p:spPr>
      </p:pic>
      <p:sp>
        <p:nvSpPr>
          <p:cNvPr id="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7" name="Rectangle 2"/>
          <p:cNvSpPr/>
          <p:nvPr/>
        </p:nvSpPr>
        <p:spPr>
          <a:xfrm>
            <a:off x="457200" y="793570"/>
            <a:ext cx="8229600" cy="692150"/>
          </a:xfrm>
          <a:prstGeom prst="rect">
            <a:avLst/>
          </a:prstGeom>
          <a:noFill/>
          <a:ln w="9525">
            <a:noFill/>
          </a:ln>
        </p:spPr>
        <p:txBody>
          <a:bodyPr anchor="ctr"/>
          <a:lstStyle/>
          <a:p>
            <a:pPr lvl="0" indent="0">
              <a:lnSpc>
                <a:spcPct val="100000"/>
              </a:lnSpc>
              <a:buNone/>
            </a:pPr>
            <a:r>
              <a:rPr lang="en-US" altLang="zh-CN" sz="2800" dirty="0" smtClean="0">
                <a:solidFill>
                  <a:srgbClr val="3333CC"/>
                </a:solidFill>
                <a:latin typeface="Arial" panose="020B0604020202020204" pitchFamily="34" charset="0"/>
                <a:ea typeface="黑体" panose="02010609060101010101" pitchFamily="1" charset="-122"/>
              </a:rPr>
              <a:t>1</a:t>
            </a:r>
            <a:r>
              <a:rPr lang="en-US" altLang="x-none" sz="2800" dirty="0" smtClean="0">
                <a:solidFill>
                  <a:srgbClr val="3333CC"/>
                </a:solidFill>
                <a:latin typeface="Arial" panose="020B0604020202020204" pitchFamily="34" charset="0"/>
                <a:ea typeface="黑体" panose="02010609060101010101" pitchFamily="1" charset="-122"/>
              </a:rPr>
              <a:t>. </a:t>
            </a:r>
            <a:r>
              <a:rPr lang="zh-CN" altLang="en-US" sz="2800" dirty="0" smtClean="0">
                <a:solidFill>
                  <a:srgbClr val="3333CC"/>
                </a:solidFill>
                <a:latin typeface="Arial" panose="020B0604020202020204" pitchFamily="34" charset="0"/>
                <a:ea typeface="黑体" panose="02010609060101010101" pitchFamily="1" charset="-122"/>
              </a:rPr>
              <a:t>人工管理阶段</a:t>
            </a:r>
            <a:endParaRPr lang="en-US" altLang="x-none"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2"/>
          <p:cNvSpPr/>
          <p:nvPr/>
        </p:nvSpPr>
        <p:spPr>
          <a:xfrm>
            <a:off x="638175" y="1787448"/>
            <a:ext cx="8026400" cy="3692525"/>
          </a:xfrm>
          <a:prstGeom prst="roundRect">
            <a:avLst>
              <a:gd name="adj" fmla="val 10375"/>
            </a:avLst>
          </a:prstGeom>
          <a:noFill/>
          <a:ln w="19050" cap="rnd" cmpd="sng">
            <a:solidFill>
              <a:srgbClr val="0033CC"/>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22530" name="AutoShape 14"/>
          <p:cNvSpPr/>
          <p:nvPr/>
        </p:nvSpPr>
        <p:spPr>
          <a:xfrm>
            <a:off x="2816225" y="1458518"/>
            <a:ext cx="3657600" cy="569913"/>
          </a:xfrm>
          <a:prstGeom prst="roundRect">
            <a:avLst>
              <a:gd name="adj" fmla="val 16667"/>
            </a:avLst>
          </a:prstGeom>
          <a:solidFill>
            <a:srgbClr val="9ED3D7"/>
          </a:solidFill>
          <a:ln w="19050" cap="rnd" cmpd="sng">
            <a:solidFill>
              <a:schemeClr val="bg2"/>
            </a:solidFill>
            <a:prstDash val="sysDot"/>
            <a:round/>
            <a:headEnd type="none" w="med" len="med"/>
            <a:tailEnd type="none" w="med" len="med"/>
          </a:ln>
        </p:spPr>
        <p:txBody>
          <a:bodyPr wrap="none" anchor="ctr"/>
          <a:lstStyle/>
          <a:p>
            <a:pPr lvl="0" indent="0" algn="ctr">
              <a:lnSpc>
                <a:spcPct val="100000"/>
              </a:lnSpc>
              <a:buNone/>
            </a:pPr>
            <a:r>
              <a:rPr lang="zh-CN" altLang="en-US" sz="2800" dirty="0">
                <a:latin typeface="Arial" panose="020B0604020202020204" pitchFamily="34" charset="0"/>
                <a:ea typeface="黑体" panose="02010609060101010101" pitchFamily="1" charset="-122"/>
              </a:rPr>
              <a:t>思考一下</a:t>
            </a:r>
            <a:endParaRPr lang="zh-CN" altLang="en-US" sz="2800" dirty="0">
              <a:latin typeface="Arial" panose="020B0604020202020204" pitchFamily="34" charset="0"/>
              <a:ea typeface="黑体" panose="02010609060101010101" pitchFamily="1" charset="-122"/>
            </a:endParaRPr>
          </a:p>
        </p:txBody>
      </p:sp>
      <p:sp>
        <p:nvSpPr>
          <p:cNvPr id="22531" name="Text Box 8"/>
          <p:cNvSpPr txBox="1"/>
          <p:nvPr/>
        </p:nvSpPr>
        <p:spPr>
          <a:xfrm>
            <a:off x="644208" y="2143366"/>
            <a:ext cx="8042275" cy="1398905"/>
          </a:xfrm>
          <a:prstGeom prst="rect">
            <a:avLst/>
          </a:prstGeom>
          <a:noFill/>
          <a:ln w="9525">
            <a:noFill/>
          </a:ln>
        </p:spPr>
        <p:txBody>
          <a:bodyPr anchor="t">
            <a:spAutoFit/>
          </a:bodyPr>
          <a:lstStyle/>
          <a:p>
            <a:pPr lvl="0" indent="0">
              <a:lnSpc>
                <a:spcPct val="125000"/>
              </a:lnSpc>
              <a:buNone/>
            </a:pPr>
            <a:r>
              <a:rPr lang="zh-CN" altLang="en-US" sz="2400" dirty="0">
                <a:latin typeface="Arial" panose="020B0604020202020204" pitchFamily="34" charset="0"/>
                <a:ea typeface="宋体" panose="02010600030101010101" pitchFamily="2" charset="-122"/>
              </a:rPr>
              <a:t>       </a:t>
            </a:r>
            <a:r>
              <a:rPr lang="zh-CN" altLang="en-US" sz="2200" dirty="0">
                <a:latin typeface="Arial" panose="020B0604020202020204" pitchFamily="34" charset="0"/>
                <a:ea typeface="宋体" panose="02010600030101010101" pitchFamily="2" charset="-122"/>
              </a:rPr>
              <a:t> 在数据库管理系统还没有出现的时候，你计算机专业大学毕业后留在大学 学生处工作。在开学当天，有</a:t>
            </a:r>
            <a:r>
              <a:rPr lang="en-US" altLang="x-none" sz="2200" dirty="0">
                <a:latin typeface="Arial" panose="020B0604020202020204" pitchFamily="34" charset="0"/>
                <a:ea typeface="宋体" panose="02010600030101010101" pitchFamily="2" charset="-122"/>
              </a:rPr>
              <a:t>1000</a:t>
            </a:r>
            <a:r>
              <a:rPr lang="zh-CN" altLang="en-US" sz="2200" dirty="0">
                <a:latin typeface="Arial" panose="020B0604020202020204" pitchFamily="34" charset="0"/>
                <a:ea typeface="宋体" panose="02010600030101010101" pitchFamily="2" charset="-122"/>
              </a:rPr>
              <a:t>名新生需要登记信息，可能还会有</a:t>
            </a:r>
            <a:r>
              <a:rPr lang="en-US" altLang="x-none" sz="2200" dirty="0">
                <a:latin typeface="Arial" panose="020B0604020202020204" pitchFamily="34" charset="0"/>
                <a:ea typeface="宋体" panose="02010600030101010101" pitchFamily="2" charset="-122"/>
              </a:rPr>
              <a:t>1000</a:t>
            </a:r>
            <a:r>
              <a:rPr lang="zh-CN" altLang="en-US" sz="2200" dirty="0">
                <a:latin typeface="Arial" panose="020B0604020202020204" pitchFamily="34" charset="0"/>
                <a:ea typeface="宋体" panose="02010600030101010101" pitchFamily="2" charset="-122"/>
              </a:rPr>
              <a:t>人后续而来</a:t>
            </a:r>
            <a:r>
              <a:rPr lang="en-US" altLang="x-none" sz="2200" dirty="0">
                <a:latin typeface="Arial" panose="020B0604020202020204" pitchFamily="34" charset="0"/>
                <a:ea typeface="宋体" panose="02010600030101010101" pitchFamily="2" charset="-122"/>
              </a:rPr>
              <a:t>……</a:t>
            </a:r>
            <a:endParaRPr lang="zh-CN" altLang="en-US" sz="2200" dirty="0">
              <a:latin typeface="楷体" panose="02010609060101010101" pitchFamily="1" charset="-122"/>
              <a:ea typeface="楷体" panose="02010609060101010101" pitchFamily="1" charset="-122"/>
            </a:endParaRPr>
          </a:p>
        </p:txBody>
      </p:sp>
      <p:sp>
        <p:nvSpPr>
          <p:cNvPr id="22532" name="Text Box 8"/>
          <p:cNvSpPr txBox="1"/>
          <p:nvPr/>
        </p:nvSpPr>
        <p:spPr>
          <a:xfrm>
            <a:off x="776923" y="3637838"/>
            <a:ext cx="7735887" cy="1568450"/>
          </a:xfrm>
          <a:prstGeom prst="rect">
            <a:avLst/>
          </a:prstGeom>
          <a:noFill/>
          <a:ln w="9525">
            <a:noFill/>
          </a:ln>
        </p:spPr>
        <p:txBody>
          <a:bodyPr anchor="t">
            <a:spAutoFit/>
          </a:bodyPr>
          <a:lstStyle/>
          <a:p>
            <a:pPr lvl="0" indent="0">
              <a:lnSpc>
                <a:spcPct val="100000"/>
              </a:lnSpc>
              <a:buNone/>
            </a:pPr>
            <a:r>
              <a:rPr lang="en-US" altLang="x-none" sz="2400" dirty="0">
                <a:solidFill>
                  <a:srgbClr val="0033CC"/>
                </a:solidFill>
                <a:latin typeface="楷体" panose="02010609060101010101" pitchFamily="1" charset="-122"/>
                <a:ea typeface="楷体" panose="02010609060101010101" pitchFamily="1" charset="-122"/>
              </a:rPr>
              <a:t>1.</a:t>
            </a:r>
            <a:r>
              <a:rPr lang="zh-CN" altLang="en-US" sz="2400" dirty="0">
                <a:solidFill>
                  <a:srgbClr val="0033CC"/>
                </a:solidFill>
                <a:latin typeface="楷体" panose="02010609060101010101" pitchFamily="1" charset="-122"/>
                <a:ea typeface="楷体" panose="02010609060101010101" pitchFamily="1" charset="-122"/>
              </a:rPr>
              <a:t>和你一起工作的同事都用手工方式进行登记</a:t>
            </a:r>
            <a:endParaRPr lang="en-US" altLang="x-none" sz="2400" dirty="0">
              <a:solidFill>
                <a:srgbClr val="0033CC"/>
              </a:solidFill>
              <a:latin typeface="楷体" panose="02010609060101010101" pitchFamily="1" charset="-122"/>
              <a:ea typeface="楷体" panose="02010609060101010101" pitchFamily="1" charset="-122"/>
            </a:endParaRPr>
          </a:p>
          <a:p>
            <a:pPr lvl="0" indent="0">
              <a:lnSpc>
                <a:spcPct val="100000"/>
              </a:lnSpc>
              <a:buNone/>
            </a:pPr>
            <a:r>
              <a:rPr lang="en-US" altLang="x-none" sz="2400" dirty="0">
                <a:solidFill>
                  <a:srgbClr val="0033CC"/>
                </a:solidFill>
                <a:latin typeface="楷体" panose="02010609060101010101" pitchFamily="1" charset="-122"/>
                <a:ea typeface="楷体" panose="02010609060101010101" pitchFamily="1" charset="-122"/>
              </a:rPr>
              <a:t>2.</a:t>
            </a:r>
            <a:r>
              <a:rPr lang="zh-CN" altLang="en-US" sz="2400" dirty="0">
                <a:solidFill>
                  <a:srgbClr val="0033CC"/>
                </a:solidFill>
                <a:latin typeface="楷体" panose="02010609060101010101" pitchFamily="1" charset="-122"/>
                <a:ea typeface="楷体" panose="02010609060101010101" pitchFamily="1" charset="-122"/>
              </a:rPr>
              <a:t>登记过程中要面对领导和各院系各种统计要求</a:t>
            </a:r>
            <a:endParaRPr lang="en-US" altLang="x-none" sz="2400" dirty="0">
              <a:solidFill>
                <a:srgbClr val="0033CC"/>
              </a:solidFill>
              <a:latin typeface="楷体" panose="02010609060101010101" pitchFamily="1" charset="-122"/>
              <a:ea typeface="楷体" panose="02010609060101010101" pitchFamily="1" charset="-122"/>
            </a:endParaRPr>
          </a:p>
          <a:p>
            <a:pPr lvl="0" indent="0">
              <a:lnSpc>
                <a:spcPct val="100000"/>
              </a:lnSpc>
              <a:buNone/>
            </a:pPr>
            <a:r>
              <a:rPr lang="en-US" altLang="x-none" sz="2400" dirty="0">
                <a:solidFill>
                  <a:srgbClr val="0033CC"/>
                </a:solidFill>
                <a:latin typeface="楷体" panose="02010609060101010101" pitchFamily="1" charset="-122"/>
                <a:ea typeface="楷体" panose="02010609060101010101" pitchFamily="1" charset="-122"/>
              </a:rPr>
              <a:t>3.</a:t>
            </a:r>
            <a:r>
              <a:rPr lang="zh-CN" altLang="en-US" sz="2400" dirty="0">
                <a:solidFill>
                  <a:srgbClr val="0033CC"/>
                </a:solidFill>
                <a:latin typeface="楷体" panose="02010609060101010101" pitchFamily="1" charset="-122"/>
                <a:ea typeface="楷体" panose="02010609060101010101" pitchFamily="1" charset="-122"/>
              </a:rPr>
              <a:t>统计的内容要求具有不可预知性</a:t>
            </a:r>
            <a:endParaRPr lang="en-US" altLang="x-none" sz="2400" dirty="0">
              <a:solidFill>
                <a:srgbClr val="0033CC"/>
              </a:solidFill>
              <a:latin typeface="楷体" panose="02010609060101010101" pitchFamily="1" charset="-122"/>
              <a:ea typeface="楷体" panose="02010609060101010101" pitchFamily="1" charset="-122"/>
            </a:endParaRPr>
          </a:p>
          <a:p>
            <a:pPr lvl="0" indent="0">
              <a:lnSpc>
                <a:spcPct val="100000"/>
              </a:lnSpc>
              <a:buNone/>
            </a:pPr>
            <a:r>
              <a:rPr lang="en-US" altLang="x-none" sz="2400" dirty="0">
                <a:solidFill>
                  <a:srgbClr val="0033CC"/>
                </a:solidFill>
                <a:latin typeface="楷体" panose="02010609060101010101" pitchFamily="1" charset="-122"/>
                <a:ea typeface="楷体" panose="02010609060101010101" pitchFamily="1" charset="-122"/>
              </a:rPr>
              <a:t>4.</a:t>
            </a:r>
            <a:r>
              <a:rPr lang="zh-CN" altLang="en-US" sz="2400" dirty="0">
                <a:solidFill>
                  <a:srgbClr val="0033CC"/>
                </a:solidFill>
                <a:latin typeface="楷体" panose="02010609060101010101" pitchFamily="1" charset="-122"/>
                <a:ea typeface="楷体" panose="02010609060101010101" pitchFamily="1" charset="-122"/>
              </a:rPr>
              <a:t>你和所有同事加班加点仍手忙脚乱</a:t>
            </a:r>
            <a:r>
              <a:rPr lang="en-US" altLang="x-none" sz="2400" dirty="0">
                <a:solidFill>
                  <a:srgbClr val="0033CC"/>
                </a:solidFill>
                <a:latin typeface="楷体" panose="02010609060101010101" pitchFamily="1" charset="-122"/>
                <a:ea typeface="楷体" panose="02010609060101010101" pitchFamily="1" charset="-122"/>
              </a:rPr>
              <a:t>……</a:t>
            </a:r>
            <a:endParaRPr lang="en-US" altLang="x-none" sz="2400" dirty="0">
              <a:solidFill>
                <a:srgbClr val="0033CC"/>
              </a:solidFill>
              <a:latin typeface="楷体" panose="02010609060101010101" pitchFamily="1" charset="-122"/>
              <a:ea typeface="楷体" panose="02010609060101010101" pitchFamily="1" charset="-122"/>
            </a:endParaRPr>
          </a:p>
        </p:txBody>
      </p:sp>
      <p:sp>
        <p:nvSpPr>
          <p:cNvPr id="20487" name="椭圆形标注 6"/>
          <p:cNvSpPr/>
          <p:nvPr/>
        </p:nvSpPr>
        <p:spPr>
          <a:xfrm>
            <a:off x="1995805" y="5252550"/>
            <a:ext cx="6668770" cy="889821"/>
          </a:xfrm>
          <a:prstGeom prst="wedgeEllipseCallout">
            <a:avLst>
              <a:gd name="adj1" fmla="val 18139"/>
              <a:gd name="adj2" fmla="val -109908"/>
            </a:avLst>
          </a:prstGeom>
          <a:solidFill>
            <a:schemeClr val="bg1">
              <a:alpha val="100000"/>
            </a:schemeClr>
          </a:solidFill>
          <a:ln w="9525" cap="flat" cmpd="sng">
            <a:solidFill>
              <a:srgbClr val="0033CC"/>
            </a:solidFill>
            <a:prstDash val="solid"/>
            <a:miter/>
            <a:headEnd type="none" w="med" len="med"/>
            <a:tailEnd type="none" w="med" len="med"/>
          </a:ln>
        </p:spPr>
        <p:txBody>
          <a:bodyPr wrap="square" lIns="0" tIns="0" rIns="0" bIns="0" anchor="ctr">
            <a:spAutoFit/>
          </a:bodyPr>
          <a:lstStyle/>
          <a:p>
            <a:pPr marL="262255" lvl="0" indent="-262255" eaLnBrk="1" fontAlgn="base" hangingPunct="1">
              <a:lnSpc>
                <a:spcPct val="100000"/>
              </a:lnSpc>
              <a:buNone/>
            </a:pPr>
            <a:r>
              <a:rPr lang="zh-CN" altLang="en-US" sz="2000" strike="noStrike"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ea"/>
              </a:rPr>
              <a:t>只有计算机那种四肢发达，头脑简单的家伙才能做这么大量和重复的工作！</a:t>
            </a:r>
            <a:endParaRPr lang="zh-CN" altLang="en-US" sz="2000" strike="noStrike"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9" name="Rectangle 2"/>
          <p:cNvSpPr/>
          <p:nvPr/>
        </p:nvSpPr>
        <p:spPr>
          <a:xfrm>
            <a:off x="457200" y="775808"/>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smtClean="0">
                <a:solidFill>
                  <a:srgbClr val="3333CC"/>
                </a:solidFill>
                <a:latin typeface="Arial" panose="020B0604020202020204" pitchFamily="34" charset="0"/>
                <a:ea typeface="黑体" panose="02010609060101010101" pitchFamily="1" charset="-122"/>
              </a:rPr>
              <a:t>文件系统阶段</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10" name="矩形 9"/>
          <p:cNvSpPr/>
          <p:nvPr/>
        </p:nvSpPr>
        <p:spPr>
          <a:xfrm>
            <a:off x="4842164" y="831772"/>
            <a:ext cx="4057521" cy="507831"/>
          </a:xfrm>
          <a:prstGeom prst="rect">
            <a:avLst/>
          </a:prstGeom>
        </p:spPr>
        <p:txBody>
          <a:bodyPr wrap="none">
            <a:spAutoFit/>
          </a:bodyPr>
          <a:lstStyle/>
          <a:p>
            <a:pPr>
              <a:buNone/>
            </a:pPr>
            <a:r>
              <a:rPr lang="zh-CN" altLang="en-US" sz="2000" dirty="0" smtClean="0">
                <a:solidFill>
                  <a:srgbClr val="0033CC"/>
                </a:solidFill>
                <a:latin typeface="楷体" panose="02010609060101010101" pitchFamily="1" charset="-122"/>
                <a:ea typeface="楷体" panose="02010609060101010101" pitchFamily="1" charset="-122"/>
                <a:sym typeface="+mn-ea"/>
              </a:rPr>
              <a:t>借助于文件系统来存储和管理数据</a:t>
            </a:r>
            <a:endParaRPr lang="zh-CN" altLang="en-US" sz="2000" dirty="0">
              <a:solidFill>
                <a:srgbClr val="0033CC"/>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7">
                                            <p:bg/>
                                          </p:spTgt>
                                        </p:tgtEl>
                                        <p:attrNameLst>
                                          <p:attrName>style.visibility</p:attrName>
                                        </p:attrNameLst>
                                      </p:cBhvr>
                                      <p:to>
                                        <p:strVal val="visible"/>
                                      </p:to>
                                    </p:set>
                                    <p:anim calcmode="lin" valueType="num">
                                      <p:cBhvr additive="base">
                                        <p:cTn id="7" dur="500" fill="hold"/>
                                        <p:tgtEl>
                                          <p:spTgt spid="20487">
                                            <p:bg/>
                                          </p:spTgt>
                                        </p:tgtEl>
                                        <p:attrNameLst>
                                          <p:attrName>ppt_x</p:attrName>
                                        </p:attrNameLst>
                                      </p:cBhvr>
                                      <p:tavLst>
                                        <p:tav tm="0">
                                          <p:val>
                                            <p:strVal val="#ppt_x"/>
                                          </p:val>
                                        </p:tav>
                                        <p:tav tm="100000">
                                          <p:val>
                                            <p:strVal val="#ppt_x"/>
                                          </p:val>
                                        </p:tav>
                                      </p:tavLst>
                                    </p:anim>
                                    <p:anim calcmode="lin" valueType="num">
                                      <p:cBhvr additive="base">
                                        <p:cTn id="8" dur="500" fill="hold"/>
                                        <p:tgtEl>
                                          <p:spTgt spid="20487">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487">
                                            <p:txEl>
                                              <p:pRg st="0" end="0"/>
                                            </p:txEl>
                                          </p:spTgt>
                                        </p:tgtEl>
                                        <p:attrNameLst>
                                          <p:attrName>style.visibility</p:attrName>
                                        </p:attrNameLst>
                                      </p:cBhvr>
                                      <p:to>
                                        <p:strVal val="visible"/>
                                      </p:to>
                                    </p:set>
                                    <p:anim calcmode="lin" valueType="num">
                                      <p:cBhvr additive="base">
                                        <p:cTn id="11" dur="500" fill="hold"/>
                                        <p:tgtEl>
                                          <p:spTgt spid="20487">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48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7" grpId="0" animBg="1"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4"/>
          <p:cNvSpPr txBox="1"/>
          <p:nvPr/>
        </p:nvSpPr>
        <p:spPr>
          <a:xfrm>
            <a:off x="549275" y="1371600"/>
            <a:ext cx="8158163" cy="506413"/>
          </a:xfrm>
          <a:prstGeom prst="rect">
            <a:avLst/>
          </a:prstGeom>
          <a:noFill/>
          <a:ln w="9525">
            <a:noFill/>
          </a:ln>
        </p:spPr>
        <p:txBody>
          <a:bodyPr anchor="t">
            <a:spAutoFit/>
          </a:bodyPr>
          <a:lstStyle/>
          <a:p>
            <a:pPr lvl="0" indent="0" algn="just">
              <a:lnSpc>
                <a:spcPct val="125000"/>
              </a:lnSpc>
              <a:buFont typeface="Wingdings" panose="05000000000000000000" pitchFamily="2" charset="2"/>
              <a:buChar char="p"/>
            </a:pPr>
            <a:r>
              <a:rPr lang="zh-CN" altLang="en-US" sz="2400" b="0" dirty="0">
                <a:latin typeface="楷体" panose="02010609060101010101" pitchFamily="1" charset="-122"/>
                <a:ea typeface="楷体" panose="02010609060101010101" pitchFamily="1" charset="-122"/>
              </a:rPr>
              <a:t> 数据库的“史前时期”是文件系统（</a:t>
            </a:r>
            <a:r>
              <a:rPr lang="en-US" altLang="x-none" sz="2400" b="0" dirty="0">
                <a:latin typeface="楷体" panose="02010609060101010101" pitchFamily="1" charset="-122"/>
                <a:ea typeface="楷体" panose="02010609060101010101" pitchFamily="1" charset="-122"/>
              </a:rPr>
              <a:t>File System</a:t>
            </a:r>
            <a:r>
              <a:rPr lang="zh-CN" altLang="en-US" sz="2400" b="0" dirty="0">
                <a:latin typeface="楷体" panose="02010609060101010101" pitchFamily="1" charset="-122"/>
                <a:ea typeface="楷体" panose="02010609060101010101" pitchFamily="1" charset="-122"/>
              </a:rPr>
              <a:t>）时期。</a:t>
            </a:r>
            <a:endParaRPr lang="zh-CN" altLang="en-US" sz="2400" b="0" dirty="0">
              <a:latin typeface="楷体" panose="02010609060101010101" pitchFamily="1" charset="-122"/>
              <a:ea typeface="楷体" panose="02010609060101010101" pitchFamily="1" charset="-122"/>
            </a:endParaRPr>
          </a:p>
        </p:txBody>
      </p:sp>
      <p:sp>
        <p:nvSpPr>
          <p:cNvPr id="24579" name="Text Box 4"/>
          <p:cNvSpPr txBox="1"/>
          <p:nvPr/>
        </p:nvSpPr>
        <p:spPr>
          <a:xfrm>
            <a:off x="569913" y="1844675"/>
            <a:ext cx="8158162" cy="549275"/>
          </a:xfrm>
          <a:prstGeom prst="rect">
            <a:avLst/>
          </a:prstGeom>
          <a:noFill/>
          <a:ln w="9525">
            <a:noFill/>
          </a:ln>
        </p:spPr>
        <p:txBody>
          <a:bodyPr anchor="t">
            <a:spAutoFit/>
          </a:bodyPr>
          <a:lstStyle/>
          <a:p>
            <a:pPr marL="342900" lvl="0" indent="-342900" algn="just">
              <a:lnSpc>
                <a:spcPct val="125000"/>
              </a:lnSpc>
              <a:buFont typeface="Wingdings" panose="05000000000000000000" charset="0"/>
              <a:buChar char="Ø"/>
            </a:pPr>
            <a:r>
              <a:rPr lang="zh-CN" altLang="en-US" sz="2400" dirty="0">
                <a:solidFill>
                  <a:srgbClr val="FF3300"/>
                </a:solidFill>
                <a:latin typeface="楷体" panose="02010609060101010101" pitchFamily="1" charset="-122"/>
                <a:ea typeface="楷体" panose="02010609060101010101" pitchFamily="1" charset="-122"/>
              </a:rPr>
              <a:t> 文件系统怎样开发管理应用呢？</a:t>
            </a:r>
            <a:endParaRPr lang="zh-CN" altLang="en-US" sz="2400" dirty="0">
              <a:solidFill>
                <a:srgbClr val="FF3300"/>
              </a:solidFill>
              <a:latin typeface="楷体" panose="02010609060101010101" pitchFamily="1" charset="-122"/>
              <a:ea typeface="楷体" panose="02010609060101010101" pitchFamily="1" charset="-122"/>
            </a:endParaRPr>
          </a:p>
        </p:txBody>
      </p:sp>
      <p:sp>
        <p:nvSpPr>
          <p:cNvPr id="24580" name="AutoShape 3"/>
          <p:cNvSpPr/>
          <p:nvPr/>
        </p:nvSpPr>
        <p:spPr>
          <a:xfrm>
            <a:off x="750888" y="2408238"/>
            <a:ext cx="3398837" cy="552450"/>
          </a:xfrm>
          <a:prstGeom prst="roundRect">
            <a:avLst>
              <a:gd name="adj" fmla="val 7574"/>
            </a:avLst>
          </a:prstGeom>
          <a:gradFill rotWithShape="1">
            <a:gsLst>
              <a:gs pos="0">
                <a:srgbClr val="97CCF3"/>
              </a:gs>
              <a:gs pos="100000">
                <a:srgbClr val="D5EBFA"/>
              </a:gs>
            </a:gsLst>
            <a:lin ang="0" scaled="1"/>
            <a:tileRect/>
          </a:gradFill>
          <a:ln w="9525">
            <a:noFill/>
          </a:ln>
        </p:spPr>
        <p:txBody>
          <a:bodyPr wrap="none" anchor="ctr"/>
          <a:lstStyle/>
          <a:p>
            <a:pPr lvl="0" indent="0" eaLnBrk="0" hangingPunct="0">
              <a:lnSpc>
                <a:spcPct val="100000"/>
              </a:lnSpc>
              <a:buNone/>
            </a:pPr>
            <a:r>
              <a:rPr lang="en-US" altLang="x-none" sz="2400" dirty="0">
                <a:latin typeface="Arial" panose="020B0604020202020204" pitchFamily="34" charset="0"/>
                <a:ea typeface="宋体" panose="02010600030101010101" pitchFamily="2" charset="-122"/>
              </a:rPr>
              <a:t>--</a:t>
            </a:r>
            <a:r>
              <a:rPr lang="zh-CN" altLang="en-US" sz="2400" dirty="0">
                <a:latin typeface="Arial" panose="020B0604020202020204" pitchFamily="34" charset="0"/>
                <a:ea typeface="宋体" panose="02010600030101010101" pitchFamily="2" charset="-122"/>
              </a:rPr>
              <a:t>开发任务</a:t>
            </a:r>
            <a:endParaRPr lang="en-US" altLang="x-none" sz="2400" dirty="0">
              <a:latin typeface="Arial" panose="020B0604020202020204" pitchFamily="34" charset="0"/>
              <a:ea typeface="宋体" panose="02010600030101010101" pitchFamily="2" charset="-122"/>
            </a:endParaRPr>
          </a:p>
        </p:txBody>
      </p:sp>
      <p:sp>
        <p:nvSpPr>
          <p:cNvPr id="22536" name="Text Box 4"/>
          <p:cNvSpPr txBox="1"/>
          <p:nvPr/>
        </p:nvSpPr>
        <p:spPr>
          <a:xfrm>
            <a:off x="860425" y="2947988"/>
            <a:ext cx="7978775" cy="554037"/>
          </a:xfrm>
          <a:prstGeom prst="rect">
            <a:avLst/>
          </a:prstGeom>
          <a:noFill/>
          <a:ln w="9525">
            <a:noFill/>
          </a:ln>
        </p:spPr>
        <p:txBody>
          <a:bodyPr anchor="t">
            <a:spAutoFit/>
          </a:bodyPr>
          <a:lstStyle/>
          <a:p>
            <a:pPr lvl="0" indent="0" algn="just">
              <a:lnSpc>
                <a:spcPct val="125000"/>
              </a:lnSpc>
              <a:buNone/>
            </a:pPr>
            <a:r>
              <a:rPr lang="zh-CN" altLang="en-US" sz="2400" b="0" dirty="0">
                <a:latin typeface="楷体" panose="02010609060101010101" pitchFamily="1" charset="-122"/>
                <a:ea typeface="楷体" panose="02010609060101010101" pitchFamily="1" charset="-122"/>
              </a:rPr>
              <a:t>简单学生管理系统，学生注册、选课、学籍和成绩管理。</a:t>
            </a:r>
            <a:endParaRPr lang="zh-CN" altLang="en-US" sz="2400" b="0" dirty="0">
              <a:latin typeface="楷体" panose="02010609060101010101" pitchFamily="1" charset="-122"/>
              <a:ea typeface="楷体" panose="02010609060101010101" pitchFamily="1" charset="-122"/>
            </a:endParaRPr>
          </a:p>
        </p:txBody>
      </p:sp>
      <p:grpSp>
        <p:nvGrpSpPr>
          <p:cNvPr id="2" name="组合 1"/>
          <p:cNvGrpSpPr/>
          <p:nvPr/>
        </p:nvGrpSpPr>
        <p:grpSpPr>
          <a:xfrm>
            <a:off x="730250" y="3502025"/>
            <a:ext cx="8108950" cy="2640965"/>
            <a:chOff x="1150" y="5515"/>
            <a:chExt cx="12770" cy="4159"/>
          </a:xfrm>
        </p:grpSpPr>
        <p:sp>
          <p:nvSpPr>
            <p:cNvPr id="24581" name="AutoShape 3"/>
            <p:cNvSpPr/>
            <p:nvPr/>
          </p:nvSpPr>
          <p:spPr>
            <a:xfrm>
              <a:off x="1183" y="5515"/>
              <a:ext cx="5342" cy="870"/>
            </a:xfrm>
            <a:prstGeom prst="roundRect">
              <a:avLst>
                <a:gd name="adj" fmla="val 7574"/>
              </a:avLst>
            </a:prstGeom>
            <a:gradFill rotWithShape="1">
              <a:gsLst>
                <a:gs pos="0">
                  <a:srgbClr val="97CCF3"/>
                </a:gs>
                <a:gs pos="100000">
                  <a:srgbClr val="D5EBFA"/>
                </a:gs>
              </a:gsLst>
              <a:lin ang="0" scaled="1"/>
              <a:tileRect/>
            </a:gradFill>
            <a:ln w="9525">
              <a:noFill/>
            </a:ln>
          </p:spPr>
          <p:txBody>
            <a:bodyPr wrap="none" anchor="ctr"/>
            <a:lstStyle/>
            <a:p>
              <a:pPr lvl="0" indent="0" eaLnBrk="0" hangingPunct="0">
                <a:lnSpc>
                  <a:spcPct val="100000"/>
                </a:lnSpc>
                <a:buNone/>
              </a:pPr>
              <a:r>
                <a:rPr lang="en-US" altLang="x-none" sz="2400" dirty="0">
                  <a:latin typeface="Arial" panose="020B0604020202020204" pitchFamily="34" charset="0"/>
                  <a:ea typeface="宋体" panose="02010600030101010101" pitchFamily="2" charset="-122"/>
                </a:rPr>
                <a:t>--</a:t>
              </a:r>
              <a:r>
                <a:rPr lang="zh-CN" altLang="en-US" sz="2400" dirty="0">
                  <a:latin typeface="Arial" panose="020B0604020202020204" pitchFamily="34" charset="0"/>
                  <a:ea typeface="宋体" panose="02010600030101010101" pitchFamily="2" charset="-122"/>
                </a:rPr>
                <a:t>开发工具及环境</a:t>
              </a:r>
              <a:endParaRPr lang="en-US" altLang="x-none" sz="2400" dirty="0">
                <a:latin typeface="Arial" panose="020B0604020202020204" pitchFamily="34" charset="0"/>
                <a:ea typeface="宋体" panose="02010600030101010101" pitchFamily="2" charset="-122"/>
              </a:endParaRPr>
            </a:p>
          </p:txBody>
        </p:sp>
        <p:sp>
          <p:nvSpPr>
            <p:cNvPr id="24582" name="AutoShape 3"/>
            <p:cNvSpPr/>
            <p:nvPr/>
          </p:nvSpPr>
          <p:spPr>
            <a:xfrm>
              <a:off x="1150" y="7288"/>
              <a:ext cx="5343" cy="867"/>
            </a:xfrm>
            <a:prstGeom prst="roundRect">
              <a:avLst>
                <a:gd name="adj" fmla="val 7574"/>
              </a:avLst>
            </a:prstGeom>
            <a:gradFill rotWithShape="1">
              <a:gsLst>
                <a:gs pos="0">
                  <a:srgbClr val="97CCF3"/>
                </a:gs>
                <a:gs pos="100000">
                  <a:srgbClr val="D5EBFA"/>
                </a:gs>
              </a:gsLst>
              <a:lin ang="0" scaled="1"/>
              <a:tileRect/>
            </a:gradFill>
            <a:ln w="9525">
              <a:noFill/>
            </a:ln>
          </p:spPr>
          <p:txBody>
            <a:bodyPr wrap="none" anchor="ctr"/>
            <a:lstStyle/>
            <a:p>
              <a:pPr lvl="0" indent="0" eaLnBrk="0" hangingPunct="0">
                <a:lnSpc>
                  <a:spcPct val="100000"/>
                </a:lnSpc>
                <a:buNone/>
              </a:pPr>
              <a:r>
                <a:rPr lang="en-US" altLang="x-none" sz="2400" dirty="0">
                  <a:latin typeface="Arial" panose="020B0604020202020204" pitchFamily="34" charset="0"/>
                  <a:ea typeface="宋体" panose="02010600030101010101" pitchFamily="2" charset="-122"/>
                </a:rPr>
                <a:t>--</a:t>
              </a:r>
              <a:r>
                <a:rPr lang="zh-CN" altLang="en-US" sz="2400" dirty="0">
                  <a:latin typeface="Arial" panose="020B0604020202020204" pitchFamily="34" charset="0"/>
                  <a:ea typeface="宋体" panose="02010600030101010101" pitchFamily="2" charset="-122"/>
                </a:rPr>
                <a:t>数据结构设计</a:t>
              </a:r>
              <a:endParaRPr lang="en-US" altLang="x-none" sz="2400" dirty="0">
                <a:latin typeface="Arial" panose="020B0604020202020204" pitchFamily="34" charset="0"/>
                <a:ea typeface="宋体" panose="02010600030101010101" pitchFamily="2" charset="-122"/>
              </a:endParaRPr>
            </a:p>
          </p:txBody>
        </p:sp>
        <p:sp>
          <p:nvSpPr>
            <p:cNvPr id="22537" name="Text Box 4"/>
            <p:cNvSpPr txBox="1"/>
            <p:nvPr/>
          </p:nvSpPr>
          <p:spPr>
            <a:xfrm>
              <a:off x="1358" y="6385"/>
              <a:ext cx="12562" cy="773"/>
            </a:xfrm>
            <a:prstGeom prst="rect">
              <a:avLst/>
            </a:prstGeom>
            <a:noFill/>
            <a:ln w="9525">
              <a:noFill/>
            </a:ln>
          </p:spPr>
          <p:txBody>
            <a:bodyPr anchor="t">
              <a:spAutoFit/>
            </a:bodyPr>
            <a:lstStyle/>
            <a:p>
              <a:pPr lvl="0" indent="0" algn="just">
                <a:lnSpc>
                  <a:spcPct val="125000"/>
                </a:lnSpc>
                <a:buNone/>
              </a:pPr>
              <a:r>
                <a:rPr lang="zh-CN" altLang="en-US" sz="2400" b="0" dirty="0">
                  <a:latin typeface="楷体" panose="02010609060101010101" pitchFamily="1" charset="-122"/>
                  <a:ea typeface="楷体" panose="02010609060101010101" pitchFamily="1" charset="-122"/>
                </a:rPr>
                <a:t>程序设计语言如</a:t>
              </a:r>
              <a:r>
                <a:rPr lang="en-US" altLang="x-none" sz="2400" b="0" dirty="0">
                  <a:latin typeface="楷体" panose="02010609060101010101" pitchFamily="1" charset="-122"/>
                  <a:ea typeface="楷体" panose="02010609060101010101" pitchFamily="1" charset="-122"/>
                </a:rPr>
                <a:t>C/C++</a:t>
              </a:r>
              <a:r>
                <a:rPr lang="zh-CN" altLang="en-US" sz="2400" b="0" dirty="0">
                  <a:latin typeface="楷体" panose="02010609060101010101" pitchFamily="1" charset="-122"/>
                  <a:ea typeface="楷体" panose="02010609060101010101" pitchFamily="1" charset="-122"/>
                </a:rPr>
                <a:t>，</a:t>
              </a:r>
              <a:r>
                <a:rPr lang="en-US" altLang="x-none" sz="2400" b="0" dirty="0">
                  <a:latin typeface="楷体" panose="02010609060101010101" pitchFamily="1" charset="-122"/>
                  <a:ea typeface="楷体" panose="02010609060101010101" pitchFamily="1" charset="-122"/>
                </a:rPr>
                <a:t>Windows</a:t>
              </a:r>
              <a:r>
                <a:rPr lang="zh-CN" altLang="en-US" sz="2400" b="0" dirty="0">
                  <a:latin typeface="楷体" panose="02010609060101010101" pitchFamily="1" charset="-122"/>
                  <a:ea typeface="楷体" panose="02010609060101010101" pitchFamily="1" charset="-122"/>
                </a:rPr>
                <a:t>下的文件系统。</a:t>
              </a:r>
              <a:endParaRPr lang="zh-CN" altLang="en-US" sz="2400" b="0" dirty="0">
                <a:latin typeface="楷体" panose="02010609060101010101" pitchFamily="1" charset="-122"/>
                <a:ea typeface="楷体" panose="02010609060101010101" pitchFamily="1" charset="-122"/>
              </a:endParaRPr>
            </a:p>
          </p:txBody>
        </p:sp>
        <p:sp>
          <p:nvSpPr>
            <p:cNvPr id="22538" name="Text Box 4"/>
            <p:cNvSpPr txBox="1"/>
            <p:nvPr/>
          </p:nvSpPr>
          <p:spPr>
            <a:xfrm>
              <a:off x="1243" y="8078"/>
              <a:ext cx="12562" cy="1597"/>
            </a:xfrm>
            <a:prstGeom prst="rect">
              <a:avLst/>
            </a:prstGeom>
            <a:noFill/>
            <a:ln w="9525">
              <a:noFill/>
            </a:ln>
          </p:spPr>
          <p:txBody>
            <a:bodyPr anchor="t">
              <a:spAutoFit/>
            </a:bodyPr>
            <a:lstStyle/>
            <a:p>
              <a:pPr lvl="0" indent="0" algn="just">
                <a:lnSpc>
                  <a:spcPct val="125000"/>
                </a:lnSpc>
                <a:buNone/>
              </a:pPr>
              <a:r>
                <a:rPr lang="zh-CN" altLang="en-US" sz="2400" b="0" dirty="0">
                  <a:latin typeface="楷体" panose="02010609060101010101" pitchFamily="1" charset="-122"/>
                  <a:ea typeface="楷体" panose="02010609060101010101" pitchFamily="1" charset="-122"/>
                </a:rPr>
                <a:t>确定管理对象；抽取对象主要特征；将特征组织起来，利用</a:t>
              </a:r>
              <a:r>
                <a:rPr lang="en-US" altLang="x-none" sz="2400" b="0" dirty="0">
                  <a:latin typeface="楷体" panose="02010609060101010101" pitchFamily="1" charset="-122"/>
                  <a:ea typeface="楷体" panose="02010609060101010101" pitchFamily="1" charset="-122"/>
                </a:rPr>
                <a:t>C/C++</a:t>
              </a:r>
              <a:r>
                <a:rPr lang="zh-CN" altLang="en-US" sz="2400" b="0" dirty="0">
                  <a:latin typeface="楷体" panose="02010609060101010101" pitchFamily="1" charset="-122"/>
                  <a:ea typeface="楷体" panose="02010609060101010101" pitchFamily="1" charset="-122"/>
                </a:rPr>
                <a:t>语言中的“结构”数据类型存放数据。</a:t>
              </a:r>
              <a:endParaRPr lang="zh-CN" altLang="en-US" sz="2400" b="0" dirty="0">
                <a:latin typeface="楷体" panose="02010609060101010101" pitchFamily="1" charset="-122"/>
                <a:ea typeface="楷体" panose="02010609060101010101" pitchFamily="1" charset="-122"/>
              </a:endParaRPr>
            </a:p>
          </p:txBody>
        </p:sp>
      </p:gr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13" name="Rectangle 2"/>
          <p:cNvSpPr/>
          <p:nvPr/>
        </p:nvSpPr>
        <p:spPr>
          <a:xfrm>
            <a:off x="457200" y="775808"/>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smtClean="0">
                <a:solidFill>
                  <a:srgbClr val="3333CC"/>
                </a:solidFill>
                <a:latin typeface="Arial" panose="020B0604020202020204" pitchFamily="34" charset="0"/>
                <a:ea typeface="黑体" panose="02010609060101010101" pitchFamily="1" charset="-122"/>
              </a:rPr>
              <a:t>文件系统阶段</a:t>
            </a:r>
            <a:endParaRPr lang="en-US" altLang="x-none"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2536"/>
                                        </p:tgtEl>
                                        <p:attrNameLst>
                                          <p:attrName>style.visibility</p:attrName>
                                        </p:attrNameLst>
                                      </p:cBhvr>
                                      <p:to>
                                        <p:strVal val="visible"/>
                                      </p:to>
                                    </p:set>
                                    <p:animEffect transition="in" filter="barn(outVertical)">
                                      <p:cBhvr>
                                        <p:cTn id="7" dur="500"/>
                                        <p:tgtEl>
                                          <p:spTgt spid="2253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28700" y="1457325"/>
            <a:ext cx="1085850" cy="5429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rgbClr val="FF0000"/>
                </a:solidFill>
              </a:rPr>
              <a:t>学生</a:t>
            </a:r>
            <a:endParaRPr lang="zh-CN" altLang="en-US" strike="noStrike" noProof="1">
              <a:solidFill>
                <a:srgbClr val="FF0000"/>
              </a:solidFill>
            </a:endParaRPr>
          </a:p>
        </p:txBody>
      </p:sp>
      <p:cxnSp>
        <p:nvCxnSpPr>
          <p:cNvPr id="4" name="直接连接符 3"/>
          <p:cNvCxnSpPr/>
          <p:nvPr/>
        </p:nvCxnSpPr>
        <p:spPr>
          <a:xfrm>
            <a:off x="1571625" y="2000250"/>
            <a:ext cx="0" cy="1709738"/>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H="1" flipV="1">
            <a:off x="1571625" y="2290763"/>
            <a:ext cx="431800"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H="1" flipV="1">
            <a:off x="1571625" y="2649538"/>
            <a:ext cx="431800"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flipV="1">
            <a:off x="1571625" y="3009900"/>
            <a:ext cx="431800" cy="3175"/>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1822450" y="2000250"/>
            <a:ext cx="1085850"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学号</a:t>
            </a:r>
            <a:endParaRPr lang="zh-CN" altLang="en-US" strike="noStrike" noProof="1">
              <a:solidFill>
                <a:schemeClr val="tx1"/>
              </a:solidFill>
            </a:endParaRPr>
          </a:p>
        </p:txBody>
      </p:sp>
      <p:sp>
        <p:nvSpPr>
          <p:cNvPr id="9" name="矩形 8"/>
          <p:cNvSpPr/>
          <p:nvPr/>
        </p:nvSpPr>
        <p:spPr>
          <a:xfrm>
            <a:off x="1806575" y="2413000"/>
            <a:ext cx="1085850"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姓名</a:t>
            </a:r>
            <a:endParaRPr lang="zh-CN" altLang="en-US" strike="noStrike" noProof="1">
              <a:solidFill>
                <a:schemeClr val="tx1"/>
              </a:solidFill>
            </a:endParaRPr>
          </a:p>
        </p:txBody>
      </p:sp>
      <p:sp>
        <p:nvSpPr>
          <p:cNvPr id="10" name="矩形 9"/>
          <p:cNvSpPr/>
          <p:nvPr/>
        </p:nvSpPr>
        <p:spPr>
          <a:xfrm>
            <a:off x="1806575" y="2787650"/>
            <a:ext cx="1085850"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性别</a:t>
            </a:r>
            <a:endParaRPr lang="zh-CN" altLang="en-US" strike="noStrike" noProof="1">
              <a:solidFill>
                <a:schemeClr val="tx1"/>
              </a:solidFill>
            </a:endParaRPr>
          </a:p>
        </p:txBody>
      </p:sp>
      <p:cxnSp>
        <p:nvCxnSpPr>
          <p:cNvPr id="11" name="直接连接符 10"/>
          <p:cNvCxnSpPr/>
          <p:nvPr/>
        </p:nvCxnSpPr>
        <p:spPr>
          <a:xfrm flipH="1" flipV="1">
            <a:off x="1571625" y="3330575"/>
            <a:ext cx="431800"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flipV="1">
            <a:off x="1571625" y="3709988"/>
            <a:ext cx="431800"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822450" y="3167063"/>
            <a:ext cx="1085850"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年龄</a:t>
            </a:r>
            <a:endParaRPr lang="zh-CN" altLang="en-US" strike="noStrike" noProof="1">
              <a:solidFill>
                <a:schemeClr val="tx1"/>
              </a:solidFill>
            </a:endParaRPr>
          </a:p>
        </p:txBody>
      </p:sp>
      <p:sp>
        <p:nvSpPr>
          <p:cNvPr id="14" name="矩形 13"/>
          <p:cNvSpPr/>
          <p:nvPr/>
        </p:nvSpPr>
        <p:spPr>
          <a:xfrm>
            <a:off x="1758950" y="3489325"/>
            <a:ext cx="1743075"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所属院系</a:t>
            </a:r>
            <a:endParaRPr lang="zh-CN" altLang="en-US" strike="noStrike" noProof="1">
              <a:solidFill>
                <a:schemeClr val="tx1"/>
              </a:solidFill>
            </a:endParaRPr>
          </a:p>
        </p:txBody>
      </p:sp>
      <p:sp>
        <p:nvSpPr>
          <p:cNvPr id="15" name="矩形 14"/>
          <p:cNvSpPr/>
          <p:nvPr/>
        </p:nvSpPr>
        <p:spPr>
          <a:xfrm>
            <a:off x="4641850" y="1441450"/>
            <a:ext cx="1085850" cy="5429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rgbClr val="FF0000"/>
                </a:solidFill>
              </a:rPr>
              <a:t>注册</a:t>
            </a:r>
            <a:endParaRPr lang="zh-CN" altLang="en-US" strike="noStrike" noProof="1">
              <a:solidFill>
                <a:srgbClr val="FF0000"/>
              </a:solidFill>
            </a:endParaRPr>
          </a:p>
        </p:txBody>
      </p:sp>
      <p:cxnSp>
        <p:nvCxnSpPr>
          <p:cNvPr id="16" name="直接连接符 15"/>
          <p:cNvCxnSpPr/>
          <p:nvPr/>
        </p:nvCxnSpPr>
        <p:spPr>
          <a:xfrm flipH="1">
            <a:off x="5173663" y="2005013"/>
            <a:ext cx="11113" cy="1584325"/>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flipV="1">
            <a:off x="5184775" y="2408238"/>
            <a:ext cx="433388"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5453063" y="2139950"/>
            <a:ext cx="1085850"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学号</a:t>
            </a:r>
            <a:endParaRPr lang="zh-CN" altLang="en-US" strike="noStrike" noProof="1">
              <a:solidFill>
                <a:schemeClr val="tx1"/>
              </a:solidFill>
            </a:endParaRPr>
          </a:p>
        </p:txBody>
      </p:sp>
      <p:cxnSp>
        <p:nvCxnSpPr>
          <p:cNvPr id="19" name="直接连接符 18"/>
          <p:cNvCxnSpPr/>
          <p:nvPr/>
        </p:nvCxnSpPr>
        <p:spPr>
          <a:xfrm flipH="1" flipV="1">
            <a:off x="5184775" y="2787650"/>
            <a:ext cx="433388"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5453063" y="2584450"/>
            <a:ext cx="1085850"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学期</a:t>
            </a:r>
            <a:endParaRPr lang="zh-CN" altLang="en-US" strike="noStrike" noProof="1">
              <a:solidFill>
                <a:schemeClr val="tx1"/>
              </a:solidFill>
            </a:endParaRPr>
          </a:p>
        </p:txBody>
      </p:sp>
      <p:cxnSp>
        <p:nvCxnSpPr>
          <p:cNvPr id="22" name="直接连接符 21"/>
          <p:cNvCxnSpPr/>
          <p:nvPr/>
        </p:nvCxnSpPr>
        <p:spPr>
          <a:xfrm flipH="1" flipV="1">
            <a:off x="5184775" y="3167063"/>
            <a:ext cx="433388"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5453063" y="2898775"/>
            <a:ext cx="1497013"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注册状态</a:t>
            </a:r>
            <a:endParaRPr lang="zh-CN" altLang="en-US" strike="noStrike" noProof="1">
              <a:solidFill>
                <a:schemeClr val="tx1"/>
              </a:solidFill>
            </a:endParaRPr>
          </a:p>
        </p:txBody>
      </p:sp>
      <p:cxnSp>
        <p:nvCxnSpPr>
          <p:cNvPr id="24" name="直接连接符 23"/>
          <p:cNvCxnSpPr/>
          <p:nvPr/>
        </p:nvCxnSpPr>
        <p:spPr>
          <a:xfrm flipH="1" flipV="1">
            <a:off x="5184775" y="3584575"/>
            <a:ext cx="433388" cy="3175"/>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5437188" y="3287713"/>
            <a:ext cx="1085850"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备注</a:t>
            </a:r>
            <a:endParaRPr lang="zh-CN" altLang="en-US" strike="noStrike" noProof="1">
              <a:solidFill>
                <a:schemeClr val="tx1"/>
              </a:solidFill>
            </a:endParaRPr>
          </a:p>
        </p:txBody>
      </p:sp>
      <p:sp>
        <p:nvSpPr>
          <p:cNvPr id="26" name="矩形 25"/>
          <p:cNvSpPr/>
          <p:nvPr/>
        </p:nvSpPr>
        <p:spPr>
          <a:xfrm>
            <a:off x="1028700" y="4219575"/>
            <a:ext cx="1085850" cy="5429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rgbClr val="FF0000"/>
                </a:solidFill>
              </a:rPr>
              <a:t>课程</a:t>
            </a:r>
            <a:endParaRPr lang="zh-CN" altLang="en-US" strike="noStrike" noProof="1">
              <a:solidFill>
                <a:srgbClr val="FF0000"/>
              </a:solidFill>
            </a:endParaRPr>
          </a:p>
        </p:txBody>
      </p:sp>
      <p:cxnSp>
        <p:nvCxnSpPr>
          <p:cNvPr id="27" name="直接连接符 26"/>
          <p:cNvCxnSpPr/>
          <p:nvPr/>
        </p:nvCxnSpPr>
        <p:spPr>
          <a:xfrm flipH="1">
            <a:off x="1571625" y="4775200"/>
            <a:ext cx="12700" cy="1050925"/>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flipV="1">
            <a:off x="1571625" y="5053013"/>
            <a:ext cx="431800"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1924050" y="4711700"/>
            <a:ext cx="1414463"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课程编号</a:t>
            </a:r>
            <a:endParaRPr lang="zh-CN" altLang="en-US" strike="noStrike" noProof="1">
              <a:solidFill>
                <a:schemeClr val="tx1"/>
              </a:solidFill>
            </a:endParaRPr>
          </a:p>
        </p:txBody>
      </p:sp>
      <p:cxnSp>
        <p:nvCxnSpPr>
          <p:cNvPr id="30" name="直接连接符 29"/>
          <p:cNvCxnSpPr/>
          <p:nvPr/>
        </p:nvCxnSpPr>
        <p:spPr>
          <a:xfrm flipH="1" flipV="1">
            <a:off x="1603375" y="5386388"/>
            <a:ext cx="431800"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flipV="1">
            <a:off x="1603375" y="5810250"/>
            <a:ext cx="431800"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1790700" y="5118100"/>
            <a:ext cx="1414463"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课程名</a:t>
            </a:r>
            <a:endParaRPr lang="zh-CN" altLang="en-US" strike="noStrike" noProof="1">
              <a:solidFill>
                <a:schemeClr val="tx1"/>
              </a:solidFill>
            </a:endParaRPr>
          </a:p>
        </p:txBody>
      </p:sp>
      <p:sp>
        <p:nvSpPr>
          <p:cNvPr id="33" name="矩形 32"/>
          <p:cNvSpPr/>
          <p:nvPr/>
        </p:nvSpPr>
        <p:spPr>
          <a:xfrm>
            <a:off x="1908175" y="5508625"/>
            <a:ext cx="1414463"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开课院系</a:t>
            </a:r>
            <a:endParaRPr lang="zh-CN" altLang="en-US" strike="noStrike" noProof="1">
              <a:solidFill>
                <a:schemeClr val="tx1"/>
              </a:solidFill>
            </a:endParaRPr>
          </a:p>
        </p:txBody>
      </p:sp>
      <p:sp>
        <p:nvSpPr>
          <p:cNvPr id="34" name="矩形 33"/>
          <p:cNvSpPr/>
          <p:nvPr/>
        </p:nvSpPr>
        <p:spPr>
          <a:xfrm>
            <a:off x="4532313" y="4219575"/>
            <a:ext cx="1331913" cy="5429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rgbClr val="FF0000"/>
                </a:solidFill>
              </a:rPr>
              <a:t>学生选课</a:t>
            </a:r>
            <a:endParaRPr lang="zh-CN" altLang="en-US" strike="noStrike" noProof="1">
              <a:solidFill>
                <a:srgbClr val="FF0000"/>
              </a:solidFill>
            </a:endParaRPr>
          </a:p>
        </p:txBody>
      </p:sp>
      <p:cxnSp>
        <p:nvCxnSpPr>
          <p:cNvPr id="35" name="直接连接符 34"/>
          <p:cNvCxnSpPr/>
          <p:nvPr/>
        </p:nvCxnSpPr>
        <p:spPr>
          <a:xfrm flipH="1">
            <a:off x="5173663" y="4759325"/>
            <a:ext cx="11113" cy="1050925"/>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flipV="1">
            <a:off x="5184775" y="5057775"/>
            <a:ext cx="433388"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flipV="1">
            <a:off x="5173663" y="5381625"/>
            <a:ext cx="431800"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flipV="1">
            <a:off x="5184775" y="5805488"/>
            <a:ext cx="433388" cy="4763"/>
          </a:xfrm>
          <a:prstGeom prst="line">
            <a:avLst/>
          </a:prstGeom>
          <a:ln w="317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5453063" y="4768850"/>
            <a:ext cx="1084263"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学号</a:t>
            </a:r>
            <a:endParaRPr lang="zh-CN" altLang="en-US" strike="noStrike" noProof="1">
              <a:solidFill>
                <a:schemeClr val="tx1"/>
              </a:solidFill>
            </a:endParaRPr>
          </a:p>
        </p:txBody>
      </p:sp>
      <p:sp>
        <p:nvSpPr>
          <p:cNvPr id="40" name="矩形 39"/>
          <p:cNvSpPr/>
          <p:nvPr/>
        </p:nvSpPr>
        <p:spPr>
          <a:xfrm>
            <a:off x="5484813" y="5113338"/>
            <a:ext cx="1414463"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课程编号</a:t>
            </a:r>
            <a:endParaRPr lang="zh-CN" altLang="en-US" strike="noStrike" noProof="1">
              <a:solidFill>
                <a:schemeClr val="tx1"/>
              </a:solidFill>
            </a:endParaRPr>
          </a:p>
        </p:txBody>
      </p:sp>
      <p:sp>
        <p:nvSpPr>
          <p:cNvPr id="41" name="矩形 40"/>
          <p:cNvSpPr/>
          <p:nvPr/>
        </p:nvSpPr>
        <p:spPr>
          <a:xfrm>
            <a:off x="5437188" y="5540375"/>
            <a:ext cx="1085850"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成绩</a:t>
            </a:r>
            <a:endParaRPr lang="zh-CN" altLang="en-US" strike="noStrike" noProof="1">
              <a:solidFill>
                <a:schemeClr val="tx1"/>
              </a:solidFill>
            </a:endParaRPr>
          </a:p>
        </p:txBody>
      </p:sp>
      <p:sp>
        <p:nvSpPr>
          <p:cNvPr id="2"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42" name="Rectangle 2"/>
          <p:cNvSpPr/>
          <p:nvPr/>
        </p:nvSpPr>
        <p:spPr>
          <a:xfrm>
            <a:off x="457200" y="775808"/>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smtClean="0">
                <a:solidFill>
                  <a:srgbClr val="3333CC"/>
                </a:solidFill>
                <a:latin typeface="Arial" panose="020B0604020202020204" pitchFamily="34" charset="0"/>
                <a:ea typeface="黑体" panose="02010609060101010101" pitchFamily="1" charset="-122"/>
              </a:rPr>
              <a:t>文件系统阶段</a:t>
            </a:r>
            <a:endParaRPr lang="en-US" altLang="x-none"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3" name="组合 10"/>
          <p:cNvGrpSpPr/>
          <p:nvPr/>
        </p:nvGrpSpPr>
        <p:grpSpPr>
          <a:xfrm>
            <a:off x="276225" y="1916113"/>
            <a:ext cx="8620125" cy="4508500"/>
            <a:chOff x="0" y="0"/>
            <a:chExt cx="9159422" cy="4719929"/>
          </a:xfrm>
        </p:grpSpPr>
        <p:sp>
          <p:nvSpPr>
            <p:cNvPr id="28674" name="Text Box 8"/>
            <p:cNvSpPr txBox="1"/>
            <p:nvPr/>
          </p:nvSpPr>
          <p:spPr>
            <a:xfrm>
              <a:off x="287469" y="122166"/>
              <a:ext cx="4427538" cy="2577354"/>
            </a:xfrm>
            <a:prstGeom prst="rect">
              <a:avLst/>
            </a:prstGeom>
            <a:noFill/>
            <a:ln w="9525">
              <a:noFill/>
            </a:ln>
          </p:spPr>
          <p:txBody>
            <a:bodyPr anchor="t">
              <a:spAutoFit/>
            </a:bodyPr>
            <a:lstStyle/>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struct </a:t>
              </a:r>
              <a:r>
                <a:rPr lang="en-US" altLang="x-none" sz="2200" dirty="0">
                  <a:solidFill>
                    <a:srgbClr val="FF3300"/>
                  </a:solidFill>
                  <a:latin typeface="Arial" panose="020B0604020202020204" pitchFamily="34" charset="0"/>
                  <a:ea typeface="宋体" panose="02010600030101010101" pitchFamily="2" charset="-122"/>
                </a:rPr>
                <a:t>Student</a:t>
              </a:r>
              <a:endParaRPr lang="en-US" altLang="x-none" sz="2200" dirty="0">
                <a:solidFill>
                  <a:srgbClr val="FF3300"/>
                </a:solidFill>
                <a:latin typeface="Arial" panose="020B0604020202020204" pitchFamily="34" charset="0"/>
                <a:ea typeface="宋体" panose="02010600030101010101" pitchFamily="2" charset="-122"/>
              </a:endParaRPr>
            </a:p>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int	nStudNo;</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char</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szStudName[20];</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char</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cStudSex;</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int	nStudAge;</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char</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szDept[30];</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a:t>
              </a:r>
              <a:endParaRPr lang="en-US" altLang="x-none" sz="2200" dirty="0">
                <a:solidFill>
                  <a:srgbClr val="5555D5"/>
                </a:solidFill>
                <a:latin typeface="Arial" panose="020B0604020202020204" pitchFamily="34" charset="0"/>
                <a:ea typeface="宋体" panose="02010600030101010101" pitchFamily="2" charset="-122"/>
              </a:endParaRPr>
            </a:p>
          </p:txBody>
        </p:sp>
        <p:sp>
          <p:nvSpPr>
            <p:cNvPr id="28675" name="Text Box 10"/>
            <p:cNvSpPr txBox="1"/>
            <p:nvPr/>
          </p:nvSpPr>
          <p:spPr>
            <a:xfrm>
              <a:off x="5024891" y="299334"/>
              <a:ext cx="4103687" cy="2222967"/>
            </a:xfrm>
            <a:prstGeom prst="rect">
              <a:avLst/>
            </a:prstGeom>
            <a:noFill/>
            <a:ln w="9525">
              <a:noFill/>
            </a:ln>
          </p:spPr>
          <p:txBody>
            <a:bodyPr anchor="t">
              <a:spAutoFit/>
            </a:bodyPr>
            <a:lstStyle/>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struct </a:t>
              </a:r>
              <a:r>
                <a:rPr lang="en-US" altLang="x-none" sz="2200" dirty="0">
                  <a:solidFill>
                    <a:srgbClr val="FF3300"/>
                  </a:solidFill>
                  <a:latin typeface="Arial" panose="020B0604020202020204" pitchFamily="34" charset="0"/>
                  <a:ea typeface="宋体" panose="02010600030101010101" pitchFamily="2" charset="-122"/>
                </a:rPr>
                <a:t>Enrolled</a:t>
              </a:r>
              <a:endParaRPr lang="en-US" altLang="x-none" sz="2200" dirty="0">
                <a:solidFill>
                  <a:srgbClr val="FF3300"/>
                </a:solidFill>
                <a:latin typeface="Arial" panose="020B0604020202020204" pitchFamily="34" charset="0"/>
                <a:ea typeface="宋体" panose="02010600030101010101" pitchFamily="2" charset="-122"/>
              </a:endParaRPr>
            </a:p>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int	nStudNo;</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int	nWhichTerm;</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char</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cEnrolled;</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char</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szMem[30];</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a:t>
              </a:r>
              <a:endParaRPr lang="en-US" altLang="x-none" sz="2200" dirty="0">
                <a:solidFill>
                  <a:srgbClr val="5555D5"/>
                </a:solidFill>
                <a:latin typeface="Arial" panose="020B0604020202020204" pitchFamily="34" charset="0"/>
                <a:ea typeface="宋体" panose="02010600030101010101" pitchFamily="2" charset="-122"/>
              </a:endParaRPr>
            </a:p>
          </p:txBody>
        </p:sp>
        <p:sp>
          <p:nvSpPr>
            <p:cNvPr id="28676" name="Text Box 11"/>
            <p:cNvSpPr txBox="1"/>
            <p:nvPr/>
          </p:nvSpPr>
          <p:spPr>
            <a:xfrm>
              <a:off x="179388" y="2735520"/>
              <a:ext cx="4643438" cy="1868581"/>
            </a:xfrm>
            <a:prstGeom prst="rect">
              <a:avLst/>
            </a:prstGeom>
            <a:noFill/>
            <a:ln w="9525">
              <a:noFill/>
            </a:ln>
          </p:spPr>
          <p:txBody>
            <a:bodyPr anchor="t">
              <a:spAutoFit/>
            </a:bodyPr>
            <a:lstStyle/>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struct </a:t>
              </a:r>
              <a:r>
                <a:rPr lang="en-US" altLang="x-none" sz="2200" dirty="0">
                  <a:solidFill>
                    <a:srgbClr val="FF3300"/>
                  </a:solidFill>
                  <a:latin typeface="Arial" panose="020B0604020202020204" pitchFamily="34" charset="0"/>
                  <a:ea typeface="宋体" panose="02010600030101010101" pitchFamily="2" charset="-122"/>
                </a:rPr>
                <a:t>Course</a:t>
              </a:r>
              <a:endParaRPr lang="en-US" altLang="x-none" sz="2200" dirty="0">
                <a:solidFill>
                  <a:srgbClr val="FF3300"/>
                </a:solidFill>
                <a:latin typeface="Arial" panose="020B0604020202020204" pitchFamily="34" charset="0"/>
                <a:ea typeface="宋体" panose="02010600030101010101" pitchFamily="2" charset="-122"/>
              </a:endParaRPr>
            </a:p>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int	nCourseNo;</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char	szCourseName[20];</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char	szDept[30];</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a:t>
              </a:r>
              <a:endParaRPr lang="en-US" altLang="x-none" sz="2200" dirty="0">
                <a:solidFill>
                  <a:srgbClr val="5555D5"/>
                </a:solidFill>
                <a:latin typeface="Arial" panose="020B0604020202020204" pitchFamily="34" charset="0"/>
                <a:ea typeface="宋体" panose="02010600030101010101" pitchFamily="2" charset="-122"/>
              </a:endParaRPr>
            </a:p>
          </p:txBody>
        </p:sp>
        <p:sp>
          <p:nvSpPr>
            <p:cNvPr id="28677" name="Text Box 12"/>
            <p:cNvSpPr txBox="1"/>
            <p:nvPr/>
          </p:nvSpPr>
          <p:spPr>
            <a:xfrm>
              <a:off x="5024894" y="2796292"/>
              <a:ext cx="3925887" cy="1868581"/>
            </a:xfrm>
            <a:prstGeom prst="rect">
              <a:avLst/>
            </a:prstGeom>
            <a:noFill/>
            <a:ln w="9525">
              <a:noFill/>
            </a:ln>
          </p:spPr>
          <p:txBody>
            <a:bodyPr anchor="t">
              <a:spAutoFit/>
            </a:bodyPr>
            <a:lstStyle/>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struct </a:t>
              </a:r>
              <a:r>
                <a:rPr lang="en-US" altLang="x-none" sz="2200" dirty="0">
                  <a:solidFill>
                    <a:srgbClr val="FF3300"/>
                  </a:solidFill>
                  <a:latin typeface="Arial" panose="020B0604020202020204" pitchFamily="34" charset="0"/>
                  <a:ea typeface="宋体" panose="02010600030101010101" pitchFamily="2" charset="-122"/>
                </a:rPr>
                <a:t>Grade</a:t>
              </a:r>
              <a:endParaRPr lang="en-US" altLang="x-none" sz="2200" dirty="0">
                <a:solidFill>
                  <a:srgbClr val="FF3300"/>
                </a:solidFill>
                <a:latin typeface="Arial" panose="020B0604020202020204" pitchFamily="34" charset="0"/>
                <a:ea typeface="宋体" panose="02010600030101010101" pitchFamily="2" charset="-122"/>
              </a:endParaRPr>
            </a:p>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int	nStudNo;</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int	nCourseNo;</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int	nGrade;</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100000"/>
                </a:lnSpc>
                <a:buNone/>
              </a:pPr>
              <a:r>
                <a:rPr lang="en-US" altLang="x-none" sz="2200" dirty="0">
                  <a:solidFill>
                    <a:srgbClr val="5555D5"/>
                  </a:solidFill>
                  <a:latin typeface="Arial" panose="020B0604020202020204" pitchFamily="34" charset="0"/>
                  <a:ea typeface="宋体" panose="02010600030101010101" pitchFamily="2" charset="-122"/>
                </a:rPr>
                <a:t>};</a:t>
              </a:r>
              <a:endParaRPr lang="en-US" altLang="x-none" sz="2200" dirty="0">
                <a:solidFill>
                  <a:srgbClr val="5555D5"/>
                </a:solidFill>
                <a:latin typeface="Arial" panose="020B0604020202020204" pitchFamily="34" charset="0"/>
                <a:ea typeface="宋体" panose="02010600030101010101" pitchFamily="2" charset="-122"/>
              </a:endParaRPr>
            </a:p>
          </p:txBody>
        </p:sp>
        <p:sp>
          <p:nvSpPr>
            <p:cNvPr id="28678" name="Line 13"/>
            <p:cNvSpPr/>
            <p:nvPr/>
          </p:nvSpPr>
          <p:spPr>
            <a:xfrm>
              <a:off x="15422" y="2765905"/>
              <a:ext cx="9144000" cy="0"/>
            </a:xfrm>
            <a:prstGeom prst="line">
              <a:avLst/>
            </a:prstGeom>
            <a:ln w="38100" cap="flat" cmpd="sng">
              <a:solidFill>
                <a:srgbClr val="3EBA3E"/>
              </a:solidFill>
              <a:prstDash val="solid"/>
              <a:round/>
              <a:headEnd type="none" w="med" len="med"/>
              <a:tailEnd type="none" w="med" len="med"/>
            </a:ln>
          </p:spPr>
        </p:sp>
        <p:sp>
          <p:nvSpPr>
            <p:cNvPr id="28679" name="Line 14"/>
            <p:cNvSpPr/>
            <p:nvPr/>
          </p:nvSpPr>
          <p:spPr>
            <a:xfrm>
              <a:off x="4810758" y="15430"/>
              <a:ext cx="48578" cy="4704499"/>
            </a:xfrm>
            <a:prstGeom prst="line">
              <a:avLst/>
            </a:prstGeom>
            <a:ln w="28575" cap="flat" cmpd="sng">
              <a:solidFill>
                <a:srgbClr val="3EBA3E"/>
              </a:solidFill>
              <a:prstDash val="solid"/>
              <a:round/>
              <a:headEnd type="none" w="med" len="med"/>
              <a:tailEnd type="none" w="med" len="med"/>
            </a:ln>
          </p:spPr>
        </p:sp>
        <p:sp>
          <p:nvSpPr>
            <p:cNvPr id="28680" name="Line 15"/>
            <p:cNvSpPr/>
            <p:nvPr/>
          </p:nvSpPr>
          <p:spPr>
            <a:xfrm>
              <a:off x="0" y="0"/>
              <a:ext cx="9144000" cy="0"/>
            </a:xfrm>
            <a:prstGeom prst="line">
              <a:avLst/>
            </a:prstGeom>
            <a:ln w="38100" cap="flat" cmpd="sng">
              <a:solidFill>
                <a:srgbClr val="3EBA3E"/>
              </a:solidFill>
              <a:prstDash val="solid"/>
              <a:round/>
              <a:headEnd type="none" w="med" len="med"/>
              <a:tailEnd type="none" w="med" len="med"/>
            </a:ln>
          </p:spPr>
        </p:sp>
        <p:sp>
          <p:nvSpPr>
            <p:cNvPr id="28681" name="Line 16"/>
            <p:cNvSpPr/>
            <p:nvPr/>
          </p:nvSpPr>
          <p:spPr>
            <a:xfrm>
              <a:off x="0" y="4719929"/>
              <a:ext cx="9144000" cy="0"/>
            </a:xfrm>
            <a:prstGeom prst="line">
              <a:avLst/>
            </a:prstGeom>
            <a:ln w="38100" cap="flat" cmpd="sng">
              <a:solidFill>
                <a:srgbClr val="3EBA3E"/>
              </a:solidFill>
              <a:prstDash val="solid"/>
              <a:round/>
              <a:headEnd type="none" w="med" len="med"/>
              <a:tailEnd type="none" w="med" len="med"/>
            </a:ln>
          </p:spPr>
        </p:sp>
      </p:grpSp>
      <p:sp>
        <p:nvSpPr>
          <p:cNvPr id="28682" name="Rectangle 18"/>
          <p:cNvSpPr/>
          <p:nvPr/>
        </p:nvSpPr>
        <p:spPr>
          <a:xfrm>
            <a:off x="349250" y="1258888"/>
            <a:ext cx="7431088" cy="431800"/>
          </a:xfrm>
          <a:prstGeom prst="rect">
            <a:avLst/>
          </a:prstGeom>
          <a:noFill/>
          <a:ln w="9525">
            <a:noFill/>
          </a:ln>
        </p:spPr>
        <p:txBody>
          <a:bodyPr anchor="t"/>
          <a:lstStyle/>
          <a:p>
            <a:pPr lvl="0" indent="0">
              <a:buNone/>
            </a:pPr>
            <a:r>
              <a:rPr lang="zh-CN" altLang="en-US" sz="2600" dirty="0">
                <a:solidFill>
                  <a:srgbClr val="006600"/>
                </a:solidFill>
                <a:latin typeface="Arial" panose="020B0604020202020204" pitchFamily="34" charset="0"/>
                <a:ea typeface="宋体" panose="02010600030101010101" pitchFamily="2" charset="-122"/>
              </a:rPr>
              <a:t> </a:t>
            </a:r>
            <a:r>
              <a:rPr lang="zh-CN" altLang="en-US" sz="2400" dirty="0">
                <a:solidFill>
                  <a:srgbClr val="006600"/>
                </a:solidFill>
                <a:latin typeface="Arial" panose="020B0604020202020204" pitchFamily="34" charset="0"/>
                <a:ea typeface="宋体" panose="02010600030101010101" pitchFamily="2" charset="-122"/>
              </a:rPr>
              <a:t>步骤</a:t>
            </a:r>
            <a:r>
              <a:rPr lang="en-US" altLang="x-none" sz="2400" dirty="0">
                <a:solidFill>
                  <a:srgbClr val="006600"/>
                </a:solidFill>
                <a:latin typeface="Arial" panose="020B0604020202020204" pitchFamily="34" charset="0"/>
                <a:ea typeface="宋体" panose="02010600030101010101" pitchFamily="2" charset="-122"/>
              </a:rPr>
              <a:t>1:</a:t>
            </a:r>
            <a:r>
              <a:rPr lang="zh-CN" altLang="en-US" sz="2400" dirty="0">
                <a:latin typeface="Arial" panose="020B0604020202020204" pitchFamily="34" charset="0"/>
                <a:ea typeface="宋体" panose="02010600030101010101" pitchFamily="2" charset="-122"/>
              </a:rPr>
              <a:t>定义数据结构</a:t>
            </a:r>
            <a:endParaRPr lang="zh-CN" altLang="en-US" sz="2400" dirty="0">
              <a:latin typeface="Arial" panose="020B0604020202020204" pitchFamily="34" charset="0"/>
              <a:ea typeface="宋体" panose="02010600030101010101" pitchFamily="2" charset="-122"/>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14" name="Rectangle 2"/>
          <p:cNvSpPr/>
          <p:nvPr/>
        </p:nvSpPr>
        <p:spPr>
          <a:xfrm>
            <a:off x="457200" y="775808"/>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smtClean="0">
                <a:solidFill>
                  <a:srgbClr val="3333CC"/>
                </a:solidFill>
                <a:latin typeface="Arial" panose="020B0604020202020204" pitchFamily="34" charset="0"/>
                <a:ea typeface="黑体" panose="02010609060101010101" pitchFamily="1" charset="-122"/>
              </a:rPr>
              <a:t>文件系统阶段</a:t>
            </a:r>
            <a:endParaRPr lang="en-US" altLang="x-none"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6" name="Object 8"/>
          <p:cNvGraphicFramePr/>
          <p:nvPr/>
        </p:nvGraphicFramePr>
        <p:xfrm>
          <a:off x="552450" y="2901950"/>
          <a:ext cx="7966075" cy="2003425"/>
        </p:xfrm>
        <a:graphic>
          <a:graphicData uri="http://schemas.openxmlformats.org/presentationml/2006/ole">
            <mc:AlternateContent xmlns:mc="http://schemas.openxmlformats.org/markup-compatibility/2006">
              <mc:Choice xmlns:v="urn:schemas-microsoft-com:vml" Requires="v">
                <p:oleObj spid="_x0000_s2084" name="" r:id="rId1" imgW="13906500" imgH="3733800" progId="Word.Picture.8">
                  <p:embed/>
                </p:oleObj>
              </mc:Choice>
              <mc:Fallback>
                <p:oleObj name="" r:id="rId1" imgW="13906500" imgH="3733800" progId="Word.Picture.8">
                  <p:embed/>
                  <p:pic>
                    <p:nvPicPr>
                      <p:cNvPr id="0" name="图片 2048" descr="image8"/>
                      <p:cNvPicPr/>
                      <p:nvPr/>
                    </p:nvPicPr>
                    <p:blipFill>
                      <a:blip r:embed="rId2"/>
                      <a:stretch>
                        <a:fillRect/>
                      </a:stretch>
                    </p:blipFill>
                    <p:spPr>
                      <a:xfrm>
                        <a:off x="552450" y="2901950"/>
                        <a:ext cx="7966075" cy="2003425"/>
                      </a:xfrm>
                      <a:prstGeom prst="rect">
                        <a:avLst/>
                      </a:prstGeom>
                      <a:solidFill>
                        <a:srgbClr val="FFFFFF"/>
                      </a:solidFill>
                      <a:ln w="38100">
                        <a:noFill/>
                      </a:ln>
                    </p:spPr>
                  </p:pic>
                </p:oleObj>
              </mc:Fallback>
            </mc:AlternateContent>
          </a:graphicData>
        </a:graphic>
      </p:graphicFrame>
      <p:grpSp>
        <p:nvGrpSpPr>
          <p:cNvPr id="26627" name="组合 1"/>
          <p:cNvGrpSpPr/>
          <p:nvPr/>
        </p:nvGrpSpPr>
        <p:grpSpPr>
          <a:xfrm>
            <a:off x="457200" y="1370013"/>
            <a:ext cx="8128000" cy="1711325"/>
            <a:chOff x="0" y="0"/>
            <a:chExt cx="8128000" cy="1710870"/>
          </a:xfrm>
        </p:grpSpPr>
        <p:sp>
          <p:nvSpPr>
            <p:cNvPr id="30723" name="Text Box 2"/>
            <p:cNvSpPr txBox="1"/>
            <p:nvPr/>
          </p:nvSpPr>
          <p:spPr>
            <a:xfrm>
              <a:off x="0" y="0"/>
              <a:ext cx="6937375" cy="592138"/>
            </a:xfrm>
            <a:prstGeom prst="rect">
              <a:avLst/>
            </a:prstGeom>
            <a:noFill/>
            <a:ln w="9525">
              <a:noFill/>
            </a:ln>
          </p:spPr>
          <p:txBody>
            <a:bodyPr anchor="t">
              <a:spAutoFit/>
            </a:bodyPr>
            <a:lstStyle/>
            <a:p>
              <a:pPr lvl="0" indent="0">
                <a:spcBef>
                  <a:spcPct val="50000"/>
                </a:spcBef>
                <a:buNone/>
              </a:pPr>
              <a:r>
                <a:rPr lang="zh-CN" altLang="en-US" sz="2400" dirty="0">
                  <a:solidFill>
                    <a:srgbClr val="006600"/>
                  </a:solidFill>
                  <a:latin typeface="Arial" panose="020B0604020202020204" pitchFamily="34" charset="0"/>
                  <a:ea typeface="宋体" panose="02010600030101010101" pitchFamily="2" charset="-122"/>
                </a:rPr>
                <a:t>步骤</a:t>
              </a:r>
              <a:r>
                <a:rPr lang="en-US" altLang="x-none" sz="2400" dirty="0">
                  <a:solidFill>
                    <a:srgbClr val="006600"/>
                  </a:solidFill>
                  <a:latin typeface="Arial" panose="020B0604020202020204" pitchFamily="34" charset="0"/>
                  <a:ea typeface="宋体" panose="02010600030101010101" pitchFamily="2" charset="-122"/>
                </a:rPr>
                <a:t>2: </a:t>
              </a:r>
              <a:r>
                <a:rPr lang="zh-CN" altLang="en-US" sz="2400" dirty="0">
                  <a:latin typeface="Arial" panose="020B0604020202020204" pitchFamily="34" charset="0"/>
                  <a:ea typeface="宋体" panose="02010600030101010101" pitchFamily="2" charset="-122"/>
                </a:rPr>
                <a:t>构造链表</a:t>
              </a:r>
              <a:endParaRPr lang="zh-CN" altLang="en-US" sz="2400" dirty="0">
                <a:latin typeface="Arial" panose="020B0604020202020204" pitchFamily="34" charset="0"/>
                <a:ea typeface="宋体" panose="02010600030101010101" pitchFamily="2" charset="-122"/>
              </a:endParaRPr>
            </a:p>
          </p:txBody>
        </p:sp>
        <p:sp>
          <p:nvSpPr>
            <p:cNvPr id="30724" name="Text Box 4"/>
            <p:cNvSpPr txBox="1"/>
            <p:nvPr/>
          </p:nvSpPr>
          <p:spPr>
            <a:xfrm>
              <a:off x="149225" y="453570"/>
              <a:ext cx="7978775" cy="457200"/>
            </a:xfrm>
            <a:prstGeom prst="rect">
              <a:avLst/>
            </a:prstGeom>
            <a:noFill/>
            <a:ln w="9525">
              <a:noFill/>
            </a:ln>
          </p:spPr>
          <p:txBody>
            <a:bodyPr anchor="t">
              <a:spAutoFit/>
            </a:bodyPr>
            <a:lstStyle/>
            <a:p>
              <a:pPr lvl="0" indent="0" algn="just">
                <a:lnSpc>
                  <a:spcPct val="125000"/>
                </a:lnSpc>
                <a:buNone/>
              </a:pPr>
              <a:r>
                <a:rPr lang="zh-CN" altLang="en-US" sz="2200" b="0" dirty="0">
                  <a:latin typeface="楷体" panose="02010609060101010101" pitchFamily="1" charset="-122"/>
                  <a:ea typeface="楷体" panose="02010609060101010101" pitchFamily="1" charset="-122"/>
                </a:rPr>
                <a:t>为了管理学生的信息，常常以班级为单位。</a:t>
              </a:r>
              <a:endParaRPr lang="zh-CN" altLang="en-US" sz="2200" b="0" dirty="0">
                <a:latin typeface="楷体" panose="02010609060101010101" pitchFamily="1" charset="-122"/>
                <a:ea typeface="楷体" panose="02010609060101010101" pitchFamily="1" charset="-122"/>
              </a:endParaRPr>
            </a:p>
          </p:txBody>
        </p:sp>
        <p:sp>
          <p:nvSpPr>
            <p:cNvPr id="30725" name="Text Box 4"/>
            <p:cNvSpPr txBox="1"/>
            <p:nvPr/>
          </p:nvSpPr>
          <p:spPr>
            <a:xfrm>
              <a:off x="128588" y="894895"/>
              <a:ext cx="7977187" cy="815975"/>
            </a:xfrm>
            <a:prstGeom prst="rect">
              <a:avLst/>
            </a:prstGeom>
            <a:noFill/>
            <a:ln w="9525">
              <a:noFill/>
            </a:ln>
          </p:spPr>
          <p:txBody>
            <a:bodyPr anchor="t">
              <a:spAutoFit/>
            </a:bodyPr>
            <a:lstStyle/>
            <a:p>
              <a:pPr lvl="0" indent="0" algn="just">
                <a:lnSpc>
                  <a:spcPct val="114000"/>
                </a:lnSpc>
                <a:buNone/>
              </a:pPr>
              <a:r>
                <a:rPr lang="zh-CN" altLang="en-US" sz="2200" b="0" dirty="0">
                  <a:latin typeface="楷体" panose="02010609060101010101" pitchFamily="1" charset="-122"/>
                  <a:ea typeface="楷体" panose="02010609060101010101" pitchFamily="1" charset="-122"/>
                </a:rPr>
                <a:t>如果对集合数据进行添加、修改、排序等操作，一个办法是构造链表。在上述例子中，至少要构造四个这样的链表。</a:t>
              </a:r>
              <a:endParaRPr lang="zh-CN" altLang="en-US" sz="2200" b="0" dirty="0">
                <a:latin typeface="楷体" panose="02010609060101010101" pitchFamily="1" charset="-122"/>
                <a:ea typeface="楷体" panose="02010609060101010101" pitchFamily="1" charset="-122"/>
              </a:endParaRPr>
            </a:p>
          </p:txBody>
        </p:sp>
      </p:grpSp>
      <p:grpSp>
        <p:nvGrpSpPr>
          <p:cNvPr id="26631" name="组合 5"/>
          <p:cNvGrpSpPr/>
          <p:nvPr/>
        </p:nvGrpSpPr>
        <p:grpSpPr>
          <a:xfrm>
            <a:off x="377825" y="4892675"/>
            <a:ext cx="8577263" cy="1331913"/>
            <a:chOff x="0" y="0"/>
            <a:chExt cx="8577263" cy="1331913"/>
          </a:xfrm>
        </p:grpSpPr>
        <p:sp>
          <p:nvSpPr>
            <p:cNvPr id="30727" name="Text Box 3"/>
            <p:cNvSpPr txBox="1"/>
            <p:nvPr/>
          </p:nvSpPr>
          <p:spPr>
            <a:xfrm>
              <a:off x="0" y="0"/>
              <a:ext cx="8577263" cy="590550"/>
            </a:xfrm>
            <a:prstGeom prst="rect">
              <a:avLst/>
            </a:prstGeom>
            <a:noFill/>
            <a:ln w="9525">
              <a:noFill/>
            </a:ln>
          </p:spPr>
          <p:txBody>
            <a:bodyPr anchor="t">
              <a:spAutoFit/>
            </a:bodyPr>
            <a:lstStyle/>
            <a:p>
              <a:pPr lvl="0" indent="0">
                <a:spcBef>
                  <a:spcPct val="50000"/>
                </a:spcBef>
                <a:buNone/>
              </a:pPr>
              <a:r>
                <a:rPr lang="zh-CN" altLang="en-US" sz="2400" dirty="0">
                  <a:solidFill>
                    <a:srgbClr val="006600"/>
                  </a:solidFill>
                  <a:latin typeface="Arial" panose="020B0604020202020204" pitchFamily="34" charset="0"/>
                  <a:ea typeface="宋体" panose="02010600030101010101" pitchFamily="2" charset="-122"/>
                </a:rPr>
                <a:t>步骤</a:t>
              </a:r>
              <a:r>
                <a:rPr lang="en-US" altLang="x-none" sz="2400" dirty="0">
                  <a:solidFill>
                    <a:srgbClr val="006600"/>
                  </a:solidFill>
                  <a:latin typeface="Arial" panose="020B0604020202020204" pitchFamily="34" charset="0"/>
                  <a:ea typeface="宋体" panose="02010600030101010101" pitchFamily="2" charset="-122"/>
                </a:rPr>
                <a:t>3:</a:t>
              </a:r>
              <a:r>
                <a:rPr lang="zh-CN" altLang="en-US" sz="2400" dirty="0">
                  <a:latin typeface="Arial" panose="020B0604020202020204" pitchFamily="34" charset="0"/>
                  <a:ea typeface="宋体" panose="02010600030101010101" pitchFamily="2" charset="-122"/>
                </a:rPr>
                <a:t>操作链表</a:t>
              </a:r>
              <a:endParaRPr lang="zh-CN" altLang="en-US" sz="2400" dirty="0">
                <a:latin typeface="Arial" panose="020B0604020202020204" pitchFamily="34" charset="0"/>
                <a:ea typeface="宋体" panose="02010600030101010101" pitchFamily="2" charset="-122"/>
              </a:endParaRPr>
            </a:p>
          </p:txBody>
        </p:sp>
        <p:sp>
          <p:nvSpPr>
            <p:cNvPr id="30728" name="Text Box 5"/>
            <p:cNvSpPr txBox="1"/>
            <p:nvPr/>
          </p:nvSpPr>
          <p:spPr>
            <a:xfrm>
              <a:off x="101600" y="515938"/>
              <a:ext cx="8258175" cy="815975"/>
            </a:xfrm>
            <a:prstGeom prst="rect">
              <a:avLst/>
            </a:prstGeom>
            <a:noFill/>
            <a:ln w="9525">
              <a:noFill/>
            </a:ln>
          </p:spPr>
          <p:txBody>
            <a:bodyPr anchor="t">
              <a:spAutoFit/>
            </a:bodyPr>
            <a:lstStyle/>
            <a:p>
              <a:pPr lvl="0" indent="0" algn="just">
                <a:lnSpc>
                  <a:spcPct val="114000"/>
                </a:lnSpc>
                <a:buNone/>
              </a:pPr>
              <a:r>
                <a:rPr lang="zh-CN" altLang="en-US" sz="2200" b="0" dirty="0">
                  <a:latin typeface="楷体" panose="02010609060101010101" pitchFamily="1" charset="-122"/>
                  <a:ea typeface="楷体" panose="02010609060101010101" pitchFamily="1" charset="-122"/>
                </a:rPr>
                <a:t>结点的插入（</a:t>
              </a:r>
              <a:r>
                <a:rPr lang="en-US" altLang="x-none" sz="2200" b="0" dirty="0">
                  <a:latin typeface="楷体" panose="02010609060101010101" pitchFamily="1" charset="-122"/>
                  <a:ea typeface="楷体" panose="02010609060101010101" pitchFamily="1" charset="-122"/>
                </a:rPr>
                <a:t>Insert</a:t>
              </a:r>
              <a:r>
                <a:rPr lang="zh-CN" altLang="en-US" sz="2200" b="0" dirty="0">
                  <a:latin typeface="楷体" panose="02010609060101010101" pitchFamily="1" charset="-122"/>
                  <a:ea typeface="楷体" panose="02010609060101010101" pitchFamily="1" charset="-122"/>
                </a:rPr>
                <a:t>）、删除（</a:t>
              </a:r>
              <a:r>
                <a:rPr lang="en-US" altLang="x-none" sz="2200" b="0" dirty="0">
                  <a:latin typeface="楷体" panose="02010609060101010101" pitchFamily="1" charset="-122"/>
                  <a:ea typeface="楷体" panose="02010609060101010101" pitchFamily="1" charset="-122"/>
                </a:rPr>
                <a:t>Delete</a:t>
              </a:r>
              <a:r>
                <a:rPr lang="zh-CN" altLang="en-US" sz="2200" b="0" dirty="0">
                  <a:latin typeface="楷体" panose="02010609060101010101" pitchFamily="1" charset="-122"/>
                  <a:ea typeface="楷体" panose="02010609060101010101" pitchFamily="1" charset="-122"/>
                </a:rPr>
                <a:t>）、修改（</a:t>
              </a:r>
              <a:r>
                <a:rPr lang="en-US" altLang="x-none" sz="2200" b="0" dirty="0">
                  <a:latin typeface="楷体" panose="02010609060101010101" pitchFamily="1" charset="-122"/>
                  <a:ea typeface="楷体" panose="02010609060101010101" pitchFamily="1" charset="-122"/>
                </a:rPr>
                <a:t>Update</a:t>
              </a:r>
              <a:r>
                <a:rPr lang="zh-CN" altLang="en-US" sz="2200" b="0" dirty="0">
                  <a:latin typeface="楷体" panose="02010609060101010101" pitchFamily="1" charset="-122"/>
                  <a:ea typeface="楷体" panose="02010609060101010101" pitchFamily="1" charset="-122"/>
                </a:rPr>
                <a:t>）和链表查询（</a:t>
              </a:r>
              <a:r>
                <a:rPr lang="en-US" altLang="x-none" sz="2200" b="0" dirty="0">
                  <a:latin typeface="楷体" panose="02010609060101010101" pitchFamily="1" charset="-122"/>
                  <a:ea typeface="楷体" panose="02010609060101010101" pitchFamily="1" charset="-122"/>
                </a:rPr>
                <a:t>Query</a:t>
              </a:r>
              <a:r>
                <a:rPr lang="zh-CN" altLang="en-US" sz="2200" b="0" dirty="0">
                  <a:latin typeface="楷体" panose="02010609060101010101" pitchFamily="1" charset="-122"/>
                  <a:ea typeface="楷体" panose="02010609060101010101" pitchFamily="1" charset="-122"/>
                </a:rPr>
                <a:t>）与排序（</a:t>
              </a:r>
              <a:r>
                <a:rPr lang="en-US" altLang="x-none" sz="2200" b="0" dirty="0">
                  <a:latin typeface="楷体" panose="02010609060101010101" pitchFamily="1" charset="-122"/>
                  <a:ea typeface="楷体" panose="02010609060101010101" pitchFamily="1" charset="-122"/>
                </a:rPr>
                <a:t>Sort</a:t>
              </a:r>
              <a:r>
                <a:rPr lang="zh-CN" altLang="en-US" sz="2200" b="0" dirty="0">
                  <a:latin typeface="楷体" panose="02010609060101010101" pitchFamily="1" charset="-122"/>
                  <a:ea typeface="楷体" panose="02010609060101010101" pitchFamily="1" charset="-122"/>
                </a:rPr>
                <a:t>）。</a:t>
              </a:r>
              <a:endParaRPr lang="zh-CN" altLang="en-US" sz="2200" b="0" dirty="0">
                <a:latin typeface="楷体" panose="02010609060101010101" pitchFamily="1" charset="-122"/>
                <a:ea typeface="楷体" panose="02010609060101010101" pitchFamily="1" charset="-122"/>
              </a:endParaRPr>
            </a:p>
          </p:txBody>
        </p:sp>
      </p:gr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12" name="Rectangle 2"/>
          <p:cNvSpPr/>
          <p:nvPr/>
        </p:nvSpPr>
        <p:spPr>
          <a:xfrm>
            <a:off x="457200" y="775808"/>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smtClean="0">
                <a:solidFill>
                  <a:srgbClr val="3333CC"/>
                </a:solidFill>
                <a:latin typeface="Arial" panose="020B0604020202020204" pitchFamily="34" charset="0"/>
                <a:ea typeface="黑体" panose="02010609060101010101" pitchFamily="1" charset="-122"/>
              </a:rPr>
              <a:t>文件系统阶段</a:t>
            </a:r>
            <a:endParaRPr lang="en-US" altLang="x-none"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26"/>
                                        </p:tgtEl>
                                        <p:attrNameLst>
                                          <p:attrName>style.visibility</p:attrName>
                                        </p:attrNameLst>
                                      </p:cBhvr>
                                      <p:to>
                                        <p:strVal val="visible"/>
                                      </p:to>
                                    </p:set>
                                    <p:anim calcmode="lin" valueType="num">
                                      <p:cBhvr additive="base">
                                        <p:cTn id="7" dur="500" fill="hold"/>
                                        <p:tgtEl>
                                          <p:spTgt spid="26626"/>
                                        </p:tgtEl>
                                        <p:attrNameLst>
                                          <p:attrName>ppt_x</p:attrName>
                                        </p:attrNameLst>
                                      </p:cBhvr>
                                      <p:tavLst>
                                        <p:tav tm="0">
                                          <p:val>
                                            <p:strVal val="#ppt_x"/>
                                          </p:val>
                                        </p:tav>
                                        <p:tav tm="100000">
                                          <p:val>
                                            <p:strVal val="#ppt_x"/>
                                          </p:val>
                                        </p:tav>
                                      </p:tavLst>
                                    </p:anim>
                                    <p:anim calcmode="lin" valueType="num">
                                      <p:cBhvr additive="base">
                                        <p:cTn id="8" dur="500" fill="hold"/>
                                        <p:tgtEl>
                                          <p:spTgt spid="266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631"/>
                                        </p:tgtEl>
                                        <p:attrNameLst>
                                          <p:attrName>style.visibility</p:attrName>
                                        </p:attrNameLst>
                                      </p:cBhvr>
                                      <p:to>
                                        <p:strVal val="visible"/>
                                      </p:to>
                                    </p:set>
                                    <p:anim calcmode="lin" valueType="num">
                                      <p:cBhvr additive="base">
                                        <p:cTn id="13" dur="500" fill="hold"/>
                                        <p:tgtEl>
                                          <p:spTgt spid="26631"/>
                                        </p:tgtEl>
                                        <p:attrNameLst>
                                          <p:attrName>ppt_x</p:attrName>
                                        </p:attrNameLst>
                                      </p:cBhvr>
                                      <p:tavLst>
                                        <p:tav tm="0">
                                          <p:val>
                                            <p:strVal val="#ppt_x"/>
                                          </p:val>
                                        </p:tav>
                                        <p:tav tm="100000">
                                          <p:val>
                                            <p:strVal val="#ppt_x"/>
                                          </p:val>
                                        </p:tav>
                                      </p:tavLst>
                                    </p:anim>
                                    <p:anim calcmode="lin" valueType="num">
                                      <p:cBhvr additive="base">
                                        <p:cTn id="14" dur="500" fill="hold"/>
                                        <p:tgtEl>
                                          <p:spTgt spid="266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769" name="Object 9"/>
          <p:cNvGraphicFramePr/>
          <p:nvPr/>
        </p:nvGraphicFramePr>
        <p:xfrm>
          <a:off x="655638" y="1955800"/>
          <a:ext cx="8023225" cy="4510088"/>
        </p:xfrm>
        <a:graphic>
          <a:graphicData uri="http://schemas.openxmlformats.org/presentationml/2006/ole">
            <mc:AlternateContent xmlns:mc="http://schemas.openxmlformats.org/markup-compatibility/2006">
              <mc:Choice xmlns:v="urn:schemas-microsoft-com:vml" Requires="v">
                <p:oleObj spid="_x0000_s3108" name="" r:id="rId1" imgW="4629150" imgH="2781300" progId="Visio.Drawing.11">
                  <p:embed/>
                </p:oleObj>
              </mc:Choice>
              <mc:Fallback>
                <p:oleObj name="" r:id="rId1" imgW="4629150" imgH="2781300" progId="Visio.Drawing.11">
                  <p:embed/>
                  <p:pic>
                    <p:nvPicPr>
                      <p:cNvPr id="0" name="图片 3072" descr="image9"/>
                      <p:cNvPicPr/>
                      <p:nvPr/>
                    </p:nvPicPr>
                    <p:blipFill>
                      <a:blip r:embed="rId2"/>
                      <a:srcRect b="4156"/>
                      <a:stretch>
                        <a:fillRect/>
                      </a:stretch>
                    </p:blipFill>
                    <p:spPr>
                      <a:xfrm>
                        <a:off x="655638" y="1955800"/>
                        <a:ext cx="8023225" cy="4510088"/>
                      </a:xfrm>
                      <a:prstGeom prst="rect">
                        <a:avLst/>
                      </a:prstGeom>
                      <a:solidFill>
                        <a:srgbClr val="FFFFFF"/>
                      </a:solidFill>
                      <a:ln w="38100">
                        <a:noFill/>
                      </a:ln>
                    </p:spPr>
                  </p:pic>
                </p:oleObj>
              </mc:Fallback>
            </mc:AlternateContent>
          </a:graphicData>
        </a:graphic>
      </p:graphicFrame>
      <p:sp>
        <p:nvSpPr>
          <p:cNvPr id="32772" name="Text Box 2"/>
          <p:cNvSpPr txBox="1"/>
          <p:nvPr/>
        </p:nvSpPr>
        <p:spPr>
          <a:xfrm>
            <a:off x="508000" y="1349375"/>
            <a:ext cx="7345363" cy="590550"/>
          </a:xfrm>
          <a:prstGeom prst="rect">
            <a:avLst/>
          </a:prstGeom>
          <a:noFill/>
          <a:ln w="9525">
            <a:noFill/>
          </a:ln>
        </p:spPr>
        <p:txBody>
          <a:bodyPr anchor="t">
            <a:spAutoFit/>
          </a:bodyPr>
          <a:lstStyle/>
          <a:p>
            <a:pPr lvl="0" indent="0">
              <a:spcBef>
                <a:spcPct val="50000"/>
              </a:spcBef>
              <a:buNone/>
            </a:pPr>
            <a:r>
              <a:rPr lang="zh-CN" altLang="en-US" sz="2400" dirty="0">
                <a:solidFill>
                  <a:srgbClr val="006600"/>
                </a:solidFill>
                <a:latin typeface="Arial" panose="020B0604020202020204" pitchFamily="34" charset="0"/>
                <a:ea typeface="宋体" panose="02010600030101010101" pitchFamily="2" charset="-122"/>
              </a:rPr>
              <a:t>步骤</a:t>
            </a:r>
            <a:r>
              <a:rPr lang="en-US" altLang="x-none" sz="2400" dirty="0">
                <a:solidFill>
                  <a:srgbClr val="006600"/>
                </a:solidFill>
                <a:latin typeface="Arial" panose="020B0604020202020204" pitchFamily="34" charset="0"/>
                <a:ea typeface="宋体" panose="02010600030101010101" pitchFamily="2" charset="-122"/>
              </a:rPr>
              <a:t>4:</a:t>
            </a:r>
            <a:r>
              <a:rPr lang="zh-CN" altLang="en-US" sz="2400" dirty="0">
                <a:latin typeface="Arial" panose="020B0604020202020204" pitchFamily="34" charset="0"/>
                <a:ea typeface="宋体" panose="02010600030101010101" pitchFamily="2" charset="-122"/>
              </a:rPr>
              <a:t>设计用户界面（</a:t>
            </a:r>
            <a:r>
              <a:rPr lang="en-US" altLang="x-none" sz="2400" dirty="0">
                <a:latin typeface="Arial" panose="020B0604020202020204" pitchFamily="34" charset="0"/>
                <a:ea typeface="宋体" panose="02010600030101010101" pitchFamily="2" charset="-122"/>
              </a:rPr>
              <a:t>GUI</a:t>
            </a:r>
            <a:r>
              <a:rPr lang="zh-CN" altLang="en-US" sz="2400" dirty="0">
                <a:latin typeface="Arial" panose="020B0604020202020204" pitchFamily="34" charset="0"/>
                <a:ea typeface="宋体" panose="02010600030101010101" pitchFamily="2" charset="-122"/>
              </a:rPr>
              <a:t>）</a:t>
            </a:r>
            <a:endParaRPr lang="zh-CN" altLang="en-US" sz="2400" dirty="0">
              <a:latin typeface="Arial" panose="020B0604020202020204" pitchFamily="34" charset="0"/>
              <a:ea typeface="宋体" panose="02010600030101010101" pitchFamily="2" charset="-122"/>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6" name="Rectangle 2"/>
          <p:cNvSpPr/>
          <p:nvPr/>
        </p:nvSpPr>
        <p:spPr>
          <a:xfrm>
            <a:off x="457200" y="775808"/>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smtClean="0">
                <a:solidFill>
                  <a:srgbClr val="3333CC"/>
                </a:solidFill>
                <a:latin typeface="Arial" panose="020B0604020202020204" pitchFamily="34" charset="0"/>
                <a:ea typeface="黑体" panose="02010609060101010101" pitchFamily="1" charset="-122"/>
              </a:rPr>
              <a:t>文件系统阶段</a:t>
            </a:r>
            <a:endParaRPr lang="en-US" altLang="x-none"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7" name="组合 10"/>
          <p:cNvGrpSpPr/>
          <p:nvPr/>
        </p:nvGrpSpPr>
        <p:grpSpPr>
          <a:xfrm>
            <a:off x="519113" y="1385888"/>
            <a:ext cx="8077200" cy="1398587"/>
            <a:chOff x="0" y="0"/>
            <a:chExt cx="8076974" cy="1399041"/>
          </a:xfrm>
        </p:grpSpPr>
        <p:sp>
          <p:nvSpPr>
            <p:cNvPr id="34818" name="Text Box 6"/>
            <p:cNvSpPr txBox="1"/>
            <p:nvPr/>
          </p:nvSpPr>
          <p:spPr>
            <a:xfrm>
              <a:off x="0" y="0"/>
              <a:ext cx="6996112" cy="590550"/>
            </a:xfrm>
            <a:prstGeom prst="rect">
              <a:avLst/>
            </a:prstGeom>
            <a:noFill/>
            <a:ln w="9525">
              <a:noFill/>
            </a:ln>
          </p:spPr>
          <p:txBody>
            <a:bodyPr anchor="t">
              <a:spAutoFit/>
            </a:bodyPr>
            <a:lstStyle/>
            <a:p>
              <a:pPr lvl="0" indent="0">
                <a:spcBef>
                  <a:spcPct val="50000"/>
                </a:spcBef>
                <a:buNone/>
              </a:pPr>
              <a:r>
                <a:rPr lang="zh-CN" altLang="en-US" sz="2400" dirty="0">
                  <a:solidFill>
                    <a:srgbClr val="006600"/>
                  </a:solidFill>
                  <a:latin typeface="Arial" panose="020B0604020202020204" pitchFamily="34" charset="0"/>
                  <a:ea typeface="宋体" panose="02010600030101010101" pitchFamily="2" charset="-122"/>
                </a:rPr>
                <a:t>步骤</a:t>
              </a:r>
              <a:r>
                <a:rPr lang="en-US" altLang="x-none" sz="2400" dirty="0">
                  <a:solidFill>
                    <a:srgbClr val="006600"/>
                  </a:solidFill>
                  <a:latin typeface="Arial" panose="020B0604020202020204" pitchFamily="34" charset="0"/>
                  <a:ea typeface="宋体" panose="02010600030101010101" pitchFamily="2" charset="-122"/>
                </a:rPr>
                <a:t>5:</a:t>
              </a:r>
              <a:r>
                <a:rPr lang="zh-CN" altLang="en-US" sz="2400" dirty="0">
                  <a:latin typeface="Arial" panose="020B0604020202020204" pitchFamily="34" charset="0"/>
                  <a:ea typeface="宋体" panose="02010600030101010101" pitchFamily="2" charset="-122"/>
                </a:rPr>
                <a:t>创建数据存储文件</a:t>
              </a:r>
              <a:endParaRPr lang="zh-CN" altLang="en-US" sz="2400" dirty="0">
                <a:latin typeface="Arial" panose="020B0604020202020204" pitchFamily="34" charset="0"/>
                <a:ea typeface="宋体" panose="02010600030101010101" pitchFamily="2" charset="-122"/>
              </a:endParaRPr>
            </a:p>
          </p:txBody>
        </p:sp>
        <p:sp>
          <p:nvSpPr>
            <p:cNvPr id="34819" name="Text Box 4"/>
            <p:cNvSpPr txBox="1"/>
            <p:nvPr/>
          </p:nvSpPr>
          <p:spPr>
            <a:xfrm>
              <a:off x="99787" y="583066"/>
              <a:ext cx="7977187" cy="815975"/>
            </a:xfrm>
            <a:prstGeom prst="rect">
              <a:avLst/>
            </a:prstGeom>
            <a:noFill/>
            <a:ln w="9525">
              <a:noFill/>
            </a:ln>
          </p:spPr>
          <p:txBody>
            <a:bodyPr anchor="t">
              <a:spAutoFit/>
            </a:bodyPr>
            <a:lstStyle/>
            <a:p>
              <a:pPr lvl="0" indent="0" algn="just">
                <a:lnSpc>
                  <a:spcPct val="114000"/>
                </a:lnSpc>
                <a:buNone/>
              </a:pPr>
              <a:r>
                <a:rPr lang="zh-CN" altLang="en-US" sz="2200" b="0" dirty="0">
                  <a:latin typeface="楷体" panose="02010609060101010101" pitchFamily="1" charset="-122"/>
                  <a:ea typeface="楷体" panose="02010609060101010101" pitchFamily="1" charset="-122"/>
                </a:rPr>
                <a:t>将链表中的数据以文件形式存盘。使用</a:t>
              </a:r>
              <a:r>
                <a:rPr lang="en-US" altLang="x-none" sz="2200" b="0" dirty="0">
                  <a:latin typeface="楷体" panose="02010609060101010101" pitchFamily="1" charset="-122"/>
                  <a:ea typeface="楷体" panose="02010609060101010101" pitchFamily="1" charset="-122"/>
                </a:rPr>
                <a:t>I/O</a:t>
              </a:r>
              <a:r>
                <a:rPr lang="zh-CN" altLang="en-US" sz="2200" b="0" dirty="0">
                  <a:latin typeface="楷体" panose="02010609060101010101" pitchFamily="1" charset="-122"/>
                  <a:ea typeface="楷体" panose="02010609060101010101" pitchFamily="1" charset="-122"/>
                </a:rPr>
                <a:t>操作函数完成对文件中数据的读写，上例中需要四个数据文件。</a:t>
              </a:r>
              <a:endParaRPr lang="zh-CN" altLang="en-US" sz="2200" b="0" dirty="0">
                <a:latin typeface="楷体" panose="02010609060101010101" pitchFamily="1" charset="-122"/>
                <a:ea typeface="楷体" panose="02010609060101010101" pitchFamily="1" charset="-122"/>
              </a:endParaRPr>
            </a:p>
          </p:txBody>
        </p:sp>
      </p:grpSp>
      <p:grpSp>
        <p:nvGrpSpPr>
          <p:cNvPr id="30725" name="组合 12"/>
          <p:cNvGrpSpPr/>
          <p:nvPr/>
        </p:nvGrpSpPr>
        <p:grpSpPr>
          <a:xfrm>
            <a:off x="493713" y="2857500"/>
            <a:ext cx="8054975" cy="2203450"/>
            <a:chOff x="0" y="0"/>
            <a:chExt cx="8054975" cy="2203058"/>
          </a:xfrm>
        </p:grpSpPr>
        <p:sp>
          <p:nvSpPr>
            <p:cNvPr id="34821" name="Text Box 6"/>
            <p:cNvSpPr txBox="1"/>
            <p:nvPr/>
          </p:nvSpPr>
          <p:spPr>
            <a:xfrm>
              <a:off x="0" y="0"/>
              <a:ext cx="8054975" cy="592138"/>
            </a:xfrm>
            <a:prstGeom prst="rect">
              <a:avLst/>
            </a:prstGeom>
            <a:noFill/>
            <a:ln w="9525">
              <a:noFill/>
            </a:ln>
          </p:spPr>
          <p:txBody>
            <a:bodyPr anchor="t">
              <a:spAutoFit/>
            </a:bodyPr>
            <a:lstStyle/>
            <a:p>
              <a:pPr lvl="0" indent="0">
                <a:spcBef>
                  <a:spcPct val="50000"/>
                </a:spcBef>
                <a:buNone/>
              </a:pPr>
              <a:r>
                <a:rPr lang="zh-CN" altLang="en-US" sz="2400" dirty="0">
                  <a:solidFill>
                    <a:srgbClr val="006600"/>
                  </a:solidFill>
                  <a:latin typeface="Arial" panose="020B0604020202020204" pitchFamily="34" charset="0"/>
                  <a:ea typeface="宋体" panose="02010600030101010101" pitchFamily="2" charset="-122"/>
                </a:rPr>
                <a:t>步骤</a:t>
              </a:r>
              <a:r>
                <a:rPr lang="en-US" altLang="x-none" sz="2400" dirty="0">
                  <a:solidFill>
                    <a:srgbClr val="006600"/>
                  </a:solidFill>
                  <a:latin typeface="Arial" panose="020B0604020202020204" pitchFamily="34" charset="0"/>
                  <a:ea typeface="宋体" panose="02010600030101010101" pitchFamily="2" charset="-122"/>
                </a:rPr>
                <a:t>6:</a:t>
              </a:r>
              <a:r>
                <a:rPr lang="zh-CN" altLang="en-US" sz="2400" dirty="0">
                  <a:latin typeface="Arial" panose="020B0604020202020204" pitchFamily="34" charset="0"/>
                  <a:ea typeface="宋体" panose="02010600030101010101" pitchFamily="2" charset="-122"/>
                </a:rPr>
                <a:t>文件与链表的数据交换</a:t>
              </a:r>
              <a:endParaRPr lang="zh-CN" altLang="en-US" sz="2400" dirty="0">
                <a:latin typeface="Arial" panose="020B0604020202020204" pitchFamily="34" charset="0"/>
                <a:ea typeface="宋体" panose="02010600030101010101" pitchFamily="2" charset="-122"/>
              </a:endParaRPr>
            </a:p>
          </p:txBody>
        </p:sp>
        <p:sp>
          <p:nvSpPr>
            <p:cNvPr id="34822" name="Text Box 9"/>
            <p:cNvSpPr txBox="1"/>
            <p:nvPr/>
          </p:nvSpPr>
          <p:spPr>
            <a:xfrm>
              <a:off x="107950" y="582613"/>
              <a:ext cx="4394654" cy="1620445"/>
            </a:xfrm>
            <a:prstGeom prst="rect">
              <a:avLst/>
            </a:prstGeom>
            <a:noFill/>
            <a:ln w="9525">
              <a:noFill/>
            </a:ln>
          </p:spPr>
          <p:txBody>
            <a:bodyPr anchor="t">
              <a:spAutoFit/>
            </a:bodyPr>
            <a:lstStyle/>
            <a:p>
              <a:pPr lvl="0" indent="0">
                <a:lnSpc>
                  <a:spcPct val="110000"/>
                </a:lnSpc>
                <a:spcBef>
                  <a:spcPts val="300"/>
                </a:spcBef>
                <a:buFont typeface="Wingdings" panose="05000000000000000000" pitchFamily="2" charset="2"/>
                <a:buChar char="p"/>
              </a:pPr>
              <a:r>
                <a:rPr lang="en-US" altLang="x-none" sz="2200" dirty="0">
                  <a:latin typeface="Arial" panose="020B0604020202020204" pitchFamily="34" charset="0"/>
                  <a:ea typeface="宋体" panose="02010600030101010101" pitchFamily="2" charset="-122"/>
                </a:rPr>
                <a:t> </a:t>
              </a:r>
              <a:r>
                <a:rPr lang="zh-CN" altLang="en-US" sz="2200" b="0" dirty="0">
                  <a:latin typeface="楷体" panose="02010609060101010101" pitchFamily="1" charset="-122"/>
                  <a:ea typeface="楷体" panose="02010609060101010101" pitchFamily="1" charset="-122"/>
                </a:rPr>
                <a:t>程序运行时，将文件中的数据读出，放置到程序对应链表中；</a:t>
              </a:r>
              <a:endParaRPr lang="zh-CN" altLang="en-US" sz="2200" b="0" dirty="0">
                <a:latin typeface="楷体" panose="02010609060101010101" pitchFamily="1" charset="-122"/>
                <a:ea typeface="楷体" panose="02010609060101010101" pitchFamily="1" charset="-122"/>
              </a:endParaRPr>
            </a:p>
            <a:p>
              <a:pPr lvl="0" indent="0">
                <a:lnSpc>
                  <a:spcPct val="110000"/>
                </a:lnSpc>
                <a:spcBef>
                  <a:spcPts val="300"/>
                </a:spcBef>
                <a:buFont typeface="Wingdings" panose="05000000000000000000" pitchFamily="2" charset="2"/>
                <a:buChar char="p"/>
              </a:pPr>
              <a:r>
                <a:rPr lang="zh-CN" altLang="en-US" sz="2200" b="0" dirty="0">
                  <a:latin typeface="楷体" panose="02010609060101010101" pitchFamily="1" charset="-122"/>
                  <a:ea typeface="楷体" panose="02010609060101010101" pitchFamily="1" charset="-122"/>
                </a:rPr>
                <a:t> 程序结束运行前，将链表中的数据存入到对应数据文件中。</a:t>
              </a:r>
              <a:endParaRPr lang="zh-CN" altLang="en-US" sz="2200" b="0" dirty="0">
                <a:latin typeface="楷体" panose="02010609060101010101" pitchFamily="1" charset="-122"/>
                <a:ea typeface="楷体" panose="02010609060101010101" pitchFamily="1" charset="-122"/>
              </a:endParaRPr>
            </a:p>
          </p:txBody>
        </p:sp>
      </p:grpSp>
      <p:graphicFrame>
        <p:nvGraphicFramePr>
          <p:cNvPr id="30728" name="Object 7"/>
          <p:cNvGraphicFramePr/>
          <p:nvPr/>
        </p:nvGraphicFramePr>
        <p:xfrm>
          <a:off x="5003800" y="3111500"/>
          <a:ext cx="3716338" cy="2927350"/>
        </p:xfrm>
        <a:graphic>
          <a:graphicData uri="http://schemas.openxmlformats.org/presentationml/2006/ole">
            <mc:AlternateContent xmlns:mc="http://schemas.openxmlformats.org/markup-compatibility/2006">
              <mc:Choice xmlns:v="urn:schemas-microsoft-com:vml" Requires="v">
                <p:oleObj spid="_x0000_s4132" name="" r:id="rId1" imgW="8048625" imgH="6457950" progId="Word.Picture.8">
                  <p:embed/>
                </p:oleObj>
              </mc:Choice>
              <mc:Fallback>
                <p:oleObj name="" r:id="rId1" imgW="8048625" imgH="6457950" progId="Word.Picture.8">
                  <p:embed/>
                  <p:pic>
                    <p:nvPicPr>
                      <p:cNvPr id="0" name="图片 4096" descr="image10"/>
                      <p:cNvPicPr/>
                      <p:nvPr/>
                    </p:nvPicPr>
                    <p:blipFill>
                      <a:blip r:embed="rId2"/>
                      <a:stretch>
                        <a:fillRect/>
                      </a:stretch>
                    </p:blipFill>
                    <p:spPr>
                      <a:xfrm>
                        <a:off x="5003800" y="3111500"/>
                        <a:ext cx="3716338" cy="2927350"/>
                      </a:xfrm>
                      <a:prstGeom prst="rect">
                        <a:avLst/>
                      </a:prstGeom>
                      <a:solidFill>
                        <a:srgbClr val="FFFFFF"/>
                      </a:solidFill>
                      <a:ln w="38100">
                        <a:noFill/>
                      </a:ln>
                    </p:spPr>
                  </p:pic>
                </p:oleObj>
              </mc:Fallback>
            </mc:AlternateContent>
          </a:graphicData>
        </a:graphic>
      </p:graphicFrame>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11" name="Rectangle 2"/>
          <p:cNvSpPr/>
          <p:nvPr/>
        </p:nvSpPr>
        <p:spPr>
          <a:xfrm>
            <a:off x="457200" y="775808"/>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smtClean="0">
                <a:solidFill>
                  <a:srgbClr val="3333CC"/>
                </a:solidFill>
                <a:latin typeface="Arial" panose="020B0604020202020204" pitchFamily="34" charset="0"/>
                <a:ea typeface="黑体" panose="02010609060101010101" pitchFamily="1" charset="-122"/>
              </a:rPr>
              <a:t>文件系统阶段</a:t>
            </a:r>
            <a:endParaRPr lang="en-US" altLang="x-none"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28"/>
                                        </p:tgtEl>
                                        <p:attrNameLst>
                                          <p:attrName>style.visibility</p:attrName>
                                        </p:attrNameLst>
                                      </p:cBhvr>
                                      <p:to>
                                        <p:strVal val="visible"/>
                                      </p:to>
                                    </p:set>
                                    <p:animEffect transition="in" filter="blinds(horizontal)">
                                      <p:cBhvr>
                                        <p:cTn id="7" dur="500"/>
                                        <p:tgtEl>
                                          <p:spTgt spid="3072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0725"/>
                                        </p:tgtEl>
                                        <p:attrNameLst>
                                          <p:attrName>style.visibility</p:attrName>
                                        </p:attrNameLst>
                                      </p:cBhvr>
                                      <p:to>
                                        <p:strVal val="visible"/>
                                      </p:to>
                                    </p:set>
                                    <p:anim calcmode="lin" valueType="num">
                                      <p:cBhvr additive="base">
                                        <p:cTn id="12" dur="500" fill="hold"/>
                                        <p:tgtEl>
                                          <p:spTgt spid="30725"/>
                                        </p:tgtEl>
                                        <p:attrNameLst>
                                          <p:attrName>ppt_x</p:attrName>
                                        </p:attrNameLst>
                                      </p:cBhvr>
                                      <p:tavLst>
                                        <p:tav tm="0">
                                          <p:val>
                                            <p:strVal val="#ppt_x"/>
                                          </p:val>
                                        </p:tav>
                                        <p:tav tm="100000">
                                          <p:val>
                                            <p:strVal val="#ppt_x"/>
                                          </p:val>
                                        </p:tav>
                                      </p:tavLst>
                                    </p:anim>
                                    <p:anim calcmode="lin" valueType="num">
                                      <p:cBhvr additive="base">
                                        <p:cTn id="13" dur="500" fill="hold"/>
                                        <p:tgtEl>
                                          <p:spTgt spid="307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761052" y="4332381"/>
            <a:ext cx="3927678" cy="459613"/>
          </a:xfrm>
          <a:prstGeom prst="rect">
            <a:avLst/>
          </a:prstGeom>
        </p:spPr>
        <p:txBody>
          <a:bodyPr wrap="none">
            <a:spAutoFit/>
          </a:bodyPr>
          <a:lstStyle/>
          <a:p>
            <a:pPr>
              <a:buNone/>
            </a:pPr>
            <a:r>
              <a:rPr lang="zh-CN" altLang="en-US" sz="2000" dirty="0">
                <a:solidFill>
                  <a:srgbClr val="0033CC"/>
                </a:solidFill>
                <a:latin typeface="楷体" panose="02010609060101010101" pitchFamily="1" charset="-122"/>
                <a:ea typeface="楷体" panose="02010609060101010101" pitchFamily="1" charset="-122"/>
                <a:sym typeface="+mn-ea"/>
              </a:rPr>
              <a:t>应用程序与数据之间的对应关系 </a:t>
            </a:r>
            <a:endParaRPr lang="zh-CN" altLang="en-US" sz="2000" dirty="0">
              <a:solidFill>
                <a:srgbClr val="0033CC"/>
              </a:solidFill>
            </a:endParaRPr>
          </a:p>
        </p:txBody>
      </p:sp>
      <p:sp>
        <p:nvSpPr>
          <p:cNvPr id="5" name="Text Box 8"/>
          <p:cNvSpPr txBox="1"/>
          <p:nvPr/>
        </p:nvSpPr>
        <p:spPr>
          <a:xfrm>
            <a:off x="555262" y="2976401"/>
            <a:ext cx="6169630" cy="3194721"/>
          </a:xfrm>
          <a:prstGeom prst="rect">
            <a:avLst/>
          </a:prstGeom>
          <a:noFill/>
          <a:ln w="9525">
            <a:noFill/>
          </a:ln>
        </p:spPr>
        <p:txBody>
          <a:bodyPr wrap="square" anchor="t">
            <a:spAutoFit/>
          </a:bodyPr>
          <a:lstStyle/>
          <a:p>
            <a:pPr>
              <a:lnSpc>
                <a:spcPct val="105000"/>
              </a:lnSpc>
              <a:spcBef>
                <a:spcPts val="0"/>
              </a:spcBef>
              <a:spcAft>
                <a:spcPts val="0"/>
              </a:spcAft>
              <a:buNone/>
            </a:pP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特点：</a:t>
            </a:r>
            <a:endParaRPr lang="en-US" altLang="zh-CN" sz="2400" dirty="0">
              <a:latin typeface="楷体" panose="02010609060101010101" pitchFamily="1" charset="-122"/>
              <a:ea typeface="楷体" panose="02010609060101010101" pitchFamily="1" charset="-122"/>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数据的管理者：</a:t>
            </a:r>
            <a:r>
              <a:rPr lang="zh-CN" altLang="en-US" sz="2400" dirty="0">
                <a:latin typeface="楷体" panose="02010609060101010101" pitchFamily="1" charset="-122"/>
                <a:ea typeface="楷体" panose="02010609060101010101" pitchFamily="1" charset="-122"/>
                <a:sym typeface="+mn-ea"/>
              </a:rPr>
              <a:t>文件系统</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数据储存：</a:t>
            </a:r>
            <a:r>
              <a:rPr lang="zh-CN" altLang="en-US" sz="2400" dirty="0">
                <a:latin typeface="楷体" panose="02010609060101010101" pitchFamily="1" charset="-122"/>
                <a:ea typeface="楷体" panose="02010609060101010101" pitchFamily="1" charset="-122"/>
                <a:sym typeface="+mn-ea"/>
              </a:rPr>
              <a:t>长期保存</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共享程度：</a:t>
            </a:r>
            <a:r>
              <a:rPr lang="zh-CN" altLang="en-US" sz="2400" dirty="0">
                <a:latin typeface="楷体" panose="02010609060101010101" pitchFamily="1" charset="-122"/>
                <a:ea typeface="楷体" panose="02010609060101010101" pitchFamily="1" charset="-122"/>
                <a:sym typeface="+mn-ea"/>
              </a:rPr>
              <a:t>共享性差</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数据独立性：</a:t>
            </a:r>
            <a:r>
              <a:rPr lang="zh-CN" altLang="en-US" sz="2400" dirty="0">
                <a:latin typeface="楷体" panose="02010609060101010101" pitchFamily="1" charset="-122"/>
                <a:ea typeface="楷体" panose="02010609060101010101" pitchFamily="1" charset="-122"/>
                <a:sym typeface="+mn-ea"/>
              </a:rPr>
              <a:t>独立性差，</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en-US" altLang="zh-CN" sz="2400" dirty="0">
                <a:latin typeface="楷体" panose="02010609060101010101" pitchFamily="1" charset="-122"/>
                <a:ea typeface="楷体" panose="02010609060101010101" pitchFamily="1" charset="-122"/>
                <a:sym typeface="+mn-ea"/>
              </a:rPr>
              <a:t>  </a:t>
            </a:r>
            <a:r>
              <a:rPr lang="zh-CN" altLang="en-US" sz="2400" dirty="0">
                <a:latin typeface="楷体" panose="02010609060101010101" pitchFamily="1" charset="-122"/>
                <a:ea typeface="楷体" panose="02010609060101010101" pitchFamily="1" charset="-122"/>
                <a:sym typeface="+mn-ea"/>
              </a:rPr>
              <a:t>逻辑结构修改必须修改程序</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数据的结构化：</a:t>
            </a:r>
            <a:r>
              <a:rPr lang="zh-CN" altLang="en-US" sz="2400" dirty="0">
                <a:latin typeface="楷体" panose="02010609060101010101" pitchFamily="1" charset="-122"/>
                <a:ea typeface="楷体" panose="02010609060101010101" pitchFamily="1" charset="-122"/>
                <a:sym typeface="+mn-ea"/>
              </a:rPr>
              <a:t>记录内有结构，整体无结构</a:t>
            </a:r>
            <a:endParaRPr lang="en-US" altLang="zh-CN" sz="2400" dirty="0">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数据控制能力</a:t>
            </a:r>
            <a:r>
              <a:rPr lang="zh-CN" altLang="en-US" sz="2400" dirty="0">
                <a:latin typeface="楷体" panose="02010609060101010101" pitchFamily="1" charset="-122"/>
                <a:ea typeface="楷体" panose="02010609060101010101" pitchFamily="1" charset="-122"/>
                <a:sym typeface="+mn-ea"/>
              </a:rPr>
              <a:t>：应用程序自己控制  </a:t>
            </a:r>
            <a:endParaRPr lang="en-US" altLang="zh-CN" sz="2400" dirty="0">
              <a:latin typeface="楷体" panose="02010609060101010101" pitchFamily="1" charset="-122"/>
              <a:ea typeface="楷体" panose="02010609060101010101" pitchFamily="1" charset="-122"/>
              <a:sym typeface="+mn-ea"/>
            </a:endParaRPr>
          </a:p>
        </p:txBody>
      </p:sp>
      <p:pic>
        <p:nvPicPr>
          <p:cNvPr id="7" name="图片 6"/>
          <p:cNvPicPr>
            <a:picLocks noChangeAspect="1"/>
          </p:cNvPicPr>
          <p:nvPr/>
        </p:nvPicPr>
        <p:blipFill>
          <a:blip r:embed="rId1"/>
          <a:stretch>
            <a:fillRect/>
          </a:stretch>
        </p:blipFill>
        <p:spPr>
          <a:xfrm>
            <a:off x="3797300" y="876300"/>
            <a:ext cx="5039995" cy="2552700"/>
          </a:xfrm>
          <a:prstGeom prst="rect">
            <a:avLst/>
          </a:prstGeom>
        </p:spPr>
      </p:pic>
      <p:pic>
        <p:nvPicPr>
          <p:cNvPr id="9" name="图片 8"/>
          <p:cNvPicPr>
            <a:picLocks noChangeAspect="1"/>
          </p:cNvPicPr>
          <p:nvPr/>
        </p:nvPicPr>
        <p:blipFill>
          <a:blip r:embed="rId2"/>
          <a:stretch>
            <a:fillRect/>
          </a:stretch>
        </p:blipFill>
        <p:spPr>
          <a:xfrm>
            <a:off x="2744964" y="2514523"/>
            <a:ext cx="6113063" cy="3600000"/>
          </a:xfrm>
          <a:prstGeom prst="rect">
            <a:avLst/>
          </a:prstGeom>
        </p:spPr>
      </p:pic>
      <p:sp>
        <p:nvSpPr>
          <p:cNvPr id="1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8" name="Rectangle 2"/>
          <p:cNvSpPr/>
          <p:nvPr/>
        </p:nvSpPr>
        <p:spPr>
          <a:xfrm>
            <a:off x="457200" y="775808"/>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smtClean="0">
                <a:solidFill>
                  <a:srgbClr val="3333CC"/>
                </a:solidFill>
                <a:latin typeface="Arial" panose="020B0604020202020204" pitchFamily="34" charset="0"/>
                <a:ea typeface="黑体" panose="02010609060101010101" pitchFamily="1" charset="-122"/>
              </a:rPr>
              <a:t>文件系统阶段</a:t>
            </a:r>
            <a:endParaRPr lang="en-US" altLang="x-none"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22593" y="797490"/>
            <a:ext cx="8135269" cy="4672048"/>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FF0000"/>
                </a:solidFill>
                <a:latin typeface="Calibri" panose="020F0502020204030204" pitchFamily="34" charset="0"/>
                <a:cs typeface="Times New Roman" panose="02020603050405020304" pitchFamily="2" charset="0"/>
              </a:rPr>
              <a:t>知识点小测</a:t>
            </a:r>
            <a:r>
              <a:rPr lang="zh-CN" altLang="zh-CN" sz="3200" kern="100" dirty="0" smtClean="0">
                <a:solidFill>
                  <a:srgbClr val="FF0000"/>
                </a:solidFill>
                <a:latin typeface="Calibri" panose="020F0502020204030204" pitchFamily="34" charset="0"/>
                <a:cs typeface="Times New Roman" panose="02020603050405020304" pitchFamily="2" charset="0"/>
              </a:rPr>
              <a:t>：</a:t>
            </a:r>
            <a:endParaRPr lang="en-US" altLang="zh-CN" sz="3200" kern="100" dirty="0">
              <a:solidFill>
                <a:srgbClr val="FF0000"/>
              </a:solidFill>
              <a:latin typeface="Calibri" panose="020F0502020204030204" pitchFamily="34" charset="0"/>
              <a:cs typeface="Times New Roman" panose="02020603050405020304" pitchFamily="2" charset="0"/>
            </a:endParaRPr>
          </a:p>
          <a:p>
            <a:pPr algn="just">
              <a:lnSpc>
                <a:spcPct val="130000"/>
              </a:lnSpc>
              <a:spcAft>
                <a:spcPts val="0"/>
              </a:spcAft>
              <a:buNone/>
            </a:pP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、在基于文件系统的数据管理中，数据的管理者是（     ）？</a:t>
            </a:r>
            <a:endParaRPr lang="en-US" altLang="zh-CN" sz="2400" kern="100" dirty="0">
              <a:latin typeface="Calibri" panose="020F0502020204030204" pitchFamily="34" charset="0"/>
              <a:cs typeface="Times New Roman" panose="02020603050405020304" pitchFamily="2" charset="0"/>
            </a:endParaRPr>
          </a:p>
          <a:p>
            <a:pPr algn="just">
              <a:lnSpc>
                <a:spcPct val="130000"/>
              </a:lnSpc>
              <a:spcAft>
                <a:spcPts val="0"/>
              </a:spcAft>
              <a:buNone/>
            </a:pPr>
            <a:r>
              <a:rPr lang="en-US" altLang="zh-CN" sz="2400" kern="100" dirty="0">
                <a:latin typeface="Calibri" panose="020F0502020204030204" pitchFamily="34" charset="0"/>
                <a:cs typeface="Times New Roman" panose="02020603050405020304" pitchFamily="2" charset="0"/>
              </a:rPr>
              <a:t>A</a:t>
            </a:r>
            <a:r>
              <a:rPr lang="zh-CN" altLang="en-US" sz="2400" kern="100" dirty="0">
                <a:latin typeface="Calibri" panose="020F0502020204030204" pitchFamily="34" charset="0"/>
                <a:cs typeface="Times New Roman" panose="02020603050405020304" pitchFamily="2" charset="0"/>
              </a:rPr>
              <a:t>、应用程序        </a:t>
            </a:r>
            <a:r>
              <a:rPr lang="en-US" altLang="zh-CN" sz="2400" kern="100" dirty="0">
                <a:latin typeface="Calibri" panose="020F0502020204030204" pitchFamily="34" charset="0"/>
                <a:cs typeface="Times New Roman" panose="02020603050405020304" pitchFamily="2" charset="0"/>
              </a:rPr>
              <a:t>B</a:t>
            </a:r>
            <a:r>
              <a:rPr lang="zh-CN" altLang="en-US" sz="2400" kern="100" dirty="0">
                <a:latin typeface="Calibri" panose="020F0502020204030204" pitchFamily="34" charset="0"/>
                <a:cs typeface="Times New Roman" panose="02020603050405020304" pitchFamily="2" charset="0"/>
              </a:rPr>
              <a:t>、文件系统      </a:t>
            </a:r>
            <a:r>
              <a:rPr lang="en-US" altLang="zh-CN" sz="2400" kern="100" dirty="0">
                <a:latin typeface="Calibri" panose="020F0502020204030204" pitchFamily="34" charset="0"/>
                <a:cs typeface="Times New Roman" panose="02020603050405020304" pitchFamily="2" charset="0"/>
              </a:rPr>
              <a:t>C</a:t>
            </a:r>
            <a:r>
              <a:rPr lang="zh-CN" altLang="en-US" sz="2400" kern="100" dirty="0">
                <a:latin typeface="Calibri" panose="020F0502020204030204" pitchFamily="34" charset="0"/>
                <a:cs typeface="Times New Roman" panose="02020603050405020304" pitchFamily="2" charset="0"/>
              </a:rPr>
              <a:t>、程序员       </a:t>
            </a:r>
            <a:r>
              <a:rPr lang="en-US" altLang="zh-CN" sz="2400" kern="100" dirty="0">
                <a:latin typeface="Calibri" panose="020F0502020204030204" pitchFamily="34" charset="0"/>
                <a:cs typeface="Times New Roman" panose="02020603050405020304" pitchFamily="2" charset="0"/>
              </a:rPr>
              <a:t>D</a:t>
            </a:r>
            <a:r>
              <a:rPr lang="zh-CN" altLang="en-US" sz="2400" kern="100" dirty="0">
                <a:latin typeface="Calibri" panose="020F0502020204030204" pitchFamily="34" charset="0"/>
                <a:cs typeface="Times New Roman" panose="02020603050405020304" pitchFamily="2" charset="0"/>
              </a:rPr>
              <a:t>、无管理</a:t>
            </a:r>
            <a:endParaRPr lang="en-US" altLang="zh-CN" sz="2400" kern="100" dirty="0">
              <a:latin typeface="Calibri" panose="020F0502020204030204" pitchFamily="34" charset="0"/>
              <a:cs typeface="Times New Roman" panose="02020603050405020304" pitchFamily="2" charset="0"/>
            </a:endParaRPr>
          </a:p>
          <a:p>
            <a:pPr algn="just">
              <a:lnSpc>
                <a:spcPct val="130000"/>
              </a:lnSpc>
              <a:spcAft>
                <a:spcPts val="0"/>
              </a:spcAft>
              <a:buNone/>
            </a:pP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、判断下列说法是否正确</a:t>
            </a:r>
            <a:endParaRPr lang="en-US" altLang="zh-CN" sz="2400" kern="100" dirty="0">
              <a:latin typeface="Calibri" panose="020F0502020204030204" pitchFamily="34" charset="0"/>
              <a:cs typeface="Times New Roman" panose="02020603050405020304" pitchFamily="2" charset="0"/>
            </a:endParaRPr>
          </a:p>
          <a:p>
            <a:pPr algn="just">
              <a:lnSpc>
                <a:spcPct val="130000"/>
              </a:lnSpc>
              <a:spcAft>
                <a:spcPts val="0"/>
              </a:spcAft>
              <a:buNone/>
            </a:pP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）人工管理和文件系统管理方式下均能实现数据永久保存，但数据共享性差。（   ）</a:t>
            </a:r>
            <a:endParaRPr lang="en-US" altLang="zh-CN" sz="2400" kern="100" dirty="0">
              <a:latin typeface="Calibri" panose="020F0502020204030204" pitchFamily="34" charset="0"/>
              <a:cs typeface="Times New Roman" panose="02020603050405020304" pitchFamily="2" charset="0"/>
            </a:endParaRPr>
          </a:p>
          <a:p>
            <a:pPr algn="just">
              <a:lnSpc>
                <a:spcPct val="130000"/>
              </a:lnSpc>
              <a:spcAft>
                <a:spcPts val="0"/>
              </a:spcAft>
              <a:buNone/>
            </a:pP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）文件系统</a:t>
            </a:r>
            <a:r>
              <a:rPr lang="zh-CN" altLang="en-US" sz="2400" dirty="0"/>
              <a:t>数据的结构是靠程序定义和解释的</a:t>
            </a:r>
            <a:r>
              <a:rPr lang="zh-CN" altLang="en-US" sz="2400" kern="100" dirty="0">
                <a:latin typeface="Calibri" panose="020F0502020204030204" pitchFamily="34" charset="0"/>
                <a:cs typeface="Times New Roman" panose="02020603050405020304" pitchFamily="2" charset="0"/>
              </a:rPr>
              <a:t>。（      ）</a:t>
            </a:r>
            <a:endParaRPr lang="en-US" altLang="zh-CN" sz="2400" kern="100" dirty="0">
              <a:latin typeface="Calibri" panose="020F0502020204030204" pitchFamily="34" charset="0"/>
              <a:cs typeface="Times New Roman" panose="02020603050405020304" pitchFamily="2" charset="0"/>
            </a:endParaRPr>
          </a:p>
          <a:p>
            <a:pPr algn="just">
              <a:lnSpc>
                <a:spcPct val="130000"/>
              </a:lnSpc>
              <a:spcAft>
                <a:spcPts val="0"/>
              </a:spcAft>
              <a:buNone/>
            </a:pP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3</a:t>
            </a:r>
            <a:r>
              <a:rPr lang="zh-CN" altLang="en-US" sz="2400" kern="100" dirty="0">
                <a:latin typeface="Calibri" panose="020F0502020204030204" pitchFamily="34" charset="0"/>
                <a:cs typeface="Times New Roman" panose="02020603050405020304" pitchFamily="2" charset="0"/>
              </a:rPr>
              <a:t>）文件系统</a:t>
            </a:r>
            <a:r>
              <a:rPr lang="zh-CN" altLang="en-US" sz="2400" dirty="0">
                <a:sym typeface="+mn-ea"/>
              </a:rPr>
              <a:t>无法实现数据的结构化。 （    ）</a:t>
            </a:r>
            <a:endParaRPr lang="en-US" altLang="zh-CN" sz="2400" dirty="0">
              <a:sym typeface="+mn-ea"/>
            </a:endParaRPr>
          </a:p>
          <a:p>
            <a:pPr algn="just">
              <a:lnSpc>
                <a:spcPct val="130000"/>
              </a:lnSpc>
              <a:spcAft>
                <a:spcPts val="0"/>
              </a:spcAft>
              <a:buNone/>
            </a:pPr>
            <a:r>
              <a:rPr lang="en-US" altLang="zh-CN" sz="2400" kern="100" dirty="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、文件</a:t>
            </a:r>
            <a:r>
              <a:rPr lang="zh-CN" altLang="en-US" sz="2400" kern="100" dirty="0">
                <a:latin typeface="Calibri" panose="020F0502020204030204" pitchFamily="34" charset="0"/>
                <a:cs typeface="Times New Roman" panose="02020603050405020304" pitchFamily="2" charset="0"/>
              </a:rPr>
              <a:t>与应用程序链表的数据交换应包含哪些内容？</a:t>
            </a:r>
            <a:endParaRPr lang="zh-CN" altLang="zh-CN" sz="2400" kern="100" dirty="0">
              <a:latin typeface="Calibri" panose="020F0502020204030204" pitchFamily="34" charset="0"/>
              <a:cs typeface="Times New Roman" panose="02020603050405020304" pitchFamily="2" charset="0"/>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68892" y="1448762"/>
            <a:ext cx="8135269" cy="3722429"/>
          </a:xfrm>
          <a:prstGeom prst="rect">
            <a:avLst/>
          </a:prstGeom>
        </p:spPr>
        <p:txBody>
          <a:bodyPr wrap="square">
            <a:spAutoFit/>
          </a:bodyPr>
          <a:lstStyle/>
          <a:p>
            <a:pPr algn="just">
              <a:lnSpc>
                <a:spcPct val="110000"/>
              </a:lnSpc>
              <a:spcAft>
                <a:spcPts val="0"/>
              </a:spcAft>
              <a:buNone/>
            </a:pP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、在基于文件系统的数据管理中，数据的管理者是（ </a:t>
            </a:r>
            <a:r>
              <a:rPr lang="en-US" altLang="zh-CN" sz="2400" kern="100" dirty="0">
                <a:solidFill>
                  <a:srgbClr val="FF0000"/>
                </a:solidFill>
                <a:latin typeface="Calibri" panose="020F0502020204030204" pitchFamily="34" charset="0"/>
                <a:cs typeface="Times New Roman" panose="02020603050405020304" pitchFamily="2" charset="0"/>
              </a:rPr>
              <a:t>B</a:t>
            </a:r>
            <a:r>
              <a:rPr lang="zh-CN" altLang="en-US" sz="2400" kern="100" dirty="0">
                <a:solidFill>
                  <a:srgbClr val="FF0000"/>
                </a:solidFill>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10000"/>
              </a:lnSpc>
              <a:spcAft>
                <a:spcPts val="0"/>
              </a:spcAft>
              <a:buNone/>
            </a:pPr>
            <a:r>
              <a:rPr lang="en-US" altLang="zh-CN" sz="2400" kern="100" dirty="0">
                <a:latin typeface="Calibri" panose="020F0502020204030204" pitchFamily="34" charset="0"/>
                <a:cs typeface="Times New Roman" panose="02020603050405020304" pitchFamily="2" charset="0"/>
              </a:rPr>
              <a:t>A</a:t>
            </a:r>
            <a:r>
              <a:rPr lang="zh-CN" altLang="en-US" sz="2400" kern="100" dirty="0">
                <a:latin typeface="Calibri" panose="020F0502020204030204" pitchFamily="34" charset="0"/>
                <a:cs typeface="Times New Roman" panose="02020603050405020304" pitchFamily="2" charset="0"/>
              </a:rPr>
              <a:t>、应用程序        </a:t>
            </a:r>
            <a:r>
              <a:rPr lang="en-US" altLang="zh-CN" sz="2400" kern="100" dirty="0">
                <a:latin typeface="Calibri" panose="020F0502020204030204" pitchFamily="34" charset="0"/>
                <a:cs typeface="Times New Roman" panose="02020603050405020304" pitchFamily="2" charset="0"/>
              </a:rPr>
              <a:t>B</a:t>
            </a:r>
            <a:r>
              <a:rPr lang="zh-CN" altLang="en-US" sz="2400" kern="100" dirty="0">
                <a:latin typeface="Calibri" panose="020F0502020204030204" pitchFamily="34" charset="0"/>
                <a:cs typeface="Times New Roman" panose="02020603050405020304" pitchFamily="2" charset="0"/>
              </a:rPr>
              <a:t>、文件系统      </a:t>
            </a:r>
            <a:r>
              <a:rPr lang="en-US" altLang="zh-CN" sz="2400" kern="100" dirty="0">
                <a:latin typeface="Calibri" panose="020F0502020204030204" pitchFamily="34" charset="0"/>
                <a:cs typeface="Times New Roman" panose="02020603050405020304" pitchFamily="2" charset="0"/>
              </a:rPr>
              <a:t>C</a:t>
            </a:r>
            <a:r>
              <a:rPr lang="zh-CN" altLang="en-US" sz="2400" kern="100" dirty="0">
                <a:latin typeface="Calibri" panose="020F0502020204030204" pitchFamily="34" charset="0"/>
                <a:cs typeface="Times New Roman" panose="02020603050405020304" pitchFamily="2" charset="0"/>
              </a:rPr>
              <a:t>、程序员       </a:t>
            </a:r>
            <a:r>
              <a:rPr lang="en-US" altLang="zh-CN" sz="2400" kern="100" dirty="0">
                <a:latin typeface="Calibri" panose="020F0502020204030204" pitchFamily="34" charset="0"/>
                <a:cs typeface="Times New Roman" panose="02020603050405020304" pitchFamily="2" charset="0"/>
              </a:rPr>
              <a:t>D</a:t>
            </a:r>
            <a:r>
              <a:rPr lang="zh-CN" altLang="en-US" sz="2400" kern="100" dirty="0">
                <a:latin typeface="Calibri" panose="020F0502020204030204" pitchFamily="34" charset="0"/>
                <a:cs typeface="Times New Roman" panose="02020603050405020304" pitchFamily="2" charset="0"/>
              </a:rPr>
              <a:t>、无管理</a:t>
            </a:r>
            <a:endParaRPr lang="en-US" altLang="zh-CN" sz="2400" kern="100" dirty="0">
              <a:latin typeface="Calibri" panose="020F0502020204030204" pitchFamily="34" charset="0"/>
              <a:cs typeface="Times New Roman" panose="02020603050405020304" pitchFamily="2" charset="0"/>
            </a:endParaRPr>
          </a:p>
          <a:p>
            <a:pPr algn="just">
              <a:lnSpc>
                <a:spcPct val="110000"/>
              </a:lnSpc>
              <a:spcAft>
                <a:spcPts val="0"/>
              </a:spcAft>
              <a:buNone/>
            </a:pP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、判断下列说法是否正确</a:t>
            </a:r>
            <a:endParaRPr lang="en-US" altLang="zh-CN" sz="2400" kern="100" dirty="0">
              <a:latin typeface="Calibri" panose="020F0502020204030204" pitchFamily="34" charset="0"/>
              <a:cs typeface="Times New Roman" panose="02020603050405020304" pitchFamily="2" charset="0"/>
            </a:endParaRPr>
          </a:p>
          <a:p>
            <a:pPr algn="just">
              <a:lnSpc>
                <a:spcPct val="110000"/>
              </a:lnSpc>
              <a:spcAft>
                <a:spcPts val="0"/>
              </a:spcAft>
              <a:buNone/>
            </a:pP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）人工管理和文件系统管理方式下均能实现数据永久保存，但数据共享性差。（  </a:t>
            </a:r>
            <a:r>
              <a:rPr lang="zh-CN" altLang="en-US" sz="2400" kern="100" dirty="0">
                <a:solidFill>
                  <a:srgbClr val="FF0000"/>
                </a:solidFill>
                <a:latin typeface="Calibri" panose="020F0502020204030204" pitchFamily="34" charset="0"/>
                <a:cs typeface="Times New Roman" panose="02020603050405020304" pitchFamily="2" charset="0"/>
              </a:rPr>
              <a:t>错 </a:t>
            </a:r>
            <a:r>
              <a:rPr lang="zh-CN" altLang="en-US" sz="2400" kern="100" dirty="0">
                <a:latin typeface="Calibri" panose="020F0502020204030204" pitchFamily="34" charset="0"/>
                <a:cs typeface="Times New Roman" panose="02020603050405020304" pitchFamily="2" charset="0"/>
              </a:rPr>
              <a:t> ）</a:t>
            </a:r>
            <a:endParaRPr lang="en-US" altLang="zh-CN" sz="2400" kern="100" dirty="0">
              <a:latin typeface="Calibri" panose="020F0502020204030204" pitchFamily="34" charset="0"/>
              <a:cs typeface="Times New Roman" panose="02020603050405020304" pitchFamily="2" charset="0"/>
            </a:endParaRPr>
          </a:p>
          <a:p>
            <a:pPr algn="just">
              <a:lnSpc>
                <a:spcPct val="110000"/>
              </a:lnSpc>
              <a:spcAft>
                <a:spcPts val="0"/>
              </a:spcAft>
              <a:buNone/>
            </a:pPr>
            <a:r>
              <a:rPr lang="zh-CN" altLang="en-US" sz="2400" kern="100" dirty="0">
                <a:solidFill>
                  <a:srgbClr val="FF0000"/>
                </a:solidFill>
                <a:latin typeface="Calibri" panose="020F0502020204030204" pitchFamily="34" charset="0"/>
                <a:cs typeface="Times New Roman" panose="02020603050405020304" pitchFamily="2" charset="0"/>
              </a:rPr>
              <a:t>注：人工管理方式下数据永久不保存，不共享。</a:t>
            </a:r>
            <a:endParaRPr lang="en-US" altLang="zh-CN" sz="2400" kern="100" dirty="0">
              <a:solidFill>
                <a:srgbClr val="FF0000"/>
              </a:solidFill>
              <a:latin typeface="Calibri" panose="020F0502020204030204" pitchFamily="34" charset="0"/>
              <a:cs typeface="Times New Roman" panose="02020603050405020304" pitchFamily="2" charset="0"/>
            </a:endParaRPr>
          </a:p>
          <a:p>
            <a:pPr algn="just">
              <a:lnSpc>
                <a:spcPct val="110000"/>
              </a:lnSpc>
              <a:spcAft>
                <a:spcPts val="0"/>
              </a:spcAft>
              <a:buNone/>
            </a:pP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）文件系统</a:t>
            </a:r>
            <a:r>
              <a:rPr lang="zh-CN" altLang="en-US" sz="2400" dirty="0"/>
              <a:t>数据的结构是靠程序定义和解释的</a:t>
            </a:r>
            <a:r>
              <a:rPr lang="zh-CN" altLang="en-US" sz="2400" kern="100" dirty="0">
                <a:latin typeface="Calibri" panose="020F0502020204030204" pitchFamily="34" charset="0"/>
                <a:cs typeface="Times New Roman" panose="02020603050405020304" pitchFamily="2" charset="0"/>
              </a:rPr>
              <a:t>。（ </a:t>
            </a:r>
            <a:r>
              <a:rPr lang="zh-CN" altLang="en-US" sz="2400" kern="100" dirty="0">
                <a:solidFill>
                  <a:srgbClr val="FF0000"/>
                </a:solidFill>
                <a:latin typeface="Calibri" panose="020F0502020204030204" pitchFamily="34" charset="0"/>
                <a:cs typeface="Times New Roman" panose="02020603050405020304" pitchFamily="2" charset="0"/>
              </a:rPr>
              <a:t>对</a:t>
            </a:r>
            <a:r>
              <a:rPr lang="zh-CN" altLang="en-US" sz="2400" kern="100" dirty="0">
                <a:latin typeface="Calibri" panose="020F0502020204030204" pitchFamily="34" charset="0"/>
                <a:cs typeface="Times New Roman" panose="02020603050405020304" pitchFamily="2" charset="0"/>
              </a:rPr>
              <a:t> ）</a:t>
            </a:r>
            <a:endParaRPr lang="en-US" altLang="zh-CN" sz="2400" kern="100" dirty="0">
              <a:latin typeface="Calibri" panose="020F0502020204030204" pitchFamily="34" charset="0"/>
              <a:cs typeface="Times New Roman" panose="02020603050405020304" pitchFamily="2" charset="0"/>
            </a:endParaRPr>
          </a:p>
          <a:p>
            <a:pPr algn="just">
              <a:lnSpc>
                <a:spcPct val="110000"/>
              </a:lnSpc>
              <a:spcAft>
                <a:spcPts val="0"/>
              </a:spcAft>
              <a:buNone/>
            </a:pP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3</a:t>
            </a:r>
            <a:r>
              <a:rPr lang="zh-CN" altLang="en-US" sz="2400" kern="100" dirty="0">
                <a:latin typeface="Calibri" panose="020F0502020204030204" pitchFamily="34" charset="0"/>
                <a:cs typeface="Times New Roman" panose="02020603050405020304" pitchFamily="2" charset="0"/>
              </a:rPr>
              <a:t>）文件系统</a:t>
            </a:r>
            <a:r>
              <a:rPr lang="zh-CN" altLang="en-US" sz="2400" dirty="0">
                <a:sym typeface="+mn-ea"/>
              </a:rPr>
              <a:t>无法实现数据的结构化。（  </a:t>
            </a:r>
            <a:r>
              <a:rPr lang="zh-CN" altLang="en-US" sz="2400" dirty="0">
                <a:solidFill>
                  <a:srgbClr val="FF0000"/>
                </a:solidFill>
                <a:sym typeface="+mn-ea"/>
              </a:rPr>
              <a:t>错</a:t>
            </a:r>
            <a:r>
              <a:rPr lang="zh-CN" altLang="en-US" sz="2400" dirty="0">
                <a:sym typeface="+mn-ea"/>
              </a:rPr>
              <a:t> ）</a:t>
            </a:r>
            <a:endParaRPr lang="en-US" altLang="zh-CN" sz="2400" dirty="0">
              <a:sym typeface="+mn-ea"/>
            </a:endParaRPr>
          </a:p>
          <a:p>
            <a:pPr algn="just">
              <a:lnSpc>
                <a:spcPct val="110000"/>
              </a:lnSpc>
              <a:spcAft>
                <a:spcPts val="0"/>
              </a:spcAft>
              <a:buNone/>
            </a:pPr>
            <a:r>
              <a:rPr lang="zh-CN" altLang="en-US" sz="2400" kern="100" dirty="0">
                <a:solidFill>
                  <a:srgbClr val="FF0000"/>
                </a:solidFill>
                <a:latin typeface="Calibri" panose="020F0502020204030204" pitchFamily="34" charset="0"/>
                <a:cs typeface="Times New Roman" panose="02020603050405020304" pitchFamily="2" charset="0"/>
              </a:rPr>
              <a:t>注：文件系统记录内部有结构，整体无结构。</a:t>
            </a:r>
            <a:endParaRPr lang="en-US" altLang="zh-CN" sz="2400" kern="100" dirty="0">
              <a:solidFill>
                <a:srgbClr val="FF0000"/>
              </a:solidFill>
              <a:latin typeface="Calibri" panose="020F0502020204030204" pitchFamily="34" charset="0"/>
              <a:cs typeface="Times New Roman" panose="02020603050405020304" pitchFamily="2" charset="0"/>
            </a:endParaRPr>
          </a:p>
        </p:txBody>
      </p:sp>
      <p:sp>
        <p:nvSpPr>
          <p:cNvPr id="3" name="矩形 2"/>
          <p:cNvSpPr/>
          <p:nvPr/>
        </p:nvSpPr>
        <p:spPr>
          <a:xfrm>
            <a:off x="568892" y="732524"/>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知识点小测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DBMS</a:t>
            </a:r>
            <a:r>
              <a:rPr lang="zh-CN" altLang="en-US" sz="3200" dirty="0">
                <a:solidFill>
                  <a:srgbClr val="FF0000"/>
                </a:solidFill>
                <a:latin typeface="Arial" panose="020B0604020202020204" pitchFamily="34" charset="0"/>
                <a:ea typeface="黑体" panose="02010609060101010101" pitchFamily="1" charset="-122"/>
              </a:rPr>
              <a:t>的</a:t>
            </a:r>
            <a:r>
              <a:rPr lang="zh-CN" altLang="en-US" sz="3200" dirty="0" smtClean="0">
                <a:solidFill>
                  <a:srgbClr val="FF0000"/>
                </a:solidFill>
                <a:latin typeface="Arial" panose="020B0604020202020204" pitchFamily="34" charset="0"/>
                <a:ea typeface="黑体" panose="02010609060101010101" pitchFamily="1" charset="-122"/>
              </a:rPr>
              <a:t>史前时代</a:t>
            </a:r>
            <a:endParaRPr lang="zh-CN" altLang="en-US" sz="2800" dirty="0">
              <a:solidFill>
                <a:srgbClr val="006600"/>
              </a:solidFill>
              <a:latin typeface="Arial" panose="020B0604020202020204" pitchFamily="34" charset="0"/>
              <a:ea typeface="黑体" panose="02010609060101010101" pitchFamily="1" charset="-122"/>
            </a:endParaRPr>
          </a:p>
        </p:txBody>
      </p:sp>
      <p:sp>
        <p:nvSpPr>
          <p:cNvPr id="5" name="矩形 4"/>
          <p:cNvSpPr/>
          <p:nvPr/>
        </p:nvSpPr>
        <p:spPr>
          <a:xfrm>
            <a:off x="711843" y="4967188"/>
            <a:ext cx="8119641" cy="1446550"/>
          </a:xfrm>
          <a:prstGeom prst="rect">
            <a:avLst/>
          </a:prstGeom>
        </p:spPr>
        <p:txBody>
          <a:bodyPr wrap="square">
            <a:spAutoFit/>
          </a:bodyPr>
          <a:lstStyle/>
          <a:p>
            <a:pPr algn="just">
              <a:lnSpc>
                <a:spcPct val="150000"/>
              </a:lnSpc>
              <a:spcAft>
                <a:spcPts val="0"/>
              </a:spcAft>
              <a:buNone/>
            </a:pP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文件与应用程序链表的数据交换应包含哪些内容？</a:t>
            </a:r>
            <a:endParaRPr lang="zh-CN" altLang="zh-CN" sz="2400" kern="100" dirty="0">
              <a:latin typeface="Calibri" panose="020F0502020204030204" pitchFamily="34" charset="0"/>
              <a:cs typeface="Times New Roman" panose="02020603050405020304" pitchFamily="2" charset="0"/>
            </a:endParaRPr>
          </a:p>
          <a:p>
            <a:pPr lvl="0" algn="just">
              <a:lnSpc>
                <a:spcPct val="130000"/>
              </a:lnSpc>
              <a:spcAft>
                <a:spcPts val="0"/>
              </a:spcAft>
              <a:buNone/>
            </a:pPr>
            <a:r>
              <a:rPr lang="zh-CN" altLang="en-US" sz="20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答：（</a:t>
            </a:r>
            <a:r>
              <a:rPr lang="en-US" altLang="zh-CN" sz="20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1</a:t>
            </a:r>
            <a:r>
              <a:rPr lang="zh-CN" altLang="en-US" sz="20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）程序运行时，将文件中的数据读出，放置到程序对应链表中；</a:t>
            </a:r>
            <a:endParaRPr lang="en-US" altLang="zh-CN" sz="20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a:p>
            <a:pPr lvl="0" algn="just">
              <a:lnSpc>
                <a:spcPct val="130000"/>
              </a:lnSpc>
              <a:spcAft>
                <a:spcPts val="0"/>
              </a:spcAft>
              <a:buNone/>
            </a:pPr>
            <a:r>
              <a:rPr lang="en-US" altLang="zh-CN" sz="20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    </a:t>
            </a:r>
            <a:r>
              <a:rPr lang="zh-CN" altLang="en-US" sz="20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en-US" altLang="zh-CN" sz="20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2</a:t>
            </a:r>
            <a:r>
              <a:rPr lang="zh-CN" altLang="en-US" sz="20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）程序结束运行前，将链表中的数据存入到对应数据文件中。</a:t>
            </a:r>
            <a:endParaRPr lang="zh-CN" altLang="en-US" sz="20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6"/>
          <p:cNvSpPr txBox="1"/>
          <p:nvPr/>
        </p:nvSpPr>
        <p:spPr>
          <a:xfrm>
            <a:off x="456883" y="1277303"/>
            <a:ext cx="8054975" cy="589280"/>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400" dirty="0">
                <a:solidFill>
                  <a:srgbClr val="FF0000"/>
                </a:solidFill>
                <a:latin typeface="Arial" panose="020B0604020202020204" pitchFamily="34" charset="0"/>
                <a:ea typeface="宋体" panose="02010600030101010101" pitchFamily="2" charset="-122"/>
              </a:rPr>
              <a:t> </a:t>
            </a:r>
            <a:r>
              <a:rPr lang="zh-CN" altLang="en-US" sz="2400" dirty="0">
                <a:solidFill>
                  <a:srgbClr val="FF0000"/>
                </a:solidFill>
                <a:latin typeface="华文中宋" panose="02010600040101010101" pitchFamily="2" charset="-122"/>
                <a:ea typeface="华文中宋" panose="02010600040101010101" pitchFamily="2" charset="-122"/>
              </a:rPr>
              <a:t>无法处理超大量（</a:t>
            </a:r>
            <a:r>
              <a:rPr lang="en-US" altLang="zh-CN" sz="2400" dirty="0">
                <a:solidFill>
                  <a:srgbClr val="FF0000"/>
                </a:solidFill>
                <a:latin typeface="华文中宋" panose="02010600040101010101" pitchFamily="2" charset="-122"/>
                <a:ea typeface="华文中宋" panose="02010600040101010101" pitchFamily="2" charset="-122"/>
              </a:rPr>
              <a:t>Volume</a:t>
            </a:r>
            <a:r>
              <a:rPr lang="zh-CN" altLang="zh-CN" sz="2400" dirty="0">
                <a:solidFill>
                  <a:srgbClr val="FF0000"/>
                </a:solidFill>
                <a:latin typeface="华文中宋" panose="02010600040101010101" pitchFamily="2" charset="-122"/>
                <a:ea typeface="华文中宋" panose="02010600040101010101" pitchFamily="2" charset="-122"/>
              </a:rPr>
              <a:t>）</a:t>
            </a:r>
            <a:r>
              <a:rPr lang="zh-CN" altLang="en-US" sz="2400" dirty="0">
                <a:solidFill>
                  <a:srgbClr val="FF0000"/>
                </a:solidFill>
                <a:latin typeface="华文中宋" panose="02010600040101010101" pitchFamily="2" charset="-122"/>
                <a:ea typeface="华文中宋" panose="02010600040101010101" pitchFamily="2" charset="-122"/>
              </a:rPr>
              <a:t>数据</a:t>
            </a:r>
            <a:endParaRPr lang="zh-CN" altLang="en-US" sz="2400" dirty="0">
              <a:solidFill>
                <a:srgbClr val="FF0000"/>
              </a:solidFill>
              <a:latin typeface="华文中宋" panose="02010600040101010101" pitchFamily="2" charset="-122"/>
              <a:ea typeface="华文中宋" panose="02010600040101010101" pitchFamily="2" charset="-122"/>
            </a:endParaRPr>
          </a:p>
        </p:txBody>
      </p:sp>
      <p:sp>
        <p:nvSpPr>
          <p:cNvPr id="32771" name="Text Box 9"/>
          <p:cNvSpPr txBox="1"/>
          <p:nvPr/>
        </p:nvSpPr>
        <p:spPr>
          <a:xfrm>
            <a:off x="660083" y="1866900"/>
            <a:ext cx="8026400" cy="2378075"/>
          </a:xfrm>
          <a:prstGeom prst="rect">
            <a:avLst/>
          </a:prstGeom>
          <a:noFill/>
          <a:ln w="9525">
            <a:noFill/>
          </a:ln>
        </p:spPr>
        <p:txBody>
          <a:bodyPr anchor="t">
            <a:spAutoFit/>
          </a:bodyPr>
          <a:lstStyle/>
          <a:p>
            <a:pPr lvl="0" indent="0">
              <a:lnSpc>
                <a:spcPct val="110000"/>
              </a:lnSpc>
              <a:spcBef>
                <a:spcPts val="300"/>
              </a:spcBef>
              <a:buNone/>
            </a:pPr>
            <a:r>
              <a:rPr lang="en-US" altLang="x-none"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证券、银行、保险等领域拥有超大量级数据；</a:t>
            </a:r>
            <a:endParaRPr lang="zh-CN" altLang="en-US" sz="2200" b="0" dirty="0">
              <a:latin typeface="楷体" panose="02010609060101010101" pitchFamily="1" charset="-122"/>
              <a:ea typeface="楷体" panose="02010609060101010101" pitchFamily="1" charset="-122"/>
            </a:endParaRPr>
          </a:p>
          <a:p>
            <a:pPr lvl="0" indent="0">
              <a:lnSpc>
                <a:spcPct val="110000"/>
              </a:lnSpc>
              <a:spcBef>
                <a:spcPts val="300"/>
              </a:spcBef>
              <a:buNone/>
            </a:pPr>
            <a:r>
              <a:rPr lang="en-US" altLang="x-none" sz="2200" b="0" dirty="0">
                <a:latin typeface="楷体" panose="02010609060101010101" pitchFamily="1" charset="-122"/>
                <a:ea typeface="楷体" panose="02010609060101010101" pitchFamily="1" charset="-122"/>
              </a:rPr>
              <a:t>--</a:t>
            </a:r>
            <a:r>
              <a:rPr lang="zh-CN" altLang="en-US" sz="2200" dirty="0">
                <a:solidFill>
                  <a:srgbClr val="0033CC"/>
                </a:solidFill>
                <a:latin typeface="楷体" panose="02010609060101010101" pitchFamily="1" charset="-122"/>
                <a:ea typeface="楷体" panose="02010609060101010101" pitchFamily="1" charset="-122"/>
              </a:rPr>
              <a:t>链表结构要把数据一次性读入内存</a:t>
            </a:r>
            <a:r>
              <a:rPr lang="zh-CN" altLang="en-US" sz="2200" b="0" dirty="0">
                <a:latin typeface="楷体" panose="02010609060101010101" pitchFamily="1" charset="-122"/>
                <a:ea typeface="楷体" panose="02010609060101010101" pitchFamily="1" charset="-122"/>
              </a:rPr>
              <a:t>，</a:t>
            </a:r>
            <a:r>
              <a:rPr lang="en-US" altLang="x-none" sz="2200" b="0" dirty="0">
                <a:solidFill>
                  <a:srgbClr val="5555D5"/>
                </a:solidFill>
                <a:latin typeface="Arial" panose="020B0604020202020204" pitchFamily="34" charset="0"/>
                <a:ea typeface="宋体" panose="02010600030101010101" pitchFamily="2" charset="-122"/>
              </a:rPr>
              <a:t> </a:t>
            </a:r>
            <a:r>
              <a:rPr lang="en-US" altLang="x-none" sz="2200" b="0" dirty="0">
                <a:latin typeface="楷体" panose="02010609060101010101" pitchFamily="1" charset="-122"/>
                <a:ea typeface="楷体" panose="02010609060101010101" pitchFamily="1" charset="-122"/>
              </a:rPr>
              <a:t>32</a:t>
            </a:r>
            <a:r>
              <a:rPr lang="zh-CN" altLang="en-US" sz="2200" b="0" dirty="0">
                <a:latin typeface="楷体" panose="02010609060101010101" pitchFamily="1" charset="-122"/>
                <a:ea typeface="楷体" panose="02010609060101010101" pitchFamily="1" charset="-122"/>
              </a:rPr>
              <a:t>位计算机直接访问的地址为</a:t>
            </a:r>
            <a:r>
              <a:rPr lang="en-US" altLang="x-none" sz="2200" b="0" dirty="0">
                <a:latin typeface="楷体" panose="02010609060101010101" pitchFamily="1" charset="-122"/>
                <a:ea typeface="楷体" panose="02010609060101010101" pitchFamily="1" charset="-122"/>
              </a:rPr>
              <a:t>4GB</a:t>
            </a:r>
            <a:r>
              <a:rPr lang="zh-CN" altLang="en-US" sz="2200" b="0" dirty="0">
                <a:latin typeface="楷体" panose="02010609060101010101" pitchFamily="1" charset="-122"/>
                <a:ea typeface="楷体" panose="02010609060101010101" pitchFamily="1" charset="-122"/>
              </a:rPr>
              <a:t>：在</a:t>
            </a:r>
            <a:r>
              <a:rPr lang="en-US" altLang="x-none" sz="2200" b="0" dirty="0">
                <a:latin typeface="楷体" panose="02010609060101010101" pitchFamily="1" charset="-122"/>
                <a:ea typeface="楷体" panose="02010609060101010101" pitchFamily="1" charset="-122"/>
              </a:rPr>
              <a:t>32</a:t>
            </a:r>
            <a:r>
              <a:rPr lang="zh-CN" altLang="en-US" sz="2200" b="0" dirty="0">
                <a:latin typeface="楷体" panose="02010609060101010101" pitchFamily="1" charset="-122"/>
                <a:ea typeface="楷体" panose="02010609060101010101" pitchFamily="1" charset="-122"/>
              </a:rPr>
              <a:t>位机上</a:t>
            </a:r>
            <a:r>
              <a:rPr lang="en-US" altLang="x-none" sz="2200" b="0" dirty="0">
                <a:latin typeface="楷体" panose="02010609060101010101" pitchFamily="1" charset="-122"/>
                <a:ea typeface="楷体" panose="02010609060101010101" pitchFamily="1" charset="-122"/>
              </a:rPr>
              <a:t>Linux</a:t>
            </a:r>
            <a:r>
              <a:rPr lang="zh-CN" altLang="en-US" sz="2200" b="0" dirty="0">
                <a:latin typeface="楷体" panose="02010609060101010101" pitchFamily="1" charset="-122"/>
                <a:ea typeface="楷体" panose="02010609060101010101" pitchFamily="1" charset="-122"/>
              </a:rPr>
              <a:t>、</a:t>
            </a:r>
            <a:r>
              <a:rPr lang="en-US" altLang="x-none" sz="2200" b="0" dirty="0">
                <a:latin typeface="楷体" panose="02010609060101010101" pitchFamily="1" charset="-122"/>
                <a:ea typeface="楷体" panose="02010609060101010101" pitchFamily="1" charset="-122"/>
              </a:rPr>
              <a:t>Windows NT</a:t>
            </a:r>
            <a:r>
              <a:rPr lang="zh-CN" altLang="en-US" sz="2200" b="0" dirty="0">
                <a:latin typeface="楷体" panose="02010609060101010101" pitchFamily="1" charset="-122"/>
                <a:ea typeface="楷体" panose="02010609060101010101" pitchFamily="1" charset="-122"/>
              </a:rPr>
              <a:t>、</a:t>
            </a:r>
            <a:r>
              <a:rPr lang="en-US" altLang="x-none" sz="2200" b="0" dirty="0">
                <a:latin typeface="楷体" panose="02010609060101010101" pitchFamily="1" charset="-122"/>
                <a:ea typeface="楷体" panose="02010609060101010101" pitchFamily="1" charset="-122"/>
              </a:rPr>
              <a:t>Windows 2000</a:t>
            </a:r>
            <a:r>
              <a:rPr lang="zh-CN" altLang="en-US" sz="2200" b="0" dirty="0">
                <a:latin typeface="楷体" panose="02010609060101010101" pitchFamily="1" charset="-122"/>
                <a:ea typeface="楷体" panose="02010609060101010101" pitchFamily="1" charset="-122"/>
              </a:rPr>
              <a:t>等操作系统不允许硬盘上单个文件超过</a:t>
            </a:r>
            <a:r>
              <a:rPr lang="en-US" altLang="x-none" sz="2000" b="0" dirty="0">
                <a:latin typeface="Arial" panose="020B0604020202020204" pitchFamily="34" charset="0"/>
                <a:ea typeface="宋体" panose="02010600030101010101" pitchFamily="2" charset="-122"/>
              </a:rPr>
              <a:t>2</a:t>
            </a:r>
            <a:r>
              <a:rPr lang="en-US" altLang="x-none" sz="2000" b="0" baseline="30000" dirty="0">
                <a:latin typeface="Arial" panose="020B0604020202020204" pitchFamily="34" charset="0"/>
                <a:ea typeface="宋体" panose="02010600030101010101" pitchFamily="2" charset="-122"/>
              </a:rPr>
              <a:t>32</a:t>
            </a:r>
            <a:r>
              <a:rPr lang="en-US" altLang="x-none" sz="2200" b="0" dirty="0">
                <a:latin typeface="楷体" panose="02010609060101010101" pitchFamily="1" charset="-122"/>
                <a:ea typeface="楷体" panose="02010609060101010101" pitchFamily="1" charset="-122"/>
              </a:rPr>
              <a:t>=4GB</a:t>
            </a:r>
            <a:r>
              <a:rPr lang="zh-CN" altLang="en-US" sz="2200" b="0" dirty="0">
                <a:latin typeface="楷体" panose="02010609060101010101" pitchFamily="1" charset="-122"/>
                <a:ea typeface="楷体" panose="02010609060101010101" pitchFamily="1" charset="-122"/>
              </a:rPr>
              <a:t>大小</a:t>
            </a:r>
            <a:r>
              <a:rPr lang="en-US" altLang="zh-CN"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对于大数据量(GB)以上的数据量内存是无法满足的。</a:t>
            </a:r>
            <a:endParaRPr lang="zh-CN" altLang="en-US" sz="2200" b="0" dirty="0">
              <a:latin typeface="楷体" panose="02010609060101010101" pitchFamily="1" charset="-122"/>
              <a:ea typeface="楷体" panose="02010609060101010101" pitchFamily="1" charset="-122"/>
            </a:endParaRPr>
          </a:p>
          <a:p>
            <a:pPr lvl="0" indent="0">
              <a:lnSpc>
                <a:spcPct val="110000"/>
              </a:lnSpc>
              <a:spcBef>
                <a:spcPts val="300"/>
              </a:spcBef>
              <a:buNone/>
            </a:pPr>
            <a:r>
              <a:rPr lang="en-US" altLang="x-none"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大数据量下的查询速度存在问题。</a:t>
            </a:r>
            <a:endParaRPr lang="zh-CN" altLang="en-US" sz="2200" b="0" dirty="0">
              <a:latin typeface="楷体" panose="02010609060101010101" pitchFamily="1" charset="-122"/>
              <a:ea typeface="楷体" panose="02010609060101010101" pitchFamily="1" charset="-122"/>
            </a:endParaRPr>
          </a:p>
        </p:txBody>
      </p:sp>
      <p:grpSp>
        <p:nvGrpSpPr>
          <p:cNvPr id="32772" name="组合 1"/>
          <p:cNvGrpSpPr/>
          <p:nvPr/>
        </p:nvGrpSpPr>
        <p:grpSpPr>
          <a:xfrm>
            <a:off x="566738" y="4311650"/>
            <a:ext cx="8026400" cy="1839913"/>
            <a:chOff x="0" y="0"/>
            <a:chExt cx="8026400" cy="1839913"/>
          </a:xfrm>
        </p:grpSpPr>
        <p:sp>
          <p:nvSpPr>
            <p:cNvPr id="32773" name="AutoShape 2"/>
            <p:cNvSpPr/>
            <p:nvPr/>
          </p:nvSpPr>
          <p:spPr>
            <a:xfrm>
              <a:off x="0" y="0"/>
              <a:ext cx="8026400" cy="1828800"/>
            </a:xfrm>
            <a:prstGeom prst="roundRect">
              <a:avLst>
                <a:gd name="adj" fmla="val 10375"/>
              </a:avLst>
            </a:prstGeom>
            <a:solidFill>
              <a:srgbClr val="BADDE1"/>
            </a:solidFill>
            <a:ln w="19050" cap="rnd" cmpd="sng">
              <a:solidFill>
                <a:schemeClr val="bg2"/>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36869" name="Text Box 12"/>
            <p:cNvSpPr txBox="1"/>
            <p:nvPr/>
          </p:nvSpPr>
          <p:spPr>
            <a:xfrm>
              <a:off x="173037" y="106363"/>
              <a:ext cx="7735888" cy="508000"/>
            </a:xfrm>
            <a:prstGeom prst="rect">
              <a:avLst/>
            </a:prstGeom>
            <a:noFill/>
            <a:ln w="9525">
              <a:noFill/>
            </a:ln>
          </p:spPr>
          <p:txBody>
            <a:bodyPr anchor="t">
              <a:spAutoFit/>
            </a:bodyPr>
            <a:lstStyle/>
            <a:p>
              <a:pPr lvl="0" indent="0">
                <a:buNone/>
              </a:pPr>
              <a:r>
                <a:rPr lang="en-US" altLang="x-none" sz="2000" dirty="0">
                  <a:latin typeface="Arial" panose="020B0604020202020204" pitchFamily="34" charset="0"/>
                  <a:ea typeface="宋体" panose="02010600030101010101" pitchFamily="2" charset="-122"/>
                </a:rPr>
                <a:t>1 KB</a:t>
              </a:r>
              <a:r>
                <a:rPr lang="en-US" altLang="x-none" sz="2000" dirty="0">
                  <a:solidFill>
                    <a:srgbClr val="009900"/>
                  </a:solidFill>
                  <a:latin typeface="Arial" panose="020B0604020202020204" pitchFamily="34" charset="0"/>
                  <a:ea typeface="宋体" panose="02010600030101010101" pitchFamily="2" charset="-122"/>
                </a:rPr>
                <a:t>(kilobyte)</a:t>
              </a:r>
              <a:r>
                <a:rPr lang="en-US" altLang="x-none" sz="2000" dirty="0">
                  <a:latin typeface="Arial" panose="020B0604020202020204" pitchFamily="34" charset="0"/>
                  <a:ea typeface="宋体" panose="02010600030101010101" pitchFamily="2" charset="-122"/>
                </a:rPr>
                <a:t>=1024 Bytes;  </a:t>
              </a:r>
              <a:r>
                <a:rPr lang="zh-CN" altLang="en-US" sz="2000" dirty="0">
                  <a:latin typeface="Arial" panose="020B0604020202020204" pitchFamily="34" charset="0"/>
                  <a:ea typeface="宋体" panose="02010600030101010101" pitchFamily="2" charset="-122"/>
                </a:rPr>
                <a:t>       </a:t>
              </a:r>
              <a:r>
                <a:rPr lang="en-US" altLang="x-none" sz="2000" dirty="0">
                  <a:latin typeface="Arial" panose="020B0604020202020204" pitchFamily="34" charset="0"/>
                  <a:ea typeface="宋体" panose="02010600030101010101" pitchFamily="2" charset="-122"/>
                </a:rPr>
                <a:t>1 MB</a:t>
              </a:r>
              <a:r>
                <a:rPr lang="en-US" altLang="x-none" sz="2000" dirty="0">
                  <a:solidFill>
                    <a:srgbClr val="009900"/>
                  </a:solidFill>
                  <a:latin typeface="Arial" panose="020B0604020202020204" pitchFamily="34" charset="0"/>
                  <a:ea typeface="宋体" panose="02010600030101010101" pitchFamily="2" charset="-122"/>
                </a:rPr>
                <a:t>(megabyte)</a:t>
              </a:r>
              <a:r>
                <a:rPr lang="en-US" altLang="x-none" sz="2000" dirty="0">
                  <a:latin typeface="Arial" panose="020B0604020202020204" pitchFamily="34" charset="0"/>
                  <a:ea typeface="宋体" panose="02010600030101010101" pitchFamily="2" charset="-122"/>
                </a:rPr>
                <a:t>=1024 KB</a:t>
              </a:r>
              <a:endParaRPr lang="en-US" altLang="x-none" sz="2000" dirty="0">
                <a:latin typeface="Arial" panose="020B0604020202020204" pitchFamily="34" charset="0"/>
                <a:ea typeface="宋体" panose="02010600030101010101" pitchFamily="2" charset="-122"/>
              </a:endParaRPr>
            </a:p>
          </p:txBody>
        </p:sp>
        <p:sp>
          <p:nvSpPr>
            <p:cNvPr id="36870" name="Text Box 16"/>
            <p:cNvSpPr txBox="1"/>
            <p:nvPr/>
          </p:nvSpPr>
          <p:spPr>
            <a:xfrm>
              <a:off x="173037" y="523875"/>
              <a:ext cx="7735888" cy="508000"/>
            </a:xfrm>
            <a:prstGeom prst="rect">
              <a:avLst/>
            </a:prstGeom>
            <a:noFill/>
            <a:ln w="9525">
              <a:noFill/>
            </a:ln>
          </p:spPr>
          <p:txBody>
            <a:bodyPr anchor="t">
              <a:spAutoFit/>
            </a:bodyPr>
            <a:lstStyle/>
            <a:p>
              <a:pPr lvl="0" indent="0">
                <a:buNone/>
              </a:pPr>
              <a:r>
                <a:rPr lang="en-US" altLang="x-none" sz="2000" dirty="0">
                  <a:latin typeface="Arial" panose="020B0604020202020204" pitchFamily="34" charset="0"/>
                  <a:ea typeface="宋体" panose="02010600030101010101" pitchFamily="2" charset="-122"/>
                </a:rPr>
                <a:t>1 GB</a:t>
              </a:r>
              <a:r>
                <a:rPr lang="en-US" altLang="x-none" sz="2000" dirty="0">
                  <a:solidFill>
                    <a:srgbClr val="009900"/>
                  </a:solidFill>
                  <a:latin typeface="Arial" panose="020B0604020202020204" pitchFamily="34" charset="0"/>
                  <a:ea typeface="宋体" panose="02010600030101010101" pitchFamily="2" charset="-122"/>
                </a:rPr>
                <a:t>(gigabyte)   </a:t>
              </a:r>
              <a:r>
                <a:rPr lang="en-US" altLang="x-none" sz="2000" dirty="0">
                  <a:latin typeface="Arial" panose="020B0604020202020204" pitchFamily="34" charset="0"/>
                  <a:ea typeface="宋体" panose="02010600030101010101" pitchFamily="2" charset="-122"/>
                </a:rPr>
                <a:t>=1024 MB; </a:t>
              </a:r>
              <a:r>
                <a:rPr lang="zh-CN" altLang="en-US" sz="2000" dirty="0">
                  <a:latin typeface="Arial" panose="020B0604020202020204" pitchFamily="34" charset="0"/>
                  <a:ea typeface="宋体" panose="02010600030101010101" pitchFamily="2" charset="-122"/>
                </a:rPr>
                <a:t>        </a:t>
              </a:r>
              <a:r>
                <a:rPr lang="en-US" altLang="x-none" sz="2000" dirty="0">
                  <a:latin typeface="Arial" panose="020B0604020202020204" pitchFamily="34" charset="0"/>
                  <a:ea typeface="宋体" panose="02010600030101010101" pitchFamily="2" charset="-122"/>
                </a:rPr>
                <a:t>1 TB </a:t>
              </a:r>
              <a:r>
                <a:rPr lang="en-US" altLang="x-none" sz="2000" dirty="0">
                  <a:solidFill>
                    <a:srgbClr val="009900"/>
                  </a:solidFill>
                  <a:latin typeface="Arial" panose="020B0604020202020204" pitchFamily="34" charset="0"/>
                  <a:ea typeface="宋体" panose="02010600030101010101" pitchFamily="2" charset="-122"/>
                </a:rPr>
                <a:t>(terabyte)</a:t>
              </a:r>
              <a:r>
                <a:rPr lang="en-US" altLang="x-none" sz="2000" dirty="0">
                  <a:latin typeface="Arial" panose="020B0604020202020204" pitchFamily="34" charset="0"/>
                  <a:ea typeface="宋体" panose="02010600030101010101" pitchFamily="2" charset="-122"/>
                </a:rPr>
                <a:t>  =1024 GB </a:t>
              </a:r>
              <a:endParaRPr lang="en-US" altLang="x-none" sz="2000" dirty="0">
                <a:latin typeface="Arial" panose="020B0604020202020204" pitchFamily="34" charset="0"/>
                <a:ea typeface="宋体" panose="02010600030101010101" pitchFamily="2" charset="-122"/>
              </a:endParaRPr>
            </a:p>
          </p:txBody>
        </p:sp>
        <p:sp>
          <p:nvSpPr>
            <p:cNvPr id="36871" name="Text Box 17"/>
            <p:cNvSpPr txBox="1"/>
            <p:nvPr/>
          </p:nvSpPr>
          <p:spPr>
            <a:xfrm>
              <a:off x="173037" y="895350"/>
              <a:ext cx="7532688" cy="508000"/>
            </a:xfrm>
            <a:prstGeom prst="rect">
              <a:avLst/>
            </a:prstGeom>
            <a:noFill/>
            <a:ln w="9525">
              <a:noFill/>
            </a:ln>
          </p:spPr>
          <p:txBody>
            <a:bodyPr anchor="t">
              <a:spAutoFit/>
            </a:bodyPr>
            <a:lstStyle/>
            <a:p>
              <a:pPr lvl="0" indent="0">
                <a:buNone/>
              </a:pPr>
              <a:r>
                <a:rPr lang="en-US" altLang="x-none" sz="2000" dirty="0">
                  <a:latin typeface="Arial" panose="020B0604020202020204" pitchFamily="34" charset="0"/>
                  <a:ea typeface="宋体" panose="02010600030101010101" pitchFamily="2" charset="-122"/>
                </a:rPr>
                <a:t>1 </a:t>
              </a:r>
              <a:r>
                <a:rPr lang="en-US" altLang="x-none" sz="2000" dirty="0">
                  <a:solidFill>
                    <a:srgbClr val="FF0000"/>
                  </a:solidFill>
                  <a:latin typeface="Arial" panose="020B0604020202020204" pitchFamily="34" charset="0"/>
                  <a:ea typeface="宋体" panose="02010600030101010101" pitchFamily="2" charset="-122"/>
                </a:rPr>
                <a:t>PB</a:t>
              </a:r>
              <a:r>
                <a:rPr lang="en-US" altLang="x-none" sz="2000" dirty="0">
                  <a:latin typeface="Arial" panose="020B0604020202020204" pitchFamily="34" charset="0"/>
                  <a:ea typeface="宋体" panose="02010600030101010101" pitchFamily="2" charset="-122"/>
                </a:rPr>
                <a:t> </a:t>
              </a:r>
              <a:r>
                <a:rPr lang="en-US" altLang="x-none" sz="2000" dirty="0">
                  <a:solidFill>
                    <a:srgbClr val="009900"/>
                  </a:solidFill>
                  <a:latin typeface="Arial" panose="020B0604020202020204" pitchFamily="34" charset="0"/>
                  <a:ea typeface="宋体" panose="02010600030101010101" pitchFamily="2" charset="-122"/>
                </a:rPr>
                <a:t>(petabyte)  </a:t>
              </a:r>
              <a:r>
                <a:rPr lang="en-US" altLang="x-none" sz="2000" dirty="0">
                  <a:latin typeface="Arial" panose="020B0604020202020204" pitchFamily="34" charset="0"/>
                  <a:ea typeface="宋体" panose="02010600030101010101" pitchFamily="2" charset="-122"/>
                </a:rPr>
                <a:t>=1024 TB;  </a:t>
              </a:r>
              <a:r>
                <a:rPr lang="zh-CN" altLang="en-US" sz="2000" dirty="0">
                  <a:latin typeface="Arial" panose="020B0604020202020204" pitchFamily="34" charset="0"/>
                  <a:ea typeface="宋体" panose="02010600030101010101" pitchFamily="2" charset="-122"/>
                </a:rPr>
                <a:t>        </a:t>
              </a:r>
              <a:r>
                <a:rPr lang="en-US" altLang="x-none" sz="2000" dirty="0">
                  <a:latin typeface="Arial" panose="020B0604020202020204" pitchFamily="34" charset="0"/>
                  <a:ea typeface="宋体" panose="02010600030101010101" pitchFamily="2" charset="-122"/>
                </a:rPr>
                <a:t>1 EB </a:t>
              </a:r>
              <a:r>
                <a:rPr lang="en-US" altLang="x-none" sz="2000" dirty="0">
                  <a:solidFill>
                    <a:srgbClr val="009900"/>
                  </a:solidFill>
                  <a:latin typeface="Arial" panose="020B0604020202020204" pitchFamily="34" charset="0"/>
                  <a:ea typeface="宋体" panose="02010600030101010101" pitchFamily="2" charset="-122"/>
                </a:rPr>
                <a:t>(exabyte)   </a:t>
              </a:r>
              <a:r>
                <a:rPr lang="en-US" altLang="x-none" sz="2000" dirty="0">
                  <a:latin typeface="Arial" panose="020B0604020202020204" pitchFamily="34" charset="0"/>
                  <a:ea typeface="宋体" panose="02010600030101010101" pitchFamily="2" charset="-122"/>
                </a:rPr>
                <a:t>=1024 PB</a:t>
              </a:r>
              <a:endParaRPr lang="en-US" altLang="x-none" sz="2000" dirty="0">
                <a:latin typeface="Arial" panose="020B0604020202020204" pitchFamily="34" charset="0"/>
                <a:ea typeface="宋体" panose="02010600030101010101" pitchFamily="2" charset="-122"/>
              </a:endParaRPr>
            </a:p>
          </p:txBody>
        </p:sp>
        <p:sp>
          <p:nvSpPr>
            <p:cNvPr id="36872" name="Text Box 18"/>
            <p:cNvSpPr txBox="1"/>
            <p:nvPr/>
          </p:nvSpPr>
          <p:spPr>
            <a:xfrm>
              <a:off x="187325" y="1331913"/>
              <a:ext cx="7185025" cy="508000"/>
            </a:xfrm>
            <a:prstGeom prst="rect">
              <a:avLst/>
            </a:prstGeom>
            <a:noFill/>
            <a:ln w="9525">
              <a:noFill/>
            </a:ln>
          </p:spPr>
          <p:txBody>
            <a:bodyPr anchor="t">
              <a:spAutoFit/>
            </a:bodyPr>
            <a:lstStyle/>
            <a:p>
              <a:pPr lvl="0" indent="0">
                <a:buNone/>
              </a:pPr>
              <a:r>
                <a:rPr lang="en-US" altLang="x-none" sz="2000" dirty="0">
                  <a:latin typeface="Arial" panose="020B0604020202020204" pitchFamily="34" charset="0"/>
                  <a:ea typeface="宋体" panose="02010600030101010101" pitchFamily="2" charset="-122"/>
                </a:rPr>
                <a:t>1 ZB</a:t>
              </a:r>
              <a:r>
                <a:rPr lang="en-US" altLang="x-none" sz="2000" dirty="0">
                  <a:solidFill>
                    <a:srgbClr val="009900"/>
                  </a:solidFill>
                  <a:latin typeface="Arial" panose="020B0604020202020204" pitchFamily="34" charset="0"/>
                  <a:ea typeface="宋体" panose="02010600030101010101" pitchFamily="2" charset="-122"/>
                </a:rPr>
                <a:t>(zettabyte)   </a:t>
              </a:r>
              <a:r>
                <a:rPr lang="en-US" altLang="x-none" sz="2000" dirty="0">
                  <a:latin typeface="Arial" panose="020B0604020202020204" pitchFamily="34" charset="0"/>
                  <a:ea typeface="宋体" panose="02010600030101010101" pitchFamily="2" charset="-122"/>
                </a:rPr>
                <a:t>=1024 EB;</a:t>
              </a:r>
              <a:r>
                <a:rPr lang="zh-CN" altLang="en-US" sz="2000" dirty="0">
                  <a:latin typeface="Arial" panose="020B0604020202020204" pitchFamily="34" charset="0"/>
                  <a:ea typeface="宋体" panose="02010600030101010101" pitchFamily="2" charset="-122"/>
                </a:rPr>
                <a:t>    </a:t>
              </a:r>
              <a:r>
                <a:rPr lang="en-US" altLang="x-none" sz="2000" dirty="0">
                  <a:latin typeface="Arial" panose="020B0604020202020204" pitchFamily="34" charset="0"/>
                  <a:ea typeface="宋体" panose="02010600030101010101" pitchFamily="2" charset="-122"/>
                </a:rPr>
                <a:t> </a:t>
              </a:r>
              <a:r>
                <a:rPr lang="zh-CN" altLang="en-US" sz="2000" dirty="0">
                  <a:latin typeface="Arial" panose="020B0604020202020204" pitchFamily="34" charset="0"/>
                  <a:ea typeface="宋体" panose="02010600030101010101" pitchFamily="2" charset="-122"/>
                </a:rPr>
                <a:t>    </a:t>
              </a:r>
              <a:r>
                <a:rPr lang="en-US" altLang="x-none" sz="2000" dirty="0">
                  <a:latin typeface="Arial" panose="020B0604020202020204" pitchFamily="34" charset="0"/>
                  <a:ea typeface="宋体" panose="02010600030101010101" pitchFamily="2" charset="-122"/>
                </a:rPr>
                <a:t>1 YB </a:t>
              </a:r>
              <a:r>
                <a:rPr lang="en-US" altLang="x-none" sz="2000" dirty="0">
                  <a:solidFill>
                    <a:srgbClr val="009900"/>
                  </a:solidFill>
                  <a:latin typeface="Arial" panose="020B0604020202020204" pitchFamily="34" charset="0"/>
                  <a:ea typeface="宋体" panose="02010600030101010101" pitchFamily="2" charset="-122"/>
                </a:rPr>
                <a:t>(yottabyte) </a:t>
              </a:r>
              <a:r>
                <a:rPr lang="en-US" altLang="x-none" sz="2000" dirty="0">
                  <a:latin typeface="Arial" panose="020B0604020202020204" pitchFamily="34" charset="0"/>
                  <a:ea typeface="宋体" panose="02010600030101010101" pitchFamily="2" charset="-122"/>
                </a:rPr>
                <a:t>=1024 ZB</a:t>
              </a:r>
              <a:endParaRPr lang="en-US" altLang="x-none" sz="2000" dirty="0">
                <a:latin typeface="Arial" panose="020B0604020202020204" pitchFamily="34" charset="0"/>
                <a:ea typeface="宋体" panose="02010600030101010101" pitchFamily="2" charset="-122"/>
              </a:endParaRPr>
            </a:p>
          </p:txBody>
        </p:sp>
      </p:grpSp>
      <p:sp>
        <p:nvSpPr>
          <p:cNvPr id="36873" name="Rectangle 2"/>
          <p:cNvSpPr/>
          <p:nvPr/>
        </p:nvSpPr>
        <p:spPr>
          <a:xfrm>
            <a:off x="500063" y="750888"/>
            <a:ext cx="710565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文件系统的缺陷（</a:t>
            </a:r>
            <a:r>
              <a:rPr lang="en-US" altLang="x-none" sz="2800" dirty="0">
                <a:solidFill>
                  <a:srgbClr val="3333CC"/>
                </a:solidFill>
                <a:latin typeface="Arial" panose="020B0604020202020204" pitchFamily="34" charset="0"/>
                <a:ea typeface="黑体" panose="02010609060101010101" pitchFamily="1" charset="-122"/>
              </a:rPr>
              <a:t>1</a:t>
            </a:r>
            <a:r>
              <a:rPr lang="zh-CN" altLang="en-US" sz="2800" dirty="0">
                <a:solidFill>
                  <a:srgbClr val="3333CC"/>
                </a:solidFill>
                <a:latin typeface="Arial" panose="020B0604020202020204" pitchFamily="34" charset="0"/>
                <a:ea typeface="黑体" panose="02010609060101010101" pitchFamily="1" charset="-122"/>
              </a:rPr>
              <a:t>）</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3687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2770"/>
                                        </p:tgtEl>
                                        <p:attrNameLst>
                                          <p:attrName>style.visibility</p:attrName>
                                        </p:attrNameLst>
                                      </p:cBhvr>
                                      <p:to>
                                        <p:strVal val="visible"/>
                                      </p:to>
                                    </p:set>
                                    <p:anim calcmode="lin" valueType="num">
                                      <p:cBhvr additive="base">
                                        <p:cTn id="7" dur="500" fill="hold"/>
                                        <p:tgtEl>
                                          <p:spTgt spid="32770"/>
                                        </p:tgtEl>
                                        <p:attrNameLst>
                                          <p:attrName>ppt_x</p:attrName>
                                        </p:attrNameLst>
                                      </p:cBhvr>
                                      <p:tavLst>
                                        <p:tav tm="0">
                                          <p:val>
                                            <p:strVal val="#ppt_x"/>
                                          </p:val>
                                        </p:tav>
                                        <p:tav tm="100000">
                                          <p:val>
                                            <p:strVal val="#ppt_x"/>
                                          </p:val>
                                        </p:tav>
                                      </p:tavLst>
                                    </p:anim>
                                    <p:anim calcmode="lin" valueType="num">
                                      <p:cBhvr additive="base">
                                        <p:cTn id="8" dur="500" fill="hold"/>
                                        <p:tgtEl>
                                          <p:spTgt spid="3277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2771"/>
                                        </p:tgtEl>
                                        <p:attrNameLst>
                                          <p:attrName>style.visibility</p:attrName>
                                        </p:attrNameLst>
                                      </p:cBhvr>
                                      <p:to>
                                        <p:strVal val="visible"/>
                                      </p:to>
                                    </p:set>
                                    <p:anim calcmode="lin" valueType="num">
                                      <p:cBhvr additive="base">
                                        <p:cTn id="12" dur="500" fill="hold"/>
                                        <p:tgtEl>
                                          <p:spTgt spid="32771"/>
                                        </p:tgtEl>
                                        <p:attrNameLst>
                                          <p:attrName>ppt_x</p:attrName>
                                        </p:attrNameLst>
                                      </p:cBhvr>
                                      <p:tavLst>
                                        <p:tav tm="0">
                                          <p:val>
                                            <p:strVal val="#ppt_x"/>
                                          </p:val>
                                        </p:tav>
                                        <p:tav tm="100000">
                                          <p:val>
                                            <p:strVal val="#ppt_x"/>
                                          </p:val>
                                        </p:tav>
                                      </p:tavLst>
                                    </p:anim>
                                    <p:anim calcmode="lin" valueType="num">
                                      <p:cBhvr additive="base">
                                        <p:cTn id="13" dur="500" fill="hold"/>
                                        <p:tgtEl>
                                          <p:spTgt spid="3277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2772"/>
                                        </p:tgtEl>
                                        <p:attrNameLst>
                                          <p:attrName>style.visibility</p:attrName>
                                        </p:attrNameLst>
                                      </p:cBhvr>
                                      <p:to>
                                        <p:strVal val="visible"/>
                                      </p:to>
                                    </p:set>
                                    <p:anim calcmode="lin" valueType="num">
                                      <p:cBhvr additive="base">
                                        <p:cTn id="18" dur="500" fill="hold"/>
                                        <p:tgtEl>
                                          <p:spTgt spid="32772"/>
                                        </p:tgtEl>
                                        <p:attrNameLst>
                                          <p:attrName>ppt_x</p:attrName>
                                        </p:attrNameLst>
                                      </p:cBhvr>
                                      <p:tavLst>
                                        <p:tav tm="0">
                                          <p:val>
                                            <p:strVal val="#ppt_x"/>
                                          </p:val>
                                        </p:tav>
                                        <p:tav tm="100000">
                                          <p:val>
                                            <p:strVal val="#ppt_x"/>
                                          </p:val>
                                        </p:tav>
                                      </p:tavLst>
                                    </p:anim>
                                    <p:anim calcmode="lin" valueType="num">
                                      <p:cBhvr additive="base">
                                        <p:cTn id="19" dur="500" fill="hold"/>
                                        <p:tgtEl>
                                          <p:spTgt spid="327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p:bldP spid="3277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13" name="组合 1"/>
          <p:cNvGrpSpPr/>
          <p:nvPr/>
        </p:nvGrpSpPr>
        <p:grpSpPr>
          <a:xfrm>
            <a:off x="465138" y="1384300"/>
            <a:ext cx="8258175" cy="2279650"/>
            <a:chOff x="0" y="0"/>
            <a:chExt cx="8258175" cy="2279324"/>
          </a:xfrm>
        </p:grpSpPr>
        <p:sp>
          <p:nvSpPr>
            <p:cNvPr id="38914" name="Text Box 6"/>
            <p:cNvSpPr txBox="1"/>
            <p:nvPr/>
          </p:nvSpPr>
          <p:spPr>
            <a:xfrm>
              <a:off x="0" y="0"/>
              <a:ext cx="8054975" cy="590550"/>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400" dirty="0">
                  <a:solidFill>
                    <a:srgbClr val="FF0000"/>
                  </a:solidFill>
                  <a:latin typeface="Arial" panose="020B0604020202020204" pitchFamily="34" charset="0"/>
                  <a:ea typeface="宋体" panose="02010600030101010101" pitchFamily="2" charset="-122"/>
                </a:rPr>
                <a:t> 多用户并发访问（</a:t>
              </a:r>
              <a:r>
                <a:rPr lang="en-US" altLang="x-none" sz="2400" dirty="0">
                  <a:solidFill>
                    <a:srgbClr val="FF0000"/>
                  </a:solidFill>
                  <a:latin typeface="Arial" panose="020B0604020202020204" pitchFamily="34" charset="0"/>
                  <a:ea typeface="宋体" panose="02010600030101010101" pitchFamily="2" charset="-122"/>
                </a:rPr>
                <a:t>Concurrent Access</a:t>
              </a:r>
              <a:r>
                <a:rPr lang="zh-CN" altLang="en-US" sz="2400" dirty="0">
                  <a:solidFill>
                    <a:srgbClr val="FF0000"/>
                  </a:solidFill>
                  <a:latin typeface="Arial" panose="020B0604020202020204" pitchFamily="34" charset="0"/>
                  <a:ea typeface="宋体" panose="02010600030101010101" pitchFamily="2" charset="-122"/>
                </a:rPr>
                <a:t>）</a:t>
              </a:r>
              <a:endParaRPr lang="zh-CN" altLang="en-US" sz="2400" dirty="0">
                <a:solidFill>
                  <a:srgbClr val="FF0000"/>
                </a:solidFill>
                <a:latin typeface="Arial" panose="020B0604020202020204" pitchFamily="34" charset="0"/>
                <a:ea typeface="宋体" panose="02010600030101010101" pitchFamily="2" charset="-122"/>
              </a:endParaRPr>
            </a:p>
          </p:txBody>
        </p:sp>
        <p:sp>
          <p:nvSpPr>
            <p:cNvPr id="38915" name="Text Box 9"/>
            <p:cNvSpPr txBox="1"/>
            <p:nvPr/>
          </p:nvSpPr>
          <p:spPr>
            <a:xfrm>
              <a:off x="231775" y="573088"/>
              <a:ext cx="8026400" cy="1706236"/>
            </a:xfrm>
            <a:prstGeom prst="rect">
              <a:avLst/>
            </a:prstGeom>
            <a:noFill/>
            <a:ln w="9525">
              <a:noFill/>
            </a:ln>
          </p:spPr>
          <p:txBody>
            <a:bodyPr anchor="t">
              <a:spAutoFit/>
            </a:bodyPr>
            <a:lstStyle/>
            <a:p>
              <a:pPr lvl="0" indent="0">
                <a:lnSpc>
                  <a:spcPct val="110000"/>
                </a:lnSpc>
                <a:spcBef>
                  <a:spcPts val="300"/>
                </a:spcBef>
                <a:buNone/>
              </a:pP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前面学生管理系统只能单机或单用户使用；</a:t>
              </a:r>
              <a:endParaRPr lang="zh-CN" altLang="en-US" sz="2400" dirty="0">
                <a:latin typeface="楷体" panose="02010609060101010101" pitchFamily="1" charset="-122"/>
                <a:ea typeface="楷体" panose="02010609060101010101" pitchFamily="1" charset="-122"/>
              </a:endParaRPr>
            </a:p>
            <a:p>
              <a:pPr lvl="0" indent="0">
                <a:lnSpc>
                  <a:spcPct val="110000"/>
                </a:lnSpc>
                <a:spcBef>
                  <a:spcPts val="300"/>
                </a:spcBef>
                <a:buNone/>
              </a:pP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多用户的同时使用，即并发访问，</a:t>
              </a:r>
              <a:r>
                <a:rPr lang="zh-CN" altLang="en-US" sz="2400" u="sng" dirty="0">
                  <a:solidFill>
                    <a:srgbClr val="0033CC"/>
                  </a:solidFill>
                  <a:latin typeface="楷体" panose="02010609060101010101" pitchFamily="1" charset="-122"/>
                  <a:ea typeface="楷体" panose="02010609060101010101" pitchFamily="1" charset="-122"/>
                </a:rPr>
                <a:t>可能导致多个用户同时存取同一个数据，于是出现数据访问冲突，可能导致数据的不一致，甚至可能引起数据的灾难性的破坏。</a:t>
              </a:r>
              <a:endParaRPr lang="en-US" altLang="x-none" sz="2400" u="sng" dirty="0">
                <a:solidFill>
                  <a:srgbClr val="0033CC"/>
                </a:solidFill>
                <a:latin typeface="楷体" panose="02010609060101010101" pitchFamily="1" charset="-122"/>
                <a:ea typeface="楷体" panose="02010609060101010101" pitchFamily="1" charset="-122"/>
              </a:endParaRPr>
            </a:p>
          </p:txBody>
        </p:sp>
      </p:grpSp>
      <p:grpSp>
        <p:nvGrpSpPr>
          <p:cNvPr id="34821" name="组合 2"/>
          <p:cNvGrpSpPr/>
          <p:nvPr/>
        </p:nvGrpSpPr>
        <p:grpSpPr>
          <a:xfrm>
            <a:off x="579438" y="3740150"/>
            <a:ext cx="8215312" cy="2249488"/>
            <a:chOff x="0" y="0"/>
            <a:chExt cx="8215313" cy="2249206"/>
          </a:xfrm>
        </p:grpSpPr>
        <p:sp>
          <p:nvSpPr>
            <p:cNvPr id="38917" name="Text Box 6"/>
            <p:cNvSpPr txBox="1"/>
            <p:nvPr/>
          </p:nvSpPr>
          <p:spPr>
            <a:xfrm>
              <a:off x="0" y="0"/>
              <a:ext cx="8056563" cy="592138"/>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400" dirty="0">
                  <a:solidFill>
                    <a:srgbClr val="FF0000"/>
                  </a:solidFill>
                  <a:latin typeface="Arial" panose="020B0604020202020204" pitchFamily="34" charset="0"/>
                  <a:ea typeface="宋体" panose="02010600030101010101" pitchFamily="2" charset="-122"/>
                </a:rPr>
                <a:t> 故障情况下的恢复（</a:t>
              </a:r>
              <a:r>
                <a:rPr lang="en-US" altLang="x-none" sz="2400" dirty="0">
                  <a:solidFill>
                    <a:srgbClr val="FF0000"/>
                  </a:solidFill>
                  <a:latin typeface="Arial" panose="020B0604020202020204" pitchFamily="34" charset="0"/>
                  <a:ea typeface="宋体" panose="02010600030101010101" pitchFamily="2" charset="-122"/>
                </a:rPr>
                <a:t>Crash Recovery</a:t>
              </a:r>
              <a:r>
                <a:rPr lang="zh-CN" altLang="en-US" sz="2400" dirty="0">
                  <a:solidFill>
                    <a:srgbClr val="FF0000"/>
                  </a:solidFill>
                  <a:latin typeface="Arial" panose="020B0604020202020204" pitchFamily="34" charset="0"/>
                  <a:ea typeface="宋体" panose="02010600030101010101" pitchFamily="2" charset="-122"/>
                </a:rPr>
                <a:t>）</a:t>
              </a:r>
              <a:endParaRPr lang="zh-CN" altLang="en-US" sz="2400" dirty="0">
                <a:solidFill>
                  <a:srgbClr val="FF0000"/>
                </a:solidFill>
                <a:latin typeface="Arial" panose="020B0604020202020204" pitchFamily="34" charset="0"/>
                <a:ea typeface="宋体" panose="02010600030101010101" pitchFamily="2" charset="-122"/>
              </a:endParaRPr>
            </a:p>
          </p:txBody>
        </p:sp>
        <p:sp>
          <p:nvSpPr>
            <p:cNvPr id="38918" name="Text Box 9"/>
            <p:cNvSpPr txBox="1"/>
            <p:nvPr/>
          </p:nvSpPr>
          <p:spPr>
            <a:xfrm>
              <a:off x="188913" y="531813"/>
              <a:ext cx="8026400" cy="1717393"/>
            </a:xfrm>
            <a:prstGeom prst="rect">
              <a:avLst/>
            </a:prstGeom>
            <a:noFill/>
            <a:ln w="9525">
              <a:noFill/>
            </a:ln>
          </p:spPr>
          <p:txBody>
            <a:bodyPr anchor="t">
              <a:spAutoFit/>
            </a:bodyPr>
            <a:lstStyle/>
            <a:p>
              <a:pPr lvl="0" indent="0">
                <a:lnSpc>
                  <a:spcPct val="110000"/>
                </a:lnSpc>
                <a:spcBef>
                  <a:spcPts val="300"/>
                </a:spcBef>
                <a:buNone/>
              </a:pP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系统运行中可能遇到各种各样的突发状况，如突然断电、系统死机、程序崩溃以及磁盘损坏等。</a:t>
              </a:r>
              <a:r>
                <a:rPr lang="zh-CN" altLang="en-US" sz="2400" u="sng" dirty="0">
                  <a:solidFill>
                    <a:srgbClr val="0033CC"/>
                  </a:solidFill>
                  <a:latin typeface="楷体" panose="02010609060101010101" pitchFamily="1" charset="-122"/>
                  <a:ea typeface="楷体" panose="02010609060101010101" pitchFamily="1" charset="-122"/>
                </a:rPr>
                <a:t>在这种情况下，可能出现数据未完全写入磁盘的现象，从而出现数据丢失，甚至数据的破坏。</a:t>
              </a:r>
              <a:endParaRPr lang="en-US" altLang="x-none" sz="2400" u="sng" dirty="0">
                <a:solidFill>
                  <a:srgbClr val="0033CC"/>
                </a:solidFill>
                <a:latin typeface="楷体" panose="02010609060101010101" pitchFamily="1" charset="-122"/>
                <a:ea typeface="楷体" panose="02010609060101010101" pitchFamily="1" charset="-122"/>
              </a:endParaRPr>
            </a:p>
          </p:txBody>
        </p:sp>
      </p:grpSp>
      <p:sp>
        <p:nvSpPr>
          <p:cNvPr id="38919" name="Rectangle 2"/>
          <p:cNvSpPr/>
          <p:nvPr/>
        </p:nvSpPr>
        <p:spPr>
          <a:xfrm>
            <a:off x="500063" y="750888"/>
            <a:ext cx="710565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文件系统的缺陷（</a:t>
            </a:r>
            <a:r>
              <a:rPr lang="en-US" altLang="x-none" sz="2800" dirty="0">
                <a:solidFill>
                  <a:srgbClr val="3333CC"/>
                </a:solidFill>
                <a:latin typeface="Arial" panose="020B0604020202020204" pitchFamily="34" charset="0"/>
                <a:ea typeface="黑体" panose="02010609060101010101" pitchFamily="1" charset="-122"/>
              </a:rPr>
              <a:t>2</a:t>
            </a:r>
            <a:r>
              <a:rPr lang="zh-CN" altLang="en-US" sz="2800" dirty="0">
                <a:solidFill>
                  <a:srgbClr val="3333CC"/>
                </a:solidFill>
                <a:latin typeface="Arial" panose="020B0604020202020204" pitchFamily="34" charset="0"/>
                <a:ea typeface="黑体" panose="02010609060101010101" pitchFamily="1" charset="-122"/>
              </a:rPr>
              <a:t>）</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3687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821"/>
                                        </p:tgtEl>
                                        <p:attrNameLst>
                                          <p:attrName>style.visibility</p:attrName>
                                        </p:attrNameLst>
                                      </p:cBhvr>
                                      <p:to>
                                        <p:strVal val="visible"/>
                                      </p:to>
                                    </p:set>
                                    <p:anim calcmode="lin" valueType="num">
                                      <p:cBhvr additive="base">
                                        <p:cTn id="7" dur="500" fill="hold"/>
                                        <p:tgtEl>
                                          <p:spTgt spid="34821"/>
                                        </p:tgtEl>
                                        <p:attrNameLst>
                                          <p:attrName>ppt_x</p:attrName>
                                        </p:attrNameLst>
                                      </p:cBhvr>
                                      <p:tavLst>
                                        <p:tav tm="0">
                                          <p:val>
                                            <p:strVal val="#ppt_x"/>
                                          </p:val>
                                        </p:tav>
                                        <p:tav tm="100000">
                                          <p:val>
                                            <p:strVal val="#ppt_x"/>
                                          </p:val>
                                        </p:tav>
                                      </p:tavLst>
                                    </p:anim>
                                    <p:anim calcmode="lin" valueType="num">
                                      <p:cBhvr additive="base">
                                        <p:cTn id="8" dur="500" fill="hold"/>
                                        <p:tgtEl>
                                          <p:spTgt spid="348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66" name="组合 11"/>
          <p:cNvGrpSpPr/>
          <p:nvPr/>
        </p:nvGrpSpPr>
        <p:grpSpPr>
          <a:xfrm>
            <a:off x="484505" y="1287780"/>
            <a:ext cx="8417560" cy="2681234"/>
            <a:chOff x="0" y="0"/>
            <a:chExt cx="8148637" cy="2681506"/>
          </a:xfrm>
        </p:grpSpPr>
        <p:sp>
          <p:nvSpPr>
            <p:cNvPr id="40962" name="Text Box 9"/>
            <p:cNvSpPr txBox="1"/>
            <p:nvPr/>
          </p:nvSpPr>
          <p:spPr>
            <a:xfrm>
              <a:off x="122237" y="522287"/>
              <a:ext cx="8026400" cy="2159219"/>
            </a:xfrm>
            <a:prstGeom prst="rect">
              <a:avLst/>
            </a:prstGeom>
            <a:noFill/>
            <a:ln w="9525">
              <a:noFill/>
            </a:ln>
          </p:spPr>
          <p:txBody>
            <a:bodyPr anchor="t">
              <a:spAutoFit/>
            </a:bodyPr>
            <a:lstStyle/>
            <a:p>
              <a:pPr lvl="0" indent="0">
                <a:lnSpc>
                  <a:spcPct val="110000"/>
                </a:lnSpc>
                <a:spcBef>
                  <a:spcPts val="300"/>
                </a:spcBef>
                <a:buNone/>
              </a:pPr>
              <a:r>
                <a:rPr lang="en-US" altLang="x-none" sz="2400" dirty="0">
                  <a:latin typeface="楷体" panose="02010609060101010101" pitchFamily="1" charset="-122"/>
                  <a:ea typeface="楷体" panose="02010609060101010101" pitchFamily="1" charset="-122"/>
                </a:rPr>
                <a:t>--</a:t>
              </a:r>
              <a:r>
                <a:rPr lang="zh-CN" altLang="en-US" sz="2400" u="sng" dirty="0">
                  <a:solidFill>
                    <a:srgbClr val="0033CC"/>
                  </a:solidFill>
                  <a:latin typeface="楷体" panose="02010609060101010101" pitchFamily="1" charset="-122"/>
                  <a:ea typeface="楷体" panose="02010609060101010101" pitchFamily="1" charset="-122"/>
                </a:rPr>
                <a:t>数据的安全性是对访问数据的用户进行授权，没有得到授权的用户不能访问系统的数据，得到授权的用户只能访问其授权对应的数据。</a:t>
              </a:r>
              <a:endParaRPr lang="en-US" altLang="x-none" sz="2400" u="sng" dirty="0">
                <a:solidFill>
                  <a:srgbClr val="0033CC"/>
                </a:solidFill>
                <a:latin typeface="楷体" panose="02010609060101010101" pitchFamily="1" charset="-122"/>
                <a:ea typeface="楷体" panose="02010609060101010101" pitchFamily="1" charset="-122"/>
              </a:endParaRPr>
            </a:p>
            <a:p>
              <a:pPr lvl="0" indent="0">
                <a:lnSpc>
                  <a:spcPct val="110000"/>
                </a:lnSpc>
                <a:spcBef>
                  <a:spcPts val="300"/>
                </a:spcBef>
                <a:buNone/>
              </a:pP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文件系统必须做很大的改进，以满足数据安全的要求，如不同用户的授权问题等。</a:t>
              </a:r>
              <a:endParaRPr lang="en-US" altLang="x-none" sz="2400" dirty="0">
                <a:latin typeface="楷体" panose="02010609060101010101" pitchFamily="1" charset="-122"/>
                <a:ea typeface="楷体" panose="02010609060101010101" pitchFamily="1" charset="-122"/>
              </a:endParaRPr>
            </a:p>
          </p:txBody>
        </p:sp>
        <p:sp>
          <p:nvSpPr>
            <p:cNvPr id="40963" name="Text Box 6"/>
            <p:cNvSpPr txBox="1"/>
            <p:nvPr/>
          </p:nvSpPr>
          <p:spPr>
            <a:xfrm>
              <a:off x="0" y="0"/>
              <a:ext cx="8054975" cy="589340"/>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400" dirty="0">
                  <a:solidFill>
                    <a:srgbClr val="FF0000"/>
                  </a:solidFill>
                  <a:latin typeface="Arial" panose="020B0604020202020204" pitchFamily="34" charset="0"/>
                  <a:ea typeface="宋体" panose="02010600030101010101" pitchFamily="2" charset="-122"/>
                </a:rPr>
                <a:t>安全性（</a:t>
              </a:r>
              <a:r>
                <a:rPr lang="en-US" altLang="x-none" sz="2400" dirty="0">
                  <a:solidFill>
                    <a:srgbClr val="FF0000"/>
                  </a:solidFill>
                  <a:latin typeface="Arial" panose="020B0604020202020204" pitchFamily="34" charset="0"/>
                  <a:ea typeface="宋体" panose="02010600030101010101" pitchFamily="2" charset="-122"/>
                </a:rPr>
                <a:t>Security</a:t>
              </a:r>
              <a:r>
                <a:rPr lang="zh-CN" altLang="en-US" sz="2400" dirty="0">
                  <a:solidFill>
                    <a:srgbClr val="FF0000"/>
                  </a:solidFill>
                  <a:latin typeface="Arial" panose="020B0604020202020204" pitchFamily="34" charset="0"/>
                  <a:ea typeface="宋体" panose="02010600030101010101" pitchFamily="2" charset="-122"/>
                </a:rPr>
                <a:t>）</a:t>
              </a:r>
              <a:endParaRPr lang="zh-CN" altLang="en-US" sz="2400" dirty="0">
                <a:solidFill>
                  <a:srgbClr val="FF0000"/>
                </a:solidFill>
                <a:latin typeface="Arial" panose="020B0604020202020204" pitchFamily="34" charset="0"/>
                <a:ea typeface="宋体" panose="02010600030101010101" pitchFamily="2" charset="-122"/>
              </a:endParaRPr>
            </a:p>
          </p:txBody>
        </p:sp>
      </p:grpSp>
      <p:grpSp>
        <p:nvGrpSpPr>
          <p:cNvPr id="36869" name="组合 12"/>
          <p:cNvGrpSpPr/>
          <p:nvPr/>
        </p:nvGrpSpPr>
        <p:grpSpPr>
          <a:xfrm>
            <a:off x="471488" y="3790950"/>
            <a:ext cx="8672512" cy="2239963"/>
            <a:chOff x="0" y="0"/>
            <a:chExt cx="8672512" cy="2240604"/>
          </a:xfrm>
        </p:grpSpPr>
        <p:sp>
          <p:nvSpPr>
            <p:cNvPr id="40965" name="Text Box 6"/>
            <p:cNvSpPr txBox="1"/>
            <p:nvPr/>
          </p:nvSpPr>
          <p:spPr>
            <a:xfrm>
              <a:off x="0" y="0"/>
              <a:ext cx="8054975" cy="590550"/>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en-US" altLang="x-none" sz="2400" dirty="0">
                  <a:solidFill>
                    <a:srgbClr val="FF0000"/>
                  </a:solidFill>
                  <a:latin typeface="Arial" panose="020B0604020202020204" pitchFamily="34" charset="0"/>
                  <a:ea typeface="宋体" panose="02010600030101010101" pitchFamily="2" charset="-122"/>
                </a:rPr>
                <a:t> </a:t>
              </a:r>
              <a:r>
                <a:rPr lang="zh-CN" altLang="en-US" sz="2400" dirty="0">
                  <a:solidFill>
                    <a:srgbClr val="FF0000"/>
                  </a:solidFill>
                  <a:latin typeface="Arial" panose="020B0604020202020204" pitchFamily="34" charset="0"/>
                  <a:ea typeface="宋体" panose="02010600030101010101" pitchFamily="2" charset="-122"/>
                </a:rPr>
                <a:t>数据的完整性（</a:t>
              </a:r>
              <a:r>
                <a:rPr lang="en-US" altLang="x-none" sz="2400" dirty="0">
                  <a:solidFill>
                    <a:srgbClr val="FF0000"/>
                  </a:solidFill>
                  <a:latin typeface="Arial" panose="020B0604020202020204" pitchFamily="34" charset="0"/>
                  <a:ea typeface="宋体" panose="02010600030101010101" pitchFamily="2" charset="-122"/>
                </a:rPr>
                <a:t>Integrity</a:t>
              </a:r>
              <a:r>
                <a:rPr lang="zh-CN" altLang="en-US" sz="2400" dirty="0">
                  <a:solidFill>
                    <a:srgbClr val="FF0000"/>
                  </a:solidFill>
                  <a:latin typeface="Arial" panose="020B0604020202020204" pitchFamily="34" charset="0"/>
                  <a:ea typeface="宋体" panose="02010600030101010101" pitchFamily="2" charset="-122"/>
                </a:rPr>
                <a:t>）</a:t>
              </a:r>
              <a:endParaRPr lang="zh-CN" altLang="en-US" sz="2400" dirty="0">
                <a:solidFill>
                  <a:srgbClr val="FF0000"/>
                </a:solidFill>
                <a:latin typeface="Arial" panose="020B0604020202020204" pitchFamily="34" charset="0"/>
                <a:ea typeface="宋体" panose="02010600030101010101" pitchFamily="2" charset="-122"/>
              </a:endParaRPr>
            </a:p>
          </p:txBody>
        </p:sp>
        <p:sp>
          <p:nvSpPr>
            <p:cNvPr id="40966" name="Text Box 9"/>
            <p:cNvSpPr txBox="1"/>
            <p:nvPr/>
          </p:nvSpPr>
          <p:spPr>
            <a:xfrm>
              <a:off x="22225" y="552450"/>
              <a:ext cx="8650287" cy="1688154"/>
            </a:xfrm>
            <a:prstGeom prst="rect">
              <a:avLst/>
            </a:prstGeom>
            <a:noFill/>
            <a:ln w="9525">
              <a:noFill/>
            </a:ln>
          </p:spPr>
          <p:txBody>
            <a:bodyPr anchor="t">
              <a:spAutoFit/>
            </a:bodyPr>
            <a:lstStyle/>
            <a:p>
              <a:pPr lvl="0" indent="0">
                <a:lnSpc>
                  <a:spcPct val="110000"/>
                </a:lnSpc>
                <a:spcBef>
                  <a:spcPts val="300"/>
                </a:spcBef>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同一数据可能出现在多个数据结构中，对应出现在多个数据文件中。</a:t>
              </a:r>
              <a:endParaRPr lang="en-US" altLang="x-none" sz="2200" dirty="0">
                <a:latin typeface="楷体" panose="02010609060101010101" pitchFamily="1" charset="-122"/>
                <a:ea typeface="楷体" panose="02010609060101010101" pitchFamily="1" charset="-122"/>
              </a:endParaRPr>
            </a:p>
            <a:p>
              <a:pPr lvl="0" indent="0">
                <a:lnSpc>
                  <a:spcPct val="110000"/>
                </a:lnSpc>
                <a:spcBef>
                  <a:spcPts val="300"/>
                </a:spcBef>
                <a:buNone/>
              </a:pPr>
              <a:r>
                <a:rPr lang="en-US" altLang="x-none" sz="2200" dirty="0">
                  <a:latin typeface="楷体" panose="02010609060101010101" pitchFamily="1" charset="-122"/>
                  <a:ea typeface="楷体" panose="02010609060101010101" pitchFamily="1" charset="-122"/>
                </a:rPr>
                <a:t>--</a:t>
              </a:r>
              <a:r>
                <a:rPr lang="zh-CN" altLang="en-US" sz="2400" u="sng" dirty="0">
                  <a:solidFill>
                    <a:srgbClr val="0033CC"/>
                  </a:solidFill>
                  <a:latin typeface="楷体" panose="02010609060101010101" pitchFamily="1" charset="-122"/>
                  <a:ea typeface="楷体" panose="02010609060101010101" pitchFamily="1" charset="-122"/>
                </a:rPr>
                <a:t>修改一个文件的一个数据，必须同时修改其他文件中相同的数据。</a:t>
              </a:r>
              <a:r>
                <a:rPr lang="zh-CN" altLang="en-US" sz="2200" dirty="0">
                  <a:latin typeface="楷体" panose="02010609060101010101" pitchFamily="1" charset="-122"/>
                  <a:ea typeface="楷体" panose="02010609060101010101" pitchFamily="1" charset="-122"/>
                </a:rPr>
                <a:t>假如由于某种原因要修改某学生的学号，若该学生已经选课，若不对其对应的选课中的学号同时进行修改，就会造成数据的不一致。</a:t>
              </a:r>
              <a:endParaRPr lang="en-US" altLang="x-none" sz="2200" dirty="0">
                <a:latin typeface="楷体" panose="02010609060101010101" pitchFamily="1" charset="-122"/>
                <a:ea typeface="楷体" panose="02010609060101010101" pitchFamily="1" charset="-122"/>
              </a:endParaRPr>
            </a:p>
          </p:txBody>
        </p:sp>
      </p:grpSp>
      <p:sp>
        <p:nvSpPr>
          <p:cNvPr id="40967" name="Rectangle 2"/>
          <p:cNvSpPr/>
          <p:nvPr/>
        </p:nvSpPr>
        <p:spPr>
          <a:xfrm>
            <a:off x="500063" y="750888"/>
            <a:ext cx="710565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文件系统的缺陷（</a:t>
            </a:r>
            <a:r>
              <a:rPr lang="en-US" altLang="x-none" sz="2800" dirty="0">
                <a:solidFill>
                  <a:srgbClr val="3333CC"/>
                </a:solidFill>
                <a:latin typeface="Arial" panose="020B0604020202020204" pitchFamily="34" charset="0"/>
                <a:ea typeface="黑体" panose="02010609060101010101" pitchFamily="1" charset="-122"/>
              </a:rPr>
              <a:t>3</a:t>
            </a:r>
            <a:r>
              <a:rPr lang="zh-CN" altLang="en-US" sz="2800" dirty="0">
                <a:solidFill>
                  <a:srgbClr val="3333CC"/>
                </a:solidFill>
                <a:latin typeface="Arial" panose="020B0604020202020204" pitchFamily="34" charset="0"/>
                <a:ea typeface="黑体" panose="02010609060101010101" pitchFamily="1" charset="-122"/>
              </a:rPr>
              <a:t>）</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3687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866"/>
                                        </p:tgtEl>
                                        <p:attrNameLst>
                                          <p:attrName>style.visibility</p:attrName>
                                        </p:attrNameLst>
                                      </p:cBhvr>
                                      <p:to>
                                        <p:strVal val="visible"/>
                                      </p:to>
                                    </p:set>
                                    <p:anim calcmode="lin" valueType="num">
                                      <p:cBhvr additive="base">
                                        <p:cTn id="7" dur="500" fill="hold"/>
                                        <p:tgtEl>
                                          <p:spTgt spid="36866"/>
                                        </p:tgtEl>
                                        <p:attrNameLst>
                                          <p:attrName>ppt_x</p:attrName>
                                        </p:attrNameLst>
                                      </p:cBhvr>
                                      <p:tavLst>
                                        <p:tav tm="0">
                                          <p:val>
                                            <p:strVal val="#ppt_x"/>
                                          </p:val>
                                        </p:tav>
                                        <p:tav tm="100000">
                                          <p:val>
                                            <p:strVal val="#ppt_x"/>
                                          </p:val>
                                        </p:tav>
                                      </p:tavLst>
                                    </p:anim>
                                    <p:anim calcmode="lin" valueType="num">
                                      <p:cBhvr additive="base">
                                        <p:cTn id="8" dur="500" fill="hold"/>
                                        <p:tgtEl>
                                          <p:spTgt spid="368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869"/>
                                        </p:tgtEl>
                                        <p:attrNameLst>
                                          <p:attrName>style.visibility</p:attrName>
                                        </p:attrNameLst>
                                      </p:cBhvr>
                                      <p:to>
                                        <p:strVal val="visible"/>
                                      </p:to>
                                    </p:set>
                                    <p:anim calcmode="lin" valueType="num">
                                      <p:cBhvr additive="base">
                                        <p:cTn id="13" dur="500" fill="hold"/>
                                        <p:tgtEl>
                                          <p:spTgt spid="36869"/>
                                        </p:tgtEl>
                                        <p:attrNameLst>
                                          <p:attrName>ppt_x</p:attrName>
                                        </p:attrNameLst>
                                      </p:cBhvr>
                                      <p:tavLst>
                                        <p:tav tm="0">
                                          <p:val>
                                            <p:strVal val="#ppt_x"/>
                                          </p:val>
                                        </p:tav>
                                        <p:tav tm="100000">
                                          <p:val>
                                            <p:strVal val="#ppt_x"/>
                                          </p:val>
                                        </p:tav>
                                      </p:tavLst>
                                    </p:anim>
                                    <p:anim calcmode="lin" valueType="num">
                                      <p:cBhvr additive="base">
                                        <p:cTn id="14" dur="500" fill="hold"/>
                                        <p:tgtEl>
                                          <p:spTgt spid="368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p:cNvPicPr>
          <p:nvPr/>
        </p:nvPicPr>
        <p:blipFill>
          <a:blip r:embed="rId1" cstate="print"/>
          <a:stretch>
            <a:fillRect/>
          </a:stretch>
        </p:blipFill>
        <p:spPr>
          <a:xfrm>
            <a:off x="500063" y="1359853"/>
            <a:ext cx="4780076" cy="4284000"/>
          </a:xfrm>
          <a:prstGeom prst="rect">
            <a:avLst/>
          </a:prstGeom>
          <a:noFill/>
          <a:ln w="9525">
            <a:noFill/>
          </a:ln>
        </p:spPr>
      </p:pic>
      <p:sp>
        <p:nvSpPr>
          <p:cNvPr id="41987" name="AutoShape 14"/>
          <p:cNvSpPr/>
          <p:nvPr/>
        </p:nvSpPr>
        <p:spPr>
          <a:xfrm>
            <a:off x="5522913" y="1346200"/>
            <a:ext cx="3297237" cy="723900"/>
          </a:xfrm>
          <a:prstGeom prst="roundRect">
            <a:avLst>
              <a:gd name="adj" fmla="val 16667"/>
            </a:avLst>
          </a:prstGeom>
          <a:solidFill>
            <a:srgbClr val="9ED3D7"/>
          </a:solidFill>
          <a:ln w="19050" cap="rnd" cmpd="sng">
            <a:solidFill>
              <a:schemeClr val="bg2"/>
            </a:solidFill>
            <a:prstDash val="sysDot"/>
            <a:round/>
            <a:headEnd type="none" w="med" len="med"/>
            <a:tailEnd type="none" w="med" len="med"/>
          </a:ln>
        </p:spPr>
        <p:txBody>
          <a:bodyPr wrap="none" anchor="ctr"/>
          <a:lstStyle/>
          <a:p>
            <a:pPr lvl="0" indent="0" algn="ctr">
              <a:lnSpc>
                <a:spcPct val="100000"/>
              </a:lnSpc>
              <a:buNone/>
            </a:pPr>
            <a:r>
              <a:rPr lang="zh-CN" altLang="en-US" sz="2800" dirty="0">
                <a:solidFill>
                  <a:srgbClr val="FF0000"/>
                </a:solidFill>
                <a:latin typeface="Arial" panose="020B0604020202020204" pitchFamily="34" charset="0"/>
                <a:ea typeface="黑体" panose="02010609060101010101" pitchFamily="1" charset="-122"/>
              </a:rPr>
              <a:t>这些问题如何解决？</a:t>
            </a:r>
            <a:endParaRPr lang="zh-CN" altLang="en-US" sz="2800" dirty="0">
              <a:solidFill>
                <a:srgbClr val="FF0000"/>
              </a:solidFill>
              <a:latin typeface="Arial" panose="020B0604020202020204" pitchFamily="34" charset="0"/>
              <a:ea typeface="黑体" panose="02010609060101010101" pitchFamily="1" charset="-122"/>
            </a:endParaRPr>
          </a:p>
        </p:txBody>
      </p:sp>
      <p:sp>
        <p:nvSpPr>
          <p:cNvPr id="37893" name="Text Box 9"/>
          <p:cNvSpPr txBox="1"/>
          <p:nvPr/>
        </p:nvSpPr>
        <p:spPr>
          <a:xfrm>
            <a:off x="5378450" y="2070100"/>
            <a:ext cx="3649663" cy="1603375"/>
          </a:xfrm>
          <a:prstGeom prst="rect">
            <a:avLst/>
          </a:prstGeom>
          <a:noFill/>
          <a:ln w="9525">
            <a:noFill/>
          </a:ln>
        </p:spPr>
        <p:txBody>
          <a:bodyPr wrap="square" anchor="t">
            <a:spAutoFit/>
          </a:bodyPr>
          <a:lstStyle/>
          <a:p>
            <a:pPr lvl="0" indent="0">
              <a:lnSpc>
                <a:spcPct val="110000"/>
              </a:lnSpc>
              <a:spcBef>
                <a:spcPts val="300"/>
              </a:spcBef>
              <a:buNone/>
            </a:pPr>
            <a:r>
              <a:rPr lang="en-US" altLang="x-none"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加入大量的代码改写程序？如并发访问加数据锁？安全性加授权访问代码？</a:t>
            </a:r>
            <a:endParaRPr lang="en-US" altLang="x-none" sz="2200" b="0" dirty="0">
              <a:latin typeface="楷体" panose="02010609060101010101" pitchFamily="1" charset="-122"/>
              <a:ea typeface="楷体" panose="02010609060101010101" pitchFamily="1" charset="-122"/>
            </a:endParaRPr>
          </a:p>
          <a:p>
            <a:pPr lvl="0" indent="0">
              <a:lnSpc>
                <a:spcPct val="110000"/>
              </a:lnSpc>
              <a:spcBef>
                <a:spcPts val="300"/>
              </a:spcBef>
              <a:buNone/>
            </a:pPr>
            <a:endParaRPr lang="zh-CN" altLang="en-US" sz="2200" b="0" dirty="0">
              <a:latin typeface="楷体" panose="02010609060101010101" pitchFamily="1" charset="-122"/>
              <a:ea typeface="楷体" panose="02010609060101010101" pitchFamily="1" charset="-122"/>
            </a:endParaRPr>
          </a:p>
        </p:txBody>
      </p:sp>
      <p:sp>
        <p:nvSpPr>
          <p:cNvPr id="41989" name="Rectangle 2"/>
          <p:cNvSpPr/>
          <p:nvPr/>
        </p:nvSpPr>
        <p:spPr>
          <a:xfrm>
            <a:off x="500063" y="750888"/>
            <a:ext cx="710565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文件系统的缺陷（</a:t>
            </a:r>
            <a:r>
              <a:rPr lang="en-US" altLang="x-none" sz="2800" dirty="0">
                <a:solidFill>
                  <a:srgbClr val="3333CC"/>
                </a:solidFill>
                <a:latin typeface="Arial" panose="020B0604020202020204" pitchFamily="34" charset="0"/>
                <a:ea typeface="黑体" panose="02010609060101010101" pitchFamily="1" charset="-122"/>
              </a:rPr>
              <a:t>4</a:t>
            </a:r>
            <a:r>
              <a:rPr lang="zh-CN" altLang="en-US" sz="2800" dirty="0">
                <a:solidFill>
                  <a:srgbClr val="3333CC"/>
                </a:solidFill>
                <a:latin typeface="Arial" panose="020B0604020202020204" pitchFamily="34" charset="0"/>
                <a:ea typeface="黑体" panose="02010609060101010101" pitchFamily="1" charset="-122"/>
              </a:rPr>
              <a:t>）</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41990" name="AutoShape 14"/>
          <p:cNvSpPr/>
          <p:nvPr/>
        </p:nvSpPr>
        <p:spPr>
          <a:xfrm>
            <a:off x="5522913" y="3463925"/>
            <a:ext cx="3297237" cy="936625"/>
          </a:xfrm>
          <a:prstGeom prst="roundRect">
            <a:avLst>
              <a:gd name="adj" fmla="val 16667"/>
            </a:avLst>
          </a:prstGeom>
          <a:solidFill>
            <a:srgbClr val="9ED3D7"/>
          </a:solidFill>
          <a:ln w="19050" cap="rnd" cmpd="sng">
            <a:solidFill>
              <a:schemeClr val="bg2"/>
            </a:solidFill>
            <a:prstDash val="sysDot"/>
            <a:round/>
            <a:headEnd type="none" w="med" len="med"/>
            <a:tailEnd type="none" w="med" len="med"/>
          </a:ln>
        </p:spPr>
        <p:txBody>
          <a:bodyPr wrap="none" anchor="ctr"/>
          <a:lstStyle/>
          <a:p>
            <a:pPr lvl="0" indent="0" algn="ctr">
              <a:lnSpc>
                <a:spcPct val="100000"/>
              </a:lnSpc>
              <a:buNone/>
            </a:pPr>
            <a:r>
              <a:rPr lang="zh-CN" altLang="en-US" sz="2800" dirty="0">
                <a:solidFill>
                  <a:srgbClr val="FF0000"/>
                </a:solidFill>
                <a:latin typeface="Arial" panose="020B0604020202020204" pitchFamily="34" charset="0"/>
                <a:ea typeface="黑体" panose="02010609060101010101" pitchFamily="1" charset="-122"/>
              </a:rPr>
              <a:t>所有的信息系统都</a:t>
            </a:r>
            <a:endParaRPr lang="en-US" altLang="x-none" sz="2800" dirty="0">
              <a:solidFill>
                <a:srgbClr val="FF0000"/>
              </a:solidFill>
              <a:latin typeface="Arial" panose="020B0604020202020204" pitchFamily="34" charset="0"/>
              <a:ea typeface="黑体" panose="02010609060101010101" pitchFamily="1" charset="-122"/>
            </a:endParaRPr>
          </a:p>
          <a:p>
            <a:pPr lvl="0" indent="0" algn="ctr">
              <a:lnSpc>
                <a:spcPct val="100000"/>
              </a:lnSpc>
              <a:buNone/>
            </a:pPr>
            <a:r>
              <a:rPr lang="zh-CN" altLang="en-US" sz="2800" dirty="0">
                <a:solidFill>
                  <a:srgbClr val="FF0000"/>
                </a:solidFill>
                <a:latin typeface="Arial" panose="020B0604020202020204" pitchFamily="34" charset="0"/>
                <a:ea typeface="黑体" panose="02010609060101010101" pitchFamily="1" charset="-122"/>
              </a:rPr>
              <a:t>有这些问题？</a:t>
            </a:r>
            <a:endParaRPr lang="zh-CN" altLang="en-US" sz="2800" dirty="0">
              <a:solidFill>
                <a:srgbClr val="FF0000"/>
              </a:solidFill>
              <a:latin typeface="Arial" panose="020B0604020202020204" pitchFamily="34" charset="0"/>
              <a:ea typeface="黑体" panose="02010609060101010101" pitchFamily="1" charset="-122"/>
            </a:endParaRPr>
          </a:p>
        </p:txBody>
      </p:sp>
      <p:sp>
        <p:nvSpPr>
          <p:cNvPr id="37896" name="Text Box 9"/>
          <p:cNvSpPr txBox="1"/>
          <p:nvPr/>
        </p:nvSpPr>
        <p:spPr>
          <a:xfrm>
            <a:off x="5522913" y="4524375"/>
            <a:ext cx="3200400" cy="1235075"/>
          </a:xfrm>
          <a:prstGeom prst="rect">
            <a:avLst/>
          </a:prstGeom>
          <a:noFill/>
          <a:ln w="9525">
            <a:noFill/>
          </a:ln>
        </p:spPr>
        <p:txBody>
          <a:bodyPr wrap="square" anchor="t">
            <a:spAutoFit/>
          </a:bodyPr>
          <a:lstStyle/>
          <a:p>
            <a:pPr lvl="0" indent="0">
              <a:lnSpc>
                <a:spcPct val="110000"/>
              </a:lnSpc>
              <a:spcBef>
                <a:spcPts val="300"/>
              </a:spcBef>
              <a:buNone/>
            </a:pPr>
            <a:r>
              <a:rPr lang="en-US" altLang="x-none"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新的技术领域？</a:t>
            </a:r>
            <a:endParaRPr lang="en-US" altLang="x-none" sz="2200" b="0" dirty="0">
              <a:latin typeface="楷体" panose="02010609060101010101" pitchFamily="1" charset="-122"/>
              <a:ea typeface="楷体" panose="02010609060101010101" pitchFamily="1" charset="-122"/>
            </a:endParaRPr>
          </a:p>
          <a:p>
            <a:pPr lvl="0" indent="0">
              <a:lnSpc>
                <a:spcPct val="110000"/>
              </a:lnSpc>
              <a:spcBef>
                <a:spcPts val="300"/>
              </a:spcBef>
              <a:buNone/>
            </a:pPr>
            <a:r>
              <a:rPr lang="en-US" altLang="x-none"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公共问题？新产品？    无限商机？</a:t>
            </a:r>
            <a:endParaRPr lang="zh-CN" altLang="en-US" sz="2200" b="0" dirty="0">
              <a:latin typeface="楷体" panose="02010609060101010101" pitchFamily="1" charset="-122"/>
              <a:ea typeface="楷体" panose="02010609060101010101" pitchFamily="1" charset="-122"/>
            </a:endParaRPr>
          </a:p>
        </p:txBody>
      </p:sp>
      <p:sp>
        <p:nvSpPr>
          <p:cNvPr id="41992" name="文本框 1"/>
          <p:cNvSpPr txBox="1"/>
          <p:nvPr/>
        </p:nvSpPr>
        <p:spPr>
          <a:xfrm>
            <a:off x="500063" y="5643563"/>
            <a:ext cx="8528050" cy="749300"/>
          </a:xfrm>
          <a:prstGeom prst="rect">
            <a:avLst/>
          </a:prstGeom>
          <a:noFill/>
          <a:ln w="9525">
            <a:noFill/>
          </a:ln>
        </p:spPr>
        <p:txBody>
          <a:bodyPr wrap="square" anchor="t">
            <a:spAutoFit/>
          </a:bodyPr>
          <a:lstStyle/>
          <a:p>
            <a:pPr lvl="0" indent="0">
              <a:lnSpc>
                <a:spcPct val="120000"/>
              </a:lnSpc>
            </a:pPr>
            <a:r>
              <a:rPr lang="zh-CN" altLang="en-US" i="1" dirty="0">
                <a:latin typeface="宋体" panose="02010600030101010101" pitchFamily="2" charset="-122"/>
                <a:ea typeface="宋体" panose="02010600030101010101" pitchFamily="2" charset="-122"/>
              </a:rPr>
              <a:t>IBM公司研究员</a:t>
            </a:r>
            <a:r>
              <a:rPr lang="de-DE" altLang="en-US" i="1" dirty="0">
                <a:latin typeface="宋体" panose="02010600030101010101" pitchFamily="2" charset="-122"/>
                <a:ea typeface="宋体" panose="02010600030101010101" pitchFamily="2" charset="-122"/>
              </a:rPr>
              <a:t>E.F.Codd、</a:t>
            </a:r>
            <a:r>
              <a:rPr lang="zh-CN" altLang="en-US" i="1" dirty="0">
                <a:latin typeface="宋体" panose="02010600030101010101" pitchFamily="2" charset="-122"/>
                <a:ea typeface="宋体" panose="02010600030101010101" pitchFamily="2" charset="-122"/>
              </a:rPr>
              <a:t>James Gray</a:t>
            </a:r>
            <a:endParaRPr lang="zh-CN" altLang="en-US" i="1" dirty="0">
              <a:latin typeface="宋体" panose="02010600030101010101" pitchFamily="2" charset="-122"/>
              <a:ea typeface="宋体" panose="02010600030101010101" pitchFamily="2" charset="-122"/>
            </a:endParaRPr>
          </a:p>
          <a:p>
            <a:pPr lvl="0" indent="0">
              <a:lnSpc>
                <a:spcPct val="120000"/>
              </a:lnSpc>
            </a:pPr>
            <a:r>
              <a:rPr lang="zh-CN" altLang="en-US" i="1" dirty="0">
                <a:latin typeface="宋体" panose="02010600030101010101" pitchFamily="2" charset="-122"/>
                <a:ea typeface="宋体" panose="02010600030101010101" pitchFamily="2" charset="-122"/>
              </a:rPr>
              <a:t>美国通用电气公司的</a:t>
            </a:r>
            <a:r>
              <a:rPr lang="zh-CN" altLang="en-US" i="1" dirty="0">
                <a:latin typeface="Arial" panose="020B0604020202020204" pitchFamily="34" charset="0"/>
                <a:ea typeface="宋体" panose="02010600030101010101" pitchFamily="2" charset="-122"/>
              </a:rPr>
              <a:t>Charles W. Bachman</a:t>
            </a:r>
            <a:r>
              <a:rPr lang="zh-CN" altLang="en-US" dirty="0">
                <a:latin typeface="Arial" panose="020B0604020202020204" pitchFamily="34" charset="0"/>
                <a:ea typeface="宋体" panose="02010600030101010101" pitchFamily="2" charset="-122"/>
              </a:rPr>
              <a:t> </a:t>
            </a:r>
            <a:r>
              <a:rPr lang="zh-CN" altLang="en-US" i="1" dirty="0">
                <a:latin typeface="Arial" panose="020B0604020202020204" pitchFamily="34" charset="0"/>
                <a:ea typeface="宋体" panose="02010600030101010101" pitchFamily="2" charset="-122"/>
              </a:rPr>
              <a:t>、甲骨文公司的创始人</a:t>
            </a:r>
            <a:r>
              <a:rPr lang="zh-CN" altLang="en-US" dirty="0">
                <a:latin typeface="Arial" panose="020B0604020202020204" pitchFamily="34" charset="0"/>
                <a:ea typeface="宋体" panose="02010600030101010101" pitchFamily="2" charset="-122"/>
              </a:rPr>
              <a:t>Larry Ellison</a:t>
            </a:r>
            <a:endParaRPr lang="zh-CN" altLang="en-US">
              <a:latin typeface="Arial" panose="020B0604020202020204" pitchFamily="34" charset="0"/>
              <a:ea typeface="宋体" panose="02010600030101010101" pitchFamily="2" charset="-122"/>
            </a:endParaRPr>
          </a:p>
        </p:txBody>
      </p:sp>
      <p:sp>
        <p:nvSpPr>
          <p:cNvPr id="3687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9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89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19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p:bldP spid="37893" grpId="1"/>
      <p:bldP spid="41990" grpId="0" animBg="1"/>
      <p:bldP spid="37896" grpId="0"/>
      <p:bldP spid="41990" grpId="1" animBg="1"/>
      <p:bldP spid="37896" grpId="1"/>
      <p:bldP spid="41992" grpId="0"/>
      <p:bldP spid="41992"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p:nvPr/>
        </p:nvSpPr>
        <p:spPr>
          <a:xfrm>
            <a:off x="442913" y="793750"/>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数据库管理系统的诞生</a:t>
            </a:r>
            <a:endParaRPr lang="en-US" altLang="x-none" sz="2800" dirty="0">
              <a:solidFill>
                <a:srgbClr val="3333CC"/>
              </a:solidFill>
              <a:latin typeface="Arial" panose="020B0604020202020204" pitchFamily="34" charset="0"/>
              <a:ea typeface="黑体" panose="02010609060101010101" pitchFamily="1" charset="-122"/>
            </a:endParaRPr>
          </a:p>
        </p:txBody>
      </p:sp>
      <p:grpSp>
        <p:nvGrpSpPr>
          <p:cNvPr id="44034" name="组合 3"/>
          <p:cNvGrpSpPr/>
          <p:nvPr/>
        </p:nvGrpSpPr>
        <p:grpSpPr>
          <a:xfrm>
            <a:off x="584200" y="1544638"/>
            <a:ext cx="8051800" cy="3157537"/>
            <a:chOff x="0" y="0"/>
            <a:chExt cx="7772400" cy="3505200"/>
          </a:xfrm>
        </p:grpSpPr>
        <p:sp>
          <p:nvSpPr>
            <p:cNvPr id="44035" name="AutoShape 3"/>
            <p:cNvSpPr/>
            <p:nvPr/>
          </p:nvSpPr>
          <p:spPr>
            <a:xfrm>
              <a:off x="304800" y="2362200"/>
              <a:ext cx="1524000" cy="1066800"/>
            </a:xfrm>
            <a:prstGeom prst="flowChartMultidocument">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r>
                <a:rPr lang="zh-CN" altLang="en-US" sz="2400" dirty="0">
                  <a:solidFill>
                    <a:srgbClr val="000000"/>
                  </a:solidFill>
                  <a:latin typeface="Tahoma" panose="020B0604030504040204" pitchFamily="2" charset="0"/>
                  <a:ea typeface="宋体" panose="02010600030101010101" pitchFamily="2" charset="-122"/>
                </a:rPr>
                <a:t>文件系统</a:t>
              </a:r>
              <a:endParaRPr lang="zh-CN" altLang="en-US" sz="2400" dirty="0">
                <a:solidFill>
                  <a:srgbClr val="000000"/>
                </a:solidFill>
                <a:latin typeface="Tahoma" panose="020B0604030504040204" pitchFamily="2" charset="0"/>
                <a:ea typeface="宋体" panose="02010600030101010101" pitchFamily="2" charset="-122"/>
              </a:endParaRPr>
            </a:p>
          </p:txBody>
        </p:sp>
        <p:sp>
          <p:nvSpPr>
            <p:cNvPr id="44036" name="Rectangle 4"/>
            <p:cNvSpPr/>
            <p:nvPr/>
          </p:nvSpPr>
          <p:spPr>
            <a:xfrm>
              <a:off x="2438400" y="0"/>
              <a:ext cx="2590800" cy="685800"/>
            </a:xfrm>
            <a:prstGeom prst="rect">
              <a:avLst/>
            </a:prstGeom>
            <a:solidFill>
              <a:srgbClr val="339933"/>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800" dirty="0">
                  <a:solidFill>
                    <a:schemeClr val="bg1"/>
                  </a:solidFill>
                  <a:latin typeface="宋体" panose="02010600030101010101" pitchFamily="2" charset="-122"/>
                  <a:ea typeface="宋体" panose="02010600030101010101" pitchFamily="2" charset="-122"/>
                </a:rPr>
                <a:t>管理应用系统</a:t>
              </a:r>
              <a:endParaRPr lang="zh-CN" altLang="en-US" sz="2800" dirty="0">
                <a:solidFill>
                  <a:schemeClr val="bg1"/>
                </a:solidFill>
                <a:latin typeface="宋体" panose="02010600030101010101" pitchFamily="2" charset="-122"/>
                <a:ea typeface="宋体" panose="02010600030101010101" pitchFamily="2" charset="-122"/>
              </a:endParaRPr>
            </a:p>
          </p:txBody>
        </p:sp>
        <p:sp>
          <p:nvSpPr>
            <p:cNvPr id="44037" name="AutoShape 5"/>
            <p:cNvSpPr/>
            <p:nvPr/>
          </p:nvSpPr>
          <p:spPr>
            <a:xfrm>
              <a:off x="6096000" y="2590800"/>
              <a:ext cx="1295400" cy="914400"/>
            </a:xfrm>
            <a:prstGeom prst="flowChartMagneticDisk">
              <a:avLst/>
            </a:prstGeom>
            <a:solidFill>
              <a:srgbClr val="FFD2CD"/>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0000"/>
                  </a:solidFill>
                  <a:latin typeface="Tahoma" panose="020B0604030504040204" pitchFamily="2" charset="0"/>
                  <a:ea typeface="宋体" panose="02010600030101010101" pitchFamily="2" charset="-122"/>
                </a:rPr>
                <a:t>数据库</a:t>
              </a:r>
              <a:endParaRPr lang="zh-CN" altLang="en-US" sz="2400" dirty="0">
                <a:solidFill>
                  <a:srgbClr val="000000"/>
                </a:solidFill>
                <a:latin typeface="Tahoma" panose="020B0604030504040204" pitchFamily="2" charset="0"/>
                <a:ea typeface="宋体" panose="02010600030101010101" pitchFamily="2" charset="-122"/>
              </a:endParaRPr>
            </a:p>
          </p:txBody>
        </p:sp>
        <p:sp>
          <p:nvSpPr>
            <p:cNvPr id="44038" name="AutoShape 6"/>
            <p:cNvSpPr/>
            <p:nvPr/>
          </p:nvSpPr>
          <p:spPr>
            <a:xfrm>
              <a:off x="5638800" y="1143000"/>
              <a:ext cx="2133600" cy="990600"/>
            </a:xfrm>
            <a:prstGeom prst="flowChartAlternateProcess">
              <a:avLst/>
            </a:prstGeom>
            <a:solidFill>
              <a:srgbClr val="A2E48A"/>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000" dirty="0">
                  <a:solidFill>
                    <a:srgbClr val="000000"/>
                  </a:solidFill>
                  <a:latin typeface="Tahoma" panose="020B0604030504040204" pitchFamily="2" charset="0"/>
                  <a:ea typeface="宋体" panose="02010600030101010101" pitchFamily="2" charset="-122"/>
                </a:rPr>
                <a:t>数据库管理系统</a:t>
              </a:r>
              <a:endParaRPr lang="zh-CN" altLang="en-US" sz="2000" dirty="0">
                <a:solidFill>
                  <a:srgbClr val="000000"/>
                </a:solidFill>
                <a:latin typeface="Tahoma" panose="020B0604030504040204" pitchFamily="2" charset="0"/>
                <a:ea typeface="宋体" panose="02010600030101010101" pitchFamily="2" charset="-122"/>
              </a:endParaRPr>
            </a:p>
            <a:p>
              <a:pPr lvl="0" indent="0" algn="ctr">
                <a:buNone/>
              </a:pPr>
              <a:r>
                <a:rPr lang="zh-CN" altLang="en-US" sz="2000" dirty="0">
                  <a:solidFill>
                    <a:srgbClr val="000000"/>
                  </a:solidFill>
                  <a:latin typeface="Tahoma" panose="020B0604030504040204" pitchFamily="2" charset="0"/>
                  <a:ea typeface="宋体" panose="02010600030101010101" pitchFamily="2" charset="-122"/>
                </a:rPr>
                <a:t>（DBMS）</a:t>
              </a:r>
              <a:endParaRPr lang="de-DE" altLang="en-US" sz="2000" dirty="0">
                <a:solidFill>
                  <a:srgbClr val="000000"/>
                </a:solidFill>
                <a:latin typeface="Tahoma" panose="020B0604030504040204" pitchFamily="2" charset="0"/>
                <a:ea typeface="宋体" panose="02010600030101010101" pitchFamily="2" charset="-122"/>
              </a:endParaRPr>
            </a:p>
          </p:txBody>
        </p:sp>
        <p:sp>
          <p:nvSpPr>
            <p:cNvPr id="44039" name="AutoShape 7"/>
            <p:cNvSpPr/>
            <p:nvPr/>
          </p:nvSpPr>
          <p:spPr>
            <a:xfrm>
              <a:off x="2362200" y="838200"/>
              <a:ext cx="2438400" cy="1752600"/>
            </a:xfrm>
            <a:prstGeom prst="flowChartPreparation">
              <a:avLst/>
            </a:prstGeom>
            <a:solidFill>
              <a:srgbClr val="0000CC"/>
            </a:solidFill>
            <a:ln w="9525" cap="flat" cmpd="sng">
              <a:solidFill>
                <a:schemeClr val="tx1"/>
              </a:solidFill>
              <a:prstDash val="solid"/>
              <a:miter/>
              <a:headEnd type="none" w="med" len="med"/>
              <a:tailEnd type="none" w="med" len="med"/>
            </a:ln>
          </p:spPr>
          <p:txBody>
            <a:bodyPr wrap="none" anchor="ctr"/>
            <a:lstStyle/>
            <a:p>
              <a:pPr lvl="0" indent="0" algn="ctr"/>
              <a:r>
                <a:rPr lang="zh-CN" altLang="en-US" sz="2000" dirty="0">
                  <a:solidFill>
                    <a:schemeClr val="bg1"/>
                  </a:solidFill>
                  <a:latin typeface="宋体" panose="02010600030101010101" pitchFamily="2" charset="-122"/>
                  <a:ea typeface="宋体" panose="02010600030101010101" pitchFamily="2" charset="-122"/>
                </a:rPr>
                <a:t>大容量数据</a:t>
              </a:r>
              <a:endParaRPr lang="zh-CN" altLang="en-US" sz="2000" dirty="0">
                <a:solidFill>
                  <a:schemeClr val="bg1"/>
                </a:solidFill>
                <a:latin typeface="宋体" panose="02010600030101010101" pitchFamily="2" charset="-122"/>
                <a:ea typeface="宋体" panose="02010600030101010101" pitchFamily="2" charset="-122"/>
              </a:endParaRPr>
            </a:p>
            <a:p>
              <a:pPr lvl="0" indent="0" algn="ctr"/>
              <a:r>
                <a:rPr lang="zh-CN" altLang="en-US" sz="2000" dirty="0">
                  <a:solidFill>
                    <a:schemeClr val="bg1"/>
                  </a:solidFill>
                  <a:latin typeface="宋体" panose="02010600030101010101" pitchFamily="2" charset="-122"/>
                  <a:ea typeface="宋体" panose="02010600030101010101" pitchFamily="2" charset="-122"/>
                </a:rPr>
                <a:t>并发访问</a:t>
              </a:r>
              <a:endParaRPr lang="zh-CN" altLang="en-US" sz="2000" dirty="0">
                <a:solidFill>
                  <a:schemeClr val="bg1"/>
                </a:solidFill>
                <a:latin typeface="宋体" panose="02010600030101010101" pitchFamily="2" charset="-122"/>
                <a:ea typeface="宋体" panose="02010600030101010101" pitchFamily="2" charset="-122"/>
              </a:endParaRPr>
            </a:p>
            <a:p>
              <a:pPr lvl="0" indent="0" algn="ctr"/>
              <a:r>
                <a:rPr lang="zh-CN" altLang="en-US" sz="2000" dirty="0">
                  <a:solidFill>
                    <a:schemeClr val="bg1"/>
                  </a:solidFill>
                  <a:latin typeface="宋体" panose="02010600030101010101" pitchFamily="2" charset="-122"/>
                  <a:ea typeface="宋体" panose="02010600030101010101" pitchFamily="2" charset="-122"/>
                </a:rPr>
                <a:t>故障恢复</a:t>
              </a:r>
              <a:endParaRPr lang="zh-CN" altLang="en-US" sz="2000" dirty="0">
                <a:solidFill>
                  <a:schemeClr val="bg1"/>
                </a:solidFill>
                <a:latin typeface="宋体" panose="02010600030101010101" pitchFamily="2" charset="-122"/>
                <a:ea typeface="宋体" panose="02010600030101010101" pitchFamily="2" charset="-122"/>
              </a:endParaRPr>
            </a:p>
            <a:p>
              <a:pPr lvl="0" indent="0" algn="ctr"/>
              <a:r>
                <a:rPr lang="zh-CN" altLang="en-US" sz="2000" dirty="0">
                  <a:solidFill>
                    <a:schemeClr val="bg1"/>
                  </a:solidFill>
                  <a:latin typeface="宋体" panose="02010600030101010101" pitchFamily="2" charset="-122"/>
                  <a:ea typeface="宋体" panose="02010600030101010101" pitchFamily="2" charset="-122"/>
                </a:rPr>
                <a:t>安全性</a:t>
              </a:r>
              <a:endParaRPr lang="zh-CN" altLang="en-US" sz="2000" dirty="0">
                <a:solidFill>
                  <a:schemeClr val="bg1"/>
                </a:solidFill>
                <a:latin typeface="宋体" panose="02010600030101010101" pitchFamily="2" charset="-122"/>
                <a:ea typeface="宋体" panose="02010600030101010101" pitchFamily="2" charset="-122"/>
              </a:endParaRPr>
            </a:p>
            <a:p>
              <a:pPr lvl="0" indent="0" algn="ctr"/>
              <a:r>
                <a:rPr lang="zh-CN" altLang="en-US" sz="2000" dirty="0">
                  <a:solidFill>
                    <a:schemeClr val="bg1"/>
                  </a:solidFill>
                  <a:latin typeface="宋体" panose="02010600030101010101" pitchFamily="2" charset="-122"/>
                  <a:ea typeface="宋体" panose="02010600030101010101" pitchFamily="2" charset="-122"/>
                </a:rPr>
                <a:t>完整性</a:t>
              </a:r>
              <a:endParaRPr lang="de-DE" altLang="en-US" sz="2000" dirty="0">
                <a:latin typeface="宋体" panose="02010600030101010101" pitchFamily="2" charset="-122"/>
                <a:ea typeface="宋体" panose="02010600030101010101" pitchFamily="2" charset="-122"/>
              </a:endParaRPr>
            </a:p>
          </p:txBody>
        </p:sp>
        <p:cxnSp>
          <p:nvCxnSpPr>
            <p:cNvPr id="44040" name="AutoShape 8"/>
            <p:cNvCxnSpPr/>
            <p:nvPr/>
          </p:nvCxnSpPr>
          <p:spPr>
            <a:xfrm rot="-5400000">
              <a:off x="628650" y="590550"/>
              <a:ext cx="2019300" cy="1600200"/>
            </a:xfrm>
            <a:prstGeom prst="bentConnector2">
              <a:avLst/>
            </a:prstGeom>
            <a:ln w="38100" cap="flat" cmpd="sng">
              <a:solidFill>
                <a:schemeClr val="tx1"/>
              </a:solidFill>
              <a:prstDash val="dashDot"/>
              <a:miter/>
              <a:headEnd type="none" w="med" len="med"/>
              <a:tailEnd type="triangle" w="med" len="med"/>
            </a:ln>
          </p:spPr>
        </p:cxnSp>
        <p:sp>
          <p:nvSpPr>
            <p:cNvPr id="44041" name="AutoShape 9"/>
            <p:cNvSpPr/>
            <p:nvPr/>
          </p:nvSpPr>
          <p:spPr>
            <a:xfrm rot="10800000">
              <a:off x="1066800" y="1524000"/>
              <a:ext cx="1295400" cy="733425"/>
            </a:xfrm>
            <a:custGeom>
              <a:avLst/>
              <a:gdLst/>
              <a:ahLst/>
              <a:cxnLst>
                <a:cxn ang="17694720">
                  <a:pos x="2147483647" y="0"/>
                </a:cxn>
                <a:cxn ang="11796480">
                  <a:pos x="2147483647" y="2147483647"/>
                </a:cxn>
                <a:cxn ang="11796480">
                  <a:pos x="0" y="2147483647"/>
                </a:cxn>
                <a:cxn ang="5898240">
                  <a:pos x="2147483647" y="2147483647"/>
                </a:cxn>
                <a:cxn ang="0">
                  <a:pos x="2147483647" y="2147483647"/>
                </a:cxn>
                <a:cxn ang="0">
                  <a:pos x="2147483647" y="2147483647"/>
                </a:cxn>
              </a:cxnLst>
              <a:rect l="0" t="0" r="0" b="0"/>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44042" name="AutoShape 10"/>
            <p:cNvSpPr/>
            <p:nvPr/>
          </p:nvSpPr>
          <p:spPr>
            <a:xfrm>
              <a:off x="4800600" y="1447800"/>
              <a:ext cx="838200" cy="533400"/>
            </a:xfrm>
            <a:prstGeom prst="rightArrow">
              <a:avLst>
                <a:gd name="adj1" fmla="val 50000"/>
                <a:gd name="adj2" fmla="val 39227"/>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44043" name="AutoShape 11"/>
            <p:cNvSpPr/>
            <p:nvPr/>
          </p:nvSpPr>
          <p:spPr>
            <a:xfrm>
              <a:off x="6553200" y="2133600"/>
              <a:ext cx="381000" cy="609600"/>
            </a:xfrm>
            <a:prstGeom prst="upDownArrow">
              <a:avLst>
                <a:gd name="adj1" fmla="val 50000"/>
                <a:gd name="adj2" fmla="val 32000"/>
              </a:avLst>
            </a:prstGeom>
            <a:solidFill>
              <a:srgbClr val="CC0000"/>
            </a:solidFill>
            <a:ln w="9525" cap="flat" cmpd="sng">
              <a:solidFill>
                <a:schemeClr val="tx1"/>
              </a:solidFill>
              <a:prstDash val="solid"/>
              <a:miter/>
              <a:headEnd type="none" w="med" len="med"/>
              <a:tailEnd type="none" w="med" len="med"/>
            </a:ln>
          </p:spPr>
          <p:txBody>
            <a:bodyPr vert="eaVert" wrap="none" anchor="ctr"/>
            <a:lstStyle/>
            <a:p>
              <a:pPr lvl="0" indent="0"/>
              <a:endParaRPr lang="zh-CN" altLang="en-US" dirty="0">
                <a:latin typeface="Arial" panose="020B0604020202020204" pitchFamily="34" charset="0"/>
                <a:ea typeface="宋体" panose="02010600030101010101" pitchFamily="2" charset="-122"/>
              </a:endParaRPr>
            </a:p>
          </p:txBody>
        </p:sp>
        <p:cxnSp>
          <p:nvCxnSpPr>
            <p:cNvPr id="44044" name="AutoShape 12"/>
            <p:cNvCxnSpPr>
              <a:stCxn id="44038" idx="0"/>
            </p:cNvCxnSpPr>
            <p:nvPr/>
          </p:nvCxnSpPr>
          <p:spPr>
            <a:xfrm rot="5400000" flipH="1">
              <a:off x="5486400" y="-76200"/>
              <a:ext cx="838200" cy="1600200"/>
            </a:xfrm>
            <a:prstGeom prst="bentConnector2">
              <a:avLst/>
            </a:prstGeom>
            <a:ln w="38100" cap="flat" cmpd="sng">
              <a:solidFill>
                <a:schemeClr val="tx1"/>
              </a:solidFill>
              <a:prstDash val="dashDot"/>
              <a:miter/>
              <a:headEnd type="none" w="med" len="med"/>
              <a:tailEnd type="triangle" w="med" len="med"/>
            </a:ln>
          </p:spPr>
        </p:cxnSp>
        <p:sp>
          <p:nvSpPr>
            <p:cNvPr id="44045" name="AutoShape 13"/>
            <p:cNvSpPr/>
            <p:nvPr/>
          </p:nvSpPr>
          <p:spPr>
            <a:xfrm>
              <a:off x="304800" y="2362200"/>
              <a:ext cx="1524000" cy="1066800"/>
            </a:xfrm>
            <a:prstGeom prst="flowChartMultidocument">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400" dirty="0">
                  <a:solidFill>
                    <a:srgbClr val="000000"/>
                  </a:solidFill>
                  <a:latin typeface="Tahoma" panose="020B0604030504040204" pitchFamily="2" charset="0"/>
                  <a:ea typeface="宋体" panose="02010600030101010101" pitchFamily="2" charset="-122"/>
                </a:rPr>
                <a:t>文件系统</a:t>
              </a:r>
              <a:endParaRPr lang="zh-CN" altLang="en-US" sz="2400" dirty="0">
                <a:solidFill>
                  <a:srgbClr val="000000"/>
                </a:solidFill>
                <a:latin typeface="Tahoma" panose="020B0604030504040204" pitchFamily="2" charset="0"/>
                <a:ea typeface="宋体" panose="02010600030101010101" pitchFamily="2" charset="-122"/>
              </a:endParaRPr>
            </a:p>
          </p:txBody>
        </p:sp>
        <p:sp>
          <p:nvSpPr>
            <p:cNvPr id="44046" name="AutoShape 14"/>
            <p:cNvSpPr/>
            <p:nvPr/>
          </p:nvSpPr>
          <p:spPr>
            <a:xfrm>
              <a:off x="2362200" y="838200"/>
              <a:ext cx="2438400" cy="1752600"/>
            </a:xfrm>
            <a:prstGeom prst="flowChartPreparation">
              <a:avLst/>
            </a:prstGeom>
            <a:solidFill>
              <a:srgbClr val="0000CC"/>
            </a:solidFill>
            <a:ln w="9525" cap="flat" cmpd="sng">
              <a:solidFill>
                <a:schemeClr val="tx1"/>
              </a:solidFill>
              <a:prstDash val="solid"/>
              <a:miter/>
              <a:headEnd type="none" w="med" len="med"/>
              <a:tailEnd type="none" w="med" len="med"/>
            </a:ln>
          </p:spPr>
          <p:txBody>
            <a:bodyPr wrap="none" anchor="ctr"/>
            <a:lstStyle/>
            <a:p>
              <a:pPr lvl="0" indent="0" algn="ctr">
                <a:lnSpc>
                  <a:spcPct val="100000"/>
                </a:lnSpc>
              </a:pPr>
              <a:r>
                <a:rPr lang="zh-CN" altLang="en-US" sz="2000" dirty="0">
                  <a:solidFill>
                    <a:schemeClr val="bg1"/>
                  </a:solidFill>
                  <a:latin typeface="宋体" panose="02010600030101010101" pitchFamily="2" charset="-122"/>
                  <a:ea typeface="宋体" panose="02010600030101010101" pitchFamily="2" charset="-122"/>
                </a:rPr>
                <a:t>大容量数据</a:t>
              </a:r>
              <a:endParaRPr lang="zh-CN" altLang="en-US" sz="2000" dirty="0">
                <a:solidFill>
                  <a:schemeClr val="bg1"/>
                </a:solidFill>
                <a:latin typeface="宋体" panose="02010600030101010101" pitchFamily="2" charset="-122"/>
                <a:ea typeface="宋体" panose="02010600030101010101" pitchFamily="2" charset="-122"/>
              </a:endParaRPr>
            </a:p>
            <a:p>
              <a:pPr lvl="0" indent="0" algn="ctr">
                <a:lnSpc>
                  <a:spcPct val="100000"/>
                </a:lnSpc>
              </a:pPr>
              <a:r>
                <a:rPr lang="zh-CN" altLang="en-US" sz="2000" dirty="0">
                  <a:solidFill>
                    <a:schemeClr val="bg1"/>
                  </a:solidFill>
                  <a:latin typeface="宋体" panose="02010600030101010101" pitchFamily="2" charset="-122"/>
                  <a:ea typeface="宋体" panose="02010600030101010101" pitchFamily="2" charset="-122"/>
                </a:rPr>
                <a:t>并发访问</a:t>
              </a:r>
              <a:endParaRPr lang="zh-CN" altLang="en-US" sz="2000" dirty="0">
                <a:solidFill>
                  <a:schemeClr val="bg1"/>
                </a:solidFill>
                <a:latin typeface="宋体" panose="02010600030101010101" pitchFamily="2" charset="-122"/>
                <a:ea typeface="宋体" panose="02010600030101010101" pitchFamily="2" charset="-122"/>
              </a:endParaRPr>
            </a:p>
            <a:p>
              <a:pPr lvl="0" indent="0" algn="ctr">
                <a:lnSpc>
                  <a:spcPct val="100000"/>
                </a:lnSpc>
              </a:pPr>
              <a:r>
                <a:rPr lang="zh-CN" altLang="en-US" sz="2000" dirty="0">
                  <a:solidFill>
                    <a:schemeClr val="bg1"/>
                  </a:solidFill>
                  <a:latin typeface="宋体" panose="02010600030101010101" pitchFamily="2" charset="-122"/>
                  <a:ea typeface="宋体" panose="02010600030101010101" pitchFamily="2" charset="-122"/>
                </a:rPr>
                <a:t>故障恢复</a:t>
              </a:r>
              <a:endParaRPr lang="zh-CN" altLang="en-US" sz="2000" dirty="0">
                <a:solidFill>
                  <a:schemeClr val="bg1"/>
                </a:solidFill>
                <a:latin typeface="宋体" panose="02010600030101010101" pitchFamily="2" charset="-122"/>
                <a:ea typeface="宋体" panose="02010600030101010101" pitchFamily="2" charset="-122"/>
              </a:endParaRPr>
            </a:p>
            <a:p>
              <a:pPr lvl="0" indent="0" algn="ctr">
                <a:lnSpc>
                  <a:spcPct val="100000"/>
                </a:lnSpc>
              </a:pPr>
              <a:r>
                <a:rPr lang="zh-CN" altLang="en-US" sz="2000" dirty="0">
                  <a:solidFill>
                    <a:schemeClr val="bg1"/>
                  </a:solidFill>
                  <a:latin typeface="宋体" panose="02010600030101010101" pitchFamily="2" charset="-122"/>
                  <a:ea typeface="宋体" panose="02010600030101010101" pitchFamily="2" charset="-122"/>
                </a:rPr>
                <a:t>安全性</a:t>
              </a:r>
              <a:endParaRPr lang="zh-CN" altLang="en-US" sz="2000" dirty="0">
                <a:solidFill>
                  <a:schemeClr val="bg1"/>
                </a:solidFill>
                <a:latin typeface="宋体" panose="02010600030101010101" pitchFamily="2" charset="-122"/>
                <a:ea typeface="宋体" panose="02010600030101010101" pitchFamily="2" charset="-122"/>
              </a:endParaRPr>
            </a:p>
            <a:p>
              <a:pPr lvl="0" indent="0" algn="ctr">
                <a:lnSpc>
                  <a:spcPct val="100000"/>
                </a:lnSpc>
              </a:pPr>
              <a:r>
                <a:rPr lang="zh-CN" altLang="en-US" sz="2000" dirty="0">
                  <a:solidFill>
                    <a:schemeClr val="bg1"/>
                  </a:solidFill>
                  <a:latin typeface="宋体" panose="02010600030101010101" pitchFamily="2" charset="-122"/>
                  <a:ea typeface="宋体" panose="02010600030101010101" pitchFamily="2" charset="-122"/>
                </a:rPr>
                <a:t>完整性</a:t>
              </a:r>
              <a:endParaRPr lang="de-DE" altLang="en-US" sz="2000" dirty="0">
                <a:latin typeface="宋体" panose="02010600030101010101" pitchFamily="2" charset="-122"/>
                <a:ea typeface="宋体" panose="02010600030101010101" pitchFamily="2" charset="-122"/>
              </a:endParaRPr>
            </a:p>
          </p:txBody>
        </p:sp>
        <p:grpSp>
          <p:nvGrpSpPr>
            <p:cNvPr id="44047" name="Group 15"/>
            <p:cNvGrpSpPr/>
            <p:nvPr/>
          </p:nvGrpSpPr>
          <p:grpSpPr>
            <a:xfrm>
              <a:off x="1676400" y="1295400"/>
              <a:ext cx="609600" cy="609600"/>
              <a:chOff x="0" y="0"/>
              <a:chExt cx="384" cy="384"/>
            </a:xfrm>
          </p:grpSpPr>
          <p:sp>
            <p:nvSpPr>
              <p:cNvPr id="44048" name="Line 16"/>
              <p:cNvSpPr/>
              <p:nvPr/>
            </p:nvSpPr>
            <p:spPr>
              <a:xfrm>
                <a:off x="0" y="0"/>
                <a:ext cx="384" cy="384"/>
              </a:xfrm>
              <a:prstGeom prst="line">
                <a:avLst/>
              </a:prstGeom>
              <a:ln w="38100" cap="flat" cmpd="sng">
                <a:solidFill>
                  <a:schemeClr val="tx1"/>
                </a:solidFill>
                <a:prstDash val="solid"/>
                <a:round/>
                <a:headEnd type="none" w="med" len="med"/>
                <a:tailEnd type="none" w="med" len="med"/>
              </a:ln>
            </p:spPr>
          </p:sp>
          <p:sp>
            <p:nvSpPr>
              <p:cNvPr id="44049" name="Line 17"/>
              <p:cNvSpPr/>
              <p:nvPr/>
            </p:nvSpPr>
            <p:spPr>
              <a:xfrm flipH="1">
                <a:off x="0" y="0"/>
                <a:ext cx="336" cy="384"/>
              </a:xfrm>
              <a:prstGeom prst="line">
                <a:avLst/>
              </a:prstGeom>
              <a:ln w="38100" cap="flat" cmpd="sng">
                <a:solidFill>
                  <a:schemeClr val="tx1"/>
                </a:solidFill>
                <a:prstDash val="solid"/>
                <a:round/>
                <a:headEnd type="none" w="med" len="med"/>
                <a:tailEnd type="none" w="med" len="med"/>
              </a:ln>
            </p:spPr>
          </p:sp>
        </p:grpSp>
        <p:grpSp>
          <p:nvGrpSpPr>
            <p:cNvPr id="44050" name="Group 20"/>
            <p:cNvGrpSpPr/>
            <p:nvPr/>
          </p:nvGrpSpPr>
          <p:grpSpPr>
            <a:xfrm>
              <a:off x="1752600" y="2743200"/>
              <a:ext cx="4343400" cy="288"/>
              <a:chOff x="0" y="0"/>
              <a:chExt cx="2736" cy="288"/>
            </a:xfrm>
          </p:grpSpPr>
          <p:sp>
            <p:nvSpPr>
              <p:cNvPr id="44051" name="Line 21"/>
              <p:cNvSpPr/>
              <p:nvPr/>
            </p:nvSpPr>
            <p:spPr>
              <a:xfrm>
                <a:off x="0" y="288"/>
                <a:ext cx="2736" cy="0"/>
              </a:xfrm>
              <a:prstGeom prst="line">
                <a:avLst/>
              </a:prstGeom>
              <a:ln w="38100" cap="flat" cmpd="sng">
                <a:solidFill>
                  <a:srgbClr val="CC0000"/>
                </a:solidFill>
                <a:prstDash val="solid"/>
                <a:round/>
                <a:headEnd type="none" w="med" len="med"/>
                <a:tailEnd type="triangle" w="med" len="med"/>
              </a:ln>
            </p:spPr>
          </p:sp>
          <p:sp>
            <p:nvSpPr>
              <p:cNvPr id="44052" name="Text Box 22"/>
              <p:cNvSpPr txBox="1"/>
              <p:nvPr/>
            </p:nvSpPr>
            <p:spPr>
              <a:xfrm>
                <a:off x="528" y="0"/>
                <a:ext cx="1968" cy="288"/>
              </a:xfrm>
              <a:prstGeom prst="rect">
                <a:avLst/>
              </a:prstGeom>
              <a:noFill/>
              <a:ln w="9525">
                <a:noFill/>
              </a:ln>
            </p:spPr>
            <p:txBody>
              <a:bodyPr anchor="t">
                <a:spAutoFit/>
              </a:bodyPr>
              <a:lstStyle/>
              <a:p>
                <a:pPr lvl="0" indent="0">
                  <a:spcBef>
                    <a:spcPct val="50000"/>
                  </a:spcBef>
                </a:pPr>
                <a:r>
                  <a:rPr lang="zh-CN" altLang="en-US" sz="2400" dirty="0">
                    <a:latin typeface="宋体" panose="02010600030101010101" pitchFamily="2" charset="-122"/>
                    <a:ea typeface="宋体" panose="02010600030101010101" pitchFamily="2" charset="-122"/>
                  </a:rPr>
                  <a:t>数据结构，数据文件</a:t>
                </a:r>
                <a:endParaRPr lang="zh-CN" altLang="en-US" sz="2400" dirty="0">
                  <a:latin typeface="宋体" panose="02010600030101010101" pitchFamily="2" charset="-122"/>
                  <a:ea typeface="宋体" panose="02010600030101010101" pitchFamily="2" charset="-122"/>
                </a:endParaRPr>
              </a:p>
            </p:txBody>
          </p:sp>
        </p:grpSp>
        <p:sp>
          <p:nvSpPr>
            <p:cNvPr id="44053" name="Text Box 23"/>
            <p:cNvSpPr txBox="1"/>
            <p:nvPr/>
          </p:nvSpPr>
          <p:spPr>
            <a:xfrm>
              <a:off x="0" y="914400"/>
              <a:ext cx="762000" cy="482761"/>
            </a:xfrm>
            <a:prstGeom prst="rect">
              <a:avLst/>
            </a:prstGeom>
            <a:noFill/>
            <a:ln w="9525">
              <a:noFill/>
            </a:ln>
          </p:spPr>
          <p:txBody>
            <a:bodyPr anchor="t">
              <a:spAutoFit/>
            </a:bodyPr>
            <a:lstStyle/>
            <a:p>
              <a:pPr lvl="0" indent="0">
                <a:spcBef>
                  <a:spcPct val="50000"/>
                </a:spcBef>
                <a:buNone/>
              </a:pPr>
              <a:r>
                <a:rPr lang="zh-CN" altLang="en-US" sz="2200" dirty="0">
                  <a:solidFill>
                    <a:srgbClr val="CF4364"/>
                  </a:solidFill>
                  <a:latin typeface="宋体" panose="02010600030101010101" pitchFamily="2" charset="-122"/>
                  <a:ea typeface="宋体" panose="02010600030101010101" pitchFamily="2" charset="-122"/>
                </a:rPr>
                <a:t>开发</a:t>
              </a:r>
              <a:endParaRPr lang="zh-CN" altLang="en-US" sz="2200" dirty="0">
                <a:solidFill>
                  <a:srgbClr val="CF4364"/>
                </a:solidFill>
                <a:latin typeface="宋体" panose="02010600030101010101" pitchFamily="2" charset="-122"/>
                <a:ea typeface="宋体" panose="02010600030101010101" pitchFamily="2" charset="-122"/>
              </a:endParaRPr>
            </a:p>
          </p:txBody>
        </p:sp>
        <p:sp>
          <p:nvSpPr>
            <p:cNvPr id="44054" name="Text Box 24"/>
            <p:cNvSpPr txBox="1"/>
            <p:nvPr/>
          </p:nvSpPr>
          <p:spPr>
            <a:xfrm>
              <a:off x="6781800" y="457200"/>
              <a:ext cx="762000" cy="482761"/>
            </a:xfrm>
            <a:prstGeom prst="rect">
              <a:avLst/>
            </a:prstGeom>
            <a:noFill/>
            <a:ln w="9525">
              <a:noFill/>
            </a:ln>
          </p:spPr>
          <p:txBody>
            <a:bodyPr anchor="t">
              <a:spAutoFit/>
            </a:bodyPr>
            <a:lstStyle/>
            <a:p>
              <a:pPr lvl="0" indent="0">
                <a:spcBef>
                  <a:spcPct val="50000"/>
                </a:spcBef>
                <a:buNone/>
              </a:pPr>
              <a:r>
                <a:rPr lang="zh-CN" altLang="en-US" sz="2200" dirty="0">
                  <a:solidFill>
                    <a:srgbClr val="CF4364"/>
                  </a:solidFill>
                  <a:latin typeface="宋体" panose="02010600030101010101" pitchFamily="2" charset="-122"/>
                  <a:ea typeface="宋体" panose="02010600030101010101" pitchFamily="2" charset="-122"/>
                </a:rPr>
                <a:t>支持</a:t>
              </a:r>
              <a:endParaRPr lang="zh-CN" altLang="en-US" sz="2200" dirty="0">
                <a:solidFill>
                  <a:srgbClr val="CF4364"/>
                </a:solidFill>
                <a:latin typeface="宋体" panose="02010600030101010101" pitchFamily="2" charset="-122"/>
                <a:ea typeface="宋体" panose="02010600030101010101" pitchFamily="2" charset="-122"/>
              </a:endParaRPr>
            </a:p>
          </p:txBody>
        </p:sp>
      </p:grpSp>
      <p:sp>
        <p:nvSpPr>
          <p:cNvPr id="44055" name="矩形 45"/>
          <p:cNvSpPr/>
          <p:nvPr/>
        </p:nvSpPr>
        <p:spPr>
          <a:xfrm>
            <a:off x="1546225" y="4657725"/>
            <a:ext cx="5740400" cy="498475"/>
          </a:xfrm>
          <a:prstGeom prst="rect">
            <a:avLst/>
          </a:prstGeom>
          <a:noFill/>
          <a:ln w="9525">
            <a:noFill/>
          </a:ln>
        </p:spPr>
        <p:txBody>
          <a:bodyPr anchor="t">
            <a:spAutoFit/>
          </a:bodyPr>
          <a:lstStyle/>
          <a:p>
            <a:pPr lvl="0" indent="0">
              <a:lnSpc>
                <a:spcPct val="120000"/>
              </a:lnSpc>
              <a:buNone/>
            </a:pPr>
            <a:r>
              <a:rPr lang="zh-CN" altLang="en-US" sz="2200" u="sng" dirty="0">
                <a:solidFill>
                  <a:srgbClr val="FF0000"/>
                </a:solidFill>
                <a:latin typeface="楷体" panose="02010609060101010101" pitchFamily="1" charset="-122"/>
                <a:ea typeface="楷体" panose="02010609060101010101" pitchFamily="1" charset="-122"/>
              </a:rPr>
              <a:t>抽出五个基本公共功能形成数据库管理系统</a:t>
            </a:r>
            <a:endParaRPr lang="zh-CN" altLang="en-US" sz="2200" u="sng" dirty="0">
              <a:solidFill>
                <a:srgbClr val="FF0000"/>
              </a:solidFill>
              <a:latin typeface="楷体" panose="02010609060101010101" pitchFamily="1" charset="-122"/>
              <a:ea typeface="楷体" panose="02010609060101010101" pitchFamily="1" charset="-122"/>
            </a:endParaRPr>
          </a:p>
        </p:txBody>
      </p:sp>
      <p:grpSp>
        <p:nvGrpSpPr>
          <p:cNvPr id="39961" name="组合 1"/>
          <p:cNvGrpSpPr/>
          <p:nvPr/>
        </p:nvGrpSpPr>
        <p:grpSpPr>
          <a:xfrm>
            <a:off x="349250" y="5189538"/>
            <a:ext cx="8794750" cy="1209675"/>
            <a:chOff x="0" y="0"/>
            <a:chExt cx="8374063" cy="1209675"/>
          </a:xfrm>
        </p:grpSpPr>
        <p:sp>
          <p:nvSpPr>
            <p:cNvPr id="44057" name="Text Box 6"/>
            <p:cNvSpPr txBox="1"/>
            <p:nvPr/>
          </p:nvSpPr>
          <p:spPr>
            <a:xfrm>
              <a:off x="0" y="239712"/>
              <a:ext cx="1885950" cy="590550"/>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400" dirty="0">
                  <a:solidFill>
                    <a:srgbClr val="FF0000"/>
                  </a:solidFill>
                  <a:latin typeface="Arial" panose="020B0604020202020204" pitchFamily="34" charset="0"/>
                  <a:ea typeface="宋体" panose="02010600030101010101" pitchFamily="2" charset="-122"/>
                </a:rPr>
                <a:t> 术语变化</a:t>
              </a:r>
              <a:endParaRPr lang="zh-CN" altLang="en-US" sz="2400" dirty="0">
                <a:solidFill>
                  <a:srgbClr val="FF0000"/>
                </a:solidFill>
                <a:latin typeface="Arial" panose="020B0604020202020204" pitchFamily="34" charset="0"/>
                <a:ea typeface="宋体" panose="02010600030101010101" pitchFamily="2" charset="-122"/>
              </a:endParaRPr>
            </a:p>
          </p:txBody>
        </p:sp>
        <p:sp>
          <p:nvSpPr>
            <p:cNvPr id="44058" name="Text Box 9"/>
            <p:cNvSpPr txBox="1"/>
            <p:nvPr/>
          </p:nvSpPr>
          <p:spPr>
            <a:xfrm>
              <a:off x="2117725" y="0"/>
              <a:ext cx="6256338" cy="1209675"/>
            </a:xfrm>
            <a:prstGeom prst="rect">
              <a:avLst/>
            </a:prstGeom>
            <a:noFill/>
            <a:ln w="9525">
              <a:noFill/>
            </a:ln>
          </p:spPr>
          <p:txBody>
            <a:bodyPr anchor="t">
              <a:spAutoFit/>
            </a:bodyPr>
            <a:lstStyle/>
            <a:p>
              <a:pPr lvl="0" indent="0">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结构类型 ⇒ 数据模型（data model）；</a:t>
              </a:r>
              <a:endParaRPr lang="zh-CN" altLang="en-US" sz="2200" dirty="0">
                <a:latin typeface="楷体" panose="02010609060101010101" pitchFamily="1" charset="-122"/>
                <a:ea typeface="楷体" panose="02010609060101010101" pitchFamily="1" charset="-122"/>
              </a:endParaRPr>
            </a:p>
            <a:p>
              <a:pPr lvl="0" indent="0">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具体的某个结构 ⇒ 数据模式（data schema）</a:t>
              </a:r>
              <a:r>
                <a:rPr lang="en-US" altLang="x-none" sz="2200" dirty="0">
                  <a:latin typeface="楷体" panose="02010609060101010101" pitchFamily="1" charset="-122"/>
                  <a:ea typeface="楷体" panose="02010609060101010101" pitchFamily="1" charset="-122"/>
                </a:rPr>
                <a:t>;</a:t>
              </a:r>
              <a:endParaRPr lang="en-US" altLang="x-none" sz="2200" dirty="0">
                <a:latin typeface="楷体" panose="02010609060101010101" pitchFamily="1" charset="-122"/>
                <a:ea typeface="楷体" panose="02010609060101010101" pitchFamily="1" charset="-122"/>
              </a:endParaRPr>
            </a:p>
            <a:p>
              <a:pPr lvl="0" indent="0">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数据文件 ⇒ 数据库。</a:t>
              </a:r>
              <a:endParaRPr lang="en-US" altLang="x-none" sz="2200" dirty="0">
                <a:latin typeface="楷体" panose="02010609060101010101" pitchFamily="1" charset="-122"/>
                <a:ea typeface="楷体" panose="02010609060101010101" pitchFamily="1" charset="-122"/>
              </a:endParaRPr>
            </a:p>
          </p:txBody>
        </p:sp>
        <p:sp>
          <p:nvSpPr>
            <p:cNvPr id="39964" name="左大括号 49"/>
            <p:cNvSpPr/>
            <p:nvPr/>
          </p:nvSpPr>
          <p:spPr>
            <a:xfrm>
              <a:off x="1770063" y="195262"/>
              <a:ext cx="395287" cy="936625"/>
            </a:xfrm>
            <a:prstGeom prst="leftBrace">
              <a:avLst>
                <a:gd name="adj1" fmla="val 8337"/>
                <a:gd name="adj2" fmla="val 50000"/>
              </a:avLst>
            </a:prstGeom>
            <a:noFill/>
            <a:ln w="9525" cap="flat" cmpd="sng">
              <a:solidFill>
                <a:schemeClr val="tx1"/>
              </a:solidFill>
              <a:prstDash val="solid"/>
              <a:headEnd type="none" w="med" len="med"/>
              <a:tailEnd type="none" w="med" len="med"/>
            </a:ln>
          </p:spPr>
          <p:txBody>
            <a:bodyPr anchor="ctr">
              <a:spAutoFit/>
            </a:bodyPr>
            <a:lstStyle/>
            <a:p>
              <a:pPr marL="262255" lvl="0" indent="-262255" eaLnBrk="1" fontAlgn="base" hangingPunct="1">
                <a:buBlip>
                  <a:blip r:embed="rId1"/>
                </a:buBlip>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sp>
        <p:nvSpPr>
          <p:cNvPr id="3687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961"/>
                                        </p:tgtEl>
                                        <p:attrNameLst>
                                          <p:attrName>style.visibility</p:attrName>
                                        </p:attrNameLst>
                                      </p:cBhvr>
                                      <p:to>
                                        <p:strVal val="visible"/>
                                      </p:to>
                                    </p:set>
                                    <p:anim calcmode="lin" valueType="num">
                                      <p:cBhvr additive="base">
                                        <p:cTn id="7" dur="500" fill="hold"/>
                                        <p:tgtEl>
                                          <p:spTgt spid="39961"/>
                                        </p:tgtEl>
                                        <p:attrNameLst>
                                          <p:attrName>ppt_x</p:attrName>
                                        </p:attrNameLst>
                                      </p:cBhvr>
                                      <p:tavLst>
                                        <p:tav tm="0">
                                          <p:val>
                                            <p:strVal val="#ppt_x"/>
                                          </p:val>
                                        </p:tav>
                                        <p:tav tm="100000">
                                          <p:val>
                                            <p:strVal val="#ppt_x"/>
                                          </p:val>
                                        </p:tav>
                                      </p:tavLst>
                                    </p:anim>
                                    <p:anim calcmode="lin" valueType="num">
                                      <p:cBhvr additive="base">
                                        <p:cTn id="8" dur="500" fill="hold"/>
                                        <p:tgtEl>
                                          <p:spTgt spid="399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ext Box 6"/>
          <p:cNvSpPr txBox="1"/>
          <p:nvPr/>
        </p:nvSpPr>
        <p:spPr>
          <a:xfrm>
            <a:off x="473075" y="848995"/>
            <a:ext cx="8221663" cy="521970"/>
          </a:xfrm>
          <a:prstGeom prst="rect">
            <a:avLst/>
          </a:prstGeom>
          <a:noFill/>
          <a:ln w="9525">
            <a:noFill/>
          </a:ln>
        </p:spPr>
        <p:txBody>
          <a:bodyPr anchor="t">
            <a:spAutoFit/>
          </a:bodyP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3. </a:t>
            </a:r>
            <a:r>
              <a:rPr lang="zh-CN" altLang="en-US" sz="2800" dirty="0">
                <a:solidFill>
                  <a:srgbClr val="3333CC"/>
                </a:solidFill>
                <a:latin typeface="Arial" panose="020B0604020202020204" pitchFamily="34" charset="0"/>
                <a:ea typeface="黑体" panose="02010609060101010101" pitchFamily="1" charset="-122"/>
              </a:rPr>
              <a:t>数据库管理系统应具备的功能</a:t>
            </a:r>
            <a:endParaRPr lang="zh-CN" altLang="en-US" sz="2800" dirty="0">
              <a:solidFill>
                <a:srgbClr val="3333CC"/>
              </a:solidFill>
              <a:latin typeface="Arial" panose="020B0604020202020204" pitchFamily="34" charset="0"/>
              <a:ea typeface="黑体" panose="02010609060101010101" pitchFamily="1" charset="-122"/>
            </a:endParaRPr>
          </a:p>
        </p:txBody>
      </p:sp>
      <p:grpSp>
        <p:nvGrpSpPr>
          <p:cNvPr id="46082" name="组合 1"/>
          <p:cNvGrpSpPr/>
          <p:nvPr/>
        </p:nvGrpSpPr>
        <p:grpSpPr>
          <a:xfrm>
            <a:off x="225425" y="1350963"/>
            <a:ext cx="8497888" cy="1738312"/>
            <a:chOff x="0" y="0"/>
            <a:chExt cx="8497888" cy="1738312"/>
          </a:xfrm>
        </p:grpSpPr>
        <p:sp>
          <p:nvSpPr>
            <p:cNvPr id="46083" name="矩形 7"/>
            <p:cNvSpPr/>
            <p:nvPr/>
          </p:nvSpPr>
          <p:spPr>
            <a:xfrm>
              <a:off x="347663" y="0"/>
              <a:ext cx="8048625" cy="533400"/>
            </a:xfrm>
            <a:prstGeom prst="rect">
              <a:avLst/>
            </a:prstGeom>
            <a:noFill/>
            <a:ln w="9525">
              <a:noFill/>
            </a:ln>
          </p:spPr>
          <p:txBody>
            <a:bodyPr anchor="t">
              <a:spAutoFit/>
            </a:bodyPr>
            <a:lstStyle/>
            <a:p>
              <a:pPr lvl="0" indent="0">
                <a:buNone/>
              </a:pPr>
              <a:r>
                <a:rPr lang="en-US" altLang="x-none" sz="2000" dirty="0">
                  <a:solidFill>
                    <a:srgbClr val="FF3300"/>
                  </a:solidFill>
                  <a:latin typeface="Arial" panose="020B0604020202020204" pitchFamily="34" charset="0"/>
                  <a:ea typeface="宋体" panose="02010600030101010101" pitchFamily="2" charset="-122"/>
                </a:rPr>
                <a:t>◆</a:t>
              </a:r>
              <a:r>
                <a:rPr lang="en-US" altLang="x-none" sz="2000" dirty="0">
                  <a:solidFill>
                    <a:srgbClr val="0000FF"/>
                  </a:solidFill>
                  <a:latin typeface="Arial" panose="020B0604020202020204" pitchFamily="34" charset="0"/>
                  <a:ea typeface="宋体" panose="02010600030101010101" pitchFamily="2" charset="-122"/>
                </a:rPr>
                <a:t> </a:t>
              </a:r>
              <a:r>
                <a:rPr lang="zh-CN" altLang="en-US" sz="2400" dirty="0">
                  <a:solidFill>
                    <a:srgbClr val="0000FF"/>
                  </a:solidFill>
                  <a:latin typeface="Arial" panose="020B0604020202020204" pitchFamily="34" charset="0"/>
                  <a:ea typeface="宋体" panose="02010600030101010101" pitchFamily="2" charset="-122"/>
                </a:rPr>
                <a:t>数据独立性</a:t>
              </a:r>
              <a:r>
                <a:rPr lang="en-US" altLang="x-none" sz="2400" dirty="0">
                  <a:solidFill>
                    <a:srgbClr val="009900"/>
                  </a:solidFill>
                  <a:latin typeface="Arial" panose="020B0604020202020204" pitchFamily="34" charset="0"/>
                  <a:ea typeface="宋体" panose="02010600030101010101" pitchFamily="2" charset="-122"/>
                </a:rPr>
                <a:t>(Data Independence)</a:t>
              </a:r>
              <a:endParaRPr lang="zh-CN" altLang="en-US" sz="2400" dirty="0">
                <a:latin typeface="Arial" panose="020B0604020202020204" pitchFamily="34" charset="0"/>
                <a:ea typeface="宋体" panose="02010600030101010101" pitchFamily="2" charset="-122"/>
              </a:endParaRPr>
            </a:p>
          </p:txBody>
        </p:sp>
        <p:sp>
          <p:nvSpPr>
            <p:cNvPr id="46084" name="矩形 8"/>
            <p:cNvSpPr/>
            <p:nvPr/>
          </p:nvSpPr>
          <p:spPr>
            <a:xfrm>
              <a:off x="0" y="574675"/>
              <a:ext cx="8497888" cy="1163637"/>
            </a:xfrm>
            <a:prstGeom prst="rect">
              <a:avLst/>
            </a:prstGeom>
            <a:noFill/>
            <a:ln w="9525">
              <a:noFill/>
            </a:ln>
          </p:spPr>
          <p:txBody>
            <a:bodyPr anchor="t">
              <a:spAutoFit/>
            </a:bodyPr>
            <a:lstStyle/>
            <a:p>
              <a:pPr lvl="1" indent="0" eaLnBrk="1" hangingPunct="1">
                <a:lnSpc>
                  <a:spcPct val="110000"/>
                </a:lnSpc>
                <a:buNone/>
              </a:pPr>
              <a:r>
                <a:rPr lang="en-US" altLang="x-none"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sym typeface="Arial" panose="020B0604020202020204" pitchFamily="34" charset="0"/>
                </a:rPr>
                <a:t>将数据结构和数据文件从应用程序中分离出来，交给</a:t>
              </a:r>
              <a:r>
                <a:rPr lang="en-US" altLang="x-none" sz="2200" b="0" dirty="0">
                  <a:latin typeface="楷体" panose="02010609060101010101" pitchFamily="1" charset="-122"/>
                  <a:ea typeface="楷体" panose="02010609060101010101" pitchFamily="1" charset="-122"/>
                  <a:sym typeface="Arial" panose="020B0604020202020204" pitchFamily="34" charset="0"/>
                </a:rPr>
                <a:t>DBMS</a:t>
              </a:r>
              <a:r>
                <a:rPr lang="zh-CN" altLang="en-US" sz="2200" b="0" dirty="0">
                  <a:latin typeface="楷体" panose="02010609060101010101" pitchFamily="1" charset="-122"/>
                  <a:ea typeface="楷体" panose="02010609060101010101" pitchFamily="1" charset="-122"/>
                  <a:sym typeface="Arial" panose="020B0604020202020204" pitchFamily="34" charset="0"/>
                </a:rPr>
                <a:t>处理和管理，使数据独立于应用程序。</a:t>
              </a:r>
              <a:r>
                <a:rPr lang="en-US" altLang="x-none" sz="2200" b="0" dirty="0">
                  <a:latin typeface="楷体" panose="02010609060101010101" pitchFamily="1" charset="-122"/>
                  <a:ea typeface="楷体" panose="02010609060101010101" pitchFamily="1" charset="-122"/>
                  <a:sym typeface="Arial" panose="020B0604020202020204" pitchFamily="34" charset="0"/>
                </a:rPr>
                <a:t>DBMS</a:t>
              </a:r>
              <a:r>
                <a:rPr lang="zh-CN" altLang="en-US" sz="2200" b="0" dirty="0">
                  <a:latin typeface="楷体" panose="02010609060101010101" pitchFamily="1" charset="-122"/>
                  <a:ea typeface="楷体" panose="02010609060101010101" pitchFamily="1" charset="-122"/>
                  <a:sym typeface="Arial" panose="020B0604020202020204" pitchFamily="34" charset="0"/>
                </a:rPr>
                <a:t>通过数据的物理独立性和数据的逻辑独立性两个方面来实现：</a:t>
              </a:r>
              <a:endParaRPr lang="en-US" altLang="x-none" sz="2200" b="0" dirty="0">
                <a:latin typeface="楷体" panose="02010609060101010101" pitchFamily="1" charset="-122"/>
                <a:ea typeface="楷体" panose="02010609060101010101" pitchFamily="1" charset="-122"/>
                <a:sym typeface="Arial" panose="020B0604020202020204" pitchFamily="34" charset="0"/>
              </a:endParaRPr>
            </a:p>
            <a:p>
              <a:pPr lvl="1" indent="0" eaLnBrk="1" hangingPunct="1">
                <a:lnSpc>
                  <a:spcPct val="110000"/>
                </a:lnSpc>
                <a:spcBef>
                  <a:spcPct val="50000"/>
                </a:spcBef>
                <a:buNone/>
              </a:pPr>
              <a:r>
                <a:rPr lang="zh-CN" altLang="en-US" sz="2200" u="sng" dirty="0">
                  <a:solidFill>
                    <a:srgbClr val="FF3300"/>
                  </a:solidFill>
                  <a:latin typeface="楷体" panose="02010609060101010101" pitchFamily="1" charset="-122"/>
                  <a:ea typeface="楷体" panose="02010609060101010101" pitchFamily="1" charset="-122"/>
                  <a:sym typeface="Arial" panose="020B0604020202020204" pitchFamily="34" charset="0"/>
                </a:rPr>
                <a:t>（</a:t>
              </a:r>
              <a:r>
                <a:rPr lang="en-US" altLang="x-none" sz="2200" u="sng" dirty="0">
                  <a:solidFill>
                    <a:srgbClr val="FF3300"/>
                  </a:solidFill>
                  <a:latin typeface="楷体" panose="02010609060101010101" pitchFamily="1" charset="-122"/>
                  <a:ea typeface="楷体" panose="02010609060101010101" pitchFamily="1" charset="-122"/>
                  <a:sym typeface="Arial" panose="020B0604020202020204" pitchFamily="34" charset="0"/>
                </a:rPr>
                <a:t>1</a:t>
              </a:r>
              <a:r>
                <a:rPr lang="zh-CN" altLang="en-US" sz="2200" u="sng" dirty="0">
                  <a:solidFill>
                    <a:srgbClr val="FF3300"/>
                  </a:solidFill>
                  <a:latin typeface="楷体" panose="02010609060101010101" pitchFamily="1" charset="-122"/>
                  <a:ea typeface="楷体" panose="02010609060101010101" pitchFamily="1" charset="-122"/>
                  <a:sym typeface="Arial" panose="020B0604020202020204" pitchFamily="34" charset="0"/>
                </a:rPr>
                <a:t>）数据的物理独立性：</a:t>
              </a:r>
              <a:r>
                <a:rPr lang="zh-CN" altLang="en-US" sz="2200" b="0" dirty="0">
                  <a:latin typeface="楷体" panose="02010609060101010101" pitchFamily="1" charset="-122"/>
                  <a:ea typeface="楷体" panose="02010609060101010101" pitchFamily="1" charset="-122"/>
                  <a:sym typeface="Arial" panose="020B0604020202020204" pitchFamily="34" charset="0"/>
                </a:rPr>
                <a:t>用户的应用程序与存储在磁盘上的数据库中数据是相互独立的。即，数据在磁盘上怎样存储由</a:t>
              </a:r>
              <a:r>
                <a:rPr lang="en-US" altLang="x-none" sz="2200" b="0" dirty="0">
                  <a:latin typeface="楷体" panose="02010609060101010101" pitchFamily="1" charset="-122"/>
                  <a:ea typeface="楷体" panose="02010609060101010101" pitchFamily="1" charset="-122"/>
                  <a:sym typeface="Arial" panose="020B0604020202020204" pitchFamily="34" charset="0"/>
                </a:rPr>
                <a:t>DBMS</a:t>
              </a:r>
              <a:r>
                <a:rPr lang="zh-CN" altLang="en-US" sz="2200" b="0" dirty="0">
                  <a:latin typeface="楷体" panose="02010609060101010101" pitchFamily="1" charset="-122"/>
                  <a:ea typeface="楷体" panose="02010609060101010101" pitchFamily="1" charset="-122"/>
                  <a:sym typeface="Arial" panose="020B0604020202020204" pitchFamily="34" charset="0"/>
                </a:rPr>
                <a:t>管理，用户程序不需要了解，应用程序要处理的只是数据的逻辑结构，这样当数据的物理存储改变了，应用程序不用改变。</a:t>
              </a:r>
              <a:endParaRPr lang="en-US" altLang="x-none" sz="2200" b="0" dirty="0">
                <a:latin typeface="楷体" panose="02010609060101010101" pitchFamily="1" charset="-122"/>
                <a:ea typeface="楷体" panose="02010609060101010101" pitchFamily="1" charset="-122"/>
                <a:sym typeface="Arial" panose="020B0604020202020204" pitchFamily="34" charset="0"/>
              </a:endParaRPr>
            </a:p>
            <a:p>
              <a:pPr lvl="1" indent="0" eaLnBrk="1" hangingPunct="1">
                <a:lnSpc>
                  <a:spcPct val="110000"/>
                </a:lnSpc>
                <a:spcBef>
                  <a:spcPct val="25000"/>
                </a:spcBef>
                <a:buNone/>
              </a:pPr>
              <a:r>
                <a:rPr lang="zh-CN" altLang="en-US" sz="2200" u="sng" dirty="0">
                  <a:solidFill>
                    <a:srgbClr val="FF3300"/>
                  </a:solidFill>
                  <a:latin typeface="楷体" panose="02010609060101010101" pitchFamily="1" charset="-122"/>
                  <a:ea typeface="楷体" panose="02010609060101010101" pitchFamily="1" charset="-122"/>
                  <a:sym typeface="Arial" panose="020B0604020202020204" pitchFamily="34" charset="0"/>
                </a:rPr>
                <a:t>（</a:t>
              </a:r>
              <a:r>
                <a:rPr lang="en-US" altLang="x-none" sz="2200" u="sng" dirty="0">
                  <a:solidFill>
                    <a:srgbClr val="FF3300"/>
                  </a:solidFill>
                  <a:latin typeface="楷体" panose="02010609060101010101" pitchFamily="1" charset="-122"/>
                  <a:ea typeface="楷体" panose="02010609060101010101" pitchFamily="1" charset="-122"/>
                  <a:sym typeface="Arial" panose="020B0604020202020204" pitchFamily="34" charset="0"/>
                </a:rPr>
                <a:t>2</a:t>
              </a:r>
              <a:r>
                <a:rPr lang="zh-CN" altLang="en-US" sz="2200" u="sng" dirty="0">
                  <a:solidFill>
                    <a:srgbClr val="FF3300"/>
                  </a:solidFill>
                  <a:latin typeface="楷体" panose="02010609060101010101" pitchFamily="1" charset="-122"/>
                  <a:ea typeface="楷体" panose="02010609060101010101" pitchFamily="1" charset="-122"/>
                  <a:sym typeface="Arial" panose="020B0604020202020204" pitchFamily="34" charset="0"/>
                </a:rPr>
                <a:t>）数据的逻辑独立性：</a:t>
              </a:r>
              <a:r>
                <a:rPr lang="zh-CN" altLang="en-US" sz="2200" b="0" dirty="0">
                  <a:latin typeface="楷体" panose="02010609060101010101" pitchFamily="1" charset="-122"/>
                  <a:ea typeface="楷体" panose="02010609060101010101" pitchFamily="1" charset="-122"/>
                  <a:sym typeface="Arial" panose="020B0604020202020204" pitchFamily="34" charset="0"/>
                </a:rPr>
                <a:t>用户的应用程序与数据库的逻辑结构是相互独立的，逻辑结构通过</a:t>
              </a:r>
              <a:r>
                <a:rPr lang="en-US" altLang="x-none" sz="2200" b="0" dirty="0">
                  <a:latin typeface="楷体" panose="02010609060101010101" pitchFamily="1" charset="-122"/>
                  <a:ea typeface="楷体" panose="02010609060101010101" pitchFamily="1" charset="-122"/>
                  <a:sym typeface="Arial" panose="020B0604020202020204" pitchFamily="34" charset="0"/>
                </a:rPr>
                <a:t>DDL</a:t>
              </a:r>
              <a:r>
                <a:rPr lang="zh-CN" altLang="en-US" sz="2200" b="0" dirty="0">
                  <a:latin typeface="楷体" panose="02010609060101010101" pitchFamily="1" charset="-122"/>
                  <a:ea typeface="楷体" panose="02010609060101010101" pitchFamily="1" charset="-122"/>
                  <a:sym typeface="Arial" panose="020B0604020202020204" pitchFamily="34" charset="0"/>
                </a:rPr>
                <a:t>语言由数据库设计人员在</a:t>
              </a:r>
              <a:r>
                <a:rPr lang="en-US" altLang="x-none" sz="2200" b="0" dirty="0">
                  <a:latin typeface="楷体" panose="02010609060101010101" pitchFamily="1" charset="-122"/>
                  <a:ea typeface="楷体" panose="02010609060101010101" pitchFamily="1" charset="-122"/>
                  <a:sym typeface="Arial" panose="020B0604020202020204" pitchFamily="34" charset="0"/>
                </a:rPr>
                <a:t>DBMS</a:t>
              </a:r>
              <a:r>
                <a:rPr lang="zh-CN" altLang="en-US" sz="2200" b="0" dirty="0">
                  <a:latin typeface="楷体" panose="02010609060101010101" pitchFamily="1" charset="-122"/>
                  <a:ea typeface="楷体" panose="02010609060101010101" pitchFamily="1" charset="-122"/>
                  <a:sym typeface="Arial" panose="020B0604020202020204" pitchFamily="34" charset="0"/>
                </a:rPr>
                <a:t>中进行定义和修改。即，当数据的逻辑结构改变时，用户程序也可以不变。</a:t>
              </a:r>
              <a:endParaRPr lang="zh-CN" altLang="en-US" sz="2200" b="0" dirty="0">
                <a:latin typeface="楷体" panose="02010609060101010101" pitchFamily="1" charset="-122"/>
                <a:ea typeface="楷体" panose="02010609060101010101" pitchFamily="1" charset="-122"/>
                <a:sym typeface="Arial" panose="020B0604020202020204" pitchFamily="34" charset="0"/>
              </a:endParaRPr>
            </a:p>
            <a:p>
              <a:pPr lvl="1" indent="0" eaLnBrk="1" hangingPunct="1">
                <a:lnSpc>
                  <a:spcPct val="110000"/>
                </a:lnSpc>
                <a:buNone/>
              </a:pPr>
              <a:endParaRPr lang="zh-CN" altLang="en-US" sz="2200" b="0" dirty="0">
                <a:latin typeface="楷体" panose="02010609060101010101" pitchFamily="1" charset="-122"/>
                <a:ea typeface="楷体" panose="02010609060101010101" pitchFamily="1" charset="-122"/>
                <a:sym typeface="Arial" panose="020B0604020202020204" pitchFamily="34" charset="0"/>
              </a:endParaRPr>
            </a:p>
          </p:txBody>
        </p:sp>
      </p:grpSp>
      <p:sp>
        <p:nvSpPr>
          <p:cNvPr id="3687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ext Box 6"/>
          <p:cNvSpPr txBox="1"/>
          <p:nvPr/>
        </p:nvSpPr>
        <p:spPr>
          <a:xfrm>
            <a:off x="490538" y="848995"/>
            <a:ext cx="8221662" cy="521970"/>
          </a:xfrm>
          <a:prstGeom prst="rect">
            <a:avLst/>
          </a:prstGeom>
          <a:noFill/>
          <a:ln w="9525">
            <a:noFill/>
          </a:ln>
        </p:spPr>
        <p:txBody>
          <a:bodyPr anchor="t">
            <a:spAutoFit/>
          </a:bodyP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3. </a:t>
            </a:r>
            <a:r>
              <a:rPr lang="zh-CN" altLang="en-US" sz="2800" dirty="0">
                <a:solidFill>
                  <a:srgbClr val="3333CC"/>
                </a:solidFill>
                <a:latin typeface="Arial" panose="020B0604020202020204" pitchFamily="34" charset="0"/>
                <a:ea typeface="黑体" panose="02010609060101010101" pitchFamily="1" charset="-122"/>
              </a:rPr>
              <a:t>数据库管理系统应具备的功能</a:t>
            </a:r>
            <a:endParaRPr lang="zh-CN" altLang="en-US" sz="2800" dirty="0">
              <a:solidFill>
                <a:srgbClr val="3333CC"/>
              </a:solidFill>
              <a:latin typeface="Arial" panose="020B0604020202020204" pitchFamily="34" charset="0"/>
              <a:ea typeface="黑体" panose="02010609060101010101" pitchFamily="1" charset="-122"/>
            </a:endParaRPr>
          </a:p>
        </p:txBody>
      </p:sp>
      <p:grpSp>
        <p:nvGrpSpPr>
          <p:cNvPr id="43018" name="组合 2"/>
          <p:cNvGrpSpPr/>
          <p:nvPr/>
        </p:nvGrpSpPr>
        <p:grpSpPr>
          <a:xfrm>
            <a:off x="427990" y="3833170"/>
            <a:ext cx="8440738" cy="980875"/>
            <a:chOff x="-87630" y="-1693493"/>
            <a:chExt cx="8440737" cy="980690"/>
          </a:xfrm>
        </p:grpSpPr>
        <p:sp>
          <p:nvSpPr>
            <p:cNvPr id="47111" name="矩形 9"/>
            <p:cNvSpPr/>
            <p:nvPr/>
          </p:nvSpPr>
          <p:spPr>
            <a:xfrm>
              <a:off x="165100" y="-1693493"/>
              <a:ext cx="6945312" cy="589169"/>
            </a:xfrm>
            <a:prstGeom prst="rect">
              <a:avLst/>
            </a:prstGeom>
            <a:noFill/>
            <a:ln w="9525">
              <a:noFill/>
            </a:ln>
          </p:spPr>
          <p:txBody>
            <a:bodyPr wrap="square" anchor="t">
              <a:spAutoFit/>
            </a:bodyPr>
            <a:lstStyle/>
            <a:p>
              <a:pPr lvl="0" indent="0">
                <a:buFont typeface="Wingdings" panose="05000000000000000000" pitchFamily="2" charset="2"/>
                <a:buChar char="u"/>
              </a:pPr>
              <a:r>
                <a:rPr lang="zh-CN" altLang="en-US" sz="2400" dirty="0">
                  <a:solidFill>
                    <a:srgbClr val="FF0000"/>
                  </a:solidFill>
                  <a:latin typeface="Arial" panose="020B0604020202020204" pitchFamily="34" charset="0"/>
                  <a:ea typeface="宋体" panose="02010600030101010101" pitchFamily="2" charset="-122"/>
                </a:rPr>
                <a:t> </a:t>
              </a:r>
              <a:r>
                <a:rPr lang="zh-CN" altLang="en-US" sz="2400" dirty="0">
                  <a:solidFill>
                    <a:srgbClr val="0033CC"/>
                  </a:solidFill>
                  <a:latin typeface="Arial" panose="020B0604020202020204" pitchFamily="34" charset="0"/>
                  <a:ea typeface="宋体" panose="02010600030101010101" pitchFamily="2" charset="-122"/>
                </a:rPr>
                <a:t>并发访问</a:t>
              </a:r>
              <a:r>
                <a:rPr lang="zh-CN" altLang="en-US" sz="2400" dirty="0">
                  <a:solidFill>
                    <a:srgbClr val="009900"/>
                  </a:solidFill>
                  <a:cs typeface="+mn-ea"/>
                  <a:sym typeface="+mn-ea"/>
                </a:rPr>
                <a:t>（</a:t>
              </a:r>
              <a:r>
                <a:rPr lang="en-US" altLang="x-none" sz="2400" dirty="0">
                  <a:solidFill>
                    <a:srgbClr val="009900"/>
                  </a:solidFill>
                  <a:sym typeface="+mn-ea"/>
                </a:rPr>
                <a:t>S</a:t>
              </a:r>
              <a:r>
                <a:rPr lang="en-US" altLang="zh-CN" sz="2400" dirty="0">
                  <a:solidFill>
                    <a:srgbClr val="009900"/>
                  </a:solidFill>
                  <a:sym typeface="+mn-ea"/>
                </a:rPr>
                <a:t>ynchronizing Acess</a:t>
              </a:r>
              <a:r>
                <a:rPr lang="zh-CN" altLang="en-US" sz="2400" dirty="0">
                  <a:solidFill>
                    <a:srgbClr val="009900"/>
                  </a:solidFill>
                  <a:sym typeface="+mn-ea"/>
                </a:rPr>
                <a:t>）</a:t>
              </a:r>
              <a:endParaRPr lang="zh-CN" altLang="en-US" sz="2400" dirty="0">
                <a:solidFill>
                  <a:srgbClr val="0033CC"/>
                </a:solidFill>
                <a:latin typeface="Arial" panose="020B0604020202020204" pitchFamily="34" charset="0"/>
                <a:ea typeface="宋体" panose="02010600030101010101" pitchFamily="2" charset="-122"/>
              </a:endParaRPr>
            </a:p>
          </p:txBody>
        </p:sp>
        <p:sp>
          <p:nvSpPr>
            <p:cNvPr id="47112" name="矩形 10"/>
            <p:cNvSpPr/>
            <p:nvPr/>
          </p:nvSpPr>
          <p:spPr>
            <a:xfrm>
              <a:off x="-87630" y="-1142617"/>
              <a:ext cx="8440737" cy="429814"/>
            </a:xfrm>
            <a:prstGeom prst="rect">
              <a:avLst/>
            </a:prstGeom>
            <a:noFill/>
            <a:ln w="9525">
              <a:noFill/>
            </a:ln>
          </p:spPr>
          <p:txBody>
            <a:bodyPr wrap="square" anchor="t">
              <a:spAutoFit/>
            </a:bodyPr>
            <a:lstStyle/>
            <a:p>
              <a:pPr lvl="1" indent="0" eaLnBrk="1" hangingPunct="1">
                <a:lnSpc>
                  <a:spcPct val="100000"/>
                </a:lnSpc>
                <a:spcBef>
                  <a:spcPct val="0"/>
                </a:spcBef>
                <a:spcAft>
                  <a:spcPct val="0"/>
                </a:spcAft>
                <a:buNone/>
              </a:pPr>
              <a:r>
                <a:rPr lang="en-US" altLang="x-none"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多个用户使用数据库，但用户感到只有他一个人在使用似的。</a:t>
              </a:r>
              <a:endParaRPr lang="zh-CN" altLang="en-US" sz="2200" b="0" dirty="0">
                <a:latin typeface="楷体" panose="02010609060101010101" pitchFamily="1" charset="-122"/>
                <a:ea typeface="楷体" panose="02010609060101010101" pitchFamily="1" charset="-122"/>
              </a:endParaRPr>
            </a:p>
          </p:txBody>
        </p:sp>
      </p:grpSp>
      <p:grpSp>
        <p:nvGrpSpPr>
          <p:cNvPr id="24" name="组合 23"/>
          <p:cNvGrpSpPr/>
          <p:nvPr/>
        </p:nvGrpSpPr>
        <p:grpSpPr>
          <a:xfrm>
            <a:off x="427990" y="4725035"/>
            <a:ext cx="8416290" cy="1355725"/>
            <a:chOff x="674" y="7441"/>
            <a:chExt cx="13254" cy="2135"/>
          </a:xfrm>
        </p:grpSpPr>
        <p:sp>
          <p:nvSpPr>
            <p:cNvPr id="4" name="文本框 3"/>
            <p:cNvSpPr txBox="1"/>
            <p:nvPr/>
          </p:nvSpPr>
          <p:spPr>
            <a:xfrm>
              <a:off x="674" y="8366"/>
              <a:ext cx="13255" cy="1210"/>
            </a:xfrm>
            <a:prstGeom prst="rect">
              <a:avLst/>
            </a:prstGeom>
            <a:noFill/>
          </p:spPr>
          <p:txBody>
            <a:bodyPr wrap="square" rtlCol="0" anchor="t">
              <a:spAutoFit/>
            </a:bodyPr>
            <a:lstStyle/>
            <a:p>
              <a:pPr lvl="1" indent="0" eaLnBrk="1" hangingPunct="1">
                <a:lnSpc>
                  <a:spcPct val="100000"/>
                </a:lnSpc>
                <a:spcBef>
                  <a:spcPct val="0"/>
                </a:spcBef>
                <a:spcAft>
                  <a:spcPct val="0"/>
                </a:spcAft>
                <a:buNone/>
              </a:pPr>
              <a:r>
                <a:rPr lang="en-US" altLang="x-none" sz="2200" b="0" dirty="0">
                  <a:latin typeface="楷体" panose="02010609060101010101" pitchFamily="1" charset="-122"/>
                  <a:ea typeface="楷体" panose="02010609060101010101" pitchFamily="1" charset="-122"/>
                  <a:sym typeface="+mn-ea"/>
                </a:rPr>
                <a:t>--</a:t>
              </a:r>
              <a:r>
                <a:rPr lang="zh-CN" altLang="en-US" sz="2200" b="0" dirty="0">
                  <a:latin typeface="楷体" panose="02010609060101010101" pitchFamily="1" charset="-122"/>
                  <a:ea typeface="楷体" panose="02010609060101010101" pitchFamily="1" charset="-122"/>
                  <a:sym typeface="+mn-ea"/>
                </a:rPr>
                <a:t>数据库在执行某个程序发生故障后，DBMS能把数据库恢复到这个程序开始执行前的正确状态。</a:t>
              </a:r>
              <a:endParaRPr lang="zh-CN" altLang="en-US" sz="2200"/>
            </a:p>
          </p:txBody>
        </p:sp>
        <p:sp>
          <p:nvSpPr>
            <p:cNvPr id="5" name="矩形 11"/>
            <p:cNvSpPr/>
            <p:nvPr/>
          </p:nvSpPr>
          <p:spPr>
            <a:xfrm>
              <a:off x="1132" y="7441"/>
              <a:ext cx="12378" cy="928"/>
            </a:xfrm>
            <a:prstGeom prst="rect">
              <a:avLst/>
            </a:prstGeom>
            <a:noFill/>
            <a:ln w="9525">
              <a:noFill/>
            </a:ln>
          </p:spPr>
          <p:txBody>
            <a:bodyPr anchor="t">
              <a:spAutoFit/>
            </a:bodyPr>
            <a:lstStyle/>
            <a:p>
              <a:pPr lvl="0" indent="0">
                <a:buNone/>
              </a:pPr>
              <a:r>
                <a:rPr lang="en-US" altLang="x-none" sz="2400" dirty="0">
                  <a:solidFill>
                    <a:srgbClr val="FF3300"/>
                  </a:solidFill>
                  <a:latin typeface="Arial" panose="020B0604020202020204" pitchFamily="34" charset="0"/>
                  <a:ea typeface="宋体" panose="02010600030101010101" pitchFamily="2" charset="-122"/>
                </a:rPr>
                <a:t>◆</a:t>
              </a:r>
              <a:r>
                <a:rPr lang="en-US" altLang="x-none" sz="2400" dirty="0">
                  <a:solidFill>
                    <a:srgbClr val="0000FF"/>
                  </a:solidFill>
                  <a:latin typeface="Arial" panose="020B0604020202020204" pitchFamily="34" charset="0"/>
                  <a:ea typeface="宋体" panose="02010600030101010101" pitchFamily="2" charset="-122"/>
                </a:rPr>
                <a:t> </a:t>
              </a:r>
              <a:r>
                <a:rPr lang="zh-CN" altLang="x-none" sz="2400" dirty="0">
                  <a:solidFill>
                    <a:srgbClr val="0000FF"/>
                  </a:solidFill>
                  <a:latin typeface="Arial" panose="020B0604020202020204" pitchFamily="34" charset="0"/>
                  <a:ea typeface="宋体" panose="02010600030101010101" pitchFamily="2" charset="-122"/>
                </a:rPr>
                <a:t>故障恢复</a:t>
              </a:r>
              <a:r>
                <a:rPr lang="zh-CN" altLang="en-US" sz="2400" dirty="0">
                  <a:solidFill>
                    <a:srgbClr val="009900"/>
                  </a:solidFill>
                  <a:cs typeface="+mn-ea"/>
                  <a:sym typeface="+mn-ea"/>
                </a:rPr>
                <a:t>（</a:t>
              </a:r>
              <a:r>
                <a:rPr lang="en-US" altLang="zh-CN" sz="2400" dirty="0">
                  <a:solidFill>
                    <a:srgbClr val="009900"/>
                  </a:solidFill>
                  <a:cs typeface="+mn-ea"/>
                  <a:sym typeface="+mn-ea"/>
                </a:rPr>
                <a:t>Failure Recovery</a:t>
              </a:r>
              <a:r>
                <a:rPr lang="zh-CN" altLang="en-US" sz="2400" dirty="0">
                  <a:solidFill>
                    <a:srgbClr val="009900"/>
                  </a:solidFill>
                  <a:sym typeface="+mn-ea"/>
                </a:rPr>
                <a:t>）</a:t>
              </a:r>
              <a:endParaRPr lang="zh-CN" altLang="en-US" sz="2400" dirty="0">
                <a:latin typeface="Arial" panose="020B0604020202020204" pitchFamily="34" charset="0"/>
                <a:ea typeface="宋体" panose="02010600030101010101" pitchFamily="2" charset="-122"/>
              </a:endParaRPr>
            </a:p>
          </p:txBody>
        </p:sp>
      </p:grpSp>
      <p:sp>
        <p:nvSpPr>
          <p:cNvPr id="11" name="矩形 11"/>
          <p:cNvSpPr/>
          <p:nvPr/>
        </p:nvSpPr>
        <p:spPr>
          <a:xfrm>
            <a:off x="627380" y="1337947"/>
            <a:ext cx="7859713" cy="589280"/>
          </a:xfrm>
          <a:prstGeom prst="rect">
            <a:avLst/>
          </a:prstGeom>
          <a:noFill/>
          <a:ln w="9525">
            <a:noFill/>
          </a:ln>
        </p:spPr>
        <p:txBody>
          <a:bodyPr anchor="t">
            <a:spAutoFit/>
          </a:bodyPr>
          <a:lstStyle/>
          <a:p>
            <a:pPr lvl="0" indent="0">
              <a:buNone/>
            </a:pPr>
            <a:r>
              <a:rPr lang="en-US" altLang="x-none" sz="2400" dirty="0">
                <a:solidFill>
                  <a:srgbClr val="FF3300"/>
                </a:solidFill>
                <a:latin typeface="Arial" panose="020B0604020202020204" pitchFamily="34" charset="0"/>
                <a:ea typeface="宋体" panose="02010600030101010101" pitchFamily="2" charset="-122"/>
              </a:rPr>
              <a:t>◆</a:t>
            </a:r>
            <a:r>
              <a:rPr lang="en-US" altLang="x-none" sz="2400" dirty="0">
                <a:solidFill>
                  <a:srgbClr val="0000FF"/>
                </a:solidFill>
                <a:latin typeface="Arial" panose="020B0604020202020204" pitchFamily="34" charset="0"/>
                <a:ea typeface="宋体" panose="02010600030101010101" pitchFamily="2" charset="-122"/>
              </a:rPr>
              <a:t> </a:t>
            </a:r>
            <a:r>
              <a:rPr lang="zh-CN" altLang="en-US" sz="2400" dirty="0">
                <a:solidFill>
                  <a:srgbClr val="0000FF"/>
                </a:solidFill>
                <a:latin typeface="Arial" panose="020B0604020202020204" pitchFamily="34" charset="0"/>
                <a:ea typeface="宋体" panose="02010600030101010101" pitchFamily="2" charset="-122"/>
              </a:rPr>
              <a:t>数据完整性</a:t>
            </a:r>
            <a:r>
              <a:rPr lang="zh-CN" altLang="en-US" sz="2400" dirty="0">
                <a:solidFill>
                  <a:srgbClr val="009900"/>
                </a:solidFill>
                <a:latin typeface="Arial" panose="020B0604020202020204" pitchFamily="34" charset="0"/>
                <a:ea typeface="宋体" panose="02010600030101010101" pitchFamily="2" charset="-122"/>
                <a:cs typeface="+mn-ea"/>
              </a:rPr>
              <a:t>（</a:t>
            </a:r>
            <a:r>
              <a:rPr lang="zh-CN" altLang="en-US" sz="2400" dirty="0">
                <a:solidFill>
                  <a:srgbClr val="009900"/>
                </a:solidFill>
                <a:cs typeface="+mn-ea"/>
                <a:sym typeface="+mn-ea"/>
              </a:rPr>
              <a:t>D</a:t>
            </a:r>
            <a:r>
              <a:rPr lang="en-US" altLang="x-none" sz="2400" dirty="0">
                <a:solidFill>
                  <a:srgbClr val="009900"/>
                </a:solidFill>
                <a:sym typeface="+mn-ea"/>
              </a:rPr>
              <a:t>ata Integrity</a:t>
            </a:r>
            <a:r>
              <a:rPr lang="zh-CN" altLang="en-US" sz="2400" dirty="0">
                <a:solidFill>
                  <a:srgbClr val="009900"/>
                </a:solidFill>
                <a:sym typeface="+mn-ea"/>
              </a:rPr>
              <a:t>）</a:t>
            </a:r>
            <a:endParaRPr lang="zh-CN" altLang="en-US" sz="2400" dirty="0">
              <a:solidFill>
                <a:srgbClr val="009900"/>
              </a:solidFill>
              <a:latin typeface="Arial" panose="020B0604020202020204" pitchFamily="34" charset="0"/>
              <a:ea typeface="宋体" panose="02010600030101010101" pitchFamily="2" charset="-122"/>
              <a:sym typeface="+mn-ea"/>
            </a:endParaRPr>
          </a:p>
        </p:txBody>
      </p:sp>
      <p:sp>
        <p:nvSpPr>
          <p:cNvPr id="12" name="文本框 11"/>
          <p:cNvSpPr txBox="1"/>
          <p:nvPr/>
        </p:nvSpPr>
        <p:spPr>
          <a:xfrm>
            <a:off x="381635" y="1927225"/>
            <a:ext cx="8188325" cy="768350"/>
          </a:xfrm>
          <a:prstGeom prst="rect">
            <a:avLst/>
          </a:prstGeom>
          <a:noFill/>
        </p:spPr>
        <p:txBody>
          <a:bodyPr wrap="square" rtlCol="0" anchor="t">
            <a:spAutoFit/>
          </a:bodyPr>
          <a:lstStyle/>
          <a:p>
            <a:pPr lvl="1" indent="0" algn="l">
              <a:lnSpc>
                <a:spcPct val="100000"/>
              </a:lnSpc>
              <a:spcBef>
                <a:spcPct val="0"/>
              </a:spcBef>
              <a:buNone/>
            </a:pPr>
            <a:r>
              <a:rPr lang="en-US" altLang="x-none" sz="2200" b="0" dirty="0">
                <a:latin typeface="楷体" panose="02010609060101010101" pitchFamily="1" charset="-122"/>
                <a:ea typeface="楷体" panose="02010609060101010101" pitchFamily="1" charset="-122"/>
                <a:sym typeface="+mn-ea"/>
              </a:rPr>
              <a:t>--</a:t>
            </a:r>
            <a:r>
              <a:rPr lang="zh-CN" altLang="en-US" sz="2200" b="0" dirty="0">
                <a:latin typeface="楷体" panose="02010609060101010101" pitchFamily="1" charset="-122"/>
                <a:ea typeface="楷体" panose="02010609060101010101" pitchFamily="1" charset="-122"/>
                <a:sym typeface="+mn-ea"/>
              </a:rPr>
              <a:t>DBMS建立完整性约束，如为每个数据项指定数据类型，允许用户指定主键约束、外键约束、一般性约束等数据验证规则。</a:t>
            </a:r>
            <a:endParaRPr lang="zh-CN" altLang="en-US" sz="2200"/>
          </a:p>
        </p:txBody>
      </p:sp>
      <p:grpSp>
        <p:nvGrpSpPr>
          <p:cNvPr id="23" name="组合 22"/>
          <p:cNvGrpSpPr/>
          <p:nvPr/>
        </p:nvGrpSpPr>
        <p:grpSpPr>
          <a:xfrm>
            <a:off x="370840" y="2607310"/>
            <a:ext cx="8357870" cy="1309370"/>
            <a:chOff x="584" y="4106"/>
            <a:chExt cx="13162" cy="2062"/>
          </a:xfrm>
        </p:grpSpPr>
        <p:sp>
          <p:nvSpPr>
            <p:cNvPr id="10" name="文本框 9"/>
            <p:cNvSpPr txBox="1"/>
            <p:nvPr/>
          </p:nvSpPr>
          <p:spPr>
            <a:xfrm>
              <a:off x="584" y="4958"/>
              <a:ext cx="13163" cy="1210"/>
            </a:xfrm>
            <a:prstGeom prst="rect">
              <a:avLst/>
            </a:prstGeom>
            <a:noFill/>
          </p:spPr>
          <p:txBody>
            <a:bodyPr wrap="square" rtlCol="0" anchor="t">
              <a:spAutoFit/>
            </a:bodyPr>
            <a:lstStyle/>
            <a:p>
              <a:pPr lvl="1" indent="0">
                <a:lnSpc>
                  <a:spcPct val="100000"/>
                </a:lnSpc>
                <a:spcBef>
                  <a:spcPct val="0"/>
                </a:spcBef>
                <a:buNone/>
              </a:pPr>
              <a:r>
                <a:rPr lang="en-US" altLang="x-none" sz="2200" b="0" dirty="0">
                  <a:latin typeface="楷体" panose="02010609060101010101" pitchFamily="1" charset="-122"/>
                  <a:ea typeface="楷体" panose="02010609060101010101" pitchFamily="1" charset="-122"/>
                  <a:sym typeface="+mn-ea"/>
                </a:rPr>
                <a:t>--</a:t>
              </a:r>
              <a:r>
                <a:rPr lang="zh-CN" altLang="en-US" sz="2200" b="0" dirty="0">
                  <a:latin typeface="楷体" panose="02010609060101010101" pitchFamily="1" charset="-122"/>
                  <a:ea typeface="楷体" panose="02010609060101010101" pitchFamily="1" charset="-122"/>
                  <a:sym typeface="+mn-ea"/>
                </a:rPr>
                <a:t>DBMS提供授权子系统，每个用户或用户组被赋予一个通过口令保护的帐户，不同的帐户有不同的访问权限。</a:t>
              </a:r>
              <a:endParaRPr lang="zh-CN" altLang="en-US" sz="2200"/>
            </a:p>
          </p:txBody>
        </p:sp>
        <p:sp>
          <p:nvSpPr>
            <p:cNvPr id="22" name="矩形 11"/>
            <p:cNvSpPr/>
            <p:nvPr/>
          </p:nvSpPr>
          <p:spPr>
            <a:xfrm>
              <a:off x="971" y="4106"/>
              <a:ext cx="12378" cy="928"/>
            </a:xfrm>
            <a:prstGeom prst="rect">
              <a:avLst/>
            </a:prstGeom>
            <a:noFill/>
            <a:ln w="9525">
              <a:noFill/>
            </a:ln>
          </p:spPr>
          <p:txBody>
            <a:bodyPr anchor="t">
              <a:spAutoFit/>
            </a:bodyPr>
            <a:lstStyle/>
            <a:p>
              <a:pPr lvl="0" indent="0">
                <a:buNone/>
              </a:pPr>
              <a:r>
                <a:rPr lang="en-US" altLang="x-none" sz="2400" dirty="0">
                  <a:solidFill>
                    <a:srgbClr val="FF3300"/>
                  </a:solidFill>
                  <a:latin typeface="Arial" panose="020B0604020202020204" pitchFamily="34" charset="0"/>
                  <a:ea typeface="宋体" panose="02010600030101010101" pitchFamily="2" charset="-122"/>
                </a:rPr>
                <a:t>◆</a:t>
              </a:r>
              <a:r>
                <a:rPr lang="en-US" altLang="x-none" sz="2400" dirty="0">
                  <a:solidFill>
                    <a:srgbClr val="0000FF"/>
                  </a:solidFill>
                  <a:latin typeface="Arial" panose="020B0604020202020204" pitchFamily="34" charset="0"/>
                  <a:ea typeface="宋体" panose="02010600030101010101" pitchFamily="2" charset="-122"/>
                </a:rPr>
                <a:t> </a:t>
              </a:r>
              <a:r>
                <a:rPr lang="zh-CN" altLang="en-US" sz="2400" dirty="0">
                  <a:solidFill>
                    <a:srgbClr val="0000FF"/>
                  </a:solidFill>
                  <a:latin typeface="Arial" panose="020B0604020202020204" pitchFamily="34" charset="0"/>
                  <a:ea typeface="宋体" panose="02010600030101010101" pitchFamily="2" charset="-122"/>
                </a:rPr>
                <a:t>数据安全性</a:t>
              </a:r>
              <a:r>
                <a:rPr lang="zh-CN" altLang="en-US" sz="2400" dirty="0">
                  <a:solidFill>
                    <a:srgbClr val="009900"/>
                  </a:solidFill>
                  <a:latin typeface="Arial" panose="020B0604020202020204" pitchFamily="34" charset="0"/>
                  <a:ea typeface="宋体" panose="02010600030101010101" pitchFamily="2" charset="-122"/>
                  <a:cs typeface="+mn-ea"/>
                </a:rPr>
                <a:t>（</a:t>
              </a:r>
              <a:r>
                <a:rPr lang="zh-CN" altLang="en-US" sz="2400" dirty="0">
                  <a:solidFill>
                    <a:srgbClr val="009900"/>
                  </a:solidFill>
                  <a:cs typeface="+mn-ea"/>
                  <a:sym typeface="+mn-ea"/>
                </a:rPr>
                <a:t>D</a:t>
              </a:r>
              <a:r>
                <a:rPr lang="en-US" altLang="x-none" sz="2400" dirty="0">
                  <a:solidFill>
                    <a:srgbClr val="009900"/>
                  </a:solidFill>
                  <a:sym typeface="+mn-ea"/>
                </a:rPr>
                <a:t>ata </a:t>
              </a:r>
              <a:r>
                <a:rPr lang="en-US" altLang="zh-CN" sz="2400" dirty="0">
                  <a:solidFill>
                    <a:srgbClr val="009900"/>
                  </a:solidFill>
                  <a:sym typeface="+mn-ea"/>
                </a:rPr>
                <a:t>Security</a:t>
              </a:r>
              <a:r>
                <a:rPr lang="zh-CN" altLang="en-US" sz="2400" dirty="0">
                  <a:solidFill>
                    <a:srgbClr val="009900"/>
                  </a:solidFill>
                  <a:sym typeface="+mn-ea"/>
                </a:rPr>
                <a:t>）</a:t>
              </a:r>
              <a:endParaRPr lang="zh-CN" altLang="en-US" sz="2400" dirty="0">
                <a:solidFill>
                  <a:srgbClr val="009900"/>
                </a:solidFill>
                <a:latin typeface="Arial" panose="020B0604020202020204" pitchFamily="34" charset="0"/>
                <a:ea typeface="宋体" panose="02010600030101010101" pitchFamily="2" charset="-122"/>
                <a:sym typeface="+mn-ea"/>
              </a:endParaRPr>
            </a:p>
          </p:txBody>
        </p:sp>
      </p:grpSp>
      <p:sp>
        <p:nvSpPr>
          <p:cNvPr id="3687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3018"/>
                                        </p:tgtEl>
                                        <p:attrNameLst>
                                          <p:attrName>style.visibility</p:attrName>
                                        </p:attrNameLst>
                                      </p:cBhvr>
                                      <p:to>
                                        <p:strVal val="visible"/>
                                      </p:to>
                                    </p:set>
                                    <p:anim calcmode="lin" valueType="num">
                                      <p:cBhvr additive="base">
                                        <p:cTn id="13" dur="500" fill="hold"/>
                                        <p:tgtEl>
                                          <p:spTgt spid="43018"/>
                                        </p:tgtEl>
                                        <p:attrNameLst>
                                          <p:attrName>ppt_x</p:attrName>
                                        </p:attrNameLst>
                                      </p:cBhvr>
                                      <p:tavLst>
                                        <p:tav tm="0">
                                          <p:val>
                                            <p:strVal val="#ppt_x"/>
                                          </p:val>
                                        </p:tav>
                                        <p:tav tm="100000">
                                          <p:val>
                                            <p:strVal val="#ppt_x"/>
                                          </p:val>
                                        </p:tav>
                                      </p:tavLst>
                                    </p:anim>
                                    <p:anim calcmode="lin" valueType="num">
                                      <p:cBhvr additive="base">
                                        <p:cTn id="14" dur="500" fill="hold"/>
                                        <p:tgtEl>
                                          <p:spTgt spid="430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500" fill="hold"/>
                                        <p:tgtEl>
                                          <p:spTgt spid="24"/>
                                        </p:tgtEl>
                                        <p:attrNameLst>
                                          <p:attrName>ppt_x</p:attrName>
                                        </p:attrNameLst>
                                      </p:cBhvr>
                                      <p:tavLst>
                                        <p:tav tm="0">
                                          <p:val>
                                            <p:strVal val="#ppt_x"/>
                                          </p:val>
                                        </p:tav>
                                        <p:tav tm="100000">
                                          <p:val>
                                            <p:strVal val="#ppt_x"/>
                                          </p:val>
                                        </p:tav>
                                      </p:tavLst>
                                    </p:anim>
                                    <p:anim calcmode="lin" valueType="num">
                                      <p:cBhvr additive="base">
                                        <p:cTn id="2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ext Box 6"/>
          <p:cNvSpPr txBox="1"/>
          <p:nvPr/>
        </p:nvSpPr>
        <p:spPr>
          <a:xfrm>
            <a:off x="490538" y="876935"/>
            <a:ext cx="8221662" cy="521970"/>
          </a:xfrm>
          <a:prstGeom prst="rect">
            <a:avLst/>
          </a:prstGeom>
          <a:noFill/>
          <a:ln w="9525">
            <a:noFill/>
          </a:ln>
        </p:spPr>
        <p:txBody>
          <a:bodyPr anchor="t">
            <a:spAutoFit/>
          </a:bodyP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3. </a:t>
            </a:r>
            <a:r>
              <a:rPr lang="zh-CN" altLang="en-US" sz="2800" dirty="0">
                <a:solidFill>
                  <a:srgbClr val="3333CC"/>
                </a:solidFill>
                <a:latin typeface="Arial" panose="020B0604020202020204" pitchFamily="34" charset="0"/>
                <a:ea typeface="黑体" panose="02010609060101010101" pitchFamily="1" charset="-122"/>
              </a:rPr>
              <a:t>数据库管理系统应具备的功能</a:t>
            </a:r>
            <a:endParaRPr lang="zh-CN" altLang="en-US" sz="2800" dirty="0">
              <a:solidFill>
                <a:srgbClr val="3333CC"/>
              </a:solidFill>
              <a:latin typeface="Arial" panose="020B0604020202020204" pitchFamily="34" charset="0"/>
              <a:ea typeface="黑体" panose="02010609060101010101" pitchFamily="1" charset="-122"/>
            </a:endParaRPr>
          </a:p>
        </p:txBody>
      </p:sp>
      <p:grpSp>
        <p:nvGrpSpPr>
          <p:cNvPr id="50178" name="组合 6"/>
          <p:cNvGrpSpPr/>
          <p:nvPr/>
        </p:nvGrpSpPr>
        <p:grpSpPr>
          <a:xfrm>
            <a:off x="846455" y="1452245"/>
            <a:ext cx="6267450" cy="2120900"/>
            <a:chOff x="0" y="0"/>
            <a:chExt cx="5689214" cy="2121448"/>
          </a:xfrm>
        </p:grpSpPr>
        <p:sp>
          <p:nvSpPr>
            <p:cNvPr id="47114" name="Rectangle 2"/>
            <p:cNvSpPr txBox="1"/>
            <p:nvPr/>
          </p:nvSpPr>
          <p:spPr>
            <a:xfrm>
              <a:off x="0" y="482725"/>
              <a:ext cx="2533761" cy="706620"/>
            </a:xfrm>
            <a:prstGeom prst="rect">
              <a:avLst/>
            </a:prstGeom>
            <a:noFill/>
            <a:ln w="9525">
              <a:noFill/>
            </a:ln>
          </p:spPr>
          <p:txBody>
            <a:bodyPr anchor="t"/>
            <a:lstStyle/>
            <a:p>
              <a:pPr lvl="0" indent="0">
                <a:lnSpc>
                  <a:spcPct val="125000"/>
                </a:lnSpc>
                <a:buNone/>
              </a:pPr>
              <a:r>
                <a:rPr lang="zh-CN" altLang="en-US" sz="2800" dirty="0">
                  <a:solidFill>
                    <a:srgbClr val="3333CC"/>
                  </a:solidFill>
                  <a:latin typeface="Arial" panose="020B0604020202020204" pitchFamily="34" charset="0"/>
                  <a:ea typeface="黑体" panose="02010609060101010101" pitchFamily="1" charset="-122"/>
                </a:rPr>
                <a:t>数据库管理系统的基本功能</a:t>
              </a:r>
              <a:endParaRPr lang="de-DE" altLang="en-US" sz="2800" dirty="0">
                <a:solidFill>
                  <a:srgbClr val="3333CC"/>
                </a:solidFill>
                <a:latin typeface="Arial" panose="020B0604020202020204" pitchFamily="34" charset="0"/>
                <a:ea typeface="黑体" panose="02010609060101010101" pitchFamily="1" charset="-122"/>
              </a:endParaRPr>
            </a:p>
          </p:txBody>
        </p:sp>
        <p:sp>
          <p:nvSpPr>
            <p:cNvPr id="47115" name="矩形 4"/>
            <p:cNvSpPr/>
            <p:nvPr/>
          </p:nvSpPr>
          <p:spPr>
            <a:xfrm>
              <a:off x="3222766" y="0"/>
              <a:ext cx="2466448" cy="2121448"/>
            </a:xfrm>
            <a:prstGeom prst="rect">
              <a:avLst/>
            </a:prstGeom>
            <a:noFill/>
            <a:ln w="9525">
              <a:noFill/>
            </a:ln>
          </p:spPr>
          <p:txBody>
            <a:bodyPr wrap="square" anchor="t">
              <a:spAutoFit/>
            </a:bodyPr>
            <a:lstStyle/>
            <a:p>
              <a:pPr lvl="0" indent="0">
                <a:lnSpc>
                  <a:spcPct val="120000"/>
                </a:lnSpc>
                <a:buFont typeface="Wingdings" panose="05000000000000000000" pitchFamily="2" charset="2"/>
                <a:buChar char="u"/>
              </a:pPr>
              <a:r>
                <a:rPr lang="zh-CN" altLang="en-US" sz="2200" dirty="0">
                  <a:latin typeface="Arial" panose="020B0604020202020204" pitchFamily="34" charset="0"/>
                  <a:ea typeface="宋体" panose="02010600030101010101" pitchFamily="2" charset="-122"/>
                </a:rPr>
                <a:t>数据独立性</a:t>
              </a:r>
              <a:endParaRPr lang="zh-CN" altLang="en-US" sz="2200" dirty="0">
                <a:latin typeface="Arial" panose="020B0604020202020204" pitchFamily="34" charset="0"/>
                <a:ea typeface="宋体" panose="02010600030101010101" pitchFamily="2" charset="-122"/>
              </a:endParaRPr>
            </a:p>
            <a:p>
              <a:pPr lvl="0" indent="0">
                <a:lnSpc>
                  <a:spcPct val="120000"/>
                </a:lnSpc>
                <a:buFont typeface="Wingdings" panose="05000000000000000000" pitchFamily="2" charset="2"/>
                <a:buChar char="u"/>
              </a:pPr>
              <a:r>
                <a:rPr lang="zh-CN" altLang="en-US" sz="2200" dirty="0">
                  <a:latin typeface="Arial" panose="020B0604020202020204" pitchFamily="34" charset="0"/>
                  <a:ea typeface="宋体" panose="02010600030101010101" pitchFamily="2" charset="-122"/>
                </a:rPr>
                <a:t>并发控制</a:t>
              </a:r>
              <a:endParaRPr lang="zh-CN" altLang="en-US" sz="2200" dirty="0">
                <a:latin typeface="Arial" panose="020B0604020202020204" pitchFamily="34" charset="0"/>
                <a:ea typeface="宋体" panose="02010600030101010101" pitchFamily="2" charset="-122"/>
              </a:endParaRPr>
            </a:p>
            <a:p>
              <a:pPr lvl="0" indent="0">
                <a:lnSpc>
                  <a:spcPct val="120000"/>
                </a:lnSpc>
                <a:buFont typeface="Wingdings" panose="05000000000000000000" pitchFamily="2" charset="2"/>
                <a:buChar char="u"/>
              </a:pPr>
              <a:r>
                <a:rPr lang="zh-CN" altLang="en-US" sz="2200" dirty="0">
                  <a:latin typeface="Arial" panose="020B0604020202020204" pitchFamily="34" charset="0"/>
                  <a:ea typeface="宋体" panose="02010600030101010101" pitchFamily="2" charset="-122"/>
                </a:rPr>
                <a:t>故障恢复</a:t>
              </a:r>
              <a:endParaRPr lang="zh-CN" altLang="en-US" sz="2200" dirty="0">
                <a:latin typeface="Arial" panose="020B0604020202020204" pitchFamily="34" charset="0"/>
                <a:ea typeface="宋体" panose="02010600030101010101" pitchFamily="2" charset="-122"/>
              </a:endParaRPr>
            </a:p>
            <a:p>
              <a:pPr lvl="0" indent="0">
                <a:lnSpc>
                  <a:spcPct val="120000"/>
                </a:lnSpc>
                <a:buFont typeface="Wingdings" panose="05000000000000000000" pitchFamily="2" charset="2"/>
                <a:buChar char="u"/>
              </a:pPr>
              <a:r>
                <a:rPr lang="zh-CN" altLang="en-US" sz="2200" dirty="0">
                  <a:latin typeface="Arial" panose="020B0604020202020204" pitchFamily="34" charset="0"/>
                  <a:ea typeface="宋体" panose="02010600030101010101" pitchFamily="2" charset="-122"/>
                </a:rPr>
                <a:t>安全性</a:t>
              </a:r>
              <a:endParaRPr lang="zh-CN" altLang="en-US" sz="2200" dirty="0">
                <a:latin typeface="Arial" panose="020B0604020202020204" pitchFamily="34" charset="0"/>
                <a:ea typeface="宋体" panose="02010600030101010101" pitchFamily="2" charset="-122"/>
              </a:endParaRPr>
            </a:p>
            <a:p>
              <a:pPr lvl="0" indent="0">
                <a:lnSpc>
                  <a:spcPct val="120000"/>
                </a:lnSpc>
                <a:buFont typeface="Wingdings" panose="05000000000000000000" pitchFamily="2" charset="2"/>
                <a:buChar char="u"/>
              </a:pPr>
              <a:r>
                <a:rPr lang="zh-CN" altLang="en-US" sz="2200" dirty="0">
                  <a:latin typeface="Arial" panose="020B0604020202020204" pitchFamily="34" charset="0"/>
                  <a:ea typeface="宋体" panose="02010600030101010101" pitchFamily="2" charset="-122"/>
                </a:rPr>
                <a:t>完整性</a:t>
              </a:r>
              <a:endParaRPr lang="zh-CN" altLang="en-US" sz="2200" dirty="0">
                <a:latin typeface="Arial" panose="020B0604020202020204" pitchFamily="34" charset="0"/>
                <a:ea typeface="宋体" panose="02010600030101010101" pitchFamily="2" charset="-122"/>
              </a:endParaRPr>
            </a:p>
          </p:txBody>
        </p:sp>
        <p:sp>
          <p:nvSpPr>
            <p:cNvPr id="44038" name="右箭头 5"/>
            <p:cNvSpPr/>
            <p:nvPr/>
          </p:nvSpPr>
          <p:spPr>
            <a:xfrm>
              <a:off x="2401992" y="600230"/>
              <a:ext cx="769972" cy="755845"/>
            </a:xfrm>
            <a:prstGeom prst="right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anchor="ctr">
              <a:spAutoFit/>
            </a:bodyPr>
            <a:lstStyle/>
            <a:p>
              <a:pPr marL="262255" lvl="0" indent="-262255" eaLnBrk="1" fontAlgn="base" hangingPunct="1">
                <a:buBlip>
                  <a:blip r:embed="rId1"/>
                </a:buBlip>
              </a:pP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grpSp>
      <p:sp>
        <p:nvSpPr>
          <p:cNvPr id="2" name="文本框 1"/>
          <p:cNvSpPr txBox="1"/>
          <p:nvPr/>
        </p:nvSpPr>
        <p:spPr>
          <a:xfrm>
            <a:off x="494665" y="3573145"/>
            <a:ext cx="8217535" cy="2526665"/>
          </a:xfrm>
          <a:prstGeom prst="rect">
            <a:avLst/>
          </a:prstGeom>
          <a:noFill/>
        </p:spPr>
        <p:txBody>
          <a:bodyPr wrap="square" rtlCol="0" anchor="t">
            <a:spAutoFit/>
          </a:bodyPr>
          <a:lstStyle/>
          <a:p>
            <a:pPr marL="342900" lvl="0" indent="-342900" fontAlgn="base">
              <a:lnSpc>
                <a:spcPct val="120000"/>
              </a:lnSpc>
              <a:spcBef>
                <a:spcPts val="20"/>
              </a:spcBef>
              <a:spcAft>
                <a:spcPts val="0"/>
              </a:spcAft>
              <a:buClr>
                <a:srgbClr val="0033CC"/>
              </a:buClr>
              <a:buSzPct val="80000"/>
              <a:buFont typeface="Wingdings" panose="05000000000000000000" pitchFamily="2" charset="2"/>
              <a:buChar char="u"/>
            </a:pPr>
            <a:r>
              <a:rPr lang="zh-CN" altLang="en-US" sz="2200" u="sng" dirty="0">
                <a:solidFill>
                  <a:srgbClr val="FF0000"/>
                </a:solidFill>
                <a:cs typeface="+mn-ea"/>
                <a:sym typeface="+mn-ea"/>
              </a:rPr>
              <a:t>数据库管理系统（Database Management System, DBMS）：</a:t>
            </a:r>
            <a:r>
              <a:rPr lang="zh-CN" altLang="en-US" sz="2200" u="sng" dirty="0">
                <a:solidFill>
                  <a:srgbClr val="0033CC"/>
                </a:solidFill>
                <a:latin typeface="楷体" panose="02010609060101010101" pitchFamily="1" charset="-122"/>
                <a:ea typeface="楷体" panose="02010609060101010101" pitchFamily="1" charset="-122"/>
                <a:cs typeface="+mn-ea"/>
                <a:sym typeface="+mn-ea"/>
              </a:rPr>
              <a:t>是一个通用的软件系统，由一组计算机程序构成，用于科学地组织和存储数据、高效地获取和维护数据。</a:t>
            </a:r>
            <a:r>
              <a:rPr lang="zh-CN" altLang="en-US" sz="2200" dirty="0">
                <a:latin typeface="楷体" panose="02010609060101010101" pitchFamily="1" charset="-122"/>
                <a:ea typeface="楷体" panose="02010609060101010101" pitchFamily="1" charset="-122"/>
                <a:cs typeface="+mn-ea"/>
                <a:sym typeface="+mn-ea"/>
              </a:rPr>
              <a:t>它能对数据库进行有效的管理，包括存储管理、安全性管理、完整性管理等；同时，它也为用户提供了一个软件环境，使其能够方便快速地创建、维护、检索、存取和处理数据库中的信息。</a:t>
            </a:r>
            <a:endParaRPr lang="zh-CN" altLang="en-US" sz="2200"/>
          </a:p>
        </p:txBody>
      </p:sp>
      <p:sp>
        <p:nvSpPr>
          <p:cNvPr id="3687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178"/>
                                        </p:tgtEl>
                                        <p:attrNameLst>
                                          <p:attrName>style.visibility</p:attrName>
                                        </p:attrNameLst>
                                      </p:cBhvr>
                                      <p:to>
                                        <p:strVal val="visible"/>
                                      </p:to>
                                    </p:set>
                                    <p:anim calcmode="lin" valueType="num">
                                      <p:cBhvr additive="base">
                                        <p:cTn id="7" dur="500" fill="hold"/>
                                        <p:tgtEl>
                                          <p:spTgt spid="50178"/>
                                        </p:tgtEl>
                                        <p:attrNameLst>
                                          <p:attrName>ppt_x</p:attrName>
                                        </p:attrNameLst>
                                      </p:cBhvr>
                                      <p:tavLst>
                                        <p:tav tm="0">
                                          <p:val>
                                            <p:strVal val="#ppt_x"/>
                                          </p:val>
                                        </p:tav>
                                        <p:tav tm="100000">
                                          <p:val>
                                            <p:strVal val="#ppt_x"/>
                                          </p:val>
                                        </p:tav>
                                      </p:tavLst>
                                    </p:anim>
                                    <p:anim calcmode="lin" valueType="num">
                                      <p:cBhvr additive="base">
                                        <p:cTn id="8" dur="500" fill="hold"/>
                                        <p:tgtEl>
                                          <p:spTgt spid="5017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105" name="组合 54312"/>
          <p:cNvGrpSpPr/>
          <p:nvPr/>
        </p:nvGrpSpPr>
        <p:grpSpPr>
          <a:xfrm>
            <a:off x="4486275" y="1537970"/>
            <a:ext cx="4622165" cy="2595245"/>
            <a:chOff x="1216" y="1162"/>
            <a:chExt cx="3867" cy="2263"/>
          </a:xfrm>
        </p:grpSpPr>
        <p:sp>
          <p:nvSpPr>
            <p:cNvPr id="47106" name="直接连接符 54277"/>
            <p:cNvSpPr/>
            <p:nvPr/>
          </p:nvSpPr>
          <p:spPr>
            <a:xfrm>
              <a:off x="1216" y="3425"/>
              <a:ext cx="0" cy="0"/>
            </a:xfrm>
            <a:prstGeom prst="line">
              <a:avLst/>
            </a:prstGeom>
            <a:ln w="9525" cap="flat" cmpd="sng">
              <a:solidFill>
                <a:srgbClr val="000000"/>
              </a:solidFill>
              <a:prstDash val="solid"/>
              <a:round/>
              <a:headEnd type="none" w="med" len="med"/>
              <a:tailEnd type="none" w="med" len="med"/>
            </a:ln>
          </p:spPr>
        </p:sp>
        <p:sp>
          <p:nvSpPr>
            <p:cNvPr id="47107" name="直接连接符 54278"/>
            <p:cNvSpPr/>
            <p:nvPr/>
          </p:nvSpPr>
          <p:spPr>
            <a:xfrm>
              <a:off x="1279" y="3171"/>
              <a:ext cx="64" cy="127"/>
            </a:xfrm>
            <a:prstGeom prst="line">
              <a:avLst/>
            </a:prstGeom>
            <a:ln w="9525" cap="flat" cmpd="sng">
              <a:solidFill>
                <a:srgbClr val="000000"/>
              </a:solidFill>
              <a:prstDash val="solid"/>
              <a:round/>
              <a:headEnd type="none" w="med" len="med"/>
              <a:tailEnd type="none" w="med" len="med"/>
            </a:ln>
          </p:spPr>
        </p:sp>
        <p:grpSp>
          <p:nvGrpSpPr>
            <p:cNvPr id="47108" name="组合 54280"/>
            <p:cNvGrpSpPr/>
            <p:nvPr/>
          </p:nvGrpSpPr>
          <p:grpSpPr>
            <a:xfrm>
              <a:off x="1562" y="2795"/>
              <a:ext cx="698" cy="372"/>
              <a:chOff x="2119" y="7370"/>
              <a:chExt cx="1155" cy="471"/>
            </a:xfrm>
          </p:grpSpPr>
          <p:sp>
            <p:nvSpPr>
              <p:cNvPr id="47109" name="矩形 54281"/>
              <p:cNvSpPr/>
              <p:nvPr/>
            </p:nvSpPr>
            <p:spPr>
              <a:xfrm>
                <a:off x="2224" y="7370"/>
                <a:ext cx="1050" cy="314"/>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sp>
            <p:nvSpPr>
              <p:cNvPr id="47110" name="直接连接符 54282"/>
              <p:cNvSpPr/>
              <p:nvPr/>
            </p:nvSpPr>
            <p:spPr>
              <a:xfrm flipH="1">
                <a:off x="2119" y="7684"/>
                <a:ext cx="105" cy="157"/>
              </a:xfrm>
              <a:prstGeom prst="line">
                <a:avLst/>
              </a:prstGeom>
              <a:ln w="9525" cap="flat" cmpd="sng">
                <a:solidFill>
                  <a:srgbClr val="000000"/>
                </a:solidFill>
                <a:prstDash val="solid"/>
                <a:round/>
                <a:headEnd type="none" w="med" len="med"/>
                <a:tailEnd type="none" w="med" len="med"/>
              </a:ln>
            </p:spPr>
          </p:sp>
          <p:sp>
            <p:nvSpPr>
              <p:cNvPr id="47111" name="直接连接符 54283"/>
              <p:cNvSpPr/>
              <p:nvPr/>
            </p:nvSpPr>
            <p:spPr>
              <a:xfrm flipH="1">
                <a:off x="3169" y="7684"/>
                <a:ext cx="105" cy="157"/>
              </a:xfrm>
              <a:prstGeom prst="line">
                <a:avLst/>
              </a:prstGeom>
              <a:ln w="9525" cap="flat" cmpd="sng">
                <a:solidFill>
                  <a:srgbClr val="000000"/>
                </a:solidFill>
                <a:prstDash val="solid"/>
                <a:round/>
                <a:headEnd type="none" w="med" len="med"/>
                <a:tailEnd type="none" w="med" len="med"/>
              </a:ln>
            </p:spPr>
          </p:sp>
          <p:sp>
            <p:nvSpPr>
              <p:cNvPr id="47112" name="直接连接符 54284"/>
              <p:cNvSpPr/>
              <p:nvPr/>
            </p:nvSpPr>
            <p:spPr>
              <a:xfrm>
                <a:off x="2119" y="7841"/>
                <a:ext cx="1050" cy="0"/>
              </a:xfrm>
              <a:prstGeom prst="line">
                <a:avLst/>
              </a:prstGeom>
              <a:ln w="9525" cap="flat" cmpd="sng">
                <a:solidFill>
                  <a:srgbClr val="000000"/>
                </a:solidFill>
                <a:prstDash val="solid"/>
                <a:round/>
                <a:headEnd type="none" w="med" len="med"/>
                <a:tailEnd type="none" w="med" len="med"/>
              </a:ln>
            </p:spPr>
          </p:sp>
        </p:grpSp>
        <p:grpSp>
          <p:nvGrpSpPr>
            <p:cNvPr id="47113" name="组合 54285"/>
            <p:cNvGrpSpPr/>
            <p:nvPr/>
          </p:nvGrpSpPr>
          <p:grpSpPr>
            <a:xfrm>
              <a:off x="1371" y="2919"/>
              <a:ext cx="254" cy="496"/>
              <a:chOff x="1909" y="7527"/>
              <a:chExt cx="420" cy="628"/>
            </a:xfrm>
          </p:grpSpPr>
          <p:grpSp>
            <p:nvGrpSpPr>
              <p:cNvPr id="47114" name="组合 54286"/>
              <p:cNvGrpSpPr/>
              <p:nvPr/>
            </p:nvGrpSpPr>
            <p:grpSpPr>
              <a:xfrm>
                <a:off x="1909" y="7527"/>
                <a:ext cx="261" cy="628"/>
                <a:chOff x="1909" y="7527"/>
                <a:chExt cx="261" cy="628"/>
              </a:xfrm>
            </p:grpSpPr>
            <p:sp>
              <p:nvSpPr>
                <p:cNvPr id="47115" name="流程图: 联系 54287"/>
                <p:cNvSpPr/>
                <p:nvPr/>
              </p:nvSpPr>
              <p:spPr>
                <a:xfrm>
                  <a:off x="2065" y="7527"/>
                  <a:ext cx="105" cy="142"/>
                </a:xfrm>
                <a:prstGeom prst="flowChartConnector">
                  <a:avLst/>
                </a:prstGeom>
                <a:solidFill>
                  <a:srgbClr val="FFFFFF"/>
                </a:solidFill>
                <a:ln w="9525" cap="flat" cmpd="sng">
                  <a:solidFill>
                    <a:srgbClr val="000000"/>
                  </a:solidFill>
                  <a:prstDash val="solid"/>
                  <a:round/>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sp>
              <p:nvSpPr>
                <p:cNvPr id="47116" name="任意多边形 54288"/>
                <p:cNvSpPr/>
                <p:nvPr/>
              </p:nvSpPr>
              <p:spPr>
                <a:xfrm flipH="1">
                  <a:off x="2008" y="7684"/>
                  <a:ext cx="105" cy="314"/>
                </a:xfrm>
                <a:custGeom>
                  <a:avLst/>
                  <a:gdLst/>
                  <a:ahLst/>
                  <a:cxnLst>
                    <a:cxn ang="270">
                      <a:pos x="0" y="0"/>
                    </a:cxn>
                    <a:cxn ang="90">
                      <a:pos x="21600" y="21600"/>
                    </a:cxn>
                    <a:cxn ang="90">
                      <a:pos x="0" y="21600"/>
                    </a:cxn>
                  </a:cxnLst>
                  <a:rect l="0" t="0" r="0" b="0"/>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47117" name="直接连接符 54289"/>
                <p:cNvSpPr/>
                <p:nvPr/>
              </p:nvSpPr>
              <p:spPr>
                <a:xfrm>
                  <a:off x="2014" y="7998"/>
                  <a:ext cx="105" cy="157"/>
                </a:xfrm>
                <a:prstGeom prst="line">
                  <a:avLst/>
                </a:prstGeom>
                <a:ln w="9525" cap="flat" cmpd="sng">
                  <a:solidFill>
                    <a:srgbClr val="000000"/>
                  </a:solidFill>
                  <a:prstDash val="solid"/>
                  <a:round/>
                  <a:headEnd type="none" w="med" len="med"/>
                  <a:tailEnd type="none" w="med" len="med"/>
                </a:ln>
              </p:spPr>
            </p:sp>
            <p:sp>
              <p:nvSpPr>
                <p:cNvPr id="47118" name="直接连接符 54290"/>
                <p:cNvSpPr/>
                <p:nvPr/>
              </p:nvSpPr>
              <p:spPr>
                <a:xfrm flipH="1">
                  <a:off x="1909" y="7998"/>
                  <a:ext cx="105" cy="157"/>
                </a:xfrm>
                <a:prstGeom prst="line">
                  <a:avLst/>
                </a:prstGeom>
                <a:ln w="9525" cap="flat" cmpd="sng">
                  <a:solidFill>
                    <a:srgbClr val="000000"/>
                  </a:solidFill>
                  <a:prstDash val="solid"/>
                  <a:round/>
                  <a:headEnd type="none" w="med" len="med"/>
                  <a:tailEnd type="none" w="med" len="med"/>
                </a:ln>
              </p:spPr>
            </p:sp>
          </p:grpSp>
          <p:sp>
            <p:nvSpPr>
              <p:cNvPr id="47119" name="直接连接符 54291"/>
              <p:cNvSpPr/>
              <p:nvPr/>
            </p:nvSpPr>
            <p:spPr>
              <a:xfrm>
                <a:off x="2119" y="7684"/>
                <a:ext cx="210" cy="157"/>
              </a:xfrm>
              <a:prstGeom prst="line">
                <a:avLst/>
              </a:prstGeom>
              <a:ln w="9525" cap="flat" cmpd="sng">
                <a:solidFill>
                  <a:srgbClr val="000000"/>
                </a:solidFill>
                <a:prstDash val="solid"/>
                <a:round/>
                <a:headEnd type="none" w="med" len="med"/>
                <a:tailEnd type="none" w="med" len="med"/>
              </a:ln>
            </p:spPr>
          </p:sp>
        </p:grpSp>
        <p:sp>
          <p:nvSpPr>
            <p:cNvPr id="47120" name="六边形 54292"/>
            <p:cNvSpPr/>
            <p:nvPr/>
          </p:nvSpPr>
          <p:spPr>
            <a:xfrm>
              <a:off x="2608" y="1706"/>
              <a:ext cx="953" cy="762"/>
            </a:xfrm>
            <a:prstGeom prst="hexagon">
              <a:avLst>
                <a:gd name="adj" fmla="val 31266"/>
                <a:gd name="vf" fmla="val 115470"/>
              </a:avLst>
            </a:prstGeom>
            <a:solidFill>
              <a:srgbClr val="FFFFFF"/>
            </a:solidFill>
            <a:ln w="9525" cap="flat" cmpd="sng">
              <a:solidFill>
                <a:srgbClr val="000000"/>
              </a:solidFill>
              <a:prstDash val="solid"/>
              <a:miter/>
              <a:headEnd type="none" w="med" len="med"/>
              <a:tailEnd type="none" w="med" len="med"/>
            </a:ln>
          </p:spPr>
          <p:txBody>
            <a:bodyPr lIns="0" tIns="190800" rIns="0" anchor="t"/>
            <a:lstStyle/>
            <a:p>
              <a:pPr algn="ctr">
                <a:buNone/>
              </a:pPr>
              <a:r>
                <a:rPr lang="en-US" altLang="zh-CN" sz="2000">
                  <a:latin typeface="Times New Roman" panose="02020603050405020304" pitchFamily="2" charset="0"/>
                  <a:ea typeface="宋体" panose="02010600030101010101" pitchFamily="2" charset="-122"/>
                </a:rPr>
                <a:t>DBMS</a:t>
              </a:r>
              <a:endParaRPr lang="en-US" altLang="zh-CN" sz="2000">
                <a:latin typeface="Times New Roman" panose="02020603050405020304" pitchFamily="2" charset="0"/>
                <a:ea typeface="宋体" panose="02010600030101010101" pitchFamily="2" charset="-122"/>
              </a:endParaRPr>
            </a:p>
          </p:txBody>
        </p:sp>
        <p:sp>
          <p:nvSpPr>
            <p:cNvPr id="47121" name="圆柱形 54293"/>
            <p:cNvSpPr/>
            <p:nvPr/>
          </p:nvSpPr>
          <p:spPr>
            <a:xfrm>
              <a:off x="4130" y="1344"/>
              <a:ext cx="953" cy="1778"/>
            </a:xfrm>
            <a:prstGeom prst="can">
              <a:avLst>
                <a:gd name="adj" fmla="val 46639"/>
              </a:avLst>
            </a:prstGeom>
            <a:solidFill>
              <a:srgbClr val="FFFFFF"/>
            </a:solidFill>
            <a:ln w="9525" cap="flat" cmpd="sng">
              <a:solidFill>
                <a:srgbClr val="000000"/>
              </a:solidFill>
              <a:prstDash val="solid"/>
              <a:round/>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sp>
          <p:nvSpPr>
            <p:cNvPr id="47122" name="矩形 54295"/>
            <p:cNvSpPr/>
            <p:nvPr/>
          </p:nvSpPr>
          <p:spPr>
            <a:xfrm>
              <a:off x="4316" y="2024"/>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sp>
          <p:nvSpPr>
            <p:cNvPr id="47123" name="矩形 54296"/>
            <p:cNvSpPr/>
            <p:nvPr/>
          </p:nvSpPr>
          <p:spPr>
            <a:xfrm>
              <a:off x="4316" y="2405"/>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sp>
          <p:nvSpPr>
            <p:cNvPr id="47124" name="矩形 54297"/>
            <p:cNvSpPr/>
            <p:nvPr/>
          </p:nvSpPr>
          <p:spPr>
            <a:xfrm>
              <a:off x="4697" y="2405"/>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sp>
          <p:nvSpPr>
            <p:cNvPr id="47125" name="矩形 54298"/>
            <p:cNvSpPr/>
            <p:nvPr/>
          </p:nvSpPr>
          <p:spPr>
            <a:xfrm>
              <a:off x="4507" y="2786"/>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sp>
          <p:nvSpPr>
            <p:cNvPr id="47126" name="直接连接符 54299"/>
            <p:cNvSpPr/>
            <p:nvPr/>
          </p:nvSpPr>
          <p:spPr>
            <a:xfrm>
              <a:off x="4443" y="2151"/>
              <a:ext cx="0" cy="254"/>
            </a:xfrm>
            <a:prstGeom prst="line">
              <a:avLst/>
            </a:prstGeom>
            <a:ln w="9525" cap="flat" cmpd="sng">
              <a:solidFill>
                <a:srgbClr val="000000"/>
              </a:solidFill>
              <a:prstDash val="solid"/>
              <a:round/>
              <a:headEnd type="none" w="med" len="med"/>
              <a:tailEnd type="triangle" w="med" len="med"/>
            </a:ln>
          </p:spPr>
        </p:sp>
        <p:sp>
          <p:nvSpPr>
            <p:cNvPr id="47127" name="直接连接符 54300"/>
            <p:cNvSpPr/>
            <p:nvPr/>
          </p:nvSpPr>
          <p:spPr>
            <a:xfrm>
              <a:off x="4507" y="2532"/>
              <a:ext cx="63" cy="254"/>
            </a:xfrm>
            <a:prstGeom prst="line">
              <a:avLst/>
            </a:prstGeom>
            <a:ln w="9525" cap="flat" cmpd="sng">
              <a:solidFill>
                <a:srgbClr val="000000"/>
              </a:solidFill>
              <a:prstDash val="solid"/>
              <a:round/>
              <a:headEnd type="none" w="med" len="med"/>
              <a:tailEnd type="triangle" w="med" len="med"/>
            </a:ln>
          </p:spPr>
        </p:sp>
        <p:sp>
          <p:nvSpPr>
            <p:cNvPr id="47128" name="直接连接符 54301"/>
            <p:cNvSpPr/>
            <p:nvPr/>
          </p:nvSpPr>
          <p:spPr>
            <a:xfrm flipH="1">
              <a:off x="4697" y="2532"/>
              <a:ext cx="64" cy="254"/>
            </a:xfrm>
            <a:prstGeom prst="line">
              <a:avLst/>
            </a:prstGeom>
            <a:ln w="9525" cap="flat" cmpd="sng">
              <a:solidFill>
                <a:srgbClr val="000000"/>
              </a:solidFill>
              <a:prstDash val="solid"/>
              <a:round/>
              <a:headEnd type="none" w="med" len="med"/>
              <a:tailEnd type="triangle" w="med" len="med"/>
            </a:ln>
          </p:spPr>
        </p:sp>
        <p:sp>
          <p:nvSpPr>
            <p:cNvPr id="47129" name="直接连接符 54302"/>
            <p:cNvSpPr/>
            <p:nvPr/>
          </p:nvSpPr>
          <p:spPr>
            <a:xfrm>
              <a:off x="3560" y="2069"/>
              <a:ext cx="571" cy="0"/>
            </a:xfrm>
            <a:prstGeom prst="line">
              <a:avLst/>
            </a:prstGeom>
            <a:ln w="9525" cap="flat" cmpd="sng">
              <a:solidFill>
                <a:srgbClr val="000000"/>
              </a:solidFill>
              <a:prstDash val="solid"/>
              <a:round/>
              <a:headEnd type="none" w="med" len="med"/>
              <a:tailEnd type="none" w="med" len="med"/>
            </a:ln>
          </p:spPr>
        </p:sp>
        <p:sp>
          <p:nvSpPr>
            <p:cNvPr id="47130" name="直接连接符 54303"/>
            <p:cNvSpPr/>
            <p:nvPr/>
          </p:nvSpPr>
          <p:spPr>
            <a:xfrm>
              <a:off x="2245" y="1480"/>
              <a:ext cx="590" cy="226"/>
            </a:xfrm>
            <a:prstGeom prst="line">
              <a:avLst/>
            </a:prstGeom>
            <a:ln w="9525" cap="flat" cmpd="sng">
              <a:solidFill>
                <a:srgbClr val="000000"/>
              </a:solidFill>
              <a:prstDash val="solid"/>
              <a:round/>
              <a:headEnd type="none" w="med" len="med"/>
              <a:tailEnd type="none" w="med" len="med"/>
            </a:ln>
          </p:spPr>
        </p:sp>
        <p:sp>
          <p:nvSpPr>
            <p:cNvPr id="47131" name="直接连接符 54304"/>
            <p:cNvSpPr/>
            <p:nvPr/>
          </p:nvSpPr>
          <p:spPr>
            <a:xfrm>
              <a:off x="2290" y="2069"/>
              <a:ext cx="318" cy="0"/>
            </a:xfrm>
            <a:prstGeom prst="line">
              <a:avLst/>
            </a:prstGeom>
            <a:ln w="9525" cap="flat" cmpd="sng">
              <a:solidFill>
                <a:srgbClr val="000000"/>
              </a:solidFill>
              <a:prstDash val="solid"/>
              <a:round/>
              <a:headEnd type="none" w="med" len="med"/>
              <a:tailEnd type="none" w="med" len="med"/>
            </a:ln>
          </p:spPr>
        </p:sp>
        <p:sp>
          <p:nvSpPr>
            <p:cNvPr id="47132" name="直接连接符 54305"/>
            <p:cNvSpPr/>
            <p:nvPr/>
          </p:nvSpPr>
          <p:spPr>
            <a:xfrm flipV="1">
              <a:off x="2290" y="2478"/>
              <a:ext cx="545" cy="498"/>
            </a:xfrm>
            <a:prstGeom prst="line">
              <a:avLst/>
            </a:prstGeom>
            <a:ln w="9525" cap="flat" cmpd="sng">
              <a:solidFill>
                <a:srgbClr val="000000"/>
              </a:solidFill>
              <a:prstDash val="solid"/>
              <a:round/>
              <a:headEnd type="none" w="med" len="med"/>
              <a:tailEnd type="none" w="med" len="med"/>
            </a:ln>
          </p:spPr>
        </p:sp>
        <p:sp>
          <p:nvSpPr>
            <p:cNvPr id="47133" name="文本框 54306"/>
            <p:cNvSpPr txBox="1"/>
            <p:nvPr/>
          </p:nvSpPr>
          <p:spPr>
            <a:xfrm>
              <a:off x="1282" y="1162"/>
              <a:ext cx="1209" cy="434"/>
            </a:xfrm>
            <a:prstGeom prst="rect">
              <a:avLst/>
            </a:prstGeom>
            <a:solidFill>
              <a:srgbClr val="FFFFFF"/>
            </a:solidFill>
            <a:ln w="9525" cap="flat" cmpd="sng">
              <a:solidFill>
                <a:srgbClr val="000000"/>
              </a:solidFill>
              <a:prstDash val="solid"/>
              <a:miter/>
              <a:headEnd type="none" w="med" len="med"/>
              <a:tailEnd type="none" w="med" len="med"/>
            </a:ln>
          </p:spPr>
          <p:txBody>
            <a:bodyPr tIns="118800" anchor="t"/>
            <a:lstStyle/>
            <a:p>
              <a:pPr algn="just">
                <a:buNone/>
              </a:pPr>
              <a:r>
                <a:rPr lang="zh-CN" altLang="en-US" sz="2000" dirty="0">
                  <a:latin typeface="Times New Roman" panose="02020603050405020304" pitchFamily="2" charset="0"/>
                  <a:ea typeface="宋体" panose="02010600030101010101" pitchFamily="2" charset="-122"/>
                </a:rPr>
                <a:t>应用程序</a:t>
              </a:r>
              <a:r>
                <a:rPr lang="en-US" altLang="zh-CN" sz="2000">
                  <a:latin typeface="Times New Roman" panose="02020603050405020304" pitchFamily="2" charset="0"/>
                  <a:ea typeface="宋体" panose="02010600030101010101" pitchFamily="2" charset="-122"/>
                </a:rPr>
                <a:t>1</a:t>
              </a:r>
              <a:endParaRPr lang="en-US" altLang="zh-CN" sz="2000">
                <a:latin typeface="Times New Roman" panose="02020603050405020304" pitchFamily="2" charset="0"/>
                <a:ea typeface="宋体" panose="02010600030101010101" pitchFamily="2" charset="-122"/>
              </a:endParaRPr>
            </a:p>
          </p:txBody>
        </p:sp>
        <p:sp>
          <p:nvSpPr>
            <p:cNvPr id="47134" name="文本框 54307"/>
            <p:cNvSpPr txBox="1"/>
            <p:nvPr/>
          </p:nvSpPr>
          <p:spPr>
            <a:xfrm>
              <a:off x="1279" y="1933"/>
              <a:ext cx="1212" cy="472"/>
            </a:xfrm>
            <a:prstGeom prst="rect">
              <a:avLst/>
            </a:prstGeom>
            <a:solidFill>
              <a:srgbClr val="FFFFFF"/>
            </a:solidFill>
            <a:ln w="9525" cap="flat" cmpd="sng">
              <a:solidFill>
                <a:srgbClr val="000000"/>
              </a:solidFill>
              <a:prstDash val="solid"/>
              <a:miter/>
              <a:headEnd type="none" w="med" len="med"/>
              <a:tailEnd type="none" w="med" len="med"/>
            </a:ln>
          </p:spPr>
          <p:txBody>
            <a:bodyPr tIns="118800" anchor="t"/>
            <a:lstStyle/>
            <a:p>
              <a:pPr algn="just">
                <a:buNone/>
              </a:pPr>
              <a:r>
                <a:rPr lang="zh-CN" altLang="en-US" sz="2000" dirty="0">
                  <a:latin typeface="Times New Roman" panose="02020603050405020304" pitchFamily="2" charset="0"/>
                  <a:ea typeface="宋体" panose="02010600030101010101" pitchFamily="2" charset="-122"/>
                </a:rPr>
                <a:t>应用程序</a:t>
              </a:r>
              <a:r>
                <a:rPr lang="en-US" altLang="zh-CN" sz="2000">
                  <a:latin typeface="Times New Roman" panose="02020603050405020304" pitchFamily="2" charset="0"/>
                  <a:ea typeface="宋体" panose="02010600030101010101" pitchFamily="2" charset="-122"/>
                </a:rPr>
                <a:t>2</a:t>
              </a:r>
              <a:endParaRPr lang="en-US" altLang="zh-CN" sz="2000">
                <a:latin typeface="Times New Roman" panose="02020603050405020304" pitchFamily="2" charset="0"/>
                <a:ea typeface="宋体" panose="02010600030101010101" pitchFamily="2" charset="-122"/>
              </a:endParaRPr>
            </a:p>
          </p:txBody>
        </p:sp>
        <p:sp>
          <p:nvSpPr>
            <p:cNvPr id="47135" name="文本框 54309"/>
            <p:cNvSpPr txBox="1"/>
            <p:nvPr/>
          </p:nvSpPr>
          <p:spPr>
            <a:xfrm>
              <a:off x="4332" y="1434"/>
              <a:ext cx="653" cy="253"/>
            </a:xfrm>
            <a:prstGeom prst="rect">
              <a:avLst/>
            </a:prstGeom>
            <a:solidFill>
              <a:srgbClr val="FFFFFF"/>
            </a:solidFill>
            <a:ln w="9525">
              <a:noFill/>
            </a:ln>
          </p:spPr>
          <p:txBody>
            <a:bodyPr lIns="0" tIns="0" rIns="0" bIns="0" anchor="t"/>
            <a:lstStyle/>
            <a:p>
              <a:pPr algn="ctr">
                <a:buNone/>
              </a:pPr>
              <a:r>
                <a:rPr lang="zh-CN" altLang="en-US" sz="2000" dirty="0">
                  <a:latin typeface="Times New Roman" panose="02020603050405020304" pitchFamily="2" charset="0"/>
                  <a:ea typeface="宋体" panose="02010600030101010101" pitchFamily="2" charset="-122"/>
                </a:rPr>
                <a:t>数据库</a:t>
              </a:r>
              <a:endParaRPr lang="zh-CN" altLang="en-US" sz="2000" dirty="0">
                <a:latin typeface="Times New Roman" panose="02020603050405020304" pitchFamily="2" charset="0"/>
                <a:ea typeface="宋体" panose="02010600030101010101" pitchFamily="2" charset="-122"/>
              </a:endParaRPr>
            </a:p>
          </p:txBody>
        </p:sp>
        <p:sp>
          <p:nvSpPr>
            <p:cNvPr id="47136" name="文本框 54310"/>
            <p:cNvSpPr txBox="1"/>
            <p:nvPr/>
          </p:nvSpPr>
          <p:spPr>
            <a:xfrm>
              <a:off x="1353" y="2341"/>
              <a:ext cx="848" cy="528"/>
            </a:xfrm>
            <a:prstGeom prst="rect">
              <a:avLst/>
            </a:prstGeom>
            <a:noFill/>
            <a:ln w="9525">
              <a:noFill/>
            </a:ln>
          </p:spPr>
          <p:txBody>
            <a:bodyPr vert="eaVert" anchor="t">
              <a:spAutoFit/>
            </a:bodyPr>
            <a:lstStyle/>
            <a:p>
              <a:pPr>
                <a:spcBef>
                  <a:spcPct val="50000"/>
                </a:spcBef>
                <a:buNone/>
              </a:pPr>
              <a:r>
                <a:rPr lang="en-US" altLang="zh-CN" sz="4000" b="0">
                  <a:latin typeface="Times New Roman" panose="02020603050405020304" pitchFamily="2" charset="0"/>
                  <a:ea typeface="宋体" panose="02010600030101010101" pitchFamily="2" charset="-122"/>
                </a:rPr>
                <a:t>…</a:t>
              </a:r>
              <a:endParaRPr lang="en-US" altLang="zh-CN" sz="4000" b="0">
                <a:latin typeface="Times New Roman" panose="02020603050405020304" pitchFamily="2" charset="0"/>
                <a:ea typeface="宋体" panose="02010600030101010101" pitchFamily="2" charset="-122"/>
              </a:endParaRPr>
            </a:p>
          </p:txBody>
        </p:sp>
      </p:grpSp>
      <p:sp>
        <p:nvSpPr>
          <p:cNvPr id="47139" name="文本框 1"/>
          <p:cNvSpPr txBox="1"/>
          <p:nvPr/>
        </p:nvSpPr>
        <p:spPr>
          <a:xfrm>
            <a:off x="4975860" y="4086225"/>
            <a:ext cx="3865880" cy="977265"/>
          </a:xfrm>
          <a:prstGeom prst="rect">
            <a:avLst/>
          </a:prstGeom>
          <a:noFill/>
          <a:ln w="9525">
            <a:noFill/>
          </a:ln>
        </p:spPr>
        <p:txBody>
          <a:bodyPr wrap="square" lIns="36195" rIns="36195" anchor="t">
            <a:spAutoFit/>
          </a:bodyPr>
          <a:lstStyle/>
          <a:p>
            <a:pPr marL="342900" indent="-342900">
              <a:lnSpc>
                <a:spcPct val="120000"/>
              </a:lnSpc>
              <a:buFont typeface="Wingdings" panose="05000000000000000000" charset="0"/>
              <a:buChar char="p"/>
            </a:pPr>
            <a:r>
              <a:rPr lang="zh-CN" altLang="en-US" sz="2400" dirty="0">
                <a:solidFill>
                  <a:srgbClr val="0033CC"/>
                </a:solidFill>
                <a:latin typeface="华文中宋" panose="02010600040101010101" pitchFamily="2" charset="-122"/>
                <a:ea typeface="华文中宋" panose="02010600040101010101" pitchFamily="2" charset="-122"/>
              </a:rPr>
              <a:t>数据库系统阶段应用程序与数据之间的对应关系</a:t>
            </a:r>
            <a:endParaRPr lang="zh-CN" altLang="en-US" sz="2400" dirty="0">
              <a:solidFill>
                <a:srgbClr val="0033CC"/>
              </a:solidFill>
              <a:latin typeface="华文中宋" panose="02010600040101010101" pitchFamily="2" charset="-122"/>
              <a:ea typeface="华文中宋" panose="02010600040101010101" pitchFamily="2" charset="-122"/>
            </a:endParaRPr>
          </a:p>
        </p:txBody>
      </p:sp>
      <p:grpSp>
        <p:nvGrpSpPr>
          <p:cNvPr id="36865" name="组合 39961"/>
          <p:cNvGrpSpPr/>
          <p:nvPr/>
        </p:nvGrpSpPr>
        <p:grpSpPr>
          <a:xfrm>
            <a:off x="113030" y="3347720"/>
            <a:ext cx="4301490" cy="2712085"/>
            <a:chOff x="1292" y="1389"/>
            <a:chExt cx="2903" cy="2087"/>
          </a:xfrm>
        </p:grpSpPr>
        <p:sp>
          <p:nvSpPr>
            <p:cNvPr id="36866" name="文本框 39940"/>
            <p:cNvSpPr txBox="1"/>
            <p:nvPr/>
          </p:nvSpPr>
          <p:spPr>
            <a:xfrm>
              <a:off x="1292" y="1389"/>
              <a:ext cx="1043" cy="392"/>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ctr">
                <a:buNone/>
              </a:pPr>
              <a:r>
                <a:rPr lang="zh-CN" altLang="en-US" sz="2000" dirty="0">
                  <a:latin typeface="Times New Roman" panose="02020603050405020304" pitchFamily="2" charset="0"/>
                  <a:ea typeface="宋体" panose="02010600030101010101" pitchFamily="2" charset="-122"/>
                </a:rPr>
                <a:t>应用程序１</a:t>
              </a:r>
              <a:endParaRPr lang="zh-CN" altLang="en-US" sz="2000" dirty="0">
                <a:latin typeface="Times New Roman" panose="02020603050405020304" pitchFamily="2" charset="0"/>
                <a:ea typeface="宋体" panose="02010600030101010101" pitchFamily="2" charset="-122"/>
              </a:endParaRPr>
            </a:p>
          </p:txBody>
        </p:sp>
        <p:sp>
          <p:nvSpPr>
            <p:cNvPr id="36867" name="文本框 39941"/>
            <p:cNvSpPr txBox="1"/>
            <p:nvPr/>
          </p:nvSpPr>
          <p:spPr>
            <a:xfrm>
              <a:off x="3307" y="1396"/>
              <a:ext cx="888" cy="385"/>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ctr"/>
              <a:r>
                <a:rPr lang="zh-CN" altLang="en-US" sz="2000" dirty="0">
                  <a:latin typeface="Times New Roman" panose="02020603050405020304" pitchFamily="2" charset="0"/>
                  <a:ea typeface="宋体" panose="02010600030101010101" pitchFamily="2" charset="-122"/>
                </a:rPr>
                <a:t>文件１</a:t>
              </a:r>
              <a:endParaRPr lang="zh-CN" altLang="en-US" sz="2000" dirty="0">
                <a:latin typeface="Times New Roman" panose="02020603050405020304" pitchFamily="2" charset="0"/>
                <a:ea typeface="宋体" panose="02010600030101010101" pitchFamily="2" charset="-122"/>
              </a:endParaRPr>
            </a:p>
          </p:txBody>
        </p:sp>
        <p:sp>
          <p:nvSpPr>
            <p:cNvPr id="36868" name="直接连接符 39942"/>
            <p:cNvSpPr/>
            <p:nvPr/>
          </p:nvSpPr>
          <p:spPr>
            <a:xfrm>
              <a:off x="2260" y="1593"/>
              <a:ext cx="1047" cy="0"/>
            </a:xfrm>
            <a:prstGeom prst="line">
              <a:avLst/>
            </a:prstGeom>
            <a:ln w="9525" cap="flat" cmpd="sng">
              <a:solidFill>
                <a:srgbClr val="000000"/>
              </a:solidFill>
              <a:prstDash val="dash"/>
              <a:round/>
              <a:headEnd type="none" w="med" len="med"/>
              <a:tailEnd type="none" w="med" len="med"/>
            </a:ln>
          </p:spPr>
        </p:sp>
        <p:sp>
          <p:nvSpPr>
            <p:cNvPr id="36869" name="文本框 39943"/>
            <p:cNvSpPr txBox="1"/>
            <p:nvPr/>
          </p:nvSpPr>
          <p:spPr>
            <a:xfrm>
              <a:off x="1292" y="1889"/>
              <a:ext cx="1043" cy="441"/>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ctr">
                <a:buNone/>
              </a:pPr>
              <a:r>
                <a:rPr lang="zh-CN" altLang="en-US" sz="2000" dirty="0">
                  <a:latin typeface="Times New Roman" panose="02020603050405020304" pitchFamily="2" charset="0"/>
                  <a:ea typeface="宋体" panose="02010600030101010101" pitchFamily="2" charset="-122"/>
                </a:rPr>
                <a:t>应用程序２</a:t>
              </a:r>
              <a:endParaRPr lang="zh-CN" altLang="en-US" sz="2000" dirty="0">
                <a:latin typeface="Times New Roman" panose="02020603050405020304" pitchFamily="2" charset="0"/>
                <a:ea typeface="宋体" panose="02010600030101010101" pitchFamily="2" charset="-122"/>
              </a:endParaRPr>
            </a:p>
          </p:txBody>
        </p:sp>
        <p:sp>
          <p:nvSpPr>
            <p:cNvPr id="36870" name="文本框 39944"/>
            <p:cNvSpPr txBox="1"/>
            <p:nvPr/>
          </p:nvSpPr>
          <p:spPr>
            <a:xfrm>
              <a:off x="3307" y="1889"/>
              <a:ext cx="888" cy="344"/>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ctr"/>
              <a:r>
                <a:rPr lang="zh-CN" altLang="en-US" sz="2000" dirty="0">
                  <a:latin typeface="Times New Roman" panose="02020603050405020304" pitchFamily="2" charset="0"/>
                  <a:ea typeface="宋体" panose="02010600030101010101" pitchFamily="2" charset="-122"/>
                </a:rPr>
                <a:t>文件</a:t>
              </a:r>
              <a:r>
                <a:rPr lang="en-US" altLang="zh-CN" sz="2000">
                  <a:latin typeface="Times New Roman" panose="02020603050405020304" pitchFamily="2" charset="0"/>
                  <a:ea typeface="宋体" panose="02010600030101010101" pitchFamily="2" charset="-122"/>
                </a:rPr>
                <a:t>2</a:t>
              </a:r>
              <a:endParaRPr lang="en-US" altLang="zh-CN" sz="2000">
                <a:latin typeface="Times New Roman" panose="02020603050405020304" pitchFamily="2" charset="0"/>
                <a:ea typeface="宋体" panose="02010600030101010101" pitchFamily="2" charset="-122"/>
              </a:endParaRPr>
            </a:p>
          </p:txBody>
        </p:sp>
        <p:sp>
          <p:nvSpPr>
            <p:cNvPr id="36871" name="直接连接符 39945"/>
            <p:cNvSpPr/>
            <p:nvPr/>
          </p:nvSpPr>
          <p:spPr>
            <a:xfrm>
              <a:off x="2260" y="2087"/>
              <a:ext cx="1047" cy="0"/>
            </a:xfrm>
            <a:prstGeom prst="line">
              <a:avLst/>
            </a:prstGeom>
            <a:ln w="9525" cap="flat" cmpd="sng">
              <a:solidFill>
                <a:srgbClr val="000000"/>
              </a:solidFill>
              <a:prstDash val="dash"/>
              <a:round/>
              <a:headEnd type="none" w="med" len="med"/>
              <a:tailEnd type="none" w="med" len="med"/>
            </a:ln>
          </p:spPr>
        </p:sp>
        <p:sp>
          <p:nvSpPr>
            <p:cNvPr id="36872" name="文本框 39946"/>
            <p:cNvSpPr txBox="1"/>
            <p:nvPr/>
          </p:nvSpPr>
          <p:spPr>
            <a:xfrm>
              <a:off x="1292" y="3095"/>
              <a:ext cx="1107" cy="381"/>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just"/>
              <a:r>
                <a:rPr lang="zh-CN" altLang="en-US" sz="2000" dirty="0">
                  <a:latin typeface="Times New Roman" panose="02020603050405020304" pitchFamily="2" charset="0"/>
                  <a:ea typeface="宋体" panose="02010600030101010101" pitchFamily="2" charset="-122"/>
                </a:rPr>
                <a:t>应用程序ｎ</a:t>
              </a:r>
              <a:endParaRPr lang="zh-CN" altLang="en-US" sz="2000" b="0" dirty="0">
                <a:latin typeface="Times New Roman" panose="02020603050405020304" pitchFamily="2" charset="0"/>
                <a:ea typeface="宋体" panose="02010600030101010101" pitchFamily="2" charset="-122"/>
              </a:endParaRPr>
            </a:p>
          </p:txBody>
        </p:sp>
        <p:sp>
          <p:nvSpPr>
            <p:cNvPr id="36873" name="文本框 39947"/>
            <p:cNvSpPr txBox="1"/>
            <p:nvPr/>
          </p:nvSpPr>
          <p:spPr>
            <a:xfrm>
              <a:off x="3307" y="3095"/>
              <a:ext cx="879" cy="378"/>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ctr"/>
              <a:r>
                <a:rPr lang="zh-CN" altLang="en-US" sz="2000" dirty="0">
                  <a:latin typeface="Times New Roman" panose="02020603050405020304" pitchFamily="2" charset="0"/>
                  <a:ea typeface="宋体" panose="02010600030101010101" pitchFamily="2" charset="-122"/>
                </a:rPr>
                <a:t>文件</a:t>
              </a:r>
              <a:r>
                <a:rPr lang="en-US" altLang="zh-CN" sz="2000">
                  <a:latin typeface="Times New Roman" panose="02020603050405020304" pitchFamily="2" charset="0"/>
                  <a:ea typeface="宋体" panose="02010600030101010101" pitchFamily="2" charset="-122"/>
                </a:rPr>
                <a:t>n</a:t>
              </a:r>
              <a:endParaRPr lang="en-US" altLang="zh-CN" sz="2000">
                <a:latin typeface="Times New Roman" panose="02020603050405020304" pitchFamily="2" charset="0"/>
                <a:ea typeface="宋体" panose="02010600030101010101" pitchFamily="2" charset="-122"/>
              </a:endParaRPr>
            </a:p>
          </p:txBody>
        </p:sp>
        <p:sp>
          <p:nvSpPr>
            <p:cNvPr id="36874" name="直接连接符 39948"/>
            <p:cNvSpPr/>
            <p:nvPr/>
          </p:nvSpPr>
          <p:spPr>
            <a:xfrm flipV="1">
              <a:off x="2260" y="3374"/>
              <a:ext cx="1047" cy="4"/>
            </a:xfrm>
            <a:prstGeom prst="line">
              <a:avLst/>
            </a:prstGeom>
            <a:ln w="9525" cap="flat" cmpd="sng">
              <a:solidFill>
                <a:srgbClr val="000000"/>
              </a:solidFill>
              <a:prstDash val="dash"/>
              <a:round/>
              <a:headEnd type="none" w="med" len="med"/>
              <a:tailEnd type="none" w="med" len="med"/>
            </a:ln>
          </p:spPr>
        </p:sp>
        <p:sp>
          <p:nvSpPr>
            <p:cNvPr id="36875" name="椭圆 39949"/>
            <p:cNvSpPr/>
            <p:nvPr/>
          </p:nvSpPr>
          <p:spPr>
            <a:xfrm>
              <a:off x="2184" y="2330"/>
              <a:ext cx="1207" cy="611"/>
            </a:xfrm>
            <a:prstGeom prst="ellipse">
              <a:avLst/>
            </a:prstGeom>
            <a:solidFill>
              <a:srgbClr val="FFFFFF"/>
            </a:solidFill>
            <a:ln w="9525" cap="flat" cmpd="sng">
              <a:solidFill>
                <a:srgbClr val="000000"/>
              </a:solidFill>
              <a:prstDash val="solid"/>
              <a:round/>
              <a:headEnd type="none" w="med" len="med"/>
              <a:tailEnd type="none" w="med" len="med"/>
            </a:ln>
          </p:spPr>
          <p:txBody>
            <a:bodyPr anchor="t"/>
            <a:lstStyle/>
            <a:p>
              <a:pPr algn="ctr">
                <a:buNone/>
              </a:pPr>
              <a:r>
                <a:rPr lang="zh-CN" altLang="en-US" sz="2000" dirty="0">
                  <a:latin typeface="Times New Roman" panose="02020603050405020304" pitchFamily="2" charset="0"/>
                  <a:ea typeface="宋体" panose="02010600030101010101" pitchFamily="2" charset="-122"/>
                </a:rPr>
                <a:t>存取方法</a:t>
              </a:r>
              <a:endParaRPr lang="zh-CN" altLang="en-US" sz="2000" b="0">
                <a:latin typeface="Times New Roman" panose="02020603050405020304" pitchFamily="2" charset="0"/>
                <a:ea typeface="宋体" panose="02010600030101010101" pitchFamily="2" charset="-122"/>
              </a:endParaRPr>
            </a:p>
          </p:txBody>
        </p:sp>
        <p:sp>
          <p:nvSpPr>
            <p:cNvPr id="36876" name="直接连接符 39950"/>
            <p:cNvSpPr/>
            <p:nvPr/>
          </p:nvSpPr>
          <p:spPr>
            <a:xfrm>
              <a:off x="2260" y="1691"/>
              <a:ext cx="403" cy="691"/>
            </a:xfrm>
            <a:prstGeom prst="line">
              <a:avLst/>
            </a:prstGeom>
            <a:ln w="9525" cap="flat" cmpd="sng">
              <a:solidFill>
                <a:srgbClr val="000000"/>
              </a:solidFill>
              <a:prstDash val="solid"/>
              <a:round/>
              <a:headEnd type="none" w="med" len="med"/>
              <a:tailEnd type="none" w="med" len="med"/>
            </a:ln>
          </p:spPr>
        </p:sp>
        <p:sp>
          <p:nvSpPr>
            <p:cNvPr id="36877" name="直接连接符 39951"/>
            <p:cNvSpPr/>
            <p:nvPr/>
          </p:nvSpPr>
          <p:spPr>
            <a:xfrm flipH="1">
              <a:off x="2905" y="1691"/>
              <a:ext cx="402" cy="691"/>
            </a:xfrm>
            <a:prstGeom prst="line">
              <a:avLst/>
            </a:prstGeom>
            <a:ln w="9525" cap="flat" cmpd="sng">
              <a:solidFill>
                <a:srgbClr val="000000"/>
              </a:solidFill>
              <a:prstDash val="solid"/>
              <a:round/>
              <a:headEnd type="none" w="med" len="med"/>
              <a:tailEnd type="none" w="med" len="med"/>
            </a:ln>
          </p:spPr>
        </p:sp>
        <p:sp>
          <p:nvSpPr>
            <p:cNvPr id="36878" name="直接连接符 39952"/>
            <p:cNvSpPr/>
            <p:nvPr/>
          </p:nvSpPr>
          <p:spPr>
            <a:xfrm>
              <a:off x="2260" y="2185"/>
              <a:ext cx="242" cy="297"/>
            </a:xfrm>
            <a:prstGeom prst="line">
              <a:avLst/>
            </a:prstGeom>
            <a:ln w="9525" cap="flat" cmpd="sng">
              <a:solidFill>
                <a:srgbClr val="000000"/>
              </a:solidFill>
              <a:prstDash val="solid"/>
              <a:round/>
              <a:headEnd type="none" w="med" len="med"/>
              <a:tailEnd type="none" w="med" len="med"/>
            </a:ln>
          </p:spPr>
        </p:sp>
        <p:sp>
          <p:nvSpPr>
            <p:cNvPr id="36879" name="直接连接符 39953"/>
            <p:cNvSpPr/>
            <p:nvPr/>
          </p:nvSpPr>
          <p:spPr>
            <a:xfrm flipH="1">
              <a:off x="3065" y="2185"/>
              <a:ext cx="242" cy="297"/>
            </a:xfrm>
            <a:prstGeom prst="line">
              <a:avLst/>
            </a:prstGeom>
            <a:ln w="9525" cap="flat" cmpd="sng">
              <a:solidFill>
                <a:srgbClr val="000000"/>
              </a:solidFill>
              <a:prstDash val="solid"/>
              <a:round/>
              <a:headEnd type="none" w="med" len="med"/>
              <a:tailEnd type="none" w="med" len="med"/>
            </a:ln>
          </p:spPr>
        </p:sp>
        <p:sp>
          <p:nvSpPr>
            <p:cNvPr id="36880" name="任意多边形 39954"/>
            <p:cNvSpPr/>
            <p:nvPr/>
          </p:nvSpPr>
          <p:spPr>
            <a:xfrm>
              <a:off x="2260" y="2941"/>
              <a:ext cx="317" cy="236"/>
            </a:xfrm>
            <a:custGeom>
              <a:avLst/>
              <a:gdLst/>
              <a:ahLst/>
              <a:cxnLst/>
              <a:rect l="0" t="0" r="0" b="0"/>
              <a:pathLst>
                <a:path w="413" h="374">
                  <a:moveTo>
                    <a:pt x="0" y="374"/>
                  </a:moveTo>
                  <a:lnTo>
                    <a:pt x="413" y="0"/>
                  </a:lnTo>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36881" name="任意多边形 39955"/>
            <p:cNvSpPr/>
            <p:nvPr/>
          </p:nvSpPr>
          <p:spPr>
            <a:xfrm>
              <a:off x="3067" y="2932"/>
              <a:ext cx="241" cy="242"/>
            </a:xfrm>
            <a:custGeom>
              <a:avLst/>
              <a:gdLst/>
              <a:ahLst/>
              <a:cxnLst/>
              <a:rect l="0" t="0" r="0" b="0"/>
              <a:pathLst>
                <a:path w="314" h="384">
                  <a:moveTo>
                    <a:pt x="314" y="384"/>
                  </a:moveTo>
                  <a:lnTo>
                    <a:pt x="0" y="0"/>
                  </a:lnTo>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36882" name="文本框 39956"/>
            <p:cNvSpPr txBox="1"/>
            <p:nvPr/>
          </p:nvSpPr>
          <p:spPr>
            <a:xfrm>
              <a:off x="1343" y="2452"/>
              <a:ext cx="789" cy="524"/>
            </a:xfrm>
            <a:prstGeom prst="rect">
              <a:avLst/>
            </a:prstGeom>
            <a:noFill/>
            <a:ln w="9525">
              <a:noFill/>
            </a:ln>
          </p:spPr>
          <p:txBody>
            <a:bodyPr vert="eaVert" anchor="t">
              <a:noAutofit/>
            </a:bodyPr>
            <a:lstStyle/>
            <a:p>
              <a:pPr>
                <a:spcBef>
                  <a:spcPct val="50000"/>
                </a:spcBef>
              </a:pPr>
              <a:r>
                <a:rPr lang="en-US" altLang="zh-CN" sz="2000">
                  <a:latin typeface="Times New Roman" panose="02020603050405020304" pitchFamily="2" charset="0"/>
                  <a:ea typeface="宋体" panose="02010600030101010101" pitchFamily="2" charset="-122"/>
                </a:rPr>
                <a:t>...…</a:t>
              </a:r>
              <a:endParaRPr lang="en-US" altLang="zh-CN" sz="2000">
                <a:latin typeface="Times New Roman" panose="02020603050405020304" pitchFamily="2" charset="0"/>
                <a:ea typeface="宋体" panose="02010600030101010101" pitchFamily="2" charset="-122"/>
              </a:endParaRPr>
            </a:p>
          </p:txBody>
        </p:sp>
        <p:sp>
          <p:nvSpPr>
            <p:cNvPr id="36883" name="文本框 39957"/>
            <p:cNvSpPr txBox="1"/>
            <p:nvPr/>
          </p:nvSpPr>
          <p:spPr>
            <a:xfrm>
              <a:off x="3506" y="2452"/>
              <a:ext cx="404" cy="570"/>
            </a:xfrm>
            <a:prstGeom prst="rect">
              <a:avLst/>
            </a:prstGeom>
            <a:noFill/>
            <a:ln w="9525">
              <a:noFill/>
            </a:ln>
          </p:spPr>
          <p:txBody>
            <a:bodyPr vert="eaVert" anchor="t">
              <a:spAutoFit/>
            </a:bodyPr>
            <a:lstStyle/>
            <a:p>
              <a:pPr>
                <a:spcBef>
                  <a:spcPct val="50000"/>
                </a:spcBef>
              </a:pPr>
              <a:r>
                <a:rPr lang="en-US" altLang="zh-CN" sz="2000">
                  <a:latin typeface="Times New Roman" panose="02020603050405020304" pitchFamily="2" charset="0"/>
                  <a:ea typeface="宋体" panose="02010600030101010101" pitchFamily="2" charset="-122"/>
                </a:rPr>
                <a:t>...…</a:t>
              </a:r>
              <a:endParaRPr lang="en-US" altLang="zh-CN" sz="2000">
                <a:latin typeface="Times New Roman" panose="02020603050405020304" pitchFamily="2" charset="0"/>
                <a:ea typeface="宋体" panose="02010600030101010101" pitchFamily="2" charset="-122"/>
              </a:endParaRPr>
            </a:p>
          </p:txBody>
        </p:sp>
      </p:grpSp>
      <p:sp>
        <p:nvSpPr>
          <p:cNvPr id="36887" name="文本框 2"/>
          <p:cNvSpPr txBox="1"/>
          <p:nvPr/>
        </p:nvSpPr>
        <p:spPr>
          <a:xfrm>
            <a:off x="264160" y="2058035"/>
            <a:ext cx="3728085" cy="977265"/>
          </a:xfrm>
          <a:prstGeom prst="rect">
            <a:avLst/>
          </a:prstGeom>
          <a:noFill/>
          <a:ln w="9525">
            <a:noFill/>
          </a:ln>
        </p:spPr>
        <p:txBody>
          <a:bodyPr wrap="square" anchor="t">
            <a:spAutoFit/>
          </a:bodyPr>
          <a:lstStyle/>
          <a:p>
            <a:pPr marL="342900" indent="-342900" algn="l">
              <a:lnSpc>
                <a:spcPct val="120000"/>
              </a:lnSpc>
              <a:buFont typeface="Wingdings" panose="05000000000000000000" charset="0"/>
              <a:buChar char="p"/>
            </a:pPr>
            <a:r>
              <a:rPr lang="zh-CN" altLang="en-US" sz="2400" dirty="0">
                <a:solidFill>
                  <a:schemeClr val="tx1"/>
                </a:solidFill>
                <a:latin typeface="华文中宋" panose="02010600040101010101" pitchFamily="2" charset="-122"/>
                <a:ea typeface="华文中宋" panose="02010600040101010101" pitchFamily="2" charset="-122"/>
                <a:cs typeface="+mn-ea"/>
              </a:rPr>
              <a:t>文件系统阶段应用程序与数据之间的对应关系 </a:t>
            </a:r>
            <a:endParaRPr lang="zh-CN" altLang="en-US" sz="2400" dirty="0">
              <a:solidFill>
                <a:schemeClr val="tx1"/>
              </a:solidFill>
              <a:latin typeface="华文中宋" panose="02010600040101010101" pitchFamily="2" charset="-122"/>
              <a:ea typeface="华文中宋" panose="02010600040101010101" pitchFamily="2" charset="-122"/>
              <a:cs typeface="+mn-ea"/>
            </a:endParaRPr>
          </a:p>
        </p:txBody>
      </p:sp>
      <p:sp>
        <p:nvSpPr>
          <p:cNvPr id="2" name="Text Box 6"/>
          <p:cNvSpPr txBox="1"/>
          <p:nvPr/>
        </p:nvSpPr>
        <p:spPr>
          <a:xfrm>
            <a:off x="490538" y="876935"/>
            <a:ext cx="8221662" cy="521970"/>
          </a:xfrm>
          <a:prstGeom prst="rect">
            <a:avLst/>
          </a:prstGeom>
          <a:noFill/>
          <a:ln w="9525">
            <a:noFill/>
          </a:ln>
        </p:spPr>
        <p:txBody>
          <a:bodyPr anchor="t">
            <a:spAutoFit/>
          </a:bodyP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3. </a:t>
            </a:r>
            <a:r>
              <a:rPr lang="zh-CN" altLang="en-US" sz="2800" dirty="0">
                <a:solidFill>
                  <a:srgbClr val="3333CC"/>
                </a:solidFill>
                <a:latin typeface="Arial" panose="020B0604020202020204" pitchFamily="34" charset="0"/>
                <a:ea typeface="黑体" panose="02010609060101010101" pitchFamily="1" charset="-122"/>
              </a:rPr>
              <a:t>数据库管理系统应具备的功能</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757089" y="1394315"/>
            <a:ext cx="7743463" cy="4676085"/>
          </a:xfrm>
          <a:prstGeom prst="rect">
            <a:avLst/>
          </a:prstGeom>
        </p:spPr>
      </p:pic>
      <p:grpSp>
        <p:nvGrpSpPr>
          <p:cNvPr id="4" name="组合 3"/>
          <p:cNvGrpSpPr/>
          <p:nvPr/>
        </p:nvGrpSpPr>
        <p:grpSpPr>
          <a:xfrm>
            <a:off x="395633" y="2021361"/>
            <a:ext cx="8104284" cy="4003998"/>
            <a:chOff x="437833" y="2244246"/>
            <a:chExt cx="8104284" cy="4003998"/>
          </a:xfrm>
        </p:grpSpPr>
        <p:pic>
          <p:nvPicPr>
            <p:cNvPr id="5" name="图片 4"/>
            <p:cNvPicPr>
              <a:picLocks noChangeAspect="1"/>
            </p:cNvPicPr>
            <p:nvPr/>
          </p:nvPicPr>
          <p:blipFill>
            <a:blip r:embed="rId2"/>
            <a:stretch>
              <a:fillRect/>
            </a:stretch>
          </p:blipFill>
          <p:spPr>
            <a:xfrm>
              <a:off x="437833" y="2244246"/>
              <a:ext cx="8104284" cy="4003998"/>
            </a:xfrm>
            <a:prstGeom prst="rect">
              <a:avLst/>
            </a:prstGeom>
          </p:spPr>
        </p:pic>
        <p:sp>
          <p:nvSpPr>
            <p:cNvPr id="6" name="矩形 5"/>
            <p:cNvSpPr/>
            <p:nvPr/>
          </p:nvSpPr>
          <p:spPr>
            <a:xfrm>
              <a:off x="4922056" y="5431945"/>
              <a:ext cx="3620061" cy="646331"/>
            </a:xfrm>
            <a:prstGeom prst="rect">
              <a:avLst/>
            </a:prstGeom>
          </p:spPr>
          <p:txBody>
            <a:bodyPr wrap="square">
              <a:spAutoFit/>
            </a:bodyPr>
            <a:lstStyle/>
            <a:p>
              <a:pPr lvl="0">
                <a:lnSpc>
                  <a:spcPct val="100000"/>
                </a:lnSpc>
                <a:buNone/>
              </a:pPr>
              <a:r>
                <a:rPr lang="zh-CN" altLang="en-US" dirty="0">
                  <a:solidFill>
                    <a:srgbClr val="3333CC"/>
                  </a:solidFill>
                  <a:latin typeface="华文中宋" panose="02010600040101010101" pitchFamily="2" charset="-122"/>
                  <a:ea typeface="华文中宋" panose="02010600040101010101" pitchFamily="2" charset="-122"/>
                </a:rPr>
                <a:t>数据不是依赖于应用程序的附属品，而是独立存在的对象</a:t>
              </a:r>
              <a:endParaRPr lang="zh-CN" altLang="zh-CN" dirty="0">
                <a:solidFill>
                  <a:srgbClr val="3333CC"/>
                </a:solidFill>
                <a:latin typeface="华文中宋" panose="02010600040101010101" pitchFamily="2" charset="-122"/>
                <a:ea typeface="华文中宋" panose="02010600040101010101" pitchFamily="2" charset="-122"/>
              </a:endParaRPr>
            </a:p>
          </p:txBody>
        </p:sp>
      </p:grpSp>
      <p:sp>
        <p:nvSpPr>
          <p:cNvPr id="3" name="Text Box 6"/>
          <p:cNvSpPr txBox="1"/>
          <p:nvPr/>
        </p:nvSpPr>
        <p:spPr>
          <a:xfrm>
            <a:off x="490538" y="876935"/>
            <a:ext cx="8221662" cy="521970"/>
          </a:xfrm>
          <a:prstGeom prst="rect">
            <a:avLst/>
          </a:prstGeom>
          <a:noFill/>
          <a:ln w="9525">
            <a:noFill/>
          </a:ln>
        </p:spPr>
        <p:txBody>
          <a:bodyPr anchor="t">
            <a:spAutoFit/>
          </a:bodyP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3. </a:t>
            </a:r>
            <a:r>
              <a:rPr lang="zh-CN" altLang="en-US" sz="2800" dirty="0">
                <a:solidFill>
                  <a:srgbClr val="3333CC"/>
                </a:solidFill>
                <a:latin typeface="Arial" panose="020B0604020202020204" pitchFamily="34" charset="0"/>
                <a:ea typeface="黑体" panose="02010609060101010101" pitchFamily="1" charset="-122"/>
              </a:rPr>
              <a:t>数据库管理系统应具备的功能</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8"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p:nvPr/>
        </p:nvSpPr>
        <p:spPr>
          <a:xfrm>
            <a:off x="437833" y="829494"/>
            <a:ext cx="8104284" cy="545147"/>
          </a:xfrm>
          <a:prstGeom prst="rect">
            <a:avLst/>
          </a:prstGeom>
          <a:solidFill>
            <a:srgbClr val="FFFFFF"/>
          </a:solidFill>
          <a:ln w="9525">
            <a:noFill/>
          </a:ln>
        </p:spPr>
        <p:txBody>
          <a:bodyPr anchor="ctr"/>
          <a:lstStyle/>
          <a:p>
            <a:pPr lvl="0">
              <a:lnSpc>
                <a:spcPct val="100000"/>
              </a:lnSpc>
              <a:buNone/>
            </a:pPr>
            <a:r>
              <a:rPr lang="zh-CN" altLang="en-US" sz="2800" dirty="0">
                <a:solidFill>
                  <a:srgbClr val="FF0000"/>
                </a:solidFill>
                <a:latin typeface="华文中宋" panose="02010600040101010101" pitchFamily="2" charset="-122"/>
                <a:ea typeface="华文中宋" panose="02010600040101010101" pitchFamily="2" charset="-122"/>
              </a:rPr>
              <a:t>补充知识点：</a:t>
            </a:r>
            <a:r>
              <a:rPr lang="en-US" altLang="zh-CN" sz="2400" dirty="0">
                <a:solidFill>
                  <a:srgbClr val="3333CC"/>
                </a:solidFill>
                <a:latin typeface="华文中宋" panose="02010600040101010101" pitchFamily="2" charset="-122"/>
                <a:ea typeface="华文中宋" panose="02010600040101010101" pitchFamily="2" charset="-122"/>
              </a:rPr>
              <a:t>DBMS</a:t>
            </a:r>
            <a:r>
              <a:rPr lang="zh-CN" altLang="en-US" sz="2400" dirty="0">
                <a:solidFill>
                  <a:srgbClr val="3333CC"/>
                </a:solidFill>
                <a:latin typeface="华文中宋" panose="02010600040101010101" pitchFamily="2" charset="-122"/>
                <a:ea typeface="华文中宋" panose="02010600040101010101" pitchFamily="2" charset="-122"/>
              </a:rPr>
              <a:t>对数据整体结构的管理</a:t>
            </a:r>
            <a:endParaRPr lang="zh-CN" altLang="zh-CN" sz="2400" dirty="0">
              <a:solidFill>
                <a:srgbClr val="3333CC"/>
              </a:solidFill>
              <a:latin typeface="华文中宋" panose="02010600040101010101" pitchFamily="2" charset="-122"/>
              <a:ea typeface="华文中宋" panose="02010600040101010101" pitchFamily="2" charset="-122"/>
            </a:endParaRPr>
          </a:p>
        </p:txBody>
      </p:sp>
      <p:sp>
        <p:nvSpPr>
          <p:cNvPr id="4" name="Text Box 8"/>
          <p:cNvSpPr txBox="1"/>
          <p:nvPr/>
        </p:nvSpPr>
        <p:spPr>
          <a:xfrm>
            <a:off x="650629" y="1386216"/>
            <a:ext cx="8724865" cy="1255728"/>
          </a:xfrm>
          <a:prstGeom prst="rect">
            <a:avLst/>
          </a:prstGeom>
          <a:noFill/>
          <a:ln w="9525">
            <a:noFill/>
          </a:ln>
        </p:spPr>
        <p:txBody>
          <a:bodyPr wrap="square" anchor="t">
            <a:spAutoFit/>
          </a:bodyPr>
          <a:lstStyle/>
          <a:p>
            <a:pPr>
              <a:lnSpc>
                <a:spcPct val="105000"/>
              </a:lnSpc>
              <a:spcBef>
                <a:spcPts val="0"/>
              </a:spcBef>
              <a:spcAft>
                <a:spcPts val="0"/>
              </a:spcAft>
              <a:buNone/>
            </a:pP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整体结构化：</a:t>
            </a:r>
            <a:endParaRPr lang="en-US" altLang="zh-CN" sz="2400" dirty="0">
              <a:latin typeface="楷体" panose="02010609060101010101" pitchFamily="1" charset="-122"/>
              <a:ea typeface="楷体" panose="02010609060101010101" pitchFamily="1" charset="-122"/>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不再仅仅针对某一个应用，而是面向全组织</a:t>
            </a:r>
            <a:endParaRPr lang="en-US" altLang="zh-CN" sz="2400" dirty="0">
              <a:solidFill>
                <a:srgbClr val="FF0000"/>
              </a:solidFill>
              <a:latin typeface="楷体" panose="02010609060101010101" pitchFamily="1" charset="-122"/>
              <a:ea typeface="楷体" panose="02010609060101010101" pitchFamily="1" charset="-122"/>
              <a:sym typeface="+mn-ea"/>
            </a:endParaRPr>
          </a:p>
          <a:p>
            <a:pPr>
              <a:lnSpc>
                <a:spcPct val="105000"/>
              </a:lnSpc>
              <a:spcBef>
                <a:spcPts val="0"/>
              </a:spcBef>
              <a:spcAft>
                <a:spcPts val="0"/>
              </a:spcAft>
              <a:buNone/>
            </a:pPr>
            <a:r>
              <a:rPr lang="zh-CN" altLang="en-US" sz="2400" dirty="0">
                <a:solidFill>
                  <a:srgbClr val="FF0000"/>
                </a:solidFill>
                <a:latin typeface="楷体" panose="02010609060101010101" pitchFamily="1" charset="-122"/>
                <a:ea typeface="楷体" panose="02010609060101010101" pitchFamily="1" charset="-122"/>
                <a:sym typeface="+mn-ea"/>
              </a:rPr>
              <a:t>不仅数据内部结构化，整体也是结构化的，数据之间具有联系</a:t>
            </a:r>
            <a:r>
              <a:rPr lang="zh-CN" altLang="en-US" sz="2400" dirty="0">
                <a:latin typeface="楷体" panose="02010609060101010101" pitchFamily="1" charset="-122"/>
                <a:ea typeface="楷体" panose="02010609060101010101" pitchFamily="1" charset="-122"/>
                <a:sym typeface="+mn-ea"/>
              </a:rPr>
              <a:t> </a:t>
            </a:r>
            <a:endParaRPr lang="en-US" altLang="zh-CN" sz="2400" dirty="0">
              <a:latin typeface="楷体" panose="02010609060101010101" pitchFamily="1" charset="-122"/>
              <a:ea typeface="楷体" panose="02010609060101010101" pitchFamily="1" charset="-122"/>
              <a:sym typeface="+mn-ea"/>
            </a:endParaRPr>
          </a:p>
        </p:txBody>
      </p:sp>
      <p:pic>
        <p:nvPicPr>
          <p:cNvPr id="6" name="图片 5"/>
          <p:cNvPicPr>
            <a:picLocks noChangeAspect="1"/>
          </p:cNvPicPr>
          <p:nvPr/>
        </p:nvPicPr>
        <p:blipFill>
          <a:blip r:embed="rId1"/>
          <a:stretch>
            <a:fillRect/>
          </a:stretch>
        </p:blipFill>
        <p:spPr>
          <a:xfrm>
            <a:off x="766664" y="2641944"/>
            <a:ext cx="7648131" cy="3724129"/>
          </a:xfrm>
          <a:prstGeom prst="rect">
            <a:avLst/>
          </a:prstGeom>
        </p:spPr>
      </p:pic>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txBox="1"/>
          <p:nvPr/>
        </p:nvSpPr>
        <p:spPr>
          <a:xfrm>
            <a:off x="579438" y="1471613"/>
            <a:ext cx="8064500" cy="1155700"/>
          </a:xfrm>
          <a:prstGeom prst="rect">
            <a:avLst/>
          </a:prstGeom>
          <a:noFill/>
          <a:ln w="9525">
            <a:noFill/>
          </a:ln>
        </p:spPr>
        <p:txBody>
          <a:bodyPr anchor="t"/>
          <a:lstStyle/>
          <a:p>
            <a:pPr marL="342900" lvl="0" indent="-342900" fontAlgn="base">
              <a:lnSpc>
                <a:spcPct val="130000"/>
              </a:lnSpc>
              <a:spcBef>
                <a:spcPct val="20000"/>
              </a:spcBef>
              <a:buClr>
                <a:srgbClr val="0033CC"/>
              </a:buClr>
              <a:buSzPct val="80000"/>
              <a:buFont typeface="Wingdings" panose="05000000000000000000" pitchFamily="2" charset="2"/>
              <a:buChar char="u"/>
            </a:pPr>
            <a:r>
              <a:rPr lang="zh-CN" altLang="en-US" sz="2400" u="sng" strike="noStrike" noProof="1">
                <a:solidFill>
                  <a:srgbClr val="FF0000"/>
                </a:solidFill>
                <a:latin typeface="Arial" panose="020B0604020202020204" pitchFamily="34" charset="0"/>
                <a:ea typeface="宋体" panose="02010600030101010101" pitchFamily="2" charset="-122"/>
                <a:cs typeface="+mn-ea"/>
              </a:rPr>
              <a:t>数据（Data）：</a:t>
            </a:r>
            <a:r>
              <a:rPr lang="zh-CN" altLang="en-US" sz="2200" strike="noStrike" noProof="1">
                <a:latin typeface="楷体" panose="02010609060101010101" pitchFamily="1" charset="-122"/>
                <a:ea typeface="楷体" panose="02010609060101010101" pitchFamily="1" charset="-122"/>
                <a:cs typeface="+mn-ea"/>
              </a:rPr>
              <a:t>是描述现实世界中各种</a:t>
            </a:r>
            <a:r>
              <a:rPr lang="zh-CN" altLang="en-US" sz="2200" u="sng" strike="noStrike" noProof="1">
                <a:solidFill>
                  <a:srgbClr val="0033CC"/>
                </a:solidFill>
                <a:latin typeface="楷体" panose="02010609060101010101" pitchFamily="1" charset="-122"/>
                <a:ea typeface="楷体" panose="02010609060101010101" pitchFamily="1" charset="-122"/>
                <a:cs typeface="+mn-ea"/>
              </a:rPr>
              <a:t>具体事物</a:t>
            </a:r>
            <a:r>
              <a:rPr lang="zh-CN" altLang="en-US" sz="2200" strike="noStrike" noProof="1">
                <a:latin typeface="楷体" panose="02010609060101010101" pitchFamily="1" charset="-122"/>
                <a:ea typeface="楷体" panose="02010609060101010101" pitchFamily="1" charset="-122"/>
                <a:cs typeface="+mn-ea"/>
              </a:rPr>
              <a:t>或</a:t>
            </a:r>
            <a:r>
              <a:rPr lang="zh-CN" altLang="en-US" sz="2200" u="sng" strike="noStrike" noProof="1">
                <a:solidFill>
                  <a:srgbClr val="0033CC"/>
                </a:solidFill>
                <a:latin typeface="楷体" panose="02010609060101010101" pitchFamily="1" charset="-122"/>
                <a:ea typeface="楷体" panose="02010609060101010101" pitchFamily="1" charset="-122"/>
                <a:cs typeface="+mn-ea"/>
              </a:rPr>
              <a:t>抽象概念</a:t>
            </a:r>
            <a:r>
              <a:rPr lang="zh-CN" altLang="en-US" sz="2200" strike="noStrike" noProof="1">
                <a:latin typeface="楷体" panose="02010609060101010101" pitchFamily="1" charset="-122"/>
                <a:ea typeface="楷体" panose="02010609060101010101" pitchFamily="1" charset="-122"/>
                <a:cs typeface="+mn-ea"/>
              </a:rPr>
              <a:t>的、</a:t>
            </a:r>
            <a:r>
              <a:rPr lang="zh-CN" altLang="en-US" sz="2200" u="sng" strike="noStrike" noProof="1">
                <a:solidFill>
                  <a:srgbClr val="0033CC"/>
                </a:solidFill>
                <a:latin typeface="楷体" panose="02010609060101010101" pitchFamily="1" charset="-122"/>
                <a:ea typeface="楷体" panose="02010609060101010101" pitchFamily="1" charset="-122"/>
                <a:cs typeface="+mn-ea"/>
              </a:rPr>
              <a:t>可存贮</a:t>
            </a:r>
            <a:r>
              <a:rPr lang="zh-CN" altLang="en-US" sz="2200" strike="noStrike" noProof="1">
                <a:latin typeface="楷体" panose="02010609060101010101" pitchFamily="1" charset="-122"/>
                <a:ea typeface="楷体" panose="02010609060101010101" pitchFamily="1" charset="-122"/>
                <a:cs typeface="+mn-ea"/>
              </a:rPr>
              <a:t>并</a:t>
            </a:r>
            <a:r>
              <a:rPr lang="zh-CN" altLang="en-US" sz="2200" u="sng" strike="noStrike" noProof="1">
                <a:solidFill>
                  <a:srgbClr val="0033CC"/>
                </a:solidFill>
                <a:latin typeface="楷体" panose="02010609060101010101" pitchFamily="1" charset="-122"/>
                <a:ea typeface="楷体" panose="02010609060101010101" pitchFamily="1" charset="-122"/>
                <a:cs typeface="+mn-ea"/>
              </a:rPr>
              <a:t>具有明确意义</a:t>
            </a:r>
            <a:r>
              <a:rPr lang="zh-CN" altLang="en-US" sz="2200" strike="noStrike" noProof="1">
                <a:latin typeface="楷体" panose="02010609060101010101" pitchFamily="1" charset="-122"/>
                <a:ea typeface="楷体" panose="02010609060101010101" pitchFamily="1" charset="-122"/>
                <a:cs typeface="+mn-ea"/>
              </a:rPr>
              <a:t>的信息。简言之，数据就是</a:t>
            </a:r>
            <a:r>
              <a:rPr lang="zh-CN" altLang="en-US" sz="2200" strike="noStrike" noProof="1">
                <a:latin typeface="Arial" panose="020B0604020202020204" pitchFamily="34" charset="0"/>
                <a:ea typeface="宋体" panose="02010600030101010101" pitchFamily="2" charset="-122"/>
                <a:cs typeface="+mn-ea"/>
                <a:sym typeface="+mn-ea"/>
              </a:rPr>
              <a:t>描述事物的符号记录。</a:t>
            </a:r>
            <a:endParaRPr lang="en-US" altLang="zh-CN" sz="2200" strike="noStrike" noProof="1">
              <a:latin typeface="楷体" panose="02010609060101010101" pitchFamily="1" charset="-122"/>
              <a:ea typeface="楷体" panose="02010609060101010101" pitchFamily="1" charset="-122"/>
              <a:sym typeface="+mn-ea"/>
            </a:endParaRPr>
          </a:p>
          <a:p>
            <a:pPr lvl="0" fontAlgn="base">
              <a:lnSpc>
                <a:spcPct val="130000"/>
              </a:lnSpc>
              <a:spcBef>
                <a:spcPct val="20000"/>
              </a:spcBef>
              <a:buClr>
                <a:srgbClr val="0033CC"/>
              </a:buClr>
              <a:buSzPct val="80000"/>
              <a:buFont typeface="Wingdings" panose="05000000000000000000" pitchFamily="2" charset="2"/>
              <a:buNone/>
            </a:pPr>
            <a:endParaRPr lang="zh-CN" altLang="en-US" sz="2200" strike="noStrike" noProof="1">
              <a:latin typeface="楷体" panose="02010609060101010101" pitchFamily="1" charset="-122"/>
              <a:ea typeface="楷体" panose="02010609060101010101" pitchFamily="1" charset="-122"/>
              <a:cs typeface="+mn-ea"/>
            </a:endParaRPr>
          </a:p>
        </p:txBody>
      </p:sp>
      <p:sp>
        <p:nvSpPr>
          <p:cNvPr id="63491" name="Rectangle 2"/>
          <p:cNvSpPr txBox="1"/>
          <p:nvPr/>
        </p:nvSpPr>
        <p:spPr>
          <a:xfrm>
            <a:off x="522288" y="912813"/>
            <a:ext cx="7780337"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4. </a:t>
            </a:r>
            <a:r>
              <a:rPr lang="zh-CN" altLang="en-US" sz="2800" dirty="0">
                <a:solidFill>
                  <a:srgbClr val="3333CC"/>
                </a:solidFill>
                <a:latin typeface="Arial" panose="020B0604020202020204" pitchFamily="34" charset="0"/>
                <a:ea typeface="黑体" panose="02010609060101010101" pitchFamily="1" charset="-122"/>
              </a:rPr>
              <a:t>数据库及其相关概念</a:t>
            </a:r>
            <a:endParaRPr lang="zh-CN" altLang="en-US" sz="2400" dirty="0">
              <a:solidFill>
                <a:srgbClr val="FF0000"/>
              </a:solidFill>
              <a:latin typeface="Arial" panose="020B0604020202020204" pitchFamily="34" charset="0"/>
              <a:ea typeface="黑体" panose="02010609060101010101" pitchFamily="1" charset="-122"/>
            </a:endParaRPr>
          </a:p>
        </p:txBody>
      </p:sp>
      <p:sp>
        <p:nvSpPr>
          <p:cNvPr id="63492" name="文本框 2"/>
          <p:cNvSpPr txBox="1"/>
          <p:nvPr/>
        </p:nvSpPr>
        <p:spPr>
          <a:xfrm>
            <a:off x="579438" y="2890838"/>
            <a:ext cx="5578475" cy="544512"/>
          </a:xfrm>
          <a:prstGeom prst="rect">
            <a:avLst/>
          </a:prstGeom>
          <a:noFill/>
          <a:ln w="9525">
            <a:noFill/>
          </a:ln>
        </p:spPr>
        <p:txBody>
          <a:bodyPr wrap="none" anchor="t">
            <a:spAutoFit/>
          </a:bodyPr>
          <a:lstStyle/>
          <a:p>
            <a:pPr marL="342900" lvl="0" indent="-342900">
              <a:buFont typeface="Wingdings" panose="05000000000000000000" charset="0"/>
              <a:buChar char="u"/>
            </a:pPr>
            <a:r>
              <a:rPr lang="zh-CN" altLang="en-US" sz="2200" dirty="0">
                <a:solidFill>
                  <a:srgbClr val="0033CC"/>
                </a:solidFill>
                <a:latin typeface="Arial" panose="020B0604020202020204" pitchFamily="34" charset="0"/>
                <a:ea typeface="宋体" panose="02010600030101010101" pitchFamily="2" charset="-122"/>
              </a:rPr>
              <a:t>数据的特点：</a:t>
            </a:r>
            <a:r>
              <a:rPr lang="zh-CN" altLang="en-US" sz="2200" dirty="0">
                <a:latin typeface="Arial" panose="020B0604020202020204" pitchFamily="34" charset="0"/>
                <a:ea typeface="宋体" panose="02010600030101010101" pitchFamily="2" charset="-122"/>
              </a:rPr>
              <a:t>数据与其语义是不可分的。</a:t>
            </a:r>
            <a:endParaRPr lang="en-US" altLang="zh-CN" sz="2200" dirty="0">
              <a:solidFill>
                <a:srgbClr val="0033CC"/>
              </a:solidFill>
              <a:latin typeface="Arial" panose="020B0604020202020204" pitchFamily="34" charset="0"/>
              <a:ea typeface="宋体" panose="02010600030101010101" pitchFamily="2" charset="-122"/>
            </a:endParaRPr>
          </a:p>
        </p:txBody>
      </p:sp>
      <p:sp>
        <p:nvSpPr>
          <p:cNvPr id="378883" name="文本占位符 378882"/>
          <p:cNvSpPr>
            <a:spLocks noGrp="1"/>
          </p:cNvSpPr>
          <p:nvPr/>
        </p:nvSpPr>
        <p:spPr>
          <a:xfrm>
            <a:off x="579755" y="3538220"/>
            <a:ext cx="8196580" cy="2413000"/>
          </a:xfrm>
          <a:prstGeom prst="rect">
            <a:avLst/>
          </a:prstGeom>
          <a:solidFill>
            <a:schemeClr val="bg2">
              <a:lumMod val="20000"/>
              <a:lumOff val="80000"/>
            </a:schemeClr>
          </a:solidFill>
          <a:ln w="9525">
            <a:noFill/>
          </a:ln>
        </p:spPr>
        <p:txBody>
          <a:bodyPr/>
          <a:lstStyle>
            <a:lvl1pPr marL="342900" lvl="0" indent="-342900" algn="l" defTabSz="914400" eaLnBrk="1" fontAlgn="base" latinLnBrk="0" hangingPunct="1">
              <a:lnSpc>
                <a:spcPct val="100000"/>
              </a:lnSpc>
              <a:spcBef>
                <a:spcPct val="20000"/>
              </a:spcBef>
              <a:spcAft>
                <a:spcPct val="0"/>
              </a:spcAft>
              <a:buClr>
                <a:schemeClr val="hlink"/>
              </a:buClr>
              <a:buFont typeface="Wingdings" panose="05000000000000000000" pitchFamily="2" charset="2"/>
              <a:buChar char="v"/>
              <a:defRPr sz="28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lr>
                <a:schemeClr val="accent1"/>
              </a:buClr>
              <a:buFont typeface="Wingdings" panose="05000000000000000000" pitchFamily="2" charset="2"/>
              <a:buChar char="§"/>
              <a:defRPr sz="24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lr>
                <a:schemeClr val="tx1"/>
              </a:buClr>
              <a:buFont typeface="Wingdings" panose="05000000000000000000" pitchFamily="2" charset="2"/>
              <a:buChar char="•"/>
              <a:defRPr sz="22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9pPr>
          </a:lstStyle>
          <a:p>
            <a:pPr fontAlgn="base">
              <a:lnSpc>
                <a:spcPct val="120000"/>
              </a:lnSpc>
            </a:pPr>
            <a:r>
              <a:rPr lang="zh-CN" altLang="en-US" sz="2000" strike="noStrike" noProof="1">
                <a:latin typeface="+mn-lt"/>
                <a:ea typeface="宋体" panose="02010600030101010101" pitchFamily="2" charset="-122"/>
                <a:cs typeface="+mn-cs"/>
              </a:rPr>
              <a:t>本学期课程数据</a:t>
            </a:r>
            <a:endParaRPr lang="zh-CN" altLang="en-US" sz="2000" strike="noStrike" noProof="1">
              <a:ea typeface="宋体" panose="02010600030101010101" pitchFamily="2" charset="-122"/>
            </a:endParaRPr>
          </a:p>
          <a:p>
            <a:pPr marL="0" indent="0" fontAlgn="base">
              <a:lnSpc>
                <a:spcPct val="120000"/>
              </a:lnSpc>
              <a:buNone/>
            </a:pPr>
            <a:r>
              <a:rPr lang="zh-CN" altLang="en-US" sz="2000" strike="noStrike" noProof="1">
                <a:latin typeface="+mn-lt"/>
                <a:ea typeface="宋体" panose="02010600030101010101" pitchFamily="2" charset="-122"/>
                <a:cs typeface="+mn-cs"/>
              </a:rPr>
              <a:t>   </a:t>
            </a:r>
            <a:r>
              <a:rPr lang="zh-CN" altLang="en-US" sz="1900" b="1" i="1" u="sng" strike="noStrike" noProof="1">
                <a:solidFill>
                  <a:srgbClr val="FF0000"/>
                </a:solidFill>
                <a:latin typeface="+mn-lt"/>
                <a:ea typeface="宋体" panose="02010600030101010101" pitchFamily="2" charset="-122"/>
                <a:cs typeface="+mn-cs"/>
              </a:rPr>
              <a:t>（数据库原理与设计，由智超，</a:t>
            </a:r>
            <a:r>
              <a:rPr lang="en-US" altLang="zh-CN" sz="1900" b="1" i="1" u="sng" strike="noStrike" noProof="1">
                <a:solidFill>
                  <a:srgbClr val="FF0000"/>
                </a:solidFill>
                <a:latin typeface="+mn-lt"/>
                <a:ea typeface="宋体" panose="02010600030101010101" pitchFamily="2" charset="-122"/>
                <a:cs typeface="+mn-cs"/>
              </a:rPr>
              <a:t>4</a:t>
            </a:r>
            <a:r>
              <a:rPr lang="zh-CN" altLang="en-US" sz="1900" b="1" i="1" u="sng" strike="noStrike" noProof="1" smtClean="0">
                <a:solidFill>
                  <a:srgbClr val="FF0000"/>
                </a:solidFill>
                <a:latin typeface="+mn-lt"/>
                <a:ea typeface="宋体" panose="02010600030101010101" pitchFamily="2" charset="-122"/>
                <a:cs typeface="+mn-cs"/>
              </a:rPr>
              <a:t>，计算机</a:t>
            </a:r>
            <a:r>
              <a:rPr lang="en-US" altLang="zh-CN" sz="1900" b="1" i="1" u="sng" strike="noStrike" noProof="1" smtClean="0">
                <a:solidFill>
                  <a:srgbClr val="FF0000"/>
                </a:solidFill>
                <a:latin typeface="+mn-lt"/>
                <a:ea typeface="宋体" panose="02010600030101010101" pitchFamily="2" charset="-122"/>
                <a:cs typeface="+mn-cs"/>
              </a:rPr>
              <a:t>(</a:t>
            </a:r>
            <a:r>
              <a:rPr lang="zh-CN" altLang="en-US" sz="1900" b="1" i="1" u="sng" strike="noStrike" noProof="1" smtClean="0">
                <a:solidFill>
                  <a:srgbClr val="FF0000"/>
                </a:solidFill>
                <a:latin typeface="+mn-lt"/>
                <a:ea typeface="宋体" panose="02010600030101010101" pitchFamily="2" charset="-122"/>
                <a:cs typeface="+mn-cs"/>
              </a:rPr>
              <a:t>茅班</a:t>
            </a:r>
            <a:r>
              <a:rPr lang="en-US" altLang="zh-CN" sz="1900" b="1" i="1" u="sng" strike="noStrike" noProof="1" smtClean="0">
                <a:solidFill>
                  <a:srgbClr val="FF0000"/>
                </a:solidFill>
                <a:latin typeface="+mn-lt"/>
                <a:ea typeface="宋体" panose="02010600030101010101" pitchFamily="2" charset="-122"/>
                <a:cs typeface="+mn-cs"/>
              </a:rPr>
              <a:t>)2023</a:t>
            </a:r>
            <a:r>
              <a:rPr lang="zh-CN" altLang="en-US" sz="1900" b="1" i="1" u="sng" strike="noStrike" noProof="1" smtClean="0">
                <a:solidFill>
                  <a:srgbClr val="FF0000"/>
                </a:solidFill>
                <a:latin typeface="+mn-lt"/>
                <a:ea typeface="宋体" panose="02010600030101010101" pitchFamily="2" charset="-122"/>
                <a:cs typeface="+mn-cs"/>
              </a:rPr>
              <a:t>，</a:t>
            </a:r>
            <a:r>
              <a:rPr lang="en-US" altLang="zh-CN" sz="1900" b="1" i="1" u="sng" strike="noStrike" noProof="1" smtClean="0">
                <a:solidFill>
                  <a:srgbClr val="FF0000"/>
                </a:solidFill>
                <a:latin typeface="+mn-lt"/>
                <a:ea typeface="宋体" panose="02010600030101010101" pitchFamily="2" charset="-122"/>
                <a:cs typeface="+mn-cs"/>
              </a:rPr>
              <a:t>X30401</a:t>
            </a:r>
            <a:r>
              <a:rPr lang="zh-CN" altLang="en-US" sz="1900" b="1" i="1" u="sng" strike="noStrike" noProof="1" smtClean="0">
                <a:solidFill>
                  <a:srgbClr val="FF0000"/>
                </a:solidFill>
                <a:latin typeface="+mn-lt"/>
                <a:ea typeface="宋体" panose="02010600030101010101" pitchFamily="2" charset="-122"/>
                <a:cs typeface="+mn-cs"/>
              </a:rPr>
              <a:t>，</a:t>
            </a:r>
            <a:r>
              <a:rPr lang="en-US" altLang="zh-CN" sz="1900" b="1" i="1" u="sng" strike="noStrike" noProof="1" smtClean="0">
                <a:solidFill>
                  <a:srgbClr val="FF0000"/>
                </a:solidFill>
                <a:latin typeface="+mn-lt"/>
                <a:ea typeface="宋体" panose="02010600030101010101" pitchFamily="2" charset="-122"/>
                <a:cs typeface="+mn-cs"/>
              </a:rPr>
              <a:t>2</a:t>
            </a:r>
            <a:r>
              <a:rPr lang="zh-CN" altLang="en-US" sz="1900" b="1" i="1" u="sng" strike="noStrike" noProof="1" smtClean="0">
                <a:solidFill>
                  <a:srgbClr val="FF0000"/>
                </a:solidFill>
                <a:latin typeface="+mn-lt"/>
                <a:ea typeface="宋体" panose="02010600030101010101" pitchFamily="2" charset="-122"/>
                <a:cs typeface="+mn-cs"/>
              </a:rPr>
              <a:t>，</a:t>
            </a:r>
            <a:r>
              <a:rPr lang="en-US" altLang="zh-CN" sz="1900" b="1" i="1" u="sng" strike="noStrike" noProof="1">
                <a:solidFill>
                  <a:srgbClr val="FF0000"/>
                </a:solidFill>
                <a:latin typeface="+mn-lt"/>
                <a:ea typeface="宋体" panose="02010600030101010101" pitchFamily="2" charset="-122"/>
                <a:cs typeface="+mn-cs"/>
              </a:rPr>
              <a:t>3-5</a:t>
            </a:r>
            <a:r>
              <a:rPr lang="zh-CN" altLang="en-US" sz="1900" b="1" i="1" u="sng" strike="noStrike" noProof="1">
                <a:solidFill>
                  <a:srgbClr val="FF0000"/>
                </a:solidFill>
                <a:latin typeface="+mn-lt"/>
                <a:ea typeface="宋体" panose="02010600030101010101" pitchFamily="2" charset="-122"/>
                <a:cs typeface="+mn-cs"/>
              </a:rPr>
              <a:t>）</a:t>
            </a:r>
            <a:endParaRPr lang="zh-CN" altLang="en-US" sz="1900" b="1" i="1" u="sng" strike="noStrike" noProof="1">
              <a:solidFill>
                <a:srgbClr val="FF0000"/>
              </a:solidFill>
              <a:latin typeface="+mn-lt"/>
              <a:ea typeface="宋体" panose="02010600030101010101" pitchFamily="2" charset="-122"/>
              <a:cs typeface="+mn-cs"/>
            </a:endParaRPr>
          </a:p>
          <a:p>
            <a:pPr marL="800100" lvl="1" indent="-342900" fontAlgn="base">
              <a:lnSpc>
                <a:spcPct val="150000"/>
              </a:lnSpc>
              <a:buClr>
                <a:srgbClr val="0070C0"/>
              </a:buClr>
              <a:buFont typeface="Wingdings" panose="05000000000000000000" charset="0"/>
              <a:buChar char="Ø"/>
            </a:pPr>
            <a:r>
              <a:rPr lang="zh-CN" altLang="en-US" sz="2000" strike="noStrike" noProof="1">
                <a:latin typeface="+mn-lt"/>
                <a:ea typeface="宋体" panose="02010600030101010101" pitchFamily="2" charset="-122"/>
                <a:cs typeface="+mn-cs"/>
              </a:rPr>
              <a:t>语义：课程名称、教师、学分、授课对象、教室、周几、第几讲</a:t>
            </a:r>
            <a:endParaRPr lang="zh-CN" altLang="en-US" sz="2000" strike="noStrike" noProof="1">
              <a:ea typeface="宋体" panose="02010600030101010101" pitchFamily="2" charset="-122"/>
            </a:endParaRPr>
          </a:p>
          <a:p>
            <a:pPr marL="800100" lvl="1" indent="-342900" fontAlgn="base">
              <a:lnSpc>
                <a:spcPct val="150000"/>
              </a:lnSpc>
              <a:buClr>
                <a:srgbClr val="0070C0"/>
              </a:buClr>
              <a:buFont typeface="Wingdings" panose="05000000000000000000" charset="0"/>
              <a:buChar char="Ø"/>
            </a:pPr>
            <a:r>
              <a:rPr lang="zh-CN" altLang="en-US" sz="2000" strike="noStrike" noProof="1">
                <a:latin typeface="+mn-lt"/>
                <a:ea typeface="宋体" panose="02010600030101010101" pitchFamily="2" charset="-122"/>
                <a:cs typeface="+mn-cs"/>
              </a:rPr>
              <a:t>解释：</a:t>
            </a:r>
            <a:r>
              <a:rPr lang="zh-CN" altLang="en-US" sz="2000" strike="noStrike" noProof="1">
                <a:latin typeface="+mn-lt"/>
                <a:ea typeface="宋体" panose="02010600030101010101" pitchFamily="2" charset="-122"/>
                <a:cs typeface="+mn-cs"/>
                <a:sym typeface="+mn-ea"/>
              </a:rPr>
              <a:t>数据库原理与设计课程</a:t>
            </a:r>
            <a:r>
              <a:rPr lang="en-US" altLang="zh-CN" sz="2000" strike="noStrike" noProof="1">
                <a:latin typeface="+mn-lt"/>
                <a:ea typeface="宋体" panose="02010600030101010101" pitchFamily="2" charset="-122"/>
                <a:cs typeface="+mn-cs"/>
                <a:sym typeface="+mn-ea"/>
              </a:rPr>
              <a:t>3</a:t>
            </a:r>
            <a:r>
              <a:rPr lang="zh-CN" altLang="en-US" sz="2000" strike="noStrike" noProof="1">
                <a:latin typeface="+mn-lt"/>
                <a:ea typeface="宋体" panose="02010600030101010101" pitchFamily="2" charset="-122"/>
                <a:cs typeface="+mn-cs"/>
                <a:sym typeface="+mn-ea"/>
              </a:rPr>
              <a:t>个学分，</a:t>
            </a:r>
            <a:r>
              <a:rPr lang="zh-CN" altLang="en-US" sz="2000" strike="noStrike" noProof="1" smtClean="0">
                <a:latin typeface="+mn-lt"/>
                <a:ea typeface="宋体" panose="02010600030101010101" pitchFamily="2" charset="-122"/>
                <a:cs typeface="+mn-cs"/>
                <a:sym typeface="+mn-ea"/>
              </a:rPr>
              <a:t>为计算机</a:t>
            </a:r>
            <a:r>
              <a:rPr lang="en-US" altLang="zh-CN" sz="2000" strike="noStrike" noProof="1" smtClean="0">
                <a:latin typeface="+mn-lt"/>
                <a:ea typeface="宋体" panose="02010600030101010101" pitchFamily="2" charset="-122"/>
                <a:cs typeface="+mn-cs"/>
                <a:sym typeface="+mn-ea"/>
              </a:rPr>
              <a:t>(</a:t>
            </a:r>
            <a:r>
              <a:rPr lang="zh-CN" altLang="en-US" sz="2000" strike="noStrike" noProof="1" smtClean="0">
                <a:latin typeface="+mn-lt"/>
                <a:ea typeface="宋体" panose="02010600030101010101" pitchFamily="2" charset="-122"/>
                <a:cs typeface="+mn-cs"/>
                <a:sym typeface="+mn-ea"/>
              </a:rPr>
              <a:t>茅班</a:t>
            </a:r>
            <a:r>
              <a:rPr lang="en-US" altLang="zh-CN" sz="2000" strike="noStrike" noProof="1" smtClean="0">
                <a:latin typeface="+mn-lt"/>
                <a:ea typeface="宋体" panose="02010600030101010101" pitchFamily="2" charset="-122"/>
                <a:cs typeface="+mn-cs"/>
                <a:sym typeface="+mn-ea"/>
              </a:rPr>
              <a:t>)2023</a:t>
            </a:r>
            <a:r>
              <a:rPr lang="zh-CN" altLang="en-US" sz="2000" strike="noStrike" noProof="1" smtClean="0">
                <a:latin typeface="+mn-lt"/>
                <a:ea typeface="宋体" panose="02010600030101010101" pitchFamily="2" charset="-122"/>
                <a:cs typeface="+mn-cs"/>
                <a:sym typeface="+mn-ea"/>
              </a:rPr>
              <a:t>级</a:t>
            </a:r>
            <a:r>
              <a:rPr lang="zh-CN" altLang="en-US" sz="2000" strike="noStrike" noProof="1">
                <a:latin typeface="+mn-lt"/>
                <a:ea typeface="宋体" panose="02010600030101010101" pitchFamily="2" charset="-122"/>
                <a:cs typeface="+mn-cs"/>
                <a:sym typeface="+mn-ea"/>
              </a:rPr>
              <a:t>学生开设，教师</a:t>
            </a:r>
            <a:r>
              <a:rPr lang="zh-CN" altLang="en-US" sz="2000" strike="noStrike" noProof="1">
                <a:latin typeface="+mn-lt"/>
                <a:ea typeface="宋体" panose="02010600030101010101" pitchFamily="2" charset="-122"/>
                <a:cs typeface="+mn-cs"/>
                <a:sym typeface="+mn-ea"/>
              </a:rPr>
              <a:t>由智超，</a:t>
            </a:r>
            <a:r>
              <a:rPr lang="zh-CN" altLang="en-US" sz="2000" strike="noStrike" noProof="1" smtClean="0">
                <a:latin typeface="+mn-lt"/>
                <a:ea typeface="宋体" panose="02010600030101010101" pitchFamily="2" charset="-122"/>
                <a:cs typeface="+mn-cs"/>
                <a:sym typeface="+mn-ea"/>
              </a:rPr>
              <a:t>周</a:t>
            </a:r>
            <a:r>
              <a:rPr lang="en-US" altLang="zh-CN" sz="2000" strike="noStrike" noProof="1" smtClean="0">
                <a:latin typeface="+mn-lt"/>
                <a:ea typeface="宋体" panose="02010600030101010101" pitchFamily="2" charset="-122"/>
                <a:cs typeface="+mn-cs"/>
                <a:sym typeface="+mn-ea"/>
              </a:rPr>
              <a:t>2</a:t>
            </a:r>
            <a:r>
              <a:rPr lang="zh-CN" altLang="en-US" sz="2000" strike="noStrike" noProof="1" smtClean="0">
                <a:latin typeface="+mn-lt"/>
                <a:ea typeface="宋体" panose="02010600030101010101" pitchFamily="2" charset="-122"/>
                <a:cs typeface="+mn-cs"/>
                <a:sym typeface="+mn-ea"/>
              </a:rPr>
              <a:t>第</a:t>
            </a:r>
            <a:r>
              <a:rPr lang="en-US" altLang="zh-CN" sz="2000" strike="noStrike" noProof="1" smtClean="0">
                <a:latin typeface="+mn-lt"/>
                <a:ea typeface="宋体" panose="02010600030101010101" pitchFamily="2" charset="-122"/>
                <a:cs typeface="+mn-cs"/>
                <a:sym typeface="+mn-ea"/>
              </a:rPr>
              <a:t>3-5</a:t>
            </a:r>
            <a:r>
              <a:rPr lang="zh-CN" altLang="en-US" sz="2000" strike="noStrike" noProof="1">
                <a:latin typeface="+mn-lt"/>
                <a:ea typeface="宋体" panose="02010600030101010101" pitchFamily="2" charset="-122"/>
                <a:cs typeface="+mn-cs"/>
                <a:sym typeface="+mn-ea"/>
              </a:rPr>
              <a:t>讲在</a:t>
            </a:r>
            <a:r>
              <a:rPr lang="zh-CN" altLang="en-US" sz="2000" smtClean="0">
                <a:ea typeface="宋体" panose="02010600030101010101" pitchFamily="2" charset="-122"/>
                <a:sym typeface="+mn-ea"/>
              </a:rPr>
              <a:t>X30</a:t>
            </a:r>
            <a:r>
              <a:rPr lang="en-US" altLang="zh-CN" sz="2000" smtClean="0">
                <a:ea typeface="宋体" panose="02010600030101010101" pitchFamily="2" charset="-122"/>
                <a:sym typeface="+mn-ea"/>
              </a:rPr>
              <a:t>401</a:t>
            </a:r>
            <a:r>
              <a:rPr lang="zh-CN" altLang="en-US" sz="2000" strike="noStrike" noProof="1" smtClean="0">
                <a:latin typeface="+mn-lt"/>
                <a:ea typeface="宋体" panose="02010600030101010101" pitchFamily="2" charset="-122"/>
                <a:cs typeface="+mn-cs"/>
                <a:sym typeface="+mn-ea"/>
              </a:rPr>
              <a:t>教室</a:t>
            </a:r>
            <a:r>
              <a:rPr lang="zh-CN" altLang="en-US" sz="2000" strike="noStrike" noProof="1">
                <a:latin typeface="+mn-lt"/>
                <a:ea typeface="宋体" panose="02010600030101010101" pitchFamily="2" charset="-122"/>
                <a:cs typeface="+mn-cs"/>
                <a:sym typeface="+mn-ea"/>
              </a:rPr>
              <a:t>上课</a:t>
            </a:r>
            <a:endParaRPr lang="zh-CN" altLang="en-US" sz="2000" strike="noStrike" noProof="1">
              <a:ea typeface="宋体" panose="02010600030101010101" pitchFamily="2" charset="-122"/>
              <a:sym typeface="+mn-ea"/>
            </a:endParaRPr>
          </a:p>
        </p:txBody>
      </p:sp>
      <p:sp>
        <p:nvSpPr>
          <p:cNvPr id="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txBox="1"/>
          <p:nvPr/>
        </p:nvSpPr>
        <p:spPr>
          <a:xfrm>
            <a:off x="579755" y="1471930"/>
            <a:ext cx="8406130" cy="1609090"/>
          </a:xfrm>
          <a:prstGeom prst="rect">
            <a:avLst/>
          </a:prstGeom>
          <a:noFill/>
          <a:ln w="9525">
            <a:noFill/>
          </a:ln>
        </p:spPr>
        <p:txBody>
          <a:bodyPr anchor="t"/>
          <a:lstStyle/>
          <a:p>
            <a:pPr marL="342900" lvl="0" indent="-342900" fontAlgn="base">
              <a:lnSpc>
                <a:spcPct val="130000"/>
              </a:lnSpc>
              <a:spcBef>
                <a:spcPct val="20000"/>
              </a:spcBef>
              <a:buClr>
                <a:srgbClr val="0033CC"/>
              </a:buClr>
              <a:buSzPct val="80000"/>
              <a:buFont typeface="Wingdings" panose="05000000000000000000" pitchFamily="2" charset="2"/>
              <a:buChar char="u"/>
            </a:pPr>
            <a:r>
              <a:rPr lang="zh-CN" altLang="en-US" sz="2400" u="sng" strike="noStrike" noProof="1">
                <a:solidFill>
                  <a:srgbClr val="FF0000"/>
                </a:solidFill>
                <a:latin typeface="Arial" panose="020B0604020202020204" pitchFamily="34" charset="0"/>
                <a:ea typeface="宋体" panose="02010600030101010101" pitchFamily="2" charset="-122"/>
                <a:cs typeface="+mn-ea"/>
              </a:rPr>
              <a:t>数据库（Database, DB）：</a:t>
            </a:r>
            <a:r>
              <a:rPr lang="zh-CN" altLang="en-US" sz="2200" u="sng" strike="noStrike" noProof="1">
                <a:solidFill>
                  <a:srgbClr val="0033CC"/>
                </a:solidFill>
                <a:latin typeface="楷体" panose="02010609060101010101" pitchFamily="1" charset="-122"/>
                <a:ea typeface="楷体" panose="02010609060101010101" pitchFamily="1" charset="-122"/>
                <a:cs typeface="+mn-ea"/>
              </a:rPr>
              <a:t>是相互关联的数据集合，</a:t>
            </a:r>
            <a:r>
              <a:rPr lang="zh-CN" altLang="en-US" sz="2200" strike="noStrike" noProof="1">
                <a:latin typeface="楷体" panose="02010609060101010101" pitchFamily="1" charset="-122"/>
                <a:ea typeface="楷体" panose="02010609060101010101" pitchFamily="1" charset="-122"/>
                <a:cs typeface="+mn-ea"/>
              </a:rPr>
              <a:t>数据库中的数据是按一定的数据模型组织、描述和存储的。</a:t>
            </a:r>
            <a:endParaRPr lang="zh-CN" altLang="en-US" sz="2200" strike="noStrike" noProof="1">
              <a:latin typeface="楷体" panose="02010609060101010101" pitchFamily="1" charset="-122"/>
              <a:ea typeface="楷体" panose="02010609060101010101" pitchFamily="1" charset="-122"/>
            </a:endParaRPr>
          </a:p>
          <a:p>
            <a:pPr algn="just" fontAlgn="base">
              <a:buNone/>
            </a:pPr>
            <a:r>
              <a:rPr lang="zh-CN" altLang="en-US" sz="2200" strike="noStrike" noProof="1">
                <a:latin typeface="Arial" panose="020B0604020202020204" pitchFamily="34" charset="0"/>
                <a:ea typeface="宋体" panose="02010600030101010101" pitchFamily="2" charset="-122"/>
                <a:cs typeface="+mn-ea"/>
                <a:sym typeface="+mn-ea"/>
              </a:rPr>
              <a:t>    数据库的基本特点：</a:t>
            </a:r>
            <a:r>
              <a:rPr lang="zh-CN" altLang="en-US" sz="2200" u="sng" strike="noStrike" noProof="1">
                <a:solidFill>
                  <a:srgbClr val="0033CC"/>
                </a:solidFill>
                <a:latin typeface="楷体" panose="02010609060101010101" pitchFamily="1" charset="-122"/>
                <a:ea typeface="楷体" panose="02010609060101010101" pitchFamily="1" charset="-122"/>
                <a:cs typeface="+mn-ea"/>
                <a:sym typeface="+mn-ea"/>
              </a:rPr>
              <a:t>永久存储、有组织、可共享。</a:t>
            </a:r>
            <a:endParaRPr lang="de-DE" altLang="en-US" sz="2200" strike="noStrike" noProof="1">
              <a:latin typeface="楷体" panose="02010609060101010101" pitchFamily="1" charset="-122"/>
              <a:ea typeface="楷体" panose="02010609060101010101" pitchFamily="1" charset="-122"/>
            </a:endParaRPr>
          </a:p>
        </p:txBody>
      </p:sp>
      <p:sp>
        <p:nvSpPr>
          <p:cNvPr id="64515" name="Rectangle 2"/>
          <p:cNvSpPr txBox="1"/>
          <p:nvPr/>
        </p:nvSpPr>
        <p:spPr>
          <a:xfrm>
            <a:off x="522288" y="912813"/>
            <a:ext cx="7780337"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4. </a:t>
            </a:r>
            <a:r>
              <a:rPr lang="zh-CN" altLang="en-US" sz="2800" dirty="0">
                <a:solidFill>
                  <a:srgbClr val="3333CC"/>
                </a:solidFill>
                <a:latin typeface="Arial" panose="020B0604020202020204" pitchFamily="34" charset="0"/>
                <a:ea typeface="黑体" panose="02010609060101010101" pitchFamily="1" charset="-122"/>
              </a:rPr>
              <a:t>数据库及其相关概念</a:t>
            </a:r>
            <a:endParaRPr lang="zh-CN" altLang="en-US" sz="2400" dirty="0">
              <a:solidFill>
                <a:srgbClr val="FF0000"/>
              </a:solidFill>
              <a:latin typeface="Arial" panose="020B0604020202020204" pitchFamily="34" charset="0"/>
              <a:ea typeface="黑体" panose="02010609060101010101" pitchFamily="1" charset="-122"/>
            </a:endParaRPr>
          </a:p>
        </p:txBody>
      </p:sp>
      <p:sp>
        <p:nvSpPr>
          <p:cNvPr id="59394" name="Rectangle 4"/>
          <p:cNvSpPr txBox="1"/>
          <p:nvPr/>
        </p:nvSpPr>
        <p:spPr>
          <a:xfrm>
            <a:off x="579755" y="3014980"/>
            <a:ext cx="8255000" cy="2291715"/>
          </a:xfrm>
          <a:prstGeom prst="rect">
            <a:avLst/>
          </a:prstGeom>
          <a:noFill/>
          <a:ln w="9525">
            <a:noFill/>
          </a:ln>
        </p:spPr>
        <p:txBody>
          <a:bodyPr anchor="t"/>
          <a:lstStyle/>
          <a:p>
            <a:pPr marL="342900" lvl="0" indent="-342900">
              <a:lnSpc>
                <a:spcPct val="110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华文楷体" panose="02010600040101010101" pitchFamily="2" charset="-122"/>
                <a:ea typeface="宋体" panose="02010600030101010101" pitchFamily="2" charset="-122"/>
              </a:rPr>
              <a:t>数据库系统（Database System, DBS）：</a:t>
            </a:r>
            <a:r>
              <a:rPr lang="zh-CN" altLang="en-US" sz="2200" dirty="0">
                <a:latin typeface="楷体" panose="02010609060101010101" pitchFamily="1" charset="-122"/>
                <a:ea typeface="楷体" panose="02010609060101010101" pitchFamily="1" charset="-122"/>
              </a:rPr>
              <a:t>在计算机系统中引入数据库后的系统构成，</a:t>
            </a:r>
            <a:r>
              <a:rPr lang="zh-CN" altLang="en-US" sz="2200" u="sng" dirty="0">
                <a:solidFill>
                  <a:srgbClr val="0033CC"/>
                </a:solidFill>
                <a:latin typeface="楷体" panose="02010609060101010101" pitchFamily="1" charset="-122"/>
                <a:ea typeface="楷体" panose="02010609060101010101" pitchFamily="1" charset="-122"/>
              </a:rPr>
              <a:t>由数据库和数据库管理系统构成</a:t>
            </a:r>
            <a:r>
              <a:rPr lang="zh-CN" altLang="en-US" sz="2200" dirty="0">
                <a:latin typeface="楷体" panose="02010609060101010101" pitchFamily="1" charset="-122"/>
                <a:ea typeface="楷体" panose="02010609060101010101" pitchFamily="1" charset="-122"/>
              </a:rPr>
              <a:t>，</a:t>
            </a:r>
            <a:r>
              <a:rPr lang="zh-CN" altLang="en-US" sz="2200" u="sng" dirty="0">
                <a:solidFill>
                  <a:srgbClr val="0033CC"/>
                </a:solidFill>
                <a:latin typeface="楷体" panose="02010609060101010101" pitchFamily="1" charset="-122"/>
                <a:ea typeface="楷体" panose="02010609060101010101" pitchFamily="1" charset="-122"/>
              </a:rPr>
              <a:t>更广义的构成则为“DB+DBMS+数据库管理员+应用程序+用户”。</a:t>
            </a:r>
            <a:endParaRPr lang="zh-CN" altLang="en-US" sz="2200" dirty="0">
              <a:latin typeface="楷体" panose="02010609060101010101" pitchFamily="1" charset="-122"/>
              <a:ea typeface="楷体" panose="02010609060101010101" pitchFamily="1" charset="-122"/>
            </a:endParaRPr>
          </a:p>
          <a:p>
            <a:pPr marL="342900" lvl="0" indent="-342900">
              <a:lnSpc>
                <a:spcPct val="120000"/>
              </a:lnSpc>
              <a:spcBef>
                <a:spcPts val="600"/>
              </a:spcBef>
              <a:buClr>
                <a:srgbClr val="0033CC"/>
              </a:buClr>
              <a:buSzPct val="80000"/>
              <a:buFont typeface="Wingdings" panose="05000000000000000000" pitchFamily="2" charset="2"/>
              <a:buChar char="u"/>
            </a:pPr>
            <a:r>
              <a:rPr lang="zh-CN" altLang="en-US" sz="2400" u="sng" dirty="0">
                <a:solidFill>
                  <a:srgbClr val="FF0000"/>
                </a:solidFill>
                <a:latin typeface="华文楷体" panose="02010600040101010101" pitchFamily="2" charset="-122"/>
                <a:ea typeface="宋体" panose="02010600030101010101" pitchFamily="2" charset="-122"/>
              </a:rPr>
              <a:t>数据库操作（Database Operation）：</a:t>
            </a:r>
            <a:r>
              <a:rPr lang="zh-CN" altLang="en-US" sz="2200" dirty="0">
                <a:latin typeface="楷体" panose="02010609060101010101" pitchFamily="1" charset="-122"/>
                <a:ea typeface="楷体" panose="02010609060101010101" pitchFamily="1" charset="-122"/>
              </a:rPr>
              <a:t>在数据库应用中，最常见的有：增加、删除、修改和查询。</a:t>
            </a:r>
            <a:endParaRPr lang="zh-CN" altLang="en-US" sz="2200" dirty="0">
              <a:latin typeface="楷体" panose="02010609060101010101" pitchFamily="1" charset="-122"/>
              <a:ea typeface="楷体" panose="02010609060101010101" pitchFamily="1" charset="-122"/>
            </a:endParaRPr>
          </a:p>
          <a:p>
            <a:pPr marL="342900" lvl="0" indent="-342900">
              <a:lnSpc>
                <a:spcPct val="120000"/>
              </a:lnSpc>
              <a:spcBef>
                <a:spcPts val="600"/>
              </a:spcBef>
              <a:buClr>
                <a:srgbClr val="0033CC"/>
              </a:buClr>
              <a:buSzPct val="80000"/>
              <a:buFont typeface="Wingdings" panose="05000000000000000000" pitchFamily="2" charset="2"/>
              <a:buChar char="u"/>
            </a:pPr>
            <a:r>
              <a:rPr lang="zh-CN" altLang="en-US" sz="2200" u="sng" dirty="0">
                <a:solidFill>
                  <a:srgbClr val="FF0000"/>
                </a:solidFill>
                <a:sym typeface="+mn-ea"/>
              </a:rPr>
              <a:t>视图(View)：</a:t>
            </a:r>
            <a:r>
              <a:rPr lang="zh-CN" altLang="en-US" sz="2200" dirty="0">
                <a:solidFill>
                  <a:srgbClr val="0033CC"/>
                </a:solidFill>
                <a:latin typeface="楷体" panose="02010609060101010101" pitchFamily="1" charset="-122"/>
                <a:ea typeface="楷体" panose="02010609060101010101" pitchFamily="1" charset="-122"/>
                <a:sym typeface="+mn-ea"/>
              </a:rPr>
              <a:t>从不同的角度截取同一数据库的子集（不同的理解），每一个子集被称为该数据库的一个视图。</a:t>
            </a:r>
            <a:endParaRPr lang="zh-CN" altLang="en-US" sz="2200" dirty="0">
              <a:latin typeface="楷体" panose="02010609060101010101" pitchFamily="1" charset="-122"/>
              <a:ea typeface="楷体" panose="02010609060101010101" pitchFamily="1" charset="-122"/>
            </a:endParaRPr>
          </a:p>
        </p:txBody>
      </p:sp>
      <p:sp>
        <p:nvSpPr>
          <p:cNvPr id="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58371">
                                            <p:txEl>
                                              <p:pRg st="1" end="1"/>
                                            </p:txEl>
                                          </p:spTgt>
                                        </p:tgtEl>
                                        <p:attrNameLst>
                                          <p:attrName>style.visibility</p:attrName>
                                        </p:attrNameLst>
                                      </p:cBhvr>
                                      <p:to>
                                        <p:strVal val="visible"/>
                                      </p:to>
                                    </p:set>
                                    <p:anim calcmode="lin" valueType="num">
                                      <p:cBhvr>
                                        <p:cTn id="7" dur="500" fill="hold"/>
                                        <p:tgtEl>
                                          <p:spTgt spid="58371">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58371">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59394">
                                            <p:txEl>
                                              <p:pRg st="0" end="0"/>
                                            </p:txEl>
                                          </p:spTgt>
                                        </p:tgtEl>
                                        <p:attrNameLst>
                                          <p:attrName>style.visibility</p:attrName>
                                        </p:attrNameLst>
                                      </p:cBhvr>
                                      <p:to>
                                        <p:strVal val="visible"/>
                                      </p:to>
                                    </p:set>
                                    <p:anim calcmode="lin" valueType="num">
                                      <p:cBhvr>
                                        <p:cTn id="13" dur="500" fill="hold"/>
                                        <p:tgtEl>
                                          <p:spTgt spid="59394">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59394">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59394">
                                            <p:txEl>
                                              <p:pRg st="1" end="1"/>
                                            </p:txEl>
                                          </p:spTgt>
                                        </p:tgtEl>
                                        <p:attrNameLst>
                                          <p:attrName>style.visibility</p:attrName>
                                        </p:attrNameLst>
                                      </p:cBhvr>
                                      <p:to>
                                        <p:strVal val="visible"/>
                                      </p:to>
                                    </p:set>
                                    <p:anim calcmode="lin" valueType="num">
                                      <p:cBhvr>
                                        <p:cTn id="19" dur="500" fill="hold"/>
                                        <p:tgtEl>
                                          <p:spTgt spid="59394">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59394">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59394">
                                            <p:txEl>
                                              <p:pRg st="2" end="2"/>
                                            </p:txEl>
                                          </p:spTgt>
                                        </p:tgtEl>
                                        <p:attrNameLst>
                                          <p:attrName>style.visibility</p:attrName>
                                        </p:attrNameLst>
                                      </p:cBhvr>
                                      <p:to>
                                        <p:strVal val="visible"/>
                                      </p:to>
                                    </p:set>
                                    <p:anim calcmode="lin" valueType="num">
                                      <p:cBhvr>
                                        <p:cTn id="25" dur="500" fill="hold"/>
                                        <p:tgtEl>
                                          <p:spTgt spid="59394">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59394">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uiExpand="1" build="p"/>
      <p:bldP spid="59394" grpId="0" bldLvl="2"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61372" y="760413"/>
            <a:ext cx="8431752" cy="4755148"/>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3200" kern="100" dirty="0">
                <a:solidFill>
                  <a:srgbClr val="FF0000"/>
                </a:solidFill>
                <a:latin typeface="Calibri" panose="020F0502020204030204" pitchFamily="34" charset="0"/>
                <a:cs typeface="Times New Roman" panose="02020603050405020304" pitchFamily="2" charset="0"/>
              </a:rPr>
              <a:t>知识点小测</a:t>
            </a:r>
            <a:r>
              <a:rPr lang="zh-CN" altLang="zh-CN" sz="3200" kern="100" dirty="0" smtClean="0">
                <a:solidFill>
                  <a:srgbClr val="FF0000"/>
                </a:solidFill>
                <a:latin typeface="Calibri" panose="020F0502020204030204" pitchFamily="34" charset="0"/>
                <a:cs typeface="Times New Roman" panose="02020603050405020304" pitchFamily="2" charset="0"/>
              </a:rPr>
              <a:t>：</a:t>
            </a:r>
            <a:endParaRPr lang="en-US" altLang="zh-CN" sz="3200" kern="100" dirty="0">
              <a:solidFill>
                <a:srgbClr val="FF0000"/>
              </a:solidFill>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、关于文件系统，判断下列说法是否正确。</a:t>
            </a:r>
            <a:endParaRPr lang="en-US" altLang="zh-CN" sz="24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zh-CN" altLang="en-US" sz="2200" kern="100" dirty="0">
                <a:latin typeface="Calibri" panose="020F0502020204030204" pitchFamily="34" charset="0"/>
                <a:cs typeface="Times New Roman" panose="02020603050405020304" pitchFamily="2" charset="0"/>
              </a:rPr>
              <a:t>（</a:t>
            </a:r>
            <a:r>
              <a:rPr lang="en-US" altLang="zh-CN" sz="2200" kern="100" dirty="0">
                <a:latin typeface="Calibri" panose="020F0502020204030204" pitchFamily="34" charset="0"/>
                <a:cs typeface="Times New Roman" panose="02020603050405020304" pitchFamily="2" charset="0"/>
              </a:rPr>
              <a:t>1</a:t>
            </a:r>
            <a:r>
              <a:rPr lang="zh-CN" altLang="en-US" sz="2200" kern="100" dirty="0">
                <a:latin typeface="Calibri" panose="020F0502020204030204" pitchFamily="34" charset="0"/>
                <a:cs typeface="Times New Roman" panose="02020603050405020304" pitchFamily="2" charset="0"/>
              </a:rPr>
              <a:t>）文件系统无单独的数据安全访问控制。 （     ）。</a:t>
            </a:r>
            <a:endParaRPr lang="en-US" altLang="zh-CN" sz="22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zh-CN" altLang="en-US" sz="2200" kern="100" dirty="0">
                <a:latin typeface="Calibri" panose="020F0502020204030204" pitchFamily="34" charset="0"/>
                <a:cs typeface="Times New Roman" panose="02020603050405020304" pitchFamily="2" charset="0"/>
              </a:rPr>
              <a:t>（</a:t>
            </a:r>
            <a:r>
              <a:rPr lang="en-US" altLang="zh-CN" sz="2200" kern="100" dirty="0">
                <a:latin typeface="Calibri" panose="020F0502020204030204" pitchFamily="34" charset="0"/>
                <a:cs typeface="Times New Roman" panose="02020603050405020304" pitchFamily="2" charset="0"/>
              </a:rPr>
              <a:t>2</a:t>
            </a:r>
            <a:r>
              <a:rPr lang="zh-CN" altLang="en-US" sz="2200" kern="100" dirty="0">
                <a:latin typeface="Calibri" panose="020F0502020204030204" pitchFamily="34" charset="0"/>
                <a:cs typeface="Times New Roman" panose="02020603050405020304" pitchFamily="2" charset="0"/>
              </a:rPr>
              <a:t>）只实现了部分物理独立性，无逻辑独立性（    ）。</a:t>
            </a:r>
            <a:endParaRPr lang="en-US" altLang="zh-CN" sz="22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zh-CN" altLang="en-US" sz="2200" kern="100" dirty="0">
                <a:latin typeface="Calibri" panose="020F0502020204030204" pitchFamily="34" charset="0"/>
                <a:cs typeface="Times New Roman" panose="02020603050405020304" pitchFamily="2" charset="0"/>
              </a:rPr>
              <a:t>（</a:t>
            </a:r>
            <a:r>
              <a:rPr lang="en-US" altLang="zh-CN" sz="2200" kern="100" dirty="0">
                <a:latin typeface="Calibri" panose="020F0502020204030204" pitchFamily="34" charset="0"/>
                <a:cs typeface="Times New Roman" panose="02020603050405020304" pitchFamily="2" charset="0"/>
              </a:rPr>
              <a:t>3</a:t>
            </a:r>
            <a:r>
              <a:rPr lang="zh-CN" altLang="en-US" sz="2200" kern="100" dirty="0">
                <a:latin typeface="Calibri" panose="020F0502020204030204" pitchFamily="34" charset="0"/>
                <a:cs typeface="Times New Roman" panose="02020603050405020304" pitchFamily="2" charset="0"/>
              </a:rPr>
              <a:t>）数据结构的定义和解释依靠应用程序（      ）。</a:t>
            </a:r>
            <a:endParaRPr lang="en-US" altLang="zh-CN" sz="22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zh-CN" altLang="en-US" sz="2200" kern="100" dirty="0">
                <a:latin typeface="Calibri" panose="020F0502020204030204" pitchFamily="34" charset="0"/>
                <a:cs typeface="Times New Roman" panose="02020603050405020304" pitchFamily="2" charset="0"/>
              </a:rPr>
              <a:t>（</a:t>
            </a:r>
            <a:r>
              <a:rPr lang="en-US" altLang="zh-CN" sz="2200" kern="100" dirty="0">
                <a:latin typeface="Calibri" panose="020F0502020204030204" pitchFamily="34" charset="0"/>
                <a:cs typeface="Times New Roman" panose="02020603050405020304" pitchFamily="2" charset="0"/>
              </a:rPr>
              <a:t>4</a:t>
            </a:r>
            <a:r>
              <a:rPr lang="zh-CN" altLang="en-US" sz="2200" kern="100" dirty="0">
                <a:latin typeface="Calibri" panose="020F0502020204030204" pitchFamily="34" charset="0"/>
                <a:cs typeface="Times New Roman" panose="02020603050405020304" pitchFamily="2" charset="0"/>
              </a:rPr>
              <a:t>）文件系统无数据结构。（       ）</a:t>
            </a:r>
            <a:endParaRPr lang="en-US" altLang="zh-CN" sz="22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、下列哪项不属于</a:t>
            </a:r>
            <a:r>
              <a:rPr lang="en-US" altLang="zh-CN" sz="2400" kern="100" dirty="0">
                <a:latin typeface="Calibri" panose="020F0502020204030204" pitchFamily="34" charset="0"/>
                <a:cs typeface="Times New Roman" panose="02020603050405020304" pitchFamily="2" charset="0"/>
              </a:rPr>
              <a:t>DBMS</a:t>
            </a:r>
            <a:r>
              <a:rPr lang="zh-CN" altLang="en-US" sz="2400" kern="100" dirty="0">
                <a:latin typeface="Calibri" panose="020F0502020204030204" pitchFamily="34" charset="0"/>
                <a:cs typeface="Times New Roman" panose="02020603050405020304" pitchFamily="2" charset="0"/>
              </a:rPr>
              <a:t>的基本功能（        ）。</a:t>
            </a:r>
            <a:endParaRPr lang="en-US" altLang="zh-CN" sz="24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200" kern="100" dirty="0">
                <a:latin typeface="Calibri" panose="020F0502020204030204" pitchFamily="34" charset="0"/>
                <a:cs typeface="Times New Roman" panose="02020603050405020304" pitchFamily="2" charset="0"/>
              </a:rPr>
              <a:t>A</a:t>
            </a:r>
            <a:r>
              <a:rPr lang="zh-CN" altLang="en-US" sz="2200" kern="100" dirty="0">
                <a:latin typeface="Calibri" panose="020F0502020204030204" pitchFamily="34" charset="0"/>
                <a:cs typeface="Times New Roman" panose="02020603050405020304" pitchFamily="2" charset="0"/>
              </a:rPr>
              <a:t>、数据独立性                    </a:t>
            </a:r>
            <a:r>
              <a:rPr lang="zh-CN" altLang="en-US" sz="2200" kern="100" dirty="0" smtClean="0">
                <a:latin typeface="Calibri" panose="020F0502020204030204" pitchFamily="34" charset="0"/>
                <a:cs typeface="Times New Roman" panose="02020603050405020304" pitchFamily="2" charset="0"/>
              </a:rPr>
              <a:t> </a:t>
            </a:r>
            <a:r>
              <a:rPr lang="en-US" altLang="zh-CN" sz="2200" kern="100" dirty="0">
                <a:latin typeface="Calibri" panose="020F0502020204030204" pitchFamily="34" charset="0"/>
                <a:cs typeface="Times New Roman" panose="02020603050405020304" pitchFamily="2" charset="0"/>
              </a:rPr>
              <a:t>B</a:t>
            </a:r>
            <a:r>
              <a:rPr lang="zh-CN" altLang="en-US" sz="2200" kern="100" dirty="0">
                <a:latin typeface="Calibri" panose="020F0502020204030204" pitchFamily="34" charset="0"/>
                <a:cs typeface="Times New Roman" panose="02020603050405020304" pitchFamily="2" charset="0"/>
              </a:rPr>
              <a:t>、数据安全访问控制</a:t>
            </a:r>
            <a:endParaRPr lang="en-US" altLang="zh-CN" sz="22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200" kern="100" dirty="0">
                <a:latin typeface="Calibri" panose="020F0502020204030204" pitchFamily="34" charset="0"/>
                <a:cs typeface="Times New Roman" panose="02020603050405020304" pitchFamily="2" charset="0"/>
              </a:rPr>
              <a:t>C</a:t>
            </a:r>
            <a:r>
              <a:rPr lang="zh-CN" altLang="en-US" sz="2200" kern="100" dirty="0">
                <a:latin typeface="Calibri" panose="020F0502020204030204" pitchFamily="34" charset="0"/>
                <a:cs typeface="Times New Roman" panose="02020603050405020304" pitchFamily="2" charset="0"/>
              </a:rPr>
              <a:t>、数据特征抽取                 </a:t>
            </a:r>
            <a:r>
              <a:rPr lang="en-US" altLang="zh-CN" sz="2200" kern="100" dirty="0">
                <a:latin typeface="Calibri" panose="020F0502020204030204" pitchFamily="34" charset="0"/>
                <a:cs typeface="Times New Roman" panose="02020603050405020304" pitchFamily="2" charset="0"/>
              </a:rPr>
              <a:t>D</a:t>
            </a:r>
            <a:r>
              <a:rPr lang="zh-CN" altLang="en-US" sz="2200" kern="100" dirty="0">
                <a:latin typeface="Calibri" panose="020F0502020204030204" pitchFamily="34" charset="0"/>
                <a:cs typeface="Times New Roman" panose="02020603050405020304" pitchFamily="2" charset="0"/>
              </a:rPr>
              <a:t>、多用户并发访问控制</a:t>
            </a:r>
            <a:endParaRPr lang="en-US" altLang="zh-CN" sz="22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什么是数据的物理独立性，什么是逻辑独立性？</a:t>
            </a:r>
            <a:endParaRPr lang="zh-CN" altLang="zh-CN" sz="2400" kern="100" dirty="0">
              <a:latin typeface="Calibri" panose="020F0502020204030204" pitchFamily="34" charset="0"/>
              <a:cs typeface="Times New Roman" panose="02020603050405020304" pitchFamily="2" charset="0"/>
            </a:endParaRPr>
          </a:p>
        </p:txBody>
      </p:sp>
      <p:sp>
        <p:nvSpPr>
          <p:cNvPr id="7"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31225" y="1411288"/>
            <a:ext cx="8431752" cy="4721292"/>
          </a:xfrm>
          <a:prstGeom prst="rect">
            <a:avLst/>
          </a:prstGeom>
        </p:spPr>
        <p:txBody>
          <a:bodyPr wrap="square">
            <a:spAutoFit/>
          </a:bodyPr>
          <a:lstStyle/>
          <a:p>
            <a:pPr algn="just">
              <a:lnSpc>
                <a:spcPct val="130000"/>
              </a:lnSpc>
              <a:spcBef>
                <a:spcPts val="300"/>
              </a:spcBef>
              <a:spcAft>
                <a:spcPts val="0"/>
              </a:spcAft>
              <a:buNone/>
            </a:pP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、关于文件系统，判断下列说法是否正确。</a:t>
            </a:r>
            <a:endParaRPr lang="en-US" altLang="zh-CN" sz="2400" kern="100" dirty="0">
              <a:latin typeface="Calibri" panose="020F0502020204030204" pitchFamily="34" charset="0"/>
              <a:cs typeface="Times New Roman" panose="02020603050405020304" pitchFamily="2" charset="0"/>
            </a:endParaRPr>
          </a:p>
          <a:p>
            <a:pPr algn="just">
              <a:lnSpc>
                <a:spcPct val="130000"/>
              </a:lnSpc>
              <a:spcBef>
                <a:spcPts val="300"/>
              </a:spcBef>
              <a:spcAft>
                <a:spcPts val="0"/>
              </a:spcAft>
              <a:buNone/>
            </a:pP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）文件系统无单独的数据安全访问控制。 （  </a:t>
            </a:r>
            <a:r>
              <a:rPr lang="zh-CN" altLang="en-US" sz="2400" kern="100" dirty="0">
                <a:solidFill>
                  <a:srgbClr val="C00000"/>
                </a:solidFill>
                <a:latin typeface="Calibri" panose="020F0502020204030204" pitchFamily="34" charset="0"/>
                <a:cs typeface="Times New Roman" panose="02020603050405020304" pitchFamily="2" charset="0"/>
              </a:rPr>
              <a:t>对</a:t>
            </a:r>
            <a:r>
              <a:rPr lang="zh-CN" altLang="en-US" sz="2400" kern="100" dirty="0">
                <a:latin typeface="Calibri" panose="020F0502020204030204" pitchFamily="34" charset="0"/>
                <a:cs typeface="Times New Roman" panose="02020603050405020304" pitchFamily="2" charset="0"/>
              </a:rPr>
              <a:t>   ）。</a:t>
            </a:r>
            <a:endParaRPr lang="en-US" altLang="zh-CN" sz="2400" kern="100" dirty="0">
              <a:latin typeface="Calibri" panose="020F0502020204030204" pitchFamily="34" charset="0"/>
              <a:cs typeface="Times New Roman" panose="02020603050405020304" pitchFamily="2" charset="0"/>
            </a:endParaRPr>
          </a:p>
          <a:p>
            <a:pPr algn="just">
              <a:lnSpc>
                <a:spcPct val="130000"/>
              </a:lnSpc>
              <a:spcBef>
                <a:spcPts val="300"/>
              </a:spcBef>
              <a:spcAft>
                <a:spcPts val="0"/>
              </a:spcAft>
              <a:buNone/>
            </a:pP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）只实现了部分物理独立性，无逻辑独立性（ </a:t>
            </a:r>
            <a:r>
              <a:rPr lang="zh-CN" altLang="en-US" sz="2400" kern="100" dirty="0">
                <a:solidFill>
                  <a:srgbClr val="C00000"/>
                </a:solidFill>
                <a:latin typeface="Calibri" panose="020F0502020204030204" pitchFamily="34" charset="0"/>
                <a:cs typeface="Times New Roman" panose="02020603050405020304" pitchFamily="2" charset="0"/>
              </a:rPr>
              <a:t>对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30000"/>
              </a:lnSpc>
              <a:spcBef>
                <a:spcPts val="300"/>
              </a:spcBef>
              <a:spcAft>
                <a:spcPts val="0"/>
              </a:spcAft>
              <a:buNone/>
            </a:pP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3</a:t>
            </a:r>
            <a:r>
              <a:rPr lang="zh-CN" altLang="en-US" sz="2400" kern="100" dirty="0">
                <a:latin typeface="Calibri" panose="020F0502020204030204" pitchFamily="34" charset="0"/>
                <a:cs typeface="Times New Roman" panose="02020603050405020304" pitchFamily="2" charset="0"/>
              </a:rPr>
              <a:t>）数据结构的定义和解释依靠应用程序（ </a:t>
            </a:r>
            <a:r>
              <a:rPr lang="zh-CN" altLang="en-US" sz="2400" kern="100" dirty="0">
                <a:solidFill>
                  <a:srgbClr val="C00000"/>
                </a:solidFill>
                <a:latin typeface="Calibri" panose="020F0502020204030204" pitchFamily="34" charset="0"/>
                <a:cs typeface="Times New Roman" panose="02020603050405020304" pitchFamily="2" charset="0"/>
              </a:rPr>
              <a:t>对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30000"/>
              </a:lnSpc>
              <a:spcBef>
                <a:spcPts val="300"/>
              </a:spcBef>
              <a:spcAft>
                <a:spcPts val="0"/>
              </a:spcAft>
              <a:buNone/>
            </a:pP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4</a:t>
            </a:r>
            <a:r>
              <a:rPr lang="zh-CN" altLang="en-US" sz="2400" kern="100" dirty="0">
                <a:latin typeface="Calibri" panose="020F0502020204030204" pitchFamily="34" charset="0"/>
                <a:cs typeface="Times New Roman" panose="02020603050405020304" pitchFamily="2" charset="0"/>
              </a:rPr>
              <a:t>）文件系统无数据结构。（  </a:t>
            </a:r>
            <a:r>
              <a:rPr lang="zh-CN" altLang="en-US" sz="2400" kern="100" dirty="0">
                <a:solidFill>
                  <a:srgbClr val="C00000"/>
                </a:solidFill>
                <a:latin typeface="Calibri" panose="020F0502020204030204" pitchFamily="34" charset="0"/>
                <a:cs typeface="Times New Roman" panose="02020603050405020304" pitchFamily="2" charset="0"/>
              </a:rPr>
              <a:t>错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30000"/>
              </a:lnSpc>
              <a:spcBef>
                <a:spcPts val="300"/>
              </a:spcBef>
              <a:spcAft>
                <a:spcPts val="0"/>
              </a:spcAft>
              <a:buNone/>
            </a:pPr>
            <a:r>
              <a:rPr lang="en-US" altLang="zh-CN" sz="2400" kern="100" dirty="0">
                <a:latin typeface="Calibri" panose="020F0502020204030204" pitchFamily="34" charset="0"/>
                <a:cs typeface="Times New Roman" panose="02020603050405020304" pitchFamily="2" charset="0"/>
              </a:rPr>
              <a:t> </a:t>
            </a:r>
            <a:r>
              <a:rPr lang="zh-CN" altLang="en-US" sz="2400" kern="100" dirty="0">
                <a:solidFill>
                  <a:srgbClr val="C00000"/>
                </a:solidFill>
                <a:latin typeface="Calibri" panose="020F0502020204030204" pitchFamily="34" charset="0"/>
                <a:cs typeface="Times New Roman" panose="02020603050405020304" pitchFamily="2" charset="0"/>
              </a:rPr>
              <a:t>解析：文件内有数据结构，文件间无整体数据结构。</a:t>
            </a:r>
            <a:endParaRPr lang="en-US" altLang="zh-CN" sz="2400" kern="100" dirty="0">
              <a:solidFill>
                <a:srgbClr val="C00000"/>
              </a:solidFill>
              <a:latin typeface="Calibri" panose="020F0502020204030204" pitchFamily="34" charset="0"/>
              <a:cs typeface="Times New Roman" panose="02020603050405020304" pitchFamily="2" charset="0"/>
            </a:endParaRPr>
          </a:p>
          <a:p>
            <a:pPr algn="just">
              <a:lnSpc>
                <a:spcPct val="130000"/>
              </a:lnSpc>
              <a:spcBef>
                <a:spcPts val="300"/>
              </a:spcBef>
              <a:spcAft>
                <a:spcPts val="0"/>
              </a:spcAft>
              <a:buNone/>
            </a:pP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、下列哪项不属于</a:t>
            </a:r>
            <a:r>
              <a:rPr lang="en-US" altLang="zh-CN" sz="2400" kern="100" dirty="0">
                <a:latin typeface="Calibri" panose="020F0502020204030204" pitchFamily="34" charset="0"/>
                <a:cs typeface="Times New Roman" panose="02020603050405020304" pitchFamily="2" charset="0"/>
              </a:rPr>
              <a:t>DBMS</a:t>
            </a:r>
            <a:r>
              <a:rPr lang="zh-CN" altLang="en-US" sz="2400" kern="100" dirty="0">
                <a:latin typeface="Calibri" panose="020F0502020204030204" pitchFamily="34" charset="0"/>
                <a:cs typeface="Times New Roman" panose="02020603050405020304" pitchFamily="2" charset="0"/>
              </a:rPr>
              <a:t>的基本功能（ </a:t>
            </a:r>
            <a:r>
              <a:rPr lang="zh-CN" altLang="en-US" sz="2400" kern="100" dirty="0">
                <a:solidFill>
                  <a:srgbClr val="C00000"/>
                </a:solidFill>
                <a:latin typeface="Calibri" panose="020F0502020204030204" pitchFamily="34" charset="0"/>
                <a:cs typeface="Times New Roman" panose="02020603050405020304" pitchFamily="2" charset="0"/>
              </a:rPr>
              <a:t>   </a:t>
            </a:r>
            <a:r>
              <a:rPr lang="en-US" altLang="zh-CN" sz="2400" kern="100" dirty="0">
                <a:solidFill>
                  <a:srgbClr val="C00000"/>
                </a:solidFill>
                <a:latin typeface="Calibri" panose="020F0502020204030204" pitchFamily="34" charset="0"/>
                <a:cs typeface="Times New Roman" panose="02020603050405020304" pitchFamily="2" charset="0"/>
              </a:rPr>
              <a:t>C</a:t>
            </a:r>
            <a:r>
              <a:rPr lang="zh-CN" altLang="en-US" sz="2400" kern="100" dirty="0">
                <a:solidFill>
                  <a:srgbClr val="C00000"/>
                </a:solidFill>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30000"/>
              </a:lnSpc>
              <a:spcBef>
                <a:spcPts val="300"/>
              </a:spcBef>
              <a:spcAft>
                <a:spcPts val="0"/>
              </a:spcAft>
              <a:buNone/>
            </a:pPr>
            <a:r>
              <a:rPr lang="en-US" altLang="zh-CN" sz="2400" kern="100" dirty="0">
                <a:latin typeface="Calibri" panose="020F0502020204030204" pitchFamily="34" charset="0"/>
                <a:cs typeface="Times New Roman" panose="02020603050405020304" pitchFamily="2" charset="0"/>
              </a:rPr>
              <a:t>A</a:t>
            </a:r>
            <a:r>
              <a:rPr lang="zh-CN" altLang="en-US" sz="2400" kern="100" dirty="0">
                <a:latin typeface="Calibri" panose="020F0502020204030204" pitchFamily="34" charset="0"/>
                <a:cs typeface="Times New Roman" panose="02020603050405020304" pitchFamily="2" charset="0"/>
              </a:rPr>
              <a:t>、数据独立性                   </a:t>
            </a:r>
            <a:r>
              <a:rPr lang="en-US" altLang="zh-CN" sz="2400" kern="100" dirty="0">
                <a:latin typeface="Calibri" panose="020F0502020204030204" pitchFamily="34" charset="0"/>
                <a:cs typeface="Times New Roman" panose="02020603050405020304" pitchFamily="2" charset="0"/>
              </a:rPr>
              <a:t>B</a:t>
            </a:r>
            <a:r>
              <a:rPr lang="zh-CN" altLang="en-US" sz="2400" kern="100" dirty="0">
                <a:latin typeface="Calibri" panose="020F0502020204030204" pitchFamily="34" charset="0"/>
                <a:cs typeface="Times New Roman" panose="02020603050405020304" pitchFamily="2" charset="0"/>
              </a:rPr>
              <a:t>、数据安全访问控制</a:t>
            </a:r>
            <a:endParaRPr lang="en-US" altLang="zh-CN" sz="2400" kern="100" dirty="0">
              <a:latin typeface="Calibri" panose="020F0502020204030204" pitchFamily="34" charset="0"/>
              <a:cs typeface="Times New Roman" panose="02020603050405020304" pitchFamily="2" charset="0"/>
            </a:endParaRPr>
          </a:p>
          <a:p>
            <a:pPr algn="just">
              <a:lnSpc>
                <a:spcPct val="130000"/>
              </a:lnSpc>
              <a:spcBef>
                <a:spcPts val="300"/>
              </a:spcBef>
              <a:spcAft>
                <a:spcPts val="0"/>
              </a:spcAft>
              <a:buNone/>
            </a:pPr>
            <a:r>
              <a:rPr lang="en-US" altLang="zh-CN" sz="2400" kern="100" dirty="0">
                <a:latin typeface="Calibri" panose="020F0502020204030204" pitchFamily="34" charset="0"/>
                <a:cs typeface="Times New Roman" panose="02020603050405020304" pitchFamily="2" charset="0"/>
              </a:rPr>
              <a:t>C</a:t>
            </a:r>
            <a:r>
              <a:rPr lang="zh-CN" altLang="en-US" sz="2400" kern="100" dirty="0">
                <a:latin typeface="Calibri" panose="020F0502020204030204" pitchFamily="34" charset="0"/>
                <a:cs typeface="Times New Roman" panose="02020603050405020304" pitchFamily="2" charset="0"/>
              </a:rPr>
              <a:t>、数据特征抽取               </a:t>
            </a:r>
            <a:r>
              <a:rPr lang="en-US" altLang="zh-CN" sz="2400" kern="100" dirty="0">
                <a:latin typeface="Calibri" panose="020F0502020204030204" pitchFamily="34" charset="0"/>
                <a:cs typeface="Times New Roman" panose="02020603050405020304" pitchFamily="2" charset="0"/>
              </a:rPr>
              <a:t>D</a:t>
            </a:r>
            <a:r>
              <a:rPr lang="zh-CN" altLang="en-US" sz="2400" kern="100" dirty="0">
                <a:latin typeface="Calibri" panose="020F0502020204030204" pitchFamily="34" charset="0"/>
                <a:cs typeface="Times New Roman" panose="02020603050405020304" pitchFamily="2" charset="0"/>
              </a:rPr>
              <a:t>、多用户并发访问控制</a:t>
            </a:r>
            <a:endParaRPr lang="en-US" altLang="zh-CN" sz="2400" kern="100" dirty="0">
              <a:latin typeface="Calibri" panose="020F0502020204030204" pitchFamily="34" charset="0"/>
              <a:cs typeface="Times New Roman" panose="02020603050405020304" pitchFamily="2" charset="0"/>
            </a:endParaRPr>
          </a:p>
        </p:txBody>
      </p:sp>
      <p:sp>
        <p:nvSpPr>
          <p:cNvPr id="4" name="矩形 3"/>
          <p:cNvSpPr/>
          <p:nvPr/>
        </p:nvSpPr>
        <p:spPr>
          <a:xfrm>
            <a:off x="631225" y="696425"/>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a:solidFill>
                  <a:srgbClr val="0033CC"/>
                </a:solidFill>
                <a:latin typeface="Calibri" panose="020F0502020204030204" pitchFamily="34" charset="0"/>
                <a:cs typeface="Times New Roman" panose="02020603050405020304" pitchFamily="2" charset="0"/>
              </a:rPr>
              <a:t>知识</a:t>
            </a:r>
            <a:r>
              <a:rPr lang="zh-CN" altLang="en-US" sz="3200" kern="100" dirty="0" smtClean="0">
                <a:solidFill>
                  <a:srgbClr val="0033CC"/>
                </a:solidFill>
                <a:latin typeface="Calibri" panose="020F0502020204030204" pitchFamily="34" charset="0"/>
                <a:cs typeface="Times New Roman" panose="02020603050405020304" pitchFamily="2" charset="0"/>
              </a:rPr>
              <a:t>点</a:t>
            </a:r>
            <a:r>
              <a:rPr lang="zh-CN" altLang="en-US" sz="3200" kern="100" dirty="0">
                <a:solidFill>
                  <a:srgbClr val="0033CC"/>
                </a:solidFill>
                <a:latin typeface="Calibri" panose="020F0502020204030204" pitchFamily="34" charset="0"/>
                <a:cs typeface="Times New Roman" panose="02020603050405020304" pitchFamily="2" charset="0"/>
              </a:rPr>
              <a:t>小测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5"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04778" y="1469626"/>
            <a:ext cx="8238280" cy="3142399"/>
          </a:xfrm>
          <a:prstGeom prst="rect">
            <a:avLst/>
          </a:prstGeom>
        </p:spPr>
        <p:txBody>
          <a:bodyPr wrap="square">
            <a:spAutoFit/>
          </a:bodyPr>
          <a:lstStyle/>
          <a:p>
            <a:pPr algn="just">
              <a:spcAft>
                <a:spcPts val="0"/>
              </a:spcAft>
              <a:buNone/>
            </a:pP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什么是数据的物理独立性</a:t>
            </a:r>
            <a:r>
              <a:rPr lang="zh-CN" altLang="en-US" sz="2400" kern="100" dirty="0" smtClean="0">
                <a:latin typeface="Calibri" panose="020F0502020204030204" pitchFamily="34" charset="0"/>
                <a:cs typeface="Times New Roman" panose="02020603050405020304" pitchFamily="2" charset="0"/>
              </a:rPr>
              <a:t>？</a:t>
            </a:r>
            <a:endParaRPr lang="en-US" altLang="zh-CN" sz="2400" kern="100" dirty="0" smtClean="0">
              <a:latin typeface="Calibri" panose="020F0502020204030204" pitchFamily="34" charset="0"/>
              <a:cs typeface="Times New Roman" panose="02020603050405020304" pitchFamily="2" charset="0"/>
            </a:endParaRPr>
          </a:p>
          <a:p>
            <a:pPr algn="just">
              <a:spcAft>
                <a:spcPts val="0"/>
              </a:spcAft>
              <a:buNone/>
            </a:pPr>
            <a:r>
              <a:rPr lang="zh-CN" altLang="en-US" sz="2400" kern="100" dirty="0" smtClean="0">
                <a:solidFill>
                  <a:srgbClr val="0033CC"/>
                </a:solidFill>
                <a:latin typeface="楷体" panose="02010609060101010101" pitchFamily="1" charset="-122"/>
                <a:ea typeface="楷体" panose="02010609060101010101" pitchFamily="1" charset="-122"/>
                <a:cs typeface="Times New Roman" panose="02020603050405020304" pitchFamily="2" charset="0"/>
              </a:rPr>
              <a:t>答：数据</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的物理独立性：是指将数据存储文件的定义和存取从应用程序中分离出来，交给</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DBMS</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处理，应用程序只需要通过</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ODBC</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或</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JDBC</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链接</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DBMS</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即可，当数据物理存储位置发生变化时，应用程序无须修改</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mn-ea"/>
              </a:rPr>
              <a:t>。</a:t>
            </a:r>
            <a:endPar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mn-ea"/>
            </a:endParaRPr>
          </a:p>
          <a:p>
            <a:pPr algn="just">
              <a:lnSpc>
                <a:spcPct val="130000"/>
              </a:lnSpc>
              <a:spcBef>
                <a:spcPts val="600"/>
              </a:spcBef>
              <a:spcAft>
                <a:spcPts val="0"/>
              </a:spcAft>
              <a:buNone/>
            </a:pP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mn-ea"/>
              </a:rPr>
              <a:t>   </a:t>
            </a:r>
            <a:endPar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p:txBody>
      </p:sp>
      <p:pic>
        <p:nvPicPr>
          <p:cNvPr id="3" name="图片 2"/>
          <p:cNvPicPr>
            <a:picLocks noChangeAspect="1"/>
          </p:cNvPicPr>
          <p:nvPr/>
        </p:nvPicPr>
        <p:blipFill>
          <a:blip r:embed="rId1"/>
          <a:stretch>
            <a:fillRect/>
          </a:stretch>
        </p:blipFill>
        <p:spPr>
          <a:xfrm>
            <a:off x="749884" y="4096403"/>
            <a:ext cx="6356972" cy="2036550"/>
          </a:xfrm>
          <a:prstGeom prst="rect">
            <a:avLst/>
          </a:prstGeom>
        </p:spPr>
      </p:pic>
      <p:sp>
        <p:nvSpPr>
          <p:cNvPr id="7" name="矩形 6"/>
          <p:cNvSpPr/>
          <p:nvPr/>
        </p:nvSpPr>
        <p:spPr>
          <a:xfrm>
            <a:off x="7143639" y="4096403"/>
            <a:ext cx="1817282" cy="1962076"/>
          </a:xfrm>
          <a:prstGeom prst="rect">
            <a:avLst/>
          </a:prstGeom>
        </p:spPr>
        <p:txBody>
          <a:bodyPr wrap="square">
            <a:spAutoFit/>
          </a:bodyPr>
          <a:lstStyle/>
          <a:p>
            <a:pPr>
              <a:buNone/>
            </a:pPr>
            <a:r>
              <a:rPr lang="zh-CN" altLang="en-US" dirty="0"/>
              <a:t>例如学生数据库的数据文件存储位置由</a:t>
            </a:r>
            <a:r>
              <a:rPr lang="en-US" altLang="zh-CN" dirty="0"/>
              <a:t>E</a:t>
            </a:r>
            <a:r>
              <a:rPr lang="zh-CN" altLang="en-US" dirty="0"/>
              <a:t>盘改为</a:t>
            </a:r>
            <a:r>
              <a:rPr lang="en-US" altLang="zh-CN" dirty="0"/>
              <a:t>F</a:t>
            </a:r>
            <a:r>
              <a:rPr lang="zh-CN" altLang="en-US" dirty="0"/>
              <a:t>盘不影响程序的运行</a:t>
            </a:r>
            <a:endParaRPr lang="zh-CN" altLang="en-US" dirty="0"/>
          </a:p>
        </p:txBody>
      </p:sp>
      <p:sp>
        <p:nvSpPr>
          <p:cNvPr id="8" name="矩形 7"/>
          <p:cNvSpPr/>
          <p:nvPr/>
        </p:nvSpPr>
        <p:spPr>
          <a:xfrm>
            <a:off x="631225" y="696425"/>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a:solidFill>
                  <a:srgbClr val="0033CC"/>
                </a:solidFill>
                <a:latin typeface="Calibri" panose="020F0502020204030204" pitchFamily="34" charset="0"/>
                <a:cs typeface="Times New Roman" panose="02020603050405020304" pitchFamily="2" charset="0"/>
              </a:rPr>
              <a:t>知识</a:t>
            </a:r>
            <a:r>
              <a:rPr lang="zh-CN" altLang="en-US" sz="3200" kern="100" dirty="0" smtClean="0">
                <a:solidFill>
                  <a:srgbClr val="0033CC"/>
                </a:solidFill>
                <a:latin typeface="Calibri" panose="020F0502020204030204" pitchFamily="34" charset="0"/>
                <a:cs typeface="Times New Roman" panose="02020603050405020304" pitchFamily="2" charset="0"/>
              </a:rPr>
              <a:t>点</a:t>
            </a:r>
            <a:r>
              <a:rPr lang="zh-CN" altLang="en-US" sz="3200" kern="100" dirty="0">
                <a:solidFill>
                  <a:srgbClr val="0033CC"/>
                </a:solidFill>
                <a:latin typeface="Calibri" panose="020F0502020204030204" pitchFamily="34" charset="0"/>
                <a:cs typeface="Times New Roman" panose="02020603050405020304" pitchFamily="2" charset="0"/>
              </a:rPr>
              <a:t>小测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9"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a:t>
            </a:r>
            <a:r>
              <a:rPr lang="zh-CN" altLang="en-US" sz="3200" dirty="0">
                <a:solidFill>
                  <a:srgbClr val="FF0000"/>
                </a:solidFill>
                <a:ea typeface="黑体" panose="02010609060101010101" pitchFamily="1" charset="-122"/>
                <a:cs typeface="+mn-ea"/>
                <a:sym typeface="+mn-ea"/>
              </a:rPr>
              <a:t>文件系统的缺陷与DBMS的基本功能</a:t>
            </a:r>
            <a:endParaRPr lang="zh-CN" altLang="en-US" sz="3200" dirty="0">
              <a:solidFill>
                <a:srgbClr val="FF0000"/>
              </a:solidFill>
              <a:latin typeface="Arial" panose="020B0604020202020204" pitchFamily="34" charset="0"/>
              <a:ea typeface="黑体" panose="02010609060101010101" pitchFamily="1" charset="-122"/>
              <a:cs typeface="+mn-ea"/>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txBox="1"/>
          <p:nvPr/>
        </p:nvSpPr>
        <p:spPr>
          <a:xfrm>
            <a:off x="555625" y="876300"/>
            <a:ext cx="7354888" cy="533400"/>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数据库设计过程的相关概念</a:t>
            </a:r>
            <a:endParaRPr lang="zh-CN" altLang="en-US" sz="2800" dirty="0">
              <a:solidFill>
                <a:srgbClr val="3333CC"/>
              </a:solidFill>
              <a:latin typeface="Arial" panose="020B0604020202020204" pitchFamily="34" charset="0"/>
              <a:ea typeface="黑体" panose="02010609060101010101" pitchFamily="1" charset="-122"/>
            </a:endParaRPr>
          </a:p>
        </p:txBody>
      </p:sp>
      <p:grpSp>
        <p:nvGrpSpPr>
          <p:cNvPr id="65540" name="组合 7"/>
          <p:cNvGrpSpPr/>
          <p:nvPr/>
        </p:nvGrpSpPr>
        <p:grpSpPr>
          <a:xfrm>
            <a:off x="549275" y="1473200"/>
            <a:ext cx="8054975" cy="4645025"/>
            <a:chOff x="0" y="0"/>
            <a:chExt cx="8054975" cy="4644817"/>
          </a:xfrm>
        </p:grpSpPr>
        <p:grpSp>
          <p:nvGrpSpPr>
            <p:cNvPr id="72708" name="组合 7"/>
            <p:cNvGrpSpPr/>
            <p:nvPr/>
          </p:nvGrpSpPr>
          <p:grpSpPr>
            <a:xfrm>
              <a:off x="0" y="0"/>
              <a:ext cx="8054975" cy="3125012"/>
              <a:chOff x="0" y="0"/>
              <a:chExt cx="8054975" cy="3124823"/>
            </a:xfrm>
          </p:grpSpPr>
          <p:sp>
            <p:nvSpPr>
              <p:cNvPr id="72709" name="Text Box 6"/>
              <p:cNvSpPr txBox="1"/>
              <p:nvPr/>
            </p:nvSpPr>
            <p:spPr>
              <a:xfrm>
                <a:off x="0" y="0"/>
                <a:ext cx="8054975" cy="531757"/>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400" u="sng" dirty="0">
                    <a:solidFill>
                      <a:srgbClr val="FF0000"/>
                    </a:solidFill>
                    <a:latin typeface="Arial" panose="020B0604020202020204" pitchFamily="34" charset="0"/>
                    <a:ea typeface="宋体" panose="02010600030101010101" pitchFamily="2" charset="-122"/>
                  </a:rPr>
                  <a:t> 数据抽象（Data Abstraction）</a:t>
                </a:r>
                <a:endParaRPr lang="zh-CN" altLang="en-US" sz="2400" dirty="0">
                  <a:solidFill>
                    <a:srgbClr val="FF0000"/>
                  </a:solidFill>
                  <a:latin typeface="Arial" panose="020B0604020202020204" pitchFamily="34" charset="0"/>
                  <a:ea typeface="宋体" panose="02010600030101010101" pitchFamily="2" charset="-122"/>
                </a:endParaRPr>
              </a:p>
            </p:txBody>
          </p:sp>
          <p:sp>
            <p:nvSpPr>
              <p:cNvPr id="72710" name="矩形 5"/>
              <p:cNvSpPr/>
              <p:nvPr/>
            </p:nvSpPr>
            <p:spPr>
              <a:xfrm>
                <a:off x="102235" y="600012"/>
                <a:ext cx="3844290" cy="2524811"/>
              </a:xfrm>
              <a:prstGeom prst="rect">
                <a:avLst/>
              </a:prstGeom>
              <a:noFill/>
              <a:ln w="9525">
                <a:noFill/>
              </a:ln>
            </p:spPr>
            <p:txBody>
              <a:bodyPr wrap="square" anchor="t">
                <a:spAutoFit/>
              </a:bodyPr>
              <a:lstStyle/>
              <a:p>
                <a:pPr marL="342900" lvl="0" indent="-342900" algn="just">
                  <a:lnSpc>
                    <a:spcPct val="120000"/>
                  </a:lnSpc>
                  <a:spcBef>
                    <a:spcPct val="50000"/>
                  </a:spcBef>
                  <a:buClr>
                    <a:srgbClr val="0033CC"/>
                  </a:buClr>
                  <a:buSzPct val="8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数据抽象指的是一种</a:t>
                </a:r>
                <a:r>
                  <a:rPr lang="zh-CN" altLang="en-US" sz="2200" u="sng" dirty="0">
                    <a:solidFill>
                      <a:srgbClr val="FF0000"/>
                    </a:solidFill>
                    <a:latin typeface="楷体" panose="02010609060101010101" pitchFamily="1" charset="-122"/>
                    <a:ea typeface="楷体" panose="02010609060101010101" pitchFamily="1" charset="-122"/>
                  </a:rPr>
                  <a:t>数据抽取的过程</a:t>
                </a:r>
                <a:r>
                  <a:rPr lang="zh-CN" altLang="en-US" sz="2200" dirty="0">
                    <a:latin typeface="楷体" panose="02010609060101010101" pitchFamily="1" charset="-122"/>
                    <a:ea typeface="楷体" panose="02010609060101010101" pitchFamily="1" charset="-122"/>
                  </a:rPr>
                  <a:t>，通过不断的数据抽象，达到实现现实系统中的数据存放到</a:t>
                </a:r>
                <a:r>
                  <a:rPr lang="en-US" altLang="x-none" sz="2200" dirty="0">
                    <a:latin typeface="楷体" panose="02010609060101010101" pitchFamily="1" charset="-122"/>
                    <a:ea typeface="楷体" panose="02010609060101010101" pitchFamily="1" charset="-122"/>
                  </a:rPr>
                  <a:t>DBMS</a:t>
                </a:r>
                <a:r>
                  <a:rPr lang="zh-CN" altLang="en-US" sz="2200" dirty="0">
                    <a:latin typeface="楷体" panose="02010609060101010101" pitchFamily="1" charset="-122"/>
                    <a:ea typeface="楷体" panose="02010609060101010101" pitchFamily="1" charset="-122"/>
                  </a:rPr>
                  <a:t>中的目的，也就是实现数据的计算机化管理。</a:t>
                </a:r>
                <a:endParaRPr lang="zh-CN" altLang="en-US" sz="2200" dirty="0">
                  <a:latin typeface="楷体" panose="02010609060101010101" pitchFamily="1" charset="-122"/>
                  <a:ea typeface="楷体" panose="02010609060101010101" pitchFamily="1" charset="-122"/>
                </a:endParaRPr>
              </a:p>
            </p:txBody>
          </p:sp>
        </p:grpSp>
        <p:pic>
          <p:nvPicPr>
            <p:cNvPr id="72711" name="Picture 7"/>
            <p:cNvPicPr>
              <a:picLocks noChangeAspect="1"/>
            </p:cNvPicPr>
            <p:nvPr/>
          </p:nvPicPr>
          <p:blipFill>
            <a:blip r:embed="rId1" cstate="print"/>
            <a:stretch>
              <a:fillRect/>
            </a:stretch>
          </p:blipFill>
          <p:spPr>
            <a:xfrm>
              <a:off x="4305300" y="531789"/>
              <a:ext cx="3749675" cy="4113028"/>
            </a:xfrm>
            <a:prstGeom prst="rect">
              <a:avLst/>
            </a:prstGeom>
            <a:noFill/>
            <a:ln w="9525">
              <a:noFill/>
            </a:ln>
            <a:effectLst>
              <a:prstShdw prst="shdw17" dist="17961" dir="2699999">
                <a:srgbClr val="708688"/>
              </a:prstShdw>
            </a:effectLst>
          </p:spPr>
        </p:pic>
      </p:grpSp>
      <p:sp>
        <p:nvSpPr>
          <p:cNvPr id="65545" name="矩形 8"/>
          <p:cNvSpPr/>
          <p:nvPr/>
        </p:nvSpPr>
        <p:spPr>
          <a:xfrm>
            <a:off x="800100" y="4722813"/>
            <a:ext cx="3886200" cy="1339850"/>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抽象的首要任务就是从实际的人、物、事和概念中抽取所关心的共同特性，忽略非本质的细节。</a:t>
            </a:r>
            <a:endParaRPr lang="zh-CN" altLang="en-US" sz="2000" dirty="0">
              <a:latin typeface="Arial" panose="020B0604020202020204" pitchFamily="34" charset="0"/>
              <a:ea typeface="宋体" panose="02010600030101010101" pitchFamily="2" charset="-122"/>
            </a:endParaRPr>
          </a:p>
        </p:txBody>
      </p:sp>
      <p:sp>
        <p:nvSpPr>
          <p:cNvPr id="47109"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5540"/>
                                        </p:tgtEl>
                                        <p:attrNameLst>
                                          <p:attrName>style.visibility</p:attrName>
                                        </p:attrNameLst>
                                      </p:cBhvr>
                                      <p:to>
                                        <p:strVal val="visible"/>
                                      </p:to>
                                    </p:set>
                                    <p:anim calcmode="lin" valueType="num">
                                      <p:cBhvr additive="base">
                                        <p:cTn id="7" dur="500" fill="hold"/>
                                        <p:tgtEl>
                                          <p:spTgt spid="65540"/>
                                        </p:tgtEl>
                                        <p:attrNameLst>
                                          <p:attrName>ppt_x</p:attrName>
                                        </p:attrNameLst>
                                      </p:cBhvr>
                                      <p:tavLst>
                                        <p:tav tm="0">
                                          <p:val>
                                            <p:strVal val="#ppt_x"/>
                                          </p:val>
                                        </p:tav>
                                        <p:tav tm="100000">
                                          <p:val>
                                            <p:strVal val="#ppt_x"/>
                                          </p:val>
                                        </p:tav>
                                      </p:tavLst>
                                    </p:anim>
                                    <p:anim calcmode="lin" valueType="num">
                                      <p:cBhvr additive="base">
                                        <p:cTn id="8" dur="500" fill="hold"/>
                                        <p:tgtEl>
                                          <p:spTgt spid="6554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65545">
                                            <p:txEl>
                                              <p:pRg st="0" end="0"/>
                                            </p:txEl>
                                          </p:spTgt>
                                        </p:tgtEl>
                                        <p:attrNameLst>
                                          <p:attrName>style.visibility</p:attrName>
                                        </p:attrNameLst>
                                      </p:cBhvr>
                                      <p:to>
                                        <p:strVal val="visible"/>
                                      </p:to>
                                    </p:set>
                                    <p:animEffect transition="in" filter="wipe(down)">
                                      <p:cBhvr>
                                        <p:cTn id="13" dur="500"/>
                                        <p:tgtEl>
                                          <p:spTgt spid="6554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5" grpId="0" build="allAtOnce"/>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Text Box 6"/>
          <p:cNvSpPr txBox="1"/>
          <p:nvPr/>
        </p:nvSpPr>
        <p:spPr>
          <a:xfrm>
            <a:off x="590550" y="5021263"/>
            <a:ext cx="8054975" cy="935037"/>
          </a:xfrm>
          <a:prstGeom prst="rect">
            <a:avLst/>
          </a:prstGeom>
          <a:noFill/>
          <a:ln w="9525">
            <a:noFill/>
          </a:ln>
        </p:spPr>
        <p:txBody>
          <a:bodyPr anchor="t">
            <a:spAutoFit/>
          </a:bodyPr>
          <a:lstStyle/>
          <a:p>
            <a:pPr lvl="0" indent="0">
              <a:lnSpc>
                <a:spcPct val="120000"/>
              </a:lnSpc>
              <a:spcBef>
                <a:spcPts val="600"/>
              </a:spcBef>
              <a:buFont typeface="Wingdings" panose="05000000000000000000" pitchFamily="2" charset="2"/>
              <a:buChar char="p"/>
            </a:pPr>
            <a:r>
              <a:rPr lang="zh-CN" altLang="en-US" sz="2400" u="sng" dirty="0">
                <a:solidFill>
                  <a:srgbClr val="FF0000"/>
                </a:solidFill>
                <a:latin typeface="Arial" panose="020B0604020202020204" pitchFamily="34" charset="0"/>
                <a:ea typeface="宋体" panose="02010600030101010101" pitchFamily="2" charset="-122"/>
              </a:rPr>
              <a:t> 数据模式（Data Schema）：</a:t>
            </a:r>
            <a:r>
              <a:rPr lang="zh-CN" altLang="en-US" sz="2400" dirty="0">
                <a:latin typeface="楷体" panose="02010609060101010101" pitchFamily="1" charset="-122"/>
                <a:ea typeface="楷体" panose="02010609060101010101" pitchFamily="1" charset="-122"/>
              </a:rPr>
              <a:t>根据数据模型来描述数据，得到的具体的表达。亦即是描述数据的模板。</a:t>
            </a:r>
            <a:endParaRPr lang="en-US" altLang="x-none" sz="2400" u="sng" dirty="0">
              <a:solidFill>
                <a:srgbClr val="FF0000"/>
              </a:solidFill>
              <a:latin typeface="Arial" panose="020B0604020202020204" pitchFamily="34" charset="0"/>
              <a:ea typeface="宋体" panose="02010600030101010101" pitchFamily="2" charset="-122"/>
            </a:endParaRPr>
          </a:p>
        </p:txBody>
      </p:sp>
      <p:grpSp>
        <p:nvGrpSpPr>
          <p:cNvPr id="66565" name="组合 10"/>
          <p:cNvGrpSpPr/>
          <p:nvPr/>
        </p:nvGrpSpPr>
        <p:grpSpPr>
          <a:xfrm>
            <a:off x="569913" y="1487488"/>
            <a:ext cx="8054975" cy="3338512"/>
            <a:chOff x="0" y="0"/>
            <a:chExt cx="8054975" cy="3338737"/>
          </a:xfrm>
        </p:grpSpPr>
        <p:grpSp>
          <p:nvGrpSpPr>
            <p:cNvPr id="73733" name="组合 8"/>
            <p:cNvGrpSpPr/>
            <p:nvPr/>
          </p:nvGrpSpPr>
          <p:grpSpPr>
            <a:xfrm>
              <a:off x="0" y="0"/>
              <a:ext cx="8054975" cy="1779704"/>
              <a:chOff x="0" y="0"/>
              <a:chExt cx="8054662" cy="1780018"/>
            </a:xfrm>
          </p:grpSpPr>
          <p:sp>
            <p:nvSpPr>
              <p:cNvPr id="73734" name="Rectangle 3"/>
              <p:cNvSpPr txBox="1"/>
              <p:nvPr/>
            </p:nvSpPr>
            <p:spPr>
              <a:xfrm>
                <a:off x="79372" y="565288"/>
                <a:ext cx="4213061" cy="1214733"/>
              </a:xfrm>
              <a:prstGeom prst="rect">
                <a:avLst/>
              </a:prstGeom>
              <a:noFill/>
              <a:ln w="9525">
                <a:noFill/>
              </a:ln>
            </p:spPr>
            <p:txBody>
              <a:bodyPr anchor="t"/>
              <a:lstStyle/>
              <a:p>
                <a:pPr marL="342900" lvl="0" indent="-342900" algn="just">
                  <a:lnSpc>
                    <a:spcPct val="120000"/>
                  </a:lnSpc>
                  <a:spcBef>
                    <a:spcPts val="600"/>
                  </a:spcBef>
                  <a:buClr>
                    <a:srgbClr val="0033CC"/>
                  </a:buClr>
                  <a:buSzPct val="8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抽取的特征数据，必须用一定的方式来组织，使其具有结构化。</a:t>
                </a:r>
                <a:r>
                  <a:rPr lang="zh-CN" altLang="en-US" sz="2200" u="sng" dirty="0">
                    <a:solidFill>
                      <a:srgbClr val="0033CC"/>
                    </a:solidFill>
                    <a:latin typeface="楷体" panose="02010609060101010101" pitchFamily="1" charset="-122"/>
                    <a:ea typeface="楷体" panose="02010609060101010101" pitchFamily="1" charset="-122"/>
                  </a:rPr>
                  <a:t>数据模型正是对数据进行抽象化表示的工具，主要使用逻辑概念（如对象、对象属性、对象联系等）来表示数据。</a:t>
                </a:r>
                <a:endParaRPr lang="en-US" altLang="x-none" sz="2200" u="sng" dirty="0">
                  <a:solidFill>
                    <a:srgbClr val="0033CC"/>
                  </a:solidFill>
                  <a:latin typeface="楷体" panose="02010609060101010101" pitchFamily="1" charset="-122"/>
                  <a:ea typeface="楷体" panose="02010609060101010101" pitchFamily="1" charset="-122"/>
                </a:endParaRPr>
              </a:p>
            </p:txBody>
          </p:sp>
          <p:sp>
            <p:nvSpPr>
              <p:cNvPr id="73735" name="Text Box 6"/>
              <p:cNvSpPr txBox="1"/>
              <p:nvPr/>
            </p:nvSpPr>
            <p:spPr>
              <a:xfrm>
                <a:off x="0" y="0"/>
                <a:ext cx="8054662" cy="533530"/>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400" u="sng" dirty="0">
                    <a:solidFill>
                      <a:srgbClr val="FF0000"/>
                    </a:solidFill>
                    <a:latin typeface="Arial" panose="020B0604020202020204" pitchFamily="34" charset="0"/>
                    <a:ea typeface="宋体" panose="02010600030101010101" pitchFamily="2" charset="-122"/>
                  </a:rPr>
                  <a:t> 数据模型（</a:t>
                </a:r>
                <a:r>
                  <a:rPr lang="en-US" altLang="x-none" sz="2400" u="sng" dirty="0">
                    <a:solidFill>
                      <a:srgbClr val="FF0000"/>
                    </a:solidFill>
                    <a:latin typeface="Arial" panose="020B0604020202020204" pitchFamily="34" charset="0"/>
                    <a:ea typeface="宋体" panose="02010600030101010101" pitchFamily="2" charset="-122"/>
                  </a:rPr>
                  <a:t>Data Model</a:t>
                </a:r>
                <a:r>
                  <a:rPr lang="zh-CN" altLang="en-US" sz="2400" u="sng" dirty="0">
                    <a:solidFill>
                      <a:srgbClr val="FF0000"/>
                    </a:solidFill>
                    <a:latin typeface="Arial" panose="020B0604020202020204" pitchFamily="34" charset="0"/>
                    <a:ea typeface="宋体" panose="02010600030101010101" pitchFamily="2" charset="-122"/>
                  </a:rPr>
                  <a:t>）</a:t>
                </a:r>
                <a:endParaRPr lang="en-US" altLang="x-none" sz="2400" u="sng" dirty="0">
                  <a:solidFill>
                    <a:srgbClr val="FF0000"/>
                  </a:solidFill>
                  <a:latin typeface="Arial" panose="020B0604020202020204" pitchFamily="34" charset="0"/>
                  <a:ea typeface="宋体" panose="02010600030101010101" pitchFamily="2" charset="-122"/>
                </a:endParaRPr>
              </a:p>
            </p:txBody>
          </p:sp>
        </p:grpSp>
        <p:pic>
          <p:nvPicPr>
            <p:cNvPr id="73736" name="Picture 8"/>
            <p:cNvPicPr>
              <a:picLocks noChangeAspect="1"/>
            </p:cNvPicPr>
            <p:nvPr/>
          </p:nvPicPr>
          <p:blipFill>
            <a:blip r:embed="rId1" cstate="print"/>
            <a:stretch>
              <a:fillRect/>
            </a:stretch>
          </p:blipFill>
          <p:spPr>
            <a:xfrm>
              <a:off x="4666551" y="24322"/>
              <a:ext cx="3176016" cy="3322544"/>
            </a:xfrm>
            <a:prstGeom prst="rect">
              <a:avLst/>
            </a:prstGeom>
            <a:noFill/>
            <a:ln w="9525">
              <a:noFill/>
            </a:ln>
          </p:spPr>
        </p:pic>
      </p:grpSp>
      <p:sp>
        <p:nvSpPr>
          <p:cNvPr id="2" name="Rectangle 2"/>
          <p:cNvSpPr txBox="1"/>
          <p:nvPr/>
        </p:nvSpPr>
        <p:spPr>
          <a:xfrm>
            <a:off x="555625" y="876300"/>
            <a:ext cx="7354888" cy="533400"/>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数据库设计过程的相关概念</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565"/>
                                        </p:tgtEl>
                                        <p:attrNameLst>
                                          <p:attrName>style.visibility</p:attrName>
                                        </p:attrNameLst>
                                      </p:cBhvr>
                                      <p:to>
                                        <p:strVal val="visible"/>
                                      </p:to>
                                    </p:set>
                                    <p:anim calcmode="lin" valueType="num">
                                      <p:cBhvr additive="base">
                                        <p:cTn id="7" dur="500" fill="hold"/>
                                        <p:tgtEl>
                                          <p:spTgt spid="66565"/>
                                        </p:tgtEl>
                                        <p:attrNameLst>
                                          <p:attrName>ppt_x</p:attrName>
                                        </p:attrNameLst>
                                      </p:cBhvr>
                                      <p:tavLst>
                                        <p:tav tm="0">
                                          <p:val>
                                            <p:strVal val="#ppt_x"/>
                                          </p:val>
                                        </p:tav>
                                        <p:tav tm="100000">
                                          <p:val>
                                            <p:strVal val="#ppt_x"/>
                                          </p:val>
                                        </p:tav>
                                      </p:tavLst>
                                    </p:anim>
                                    <p:anim calcmode="lin" valueType="num">
                                      <p:cBhvr additive="base">
                                        <p:cTn id="8" dur="500" fill="hold"/>
                                        <p:tgtEl>
                                          <p:spTgt spid="6656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66564">
                                            <p:txEl>
                                              <p:pRg st="0" end="0"/>
                                            </p:txEl>
                                          </p:spTgt>
                                        </p:tgtEl>
                                        <p:attrNameLst>
                                          <p:attrName>style.visibility</p:attrName>
                                        </p:attrNameLst>
                                      </p:cBhvr>
                                      <p:to>
                                        <p:strVal val="visible"/>
                                      </p:to>
                                    </p:set>
                                    <p:animEffect transition="in" filter="wipe(down)">
                                      <p:cBhvr>
                                        <p:cTn id="13" dur="500"/>
                                        <p:tgtEl>
                                          <p:spTgt spid="6656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build="allAtOnce"/>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4"/>
          <p:cNvSpPr txBox="1"/>
          <p:nvPr/>
        </p:nvSpPr>
        <p:spPr>
          <a:xfrm>
            <a:off x="647700" y="1509713"/>
            <a:ext cx="8062913" cy="2540000"/>
          </a:xfrm>
          <a:prstGeom prst="rect">
            <a:avLst/>
          </a:prstGeom>
          <a:noFill/>
          <a:ln w="9525">
            <a:noFill/>
          </a:ln>
        </p:spPr>
        <p:txBody>
          <a:bodyPr anchor="t"/>
          <a:lstStyle/>
          <a:p>
            <a:pPr marL="342900" lvl="0" indent="-342900">
              <a:lnSpc>
                <a:spcPct val="90000"/>
              </a:lnSpc>
              <a:spcBef>
                <a:spcPct val="20000"/>
              </a:spcBef>
              <a:buClr>
                <a:srgbClr val="0033CC"/>
              </a:buClr>
              <a:buFont typeface="Wingdings" panose="05000000000000000000" pitchFamily="2" charset="2"/>
              <a:buChar char="u"/>
            </a:pPr>
            <a:r>
              <a:rPr lang="zh-CN" altLang="en-US" sz="2400" u="sng" dirty="0">
                <a:solidFill>
                  <a:srgbClr val="FF0000"/>
                </a:solidFill>
                <a:latin typeface="Arial" panose="020B0604020202020204" pitchFamily="34" charset="0"/>
                <a:ea typeface="宋体" panose="02010600030101010101" pitchFamily="2" charset="-122"/>
              </a:rPr>
              <a:t>三者的关系：</a:t>
            </a:r>
            <a:endParaRPr lang="zh-CN" altLang="en-US" sz="2400" u="sng" dirty="0">
              <a:solidFill>
                <a:srgbClr val="FF0000"/>
              </a:solidFill>
              <a:latin typeface="Arial" panose="020B0604020202020204" pitchFamily="34" charset="0"/>
              <a:ea typeface="宋体" panose="02010600030101010101" pitchFamily="2" charset="-122"/>
            </a:endParaRPr>
          </a:p>
          <a:p>
            <a:pPr marL="742950" lvl="1" indent="-285750" eaLnBrk="1" hangingPunct="1">
              <a:lnSpc>
                <a:spcPct val="120000"/>
              </a:lnSpc>
              <a:spcBef>
                <a:spcPts val="800"/>
              </a:spcBef>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数据抽象是将真实世界中的信息（数据）提炼，再提炼，变成计算机能认识，可以管理的数据的过程；</a:t>
            </a:r>
            <a:endParaRPr lang="zh-CN" altLang="en-US" sz="2200" dirty="0">
              <a:latin typeface="楷体" panose="02010609060101010101" pitchFamily="1" charset="-122"/>
              <a:ea typeface="楷体" panose="02010609060101010101" pitchFamily="1" charset="-122"/>
            </a:endParaRPr>
          </a:p>
          <a:p>
            <a:pPr marL="742950" lvl="1" indent="-285750" eaLnBrk="1" hangingPunct="1">
              <a:lnSpc>
                <a:spcPct val="120000"/>
              </a:lnSpc>
              <a:spcBef>
                <a:spcPts val="800"/>
              </a:spcBef>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数据模型是数据抽象的工具，是数据组织和表示的方式；</a:t>
            </a:r>
            <a:endParaRPr lang="zh-CN" altLang="en-US" sz="2200" dirty="0">
              <a:latin typeface="楷体" panose="02010609060101010101" pitchFamily="1" charset="-122"/>
              <a:ea typeface="楷体" panose="02010609060101010101" pitchFamily="1" charset="-122"/>
            </a:endParaRPr>
          </a:p>
          <a:p>
            <a:pPr marL="742950" lvl="1" indent="-285750" eaLnBrk="1" hangingPunct="1">
              <a:lnSpc>
                <a:spcPct val="120000"/>
              </a:lnSpc>
              <a:spcBef>
                <a:spcPts val="800"/>
              </a:spcBef>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数据模式是数据抽象利用数据模型将数据组织起来后得到的结果。</a:t>
            </a:r>
            <a:endParaRPr lang="zh-CN" altLang="en-US" sz="2200" dirty="0">
              <a:latin typeface="楷体" panose="02010609060101010101" pitchFamily="1" charset="-122"/>
              <a:ea typeface="楷体" panose="02010609060101010101" pitchFamily="1" charset="-122"/>
            </a:endParaRPr>
          </a:p>
        </p:txBody>
      </p:sp>
      <p:grpSp>
        <p:nvGrpSpPr>
          <p:cNvPr id="68613" name="组合 15"/>
          <p:cNvGrpSpPr/>
          <p:nvPr/>
        </p:nvGrpSpPr>
        <p:grpSpPr>
          <a:xfrm>
            <a:off x="1143000" y="4300538"/>
            <a:ext cx="7054850" cy="1673225"/>
            <a:chOff x="0" y="0"/>
            <a:chExt cx="7054850" cy="1673225"/>
          </a:xfrm>
        </p:grpSpPr>
        <p:sp>
          <p:nvSpPr>
            <p:cNvPr id="77829" name="矩形 6"/>
            <p:cNvSpPr/>
            <p:nvPr/>
          </p:nvSpPr>
          <p:spPr>
            <a:xfrm>
              <a:off x="973138" y="0"/>
              <a:ext cx="3206750" cy="466725"/>
            </a:xfrm>
            <a:prstGeom prst="rect">
              <a:avLst/>
            </a:prstGeom>
            <a:solidFill>
              <a:schemeClr val="accent1"/>
            </a:solidFill>
            <a:ln w="9525">
              <a:noFill/>
            </a:ln>
          </p:spPr>
          <p:txBody>
            <a:bodyPr wrap="none" anchor="t">
              <a:spAutoFit/>
            </a:bodyPr>
            <a:lstStyle/>
            <a:p>
              <a:pPr lvl="0" indent="0">
                <a:buNone/>
              </a:pPr>
              <a:r>
                <a:rPr lang="zh-CN" altLang="en-US" dirty="0">
                  <a:latin typeface="楷体" panose="02010609060101010101" pitchFamily="1" charset="-122"/>
                  <a:ea typeface="楷体" panose="02010609060101010101" pitchFamily="1" charset="-122"/>
                </a:rPr>
                <a:t>数据抽取（关心的共同特征）</a:t>
              </a:r>
              <a:endParaRPr lang="zh-CN" altLang="en-US" dirty="0">
                <a:latin typeface="Arial" panose="020B0604020202020204" pitchFamily="34" charset="0"/>
                <a:ea typeface="宋体" panose="02010600030101010101" pitchFamily="2" charset="-122"/>
              </a:endParaRPr>
            </a:p>
          </p:txBody>
        </p:sp>
        <p:sp>
          <p:nvSpPr>
            <p:cNvPr id="77830" name="矩形 7"/>
            <p:cNvSpPr/>
            <p:nvPr/>
          </p:nvSpPr>
          <p:spPr>
            <a:xfrm>
              <a:off x="4313238" y="584200"/>
              <a:ext cx="2741612" cy="466725"/>
            </a:xfrm>
            <a:prstGeom prst="rect">
              <a:avLst/>
            </a:prstGeom>
            <a:solidFill>
              <a:srgbClr val="9ED3D7">
                <a:alpha val="67999"/>
              </a:srgbClr>
            </a:solidFill>
            <a:ln w="9525" cap="flat" cmpd="sng">
              <a:solidFill>
                <a:srgbClr val="0033CC"/>
              </a:solidFill>
              <a:prstDash val="solid"/>
              <a:miter/>
              <a:headEnd type="none" w="med" len="med"/>
              <a:tailEnd type="none" w="med" len="med"/>
            </a:ln>
          </p:spPr>
          <p:txBody>
            <a:bodyPr wrap="none" anchor="t">
              <a:spAutoFit/>
            </a:bodyPr>
            <a:lstStyle/>
            <a:p>
              <a:pPr lvl="0" indent="0">
                <a:buNone/>
              </a:pPr>
              <a:r>
                <a:rPr lang="zh-CN" altLang="en-US" dirty="0">
                  <a:latin typeface="楷体" panose="02010609060101010101" pitchFamily="1" charset="-122"/>
                  <a:ea typeface="楷体" panose="02010609060101010101" pitchFamily="1" charset="-122"/>
                </a:rPr>
                <a:t>数据模式（抽象的结果）</a:t>
              </a:r>
              <a:endParaRPr lang="zh-CN" altLang="en-US" dirty="0">
                <a:latin typeface="Arial" panose="020B0604020202020204" pitchFamily="34" charset="0"/>
                <a:ea typeface="宋体" panose="02010600030101010101" pitchFamily="2" charset="-122"/>
              </a:endParaRPr>
            </a:p>
          </p:txBody>
        </p:sp>
        <p:sp>
          <p:nvSpPr>
            <p:cNvPr id="77831" name="矩形 8"/>
            <p:cNvSpPr/>
            <p:nvPr/>
          </p:nvSpPr>
          <p:spPr>
            <a:xfrm>
              <a:off x="1163638" y="1206500"/>
              <a:ext cx="2741612" cy="466725"/>
            </a:xfrm>
            <a:prstGeom prst="rect">
              <a:avLst/>
            </a:prstGeom>
            <a:solidFill>
              <a:srgbClr val="92D050">
                <a:alpha val="78000"/>
              </a:srgbClr>
            </a:solidFill>
            <a:ln w="9525" cap="flat" cmpd="sng">
              <a:solidFill>
                <a:srgbClr val="0033CC"/>
              </a:solidFill>
              <a:prstDash val="solid"/>
              <a:miter/>
              <a:headEnd type="none" w="med" len="med"/>
              <a:tailEnd type="none" w="med" len="med"/>
            </a:ln>
          </p:spPr>
          <p:txBody>
            <a:bodyPr wrap="none" anchor="t">
              <a:spAutoFit/>
            </a:bodyPr>
            <a:lstStyle/>
            <a:p>
              <a:pPr lvl="0" indent="0">
                <a:buNone/>
              </a:pPr>
              <a:r>
                <a:rPr lang="zh-CN" altLang="en-US" dirty="0">
                  <a:latin typeface="楷体" panose="02010609060101010101" pitchFamily="1" charset="-122"/>
                  <a:ea typeface="楷体" panose="02010609060101010101" pitchFamily="1" charset="-122"/>
                </a:rPr>
                <a:t>数据模型（抽取的工具）</a:t>
              </a:r>
              <a:endParaRPr lang="zh-CN" altLang="en-US" dirty="0">
                <a:latin typeface="Arial" panose="020B0604020202020204" pitchFamily="34" charset="0"/>
                <a:ea typeface="宋体" panose="02010600030101010101" pitchFamily="2" charset="-122"/>
              </a:endParaRPr>
            </a:p>
          </p:txBody>
        </p:sp>
        <p:sp>
          <p:nvSpPr>
            <p:cNvPr id="68617" name="棱台 9"/>
            <p:cNvSpPr/>
            <p:nvPr/>
          </p:nvSpPr>
          <p:spPr>
            <a:xfrm>
              <a:off x="0" y="550862"/>
              <a:ext cx="876300" cy="619125"/>
            </a:xfrm>
            <a:prstGeom prst="bevel">
              <a:avLst>
                <a:gd name="adj" fmla="val 12500"/>
              </a:avLst>
            </a:prstGeom>
            <a:solidFill>
              <a:schemeClr val="accent1"/>
            </a:solid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None/>
              </a:pPr>
              <a:r>
                <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对象</a:t>
              </a: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68618" name="右箭头 10"/>
            <p:cNvSpPr/>
            <p:nvPr/>
          </p:nvSpPr>
          <p:spPr>
            <a:xfrm>
              <a:off x="901700" y="614362"/>
              <a:ext cx="3378200" cy="431800"/>
            </a:xfrm>
            <a:prstGeom prst="rightArrow">
              <a:avLst>
                <a:gd name="adj1" fmla="val 50000"/>
                <a:gd name="adj2" fmla="val 49983"/>
              </a:avLst>
            </a:prstGeom>
            <a:solidFill>
              <a:schemeClr val="accent1"/>
            </a:solid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Blip>
                  <a:blip r:embed="rId1"/>
                </a:buBlip>
              </a:pP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68619" name="右箭头 11"/>
            <p:cNvSpPr/>
            <p:nvPr/>
          </p:nvSpPr>
          <p:spPr>
            <a:xfrm rot="16200000">
              <a:off x="2188365" y="653252"/>
              <a:ext cx="287337" cy="828675"/>
            </a:xfrm>
            <a:prstGeom prst="rightArrow">
              <a:avLst>
                <a:gd name="adj1" fmla="val 50000"/>
                <a:gd name="adj2" fmla="val 50000"/>
              </a:avLst>
            </a:prstGeom>
            <a:solidFill>
              <a:schemeClr val="accent1"/>
            </a:solid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Blip>
                  <a:blip r:embed="rId1"/>
                </a:buBlip>
              </a:pP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68620" name="右箭头 14"/>
            <p:cNvSpPr/>
            <p:nvPr/>
          </p:nvSpPr>
          <p:spPr>
            <a:xfrm rot="5400000">
              <a:off x="2184400" y="150812"/>
              <a:ext cx="330200" cy="927100"/>
            </a:xfrm>
            <a:prstGeom prst="rightArrow">
              <a:avLst>
                <a:gd name="adj1" fmla="val 50000"/>
                <a:gd name="adj2" fmla="val 50000"/>
              </a:avLst>
            </a:prstGeom>
            <a:solidFill>
              <a:schemeClr val="accent1"/>
            </a:solid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Blip>
                  <a:blip r:embed="rId1"/>
                </a:buBlip>
              </a:pP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grpSp>
      <p:sp>
        <p:nvSpPr>
          <p:cNvPr id="2" name="Rectangle 2"/>
          <p:cNvSpPr txBox="1"/>
          <p:nvPr/>
        </p:nvSpPr>
        <p:spPr>
          <a:xfrm>
            <a:off x="555625" y="876300"/>
            <a:ext cx="7354888" cy="533400"/>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数据库设计过程的相关概念</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8613"/>
                                        </p:tgtEl>
                                        <p:attrNameLst>
                                          <p:attrName>style.visibility</p:attrName>
                                        </p:attrNameLst>
                                      </p:cBhvr>
                                      <p:to>
                                        <p:strVal val="visible"/>
                                      </p:to>
                                    </p:set>
                                    <p:anim calcmode="lin" valueType="num">
                                      <p:cBhvr additive="base">
                                        <p:cTn id="7" dur="500" fill="hold"/>
                                        <p:tgtEl>
                                          <p:spTgt spid="68613"/>
                                        </p:tgtEl>
                                        <p:attrNameLst>
                                          <p:attrName>ppt_x</p:attrName>
                                        </p:attrNameLst>
                                      </p:cBhvr>
                                      <p:tavLst>
                                        <p:tav tm="0">
                                          <p:val>
                                            <p:strVal val="#ppt_x"/>
                                          </p:val>
                                        </p:tav>
                                        <p:tav tm="100000">
                                          <p:val>
                                            <p:strVal val="#ppt_x"/>
                                          </p:val>
                                        </p:tav>
                                      </p:tavLst>
                                    </p:anim>
                                    <p:anim calcmode="lin" valueType="num">
                                      <p:cBhvr additive="base">
                                        <p:cTn id="8" dur="500" fill="hold"/>
                                        <p:tgtEl>
                                          <p:spTgt spid="686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Text Box 6"/>
          <p:cNvSpPr txBox="1"/>
          <p:nvPr/>
        </p:nvSpPr>
        <p:spPr>
          <a:xfrm>
            <a:off x="587375" y="1271588"/>
            <a:ext cx="8054975" cy="531812"/>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400" u="sng" dirty="0">
                <a:solidFill>
                  <a:srgbClr val="FF0000"/>
                </a:solidFill>
                <a:latin typeface="Arial" panose="020B0604020202020204" pitchFamily="34" charset="0"/>
                <a:ea typeface="宋体" panose="02010600030101010101" pitchFamily="2" charset="-122"/>
              </a:rPr>
              <a:t> 数据抽象示例</a:t>
            </a:r>
            <a:endParaRPr lang="zh-CN" altLang="en-US" sz="2400" dirty="0">
              <a:solidFill>
                <a:srgbClr val="FF0000"/>
              </a:solidFill>
              <a:latin typeface="Arial" panose="020B0604020202020204" pitchFamily="34" charset="0"/>
              <a:ea typeface="宋体" panose="02010600030101010101" pitchFamily="2" charset="-122"/>
            </a:endParaRPr>
          </a:p>
        </p:txBody>
      </p:sp>
      <p:grpSp>
        <p:nvGrpSpPr>
          <p:cNvPr id="74756" name="组合 45"/>
          <p:cNvGrpSpPr/>
          <p:nvPr/>
        </p:nvGrpSpPr>
        <p:grpSpPr>
          <a:xfrm>
            <a:off x="3005138" y="1720850"/>
            <a:ext cx="5635625" cy="1562100"/>
            <a:chOff x="4732" y="2711"/>
            <a:chExt cx="8876" cy="2460"/>
          </a:xfrm>
        </p:grpSpPr>
        <p:sp>
          <p:nvSpPr>
            <p:cNvPr id="26" name="矩形 25"/>
            <p:cNvSpPr/>
            <p:nvPr/>
          </p:nvSpPr>
          <p:spPr>
            <a:xfrm>
              <a:off x="8683" y="3967"/>
              <a:ext cx="1710" cy="8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rgbClr val="FF0000"/>
                  </a:solidFill>
                </a:rPr>
                <a:t>学生</a:t>
              </a:r>
              <a:endParaRPr lang="zh-CN" altLang="en-US" strike="noStrike" noProof="1">
                <a:solidFill>
                  <a:srgbClr val="FF0000"/>
                </a:solidFill>
              </a:endParaRPr>
            </a:p>
          </p:txBody>
        </p:sp>
        <p:sp>
          <p:nvSpPr>
            <p:cNvPr id="27" name="椭圆 26"/>
            <p:cNvSpPr/>
            <p:nvPr/>
          </p:nvSpPr>
          <p:spPr>
            <a:xfrm>
              <a:off x="7015" y="2711"/>
              <a:ext cx="1668" cy="6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zh-CN" u="sng" strike="noStrike" noProof="1">
                  <a:solidFill>
                    <a:schemeClr val="tx1"/>
                  </a:solidFill>
                </a:rPr>
                <a:t>学号</a:t>
              </a:r>
              <a:endParaRPr lang="zh-CN" altLang="zh-CN" u="sng" strike="noStrike" noProof="1">
                <a:solidFill>
                  <a:schemeClr val="tx1"/>
                </a:solidFill>
              </a:endParaRPr>
            </a:p>
          </p:txBody>
        </p:sp>
        <p:sp>
          <p:nvSpPr>
            <p:cNvPr id="28" name="椭圆 27"/>
            <p:cNvSpPr/>
            <p:nvPr/>
          </p:nvSpPr>
          <p:spPr>
            <a:xfrm>
              <a:off x="8953" y="2711"/>
              <a:ext cx="1440" cy="6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zh-CN" strike="noStrike" noProof="1">
                  <a:solidFill>
                    <a:schemeClr val="tx1"/>
                  </a:solidFill>
                </a:rPr>
                <a:t>姓名</a:t>
              </a:r>
              <a:endParaRPr lang="zh-CN" altLang="zh-CN" strike="noStrike" noProof="1">
                <a:solidFill>
                  <a:schemeClr val="tx1"/>
                </a:solidFill>
              </a:endParaRPr>
            </a:p>
          </p:txBody>
        </p:sp>
        <p:sp>
          <p:nvSpPr>
            <p:cNvPr id="29" name="椭圆 28"/>
            <p:cNvSpPr/>
            <p:nvPr/>
          </p:nvSpPr>
          <p:spPr>
            <a:xfrm>
              <a:off x="10916" y="2840"/>
              <a:ext cx="1634" cy="6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zh-CN" strike="noStrike" noProof="1">
                  <a:solidFill>
                    <a:schemeClr val="tx1"/>
                  </a:solidFill>
                </a:rPr>
                <a:t>性别</a:t>
              </a:r>
              <a:endParaRPr lang="zh-CN" altLang="zh-CN" strike="noStrike" noProof="1">
                <a:solidFill>
                  <a:schemeClr val="tx1"/>
                </a:solidFill>
              </a:endParaRPr>
            </a:p>
          </p:txBody>
        </p:sp>
        <p:sp>
          <p:nvSpPr>
            <p:cNvPr id="30" name="椭圆 29"/>
            <p:cNvSpPr/>
            <p:nvPr/>
          </p:nvSpPr>
          <p:spPr>
            <a:xfrm>
              <a:off x="11008" y="3622"/>
              <a:ext cx="1450" cy="6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zh-CN" strike="noStrike" noProof="1">
                  <a:solidFill>
                    <a:schemeClr val="tx1"/>
                  </a:solidFill>
                </a:rPr>
                <a:t>年龄</a:t>
              </a:r>
              <a:endParaRPr lang="zh-CN" altLang="zh-CN" strike="noStrike" noProof="1">
                <a:solidFill>
                  <a:schemeClr val="tx1"/>
                </a:solidFill>
              </a:endParaRPr>
            </a:p>
          </p:txBody>
        </p:sp>
        <p:sp>
          <p:nvSpPr>
            <p:cNvPr id="31" name="椭圆 30"/>
            <p:cNvSpPr/>
            <p:nvPr/>
          </p:nvSpPr>
          <p:spPr>
            <a:xfrm>
              <a:off x="11008" y="4473"/>
              <a:ext cx="2601" cy="6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zh-CN" strike="noStrike" noProof="1">
                  <a:solidFill>
                    <a:schemeClr val="tx1"/>
                  </a:solidFill>
                </a:rPr>
                <a:t>所属院系</a:t>
              </a:r>
              <a:endParaRPr lang="zh-CN" altLang="zh-CN" strike="noStrike" noProof="1">
                <a:solidFill>
                  <a:schemeClr val="tx1"/>
                </a:solidFill>
              </a:endParaRPr>
            </a:p>
          </p:txBody>
        </p:sp>
        <p:cxnSp>
          <p:nvCxnSpPr>
            <p:cNvPr id="32" name="直接连接符 31"/>
            <p:cNvCxnSpPr>
              <a:stCxn id="27" idx="5"/>
            </p:cNvCxnSpPr>
            <p:nvPr/>
          </p:nvCxnSpPr>
          <p:spPr>
            <a:xfrm>
              <a:off x="8439" y="3308"/>
              <a:ext cx="557" cy="6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8" idx="4"/>
            </p:cNvCxnSpPr>
            <p:nvPr/>
          </p:nvCxnSpPr>
          <p:spPr>
            <a:xfrm flipH="1">
              <a:off x="9460" y="3410"/>
              <a:ext cx="213" cy="5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8" idx="4"/>
            </p:cNvCxnSpPr>
            <p:nvPr/>
          </p:nvCxnSpPr>
          <p:spPr>
            <a:xfrm flipH="1">
              <a:off x="10086" y="3383"/>
              <a:ext cx="904" cy="5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30" idx="2"/>
              <a:endCxn id="26" idx="3"/>
            </p:cNvCxnSpPr>
            <p:nvPr/>
          </p:nvCxnSpPr>
          <p:spPr>
            <a:xfrm flipH="1">
              <a:off x="10393" y="3972"/>
              <a:ext cx="615" cy="4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30" idx="2"/>
              <a:endCxn id="26" idx="3"/>
            </p:cNvCxnSpPr>
            <p:nvPr/>
          </p:nvCxnSpPr>
          <p:spPr>
            <a:xfrm flipH="1" flipV="1">
              <a:off x="10393" y="4502"/>
              <a:ext cx="759" cy="2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右箭头 36"/>
            <p:cNvSpPr/>
            <p:nvPr/>
          </p:nvSpPr>
          <p:spPr>
            <a:xfrm>
              <a:off x="4732" y="4194"/>
              <a:ext cx="3129" cy="6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8" name="矩形 37"/>
          <p:cNvSpPr/>
          <p:nvPr/>
        </p:nvSpPr>
        <p:spPr>
          <a:xfrm>
            <a:off x="2833688" y="2100263"/>
            <a:ext cx="1743075"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概念模型</a:t>
            </a:r>
            <a:endParaRPr lang="zh-CN" altLang="en-US" strike="noStrike" noProof="1">
              <a:solidFill>
                <a:schemeClr val="tx1"/>
              </a:solidFill>
            </a:endParaRPr>
          </a:p>
        </p:txBody>
      </p:sp>
      <p:grpSp>
        <p:nvGrpSpPr>
          <p:cNvPr id="74770" name="组合 46"/>
          <p:cNvGrpSpPr/>
          <p:nvPr/>
        </p:nvGrpSpPr>
        <p:grpSpPr>
          <a:xfrm>
            <a:off x="504825" y="4098925"/>
            <a:ext cx="3725863" cy="2339975"/>
            <a:chOff x="1340" y="6557"/>
            <a:chExt cx="5867" cy="3686"/>
          </a:xfrm>
        </p:grpSpPr>
        <p:sp>
          <p:nvSpPr>
            <p:cNvPr id="74771" name="Text Box 8"/>
            <p:cNvSpPr txBox="1"/>
            <p:nvPr/>
          </p:nvSpPr>
          <p:spPr>
            <a:xfrm>
              <a:off x="1340" y="7224"/>
              <a:ext cx="5867" cy="3019"/>
            </a:xfrm>
            <a:prstGeom prst="rect">
              <a:avLst/>
            </a:prstGeom>
            <a:noFill/>
            <a:ln w="9525">
              <a:noFill/>
            </a:ln>
          </p:spPr>
          <p:txBody>
            <a:bodyPr wrap="square" anchor="t">
              <a:spAutoFit/>
            </a:bodyPr>
            <a:lstStyle/>
            <a:p>
              <a:pPr lvl="0" indent="0">
                <a:lnSpc>
                  <a:spcPct val="90000"/>
                </a:lnSpc>
                <a:buNone/>
              </a:pPr>
              <a:r>
                <a:rPr lang="en-US" altLang="x-none" sz="2200" dirty="0">
                  <a:solidFill>
                    <a:srgbClr val="5555D5"/>
                  </a:solidFill>
                  <a:latin typeface="Arial" panose="020B0604020202020204" pitchFamily="34" charset="0"/>
                  <a:ea typeface="宋体" panose="02010600030101010101" pitchFamily="2" charset="-122"/>
                </a:rPr>
                <a:t>struct </a:t>
              </a:r>
              <a:r>
                <a:rPr lang="en-US" altLang="x-none" sz="2200" dirty="0">
                  <a:solidFill>
                    <a:srgbClr val="FF3300"/>
                  </a:solidFill>
                  <a:latin typeface="Arial" panose="020B0604020202020204" pitchFamily="34" charset="0"/>
                  <a:ea typeface="宋体" panose="02010600030101010101" pitchFamily="2" charset="-122"/>
                </a:rPr>
                <a:t>Student</a:t>
              </a:r>
              <a:endParaRPr lang="en-US" altLang="x-none" sz="2200" dirty="0">
                <a:solidFill>
                  <a:srgbClr val="FF3300"/>
                </a:solidFill>
                <a:latin typeface="Arial" panose="020B0604020202020204" pitchFamily="34" charset="0"/>
                <a:ea typeface="宋体" panose="02010600030101010101" pitchFamily="2" charset="-122"/>
              </a:endParaRPr>
            </a:p>
            <a:p>
              <a:pPr lvl="0" indent="0">
                <a:lnSpc>
                  <a:spcPct val="90000"/>
                </a:lnSpc>
                <a:buNone/>
              </a:pPr>
              <a:r>
                <a:rPr lang="en-US" altLang="x-none" sz="2200" dirty="0">
                  <a:solidFill>
                    <a:srgbClr val="5555D5"/>
                  </a:solidFill>
                  <a:latin typeface="Arial" panose="020B0604020202020204" pitchFamily="34" charset="0"/>
                  <a:ea typeface="宋体" panose="02010600030101010101" pitchFamily="2" charset="-122"/>
                </a:rPr>
                <a:t>{</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int	nStudNo;</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9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char</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szStudName[20];</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9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char</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cStudSex;</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9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int	nStudAge;</a:t>
              </a:r>
              <a:endParaRPr lang="en-US" altLang="x-none" sz="2200" dirty="0">
                <a:solidFill>
                  <a:srgbClr val="5555D5"/>
                </a:solidFill>
                <a:latin typeface="Arial" panose="020B0604020202020204" pitchFamily="34" charset="0"/>
                <a:ea typeface="宋体" panose="02010600030101010101" pitchFamily="2" charset="-122"/>
              </a:endParaRPr>
            </a:p>
            <a:p>
              <a:pPr lvl="0" indent="0">
                <a:lnSpc>
                  <a:spcPct val="90000"/>
                </a:lnSpc>
                <a:buNone/>
              </a:pP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char</a:t>
              </a:r>
              <a:r>
                <a:rPr lang="zh-CN" altLang="en-US" sz="2200" dirty="0">
                  <a:solidFill>
                    <a:srgbClr val="5555D5"/>
                  </a:solidFill>
                  <a:latin typeface="Arial" panose="020B0604020202020204" pitchFamily="34" charset="0"/>
                  <a:ea typeface="宋体" panose="02010600030101010101" pitchFamily="2" charset="-122"/>
                </a:rPr>
                <a:t> </a:t>
              </a:r>
              <a:r>
                <a:rPr lang="en-US" altLang="x-none" sz="2200" dirty="0">
                  <a:solidFill>
                    <a:srgbClr val="5555D5"/>
                  </a:solidFill>
                  <a:latin typeface="Arial" panose="020B0604020202020204" pitchFamily="34" charset="0"/>
                  <a:ea typeface="宋体" panose="02010600030101010101" pitchFamily="2" charset="-122"/>
                </a:rPr>
                <a:t>szDept[30];  };</a:t>
              </a:r>
              <a:endParaRPr lang="en-US" altLang="x-none" sz="2200" dirty="0">
                <a:solidFill>
                  <a:srgbClr val="5555D5"/>
                </a:solidFill>
                <a:latin typeface="Arial" panose="020B0604020202020204" pitchFamily="34" charset="0"/>
                <a:ea typeface="宋体" panose="02010600030101010101" pitchFamily="2" charset="-122"/>
              </a:endParaRPr>
            </a:p>
          </p:txBody>
        </p:sp>
        <p:sp>
          <p:nvSpPr>
            <p:cNvPr id="41" name="右箭头 40"/>
            <p:cNvSpPr/>
            <p:nvPr/>
          </p:nvSpPr>
          <p:spPr>
            <a:xfrm rot="3660000">
              <a:off x="3561" y="6686"/>
              <a:ext cx="884" cy="6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42" name="矩形 41"/>
            <p:cNvSpPr/>
            <p:nvPr/>
          </p:nvSpPr>
          <p:spPr>
            <a:xfrm>
              <a:off x="4267" y="6572"/>
              <a:ext cx="2050" cy="85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数据结构</a:t>
              </a:r>
              <a:endParaRPr lang="zh-CN" altLang="en-US" strike="noStrike" noProof="1">
                <a:solidFill>
                  <a:schemeClr val="tx1"/>
                </a:solidFill>
              </a:endParaRPr>
            </a:p>
          </p:txBody>
        </p:sp>
      </p:grpSp>
      <p:graphicFrame>
        <p:nvGraphicFramePr>
          <p:cNvPr id="43" name="表格 42"/>
          <p:cNvGraphicFramePr/>
          <p:nvPr/>
        </p:nvGraphicFramePr>
        <p:xfrm>
          <a:off x="4576763" y="4633913"/>
          <a:ext cx="4042410" cy="1293876"/>
        </p:xfrm>
        <a:graphic>
          <a:graphicData uri="http://schemas.openxmlformats.org/drawingml/2006/table">
            <a:tbl>
              <a:tblPr firstRow="1" bandRow="1">
                <a:tableStyleId>{5C22544A-7EE6-4342-B048-85BDC9FD1C3A}</a:tableStyleId>
              </a:tblPr>
              <a:tblGrid>
                <a:gridCol w="808355"/>
                <a:gridCol w="808355"/>
                <a:gridCol w="808990"/>
                <a:gridCol w="778510"/>
                <a:gridCol w="838200"/>
              </a:tblGrid>
              <a:tr h="461645">
                <a:tc>
                  <a:txBody>
                    <a:bodyPr/>
                    <a:lstStyle/>
                    <a:p>
                      <a:pPr>
                        <a:buNone/>
                      </a:pPr>
                      <a:r>
                        <a:rPr lang="zh-CN" altLang="en-US">
                          <a:solidFill>
                            <a:schemeClr val="tx1"/>
                          </a:solidFill>
                        </a:rPr>
                        <a:t>学号</a:t>
                      </a:r>
                      <a:endParaRPr lang="zh-CN" altLang="en-US">
                        <a:solidFill>
                          <a:schemeClr val="tx1"/>
                        </a:solidFill>
                      </a:endParaRPr>
                    </a:p>
                  </a:txBody>
                  <a:tcPr/>
                </a:tc>
                <a:tc>
                  <a:txBody>
                    <a:bodyPr/>
                    <a:lstStyle/>
                    <a:p>
                      <a:pPr algn="l">
                        <a:buNone/>
                      </a:pPr>
                      <a:r>
                        <a:rPr lang="zh-CN" altLang="en-US">
                          <a:solidFill>
                            <a:schemeClr val="tx1"/>
                          </a:solidFill>
                        </a:rPr>
                        <a:t>姓名</a:t>
                      </a:r>
                      <a:endParaRPr lang="zh-CN" altLang="en-US">
                        <a:solidFill>
                          <a:schemeClr val="tx1"/>
                        </a:solidFill>
                      </a:endParaRPr>
                    </a:p>
                  </a:txBody>
                  <a:tcPr/>
                </a:tc>
                <a:tc>
                  <a:txBody>
                    <a:bodyPr/>
                    <a:lstStyle/>
                    <a:p>
                      <a:pPr algn="l">
                        <a:buNone/>
                      </a:pPr>
                      <a:r>
                        <a:rPr lang="zh-CN" altLang="en-US">
                          <a:solidFill>
                            <a:schemeClr val="tx1"/>
                          </a:solidFill>
                        </a:rPr>
                        <a:t>性别</a:t>
                      </a:r>
                      <a:endParaRPr lang="zh-CN" altLang="en-US">
                        <a:solidFill>
                          <a:schemeClr val="tx1"/>
                        </a:solidFill>
                      </a:endParaRPr>
                    </a:p>
                  </a:txBody>
                  <a:tcPr/>
                </a:tc>
                <a:tc>
                  <a:txBody>
                    <a:bodyPr/>
                    <a:lstStyle/>
                    <a:p>
                      <a:pPr>
                        <a:buNone/>
                      </a:pPr>
                      <a:r>
                        <a:rPr lang="zh-CN" altLang="en-US">
                          <a:solidFill>
                            <a:schemeClr val="tx1"/>
                          </a:solidFill>
                        </a:rPr>
                        <a:t>年龄</a:t>
                      </a:r>
                      <a:endParaRPr lang="zh-CN" altLang="en-US"/>
                    </a:p>
                  </a:txBody>
                  <a:tcPr/>
                </a:tc>
                <a:tc>
                  <a:txBody>
                    <a:bodyPr/>
                    <a:lstStyle/>
                    <a:p>
                      <a:pPr>
                        <a:buNone/>
                      </a:pPr>
                      <a:r>
                        <a:rPr lang="zh-CN" altLang="en-US">
                          <a:solidFill>
                            <a:schemeClr val="tx1"/>
                          </a:solidFill>
                        </a:rPr>
                        <a:t>院系</a:t>
                      </a:r>
                      <a:endParaRPr lang="zh-CN" altLang="en-US">
                        <a:solidFill>
                          <a:schemeClr val="tx1"/>
                        </a:solidFill>
                      </a:endParaRPr>
                    </a:p>
                  </a:txBody>
                  <a:tcPr/>
                </a:tc>
              </a:tr>
              <a:tr h="381000">
                <a:tc>
                  <a:txBody>
                    <a:bodyPr/>
                    <a:lstStyle/>
                    <a:p>
                      <a:pPr>
                        <a:buNone/>
                      </a:pPr>
                      <a:r>
                        <a:rPr lang="en-US" altLang="zh-CN"/>
                        <a:t>20140101</a:t>
                      </a:r>
                      <a:endParaRPr lang="en-US" altLang="zh-CN"/>
                    </a:p>
                  </a:txBody>
                  <a:tcPr/>
                </a:tc>
                <a:tc>
                  <a:txBody>
                    <a:bodyPr/>
                    <a:lstStyle/>
                    <a:p>
                      <a:pPr>
                        <a:buNone/>
                      </a:pPr>
                      <a:r>
                        <a:rPr lang="zh-CN" altLang="en-US"/>
                        <a:t>张小凡</a:t>
                      </a:r>
                      <a:endParaRPr lang="zh-CN" altLang="en-US"/>
                    </a:p>
                  </a:txBody>
                  <a:tcPr/>
                </a:tc>
                <a:tc>
                  <a:txBody>
                    <a:bodyPr/>
                    <a:lstStyle/>
                    <a:p>
                      <a:pPr>
                        <a:buNone/>
                      </a:pPr>
                      <a:r>
                        <a:rPr lang="zh-CN" altLang="en-US"/>
                        <a:t>女</a:t>
                      </a:r>
                      <a:endParaRPr lang="zh-CN" altLang="en-US"/>
                    </a:p>
                  </a:txBody>
                  <a:tcPr/>
                </a:tc>
                <a:tc>
                  <a:txBody>
                    <a:bodyPr/>
                    <a:lstStyle/>
                    <a:p>
                      <a:pPr>
                        <a:buNone/>
                      </a:pPr>
                      <a:r>
                        <a:rPr lang="en-US" altLang="zh-CN"/>
                        <a:t>19</a:t>
                      </a:r>
                      <a:endParaRPr lang="en-US" altLang="zh-CN"/>
                    </a:p>
                  </a:txBody>
                  <a:tcPr/>
                </a:tc>
                <a:tc>
                  <a:txBody>
                    <a:bodyPr/>
                    <a:lstStyle/>
                    <a:p>
                      <a:pPr>
                        <a:buNone/>
                      </a:pPr>
                      <a:r>
                        <a:rPr lang="zh-CN" altLang="en-US"/>
                        <a:t>信息</a:t>
                      </a:r>
                      <a:endParaRPr lang="zh-CN" altLang="en-US"/>
                    </a:p>
                  </a:txBody>
                  <a:tcPr/>
                </a:tc>
              </a:tr>
            </a:tbl>
          </a:graphicData>
        </a:graphic>
      </p:graphicFrame>
      <p:sp>
        <p:nvSpPr>
          <p:cNvPr id="44" name="右箭头 43"/>
          <p:cNvSpPr/>
          <p:nvPr/>
        </p:nvSpPr>
        <p:spPr>
          <a:xfrm rot="1740000">
            <a:off x="2797175" y="3695700"/>
            <a:ext cx="2403475" cy="3968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45" name="矩形 44"/>
          <p:cNvSpPr/>
          <p:nvPr/>
        </p:nvSpPr>
        <p:spPr>
          <a:xfrm>
            <a:off x="4211638" y="3494088"/>
            <a:ext cx="1301750" cy="542925"/>
          </a:xfrm>
          <a:prstGeom prst="rect">
            <a:avLst/>
          </a:prstGeom>
          <a:no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chemeClr val="tx1"/>
                </a:solidFill>
              </a:rPr>
              <a:t>关系模型</a:t>
            </a:r>
            <a:endParaRPr lang="zh-CN" altLang="en-US" strike="noStrike" noProof="1">
              <a:solidFill>
                <a:schemeClr val="tx1"/>
              </a:solidFill>
            </a:endParaRPr>
          </a:p>
        </p:txBody>
      </p:sp>
      <p:pic>
        <p:nvPicPr>
          <p:cNvPr id="74796" name="图片 47" descr="QQ图片20150408090450"/>
          <p:cNvPicPr>
            <a:picLocks noChangeAspect="1"/>
          </p:cNvPicPr>
          <p:nvPr/>
        </p:nvPicPr>
        <p:blipFill>
          <a:blip r:embed="rId1" cstate="print"/>
          <a:srcRect l="2446" t="26761" r="-2446" b="8743"/>
          <a:stretch>
            <a:fillRect/>
          </a:stretch>
        </p:blipFill>
        <p:spPr>
          <a:xfrm>
            <a:off x="822325" y="1919288"/>
            <a:ext cx="2182813" cy="2117725"/>
          </a:xfrm>
          <a:prstGeom prst="rect">
            <a:avLst/>
          </a:prstGeom>
          <a:noFill/>
          <a:ln w="9525">
            <a:noFill/>
          </a:ln>
        </p:spPr>
      </p:pic>
      <p:sp>
        <p:nvSpPr>
          <p:cNvPr id="2" name="Rectangle 2"/>
          <p:cNvSpPr txBox="1"/>
          <p:nvPr/>
        </p:nvSpPr>
        <p:spPr>
          <a:xfrm>
            <a:off x="555625" y="876300"/>
            <a:ext cx="7354888" cy="533400"/>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数据库设计过程的相关概念</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588" name="组合 8"/>
          <p:cNvGrpSpPr/>
          <p:nvPr/>
        </p:nvGrpSpPr>
        <p:grpSpPr>
          <a:xfrm>
            <a:off x="728663" y="3067050"/>
            <a:ext cx="7643812" cy="2813050"/>
            <a:chOff x="0" y="0"/>
            <a:chExt cx="7644124" cy="2813050"/>
          </a:xfrm>
        </p:grpSpPr>
        <p:sp>
          <p:nvSpPr>
            <p:cNvPr id="76804" name="Rectangle 3"/>
            <p:cNvSpPr txBox="1"/>
            <p:nvPr/>
          </p:nvSpPr>
          <p:spPr>
            <a:xfrm>
              <a:off x="0" y="0"/>
              <a:ext cx="4554723" cy="2713038"/>
            </a:xfrm>
            <a:prstGeom prst="rect">
              <a:avLst/>
            </a:prstGeom>
            <a:noFill/>
            <a:ln w="9525">
              <a:noFill/>
            </a:ln>
          </p:spPr>
          <p:txBody>
            <a:bodyPr anchor="t"/>
            <a:lstStyle/>
            <a:p>
              <a:pPr marL="342900" lvl="0" indent="-342900" algn="just">
                <a:lnSpc>
                  <a:spcPct val="120000"/>
                </a:lnSpc>
                <a:spcBef>
                  <a:spcPts val="600"/>
                </a:spcBef>
                <a:buClr>
                  <a:srgbClr val="0033CC"/>
                </a:buClr>
                <a:buSzPct val="80000"/>
                <a:buNone/>
              </a:pPr>
              <a:r>
                <a:rPr lang="zh-CN" altLang="en-US" sz="2200" dirty="0">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rPr>
                <a:t>数据约束：</a:t>
              </a:r>
              <a:r>
                <a:rPr lang="zh-CN" altLang="en-US" sz="2200" dirty="0">
                  <a:latin typeface="楷体" panose="02010609060101010101" pitchFamily="1" charset="-122"/>
                  <a:ea typeface="楷体" panose="02010609060101010101" pitchFamily="1" charset="-122"/>
                </a:rPr>
                <a:t>包括对数据本身的约束以及数据之间的约束。是一组完整性规则的集合。完整性规则是数据模型中数据及其联系所具有的约束规则，用来限定数据库状态以及状态的变化，以保证数据的合理。</a:t>
              </a:r>
              <a:endParaRPr lang="en-US" altLang="x-none" sz="2200" dirty="0">
                <a:latin typeface="楷体" panose="02010609060101010101" pitchFamily="1" charset="-122"/>
                <a:ea typeface="楷体" panose="02010609060101010101" pitchFamily="1" charset="-122"/>
              </a:endParaRPr>
            </a:p>
          </p:txBody>
        </p:sp>
        <p:pic>
          <p:nvPicPr>
            <p:cNvPr id="76805" name="Picture 2"/>
            <p:cNvPicPr>
              <a:picLocks noChangeAspect="1"/>
            </p:cNvPicPr>
            <p:nvPr/>
          </p:nvPicPr>
          <p:blipFill>
            <a:blip r:embed="rId1" cstate="print"/>
            <a:stretch>
              <a:fillRect/>
            </a:stretch>
          </p:blipFill>
          <p:spPr>
            <a:xfrm>
              <a:off x="4721354" y="127254"/>
              <a:ext cx="2926199" cy="2694432"/>
            </a:xfrm>
            <a:prstGeom prst="rect">
              <a:avLst/>
            </a:prstGeom>
            <a:noFill/>
            <a:ln w="9525">
              <a:noFill/>
            </a:ln>
          </p:spPr>
        </p:pic>
      </p:grpSp>
      <p:sp>
        <p:nvSpPr>
          <p:cNvPr id="67591" name="Rectangle 3"/>
          <p:cNvSpPr txBox="1"/>
          <p:nvPr/>
        </p:nvSpPr>
        <p:spPr>
          <a:xfrm>
            <a:off x="715963" y="2012950"/>
            <a:ext cx="7680325" cy="425450"/>
          </a:xfrm>
          <a:prstGeom prst="rect">
            <a:avLst/>
          </a:prstGeom>
          <a:noFill/>
          <a:ln w="9525">
            <a:noFill/>
          </a:ln>
        </p:spPr>
        <p:txBody>
          <a:bodyPr anchor="t"/>
          <a:lstStyle/>
          <a:p>
            <a:pPr marL="342900" lvl="0" indent="-342900" algn="just">
              <a:lnSpc>
                <a:spcPct val="100000"/>
              </a:lnSpc>
              <a:spcBef>
                <a:spcPts val="600"/>
              </a:spcBef>
              <a:buClr>
                <a:srgbClr val="0033CC"/>
              </a:buClr>
              <a:buSzPct val="80000"/>
              <a:buNone/>
            </a:pPr>
            <a:r>
              <a:rPr lang="zh-CN" altLang="en-US" sz="2200" dirty="0">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rPr>
              <a:t>数据结构：</a:t>
            </a:r>
            <a:r>
              <a:rPr lang="zh-CN" altLang="en-US" sz="2200" dirty="0">
                <a:latin typeface="楷体" panose="02010609060101010101" pitchFamily="1" charset="-122"/>
                <a:ea typeface="楷体" panose="02010609060101010101" pitchFamily="1" charset="-122"/>
              </a:rPr>
              <a:t>描述实体本身以及实体之间的联系。   </a:t>
            </a:r>
            <a:endParaRPr lang="en-US" altLang="x-none" sz="2400" dirty="0">
              <a:latin typeface="楷体" panose="02010609060101010101" pitchFamily="1" charset="-122"/>
              <a:ea typeface="楷体" panose="02010609060101010101" pitchFamily="1" charset="-122"/>
            </a:endParaRPr>
          </a:p>
        </p:txBody>
      </p:sp>
      <p:sp>
        <p:nvSpPr>
          <p:cNvPr id="76807" name="Rectangle 3"/>
          <p:cNvSpPr txBox="1"/>
          <p:nvPr/>
        </p:nvSpPr>
        <p:spPr>
          <a:xfrm>
            <a:off x="639763" y="1441450"/>
            <a:ext cx="7680325" cy="476250"/>
          </a:xfrm>
          <a:prstGeom prst="rect">
            <a:avLst/>
          </a:prstGeom>
          <a:noFill/>
          <a:ln w="9525">
            <a:noFill/>
          </a:ln>
        </p:spPr>
        <p:txBody>
          <a:bodyPr anchor="t"/>
          <a:lstStyle/>
          <a:p>
            <a:pPr marL="342900" lvl="0" indent="-342900" algn="just">
              <a:lnSpc>
                <a:spcPct val="100000"/>
              </a:lnSpc>
              <a:spcBef>
                <a:spcPts val="600"/>
              </a:spcBef>
              <a:buClr>
                <a:srgbClr val="0033CC"/>
              </a:buClr>
              <a:buSzPct val="80000"/>
              <a:buNone/>
            </a:pPr>
            <a:r>
              <a:rPr lang="en-US" altLang="x-none" sz="2800" dirty="0">
                <a:solidFill>
                  <a:srgbClr val="FF0000"/>
                </a:solidFill>
                <a:latin typeface="楷体" panose="02010609060101010101" pitchFamily="1" charset="-122"/>
                <a:ea typeface="楷体" panose="02010609060101010101" pitchFamily="1" charset="-122"/>
              </a:rPr>
              <a:t>--</a:t>
            </a:r>
            <a:r>
              <a:rPr lang="zh-CN" altLang="en-US" sz="2800" dirty="0">
                <a:solidFill>
                  <a:srgbClr val="FF0000"/>
                </a:solidFill>
                <a:latin typeface="楷体" panose="02010609060101010101" pitchFamily="1" charset="-122"/>
                <a:ea typeface="楷体" panose="02010609060101010101" pitchFamily="1" charset="-122"/>
              </a:rPr>
              <a:t>数据模型的三要素：</a:t>
            </a:r>
            <a:r>
              <a:rPr lang="zh-CN" altLang="en-US" sz="2200" dirty="0">
                <a:latin typeface="楷体" panose="02010609060101010101" pitchFamily="1" charset="-122"/>
                <a:ea typeface="楷体" panose="02010609060101010101" pitchFamily="1" charset="-122"/>
              </a:rPr>
              <a:t>  </a:t>
            </a:r>
            <a:endParaRPr lang="en-US" altLang="x-none" sz="2400" dirty="0">
              <a:latin typeface="楷体" panose="02010609060101010101" pitchFamily="1" charset="-122"/>
              <a:ea typeface="楷体" panose="02010609060101010101" pitchFamily="1" charset="-122"/>
            </a:endParaRPr>
          </a:p>
        </p:txBody>
      </p:sp>
      <p:sp>
        <p:nvSpPr>
          <p:cNvPr id="67593" name="Rectangle 3"/>
          <p:cNvSpPr txBox="1"/>
          <p:nvPr/>
        </p:nvSpPr>
        <p:spPr>
          <a:xfrm>
            <a:off x="728663" y="2546350"/>
            <a:ext cx="7680325" cy="565150"/>
          </a:xfrm>
          <a:prstGeom prst="rect">
            <a:avLst/>
          </a:prstGeom>
          <a:noFill/>
          <a:ln w="9525">
            <a:noFill/>
          </a:ln>
        </p:spPr>
        <p:txBody>
          <a:bodyPr anchor="t"/>
          <a:lstStyle/>
          <a:p>
            <a:pPr marL="342900" lvl="0" indent="-342900" algn="just">
              <a:lnSpc>
                <a:spcPct val="100000"/>
              </a:lnSpc>
              <a:spcBef>
                <a:spcPts val="600"/>
              </a:spcBef>
              <a:buClr>
                <a:srgbClr val="0033CC"/>
              </a:buClr>
              <a:buSzPct val="80000"/>
              <a:buNone/>
            </a:pPr>
            <a:r>
              <a:rPr lang="zh-CN" altLang="en-US" sz="2200" dirty="0">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rPr>
              <a:t>数据操作：</a:t>
            </a:r>
            <a:r>
              <a:rPr lang="zh-CN" altLang="en-US" sz="2200" dirty="0">
                <a:latin typeface="楷体" panose="02010609060101010101" pitchFamily="1" charset="-122"/>
                <a:ea typeface="楷体" panose="02010609060101010101" pitchFamily="1" charset="-122"/>
              </a:rPr>
              <a:t>基本上都是“增、删、查、改”这</a:t>
            </a:r>
            <a:r>
              <a:rPr lang="en-US" altLang="x-none" sz="2200" dirty="0">
                <a:latin typeface="楷体" panose="02010609060101010101" pitchFamily="1" charset="-122"/>
                <a:ea typeface="楷体" panose="02010609060101010101" pitchFamily="1" charset="-122"/>
              </a:rPr>
              <a:t>4</a:t>
            </a:r>
            <a:r>
              <a:rPr lang="zh-CN" altLang="en-US" sz="2200" dirty="0">
                <a:latin typeface="楷体" panose="02010609060101010101" pitchFamily="1" charset="-122"/>
                <a:ea typeface="楷体" panose="02010609060101010101" pitchFamily="1" charset="-122"/>
              </a:rPr>
              <a:t>个操作。</a:t>
            </a:r>
            <a:endParaRPr lang="zh-CN" altLang="en-US" sz="2200" dirty="0">
              <a:latin typeface="楷体" panose="02010609060101010101" pitchFamily="1" charset="-122"/>
              <a:ea typeface="楷体" panose="02010609060101010101" pitchFamily="1" charset="-122"/>
            </a:endParaRPr>
          </a:p>
          <a:p>
            <a:pPr marL="342900" lvl="0" indent="-342900" algn="just">
              <a:lnSpc>
                <a:spcPct val="120000"/>
              </a:lnSpc>
              <a:spcBef>
                <a:spcPts val="600"/>
              </a:spcBef>
              <a:buClr>
                <a:srgbClr val="0033CC"/>
              </a:buClr>
              <a:buSzPct val="80000"/>
              <a:buNone/>
            </a:pPr>
            <a:r>
              <a:rPr lang="zh-CN" altLang="en-US" sz="2200" dirty="0">
                <a:latin typeface="楷体" panose="02010609060101010101" pitchFamily="1" charset="-122"/>
                <a:ea typeface="楷体" panose="02010609060101010101" pitchFamily="1" charset="-122"/>
              </a:rPr>
              <a:t>   </a:t>
            </a:r>
            <a:endParaRPr lang="en-US" altLang="x-none" sz="2400" dirty="0">
              <a:latin typeface="楷体" panose="02010609060101010101" pitchFamily="1" charset="-122"/>
              <a:ea typeface="楷体" panose="02010609060101010101" pitchFamily="1" charset="-122"/>
            </a:endParaRPr>
          </a:p>
        </p:txBody>
      </p:sp>
      <p:sp>
        <p:nvSpPr>
          <p:cNvPr id="2" name="Rectangle 2"/>
          <p:cNvSpPr txBox="1"/>
          <p:nvPr/>
        </p:nvSpPr>
        <p:spPr>
          <a:xfrm>
            <a:off x="555625" y="876300"/>
            <a:ext cx="7354888" cy="533400"/>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数据库设计过程的相关概念</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7591">
                                            <p:txEl>
                                              <p:pRg st="0" end="0"/>
                                            </p:txEl>
                                          </p:spTgt>
                                        </p:tgtEl>
                                        <p:attrNameLst>
                                          <p:attrName>style.visibility</p:attrName>
                                        </p:attrNameLst>
                                      </p:cBhvr>
                                      <p:to>
                                        <p:strVal val="visible"/>
                                      </p:to>
                                    </p:set>
                                    <p:animEffect transition="in" filter="wipe(down)">
                                      <p:cBhvr>
                                        <p:cTn id="7" dur="500"/>
                                        <p:tgtEl>
                                          <p:spTgt spid="675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7593">
                                            <p:txEl>
                                              <p:pRg st="0" end="0"/>
                                            </p:txEl>
                                          </p:spTgt>
                                        </p:tgtEl>
                                        <p:attrNameLst>
                                          <p:attrName>style.visibility</p:attrName>
                                        </p:attrNameLst>
                                      </p:cBhvr>
                                      <p:to>
                                        <p:strVal val="visible"/>
                                      </p:to>
                                    </p:set>
                                    <p:animEffect transition="in" filter="wipe(down)">
                                      <p:cBhvr>
                                        <p:cTn id="12" dur="500"/>
                                        <p:tgtEl>
                                          <p:spTgt spid="67593">
                                            <p:txEl>
                                              <p:pRg st="0" end="0"/>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67593">
                                            <p:txEl>
                                              <p:pRg st="1" end="1"/>
                                            </p:txEl>
                                          </p:spTgt>
                                        </p:tgtEl>
                                        <p:attrNameLst>
                                          <p:attrName>style.visibility</p:attrName>
                                        </p:attrNameLst>
                                      </p:cBhvr>
                                      <p:to>
                                        <p:strVal val="visible"/>
                                      </p:to>
                                    </p:set>
                                    <p:animEffect transition="in" filter="wipe(down)">
                                      <p:cBhvr>
                                        <p:cTn id="15" dur="500"/>
                                        <p:tgtEl>
                                          <p:spTgt spid="6759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67588"/>
                                        </p:tgtEl>
                                        <p:attrNameLst>
                                          <p:attrName>style.visibility</p:attrName>
                                        </p:attrNameLst>
                                      </p:cBhvr>
                                      <p:to>
                                        <p:strVal val="visible"/>
                                      </p:to>
                                    </p:set>
                                    <p:anim calcmode="lin" valueType="num">
                                      <p:cBhvr additive="base">
                                        <p:cTn id="20" dur="500" fill="hold"/>
                                        <p:tgtEl>
                                          <p:spTgt spid="67588"/>
                                        </p:tgtEl>
                                        <p:attrNameLst>
                                          <p:attrName>ppt_x</p:attrName>
                                        </p:attrNameLst>
                                      </p:cBhvr>
                                      <p:tavLst>
                                        <p:tav tm="0">
                                          <p:val>
                                            <p:strVal val="#ppt_x"/>
                                          </p:val>
                                        </p:tav>
                                        <p:tav tm="100000">
                                          <p:val>
                                            <p:strVal val="#ppt_x"/>
                                          </p:val>
                                        </p:tav>
                                      </p:tavLst>
                                    </p:anim>
                                    <p:anim calcmode="lin" valueType="num">
                                      <p:cBhvr additive="base">
                                        <p:cTn id="21" dur="500" fill="hold"/>
                                        <p:tgtEl>
                                          <p:spTgt spid="675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1" grpId="0" build="allAtOnce"/>
      <p:bldP spid="67593" grpId="0" build="allAtOnce"/>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3"/>
          <p:cNvSpPr txBox="1"/>
          <p:nvPr/>
        </p:nvSpPr>
        <p:spPr>
          <a:xfrm>
            <a:off x="560388" y="1416050"/>
            <a:ext cx="7986712" cy="2103438"/>
          </a:xfrm>
          <a:prstGeom prst="rect">
            <a:avLst/>
          </a:prstGeom>
          <a:noFill/>
          <a:ln w="9525">
            <a:noFill/>
          </a:ln>
        </p:spPr>
        <p:txBody>
          <a:bodyPr anchor="t"/>
          <a:lstStyle/>
          <a:p>
            <a:pPr marL="342900" lvl="0" indent="-342900" algn="just">
              <a:lnSpc>
                <a:spcPct val="120000"/>
              </a:lnSpc>
              <a:spcBef>
                <a:spcPts val="600"/>
              </a:spcBef>
              <a:buClr>
                <a:srgbClr val="0033CC"/>
              </a:buClr>
              <a:buSzPct val="80000"/>
              <a:buNone/>
            </a:pPr>
            <a:r>
              <a:rPr lang="en-US" altLang="x-none" sz="2200" dirty="0">
                <a:solidFill>
                  <a:srgbClr val="FF0000"/>
                </a:solidFill>
                <a:latin typeface="楷体" panose="02010609060101010101" pitchFamily="1" charset="-122"/>
                <a:ea typeface="楷体" panose="02010609060101010101" pitchFamily="1" charset="-122"/>
              </a:rPr>
              <a:t>--</a:t>
            </a:r>
            <a:r>
              <a:rPr lang="zh-CN" altLang="en-US" sz="2400" u="sng" dirty="0">
                <a:solidFill>
                  <a:srgbClr val="FF0000"/>
                </a:solidFill>
                <a:latin typeface="楷体" panose="02010609060101010101" pitchFamily="1" charset="-122"/>
                <a:ea typeface="楷体" panose="02010609060101010101" pitchFamily="1" charset="-122"/>
              </a:rPr>
              <a:t>数据模型的三个评价标准：</a:t>
            </a:r>
            <a:r>
              <a:rPr lang="zh-CN" altLang="en-US" sz="2200" dirty="0">
                <a:latin typeface="楷体" panose="02010609060101010101" pitchFamily="1" charset="-122"/>
                <a:ea typeface="楷体" panose="02010609060101010101" pitchFamily="1" charset="-122"/>
              </a:rPr>
              <a:t>由于数据模型就是对现实世界的模拟、描述或表示。因此数据模型应满足的三个要求</a:t>
            </a:r>
            <a:r>
              <a:rPr lang="zh-CN" altLang="en-US" sz="2200" dirty="0">
                <a:latin typeface="楷体" panose="02010609060101010101" pitchFamily="1" charset="-122"/>
                <a:ea typeface="楷体" panose="02010609060101010101" pitchFamily="1" charset="-122"/>
                <a:sym typeface="Wingdings" panose="05000000000000000000" pitchFamily="2" charset="2"/>
              </a:rPr>
              <a:t>：</a:t>
            </a:r>
            <a:endParaRPr lang="en-US" altLang="x-none" sz="2200" dirty="0">
              <a:latin typeface="楷体" panose="02010609060101010101" pitchFamily="1" charset="-122"/>
              <a:ea typeface="楷体" panose="02010609060101010101" pitchFamily="1" charset="-122"/>
            </a:endParaRPr>
          </a:p>
          <a:p>
            <a:pPr marL="342900" lvl="0" indent="-342900" algn="just">
              <a:lnSpc>
                <a:spcPct val="120000"/>
              </a:lnSpc>
              <a:spcBef>
                <a:spcPts val="300"/>
              </a:spcBef>
              <a:buClr>
                <a:srgbClr val="0033CC"/>
              </a:buClr>
              <a:buSzPct val="80000"/>
              <a:buNone/>
            </a:pPr>
            <a:r>
              <a:rPr lang="zh-CN" altLang="en-US" sz="2200" dirty="0">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sym typeface="Wingdings" panose="05000000000000000000" pitchFamily="2" charset="2"/>
              </a:rPr>
              <a:t>比较真实地描述现实世界</a:t>
            </a:r>
            <a:r>
              <a:rPr lang="en-US" altLang="x-none" sz="2200" u="sng" dirty="0">
                <a:latin typeface="楷体" panose="02010609060101010101" pitchFamily="1" charset="-122"/>
                <a:ea typeface="楷体" panose="02010609060101010101" pitchFamily="1" charset="-122"/>
                <a:sym typeface="Wingdings" panose="05000000000000000000" pitchFamily="2" charset="2"/>
              </a:rPr>
              <a:t>—</a:t>
            </a:r>
            <a:r>
              <a:rPr lang="zh-CN" altLang="en-US" sz="2200" u="sng" dirty="0">
                <a:latin typeface="楷体" panose="02010609060101010101" pitchFamily="1" charset="-122"/>
                <a:ea typeface="楷体" panose="02010609060101010101" pitchFamily="1" charset="-122"/>
                <a:sym typeface="Wingdings" panose="05000000000000000000" pitchFamily="2" charset="2"/>
              </a:rPr>
              <a:t>数据模型的最基本要求；</a:t>
            </a:r>
            <a:endParaRPr lang="en-US" altLang="x-none" sz="2200" u="sng" dirty="0">
              <a:latin typeface="楷体" panose="02010609060101010101" pitchFamily="1" charset="-122"/>
              <a:ea typeface="楷体" panose="02010609060101010101" pitchFamily="1" charset="-122"/>
            </a:endParaRPr>
          </a:p>
          <a:p>
            <a:pPr marL="342900" lvl="0" indent="-342900" algn="just">
              <a:lnSpc>
                <a:spcPct val="120000"/>
              </a:lnSpc>
              <a:spcBef>
                <a:spcPts val="300"/>
              </a:spcBef>
              <a:buClr>
                <a:srgbClr val="0033CC"/>
              </a:buClr>
              <a:buSzPct val="80000"/>
              <a:buNone/>
            </a:pPr>
            <a:r>
              <a:rPr lang="zh-CN" altLang="en-US" sz="2200" dirty="0">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sym typeface="Wingdings" panose="05000000000000000000" pitchFamily="2" charset="2"/>
              </a:rPr>
              <a:t>易为用户所理解</a:t>
            </a:r>
            <a:r>
              <a:rPr lang="en-US" altLang="x-none" sz="2200" u="sng" dirty="0">
                <a:solidFill>
                  <a:srgbClr val="0033CC"/>
                </a:solidFill>
                <a:latin typeface="楷体" panose="02010609060101010101" pitchFamily="1" charset="-122"/>
                <a:ea typeface="楷体" panose="02010609060101010101" pitchFamily="1" charset="-122"/>
                <a:sym typeface="Wingdings" panose="05000000000000000000" pitchFamily="2" charset="2"/>
              </a:rPr>
              <a:t>—</a:t>
            </a:r>
            <a:r>
              <a:rPr lang="zh-CN" altLang="en-US" sz="2200" u="sng" dirty="0">
                <a:latin typeface="楷体" panose="02010609060101010101" pitchFamily="1" charset="-122"/>
                <a:ea typeface="楷体" panose="02010609060101010101" pitchFamily="1" charset="-122"/>
                <a:sym typeface="Wingdings" panose="05000000000000000000" pitchFamily="2" charset="2"/>
              </a:rPr>
              <a:t>数据模式要满足最终用户</a:t>
            </a:r>
            <a:r>
              <a:rPr lang="en-US" altLang="x-none" sz="2200" u="sng" dirty="0">
                <a:latin typeface="楷体" panose="02010609060101010101" pitchFamily="1" charset="-122"/>
                <a:ea typeface="楷体" panose="02010609060101010101" pitchFamily="1" charset="-122"/>
                <a:sym typeface="Wingdings" panose="05000000000000000000" pitchFamily="2" charset="2"/>
              </a:rPr>
              <a:t>(</a:t>
            </a:r>
            <a:r>
              <a:rPr lang="zh-CN" altLang="en-US" sz="2200" u="sng" dirty="0">
                <a:latin typeface="楷体" panose="02010609060101010101" pitchFamily="1" charset="-122"/>
                <a:ea typeface="楷体" panose="02010609060101010101" pitchFamily="1" charset="-122"/>
                <a:sym typeface="Wingdings" panose="05000000000000000000" pitchFamily="2" charset="2"/>
              </a:rPr>
              <a:t>业务人员</a:t>
            </a:r>
            <a:r>
              <a:rPr lang="en-US" altLang="x-none" sz="2200" u="sng" dirty="0">
                <a:latin typeface="楷体" panose="02010609060101010101" pitchFamily="1" charset="-122"/>
                <a:ea typeface="楷体" panose="02010609060101010101" pitchFamily="1" charset="-122"/>
                <a:sym typeface="Wingdings" panose="05000000000000000000" pitchFamily="2" charset="2"/>
              </a:rPr>
              <a:t>)</a:t>
            </a:r>
            <a:r>
              <a:rPr lang="zh-CN" altLang="en-US" sz="2200" u="sng" dirty="0">
                <a:latin typeface="楷体" panose="02010609060101010101" pitchFamily="1" charset="-122"/>
                <a:ea typeface="楷体" panose="02010609060101010101" pitchFamily="1" charset="-122"/>
                <a:sym typeface="Wingdings" panose="05000000000000000000" pitchFamily="2" charset="2"/>
              </a:rPr>
              <a:t>的需求</a:t>
            </a:r>
            <a:r>
              <a:rPr lang="en-US" altLang="x-none" sz="2200" u="sng" dirty="0">
                <a:latin typeface="楷体" panose="02010609060101010101" pitchFamily="1" charset="-122"/>
                <a:ea typeface="楷体" panose="02010609060101010101" pitchFamily="1" charset="-122"/>
                <a:sym typeface="Wingdings" panose="05000000000000000000" pitchFamily="2" charset="2"/>
              </a:rPr>
              <a:t>,</a:t>
            </a:r>
            <a:r>
              <a:rPr lang="zh-CN" altLang="en-US" sz="2200" u="sng" dirty="0">
                <a:latin typeface="楷体" panose="02010609060101010101" pitchFamily="1" charset="-122"/>
                <a:ea typeface="楷体" panose="02010609060101010101" pitchFamily="1" charset="-122"/>
                <a:sym typeface="Wingdings" panose="05000000000000000000" pitchFamily="2" charset="2"/>
              </a:rPr>
              <a:t>一般业务人员计算机基础薄弱</a:t>
            </a:r>
            <a:r>
              <a:rPr lang="en-US" altLang="x-none" sz="2200" u="sng" dirty="0">
                <a:latin typeface="楷体" panose="02010609060101010101" pitchFamily="1" charset="-122"/>
                <a:ea typeface="楷体" panose="02010609060101010101" pitchFamily="1" charset="-122"/>
                <a:sym typeface="Wingdings" panose="05000000000000000000" pitchFamily="2" charset="2"/>
              </a:rPr>
              <a:t>,</a:t>
            </a:r>
            <a:r>
              <a:rPr lang="zh-CN" altLang="en-US" sz="2200" u="sng" dirty="0">
                <a:latin typeface="楷体" panose="02010609060101010101" pitchFamily="1" charset="-122"/>
                <a:ea typeface="楷体" panose="02010609060101010101" pitchFamily="1" charset="-122"/>
                <a:sym typeface="Wingdings" panose="05000000000000000000" pitchFamily="2" charset="2"/>
              </a:rPr>
              <a:t>数据模型作为数据库设计人员和业务人员交互的工具</a:t>
            </a:r>
            <a:r>
              <a:rPr lang="en-US" altLang="x-none" sz="2200" u="sng" dirty="0">
                <a:latin typeface="楷体" panose="02010609060101010101" pitchFamily="1" charset="-122"/>
                <a:ea typeface="楷体" panose="02010609060101010101" pitchFamily="1" charset="-122"/>
                <a:sym typeface="Wingdings" panose="05000000000000000000" pitchFamily="2" charset="2"/>
              </a:rPr>
              <a:t>,</a:t>
            </a:r>
            <a:r>
              <a:rPr lang="zh-CN" altLang="en-US" sz="2200" u="sng" dirty="0">
                <a:latin typeface="楷体" panose="02010609060101010101" pitchFamily="1" charset="-122"/>
                <a:ea typeface="楷体" panose="02010609060101010101" pitchFamily="1" charset="-122"/>
                <a:sym typeface="Wingdings" panose="05000000000000000000" pitchFamily="2" charset="2"/>
              </a:rPr>
              <a:t>需要简单便于理解；</a:t>
            </a:r>
            <a:endParaRPr lang="en-US" altLang="x-none" sz="2200" u="sng" dirty="0">
              <a:latin typeface="楷体" panose="02010609060101010101" pitchFamily="1" charset="-122"/>
              <a:ea typeface="楷体" panose="02010609060101010101" pitchFamily="1" charset="-122"/>
              <a:sym typeface="Wingdings" panose="05000000000000000000" pitchFamily="2" charset="2"/>
            </a:endParaRPr>
          </a:p>
          <a:p>
            <a:pPr marL="342900" lvl="0" indent="-342900" algn="just">
              <a:lnSpc>
                <a:spcPct val="120000"/>
              </a:lnSpc>
              <a:spcBef>
                <a:spcPts val="300"/>
              </a:spcBef>
              <a:buClr>
                <a:srgbClr val="0033CC"/>
              </a:buClr>
              <a:buSzPct val="80000"/>
              <a:buNone/>
            </a:pPr>
            <a:r>
              <a:rPr lang="zh-CN" altLang="en-US" sz="2200" dirty="0">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sym typeface="Wingdings" panose="05000000000000000000" pitchFamily="2" charset="2"/>
              </a:rPr>
              <a:t>易于在计算机上实现</a:t>
            </a:r>
            <a:r>
              <a:rPr lang="en-US" altLang="x-none" sz="2200" u="sng" dirty="0">
                <a:latin typeface="楷体" panose="02010609060101010101" pitchFamily="1" charset="-122"/>
                <a:ea typeface="楷体" panose="02010609060101010101" pitchFamily="1" charset="-122"/>
                <a:sym typeface="Wingdings" panose="05000000000000000000" pitchFamily="2" charset="2"/>
              </a:rPr>
              <a:t>—</a:t>
            </a:r>
            <a:r>
              <a:rPr lang="zh-CN" altLang="en-US" sz="2200" u="sng" dirty="0">
                <a:latin typeface="楷体" panose="02010609060101010101" pitchFamily="1" charset="-122"/>
                <a:ea typeface="楷体" panose="02010609060101010101" pitchFamily="1" charset="-122"/>
                <a:sym typeface="Wingdings" panose="05000000000000000000" pitchFamily="2" charset="2"/>
              </a:rPr>
              <a:t>数据计算机化管理的基本要求。</a:t>
            </a:r>
            <a:endParaRPr lang="en-US" altLang="x-none" sz="2200" u="sng" dirty="0">
              <a:latin typeface="楷体" panose="02010609060101010101" pitchFamily="1" charset="-122"/>
              <a:ea typeface="楷体" panose="02010609060101010101" pitchFamily="1" charset="-122"/>
              <a:sym typeface="Wingdings" panose="05000000000000000000" pitchFamily="2" charset="2"/>
            </a:endParaRPr>
          </a:p>
        </p:txBody>
      </p:sp>
      <p:grpSp>
        <p:nvGrpSpPr>
          <p:cNvPr id="72709" name="组合 14"/>
          <p:cNvGrpSpPr/>
          <p:nvPr/>
        </p:nvGrpSpPr>
        <p:grpSpPr>
          <a:xfrm>
            <a:off x="947738" y="4524375"/>
            <a:ext cx="7281862" cy="1795463"/>
            <a:chOff x="0" y="0"/>
            <a:chExt cx="7281862" cy="1796236"/>
          </a:xfrm>
        </p:grpSpPr>
        <p:sp>
          <p:nvSpPr>
            <p:cNvPr id="79877" name="AutoShape 14"/>
            <p:cNvSpPr/>
            <p:nvPr/>
          </p:nvSpPr>
          <p:spPr>
            <a:xfrm>
              <a:off x="25400" y="98467"/>
              <a:ext cx="3586162" cy="724212"/>
            </a:xfrm>
            <a:prstGeom prst="roundRect">
              <a:avLst>
                <a:gd name="adj" fmla="val 16667"/>
              </a:avLst>
            </a:prstGeom>
            <a:solidFill>
              <a:srgbClr val="9ED3D7"/>
            </a:solidFill>
            <a:ln w="19050" cap="rnd" cmpd="sng">
              <a:solidFill>
                <a:schemeClr val="bg2"/>
              </a:solidFill>
              <a:prstDash val="sysDot"/>
              <a:round/>
              <a:headEnd type="none" w="med" len="med"/>
              <a:tailEnd type="none" w="med" len="med"/>
            </a:ln>
          </p:spPr>
          <p:txBody>
            <a:bodyPr wrap="none" anchor="ctr"/>
            <a:lstStyle/>
            <a:p>
              <a:pPr lvl="0" indent="0" algn="ctr">
                <a:lnSpc>
                  <a:spcPct val="100000"/>
                </a:lnSpc>
                <a:buNone/>
              </a:pPr>
              <a:r>
                <a:rPr lang="zh-CN" altLang="en-US" sz="2800" dirty="0">
                  <a:solidFill>
                    <a:srgbClr val="FF0000"/>
                  </a:solidFill>
                  <a:latin typeface="Arial" panose="020B0604020202020204" pitchFamily="34" charset="0"/>
                  <a:ea typeface="黑体" panose="02010609060101010101" pitchFamily="1" charset="-122"/>
                </a:rPr>
                <a:t>易于为用户所理解？</a:t>
              </a:r>
              <a:endParaRPr lang="en-US" altLang="x-none" sz="2800" dirty="0">
                <a:solidFill>
                  <a:srgbClr val="FF0000"/>
                </a:solidFill>
                <a:latin typeface="Arial" panose="020B0604020202020204" pitchFamily="34" charset="0"/>
                <a:ea typeface="黑体" panose="02010609060101010101" pitchFamily="1" charset="-122"/>
              </a:endParaRPr>
            </a:p>
          </p:txBody>
        </p:sp>
        <p:pic>
          <p:nvPicPr>
            <p:cNvPr id="79878" name="Picture 7"/>
            <p:cNvPicPr>
              <a:picLocks noChangeAspect="1"/>
            </p:cNvPicPr>
            <p:nvPr/>
          </p:nvPicPr>
          <p:blipFill>
            <a:blip r:embed="rId1" cstate="print"/>
            <a:stretch>
              <a:fillRect/>
            </a:stretch>
          </p:blipFill>
          <p:spPr>
            <a:xfrm>
              <a:off x="3941762" y="22235"/>
              <a:ext cx="971550" cy="1156198"/>
            </a:xfrm>
            <a:prstGeom prst="rect">
              <a:avLst/>
            </a:prstGeom>
            <a:noFill/>
            <a:ln w="9525">
              <a:noFill/>
            </a:ln>
            <a:effectLst>
              <a:prstShdw prst="shdw17" dist="17961" dir="2699999">
                <a:srgbClr val="708688"/>
              </a:prstShdw>
            </a:effectLst>
          </p:spPr>
        </p:pic>
        <p:sp>
          <p:nvSpPr>
            <p:cNvPr id="79879" name="AutoShape 14"/>
            <p:cNvSpPr/>
            <p:nvPr/>
          </p:nvSpPr>
          <p:spPr>
            <a:xfrm>
              <a:off x="0" y="962439"/>
              <a:ext cx="3586162" cy="686095"/>
            </a:xfrm>
            <a:prstGeom prst="roundRect">
              <a:avLst>
                <a:gd name="adj" fmla="val 16667"/>
              </a:avLst>
            </a:prstGeom>
            <a:solidFill>
              <a:srgbClr val="9ED3D7"/>
            </a:solidFill>
            <a:ln w="19050" cap="rnd" cmpd="sng">
              <a:solidFill>
                <a:schemeClr val="bg2"/>
              </a:solidFill>
              <a:prstDash val="sysDot"/>
              <a:round/>
              <a:headEnd type="none" w="med" len="med"/>
              <a:tailEnd type="none" w="med" len="med"/>
            </a:ln>
          </p:spPr>
          <p:txBody>
            <a:bodyPr wrap="none" anchor="ctr"/>
            <a:lstStyle/>
            <a:p>
              <a:pPr lvl="0" indent="0" algn="ctr">
                <a:lnSpc>
                  <a:spcPct val="100000"/>
                </a:lnSpc>
                <a:spcBef>
                  <a:spcPts val="1800"/>
                </a:spcBef>
                <a:buNone/>
              </a:pPr>
              <a:r>
                <a:rPr lang="zh-CN" altLang="en-US" sz="2800" dirty="0">
                  <a:solidFill>
                    <a:srgbClr val="FF0000"/>
                  </a:solidFill>
                  <a:latin typeface="Arial" panose="020B0604020202020204" pitchFamily="34" charset="0"/>
                  <a:ea typeface="黑体" panose="02010609060101010101" pitchFamily="1" charset="-122"/>
                </a:rPr>
                <a:t>易于在计算机上实现？</a:t>
              </a:r>
              <a:endParaRPr lang="zh-CN" altLang="en-US" sz="2800" dirty="0">
                <a:solidFill>
                  <a:srgbClr val="FF0000"/>
                </a:solidFill>
                <a:latin typeface="Arial" panose="020B0604020202020204" pitchFamily="34" charset="0"/>
                <a:ea typeface="黑体" panose="02010609060101010101" pitchFamily="1" charset="-122"/>
              </a:endParaRPr>
            </a:p>
          </p:txBody>
        </p:sp>
        <p:pic>
          <p:nvPicPr>
            <p:cNvPr id="79880" name="Picture 8"/>
            <p:cNvPicPr>
              <a:picLocks noChangeAspect="1"/>
            </p:cNvPicPr>
            <p:nvPr/>
          </p:nvPicPr>
          <p:blipFill>
            <a:blip r:embed="rId2" cstate="print"/>
            <a:stretch>
              <a:fillRect/>
            </a:stretch>
          </p:blipFill>
          <p:spPr>
            <a:xfrm>
              <a:off x="5126037" y="462162"/>
              <a:ext cx="962025" cy="1288016"/>
            </a:xfrm>
            <a:prstGeom prst="rect">
              <a:avLst/>
            </a:prstGeom>
            <a:noFill/>
            <a:ln w="9525">
              <a:noFill/>
            </a:ln>
            <a:effectLst>
              <a:prstShdw prst="shdw17" dist="17961" dir="2699999">
                <a:srgbClr val="708688"/>
              </a:prstShdw>
            </a:effectLst>
          </p:spPr>
        </p:pic>
        <p:pic>
          <p:nvPicPr>
            <p:cNvPr id="79881" name="Picture 9"/>
            <p:cNvPicPr>
              <a:picLocks noChangeAspect="1"/>
            </p:cNvPicPr>
            <p:nvPr/>
          </p:nvPicPr>
          <p:blipFill>
            <a:blip r:embed="rId3" cstate="print"/>
            <a:stretch>
              <a:fillRect/>
            </a:stretch>
          </p:blipFill>
          <p:spPr>
            <a:xfrm>
              <a:off x="6656387" y="0"/>
              <a:ext cx="625475" cy="1796236"/>
            </a:xfrm>
            <a:prstGeom prst="rect">
              <a:avLst/>
            </a:prstGeom>
            <a:noFill/>
            <a:ln w="9525">
              <a:noFill/>
            </a:ln>
            <a:effectLst>
              <a:prstShdw prst="shdw17" dist="17961" dir="2699999">
                <a:srgbClr val="708688"/>
              </a:prstShdw>
            </a:effectLst>
          </p:spPr>
        </p:pic>
        <p:sp>
          <p:nvSpPr>
            <p:cNvPr id="72715" name="右箭头 12"/>
            <p:cNvSpPr/>
            <p:nvPr/>
          </p:nvSpPr>
          <p:spPr>
            <a:xfrm>
              <a:off x="3636962" y="123878"/>
              <a:ext cx="279400" cy="468515"/>
            </a:xfrm>
            <a:prstGeom prst="rightArrow">
              <a:avLst>
                <a:gd name="adj1" fmla="val 50000"/>
                <a:gd name="adj2" fmla="val 50000"/>
              </a:avLst>
            </a:prstGeom>
            <a:solidFill>
              <a:schemeClr val="accent1"/>
            </a:solid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Blip>
                  <a:blip r:embed="rId4"/>
                </a:buBlip>
              </a:pP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72716" name="右箭头 13"/>
            <p:cNvSpPr/>
            <p:nvPr/>
          </p:nvSpPr>
          <p:spPr>
            <a:xfrm>
              <a:off x="3598862" y="1178432"/>
              <a:ext cx="1511300" cy="431986"/>
            </a:xfrm>
            <a:prstGeom prst="rightArrow">
              <a:avLst>
                <a:gd name="adj1" fmla="val 50000"/>
                <a:gd name="adj2" fmla="val 49999"/>
              </a:avLst>
            </a:prstGeom>
            <a:solidFill>
              <a:schemeClr val="accent1"/>
            </a:solid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Blip>
                  <a:blip r:embed="rId4"/>
                </a:buBlip>
              </a:pP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grpSp>
      <p:sp>
        <p:nvSpPr>
          <p:cNvPr id="2" name="Rectangle 2"/>
          <p:cNvSpPr txBox="1"/>
          <p:nvPr/>
        </p:nvSpPr>
        <p:spPr>
          <a:xfrm>
            <a:off x="555625" y="876300"/>
            <a:ext cx="7354888" cy="533400"/>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数据库设计过程的相关概念</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2708">
                                            <p:txEl>
                                              <p:pRg st="0" end="0"/>
                                            </p:txEl>
                                          </p:spTgt>
                                        </p:tgtEl>
                                        <p:attrNameLst>
                                          <p:attrName>style.visibility</p:attrName>
                                        </p:attrNameLst>
                                      </p:cBhvr>
                                      <p:to>
                                        <p:strVal val="visible"/>
                                      </p:to>
                                    </p:set>
                                    <p:animEffect transition="in" filter="wipe(down)">
                                      <p:cBhvr>
                                        <p:cTn id="7" dur="500"/>
                                        <p:tgtEl>
                                          <p:spTgt spid="72708">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2708">
                                            <p:txEl>
                                              <p:pRg st="1" end="1"/>
                                            </p:txEl>
                                          </p:spTgt>
                                        </p:tgtEl>
                                        <p:attrNameLst>
                                          <p:attrName>style.visibility</p:attrName>
                                        </p:attrNameLst>
                                      </p:cBhvr>
                                      <p:to>
                                        <p:strVal val="visible"/>
                                      </p:to>
                                    </p:set>
                                    <p:animEffect transition="in" filter="wipe(down)">
                                      <p:cBhvr>
                                        <p:cTn id="10" dur="500"/>
                                        <p:tgtEl>
                                          <p:spTgt spid="72708">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2708">
                                            <p:txEl>
                                              <p:pRg st="2" end="2"/>
                                            </p:txEl>
                                          </p:spTgt>
                                        </p:tgtEl>
                                        <p:attrNameLst>
                                          <p:attrName>style.visibility</p:attrName>
                                        </p:attrNameLst>
                                      </p:cBhvr>
                                      <p:to>
                                        <p:strVal val="visible"/>
                                      </p:to>
                                    </p:set>
                                    <p:animEffect transition="in" filter="wipe(down)">
                                      <p:cBhvr>
                                        <p:cTn id="13" dur="500"/>
                                        <p:tgtEl>
                                          <p:spTgt spid="72708">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72708">
                                            <p:txEl>
                                              <p:pRg st="3" end="3"/>
                                            </p:txEl>
                                          </p:spTgt>
                                        </p:tgtEl>
                                        <p:attrNameLst>
                                          <p:attrName>style.visibility</p:attrName>
                                        </p:attrNameLst>
                                      </p:cBhvr>
                                      <p:to>
                                        <p:strVal val="visible"/>
                                      </p:to>
                                    </p:set>
                                    <p:animEffect transition="in" filter="wipe(down)">
                                      <p:cBhvr>
                                        <p:cTn id="16" dur="500"/>
                                        <p:tgtEl>
                                          <p:spTgt spid="72708">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2709"/>
                                        </p:tgtEl>
                                        <p:attrNameLst>
                                          <p:attrName>style.visibility</p:attrName>
                                        </p:attrNameLst>
                                      </p:cBhvr>
                                      <p:to>
                                        <p:strVal val="visible"/>
                                      </p:to>
                                    </p:set>
                                    <p:anim calcmode="lin" valueType="num">
                                      <p:cBhvr additive="base">
                                        <p:cTn id="21" dur="500" fill="hold"/>
                                        <p:tgtEl>
                                          <p:spTgt spid="72709"/>
                                        </p:tgtEl>
                                        <p:attrNameLst>
                                          <p:attrName>ppt_x</p:attrName>
                                        </p:attrNameLst>
                                      </p:cBhvr>
                                      <p:tavLst>
                                        <p:tav tm="0">
                                          <p:val>
                                            <p:strVal val="#ppt_x"/>
                                          </p:val>
                                        </p:tav>
                                        <p:tav tm="100000">
                                          <p:val>
                                            <p:strVal val="#ppt_x"/>
                                          </p:val>
                                        </p:tav>
                                      </p:tavLst>
                                    </p:anim>
                                    <p:anim calcmode="lin" valueType="num">
                                      <p:cBhvr additive="base">
                                        <p:cTn id="22" dur="500" fill="hold"/>
                                        <p:tgtEl>
                                          <p:spTgt spid="727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8" grpId="0" build="allAtOnce"/>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7" name="Picture 6"/>
          <p:cNvPicPr>
            <a:picLocks noChangeAspect="1"/>
          </p:cNvPicPr>
          <p:nvPr/>
        </p:nvPicPr>
        <p:blipFill>
          <a:blip r:embed="rId1" cstate="print"/>
          <a:stretch>
            <a:fillRect/>
          </a:stretch>
        </p:blipFill>
        <p:spPr>
          <a:xfrm>
            <a:off x="7391400" y="920750"/>
            <a:ext cx="1282700" cy="1282700"/>
          </a:xfrm>
          <a:prstGeom prst="rect">
            <a:avLst/>
          </a:prstGeom>
          <a:noFill/>
          <a:ln w="9525">
            <a:noFill/>
          </a:ln>
          <a:effectLst>
            <a:prstShdw prst="shdw17" dist="17961" dir="2699999">
              <a:srgbClr val="708688"/>
            </a:prstShdw>
          </a:effectLst>
        </p:spPr>
      </p:pic>
      <p:grpSp>
        <p:nvGrpSpPr>
          <p:cNvPr id="73733" name="组合 43"/>
          <p:cNvGrpSpPr/>
          <p:nvPr/>
        </p:nvGrpSpPr>
        <p:grpSpPr>
          <a:xfrm>
            <a:off x="825500" y="1765300"/>
            <a:ext cx="7670800" cy="4602163"/>
            <a:chOff x="0" y="0"/>
            <a:chExt cx="7670800" cy="4602163"/>
          </a:xfrm>
        </p:grpSpPr>
        <p:grpSp>
          <p:nvGrpSpPr>
            <p:cNvPr id="80901" name="组合 39"/>
            <p:cNvGrpSpPr/>
            <p:nvPr/>
          </p:nvGrpSpPr>
          <p:grpSpPr>
            <a:xfrm>
              <a:off x="0" y="0"/>
              <a:ext cx="6854825" cy="4462463"/>
              <a:chOff x="0" y="0"/>
              <a:chExt cx="7523162" cy="4859338"/>
            </a:xfrm>
          </p:grpSpPr>
          <p:grpSp>
            <p:nvGrpSpPr>
              <p:cNvPr id="80902" name="组合 26"/>
              <p:cNvGrpSpPr/>
              <p:nvPr/>
            </p:nvGrpSpPr>
            <p:grpSpPr>
              <a:xfrm>
                <a:off x="26987" y="1128713"/>
                <a:ext cx="7496175" cy="457200"/>
                <a:chOff x="0" y="0"/>
                <a:chExt cx="7496175" cy="457200"/>
              </a:xfrm>
            </p:grpSpPr>
            <p:sp>
              <p:nvSpPr>
                <p:cNvPr id="80903" name="AutoShape 12"/>
                <p:cNvSpPr/>
                <p:nvPr/>
              </p:nvSpPr>
              <p:spPr>
                <a:xfrm>
                  <a:off x="0" y="177800"/>
                  <a:ext cx="6019800" cy="228600"/>
                </a:xfrm>
                <a:prstGeom prst="homePlate">
                  <a:avLst>
                    <a:gd name="adj" fmla="val 657358"/>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80904" name="Rectangle 16"/>
                <p:cNvSpPr/>
                <p:nvPr/>
              </p:nvSpPr>
              <p:spPr>
                <a:xfrm>
                  <a:off x="6048375" y="0"/>
                  <a:ext cx="1447800" cy="457200"/>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400" dirty="0">
                      <a:latin typeface="Tahoma" panose="020B0604030504040204" pitchFamily="2" charset="0"/>
                      <a:ea typeface="宋体" panose="02010600030101010101" pitchFamily="2" charset="-122"/>
                    </a:rPr>
                    <a:t>视图抽象</a:t>
                  </a:r>
                  <a:endParaRPr lang="zh-CN" altLang="en-US" sz="2400" dirty="0">
                    <a:latin typeface="Tahoma" panose="020B0604030504040204" pitchFamily="2" charset="0"/>
                    <a:ea typeface="宋体" panose="02010600030101010101" pitchFamily="2" charset="-122"/>
                  </a:endParaRPr>
                </a:p>
              </p:txBody>
            </p:sp>
          </p:grpSp>
          <p:grpSp>
            <p:nvGrpSpPr>
              <p:cNvPr id="80905" name="组合 27"/>
              <p:cNvGrpSpPr/>
              <p:nvPr/>
            </p:nvGrpSpPr>
            <p:grpSpPr>
              <a:xfrm>
                <a:off x="1062037" y="2133600"/>
                <a:ext cx="3178175" cy="1017588"/>
                <a:chOff x="0" y="0"/>
                <a:chExt cx="3178175" cy="1017588"/>
              </a:xfrm>
            </p:grpSpPr>
            <p:sp>
              <p:nvSpPr>
                <p:cNvPr id="80906" name="Rectangle 5"/>
                <p:cNvSpPr/>
                <p:nvPr/>
              </p:nvSpPr>
              <p:spPr>
                <a:xfrm>
                  <a:off x="655638" y="565150"/>
                  <a:ext cx="1700212" cy="452438"/>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solidFill>
                        <a:srgbClr val="000000"/>
                      </a:solidFill>
                      <a:latin typeface="Tahoma" panose="020B0604030504040204" pitchFamily="2" charset="0"/>
                      <a:ea typeface="宋体" panose="02010600030101010101" pitchFamily="2" charset="-122"/>
                    </a:rPr>
                    <a:t>概念模式</a:t>
                  </a:r>
                  <a:endParaRPr lang="zh-CN" altLang="en-US" sz="2400" dirty="0">
                    <a:solidFill>
                      <a:srgbClr val="000000"/>
                    </a:solidFill>
                    <a:latin typeface="Tahoma" panose="020B0604030504040204" pitchFamily="2" charset="0"/>
                    <a:ea typeface="宋体" panose="02010600030101010101" pitchFamily="2" charset="-122"/>
                  </a:endParaRPr>
                </a:p>
              </p:txBody>
            </p:sp>
            <p:sp>
              <p:nvSpPr>
                <p:cNvPr id="80907" name="Line 17"/>
                <p:cNvSpPr/>
                <p:nvPr/>
              </p:nvSpPr>
              <p:spPr>
                <a:xfrm flipH="1">
                  <a:off x="1417638" y="0"/>
                  <a:ext cx="46037" cy="593725"/>
                </a:xfrm>
                <a:prstGeom prst="line">
                  <a:avLst/>
                </a:prstGeom>
                <a:ln w="38100" cap="flat" cmpd="sng">
                  <a:solidFill>
                    <a:schemeClr val="tx1"/>
                  </a:solidFill>
                  <a:prstDash val="solid"/>
                  <a:round/>
                  <a:headEnd type="triangle" w="med" len="med"/>
                  <a:tailEnd type="triangle" w="med" len="med"/>
                </a:ln>
              </p:spPr>
            </p:sp>
            <p:sp>
              <p:nvSpPr>
                <p:cNvPr id="80908" name="Line 18"/>
                <p:cNvSpPr/>
                <p:nvPr/>
              </p:nvSpPr>
              <p:spPr>
                <a:xfrm>
                  <a:off x="0" y="28575"/>
                  <a:ext cx="1112838" cy="566738"/>
                </a:xfrm>
                <a:prstGeom prst="line">
                  <a:avLst/>
                </a:prstGeom>
                <a:ln w="38100" cap="flat" cmpd="sng">
                  <a:solidFill>
                    <a:schemeClr val="tx1"/>
                  </a:solidFill>
                  <a:prstDash val="solid"/>
                  <a:round/>
                  <a:headEnd type="triangle" w="med" len="med"/>
                  <a:tailEnd type="triangle" w="med" len="med"/>
                </a:ln>
              </p:spPr>
            </p:sp>
            <p:sp>
              <p:nvSpPr>
                <p:cNvPr id="80909" name="Line 19"/>
                <p:cNvSpPr/>
                <p:nvPr/>
              </p:nvSpPr>
              <p:spPr>
                <a:xfrm flipH="1">
                  <a:off x="1852613" y="14288"/>
                  <a:ext cx="1325562" cy="493712"/>
                </a:xfrm>
                <a:prstGeom prst="line">
                  <a:avLst/>
                </a:prstGeom>
                <a:ln w="38100" cap="flat" cmpd="sng">
                  <a:solidFill>
                    <a:schemeClr val="tx1"/>
                  </a:solidFill>
                  <a:prstDash val="solid"/>
                  <a:round/>
                  <a:headEnd type="triangle" w="med" len="med"/>
                  <a:tailEnd type="triangle" w="med" len="med"/>
                </a:ln>
              </p:spPr>
            </p:sp>
          </p:grpSp>
          <p:grpSp>
            <p:nvGrpSpPr>
              <p:cNvPr id="80910" name="组合 28"/>
              <p:cNvGrpSpPr/>
              <p:nvPr/>
            </p:nvGrpSpPr>
            <p:grpSpPr>
              <a:xfrm>
                <a:off x="41275" y="1585913"/>
                <a:ext cx="7439025" cy="1109662"/>
                <a:chOff x="0" y="0"/>
                <a:chExt cx="7439025" cy="1109662"/>
              </a:xfrm>
            </p:grpSpPr>
            <p:sp>
              <p:nvSpPr>
                <p:cNvPr id="80911" name="Line 7"/>
                <p:cNvSpPr/>
                <p:nvPr/>
              </p:nvSpPr>
              <p:spPr>
                <a:xfrm flipH="1">
                  <a:off x="6750049" y="0"/>
                  <a:ext cx="7937" cy="696912"/>
                </a:xfrm>
                <a:prstGeom prst="line">
                  <a:avLst/>
                </a:prstGeom>
                <a:ln w="23813" cap="flat" cmpd="sng">
                  <a:solidFill>
                    <a:srgbClr val="000000"/>
                  </a:solidFill>
                  <a:prstDash val="solid"/>
                  <a:round/>
                  <a:headEnd type="none" w="med" len="med"/>
                  <a:tailEnd type="none" w="med" len="med"/>
                </a:ln>
              </p:spPr>
            </p:sp>
            <p:sp>
              <p:nvSpPr>
                <p:cNvPr id="80912" name="AutoShape 11"/>
                <p:cNvSpPr/>
                <p:nvPr/>
              </p:nvSpPr>
              <p:spPr>
                <a:xfrm>
                  <a:off x="0" y="700087"/>
                  <a:ext cx="6019800" cy="228600"/>
                </a:xfrm>
                <a:prstGeom prst="homePlate">
                  <a:avLst>
                    <a:gd name="adj" fmla="val 657358"/>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endParaRPr lang="de-DE" altLang="en-US" sz="2400" dirty="0">
                    <a:solidFill>
                      <a:srgbClr val="FFD2CD"/>
                    </a:solidFill>
                    <a:latin typeface="Tahoma" panose="020B0604030504040204" pitchFamily="2" charset="0"/>
                    <a:ea typeface="宋体" panose="02010600030101010101" pitchFamily="2" charset="-122"/>
                  </a:endParaRPr>
                </a:p>
              </p:txBody>
            </p:sp>
            <p:sp>
              <p:nvSpPr>
                <p:cNvPr id="80913" name="Rectangle 20"/>
                <p:cNvSpPr/>
                <p:nvPr/>
              </p:nvSpPr>
              <p:spPr>
                <a:xfrm>
                  <a:off x="5991225" y="652462"/>
                  <a:ext cx="1447800" cy="457200"/>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400" dirty="0">
                      <a:latin typeface="Tahoma" panose="020B0604030504040204" pitchFamily="2" charset="0"/>
                      <a:ea typeface="宋体" panose="02010600030101010101" pitchFamily="2" charset="-122"/>
                    </a:rPr>
                    <a:t>概念抽象</a:t>
                  </a:r>
                  <a:endParaRPr lang="zh-CN" altLang="en-US" sz="2400" dirty="0">
                    <a:latin typeface="Tahoma" panose="020B0604030504040204" pitchFamily="2" charset="0"/>
                    <a:ea typeface="宋体" panose="02010600030101010101" pitchFamily="2" charset="-122"/>
                  </a:endParaRPr>
                </a:p>
              </p:txBody>
            </p:sp>
          </p:grpSp>
          <p:grpSp>
            <p:nvGrpSpPr>
              <p:cNvPr id="80914" name="组合 25600"/>
              <p:cNvGrpSpPr/>
              <p:nvPr/>
            </p:nvGrpSpPr>
            <p:grpSpPr>
              <a:xfrm>
                <a:off x="92075" y="2695575"/>
                <a:ext cx="7424737" cy="971550"/>
                <a:chOff x="0" y="0"/>
                <a:chExt cx="7424737" cy="971551"/>
              </a:xfrm>
            </p:grpSpPr>
            <p:sp>
              <p:nvSpPr>
                <p:cNvPr id="80915" name="Line 8"/>
                <p:cNvSpPr/>
                <p:nvPr/>
              </p:nvSpPr>
              <p:spPr>
                <a:xfrm flipH="1">
                  <a:off x="6705599" y="0"/>
                  <a:ext cx="2267" cy="488950"/>
                </a:xfrm>
                <a:prstGeom prst="line">
                  <a:avLst/>
                </a:prstGeom>
                <a:ln w="23813" cap="flat" cmpd="sng">
                  <a:solidFill>
                    <a:srgbClr val="000000"/>
                  </a:solidFill>
                  <a:prstDash val="solid"/>
                  <a:round/>
                  <a:headEnd type="none" w="med" len="med"/>
                  <a:tailEnd type="none" w="med" len="med"/>
                </a:ln>
              </p:spPr>
            </p:sp>
            <p:sp>
              <p:nvSpPr>
                <p:cNvPr id="80916" name="AutoShape 13"/>
                <p:cNvSpPr/>
                <p:nvPr/>
              </p:nvSpPr>
              <p:spPr>
                <a:xfrm>
                  <a:off x="0" y="590551"/>
                  <a:ext cx="6019800" cy="228600"/>
                </a:xfrm>
                <a:prstGeom prst="homePlate">
                  <a:avLst>
                    <a:gd name="adj" fmla="val 657358"/>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80917" name="Rectangle 22"/>
                <p:cNvSpPr/>
                <p:nvPr/>
              </p:nvSpPr>
              <p:spPr>
                <a:xfrm>
                  <a:off x="5976937" y="514351"/>
                  <a:ext cx="1447800" cy="457200"/>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400" dirty="0">
                      <a:latin typeface="Tahoma" panose="020B0604030504040204" pitchFamily="2" charset="0"/>
                      <a:ea typeface="宋体" panose="02010600030101010101" pitchFamily="2" charset="-122"/>
                    </a:rPr>
                    <a:t>物理抽象</a:t>
                  </a:r>
                  <a:endParaRPr lang="zh-CN" altLang="en-US" sz="2400" dirty="0">
                    <a:latin typeface="Tahoma" panose="020B0604030504040204" pitchFamily="2" charset="0"/>
                    <a:ea typeface="宋体" panose="02010600030101010101" pitchFamily="2" charset="-122"/>
                  </a:endParaRPr>
                </a:p>
              </p:txBody>
            </p:sp>
          </p:grpSp>
          <p:grpSp>
            <p:nvGrpSpPr>
              <p:cNvPr id="80918" name="组合 25599"/>
              <p:cNvGrpSpPr/>
              <p:nvPr/>
            </p:nvGrpSpPr>
            <p:grpSpPr>
              <a:xfrm>
                <a:off x="1651000" y="3135313"/>
                <a:ext cx="1700212" cy="1724025"/>
                <a:chOff x="0" y="0"/>
                <a:chExt cx="1700212" cy="1724025"/>
              </a:xfrm>
            </p:grpSpPr>
            <p:sp>
              <p:nvSpPr>
                <p:cNvPr id="80919" name="Rectangle 6"/>
                <p:cNvSpPr/>
                <p:nvPr/>
              </p:nvSpPr>
              <p:spPr>
                <a:xfrm>
                  <a:off x="0" y="504825"/>
                  <a:ext cx="1700212" cy="454025"/>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solidFill>
                        <a:srgbClr val="000000"/>
                      </a:solidFill>
                      <a:latin typeface="宋体" panose="02010600030101010101" pitchFamily="2" charset="-122"/>
                      <a:ea typeface="宋体" panose="02010600030101010101" pitchFamily="2" charset="-122"/>
                    </a:rPr>
                    <a:t>内模式</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80920" name="Line 21"/>
                <p:cNvSpPr/>
                <p:nvPr/>
              </p:nvSpPr>
              <p:spPr>
                <a:xfrm flipH="1">
                  <a:off x="814387" y="0"/>
                  <a:ext cx="0" cy="471487"/>
                </a:xfrm>
                <a:prstGeom prst="line">
                  <a:avLst/>
                </a:prstGeom>
                <a:ln w="38100" cap="flat" cmpd="sng">
                  <a:solidFill>
                    <a:schemeClr val="tx1"/>
                  </a:solidFill>
                  <a:prstDash val="solid"/>
                  <a:round/>
                  <a:headEnd type="triangle" w="med" len="med"/>
                  <a:tailEnd type="triangle" w="med" len="med"/>
                </a:ln>
              </p:spPr>
            </p:sp>
            <p:sp>
              <p:nvSpPr>
                <p:cNvPr id="80921" name="AutoShape 23"/>
                <p:cNvSpPr/>
                <p:nvPr/>
              </p:nvSpPr>
              <p:spPr>
                <a:xfrm>
                  <a:off x="357187" y="1038225"/>
                  <a:ext cx="990600" cy="685800"/>
                </a:xfrm>
                <a:prstGeom prst="flowChartMagneticDisk">
                  <a:avLst/>
                </a:prstGeom>
                <a:solidFill>
                  <a:srgbClr val="A2E48A"/>
                </a:solidFill>
                <a:ln w="25400"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solidFill>
                        <a:srgbClr val="000099"/>
                      </a:solidFill>
                      <a:latin typeface="Tahoma" panose="020B0604030504040204" pitchFamily="2" charset="0"/>
                      <a:ea typeface="宋体" panose="02010600030101010101" pitchFamily="2" charset="-122"/>
                    </a:rPr>
                    <a:t>数据库</a:t>
                  </a:r>
                  <a:endParaRPr lang="zh-CN" altLang="en-US" sz="2000" dirty="0">
                    <a:solidFill>
                      <a:srgbClr val="000099"/>
                    </a:solidFill>
                    <a:latin typeface="Tahoma" panose="020B0604030504040204" pitchFamily="2" charset="0"/>
                    <a:ea typeface="宋体" panose="02010600030101010101" pitchFamily="2" charset="-122"/>
                  </a:endParaRPr>
                </a:p>
              </p:txBody>
            </p:sp>
            <p:sp>
              <p:nvSpPr>
                <p:cNvPr id="80922" name="Line 24"/>
                <p:cNvSpPr/>
                <p:nvPr/>
              </p:nvSpPr>
              <p:spPr>
                <a:xfrm>
                  <a:off x="828675" y="793750"/>
                  <a:ext cx="0" cy="381000"/>
                </a:xfrm>
                <a:prstGeom prst="line">
                  <a:avLst/>
                </a:prstGeom>
                <a:ln w="38100" cap="flat" cmpd="sng">
                  <a:solidFill>
                    <a:schemeClr val="tx1"/>
                  </a:solidFill>
                  <a:prstDash val="solid"/>
                  <a:round/>
                  <a:headEnd type="triangle" w="med" len="med"/>
                  <a:tailEnd type="triangle" w="med" len="med"/>
                </a:ln>
              </p:spPr>
            </p:sp>
          </p:grpSp>
          <p:grpSp>
            <p:nvGrpSpPr>
              <p:cNvPr id="80923" name="组合 25"/>
              <p:cNvGrpSpPr/>
              <p:nvPr/>
            </p:nvGrpSpPr>
            <p:grpSpPr>
              <a:xfrm>
                <a:off x="0" y="0"/>
                <a:ext cx="6732588" cy="2165350"/>
                <a:chOff x="0" y="0"/>
                <a:chExt cx="6732588" cy="2165350"/>
              </a:xfrm>
            </p:grpSpPr>
            <p:sp>
              <p:nvSpPr>
                <p:cNvPr id="80924" name="Rectangle 3"/>
                <p:cNvSpPr/>
                <p:nvPr/>
              </p:nvSpPr>
              <p:spPr>
                <a:xfrm>
                  <a:off x="0" y="1712913"/>
                  <a:ext cx="1457325" cy="452437"/>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外模式1</a:t>
                  </a:r>
                  <a:endParaRPr lang="zh-CN" altLang="en-US" sz="2400" dirty="0">
                    <a:latin typeface="Tahoma" panose="020B0604030504040204" pitchFamily="2" charset="0"/>
                    <a:ea typeface="宋体" panose="02010600030101010101" pitchFamily="2" charset="-122"/>
                  </a:endParaRPr>
                </a:p>
              </p:txBody>
            </p:sp>
            <p:sp>
              <p:nvSpPr>
                <p:cNvPr id="80925" name="Rectangle 4"/>
                <p:cNvSpPr/>
                <p:nvPr/>
              </p:nvSpPr>
              <p:spPr>
                <a:xfrm>
                  <a:off x="3325812" y="1773238"/>
                  <a:ext cx="450379" cy="321394"/>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Arial" panose="020B0604020202020204" pitchFamily="34" charset="0"/>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80926" name="Rectangle 9"/>
                <p:cNvSpPr/>
                <p:nvPr/>
              </p:nvSpPr>
              <p:spPr>
                <a:xfrm>
                  <a:off x="1670050" y="1712913"/>
                  <a:ext cx="1455737" cy="452437"/>
                </a:xfrm>
                <a:prstGeom prst="rect">
                  <a:avLst/>
                </a:prstGeom>
                <a:solidFill>
                  <a:schemeClr val="folHlink"/>
                </a:solidFill>
                <a:ln w="9525" cap="flat" cmpd="sng">
                  <a:solidFill>
                    <a:srgbClr val="000000"/>
                  </a:solidFill>
                  <a:prstDash val="solid"/>
                  <a:miter/>
                  <a:headEnd type="none" w="med" len="med"/>
                  <a:tailEnd type="none" w="med" len="med"/>
                </a:ln>
              </p:spPr>
              <p:txBody>
                <a:bodyPr lIns="36195" tIns="46990" rIns="36195" bIns="46990"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a:t>
                  </a:r>
                  <a:r>
                    <a:rPr lang="de-DE" altLang="en-US" sz="2400" dirty="0">
                      <a:latin typeface="Tahoma" panose="020B0604030504040204" pitchFamily="2" charset="0"/>
                      <a:ea typeface="宋体" panose="02010600030101010101" pitchFamily="2" charset="-122"/>
                    </a:rPr>
                    <a:t>m</a:t>
                  </a:r>
                  <a:endParaRPr lang="de-DE" altLang="en-US" sz="2400" dirty="0">
                    <a:latin typeface="Tahoma" panose="020B0604030504040204" pitchFamily="2" charset="0"/>
                    <a:ea typeface="宋体" panose="02010600030101010101" pitchFamily="2" charset="-122"/>
                  </a:endParaRPr>
                </a:p>
              </p:txBody>
            </p:sp>
            <p:sp>
              <p:nvSpPr>
                <p:cNvPr id="80927" name="Rectangle 10"/>
                <p:cNvSpPr/>
                <p:nvPr/>
              </p:nvSpPr>
              <p:spPr>
                <a:xfrm>
                  <a:off x="4095750" y="1712913"/>
                  <a:ext cx="1457325" cy="452437"/>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外模式n</a:t>
                  </a:r>
                  <a:endParaRPr lang="de-DE" altLang="en-US" sz="2400" dirty="0">
                    <a:latin typeface="Tahoma" panose="020B0604030504040204" pitchFamily="2" charset="0"/>
                    <a:ea typeface="宋体" panose="02010600030101010101" pitchFamily="2" charset="-122"/>
                  </a:endParaRPr>
                </a:p>
              </p:txBody>
            </p:sp>
            <p:sp>
              <p:nvSpPr>
                <p:cNvPr id="80928" name="Line 14"/>
                <p:cNvSpPr/>
                <p:nvPr/>
              </p:nvSpPr>
              <p:spPr>
                <a:xfrm flipH="1">
                  <a:off x="636587" y="1160463"/>
                  <a:ext cx="0" cy="668337"/>
                </a:xfrm>
                <a:prstGeom prst="line">
                  <a:avLst/>
                </a:prstGeom>
                <a:ln w="38100" cap="flat" cmpd="sng">
                  <a:solidFill>
                    <a:schemeClr val="tx1"/>
                  </a:solidFill>
                  <a:prstDash val="solid"/>
                  <a:round/>
                  <a:headEnd type="triangle" w="med" len="med"/>
                  <a:tailEnd type="triangle" w="med" len="med"/>
                </a:ln>
              </p:spPr>
            </p:sp>
            <p:sp>
              <p:nvSpPr>
                <p:cNvPr id="80929" name="Line 15"/>
                <p:cNvSpPr/>
                <p:nvPr/>
              </p:nvSpPr>
              <p:spPr>
                <a:xfrm>
                  <a:off x="4857750" y="1117600"/>
                  <a:ext cx="0" cy="609600"/>
                </a:xfrm>
                <a:prstGeom prst="line">
                  <a:avLst/>
                </a:prstGeom>
                <a:ln w="38100" cap="flat" cmpd="sng">
                  <a:solidFill>
                    <a:schemeClr val="tx1"/>
                  </a:solidFill>
                  <a:prstDash val="solid"/>
                  <a:round/>
                  <a:headEnd type="triangle" w="med" len="med"/>
                  <a:tailEnd type="triangle" w="med" len="med"/>
                </a:ln>
              </p:spPr>
            </p:sp>
            <p:grpSp>
              <p:nvGrpSpPr>
                <p:cNvPr id="80930" name="Group 25"/>
                <p:cNvGrpSpPr/>
                <p:nvPr/>
              </p:nvGrpSpPr>
              <p:grpSpPr>
                <a:xfrm>
                  <a:off x="58737" y="0"/>
                  <a:ext cx="2514601" cy="1204913"/>
                  <a:chOff x="0" y="0"/>
                  <a:chExt cx="1584" cy="912"/>
                </a:xfrm>
              </p:grpSpPr>
              <p:pic>
                <p:nvPicPr>
                  <p:cNvPr id="80931" name="Picture 26" descr="userGrp1"/>
                  <p:cNvPicPr>
                    <a:picLocks noChangeAspect="1"/>
                  </p:cNvPicPr>
                  <p:nvPr/>
                </p:nvPicPr>
                <p:blipFill>
                  <a:blip r:embed="rId2" cstate="print"/>
                  <a:stretch>
                    <a:fillRect/>
                  </a:stretch>
                </p:blipFill>
                <p:spPr>
                  <a:xfrm>
                    <a:off x="0" y="0"/>
                    <a:ext cx="847" cy="912"/>
                  </a:xfrm>
                  <a:prstGeom prst="rect">
                    <a:avLst/>
                  </a:prstGeom>
                  <a:noFill/>
                  <a:ln w="9525">
                    <a:noFill/>
                  </a:ln>
                </p:spPr>
              </p:pic>
              <p:sp>
                <p:nvSpPr>
                  <p:cNvPr id="80932" name="Text Box 27"/>
                  <p:cNvSpPr txBox="1"/>
                  <p:nvPr/>
                </p:nvSpPr>
                <p:spPr>
                  <a:xfrm>
                    <a:off x="816" y="48"/>
                    <a:ext cx="768" cy="282"/>
                  </a:xfrm>
                  <a:prstGeom prst="rect">
                    <a:avLst/>
                  </a:prstGeom>
                  <a:noFill/>
                  <a:ln w="9525">
                    <a:noFill/>
                  </a:ln>
                </p:spPr>
                <p:txBody>
                  <a:bodyPr anchor="t">
                    <a:spAutoFit/>
                  </a:bodyPr>
                  <a:lstStyle/>
                  <a:p>
                    <a:pPr lvl="0" indent="0">
                      <a:spcBef>
                        <a:spcPct val="50000"/>
                      </a:spcBef>
                      <a:buNone/>
                    </a:pPr>
                    <a:r>
                      <a:rPr lang="zh-CN" altLang="en-US" sz="2000" dirty="0">
                        <a:latin typeface="宋体" panose="02010600030101010101" pitchFamily="2" charset="-122"/>
                        <a:ea typeface="宋体" panose="02010600030101010101" pitchFamily="2" charset="-122"/>
                      </a:rPr>
                      <a:t>用户组1</a:t>
                    </a:r>
                    <a:endParaRPr lang="zh-CN" altLang="en-US" sz="2000" dirty="0">
                      <a:latin typeface="宋体" panose="02010600030101010101" pitchFamily="2" charset="-122"/>
                      <a:ea typeface="宋体" panose="02010600030101010101" pitchFamily="2" charset="-122"/>
                    </a:endParaRPr>
                  </a:p>
                </p:txBody>
              </p:sp>
            </p:grpSp>
            <p:grpSp>
              <p:nvGrpSpPr>
                <p:cNvPr id="80933" name="Group 28"/>
                <p:cNvGrpSpPr/>
                <p:nvPr/>
              </p:nvGrpSpPr>
              <p:grpSpPr>
                <a:xfrm>
                  <a:off x="4141787" y="0"/>
                  <a:ext cx="2590801" cy="1117600"/>
                  <a:chOff x="0" y="0"/>
                  <a:chExt cx="1632" cy="912"/>
                </a:xfrm>
              </p:grpSpPr>
              <p:pic>
                <p:nvPicPr>
                  <p:cNvPr id="80934" name="Picture 29" descr="userGrp2"/>
                  <p:cNvPicPr>
                    <a:picLocks noChangeAspect="1"/>
                  </p:cNvPicPr>
                  <p:nvPr/>
                </p:nvPicPr>
                <p:blipFill>
                  <a:blip r:embed="rId3" cstate="print"/>
                  <a:stretch>
                    <a:fillRect/>
                  </a:stretch>
                </p:blipFill>
                <p:spPr>
                  <a:xfrm>
                    <a:off x="0" y="0"/>
                    <a:ext cx="865" cy="912"/>
                  </a:xfrm>
                  <a:prstGeom prst="rect">
                    <a:avLst/>
                  </a:prstGeom>
                  <a:noFill/>
                  <a:ln w="9525">
                    <a:noFill/>
                  </a:ln>
                </p:spPr>
              </p:pic>
              <p:sp>
                <p:nvSpPr>
                  <p:cNvPr id="80935" name="Text Box 30"/>
                  <p:cNvSpPr txBox="1"/>
                  <p:nvPr/>
                </p:nvSpPr>
                <p:spPr>
                  <a:xfrm>
                    <a:off x="864" y="48"/>
                    <a:ext cx="768" cy="282"/>
                  </a:xfrm>
                  <a:prstGeom prst="rect">
                    <a:avLst/>
                  </a:prstGeom>
                  <a:noFill/>
                  <a:ln w="9525">
                    <a:noFill/>
                  </a:ln>
                </p:spPr>
                <p:txBody>
                  <a:bodyPr anchor="t">
                    <a:spAutoFit/>
                  </a:bodyPr>
                  <a:lstStyle/>
                  <a:p>
                    <a:pPr lvl="0" indent="0">
                      <a:spcBef>
                        <a:spcPct val="50000"/>
                      </a:spcBef>
                      <a:buNone/>
                    </a:pPr>
                    <a:r>
                      <a:rPr lang="zh-CN" altLang="en-US" sz="2000" dirty="0">
                        <a:latin typeface="宋体" panose="02010600030101010101" pitchFamily="2" charset="-122"/>
                        <a:ea typeface="宋体" panose="02010600030101010101" pitchFamily="2" charset="-122"/>
                      </a:rPr>
                      <a:t>用户组n</a:t>
                    </a:r>
                    <a:endParaRPr lang="de-DE" altLang="en-US" sz="2000" dirty="0">
                      <a:latin typeface="宋体" panose="02010600030101010101" pitchFamily="2" charset="-122"/>
                      <a:ea typeface="宋体" panose="02010600030101010101" pitchFamily="2" charset="-122"/>
                    </a:endParaRPr>
                  </a:p>
                </p:txBody>
              </p:sp>
            </p:grpSp>
            <p:sp>
              <p:nvSpPr>
                <p:cNvPr id="80936" name="Line 31"/>
                <p:cNvSpPr/>
                <p:nvPr/>
              </p:nvSpPr>
              <p:spPr>
                <a:xfrm>
                  <a:off x="2433637" y="1117600"/>
                  <a:ext cx="0" cy="609600"/>
                </a:xfrm>
                <a:prstGeom prst="line">
                  <a:avLst/>
                </a:prstGeom>
                <a:ln w="38100" cap="flat" cmpd="sng">
                  <a:solidFill>
                    <a:schemeClr val="tx1"/>
                  </a:solidFill>
                  <a:prstDash val="solid"/>
                  <a:round/>
                  <a:headEnd type="triangle" w="med" len="med"/>
                  <a:tailEnd type="triangle" w="med" len="med"/>
                </a:ln>
              </p:spPr>
            </p:sp>
            <p:sp>
              <p:nvSpPr>
                <p:cNvPr id="80937" name="Line 32"/>
                <p:cNvSpPr/>
                <p:nvPr/>
              </p:nvSpPr>
              <p:spPr>
                <a:xfrm>
                  <a:off x="2874962" y="511175"/>
                  <a:ext cx="609600" cy="0"/>
                </a:xfrm>
                <a:prstGeom prst="line">
                  <a:avLst/>
                </a:prstGeom>
                <a:ln w="38100" cap="flat" cmpd="sng">
                  <a:solidFill>
                    <a:schemeClr val="tx1"/>
                  </a:solidFill>
                  <a:prstDash val="sysDot"/>
                  <a:round/>
                  <a:headEnd type="none" w="med" len="med"/>
                  <a:tailEnd type="none" w="med" len="med"/>
                </a:ln>
              </p:spPr>
            </p:sp>
          </p:grpSp>
        </p:grpSp>
        <p:sp>
          <p:nvSpPr>
            <p:cNvPr id="80938" name="矩形 42"/>
            <p:cNvSpPr/>
            <p:nvPr/>
          </p:nvSpPr>
          <p:spPr>
            <a:xfrm>
              <a:off x="4013200" y="3622675"/>
              <a:ext cx="3657600" cy="979488"/>
            </a:xfrm>
            <a:prstGeom prst="rect">
              <a:avLst/>
            </a:prstGeom>
            <a:noFill/>
            <a:ln w="9525">
              <a:noFill/>
            </a:ln>
          </p:spPr>
          <p:txBody>
            <a:bodyPr anchor="t">
              <a:spAutoFit/>
            </a:bodyPr>
            <a:lstStyle/>
            <a:p>
              <a:pPr marL="342900" lvl="0" indent="-342900" algn="just">
                <a:lnSpc>
                  <a:spcPct val="120000"/>
                </a:lnSpc>
                <a:spcBef>
                  <a:spcPts val="600"/>
                </a:spcBef>
                <a:buClr>
                  <a:srgbClr val="0033CC"/>
                </a:buClr>
                <a:buSzPct val="80000"/>
                <a:buNone/>
              </a:pPr>
              <a:r>
                <a:rPr lang="zh-CN" altLang="en-US" sz="2400" u="sng" dirty="0">
                  <a:solidFill>
                    <a:srgbClr val="0033CC"/>
                  </a:solidFill>
                  <a:latin typeface="楷体" panose="02010609060101010101" pitchFamily="1" charset="-122"/>
                  <a:ea typeface="楷体" panose="02010609060101010101" pitchFamily="1" charset="-122"/>
                </a:rPr>
                <a:t>视图级抽象、概念级抽象和物理级抽象。</a:t>
              </a:r>
              <a:endParaRPr lang="zh-CN" altLang="en-US" sz="2400" u="sng" dirty="0">
                <a:solidFill>
                  <a:srgbClr val="0033CC"/>
                </a:solidFill>
                <a:latin typeface="楷体" panose="02010609060101010101" pitchFamily="1" charset="-122"/>
                <a:ea typeface="楷体" panose="02010609060101010101" pitchFamily="1" charset="-122"/>
              </a:endParaRPr>
            </a:p>
          </p:txBody>
        </p:sp>
      </p:grpSp>
      <p:sp>
        <p:nvSpPr>
          <p:cNvPr id="72705" name="Rectangle 2"/>
          <p:cNvSpPr txBox="1"/>
          <p:nvPr/>
        </p:nvSpPr>
        <p:spPr>
          <a:xfrm>
            <a:off x="555625" y="876300"/>
            <a:ext cx="7354888" cy="533400"/>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数据库系统的抽象层次</a:t>
            </a:r>
            <a:endParaRPr lang="de-DE" altLang="en-US" sz="2800" dirty="0">
              <a:solidFill>
                <a:srgbClr val="3333CC"/>
              </a:solidFill>
              <a:latin typeface="Arial" panose="020B0604020202020204" pitchFamily="34" charset="0"/>
              <a:ea typeface="黑体" panose="02010609060101010101" pitchFamily="1" charset="-122"/>
            </a:endParaRPr>
          </a:p>
        </p:txBody>
      </p:sp>
      <p:sp>
        <p:nvSpPr>
          <p:cNvPr id="2"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3733"/>
                                        </p:tgtEl>
                                        <p:attrNameLst>
                                          <p:attrName>style.visibility</p:attrName>
                                        </p:attrNameLst>
                                      </p:cBhvr>
                                      <p:to>
                                        <p:strVal val="visible"/>
                                      </p:to>
                                    </p:set>
                                    <p:anim calcmode="lin" valueType="num">
                                      <p:cBhvr additive="base">
                                        <p:cTn id="7" dur="500" fill="hold"/>
                                        <p:tgtEl>
                                          <p:spTgt spid="73733"/>
                                        </p:tgtEl>
                                        <p:attrNameLst>
                                          <p:attrName>ppt_x</p:attrName>
                                        </p:attrNameLst>
                                      </p:cBhvr>
                                      <p:tavLst>
                                        <p:tav tm="0">
                                          <p:val>
                                            <p:strVal val="#ppt_x"/>
                                          </p:val>
                                        </p:tav>
                                        <p:tav tm="100000">
                                          <p:val>
                                            <p:strVal val="#ppt_x"/>
                                          </p:val>
                                        </p:tav>
                                      </p:tavLst>
                                    </p:anim>
                                    <p:anim calcmode="lin" valueType="num">
                                      <p:cBhvr additive="base">
                                        <p:cTn id="8" dur="500" fill="hold"/>
                                        <p:tgtEl>
                                          <p:spTgt spid="737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p:cNvSpPr txBox="1"/>
          <p:nvPr/>
        </p:nvSpPr>
        <p:spPr>
          <a:xfrm>
            <a:off x="544513" y="2462213"/>
            <a:ext cx="7986712" cy="1284287"/>
          </a:xfrm>
          <a:prstGeom prst="rect">
            <a:avLst/>
          </a:prstGeom>
          <a:noFill/>
          <a:ln w="9525">
            <a:noFill/>
          </a:ln>
        </p:spPr>
        <p:txBody>
          <a:bodyPr anchor="t"/>
          <a:lstStyle/>
          <a:p>
            <a:pPr marL="342900" lvl="0" indent="-342900" algn="just">
              <a:lnSpc>
                <a:spcPct val="120000"/>
              </a:lnSpc>
              <a:spcBef>
                <a:spcPts val="600"/>
              </a:spcBef>
              <a:buClr>
                <a:srgbClr val="0033CC"/>
              </a:buClr>
              <a:buSzPct val="80000"/>
              <a:buNone/>
            </a:pPr>
            <a:r>
              <a:rPr lang="zh-CN" altLang="en-US" sz="2200" dirty="0">
                <a:solidFill>
                  <a:srgbClr val="0033CC"/>
                </a:solidFill>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rPr>
              <a:t>*概念数据模型</a:t>
            </a:r>
            <a:r>
              <a:rPr lang="zh-CN" altLang="en-US" sz="2200" dirty="0">
                <a:latin typeface="楷体" panose="02010609060101010101" pitchFamily="1" charset="-122"/>
                <a:ea typeface="楷体" panose="02010609060101010101" pitchFamily="1" charset="-122"/>
              </a:rPr>
              <a:t>：面向用户、面向现实系统的数据模型，它  至少应满足数据模型的前两个要求，主要用于与用户交互，与具体</a:t>
            </a:r>
            <a:r>
              <a:rPr lang="en-US" altLang="x-none" sz="2200" dirty="0">
                <a:latin typeface="楷体" panose="02010609060101010101" pitchFamily="1" charset="-122"/>
                <a:ea typeface="楷体" panose="02010609060101010101" pitchFamily="1" charset="-122"/>
              </a:rPr>
              <a:t>DBMS</a:t>
            </a:r>
            <a:r>
              <a:rPr lang="zh-CN" altLang="en-US" sz="2200" dirty="0">
                <a:latin typeface="楷体" panose="02010609060101010101" pitchFamily="1" charset="-122"/>
                <a:ea typeface="楷体" panose="02010609060101010101" pitchFamily="1" charset="-122"/>
              </a:rPr>
              <a:t>无关，如</a:t>
            </a:r>
            <a:r>
              <a:rPr lang="en-US" altLang="x-none" sz="2200" dirty="0">
                <a:latin typeface="楷体" panose="02010609060101010101" pitchFamily="1" charset="-122"/>
                <a:ea typeface="楷体" panose="02010609060101010101" pitchFamily="1" charset="-122"/>
              </a:rPr>
              <a:t>ERM</a:t>
            </a:r>
            <a:r>
              <a:rPr lang="zh-CN" altLang="en-US" sz="2200" dirty="0">
                <a:latin typeface="楷体" panose="02010609060101010101" pitchFamily="1" charset="-122"/>
                <a:ea typeface="楷体" panose="02010609060101010101" pitchFamily="1" charset="-122"/>
              </a:rPr>
              <a:t>。</a:t>
            </a:r>
            <a:endParaRPr lang="en-US" altLang="x-none" sz="2200" dirty="0">
              <a:latin typeface="楷体" panose="02010609060101010101" pitchFamily="1" charset="-122"/>
              <a:ea typeface="楷体" panose="02010609060101010101" pitchFamily="1" charset="-122"/>
            </a:endParaRPr>
          </a:p>
        </p:txBody>
      </p:sp>
      <p:sp>
        <p:nvSpPr>
          <p:cNvPr id="81924" name="矩形 5"/>
          <p:cNvSpPr/>
          <p:nvPr/>
        </p:nvSpPr>
        <p:spPr>
          <a:xfrm>
            <a:off x="668338" y="1536700"/>
            <a:ext cx="7751762" cy="938213"/>
          </a:xfrm>
          <a:prstGeom prst="rect">
            <a:avLst/>
          </a:prstGeom>
          <a:noFill/>
          <a:ln w="9525">
            <a:noFill/>
          </a:ln>
        </p:spPr>
        <p:txBody>
          <a:bodyPr anchor="t">
            <a:spAutoFit/>
          </a:bodyPr>
          <a:lstStyle/>
          <a:p>
            <a:pPr marL="342900" lvl="0" indent="-342900" algn="just">
              <a:lnSpc>
                <a:spcPct val="110000"/>
              </a:lnSpc>
              <a:spcBef>
                <a:spcPts val="600"/>
              </a:spcBef>
              <a:buClr>
                <a:srgbClr val="0033CC"/>
              </a:buClr>
              <a:buSzPct val="80000"/>
              <a:buNone/>
            </a:pPr>
            <a:r>
              <a:rPr lang="en-US" altLang="x-none" sz="2800" dirty="0">
                <a:solidFill>
                  <a:srgbClr val="FF0000"/>
                </a:solidFill>
                <a:latin typeface="楷体" panose="02010609060101010101" pitchFamily="1" charset="-122"/>
                <a:ea typeface="楷体" panose="02010609060101010101" pitchFamily="1" charset="-122"/>
              </a:rPr>
              <a:t>--</a:t>
            </a:r>
            <a:r>
              <a:rPr lang="zh-CN" altLang="en-US" sz="2800" dirty="0">
                <a:solidFill>
                  <a:srgbClr val="FF0000"/>
                </a:solidFill>
                <a:latin typeface="楷体" panose="02010609060101010101" pitchFamily="1" charset="-122"/>
                <a:ea typeface="楷体" panose="02010609060101010101" pitchFamily="1" charset="-122"/>
              </a:rPr>
              <a:t>数据模型的分类：</a:t>
            </a:r>
            <a:r>
              <a:rPr lang="zh-CN" altLang="en-US" sz="2200" dirty="0">
                <a:latin typeface="楷体" panose="02010609060101010101" pitchFamily="1" charset="-122"/>
                <a:ea typeface="楷体" panose="02010609060101010101" pitchFamily="1" charset="-122"/>
              </a:rPr>
              <a:t>由于抽象级别的存在，数据模型也存在相应的级别。</a:t>
            </a:r>
            <a:endParaRPr lang="en-US" altLang="x-none" sz="2200" dirty="0">
              <a:latin typeface="楷体" panose="02010609060101010101" pitchFamily="1" charset="-122"/>
              <a:ea typeface="楷体" panose="02010609060101010101" pitchFamily="1" charset="-122"/>
            </a:endParaRPr>
          </a:p>
        </p:txBody>
      </p:sp>
      <p:sp>
        <p:nvSpPr>
          <p:cNvPr id="74758" name="Rectangle 3"/>
          <p:cNvSpPr txBox="1"/>
          <p:nvPr/>
        </p:nvSpPr>
        <p:spPr>
          <a:xfrm>
            <a:off x="735013" y="3783013"/>
            <a:ext cx="7986712" cy="1233487"/>
          </a:xfrm>
          <a:prstGeom prst="rect">
            <a:avLst/>
          </a:prstGeom>
          <a:noFill/>
          <a:ln w="9525">
            <a:noFill/>
          </a:ln>
        </p:spPr>
        <p:txBody>
          <a:bodyPr anchor="t"/>
          <a:lstStyle/>
          <a:p>
            <a:pPr marL="342900" lvl="0" indent="-342900" algn="just">
              <a:lnSpc>
                <a:spcPct val="120000"/>
              </a:lnSpc>
              <a:spcBef>
                <a:spcPts val="600"/>
              </a:spcBef>
              <a:buClr>
                <a:srgbClr val="0033CC"/>
              </a:buClr>
              <a:buSzPct val="80000"/>
              <a:buNone/>
            </a:pPr>
            <a:r>
              <a:rPr lang="zh-CN" altLang="en-US" sz="2200" dirty="0">
                <a:solidFill>
                  <a:srgbClr val="0033CC"/>
                </a:solidFill>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rPr>
              <a:t>*逻辑数据模型：</a:t>
            </a:r>
            <a:r>
              <a:rPr lang="zh-CN" altLang="en-US" sz="2200" dirty="0">
                <a:latin typeface="楷体" panose="02010609060101010101" pitchFamily="1" charset="-122"/>
                <a:ea typeface="楷体" panose="02010609060101010101" pitchFamily="1" charset="-122"/>
              </a:rPr>
              <a:t>反映的是数据的逻辑结构，是具体的</a:t>
            </a:r>
            <a:r>
              <a:rPr lang="en-US" altLang="x-none" sz="2200" dirty="0">
                <a:latin typeface="楷体" panose="02010609060101010101" pitchFamily="1" charset="-122"/>
                <a:ea typeface="楷体" panose="02010609060101010101" pitchFamily="1" charset="-122"/>
              </a:rPr>
              <a:t>DBMS</a:t>
            </a:r>
            <a:r>
              <a:rPr lang="zh-CN" altLang="en-US" sz="2200" dirty="0">
                <a:latin typeface="楷体" panose="02010609060101010101" pitchFamily="1" charset="-122"/>
                <a:ea typeface="楷体" panose="02010609060101010101" pitchFamily="1" charset="-122"/>
              </a:rPr>
              <a:t>能够实现和支持的数据模型，如：</a:t>
            </a:r>
            <a:r>
              <a:rPr lang="zh-CN" altLang="en-US" sz="2200" u="sng" dirty="0">
                <a:solidFill>
                  <a:srgbClr val="FF0000"/>
                </a:solidFill>
                <a:latin typeface="楷体" panose="02010609060101010101" pitchFamily="1" charset="-122"/>
                <a:ea typeface="楷体" panose="02010609060101010101" pitchFamily="1" charset="-122"/>
              </a:rPr>
              <a:t>关系数据模型、层次数据模型和网状数据模型。</a:t>
            </a:r>
            <a:endParaRPr lang="en-US" altLang="x-none" sz="2200" u="sng" dirty="0">
              <a:solidFill>
                <a:srgbClr val="FF0000"/>
              </a:solidFill>
              <a:latin typeface="楷体" panose="02010609060101010101" pitchFamily="1" charset="-122"/>
              <a:ea typeface="楷体" panose="02010609060101010101" pitchFamily="1" charset="-122"/>
            </a:endParaRPr>
          </a:p>
          <a:p>
            <a:pPr marL="342900" lvl="0" indent="-342900" algn="just">
              <a:lnSpc>
                <a:spcPct val="120000"/>
              </a:lnSpc>
              <a:spcBef>
                <a:spcPts val="200"/>
              </a:spcBef>
              <a:buClr>
                <a:srgbClr val="0033CC"/>
              </a:buClr>
              <a:buSzPct val="80000"/>
              <a:buNone/>
            </a:pPr>
            <a:r>
              <a:rPr lang="zh-CN" altLang="en-US" sz="2200" dirty="0">
                <a:latin typeface="楷体" panose="02010609060101010101" pitchFamily="1" charset="-122"/>
                <a:ea typeface="楷体" panose="02010609060101010101" pitchFamily="1" charset="-122"/>
              </a:rPr>
              <a:t>  </a:t>
            </a:r>
            <a:endParaRPr lang="en-US" altLang="x-none" sz="2200" dirty="0">
              <a:latin typeface="楷体" panose="02010609060101010101" pitchFamily="1" charset="-122"/>
              <a:ea typeface="楷体" panose="02010609060101010101" pitchFamily="1" charset="-122"/>
            </a:endParaRPr>
          </a:p>
        </p:txBody>
      </p:sp>
      <p:sp>
        <p:nvSpPr>
          <p:cNvPr id="74759" name="Rectangle 3"/>
          <p:cNvSpPr txBox="1"/>
          <p:nvPr/>
        </p:nvSpPr>
        <p:spPr>
          <a:xfrm>
            <a:off x="684213" y="5145088"/>
            <a:ext cx="7986712" cy="912812"/>
          </a:xfrm>
          <a:prstGeom prst="rect">
            <a:avLst/>
          </a:prstGeom>
          <a:noFill/>
          <a:ln w="9525">
            <a:noFill/>
          </a:ln>
        </p:spPr>
        <p:txBody>
          <a:bodyPr anchor="t"/>
          <a:lstStyle/>
          <a:p>
            <a:pPr marL="342900" lvl="0" indent="-342900" algn="just">
              <a:lnSpc>
                <a:spcPct val="120000"/>
              </a:lnSpc>
              <a:spcBef>
                <a:spcPts val="600"/>
              </a:spcBef>
              <a:buClr>
                <a:srgbClr val="0033CC"/>
              </a:buClr>
              <a:buSzPct val="80000"/>
              <a:buNone/>
            </a:pPr>
            <a:r>
              <a:rPr lang="zh-CN" altLang="en-US" sz="2200" dirty="0">
                <a:solidFill>
                  <a:srgbClr val="0033CC"/>
                </a:solidFill>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rPr>
              <a:t>*物理数据模型：</a:t>
            </a:r>
            <a:r>
              <a:rPr lang="zh-CN" altLang="en-US" sz="2200" dirty="0">
                <a:latin typeface="楷体" panose="02010609060101010101" pitchFamily="1" charset="-122"/>
                <a:ea typeface="楷体" panose="02010609060101010101" pitchFamily="1" charset="-122"/>
              </a:rPr>
              <a:t>涉及数据的物理存储结构的数据模型称为物理数据模型。它与具体的</a:t>
            </a:r>
            <a:r>
              <a:rPr lang="en-US" altLang="x-none" sz="2200" dirty="0">
                <a:latin typeface="楷体" panose="02010609060101010101" pitchFamily="1" charset="-122"/>
                <a:ea typeface="楷体" panose="02010609060101010101" pitchFamily="1" charset="-122"/>
              </a:rPr>
              <a:t>DBMS</a:t>
            </a:r>
            <a:r>
              <a:rPr lang="zh-CN" altLang="en-US" sz="2200" dirty="0">
                <a:latin typeface="楷体" panose="02010609060101010101" pitchFamily="1" charset="-122"/>
                <a:ea typeface="楷体" panose="02010609060101010101" pitchFamily="1" charset="-122"/>
              </a:rPr>
              <a:t>有关，还与操作系统有关。</a:t>
            </a:r>
            <a:endParaRPr lang="en-US" altLang="x-none" sz="2200" dirty="0">
              <a:latin typeface="楷体" panose="02010609060101010101" pitchFamily="1" charset="-122"/>
              <a:ea typeface="楷体" panose="02010609060101010101" pitchFamily="1" charset="-122"/>
            </a:endParaRPr>
          </a:p>
        </p:txBody>
      </p:sp>
      <p:sp>
        <p:nvSpPr>
          <p:cNvPr id="2" name="Rectangle 2"/>
          <p:cNvSpPr txBox="1"/>
          <p:nvPr/>
        </p:nvSpPr>
        <p:spPr>
          <a:xfrm>
            <a:off x="555625" y="876300"/>
            <a:ext cx="7354888" cy="533400"/>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数据库系统的抽象层次</a:t>
            </a:r>
            <a:endParaRPr lang="de-DE" altLang="en-US" sz="2800" dirty="0">
              <a:solidFill>
                <a:srgbClr val="3333CC"/>
              </a:solidFill>
              <a:latin typeface="Arial" panose="020B0604020202020204" pitchFamily="34" charset="0"/>
              <a:ea typeface="黑体" panose="02010609060101010101" pitchFamily="1" charset="-122"/>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4754">
                                            <p:txEl>
                                              <p:pRg st="0" end="0"/>
                                            </p:txEl>
                                          </p:spTgt>
                                        </p:tgtEl>
                                        <p:attrNameLst>
                                          <p:attrName>style.visibility</p:attrName>
                                        </p:attrNameLst>
                                      </p:cBhvr>
                                      <p:to>
                                        <p:strVal val="visible"/>
                                      </p:to>
                                    </p:set>
                                    <p:animEffect transition="in" filter="wipe(down)">
                                      <p:cBhvr>
                                        <p:cTn id="7" dur="500"/>
                                        <p:tgtEl>
                                          <p:spTgt spid="747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4758">
                                            <p:txEl>
                                              <p:pRg st="0" end="0"/>
                                            </p:txEl>
                                          </p:spTgt>
                                        </p:tgtEl>
                                        <p:attrNameLst>
                                          <p:attrName>style.visibility</p:attrName>
                                        </p:attrNameLst>
                                      </p:cBhvr>
                                      <p:to>
                                        <p:strVal val="visible"/>
                                      </p:to>
                                    </p:set>
                                    <p:animEffect transition="in" filter="wipe(down)">
                                      <p:cBhvr>
                                        <p:cTn id="12" dur="500"/>
                                        <p:tgtEl>
                                          <p:spTgt spid="74758">
                                            <p:txEl>
                                              <p:pRg st="0" end="0"/>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74758">
                                            <p:txEl>
                                              <p:pRg st="1" end="1"/>
                                            </p:txEl>
                                          </p:spTgt>
                                        </p:tgtEl>
                                        <p:attrNameLst>
                                          <p:attrName>style.visibility</p:attrName>
                                        </p:attrNameLst>
                                      </p:cBhvr>
                                      <p:to>
                                        <p:strVal val="visible"/>
                                      </p:to>
                                    </p:set>
                                    <p:animEffect transition="in" filter="wipe(down)">
                                      <p:cBhvr>
                                        <p:cTn id="15" dur="500"/>
                                        <p:tgtEl>
                                          <p:spTgt spid="74758">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74759">
                                            <p:txEl>
                                              <p:pRg st="0" end="0"/>
                                            </p:txEl>
                                          </p:spTgt>
                                        </p:tgtEl>
                                        <p:attrNameLst>
                                          <p:attrName>style.visibility</p:attrName>
                                        </p:attrNameLst>
                                      </p:cBhvr>
                                      <p:to>
                                        <p:strVal val="visible"/>
                                      </p:to>
                                    </p:set>
                                    <p:animEffect transition="in" filter="wipe(down)">
                                      <p:cBhvr>
                                        <p:cTn id="20" dur="500"/>
                                        <p:tgtEl>
                                          <p:spTgt spid="747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build="allAtOnce"/>
      <p:bldP spid="74758" grpId="0" build="allAtOnce"/>
      <p:bldP spid="74759" grpId="0" build="allAtOnce"/>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058" name="组合 26"/>
          <p:cNvGrpSpPr/>
          <p:nvPr/>
        </p:nvGrpSpPr>
        <p:grpSpPr>
          <a:xfrm>
            <a:off x="996950" y="2624138"/>
            <a:ext cx="7496175" cy="457200"/>
            <a:chOff x="0" y="0"/>
            <a:chExt cx="7496175" cy="457200"/>
          </a:xfrm>
        </p:grpSpPr>
        <p:sp>
          <p:nvSpPr>
            <p:cNvPr id="49154" name="AutoShape 12"/>
            <p:cNvSpPr/>
            <p:nvPr/>
          </p:nvSpPr>
          <p:spPr>
            <a:xfrm>
              <a:off x="0" y="177800"/>
              <a:ext cx="6019800" cy="228600"/>
            </a:xfrm>
            <a:prstGeom prst="homePlate">
              <a:avLst>
                <a:gd name="adj" fmla="val 657358"/>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49155" name="Rectangle 16"/>
            <p:cNvSpPr/>
            <p:nvPr/>
          </p:nvSpPr>
          <p:spPr>
            <a:xfrm>
              <a:off x="6048375" y="0"/>
              <a:ext cx="1447800" cy="457200"/>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400" dirty="0">
                  <a:latin typeface="Tahoma" panose="020B0604030504040204" pitchFamily="2" charset="0"/>
                  <a:ea typeface="宋体" panose="02010600030101010101" pitchFamily="2" charset="-122"/>
                </a:rPr>
                <a:t>视图抽象</a:t>
              </a:r>
              <a:endParaRPr lang="zh-CN" altLang="en-US" sz="2400" dirty="0">
                <a:latin typeface="Tahoma" panose="020B0604030504040204" pitchFamily="2" charset="0"/>
                <a:ea typeface="宋体" panose="02010600030101010101" pitchFamily="2" charset="-122"/>
              </a:endParaRPr>
            </a:p>
          </p:txBody>
        </p:sp>
      </p:grpSp>
      <p:grpSp>
        <p:nvGrpSpPr>
          <p:cNvPr id="45061" name="组合 27"/>
          <p:cNvGrpSpPr/>
          <p:nvPr/>
        </p:nvGrpSpPr>
        <p:grpSpPr>
          <a:xfrm>
            <a:off x="2032000" y="3629025"/>
            <a:ext cx="3178175" cy="1017588"/>
            <a:chOff x="0" y="0"/>
            <a:chExt cx="3178175" cy="1017588"/>
          </a:xfrm>
        </p:grpSpPr>
        <p:sp>
          <p:nvSpPr>
            <p:cNvPr id="49157" name="Rectangle 5"/>
            <p:cNvSpPr/>
            <p:nvPr/>
          </p:nvSpPr>
          <p:spPr>
            <a:xfrm>
              <a:off x="655638" y="565150"/>
              <a:ext cx="1700212" cy="452438"/>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solidFill>
                    <a:srgbClr val="000000"/>
                  </a:solidFill>
                  <a:latin typeface="Tahoma" panose="020B0604030504040204" pitchFamily="2" charset="0"/>
                  <a:ea typeface="宋体" panose="02010600030101010101" pitchFamily="2" charset="-122"/>
                </a:rPr>
                <a:t>概念模式</a:t>
              </a:r>
              <a:endParaRPr lang="zh-CN" altLang="en-US" sz="2400" dirty="0">
                <a:solidFill>
                  <a:srgbClr val="000000"/>
                </a:solidFill>
                <a:latin typeface="Tahoma" panose="020B0604030504040204" pitchFamily="2" charset="0"/>
                <a:ea typeface="宋体" panose="02010600030101010101" pitchFamily="2" charset="-122"/>
              </a:endParaRPr>
            </a:p>
          </p:txBody>
        </p:sp>
        <p:sp>
          <p:nvSpPr>
            <p:cNvPr id="49158" name="Line 17"/>
            <p:cNvSpPr/>
            <p:nvPr/>
          </p:nvSpPr>
          <p:spPr>
            <a:xfrm flipH="1">
              <a:off x="1417638" y="0"/>
              <a:ext cx="46037" cy="593725"/>
            </a:xfrm>
            <a:prstGeom prst="line">
              <a:avLst/>
            </a:prstGeom>
            <a:ln w="38100" cap="flat" cmpd="sng">
              <a:solidFill>
                <a:schemeClr val="tx1"/>
              </a:solidFill>
              <a:prstDash val="solid"/>
              <a:round/>
              <a:headEnd type="triangle" w="med" len="med"/>
              <a:tailEnd type="triangle" w="med" len="med"/>
            </a:ln>
          </p:spPr>
        </p:sp>
        <p:sp>
          <p:nvSpPr>
            <p:cNvPr id="49159" name="Line 18"/>
            <p:cNvSpPr/>
            <p:nvPr/>
          </p:nvSpPr>
          <p:spPr>
            <a:xfrm>
              <a:off x="0" y="28575"/>
              <a:ext cx="1112838" cy="566738"/>
            </a:xfrm>
            <a:prstGeom prst="line">
              <a:avLst/>
            </a:prstGeom>
            <a:ln w="38100" cap="flat" cmpd="sng">
              <a:solidFill>
                <a:schemeClr val="tx1"/>
              </a:solidFill>
              <a:prstDash val="solid"/>
              <a:round/>
              <a:headEnd type="triangle" w="med" len="med"/>
              <a:tailEnd type="triangle" w="med" len="med"/>
            </a:ln>
          </p:spPr>
        </p:sp>
        <p:sp>
          <p:nvSpPr>
            <p:cNvPr id="49160" name="Line 19"/>
            <p:cNvSpPr/>
            <p:nvPr/>
          </p:nvSpPr>
          <p:spPr>
            <a:xfrm flipH="1">
              <a:off x="1852613" y="14288"/>
              <a:ext cx="1325562" cy="493712"/>
            </a:xfrm>
            <a:prstGeom prst="line">
              <a:avLst/>
            </a:prstGeom>
            <a:ln w="38100" cap="flat" cmpd="sng">
              <a:solidFill>
                <a:schemeClr val="tx1"/>
              </a:solidFill>
              <a:prstDash val="solid"/>
              <a:round/>
              <a:headEnd type="triangle" w="med" len="med"/>
              <a:tailEnd type="triangle" w="med" len="med"/>
            </a:ln>
          </p:spPr>
        </p:sp>
      </p:grpSp>
      <p:grpSp>
        <p:nvGrpSpPr>
          <p:cNvPr id="45066" name="组合 28"/>
          <p:cNvGrpSpPr/>
          <p:nvPr/>
        </p:nvGrpSpPr>
        <p:grpSpPr>
          <a:xfrm>
            <a:off x="1011238" y="3081338"/>
            <a:ext cx="7439025" cy="1109662"/>
            <a:chOff x="0" y="0"/>
            <a:chExt cx="7439025" cy="1109662"/>
          </a:xfrm>
        </p:grpSpPr>
        <p:sp>
          <p:nvSpPr>
            <p:cNvPr id="49162" name="Line 7"/>
            <p:cNvSpPr/>
            <p:nvPr/>
          </p:nvSpPr>
          <p:spPr>
            <a:xfrm flipH="1">
              <a:off x="6750049" y="0"/>
              <a:ext cx="7937" cy="696912"/>
            </a:xfrm>
            <a:prstGeom prst="line">
              <a:avLst/>
            </a:prstGeom>
            <a:ln w="23813" cap="flat" cmpd="sng">
              <a:solidFill>
                <a:srgbClr val="000000"/>
              </a:solidFill>
              <a:prstDash val="solid"/>
              <a:round/>
              <a:headEnd type="none" w="med" len="med"/>
              <a:tailEnd type="none" w="med" len="med"/>
            </a:ln>
          </p:spPr>
        </p:sp>
        <p:sp>
          <p:nvSpPr>
            <p:cNvPr id="49163" name="AutoShape 11"/>
            <p:cNvSpPr/>
            <p:nvPr/>
          </p:nvSpPr>
          <p:spPr>
            <a:xfrm>
              <a:off x="0" y="700087"/>
              <a:ext cx="6019800" cy="228600"/>
            </a:xfrm>
            <a:prstGeom prst="homePlate">
              <a:avLst>
                <a:gd name="adj" fmla="val 657358"/>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endParaRPr lang="de-DE" altLang="en-US" sz="2400" dirty="0">
                <a:solidFill>
                  <a:srgbClr val="FFD2CD"/>
                </a:solidFill>
                <a:latin typeface="Tahoma" panose="020B0604030504040204" pitchFamily="2" charset="0"/>
                <a:ea typeface="宋体" panose="02010600030101010101" pitchFamily="2" charset="-122"/>
              </a:endParaRPr>
            </a:p>
          </p:txBody>
        </p:sp>
        <p:sp>
          <p:nvSpPr>
            <p:cNvPr id="49164" name="Rectangle 20"/>
            <p:cNvSpPr/>
            <p:nvPr/>
          </p:nvSpPr>
          <p:spPr>
            <a:xfrm>
              <a:off x="5991225" y="652462"/>
              <a:ext cx="1447800" cy="457200"/>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400" dirty="0">
                  <a:latin typeface="Tahoma" panose="020B0604030504040204" pitchFamily="2" charset="0"/>
                  <a:ea typeface="宋体" panose="02010600030101010101" pitchFamily="2" charset="-122"/>
                </a:rPr>
                <a:t>概念抽象</a:t>
              </a:r>
              <a:endParaRPr lang="zh-CN" altLang="en-US" sz="2400" dirty="0">
                <a:latin typeface="Tahoma" panose="020B0604030504040204" pitchFamily="2" charset="0"/>
                <a:ea typeface="宋体" panose="02010600030101010101" pitchFamily="2" charset="-122"/>
              </a:endParaRPr>
            </a:p>
          </p:txBody>
        </p:sp>
      </p:grpSp>
      <p:grpSp>
        <p:nvGrpSpPr>
          <p:cNvPr id="45070" name="组合 25600"/>
          <p:cNvGrpSpPr/>
          <p:nvPr/>
        </p:nvGrpSpPr>
        <p:grpSpPr>
          <a:xfrm>
            <a:off x="1062038" y="4191000"/>
            <a:ext cx="7424737" cy="971550"/>
            <a:chOff x="0" y="0"/>
            <a:chExt cx="7424737" cy="971551"/>
          </a:xfrm>
        </p:grpSpPr>
        <p:sp>
          <p:nvSpPr>
            <p:cNvPr id="49166" name="Line 8"/>
            <p:cNvSpPr/>
            <p:nvPr/>
          </p:nvSpPr>
          <p:spPr>
            <a:xfrm flipH="1">
              <a:off x="6705599" y="0"/>
              <a:ext cx="2267" cy="488950"/>
            </a:xfrm>
            <a:prstGeom prst="line">
              <a:avLst/>
            </a:prstGeom>
            <a:ln w="23813" cap="flat" cmpd="sng">
              <a:solidFill>
                <a:srgbClr val="000000"/>
              </a:solidFill>
              <a:prstDash val="solid"/>
              <a:round/>
              <a:headEnd type="none" w="med" len="med"/>
              <a:tailEnd type="none" w="med" len="med"/>
            </a:ln>
          </p:spPr>
        </p:sp>
        <p:sp>
          <p:nvSpPr>
            <p:cNvPr id="49167" name="AutoShape 13"/>
            <p:cNvSpPr/>
            <p:nvPr/>
          </p:nvSpPr>
          <p:spPr>
            <a:xfrm>
              <a:off x="0" y="590551"/>
              <a:ext cx="6019800" cy="228600"/>
            </a:xfrm>
            <a:prstGeom prst="homePlate">
              <a:avLst>
                <a:gd name="adj" fmla="val 657358"/>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49168" name="Rectangle 22"/>
            <p:cNvSpPr/>
            <p:nvPr/>
          </p:nvSpPr>
          <p:spPr>
            <a:xfrm>
              <a:off x="5976937" y="514351"/>
              <a:ext cx="1447800" cy="457200"/>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400" dirty="0">
                  <a:latin typeface="Tahoma" panose="020B0604030504040204" pitchFamily="2" charset="0"/>
                  <a:ea typeface="宋体" panose="02010600030101010101" pitchFamily="2" charset="-122"/>
                </a:rPr>
                <a:t>物理抽象</a:t>
              </a:r>
              <a:endParaRPr lang="zh-CN" altLang="en-US" sz="2400" dirty="0">
                <a:latin typeface="Tahoma" panose="020B0604030504040204" pitchFamily="2" charset="0"/>
                <a:ea typeface="宋体" panose="02010600030101010101" pitchFamily="2" charset="-122"/>
              </a:endParaRPr>
            </a:p>
          </p:txBody>
        </p:sp>
      </p:grpSp>
      <p:grpSp>
        <p:nvGrpSpPr>
          <p:cNvPr id="45074" name="组合 25599"/>
          <p:cNvGrpSpPr/>
          <p:nvPr/>
        </p:nvGrpSpPr>
        <p:grpSpPr>
          <a:xfrm>
            <a:off x="2620963" y="4630738"/>
            <a:ext cx="1700212" cy="1724025"/>
            <a:chOff x="0" y="0"/>
            <a:chExt cx="1700212" cy="1724025"/>
          </a:xfrm>
        </p:grpSpPr>
        <p:sp>
          <p:nvSpPr>
            <p:cNvPr id="49170" name="Rectangle 6"/>
            <p:cNvSpPr/>
            <p:nvPr/>
          </p:nvSpPr>
          <p:spPr>
            <a:xfrm>
              <a:off x="0" y="504825"/>
              <a:ext cx="1700212" cy="454025"/>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solidFill>
                    <a:srgbClr val="000000"/>
                  </a:solidFill>
                  <a:latin typeface="宋体" panose="02010600030101010101" pitchFamily="2" charset="-122"/>
                  <a:ea typeface="宋体" panose="02010600030101010101" pitchFamily="2" charset="-122"/>
                </a:rPr>
                <a:t>内模式</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49171" name="Line 21"/>
            <p:cNvSpPr/>
            <p:nvPr/>
          </p:nvSpPr>
          <p:spPr>
            <a:xfrm flipH="1">
              <a:off x="814387" y="0"/>
              <a:ext cx="0" cy="471487"/>
            </a:xfrm>
            <a:prstGeom prst="line">
              <a:avLst/>
            </a:prstGeom>
            <a:ln w="38100" cap="flat" cmpd="sng">
              <a:solidFill>
                <a:schemeClr val="tx1"/>
              </a:solidFill>
              <a:prstDash val="solid"/>
              <a:round/>
              <a:headEnd type="triangle" w="med" len="med"/>
              <a:tailEnd type="triangle" w="med" len="med"/>
            </a:ln>
          </p:spPr>
        </p:sp>
        <p:sp>
          <p:nvSpPr>
            <p:cNvPr id="49172" name="AutoShape 23"/>
            <p:cNvSpPr/>
            <p:nvPr/>
          </p:nvSpPr>
          <p:spPr>
            <a:xfrm>
              <a:off x="357187" y="1038225"/>
              <a:ext cx="990600" cy="685800"/>
            </a:xfrm>
            <a:prstGeom prst="flowChartMagneticDisk">
              <a:avLst/>
            </a:prstGeom>
            <a:solidFill>
              <a:srgbClr val="A2E48A"/>
            </a:solidFill>
            <a:ln w="25400"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solidFill>
                    <a:srgbClr val="000099"/>
                  </a:solidFill>
                  <a:latin typeface="Tahoma" panose="020B0604030504040204" pitchFamily="2" charset="0"/>
                  <a:ea typeface="宋体" panose="02010600030101010101" pitchFamily="2" charset="-122"/>
                </a:rPr>
                <a:t>数据库</a:t>
              </a:r>
              <a:endParaRPr lang="zh-CN" altLang="en-US" sz="2000" dirty="0">
                <a:solidFill>
                  <a:srgbClr val="000099"/>
                </a:solidFill>
                <a:latin typeface="Tahoma" panose="020B0604030504040204" pitchFamily="2" charset="0"/>
                <a:ea typeface="宋体" panose="02010600030101010101" pitchFamily="2" charset="-122"/>
              </a:endParaRPr>
            </a:p>
          </p:txBody>
        </p:sp>
        <p:sp>
          <p:nvSpPr>
            <p:cNvPr id="49173" name="Line 24"/>
            <p:cNvSpPr/>
            <p:nvPr/>
          </p:nvSpPr>
          <p:spPr>
            <a:xfrm>
              <a:off x="828675" y="793750"/>
              <a:ext cx="0" cy="381000"/>
            </a:xfrm>
            <a:prstGeom prst="line">
              <a:avLst/>
            </a:prstGeom>
            <a:ln w="38100" cap="flat" cmpd="sng">
              <a:solidFill>
                <a:schemeClr val="tx1"/>
              </a:solidFill>
              <a:prstDash val="solid"/>
              <a:round/>
              <a:headEnd type="triangle" w="med" len="med"/>
              <a:tailEnd type="triangle" w="med" len="med"/>
            </a:ln>
          </p:spPr>
        </p:sp>
      </p:grpSp>
      <p:grpSp>
        <p:nvGrpSpPr>
          <p:cNvPr id="45079" name="组合 25"/>
          <p:cNvGrpSpPr/>
          <p:nvPr/>
        </p:nvGrpSpPr>
        <p:grpSpPr>
          <a:xfrm>
            <a:off x="969963" y="1495425"/>
            <a:ext cx="6732587" cy="2165350"/>
            <a:chOff x="0" y="0"/>
            <a:chExt cx="6732587" cy="2165350"/>
          </a:xfrm>
        </p:grpSpPr>
        <p:sp>
          <p:nvSpPr>
            <p:cNvPr id="49175" name="Rectangle 3"/>
            <p:cNvSpPr/>
            <p:nvPr/>
          </p:nvSpPr>
          <p:spPr>
            <a:xfrm>
              <a:off x="0" y="1712913"/>
              <a:ext cx="1457325" cy="452437"/>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外模式1</a:t>
              </a:r>
              <a:endParaRPr lang="zh-CN" altLang="en-US" sz="2400" dirty="0">
                <a:latin typeface="Tahoma" panose="020B0604030504040204" pitchFamily="2" charset="0"/>
                <a:ea typeface="宋体" panose="02010600030101010101" pitchFamily="2" charset="-122"/>
              </a:endParaRPr>
            </a:p>
          </p:txBody>
        </p:sp>
        <p:sp>
          <p:nvSpPr>
            <p:cNvPr id="49176" name="Rectangle 4"/>
            <p:cNvSpPr/>
            <p:nvPr/>
          </p:nvSpPr>
          <p:spPr>
            <a:xfrm>
              <a:off x="3325812" y="1773238"/>
              <a:ext cx="406400" cy="244475"/>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Arial" panose="020B0604020202020204" pitchFamily="34" charset="0"/>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49177" name="Rectangle 9"/>
            <p:cNvSpPr/>
            <p:nvPr/>
          </p:nvSpPr>
          <p:spPr>
            <a:xfrm>
              <a:off x="1670050" y="1712913"/>
              <a:ext cx="1455737" cy="452437"/>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a:t>
              </a:r>
              <a:r>
                <a:rPr lang="de-DE" altLang="en-US" sz="2400" dirty="0">
                  <a:latin typeface="Tahoma" panose="020B0604030504040204" pitchFamily="2" charset="0"/>
                  <a:ea typeface="宋体" panose="02010600030101010101" pitchFamily="2" charset="-122"/>
                </a:rPr>
                <a:t>m</a:t>
              </a:r>
              <a:endParaRPr lang="de-DE" altLang="en-US" sz="2400" dirty="0">
                <a:latin typeface="Tahoma" panose="020B0604030504040204" pitchFamily="2" charset="0"/>
                <a:ea typeface="宋体" panose="02010600030101010101" pitchFamily="2" charset="-122"/>
              </a:endParaRPr>
            </a:p>
          </p:txBody>
        </p:sp>
        <p:sp>
          <p:nvSpPr>
            <p:cNvPr id="49178" name="Rectangle 10"/>
            <p:cNvSpPr/>
            <p:nvPr/>
          </p:nvSpPr>
          <p:spPr>
            <a:xfrm>
              <a:off x="4095750" y="1712913"/>
              <a:ext cx="1457325" cy="452437"/>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外模式n</a:t>
              </a:r>
              <a:endParaRPr lang="de-DE" altLang="en-US" sz="2400" dirty="0">
                <a:latin typeface="Tahoma" panose="020B0604030504040204" pitchFamily="2" charset="0"/>
                <a:ea typeface="宋体" panose="02010600030101010101" pitchFamily="2" charset="-122"/>
              </a:endParaRPr>
            </a:p>
          </p:txBody>
        </p:sp>
        <p:sp>
          <p:nvSpPr>
            <p:cNvPr id="49179" name="Line 14"/>
            <p:cNvSpPr/>
            <p:nvPr/>
          </p:nvSpPr>
          <p:spPr>
            <a:xfrm flipH="1">
              <a:off x="636587" y="1160463"/>
              <a:ext cx="0" cy="668337"/>
            </a:xfrm>
            <a:prstGeom prst="line">
              <a:avLst/>
            </a:prstGeom>
            <a:ln w="38100" cap="flat" cmpd="sng">
              <a:solidFill>
                <a:schemeClr val="tx1"/>
              </a:solidFill>
              <a:prstDash val="solid"/>
              <a:round/>
              <a:headEnd type="triangle" w="med" len="med"/>
              <a:tailEnd type="triangle" w="med" len="med"/>
            </a:ln>
          </p:spPr>
        </p:sp>
        <p:sp>
          <p:nvSpPr>
            <p:cNvPr id="49180" name="Line 15"/>
            <p:cNvSpPr/>
            <p:nvPr/>
          </p:nvSpPr>
          <p:spPr>
            <a:xfrm>
              <a:off x="4857750" y="1117600"/>
              <a:ext cx="0" cy="609600"/>
            </a:xfrm>
            <a:prstGeom prst="line">
              <a:avLst/>
            </a:prstGeom>
            <a:ln w="38100" cap="flat" cmpd="sng">
              <a:solidFill>
                <a:schemeClr val="tx1"/>
              </a:solidFill>
              <a:prstDash val="solid"/>
              <a:round/>
              <a:headEnd type="triangle" w="med" len="med"/>
              <a:tailEnd type="triangle" w="med" len="med"/>
            </a:ln>
          </p:spPr>
        </p:sp>
        <p:grpSp>
          <p:nvGrpSpPr>
            <p:cNvPr id="49181" name="Group 25"/>
            <p:cNvGrpSpPr/>
            <p:nvPr/>
          </p:nvGrpSpPr>
          <p:grpSpPr>
            <a:xfrm>
              <a:off x="58737" y="0"/>
              <a:ext cx="2514600" cy="1204913"/>
              <a:chOff x="0" y="0"/>
              <a:chExt cx="1584" cy="912"/>
            </a:xfrm>
          </p:grpSpPr>
          <p:pic>
            <p:nvPicPr>
              <p:cNvPr id="49182" name="Picture 26" descr="userGrp1"/>
              <p:cNvPicPr>
                <a:picLocks noChangeAspect="1"/>
              </p:cNvPicPr>
              <p:nvPr/>
            </p:nvPicPr>
            <p:blipFill>
              <a:blip r:embed="rId1" cstate="print"/>
              <a:stretch>
                <a:fillRect/>
              </a:stretch>
            </p:blipFill>
            <p:spPr>
              <a:xfrm>
                <a:off x="0" y="0"/>
                <a:ext cx="847" cy="912"/>
              </a:xfrm>
              <a:prstGeom prst="rect">
                <a:avLst/>
              </a:prstGeom>
              <a:noFill/>
              <a:ln w="9525">
                <a:noFill/>
              </a:ln>
            </p:spPr>
          </p:pic>
          <p:sp>
            <p:nvSpPr>
              <p:cNvPr id="49183" name="Text Box 27"/>
              <p:cNvSpPr txBox="1"/>
              <p:nvPr/>
            </p:nvSpPr>
            <p:spPr>
              <a:xfrm>
                <a:off x="816" y="48"/>
                <a:ext cx="768" cy="282"/>
              </a:xfrm>
              <a:prstGeom prst="rect">
                <a:avLst/>
              </a:prstGeom>
              <a:noFill/>
              <a:ln w="9525">
                <a:noFill/>
              </a:ln>
            </p:spPr>
            <p:txBody>
              <a:bodyPr anchor="t">
                <a:spAutoFit/>
              </a:bodyPr>
              <a:lstStyle/>
              <a:p>
                <a:pPr lvl="0" indent="0">
                  <a:spcBef>
                    <a:spcPct val="50000"/>
                  </a:spcBef>
                  <a:buNone/>
                </a:pPr>
                <a:r>
                  <a:rPr lang="zh-CN" altLang="en-US" sz="2000" dirty="0">
                    <a:latin typeface="宋体" panose="02010600030101010101" pitchFamily="2" charset="-122"/>
                    <a:ea typeface="宋体" panose="02010600030101010101" pitchFamily="2" charset="-122"/>
                  </a:rPr>
                  <a:t>用户组1</a:t>
                </a:r>
                <a:endParaRPr lang="zh-CN" altLang="en-US" sz="2000" dirty="0">
                  <a:latin typeface="宋体" panose="02010600030101010101" pitchFamily="2" charset="-122"/>
                  <a:ea typeface="宋体" panose="02010600030101010101" pitchFamily="2" charset="-122"/>
                </a:endParaRPr>
              </a:p>
            </p:txBody>
          </p:sp>
        </p:grpSp>
        <p:grpSp>
          <p:nvGrpSpPr>
            <p:cNvPr id="49184" name="Group 28"/>
            <p:cNvGrpSpPr/>
            <p:nvPr/>
          </p:nvGrpSpPr>
          <p:grpSpPr>
            <a:xfrm>
              <a:off x="4141787" y="0"/>
              <a:ext cx="2590800" cy="1117600"/>
              <a:chOff x="0" y="0"/>
              <a:chExt cx="1632" cy="912"/>
            </a:xfrm>
          </p:grpSpPr>
          <p:pic>
            <p:nvPicPr>
              <p:cNvPr id="49185" name="Picture 29" descr="userGrp2"/>
              <p:cNvPicPr>
                <a:picLocks noChangeAspect="1"/>
              </p:cNvPicPr>
              <p:nvPr/>
            </p:nvPicPr>
            <p:blipFill>
              <a:blip r:embed="rId2" cstate="print"/>
              <a:stretch>
                <a:fillRect/>
              </a:stretch>
            </p:blipFill>
            <p:spPr>
              <a:xfrm>
                <a:off x="0" y="0"/>
                <a:ext cx="865" cy="912"/>
              </a:xfrm>
              <a:prstGeom prst="rect">
                <a:avLst/>
              </a:prstGeom>
              <a:noFill/>
              <a:ln w="9525">
                <a:noFill/>
              </a:ln>
            </p:spPr>
          </p:pic>
          <p:sp>
            <p:nvSpPr>
              <p:cNvPr id="49186" name="Text Box 30"/>
              <p:cNvSpPr txBox="1"/>
              <p:nvPr/>
            </p:nvSpPr>
            <p:spPr>
              <a:xfrm>
                <a:off x="864" y="48"/>
                <a:ext cx="768" cy="282"/>
              </a:xfrm>
              <a:prstGeom prst="rect">
                <a:avLst/>
              </a:prstGeom>
              <a:noFill/>
              <a:ln w="9525">
                <a:noFill/>
              </a:ln>
            </p:spPr>
            <p:txBody>
              <a:bodyPr anchor="t">
                <a:spAutoFit/>
              </a:bodyPr>
              <a:lstStyle/>
              <a:p>
                <a:pPr lvl="0" indent="0">
                  <a:spcBef>
                    <a:spcPct val="50000"/>
                  </a:spcBef>
                  <a:buNone/>
                </a:pPr>
                <a:r>
                  <a:rPr lang="zh-CN" altLang="en-US" sz="2000" dirty="0">
                    <a:latin typeface="宋体" panose="02010600030101010101" pitchFamily="2" charset="-122"/>
                    <a:ea typeface="宋体" panose="02010600030101010101" pitchFamily="2" charset="-122"/>
                  </a:rPr>
                  <a:t>用户组n</a:t>
                </a:r>
                <a:endParaRPr lang="de-DE" altLang="en-US" sz="2000" dirty="0">
                  <a:latin typeface="宋体" panose="02010600030101010101" pitchFamily="2" charset="-122"/>
                  <a:ea typeface="宋体" panose="02010600030101010101" pitchFamily="2" charset="-122"/>
                </a:endParaRPr>
              </a:p>
            </p:txBody>
          </p:sp>
        </p:grpSp>
        <p:sp>
          <p:nvSpPr>
            <p:cNvPr id="49187" name="Line 31"/>
            <p:cNvSpPr/>
            <p:nvPr/>
          </p:nvSpPr>
          <p:spPr>
            <a:xfrm>
              <a:off x="2433637" y="1117600"/>
              <a:ext cx="0" cy="609600"/>
            </a:xfrm>
            <a:prstGeom prst="line">
              <a:avLst/>
            </a:prstGeom>
            <a:ln w="38100" cap="flat" cmpd="sng">
              <a:solidFill>
                <a:schemeClr val="tx1"/>
              </a:solidFill>
              <a:prstDash val="solid"/>
              <a:round/>
              <a:headEnd type="triangle" w="med" len="med"/>
              <a:tailEnd type="triangle" w="med" len="med"/>
            </a:ln>
          </p:spPr>
        </p:sp>
        <p:sp>
          <p:nvSpPr>
            <p:cNvPr id="49188" name="Line 32"/>
            <p:cNvSpPr/>
            <p:nvPr/>
          </p:nvSpPr>
          <p:spPr>
            <a:xfrm>
              <a:off x="2874962" y="511175"/>
              <a:ext cx="609600" cy="0"/>
            </a:xfrm>
            <a:prstGeom prst="line">
              <a:avLst/>
            </a:prstGeom>
            <a:ln w="38100" cap="flat" cmpd="sng">
              <a:solidFill>
                <a:schemeClr val="tx1"/>
              </a:solidFill>
              <a:prstDash val="sysDot"/>
              <a:round/>
              <a:headEnd type="none" w="med" len="med"/>
              <a:tailEnd type="none" w="med" len="med"/>
            </a:ln>
          </p:spPr>
        </p:sp>
      </p:grpSp>
      <p:sp>
        <p:nvSpPr>
          <p:cNvPr id="49189" name="Rectangle 2"/>
          <p:cNvSpPr/>
          <p:nvPr/>
        </p:nvSpPr>
        <p:spPr>
          <a:xfrm>
            <a:off x="457200" y="765175"/>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数据库系统的抽象层次</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2" name="文本框 1"/>
          <p:cNvSpPr txBox="1"/>
          <p:nvPr/>
        </p:nvSpPr>
        <p:spPr>
          <a:xfrm>
            <a:off x="650875" y="2006600"/>
            <a:ext cx="8035925" cy="1447800"/>
          </a:xfrm>
          <a:prstGeom prst="rect">
            <a:avLst/>
          </a:prstGeom>
          <a:solidFill>
            <a:srgbClr val="FFFFCC"/>
          </a:solidFill>
          <a:ln w="9525">
            <a:noFill/>
          </a:ln>
        </p:spPr>
        <p:txBody>
          <a:bodyPr wrap="square" anchor="t">
            <a:spAutoFit/>
          </a:bodyPr>
          <a:lstStyle/>
          <a:p>
            <a:pPr marL="457200" lvl="0" indent="-457200" algn="just">
              <a:spcBef>
                <a:spcPct val="50000"/>
              </a:spcBef>
              <a:buClr>
                <a:schemeClr val="tx1"/>
              </a:buClr>
              <a:buFont typeface="Wingdings" panose="05000000000000000000" pitchFamily="2" charset="2"/>
              <a:buChar char="u"/>
            </a:pPr>
            <a:r>
              <a:rPr lang="zh-CN" altLang="en-US" sz="2200" dirty="0">
                <a:solidFill>
                  <a:srgbClr val="FF4568"/>
                </a:solidFill>
                <a:latin typeface="Times New Roman" panose="02020603050405020304" pitchFamily="2" charset="0"/>
                <a:ea typeface="宋体" panose="02010600030101010101" pitchFamily="2" charset="-122"/>
              </a:rPr>
              <a:t>外模式：</a:t>
            </a:r>
            <a:r>
              <a:rPr lang="zh-CN" altLang="en-US" sz="2200" dirty="0">
                <a:latin typeface="Times New Roman" panose="02020603050405020304" pitchFamily="2" charset="0"/>
                <a:ea typeface="宋体" panose="02010600030101010101" pitchFamily="2" charset="-122"/>
              </a:rPr>
              <a:t>外模式也称子模式或者用户模式，表示数据库用户能够使用的部分数据的逻辑结构和特征，是用户的数据视图。外模式面向用户，用于描述用户所关心的数据。</a:t>
            </a:r>
            <a:endParaRPr lang="zh-CN" altLang="en-US" sz="2200">
              <a:latin typeface="Arial" panose="020B0604020202020204" pitchFamily="34" charset="0"/>
              <a:ea typeface="宋体" panose="02010600030101010101" pitchFamily="2" charset="-122"/>
            </a:endParaRPr>
          </a:p>
        </p:txBody>
      </p:sp>
      <p:sp>
        <p:nvSpPr>
          <p:cNvPr id="3" name="文本框 2"/>
          <p:cNvSpPr txBox="1"/>
          <p:nvPr/>
        </p:nvSpPr>
        <p:spPr>
          <a:xfrm>
            <a:off x="676275" y="3536950"/>
            <a:ext cx="8035925" cy="1447800"/>
          </a:xfrm>
          <a:prstGeom prst="rect">
            <a:avLst/>
          </a:prstGeom>
          <a:solidFill>
            <a:srgbClr val="FFFFCC"/>
          </a:solidFill>
          <a:ln w="9525">
            <a:noFill/>
          </a:ln>
        </p:spPr>
        <p:txBody>
          <a:bodyPr wrap="square" anchor="t">
            <a:spAutoFit/>
          </a:bodyPr>
          <a:lstStyle/>
          <a:p>
            <a:pPr marL="342900" lvl="0" indent="-342900">
              <a:buFont typeface="Wingdings" panose="05000000000000000000" charset="0"/>
              <a:buChar char="u"/>
            </a:pPr>
            <a:r>
              <a:rPr lang="zh-CN" altLang="en-US" sz="2200" dirty="0">
                <a:solidFill>
                  <a:srgbClr val="FF4568"/>
                </a:solidFill>
                <a:latin typeface="Times New Roman" panose="02020603050405020304" pitchFamily="2" charset="0"/>
                <a:ea typeface="宋体" panose="02010600030101010101" pitchFamily="2" charset="-122"/>
              </a:rPr>
              <a:t>模式</a:t>
            </a:r>
            <a:r>
              <a:rPr lang="zh-CN" altLang="en-US" sz="2200" dirty="0">
                <a:latin typeface="Times New Roman" panose="02020603050405020304" pitchFamily="2" charset="0"/>
                <a:ea typeface="宋体" panose="02010600030101010101" pitchFamily="2" charset="-122"/>
              </a:rPr>
              <a:t>：模式也称逻辑模式，表示数据库中全体数据的逻辑结构、数据之间的联系、安全性和完整性要求，是完整的数据视图。模式所描述的逻辑结构包含了整个数据库。</a:t>
            </a:r>
            <a:endParaRPr lang="zh-CN" altLang="en-US" sz="2200">
              <a:latin typeface="Arial" panose="020B0604020202020204" pitchFamily="34" charset="0"/>
              <a:ea typeface="宋体" panose="02010600030101010101" pitchFamily="2" charset="-122"/>
            </a:endParaRPr>
          </a:p>
        </p:txBody>
      </p:sp>
      <p:sp>
        <p:nvSpPr>
          <p:cNvPr id="4" name="文本框 3"/>
          <p:cNvSpPr txBox="1"/>
          <p:nvPr/>
        </p:nvSpPr>
        <p:spPr>
          <a:xfrm>
            <a:off x="650875" y="5135563"/>
            <a:ext cx="8166100" cy="1296987"/>
          </a:xfrm>
          <a:prstGeom prst="rect">
            <a:avLst/>
          </a:prstGeom>
          <a:solidFill>
            <a:srgbClr val="FFFFCC"/>
          </a:solidFill>
          <a:ln w="9525">
            <a:noFill/>
          </a:ln>
        </p:spPr>
        <p:txBody>
          <a:bodyPr wrap="square" anchor="t">
            <a:spAutoFit/>
          </a:bodyPr>
          <a:lstStyle/>
          <a:p>
            <a:pPr marL="342900" lvl="0" indent="-342900" algn="just">
              <a:lnSpc>
                <a:spcPct val="120000"/>
              </a:lnSpc>
              <a:buFont typeface="Wingdings" panose="05000000000000000000" charset="0"/>
              <a:buChar char="Ø"/>
            </a:pPr>
            <a:r>
              <a:rPr lang="zh-CN" altLang="en-US" sz="2200" dirty="0">
                <a:solidFill>
                  <a:srgbClr val="FF4568"/>
                </a:solidFill>
                <a:latin typeface="Times New Roman" panose="02020603050405020304" pitchFamily="2" charset="0"/>
                <a:ea typeface="宋体" panose="02010600030101010101" pitchFamily="2" charset="-122"/>
              </a:rPr>
              <a:t>内模式：</a:t>
            </a:r>
            <a:r>
              <a:rPr lang="zh-CN" altLang="en-US" sz="2200" dirty="0">
                <a:latin typeface="Times New Roman" panose="02020603050405020304" pitchFamily="2" charset="0"/>
                <a:ea typeface="宋体" panose="02010600030101010101" pitchFamily="2" charset="-122"/>
              </a:rPr>
              <a:t>内模式也称存储模式，表示数据库中数据物理结构和存储结构。</a:t>
            </a:r>
            <a:r>
              <a:rPr lang="zh-CN" altLang="en-US" sz="2200" dirty="0">
                <a:latin typeface="Arial" panose="020B0604020202020204" pitchFamily="34" charset="0"/>
                <a:ea typeface="宋体" panose="02010600030101010101" pitchFamily="2" charset="-122"/>
                <a:sym typeface="宋体" panose="02010600030101010101" pitchFamily="2" charset="-122"/>
              </a:rPr>
              <a:t>记录的存储方式（顺序存储，按照</a:t>
            </a:r>
            <a:r>
              <a:rPr lang="en-US" altLang="zh-CN" sz="2200" dirty="0">
                <a:latin typeface="Arial" panose="020B0604020202020204" pitchFamily="34" charset="0"/>
                <a:ea typeface="宋体" panose="02010600030101010101" pitchFamily="2" charset="-122"/>
                <a:sym typeface="宋体" panose="02010600030101010101" pitchFamily="2" charset="-122"/>
              </a:rPr>
              <a:t>B</a:t>
            </a:r>
            <a:r>
              <a:rPr lang="zh-CN" altLang="en-US" sz="2200" dirty="0">
                <a:latin typeface="Arial" panose="020B0604020202020204" pitchFamily="34" charset="0"/>
                <a:ea typeface="宋体" panose="02010600030101010101" pitchFamily="2" charset="-122"/>
                <a:sym typeface="宋体" panose="02010600030101010101" pitchFamily="2" charset="-122"/>
              </a:rPr>
              <a:t>树结构存储等）、索引的组织方式、数据是否压缩存储、加密等。</a:t>
            </a:r>
            <a:endParaRPr lang="zh-CN" altLang="en-US" sz="2200">
              <a:latin typeface="Arial" panose="020B0604020202020204" pitchFamily="34" charset="0"/>
              <a:ea typeface="宋体" panose="02010600030101010101" pitchFamily="2" charset="-122"/>
            </a:endParaRPr>
          </a:p>
        </p:txBody>
      </p:sp>
      <p:sp>
        <p:nvSpPr>
          <p:cNvPr id="47109"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079"/>
                                        </p:tgtEl>
                                        <p:attrNameLst>
                                          <p:attrName>style.visibility</p:attrName>
                                        </p:attrNameLst>
                                      </p:cBhvr>
                                      <p:to>
                                        <p:strVal val="visible"/>
                                      </p:to>
                                    </p:set>
                                    <p:anim calcmode="lin" valueType="num">
                                      <p:cBhvr additive="base">
                                        <p:cTn id="7" dur="500" fill="hold"/>
                                        <p:tgtEl>
                                          <p:spTgt spid="45079"/>
                                        </p:tgtEl>
                                        <p:attrNameLst>
                                          <p:attrName>ppt_x</p:attrName>
                                        </p:attrNameLst>
                                      </p:cBhvr>
                                      <p:tavLst>
                                        <p:tav tm="0">
                                          <p:val>
                                            <p:strVal val="#ppt_x"/>
                                          </p:val>
                                        </p:tav>
                                        <p:tav tm="100000">
                                          <p:val>
                                            <p:strVal val="#ppt_x"/>
                                          </p:val>
                                        </p:tav>
                                      </p:tavLst>
                                    </p:anim>
                                    <p:anim calcmode="lin" valueType="num">
                                      <p:cBhvr additive="base">
                                        <p:cTn id="8" dur="500" fill="hold"/>
                                        <p:tgtEl>
                                          <p:spTgt spid="4507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5058"/>
                                        </p:tgtEl>
                                        <p:attrNameLst>
                                          <p:attrName>style.visibility</p:attrName>
                                        </p:attrNameLst>
                                      </p:cBhvr>
                                      <p:to>
                                        <p:strVal val="visible"/>
                                      </p:to>
                                    </p:set>
                                    <p:anim calcmode="lin" valueType="num">
                                      <p:cBhvr additive="base">
                                        <p:cTn id="13" dur="500" fill="hold"/>
                                        <p:tgtEl>
                                          <p:spTgt spid="45058"/>
                                        </p:tgtEl>
                                        <p:attrNameLst>
                                          <p:attrName>ppt_x</p:attrName>
                                        </p:attrNameLst>
                                      </p:cBhvr>
                                      <p:tavLst>
                                        <p:tav tm="0">
                                          <p:val>
                                            <p:strVal val="#ppt_x"/>
                                          </p:val>
                                        </p:tav>
                                        <p:tav tm="100000">
                                          <p:val>
                                            <p:strVal val="#ppt_x"/>
                                          </p:val>
                                        </p:tav>
                                      </p:tavLst>
                                    </p:anim>
                                    <p:anim calcmode="lin" valueType="num">
                                      <p:cBhvr additive="base">
                                        <p:cTn id="14" dur="500" fill="hold"/>
                                        <p:tgtEl>
                                          <p:spTgt spid="4505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1" nodeType="clickEffect">
                                  <p:stCondLst>
                                    <p:cond delay="0"/>
                                  </p:stCondLst>
                                  <p:childTnLst>
                                    <p:anim calcmode="lin" valueType="num">
                                      <p:cBhvr additive="base">
                                        <p:cTn id="24" dur="500"/>
                                        <p:tgtEl>
                                          <p:spTgt spid="2"/>
                                        </p:tgtEl>
                                        <p:attrNameLst>
                                          <p:attrName>ppt_x</p:attrName>
                                        </p:attrNameLst>
                                      </p:cBhvr>
                                      <p:tavLst>
                                        <p:tav tm="0">
                                          <p:val>
                                            <p:strVal val="ppt_x"/>
                                          </p:val>
                                        </p:tav>
                                        <p:tav tm="100000">
                                          <p:val>
                                            <p:strVal val="ppt_x"/>
                                          </p:val>
                                        </p:tav>
                                      </p:tavLst>
                                    </p:anim>
                                    <p:anim calcmode="lin" valueType="num">
                                      <p:cBhvr additive="base">
                                        <p:cTn id="25" dur="500"/>
                                        <p:tgtEl>
                                          <p:spTgt spid="2"/>
                                        </p:tgtEl>
                                        <p:attrNameLst>
                                          <p:attrName>ppt_y</p:attrName>
                                        </p:attrNameLst>
                                      </p:cBhvr>
                                      <p:tavLst>
                                        <p:tav tm="0">
                                          <p:val>
                                            <p:strVal val="ppt_y"/>
                                          </p:val>
                                        </p:tav>
                                        <p:tav tm="100000">
                                          <p:val>
                                            <p:strVal val="1+ppt_h/2"/>
                                          </p:val>
                                        </p:tav>
                                      </p:tavLst>
                                    </p:anim>
                                    <p:set>
                                      <p:cBhvr>
                                        <p:cTn id="26" dur="1" fill="hold">
                                          <p:stCondLst>
                                            <p:cond delay="499"/>
                                          </p:stCondLst>
                                        </p:cTn>
                                        <p:tgtEl>
                                          <p:spTgt spid="2"/>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5061"/>
                                        </p:tgtEl>
                                        <p:attrNameLst>
                                          <p:attrName>style.visibility</p:attrName>
                                        </p:attrNameLst>
                                      </p:cBhvr>
                                      <p:to>
                                        <p:strVal val="visible"/>
                                      </p:to>
                                    </p:set>
                                    <p:anim calcmode="lin" valueType="num">
                                      <p:cBhvr additive="base">
                                        <p:cTn id="31" dur="500" fill="hold"/>
                                        <p:tgtEl>
                                          <p:spTgt spid="45061"/>
                                        </p:tgtEl>
                                        <p:attrNameLst>
                                          <p:attrName>ppt_x</p:attrName>
                                        </p:attrNameLst>
                                      </p:cBhvr>
                                      <p:tavLst>
                                        <p:tav tm="0">
                                          <p:val>
                                            <p:strVal val="#ppt_x"/>
                                          </p:val>
                                        </p:tav>
                                        <p:tav tm="100000">
                                          <p:val>
                                            <p:strVal val="#ppt_x"/>
                                          </p:val>
                                        </p:tav>
                                      </p:tavLst>
                                    </p:anim>
                                    <p:anim calcmode="lin" valueType="num">
                                      <p:cBhvr additive="base">
                                        <p:cTn id="32" dur="500" fill="hold"/>
                                        <p:tgtEl>
                                          <p:spTgt spid="4506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5066"/>
                                        </p:tgtEl>
                                        <p:attrNameLst>
                                          <p:attrName>style.visibility</p:attrName>
                                        </p:attrNameLst>
                                      </p:cBhvr>
                                      <p:to>
                                        <p:strVal val="visible"/>
                                      </p:to>
                                    </p:set>
                                    <p:anim calcmode="lin" valueType="num">
                                      <p:cBhvr additive="base">
                                        <p:cTn id="37" dur="500" fill="hold"/>
                                        <p:tgtEl>
                                          <p:spTgt spid="45066"/>
                                        </p:tgtEl>
                                        <p:attrNameLst>
                                          <p:attrName>ppt_x</p:attrName>
                                        </p:attrNameLst>
                                      </p:cBhvr>
                                      <p:tavLst>
                                        <p:tav tm="0">
                                          <p:val>
                                            <p:strVal val="#ppt_x"/>
                                          </p:val>
                                        </p:tav>
                                        <p:tav tm="100000">
                                          <p:val>
                                            <p:strVal val="#ppt_x"/>
                                          </p:val>
                                        </p:tav>
                                      </p:tavLst>
                                    </p:anim>
                                    <p:anim calcmode="lin" valueType="num">
                                      <p:cBhvr additive="base">
                                        <p:cTn id="38" dur="500" fill="hold"/>
                                        <p:tgtEl>
                                          <p:spTgt spid="4506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anim calcmode="lin" valueType="num">
                                      <p:cBhvr additive="base">
                                        <p:cTn id="43" dur="500" fill="hold"/>
                                        <p:tgtEl>
                                          <p:spTgt spid="3"/>
                                        </p:tgtEl>
                                        <p:attrNameLst>
                                          <p:attrName>ppt_x</p:attrName>
                                        </p:attrNameLst>
                                      </p:cBhvr>
                                      <p:tavLst>
                                        <p:tav tm="0">
                                          <p:val>
                                            <p:strVal val="#ppt_x"/>
                                          </p:val>
                                        </p:tav>
                                        <p:tav tm="100000">
                                          <p:val>
                                            <p:strVal val="#ppt_x"/>
                                          </p:val>
                                        </p:tav>
                                      </p:tavLst>
                                    </p:anim>
                                    <p:anim calcmode="lin" valueType="num">
                                      <p:cBhvr additive="base">
                                        <p:cTn id="4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grpId="1" nodeType="clickEffect">
                                  <p:stCondLst>
                                    <p:cond delay="0"/>
                                  </p:stCondLst>
                                  <p:childTnLst>
                                    <p:anim calcmode="lin" valueType="num">
                                      <p:cBhvr additive="base">
                                        <p:cTn id="48" dur="500"/>
                                        <p:tgtEl>
                                          <p:spTgt spid="3"/>
                                        </p:tgtEl>
                                        <p:attrNameLst>
                                          <p:attrName>ppt_x</p:attrName>
                                        </p:attrNameLst>
                                      </p:cBhvr>
                                      <p:tavLst>
                                        <p:tav tm="0">
                                          <p:val>
                                            <p:strVal val="ppt_x"/>
                                          </p:val>
                                        </p:tav>
                                        <p:tav tm="100000">
                                          <p:val>
                                            <p:strVal val="ppt_x"/>
                                          </p:val>
                                        </p:tav>
                                      </p:tavLst>
                                    </p:anim>
                                    <p:anim calcmode="lin" valueType="num">
                                      <p:cBhvr additive="base">
                                        <p:cTn id="49" dur="500"/>
                                        <p:tgtEl>
                                          <p:spTgt spid="3"/>
                                        </p:tgtEl>
                                        <p:attrNameLst>
                                          <p:attrName>ppt_y</p:attrName>
                                        </p:attrNameLst>
                                      </p:cBhvr>
                                      <p:tavLst>
                                        <p:tav tm="0">
                                          <p:val>
                                            <p:strVal val="ppt_y"/>
                                          </p:val>
                                        </p:tav>
                                        <p:tav tm="100000">
                                          <p:val>
                                            <p:strVal val="1+ppt_h/2"/>
                                          </p:val>
                                        </p:tav>
                                      </p:tavLst>
                                    </p:anim>
                                    <p:set>
                                      <p:cBhvr>
                                        <p:cTn id="50" dur="1" fill="hold">
                                          <p:stCondLst>
                                            <p:cond delay="499"/>
                                          </p:stCondLst>
                                        </p:cTn>
                                        <p:tgtEl>
                                          <p:spTgt spid="3"/>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5074"/>
                                        </p:tgtEl>
                                        <p:attrNameLst>
                                          <p:attrName>style.visibility</p:attrName>
                                        </p:attrNameLst>
                                      </p:cBhvr>
                                      <p:to>
                                        <p:strVal val="visible"/>
                                      </p:to>
                                    </p:set>
                                    <p:anim calcmode="lin" valueType="num">
                                      <p:cBhvr additive="base">
                                        <p:cTn id="55" dur="500" fill="hold"/>
                                        <p:tgtEl>
                                          <p:spTgt spid="45074"/>
                                        </p:tgtEl>
                                        <p:attrNameLst>
                                          <p:attrName>ppt_x</p:attrName>
                                        </p:attrNameLst>
                                      </p:cBhvr>
                                      <p:tavLst>
                                        <p:tav tm="0">
                                          <p:val>
                                            <p:strVal val="#ppt_x"/>
                                          </p:val>
                                        </p:tav>
                                        <p:tav tm="100000">
                                          <p:val>
                                            <p:strVal val="#ppt_x"/>
                                          </p:val>
                                        </p:tav>
                                      </p:tavLst>
                                    </p:anim>
                                    <p:anim calcmode="lin" valueType="num">
                                      <p:cBhvr additive="base">
                                        <p:cTn id="56" dur="500" fill="hold"/>
                                        <p:tgtEl>
                                          <p:spTgt spid="45074"/>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5070"/>
                                        </p:tgtEl>
                                        <p:attrNameLst>
                                          <p:attrName>style.visibility</p:attrName>
                                        </p:attrNameLst>
                                      </p:cBhvr>
                                      <p:to>
                                        <p:strVal val="visible"/>
                                      </p:to>
                                    </p:set>
                                    <p:anim calcmode="lin" valueType="num">
                                      <p:cBhvr additive="base">
                                        <p:cTn id="61" dur="500" fill="hold"/>
                                        <p:tgtEl>
                                          <p:spTgt spid="45070"/>
                                        </p:tgtEl>
                                        <p:attrNameLst>
                                          <p:attrName>ppt_x</p:attrName>
                                        </p:attrNameLst>
                                      </p:cBhvr>
                                      <p:tavLst>
                                        <p:tav tm="0">
                                          <p:val>
                                            <p:strVal val="#ppt_x"/>
                                          </p:val>
                                        </p:tav>
                                        <p:tav tm="100000">
                                          <p:val>
                                            <p:strVal val="#ppt_x"/>
                                          </p:val>
                                        </p:tav>
                                      </p:tavLst>
                                    </p:anim>
                                    <p:anim calcmode="lin" valueType="num">
                                      <p:cBhvr additive="base">
                                        <p:cTn id="62" dur="500" fill="hold"/>
                                        <p:tgtEl>
                                          <p:spTgt spid="45070"/>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4"/>
                                        </p:tgtEl>
                                        <p:attrNameLst>
                                          <p:attrName>style.visibility</p:attrName>
                                        </p:attrNameLst>
                                      </p:cBhvr>
                                      <p:to>
                                        <p:strVal val="visible"/>
                                      </p:to>
                                    </p:set>
                                    <p:anim calcmode="lin" valueType="num">
                                      <p:cBhvr additive="base">
                                        <p:cTn id="67" dur="500" fill="hold"/>
                                        <p:tgtEl>
                                          <p:spTgt spid="4"/>
                                        </p:tgtEl>
                                        <p:attrNameLst>
                                          <p:attrName>ppt_x</p:attrName>
                                        </p:attrNameLst>
                                      </p:cBhvr>
                                      <p:tavLst>
                                        <p:tav tm="0">
                                          <p:val>
                                            <p:strVal val="#ppt_x"/>
                                          </p:val>
                                        </p:tav>
                                        <p:tav tm="100000">
                                          <p:val>
                                            <p:strVal val="#ppt_x"/>
                                          </p:val>
                                        </p:tav>
                                      </p:tavLst>
                                    </p:anim>
                                    <p:anim calcmode="lin" valueType="num">
                                      <p:cBhvr additive="base">
                                        <p:cTn id="6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bldLvl="0" animBg="1"/>
      <p:bldP spid="3" grpId="1" bldLvl="0" animBg="1"/>
      <p:bldP spid="4"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文本框 1"/>
          <p:cNvSpPr txBox="1"/>
          <p:nvPr/>
        </p:nvSpPr>
        <p:spPr>
          <a:xfrm>
            <a:off x="869950" y="1946275"/>
            <a:ext cx="7461250" cy="627063"/>
          </a:xfrm>
          <a:prstGeom prst="rect">
            <a:avLst/>
          </a:prstGeom>
          <a:noFill/>
          <a:ln w="9525">
            <a:noFill/>
          </a:ln>
        </p:spPr>
        <p:txBody>
          <a:bodyPr wrap="none" anchor="t">
            <a:spAutoFit/>
          </a:bodyPr>
          <a:lstStyle/>
          <a:p>
            <a:pPr lvl="0" indent="0" algn="just">
              <a:lnSpc>
                <a:spcPct val="160000"/>
              </a:lnSpc>
              <a:buNone/>
            </a:pPr>
            <a:r>
              <a:rPr lang="zh-CN" altLang="en-US" sz="2200" dirty="0">
                <a:latin typeface="Arial" panose="020B0604020202020204" pitchFamily="34" charset="0"/>
                <a:ea typeface="宋体" panose="02010600030101010101" pitchFamily="2" charset="-122"/>
              </a:rPr>
              <a:t>二级映象在</a:t>
            </a:r>
            <a:r>
              <a:rPr lang="en-US" altLang="zh-CN" sz="2200" dirty="0">
                <a:latin typeface="Arial" panose="020B0604020202020204" pitchFamily="34" charset="0"/>
                <a:ea typeface="宋体" panose="02010600030101010101" pitchFamily="2" charset="-122"/>
              </a:rPr>
              <a:t>DBMS</a:t>
            </a:r>
            <a:r>
              <a:rPr lang="zh-CN" altLang="en-US" sz="2200" dirty="0">
                <a:latin typeface="Arial" panose="020B0604020202020204" pitchFamily="34" charset="0"/>
                <a:ea typeface="宋体" panose="02010600030101010101" pitchFamily="2" charset="-122"/>
              </a:rPr>
              <a:t>内部实现这三个抽象层次的联系和转换。</a:t>
            </a:r>
            <a:endParaRPr lang="en-US" altLang="zh-CN" sz="2200" dirty="0">
              <a:latin typeface="Arial" panose="020B0604020202020204" pitchFamily="34" charset="0"/>
              <a:ea typeface="宋体" panose="02010600030101010101" pitchFamily="2" charset="-122"/>
            </a:endParaRPr>
          </a:p>
        </p:txBody>
      </p:sp>
      <p:sp>
        <p:nvSpPr>
          <p:cNvPr id="51203" name="Rectangle 2"/>
          <p:cNvSpPr/>
          <p:nvPr/>
        </p:nvSpPr>
        <p:spPr>
          <a:xfrm>
            <a:off x="457200" y="765175"/>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数据库系统的抽象层次</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51204" name="文本框 2"/>
          <p:cNvSpPr txBox="1"/>
          <p:nvPr/>
        </p:nvSpPr>
        <p:spPr>
          <a:xfrm>
            <a:off x="636588" y="1457325"/>
            <a:ext cx="4557712" cy="517525"/>
          </a:xfrm>
          <a:prstGeom prst="rect">
            <a:avLst/>
          </a:prstGeom>
          <a:noFill/>
          <a:ln w="9525">
            <a:noFill/>
          </a:ln>
        </p:spPr>
        <p:txBody>
          <a:bodyPr wrap="none" anchor="t">
            <a:spAutoFit/>
          </a:bodyPr>
          <a:lstStyle/>
          <a:p>
            <a:pPr marL="342900" lvl="0" indent="-342900">
              <a:lnSpc>
                <a:spcPct val="100000"/>
              </a:lnSpc>
              <a:buFont typeface="Wingdings" panose="05000000000000000000" charset="0"/>
              <a:buChar char="p"/>
            </a:pPr>
            <a:r>
              <a:rPr lang="en-US" altLang="zh-CN" sz="2800" dirty="0">
                <a:latin typeface="Arial" panose="020B0604020202020204" pitchFamily="34" charset="0"/>
                <a:ea typeface="黑体" panose="02010609060101010101" pitchFamily="1" charset="-122"/>
              </a:rPr>
              <a:t> </a:t>
            </a:r>
            <a:r>
              <a:rPr lang="zh-CN" altLang="en-US" sz="2800" dirty="0">
                <a:latin typeface="Arial" panose="020B0604020202020204" pitchFamily="34" charset="0"/>
                <a:ea typeface="黑体" panose="02010609060101010101" pitchFamily="1" charset="-122"/>
              </a:rPr>
              <a:t>抽象层次之间的二级映象</a:t>
            </a:r>
            <a:endParaRPr lang="zh-CN" altLang="en-US" sz="2800" dirty="0">
              <a:latin typeface="Arial" panose="020B0604020202020204" pitchFamily="34" charset="0"/>
              <a:ea typeface="黑体" panose="02010609060101010101" pitchFamily="1" charset="-122"/>
            </a:endParaRPr>
          </a:p>
        </p:txBody>
      </p:sp>
      <p:sp>
        <p:nvSpPr>
          <p:cNvPr id="51205" name="文本框 3"/>
          <p:cNvSpPr txBox="1"/>
          <p:nvPr/>
        </p:nvSpPr>
        <p:spPr>
          <a:xfrm>
            <a:off x="234950" y="2573338"/>
            <a:ext cx="8451850" cy="968375"/>
          </a:xfrm>
          <a:prstGeom prst="rect">
            <a:avLst/>
          </a:prstGeom>
          <a:noFill/>
          <a:ln w="9525">
            <a:noFill/>
          </a:ln>
        </p:spPr>
        <p:txBody>
          <a:bodyPr wrap="square" anchor="t">
            <a:spAutoFit/>
          </a:bodyPr>
          <a:lstStyle/>
          <a:p>
            <a:pPr lvl="1" indent="0" algn="just">
              <a:lnSpc>
                <a:spcPct val="125000"/>
              </a:lnSpc>
              <a:spcBef>
                <a:spcPct val="0"/>
              </a:spcBef>
              <a:spcAft>
                <a:spcPct val="0"/>
              </a:spcAft>
              <a:buFont typeface="Wingdings" panose="05000000000000000000" charset="0"/>
              <a:buNone/>
            </a:pPr>
            <a:r>
              <a:rPr lang="en-US" altLang="zh-CN" sz="2200" dirty="0">
                <a:solidFill>
                  <a:srgbClr val="0033CC"/>
                </a:solidFill>
                <a:latin typeface="Arial" panose="020B0604020202020204" pitchFamily="34" charset="0"/>
                <a:ea typeface="宋体" panose="02010600030101010101" pitchFamily="2" charset="-122"/>
              </a:rPr>
              <a:t>    </a:t>
            </a:r>
            <a:r>
              <a:rPr lang="zh-CN" altLang="en-US" sz="2400" dirty="0">
                <a:solidFill>
                  <a:srgbClr val="0033CC"/>
                </a:solidFill>
                <a:latin typeface="Arial" panose="020B0604020202020204" pitchFamily="34" charset="0"/>
                <a:ea typeface="宋体" panose="02010600030101010101" pitchFamily="2" charset="-122"/>
              </a:rPr>
              <a:t>（</a:t>
            </a:r>
            <a:r>
              <a:rPr lang="en-US" altLang="zh-CN" sz="2400" dirty="0">
                <a:solidFill>
                  <a:srgbClr val="0033CC"/>
                </a:solidFill>
                <a:latin typeface="Arial" panose="020B0604020202020204" pitchFamily="34" charset="0"/>
                <a:ea typeface="宋体" panose="02010600030101010101" pitchFamily="2" charset="-122"/>
              </a:rPr>
              <a:t>1</a:t>
            </a:r>
            <a:r>
              <a:rPr lang="zh-CN" altLang="en-US" sz="2400" dirty="0">
                <a:solidFill>
                  <a:srgbClr val="0033CC"/>
                </a:solidFill>
                <a:latin typeface="Arial" panose="020B0604020202020204" pitchFamily="34" charset="0"/>
                <a:ea typeface="宋体" panose="02010600030101010101" pitchFamily="2" charset="-122"/>
              </a:rPr>
              <a:t>）外模式／模式映像：</a:t>
            </a:r>
            <a:r>
              <a:rPr lang="zh-CN" altLang="en-US" sz="2200" dirty="0">
                <a:latin typeface="Arial" panose="020B0604020202020204" pitchFamily="34" charset="0"/>
                <a:ea typeface="宋体" panose="02010600030101010101" pitchFamily="2" charset="-122"/>
                <a:sym typeface="宋体" panose="02010600030101010101" pitchFamily="2" charset="-122"/>
              </a:rPr>
              <a:t>每一个外模式，数据库系统都有一个外模式／模式映象，定义外模式与模式之间的对应关系</a:t>
            </a:r>
            <a:r>
              <a:rPr lang="zh-CN" altLang="en-US" sz="2200" dirty="0">
                <a:solidFill>
                  <a:srgbClr val="0033CC"/>
                </a:solidFill>
                <a:latin typeface="Arial" panose="020B0604020202020204" pitchFamily="34" charset="0"/>
                <a:ea typeface="宋体" panose="02010600030101010101" pitchFamily="2" charset="-122"/>
              </a:rPr>
              <a:t> </a:t>
            </a:r>
            <a:r>
              <a:rPr lang="en-US" altLang="zh-CN" sz="2200" dirty="0">
                <a:solidFill>
                  <a:srgbClr val="0033CC"/>
                </a:solidFill>
                <a:latin typeface="Arial" panose="020B0604020202020204" pitchFamily="34" charset="0"/>
                <a:ea typeface="宋体" panose="02010600030101010101" pitchFamily="2" charset="-122"/>
              </a:rPr>
              <a:t>.</a:t>
            </a:r>
            <a:endParaRPr lang="en-US" altLang="zh-CN" sz="2200" dirty="0">
              <a:solidFill>
                <a:srgbClr val="0033CC"/>
              </a:solidFill>
              <a:latin typeface="Arial" panose="020B0604020202020204" pitchFamily="34" charset="0"/>
              <a:ea typeface="宋体" panose="02010600030101010101" pitchFamily="2" charset="-122"/>
            </a:endParaRPr>
          </a:p>
        </p:txBody>
      </p:sp>
      <p:sp>
        <p:nvSpPr>
          <p:cNvPr id="169987" name="文本占位符 169986"/>
          <p:cNvSpPr>
            <a:spLocks noGrp="1"/>
          </p:cNvSpPr>
          <p:nvPr/>
        </p:nvSpPr>
        <p:spPr>
          <a:xfrm>
            <a:off x="636588" y="3624263"/>
            <a:ext cx="8048625" cy="2322512"/>
          </a:xfrm>
          <a:prstGeom prst="rect">
            <a:avLst/>
          </a:prstGeom>
          <a:solidFill>
            <a:srgbClr val="E6E6E6"/>
          </a:solidFill>
          <a:ln w="9525">
            <a:noFill/>
          </a:ln>
        </p:spPr>
        <p:txBody>
          <a:bodyPr anchor="t"/>
          <a:lstStyle/>
          <a:p>
            <a:pPr marL="342900" lvl="0" indent="-342900" algn="just">
              <a:lnSpc>
                <a:spcPct val="150000"/>
              </a:lnSpc>
              <a:spcBef>
                <a:spcPct val="20000"/>
              </a:spcBef>
              <a:buClr>
                <a:schemeClr val="hlink"/>
              </a:buClr>
              <a:buFont typeface="Wingdings" panose="05000000000000000000" charset="0"/>
              <a:buChar char="ü"/>
            </a:pPr>
            <a:r>
              <a:rPr lang="zh-CN" altLang="en-US" sz="2400" dirty="0">
                <a:latin typeface="Arial" panose="020B0604020202020204" pitchFamily="34" charset="0"/>
                <a:ea typeface="宋体" panose="02010600030101010101" pitchFamily="2" charset="-122"/>
              </a:rPr>
              <a:t>保证数据的逻辑独立性</a:t>
            </a:r>
            <a:endParaRPr lang="zh-CN" altLang="en-US" sz="2400" dirty="0">
              <a:latin typeface="Arial" panose="020B0604020202020204" pitchFamily="34" charset="0"/>
              <a:ea typeface="宋体" panose="02010600030101010101" pitchFamily="2" charset="-122"/>
            </a:endParaRPr>
          </a:p>
          <a:p>
            <a:pPr marL="800100" lvl="1" indent="-342900" algn="just" eaLnBrk="1" fontAlgn="base" latinLnBrk="0" hangingPunct="1">
              <a:lnSpc>
                <a:spcPct val="130000"/>
              </a:lnSpc>
              <a:spcBef>
                <a:spcPts val="25"/>
              </a:spcBef>
              <a:spcAft>
                <a:spcPct val="0"/>
              </a:spcAft>
              <a:buClr>
                <a:srgbClr val="0070C0"/>
              </a:buClr>
              <a:buFont typeface="Wingdings" panose="05000000000000000000" charset="0"/>
              <a:buChar char="Ø"/>
            </a:pPr>
            <a:r>
              <a:rPr lang="zh-CN" altLang="en-US" sz="2000" u="none" baseline="0" dirty="0">
                <a:solidFill>
                  <a:schemeClr val="tx1"/>
                </a:solidFill>
                <a:latin typeface="Arial" panose="020B0604020202020204" pitchFamily="34" charset="0"/>
                <a:ea typeface="宋体" panose="02010600030101010101" pitchFamily="2" charset="-122"/>
              </a:rPr>
              <a:t>当模式改变时，数据库管理员修改有关的外模式／模式映象，使外模式保持不变</a:t>
            </a:r>
            <a:endParaRPr lang="zh-CN" altLang="en-US" sz="2000" u="none" baseline="0" dirty="0">
              <a:solidFill>
                <a:schemeClr val="tx1"/>
              </a:solidFill>
              <a:latin typeface="Arial" panose="020B0604020202020204" pitchFamily="34" charset="0"/>
              <a:ea typeface="宋体" panose="02010600030101010101" pitchFamily="2" charset="-122"/>
            </a:endParaRPr>
          </a:p>
          <a:p>
            <a:pPr marL="800100" lvl="1" indent="-342900" algn="just" eaLnBrk="1" fontAlgn="base" latinLnBrk="0" hangingPunct="1">
              <a:lnSpc>
                <a:spcPct val="130000"/>
              </a:lnSpc>
              <a:spcBef>
                <a:spcPts val="25"/>
              </a:spcBef>
              <a:spcAft>
                <a:spcPct val="0"/>
              </a:spcAft>
              <a:buClr>
                <a:srgbClr val="0070C0"/>
              </a:buClr>
              <a:buFont typeface="Wingdings" panose="05000000000000000000" charset="0"/>
              <a:buChar char="Ø"/>
            </a:pPr>
            <a:r>
              <a:rPr lang="zh-CN" altLang="en-US" sz="2000" u="none" baseline="0" dirty="0">
                <a:solidFill>
                  <a:schemeClr val="tx1"/>
                </a:solidFill>
                <a:latin typeface="Arial" panose="020B0604020202020204" pitchFamily="34" charset="0"/>
                <a:ea typeface="宋体" panose="02010600030101010101" pitchFamily="2" charset="-122"/>
              </a:rPr>
              <a:t>应用程序是依据数据的外模式编写的，从而应用程序不必修改，保证了数据与程序的逻辑独立性，简称数据的逻辑独立性</a:t>
            </a:r>
            <a:r>
              <a:rPr lang="zh-CN" altLang="en-US" sz="2000" b="0" u="none" baseline="0" dirty="0">
                <a:solidFill>
                  <a:schemeClr val="tx1"/>
                </a:solidFill>
                <a:latin typeface="Arial" panose="020B0604020202020204" pitchFamily="34" charset="0"/>
                <a:ea typeface="宋体" panose="02010600030101010101" pitchFamily="2" charset="-122"/>
              </a:rPr>
              <a:t>。</a:t>
            </a:r>
            <a:endParaRPr lang="zh-CN" altLang="en-US" sz="2000" b="0" u="none" baseline="0">
              <a:solidFill>
                <a:schemeClr val="tx1"/>
              </a:solidFill>
              <a:latin typeface="Arial" panose="020B0604020202020204" pitchFamily="34" charset="0"/>
              <a:ea typeface="宋体" panose="02010600030101010101" pitchFamily="2" charset="-122"/>
            </a:endParaRPr>
          </a:p>
        </p:txBody>
      </p:sp>
      <p:sp>
        <p:nvSpPr>
          <p:cNvPr id="47109"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9987"/>
                                        </p:tgtEl>
                                        <p:attrNameLst>
                                          <p:attrName>style.visibility</p:attrName>
                                        </p:attrNameLst>
                                      </p:cBhvr>
                                      <p:to>
                                        <p:strVal val="visible"/>
                                      </p:to>
                                    </p:set>
                                    <p:anim calcmode="lin" valueType="num">
                                      <p:cBhvr additive="base">
                                        <p:cTn id="7" dur="500" fill="hold"/>
                                        <p:tgtEl>
                                          <p:spTgt spid="169987"/>
                                        </p:tgtEl>
                                        <p:attrNameLst>
                                          <p:attrName>ppt_x</p:attrName>
                                        </p:attrNameLst>
                                      </p:cBhvr>
                                      <p:tavLst>
                                        <p:tav tm="0">
                                          <p:val>
                                            <p:strVal val="#ppt_x"/>
                                          </p:val>
                                        </p:tav>
                                        <p:tav tm="100000">
                                          <p:val>
                                            <p:strVal val="#ppt_x"/>
                                          </p:val>
                                        </p:tav>
                                      </p:tavLst>
                                    </p:anim>
                                    <p:anim calcmode="lin" valueType="num">
                                      <p:cBhvr additive="base">
                                        <p:cTn id="8" dur="500" fill="hold"/>
                                        <p:tgtEl>
                                          <p:spTgt spid="1699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p:nvPr/>
        </p:nvSpPr>
        <p:spPr>
          <a:xfrm>
            <a:off x="457200" y="765175"/>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数据库系统的抽象层次</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52227" name="文本框 3"/>
          <p:cNvSpPr txBox="1"/>
          <p:nvPr/>
        </p:nvSpPr>
        <p:spPr>
          <a:xfrm>
            <a:off x="87313" y="1974850"/>
            <a:ext cx="8450262" cy="968375"/>
          </a:xfrm>
          <a:prstGeom prst="rect">
            <a:avLst/>
          </a:prstGeom>
          <a:noFill/>
          <a:ln w="9525">
            <a:noFill/>
          </a:ln>
        </p:spPr>
        <p:txBody>
          <a:bodyPr wrap="square" anchor="t">
            <a:spAutoFit/>
          </a:bodyPr>
          <a:lstStyle/>
          <a:p>
            <a:pPr lvl="1" indent="0" algn="just">
              <a:lnSpc>
                <a:spcPct val="125000"/>
              </a:lnSpc>
              <a:spcBef>
                <a:spcPct val="0"/>
              </a:spcBef>
              <a:spcAft>
                <a:spcPct val="0"/>
              </a:spcAft>
              <a:buFont typeface="Wingdings" panose="05000000000000000000" charset="0"/>
              <a:buNone/>
            </a:pPr>
            <a:r>
              <a:rPr lang="en-US" altLang="zh-CN" sz="2200" dirty="0">
                <a:solidFill>
                  <a:srgbClr val="0033CC"/>
                </a:solidFill>
                <a:latin typeface="Arial" panose="020B0604020202020204" pitchFamily="34" charset="0"/>
                <a:ea typeface="宋体" panose="02010600030101010101" pitchFamily="2" charset="-122"/>
                <a:sym typeface="宋体" panose="02010600030101010101" pitchFamily="2" charset="-122"/>
              </a:rPr>
              <a:t>    </a:t>
            </a:r>
            <a:r>
              <a:rPr lang="zh-CN" altLang="en-US" sz="2400" dirty="0">
                <a:solidFill>
                  <a:srgbClr val="0033CC"/>
                </a:solidFill>
                <a:latin typeface="Arial" panose="020B0604020202020204" pitchFamily="34" charset="0"/>
                <a:ea typeface="宋体" panose="02010600030101010101" pitchFamily="2" charset="-122"/>
                <a:sym typeface="宋体" panose="02010600030101010101" pitchFamily="2" charset="-122"/>
              </a:rPr>
              <a:t>（</a:t>
            </a:r>
            <a:r>
              <a:rPr lang="en-US" altLang="zh-CN" sz="2400" dirty="0">
                <a:solidFill>
                  <a:srgbClr val="0033CC"/>
                </a:solidFill>
                <a:latin typeface="Arial" panose="020B0604020202020204" pitchFamily="34" charset="0"/>
                <a:ea typeface="宋体" panose="02010600030101010101" pitchFamily="2" charset="-122"/>
                <a:sym typeface="宋体" panose="02010600030101010101" pitchFamily="2" charset="-122"/>
              </a:rPr>
              <a:t>2</a:t>
            </a:r>
            <a:r>
              <a:rPr lang="zh-CN" altLang="en-US" sz="2400" dirty="0">
                <a:solidFill>
                  <a:srgbClr val="0033CC"/>
                </a:solidFill>
                <a:latin typeface="Arial" panose="020B0604020202020204" pitchFamily="34" charset="0"/>
                <a:ea typeface="宋体" panose="02010600030101010101" pitchFamily="2" charset="-122"/>
                <a:sym typeface="宋体" panose="02010600030101010101" pitchFamily="2" charset="-122"/>
              </a:rPr>
              <a:t>）模式／内模式映像：</a:t>
            </a:r>
            <a:r>
              <a:rPr lang="zh-CN" altLang="en-US" sz="2200" dirty="0">
                <a:latin typeface="Arial" panose="020B0604020202020204" pitchFamily="34" charset="0"/>
                <a:ea typeface="宋体" panose="02010600030101010101" pitchFamily="2" charset="-122"/>
                <a:sym typeface="宋体" panose="02010600030101010101" pitchFamily="2" charset="-122"/>
              </a:rPr>
              <a:t>定义了数据全局逻辑结构与存储结构之间的对应关系</a:t>
            </a:r>
            <a:r>
              <a:rPr lang="zh-CN" altLang="en-US" sz="2200" dirty="0">
                <a:solidFill>
                  <a:srgbClr val="0033CC"/>
                </a:solidFill>
                <a:latin typeface="Arial" panose="020B0604020202020204" pitchFamily="34" charset="0"/>
                <a:ea typeface="宋体" panose="02010600030101010101" pitchFamily="2" charset="-122"/>
                <a:sym typeface="宋体" panose="02010600030101010101" pitchFamily="2" charset="-122"/>
              </a:rPr>
              <a:t> ，</a:t>
            </a:r>
            <a:r>
              <a:rPr lang="zh-CN" altLang="en-US" sz="2200" dirty="0">
                <a:latin typeface="Arial" panose="020B0604020202020204" pitchFamily="34" charset="0"/>
                <a:ea typeface="宋体" panose="02010600030101010101" pitchFamily="2" charset="-122"/>
              </a:rPr>
              <a:t>数据库中模式／内模式映象是唯一的。</a:t>
            </a:r>
            <a:endParaRPr lang="en-US" altLang="zh-CN" sz="2200" dirty="0">
              <a:solidFill>
                <a:srgbClr val="0033CC"/>
              </a:solidFill>
              <a:latin typeface="Arial" panose="020B0604020202020204" pitchFamily="34" charset="0"/>
              <a:ea typeface="宋体" panose="02010600030101010101" pitchFamily="2" charset="-122"/>
              <a:sym typeface="宋体" panose="02010600030101010101" pitchFamily="2" charset="-122"/>
            </a:endParaRPr>
          </a:p>
        </p:txBody>
      </p:sp>
      <p:sp>
        <p:nvSpPr>
          <p:cNvPr id="52228" name="文本框 2"/>
          <p:cNvSpPr txBox="1"/>
          <p:nvPr/>
        </p:nvSpPr>
        <p:spPr>
          <a:xfrm>
            <a:off x="636588" y="1457325"/>
            <a:ext cx="4557712" cy="517525"/>
          </a:xfrm>
          <a:prstGeom prst="rect">
            <a:avLst/>
          </a:prstGeom>
          <a:noFill/>
          <a:ln w="9525">
            <a:noFill/>
          </a:ln>
        </p:spPr>
        <p:txBody>
          <a:bodyPr wrap="none" anchor="t">
            <a:spAutoFit/>
          </a:bodyPr>
          <a:lstStyle/>
          <a:p>
            <a:pPr marL="342900" lvl="0" indent="-342900">
              <a:lnSpc>
                <a:spcPct val="100000"/>
              </a:lnSpc>
              <a:buFont typeface="Wingdings" panose="05000000000000000000" charset="0"/>
              <a:buChar char="p"/>
            </a:pPr>
            <a:r>
              <a:rPr lang="en-US" altLang="zh-CN" sz="2800" dirty="0">
                <a:latin typeface="Arial" panose="020B0604020202020204" pitchFamily="34" charset="0"/>
                <a:ea typeface="黑体" panose="02010609060101010101" pitchFamily="1" charset="-122"/>
                <a:sym typeface="宋体" panose="02010600030101010101" pitchFamily="2" charset="-122"/>
              </a:rPr>
              <a:t> </a:t>
            </a:r>
            <a:r>
              <a:rPr lang="zh-CN" altLang="en-US" sz="2800" dirty="0">
                <a:latin typeface="Arial" panose="020B0604020202020204" pitchFamily="34" charset="0"/>
                <a:ea typeface="黑体" panose="02010609060101010101" pitchFamily="1" charset="-122"/>
                <a:sym typeface="宋体" panose="02010600030101010101" pitchFamily="2" charset="-122"/>
              </a:rPr>
              <a:t>抽象层次之间的二级映象</a:t>
            </a:r>
            <a:endParaRPr lang="zh-CN" altLang="en-US" sz="2800" dirty="0">
              <a:latin typeface="Arial" panose="020B0604020202020204" pitchFamily="34" charset="0"/>
              <a:ea typeface="黑体" panose="02010609060101010101" pitchFamily="1" charset="-122"/>
              <a:sym typeface="宋体" panose="02010600030101010101" pitchFamily="2" charset="-122"/>
            </a:endParaRPr>
          </a:p>
        </p:txBody>
      </p:sp>
      <p:sp>
        <p:nvSpPr>
          <p:cNvPr id="172035" name="文本占位符 172034"/>
          <p:cNvSpPr>
            <a:spLocks noGrp="1"/>
          </p:cNvSpPr>
          <p:nvPr/>
        </p:nvSpPr>
        <p:spPr>
          <a:xfrm>
            <a:off x="635000" y="3032125"/>
            <a:ext cx="8051800" cy="2101850"/>
          </a:xfrm>
          <a:prstGeom prst="rect">
            <a:avLst/>
          </a:prstGeom>
          <a:solidFill>
            <a:srgbClr val="E6E6E6"/>
          </a:solidFill>
          <a:ln w="9525">
            <a:noFill/>
          </a:ln>
        </p:spPr>
        <p:txBody>
          <a:bodyPr anchor="t"/>
          <a:lstStyle/>
          <a:p>
            <a:pPr marL="342900" lvl="0" indent="-342900" algn="just">
              <a:lnSpc>
                <a:spcPct val="100000"/>
              </a:lnSpc>
              <a:spcBef>
                <a:spcPct val="20000"/>
              </a:spcBef>
              <a:buClr>
                <a:schemeClr val="hlink"/>
              </a:buClr>
              <a:buFont typeface="Wingdings" panose="05000000000000000000" charset="0"/>
              <a:buChar char="ü"/>
            </a:pPr>
            <a:r>
              <a:rPr lang="zh-CN" altLang="en-US" sz="2400" dirty="0">
                <a:latin typeface="Arial" panose="020B0604020202020204" pitchFamily="34" charset="0"/>
                <a:ea typeface="宋体" panose="02010600030101010101" pitchFamily="2" charset="-122"/>
              </a:rPr>
              <a:t>保证数据的物理独立性</a:t>
            </a:r>
            <a:endParaRPr lang="zh-CN" altLang="en-US" sz="2800" b="0" dirty="0">
              <a:latin typeface="Arial" panose="020B0604020202020204" pitchFamily="34" charset="0"/>
              <a:ea typeface="宋体" panose="02010600030101010101" pitchFamily="2" charset="-122"/>
            </a:endParaRPr>
          </a:p>
          <a:p>
            <a:pPr marL="800100" lvl="1" indent="-342900" algn="just" eaLnBrk="1" fontAlgn="base" latinLnBrk="0" hangingPunct="1">
              <a:lnSpc>
                <a:spcPct val="130000"/>
              </a:lnSpc>
              <a:spcBef>
                <a:spcPts val="25"/>
              </a:spcBef>
              <a:spcAft>
                <a:spcPct val="0"/>
              </a:spcAft>
              <a:buClr>
                <a:srgbClr val="0070C0"/>
              </a:buClr>
              <a:buFont typeface="Wingdings" panose="05000000000000000000" charset="0"/>
              <a:buChar char="Ø"/>
            </a:pPr>
            <a:r>
              <a:rPr lang="zh-CN" altLang="en-US" sz="2000" u="none" baseline="0" dirty="0">
                <a:solidFill>
                  <a:schemeClr val="tx1"/>
                </a:solidFill>
                <a:latin typeface="Arial" panose="020B0604020202020204" pitchFamily="34" charset="0"/>
                <a:ea typeface="宋体" panose="02010600030101010101" pitchFamily="2" charset="-122"/>
              </a:rPr>
              <a:t>当数据库的存储结构改变了（例如选用了另一种存储结构），数据库管理员修改模式／内模式映象，使模式保持不变</a:t>
            </a:r>
            <a:endParaRPr lang="zh-CN" altLang="en-US" sz="2000" u="none" baseline="0" dirty="0">
              <a:solidFill>
                <a:schemeClr val="tx1"/>
              </a:solidFill>
              <a:latin typeface="Arial" panose="020B0604020202020204" pitchFamily="34" charset="0"/>
              <a:ea typeface="宋体" panose="02010600030101010101" pitchFamily="2" charset="-122"/>
            </a:endParaRPr>
          </a:p>
          <a:p>
            <a:pPr marL="800100" lvl="1" indent="-342900" algn="just" eaLnBrk="1" fontAlgn="base" latinLnBrk="0" hangingPunct="1">
              <a:lnSpc>
                <a:spcPct val="130000"/>
              </a:lnSpc>
              <a:spcBef>
                <a:spcPts val="25"/>
              </a:spcBef>
              <a:spcAft>
                <a:spcPct val="0"/>
              </a:spcAft>
              <a:buClr>
                <a:srgbClr val="0070C0"/>
              </a:buClr>
              <a:buFont typeface="Wingdings" panose="05000000000000000000" charset="0"/>
              <a:buChar char="Ø"/>
            </a:pPr>
            <a:r>
              <a:rPr lang="zh-CN" altLang="en-US" sz="2000" u="none" baseline="0" dirty="0">
                <a:solidFill>
                  <a:schemeClr val="tx1"/>
                </a:solidFill>
                <a:latin typeface="Arial" panose="020B0604020202020204" pitchFamily="34" charset="0"/>
                <a:ea typeface="宋体" panose="02010600030101010101" pitchFamily="2" charset="-122"/>
              </a:rPr>
              <a:t>应用程序不受影响。保证了数据与程序的物理独立性，简称数据的物理独立性。</a:t>
            </a:r>
            <a:endParaRPr lang="zh-CN" altLang="en-US" sz="2000" u="none" baseline="0" dirty="0">
              <a:solidFill>
                <a:schemeClr val="tx1"/>
              </a:solidFill>
              <a:latin typeface="Arial" panose="020B0604020202020204" pitchFamily="34" charset="0"/>
              <a:ea typeface="宋体" panose="02010600030101010101" pitchFamily="2" charset="-122"/>
            </a:endParaRPr>
          </a:p>
          <a:p>
            <a:pPr marL="342900" lvl="0" indent="-342900">
              <a:lnSpc>
                <a:spcPct val="100000"/>
              </a:lnSpc>
              <a:spcBef>
                <a:spcPct val="20000"/>
              </a:spcBef>
              <a:buClr>
                <a:schemeClr val="hlink"/>
              </a:buClr>
              <a:buFont typeface="Wingdings" panose="05000000000000000000" pitchFamily="2" charset="2"/>
              <a:buChar char="v"/>
            </a:pPr>
            <a:endParaRPr lang="zh-CN" altLang="en-US" sz="2800" b="0">
              <a:latin typeface="Arial" panose="020B0604020202020204" pitchFamily="34" charset="0"/>
              <a:ea typeface="宋体" panose="02010600030101010101" pitchFamily="2" charset="-122"/>
            </a:endParaRPr>
          </a:p>
        </p:txBody>
      </p:sp>
      <p:sp>
        <p:nvSpPr>
          <p:cNvPr id="521219" name="文本占位符 521218"/>
          <p:cNvSpPr>
            <a:spLocks noGrp="1"/>
          </p:cNvSpPr>
          <p:nvPr/>
        </p:nvSpPr>
        <p:spPr>
          <a:xfrm>
            <a:off x="635000" y="5227955"/>
            <a:ext cx="8051800" cy="946150"/>
          </a:xfrm>
          <a:prstGeom prst="rect">
            <a:avLst/>
          </a:prstGeom>
          <a:solidFill>
            <a:srgbClr val="FFFFFF"/>
          </a:solidFill>
          <a:ln w="9525">
            <a:noFill/>
          </a:ln>
        </p:spPr>
        <p:txBody>
          <a:bodyPr anchor="t"/>
          <a:lstStyle/>
          <a:p>
            <a:pPr lvl="0">
              <a:lnSpc>
                <a:spcPct val="110000"/>
              </a:lnSpc>
              <a:spcBef>
                <a:spcPts val="0"/>
              </a:spcBef>
              <a:spcAft>
                <a:spcPts val="0"/>
              </a:spcAft>
              <a:buClr>
                <a:schemeClr val="hlink"/>
              </a:buClr>
              <a:buFont typeface="Wingdings" panose="05000000000000000000" charset="0"/>
              <a:buChar char=""/>
            </a:pPr>
            <a:r>
              <a:rPr lang="zh-CN" altLang="en-US" sz="2400" b="0" dirty="0">
                <a:latin typeface="华文中宋" panose="02010600040101010101" pitchFamily="2" charset="-122"/>
                <a:ea typeface="华文中宋" panose="02010600040101010101" pitchFamily="2" charset="-122"/>
              </a:rPr>
              <a:t>数据库的二级映像：</a:t>
            </a:r>
            <a:r>
              <a:rPr lang="zh-CN" altLang="en-US" sz="2200" b="0" dirty="0">
                <a:latin typeface="华文中宋" panose="02010600040101010101" pitchFamily="2" charset="-122"/>
                <a:ea typeface="华文中宋" panose="02010600040101010101" pitchFamily="2" charset="-122"/>
              </a:rPr>
              <a:t>保证了数据库外模式的稳定性；从底层保证了应用程序的稳定性。</a:t>
            </a:r>
            <a:r>
              <a:rPr lang="zh-CN" altLang="en-US" sz="2800" b="0" dirty="0">
                <a:latin typeface="华文中宋" panose="02010600040101010101" pitchFamily="2" charset="-122"/>
                <a:ea typeface="华文中宋" panose="02010600040101010101" pitchFamily="2" charset="-122"/>
              </a:rPr>
              <a:t> </a:t>
            </a:r>
            <a:endParaRPr lang="zh-CN" altLang="en-US" sz="2800" b="0" dirty="0">
              <a:latin typeface="华文中宋" panose="02010600040101010101" pitchFamily="2" charset="-122"/>
              <a:ea typeface="华文中宋" panose="02010600040101010101" pitchFamily="2" charset="-122"/>
            </a:endParaRPr>
          </a:p>
        </p:txBody>
      </p:sp>
      <p:sp>
        <p:nvSpPr>
          <p:cNvPr id="47109"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2035"/>
                                        </p:tgtEl>
                                        <p:attrNameLst>
                                          <p:attrName>style.visibility</p:attrName>
                                        </p:attrNameLst>
                                      </p:cBhvr>
                                      <p:to>
                                        <p:strVal val="visible"/>
                                      </p:to>
                                    </p:set>
                                    <p:anim calcmode="lin" valueType="num">
                                      <p:cBhvr additive="base">
                                        <p:cTn id="7" dur="500" fill="hold"/>
                                        <p:tgtEl>
                                          <p:spTgt spid="172035"/>
                                        </p:tgtEl>
                                        <p:attrNameLst>
                                          <p:attrName>ppt_x</p:attrName>
                                        </p:attrNameLst>
                                      </p:cBhvr>
                                      <p:tavLst>
                                        <p:tav tm="0">
                                          <p:val>
                                            <p:strVal val="#ppt_x"/>
                                          </p:val>
                                        </p:tav>
                                        <p:tav tm="100000">
                                          <p:val>
                                            <p:strVal val="#ppt_x"/>
                                          </p:val>
                                        </p:tav>
                                      </p:tavLst>
                                    </p:anim>
                                    <p:anim calcmode="lin" valueType="num">
                                      <p:cBhvr additive="base">
                                        <p:cTn id="8" dur="500" fill="hold"/>
                                        <p:tgtEl>
                                          <p:spTgt spid="17203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21219">
                                            <p:txEl>
                                              <p:pRg st="0" end="0"/>
                                            </p:txEl>
                                          </p:spTgt>
                                        </p:tgtEl>
                                        <p:attrNameLst>
                                          <p:attrName>style.visibility</p:attrName>
                                        </p:attrNameLst>
                                      </p:cBhvr>
                                      <p:to>
                                        <p:strVal val="visible"/>
                                      </p:to>
                                    </p:set>
                                    <p:anim calcmode="lin" valueType="num">
                                      <p:cBhvr additive="base">
                                        <p:cTn id="13" dur="500" fill="hold"/>
                                        <p:tgtEl>
                                          <p:spTgt spid="52121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2121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597704" y="1511300"/>
            <a:ext cx="5733200" cy="4799012"/>
          </a:xfrm>
          <a:prstGeom prst="rect">
            <a:avLst/>
          </a:prstGeom>
        </p:spPr>
      </p:pic>
      <p:sp>
        <p:nvSpPr>
          <p:cNvPr id="3" name="圆角矩形标注 3"/>
          <p:cNvSpPr/>
          <p:nvPr/>
        </p:nvSpPr>
        <p:spPr>
          <a:xfrm>
            <a:off x="6330904" y="1803400"/>
            <a:ext cx="2622596" cy="1016000"/>
          </a:xfrm>
          <a:prstGeom prst="wedgeRoundRectCallout">
            <a:avLst>
              <a:gd name="adj1" fmla="val -118188"/>
              <a:gd name="adj2" fmla="val 7605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buNone/>
            </a:pPr>
            <a:r>
              <a:rPr lang="zh-CN" altLang="en-US" sz="2200" dirty="0">
                <a:solidFill>
                  <a:srgbClr val="FF0000"/>
                </a:solidFill>
              </a:rPr>
              <a:t>保证了数据与程序之间的逻辑独立性</a:t>
            </a:r>
            <a:endParaRPr lang="zh-CN" altLang="en-US" sz="2200" dirty="0">
              <a:solidFill>
                <a:srgbClr val="FF0000"/>
              </a:solidFill>
            </a:endParaRPr>
          </a:p>
        </p:txBody>
      </p:sp>
      <p:sp>
        <p:nvSpPr>
          <p:cNvPr id="4" name="圆角矩形标注 4"/>
          <p:cNvSpPr/>
          <p:nvPr/>
        </p:nvSpPr>
        <p:spPr>
          <a:xfrm>
            <a:off x="6521404" y="4546600"/>
            <a:ext cx="2622596" cy="1016000"/>
          </a:xfrm>
          <a:prstGeom prst="wedgeRoundRectCallout">
            <a:avLst>
              <a:gd name="adj1" fmla="val -125936"/>
              <a:gd name="adj2" fmla="val -3394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buNone/>
            </a:pPr>
            <a:r>
              <a:rPr lang="zh-CN" altLang="en-US" sz="2200" dirty="0">
                <a:solidFill>
                  <a:srgbClr val="FF0000"/>
                </a:solidFill>
              </a:rPr>
              <a:t>保证了数据与程序之间的物理独立性</a:t>
            </a:r>
            <a:endParaRPr lang="zh-CN" altLang="en-US" sz="2200" dirty="0">
              <a:solidFill>
                <a:srgbClr val="FF0000"/>
              </a:solidFill>
            </a:endParaRPr>
          </a:p>
        </p:txBody>
      </p:sp>
      <p:sp>
        <p:nvSpPr>
          <p:cNvPr id="5" name="椭圆形标注 5"/>
          <p:cNvSpPr/>
          <p:nvPr/>
        </p:nvSpPr>
        <p:spPr>
          <a:xfrm>
            <a:off x="407204" y="5327650"/>
            <a:ext cx="2315816" cy="469900"/>
          </a:xfrm>
          <a:prstGeom prst="wedgeEllipseCallout">
            <a:avLst>
              <a:gd name="adj1" fmla="val 48453"/>
              <a:gd name="adj2" fmla="val -78368"/>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buNone/>
            </a:pPr>
            <a:r>
              <a:rPr lang="zh-CN" altLang="en-US" dirty="0">
                <a:solidFill>
                  <a:srgbClr val="FF0000"/>
                </a:solidFill>
              </a:rPr>
              <a:t>实际存储表示</a:t>
            </a:r>
            <a:endParaRPr lang="zh-CN" altLang="en-US" dirty="0">
              <a:solidFill>
                <a:srgbClr val="FF0000"/>
              </a:solidFill>
            </a:endParaRPr>
          </a:p>
        </p:txBody>
      </p:sp>
      <p:sp>
        <p:nvSpPr>
          <p:cNvPr id="6" name="椭圆形标注 6"/>
          <p:cNvSpPr/>
          <p:nvPr/>
        </p:nvSpPr>
        <p:spPr>
          <a:xfrm>
            <a:off x="254804" y="3857625"/>
            <a:ext cx="2315816" cy="688975"/>
          </a:xfrm>
          <a:prstGeom prst="wedgeEllipseCallout">
            <a:avLst>
              <a:gd name="adj1" fmla="val 54485"/>
              <a:gd name="adj2" fmla="val -59000"/>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00000"/>
              </a:lnSpc>
              <a:buNone/>
            </a:pPr>
            <a:r>
              <a:rPr lang="zh-CN" altLang="en-US" dirty="0">
                <a:solidFill>
                  <a:srgbClr val="FF0000"/>
                </a:solidFill>
              </a:rPr>
              <a:t>实际存储的逻辑表示</a:t>
            </a:r>
            <a:endParaRPr lang="zh-CN" altLang="en-US" dirty="0">
              <a:solidFill>
                <a:srgbClr val="FF0000"/>
              </a:solidFill>
            </a:endParaRPr>
          </a:p>
        </p:txBody>
      </p:sp>
      <p:sp>
        <p:nvSpPr>
          <p:cNvPr id="7" name="椭圆形标注 7"/>
          <p:cNvSpPr/>
          <p:nvPr/>
        </p:nvSpPr>
        <p:spPr>
          <a:xfrm>
            <a:off x="232416" y="2936875"/>
            <a:ext cx="1939284" cy="688975"/>
          </a:xfrm>
          <a:prstGeom prst="wedgeEllipseCallout">
            <a:avLst>
              <a:gd name="adj1" fmla="val 10613"/>
              <a:gd name="adj2" fmla="val -103240"/>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00000"/>
              </a:lnSpc>
              <a:buNone/>
            </a:pPr>
            <a:r>
              <a:rPr lang="zh-CN" altLang="en-US" dirty="0">
                <a:solidFill>
                  <a:srgbClr val="FF0000"/>
                </a:solidFill>
              </a:rPr>
              <a:t>模式一部分的抽象表示</a:t>
            </a:r>
            <a:endParaRPr lang="zh-CN" altLang="en-US" dirty="0">
              <a:solidFill>
                <a:srgbClr val="FF0000"/>
              </a:solidFill>
            </a:endParaRPr>
          </a:p>
        </p:txBody>
      </p:sp>
      <p:sp>
        <p:nvSpPr>
          <p:cNvPr id="47109"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52226" name="Rectangle 2"/>
          <p:cNvSpPr/>
          <p:nvPr/>
        </p:nvSpPr>
        <p:spPr>
          <a:xfrm>
            <a:off x="457200" y="765175"/>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数据库系统的抽象层次</a:t>
            </a:r>
            <a:endParaRPr lang="en-US" altLang="x-none"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3" name="矩形 2"/>
          <p:cNvSpPr/>
          <p:nvPr/>
        </p:nvSpPr>
        <p:spPr>
          <a:xfrm>
            <a:off x="646793" y="746895"/>
            <a:ext cx="7991856" cy="5152180"/>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3200" kern="100" dirty="0">
                <a:solidFill>
                  <a:srgbClr val="FF0000"/>
                </a:solidFill>
                <a:latin typeface="Calibri" panose="020F0502020204030204" pitchFamily="34" charset="0"/>
                <a:cs typeface="Times New Roman" panose="02020603050405020304" pitchFamily="2" charset="0"/>
              </a:rPr>
              <a:t>知识</a:t>
            </a:r>
            <a:r>
              <a:rPr lang="zh-CN" altLang="en-US" sz="3200" kern="100" dirty="0" smtClean="0">
                <a:solidFill>
                  <a:srgbClr val="FF0000"/>
                </a:solidFill>
                <a:latin typeface="Calibri" panose="020F0502020204030204" pitchFamily="34" charset="0"/>
                <a:cs typeface="Times New Roman" panose="02020603050405020304" pitchFamily="2" charset="0"/>
              </a:rPr>
              <a:t>点小测</a:t>
            </a:r>
            <a:r>
              <a:rPr lang="zh-CN" altLang="zh-CN" sz="3200" kern="100" dirty="0" smtClean="0">
                <a:solidFill>
                  <a:srgbClr val="FF0000"/>
                </a:solidFill>
                <a:latin typeface="Calibri" panose="020F0502020204030204" pitchFamily="34" charset="0"/>
                <a:cs typeface="Times New Roman" panose="02020603050405020304" pitchFamily="2" charset="0"/>
              </a:rPr>
              <a:t>：</a:t>
            </a:r>
            <a:endParaRPr lang="en-US" altLang="zh-CN" sz="2400" kern="100" dirty="0">
              <a:solidFill>
                <a:srgbClr val="0033CC"/>
              </a:solidFill>
              <a:latin typeface="Calibri" panose="020F0502020204030204" pitchFamily="34" charset="0"/>
              <a:cs typeface="Times New Roman" panose="02020603050405020304" pitchFamily="2" charset="0"/>
            </a:endParaRPr>
          </a:p>
          <a:p>
            <a:pPr>
              <a:lnSpc>
                <a:spcPct val="120000"/>
              </a:lnSpc>
              <a:buNone/>
            </a:pP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a:t>
            </a:r>
            <a:r>
              <a:rPr lang="zh-CN" altLang="zh-CN" sz="2400" dirty="0"/>
              <a:t>（</a:t>
            </a:r>
            <a:r>
              <a:rPr lang="en-US" altLang="zh-CN" sz="2400" dirty="0"/>
              <a:t>     </a:t>
            </a:r>
            <a:r>
              <a:rPr lang="zh-CN" altLang="zh-CN" sz="2400" dirty="0"/>
              <a:t>）不是数据模型应满足的要求。</a:t>
            </a:r>
            <a:endParaRPr lang="zh-CN" altLang="zh-CN" sz="2400" dirty="0"/>
          </a:p>
          <a:p>
            <a:pPr>
              <a:lnSpc>
                <a:spcPct val="120000"/>
              </a:lnSpc>
              <a:buNone/>
            </a:pPr>
            <a:r>
              <a:rPr lang="en-US" altLang="zh-CN" dirty="0"/>
              <a:t>     </a:t>
            </a:r>
            <a:r>
              <a:rPr lang="en-US" altLang="zh-CN" sz="2200" dirty="0"/>
              <a:t>A</a:t>
            </a:r>
            <a:r>
              <a:rPr lang="zh-CN" altLang="zh-CN" sz="2200" dirty="0"/>
              <a:t>、 真实地描述现实世界 </a:t>
            </a:r>
            <a:r>
              <a:rPr lang="en-US" altLang="zh-CN" sz="2200" dirty="0"/>
              <a:t>        B</a:t>
            </a:r>
            <a:r>
              <a:rPr lang="zh-CN" altLang="zh-CN" sz="2200" dirty="0"/>
              <a:t>、 用户易于理解 </a:t>
            </a:r>
            <a:endParaRPr lang="zh-CN" altLang="zh-CN" sz="2200" dirty="0"/>
          </a:p>
          <a:p>
            <a:pPr>
              <a:lnSpc>
                <a:spcPct val="120000"/>
              </a:lnSpc>
              <a:buNone/>
            </a:pPr>
            <a:r>
              <a:rPr lang="en-US" altLang="zh-CN" sz="2200" dirty="0"/>
              <a:t>    C</a:t>
            </a:r>
            <a:r>
              <a:rPr lang="zh-CN" altLang="zh-CN" sz="2200" dirty="0"/>
              <a:t>、 有相当的理论基础 </a:t>
            </a:r>
            <a:r>
              <a:rPr lang="en-US" altLang="zh-CN" sz="2200" dirty="0"/>
              <a:t>            D</a:t>
            </a:r>
            <a:r>
              <a:rPr lang="zh-CN" altLang="zh-CN" sz="2200" dirty="0"/>
              <a:t>、 易于在计算机上实现 </a:t>
            </a:r>
            <a:endParaRPr lang="zh-CN" altLang="zh-CN" sz="2200" dirty="0"/>
          </a:p>
          <a:p>
            <a:pPr>
              <a:lnSpc>
                <a:spcPct val="120000"/>
              </a:lnSpc>
              <a:buNone/>
            </a:pP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下列不属于数据模型的三要素的是（</a:t>
            </a:r>
            <a:r>
              <a:rPr lang="en-US" altLang="zh-CN" sz="2400" kern="100" dirty="0">
                <a:latin typeface="Calibri" panose="020F0502020204030204" pitchFamily="34" charset="0"/>
                <a:cs typeface="Times New Roman" panose="02020603050405020304" pitchFamily="2" charset="0"/>
              </a:rPr>
              <a:t>       </a:t>
            </a:r>
            <a:r>
              <a:rPr lang="zh-CN" altLang="zh-CN" sz="2400" kern="100" dirty="0">
                <a:latin typeface="Calibri" panose="020F0502020204030204" pitchFamily="34" charset="0"/>
                <a:cs typeface="Times New Roman" panose="02020603050405020304" pitchFamily="2" charset="0"/>
              </a:rPr>
              <a:t>）</a:t>
            </a:r>
            <a:endParaRPr lang="zh-CN" altLang="zh-CN" sz="2400" kern="100" dirty="0">
              <a:latin typeface="Calibri" panose="020F0502020204030204" pitchFamily="34" charset="0"/>
              <a:cs typeface="Times New Roman" panose="02020603050405020304" pitchFamily="2" charset="0"/>
            </a:endParaRPr>
          </a:p>
          <a:p>
            <a:pPr>
              <a:lnSpc>
                <a:spcPct val="120000"/>
              </a:lnSpc>
              <a:buNone/>
            </a:pPr>
            <a:r>
              <a:rPr lang="en-US" altLang="zh-CN" sz="2200" dirty="0"/>
              <a:t>     A</a:t>
            </a:r>
            <a:r>
              <a:rPr lang="zh-CN" altLang="zh-CN" sz="2200" dirty="0"/>
              <a:t>、数据结构 </a:t>
            </a:r>
            <a:r>
              <a:rPr lang="en-US" altLang="zh-CN" sz="2200" dirty="0"/>
              <a:t>   B</a:t>
            </a:r>
            <a:r>
              <a:rPr lang="zh-CN" altLang="zh-CN" sz="2200" dirty="0"/>
              <a:t>、数据约束 </a:t>
            </a:r>
            <a:r>
              <a:rPr lang="en-US" altLang="zh-CN" sz="2200" dirty="0"/>
              <a:t>   C</a:t>
            </a:r>
            <a:r>
              <a:rPr lang="zh-CN" altLang="zh-CN" sz="2200" dirty="0"/>
              <a:t>、数据操作 </a:t>
            </a:r>
            <a:r>
              <a:rPr lang="en-US" altLang="zh-CN" sz="2200" dirty="0"/>
              <a:t>  D</a:t>
            </a:r>
            <a:r>
              <a:rPr lang="zh-CN" altLang="zh-CN" sz="2200" dirty="0"/>
              <a:t>、数据存储 </a:t>
            </a:r>
            <a:endParaRPr lang="zh-CN" altLang="zh-CN" sz="2200" dirty="0"/>
          </a:p>
          <a:p>
            <a:pPr algn="just">
              <a:lnSpc>
                <a:spcPct val="120000"/>
              </a:lnSpc>
              <a:spcAft>
                <a:spcPts val="0"/>
              </a:spcAft>
              <a:buNone/>
            </a:pPr>
            <a:r>
              <a:rPr lang="en-US" altLang="zh-CN" sz="2400" kern="100" dirty="0">
                <a:latin typeface="Calibri" panose="020F0502020204030204" pitchFamily="34" charset="0"/>
                <a:cs typeface="Times New Roman" panose="02020603050405020304" pitchFamily="2" charset="0"/>
              </a:rPr>
              <a:t>3</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数据模型的三个标准是</a:t>
            </a:r>
            <a:r>
              <a:rPr lang="en-US" altLang="zh-CN" sz="2400" kern="100" dirty="0">
                <a:latin typeface="Calibri" panose="020F0502020204030204" pitchFamily="34" charset="0"/>
                <a:cs typeface="Times New Roman" panose="02020603050405020304" pitchFamily="2" charset="0"/>
              </a:rPr>
              <a:t>___________</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 ___________</a:t>
            </a:r>
            <a:r>
              <a:rPr lang="zh-CN" altLang="en-US" sz="2400" kern="100" dirty="0">
                <a:latin typeface="Calibri" panose="020F0502020204030204" pitchFamily="34" charset="0"/>
                <a:cs typeface="Times New Roman" panose="02020603050405020304" pitchFamily="2" charset="0"/>
              </a:rPr>
              <a:t>和</a:t>
            </a:r>
            <a:r>
              <a:rPr lang="en-US" altLang="zh-CN" sz="2400" kern="100" dirty="0">
                <a:latin typeface="Calibri" panose="020F0502020204030204" pitchFamily="34" charset="0"/>
                <a:cs typeface="Times New Roman" panose="02020603050405020304" pitchFamily="2" charset="0"/>
              </a:rPr>
              <a:t>_______________</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20000"/>
              </a:lnSpc>
              <a:spcAft>
                <a:spcPts val="0"/>
              </a:spcAft>
              <a:buNone/>
            </a:pPr>
            <a:r>
              <a:rPr lang="en-US" altLang="zh-CN" sz="2400" kern="100" dirty="0">
                <a:latin typeface="Calibri" panose="020F0502020204030204" pitchFamily="34" charset="0"/>
                <a:cs typeface="Times New Roman" panose="02020603050405020304" pitchFamily="2" charset="0"/>
              </a:rPr>
              <a:t>4</a:t>
            </a:r>
            <a:r>
              <a:rPr lang="zh-CN" altLang="en-US" sz="2400" kern="100" dirty="0">
                <a:latin typeface="Calibri" panose="020F0502020204030204" pitchFamily="34" charset="0"/>
                <a:cs typeface="Times New Roman" panose="02020603050405020304" pitchFamily="2" charset="0"/>
              </a:rPr>
              <a:t>、数据库系统的三层结构模式包括</a:t>
            </a:r>
            <a:r>
              <a:rPr lang="en-US" altLang="zh-CN" sz="2400" kern="100" dirty="0">
                <a:latin typeface="Calibri" panose="020F0502020204030204" pitchFamily="34" charset="0"/>
                <a:cs typeface="Times New Roman" panose="02020603050405020304" pitchFamily="2" charset="0"/>
              </a:rPr>
              <a:t>__________</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 ___________</a:t>
            </a:r>
            <a:r>
              <a:rPr lang="zh-CN" altLang="en-US" sz="2400" kern="100" dirty="0">
                <a:latin typeface="Calibri" panose="020F0502020204030204" pitchFamily="34" charset="0"/>
                <a:cs typeface="Times New Roman" panose="02020603050405020304" pitchFamily="2" charset="0"/>
              </a:rPr>
              <a:t>和</a:t>
            </a:r>
            <a:r>
              <a:rPr lang="en-US" altLang="zh-CN" sz="2400" kern="100" dirty="0">
                <a:latin typeface="Calibri" panose="020F0502020204030204" pitchFamily="34" charset="0"/>
                <a:cs typeface="Times New Roman" panose="02020603050405020304" pitchFamily="2" charset="0"/>
              </a:rPr>
              <a:t>_____________</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20000"/>
              </a:lnSpc>
              <a:spcAft>
                <a:spcPts val="0"/>
              </a:spcAft>
              <a:buNone/>
            </a:pPr>
            <a:r>
              <a:rPr lang="en-US" altLang="zh-CN" sz="2400" kern="100" dirty="0">
                <a:latin typeface="Calibri" panose="020F0502020204030204" pitchFamily="34" charset="0"/>
                <a:cs typeface="Times New Roman" panose="02020603050405020304" pitchFamily="2" charset="0"/>
              </a:rPr>
              <a:t>5</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什么是数据库系统的三层抽象？为什么要三层抽象？</a:t>
            </a:r>
            <a:endParaRPr lang="en-US" altLang="zh-CN" sz="2400" kern="100" dirty="0">
              <a:latin typeface="Calibri" panose="020F0502020204030204" pitchFamily="34" charset="0"/>
              <a:cs typeface="Times New Roman" panose="02020603050405020304" pitchFamily="2" charset="0"/>
            </a:endParaRP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46793" y="1490342"/>
            <a:ext cx="7991856" cy="4659609"/>
          </a:xfrm>
          <a:prstGeom prst="rect">
            <a:avLst/>
          </a:prstGeom>
        </p:spPr>
        <p:txBody>
          <a:bodyPr wrap="square">
            <a:spAutoFit/>
          </a:bodyPr>
          <a:lstStyle/>
          <a:p>
            <a:pPr>
              <a:spcBef>
                <a:spcPts val="600"/>
              </a:spcBef>
              <a:buNone/>
            </a:pP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a:t>
            </a:r>
            <a:r>
              <a:rPr lang="zh-CN" altLang="zh-CN" sz="2400" dirty="0"/>
              <a:t>（</a:t>
            </a:r>
            <a:r>
              <a:rPr lang="en-US" altLang="zh-CN" sz="2400" dirty="0"/>
              <a:t> </a:t>
            </a:r>
            <a:r>
              <a:rPr lang="en-US" altLang="zh-CN" sz="2400" dirty="0">
                <a:solidFill>
                  <a:srgbClr val="FF0000"/>
                </a:solidFill>
              </a:rPr>
              <a:t>  C  </a:t>
            </a:r>
            <a:r>
              <a:rPr lang="zh-CN" altLang="zh-CN" sz="2400" dirty="0"/>
              <a:t>）不是数据模型应满足的要求。</a:t>
            </a:r>
            <a:endParaRPr lang="zh-CN" altLang="zh-CN" sz="2400" dirty="0"/>
          </a:p>
          <a:p>
            <a:pPr>
              <a:spcBef>
                <a:spcPts val="600"/>
              </a:spcBef>
              <a:buNone/>
            </a:pPr>
            <a:r>
              <a:rPr lang="en-US" altLang="zh-CN" dirty="0"/>
              <a:t>     </a:t>
            </a:r>
            <a:r>
              <a:rPr lang="en-US" altLang="zh-CN" sz="2200" dirty="0"/>
              <a:t>A</a:t>
            </a:r>
            <a:r>
              <a:rPr lang="zh-CN" altLang="zh-CN" sz="2200" dirty="0"/>
              <a:t>、 真实地描述现实世界 </a:t>
            </a:r>
            <a:r>
              <a:rPr lang="en-US" altLang="zh-CN" sz="2200" dirty="0"/>
              <a:t>        B</a:t>
            </a:r>
            <a:r>
              <a:rPr lang="zh-CN" altLang="zh-CN" sz="2200" dirty="0"/>
              <a:t>、 用户易于理解 </a:t>
            </a:r>
            <a:endParaRPr lang="zh-CN" altLang="zh-CN" sz="2200" dirty="0"/>
          </a:p>
          <a:p>
            <a:pPr>
              <a:spcBef>
                <a:spcPts val="600"/>
              </a:spcBef>
              <a:buNone/>
            </a:pPr>
            <a:r>
              <a:rPr lang="en-US" altLang="zh-CN" sz="2200" dirty="0"/>
              <a:t>    C</a:t>
            </a:r>
            <a:r>
              <a:rPr lang="zh-CN" altLang="zh-CN" sz="2200" dirty="0"/>
              <a:t>、 有相当的理论基础 </a:t>
            </a:r>
            <a:r>
              <a:rPr lang="en-US" altLang="zh-CN" sz="2200" dirty="0"/>
              <a:t>            D</a:t>
            </a:r>
            <a:r>
              <a:rPr lang="zh-CN" altLang="zh-CN" sz="2200" dirty="0"/>
              <a:t>、 易于在计算机上实现 </a:t>
            </a:r>
            <a:endParaRPr lang="zh-CN" altLang="zh-CN" sz="2200" dirty="0"/>
          </a:p>
          <a:p>
            <a:pPr>
              <a:spcBef>
                <a:spcPts val="600"/>
              </a:spcBef>
              <a:buNone/>
            </a:pP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下列不属于数据模型的三要素的是（</a:t>
            </a:r>
            <a:r>
              <a:rPr lang="en-US" altLang="zh-CN" sz="2400" kern="100" dirty="0">
                <a:latin typeface="Calibri" panose="020F0502020204030204" pitchFamily="34" charset="0"/>
                <a:cs typeface="Times New Roman" panose="02020603050405020304" pitchFamily="2" charset="0"/>
              </a:rPr>
              <a:t>   </a:t>
            </a:r>
            <a:r>
              <a:rPr lang="en-US" altLang="zh-CN" sz="2400" kern="100" dirty="0">
                <a:solidFill>
                  <a:srgbClr val="FF0000"/>
                </a:solidFill>
                <a:latin typeface="Calibri" panose="020F0502020204030204" pitchFamily="34" charset="0"/>
                <a:cs typeface="Times New Roman" panose="02020603050405020304" pitchFamily="2" charset="0"/>
              </a:rPr>
              <a:t>D </a:t>
            </a:r>
            <a:r>
              <a:rPr lang="en-US" altLang="zh-CN" sz="2400" kern="100" dirty="0">
                <a:latin typeface="Calibri" panose="020F0502020204030204" pitchFamily="34" charset="0"/>
                <a:cs typeface="Times New Roman" panose="02020603050405020304" pitchFamily="2" charset="0"/>
              </a:rPr>
              <a:t>  </a:t>
            </a:r>
            <a:r>
              <a:rPr lang="zh-CN" altLang="zh-CN" sz="2400" kern="100" dirty="0">
                <a:latin typeface="Calibri" panose="020F0502020204030204" pitchFamily="34" charset="0"/>
                <a:cs typeface="Times New Roman" panose="02020603050405020304" pitchFamily="2" charset="0"/>
              </a:rPr>
              <a:t>）</a:t>
            </a:r>
            <a:endParaRPr lang="zh-CN" altLang="zh-CN" sz="2400" kern="100" dirty="0">
              <a:latin typeface="Calibri" panose="020F0502020204030204" pitchFamily="34" charset="0"/>
              <a:cs typeface="Times New Roman" panose="02020603050405020304" pitchFamily="2" charset="0"/>
            </a:endParaRPr>
          </a:p>
          <a:p>
            <a:pPr>
              <a:spcBef>
                <a:spcPts val="600"/>
              </a:spcBef>
              <a:buNone/>
            </a:pPr>
            <a:r>
              <a:rPr lang="en-US" altLang="zh-CN" sz="2200" dirty="0"/>
              <a:t>     A</a:t>
            </a:r>
            <a:r>
              <a:rPr lang="zh-CN" altLang="zh-CN" sz="2200" dirty="0"/>
              <a:t>、数据结构 </a:t>
            </a:r>
            <a:r>
              <a:rPr lang="en-US" altLang="zh-CN" sz="2200" dirty="0"/>
              <a:t>   B</a:t>
            </a:r>
            <a:r>
              <a:rPr lang="zh-CN" altLang="zh-CN" sz="2200" dirty="0"/>
              <a:t>、数据约束 </a:t>
            </a:r>
            <a:r>
              <a:rPr lang="en-US" altLang="zh-CN" sz="2200" dirty="0"/>
              <a:t>   C</a:t>
            </a:r>
            <a:r>
              <a:rPr lang="zh-CN" altLang="zh-CN" sz="2200" dirty="0"/>
              <a:t>、数据操作 </a:t>
            </a:r>
            <a:r>
              <a:rPr lang="en-US" altLang="zh-CN" sz="2200" dirty="0"/>
              <a:t>  D</a:t>
            </a:r>
            <a:r>
              <a:rPr lang="zh-CN" altLang="zh-CN" sz="2200" dirty="0"/>
              <a:t>、数据存储 </a:t>
            </a:r>
            <a:endParaRPr lang="zh-CN" altLang="zh-CN" sz="2200" dirty="0"/>
          </a:p>
          <a:p>
            <a:pPr algn="just">
              <a:lnSpc>
                <a:spcPct val="120000"/>
              </a:lnSpc>
              <a:spcBef>
                <a:spcPts val="600"/>
              </a:spcBef>
              <a:spcAft>
                <a:spcPts val="0"/>
              </a:spcAft>
              <a:buNone/>
            </a:pPr>
            <a:r>
              <a:rPr lang="en-US" altLang="zh-CN" sz="2400" kern="100" dirty="0">
                <a:latin typeface="Calibri" panose="020F0502020204030204" pitchFamily="34" charset="0"/>
                <a:cs typeface="Times New Roman" panose="02020603050405020304" pitchFamily="2" charset="0"/>
              </a:rPr>
              <a:t>3</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数据模型的三个标准是</a:t>
            </a:r>
            <a:r>
              <a:rPr lang="en-US" altLang="zh-CN" sz="2400" u="sng" kern="100" dirty="0">
                <a:solidFill>
                  <a:srgbClr val="FF0000"/>
                </a:solidFill>
                <a:latin typeface="Calibri" panose="020F0502020204030204" pitchFamily="34" charset="0"/>
                <a:cs typeface="Times New Roman" panose="02020603050405020304" pitchFamily="2" charset="0"/>
              </a:rPr>
              <a:t> </a:t>
            </a:r>
            <a:r>
              <a:rPr lang="zh-CN" altLang="en-US" sz="2400" u="sng" kern="100" dirty="0">
                <a:solidFill>
                  <a:srgbClr val="FF0000"/>
                </a:solidFill>
                <a:latin typeface="Calibri" panose="020F0502020204030204" pitchFamily="34" charset="0"/>
                <a:cs typeface="Times New Roman" panose="02020603050405020304" pitchFamily="2" charset="0"/>
              </a:rPr>
              <a:t>真实地描述现实世界 </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 _</a:t>
            </a:r>
            <a:r>
              <a:rPr lang="zh-CN" altLang="en-US" sz="2400" u="sng" kern="100" dirty="0">
                <a:solidFill>
                  <a:srgbClr val="FF0000"/>
                </a:solidFill>
                <a:latin typeface="Calibri" panose="020F0502020204030204" pitchFamily="34" charset="0"/>
                <a:cs typeface="Times New Roman" panose="02020603050405020304" pitchFamily="2" charset="0"/>
              </a:rPr>
              <a:t>易于被用户所理解</a:t>
            </a:r>
            <a:r>
              <a:rPr lang="en-US" altLang="zh-CN" sz="2400" u="sng" kern="100" dirty="0">
                <a:solidFill>
                  <a:srgbClr val="FF0000"/>
                </a:solidFill>
                <a:latin typeface="Calibri" panose="020F0502020204030204" pitchFamily="34" charset="0"/>
                <a:cs typeface="Times New Roman" panose="02020603050405020304" pitchFamily="2" charset="0"/>
              </a:rPr>
              <a:t>__</a:t>
            </a:r>
            <a:r>
              <a:rPr lang="zh-CN" altLang="en-US" sz="2400" kern="100" dirty="0">
                <a:latin typeface="Calibri" panose="020F0502020204030204" pitchFamily="34" charset="0"/>
                <a:cs typeface="Times New Roman" panose="02020603050405020304" pitchFamily="2" charset="0"/>
              </a:rPr>
              <a:t>和</a:t>
            </a:r>
            <a:r>
              <a:rPr lang="en-US" altLang="zh-CN" sz="2400" u="sng" kern="100" dirty="0">
                <a:solidFill>
                  <a:srgbClr val="FF0000"/>
                </a:solidFill>
                <a:latin typeface="Calibri" panose="020F0502020204030204" pitchFamily="34" charset="0"/>
                <a:cs typeface="Times New Roman" panose="02020603050405020304" pitchFamily="2" charset="0"/>
              </a:rPr>
              <a:t>_</a:t>
            </a:r>
            <a:r>
              <a:rPr lang="zh-CN" altLang="en-US" sz="2400" u="sng" kern="100" dirty="0">
                <a:solidFill>
                  <a:srgbClr val="FF0000"/>
                </a:solidFill>
                <a:latin typeface="Calibri" panose="020F0502020204030204" pitchFamily="34" charset="0"/>
                <a:cs typeface="Times New Roman" panose="02020603050405020304" pitchFamily="2" charset="0"/>
              </a:rPr>
              <a:t>易于被计算机实现</a:t>
            </a:r>
            <a:r>
              <a:rPr lang="en-US" altLang="zh-CN" sz="2400" u="sng" kern="100" dirty="0">
                <a:solidFill>
                  <a:srgbClr val="FF0000"/>
                </a:solidFill>
                <a:latin typeface="Calibri" panose="020F0502020204030204" pitchFamily="34" charset="0"/>
                <a:cs typeface="Times New Roman" panose="02020603050405020304" pitchFamily="2" charset="0"/>
              </a:rPr>
              <a:t>__</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20000"/>
              </a:lnSpc>
              <a:spcBef>
                <a:spcPts val="600"/>
              </a:spcBef>
              <a:spcAft>
                <a:spcPts val="0"/>
              </a:spcAft>
              <a:buNone/>
            </a:pPr>
            <a:r>
              <a:rPr lang="en-US" altLang="zh-CN" sz="2400" kern="100" dirty="0">
                <a:latin typeface="Calibri" panose="020F0502020204030204" pitchFamily="34" charset="0"/>
                <a:cs typeface="Times New Roman" panose="02020603050405020304" pitchFamily="2" charset="0"/>
              </a:rPr>
              <a:t>4</a:t>
            </a:r>
            <a:r>
              <a:rPr lang="zh-CN" altLang="en-US" sz="2400" kern="100" dirty="0">
                <a:latin typeface="Calibri" panose="020F0502020204030204" pitchFamily="34" charset="0"/>
                <a:cs typeface="Times New Roman" panose="02020603050405020304" pitchFamily="2" charset="0"/>
              </a:rPr>
              <a:t>、数据库系统的三层结构模式包括</a:t>
            </a:r>
            <a:r>
              <a:rPr lang="en-US" altLang="zh-CN" sz="2400" u="sng" kern="100" dirty="0">
                <a:solidFill>
                  <a:srgbClr val="FF0000"/>
                </a:solidFill>
                <a:latin typeface="Calibri" panose="020F0502020204030204" pitchFamily="34" charset="0"/>
                <a:cs typeface="Times New Roman" panose="02020603050405020304" pitchFamily="2" charset="0"/>
              </a:rPr>
              <a:t>_</a:t>
            </a:r>
            <a:r>
              <a:rPr lang="zh-CN" altLang="en-US" sz="2400" u="sng" kern="100" dirty="0">
                <a:solidFill>
                  <a:srgbClr val="FF0000"/>
                </a:solidFill>
                <a:latin typeface="Calibri" panose="020F0502020204030204" pitchFamily="34" charset="0"/>
                <a:cs typeface="Times New Roman" panose="02020603050405020304" pitchFamily="2" charset="0"/>
              </a:rPr>
              <a:t>视图模式</a:t>
            </a:r>
            <a:r>
              <a:rPr lang="en-US" altLang="zh-CN" sz="2400" kern="100" dirty="0">
                <a:solidFill>
                  <a:srgbClr val="FF0000"/>
                </a:solidFill>
                <a:latin typeface="Calibri" panose="020F0502020204030204" pitchFamily="34" charset="0"/>
                <a:cs typeface="Times New Roman" panose="02020603050405020304" pitchFamily="2" charset="0"/>
              </a:rPr>
              <a:t>_</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 </a:t>
            </a:r>
            <a:r>
              <a:rPr lang="en-US" altLang="zh-CN" sz="2400" u="sng" kern="100" dirty="0">
                <a:solidFill>
                  <a:srgbClr val="FF0000"/>
                </a:solidFill>
                <a:latin typeface="Calibri" panose="020F0502020204030204" pitchFamily="34" charset="0"/>
                <a:cs typeface="Times New Roman" panose="02020603050405020304" pitchFamily="2" charset="0"/>
              </a:rPr>
              <a:t>_</a:t>
            </a:r>
            <a:r>
              <a:rPr lang="zh-CN" altLang="en-US" sz="2400" u="sng" kern="100" dirty="0">
                <a:solidFill>
                  <a:srgbClr val="FF0000"/>
                </a:solidFill>
                <a:latin typeface="Calibri" panose="020F0502020204030204" pitchFamily="34" charset="0"/>
                <a:cs typeface="Times New Roman" panose="02020603050405020304" pitchFamily="2" charset="0"/>
              </a:rPr>
              <a:t>概念模式</a:t>
            </a:r>
            <a:r>
              <a:rPr lang="en-US" altLang="zh-CN" sz="2400" u="sng" kern="100" dirty="0">
                <a:solidFill>
                  <a:srgbClr val="FF0000"/>
                </a:solidFill>
                <a:latin typeface="Calibri" panose="020F0502020204030204" pitchFamily="34" charset="0"/>
                <a:cs typeface="Times New Roman" panose="02020603050405020304" pitchFamily="2" charset="0"/>
              </a:rPr>
              <a:t>__</a:t>
            </a:r>
            <a:r>
              <a:rPr lang="zh-CN" altLang="en-US" sz="2400" kern="100" dirty="0">
                <a:latin typeface="Calibri" panose="020F0502020204030204" pitchFamily="34" charset="0"/>
                <a:cs typeface="Times New Roman" panose="02020603050405020304" pitchFamily="2" charset="0"/>
              </a:rPr>
              <a:t>和</a:t>
            </a:r>
            <a:r>
              <a:rPr lang="en-US" altLang="zh-CN" sz="2400" kern="100" dirty="0">
                <a:solidFill>
                  <a:srgbClr val="FF0000"/>
                </a:solidFill>
                <a:latin typeface="Calibri" panose="020F0502020204030204" pitchFamily="34" charset="0"/>
                <a:cs typeface="Times New Roman" panose="02020603050405020304" pitchFamily="2" charset="0"/>
              </a:rPr>
              <a:t>_</a:t>
            </a:r>
            <a:r>
              <a:rPr lang="zh-CN" altLang="en-US" sz="2400" u="sng" kern="100" dirty="0">
                <a:solidFill>
                  <a:srgbClr val="FF0000"/>
                </a:solidFill>
                <a:latin typeface="Calibri" panose="020F0502020204030204" pitchFamily="34" charset="0"/>
                <a:cs typeface="Times New Roman" panose="02020603050405020304" pitchFamily="2" charset="0"/>
              </a:rPr>
              <a:t>内模式</a:t>
            </a:r>
            <a:r>
              <a:rPr lang="en-US" altLang="zh-CN" sz="2400" kern="100" dirty="0">
                <a:solidFill>
                  <a:srgbClr val="FF0000"/>
                </a:solidFill>
                <a:latin typeface="Calibri" panose="020F0502020204030204" pitchFamily="34" charset="0"/>
                <a:cs typeface="Times New Roman" panose="02020603050405020304" pitchFamily="2" charset="0"/>
              </a:rPr>
              <a:t>_</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p:txBody>
      </p:sp>
      <p:sp>
        <p:nvSpPr>
          <p:cNvPr id="3" name="矩形 2"/>
          <p:cNvSpPr/>
          <p:nvPr/>
        </p:nvSpPr>
        <p:spPr>
          <a:xfrm>
            <a:off x="457200" y="729512"/>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0033CC"/>
                </a:solidFill>
                <a:latin typeface="Calibri" panose="020F0502020204030204" pitchFamily="34" charset="0"/>
                <a:cs typeface="Times New Roman" panose="02020603050405020304" pitchFamily="2" charset="0"/>
              </a:rPr>
              <a:t>知识点小测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07568" y="1452363"/>
            <a:ext cx="7863840" cy="4284250"/>
          </a:xfrm>
          <a:prstGeom prst="rect">
            <a:avLst/>
          </a:prstGeom>
        </p:spPr>
        <p:txBody>
          <a:bodyPr wrap="square">
            <a:spAutoFit/>
          </a:bodyPr>
          <a:lstStyle/>
          <a:p>
            <a:pPr algn="just">
              <a:spcAft>
                <a:spcPts val="0"/>
              </a:spcAft>
              <a:buNone/>
            </a:pPr>
            <a:r>
              <a:rPr lang="en-US" altLang="zh-CN" sz="2400" kern="100" dirty="0">
                <a:latin typeface="Calibri" panose="020F0502020204030204" pitchFamily="34" charset="0"/>
                <a:cs typeface="Times New Roman" panose="02020603050405020304" pitchFamily="2" charset="0"/>
              </a:rPr>
              <a:t>5</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什么是数据库系统的三层抽象？为什么要三层抽象？</a:t>
            </a:r>
            <a:endParaRPr lang="en-US" altLang="zh-CN" sz="24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答</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1</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）数据库系统的三层抽象是指视图抽象、概念抽象和物理抽象</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endPar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a:p>
            <a:pPr algn="just">
              <a:lnSpc>
                <a:spcPct val="125000"/>
              </a:lnSpc>
              <a:spcAft>
                <a:spcPts val="0"/>
              </a:spcAft>
              <a:buNone/>
            </a:pP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    </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2</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）三层抽象的原因：</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1</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）传统的数据模型难以同时实现“易于被用户所理解”和“易于在计算机上实现”，因此需要分而治之，通过划分阶段，不同阶段采用不同的数据模型。</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2</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）三层抽象与数据库实际的设计过程相吻合，需要在分组调研设计的基础上进行整体设计，继而根据数据量及要求采用</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DBMS</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存储数据。</a:t>
            </a:r>
            <a:endPar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p:txBody>
      </p:sp>
      <p:sp>
        <p:nvSpPr>
          <p:cNvPr id="3" name="矩形 2"/>
          <p:cNvSpPr/>
          <p:nvPr/>
        </p:nvSpPr>
        <p:spPr>
          <a:xfrm>
            <a:off x="595993" y="710523"/>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0033CC"/>
                </a:solidFill>
                <a:latin typeface="Calibri" panose="020F0502020204030204" pitchFamily="34" charset="0"/>
                <a:cs typeface="Times New Roman" panose="02020603050405020304" pitchFamily="2" charset="0"/>
              </a:rPr>
              <a:t>知识点小测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三、数据模型与数据库系统的抽象层次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txBox="1"/>
          <p:nvPr/>
        </p:nvSpPr>
        <p:spPr>
          <a:xfrm>
            <a:off x="581025" y="2293938"/>
            <a:ext cx="7997825" cy="1363662"/>
          </a:xfrm>
          <a:prstGeom prst="rect">
            <a:avLst/>
          </a:prstGeom>
          <a:noFill/>
          <a:ln w="9525">
            <a:noFill/>
          </a:ln>
        </p:spPr>
        <p:txBody>
          <a:bodyPr anchor="t"/>
          <a:lstStyle/>
          <a:p>
            <a:pPr marL="342900" lvl="0" indent="-342900">
              <a:lnSpc>
                <a:spcPct val="114000"/>
              </a:lnSpc>
              <a:buClr>
                <a:srgbClr val="0033CC"/>
              </a:buClr>
              <a:buSzPct val="80000"/>
              <a:buFont typeface="Wingdings" panose="05000000000000000000" pitchFamily="2" charset="2"/>
              <a:buChar char="u"/>
            </a:pPr>
            <a:r>
              <a:rPr lang="zh-CN" altLang="en-US" sz="2400" u="sng" dirty="0">
                <a:solidFill>
                  <a:srgbClr val="FF0000"/>
                </a:solidFill>
                <a:latin typeface="Arial" panose="020B0604020202020204" pitchFamily="34" charset="0"/>
                <a:ea typeface="宋体" panose="02010600030101010101" pitchFamily="2" charset="-122"/>
              </a:rPr>
              <a:t>最终用户（end user）：</a:t>
            </a:r>
            <a:r>
              <a:rPr lang="zh-CN" altLang="en-US" sz="2200" b="0" dirty="0">
                <a:latin typeface="楷体" panose="02010609060101010101" pitchFamily="1" charset="-122"/>
                <a:ea typeface="楷体" panose="02010609060101010101" pitchFamily="1" charset="-122"/>
              </a:rPr>
              <a:t>是现实系统中的业务人员，</a:t>
            </a:r>
            <a:r>
              <a:rPr lang="zh-CN" altLang="en-US" sz="2200" u="sng" dirty="0">
                <a:solidFill>
                  <a:srgbClr val="0033CC"/>
                </a:solidFill>
                <a:latin typeface="楷体" panose="02010609060101010101" pitchFamily="1" charset="-122"/>
                <a:ea typeface="楷体" panose="02010609060101010101" pitchFamily="1" charset="-122"/>
              </a:rPr>
              <a:t>为了查询、更新、以及产生报表等需要而访问数据库的人</a:t>
            </a:r>
            <a:r>
              <a:rPr lang="zh-CN" altLang="en-US" sz="220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如银行的柜员、商业分析师等。</a:t>
            </a:r>
            <a:endParaRPr lang="zh-CN" altLang="en-US" sz="2200" b="0" dirty="0">
              <a:latin typeface="楷体" panose="02010609060101010101" pitchFamily="1" charset="-122"/>
              <a:ea typeface="楷体" panose="02010609060101010101" pitchFamily="1" charset="-122"/>
            </a:endParaRPr>
          </a:p>
        </p:txBody>
      </p:sp>
      <p:sp>
        <p:nvSpPr>
          <p:cNvPr id="53250" name="矩形 1"/>
          <p:cNvSpPr/>
          <p:nvPr/>
        </p:nvSpPr>
        <p:spPr>
          <a:xfrm>
            <a:off x="544513" y="1416050"/>
            <a:ext cx="8164512" cy="893763"/>
          </a:xfrm>
          <a:prstGeom prst="rect">
            <a:avLst/>
          </a:prstGeom>
          <a:noFill/>
          <a:ln w="9525">
            <a:noFill/>
          </a:ln>
        </p:spPr>
        <p:txBody>
          <a:bodyPr anchor="t">
            <a:spAutoFit/>
          </a:bodyPr>
          <a:lstStyle/>
          <a:p>
            <a:pPr lvl="0" indent="0">
              <a:lnSpc>
                <a:spcPct val="120000"/>
              </a:lnSpc>
              <a:buNone/>
            </a:pPr>
            <a:r>
              <a:rPr lang="zh-CN" altLang="en-US" sz="2200" dirty="0">
                <a:latin typeface="楷体" panose="02010609060101010101" pitchFamily="1" charset="-122"/>
                <a:ea typeface="楷体" panose="02010609060101010101" pitchFamily="1" charset="-122"/>
              </a:rPr>
              <a:t>    </a:t>
            </a:r>
            <a:r>
              <a:rPr lang="zh-CN" altLang="en-US" sz="2200" dirty="0">
                <a:latin typeface="Arial" panose="020B0604020202020204" pitchFamily="34" charset="0"/>
                <a:ea typeface="宋体" panose="02010600030101010101" pitchFamily="2" charset="-122"/>
              </a:rPr>
              <a:t>一个数据库系统建设，涉及许多人员，他们既为数据库的建立和保持正常运行提供各种支持，也给系统施加各种影响。</a:t>
            </a:r>
            <a:endParaRPr lang="zh-CN" altLang="en-US" sz="2200" dirty="0">
              <a:latin typeface="Arial" panose="020B0604020202020204" pitchFamily="34" charset="0"/>
              <a:ea typeface="宋体" panose="02010600030101010101" pitchFamily="2" charset="-122"/>
            </a:endParaRPr>
          </a:p>
        </p:txBody>
      </p:sp>
      <p:sp>
        <p:nvSpPr>
          <p:cNvPr id="53251" name="Rectangle 2"/>
          <p:cNvSpPr/>
          <p:nvPr/>
        </p:nvSpPr>
        <p:spPr>
          <a:xfrm>
            <a:off x="457200" y="779463"/>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 数据库舞台上的角色</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53252"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四、数据库系统用户与数据库语言</a:t>
            </a:r>
            <a:endParaRPr lang="zh-CN" altLang="en-US" sz="3200" dirty="0">
              <a:solidFill>
                <a:srgbClr val="FF0000"/>
              </a:solidFill>
              <a:latin typeface="Arial" panose="020B0604020202020204" pitchFamily="34" charset="0"/>
              <a:ea typeface="黑体" panose="02010609060101010101" pitchFamily="1" charset="-122"/>
            </a:endParaRPr>
          </a:p>
        </p:txBody>
      </p:sp>
      <p:sp>
        <p:nvSpPr>
          <p:cNvPr id="51206" name="Rectangle 3"/>
          <p:cNvSpPr txBox="1"/>
          <p:nvPr/>
        </p:nvSpPr>
        <p:spPr>
          <a:xfrm>
            <a:off x="581025" y="3541713"/>
            <a:ext cx="8048625" cy="1335087"/>
          </a:xfrm>
          <a:prstGeom prst="rect">
            <a:avLst/>
          </a:prstGeom>
          <a:noFill/>
          <a:ln w="9525">
            <a:noFill/>
          </a:ln>
        </p:spPr>
        <p:txBody>
          <a:bodyPr anchor="t"/>
          <a:lstStyle/>
          <a:p>
            <a:pPr marL="342900" lvl="0" indent="-342900">
              <a:lnSpc>
                <a:spcPct val="114000"/>
              </a:lnSpc>
              <a:buClr>
                <a:srgbClr val="0033CC"/>
              </a:buClr>
              <a:buSzPct val="80000"/>
              <a:buFont typeface="Wingdings" panose="05000000000000000000" pitchFamily="2" charset="2"/>
              <a:buChar char="u"/>
            </a:pPr>
            <a:r>
              <a:rPr lang="zh-CN" altLang="en-US" sz="2400" u="sng" dirty="0">
                <a:solidFill>
                  <a:srgbClr val="FF0000"/>
                </a:solidFill>
                <a:latin typeface="Arial" panose="020B0604020202020204" pitchFamily="34" charset="0"/>
                <a:ea typeface="宋体" panose="02010600030101010101" pitchFamily="2" charset="-122"/>
              </a:rPr>
              <a:t>数据库应用开发人员：</a:t>
            </a:r>
            <a:r>
              <a:rPr lang="zh-CN" altLang="en-US" sz="2200" b="0" dirty="0">
                <a:latin typeface="楷体" panose="02010609060101010101" pitchFamily="1" charset="-122"/>
                <a:ea typeface="楷体" panose="02010609060101010101" pitchFamily="1" charset="-122"/>
              </a:rPr>
              <a:t>分析用户需求，为每个用户建立一个适于业务需要的外部视图，负责从“外部模式”</a:t>
            </a:r>
            <a:r>
              <a:rPr lang="zh-CN" altLang="en-US" sz="2200" b="0" dirty="0">
                <a:latin typeface="楷体" panose="02010609060101010101" pitchFamily="1" charset="-122"/>
                <a:ea typeface="楷体" panose="02010609060101010101" pitchFamily="1" charset="-122"/>
                <a:sym typeface="Wingdings 3" panose="05040102010807070707" pitchFamily="2" charset="2"/>
              </a:rPr>
              <a:t>“概念模式</a:t>
            </a:r>
            <a:r>
              <a:rPr lang="zh-CN" altLang="en-US"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sym typeface="Wingdings 3" panose="05040102010807070707" pitchFamily="2" charset="2"/>
              </a:rPr>
              <a:t>“内模式</a:t>
            </a:r>
            <a:r>
              <a:rPr lang="zh-CN" altLang="en-US"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sym typeface="Wingdings 3" panose="05040102010807070707" pitchFamily="2" charset="2"/>
              </a:rPr>
              <a:t>建立数据库的过程。</a:t>
            </a:r>
            <a:endParaRPr lang="zh-CN" altLang="en-US" sz="2200" b="0" dirty="0">
              <a:latin typeface="楷体" panose="02010609060101010101" pitchFamily="1" charset="-122"/>
              <a:ea typeface="楷体" panose="02010609060101010101" pitchFamily="1" charset="-122"/>
              <a:sym typeface="Wingdings 3" panose="05040102010807070707" pitchFamily="2" charset="2"/>
            </a:endParaRPr>
          </a:p>
        </p:txBody>
      </p:sp>
      <p:sp>
        <p:nvSpPr>
          <p:cNvPr id="51207" name="Rectangle 3"/>
          <p:cNvSpPr txBox="1"/>
          <p:nvPr/>
        </p:nvSpPr>
        <p:spPr>
          <a:xfrm>
            <a:off x="627063" y="4783138"/>
            <a:ext cx="7997825" cy="979487"/>
          </a:xfrm>
          <a:prstGeom prst="rect">
            <a:avLst/>
          </a:prstGeom>
          <a:noFill/>
          <a:ln w="9525">
            <a:noFill/>
          </a:ln>
        </p:spPr>
        <p:txBody>
          <a:bodyPr anchor="t"/>
          <a:lstStyle/>
          <a:p>
            <a:pPr marL="342900" lvl="0" indent="-342900">
              <a:lnSpc>
                <a:spcPct val="114000"/>
              </a:lnSpc>
              <a:buClr>
                <a:srgbClr val="0033CC"/>
              </a:buClr>
              <a:buSzPct val="80000"/>
              <a:buFont typeface="Wingdings" panose="05000000000000000000" pitchFamily="2" charset="2"/>
              <a:buChar char="u"/>
            </a:pPr>
            <a:r>
              <a:rPr lang="zh-CN" altLang="en-US" sz="2400" u="sng" dirty="0">
                <a:solidFill>
                  <a:srgbClr val="FF0000"/>
                </a:solidFill>
                <a:latin typeface="Arial" panose="020B0604020202020204" pitchFamily="34" charset="0"/>
                <a:ea typeface="宋体" panose="02010600030101010101" pitchFamily="2" charset="-122"/>
                <a:sym typeface="Wingdings 3" panose="05040102010807070707" pitchFamily="2" charset="2"/>
              </a:rPr>
              <a:t>数据库管理员（DBA）：</a:t>
            </a:r>
            <a:r>
              <a:rPr lang="zh-CN" altLang="en-US" sz="2200" b="0" dirty="0">
                <a:latin typeface="楷体" panose="02010609060101010101" pitchFamily="1" charset="-122"/>
                <a:ea typeface="楷体" panose="02010609060101010101" pitchFamily="1" charset="-122"/>
                <a:sym typeface="Wingdings 3" panose="05040102010807070707" pitchFamily="2" charset="2"/>
              </a:rPr>
              <a:t>负责数据库监控、日常维护和管理。例如，为用户授予存取权限等。</a:t>
            </a:r>
            <a:endParaRPr lang="zh-CN" altLang="en-US" sz="2200" b="0" dirty="0">
              <a:latin typeface="楷体" panose="02010609060101010101" pitchFamily="1" charset="-122"/>
              <a:ea typeface="楷体" panose="02010609060101010101" pitchFamily="1" charset="-122"/>
              <a:sym typeface="Wingdings 3" panose="05040102010807070707" pitchFamily="2" charset="2"/>
            </a:endParaRPr>
          </a:p>
        </p:txBody>
      </p:sp>
      <p:sp>
        <p:nvSpPr>
          <p:cNvPr id="51208" name="Rectangle 3"/>
          <p:cNvSpPr txBox="1"/>
          <p:nvPr/>
        </p:nvSpPr>
        <p:spPr>
          <a:xfrm>
            <a:off x="668338" y="5624513"/>
            <a:ext cx="7997825" cy="558800"/>
          </a:xfrm>
          <a:prstGeom prst="rect">
            <a:avLst/>
          </a:prstGeom>
          <a:noFill/>
          <a:ln w="9525">
            <a:noFill/>
          </a:ln>
        </p:spPr>
        <p:txBody>
          <a:bodyPr anchor="t"/>
          <a:lstStyle/>
          <a:p>
            <a:pPr marL="342900" lvl="0" indent="-342900">
              <a:lnSpc>
                <a:spcPct val="114000"/>
              </a:lnSpc>
              <a:buClr>
                <a:srgbClr val="0033CC"/>
              </a:buClr>
              <a:buSzPct val="80000"/>
              <a:buFont typeface="Wingdings" panose="05000000000000000000" pitchFamily="2" charset="2"/>
              <a:buChar char="u"/>
            </a:pPr>
            <a:r>
              <a:rPr lang="zh-CN" altLang="en-US" sz="2400" u="sng" dirty="0">
                <a:solidFill>
                  <a:srgbClr val="FF0000"/>
                </a:solidFill>
                <a:latin typeface="Arial" panose="020B0604020202020204" pitchFamily="34" charset="0"/>
                <a:ea typeface="宋体" panose="02010600030101010101" pitchFamily="2" charset="-122"/>
              </a:rPr>
              <a:t>有关的软件工程师：</a:t>
            </a:r>
            <a:r>
              <a:rPr lang="zh-CN" altLang="en-US" sz="2200" b="0" dirty="0">
                <a:latin typeface="楷体" panose="02010609060101010101" pitchFamily="1" charset="-122"/>
                <a:ea typeface="楷体" panose="02010609060101010101" pitchFamily="1" charset="-122"/>
                <a:sym typeface="Wingdings 3" panose="05040102010807070707" pitchFamily="2" charset="2"/>
              </a:rPr>
              <a:t>开发数据库工具软件包、系统分析等。</a:t>
            </a:r>
            <a:endParaRPr lang="zh-CN" altLang="en-US" sz="2200" b="0" dirty="0">
              <a:latin typeface="楷体" panose="02010609060101010101" pitchFamily="1" charset="-122"/>
              <a:ea typeface="楷体" panose="02010609060101010101" pitchFamily="1" charset="-122"/>
              <a:sym typeface="Wingdings 3" panose="05040102010807070707"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02"/>
                                        </p:tgtEl>
                                        <p:attrNameLst>
                                          <p:attrName>style.visibility</p:attrName>
                                        </p:attrNameLst>
                                      </p:cBhvr>
                                      <p:to>
                                        <p:strVal val="visible"/>
                                      </p:to>
                                    </p:set>
                                    <p:anim calcmode="lin" valueType="num">
                                      <p:cBhvr additive="base">
                                        <p:cTn id="7" dur="500" fill="hold"/>
                                        <p:tgtEl>
                                          <p:spTgt spid="51202"/>
                                        </p:tgtEl>
                                        <p:attrNameLst>
                                          <p:attrName>ppt_x</p:attrName>
                                        </p:attrNameLst>
                                      </p:cBhvr>
                                      <p:tavLst>
                                        <p:tav tm="0">
                                          <p:val>
                                            <p:strVal val="#ppt_x"/>
                                          </p:val>
                                        </p:tav>
                                        <p:tav tm="100000">
                                          <p:val>
                                            <p:strVal val="#ppt_x"/>
                                          </p:val>
                                        </p:tav>
                                      </p:tavLst>
                                    </p:anim>
                                    <p:anim calcmode="lin" valueType="num">
                                      <p:cBhvr additive="base">
                                        <p:cTn id="8" dur="500" fill="hold"/>
                                        <p:tgtEl>
                                          <p:spTgt spid="5120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06"/>
                                        </p:tgtEl>
                                        <p:attrNameLst>
                                          <p:attrName>style.visibility</p:attrName>
                                        </p:attrNameLst>
                                      </p:cBhvr>
                                      <p:to>
                                        <p:strVal val="visible"/>
                                      </p:to>
                                    </p:set>
                                    <p:anim calcmode="lin" valueType="num">
                                      <p:cBhvr additive="base">
                                        <p:cTn id="13" dur="500" fill="hold"/>
                                        <p:tgtEl>
                                          <p:spTgt spid="51206"/>
                                        </p:tgtEl>
                                        <p:attrNameLst>
                                          <p:attrName>ppt_x</p:attrName>
                                        </p:attrNameLst>
                                      </p:cBhvr>
                                      <p:tavLst>
                                        <p:tav tm="0">
                                          <p:val>
                                            <p:strVal val="#ppt_x"/>
                                          </p:val>
                                        </p:tav>
                                        <p:tav tm="100000">
                                          <p:val>
                                            <p:strVal val="#ppt_x"/>
                                          </p:val>
                                        </p:tav>
                                      </p:tavLst>
                                    </p:anim>
                                    <p:anim calcmode="lin" valueType="num">
                                      <p:cBhvr additive="base">
                                        <p:cTn id="14" dur="500" fill="hold"/>
                                        <p:tgtEl>
                                          <p:spTgt spid="5120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1207"/>
                                        </p:tgtEl>
                                        <p:attrNameLst>
                                          <p:attrName>style.visibility</p:attrName>
                                        </p:attrNameLst>
                                      </p:cBhvr>
                                      <p:to>
                                        <p:strVal val="visible"/>
                                      </p:to>
                                    </p:set>
                                    <p:anim calcmode="lin" valueType="num">
                                      <p:cBhvr additive="base">
                                        <p:cTn id="19" dur="500" fill="hold"/>
                                        <p:tgtEl>
                                          <p:spTgt spid="51207"/>
                                        </p:tgtEl>
                                        <p:attrNameLst>
                                          <p:attrName>ppt_x</p:attrName>
                                        </p:attrNameLst>
                                      </p:cBhvr>
                                      <p:tavLst>
                                        <p:tav tm="0">
                                          <p:val>
                                            <p:strVal val="#ppt_x"/>
                                          </p:val>
                                        </p:tav>
                                        <p:tav tm="100000">
                                          <p:val>
                                            <p:strVal val="#ppt_x"/>
                                          </p:val>
                                        </p:tav>
                                      </p:tavLst>
                                    </p:anim>
                                    <p:anim calcmode="lin" valueType="num">
                                      <p:cBhvr additive="base">
                                        <p:cTn id="20" dur="500" fill="hold"/>
                                        <p:tgtEl>
                                          <p:spTgt spid="5120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1208"/>
                                        </p:tgtEl>
                                        <p:attrNameLst>
                                          <p:attrName>style.visibility</p:attrName>
                                        </p:attrNameLst>
                                      </p:cBhvr>
                                      <p:to>
                                        <p:strVal val="visible"/>
                                      </p:to>
                                    </p:set>
                                    <p:anim calcmode="lin" valueType="num">
                                      <p:cBhvr additive="base">
                                        <p:cTn id="25" dur="500" fill="hold"/>
                                        <p:tgtEl>
                                          <p:spTgt spid="51208"/>
                                        </p:tgtEl>
                                        <p:attrNameLst>
                                          <p:attrName>ppt_x</p:attrName>
                                        </p:attrNameLst>
                                      </p:cBhvr>
                                      <p:tavLst>
                                        <p:tav tm="0">
                                          <p:val>
                                            <p:strVal val="#ppt_x"/>
                                          </p:val>
                                        </p:tav>
                                        <p:tav tm="100000">
                                          <p:val>
                                            <p:strVal val="#ppt_x"/>
                                          </p:val>
                                        </p:tav>
                                      </p:tavLst>
                                    </p:anim>
                                    <p:anim calcmode="lin" valueType="num">
                                      <p:cBhvr additive="base">
                                        <p:cTn id="26" dur="500" fill="hold"/>
                                        <p:tgtEl>
                                          <p:spTgt spid="512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p:bldP spid="51206" grpId="0"/>
      <p:bldP spid="51207" grpId="0"/>
      <p:bldP spid="5120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p:nvPr/>
        </p:nvSpPr>
        <p:spPr>
          <a:xfrm>
            <a:off x="500063" y="779463"/>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sym typeface="Wingdings 3" panose="05040102010807070707" pitchFamily="2" charset="2"/>
              </a:rPr>
              <a:t>数据库的语言与</a:t>
            </a:r>
            <a:r>
              <a:rPr lang="en-US" altLang="x-none" sz="2800" dirty="0">
                <a:solidFill>
                  <a:srgbClr val="3333CC"/>
                </a:solidFill>
                <a:latin typeface="Arial" panose="020B0604020202020204" pitchFamily="34" charset="0"/>
                <a:ea typeface="黑体" panose="02010609060101010101" pitchFamily="1" charset="-122"/>
                <a:sym typeface="Wingdings 3" panose="05040102010807070707" pitchFamily="2" charset="2"/>
              </a:rPr>
              <a:t>SQL</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54275" name="矩形 1"/>
          <p:cNvSpPr/>
          <p:nvPr/>
        </p:nvSpPr>
        <p:spPr>
          <a:xfrm>
            <a:off x="603250" y="1531938"/>
            <a:ext cx="8032750" cy="1717675"/>
          </a:xfrm>
          <a:prstGeom prst="rect">
            <a:avLst/>
          </a:prstGeom>
          <a:noFill/>
          <a:ln w="9525">
            <a:noFill/>
          </a:ln>
        </p:spPr>
        <p:txBody>
          <a:bodyPr anchor="t">
            <a:spAutoFit/>
          </a:bodyPr>
          <a:lstStyle/>
          <a:p>
            <a:pPr lvl="0" indent="0">
              <a:lnSpc>
                <a:spcPct val="120000"/>
              </a:lnSpc>
              <a:buNone/>
            </a:pPr>
            <a:r>
              <a:rPr lang="zh-CN" altLang="en-US" sz="2200" dirty="0">
                <a:latin typeface="楷体" panose="02010609060101010101" pitchFamily="1" charset="-122"/>
                <a:ea typeface="楷体" panose="02010609060101010101" pitchFamily="1" charset="-122"/>
              </a:rPr>
              <a:t>    </a:t>
            </a:r>
            <a:r>
              <a:rPr lang="zh-CN" altLang="en-US" sz="2200" dirty="0">
                <a:latin typeface="宋体" panose="02010600030101010101" pitchFamily="2" charset="-122"/>
                <a:ea typeface="宋体" panose="02010600030101010101" pitchFamily="2" charset="-122"/>
              </a:rPr>
              <a:t>由前面内容可知，</a:t>
            </a:r>
            <a:r>
              <a:rPr lang="en-US" altLang="x-none" sz="2200" u="sng" dirty="0">
                <a:latin typeface="宋体" panose="02010600030101010101" pitchFamily="2" charset="-122"/>
                <a:ea typeface="宋体" panose="02010600030101010101" pitchFamily="2" charset="-122"/>
              </a:rPr>
              <a:t>DBMS</a:t>
            </a:r>
            <a:r>
              <a:rPr lang="zh-CN" altLang="en-US" sz="2200" u="sng" dirty="0">
                <a:latin typeface="宋体" panose="02010600030101010101" pitchFamily="2" charset="-122"/>
                <a:ea typeface="宋体" panose="02010600030101010101" pitchFamily="2" charset="-122"/>
              </a:rPr>
              <a:t>是通过将大容量数据、并发访问、故障恢复、安全性和完整性的处理功能和数据结构及数据文件，从程序中抽取出来</a:t>
            </a:r>
            <a:r>
              <a:rPr lang="zh-CN" altLang="en-US" sz="2200" dirty="0">
                <a:latin typeface="宋体" panose="02010600030101010101" pitchFamily="2" charset="-122"/>
                <a:ea typeface="宋体" panose="02010600030101010101" pitchFamily="2" charset="-122"/>
              </a:rPr>
              <a:t>。也就是说，数据结构和数据文件不再由应用程序定义和操作，而应由</a:t>
            </a:r>
            <a:r>
              <a:rPr lang="en-US" altLang="x-none" sz="2200" dirty="0">
                <a:latin typeface="宋体" panose="02010600030101010101" pitchFamily="2" charset="-122"/>
                <a:ea typeface="宋体" panose="02010600030101010101" pitchFamily="2" charset="-122"/>
              </a:rPr>
              <a:t>DBMS</a:t>
            </a:r>
            <a:r>
              <a:rPr lang="zh-CN" altLang="en-US" sz="2200" dirty="0">
                <a:latin typeface="宋体" panose="02010600030101010101" pitchFamily="2" charset="-122"/>
                <a:ea typeface="宋体" panose="02010600030101010101" pitchFamily="2" charset="-122"/>
              </a:rPr>
              <a:t>统一管理。</a:t>
            </a:r>
            <a:endParaRPr lang="zh-CN" altLang="en-US" sz="2200" dirty="0">
              <a:latin typeface="宋体" panose="02010600030101010101" pitchFamily="2" charset="-122"/>
              <a:ea typeface="宋体" panose="02010600030101010101" pitchFamily="2" charset="-122"/>
            </a:endParaRPr>
          </a:p>
        </p:txBody>
      </p:sp>
      <p:sp>
        <p:nvSpPr>
          <p:cNvPr id="54276" name="矩形 1"/>
          <p:cNvSpPr/>
          <p:nvPr/>
        </p:nvSpPr>
        <p:spPr>
          <a:xfrm>
            <a:off x="593725" y="3294063"/>
            <a:ext cx="8056563" cy="2684462"/>
          </a:xfrm>
          <a:prstGeom prst="rect">
            <a:avLst/>
          </a:prstGeom>
          <a:noFill/>
          <a:ln w="9525">
            <a:noFill/>
          </a:ln>
        </p:spPr>
        <p:txBody>
          <a:bodyPr anchor="t">
            <a:spAutoFit/>
          </a:bodyPr>
          <a:lstStyle/>
          <a:p>
            <a:pPr lvl="0" indent="0">
              <a:lnSpc>
                <a:spcPct val="120000"/>
              </a:lnSpc>
              <a:buNone/>
            </a:pPr>
            <a:r>
              <a:rPr lang="zh-CN" altLang="en-US" sz="2200" dirty="0">
                <a:latin typeface="楷体" panose="02010609060101010101" pitchFamily="1" charset="-122"/>
                <a:ea typeface="楷体" panose="02010609060101010101" pitchFamily="1" charset="-122"/>
              </a:rPr>
              <a:t>    </a:t>
            </a:r>
            <a:r>
              <a:rPr lang="zh-CN" altLang="en-US" sz="2200" dirty="0">
                <a:latin typeface="宋体" panose="02010600030101010101" pitchFamily="2" charset="-122"/>
                <a:ea typeface="宋体" panose="02010600030101010101" pitchFamily="2" charset="-122"/>
              </a:rPr>
              <a:t>然而</a:t>
            </a:r>
            <a:r>
              <a:rPr lang="en-US" altLang="x-none"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对于具体的应用系统来说</a:t>
            </a:r>
            <a:r>
              <a:rPr lang="en-US" altLang="x-none" sz="2200" dirty="0">
                <a:latin typeface="宋体" panose="02010600030101010101" pitchFamily="2" charset="-122"/>
                <a:ea typeface="宋体" panose="02010600030101010101" pitchFamily="2" charset="-122"/>
              </a:rPr>
              <a:t>,DBMS</a:t>
            </a:r>
            <a:r>
              <a:rPr lang="zh-CN" altLang="en-US" sz="2200" dirty="0">
                <a:latin typeface="宋体" panose="02010600030101010101" pitchFamily="2" charset="-122"/>
                <a:ea typeface="宋体" panose="02010600030101010101" pitchFamily="2" charset="-122"/>
              </a:rPr>
              <a:t>并不清楚用户要管理的具体的数据结构。也就是说，</a:t>
            </a:r>
            <a:r>
              <a:rPr lang="en-US" altLang="x-none" sz="2200" u="sng" dirty="0">
                <a:solidFill>
                  <a:srgbClr val="0033CC"/>
                </a:solidFill>
                <a:latin typeface="宋体" panose="02010600030101010101" pitchFamily="2" charset="-122"/>
                <a:ea typeface="宋体" panose="02010600030101010101" pitchFamily="2" charset="-122"/>
              </a:rPr>
              <a:t>DBMS</a:t>
            </a:r>
            <a:r>
              <a:rPr lang="zh-CN" altLang="en-US" sz="2200" u="sng" dirty="0">
                <a:solidFill>
                  <a:srgbClr val="0033CC"/>
                </a:solidFill>
                <a:latin typeface="宋体" panose="02010600030101010101" pitchFamily="2" charset="-122"/>
                <a:ea typeface="宋体" panose="02010600030101010101" pitchFamily="2" charset="-122"/>
              </a:rPr>
              <a:t>封装了一些数据管理公用的方法，应用系统具体的数据结构仍需要由设计人员来定义。</a:t>
            </a:r>
            <a:endParaRPr lang="en-US" altLang="x-none" sz="2200" u="sng" dirty="0">
              <a:solidFill>
                <a:srgbClr val="0033CC"/>
              </a:solidFill>
              <a:latin typeface="宋体" panose="02010600030101010101" pitchFamily="2" charset="-122"/>
              <a:ea typeface="宋体" panose="02010600030101010101" pitchFamily="2" charset="-122"/>
            </a:endParaRPr>
          </a:p>
          <a:p>
            <a:pPr lvl="0" indent="0">
              <a:lnSpc>
                <a:spcPct val="120000"/>
              </a:lnSpc>
              <a:spcBef>
                <a:spcPts val="1200"/>
              </a:spcBef>
              <a:buNone/>
            </a:pPr>
            <a:r>
              <a:rPr lang="zh-CN" altLang="en-US" sz="2200" dirty="0">
                <a:solidFill>
                  <a:srgbClr val="0033CC"/>
                </a:solidFill>
                <a:latin typeface="楷体" panose="02010609060101010101" pitchFamily="1" charset="-122"/>
                <a:ea typeface="楷体" panose="02010609060101010101" pitchFamily="1" charset="-122"/>
              </a:rPr>
              <a:t>    </a:t>
            </a:r>
            <a:r>
              <a:rPr lang="zh-CN" altLang="en-US" sz="2200" u="sng" dirty="0">
                <a:solidFill>
                  <a:srgbClr val="FF3300"/>
                </a:solidFill>
                <a:latin typeface="宋体" panose="02010600030101010101" pitchFamily="2" charset="-122"/>
                <a:ea typeface="宋体" panose="02010600030101010101" pitchFamily="2" charset="-122"/>
              </a:rPr>
              <a:t>于是就要求</a:t>
            </a:r>
            <a:r>
              <a:rPr lang="en-US" altLang="x-none" sz="2200" u="sng" dirty="0">
                <a:solidFill>
                  <a:srgbClr val="FF3300"/>
                </a:solidFill>
                <a:latin typeface="宋体" panose="02010600030101010101" pitchFamily="2" charset="-122"/>
                <a:ea typeface="宋体" panose="02010600030101010101" pitchFamily="2" charset="-122"/>
              </a:rPr>
              <a:t>DBMS</a:t>
            </a:r>
            <a:r>
              <a:rPr lang="zh-CN" altLang="en-US" sz="2200" u="sng" dirty="0">
                <a:solidFill>
                  <a:srgbClr val="FF3300"/>
                </a:solidFill>
                <a:latin typeface="宋体" panose="02010600030101010101" pitchFamily="2" charset="-122"/>
                <a:ea typeface="宋体" panose="02010600030101010101" pitchFamily="2" charset="-122"/>
              </a:rPr>
              <a:t>提供定义数据结构的接口和界面、用户对具体数据进行操作的接口和界面、以及对数据访问权限等进行设置的接口和界面。</a:t>
            </a:r>
            <a:endParaRPr lang="en-US" altLang="x-none" sz="2200" u="sng" dirty="0">
              <a:solidFill>
                <a:srgbClr val="FF3300"/>
              </a:solidFill>
              <a:latin typeface="宋体" panose="02010600030101010101" pitchFamily="2" charset="-122"/>
              <a:ea typeface="宋体" panose="02010600030101010101" pitchFamily="2" charset="-122"/>
            </a:endParaRPr>
          </a:p>
        </p:txBody>
      </p:sp>
      <p:sp>
        <p:nvSpPr>
          <p:cNvPr id="52230" name="Text Box 4"/>
          <p:cNvSpPr txBox="1"/>
          <p:nvPr/>
        </p:nvSpPr>
        <p:spPr>
          <a:xfrm>
            <a:off x="4778375" y="920750"/>
            <a:ext cx="3925888" cy="565150"/>
          </a:xfrm>
          <a:prstGeom prst="rect">
            <a:avLst/>
          </a:prstGeom>
          <a:noFill/>
          <a:ln w="9525">
            <a:noFill/>
          </a:ln>
        </p:spPr>
        <p:txBody>
          <a:bodyPr anchor="t">
            <a:spAutoFit/>
          </a:bodyPr>
          <a:lstStyle/>
          <a:p>
            <a:pPr lvl="0" indent="0">
              <a:lnSpc>
                <a:spcPct val="110000"/>
              </a:lnSpc>
              <a:buNone/>
            </a:pPr>
            <a:r>
              <a:rPr lang="en-US" altLang="x-none" sz="2800" dirty="0">
                <a:solidFill>
                  <a:srgbClr val="CC3300"/>
                </a:solidFill>
                <a:latin typeface="Arial" panose="020B0604020202020204" pitchFamily="34" charset="0"/>
                <a:ea typeface="宋体" panose="02010600030101010101" pitchFamily="2" charset="-122"/>
              </a:rPr>
              <a:t>■</a:t>
            </a:r>
            <a:r>
              <a:rPr lang="en-US" altLang="x-none" sz="2800" dirty="0">
                <a:solidFill>
                  <a:srgbClr val="0000FF"/>
                </a:solidFill>
                <a:latin typeface="Arial" panose="020B0604020202020204" pitchFamily="34" charset="0"/>
                <a:ea typeface="宋体" panose="02010600030101010101" pitchFamily="2" charset="-122"/>
              </a:rPr>
              <a:t> </a:t>
            </a:r>
            <a:r>
              <a:rPr lang="zh-CN" altLang="en-US" sz="2800" dirty="0">
                <a:solidFill>
                  <a:srgbClr val="0000FF"/>
                </a:solidFill>
                <a:latin typeface="Arial" panose="020B0604020202020204" pitchFamily="34" charset="0"/>
                <a:ea typeface="宋体" panose="02010600030101010101" pitchFamily="2" charset="-122"/>
              </a:rPr>
              <a:t>为何需要数据库语言</a:t>
            </a:r>
            <a:endParaRPr lang="zh-CN" altLang="en-US" sz="2400" dirty="0">
              <a:solidFill>
                <a:srgbClr val="0000FF"/>
              </a:solidFill>
              <a:latin typeface="Arial" panose="020B0604020202020204" pitchFamily="34" charset="0"/>
              <a:ea typeface="宋体" panose="02010600030101010101" pitchFamily="2" charset="-122"/>
            </a:endParaRPr>
          </a:p>
        </p:txBody>
      </p:sp>
      <p:sp>
        <p:nvSpPr>
          <p:cNvPr id="53252"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四、数据库系统用户与数据库语言</a:t>
            </a:r>
            <a:endParaRPr lang="zh-CN" altLang="en-US"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52230"/>
                                        </p:tgtEl>
                                        <p:attrNameLst>
                                          <p:attrName>style.visibility</p:attrName>
                                        </p:attrNameLst>
                                      </p:cBhvr>
                                      <p:to>
                                        <p:strVal val="visible"/>
                                      </p:to>
                                    </p:set>
                                    <p:animEffect transition="in" filter="fade">
                                      <p:cBhvr>
                                        <p:cTn id="7" dur="770" decel="100000"/>
                                        <p:tgtEl>
                                          <p:spTgt spid="52230"/>
                                        </p:tgtEl>
                                      </p:cBhvr>
                                    </p:animEffect>
                                    <p:animScale>
                                      <p:cBhvr>
                                        <p:cTn id="8" dur="770" decel="100000"/>
                                        <p:tgtEl>
                                          <p:spTgt spid="52230"/>
                                        </p:tgtEl>
                                      </p:cBhvr>
                                      <p:from x="10000" y="10000"/>
                                      <p:to x="200000" y="450000"/>
                                    </p:animScale>
                                    <p:animScale>
                                      <p:cBhvr>
                                        <p:cTn id="9" dur="1230" accel="100000" fill="hold">
                                          <p:stCondLst>
                                            <p:cond delay="770"/>
                                          </p:stCondLst>
                                        </p:cTn>
                                        <p:tgtEl>
                                          <p:spTgt spid="52230"/>
                                        </p:tgtEl>
                                      </p:cBhvr>
                                      <p:from x="200000" y="450000"/>
                                      <p:to x="100000" y="100000"/>
                                    </p:animScale>
                                    <p:set>
                                      <p:cBhvr>
                                        <p:cTn id="10" dur="770" fill="hold"/>
                                        <p:tgtEl>
                                          <p:spTgt spid="52230"/>
                                        </p:tgtEl>
                                        <p:attrNameLst>
                                          <p:attrName>ppt_x</p:attrName>
                                        </p:attrNameLst>
                                      </p:cBhvr>
                                      <p:to>
                                        <p:strVal val="(0.5)"/>
                                      </p:to>
                                    </p:set>
                                    <p:anim from="(0.5)" to="(#ppt_x)" calcmode="lin" valueType="num">
                                      <p:cBhvr>
                                        <p:cTn id="11" dur="1230" accel="100000" fill="hold">
                                          <p:stCondLst>
                                            <p:cond delay="770"/>
                                          </p:stCondLst>
                                        </p:cTn>
                                        <p:tgtEl>
                                          <p:spTgt spid="52230"/>
                                        </p:tgtEl>
                                        <p:attrNameLst>
                                          <p:attrName>ppt_x</p:attrName>
                                        </p:attrNameLst>
                                      </p:cBhvr>
                                    </p:anim>
                                    <p:set>
                                      <p:cBhvr>
                                        <p:cTn id="12" dur="770" fill="hold"/>
                                        <p:tgtEl>
                                          <p:spTgt spid="52230"/>
                                        </p:tgtEl>
                                        <p:attrNameLst>
                                          <p:attrName>ppt_y</p:attrName>
                                        </p:attrNameLst>
                                      </p:cBhvr>
                                      <p:to>
                                        <p:strVal val="(#ppt_y+0.4)"/>
                                      </p:to>
                                    </p:set>
                                    <p:anim from="(#ppt_y+0.4)" to="(#ppt_y)" calcmode="lin" valueType="num">
                                      <p:cBhvr>
                                        <p:cTn id="13" dur="1230" accel="100000" fill="hold">
                                          <p:stCondLst>
                                            <p:cond delay="770"/>
                                          </p:stCondLst>
                                        </p:cTn>
                                        <p:tgtEl>
                                          <p:spTgt spid="52230"/>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p:nvPr/>
        </p:nvSpPr>
        <p:spPr>
          <a:xfrm>
            <a:off x="500063" y="779463"/>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sym typeface="Wingdings 3" panose="05040102010807070707" pitchFamily="2" charset="2"/>
              </a:rPr>
              <a:t>数据库的语言与</a:t>
            </a:r>
            <a:r>
              <a:rPr lang="en-US" altLang="x-none" sz="2800" dirty="0">
                <a:solidFill>
                  <a:srgbClr val="3333CC"/>
                </a:solidFill>
                <a:latin typeface="Arial" panose="020B0604020202020204" pitchFamily="34" charset="0"/>
                <a:ea typeface="黑体" panose="02010609060101010101" pitchFamily="1" charset="-122"/>
                <a:sym typeface="Wingdings 3" panose="05040102010807070707" pitchFamily="2" charset="2"/>
              </a:rPr>
              <a:t>SQL</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55298" name="Rectangle 3"/>
          <p:cNvSpPr txBox="1"/>
          <p:nvPr/>
        </p:nvSpPr>
        <p:spPr>
          <a:xfrm>
            <a:off x="500063" y="1533525"/>
            <a:ext cx="8420100" cy="4775200"/>
          </a:xfrm>
          <a:prstGeom prst="rect">
            <a:avLst/>
          </a:prstGeom>
          <a:noFill/>
          <a:ln w="9525">
            <a:noFill/>
          </a:ln>
        </p:spPr>
        <p:txBody>
          <a:bodyPr anchor="t"/>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楷体" panose="02010609060101010101" pitchFamily="1" charset="-122"/>
                <a:ea typeface="楷体" panose="02010609060101010101" pitchFamily="1" charset="-122"/>
              </a:rPr>
              <a:t>数据库设计人员</a:t>
            </a:r>
            <a:r>
              <a:rPr lang="zh-CN" altLang="en-US" sz="2400" dirty="0">
                <a:latin typeface="楷体" panose="02010609060101010101" pitchFamily="1" charset="-122"/>
                <a:ea typeface="楷体" panose="02010609060101010101" pitchFamily="1" charset="-122"/>
              </a:rPr>
              <a:t>使用</a:t>
            </a:r>
            <a:r>
              <a:rPr lang="zh-CN" altLang="en-US" sz="2400" u="sng" dirty="0">
                <a:solidFill>
                  <a:srgbClr val="1A1AB2"/>
                </a:solidFill>
                <a:latin typeface="宋体" panose="02010600030101010101" pitchFamily="2" charset="-122"/>
                <a:ea typeface="宋体" panose="02010600030101010101" pitchFamily="2" charset="-122"/>
              </a:rPr>
              <a:t>数据定义语言</a:t>
            </a:r>
            <a:r>
              <a:rPr lang="zh-CN" altLang="en-US" sz="2200" u="sng" dirty="0">
                <a:solidFill>
                  <a:srgbClr val="0033CC"/>
                </a:solidFill>
                <a:latin typeface="楷体" panose="02010609060101010101" pitchFamily="1" charset="-122"/>
                <a:ea typeface="楷体" panose="02010609060101010101" pitchFamily="1" charset="-122"/>
              </a:rPr>
              <a:t>（</a:t>
            </a:r>
            <a:r>
              <a:rPr lang="en-US" altLang="x-none" sz="2400" u="sng" dirty="0">
                <a:solidFill>
                  <a:srgbClr val="0033CC"/>
                </a:solidFill>
                <a:latin typeface="楷体" panose="02010609060101010101" pitchFamily="1" charset="-122"/>
                <a:ea typeface="楷体" panose="02010609060101010101" pitchFamily="1" charset="-122"/>
              </a:rPr>
              <a:t>Data Defin</a:t>
            </a:r>
            <a:r>
              <a:rPr lang="en-US" altLang="x-none" sz="2400" u="sng" dirty="0">
                <a:solidFill>
                  <a:srgbClr val="0033CC"/>
                </a:solidFill>
                <a:latin typeface="楷体" panose="02010609060101010101" pitchFamily="1" charset="-122"/>
                <a:ea typeface="楷体" panose="02010609060101010101" pitchFamily="1" charset="-122"/>
              </a:rPr>
              <a:t>ition Language,</a:t>
            </a:r>
            <a:r>
              <a:rPr lang="zh-CN" altLang="en-US" sz="2400" u="sng" dirty="0">
                <a:solidFill>
                  <a:srgbClr val="0033CC"/>
                </a:solidFill>
                <a:latin typeface="楷体" panose="02010609060101010101" pitchFamily="1" charset="-122"/>
                <a:ea typeface="楷体" panose="02010609060101010101" pitchFamily="1" charset="-122"/>
              </a:rPr>
              <a:t>DDL）</a:t>
            </a:r>
            <a:r>
              <a:rPr lang="zh-CN" altLang="en-US" sz="2400" dirty="0">
                <a:latin typeface="楷体" panose="02010609060101010101" pitchFamily="1" charset="-122"/>
                <a:ea typeface="楷体" panose="02010609060101010101" pitchFamily="1" charset="-122"/>
              </a:rPr>
              <a:t>完成对数据库模式的描述，定义数据结构和数据的完整性约束。</a:t>
            </a:r>
            <a:endParaRPr lang="zh-CN" altLang="en-US" sz="2400" dirty="0">
              <a:latin typeface="楷体" panose="02010609060101010101" pitchFamily="1" charset="-122"/>
              <a:ea typeface="楷体" panose="02010609060101010101" pitchFamily="1" charset="-122"/>
            </a:endParaRPr>
          </a:p>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楷体" panose="02010609060101010101" pitchFamily="1" charset="-122"/>
                <a:ea typeface="楷体" panose="02010609060101010101" pitchFamily="1" charset="-122"/>
              </a:rPr>
              <a:t>数据库管理员和用户</a:t>
            </a:r>
            <a:r>
              <a:rPr lang="zh-CN" altLang="en-US" sz="2400" dirty="0">
                <a:latin typeface="楷体" panose="02010609060101010101" pitchFamily="1" charset="-122"/>
                <a:ea typeface="楷体" panose="02010609060101010101" pitchFamily="1" charset="-122"/>
              </a:rPr>
              <a:t>使用</a:t>
            </a:r>
            <a:r>
              <a:rPr lang="zh-CN" altLang="en-US" sz="2400" u="sng" dirty="0">
                <a:solidFill>
                  <a:srgbClr val="1A1AB2"/>
                </a:solidFill>
                <a:latin typeface="宋体" panose="02010600030101010101" pitchFamily="2" charset="-122"/>
                <a:ea typeface="宋体" panose="02010600030101010101" pitchFamily="2" charset="-122"/>
              </a:rPr>
              <a:t>数据操纵语言</a:t>
            </a:r>
            <a:r>
              <a:rPr lang="zh-CN" altLang="en-US" sz="2400" u="sng" dirty="0">
                <a:solidFill>
                  <a:srgbClr val="0033CC"/>
                </a:solidFill>
                <a:latin typeface="楷体" panose="02010609060101010101" pitchFamily="1" charset="-122"/>
                <a:ea typeface="楷体" panose="02010609060101010101" pitchFamily="1" charset="-122"/>
              </a:rPr>
              <a:t>（</a:t>
            </a:r>
            <a:r>
              <a:rPr lang="en-US" altLang="x-none" sz="2400" u="sng" dirty="0">
                <a:solidFill>
                  <a:srgbClr val="0033CC"/>
                </a:solidFill>
                <a:latin typeface="楷体" panose="02010609060101010101" pitchFamily="1" charset="-122"/>
                <a:ea typeface="楷体" panose="02010609060101010101" pitchFamily="1" charset="-122"/>
              </a:rPr>
              <a:t>Data Manipulate Language,</a:t>
            </a:r>
            <a:r>
              <a:rPr lang="zh-CN" altLang="en-US" sz="2400" u="sng" dirty="0">
                <a:solidFill>
                  <a:srgbClr val="0033CC"/>
                </a:solidFill>
                <a:latin typeface="楷体" panose="02010609060101010101" pitchFamily="1" charset="-122"/>
                <a:ea typeface="楷体" panose="02010609060101010101" pitchFamily="1" charset="-122"/>
              </a:rPr>
              <a:t>DML）</a:t>
            </a:r>
            <a:r>
              <a:rPr lang="zh-CN" altLang="en-US" sz="2400" dirty="0">
                <a:latin typeface="楷体" panose="02010609060101010101" pitchFamily="1" charset="-122"/>
                <a:ea typeface="楷体" panose="02010609060101010101" pitchFamily="1" charset="-122"/>
              </a:rPr>
              <a:t>对数据进行“增删改查询”等操作。</a:t>
            </a:r>
            <a:endParaRPr lang="zh-CN" altLang="en-US" sz="2400" dirty="0">
              <a:latin typeface="楷体" panose="02010609060101010101" pitchFamily="1" charset="-122"/>
              <a:ea typeface="楷体" panose="02010609060101010101" pitchFamily="1" charset="-122"/>
            </a:endParaRPr>
          </a:p>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楷体" panose="02010609060101010101" pitchFamily="1" charset="-122"/>
                <a:ea typeface="楷体" panose="02010609060101010101" pitchFamily="1" charset="-122"/>
              </a:rPr>
              <a:t>数据库管理员</a:t>
            </a:r>
            <a:r>
              <a:rPr lang="zh-CN" altLang="en-US" sz="2400" dirty="0">
                <a:latin typeface="楷体" panose="02010609060101010101" pitchFamily="1" charset="-122"/>
                <a:ea typeface="楷体" panose="02010609060101010101" pitchFamily="1" charset="-122"/>
              </a:rPr>
              <a:t>使用</a:t>
            </a:r>
            <a:r>
              <a:rPr lang="zh-CN" altLang="en-US" sz="2400" u="sng" dirty="0">
                <a:solidFill>
                  <a:srgbClr val="0033CC"/>
                </a:solidFill>
                <a:latin typeface="宋体" panose="02010600030101010101" pitchFamily="2" charset="-122"/>
                <a:ea typeface="宋体" panose="02010600030101010101" pitchFamily="2" charset="-122"/>
              </a:rPr>
              <a:t>数据控制语言</a:t>
            </a:r>
            <a:r>
              <a:rPr lang="zh-CN" altLang="en-US" sz="2400" u="sng" dirty="0">
                <a:solidFill>
                  <a:srgbClr val="0033CC"/>
                </a:solidFill>
                <a:latin typeface="楷体" panose="02010609060101010101" pitchFamily="1" charset="-122"/>
                <a:ea typeface="楷体" panose="02010609060101010101" pitchFamily="1" charset="-122"/>
              </a:rPr>
              <a:t>（</a:t>
            </a:r>
            <a:r>
              <a:rPr lang="en-US" altLang="x-none" sz="2400" u="sng" dirty="0">
                <a:solidFill>
                  <a:srgbClr val="0033CC"/>
                </a:solidFill>
                <a:latin typeface="楷体" panose="02010609060101010101" pitchFamily="1" charset="-122"/>
                <a:ea typeface="楷体" panose="02010609060101010101" pitchFamily="1" charset="-122"/>
              </a:rPr>
              <a:t>Data Control Language,</a:t>
            </a:r>
            <a:r>
              <a:rPr lang="zh-CN" altLang="en-US" sz="2400" u="sng" dirty="0">
                <a:solidFill>
                  <a:srgbClr val="0033CC"/>
                </a:solidFill>
                <a:latin typeface="楷体" panose="02010609060101010101" pitchFamily="1" charset="-122"/>
                <a:ea typeface="楷体" panose="02010609060101010101" pitchFamily="1" charset="-122"/>
              </a:rPr>
              <a:t>DCL）</a:t>
            </a:r>
            <a:r>
              <a:rPr lang="zh-CN" altLang="en-US" sz="2400" dirty="0">
                <a:latin typeface="楷体" panose="02010609060101010101" pitchFamily="1" charset="-122"/>
                <a:ea typeface="楷体" panose="02010609060101010101" pitchFamily="1" charset="-122"/>
              </a:rPr>
              <a:t>对数据库进行管理</a:t>
            </a: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包括定义用户、为用户授权、设置系统参数、调整系统性能等。</a:t>
            </a:r>
            <a:endParaRPr lang="zh-CN" altLang="en-US" sz="2400" dirty="0">
              <a:latin typeface="楷体" panose="02010609060101010101" pitchFamily="1" charset="-122"/>
              <a:ea typeface="楷体" panose="02010609060101010101" pitchFamily="1" charset="-122"/>
            </a:endParaRPr>
          </a:p>
        </p:txBody>
      </p:sp>
      <p:sp>
        <p:nvSpPr>
          <p:cNvPr id="53253" name="Text Box 4"/>
          <p:cNvSpPr txBox="1"/>
          <p:nvPr/>
        </p:nvSpPr>
        <p:spPr>
          <a:xfrm>
            <a:off x="4951413" y="920750"/>
            <a:ext cx="3760787" cy="565150"/>
          </a:xfrm>
          <a:prstGeom prst="rect">
            <a:avLst/>
          </a:prstGeom>
          <a:noFill/>
          <a:ln w="9525">
            <a:noFill/>
          </a:ln>
        </p:spPr>
        <p:txBody>
          <a:bodyPr anchor="t">
            <a:spAutoFit/>
          </a:bodyPr>
          <a:lstStyle/>
          <a:p>
            <a:pPr lvl="0" indent="0">
              <a:lnSpc>
                <a:spcPct val="110000"/>
              </a:lnSpc>
              <a:buNone/>
            </a:pPr>
            <a:r>
              <a:rPr lang="en-US" altLang="x-none" sz="2800" dirty="0">
                <a:solidFill>
                  <a:srgbClr val="CC3300"/>
                </a:solidFill>
                <a:latin typeface="Arial" panose="020B0604020202020204" pitchFamily="34" charset="0"/>
                <a:ea typeface="宋体" panose="02010600030101010101" pitchFamily="2" charset="-122"/>
              </a:rPr>
              <a:t>■</a:t>
            </a:r>
            <a:r>
              <a:rPr lang="en-US" altLang="x-none" sz="2800" dirty="0">
                <a:solidFill>
                  <a:srgbClr val="0000FF"/>
                </a:solidFill>
                <a:latin typeface="Arial" panose="020B0604020202020204" pitchFamily="34" charset="0"/>
                <a:ea typeface="宋体" panose="02010600030101010101" pitchFamily="2" charset="-122"/>
              </a:rPr>
              <a:t> </a:t>
            </a:r>
            <a:r>
              <a:rPr lang="zh-CN" altLang="en-US" sz="2800" dirty="0">
                <a:solidFill>
                  <a:srgbClr val="0000FF"/>
                </a:solidFill>
                <a:latin typeface="Arial" panose="020B0604020202020204" pitchFamily="34" charset="0"/>
                <a:ea typeface="宋体" panose="02010600030101010101" pitchFamily="2" charset="-122"/>
              </a:rPr>
              <a:t>数据库语言的构成</a:t>
            </a:r>
            <a:endParaRPr lang="zh-CN" altLang="en-US" sz="2400" dirty="0">
              <a:solidFill>
                <a:srgbClr val="0000FF"/>
              </a:solidFill>
              <a:latin typeface="Arial" panose="020B0604020202020204" pitchFamily="34" charset="0"/>
              <a:ea typeface="宋体" panose="02010600030101010101" pitchFamily="2" charset="-122"/>
            </a:endParaRPr>
          </a:p>
        </p:txBody>
      </p:sp>
      <p:sp>
        <p:nvSpPr>
          <p:cNvPr id="55301" name="矩形 1"/>
          <p:cNvSpPr/>
          <p:nvPr/>
        </p:nvSpPr>
        <p:spPr>
          <a:xfrm>
            <a:off x="731838" y="5243513"/>
            <a:ext cx="8056562" cy="904875"/>
          </a:xfrm>
          <a:prstGeom prst="rect">
            <a:avLst/>
          </a:prstGeom>
          <a:noFill/>
          <a:ln w="9525">
            <a:noFill/>
          </a:ln>
        </p:spPr>
        <p:txBody>
          <a:bodyPr anchor="t">
            <a:spAutoFit/>
          </a:bodyPr>
          <a:lstStyle/>
          <a:p>
            <a:pPr lvl="0" indent="0">
              <a:lnSpc>
                <a:spcPct val="120000"/>
              </a:lnSpc>
              <a:buNone/>
            </a:pPr>
            <a:r>
              <a:rPr lang="zh-CN" altLang="en-US" sz="2200" dirty="0">
                <a:solidFill>
                  <a:srgbClr val="FF3300"/>
                </a:solidFill>
                <a:latin typeface="宋体" panose="02010600030101010101" pitchFamily="2" charset="-122"/>
                <a:ea typeface="宋体" panose="02010600030101010101" pitchFamily="2" charset="-122"/>
              </a:rPr>
              <a:t>     </a:t>
            </a:r>
            <a:r>
              <a:rPr lang="zh-CN" altLang="en-US" sz="2200" u="sng" dirty="0">
                <a:solidFill>
                  <a:srgbClr val="FF3300"/>
                </a:solidFill>
                <a:latin typeface="宋体" panose="02010600030101010101" pitchFamily="2" charset="-122"/>
                <a:ea typeface="宋体" panose="02010600030101010101" pitchFamily="2" charset="-122"/>
              </a:rPr>
              <a:t>总体来说，数据库语言就是</a:t>
            </a:r>
            <a:r>
              <a:rPr lang="en-US" altLang="x-none" sz="2200" u="sng" dirty="0">
                <a:solidFill>
                  <a:srgbClr val="FF3300"/>
                </a:solidFill>
                <a:latin typeface="宋体" panose="02010600030101010101" pitchFamily="2" charset="-122"/>
                <a:ea typeface="宋体" panose="02010600030101010101" pitchFamily="2" charset="-122"/>
              </a:rPr>
              <a:t>DBMS</a:t>
            </a:r>
            <a:r>
              <a:rPr lang="zh-CN" altLang="en-US" sz="2200" u="sng" dirty="0">
                <a:solidFill>
                  <a:srgbClr val="FF3300"/>
                </a:solidFill>
                <a:latin typeface="宋体" panose="02010600030101010101" pitchFamily="2" charset="-122"/>
                <a:ea typeface="宋体" panose="02010600030101010101" pitchFamily="2" charset="-122"/>
              </a:rPr>
              <a:t>提供给用户定义结构、操纵数据和管理</a:t>
            </a:r>
            <a:r>
              <a:rPr lang="en-US" altLang="x-none" sz="2200" u="sng" dirty="0">
                <a:solidFill>
                  <a:srgbClr val="FF3300"/>
                </a:solidFill>
                <a:latin typeface="宋体" panose="02010600030101010101" pitchFamily="2" charset="-122"/>
                <a:ea typeface="宋体" panose="02010600030101010101" pitchFamily="2" charset="-122"/>
              </a:rPr>
              <a:t>DBMS</a:t>
            </a:r>
            <a:r>
              <a:rPr lang="zh-CN" altLang="en-US" sz="2200" u="sng" dirty="0">
                <a:solidFill>
                  <a:srgbClr val="FF3300"/>
                </a:solidFill>
                <a:latin typeface="宋体" panose="02010600030101010101" pitchFamily="2" charset="-122"/>
                <a:ea typeface="宋体" panose="02010600030101010101" pitchFamily="2" charset="-122"/>
              </a:rPr>
              <a:t>的一个界面。</a:t>
            </a:r>
            <a:endParaRPr lang="en-US" altLang="x-none" sz="2200" u="sng" dirty="0">
              <a:solidFill>
                <a:srgbClr val="FF3300"/>
              </a:solidFill>
              <a:latin typeface="宋体" panose="02010600030101010101" pitchFamily="2" charset="-122"/>
              <a:ea typeface="宋体" panose="02010600030101010101" pitchFamily="2" charset="-122"/>
            </a:endParaRPr>
          </a:p>
        </p:txBody>
      </p:sp>
      <p:sp>
        <p:nvSpPr>
          <p:cNvPr id="53252"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四、数据库系统用户与数据库语言</a:t>
            </a:r>
            <a:endParaRPr lang="zh-CN" altLang="en-US"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53253"/>
                                        </p:tgtEl>
                                        <p:attrNameLst>
                                          <p:attrName>style.visibility</p:attrName>
                                        </p:attrNameLst>
                                      </p:cBhvr>
                                      <p:to>
                                        <p:strVal val="visible"/>
                                      </p:to>
                                    </p:set>
                                    <p:animEffect transition="in" filter="fade">
                                      <p:cBhvr>
                                        <p:cTn id="7" dur="770" decel="100000"/>
                                        <p:tgtEl>
                                          <p:spTgt spid="53253"/>
                                        </p:tgtEl>
                                      </p:cBhvr>
                                    </p:animEffect>
                                    <p:animScale>
                                      <p:cBhvr>
                                        <p:cTn id="8" dur="770" decel="100000"/>
                                        <p:tgtEl>
                                          <p:spTgt spid="53253"/>
                                        </p:tgtEl>
                                      </p:cBhvr>
                                      <p:from x="10000" y="10000"/>
                                      <p:to x="200000" y="450000"/>
                                    </p:animScale>
                                    <p:animScale>
                                      <p:cBhvr>
                                        <p:cTn id="9" dur="1230" accel="100000" fill="hold">
                                          <p:stCondLst>
                                            <p:cond delay="770"/>
                                          </p:stCondLst>
                                        </p:cTn>
                                        <p:tgtEl>
                                          <p:spTgt spid="53253"/>
                                        </p:tgtEl>
                                      </p:cBhvr>
                                      <p:from x="200000" y="450000"/>
                                      <p:to x="100000" y="100000"/>
                                    </p:animScale>
                                    <p:set>
                                      <p:cBhvr>
                                        <p:cTn id="10" dur="770" fill="hold"/>
                                        <p:tgtEl>
                                          <p:spTgt spid="53253"/>
                                        </p:tgtEl>
                                        <p:attrNameLst>
                                          <p:attrName>ppt_x</p:attrName>
                                        </p:attrNameLst>
                                      </p:cBhvr>
                                      <p:to>
                                        <p:strVal val="(0.5)"/>
                                      </p:to>
                                    </p:set>
                                    <p:anim from="(0.5)" to="(#ppt_x)" calcmode="lin" valueType="num">
                                      <p:cBhvr>
                                        <p:cTn id="11" dur="1230" accel="100000" fill="hold">
                                          <p:stCondLst>
                                            <p:cond delay="770"/>
                                          </p:stCondLst>
                                        </p:cTn>
                                        <p:tgtEl>
                                          <p:spTgt spid="53253"/>
                                        </p:tgtEl>
                                        <p:attrNameLst>
                                          <p:attrName>ppt_x</p:attrName>
                                        </p:attrNameLst>
                                      </p:cBhvr>
                                    </p:anim>
                                    <p:set>
                                      <p:cBhvr>
                                        <p:cTn id="12" dur="770" fill="hold"/>
                                        <p:tgtEl>
                                          <p:spTgt spid="53253"/>
                                        </p:tgtEl>
                                        <p:attrNameLst>
                                          <p:attrName>ppt_y</p:attrName>
                                        </p:attrNameLst>
                                      </p:cBhvr>
                                      <p:to>
                                        <p:strVal val="(#ppt_y+0.4)"/>
                                      </p:to>
                                    </p:set>
                                    <p:anim from="(#ppt_y+0.4)" to="(#ppt_y)" calcmode="lin" valueType="num">
                                      <p:cBhvr>
                                        <p:cTn id="13" dur="1230" accel="100000" fill="hold">
                                          <p:stCondLst>
                                            <p:cond delay="770"/>
                                          </p:stCondLst>
                                        </p:cTn>
                                        <p:tgtEl>
                                          <p:spTgt spid="53253"/>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p:nvPr/>
        </p:nvSpPr>
        <p:spPr>
          <a:xfrm>
            <a:off x="500063" y="779463"/>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sym typeface="Wingdings 3" panose="05040102010807070707" pitchFamily="2" charset="2"/>
              </a:rPr>
              <a:t>数据库的语言与</a:t>
            </a:r>
            <a:r>
              <a:rPr lang="en-US" altLang="x-none" sz="2800" dirty="0">
                <a:solidFill>
                  <a:srgbClr val="3333CC"/>
                </a:solidFill>
                <a:latin typeface="Arial" panose="020B0604020202020204" pitchFamily="34" charset="0"/>
                <a:ea typeface="黑体" panose="02010609060101010101" pitchFamily="1" charset="-122"/>
                <a:sym typeface="Wingdings 3" panose="05040102010807070707" pitchFamily="2" charset="2"/>
              </a:rPr>
              <a:t>SQL</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54275" name="Rectangle 3"/>
          <p:cNvSpPr txBox="1"/>
          <p:nvPr/>
        </p:nvSpPr>
        <p:spPr>
          <a:xfrm>
            <a:off x="603250" y="1966913"/>
            <a:ext cx="8159750" cy="3962400"/>
          </a:xfrm>
          <a:prstGeom prst="rect">
            <a:avLst/>
          </a:prstGeom>
          <a:noFill/>
          <a:ln w="9525">
            <a:noFill/>
          </a:ln>
        </p:spPr>
        <p:txBody>
          <a:bodyPr anchor="t"/>
          <a:lstStyle/>
          <a:p>
            <a:pPr marL="342900" lvl="0" indent="-342900">
              <a:lnSpc>
                <a:spcPct val="114000"/>
              </a:lnSpc>
              <a:spcBef>
                <a:spcPts val="1200"/>
              </a:spcBef>
              <a:buClr>
                <a:srgbClr val="0033CC"/>
              </a:buClr>
              <a:buSzPct val="80000"/>
              <a:buFont typeface="Wingdings" panose="05000000000000000000" pitchFamily="2" charset="2"/>
              <a:buChar char="u"/>
            </a:pPr>
            <a:r>
              <a:rPr lang="zh-CN" altLang="en-US" sz="2400" u="sng" dirty="0">
                <a:solidFill>
                  <a:srgbClr val="CC3300"/>
                </a:solidFill>
                <a:latin typeface="楷体" panose="02010609060101010101" pitchFamily="1" charset="-122"/>
                <a:ea typeface="楷体" panose="02010609060101010101" pitchFamily="1" charset="-122"/>
              </a:rPr>
              <a:t>SQL</a:t>
            </a:r>
            <a:r>
              <a:rPr lang="zh-CN" altLang="en-US" sz="2400" u="sng" dirty="0">
                <a:solidFill>
                  <a:srgbClr val="1A1AB2"/>
                </a:solidFill>
                <a:latin typeface="楷体" panose="02010609060101010101" pitchFamily="1" charset="-122"/>
                <a:ea typeface="楷体" panose="02010609060101010101" pitchFamily="1" charset="-122"/>
              </a:rPr>
              <a:t>(Structured Query Language,结构化查询语言)</a:t>
            </a:r>
            <a:r>
              <a:rPr lang="zh-CN" altLang="en-US" sz="2400" dirty="0">
                <a:latin typeface="楷体" panose="02010609060101010101" pitchFamily="1" charset="-122"/>
                <a:ea typeface="楷体" panose="02010609060101010101" pitchFamily="1" charset="-122"/>
              </a:rPr>
              <a:t>综合了上述各方面在一个语言中，是关系型数据库管理系统支持的数据库语言。</a:t>
            </a:r>
            <a:endParaRPr lang="en-US" altLang="x-none" sz="2400" dirty="0">
              <a:latin typeface="楷体" panose="02010609060101010101" pitchFamily="1" charset="-122"/>
              <a:ea typeface="楷体" panose="02010609060101010101" pitchFamily="1" charset="-122"/>
            </a:endParaRPr>
          </a:p>
          <a:p>
            <a:pPr marL="342900" lvl="0" indent="-342900">
              <a:lnSpc>
                <a:spcPct val="114000"/>
              </a:lnSpc>
              <a:spcBef>
                <a:spcPts val="1200"/>
              </a:spcBef>
              <a:buClr>
                <a:srgbClr val="0033CC"/>
              </a:buClr>
              <a:buSzPct val="80000"/>
              <a:buFont typeface="Wingdings" panose="05000000000000000000" pitchFamily="2" charset="2"/>
              <a:buChar char="u"/>
            </a:pPr>
            <a:r>
              <a:rPr lang="zh-CN" altLang="en-US" sz="2400" u="sng" dirty="0">
                <a:solidFill>
                  <a:srgbClr val="CC3300"/>
                </a:solidFill>
                <a:latin typeface="楷体" panose="02010609060101010101" pitchFamily="1" charset="-122"/>
                <a:ea typeface="楷体" panose="02010609060101010101" pitchFamily="1" charset="-122"/>
              </a:rPr>
              <a:t>SQL</a:t>
            </a:r>
            <a:r>
              <a:rPr lang="zh-CN" altLang="en-US" sz="2400" u="sng" dirty="0">
                <a:solidFill>
                  <a:srgbClr val="1A1AB2"/>
                </a:solidFill>
                <a:latin typeface="楷体" panose="02010609060101010101" pitchFamily="1" charset="-122"/>
                <a:ea typeface="楷体" panose="02010609060101010101" pitchFamily="1" charset="-122"/>
              </a:rPr>
              <a:t>是最早在</a:t>
            </a:r>
            <a:r>
              <a:rPr lang="en-US" altLang="x-none" sz="2400" u="sng" dirty="0">
                <a:solidFill>
                  <a:srgbClr val="1A1AB2"/>
                </a:solidFill>
                <a:latin typeface="楷体" panose="02010609060101010101" pitchFamily="1" charset="-122"/>
                <a:ea typeface="楷体" panose="02010609060101010101" pitchFamily="1" charset="-122"/>
              </a:rPr>
              <a:t>IBM System-R RDBMS</a:t>
            </a:r>
            <a:r>
              <a:rPr lang="zh-CN" altLang="en-US" sz="2400" u="sng" dirty="0">
                <a:solidFill>
                  <a:srgbClr val="1A1AB2"/>
                </a:solidFill>
                <a:latin typeface="楷体" panose="02010609060101010101" pitchFamily="1" charset="-122"/>
                <a:ea typeface="楷体" panose="02010609060101010101" pitchFamily="1" charset="-122"/>
              </a:rPr>
              <a:t>上使用的查询语言</a:t>
            </a:r>
            <a:r>
              <a:rPr lang="en-US" altLang="x-none" sz="2400" u="sng" dirty="0">
                <a:solidFill>
                  <a:srgbClr val="1A1AB2"/>
                </a:solidFill>
                <a:latin typeface="楷体" panose="02010609060101010101" pitchFamily="1" charset="-122"/>
                <a:ea typeface="楷体" panose="02010609060101010101" pitchFamily="1" charset="-122"/>
              </a:rPr>
              <a:t>.</a:t>
            </a:r>
            <a:r>
              <a:rPr lang="zh-CN" altLang="en-US" sz="2400" u="sng" dirty="0">
                <a:solidFill>
                  <a:srgbClr val="1A1AB2"/>
                </a:solidFill>
                <a:latin typeface="楷体" panose="02010609060101010101" pitchFamily="1" charset="-122"/>
                <a:ea typeface="楷体" panose="02010609060101010101" pitchFamily="1" charset="-122"/>
              </a:rPr>
              <a:t>由于其广泛应用</a:t>
            </a:r>
            <a:r>
              <a:rPr lang="en-US" altLang="x-none" sz="2400" u="sng" dirty="0">
                <a:solidFill>
                  <a:srgbClr val="1A1AB2"/>
                </a:solidFill>
                <a:latin typeface="楷体" panose="02010609060101010101" pitchFamily="1" charset="-122"/>
                <a:ea typeface="楷体" panose="02010609060101010101" pitchFamily="1" charset="-122"/>
              </a:rPr>
              <a:t>,</a:t>
            </a:r>
            <a:r>
              <a:rPr lang="zh-CN" altLang="en-US" sz="2400" u="sng" dirty="0">
                <a:solidFill>
                  <a:srgbClr val="1A1AB2"/>
                </a:solidFill>
                <a:latin typeface="楷体" panose="02010609060101010101" pitchFamily="1" charset="-122"/>
                <a:ea typeface="楷体" panose="02010609060101010101" pitchFamily="1" charset="-122"/>
              </a:rPr>
              <a:t>出现了标准化需求。第一个</a:t>
            </a:r>
            <a:r>
              <a:rPr lang="en-US" altLang="x-none" sz="2400" u="sng" dirty="0">
                <a:solidFill>
                  <a:srgbClr val="1A1AB2"/>
                </a:solidFill>
                <a:latin typeface="楷体" panose="02010609060101010101" pitchFamily="1" charset="-122"/>
                <a:ea typeface="楷体" panose="02010609060101010101" pitchFamily="1" charset="-122"/>
              </a:rPr>
              <a:t>SQL</a:t>
            </a:r>
            <a:r>
              <a:rPr lang="zh-CN" altLang="en-US" sz="2400" u="sng" dirty="0">
                <a:solidFill>
                  <a:srgbClr val="1A1AB2"/>
                </a:solidFill>
                <a:latin typeface="楷体" panose="02010609060101010101" pitchFamily="1" charset="-122"/>
                <a:ea typeface="楷体" panose="02010609060101010101" pitchFamily="1" charset="-122"/>
              </a:rPr>
              <a:t>标准是由</a:t>
            </a:r>
            <a:r>
              <a:rPr lang="en-US" altLang="x-none" sz="2400" u="sng" dirty="0">
                <a:solidFill>
                  <a:srgbClr val="1A1AB2"/>
                </a:solidFill>
                <a:latin typeface="楷体" panose="02010609060101010101" pitchFamily="1" charset="-122"/>
                <a:ea typeface="楷体" panose="02010609060101010101" pitchFamily="1" charset="-122"/>
              </a:rPr>
              <a:t>ANSI</a:t>
            </a:r>
            <a:r>
              <a:rPr lang="zh-CN" altLang="en-US" sz="2400" u="sng" dirty="0">
                <a:solidFill>
                  <a:srgbClr val="1A1AB2"/>
                </a:solidFill>
                <a:latin typeface="楷体" panose="02010609060101010101" pitchFamily="1" charset="-122"/>
                <a:ea typeface="楷体" panose="02010609060101010101" pitchFamily="1" charset="-122"/>
              </a:rPr>
              <a:t>于</a:t>
            </a:r>
            <a:r>
              <a:rPr lang="en-US" altLang="x-none" sz="2400" u="sng" dirty="0">
                <a:solidFill>
                  <a:srgbClr val="1A1AB2"/>
                </a:solidFill>
                <a:latin typeface="楷体" panose="02010609060101010101" pitchFamily="1" charset="-122"/>
                <a:ea typeface="楷体" panose="02010609060101010101" pitchFamily="1" charset="-122"/>
              </a:rPr>
              <a:t>1986</a:t>
            </a:r>
            <a:r>
              <a:rPr lang="zh-CN" altLang="en-US" sz="2400" u="sng" dirty="0">
                <a:solidFill>
                  <a:srgbClr val="1A1AB2"/>
                </a:solidFill>
                <a:latin typeface="楷体" panose="02010609060101010101" pitchFamily="1" charset="-122"/>
                <a:ea typeface="楷体" panose="02010609060101010101" pitchFamily="1" charset="-122"/>
              </a:rPr>
              <a:t>年制定，称为</a:t>
            </a:r>
            <a:r>
              <a:rPr lang="en-US" altLang="x-none" sz="2400" u="sng" dirty="0">
                <a:solidFill>
                  <a:srgbClr val="1A1AB2"/>
                </a:solidFill>
                <a:latin typeface="楷体" panose="02010609060101010101" pitchFamily="1" charset="-122"/>
                <a:ea typeface="楷体" panose="02010609060101010101" pitchFamily="1" charset="-122"/>
              </a:rPr>
              <a:t>SQL-86,1989</a:t>
            </a:r>
            <a:r>
              <a:rPr lang="zh-CN" altLang="en-US" sz="2400" u="sng" dirty="0">
                <a:solidFill>
                  <a:srgbClr val="1A1AB2"/>
                </a:solidFill>
                <a:latin typeface="楷体" panose="02010609060101010101" pitchFamily="1" charset="-122"/>
                <a:ea typeface="楷体" panose="02010609060101010101" pitchFamily="1" charset="-122"/>
              </a:rPr>
              <a:t>年作了些改进，推出的版本为</a:t>
            </a:r>
            <a:r>
              <a:rPr lang="en-US" altLang="x-none" sz="2400" u="sng" dirty="0">
                <a:solidFill>
                  <a:srgbClr val="1A1AB2"/>
                </a:solidFill>
                <a:latin typeface="楷体" panose="02010609060101010101" pitchFamily="1" charset="-122"/>
                <a:ea typeface="楷体" panose="02010609060101010101" pitchFamily="1" charset="-122"/>
              </a:rPr>
              <a:t>SQL-89,1992</a:t>
            </a:r>
            <a:r>
              <a:rPr lang="zh-CN" altLang="en-US" sz="2400" u="sng" dirty="0">
                <a:solidFill>
                  <a:srgbClr val="1A1AB2"/>
                </a:solidFill>
                <a:latin typeface="楷体" panose="02010609060101010101" pitchFamily="1" charset="-122"/>
                <a:ea typeface="楷体" panose="02010609060101010101" pitchFamily="1" charset="-122"/>
              </a:rPr>
              <a:t>年，</a:t>
            </a:r>
            <a:r>
              <a:rPr lang="en-US" altLang="x-none" sz="2400" u="sng" dirty="0">
                <a:solidFill>
                  <a:srgbClr val="1A1AB2"/>
                </a:solidFill>
                <a:latin typeface="楷体" panose="02010609060101010101" pitchFamily="1" charset="-122"/>
                <a:ea typeface="楷体" panose="02010609060101010101" pitchFamily="1" charset="-122"/>
              </a:rPr>
              <a:t>ANSI</a:t>
            </a:r>
            <a:r>
              <a:rPr lang="zh-CN" altLang="en-US" sz="2400" u="sng" dirty="0">
                <a:solidFill>
                  <a:srgbClr val="1A1AB2"/>
                </a:solidFill>
                <a:latin typeface="楷体" panose="02010609060101010101" pitchFamily="1" charset="-122"/>
                <a:ea typeface="楷体" panose="02010609060101010101" pitchFamily="1" charset="-122"/>
              </a:rPr>
              <a:t>和</a:t>
            </a:r>
            <a:r>
              <a:rPr lang="en-US" altLang="x-none" sz="2400" u="sng" dirty="0">
                <a:solidFill>
                  <a:srgbClr val="1A1AB2"/>
                </a:solidFill>
                <a:latin typeface="楷体" panose="02010609060101010101" pitchFamily="1" charset="-122"/>
                <a:ea typeface="楷体" panose="02010609060101010101" pitchFamily="1" charset="-122"/>
              </a:rPr>
              <a:t>ISO</a:t>
            </a:r>
            <a:r>
              <a:rPr lang="zh-CN" altLang="en-US" sz="2400" u="sng" dirty="0">
                <a:solidFill>
                  <a:srgbClr val="1A1AB2"/>
                </a:solidFill>
                <a:latin typeface="楷体" panose="02010609060101010101" pitchFamily="1" charset="-122"/>
                <a:ea typeface="楷体" panose="02010609060101010101" pitchFamily="1" charset="-122"/>
              </a:rPr>
              <a:t>合作，做了较大改动，推出的版本称为</a:t>
            </a:r>
            <a:r>
              <a:rPr lang="en-US" altLang="x-none" sz="2400" u="sng" dirty="0">
                <a:solidFill>
                  <a:srgbClr val="1A1AB2"/>
                </a:solidFill>
                <a:latin typeface="楷体" panose="02010609060101010101" pitchFamily="1" charset="-122"/>
                <a:ea typeface="楷体" panose="02010609060101010101" pitchFamily="1" charset="-122"/>
              </a:rPr>
              <a:t>SQL-92,</a:t>
            </a:r>
            <a:r>
              <a:rPr lang="zh-CN" altLang="en-US" sz="2400" u="sng" dirty="0">
                <a:solidFill>
                  <a:srgbClr val="1A1AB2"/>
                </a:solidFill>
                <a:latin typeface="楷体" panose="02010609060101010101" pitchFamily="1" charset="-122"/>
                <a:ea typeface="楷体" panose="02010609060101010101" pitchFamily="1" charset="-122"/>
              </a:rPr>
              <a:t>这是目前大多数商用</a:t>
            </a:r>
            <a:r>
              <a:rPr lang="en-US" altLang="x-none" sz="2400" u="sng" dirty="0">
                <a:solidFill>
                  <a:srgbClr val="1A1AB2"/>
                </a:solidFill>
                <a:latin typeface="楷体" panose="02010609060101010101" pitchFamily="1" charset="-122"/>
                <a:ea typeface="楷体" panose="02010609060101010101" pitchFamily="1" charset="-122"/>
              </a:rPr>
              <a:t>RDBMS</a:t>
            </a:r>
            <a:r>
              <a:rPr lang="zh-CN" altLang="en-US" sz="2400" u="sng" dirty="0">
                <a:solidFill>
                  <a:srgbClr val="1A1AB2"/>
                </a:solidFill>
                <a:latin typeface="楷体" panose="02010609060101010101" pitchFamily="1" charset="-122"/>
                <a:ea typeface="楷体" panose="02010609060101010101" pitchFamily="1" charset="-122"/>
              </a:rPr>
              <a:t>系统支持的版本。</a:t>
            </a:r>
            <a:endParaRPr lang="zh-CN" altLang="en-US" sz="2400" dirty="0">
              <a:latin typeface="楷体" panose="02010609060101010101" pitchFamily="1" charset="-122"/>
              <a:ea typeface="楷体" panose="02010609060101010101" pitchFamily="1" charset="-122"/>
            </a:endParaRPr>
          </a:p>
        </p:txBody>
      </p:sp>
      <p:sp>
        <p:nvSpPr>
          <p:cNvPr id="57348" name="Text Box 4"/>
          <p:cNvSpPr txBox="1"/>
          <p:nvPr/>
        </p:nvSpPr>
        <p:spPr>
          <a:xfrm>
            <a:off x="552450" y="1403350"/>
            <a:ext cx="4881563" cy="566738"/>
          </a:xfrm>
          <a:prstGeom prst="rect">
            <a:avLst/>
          </a:prstGeom>
          <a:noFill/>
          <a:ln w="9525">
            <a:noFill/>
          </a:ln>
        </p:spPr>
        <p:txBody>
          <a:bodyPr anchor="t">
            <a:spAutoFit/>
          </a:bodyPr>
          <a:lstStyle/>
          <a:p>
            <a:pPr lvl="0" indent="0">
              <a:lnSpc>
                <a:spcPct val="110000"/>
              </a:lnSpc>
              <a:buNone/>
            </a:pPr>
            <a:r>
              <a:rPr lang="en-US" altLang="x-none" sz="2800" dirty="0">
                <a:solidFill>
                  <a:srgbClr val="CC3300"/>
                </a:solidFill>
                <a:latin typeface="Arial" panose="020B0604020202020204" pitchFamily="34" charset="0"/>
                <a:ea typeface="宋体" panose="02010600030101010101" pitchFamily="2" charset="-122"/>
              </a:rPr>
              <a:t>■</a:t>
            </a:r>
            <a:r>
              <a:rPr lang="en-US" altLang="x-none" sz="2800" dirty="0">
                <a:solidFill>
                  <a:srgbClr val="0000FF"/>
                </a:solidFill>
                <a:latin typeface="Arial" panose="020B0604020202020204" pitchFamily="34" charset="0"/>
                <a:ea typeface="宋体" panose="02010600030101010101" pitchFamily="2" charset="-122"/>
              </a:rPr>
              <a:t> </a:t>
            </a:r>
            <a:r>
              <a:rPr lang="zh-CN" altLang="en-US" sz="2800" dirty="0">
                <a:latin typeface="Arial" panose="020B0604020202020204" pitchFamily="34" charset="0"/>
                <a:ea typeface="宋体" panose="02010600030101010101" pitchFamily="2" charset="-122"/>
              </a:rPr>
              <a:t>结构化查询语言</a:t>
            </a:r>
            <a:r>
              <a:rPr lang="en-US" altLang="x-none" sz="2800" dirty="0">
                <a:latin typeface="Arial" panose="020B0604020202020204" pitchFamily="34" charset="0"/>
                <a:ea typeface="宋体" panose="02010600030101010101" pitchFamily="2" charset="-122"/>
              </a:rPr>
              <a:t>SQL</a:t>
            </a:r>
            <a:endParaRPr lang="en-US" altLang="x-none" sz="2800" dirty="0">
              <a:latin typeface="Arial" panose="020B0604020202020204" pitchFamily="34" charset="0"/>
              <a:ea typeface="宋体" panose="02010600030101010101" pitchFamily="2" charset="-122"/>
            </a:endParaRPr>
          </a:p>
        </p:txBody>
      </p:sp>
      <p:sp>
        <p:nvSpPr>
          <p:cNvPr id="53252"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四、数据库系统用户与数据库语言</a:t>
            </a:r>
            <a:endParaRPr lang="zh-CN" altLang="en-US"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Effect transition="in" filter="wipe(down)">
                                      <p:cBhvr>
                                        <p:cTn id="7" dur="500"/>
                                        <p:tgtEl>
                                          <p:spTgt spid="54275">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4275">
                                            <p:txEl>
                                              <p:pRg st="1" end="1"/>
                                            </p:txEl>
                                          </p:spTgt>
                                        </p:tgtEl>
                                        <p:attrNameLst>
                                          <p:attrName>style.visibility</p:attrName>
                                        </p:attrNameLst>
                                      </p:cBhvr>
                                      <p:to>
                                        <p:strVal val="visible"/>
                                      </p:to>
                                    </p:set>
                                    <p:animEffect transition="in" filter="wipe(down)">
                                      <p:cBhvr>
                                        <p:cTn id="10" dur="500"/>
                                        <p:tgtEl>
                                          <p:spTgt spid="542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allAtOnce"/>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p:nvPr/>
        </p:nvSpPr>
        <p:spPr>
          <a:xfrm>
            <a:off x="500063" y="779463"/>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sym typeface="Wingdings 3" panose="05040102010807070707" pitchFamily="2" charset="2"/>
              </a:rPr>
              <a:t>数据库的语言与</a:t>
            </a:r>
            <a:r>
              <a:rPr lang="en-US" altLang="x-none" sz="2800" dirty="0">
                <a:solidFill>
                  <a:srgbClr val="3333CC"/>
                </a:solidFill>
                <a:latin typeface="Arial" panose="020B0604020202020204" pitchFamily="34" charset="0"/>
                <a:ea typeface="黑体" panose="02010609060101010101" pitchFamily="1" charset="-122"/>
                <a:sym typeface="Wingdings 3" panose="05040102010807070707" pitchFamily="2" charset="2"/>
              </a:rPr>
              <a:t>SQL</a:t>
            </a:r>
            <a:endParaRPr lang="en-US" altLang="x-none" sz="2800" dirty="0">
              <a:solidFill>
                <a:srgbClr val="3333CC"/>
              </a:solidFill>
              <a:latin typeface="Arial" panose="020B0604020202020204" pitchFamily="34" charset="0"/>
              <a:ea typeface="黑体" panose="02010609060101010101" pitchFamily="1" charset="-122"/>
            </a:endParaRPr>
          </a:p>
        </p:txBody>
      </p:sp>
      <p:sp>
        <p:nvSpPr>
          <p:cNvPr id="55300" name="Rectangle 3"/>
          <p:cNvSpPr txBox="1"/>
          <p:nvPr/>
        </p:nvSpPr>
        <p:spPr>
          <a:xfrm>
            <a:off x="554038" y="1574800"/>
            <a:ext cx="8159750" cy="3962400"/>
          </a:xfrm>
          <a:prstGeom prst="rect">
            <a:avLst/>
          </a:prstGeom>
          <a:noFill/>
          <a:ln w="9525">
            <a:noFill/>
          </a:ln>
        </p:spPr>
        <p:txBody>
          <a:bodyPr anchor="t"/>
          <a:lstStyle/>
          <a:p>
            <a:pPr marL="342900" indent="-342900">
              <a:lnSpc>
                <a:spcPct val="110000"/>
              </a:lnSpc>
              <a:spcBef>
                <a:spcPct val="20000"/>
              </a:spcBef>
              <a:buClr>
                <a:srgbClr val="0033CC"/>
              </a:buClr>
              <a:buSzPct val="80000"/>
              <a:buFont typeface="Wingdings" panose="05000000000000000000" pitchFamily="2" charset="2"/>
              <a:buChar char="u"/>
            </a:pPr>
            <a:endParaRPr lang="zh-CN" altLang="en-US" sz="2400" dirty="0">
              <a:latin typeface="楷体" panose="02010609060101010101" pitchFamily="1" charset="-122"/>
              <a:ea typeface="楷体" panose="02010609060101010101" pitchFamily="1" charset="-122"/>
            </a:endParaRPr>
          </a:p>
        </p:txBody>
      </p:sp>
      <p:sp>
        <p:nvSpPr>
          <p:cNvPr id="55301" name="Rectangle 3"/>
          <p:cNvSpPr txBox="1"/>
          <p:nvPr/>
        </p:nvSpPr>
        <p:spPr>
          <a:xfrm>
            <a:off x="519113" y="1525588"/>
            <a:ext cx="8159750" cy="3962400"/>
          </a:xfrm>
          <a:prstGeom prst="rect">
            <a:avLst/>
          </a:prstGeom>
          <a:noFill/>
          <a:ln w="9525">
            <a:noFill/>
          </a:ln>
        </p:spPr>
        <p:txBody>
          <a:bodyPr anchor="t"/>
          <a:lstStyle/>
          <a:p>
            <a:pPr marL="342900" indent="-342900">
              <a:lnSpc>
                <a:spcPct val="114000"/>
              </a:lnSpc>
              <a:spcBef>
                <a:spcPct val="20000"/>
              </a:spcBef>
              <a:buClr>
                <a:srgbClr val="0033CC"/>
              </a:buClr>
              <a:buSzPct val="80000"/>
              <a:buFont typeface="Wingdings" panose="05000000000000000000" pitchFamily="2" charset="2"/>
              <a:buChar char="u"/>
            </a:pPr>
            <a:r>
              <a:rPr lang="zh-CN" altLang="en-US" sz="2400" dirty="0">
                <a:latin typeface="楷体" panose="02010609060101010101" pitchFamily="1" charset="-122"/>
                <a:ea typeface="楷体" panose="02010609060101010101" pitchFamily="1" charset="-122"/>
              </a:rPr>
              <a:t>遵循数据库语言的组成划分，</a:t>
            </a:r>
            <a:r>
              <a:rPr lang="en-US" altLang="x-none" sz="2400" dirty="0">
                <a:latin typeface="楷体" panose="02010609060101010101" pitchFamily="1" charset="-122"/>
                <a:ea typeface="楷体" panose="02010609060101010101" pitchFamily="1" charset="-122"/>
              </a:rPr>
              <a:t>SQL</a:t>
            </a:r>
            <a:r>
              <a:rPr lang="zh-CN" altLang="en-US" sz="2400" dirty="0">
                <a:latin typeface="楷体" panose="02010609060101010101" pitchFamily="1" charset="-122"/>
                <a:ea typeface="楷体" panose="02010609060101010101" pitchFamily="1" charset="-122"/>
              </a:rPr>
              <a:t>也由</a:t>
            </a:r>
            <a:r>
              <a:rPr lang="en-US" altLang="x-none" sz="2400" dirty="0">
                <a:latin typeface="楷体" panose="02010609060101010101" pitchFamily="1" charset="-122"/>
                <a:ea typeface="楷体" panose="02010609060101010101" pitchFamily="1" charset="-122"/>
              </a:rPr>
              <a:t>3</a:t>
            </a:r>
            <a:r>
              <a:rPr lang="zh-CN" altLang="en-US" sz="2400" dirty="0">
                <a:latin typeface="楷体" panose="02010609060101010101" pitchFamily="1" charset="-122"/>
                <a:ea typeface="楷体" panose="02010609060101010101" pitchFamily="1" charset="-122"/>
              </a:rPr>
              <a:t>个子语言构成：</a:t>
            </a:r>
            <a:r>
              <a:rPr lang="en-US" altLang="x-none" sz="2400" dirty="0">
                <a:latin typeface="楷体" panose="02010609060101010101" pitchFamily="1" charset="-122"/>
                <a:ea typeface="楷体" panose="02010609060101010101" pitchFamily="1" charset="-122"/>
              </a:rPr>
              <a:t>DDL</a:t>
            </a:r>
            <a:r>
              <a:rPr lang="zh-CN" altLang="en-US" sz="2400" dirty="0">
                <a:latin typeface="楷体" panose="02010609060101010101" pitchFamily="1" charset="-122"/>
                <a:ea typeface="楷体" panose="02010609060101010101" pitchFamily="1" charset="-122"/>
              </a:rPr>
              <a:t>、</a:t>
            </a:r>
            <a:r>
              <a:rPr lang="en-US" altLang="x-none" sz="2400" dirty="0">
                <a:latin typeface="楷体" panose="02010609060101010101" pitchFamily="1" charset="-122"/>
                <a:ea typeface="楷体" panose="02010609060101010101" pitchFamily="1" charset="-122"/>
              </a:rPr>
              <a:t>DML</a:t>
            </a:r>
            <a:r>
              <a:rPr lang="zh-CN" altLang="en-US" sz="2400" dirty="0">
                <a:latin typeface="楷体" panose="02010609060101010101" pitchFamily="1" charset="-122"/>
                <a:ea typeface="楷体" panose="02010609060101010101" pitchFamily="1" charset="-122"/>
              </a:rPr>
              <a:t>、</a:t>
            </a:r>
            <a:r>
              <a:rPr lang="en-US" altLang="x-none" sz="2400" dirty="0">
                <a:latin typeface="楷体" panose="02010609060101010101" pitchFamily="1" charset="-122"/>
                <a:ea typeface="楷体" panose="02010609060101010101" pitchFamily="1" charset="-122"/>
              </a:rPr>
              <a:t>DCL</a:t>
            </a:r>
            <a:r>
              <a:rPr lang="zh-CN" altLang="en-US" sz="2400" dirty="0">
                <a:latin typeface="楷体" panose="02010609060101010101" pitchFamily="1" charset="-122"/>
                <a:ea typeface="楷体" panose="02010609060101010101" pitchFamily="1" charset="-122"/>
              </a:rPr>
              <a:t>。</a:t>
            </a:r>
            <a:endParaRPr lang="en-US" altLang="x-none" sz="2400" dirty="0">
              <a:latin typeface="楷体" panose="02010609060101010101" pitchFamily="1" charset="-122"/>
              <a:ea typeface="楷体" panose="02010609060101010101" pitchFamily="1" charset="-122"/>
            </a:endParaRPr>
          </a:p>
          <a:p>
            <a:pPr marL="342900" indent="-342900">
              <a:lnSpc>
                <a:spcPct val="114000"/>
              </a:lnSpc>
              <a:spcBef>
                <a:spcPct val="20000"/>
              </a:spcBef>
              <a:buClr>
                <a:srgbClr val="0033CC"/>
              </a:buClr>
              <a:buSzPct val="80000"/>
              <a:buFont typeface="Wingdings" panose="05000000000000000000" pitchFamily="2" charset="2"/>
              <a:buChar char="u"/>
            </a:pPr>
            <a:r>
              <a:rPr lang="zh-CN" altLang="en-US" sz="2400" dirty="0">
                <a:latin typeface="楷体" panose="02010609060101010101" pitchFamily="1" charset="-122"/>
                <a:ea typeface="楷体" panose="02010609060101010101" pitchFamily="1" charset="-122"/>
              </a:rPr>
              <a:t>由此可见，</a:t>
            </a:r>
            <a:r>
              <a:rPr lang="en-US" altLang="x-none" sz="2400" dirty="0">
                <a:latin typeface="楷体" panose="02010609060101010101" pitchFamily="1" charset="-122"/>
                <a:ea typeface="楷体" panose="02010609060101010101" pitchFamily="1" charset="-122"/>
              </a:rPr>
              <a:t>SQL</a:t>
            </a:r>
            <a:r>
              <a:rPr lang="zh-CN" altLang="en-US" sz="2400" dirty="0">
                <a:latin typeface="楷体" panose="02010609060101010101" pitchFamily="1" charset="-122"/>
                <a:ea typeface="楷体" panose="02010609060101010101" pitchFamily="1" charset="-122"/>
              </a:rPr>
              <a:t>尽管称为查询语言，但其功能远远不止查询，还可以定义数据结构、定义数据完整性约束，对数据进行增加、修改、删除、实施事务控制、安全控制等。之所以称为查询语言，可能是用户在数据管理活动中，查询操作所占的比重比较大。</a:t>
            </a:r>
            <a:endParaRPr lang="zh-CN" altLang="en-US" sz="2400" dirty="0">
              <a:latin typeface="楷体" panose="02010609060101010101" pitchFamily="1" charset="-122"/>
              <a:ea typeface="楷体" panose="02010609060101010101" pitchFamily="1" charset="-122"/>
            </a:endParaRPr>
          </a:p>
          <a:p>
            <a:pPr marL="342900" indent="-342900">
              <a:lnSpc>
                <a:spcPct val="114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楷体" panose="02010609060101010101" pitchFamily="1" charset="-122"/>
                <a:ea typeface="楷体" panose="02010609060101010101" pitchFamily="1" charset="-122"/>
              </a:rPr>
              <a:t>SQL语言既可以作为交互式（Interactive）数据库语言使用，也可以嵌入（Embedded）到程序设计语言中作为其子语言使用</a:t>
            </a:r>
            <a:r>
              <a:rPr lang="zh-CN" altLang="en-US" sz="2400" dirty="0">
                <a:latin typeface="楷体" panose="02010609060101010101" pitchFamily="1" charset="-122"/>
                <a:ea typeface="楷体" panose="02010609060101010101" pitchFamily="1" charset="-122"/>
              </a:rPr>
              <a:t>。</a:t>
            </a:r>
            <a:endParaRPr lang="zh-CN" altLang="en-US" sz="2400" dirty="0">
              <a:latin typeface="楷体" panose="02010609060101010101" pitchFamily="1" charset="-122"/>
              <a:ea typeface="楷体" panose="02010609060101010101" pitchFamily="1" charset="-122"/>
            </a:endParaRPr>
          </a:p>
        </p:txBody>
      </p:sp>
      <p:sp>
        <p:nvSpPr>
          <p:cNvPr id="53252"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四、数据库系统用户与数据库语言</a:t>
            </a:r>
            <a:endParaRPr lang="zh-CN" altLang="en-US" sz="3200" dirty="0">
              <a:solidFill>
                <a:srgbClr val="FF0000"/>
              </a:solidFill>
              <a:latin typeface="Arial" panose="020B0604020202020204" pitchFamily="34" charset="0"/>
              <a:ea typeface="黑体" panose="02010609060101010101" pitchFamily="1" charset="-122"/>
            </a:endParaRPr>
          </a:p>
        </p:txBody>
      </p:sp>
      <p:pic>
        <p:nvPicPr>
          <p:cNvPr id="106" name="图片 105"/>
          <p:cNvPicPr/>
          <p:nvPr/>
        </p:nvPicPr>
        <p:blipFill>
          <a:blip r:embed="rId1"/>
          <a:stretch>
            <a:fillRect/>
          </a:stretch>
        </p:blipFill>
        <p:spPr>
          <a:xfrm>
            <a:off x="1348105" y="2324735"/>
            <a:ext cx="6191250" cy="375285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nodePh="1">
                                  <p:stCondLst>
                                    <p:cond delay="0"/>
                                  </p:stCondLst>
                                  <p:endCondLst>
                                    <p:cond evt="begin" delay="0">
                                      <p:tn val="5"/>
                                    </p:cond>
                                  </p:endCondLst>
                                  <p:childTnLst>
                                    <p:set>
                                      <p:cBhvr>
                                        <p:cTn id="6" dur="1" fill="hold">
                                          <p:stCondLst>
                                            <p:cond delay="0"/>
                                          </p:stCondLst>
                                        </p:cTn>
                                        <p:tgtEl>
                                          <p:spTgt spid="55300">
                                            <p:txEl>
                                              <p:pRg st="0" end="0"/>
                                            </p:txEl>
                                          </p:spTgt>
                                        </p:tgtEl>
                                        <p:attrNameLst>
                                          <p:attrName>style.visibility</p:attrName>
                                        </p:attrNameLst>
                                      </p:cBhvr>
                                      <p:to>
                                        <p:strVal val="visible"/>
                                      </p:to>
                                    </p:set>
                                    <p:animEffect transition="in" filter="dissolve">
                                      <p:cBhvr>
                                        <p:cTn id="7" dur="500"/>
                                        <p:tgtEl>
                                          <p:spTgt spid="553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5301">
                                            <p:txEl>
                                              <p:pRg st="0" end="0"/>
                                            </p:txEl>
                                          </p:spTgt>
                                        </p:tgtEl>
                                        <p:attrNameLst>
                                          <p:attrName>style.visibility</p:attrName>
                                        </p:attrNameLst>
                                      </p:cBhvr>
                                      <p:to>
                                        <p:strVal val="visible"/>
                                      </p:to>
                                    </p:set>
                                    <p:animEffect transition="in" filter="dissolve">
                                      <p:cBhvr>
                                        <p:cTn id="12" dur="500"/>
                                        <p:tgtEl>
                                          <p:spTgt spid="5530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5301">
                                            <p:txEl>
                                              <p:pRg st="1" end="1"/>
                                            </p:txEl>
                                          </p:spTgt>
                                        </p:tgtEl>
                                        <p:attrNameLst>
                                          <p:attrName>style.visibility</p:attrName>
                                        </p:attrNameLst>
                                      </p:cBhvr>
                                      <p:to>
                                        <p:strVal val="visible"/>
                                      </p:to>
                                    </p:set>
                                    <p:animEffect transition="in" filter="dissolve">
                                      <p:cBhvr>
                                        <p:cTn id="17" dur="500"/>
                                        <p:tgtEl>
                                          <p:spTgt spid="5530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5301">
                                            <p:txEl>
                                              <p:pRg st="2" end="2"/>
                                            </p:txEl>
                                          </p:spTgt>
                                        </p:tgtEl>
                                        <p:attrNameLst>
                                          <p:attrName>style.visibility</p:attrName>
                                        </p:attrNameLst>
                                      </p:cBhvr>
                                      <p:to>
                                        <p:strVal val="visible"/>
                                      </p:to>
                                    </p:set>
                                    <p:animEffect transition="in" filter="dissolve">
                                      <p:cBhvr>
                                        <p:cTn id="22" dur="500"/>
                                        <p:tgtEl>
                                          <p:spTgt spid="5530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0" grpId="0" build="p"/>
      <p:bldP spid="55301"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四、数据库系统用户与数据库语言</a:t>
            </a:r>
            <a:endParaRPr lang="zh-CN" altLang="en-US" sz="3200" dirty="0">
              <a:solidFill>
                <a:srgbClr val="FF0000"/>
              </a:solidFill>
              <a:latin typeface="Arial" panose="020B0604020202020204" pitchFamily="34" charset="0"/>
              <a:ea typeface="黑体" panose="02010609060101010101" pitchFamily="1" charset="-122"/>
            </a:endParaRPr>
          </a:p>
        </p:txBody>
      </p:sp>
      <p:sp>
        <p:nvSpPr>
          <p:cNvPr id="3" name="矩形 2"/>
          <p:cNvSpPr/>
          <p:nvPr/>
        </p:nvSpPr>
        <p:spPr>
          <a:xfrm>
            <a:off x="576072" y="712973"/>
            <a:ext cx="7991856" cy="4204228"/>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FF0000"/>
                </a:solidFill>
                <a:latin typeface="Calibri" panose="020F0502020204030204" pitchFamily="34" charset="0"/>
                <a:cs typeface="Times New Roman" panose="02020603050405020304" pitchFamily="2" charset="0"/>
              </a:rPr>
              <a:t>知识点小测</a:t>
            </a:r>
            <a:r>
              <a:rPr lang="zh-CN" altLang="zh-CN" sz="3200" kern="100" dirty="0" smtClean="0">
                <a:solidFill>
                  <a:srgbClr val="FF0000"/>
                </a:solidFill>
                <a:latin typeface="Calibri" panose="020F0502020204030204" pitchFamily="34" charset="0"/>
                <a:cs typeface="Times New Roman" panose="02020603050405020304" pitchFamily="2" charset="0"/>
              </a:rPr>
              <a:t>：</a:t>
            </a:r>
            <a:endParaRPr lang="en-US" altLang="zh-CN" sz="3200" kern="100" dirty="0" smtClean="0">
              <a:solidFill>
                <a:srgbClr val="FF0000"/>
              </a:solidFill>
              <a:latin typeface="Calibri" panose="020F0502020204030204" pitchFamily="34" charset="0"/>
              <a:cs typeface="Times New Roman" panose="02020603050405020304" pitchFamily="2" charset="0"/>
            </a:endParaRPr>
          </a:p>
          <a:p>
            <a:pPr algn="just">
              <a:lnSpc>
                <a:spcPct val="150000"/>
              </a:lnSpc>
              <a:spcAft>
                <a:spcPts val="0"/>
              </a:spcAft>
              <a:buNone/>
            </a:pPr>
            <a:r>
              <a:rPr lang="en-US" altLang="zh-CN" sz="2400" kern="100" dirty="0" smtClean="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数据库系统</a:t>
            </a:r>
            <a:r>
              <a:rPr lang="zh-CN" altLang="en-US" sz="2400" kern="100" dirty="0">
                <a:latin typeface="Calibri" panose="020F0502020204030204" pitchFamily="34" charset="0"/>
                <a:cs typeface="Times New Roman" panose="02020603050405020304" pitchFamily="2" charset="0"/>
              </a:rPr>
              <a:t>的用户包括</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20000"/>
              </a:lnSpc>
              <a:spcAft>
                <a:spcPts val="0"/>
              </a:spcAft>
              <a:buNone/>
            </a:pP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和</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20000"/>
              </a:lnSpc>
              <a:spcBef>
                <a:spcPts val="600"/>
              </a:spcBef>
              <a:spcAft>
                <a:spcPts val="0"/>
              </a:spcAft>
              <a:buNone/>
            </a:pPr>
            <a:r>
              <a:rPr lang="en-US" altLang="zh-CN" sz="2400" kern="100" dirty="0">
                <a:solidFill>
                  <a:srgbClr val="006600"/>
                </a:solidFill>
                <a:latin typeface="Calibri" panose="020F0502020204030204" pitchFamily="34" charset="0"/>
                <a:cs typeface="Times New Roman" panose="02020603050405020304" pitchFamily="2" charset="0"/>
              </a:rPr>
              <a:t>2</a:t>
            </a:r>
            <a:r>
              <a:rPr lang="zh-CN" altLang="en-US" sz="2400" kern="100" dirty="0">
                <a:solidFill>
                  <a:srgbClr val="006600"/>
                </a:solidFill>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数据库系统的子语言包括</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和</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20000"/>
              </a:lnSpc>
              <a:spcAft>
                <a:spcPts val="0"/>
              </a:spcAft>
              <a:buNone/>
            </a:pPr>
            <a:r>
              <a:rPr lang="en-US" altLang="zh-CN" sz="2400" kern="100" dirty="0">
                <a:latin typeface="Calibri" panose="020F0502020204030204" pitchFamily="34" charset="0"/>
                <a:cs typeface="Times New Roman" panose="02020603050405020304" pitchFamily="2" charset="0"/>
              </a:rPr>
              <a:t>3</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 SQL</a:t>
            </a:r>
            <a:r>
              <a:rPr lang="zh-CN" altLang="zh-CN" sz="2400" kern="100" dirty="0">
                <a:latin typeface="Calibri" panose="020F0502020204030204" pitchFamily="34" charset="0"/>
                <a:cs typeface="Times New Roman" panose="02020603050405020304" pitchFamily="2" charset="0"/>
              </a:rPr>
              <a:t>语言最早在（</a:t>
            </a:r>
            <a:r>
              <a:rPr lang="en-US" altLang="zh-CN" sz="2400" kern="100" dirty="0">
                <a:latin typeface="Calibri" panose="020F0502020204030204" pitchFamily="34" charset="0"/>
                <a:cs typeface="Times New Roman" panose="02020603050405020304" pitchFamily="2" charset="0"/>
              </a:rPr>
              <a:t>   </a:t>
            </a:r>
            <a:r>
              <a:rPr lang="zh-CN" altLang="zh-CN" sz="2400" kern="100" dirty="0">
                <a:latin typeface="Calibri" panose="020F0502020204030204" pitchFamily="34" charset="0"/>
                <a:cs typeface="Times New Roman" panose="02020603050405020304" pitchFamily="2" charset="0"/>
              </a:rPr>
              <a:t>）上开发。</a:t>
            </a:r>
            <a:endParaRPr lang="zh-CN" altLang="zh-CN" sz="2400" kern="100" dirty="0">
              <a:latin typeface="Calibri" panose="020F0502020204030204" pitchFamily="34" charset="0"/>
              <a:cs typeface="Times New Roman" panose="02020603050405020304" pitchFamily="2" charset="0"/>
            </a:endParaRPr>
          </a:p>
          <a:p>
            <a:pPr>
              <a:buNone/>
            </a:pPr>
            <a:r>
              <a:rPr lang="en-US" altLang="zh-CN" sz="2000" dirty="0"/>
              <a:t> A</a:t>
            </a:r>
            <a:r>
              <a:rPr lang="zh-CN" altLang="zh-CN" sz="2000" dirty="0"/>
              <a:t>、 </a:t>
            </a:r>
            <a:r>
              <a:rPr lang="en-US" altLang="zh-CN" sz="2000" b="0" dirty="0"/>
              <a:t>System R</a:t>
            </a:r>
            <a:r>
              <a:rPr lang="en-US" altLang="zh-CN" sz="2000" dirty="0"/>
              <a:t>      B</a:t>
            </a:r>
            <a:r>
              <a:rPr lang="zh-CN" altLang="zh-CN" sz="2000" dirty="0"/>
              <a:t>、</a:t>
            </a:r>
            <a:r>
              <a:rPr lang="en-US" altLang="zh-CN" sz="2000" dirty="0"/>
              <a:t> DB2        C</a:t>
            </a:r>
            <a:r>
              <a:rPr lang="zh-CN" altLang="zh-CN" sz="2000" dirty="0"/>
              <a:t>、 </a:t>
            </a:r>
            <a:r>
              <a:rPr lang="en-US" altLang="zh-CN" sz="2000" b="0" dirty="0"/>
              <a:t>Oracle</a:t>
            </a:r>
            <a:r>
              <a:rPr lang="en-US" altLang="zh-CN" sz="2000" dirty="0"/>
              <a:t>       D</a:t>
            </a:r>
            <a:r>
              <a:rPr lang="zh-CN" altLang="zh-CN" sz="2000" dirty="0"/>
              <a:t>、 </a:t>
            </a:r>
            <a:r>
              <a:rPr lang="en-US" altLang="zh-CN" sz="2000" b="0" dirty="0"/>
              <a:t>Ingres</a:t>
            </a:r>
            <a:r>
              <a:rPr lang="en-US" altLang="zh-CN" sz="2000" dirty="0"/>
              <a:t> </a:t>
            </a:r>
            <a:endParaRPr lang="zh-CN" altLang="zh-CN" sz="2000" dirty="0"/>
          </a:p>
          <a:p>
            <a:pPr algn="just">
              <a:lnSpc>
                <a:spcPct val="150000"/>
              </a:lnSpc>
              <a:spcAft>
                <a:spcPts val="0"/>
              </a:spcAft>
              <a:buNone/>
            </a:pPr>
            <a:r>
              <a:rPr lang="en-US" altLang="zh-CN" sz="2400" kern="100" dirty="0">
                <a:latin typeface="Calibri" panose="020F0502020204030204" pitchFamily="34" charset="0"/>
                <a:cs typeface="Times New Roman" panose="02020603050405020304" pitchFamily="2" charset="0"/>
              </a:rPr>
              <a:t>4</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不同子语言服务哪些用户</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59457" y="2574542"/>
            <a:ext cx="8342586" cy="3567130"/>
          </a:xfrm>
          <a:prstGeom prst="rect">
            <a:avLst/>
          </a:prstGeom>
        </p:spPr>
        <p:txBody>
          <a:bodyPr wrap="square">
            <a:spAutoFit/>
          </a:bodyPr>
          <a:lstStyle/>
          <a:p>
            <a:pPr lvl="0" algn="just">
              <a:lnSpc>
                <a:spcPct val="120000"/>
              </a:lnSpc>
              <a:spcBef>
                <a:spcPts val="200"/>
              </a:spcBef>
              <a:spcAft>
                <a:spcPts val="0"/>
              </a:spcAft>
              <a:buNone/>
            </a:pP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a:t>
            </a:r>
            <a:r>
              <a:rPr lang="en-US" altLang="zh-CN"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1</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最终用户：是现实系统中的业务人员，为了查询、更新、以及产生报表等需要而访问数据库的人。</a:t>
            </a:r>
            <a:endParaRPr lang="en-US" altLang="zh-CN"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a:p>
            <a:pPr algn="just">
              <a:lnSpc>
                <a:spcPct val="120000"/>
              </a:lnSpc>
              <a:spcBef>
                <a:spcPts val="200"/>
              </a:spcBef>
              <a:spcAft>
                <a:spcPts val="0"/>
              </a:spcAft>
              <a:buNone/>
            </a:pP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en-US" altLang="zh-CN"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2</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）数据库应用开发人员：分析用户需求，为每个用户建立一个适于业务需要的外部视图，负责从“外部模式”</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rPr>
              <a:t>“概念模式</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rPr>
              <a:t>“内模式</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rPr>
              <a:t>建立数据库的过程。</a:t>
            </a:r>
            <a:endParaRPr lang="en-US" altLang="zh-CN"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endParaRPr>
          </a:p>
          <a:p>
            <a:pPr lvl="0" algn="just">
              <a:lnSpc>
                <a:spcPct val="120000"/>
              </a:lnSpc>
              <a:spcBef>
                <a:spcPts val="200"/>
              </a:spcBef>
              <a:spcAft>
                <a:spcPts val="0"/>
              </a:spcAft>
              <a:buNone/>
            </a:pP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rPr>
              <a:t>（</a:t>
            </a:r>
            <a:r>
              <a:rPr lang="en-US" altLang="zh-CN"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rPr>
              <a:t>3</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rPr>
              <a:t>）数据库管理员（DBA）：负责数据库监控、日常维护和管理。例如，为用户授予存取权限等。</a:t>
            </a:r>
            <a:endParaRPr lang="en-US" altLang="zh-CN"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endParaRPr>
          </a:p>
          <a:p>
            <a:pPr algn="just">
              <a:lnSpc>
                <a:spcPct val="120000"/>
              </a:lnSpc>
              <a:spcBef>
                <a:spcPts val="200"/>
              </a:spcBef>
              <a:spcAft>
                <a:spcPts val="0"/>
              </a:spcAft>
              <a:buNone/>
            </a:pP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en-US" altLang="zh-CN"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4</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）有关的软件工程师：</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rPr>
              <a:t>开发数据库工具软件包、系统分析等。</a:t>
            </a:r>
            <a:endPar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p:txBody>
      </p:sp>
      <p:sp>
        <p:nvSpPr>
          <p:cNvPr id="7" name="矩形 6"/>
          <p:cNvSpPr/>
          <p:nvPr/>
        </p:nvSpPr>
        <p:spPr>
          <a:xfrm>
            <a:off x="480350" y="734006"/>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0033CC"/>
                </a:solidFill>
                <a:latin typeface="Calibri" panose="020F0502020204030204" pitchFamily="34" charset="0"/>
                <a:cs typeface="Times New Roman" panose="02020603050405020304" pitchFamily="2" charset="0"/>
              </a:rPr>
              <a:t>知识点小测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8" name="矩形 7"/>
          <p:cNvSpPr/>
          <p:nvPr/>
        </p:nvSpPr>
        <p:spPr>
          <a:xfrm>
            <a:off x="736600" y="1624517"/>
            <a:ext cx="7988300" cy="978729"/>
          </a:xfrm>
          <a:prstGeom prst="rect">
            <a:avLst/>
          </a:prstGeom>
        </p:spPr>
        <p:txBody>
          <a:bodyPr wrap="square">
            <a:spAutoFit/>
          </a:bodyPr>
          <a:lstStyle/>
          <a:p>
            <a:pPr algn="just">
              <a:lnSpc>
                <a:spcPct val="120000"/>
              </a:lnSpc>
              <a:spcAft>
                <a:spcPts val="0"/>
              </a:spcAft>
              <a:buNone/>
            </a:pP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数据库系统</a:t>
            </a:r>
            <a:r>
              <a:rPr lang="zh-CN" altLang="en-US" sz="2400" kern="100" dirty="0">
                <a:latin typeface="Calibri" panose="020F0502020204030204" pitchFamily="34" charset="0"/>
                <a:cs typeface="Times New Roman" panose="02020603050405020304" pitchFamily="2" charset="0"/>
              </a:rPr>
              <a:t>的用户包括</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20000"/>
              </a:lnSpc>
              <a:spcAft>
                <a:spcPts val="0"/>
              </a:spcAft>
              <a:buNone/>
            </a:pP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和</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p:txBody>
      </p:sp>
      <p:sp>
        <p:nvSpPr>
          <p:cNvPr id="5"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四、数据库系统用户与数据库语言</a:t>
            </a:r>
            <a:endParaRPr lang="zh-CN" altLang="en-US"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35000" y="1462935"/>
            <a:ext cx="8166100" cy="943207"/>
          </a:xfrm>
          <a:prstGeom prst="rect">
            <a:avLst/>
          </a:prstGeom>
        </p:spPr>
        <p:txBody>
          <a:bodyPr wrap="square">
            <a:spAutoFit/>
          </a:bodyPr>
          <a:lstStyle/>
          <a:p>
            <a:pPr algn="just">
              <a:lnSpc>
                <a:spcPct val="120000"/>
              </a:lnSpc>
              <a:spcBef>
                <a:spcPts val="600"/>
              </a:spcBef>
              <a:spcAft>
                <a:spcPts val="0"/>
              </a:spcAft>
              <a:buNone/>
            </a:pPr>
            <a:r>
              <a:rPr lang="en-US" altLang="zh-CN" sz="2400" kern="100" dirty="0">
                <a:solidFill>
                  <a:srgbClr val="006600"/>
                </a:solidFill>
                <a:latin typeface="Calibri" panose="020F0502020204030204" pitchFamily="34" charset="0"/>
                <a:cs typeface="Times New Roman" panose="02020603050405020304" pitchFamily="2" charset="0"/>
              </a:rPr>
              <a:t>2</a:t>
            </a:r>
            <a:r>
              <a:rPr lang="zh-CN" altLang="en-US" sz="2400" kern="100" dirty="0">
                <a:solidFill>
                  <a:srgbClr val="006600"/>
                </a:solidFill>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数据库系统的子语言包括</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a:solidFill>
                  <a:srgbClr val="FF0000"/>
                </a:solidFill>
                <a:latin typeface="Calibri" panose="020F0502020204030204" pitchFamily="34" charset="0"/>
                <a:cs typeface="Times New Roman" panose="02020603050405020304" pitchFamily="2" charset="0"/>
              </a:rPr>
              <a:t>数据库定义语言</a:t>
            </a:r>
            <a:r>
              <a:rPr lang="en-US" altLang="zh-CN" sz="2400" u="sng" kern="100" dirty="0">
                <a:solidFill>
                  <a:srgbClr val="FF0000"/>
                </a:solidFill>
                <a:latin typeface="Calibri" panose="020F0502020204030204" pitchFamily="34" charset="0"/>
                <a:cs typeface="Times New Roman" panose="02020603050405020304" pitchFamily="2" charset="0"/>
              </a:rPr>
              <a:t>DDL</a:t>
            </a:r>
            <a:r>
              <a:rPr lang="zh-CN" altLang="en-US" sz="2400" u="sng" kern="100" dirty="0">
                <a:solidFill>
                  <a:srgbClr val="FF0000"/>
                </a:solidFill>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a:solidFill>
                  <a:srgbClr val="FF0000"/>
                </a:solidFill>
                <a:latin typeface="Calibri" panose="020F0502020204030204" pitchFamily="34" charset="0"/>
                <a:cs typeface="Times New Roman" panose="02020603050405020304" pitchFamily="2" charset="0"/>
              </a:rPr>
              <a:t>数据库操作语言</a:t>
            </a:r>
            <a:r>
              <a:rPr lang="en-US" altLang="zh-CN" sz="2400" u="sng" kern="100" dirty="0">
                <a:solidFill>
                  <a:srgbClr val="FF0000"/>
                </a:solidFill>
                <a:latin typeface="Calibri" panose="020F0502020204030204" pitchFamily="34" charset="0"/>
                <a:cs typeface="Times New Roman" panose="02020603050405020304" pitchFamily="2" charset="0"/>
              </a:rPr>
              <a:t>DML</a:t>
            </a:r>
            <a:r>
              <a:rPr lang="zh-CN" altLang="en-US" sz="2400" u="sng" kern="100" dirty="0">
                <a:solidFill>
                  <a:srgbClr val="FF0000"/>
                </a:solidFill>
                <a:latin typeface="Calibri" panose="020F0502020204030204" pitchFamily="34" charset="0"/>
                <a:cs typeface="Times New Roman" panose="02020603050405020304" pitchFamily="2" charset="0"/>
              </a:rPr>
              <a:t>   </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和</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a:solidFill>
                  <a:srgbClr val="FF0000"/>
                </a:solidFill>
                <a:latin typeface="Calibri" panose="020F0502020204030204" pitchFamily="34" charset="0"/>
                <a:cs typeface="Times New Roman" panose="02020603050405020304" pitchFamily="2" charset="0"/>
              </a:rPr>
              <a:t>数据库控制语言</a:t>
            </a:r>
            <a:r>
              <a:rPr lang="en-US" altLang="zh-CN" sz="2400" u="sng" kern="100" dirty="0">
                <a:solidFill>
                  <a:srgbClr val="FF0000"/>
                </a:solidFill>
                <a:latin typeface="Calibri" panose="020F0502020204030204" pitchFamily="34" charset="0"/>
                <a:cs typeface="Times New Roman" panose="02020603050405020304" pitchFamily="2" charset="0"/>
              </a:rPr>
              <a:t>DCL</a:t>
            </a:r>
            <a:r>
              <a:rPr lang="zh-CN" altLang="en-US" sz="2400" u="sng" kern="100" dirty="0">
                <a:solidFill>
                  <a:srgbClr val="FF0000"/>
                </a:solidFill>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p:txBody>
      </p:sp>
      <p:sp>
        <p:nvSpPr>
          <p:cNvPr id="4" name="矩形 3"/>
          <p:cNvSpPr/>
          <p:nvPr/>
        </p:nvSpPr>
        <p:spPr>
          <a:xfrm>
            <a:off x="635000" y="2439806"/>
            <a:ext cx="8280400" cy="934679"/>
          </a:xfrm>
          <a:prstGeom prst="rect">
            <a:avLst/>
          </a:prstGeom>
        </p:spPr>
        <p:txBody>
          <a:bodyPr wrap="square">
            <a:spAutoFit/>
          </a:bodyPr>
          <a:lstStyle/>
          <a:p>
            <a:pPr algn="just">
              <a:lnSpc>
                <a:spcPct val="120000"/>
              </a:lnSpc>
              <a:spcAft>
                <a:spcPts val="0"/>
              </a:spcAft>
              <a:buNone/>
            </a:pPr>
            <a:r>
              <a:rPr lang="en-US" altLang="zh-CN" sz="2400" kern="100" dirty="0">
                <a:latin typeface="Calibri" panose="020F0502020204030204" pitchFamily="34" charset="0"/>
                <a:cs typeface="Times New Roman" panose="02020603050405020304" pitchFamily="2" charset="0"/>
              </a:rPr>
              <a:t>3</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 SQL</a:t>
            </a:r>
            <a:r>
              <a:rPr lang="zh-CN" altLang="zh-CN" sz="2400" kern="100" dirty="0">
                <a:latin typeface="Calibri" panose="020F0502020204030204" pitchFamily="34" charset="0"/>
                <a:cs typeface="Times New Roman" panose="02020603050405020304" pitchFamily="2" charset="0"/>
              </a:rPr>
              <a:t>语言最早在（</a:t>
            </a:r>
            <a:r>
              <a:rPr lang="en-US" altLang="zh-CN" sz="2400" kern="100" dirty="0">
                <a:latin typeface="Calibri" panose="020F0502020204030204" pitchFamily="34" charset="0"/>
                <a:cs typeface="Times New Roman" panose="02020603050405020304" pitchFamily="2" charset="0"/>
              </a:rPr>
              <a:t>  </a:t>
            </a:r>
            <a:r>
              <a:rPr lang="en-US" altLang="zh-CN" sz="2400" kern="100" dirty="0">
                <a:solidFill>
                  <a:srgbClr val="FF0000"/>
                </a:solidFill>
                <a:latin typeface="Calibri" panose="020F0502020204030204" pitchFamily="34" charset="0"/>
                <a:cs typeface="Times New Roman" panose="02020603050405020304" pitchFamily="2" charset="0"/>
              </a:rPr>
              <a:t>A</a:t>
            </a:r>
            <a:r>
              <a:rPr lang="en-US" altLang="zh-CN" sz="2400" kern="100" dirty="0">
                <a:latin typeface="Calibri" panose="020F0502020204030204" pitchFamily="34" charset="0"/>
                <a:cs typeface="Times New Roman" panose="02020603050405020304" pitchFamily="2" charset="0"/>
              </a:rPr>
              <a:t> </a:t>
            </a:r>
            <a:r>
              <a:rPr lang="zh-CN" altLang="zh-CN" sz="2400" kern="100" dirty="0">
                <a:latin typeface="Calibri" panose="020F0502020204030204" pitchFamily="34" charset="0"/>
                <a:cs typeface="Times New Roman" panose="02020603050405020304" pitchFamily="2" charset="0"/>
              </a:rPr>
              <a:t>）上开发。</a:t>
            </a:r>
            <a:endParaRPr lang="zh-CN" altLang="zh-CN" sz="2400" kern="100" dirty="0">
              <a:latin typeface="Calibri" panose="020F0502020204030204" pitchFamily="34" charset="0"/>
              <a:cs typeface="Times New Roman" panose="02020603050405020304" pitchFamily="2" charset="0"/>
            </a:endParaRPr>
          </a:p>
          <a:p>
            <a:pPr>
              <a:lnSpc>
                <a:spcPct val="120000"/>
              </a:lnSpc>
              <a:buNone/>
            </a:pPr>
            <a:r>
              <a:rPr lang="en-US" altLang="zh-CN" sz="2400" dirty="0"/>
              <a:t> A</a:t>
            </a:r>
            <a:r>
              <a:rPr lang="zh-CN" altLang="zh-CN" sz="2400" dirty="0"/>
              <a:t>、 </a:t>
            </a:r>
            <a:r>
              <a:rPr lang="en-US" altLang="zh-CN" sz="2400" b="0" dirty="0"/>
              <a:t>System R</a:t>
            </a:r>
            <a:r>
              <a:rPr lang="en-US" altLang="zh-CN" sz="2400" dirty="0"/>
              <a:t>      B</a:t>
            </a:r>
            <a:r>
              <a:rPr lang="zh-CN" altLang="zh-CN" sz="2400" dirty="0"/>
              <a:t>、</a:t>
            </a:r>
            <a:r>
              <a:rPr lang="en-US" altLang="zh-CN" sz="2400" dirty="0"/>
              <a:t> DB2        C</a:t>
            </a:r>
            <a:r>
              <a:rPr lang="zh-CN" altLang="zh-CN" sz="2400" dirty="0"/>
              <a:t>、 </a:t>
            </a:r>
            <a:r>
              <a:rPr lang="en-US" altLang="zh-CN" sz="2400" b="0" dirty="0"/>
              <a:t>Oracle</a:t>
            </a:r>
            <a:r>
              <a:rPr lang="en-US" altLang="zh-CN" sz="2400" dirty="0"/>
              <a:t>       D</a:t>
            </a:r>
            <a:r>
              <a:rPr lang="zh-CN" altLang="zh-CN" sz="2400" dirty="0"/>
              <a:t>、 </a:t>
            </a:r>
            <a:r>
              <a:rPr lang="en-US" altLang="zh-CN" sz="2400" b="0" dirty="0"/>
              <a:t>Ingres</a:t>
            </a:r>
            <a:r>
              <a:rPr lang="en-US" altLang="zh-CN" sz="2400" dirty="0"/>
              <a:t> </a:t>
            </a:r>
            <a:endParaRPr lang="zh-CN" altLang="zh-CN" sz="2400" dirty="0"/>
          </a:p>
        </p:txBody>
      </p:sp>
      <p:sp>
        <p:nvSpPr>
          <p:cNvPr id="5" name="矩形 4"/>
          <p:cNvSpPr/>
          <p:nvPr/>
        </p:nvSpPr>
        <p:spPr>
          <a:xfrm>
            <a:off x="635000" y="3439702"/>
            <a:ext cx="7863840" cy="2957733"/>
          </a:xfrm>
          <a:prstGeom prst="rect">
            <a:avLst/>
          </a:prstGeom>
        </p:spPr>
        <p:txBody>
          <a:bodyPr wrap="square">
            <a:spAutoFit/>
          </a:bodyPr>
          <a:lstStyle/>
          <a:p>
            <a:pPr algn="just">
              <a:lnSpc>
                <a:spcPct val="125000"/>
              </a:lnSpc>
              <a:spcAft>
                <a:spcPts val="0"/>
              </a:spcAft>
              <a:buNone/>
            </a:pPr>
            <a:r>
              <a:rPr lang="en-US" altLang="zh-CN" sz="2400" kern="100" dirty="0">
                <a:latin typeface="Calibri" panose="020F0502020204030204" pitchFamily="34" charset="0"/>
                <a:cs typeface="Times New Roman" panose="02020603050405020304" pitchFamily="2" charset="0"/>
              </a:rPr>
              <a:t>3</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不同子语言服务哪些用户</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lvl="0" algn="just">
              <a:lnSpc>
                <a:spcPct val="110000"/>
              </a:lnSpc>
              <a:spcBef>
                <a:spcPts val="0"/>
              </a:spcBef>
              <a:spcAft>
                <a:spcPts val="0"/>
              </a:spcAft>
              <a:buNone/>
            </a:pP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   答： ①</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数据库定义语言</a:t>
            </a:r>
            <a:r>
              <a:rPr lang="en-US" altLang="zh-CN"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DDL</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为数据库设计人员提供数据结构和数据约束定义界面</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rPr>
              <a:t>；</a:t>
            </a:r>
            <a:endParaRPr lang="en-US" altLang="zh-CN"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endParaRPr>
          </a:p>
          <a:p>
            <a:pPr algn="just">
              <a:lnSpc>
                <a:spcPct val="110000"/>
              </a:lnSpc>
              <a:spcBef>
                <a:spcPts val="0"/>
              </a:spcBef>
              <a:spcAft>
                <a:spcPts val="0"/>
              </a:spcAft>
              <a:buNone/>
            </a:pPr>
            <a:r>
              <a:rPr lang="en-US" altLang="zh-CN"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rPr>
              <a:t>    </a:t>
            </a:r>
            <a:r>
              <a:rPr lang="zh-CN" altLang="en-US" sz="23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3" panose="05040102010807070707" pitchFamily="2" charset="2"/>
              </a:rPr>
              <a:t>②</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数据据操作语言</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DML</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为最终用户和数据库管理员提供数据增删查改等数据操作界面；</a:t>
            </a:r>
            <a:endPar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endParaRPr>
          </a:p>
          <a:p>
            <a:pPr algn="just">
              <a:lnSpc>
                <a:spcPct val="110000"/>
              </a:lnSpc>
              <a:spcBef>
                <a:spcPts val="0"/>
              </a:spcBef>
              <a:spcAft>
                <a:spcPts val="0"/>
              </a:spcAft>
              <a:buNone/>
            </a:pP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    </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③数据库控制语言</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DCL</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sym typeface="Wingdings" panose="05000000000000000000" pitchFamily="2" charset="2"/>
              </a:rPr>
              <a:t>为数据库管理员提供数据库用户管理和授权设置界面。</a:t>
            </a:r>
            <a:endPar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p:txBody>
      </p:sp>
      <p:sp>
        <p:nvSpPr>
          <p:cNvPr id="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四、数据库系统用户与数据库语言</a:t>
            </a:r>
            <a:endParaRPr lang="zh-CN" altLang="en-US" sz="3200" dirty="0">
              <a:solidFill>
                <a:srgbClr val="FF0000"/>
              </a:solidFill>
              <a:latin typeface="Arial" panose="020B0604020202020204" pitchFamily="34" charset="0"/>
              <a:ea typeface="黑体" panose="02010609060101010101" pitchFamily="1" charset="-122"/>
            </a:endParaRPr>
          </a:p>
        </p:txBody>
      </p:sp>
      <p:sp>
        <p:nvSpPr>
          <p:cNvPr id="7" name="矩形 6"/>
          <p:cNvSpPr/>
          <p:nvPr/>
        </p:nvSpPr>
        <p:spPr>
          <a:xfrm>
            <a:off x="480350" y="734006"/>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0033CC"/>
                </a:solidFill>
                <a:latin typeface="Calibri" panose="020F0502020204030204" pitchFamily="34" charset="0"/>
                <a:cs typeface="Times New Roman" panose="02020603050405020304" pitchFamily="2" charset="0"/>
              </a:rPr>
              <a:t>知识点小测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p:nvPr/>
        </p:nvSpPr>
        <p:spPr>
          <a:xfrm>
            <a:off x="459105" y="747395"/>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数据库设计、原理与应用之间的联系</a:t>
            </a:r>
            <a:endParaRPr lang="en-US" altLang="x-none" sz="2800" dirty="0">
              <a:solidFill>
                <a:srgbClr val="3333CC"/>
              </a:solidFill>
              <a:latin typeface="Arial" panose="020B0604020202020204" pitchFamily="34" charset="0"/>
              <a:ea typeface="黑体" panose="02010609060101010101" pitchFamily="1" charset="-122"/>
            </a:endParaRPr>
          </a:p>
        </p:txBody>
      </p:sp>
      <p:grpSp>
        <p:nvGrpSpPr>
          <p:cNvPr id="59394" name="组合 137"/>
          <p:cNvGrpSpPr/>
          <p:nvPr/>
        </p:nvGrpSpPr>
        <p:grpSpPr>
          <a:xfrm>
            <a:off x="228917" y="1439545"/>
            <a:ext cx="8597583" cy="4979309"/>
            <a:chOff x="7938" y="0"/>
            <a:chExt cx="8597900" cy="5380038"/>
          </a:xfrm>
        </p:grpSpPr>
        <p:sp>
          <p:nvSpPr>
            <p:cNvPr id="59395" name="Rectangle 3"/>
            <p:cNvSpPr/>
            <p:nvPr/>
          </p:nvSpPr>
          <p:spPr>
            <a:xfrm>
              <a:off x="4729162" y="4786313"/>
              <a:ext cx="3584575" cy="457200"/>
            </a:xfrm>
            <a:prstGeom prst="rect">
              <a:avLst/>
            </a:prstGeom>
            <a:solidFill>
              <a:srgbClr val="33CCCC"/>
            </a:solidFill>
            <a:ln w="9525">
              <a:noFill/>
            </a:ln>
          </p:spPr>
          <p:txBody>
            <a:bodyPr anchor="t"/>
            <a:lstStyle/>
            <a:p>
              <a:pPr lvl="0" indent="0">
                <a:lnSpc>
                  <a:spcPct val="100000"/>
                </a:lnSpc>
                <a:buNone/>
              </a:pPr>
              <a:r>
                <a:rPr lang="de-DE" altLang="en-US" sz="2400" dirty="0">
                  <a:solidFill>
                    <a:srgbClr val="000000"/>
                  </a:solidFill>
                  <a:latin typeface="宋体" panose="02010600030101010101" pitchFamily="2" charset="-122"/>
                  <a:ea typeface="宋体" panose="02010600030101010101" pitchFamily="2" charset="-122"/>
                </a:rPr>
                <a:t>数据库系统总体结构图</a:t>
              </a:r>
              <a:endParaRPr lang="de-DE" altLang="en-US" sz="2400" dirty="0">
                <a:latin typeface="Tahoma" panose="020B0604030504040204" pitchFamily="2" charset="0"/>
                <a:ea typeface="宋体" panose="02010600030101010101" pitchFamily="2" charset="-122"/>
              </a:endParaRPr>
            </a:p>
          </p:txBody>
        </p:sp>
        <p:grpSp>
          <p:nvGrpSpPr>
            <p:cNvPr id="59396" name="Group 4"/>
            <p:cNvGrpSpPr/>
            <p:nvPr/>
          </p:nvGrpSpPr>
          <p:grpSpPr>
            <a:xfrm>
              <a:off x="4122737" y="0"/>
              <a:ext cx="3124200" cy="5099050"/>
              <a:chOff x="0" y="0"/>
              <a:chExt cx="1968" cy="3212"/>
            </a:xfrm>
          </p:grpSpPr>
          <p:sp>
            <p:nvSpPr>
              <p:cNvPr id="59397" name="未知"/>
              <p:cNvSpPr>
                <a:spLocks noEditPoints="1"/>
              </p:cNvSpPr>
              <p:nvPr/>
            </p:nvSpPr>
            <p:spPr>
              <a:xfrm>
                <a:off x="336" y="0"/>
                <a:ext cx="41" cy="3212"/>
              </a:xfrm>
              <a:custGeom>
                <a:avLst/>
                <a:gdLst/>
                <a:ahLst/>
                <a:cxnLst>
                  <a:cxn ang="0">
                    <a:pos x="26" y="70"/>
                  </a:cxn>
                  <a:cxn ang="0">
                    <a:pos x="20" y="0"/>
                  </a:cxn>
                  <a:cxn ang="0">
                    <a:pos x="26" y="128"/>
                  </a:cxn>
                  <a:cxn ang="0">
                    <a:pos x="20" y="203"/>
                  </a:cxn>
                  <a:cxn ang="0">
                    <a:pos x="26" y="128"/>
                  </a:cxn>
                  <a:cxn ang="0">
                    <a:pos x="26" y="324"/>
                  </a:cxn>
                  <a:cxn ang="0">
                    <a:pos x="17" y="253"/>
                  </a:cxn>
                  <a:cxn ang="0">
                    <a:pos x="26" y="381"/>
                  </a:cxn>
                  <a:cxn ang="0">
                    <a:pos x="17" y="454"/>
                  </a:cxn>
                  <a:cxn ang="0">
                    <a:pos x="26" y="381"/>
                  </a:cxn>
                  <a:cxn ang="0">
                    <a:pos x="24" y="578"/>
                  </a:cxn>
                  <a:cxn ang="0">
                    <a:pos x="17" y="507"/>
                  </a:cxn>
                  <a:cxn ang="0">
                    <a:pos x="24" y="634"/>
                  </a:cxn>
                  <a:cxn ang="0">
                    <a:pos x="14" y="706"/>
                  </a:cxn>
                  <a:cxn ang="0">
                    <a:pos x="24" y="634"/>
                  </a:cxn>
                  <a:cxn ang="0">
                    <a:pos x="21" y="831"/>
                  </a:cxn>
                  <a:cxn ang="0">
                    <a:pos x="14" y="758"/>
                  </a:cxn>
                  <a:cxn ang="0">
                    <a:pos x="21" y="887"/>
                  </a:cxn>
                  <a:cxn ang="0">
                    <a:pos x="14" y="960"/>
                  </a:cxn>
                  <a:cxn ang="0">
                    <a:pos x="21" y="887"/>
                  </a:cxn>
                  <a:cxn ang="0">
                    <a:pos x="21" y="1085"/>
                  </a:cxn>
                  <a:cxn ang="0">
                    <a:pos x="12" y="1012"/>
                  </a:cxn>
                  <a:cxn ang="0">
                    <a:pos x="21" y="1140"/>
                  </a:cxn>
                  <a:cxn ang="0">
                    <a:pos x="12" y="1211"/>
                  </a:cxn>
                  <a:cxn ang="0">
                    <a:pos x="21" y="1140"/>
                  </a:cxn>
                  <a:cxn ang="0">
                    <a:pos x="21" y="1338"/>
                  </a:cxn>
                  <a:cxn ang="0">
                    <a:pos x="12" y="1266"/>
                  </a:cxn>
                  <a:cxn ang="0">
                    <a:pos x="21" y="1392"/>
                  </a:cxn>
                  <a:cxn ang="0">
                    <a:pos x="9" y="1465"/>
                  </a:cxn>
                  <a:cxn ang="0">
                    <a:pos x="21" y="1392"/>
                  </a:cxn>
                  <a:cxn ang="0">
                    <a:pos x="21" y="1592"/>
                  </a:cxn>
                  <a:cxn ang="0">
                    <a:pos x="9" y="1519"/>
                  </a:cxn>
                  <a:cxn ang="0">
                    <a:pos x="21" y="1646"/>
                  </a:cxn>
                  <a:cxn ang="0">
                    <a:pos x="6" y="1718"/>
                  </a:cxn>
                  <a:cxn ang="0">
                    <a:pos x="21" y="1646"/>
                  </a:cxn>
                  <a:cxn ang="0">
                    <a:pos x="21" y="1843"/>
                  </a:cxn>
                  <a:cxn ang="0">
                    <a:pos x="6" y="1772"/>
                  </a:cxn>
                  <a:cxn ang="0">
                    <a:pos x="21" y="1898"/>
                  </a:cxn>
                  <a:cxn ang="0">
                    <a:pos x="6" y="1972"/>
                  </a:cxn>
                  <a:cxn ang="0">
                    <a:pos x="21" y="1898"/>
                  </a:cxn>
                  <a:cxn ang="0">
                    <a:pos x="21" y="2097"/>
                  </a:cxn>
                  <a:cxn ang="0">
                    <a:pos x="6" y="2024"/>
                  </a:cxn>
                  <a:cxn ang="0">
                    <a:pos x="21" y="2152"/>
                  </a:cxn>
                  <a:cxn ang="0">
                    <a:pos x="3" y="2225"/>
                  </a:cxn>
                  <a:cxn ang="0">
                    <a:pos x="21" y="2152"/>
                  </a:cxn>
                  <a:cxn ang="0">
                    <a:pos x="21" y="2350"/>
                  </a:cxn>
                  <a:cxn ang="0">
                    <a:pos x="3" y="2277"/>
                  </a:cxn>
                  <a:cxn ang="0">
                    <a:pos x="21" y="2405"/>
                  </a:cxn>
                  <a:cxn ang="0">
                    <a:pos x="0" y="2478"/>
                  </a:cxn>
                  <a:cxn ang="0">
                    <a:pos x="21" y="2405"/>
                  </a:cxn>
                  <a:cxn ang="0">
                    <a:pos x="21" y="2603"/>
                  </a:cxn>
                  <a:cxn ang="0">
                    <a:pos x="0" y="2531"/>
                  </a:cxn>
                  <a:cxn ang="0">
                    <a:pos x="20" y="2659"/>
                  </a:cxn>
                  <a:cxn ang="0">
                    <a:pos x="0" y="2731"/>
                  </a:cxn>
                  <a:cxn ang="0">
                    <a:pos x="20" y="2659"/>
                  </a:cxn>
                  <a:cxn ang="0">
                    <a:pos x="20" y="2810"/>
                  </a:cxn>
                  <a:cxn ang="0">
                    <a:pos x="0" y="2784"/>
                  </a:cxn>
                </a:cxnLst>
                <a:rect l="0" t="0" r="0" b="0"/>
                <a:pathLst>
                  <a:path w="42" h="3248">
                    <a:moveTo>
                      <a:pt x="42" y="0"/>
                    </a:moveTo>
                    <a:lnTo>
                      <a:pt x="39" y="83"/>
                    </a:lnTo>
                    <a:lnTo>
                      <a:pt x="20" y="83"/>
                    </a:lnTo>
                    <a:lnTo>
                      <a:pt x="20" y="0"/>
                    </a:lnTo>
                    <a:lnTo>
                      <a:pt x="42" y="0"/>
                    </a:lnTo>
                    <a:close/>
                    <a:moveTo>
                      <a:pt x="39" y="147"/>
                    </a:moveTo>
                    <a:lnTo>
                      <a:pt x="39" y="231"/>
                    </a:lnTo>
                    <a:lnTo>
                      <a:pt x="20" y="231"/>
                    </a:lnTo>
                    <a:lnTo>
                      <a:pt x="20" y="147"/>
                    </a:lnTo>
                    <a:lnTo>
                      <a:pt x="39" y="147"/>
                    </a:lnTo>
                    <a:close/>
                    <a:moveTo>
                      <a:pt x="39" y="292"/>
                    </a:moveTo>
                    <a:lnTo>
                      <a:pt x="39" y="376"/>
                    </a:lnTo>
                    <a:lnTo>
                      <a:pt x="17" y="376"/>
                    </a:lnTo>
                    <a:lnTo>
                      <a:pt x="17" y="292"/>
                    </a:lnTo>
                    <a:lnTo>
                      <a:pt x="39" y="292"/>
                    </a:lnTo>
                    <a:close/>
                    <a:moveTo>
                      <a:pt x="39" y="440"/>
                    </a:moveTo>
                    <a:lnTo>
                      <a:pt x="37" y="524"/>
                    </a:lnTo>
                    <a:lnTo>
                      <a:pt x="17" y="524"/>
                    </a:lnTo>
                    <a:lnTo>
                      <a:pt x="17" y="440"/>
                    </a:lnTo>
                    <a:lnTo>
                      <a:pt x="39" y="440"/>
                    </a:lnTo>
                    <a:close/>
                    <a:moveTo>
                      <a:pt x="37" y="585"/>
                    </a:moveTo>
                    <a:lnTo>
                      <a:pt x="37" y="668"/>
                    </a:lnTo>
                    <a:lnTo>
                      <a:pt x="17" y="668"/>
                    </a:lnTo>
                    <a:lnTo>
                      <a:pt x="17" y="585"/>
                    </a:lnTo>
                    <a:lnTo>
                      <a:pt x="37" y="585"/>
                    </a:lnTo>
                    <a:close/>
                    <a:moveTo>
                      <a:pt x="37" y="733"/>
                    </a:moveTo>
                    <a:lnTo>
                      <a:pt x="37" y="816"/>
                    </a:lnTo>
                    <a:lnTo>
                      <a:pt x="14" y="816"/>
                    </a:lnTo>
                    <a:lnTo>
                      <a:pt x="14" y="733"/>
                    </a:lnTo>
                    <a:lnTo>
                      <a:pt x="37" y="733"/>
                    </a:lnTo>
                    <a:close/>
                    <a:moveTo>
                      <a:pt x="37" y="877"/>
                    </a:moveTo>
                    <a:lnTo>
                      <a:pt x="34" y="961"/>
                    </a:lnTo>
                    <a:lnTo>
                      <a:pt x="14" y="961"/>
                    </a:lnTo>
                    <a:lnTo>
                      <a:pt x="14" y="877"/>
                    </a:lnTo>
                    <a:lnTo>
                      <a:pt x="37" y="877"/>
                    </a:lnTo>
                    <a:close/>
                    <a:moveTo>
                      <a:pt x="34" y="1025"/>
                    </a:moveTo>
                    <a:lnTo>
                      <a:pt x="34" y="1109"/>
                    </a:lnTo>
                    <a:lnTo>
                      <a:pt x="14" y="1109"/>
                    </a:lnTo>
                    <a:lnTo>
                      <a:pt x="14" y="1025"/>
                    </a:lnTo>
                    <a:lnTo>
                      <a:pt x="34" y="1025"/>
                    </a:lnTo>
                    <a:close/>
                    <a:moveTo>
                      <a:pt x="34" y="1170"/>
                    </a:moveTo>
                    <a:lnTo>
                      <a:pt x="34" y="1254"/>
                    </a:lnTo>
                    <a:lnTo>
                      <a:pt x="12" y="1254"/>
                    </a:lnTo>
                    <a:lnTo>
                      <a:pt x="12" y="1170"/>
                    </a:lnTo>
                    <a:lnTo>
                      <a:pt x="34" y="1170"/>
                    </a:lnTo>
                    <a:close/>
                    <a:moveTo>
                      <a:pt x="34" y="1318"/>
                    </a:moveTo>
                    <a:lnTo>
                      <a:pt x="31" y="1401"/>
                    </a:lnTo>
                    <a:lnTo>
                      <a:pt x="12" y="1401"/>
                    </a:lnTo>
                    <a:lnTo>
                      <a:pt x="12" y="1318"/>
                    </a:lnTo>
                    <a:lnTo>
                      <a:pt x="34" y="1318"/>
                    </a:lnTo>
                    <a:close/>
                    <a:moveTo>
                      <a:pt x="31" y="1463"/>
                    </a:moveTo>
                    <a:lnTo>
                      <a:pt x="31" y="1546"/>
                    </a:lnTo>
                    <a:lnTo>
                      <a:pt x="9" y="1546"/>
                    </a:lnTo>
                    <a:lnTo>
                      <a:pt x="12" y="1463"/>
                    </a:lnTo>
                    <a:lnTo>
                      <a:pt x="31" y="1463"/>
                    </a:lnTo>
                    <a:close/>
                    <a:moveTo>
                      <a:pt x="31" y="1610"/>
                    </a:moveTo>
                    <a:lnTo>
                      <a:pt x="31" y="1694"/>
                    </a:lnTo>
                    <a:lnTo>
                      <a:pt x="9" y="1694"/>
                    </a:lnTo>
                    <a:lnTo>
                      <a:pt x="9" y="1610"/>
                    </a:lnTo>
                    <a:lnTo>
                      <a:pt x="31" y="1610"/>
                    </a:lnTo>
                    <a:close/>
                    <a:moveTo>
                      <a:pt x="31" y="1755"/>
                    </a:moveTo>
                    <a:lnTo>
                      <a:pt x="28" y="1839"/>
                    </a:lnTo>
                    <a:lnTo>
                      <a:pt x="9" y="1839"/>
                    </a:lnTo>
                    <a:lnTo>
                      <a:pt x="9" y="1755"/>
                    </a:lnTo>
                    <a:lnTo>
                      <a:pt x="31" y="1755"/>
                    </a:lnTo>
                    <a:close/>
                    <a:moveTo>
                      <a:pt x="28" y="1903"/>
                    </a:moveTo>
                    <a:lnTo>
                      <a:pt x="28" y="1986"/>
                    </a:lnTo>
                    <a:lnTo>
                      <a:pt x="6" y="1986"/>
                    </a:lnTo>
                    <a:lnTo>
                      <a:pt x="9" y="1903"/>
                    </a:lnTo>
                    <a:lnTo>
                      <a:pt x="28" y="1903"/>
                    </a:lnTo>
                    <a:close/>
                    <a:moveTo>
                      <a:pt x="28" y="2048"/>
                    </a:moveTo>
                    <a:lnTo>
                      <a:pt x="28" y="2131"/>
                    </a:lnTo>
                    <a:lnTo>
                      <a:pt x="6" y="2131"/>
                    </a:lnTo>
                    <a:lnTo>
                      <a:pt x="6" y="2048"/>
                    </a:lnTo>
                    <a:lnTo>
                      <a:pt x="28" y="2048"/>
                    </a:lnTo>
                    <a:close/>
                    <a:moveTo>
                      <a:pt x="25" y="2195"/>
                    </a:moveTo>
                    <a:lnTo>
                      <a:pt x="25" y="2279"/>
                    </a:lnTo>
                    <a:lnTo>
                      <a:pt x="6" y="2279"/>
                    </a:lnTo>
                    <a:lnTo>
                      <a:pt x="6" y="2195"/>
                    </a:lnTo>
                    <a:lnTo>
                      <a:pt x="25" y="2195"/>
                    </a:lnTo>
                    <a:close/>
                    <a:moveTo>
                      <a:pt x="25" y="2340"/>
                    </a:moveTo>
                    <a:lnTo>
                      <a:pt x="25" y="2424"/>
                    </a:lnTo>
                    <a:lnTo>
                      <a:pt x="3" y="2424"/>
                    </a:lnTo>
                    <a:lnTo>
                      <a:pt x="6" y="2340"/>
                    </a:lnTo>
                    <a:lnTo>
                      <a:pt x="25" y="2340"/>
                    </a:lnTo>
                    <a:close/>
                    <a:moveTo>
                      <a:pt x="25" y="2488"/>
                    </a:moveTo>
                    <a:lnTo>
                      <a:pt x="25" y="2571"/>
                    </a:lnTo>
                    <a:lnTo>
                      <a:pt x="3" y="2571"/>
                    </a:lnTo>
                    <a:lnTo>
                      <a:pt x="3" y="2488"/>
                    </a:lnTo>
                    <a:lnTo>
                      <a:pt x="25" y="2488"/>
                    </a:lnTo>
                    <a:close/>
                    <a:moveTo>
                      <a:pt x="23" y="2633"/>
                    </a:moveTo>
                    <a:lnTo>
                      <a:pt x="23" y="2716"/>
                    </a:lnTo>
                    <a:lnTo>
                      <a:pt x="3" y="2716"/>
                    </a:lnTo>
                    <a:lnTo>
                      <a:pt x="3" y="2633"/>
                    </a:lnTo>
                    <a:lnTo>
                      <a:pt x="23" y="2633"/>
                    </a:lnTo>
                    <a:close/>
                    <a:moveTo>
                      <a:pt x="23" y="2780"/>
                    </a:moveTo>
                    <a:lnTo>
                      <a:pt x="23" y="2864"/>
                    </a:lnTo>
                    <a:lnTo>
                      <a:pt x="0" y="2864"/>
                    </a:lnTo>
                    <a:lnTo>
                      <a:pt x="3" y="2780"/>
                    </a:lnTo>
                    <a:lnTo>
                      <a:pt x="23" y="2780"/>
                    </a:lnTo>
                    <a:close/>
                    <a:moveTo>
                      <a:pt x="23" y="2925"/>
                    </a:moveTo>
                    <a:lnTo>
                      <a:pt x="23" y="3009"/>
                    </a:lnTo>
                    <a:lnTo>
                      <a:pt x="0" y="3009"/>
                    </a:lnTo>
                    <a:lnTo>
                      <a:pt x="0" y="2925"/>
                    </a:lnTo>
                    <a:lnTo>
                      <a:pt x="23" y="2925"/>
                    </a:lnTo>
                    <a:close/>
                    <a:moveTo>
                      <a:pt x="20" y="3073"/>
                    </a:moveTo>
                    <a:lnTo>
                      <a:pt x="20" y="3157"/>
                    </a:lnTo>
                    <a:lnTo>
                      <a:pt x="0" y="3157"/>
                    </a:lnTo>
                    <a:lnTo>
                      <a:pt x="0" y="3073"/>
                    </a:lnTo>
                    <a:lnTo>
                      <a:pt x="20" y="3073"/>
                    </a:lnTo>
                    <a:close/>
                    <a:moveTo>
                      <a:pt x="20" y="3218"/>
                    </a:moveTo>
                    <a:lnTo>
                      <a:pt x="20" y="3248"/>
                    </a:lnTo>
                    <a:lnTo>
                      <a:pt x="0" y="3248"/>
                    </a:lnTo>
                    <a:lnTo>
                      <a:pt x="0" y="3218"/>
                    </a:lnTo>
                    <a:lnTo>
                      <a:pt x="20" y="3218"/>
                    </a:lnTo>
                    <a:close/>
                  </a:path>
                </a:pathLst>
              </a:custGeom>
              <a:solidFill>
                <a:srgbClr val="FF0000"/>
              </a:solidFill>
              <a:ln w="4763" cap="flat" cmpd="sng">
                <a:solidFill>
                  <a:srgbClr val="FF0000"/>
                </a:solidFill>
                <a:prstDash val="solid"/>
                <a:miter/>
                <a:headEnd type="none" w="med" len="med"/>
                <a:tailEnd type="none" w="med" len="med"/>
              </a:ln>
            </p:spPr>
            <p:txBody>
              <a:bodyPr/>
              <a:lstStyle/>
              <a:p>
                <a:endParaRPr lang="zh-CN" altLang="en-US"/>
              </a:p>
            </p:txBody>
          </p:sp>
          <p:sp>
            <p:nvSpPr>
              <p:cNvPr id="59398" name="未知"/>
              <p:cNvSpPr>
                <a:spLocks noEditPoints="1"/>
              </p:cNvSpPr>
              <p:nvPr/>
            </p:nvSpPr>
            <p:spPr>
              <a:xfrm>
                <a:off x="0" y="2160"/>
                <a:ext cx="1690" cy="48"/>
              </a:xfrm>
              <a:custGeom>
                <a:avLst/>
                <a:gdLst/>
                <a:ahLst/>
                <a:cxnLst>
                  <a:cxn ang="0">
                    <a:pos x="1189" y="1"/>
                  </a:cxn>
                  <a:cxn ang="0">
                    <a:pos x="41" y="1"/>
                  </a:cxn>
                  <a:cxn ang="0">
                    <a:pos x="39" y="1"/>
                  </a:cxn>
                  <a:cxn ang="0">
                    <a:pos x="37" y="1"/>
                  </a:cxn>
                  <a:cxn ang="0">
                    <a:pos x="37" y="1"/>
                  </a:cxn>
                  <a:cxn ang="0">
                    <a:pos x="37" y="1"/>
                  </a:cxn>
                  <a:cxn ang="0">
                    <a:pos x="37" y="1"/>
                  </a:cxn>
                  <a:cxn ang="0">
                    <a:pos x="37" y="1"/>
                  </a:cxn>
                  <a:cxn ang="0">
                    <a:pos x="39" y="1"/>
                  </a:cxn>
                  <a:cxn ang="0">
                    <a:pos x="41" y="1"/>
                  </a:cxn>
                  <a:cxn ang="0">
                    <a:pos x="1189" y="1"/>
                  </a:cxn>
                  <a:cxn ang="0">
                    <a:pos x="1190" y="1"/>
                  </a:cxn>
                  <a:cxn ang="0">
                    <a:pos x="1192" y="1"/>
                  </a:cxn>
                  <a:cxn ang="0">
                    <a:pos x="1192" y="1"/>
                  </a:cxn>
                  <a:cxn ang="0">
                    <a:pos x="1192" y="1"/>
                  </a:cxn>
                  <a:cxn ang="0">
                    <a:pos x="1192" y="1"/>
                  </a:cxn>
                  <a:cxn ang="0">
                    <a:pos x="1192" y="1"/>
                  </a:cxn>
                  <a:cxn ang="0">
                    <a:pos x="1190" y="1"/>
                  </a:cxn>
                  <a:cxn ang="0">
                    <a:pos x="1189" y="1"/>
                  </a:cxn>
                  <a:cxn ang="0">
                    <a:pos x="1189" y="1"/>
                  </a:cxn>
                  <a:cxn ang="0">
                    <a:pos x="41" y="1"/>
                  </a:cxn>
                  <a:cxn ang="0">
                    <a:pos x="58" y="1"/>
                  </a:cxn>
                  <a:cxn ang="0">
                    <a:pos x="0" y="1"/>
                  </a:cxn>
                  <a:cxn ang="0">
                    <a:pos x="58" y="0"/>
                  </a:cxn>
                  <a:cxn ang="0">
                    <a:pos x="41" y="1"/>
                  </a:cxn>
                </a:cxnLst>
                <a:rect l="0" t="0" r="0" b="0"/>
                <a:pathLst>
                  <a:path w="1740" h="83">
                    <a:moveTo>
                      <a:pt x="1735" y="47"/>
                    </a:moveTo>
                    <a:lnTo>
                      <a:pt x="56" y="47"/>
                    </a:lnTo>
                    <a:lnTo>
                      <a:pt x="53" y="47"/>
                    </a:lnTo>
                    <a:lnTo>
                      <a:pt x="50" y="44"/>
                    </a:lnTo>
                    <a:lnTo>
                      <a:pt x="50" y="41"/>
                    </a:lnTo>
                    <a:lnTo>
                      <a:pt x="50" y="39"/>
                    </a:lnTo>
                    <a:lnTo>
                      <a:pt x="53" y="36"/>
                    </a:lnTo>
                    <a:lnTo>
                      <a:pt x="56" y="36"/>
                    </a:lnTo>
                    <a:lnTo>
                      <a:pt x="1735" y="36"/>
                    </a:lnTo>
                    <a:lnTo>
                      <a:pt x="1738" y="36"/>
                    </a:lnTo>
                    <a:lnTo>
                      <a:pt x="1740" y="39"/>
                    </a:lnTo>
                    <a:lnTo>
                      <a:pt x="1740" y="41"/>
                    </a:lnTo>
                    <a:lnTo>
                      <a:pt x="1740" y="44"/>
                    </a:lnTo>
                    <a:lnTo>
                      <a:pt x="1738" y="47"/>
                    </a:lnTo>
                    <a:lnTo>
                      <a:pt x="1735" y="47"/>
                    </a:lnTo>
                    <a:close/>
                    <a:moveTo>
                      <a:pt x="56" y="41"/>
                    </a:moveTo>
                    <a:lnTo>
                      <a:pt x="84" y="83"/>
                    </a:lnTo>
                    <a:lnTo>
                      <a:pt x="0" y="41"/>
                    </a:lnTo>
                    <a:lnTo>
                      <a:pt x="84" y="0"/>
                    </a:lnTo>
                    <a:lnTo>
                      <a:pt x="56" y="41"/>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399" name="Rectangle 7"/>
              <p:cNvSpPr/>
              <p:nvPr/>
            </p:nvSpPr>
            <p:spPr>
              <a:xfrm>
                <a:off x="624" y="2256"/>
                <a:ext cx="1344" cy="452"/>
              </a:xfrm>
              <a:prstGeom prst="rect">
                <a:avLst/>
              </a:prstGeom>
              <a:noFill/>
              <a:ln w="9525">
                <a:noFill/>
              </a:ln>
            </p:spPr>
            <p:txBody>
              <a:bodyPr lIns="0" tIns="0" rIns="0" bIns="0" anchor="t">
                <a:spAutoFit/>
              </a:bodyPr>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利用</a:t>
                </a:r>
                <a:r>
                  <a:rPr lang="de-DE" altLang="en-US" sz="1600" dirty="0">
                    <a:solidFill>
                      <a:srgbClr val="000000"/>
                    </a:solidFill>
                    <a:latin typeface="Times New Roman" panose="02020603050405020304" pitchFamily="2" charset="0"/>
                    <a:ea typeface="宋体" panose="02010600030101010101" pitchFamily="2" charset="-122"/>
                  </a:rPr>
                  <a:t>SQL</a:t>
                </a:r>
                <a:r>
                  <a:rPr lang="zh-CN" altLang="en-US" sz="1600" dirty="0">
                    <a:solidFill>
                      <a:srgbClr val="000000"/>
                    </a:solidFill>
                    <a:latin typeface="Times New Roman" panose="02020603050405020304" pitchFamily="2" charset="0"/>
                    <a:ea typeface="宋体" panose="02010600030101010101" pitchFamily="2" charset="-122"/>
                  </a:rPr>
                  <a:t>中的</a:t>
                </a:r>
                <a:r>
                  <a:rPr lang="de-DE" altLang="en-US" sz="1600" dirty="0">
                    <a:solidFill>
                      <a:srgbClr val="000000"/>
                    </a:solidFill>
                    <a:latin typeface="Times New Roman" panose="02020603050405020304" pitchFamily="2" charset="0"/>
                    <a:ea typeface="宋体" panose="02010600030101010101" pitchFamily="2" charset="-122"/>
                  </a:rPr>
                  <a:t>DDL</a:t>
                </a:r>
                <a:r>
                  <a:rPr lang="zh-CN" altLang="en-US" sz="1600" dirty="0">
                    <a:solidFill>
                      <a:srgbClr val="000000"/>
                    </a:solidFill>
                    <a:latin typeface="Times New Roman" panose="02020603050405020304" pitchFamily="2" charset="0"/>
                    <a:ea typeface="宋体" panose="02010600030101010101" pitchFamily="2" charset="-122"/>
                  </a:rPr>
                  <a:t>将</a:t>
                </a:r>
                <a:r>
                  <a:rPr lang="zh-CN" altLang="en-US" sz="1600" dirty="0">
                    <a:solidFill>
                      <a:srgbClr val="000000"/>
                    </a:solidFill>
                    <a:latin typeface="宋体" panose="02010600030101010101" pitchFamily="2" charset="-122"/>
                    <a:ea typeface="宋体" panose="02010600030101010101" pitchFamily="2" charset="-122"/>
                  </a:rPr>
                  <a:t>关系模式存入数据库</a:t>
                </a:r>
                <a:endParaRPr lang="zh-CN" altLang="en-US" sz="2400" dirty="0">
                  <a:latin typeface="Tahoma" panose="020B0604030504040204" pitchFamily="2" charset="0"/>
                  <a:ea typeface="宋体" panose="02010600030101010101" pitchFamily="2" charset="-122"/>
                </a:endParaRPr>
              </a:p>
            </p:txBody>
          </p:sp>
          <p:sp>
            <p:nvSpPr>
              <p:cNvPr id="59400" name="Rectangle 8"/>
              <p:cNvSpPr/>
              <p:nvPr/>
            </p:nvSpPr>
            <p:spPr>
              <a:xfrm>
                <a:off x="528" y="1968"/>
                <a:ext cx="718" cy="226"/>
              </a:xfrm>
              <a:prstGeom prst="rect">
                <a:avLst/>
              </a:prstGeom>
              <a:noFill/>
              <a:ln w="9525">
                <a:noFill/>
              </a:ln>
            </p:spPr>
            <p:txBody>
              <a:bodyPr wrap="square" lIns="0" tIns="0" rIns="0" bIns="0" anchor="t">
                <a:spAutoFit/>
              </a:bodyPr>
              <a:lstStyle/>
              <a:p>
                <a:pPr lvl="0" indent="0">
                  <a:buNone/>
                </a:pPr>
                <a:r>
                  <a:rPr lang="zh-CN" altLang="en-US" sz="1600" dirty="0">
                    <a:solidFill>
                      <a:srgbClr val="000000"/>
                    </a:solidFill>
                    <a:latin typeface="宋体" panose="02010600030101010101" pitchFamily="2" charset="-122"/>
                    <a:ea typeface="宋体" panose="02010600030101010101" pitchFamily="2" charset="-122"/>
                  </a:rPr>
                  <a:t>SQL</a:t>
                </a:r>
                <a:r>
                  <a:rPr lang="de-DE" altLang="en-US" sz="1600" dirty="0">
                    <a:solidFill>
                      <a:srgbClr val="000000"/>
                    </a:solidFill>
                    <a:latin typeface="宋体" panose="02010600030101010101" pitchFamily="2" charset="-122"/>
                    <a:ea typeface="宋体" panose="02010600030101010101" pitchFamily="2" charset="-122"/>
                  </a:rPr>
                  <a:t>定义语句</a:t>
                </a:r>
                <a:endParaRPr lang="de-DE" altLang="en-US" sz="1600" dirty="0">
                  <a:latin typeface="Tahoma" panose="020B0604030504040204" pitchFamily="2" charset="0"/>
                  <a:ea typeface="宋体" panose="02010600030101010101" pitchFamily="2" charset="-122"/>
                </a:endParaRPr>
              </a:p>
            </p:txBody>
          </p:sp>
        </p:grpSp>
        <p:grpSp>
          <p:nvGrpSpPr>
            <p:cNvPr id="59401" name="Group 9"/>
            <p:cNvGrpSpPr/>
            <p:nvPr/>
          </p:nvGrpSpPr>
          <p:grpSpPr>
            <a:xfrm>
              <a:off x="4960937" y="176213"/>
              <a:ext cx="3644900" cy="4471987"/>
              <a:chOff x="0" y="0"/>
              <a:chExt cx="2296" cy="2817"/>
            </a:xfrm>
          </p:grpSpPr>
          <p:sp>
            <p:nvSpPr>
              <p:cNvPr id="59402" name="未知"/>
              <p:cNvSpPr>
                <a:spLocks noEditPoints="1"/>
              </p:cNvSpPr>
              <p:nvPr/>
            </p:nvSpPr>
            <p:spPr>
              <a:xfrm>
                <a:off x="1151" y="1371"/>
                <a:ext cx="73" cy="199"/>
              </a:xfrm>
              <a:custGeom>
                <a:avLst/>
                <a:gdLst/>
                <a:ahLst/>
                <a:cxnLst>
                  <a:cxn ang="0">
                    <a:pos x="8" y="6"/>
                  </a:cxn>
                  <a:cxn ang="0">
                    <a:pos x="8" y="107"/>
                  </a:cxn>
                  <a:cxn ang="0">
                    <a:pos x="8" y="109"/>
                  </a:cxn>
                  <a:cxn ang="0">
                    <a:pos x="8" y="112"/>
                  </a:cxn>
                  <a:cxn ang="0">
                    <a:pos x="8" y="112"/>
                  </a:cxn>
                  <a:cxn ang="0">
                    <a:pos x="7" y="112"/>
                  </a:cxn>
                  <a:cxn ang="0">
                    <a:pos x="7" y="112"/>
                  </a:cxn>
                  <a:cxn ang="0">
                    <a:pos x="7" y="112"/>
                  </a:cxn>
                  <a:cxn ang="0">
                    <a:pos x="7" y="109"/>
                  </a:cxn>
                  <a:cxn ang="0">
                    <a:pos x="6" y="107"/>
                  </a:cxn>
                  <a:cxn ang="0">
                    <a:pos x="6" y="6"/>
                  </a:cxn>
                  <a:cxn ang="0">
                    <a:pos x="7" y="3"/>
                  </a:cxn>
                  <a:cxn ang="0">
                    <a:pos x="7" y="3"/>
                  </a:cxn>
                  <a:cxn ang="0">
                    <a:pos x="7" y="0"/>
                  </a:cxn>
                  <a:cxn ang="0">
                    <a:pos x="7" y="0"/>
                  </a:cxn>
                  <a:cxn ang="0">
                    <a:pos x="8" y="0"/>
                  </a:cxn>
                  <a:cxn ang="0">
                    <a:pos x="8" y="3"/>
                  </a:cxn>
                  <a:cxn ang="0">
                    <a:pos x="8" y="3"/>
                  </a:cxn>
                  <a:cxn ang="0">
                    <a:pos x="8" y="6"/>
                  </a:cxn>
                  <a:cxn ang="0">
                    <a:pos x="8" y="6"/>
                  </a:cxn>
                  <a:cxn ang="0">
                    <a:pos x="7" y="107"/>
                  </a:cxn>
                  <a:cxn ang="0">
                    <a:pos x="14" y="88"/>
                  </a:cxn>
                  <a:cxn ang="0">
                    <a:pos x="7" y="147"/>
                  </a:cxn>
                  <a:cxn ang="0">
                    <a:pos x="0" y="88"/>
                  </a:cxn>
                  <a:cxn ang="0">
                    <a:pos x="7" y="107"/>
                  </a:cxn>
                </a:cxnLst>
                <a:rect l="0" t="0" r="0" b="0"/>
                <a:pathLst>
                  <a:path w="84" h="204">
                    <a:moveTo>
                      <a:pt x="47" y="6"/>
                    </a:moveTo>
                    <a:lnTo>
                      <a:pt x="47" y="148"/>
                    </a:lnTo>
                    <a:lnTo>
                      <a:pt x="47" y="151"/>
                    </a:lnTo>
                    <a:lnTo>
                      <a:pt x="47" y="154"/>
                    </a:lnTo>
                    <a:lnTo>
                      <a:pt x="45" y="154"/>
                    </a:lnTo>
                    <a:lnTo>
                      <a:pt x="42" y="154"/>
                    </a:lnTo>
                    <a:lnTo>
                      <a:pt x="39" y="154"/>
                    </a:lnTo>
                    <a:lnTo>
                      <a:pt x="39" y="151"/>
                    </a:lnTo>
                    <a:lnTo>
                      <a:pt x="36" y="148"/>
                    </a:lnTo>
                    <a:lnTo>
                      <a:pt x="36" y="6"/>
                    </a:lnTo>
                    <a:lnTo>
                      <a:pt x="39" y="3"/>
                    </a:lnTo>
                    <a:lnTo>
                      <a:pt x="42" y="0"/>
                    </a:lnTo>
                    <a:lnTo>
                      <a:pt x="45" y="0"/>
                    </a:lnTo>
                    <a:lnTo>
                      <a:pt x="47" y="3"/>
                    </a:lnTo>
                    <a:lnTo>
                      <a:pt x="47" y="6"/>
                    </a:lnTo>
                    <a:close/>
                    <a:moveTo>
                      <a:pt x="42" y="148"/>
                    </a:moveTo>
                    <a:lnTo>
                      <a:pt x="84" y="120"/>
                    </a:lnTo>
                    <a:lnTo>
                      <a:pt x="42" y="204"/>
                    </a:lnTo>
                    <a:lnTo>
                      <a:pt x="0" y="120"/>
                    </a:lnTo>
                    <a:lnTo>
                      <a:pt x="42" y="148"/>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403" name="Rectangle 11"/>
              <p:cNvSpPr/>
              <p:nvPr/>
            </p:nvSpPr>
            <p:spPr>
              <a:xfrm>
                <a:off x="309" y="1065"/>
                <a:ext cx="1758" cy="319"/>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04" name="Rectangle 12"/>
              <p:cNvSpPr/>
              <p:nvPr/>
            </p:nvSpPr>
            <p:spPr>
              <a:xfrm>
                <a:off x="309" y="1065"/>
                <a:ext cx="1758" cy="319"/>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05" name="Rectangle 13"/>
              <p:cNvSpPr/>
              <p:nvPr/>
            </p:nvSpPr>
            <p:spPr>
              <a:xfrm>
                <a:off x="968" y="1145"/>
                <a:ext cx="521"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概念模式</a:t>
                </a:r>
                <a:endParaRPr lang="de-DE" altLang="en-US" sz="2400" dirty="0">
                  <a:latin typeface="Tahoma" panose="020B0604030504040204" pitchFamily="2" charset="0"/>
                  <a:ea typeface="宋体" panose="02010600030101010101" pitchFamily="2" charset="-122"/>
                </a:endParaRPr>
              </a:p>
            </p:txBody>
          </p:sp>
          <p:sp>
            <p:nvSpPr>
              <p:cNvPr id="59406" name="Rectangle 14"/>
              <p:cNvSpPr/>
              <p:nvPr/>
            </p:nvSpPr>
            <p:spPr>
              <a:xfrm>
                <a:off x="1412" y="1153"/>
                <a:ext cx="32"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07" name="Rectangle 15"/>
              <p:cNvSpPr/>
              <p:nvPr/>
            </p:nvSpPr>
            <p:spPr>
              <a:xfrm>
                <a:off x="0" y="513"/>
                <a:ext cx="643" cy="321"/>
              </a:xfrm>
              <a:prstGeom prst="rect">
                <a:avLst/>
              </a:prstGeom>
              <a:solidFill>
                <a:srgbClr val="99CCFF"/>
              </a:solidFill>
              <a:ln w="19050" cap="flat" cmpd="sng">
                <a:solidFill>
                  <a:schemeClr val="tx2"/>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08" name="Rectangle 16"/>
              <p:cNvSpPr/>
              <p:nvPr/>
            </p:nvSpPr>
            <p:spPr>
              <a:xfrm>
                <a:off x="94" y="596"/>
                <a:ext cx="391"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外模式</a:t>
                </a:r>
                <a:endParaRPr lang="de-DE" altLang="en-US" sz="2400" dirty="0">
                  <a:latin typeface="Tahoma" panose="020B0604030504040204" pitchFamily="2" charset="0"/>
                  <a:ea typeface="宋体" panose="02010600030101010101" pitchFamily="2" charset="-122"/>
                </a:endParaRPr>
              </a:p>
            </p:txBody>
          </p:sp>
          <p:sp>
            <p:nvSpPr>
              <p:cNvPr id="59409" name="Rectangle 17"/>
              <p:cNvSpPr/>
              <p:nvPr/>
            </p:nvSpPr>
            <p:spPr>
              <a:xfrm>
                <a:off x="452" y="604"/>
                <a:ext cx="64"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1</a:t>
                </a:r>
                <a:endParaRPr lang="de-DE" altLang="en-US" sz="2400" dirty="0">
                  <a:latin typeface="Tahoma" panose="020B0604030504040204" pitchFamily="2" charset="0"/>
                  <a:ea typeface="宋体" panose="02010600030101010101" pitchFamily="2" charset="-122"/>
                </a:endParaRPr>
              </a:p>
            </p:txBody>
          </p:sp>
          <p:sp>
            <p:nvSpPr>
              <p:cNvPr id="59410" name="Rectangle 18"/>
              <p:cNvSpPr/>
              <p:nvPr/>
            </p:nvSpPr>
            <p:spPr>
              <a:xfrm>
                <a:off x="509" y="604"/>
                <a:ext cx="32"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11" name="Rectangle 19"/>
              <p:cNvSpPr/>
              <p:nvPr/>
            </p:nvSpPr>
            <p:spPr>
              <a:xfrm>
                <a:off x="1627" y="513"/>
                <a:ext cx="642" cy="321"/>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12" name="Rectangle 20"/>
              <p:cNvSpPr/>
              <p:nvPr/>
            </p:nvSpPr>
            <p:spPr>
              <a:xfrm>
                <a:off x="1627" y="513"/>
                <a:ext cx="642" cy="321"/>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13" name="Rectangle 21"/>
              <p:cNvSpPr/>
              <p:nvPr/>
            </p:nvSpPr>
            <p:spPr>
              <a:xfrm>
                <a:off x="1739" y="596"/>
                <a:ext cx="391"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外模式</a:t>
                </a:r>
                <a:endParaRPr lang="de-DE" altLang="en-US" sz="2400" dirty="0">
                  <a:latin typeface="Tahoma" panose="020B0604030504040204" pitchFamily="2" charset="0"/>
                  <a:ea typeface="宋体" panose="02010600030101010101" pitchFamily="2" charset="-122"/>
                </a:endParaRPr>
              </a:p>
            </p:txBody>
          </p:sp>
          <p:sp>
            <p:nvSpPr>
              <p:cNvPr id="59414" name="Rectangle 22"/>
              <p:cNvSpPr/>
              <p:nvPr/>
            </p:nvSpPr>
            <p:spPr>
              <a:xfrm>
                <a:off x="2101" y="604"/>
                <a:ext cx="71"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n</a:t>
                </a:r>
                <a:endParaRPr lang="de-DE" altLang="en-US" sz="2400" dirty="0">
                  <a:latin typeface="Tahoma" panose="020B0604030504040204" pitchFamily="2" charset="0"/>
                  <a:ea typeface="宋体" panose="02010600030101010101" pitchFamily="2" charset="-122"/>
                </a:endParaRPr>
              </a:p>
            </p:txBody>
          </p:sp>
          <p:sp>
            <p:nvSpPr>
              <p:cNvPr id="59415" name="Rectangle 23"/>
              <p:cNvSpPr/>
              <p:nvPr/>
            </p:nvSpPr>
            <p:spPr>
              <a:xfrm>
                <a:off x="2160" y="604"/>
                <a:ext cx="32"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16" name="Rectangle 24"/>
              <p:cNvSpPr/>
              <p:nvPr/>
            </p:nvSpPr>
            <p:spPr>
              <a:xfrm>
                <a:off x="731" y="513"/>
                <a:ext cx="659" cy="321"/>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17" name="Rectangle 25"/>
              <p:cNvSpPr/>
              <p:nvPr/>
            </p:nvSpPr>
            <p:spPr>
              <a:xfrm>
                <a:off x="731" y="513"/>
                <a:ext cx="659" cy="321"/>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18" name="Rectangle 26"/>
              <p:cNvSpPr/>
              <p:nvPr/>
            </p:nvSpPr>
            <p:spPr>
              <a:xfrm>
                <a:off x="854" y="596"/>
                <a:ext cx="391"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外模式</a:t>
                </a:r>
                <a:endParaRPr lang="de-DE" altLang="en-US" sz="2400" dirty="0">
                  <a:latin typeface="Tahoma" panose="020B0604030504040204" pitchFamily="2" charset="0"/>
                  <a:ea typeface="宋体" panose="02010600030101010101" pitchFamily="2" charset="-122"/>
                </a:endParaRPr>
              </a:p>
            </p:txBody>
          </p:sp>
          <p:sp>
            <p:nvSpPr>
              <p:cNvPr id="59419" name="Rectangle 27"/>
              <p:cNvSpPr/>
              <p:nvPr/>
            </p:nvSpPr>
            <p:spPr>
              <a:xfrm>
                <a:off x="1213" y="604"/>
                <a:ext cx="64"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2</a:t>
                </a:r>
                <a:endParaRPr lang="de-DE" altLang="en-US" sz="2400" dirty="0">
                  <a:latin typeface="Tahoma" panose="020B0604030504040204" pitchFamily="2" charset="0"/>
                  <a:ea typeface="宋体" panose="02010600030101010101" pitchFamily="2" charset="-122"/>
                </a:endParaRPr>
              </a:p>
            </p:txBody>
          </p:sp>
          <p:sp>
            <p:nvSpPr>
              <p:cNvPr id="59420" name="Rectangle 28"/>
              <p:cNvSpPr/>
              <p:nvPr/>
            </p:nvSpPr>
            <p:spPr>
              <a:xfrm>
                <a:off x="1269" y="604"/>
                <a:ext cx="32"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21" name="Rectangle 29"/>
              <p:cNvSpPr/>
              <p:nvPr/>
            </p:nvSpPr>
            <p:spPr>
              <a:xfrm>
                <a:off x="748" y="0"/>
                <a:ext cx="660" cy="319"/>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22" name="Rectangle 30"/>
              <p:cNvSpPr/>
              <p:nvPr/>
            </p:nvSpPr>
            <p:spPr>
              <a:xfrm>
                <a:off x="748" y="0"/>
                <a:ext cx="660" cy="319"/>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23" name="Rectangle 31"/>
              <p:cNvSpPr/>
              <p:nvPr/>
            </p:nvSpPr>
            <p:spPr>
              <a:xfrm>
                <a:off x="857" y="79"/>
                <a:ext cx="521"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现实系统</a:t>
                </a:r>
                <a:endParaRPr lang="de-DE" altLang="en-US" sz="2400" dirty="0">
                  <a:latin typeface="Tahoma" panose="020B0604030504040204" pitchFamily="2" charset="0"/>
                  <a:ea typeface="宋体" panose="02010600030101010101" pitchFamily="2" charset="-122"/>
                </a:endParaRPr>
              </a:p>
            </p:txBody>
          </p:sp>
          <p:sp>
            <p:nvSpPr>
              <p:cNvPr id="59424" name="Rectangle 32"/>
              <p:cNvSpPr/>
              <p:nvPr/>
            </p:nvSpPr>
            <p:spPr>
              <a:xfrm>
                <a:off x="1303" y="87"/>
                <a:ext cx="32"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25" name="未知"/>
              <p:cNvSpPr>
                <a:spLocks noEditPoints="1"/>
              </p:cNvSpPr>
              <p:nvPr/>
            </p:nvSpPr>
            <p:spPr>
              <a:xfrm>
                <a:off x="194" y="828"/>
                <a:ext cx="334" cy="229"/>
              </a:xfrm>
              <a:custGeom>
                <a:avLst/>
                <a:gdLst/>
                <a:ahLst/>
                <a:cxnLst>
                  <a:cxn ang="0">
                    <a:pos x="3" y="0"/>
                  </a:cxn>
                  <a:cxn ang="0">
                    <a:pos x="59" y="152"/>
                  </a:cxn>
                  <a:cxn ang="0">
                    <a:pos x="59" y="154"/>
                  </a:cxn>
                  <a:cxn ang="0">
                    <a:pos x="59" y="154"/>
                  </a:cxn>
                  <a:cxn ang="0">
                    <a:pos x="59" y="156"/>
                  </a:cxn>
                  <a:cxn ang="0">
                    <a:pos x="59" y="158"/>
                  </a:cxn>
                  <a:cxn ang="0">
                    <a:pos x="59" y="158"/>
                  </a:cxn>
                  <a:cxn ang="0">
                    <a:pos x="59" y="158"/>
                  </a:cxn>
                  <a:cxn ang="0">
                    <a:pos x="58" y="158"/>
                  </a:cxn>
                  <a:cxn ang="0">
                    <a:pos x="58" y="158"/>
                  </a:cxn>
                  <a:cxn ang="0">
                    <a:pos x="2" y="8"/>
                  </a:cxn>
                  <a:cxn ang="0">
                    <a:pos x="2" y="8"/>
                  </a:cxn>
                  <a:cxn ang="0">
                    <a:pos x="0" y="6"/>
                  </a:cxn>
                  <a:cxn ang="0">
                    <a:pos x="0" y="3"/>
                  </a:cxn>
                  <a:cxn ang="0">
                    <a:pos x="2" y="3"/>
                  </a:cxn>
                  <a:cxn ang="0">
                    <a:pos x="2" y="0"/>
                  </a:cxn>
                  <a:cxn ang="0">
                    <a:pos x="3" y="0"/>
                  </a:cxn>
                  <a:cxn ang="0">
                    <a:pos x="3" y="0"/>
                  </a:cxn>
                  <a:cxn ang="0">
                    <a:pos x="3" y="0"/>
                  </a:cxn>
                  <a:cxn ang="0">
                    <a:pos x="3" y="0"/>
                  </a:cxn>
                  <a:cxn ang="0">
                    <a:pos x="58" y="156"/>
                  </a:cxn>
                  <a:cxn ang="0">
                    <a:pos x="58" y="117"/>
                  </a:cxn>
                  <a:cxn ang="0">
                    <a:pos x="66" y="177"/>
                  </a:cxn>
                  <a:cxn ang="0">
                    <a:pos x="51" y="170"/>
                  </a:cxn>
                  <a:cxn ang="0">
                    <a:pos x="58" y="156"/>
                  </a:cxn>
                </a:cxnLst>
                <a:rect l="0" t="0" r="0" b="0"/>
                <a:pathLst>
                  <a:path w="382" h="234">
                    <a:moveTo>
                      <a:pt x="8" y="0"/>
                    </a:moveTo>
                    <a:lnTo>
                      <a:pt x="337" y="201"/>
                    </a:lnTo>
                    <a:lnTo>
                      <a:pt x="340" y="203"/>
                    </a:lnTo>
                    <a:lnTo>
                      <a:pt x="340" y="206"/>
                    </a:lnTo>
                    <a:lnTo>
                      <a:pt x="340" y="209"/>
                    </a:lnTo>
                    <a:lnTo>
                      <a:pt x="337" y="209"/>
                    </a:lnTo>
                    <a:lnTo>
                      <a:pt x="334" y="209"/>
                    </a:lnTo>
                    <a:lnTo>
                      <a:pt x="332" y="209"/>
                    </a:lnTo>
                    <a:lnTo>
                      <a:pt x="2" y="8"/>
                    </a:lnTo>
                    <a:lnTo>
                      <a:pt x="0" y="6"/>
                    </a:lnTo>
                    <a:lnTo>
                      <a:pt x="0" y="3"/>
                    </a:lnTo>
                    <a:lnTo>
                      <a:pt x="2" y="3"/>
                    </a:lnTo>
                    <a:lnTo>
                      <a:pt x="2" y="0"/>
                    </a:lnTo>
                    <a:lnTo>
                      <a:pt x="5" y="0"/>
                    </a:lnTo>
                    <a:lnTo>
                      <a:pt x="8" y="0"/>
                    </a:lnTo>
                    <a:close/>
                    <a:moveTo>
                      <a:pt x="334" y="206"/>
                    </a:moveTo>
                    <a:lnTo>
                      <a:pt x="334" y="156"/>
                    </a:lnTo>
                    <a:lnTo>
                      <a:pt x="382" y="234"/>
                    </a:lnTo>
                    <a:lnTo>
                      <a:pt x="290" y="226"/>
                    </a:lnTo>
                    <a:lnTo>
                      <a:pt x="334" y="206"/>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426" name="未知"/>
              <p:cNvSpPr>
                <a:spLocks noEditPoints="1"/>
              </p:cNvSpPr>
              <p:nvPr/>
            </p:nvSpPr>
            <p:spPr>
              <a:xfrm>
                <a:off x="1737" y="828"/>
                <a:ext cx="225" cy="229"/>
              </a:xfrm>
              <a:custGeom>
                <a:avLst/>
                <a:gdLst/>
                <a:ahLst/>
                <a:cxnLst>
                  <a:cxn ang="0">
                    <a:pos x="46" y="8"/>
                  </a:cxn>
                  <a:cxn ang="0">
                    <a:pos x="9" y="152"/>
                  </a:cxn>
                  <a:cxn ang="0">
                    <a:pos x="9" y="152"/>
                  </a:cxn>
                  <a:cxn ang="0">
                    <a:pos x="8" y="152"/>
                  </a:cxn>
                  <a:cxn ang="0">
                    <a:pos x="8" y="152"/>
                  </a:cxn>
                  <a:cxn ang="0">
                    <a:pos x="8" y="152"/>
                  </a:cxn>
                  <a:cxn ang="0">
                    <a:pos x="7" y="150"/>
                  </a:cxn>
                  <a:cxn ang="0">
                    <a:pos x="7" y="148"/>
                  </a:cxn>
                  <a:cxn ang="0">
                    <a:pos x="7" y="148"/>
                  </a:cxn>
                  <a:cxn ang="0">
                    <a:pos x="8" y="145"/>
                  </a:cxn>
                  <a:cxn ang="0">
                    <a:pos x="44" y="0"/>
                  </a:cxn>
                  <a:cxn ang="0">
                    <a:pos x="46" y="0"/>
                  </a:cxn>
                  <a:cxn ang="0">
                    <a:pos x="46" y="0"/>
                  </a:cxn>
                  <a:cxn ang="0">
                    <a:pos x="46" y="0"/>
                  </a:cxn>
                  <a:cxn ang="0">
                    <a:pos x="46" y="0"/>
                  </a:cxn>
                  <a:cxn ang="0">
                    <a:pos x="46" y="3"/>
                  </a:cxn>
                  <a:cxn ang="0">
                    <a:pos x="46" y="6"/>
                  </a:cxn>
                  <a:cxn ang="0">
                    <a:pos x="46" y="6"/>
                  </a:cxn>
                  <a:cxn ang="0">
                    <a:pos x="46" y="8"/>
                  </a:cxn>
                  <a:cxn ang="0">
                    <a:pos x="46" y="8"/>
                  </a:cxn>
                  <a:cxn ang="0">
                    <a:pos x="8" y="150"/>
                  </a:cxn>
                  <a:cxn ang="0">
                    <a:pos x="17" y="158"/>
                  </a:cxn>
                  <a:cxn ang="0">
                    <a:pos x="0" y="177"/>
                  </a:cxn>
                  <a:cxn ang="0">
                    <a:pos x="7" y="111"/>
                  </a:cxn>
                  <a:cxn ang="0">
                    <a:pos x="8" y="150"/>
                  </a:cxn>
                </a:cxnLst>
                <a:rect l="0" t="0" r="0" b="0"/>
                <a:pathLst>
                  <a:path w="257" h="234">
                    <a:moveTo>
                      <a:pt x="257" y="8"/>
                    </a:moveTo>
                    <a:lnTo>
                      <a:pt x="45" y="201"/>
                    </a:lnTo>
                    <a:lnTo>
                      <a:pt x="42" y="201"/>
                    </a:lnTo>
                    <a:lnTo>
                      <a:pt x="39" y="201"/>
                    </a:lnTo>
                    <a:lnTo>
                      <a:pt x="37" y="198"/>
                    </a:lnTo>
                    <a:lnTo>
                      <a:pt x="37" y="195"/>
                    </a:lnTo>
                    <a:lnTo>
                      <a:pt x="39" y="192"/>
                    </a:lnTo>
                    <a:lnTo>
                      <a:pt x="248" y="0"/>
                    </a:lnTo>
                    <a:lnTo>
                      <a:pt x="251" y="0"/>
                    </a:lnTo>
                    <a:lnTo>
                      <a:pt x="254" y="0"/>
                    </a:lnTo>
                    <a:lnTo>
                      <a:pt x="257" y="0"/>
                    </a:lnTo>
                    <a:lnTo>
                      <a:pt x="257" y="3"/>
                    </a:lnTo>
                    <a:lnTo>
                      <a:pt x="257" y="6"/>
                    </a:lnTo>
                    <a:lnTo>
                      <a:pt x="257" y="8"/>
                    </a:lnTo>
                    <a:close/>
                    <a:moveTo>
                      <a:pt x="42" y="198"/>
                    </a:moveTo>
                    <a:lnTo>
                      <a:pt x="92" y="209"/>
                    </a:lnTo>
                    <a:lnTo>
                      <a:pt x="0" y="234"/>
                    </a:lnTo>
                    <a:lnTo>
                      <a:pt x="34" y="148"/>
                    </a:lnTo>
                    <a:lnTo>
                      <a:pt x="42" y="198"/>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427" name="未知"/>
              <p:cNvSpPr>
                <a:spLocks noEditPoints="1"/>
              </p:cNvSpPr>
              <p:nvPr/>
            </p:nvSpPr>
            <p:spPr>
              <a:xfrm>
                <a:off x="1041" y="836"/>
                <a:ext cx="73" cy="221"/>
              </a:xfrm>
              <a:custGeom>
                <a:avLst/>
                <a:gdLst/>
                <a:ahLst/>
                <a:cxnLst>
                  <a:cxn ang="0">
                    <a:pos x="8" y="6"/>
                  </a:cxn>
                  <a:cxn ang="0">
                    <a:pos x="8" y="128"/>
                  </a:cxn>
                  <a:cxn ang="0">
                    <a:pos x="8" y="130"/>
                  </a:cxn>
                  <a:cxn ang="0">
                    <a:pos x="8" y="130"/>
                  </a:cxn>
                  <a:cxn ang="0">
                    <a:pos x="8" y="132"/>
                  </a:cxn>
                  <a:cxn ang="0">
                    <a:pos x="7" y="132"/>
                  </a:cxn>
                  <a:cxn ang="0">
                    <a:pos x="7" y="132"/>
                  </a:cxn>
                  <a:cxn ang="0">
                    <a:pos x="7" y="130"/>
                  </a:cxn>
                  <a:cxn ang="0">
                    <a:pos x="7" y="130"/>
                  </a:cxn>
                  <a:cxn ang="0">
                    <a:pos x="6" y="128"/>
                  </a:cxn>
                  <a:cxn ang="0">
                    <a:pos x="6" y="6"/>
                  </a:cxn>
                  <a:cxn ang="0">
                    <a:pos x="7" y="6"/>
                  </a:cxn>
                  <a:cxn ang="0">
                    <a:pos x="7" y="3"/>
                  </a:cxn>
                  <a:cxn ang="0">
                    <a:pos x="7" y="3"/>
                  </a:cxn>
                  <a:cxn ang="0">
                    <a:pos x="7" y="0"/>
                  </a:cxn>
                  <a:cxn ang="0">
                    <a:pos x="8" y="3"/>
                  </a:cxn>
                  <a:cxn ang="0">
                    <a:pos x="8" y="3"/>
                  </a:cxn>
                  <a:cxn ang="0">
                    <a:pos x="8" y="6"/>
                  </a:cxn>
                  <a:cxn ang="0">
                    <a:pos x="8" y="6"/>
                  </a:cxn>
                  <a:cxn ang="0">
                    <a:pos x="8" y="6"/>
                  </a:cxn>
                  <a:cxn ang="0">
                    <a:pos x="7" y="128"/>
                  </a:cxn>
                  <a:cxn ang="0">
                    <a:pos x="14" y="106"/>
                  </a:cxn>
                  <a:cxn ang="0">
                    <a:pos x="7" y="169"/>
                  </a:cxn>
                  <a:cxn ang="0">
                    <a:pos x="0" y="106"/>
                  </a:cxn>
                  <a:cxn ang="0">
                    <a:pos x="7" y="128"/>
                  </a:cxn>
                </a:cxnLst>
                <a:rect l="0" t="0" r="0" b="0"/>
                <a:pathLst>
                  <a:path w="84" h="226">
                    <a:moveTo>
                      <a:pt x="48" y="6"/>
                    </a:moveTo>
                    <a:lnTo>
                      <a:pt x="48" y="170"/>
                    </a:lnTo>
                    <a:lnTo>
                      <a:pt x="48" y="173"/>
                    </a:lnTo>
                    <a:lnTo>
                      <a:pt x="45" y="176"/>
                    </a:lnTo>
                    <a:lnTo>
                      <a:pt x="42" y="176"/>
                    </a:lnTo>
                    <a:lnTo>
                      <a:pt x="39" y="173"/>
                    </a:lnTo>
                    <a:lnTo>
                      <a:pt x="37" y="170"/>
                    </a:lnTo>
                    <a:lnTo>
                      <a:pt x="37" y="6"/>
                    </a:lnTo>
                    <a:lnTo>
                      <a:pt x="39" y="6"/>
                    </a:lnTo>
                    <a:lnTo>
                      <a:pt x="39" y="3"/>
                    </a:lnTo>
                    <a:lnTo>
                      <a:pt x="42" y="3"/>
                    </a:lnTo>
                    <a:lnTo>
                      <a:pt x="42" y="0"/>
                    </a:lnTo>
                    <a:lnTo>
                      <a:pt x="45" y="3"/>
                    </a:lnTo>
                    <a:lnTo>
                      <a:pt x="48" y="3"/>
                    </a:lnTo>
                    <a:lnTo>
                      <a:pt x="48" y="6"/>
                    </a:lnTo>
                    <a:close/>
                    <a:moveTo>
                      <a:pt x="42" y="170"/>
                    </a:moveTo>
                    <a:lnTo>
                      <a:pt x="84" y="142"/>
                    </a:lnTo>
                    <a:lnTo>
                      <a:pt x="42" y="226"/>
                    </a:lnTo>
                    <a:lnTo>
                      <a:pt x="0" y="142"/>
                    </a:lnTo>
                    <a:lnTo>
                      <a:pt x="42" y="170"/>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428" name="Rectangle 36"/>
              <p:cNvSpPr/>
              <p:nvPr/>
            </p:nvSpPr>
            <p:spPr>
              <a:xfrm>
                <a:off x="1464" y="584"/>
                <a:ext cx="153" cy="268"/>
              </a:xfrm>
              <a:prstGeom prst="rect">
                <a:avLst/>
              </a:prstGeom>
              <a:noFill/>
              <a:ln w="9525">
                <a:noFill/>
              </a:ln>
            </p:spPr>
            <p:txBody>
              <a:bodyPr wrap="square" lIns="0" tIns="0" rIns="0" bIns="0" anchor="t">
                <a:spAutoFit/>
              </a:bodyPr>
              <a:lstStyle/>
              <a:p>
                <a:pPr lvl="0" indent="0">
                  <a:buNone/>
                </a:pPr>
                <a:r>
                  <a:rPr lang="de-DE" altLang="en-US" sz="1900" dirty="0">
                    <a:solidFill>
                      <a:srgbClr val="000000"/>
                    </a:solidFill>
                    <a:latin typeface="Arial" panose="020B0604020202020204" pitchFamily="34" charset="0"/>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59429" name="Rectangle 37"/>
              <p:cNvSpPr/>
              <p:nvPr/>
            </p:nvSpPr>
            <p:spPr>
              <a:xfrm>
                <a:off x="1594" y="584"/>
                <a:ext cx="88" cy="275"/>
              </a:xfrm>
              <a:prstGeom prst="rect">
                <a:avLst/>
              </a:prstGeom>
              <a:noFill/>
              <a:ln w="9525">
                <a:noFill/>
              </a:ln>
            </p:spPr>
            <p:txBody>
              <a:bodyPr wrap="square" lIns="0" tIns="0" rIns="0" bIns="0" anchor="t">
                <a:spAutoFit/>
              </a:bodyPr>
              <a:lstStyle/>
              <a:p>
                <a:pPr lvl="0" indent="0"/>
                <a:endParaRPr lang="de-DE" altLang="en-US" sz="2400" dirty="0">
                  <a:latin typeface="Tahoma" panose="020B0604030504040204" pitchFamily="2" charset="0"/>
                  <a:ea typeface="宋体" panose="02010600030101010101" pitchFamily="2" charset="-122"/>
                </a:endParaRPr>
              </a:p>
            </p:txBody>
          </p:sp>
          <p:sp>
            <p:nvSpPr>
              <p:cNvPr id="59430" name="Rectangle 38"/>
              <p:cNvSpPr/>
              <p:nvPr/>
            </p:nvSpPr>
            <p:spPr>
              <a:xfrm>
                <a:off x="1966" y="1546"/>
                <a:ext cx="330" cy="1271"/>
              </a:xfrm>
              <a:prstGeom prst="rect">
                <a:avLst/>
              </a:prstGeom>
              <a:solidFill>
                <a:srgbClr val="FFFF00"/>
              </a:solidFill>
              <a:ln w="9525">
                <a:noFill/>
              </a:ln>
            </p:spPr>
            <p:txBody>
              <a:bodyPr anchor="t"/>
              <a:lstStyle/>
              <a:p>
                <a:pPr lvl="0" indent="0">
                  <a:lnSpc>
                    <a:spcPct val="100000"/>
                  </a:lnSpc>
                  <a:buNone/>
                </a:pPr>
                <a:r>
                  <a:rPr lang="zh-CN" altLang="en-US" dirty="0">
                    <a:latin typeface="宋体" panose="02010600030101010101" pitchFamily="2" charset="-122"/>
                    <a:ea typeface="宋体" panose="02010600030101010101" pitchFamily="2" charset="-122"/>
                  </a:rPr>
                  <a:t>数据库设计部分</a:t>
                </a:r>
                <a:endParaRPr lang="zh-CN" altLang="en-US" dirty="0">
                  <a:latin typeface="宋体" panose="02010600030101010101" pitchFamily="2" charset="-122"/>
                  <a:ea typeface="宋体" panose="02010600030101010101" pitchFamily="2" charset="-122"/>
                </a:endParaRPr>
              </a:p>
            </p:txBody>
          </p:sp>
          <p:sp>
            <p:nvSpPr>
              <p:cNvPr id="59431" name="Rectangle 39"/>
              <p:cNvSpPr/>
              <p:nvPr/>
            </p:nvSpPr>
            <p:spPr>
              <a:xfrm rot="5400000">
                <a:off x="2059" y="2439"/>
                <a:ext cx="32" cy="209"/>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32" name="未知"/>
              <p:cNvSpPr>
                <a:spLocks noEditPoints="1"/>
              </p:cNvSpPr>
              <p:nvPr/>
            </p:nvSpPr>
            <p:spPr>
              <a:xfrm>
                <a:off x="1041" y="313"/>
                <a:ext cx="73" cy="200"/>
              </a:xfrm>
              <a:custGeom>
                <a:avLst/>
                <a:gdLst/>
                <a:ahLst/>
                <a:cxnLst>
                  <a:cxn ang="0">
                    <a:pos x="8" y="6"/>
                  </a:cxn>
                  <a:cxn ang="0">
                    <a:pos x="8" y="115"/>
                  </a:cxn>
                  <a:cxn ang="0">
                    <a:pos x="8" y="115"/>
                  </a:cxn>
                  <a:cxn ang="0">
                    <a:pos x="8" y="117"/>
                  </a:cxn>
                  <a:cxn ang="0">
                    <a:pos x="8" y="117"/>
                  </a:cxn>
                  <a:cxn ang="0">
                    <a:pos x="7" y="117"/>
                  </a:cxn>
                  <a:cxn ang="0">
                    <a:pos x="7" y="117"/>
                  </a:cxn>
                  <a:cxn ang="0">
                    <a:pos x="7" y="117"/>
                  </a:cxn>
                  <a:cxn ang="0">
                    <a:pos x="7" y="115"/>
                  </a:cxn>
                  <a:cxn ang="0">
                    <a:pos x="6" y="115"/>
                  </a:cxn>
                  <a:cxn ang="0">
                    <a:pos x="6" y="6"/>
                  </a:cxn>
                  <a:cxn ang="0">
                    <a:pos x="7" y="3"/>
                  </a:cxn>
                  <a:cxn ang="0">
                    <a:pos x="7" y="3"/>
                  </a:cxn>
                  <a:cxn ang="0">
                    <a:pos x="7" y="0"/>
                  </a:cxn>
                  <a:cxn ang="0">
                    <a:pos x="7" y="0"/>
                  </a:cxn>
                  <a:cxn ang="0">
                    <a:pos x="8" y="0"/>
                  </a:cxn>
                  <a:cxn ang="0">
                    <a:pos x="8" y="3"/>
                  </a:cxn>
                  <a:cxn ang="0">
                    <a:pos x="8" y="3"/>
                  </a:cxn>
                  <a:cxn ang="0">
                    <a:pos x="8" y="6"/>
                  </a:cxn>
                  <a:cxn ang="0">
                    <a:pos x="8" y="6"/>
                  </a:cxn>
                  <a:cxn ang="0">
                    <a:pos x="7" y="115"/>
                  </a:cxn>
                  <a:cxn ang="0">
                    <a:pos x="14" y="94"/>
                  </a:cxn>
                  <a:cxn ang="0">
                    <a:pos x="7" y="158"/>
                  </a:cxn>
                  <a:cxn ang="0">
                    <a:pos x="0" y="94"/>
                  </a:cxn>
                  <a:cxn ang="0">
                    <a:pos x="7" y="115"/>
                  </a:cxn>
                </a:cxnLst>
                <a:rect l="0" t="0" r="0" b="0"/>
                <a:pathLst>
                  <a:path w="84" h="204">
                    <a:moveTo>
                      <a:pt x="48" y="6"/>
                    </a:moveTo>
                    <a:lnTo>
                      <a:pt x="48" y="148"/>
                    </a:lnTo>
                    <a:lnTo>
                      <a:pt x="48" y="151"/>
                    </a:lnTo>
                    <a:lnTo>
                      <a:pt x="45" y="151"/>
                    </a:lnTo>
                    <a:lnTo>
                      <a:pt x="42" y="151"/>
                    </a:lnTo>
                    <a:lnTo>
                      <a:pt x="39" y="151"/>
                    </a:lnTo>
                    <a:lnTo>
                      <a:pt x="39" y="148"/>
                    </a:lnTo>
                    <a:lnTo>
                      <a:pt x="37" y="148"/>
                    </a:lnTo>
                    <a:lnTo>
                      <a:pt x="37" y="6"/>
                    </a:lnTo>
                    <a:lnTo>
                      <a:pt x="39" y="3"/>
                    </a:lnTo>
                    <a:lnTo>
                      <a:pt x="42" y="0"/>
                    </a:lnTo>
                    <a:lnTo>
                      <a:pt x="45" y="0"/>
                    </a:lnTo>
                    <a:lnTo>
                      <a:pt x="48" y="3"/>
                    </a:lnTo>
                    <a:lnTo>
                      <a:pt x="48" y="6"/>
                    </a:lnTo>
                    <a:close/>
                    <a:moveTo>
                      <a:pt x="42" y="148"/>
                    </a:moveTo>
                    <a:lnTo>
                      <a:pt x="84" y="120"/>
                    </a:lnTo>
                    <a:lnTo>
                      <a:pt x="42" y="204"/>
                    </a:lnTo>
                    <a:lnTo>
                      <a:pt x="0" y="120"/>
                    </a:lnTo>
                    <a:lnTo>
                      <a:pt x="42" y="148"/>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433" name="未知"/>
              <p:cNvSpPr>
                <a:spLocks noEditPoints="1"/>
              </p:cNvSpPr>
              <p:nvPr/>
            </p:nvSpPr>
            <p:spPr>
              <a:xfrm>
                <a:off x="309" y="313"/>
                <a:ext cx="554" cy="213"/>
              </a:xfrm>
              <a:custGeom>
                <a:avLst/>
                <a:gdLst/>
                <a:ahLst/>
                <a:cxnLst>
                  <a:cxn ang="0">
                    <a:pos x="111" y="11"/>
                  </a:cxn>
                  <a:cxn ang="0">
                    <a:pos x="10" y="150"/>
                  </a:cxn>
                  <a:cxn ang="0">
                    <a:pos x="10" y="150"/>
                  </a:cxn>
                  <a:cxn ang="0">
                    <a:pos x="10" y="150"/>
                  </a:cxn>
                  <a:cxn ang="0">
                    <a:pos x="10" y="150"/>
                  </a:cxn>
                  <a:cxn ang="0">
                    <a:pos x="10" y="148"/>
                  </a:cxn>
                  <a:cxn ang="0">
                    <a:pos x="10" y="145"/>
                  </a:cxn>
                  <a:cxn ang="0">
                    <a:pos x="10" y="145"/>
                  </a:cxn>
                  <a:cxn ang="0">
                    <a:pos x="10" y="142"/>
                  </a:cxn>
                  <a:cxn ang="0">
                    <a:pos x="10" y="142"/>
                  </a:cxn>
                  <a:cxn ang="0">
                    <a:pos x="110" y="0"/>
                  </a:cxn>
                  <a:cxn ang="0">
                    <a:pos x="110" y="0"/>
                  </a:cxn>
                  <a:cxn ang="0">
                    <a:pos x="111" y="0"/>
                  </a:cxn>
                  <a:cxn ang="0">
                    <a:pos x="112" y="3"/>
                  </a:cxn>
                  <a:cxn ang="0">
                    <a:pos x="112" y="3"/>
                  </a:cxn>
                  <a:cxn ang="0">
                    <a:pos x="112" y="6"/>
                  </a:cxn>
                  <a:cxn ang="0">
                    <a:pos x="112" y="9"/>
                  </a:cxn>
                  <a:cxn ang="0">
                    <a:pos x="112" y="9"/>
                  </a:cxn>
                  <a:cxn ang="0">
                    <a:pos x="111" y="11"/>
                  </a:cxn>
                  <a:cxn ang="0">
                    <a:pos x="111" y="11"/>
                  </a:cxn>
                  <a:cxn ang="0">
                    <a:pos x="10" y="148"/>
                  </a:cxn>
                  <a:cxn ang="0">
                    <a:pos x="17" y="171"/>
                  </a:cxn>
                  <a:cxn ang="0">
                    <a:pos x="0" y="161"/>
                  </a:cxn>
                  <a:cxn ang="0">
                    <a:pos x="12" y="110"/>
                  </a:cxn>
                  <a:cxn ang="0">
                    <a:pos x="10" y="148"/>
                  </a:cxn>
                </a:cxnLst>
                <a:rect l="0" t="0" r="0" b="0"/>
                <a:pathLst>
                  <a:path w="633" h="217">
                    <a:moveTo>
                      <a:pt x="630" y="11"/>
                    </a:moveTo>
                    <a:lnTo>
                      <a:pt x="56" y="190"/>
                    </a:lnTo>
                    <a:lnTo>
                      <a:pt x="53" y="190"/>
                    </a:lnTo>
                    <a:lnTo>
                      <a:pt x="50" y="190"/>
                    </a:lnTo>
                    <a:lnTo>
                      <a:pt x="50" y="187"/>
                    </a:lnTo>
                    <a:lnTo>
                      <a:pt x="50" y="184"/>
                    </a:lnTo>
                    <a:lnTo>
                      <a:pt x="50" y="181"/>
                    </a:lnTo>
                    <a:lnTo>
                      <a:pt x="53" y="181"/>
                    </a:lnTo>
                    <a:lnTo>
                      <a:pt x="627" y="0"/>
                    </a:lnTo>
                    <a:lnTo>
                      <a:pt x="630" y="0"/>
                    </a:lnTo>
                    <a:lnTo>
                      <a:pt x="633" y="3"/>
                    </a:lnTo>
                    <a:lnTo>
                      <a:pt x="633" y="6"/>
                    </a:lnTo>
                    <a:lnTo>
                      <a:pt x="633" y="9"/>
                    </a:lnTo>
                    <a:lnTo>
                      <a:pt x="630" y="11"/>
                    </a:lnTo>
                    <a:close/>
                    <a:moveTo>
                      <a:pt x="53" y="187"/>
                    </a:moveTo>
                    <a:lnTo>
                      <a:pt x="92" y="217"/>
                    </a:lnTo>
                    <a:lnTo>
                      <a:pt x="0" y="204"/>
                    </a:lnTo>
                    <a:lnTo>
                      <a:pt x="67" y="137"/>
                    </a:lnTo>
                    <a:lnTo>
                      <a:pt x="53" y="187"/>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434" name="未知"/>
              <p:cNvSpPr>
                <a:spLocks noEditPoints="1"/>
              </p:cNvSpPr>
              <p:nvPr/>
            </p:nvSpPr>
            <p:spPr>
              <a:xfrm>
                <a:off x="1312" y="313"/>
                <a:ext cx="644" cy="216"/>
              </a:xfrm>
              <a:custGeom>
                <a:avLst/>
                <a:gdLst/>
                <a:ahLst/>
                <a:cxnLst>
                  <a:cxn ang="0">
                    <a:pos x="4" y="0"/>
                  </a:cxn>
                  <a:cxn ang="0">
                    <a:pos x="121" y="145"/>
                  </a:cxn>
                  <a:cxn ang="0">
                    <a:pos x="121" y="145"/>
                  </a:cxn>
                  <a:cxn ang="0">
                    <a:pos x="121" y="148"/>
                  </a:cxn>
                  <a:cxn ang="0">
                    <a:pos x="121" y="151"/>
                  </a:cxn>
                  <a:cxn ang="0">
                    <a:pos x="121" y="153"/>
                  </a:cxn>
                  <a:cxn ang="0">
                    <a:pos x="121" y="153"/>
                  </a:cxn>
                  <a:cxn ang="0">
                    <a:pos x="121" y="153"/>
                  </a:cxn>
                  <a:cxn ang="0">
                    <a:pos x="121" y="153"/>
                  </a:cxn>
                  <a:cxn ang="0">
                    <a:pos x="3" y="11"/>
                  </a:cxn>
                  <a:cxn ang="0">
                    <a:pos x="3" y="11"/>
                  </a:cxn>
                  <a:cxn ang="0">
                    <a:pos x="0" y="9"/>
                  </a:cxn>
                  <a:cxn ang="0">
                    <a:pos x="0" y="6"/>
                  </a:cxn>
                  <a:cxn ang="0">
                    <a:pos x="0" y="6"/>
                  </a:cxn>
                  <a:cxn ang="0">
                    <a:pos x="0" y="3"/>
                  </a:cxn>
                  <a:cxn ang="0">
                    <a:pos x="3" y="0"/>
                  </a:cxn>
                  <a:cxn ang="0">
                    <a:pos x="4" y="0"/>
                  </a:cxn>
                  <a:cxn ang="0">
                    <a:pos x="4" y="0"/>
                  </a:cxn>
                  <a:cxn ang="0">
                    <a:pos x="4" y="0"/>
                  </a:cxn>
                  <a:cxn ang="0">
                    <a:pos x="121" y="148"/>
                  </a:cxn>
                  <a:cxn ang="0">
                    <a:pos x="117" y="112"/>
                  </a:cxn>
                  <a:cxn ang="0">
                    <a:pos x="130" y="162"/>
                  </a:cxn>
                  <a:cxn ang="0">
                    <a:pos x="114" y="174"/>
                  </a:cxn>
                  <a:cxn ang="0">
                    <a:pos x="121" y="148"/>
                  </a:cxn>
                </a:cxnLst>
                <a:rect l="0" t="0" r="0" b="0"/>
                <a:pathLst>
                  <a:path w="736" h="220">
                    <a:moveTo>
                      <a:pt x="6" y="0"/>
                    </a:moveTo>
                    <a:lnTo>
                      <a:pt x="683" y="184"/>
                    </a:lnTo>
                    <a:lnTo>
                      <a:pt x="689" y="184"/>
                    </a:lnTo>
                    <a:lnTo>
                      <a:pt x="689" y="187"/>
                    </a:lnTo>
                    <a:lnTo>
                      <a:pt x="689" y="190"/>
                    </a:lnTo>
                    <a:lnTo>
                      <a:pt x="686" y="192"/>
                    </a:lnTo>
                    <a:lnTo>
                      <a:pt x="683" y="192"/>
                    </a:lnTo>
                    <a:lnTo>
                      <a:pt x="3" y="11"/>
                    </a:lnTo>
                    <a:lnTo>
                      <a:pt x="0" y="9"/>
                    </a:lnTo>
                    <a:lnTo>
                      <a:pt x="0" y="6"/>
                    </a:lnTo>
                    <a:lnTo>
                      <a:pt x="0" y="3"/>
                    </a:lnTo>
                    <a:lnTo>
                      <a:pt x="3" y="0"/>
                    </a:lnTo>
                    <a:lnTo>
                      <a:pt x="6" y="0"/>
                    </a:lnTo>
                    <a:close/>
                    <a:moveTo>
                      <a:pt x="683" y="187"/>
                    </a:moveTo>
                    <a:lnTo>
                      <a:pt x="667" y="139"/>
                    </a:lnTo>
                    <a:lnTo>
                      <a:pt x="736" y="204"/>
                    </a:lnTo>
                    <a:lnTo>
                      <a:pt x="644" y="220"/>
                    </a:lnTo>
                    <a:lnTo>
                      <a:pt x="683" y="187"/>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435" name="Rectangle 43"/>
              <p:cNvSpPr/>
              <p:nvPr/>
            </p:nvSpPr>
            <p:spPr>
              <a:xfrm>
                <a:off x="857" y="1570"/>
                <a:ext cx="643" cy="320"/>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36" name="Rectangle 44"/>
              <p:cNvSpPr/>
              <p:nvPr/>
            </p:nvSpPr>
            <p:spPr>
              <a:xfrm>
                <a:off x="857" y="1570"/>
                <a:ext cx="643" cy="320"/>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37" name="Rectangle 45"/>
              <p:cNvSpPr/>
              <p:nvPr/>
            </p:nvSpPr>
            <p:spPr>
              <a:xfrm>
                <a:off x="1015" y="1655"/>
                <a:ext cx="130"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内</a:t>
                </a:r>
                <a:endParaRPr lang="de-DE" altLang="en-US" sz="2400" dirty="0">
                  <a:latin typeface="Tahoma" panose="020B0604030504040204" pitchFamily="2" charset="0"/>
                  <a:ea typeface="宋体" panose="02010600030101010101" pitchFamily="2" charset="-122"/>
                </a:endParaRPr>
              </a:p>
            </p:txBody>
          </p:sp>
          <p:sp>
            <p:nvSpPr>
              <p:cNvPr id="59438" name="Rectangle 46"/>
              <p:cNvSpPr/>
              <p:nvPr/>
            </p:nvSpPr>
            <p:spPr>
              <a:xfrm>
                <a:off x="1124" y="1655"/>
                <a:ext cx="261"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模式</a:t>
                </a:r>
                <a:endParaRPr lang="de-DE" altLang="en-US" sz="2400" dirty="0">
                  <a:latin typeface="Tahoma" panose="020B0604030504040204" pitchFamily="2" charset="0"/>
                  <a:ea typeface="宋体" panose="02010600030101010101" pitchFamily="2" charset="-122"/>
                </a:endParaRPr>
              </a:p>
            </p:txBody>
          </p:sp>
          <p:sp>
            <p:nvSpPr>
              <p:cNvPr id="59439" name="Rectangle 47"/>
              <p:cNvSpPr/>
              <p:nvPr/>
            </p:nvSpPr>
            <p:spPr>
              <a:xfrm>
                <a:off x="1349" y="1663"/>
                <a:ext cx="32"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40" name="Line 48"/>
              <p:cNvSpPr/>
              <p:nvPr/>
            </p:nvSpPr>
            <p:spPr>
              <a:xfrm>
                <a:off x="1152" y="1905"/>
                <a:ext cx="0" cy="192"/>
              </a:xfrm>
              <a:prstGeom prst="line">
                <a:avLst/>
              </a:prstGeom>
              <a:ln w="25400" cap="flat" cmpd="sng">
                <a:solidFill>
                  <a:srgbClr val="080910"/>
                </a:solidFill>
                <a:prstDash val="solid"/>
                <a:round/>
                <a:headEnd type="none" w="med" len="med"/>
                <a:tailEnd type="none" w="med" len="med"/>
              </a:ln>
            </p:spPr>
          </p:sp>
          <p:sp>
            <p:nvSpPr>
              <p:cNvPr id="59441" name="Line 49"/>
              <p:cNvSpPr/>
              <p:nvPr/>
            </p:nvSpPr>
            <p:spPr>
              <a:xfrm>
                <a:off x="1152" y="2049"/>
                <a:ext cx="0" cy="0"/>
              </a:xfrm>
              <a:prstGeom prst="line">
                <a:avLst/>
              </a:prstGeom>
              <a:ln w="9525" cap="flat" cmpd="sng">
                <a:solidFill>
                  <a:schemeClr val="tx1"/>
                </a:solidFill>
                <a:prstDash val="solid"/>
                <a:round/>
                <a:headEnd type="none" w="med" len="med"/>
                <a:tailEnd type="none" w="med" len="med"/>
              </a:ln>
            </p:spPr>
          </p:sp>
        </p:grpSp>
        <p:grpSp>
          <p:nvGrpSpPr>
            <p:cNvPr id="59442" name="Group 50"/>
            <p:cNvGrpSpPr/>
            <p:nvPr/>
          </p:nvGrpSpPr>
          <p:grpSpPr>
            <a:xfrm>
              <a:off x="7938" y="2879726"/>
              <a:ext cx="4741863" cy="2500312"/>
              <a:chOff x="5" y="-5"/>
              <a:chExt cx="2987" cy="1575"/>
            </a:xfrm>
          </p:grpSpPr>
          <p:sp>
            <p:nvSpPr>
              <p:cNvPr id="59443" name="Rectangle 51"/>
              <p:cNvSpPr/>
              <p:nvPr/>
            </p:nvSpPr>
            <p:spPr>
              <a:xfrm>
                <a:off x="293" y="293"/>
                <a:ext cx="2325" cy="275"/>
              </a:xfrm>
              <a:prstGeom prst="rect">
                <a:avLst/>
              </a:prstGeom>
              <a:solidFill>
                <a:srgbClr val="CCFFCC"/>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2000" dirty="0">
                    <a:solidFill>
                      <a:srgbClr val="000000"/>
                    </a:solidFill>
                    <a:latin typeface="宋体" panose="02010600030101010101" pitchFamily="2" charset="-122"/>
                    <a:ea typeface="宋体" panose="02010600030101010101" pitchFamily="2" charset="-122"/>
                  </a:rPr>
                  <a:t>关系数据库管理系统RDBMS</a:t>
                </a:r>
                <a:endParaRPr lang="de-DE" altLang="en-US" sz="2000" dirty="0">
                  <a:latin typeface="宋体" panose="02010600030101010101" pitchFamily="2" charset="-122"/>
                  <a:ea typeface="宋体" panose="02010600030101010101" pitchFamily="2" charset="-122"/>
                </a:endParaRPr>
              </a:p>
            </p:txBody>
          </p:sp>
          <p:sp>
            <p:nvSpPr>
              <p:cNvPr id="59444" name="Rectangle 52"/>
              <p:cNvSpPr/>
              <p:nvPr/>
            </p:nvSpPr>
            <p:spPr>
              <a:xfrm>
                <a:off x="2309" y="330"/>
                <a:ext cx="31"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45" name="Rectangle 53"/>
              <p:cNvSpPr/>
              <p:nvPr/>
            </p:nvSpPr>
            <p:spPr>
              <a:xfrm rot="5400000">
                <a:off x="-678" y="678"/>
                <a:ext cx="1575" cy="209"/>
              </a:xfrm>
              <a:prstGeom prst="rect">
                <a:avLst/>
              </a:prstGeom>
              <a:solidFill>
                <a:srgbClr val="FFFF66"/>
              </a:solidFill>
              <a:ln w="9525">
                <a:noFill/>
              </a:ln>
            </p:spPr>
            <p:txBody>
              <a:bodyPr lIns="0" tIns="0" rIns="0" bIns="0" anchor="t">
                <a:spAutoFit/>
              </a:bodyPr>
              <a:lstStyle/>
              <a:p>
                <a:pPr lvl="0" indent="0">
                  <a:buNone/>
                </a:pPr>
                <a:r>
                  <a:rPr lang="zh-CN" altLang="en-US" sz="1600" dirty="0">
                    <a:solidFill>
                      <a:srgbClr val="000000"/>
                    </a:solidFill>
                    <a:latin typeface="宋体" panose="02010600030101010101" pitchFamily="2" charset="-122"/>
                    <a:ea typeface="宋体" panose="02010600030101010101" pitchFamily="2" charset="-122"/>
                  </a:rPr>
                  <a:t>数据库实现（原理）部分</a:t>
                </a:r>
                <a:endParaRPr lang="zh-CN" altLang="en-US" sz="2400" dirty="0">
                  <a:latin typeface="Tahoma" panose="020B0604030504040204" pitchFamily="2" charset="0"/>
                  <a:ea typeface="宋体" panose="02010600030101010101" pitchFamily="2" charset="-122"/>
                </a:endParaRPr>
              </a:p>
            </p:txBody>
          </p:sp>
          <p:sp>
            <p:nvSpPr>
              <p:cNvPr id="59446" name="未知"/>
              <p:cNvSpPr/>
              <p:nvPr/>
            </p:nvSpPr>
            <p:spPr>
              <a:xfrm>
                <a:off x="1749" y="779"/>
                <a:ext cx="849" cy="537"/>
              </a:xfrm>
              <a:custGeom>
                <a:avLst/>
                <a:gdLst/>
                <a:ahLst/>
                <a:cxnLst>
                  <a:cxn ang="0">
                    <a:pos x="251" y="0"/>
                  </a:cxn>
                  <a:cxn ang="0">
                    <a:pos x="197" y="3"/>
                  </a:cxn>
                  <a:cxn ang="0">
                    <a:pos x="148" y="11"/>
                  </a:cxn>
                  <a:cxn ang="0">
                    <a:pos x="103" y="20"/>
                  </a:cxn>
                  <a:cxn ang="0">
                    <a:pos x="83" y="25"/>
                  </a:cxn>
                  <a:cxn ang="0">
                    <a:pos x="65" y="31"/>
                  </a:cxn>
                  <a:cxn ang="0">
                    <a:pos x="49" y="39"/>
                  </a:cxn>
                  <a:cxn ang="0">
                    <a:pos x="35" y="45"/>
                  </a:cxn>
                  <a:cxn ang="0">
                    <a:pos x="23" y="45"/>
                  </a:cxn>
                  <a:cxn ang="0">
                    <a:pos x="14" y="48"/>
                  </a:cxn>
                  <a:cxn ang="0">
                    <a:pos x="9" y="54"/>
                  </a:cxn>
                  <a:cxn ang="0">
                    <a:pos x="3" y="65"/>
                  </a:cxn>
                  <a:cxn ang="0">
                    <a:pos x="0" y="73"/>
                  </a:cxn>
                  <a:cxn ang="0">
                    <a:pos x="0" y="399"/>
                  </a:cxn>
                  <a:cxn ang="0">
                    <a:pos x="6" y="406"/>
                  </a:cxn>
                  <a:cxn ang="0">
                    <a:pos x="14" y="414"/>
                  </a:cxn>
                  <a:cxn ang="0">
                    <a:pos x="15" y="423"/>
                  </a:cxn>
                  <a:cxn ang="0">
                    <a:pos x="31" y="431"/>
                  </a:cxn>
                  <a:cxn ang="0">
                    <a:pos x="40" y="436"/>
                  </a:cxn>
                  <a:cxn ang="0">
                    <a:pos x="57" y="442"/>
                  </a:cxn>
                  <a:cxn ang="0">
                    <a:pos x="72" y="447"/>
                  </a:cxn>
                  <a:cxn ang="0">
                    <a:pos x="93" y="452"/>
                  </a:cxn>
                  <a:cxn ang="0">
                    <a:pos x="124" y="458"/>
                  </a:cxn>
                  <a:cxn ang="0">
                    <a:pos x="171" y="466"/>
                  </a:cxn>
                  <a:cxn ang="0">
                    <a:pos x="225" y="468"/>
                  </a:cxn>
                  <a:cxn ang="0">
                    <a:pos x="280" y="470"/>
                  </a:cxn>
                  <a:cxn ang="0">
                    <a:pos x="338" y="468"/>
                  </a:cxn>
                  <a:cxn ang="0">
                    <a:pos x="389" y="466"/>
                  </a:cxn>
                  <a:cxn ang="0">
                    <a:pos x="437" y="458"/>
                  </a:cxn>
                  <a:cxn ang="0">
                    <a:pos x="470" y="452"/>
                  </a:cxn>
                  <a:cxn ang="0">
                    <a:pos x="487" y="447"/>
                  </a:cxn>
                  <a:cxn ang="0">
                    <a:pos x="505" y="442"/>
                  </a:cxn>
                  <a:cxn ang="0">
                    <a:pos x="519" y="436"/>
                  </a:cxn>
                  <a:cxn ang="0">
                    <a:pos x="532" y="431"/>
                  </a:cxn>
                  <a:cxn ang="0">
                    <a:pos x="544" y="423"/>
                  </a:cxn>
                  <a:cxn ang="0">
                    <a:pos x="550" y="414"/>
                  </a:cxn>
                  <a:cxn ang="0">
                    <a:pos x="555" y="406"/>
                  </a:cxn>
                  <a:cxn ang="0">
                    <a:pos x="560" y="399"/>
                  </a:cxn>
                  <a:cxn ang="0">
                    <a:pos x="560" y="73"/>
                  </a:cxn>
                  <a:cxn ang="0">
                    <a:pos x="558" y="65"/>
                  </a:cxn>
                  <a:cxn ang="0">
                    <a:pos x="553" y="54"/>
                  </a:cxn>
                  <a:cxn ang="0">
                    <a:pos x="548" y="48"/>
                  </a:cxn>
                  <a:cxn ang="0">
                    <a:pos x="538" y="45"/>
                  </a:cxn>
                  <a:cxn ang="0">
                    <a:pos x="526" y="45"/>
                  </a:cxn>
                  <a:cxn ang="0">
                    <a:pos x="511" y="39"/>
                  </a:cxn>
                  <a:cxn ang="0">
                    <a:pos x="495" y="31"/>
                  </a:cxn>
                  <a:cxn ang="0">
                    <a:pos x="477" y="25"/>
                  </a:cxn>
                  <a:cxn ang="0">
                    <a:pos x="458" y="20"/>
                  </a:cxn>
                  <a:cxn ang="0">
                    <a:pos x="414" y="11"/>
                  </a:cxn>
                  <a:cxn ang="0">
                    <a:pos x="364" y="3"/>
                  </a:cxn>
                  <a:cxn ang="0">
                    <a:pos x="310" y="0"/>
                  </a:cxn>
                  <a:cxn ang="0">
                    <a:pos x="280" y="0"/>
                  </a:cxn>
                </a:cxnLst>
                <a:rect l="0" t="0" r="0" b="0"/>
                <a:pathLst>
                  <a:path w="879" h="543">
                    <a:moveTo>
                      <a:pt x="441" y="0"/>
                    </a:moveTo>
                    <a:lnTo>
                      <a:pt x="396" y="0"/>
                    </a:lnTo>
                    <a:lnTo>
                      <a:pt x="352" y="3"/>
                    </a:lnTo>
                    <a:lnTo>
                      <a:pt x="310" y="3"/>
                    </a:lnTo>
                    <a:lnTo>
                      <a:pt x="268" y="6"/>
                    </a:lnTo>
                    <a:lnTo>
                      <a:pt x="232" y="11"/>
                    </a:lnTo>
                    <a:lnTo>
                      <a:pt x="195" y="14"/>
                    </a:lnTo>
                    <a:lnTo>
                      <a:pt x="162" y="20"/>
                    </a:lnTo>
                    <a:lnTo>
                      <a:pt x="145" y="22"/>
                    </a:lnTo>
                    <a:lnTo>
                      <a:pt x="129" y="25"/>
                    </a:lnTo>
                    <a:lnTo>
                      <a:pt x="115" y="28"/>
                    </a:lnTo>
                    <a:lnTo>
                      <a:pt x="101" y="31"/>
                    </a:lnTo>
                    <a:lnTo>
                      <a:pt x="89" y="33"/>
                    </a:lnTo>
                    <a:lnTo>
                      <a:pt x="76" y="39"/>
                    </a:lnTo>
                    <a:lnTo>
                      <a:pt x="64" y="42"/>
                    </a:lnTo>
                    <a:lnTo>
                      <a:pt x="53" y="45"/>
                    </a:lnTo>
                    <a:lnTo>
                      <a:pt x="45" y="47"/>
                    </a:lnTo>
                    <a:lnTo>
                      <a:pt x="36" y="53"/>
                    </a:lnTo>
                    <a:lnTo>
                      <a:pt x="28" y="56"/>
                    </a:lnTo>
                    <a:lnTo>
                      <a:pt x="20" y="61"/>
                    </a:lnTo>
                    <a:lnTo>
                      <a:pt x="14" y="64"/>
                    </a:lnTo>
                    <a:lnTo>
                      <a:pt x="9" y="67"/>
                    </a:lnTo>
                    <a:lnTo>
                      <a:pt x="6" y="72"/>
                    </a:lnTo>
                    <a:lnTo>
                      <a:pt x="3" y="78"/>
                    </a:lnTo>
                    <a:lnTo>
                      <a:pt x="0" y="81"/>
                    </a:lnTo>
                    <a:lnTo>
                      <a:pt x="0" y="86"/>
                    </a:lnTo>
                    <a:lnTo>
                      <a:pt x="0" y="457"/>
                    </a:lnTo>
                    <a:lnTo>
                      <a:pt x="0" y="463"/>
                    </a:lnTo>
                    <a:lnTo>
                      <a:pt x="3" y="468"/>
                    </a:lnTo>
                    <a:lnTo>
                      <a:pt x="6" y="471"/>
                    </a:lnTo>
                    <a:lnTo>
                      <a:pt x="9" y="476"/>
                    </a:lnTo>
                    <a:lnTo>
                      <a:pt x="14" y="479"/>
                    </a:lnTo>
                    <a:lnTo>
                      <a:pt x="20" y="485"/>
                    </a:lnTo>
                    <a:lnTo>
                      <a:pt x="28" y="488"/>
                    </a:lnTo>
                    <a:lnTo>
                      <a:pt x="36" y="490"/>
                    </a:lnTo>
                    <a:lnTo>
                      <a:pt x="45" y="496"/>
                    </a:lnTo>
                    <a:lnTo>
                      <a:pt x="53" y="499"/>
                    </a:lnTo>
                    <a:lnTo>
                      <a:pt x="64" y="502"/>
                    </a:lnTo>
                    <a:lnTo>
                      <a:pt x="76" y="507"/>
                    </a:lnTo>
                    <a:lnTo>
                      <a:pt x="89" y="510"/>
                    </a:lnTo>
                    <a:lnTo>
                      <a:pt x="101" y="513"/>
                    </a:lnTo>
                    <a:lnTo>
                      <a:pt x="115" y="515"/>
                    </a:lnTo>
                    <a:lnTo>
                      <a:pt x="129" y="518"/>
                    </a:lnTo>
                    <a:lnTo>
                      <a:pt x="145" y="521"/>
                    </a:lnTo>
                    <a:lnTo>
                      <a:pt x="162" y="524"/>
                    </a:lnTo>
                    <a:lnTo>
                      <a:pt x="195" y="529"/>
                    </a:lnTo>
                    <a:lnTo>
                      <a:pt x="232" y="532"/>
                    </a:lnTo>
                    <a:lnTo>
                      <a:pt x="268" y="538"/>
                    </a:lnTo>
                    <a:lnTo>
                      <a:pt x="310" y="541"/>
                    </a:lnTo>
                    <a:lnTo>
                      <a:pt x="352" y="541"/>
                    </a:lnTo>
                    <a:lnTo>
                      <a:pt x="396" y="543"/>
                    </a:lnTo>
                    <a:lnTo>
                      <a:pt x="441" y="543"/>
                    </a:lnTo>
                    <a:lnTo>
                      <a:pt x="486" y="543"/>
                    </a:lnTo>
                    <a:lnTo>
                      <a:pt x="530" y="541"/>
                    </a:lnTo>
                    <a:lnTo>
                      <a:pt x="572" y="541"/>
                    </a:lnTo>
                    <a:lnTo>
                      <a:pt x="611" y="538"/>
                    </a:lnTo>
                    <a:lnTo>
                      <a:pt x="650" y="532"/>
                    </a:lnTo>
                    <a:lnTo>
                      <a:pt x="686" y="529"/>
                    </a:lnTo>
                    <a:lnTo>
                      <a:pt x="720" y="524"/>
                    </a:lnTo>
                    <a:lnTo>
                      <a:pt x="737" y="521"/>
                    </a:lnTo>
                    <a:lnTo>
                      <a:pt x="750" y="518"/>
                    </a:lnTo>
                    <a:lnTo>
                      <a:pt x="764" y="515"/>
                    </a:lnTo>
                    <a:lnTo>
                      <a:pt x="778" y="513"/>
                    </a:lnTo>
                    <a:lnTo>
                      <a:pt x="792" y="510"/>
                    </a:lnTo>
                    <a:lnTo>
                      <a:pt x="803" y="507"/>
                    </a:lnTo>
                    <a:lnTo>
                      <a:pt x="815" y="502"/>
                    </a:lnTo>
                    <a:lnTo>
                      <a:pt x="826" y="499"/>
                    </a:lnTo>
                    <a:lnTo>
                      <a:pt x="837" y="496"/>
                    </a:lnTo>
                    <a:lnTo>
                      <a:pt x="845" y="490"/>
                    </a:lnTo>
                    <a:lnTo>
                      <a:pt x="854" y="488"/>
                    </a:lnTo>
                    <a:lnTo>
                      <a:pt x="859" y="485"/>
                    </a:lnTo>
                    <a:lnTo>
                      <a:pt x="865" y="479"/>
                    </a:lnTo>
                    <a:lnTo>
                      <a:pt x="870" y="476"/>
                    </a:lnTo>
                    <a:lnTo>
                      <a:pt x="873" y="471"/>
                    </a:lnTo>
                    <a:lnTo>
                      <a:pt x="876" y="468"/>
                    </a:lnTo>
                    <a:lnTo>
                      <a:pt x="879" y="463"/>
                    </a:lnTo>
                    <a:lnTo>
                      <a:pt x="879" y="457"/>
                    </a:lnTo>
                    <a:lnTo>
                      <a:pt x="879" y="86"/>
                    </a:lnTo>
                    <a:lnTo>
                      <a:pt x="879" y="81"/>
                    </a:lnTo>
                    <a:lnTo>
                      <a:pt x="876" y="78"/>
                    </a:lnTo>
                    <a:lnTo>
                      <a:pt x="873" y="72"/>
                    </a:lnTo>
                    <a:lnTo>
                      <a:pt x="870" y="67"/>
                    </a:lnTo>
                    <a:lnTo>
                      <a:pt x="865" y="64"/>
                    </a:lnTo>
                    <a:lnTo>
                      <a:pt x="859" y="61"/>
                    </a:lnTo>
                    <a:lnTo>
                      <a:pt x="854" y="56"/>
                    </a:lnTo>
                    <a:lnTo>
                      <a:pt x="845" y="53"/>
                    </a:lnTo>
                    <a:lnTo>
                      <a:pt x="837" y="47"/>
                    </a:lnTo>
                    <a:lnTo>
                      <a:pt x="826" y="45"/>
                    </a:lnTo>
                    <a:lnTo>
                      <a:pt x="815" y="42"/>
                    </a:lnTo>
                    <a:lnTo>
                      <a:pt x="803" y="39"/>
                    </a:lnTo>
                    <a:lnTo>
                      <a:pt x="792" y="33"/>
                    </a:lnTo>
                    <a:lnTo>
                      <a:pt x="778" y="31"/>
                    </a:lnTo>
                    <a:lnTo>
                      <a:pt x="764" y="28"/>
                    </a:lnTo>
                    <a:lnTo>
                      <a:pt x="750" y="25"/>
                    </a:lnTo>
                    <a:lnTo>
                      <a:pt x="737" y="22"/>
                    </a:lnTo>
                    <a:lnTo>
                      <a:pt x="720" y="20"/>
                    </a:lnTo>
                    <a:lnTo>
                      <a:pt x="686" y="14"/>
                    </a:lnTo>
                    <a:lnTo>
                      <a:pt x="650" y="11"/>
                    </a:lnTo>
                    <a:lnTo>
                      <a:pt x="611" y="6"/>
                    </a:lnTo>
                    <a:lnTo>
                      <a:pt x="572" y="3"/>
                    </a:lnTo>
                    <a:lnTo>
                      <a:pt x="530" y="3"/>
                    </a:lnTo>
                    <a:lnTo>
                      <a:pt x="486" y="0"/>
                    </a:lnTo>
                    <a:lnTo>
                      <a:pt x="441" y="0"/>
                    </a:lnTo>
                    <a:close/>
                  </a:path>
                </a:pathLst>
              </a:custGeom>
              <a:solidFill>
                <a:srgbClr val="CCFFCC"/>
              </a:solidFill>
              <a:ln w="9525">
                <a:noFill/>
              </a:ln>
            </p:spPr>
            <p:txBody>
              <a:bodyPr/>
              <a:lstStyle/>
              <a:p>
                <a:endParaRPr lang="zh-CN" altLang="en-US"/>
              </a:p>
            </p:txBody>
          </p:sp>
          <p:sp>
            <p:nvSpPr>
              <p:cNvPr id="59447" name="未知"/>
              <p:cNvSpPr/>
              <p:nvPr/>
            </p:nvSpPr>
            <p:spPr>
              <a:xfrm>
                <a:off x="1749" y="779"/>
                <a:ext cx="849" cy="537"/>
              </a:xfrm>
              <a:custGeom>
                <a:avLst/>
                <a:gdLst/>
                <a:ahLst/>
                <a:cxnLst>
                  <a:cxn ang="0">
                    <a:pos x="251" y="0"/>
                  </a:cxn>
                  <a:cxn ang="0">
                    <a:pos x="197" y="3"/>
                  </a:cxn>
                  <a:cxn ang="0">
                    <a:pos x="148" y="11"/>
                  </a:cxn>
                  <a:cxn ang="0">
                    <a:pos x="103" y="20"/>
                  </a:cxn>
                  <a:cxn ang="0">
                    <a:pos x="83" y="25"/>
                  </a:cxn>
                  <a:cxn ang="0">
                    <a:pos x="65" y="31"/>
                  </a:cxn>
                  <a:cxn ang="0">
                    <a:pos x="49" y="39"/>
                  </a:cxn>
                  <a:cxn ang="0">
                    <a:pos x="35" y="45"/>
                  </a:cxn>
                  <a:cxn ang="0">
                    <a:pos x="23" y="45"/>
                  </a:cxn>
                  <a:cxn ang="0">
                    <a:pos x="14" y="48"/>
                  </a:cxn>
                  <a:cxn ang="0">
                    <a:pos x="9" y="54"/>
                  </a:cxn>
                  <a:cxn ang="0">
                    <a:pos x="3" y="65"/>
                  </a:cxn>
                  <a:cxn ang="0">
                    <a:pos x="0" y="73"/>
                  </a:cxn>
                  <a:cxn ang="0">
                    <a:pos x="0" y="399"/>
                  </a:cxn>
                  <a:cxn ang="0">
                    <a:pos x="6" y="406"/>
                  </a:cxn>
                  <a:cxn ang="0">
                    <a:pos x="14" y="414"/>
                  </a:cxn>
                  <a:cxn ang="0">
                    <a:pos x="15" y="423"/>
                  </a:cxn>
                  <a:cxn ang="0">
                    <a:pos x="31" y="431"/>
                  </a:cxn>
                  <a:cxn ang="0">
                    <a:pos x="40" y="436"/>
                  </a:cxn>
                  <a:cxn ang="0">
                    <a:pos x="57" y="442"/>
                  </a:cxn>
                  <a:cxn ang="0">
                    <a:pos x="72" y="447"/>
                  </a:cxn>
                  <a:cxn ang="0">
                    <a:pos x="93" y="452"/>
                  </a:cxn>
                  <a:cxn ang="0">
                    <a:pos x="124" y="458"/>
                  </a:cxn>
                  <a:cxn ang="0">
                    <a:pos x="171" y="466"/>
                  </a:cxn>
                  <a:cxn ang="0">
                    <a:pos x="225" y="468"/>
                  </a:cxn>
                  <a:cxn ang="0">
                    <a:pos x="280" y="470"/>
                  </a:cxn>
                  <a:cxn ang="0">
                    <a:pos x="338" y="468"/>
                  </a:cxn>
                  <a:cxn ang="0">
                    <a:pos x="389" y="466"/>
                  </a:cxn>
                  <a:cxn ang="0">
                    <a:pos x="437" y="458"/>
                  </a:cxn>
                  <a:cxn ang="0">
                    <a:pos x="470" y="452"/>
                  </a:cxn>
                  <a:cxn ang="0">
                    <a:pos x="487" y="447"/>
                  </a:cxn>
                  <a:cxn ang="0">
                    <a:pos x="505" y="442"/>
                  </a:cxn>
                  <a:cxn ang="0">
                    <a:pos x="519" y="436"/>
                  </a:cxn>
                  <a:cxn ang="0">
                    <a:pos x="532" y="431"/>
                  </a:cxn>
                  <a:cxn ang="0">
                    <a:pos x="544" y="423"/>
                  </a:cxn>
                  <a:cxn ang="0">
                    <a:pos x="550" y="414"/>
                  </a:cxn>
                  <a:cxn ang="0">
                    <a:pos x="555" y="406"/>
                  </a:cxn>
                  <a:cxn ang="0">
                    <a:pos x="560" y="399"/>
                  </a:cxn>
                  <a:cxn ang="0">
                    <a:pos x="560" y="73"/>
                  </a:cxn>
                  <a:cxn ang="0">
                    <a:pos x="558" y="65"/>
                  </a:cxn>
                  <a:cxn ang="0">
                    <a:pos x="553" y="54"/>
                  </a:cxn>
                  <a:cxn ang="0">
                    <a:pos x="548" y="48"/>
                  </a:cxn>
                  <a:cxn ang="0">
                    <a:pos x="538" y="45"/>
                  </a:cxn>
                  <a:cxn ang="0">
                    <a:pos x="526" y="45"/>
                  </a:cxn>
                  <a:cxn ang="0">
                    <a:pos x="511" y="39"/>
                  </a:cxn>
                  <a:cxn ang="0">
                    <a:pos x="495" y="31"/>
                  </a:cxn>
                  <a:cxn ang="0">
                    <a:pos x="477" y="25"/>
                  </a:cxn>
                  <a:cxn ang="0">
                    <a:pos x="458" y="20"/>
                  </a:cxn>
                  <a:cxn ang="0">
                    <a:pos x="414" y="11"/>
                  </a:cxn>
                  <a:cxn ang="0">
                    <a:pos x="364" y="3"/>
                  </a:cxn>
                  <a:cxn ang="0">
                    <a:pos x="310" y="0"/>
                  </a:cxn>
                  <a:cxn ang="0">
                    <a:pos x="280" y="0"/>
                  </a:cxn>
                </a:cxnLst>
                <a:rect l="0" t="0" r="0" b="0"/>
                <a:pathLst>
                  <a:path w="879" h="543">
                    <a:moveTo>
                      <a:pt x="441" y="0"/>
                    </a:moveTo>
                    <a:lnTo>
                      <a:pt x="396" y="0"/>
                    </a:lnTo>
                    <a:lnTo>
                      <a:pt x="352" y="3"/>
                    </a:lnTo>
                    <a:lnTo>
                      <a:pt x="310" y="3"/>
                    </a:lnTo>
                    <a:lnTo>
                      <a:pt x="268" y="6"/>
                    </a:lnTo>
                    <a:lnTo>
                      <a:pt x="232" y="11"/>
                    </a:lnTo>
                    <a:lnTo>
                      <a:pt x="195" y="14"/>
                    </a:lnTo>
                    <a:lnTo>
                      <a:pt x="162" y="20"/>
                    </a:lnTo>
                    <a:lnTo>
                      <a:pt x="145" y="22"/>
                    </a:lnTo>
                    <a:lnTo>
                      <a:pt x="129" y="25"/>
                    </a:lnTo>
                    <a:lnTo>
                      <a:pt x="115" y="28"/>
                    </a:lnTo>
                    <a:lnTo>
                      <a:pt x="101" y="31"/>
                    </a:lnTo>
                    <a:lnTo>
                      <a:pt x="89" y="33"/>
                    </a:lnTo>
                    <a:lnTo>
                      <a:pt x="76" y="39"/>
                    </a:lnTo>
                    <a:lnTo>
                      <a:pt x="64" y="42"/>
                    </a:lnTo>
                    <a:lnTo>
                      <a:pt x="53" y="45"/>
                    </a:lnTo>
                    <a:lnTo>
                      <a:pt x="45" y="47"/>
                    </a:lnTo>
                    <a:lnTo>
                      <a:pt x="36" y="53"/>
                    </a:lnTo>
                    <a:lnTo>
                      <a:pt x="28" y="56"/>
                    </a:lnTo>
                    <a:lnTo>
                      <a:pt x="20" y="61"/>
                    </a:lnTo>
                    <a:lnTo>
                      <a:pt x="14" y="64"/>
                    </a:lnTo>
                    <a:lnTo>
                      <a:pt x="9" y="67"/>
                    </a:lnTo>
                    <a:lnTo>
                      <a:pt x="6" y="72"/>
                    </a:lnTo>
                    <a:lnTo>
                      <a:pt x="3" y="78"/>
                    </a:lnTo>
                    <a:lnTo>
                      <a:pt x="0" y="81"/>
                    </a:lnTo>
                    <a:lnTo>
                      <a:pt x="0" y="86"/>
                    </a:lnTo>
                    <a:lnTo>
                      <a:pt x="0" y="457"/>
                    </a:lnTo>
                    <a:lnTo>
                      <a:pt x="0" y="463"/>
                    </a:lnTo>
                    <a:lnTo>
                      <a:pt x="3" y="468"/>
                    </a:lnTo>
                    <a:lnTo>
                      <a:pt x="6" y="471"/>
                    </a:lnTo>
                    <a:lnTo>
                      <a:pt x="9" y="476"/>
                    </a:lnTo>
                    <a:lnTo>
                      <a:pt x="14" y="479"/>
                    </a:lnTo>
                    <a:lnTo>
                      <a:pt x="20" y="485"/>
                    </a:lnTo>
                    <a:lnTo>
                      <a:pt x="28" y="488"/>
                    </a:lnTo>
                    <a:lnTo>
                      <a:pt x="36" y="490"/>
                    </a:lnTo>
                    <a:lnTo>
                      <a:pt x="45" y="496"/>
                    </a:lnTo>
                    <a:lnTo>
                      <a:pt x="53" y="499"/>
                    </a:lnTo>
                    <a:lnTo>
                      <a:pt x="64" y="502"/>
                    </a:lnTo>
                    <a:lnTo>
                      <a:pt x="76" y="507"/>
                    </a:lnTo>
                    <a:lnTo>
                      <a:pt x="89" y="510"/>
                    </a:lnTo>
                    <a:lnTo>
                      <a:pt x="101" y="513"/>
                    </a:lnTo>
                    <a:lnTo>
                      <a:pt x="115" y="515"/>
                    </a:lnTo>
                    <a:lnTo>
                      <a:pt x="129" y="518"/>
                    </a:lnTo>
                    <a:lnTo>
                      <a:pt x="145" y="521"/>
                    </a:lnTo>
                    <a:lnTo>
                      <a:pt x="162" y="524"/>
                    </a:lnTo>
                    <a:lnTo>
                      <a:pt x="195" y="529"/>
                    </a:lnTo>
                    <a:lnTo>
                      <a:pt x="232" y="532"/>
                    </a:lnTo>
                    <a:lnTo>
                      <a:pt x="268" y="538"/>
                    </a:lnTo>
                    <a:lnTo>
                      <a:pt x="310" y="541"/>
                    </a:lnTo>
                    <a:lnTo>
                      <a:pt x="352" y="541"/>
                    </a:lnTo>
                    <a:lnTo>
                      <a:pt x="396" y="543"/>
                    </a:lnTo>
                    <a:lnTo>
                      <a:pt x="441" y="543"/>
                    </a:lnTo>
                    <a:lnTo>
                      <a:pt x="486" y="543"/>
                    </a:lnTo>
                    <a:lnTo>
                      <a:pt x="530" y="541"/>
                    </a:lnTo>
                    <a:lnTo>
                      <a:pt x="572" y="541"/>
                    </a:lnTo>
                    <a:lnTo>
                      <a:pt x="611" y="538"/>
                    </a:lnTo>
                    <a:lnTo>
                      <a:pt x="650" y="532"/>
                    </a:lnTo>
                    <a:lnTo>
                      <a:pt x="686" y="529"/>
                    </a:lnTo>
                    <a:lnTo>
                      <a:pt x="720" y="524"/>
                    </a:lnTo>
                    <a:lnTo>
                      <a:pt x="737" y="521"/>
                    </a:lnTo>
                    <a:lnTo>
                      <a:pt x="750" y="518"/>
                    </a:lnTo>
                    <a:lnTo>
                      <a:pt x="764" y="515"/>
                    </a:lnTo>
                    <a:lnTo>
                      <a:pt x="778" y="513"/>
                    </a:lnTo>
                    <a:lnTo>
                      <a:pt x="792" y="510"/>
                    </a:lnTo>
                    <a:lnTo>
                      <a:pt x="803" y="507"/>
                    </a:lnTo>
                    <a:lnTo>
                      <a:pt x="815" y="502"/>
                    </a:lnTo>
                    <a:lnTo>
                      <a:pt x="826" y="499"/>
                    </a:lnTo>
                    <a:lnTo>
                      <a:pt x="837" y="496"/>
                    </a:lnTo>
                    <a:lnTo>
                      <a:pt x="845" y="490"/>
                    </a:lnTo>
                    <a:lnTo>
                      <a:pt x="854" y="488"/>
                    </a:lnTo>
                    <a:lnTo>
                      <a:pt x="859" y="485"/>
                    </a:lnTo>
                    <a:lnTo>
                      <a:pt x="865" y="479"/>
                    </a:lnTo>
                    <a:lnTo>
                      <a:pt x="870" y="476"/>
                    </a:lnTo>
                    <a:lnTo>
                      <a:pt x="873" y="471"/>
                    </a:lnTo>
                    <a:lnTo>
                      <a:pt x="876" y="468"/>
                    </a:lnTo>
                    <a:lnTo>
                      <a:pt x="879" y="463"/>
                    </a:lnTo>
                    <a:lnTo>
                      <a:pt x="879" y="457"/>
                    </a:lnTo>
                    <a:lnTo>
                      <a:pt x="879" y="86"/>
                    </a:lnTo>
                    <a:lnTo>
                      <a:pt x="879" y="81"/>
                    </a:lnTo>
                    <a:lnTo>
                      <a:pt x="876" y="78"/>
                    </a:lnTo>
                    <a:lnTo>
                      <a:pt x="873" y="72"/>
                    </a:lnTo>
                    <a:lnTo>
                      <a:pt x="870" y="67"/>
                    </a:lnTo>
                    <a:lnTo>
                      <a:pt x="865" y="64"/>
                    </a:lnTo>
                    <a:lnTo>
                      <a:pt x="859" y="61"/>
                    </a:lnTo>
                    <a:lnTo>
                      <a:pt x="854" y="56"/>
                    </a:lnTo>
                    <a:lnTo>
                      <a:pt x="845" y="53"/>
                    </a:lnTo>
                    <a:lnTo>
                      <a:pt x="837" y="47"/>
                    </a:lnTo>
                    <a:lnTo>
                      <a:pt x="826" y="45"/>
                    </a:lnTo>
                    <a:lnTo>
                      <a:pt x="815" y="42"/>
                    </a:lnTo>
                    <a:lnTo>
                      <a:pt x="803" y="39"/>
                    </a:lnTo>
                    <a:lnTo>
                      <a:pt x="792" y="33"/>
                    </a:lnTo>
                    <a:lnTo>
                      <a:pt x="778" y="31"/>
                    </a:lnTo>
                    <a:lnTo>
                      <a:pt x="764" y="28"/>
                    </a:lnTo>
                    <a:lnTo>
                      <a:pt x="750" y="25"/>
                    </a:lnTo>
                    <a:lnTo>
                      <a:pt x="737" y="22"/>
                    </a:lnTo>
                    <a:lnTo>
                      <a:pt x="720" y="20"/>
                    </a:lnTo>
                    <a:lnTo>
                      <a:pt x="686" y="14"/>
                    </a:lnTo>
                    <a:lnTo>
                      <a:pt x="650" y="11"/>
                    </a:lnTo>
                    <a:lnTo>
                      <a:pt x="611" y="6"/>
                    </a:lnTo>
                    <a:lnTo>
                      <a:pt x="572" y="3"/>
                    </a:lnTo>
                    <a:lnTo>
                      <a:pt x="530" y="3"/>
                    </a:lnTo>
                    <a:lnTo>
                      <a:pt x="486" y="0"/>
                    </a:lnTo>
                    <a:lnTo>
                      <a:pt x="441"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59448" name="未知"/>
              <p:cNvSpPr/>
              <p:nvPr/>
            </p:nvSpPr>
            <p:spPr>
              <a:xfrm>
                <a:off x="1749" y="864"/>
                <a:ext cx="849" cy="83"/>
              </a:xfrm>
              <a:custGeom>
                <a:avLst/>
                <a:gdLst/>
                <a:ahLst/>
                <a:cxnLst>
                  <a:cxn ang="0">
                    <a:pos x="0" y="0"/>
                  </a:cxn>
                  <a:cxn ang="0">
                    <a:pos x="0" y="3"/>
                  </a:cxn>
                  <a:cxn ang="0">
                    <a:pos x="3" y="9"/>
                  </a:cxn>
                  <a:cxn ang="0">
                    <a:pos x="6" y="12"/>
                  </a:cxn>
                  <a:cxn ang="0">
                    <a:pos x="9" y="17"/>
                  </a:cxn>
                  <a:cxn ang="0">
                    <a:pos x="14" y="20"/>
                  </a:cxn>
                  <a:cxn ang="0">
                    <a:pos x="14" y="25"/>
                  </a:cxn>
                  <a:cxn ang="0">
                    <a:pos x="15" y="28"/>
                  </a:cxn>
                  <a:cxn ang="0">
                    <a:pos x="23" y="34"/>
                  </a:cxn>
                  <a:cxn ang="0">
                    <a:pos x="31" y="37"/>
                  </a:cxn>
                  <a:cxn ang="0">
                    <a:pos x="35" y="39"/>
                  </a:cxn>
                  <a:cxn ang="0">
                    <a:pos x="40" y="42"/>
                  </a:cxn>
                  <a:cxn ang="0">
                    <a:pos x="49" y="42"/>
                  </a:cxn>
                  <a:cxn ang="0">
                    <a:pos x="57" y="42"/>
                  </a:cxn>
                  <a:cxn ang="0">
                    <a:pos x="65" y="42"/>
                  </a:cxn>
                  <a:cxn ang="0">
                    <a:pos x="72" y="43"/>
                  </a:cxn>
                  <a:cxn ang="0">
                    <a:pos x="83" y="46"/>
                  </a:cxn>
                  <a:cxn ang="0">
                    <a:pos x="93" y="49"/>
                  </a:cxn>
                  <a:cxn ang="0">
                    <a:pos x="103" y="51"/>
                  </a:cxn>
                  <a:cxn ang="0">
                    <a:pos x="124" y="57"/>
                  </a:cxn>
                  <a:cxn ang="0">
                    <a:pos x="148" y="63"/>
                  </a:cxn>
                  <a:cxn ang="0">
                    <a:pos x="171" y="65"/>
                  </a:cxn>
                  <a:cxn ang="0">
                    <a:pos x="197" y="68"/>
                  </a:cxn>
                  <a:cxn ang="0">
                    <a:pos x="225" y="71"/>
                  </a:cxn>
                  <a:cxn ang="0">
                    <a:pos x="251" y="71"/>
                  </a:cxn>
                  <a:cxn ang="0">
                    <a:pos x="280" y="71"/>
                  </a:cxn>
                  <a:cxn ang="0">
                    <a:pos x="310" y="71"/>
                  </a:cxn>
                  <a:cxn ang="0">
                    <a:pos x="338" y="71"/>
                  </a:cxn>
                  <a:cxn ang="0">
                    <a:pos x="364" y="68"/>
                  </a:cxn>
                  <a:cxn ang="0">
                    <a:pos x="389" y="65"/>
                  </a:cxn>
                  <a:cxn ang="0">
                    <a:pos x="414" y="63"/>
                  </a:cxn>
                  <a:cxn ang="0">
                    <a:pos x="437" y="57"/>
                  </a:cxn>
                  <a:cxn ang="0">
                    <a:pos x="458" y="51"/>
                  </a:cxn>
                  <a:cxn ang="0">
                    <a:pos x="470" y="49"/>
                  </a:cxn>
                  <a:cxn ang="0">
                    <a:pos x="477" y="46"/>
                  </a:cxn>
                  <a:cxn ang="0">
                    <a:pos x="487" y="43"/>
                  </a:cxn>
                  <a:cxn ang="0">
                    <a:pos x="495" y="42"/>
                  </a:cxn>
                  <a:cxn ang="0">
                    <a:pos x="505" y="42"/>
                  </a:cxn>
                  <a:cxn ang="0">
                    <a:pos x="511" y="42"/>
                  </a:cxn>
                  <a:cxn ang="0">
                    <a:pos x="519" y="42"/>
                  </a:cxn>
                  <a:cxn ang="0">
                    <a:pos x="526" y="39"/>
                  </a:cxn>
                  <a:cxn ang="0">
                    <a:pos x="532" y="37"/>
                  </a:cxn>
                  <a:cxn ang="0">
                    <a:pos x="538" y="34"/>
                  </a:cxn>
                  <a:cxn ang="0">
                    <a:pos x="544" y="28"/>
                  </a:cxn>
                  <a:cxn ang="0">
                    <a:pos x="548" y="25"/>
                  </a:cxn>
                  <a:cxn ang="0">
                    <a:pos x="550" y="20"/>
                  </a:cxn>
                  <a:cxn ang="0">
                    <a:pos x="553" y="17"/>
                  </a:cxn>
                  <a:cxn ang="0">
                    <a:pos x="555" y="12"/>
                  </a:cxn>
                  <a:cxn ang="0">
                    <a:pos x="558" y="9"/>
                  </a:cxn>
                  <a:cxn ang="0">
                    <a:pos x="560" y="3"/>
                  </a:cxn>
                  <a:cxn ang="0">
                    <a:pos x="560" y="0"/>
                  </a:cxn>
                </a:cxnLst>
                <a:rect l="0" t="0" r="0" b="0"/>
                <a:pathLst>
                  <a:path w="879" h="84">
                    <a:moveTo>
                      <a:pt x="0" y="0"/>
                    </a:moveTo>
                    <a:lnTo>
                      <a:pt x="0" y="3"/>
                    </a:lnTo>
                    <a:lnTo>
                      <a:pt x="3" y="9"/>
                    </a:lnTo>
                    <a:lnTo>
                      <a:pt x="6" y="12"/>
                    </a:lnTo>
                    <a:lnTo>
                      <a:pt x="9" y="17"/>
                    </a:lnTo>
                    <a:lnTo>
                      <a:pt x="14" y="20"/>
                    </a:lnTo>
                    <a:lnTo>
                      <a:pt x="20" y="25"/>
                    </a:lnTo>
                    <a:lnTo>
                      <a:pt x="28" y="28"/>
                    </a:lnTo>
                    <a:lnTo>
                      <a:pt x="36" y="34"/>
                    </a:lnTo>
                    <a:lnTo>
                      <a:pt x="45" y="37"/>
                    </a:lnTo>
                    <a:lnTo>
                      <a:pt x="53" y="39"/>
                    </a:lnTo>
                    <a:lnTo>
                      <a:pt x="64" y="45"/>
                    </a:lnTo>
                    <a:lnTo>
                      <a:pt x="76" y="48"/>
                    </a:lnTo>
                    <a:lnTo>
                      <a:pt x="89" y="51"/>
                    </a:lnTo>
                    <a:lnTo>
                      <a:pt x="101" y="53"/>
                    </a:lnTo>
                    <a:lnTo>
                      <a:pt x="115" y="56"/>
                    </a:lnTo>
                    <a:lnTo>
                      <a:pt x="129" y="59"/>
                    </a:lnTo>
                    <a:lnTo>
                      <a:pt x="145" y="62"/>
                    </a:lnTo>
                    <a:lnTo>
                      <a:pt x="162" y="64"/>
                    </a:lnTo>
                    <a:lnTo>
                      <a:pt x="195" y="70"/>
                    </a:lnTo>
                    <a:lnTo>
                      <a:pt x="232" y="76"/>
                    </a:lnTo>
                    <a:lnTo>
                      <a:pt x="268" y="78"/>
                    </a:lnTo>
                    <a:lnTo>
                      <a:pt x="310" y="81"/>
                    </a:lnTo>
                    <a:lnTo>
                      <a:pt x="352" y="84"/>
                    </a:lnTo>
                    <a:lnTo>
                      <a:pt x="396" y="84"/>
                    </a:lnTo>
                    <a:lnTo>
                      <a:pt x="441" y="84"/>
                    </a:lnTo>
                    <a:lnTo>
                      <a:pt x="486" y="84"/>
                    </a:lnTo>
                    <a:lnTo>
                      <a:pt x="530" y="84"/>
                    </a:lnTo>
                    <a:lnTo>
                      <a:pt x="572" y="81"/>
                    </a:lnTo>
                    <a:lnTo>
                      <a:pt x="611" y="78"/>
                    </a:lnTo>
                    <a:lnTo>
                      <a:pt x="650" y="76"/>
                    </a:lnTo>
                    <a:lnTo>
                      <a:pt x="686" y="70"/>
                    </a:lnTo>
                    <a:lnTo>
                      <a:pt x="720" y="64"/>
                    </a:lnTo>
                    <a:lnTo>
                      <a:pt x="737" y="62"/>
                    </a:lnTo>
                    <a:lnTo>
                      <a:pt x="750" y="59"/>
                    </a:lnTo>
                    <a:lnTo>
                      <a:pt x="764" y="56"/>
                    </a:lnTo>
                    <a:lnTo>
                      <a:pt x="778" y="53"/>
                    </a:lnTo>
                    <a:lnTo>
                      <a:pt x="792" y="51"/>
                    </a:lnTo>
                    <a:lnTo>
                      <a:pt x="803" y="48"/>
                    </a:lnTo>
                    <a:lnTo>
                      <a:pt x="815" y="45"/>
                    </a:lnTo>
                    <a:lnTo>
                      <a:pt x="826" y="39"/>
                    </a:lnTo>
                    <a:lnTo>
                      <a:pt x="837" y="37"/>
                    </a:lnTo>
                    <a:lnTo>
                      <a:pt x="845" y="34"/>
                    </a:lnTo>
                    <a:lnTo>
                      <a:pt x="854" y="28"/>
                    </a:lnTo>
                    <a:lnTo>
                      <a:pt x="859" y="25"/>
                    </a:lnTo>
                    <a:lnTo>
                      <a:pt x="865" y="20"/>
                    </a:lnTo>
                    <a:lnTo>
                      <a:pt x="870" y="17"/>
                    </a:lnTo>
                    <a:lnTo>
                      <a:pt x="873" y="12"/>
                    </a:lnTo>
                    <a:lnTo>
                      <a:pt x="876" y="9"/>
                    </a:lnTo>
                    <a:lnTo>
                      <a:pt x="879" y="3"/>
                    </a:lnTo>
                    <a:lnTo>
                      <a:pt x="879"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59449" name="Rectangle 57"/>
              <p:cNvSpPr/>
              <p:nvPr/>
            </p:nvSpPr>
            <p:spPr>
              <a:xfrm>
                <a:off x="2082" y="1039"/>
                <a:ext cx="179"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DB</a:t>
                </a:r>
                <a:endParaRPr lang="de-DE" altLang="en-US" sz="2400" dirty="0">
                  <a:latin typeface="Tahoma" panose="020B0604030504040204" pitchFamily="2" charset="0"/>
                  <a:ea typeface="宋体" panose="02010600030101010101" pitchFamily="2" charset="-122"/>
                </a:endParaRPr>
              </a:p>
            </p:txBody>
          </p:sp>
          <p:sp>
            <p:nvSpPr>
              <p:cNvPr id="59450" name="Rectangle 58"/>
              <p:cNvSpPr/>
              <p:nvPr/>
            </p:nvSpPr>
            <p:spPr>
              <a:xfrm>
                <a:off x="2258" y="1085"/>
                <a:ext cx="32"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51" name="Rectangle 59"/>
              <p:cNvSpPr/>
              <p:nvPr/>
            </p:nvSpPr>
            <p:spPr>
              <a:xfrm>
                <a:off x="417" y="779"/>
                <a:ext cx="1090" cy="753"/>
              </a:xfrm>
              <a:prstGeom prst="rect">
                <a:avLst/>
              </a:prstGeom>
              <a:solidFill>
                <a:srgbClr val="CCFFCC"/>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52" name="Rectangle 60"/>
              <p:cNvSpPr/>
              <p:nvPr/>
            </p:nvSpPr>
            <p:spPr>
              <a:xfrm rot="5400000">
                <a:off x="928" y="1106"/>
                <a:ext cx="717" cy="209"/>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数据库安全</a:t>
                </a:r>
                <a:endParaRPr lang="de-DE" altLang="en-US" sz="2400" dirty="0">
                  <a:latin typeface="Tahoma" panose="020B0604030504040204" pitchFamily="2" charset="0"/>
                  <a:ea typeface="宋体" panose="02010600030101010101" pitchFamily="2" charset="-122"/>
                </a:endParaRPr>
              </a:p>
            </p:txBody>
          </p:sp>
          <p:sp>
            <p:nvSpPr>
              <p:cNvPr id="59453" name="Rectangle 61"/>
              <p:cNvSpPr/>
              <p:nvPr/>
            </p:nvSpPr>
            <p:spPr>
              <a:xfrm rot="5400000">
                <a:off x="1282" y="1400"/>
                <a:ext cx="32" cy="209"/>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54" name="Rectangle 62"/>
              <p:cNvSpPr/>
              <p:nvPr/>
            </p:nvSpPr>
            <p:spPr>
              <a:xfrm rot="5400000">
                <a:off x="756" y="1058"/>
                <a:ext cx="641" cy="209"/>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并发控制</a:t>
                </a:r>
                <a:endParaRPr lang="de-DE" altLang="en-US" sz="2400" dirty="0">
                  <a:latin typeface="Tahoma" panose="020B0604030504040204" pitchFamily="2" charset="0"/>
                  <a:ea typeface="宋体" panose="02010600030101010101" pitchFamily="2" charset="-122"/>
                </a:endParaRPr>
              </a:p>
            </p:txBody>
          </p:sp>
          <p:sp>
            <p:nvSpPr>
              <p:cNvPr id="59455" name="Rectangle 63"/>
              <p:cNvSpPr/>
              <p:nvPr/>
            </p:nvSpPr>
            <p:spPr>
              <a:xfrm rot="5400000">
                <a:off x="1071" y="1266"/>
                <a:ext cx="32" cy="209"/>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56" name="Rectangle 64"/>
              <p:cNvSpPr/>
              <p:nvPr/>
            </p:nvSpPr>
            <p:spPr>
              <a:xfrm rot="5400000">
                <a:off x="532" y="1058"/>
                <a:ext cx="642" cy="209"/>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故障恢复</a:t>
                </a:r>
                <a:endParaRPr lang="de-DE" altLang="en-US" sz="2400" dirty="0">
                  <a:latin typeface="Tahoma" panose="020B0604030504040204" pitchFamily="2" charset="0"/>
                  <a:ea typeface="宋体" panose="02010600030101010101" pitchFamily="2" charset="-122"/>
                </a:endParaRPr>
              </a:p>
            </p:txBody>
          </p:sp>
          <p:sp>
            <p:nvSpPr>
              <p:cNvPr id="59457" name="Rectangle 65"/>
              <p:cNvSpPr/>
              <p:nvPr/>
            </p:nvSpPr>
            <p:spPr>
              <a:xfrm rot="5400000">
                <a:off x="848" y="1266"/>
                <a:ext cx="32" cy="209"/>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58" name="Rectangle 66"/>
              <p:cNvSpPr/>
              <p:nvPr/>
            </p:nvSpPr>
            <p:spPr>
              <a:xfrm rot="5400000">
                <a:off x="287" y="1106"/>
                <a:ext cx="718" cy="209"/>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完整性限制</a:t>
                </a:r>
                <a:endParaRPr lang="de-DE" altLang="en-US" sz="2400" dirty="0">
                  <a:latin typeface="Tahoma" panose="020B0604030504040204" pitchFamily="2" charset="0"/>
                  <a:ea typeface="宋体" panose="02010600030101010101" pitchFamily="2" charset="-122"/>
                </a:endParaRPr>
              </a:p>
            </p:txBody>
          </p:sp>
          <p:sp>
            <p:nvSpPr>
              <p:cNvPr id="59459" name="未知"/>
              <p:cNvSpPr/>
              <p:nvPr/>
            </p:nvSpPr>
            <p:spPr>
              <a:xfrm>
                <a:off x="538" y="565"/>
                <a:ext cx="848" cy="214"/>
              </a:xfrm>
              <a:custGeom>
                <a:avLst/>
                <a:gdLst/>
                <a:ahLst/>
                <a:cxnLst>
                  <a:cxn ang="0">
                    <a:pos x="551" y="178"/>
                  </a:cxn>
                  <a:cxn ang="0">
                    <a:pos x="551" y="171"/>
                  </a:cxn>
                  <a:cxn ang="0">
                    <a:pos x="551" y="164"/>
                  </a:cxn>
                  <a:cxn ang="0">
                    <a:pos x="546" y="149"/>
                  </a:cxn>
                  <a:cxn ang="0">
                    <a:pos x="543" y="130"/>
                  </a:cxn>
                  <a:cxn ang="0">
                    <a:pos x="541" y="121"/>
                  </a:cxn>
                  <a:cxn ang="0">
                    <a:pos x="540" y="113"/>
                  </a:cxn>
                  <a:cxn ang="0">
                    <a:pos x="536" y="107"/>
                  </a:cxn>
                  <a:cxn ang="0">
                    <a:pos x="532" y="105"/>
                  </a:cxn>
                  <a:cxn ang="0">
                    <a:pos x="527" y="102"/>
                  </a:cxn>
                  <a:cxn ang="0">
                    <a:pos x="523" y="99"/>
                  </a:cxn>
                  <a:cxn ang="0">
                    <a:pos x="521" y="98"/>
                  </a:cxn>
                  <a:cxn ang="0">
                    <a:pos x="514" y="96"/>
                  </a:cxn>
                  <a:cxn ang="0">
                    <a:pos x="510" y="95"/>
                  </a:cxn>
                  <a:cxn ang="0">
                    <a:pos x="506" y="95"/>
                  </a:cxn>
                  <a:cxn ang="0">
                    <a:pos x="321" y="95"/>
                  </a:cxn>
                  <a:cxn ang="0">
                    <a:pos x="317" y="95"/>
                  </a:cxn>
                  <a:cxn ang="0">
                    <a:pos x="313" y="93"/>
                  </a:cxn>
                  <a:cxn ang="0">
                    <a:pos x="308" y="90"/>
                  </a:cxn>
                  <a:cxn ang="0">
                    <a:pos x="304" y="87"/>
                  </a:cxn>
                  <a:cxn ang="0">
                    <a:pos x="301" y="81"/>
                  </a:cxn>
                  <a:cxn ang="0">
                    <a:pos x="296" y="76"/>
                  </a:cxn>
                  <a:cxn ang="0">
                    <a:pos x="293" y="70"/>
                  </a:cxn>
                  <a:cxn ang="0">
                    <a:pos x="287" y="65"/>
                  </a:cxn>
                  <a:cxn ang="0">
                    <a:pos x="287" y="56"/>
                  </a:cxn>
                  <a:cxn ang="0">
                    <a:pos x="284" y="48"/>
                  </a:cxn>
                  <a:cxn ang="0">
                    <a:pos x="279" y="36"/>
                  </a:cxn>
                  <a:cxn ang="0">
                    <a:pos x="277" y="33"/>
                  </a:cxn>
                  <a:cxn ang="0">
                    <a:pos x="277" y="22"/>
                  </a:cxn>
                  <a:cxn ang="0">
                    <a:pos x="277" y="11"/>
                  </a:cxn>
                  <a:cxn ang="0">
                    <a:pos x="277" y="0"/>
                  </a:cxn>
                  <a:cxn ang="0">
                    <a:pos x="277" y="11"/>
                  </a:cxn>
                  <a:cxn ang="0">
                    <a:pos x="276" y="22"/>
                  </a:cxn>
                  <a:cxn ang="0">
                    <a:pos x="273" y="36"/>
                  </a:cxn>
                  <a:cxn ang="0">
                    <a:pos x="267" y="48"/>
                  </a:cxn>
                  <a:cxn ang="0">
                    <a:pos x="266" y="56"/>
                  </a:cxn>
                  <a:cxn ang="0">
                    <a:pos x="263" y="65"/>
                  </a:cxn>
                  <a:cxn ang="0">
                    <a:pos x="258" y="70"/>
                  </a:cxn>
                  <a:cxn ang="0">
                    <a:pos x="256" y="76"/>
                  </a:cxn>
                  <a:cxn ang="0">
                    <a:pos x="252" y="81"/>
                  </a:cxn>
                  <a:cxn ang="0">
                    <a:pos x="249" y="87"/>
                  </a:cxn>
                  <a:cxn ang="0">
                    <a:pos x="243" y="90"/>
                  </a:cxn>
                  <a:cxn ang="0">
                    <a:pos x="240" y="93"/>
                  </a:cxn>
                  <a:cxn ang="0">
                    <a:pos x="234" y="95"/>
                  </a:cxn>
                  <a:cxn ang="0">
                    <a:pos x="231" y="95"/>
                  </a:cxn>
                  <a:cxn ang="0">
                    <a:pos x="48" y="95"/>
                  </a:cxn>
                  <a:cxn ang="0">
                    <a:pos x="41" y="95"/>
                  </a:cxn>
                  <a:cxn ang="0">
                    <a:pos x="37" y="96"/>
                  </a:cxn>
                  <a:cxn ang="0">
                    <a:pos x="34" y="98"/>
                  </a:cxn>
                  <a:cxn ang="0">
                    <a:pos x="30" y="99"/>
                  </a:cxn>
                  <a:cxn ang="0">
                    <a:pos x="26" y="102"/>
                  </a:cxn>
                  <a:cxn ang="0">
                    <a:pos x="21" y="105"/>
                  </a:cxn>
                  <a:cxn ang="0">
                    <a:pos x="15" y="107"/>
                  </a:cxn>
                  <a:cxn ang="0">
                    <a:pos x="14" y="113"/>
                  </a:cxn>
                  <a:cxn ang="0">
                    <a:pos x="14" y="121"/>
                  </a:cxn>
                  <a:cxn ang="0">
                    <a:pos x="14" y="130"/>
                  </a:cxn>
                  <a:cxn ang="0">
                    <a:pos x="6" y="149"/>
                  </a:cxn>
                  <a:cxn ang="0">
                    <a:pos x="3" y="156"/>
                  </a:cxn>
                  <a:cxn ang="0">
                    <a:pos x="3" y="164"/>
                  </a:cxn>
                  <a:cxn ang="0">
                    <a:pos x="0" y="171"/>
                  </a:cxn>
                  <a:cxn ang="0">
                    <a:pos x="0" y="178"/>
                  </a:cxn>
                </a:cxnLst>
                <a:rect l="0" t="0" r="0" b="0"/>
                <a:pathLst>
                  <a:path w="879" h="217">
                    <a:moveTo>
                      <a:pt x="879" y="217"/>
                    </a:moveTo>
                    <a:lnTo>
                      <a:pt x="879" y="206"/>
                    </a:lnTo>
                    <a:lnTo>
                      <a:pt x="879" y="195"/>
                    </a:lnTo>
                    <a:lnTo>
                      <a:pt x="873" y="175"/>
                    </a:lnTo>
                    <a:lnTo>
                      <a:pt x="868" y="156"/>
                    </a:lnTo>
                    <a:lnTo>
                      <a:pt x="862" y="147"/>
                    </a:lnTo>
                    <a:lnTo>
                      <a:pt x="859" y="139"/>
                    </a:lnTo>
                    <a:lnTo>
                      <a:pt x="854" y="133"/>
                    </a:lnTo>
                    <a:lnTo>
                      <a:pt x="848" y="128"/>
                    </a:lnTo>
                    <a:lnTo>
                      <a:pt x="842" y="122"/>
                    </a:lnTo>
                    <a:lnTo>
                      <a:pt x="834" y="117"/>
                    </a:lnTo>
                    <a:lnTo>
                      <a:pt x="829" y="114"/>
                    </a:lnTo>
                    <a:lnTo>
                      <a:pt x="820" y="111"/>
                    </a:lnTo>
                    <a:lnTo>
                      <a:pt x="815" y="108"/>
                    </a:lnTo>
                    <a:lnTo>
                      <a:pt x="806" y="108"/>
                    </a:lnTo>
                    <a:lnTo>
                      <a:pt x="513" y="108"/>
                    </a:lnTo>
                    <a:lnTo>
                      <a:pt x="505" y="108"/>
                    </a:lnTo>
                    <a:lnTo>
                      <a:pt x="499" y="106"/>
                    </a:lnTo>
                    <a:lnTo>
                      <a:pt x="491" y="103"/>
                    </a:lnTo>
                    <a:lnTo>
                      <a:pt x="485" y="100"/>
                    </a:lnTo>
                    <a:lnTo>
                      <a:pt x="480" y="94"/>
                    </a:lnTo>
                    <a:lnTo>
                      <a:pt x="472" y="89"/>
                    </a:lnTo>
                    <a:lnTo>
                      <a:pt x="466" y="83"/>
                    </a:lnTo>
                    <a:lnTo>
                      <a:pt x="460" y="78"/>
                    </a:lnTo>
                    <a:lnTo>
                      <a:pt x="458" y="69"/>
                    </a:lnTo>
                    <a:lnTo>
                      <a:pt x="452" y="61"/>
                    </a:lnTo>
                    <a:lnTo>
                      <a:pt x="446" y="41"/>
                    </a:lnTo>
                    <a:lnTo>
                      <a:pt x="444" y="33"/>
                    </a:lnTo>
                    <a:lnTo>
                      <a:pt x="441" y="22"/>
                    </a:lnTo>
                    <a:lnTo>
                      <a:pt x="441" y="11"/>
                    </a:lnTo>
                    <a:lnTo>
                      <a:pt x="441" y="0"/>
                    </a:lnTo>
                    <a:lnTo>
                      <a:pt x="441" y="11"/>
                    </a:lnTo>
                    <a:lnTo>
                      <a:pt x="438" y="22"/>
                    </a:lnTo>
                    <a:lnTo>
                      <a:pt x="435" y="41"/>
                    </a:lnTo>
                    <a:lnTo>
                      <a:pt x="427" y="61"/>
                    </a:lnTo>
                    <a:lnTo>
                      <a:pt x="424" y="69"/>
                    </a:lnTo>
                    <a:lnTo>
                      <a:pt x="419" y="78"/>
                    </a:lnTo>
                    <a:lnTo>
                      <a:pt x="413" y="83"/>
                    </a:lnTo>
                    <a:lnTo>
                      <a:pt x="407" y="89"/>
                    </a:lnTo>
                    <a:lnTo>
                      <a:pt x="402" y="94"/>
                    </a:lnTo>
                    <a:lnTo>
                      <a:pt x="396" y="100"/>
                    </a:lnTo>
                    <a:lnTo>
                      <a:pt x="388" y="103"/>
                    </a:lnTo>
                    <a:lnTo>
                      <a:pt x="382" y="106"/>
                    </a:lnTo>
                    <a:lnTo>
                      <a:pt x="374" y="108"/>
                    </a:lnTo>
                    <a:lnTo>
                      <a:pt x="368" y="108"/>
                    </a:lnTo>
                    <a:lnTo>
                      <a:pt x="76" y="108"/>
                    </a:lnTo>
                    <a:lnTo>
                      <a:pt x="67" y="108"/>
                    </a:lnTo>
                    <a:lnTo>
                      <a:pt x="59" y="111"/>
                    </a:lnTo>
                    <a:lnTo>
                      <a:pt x="53" y="114"/>
                    </a:lnTo>
                    <a:lnTo>
                      <a:pt x="45" y="117"/>
                    </a:lnTo>
                    <a:lnTo>
                      <a:pt x="39" y="122"/>
                    </a:lnTo>
                    <a:lnTo>
                      <a:pt x="34" y="128"/>
                    </a:lnTo>
                    <a:lnTo>
                      <a:pt x="28" y="133"/>
                    </a:lnTo>
                    <a:lnTo>
                      <a:pt x="23" y="139"/>
                    </a:lnTo>
                    <a:lnTo>
                      <a:pt x="17" y="147"/>
                    </a:lnTo>
                    <a:lnTo>
                      <a:pt x="14" y="156"/>
                    </a:lnTo>
                    <a:lnTo>
                      <a:pt x="6" y="175"/>
                    </a:lnTo>
                    <a:lnTo>
                      <a:pt x="3" y="184"/>
                    </a:lnTo>
                    <a:lnTo>
                      <a:pt x="3" y="195"/>
                    </a:lnTo>
                    <a:lnTo>
                      <a:pt x="0" y="206"/>
                    </a:lnTo>
                    <a:lnTo>
                      <a:pt x="0" y="217"/>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59460" name="Line 68"/>
              <p:cNvSpPr/>
              <p:nvPr/>
            </p:nvSpPr>
            <p:spPr>
              <a:xfrm>
                <a:off x="197" y="197"/>
                <a:ext cx="2795" cy="6"/>
              </a:xfrm>
              <a:prstGeom prst="line">
                <a:avLst/>
              </a:prstGeom>
              <a:ln w="38100" cap="flat" cmpd="sng">
                <a:solidFill>
                  <a:srgbClr val="FF0000"/>
                </a:solidFill>
                <a:prstDash val="dash"/>
                <a:round/>
                <a:headEnd type="none" w="med" len="med"/>
                <a:tailEnd type="none" w="med" len="med"/>
              </a:ln>
            </p:spPr>
          </p:sp>
          <p:sp>
            <p:nvSpPr>
              <p:cNvPr id="59461" name="Line 69"/>
              <p:cNvSpPr/>
              <p:nvPr/>
            </p:nvSpPr>
            <p:spPr>
              <a:xfrm flipV="1">
                <a:off x="2165" y="581"/>
                <a:ext cx="0" cy="288"/>
              </a:xfrm>
              <a:prstGeom prst="line">
                <a:avLst/>
              </a:prstGeom>
              <a:ln w="25400" cap="flat" cmpd="sng">
                <a:solidFill>
                  <a:srgbClr val="000000"/>
                </a:solidFill>
                <a:prstDash val="solid"/>
                <a:round/>
                <a:headEnd type="triangle" w="med" len="med"/>
                <a:tailEnd type="triangle" w="med" len="med"/>
              </a:ln>
            </p:spPr>
          </p:sp>
        </p:grpSp>
        <p:grpSp>
          <p:nvGrpSpPr>
            <p:cNvPr id="59462" name="Group 70"/>
            <p:cNvGrpSpPr/>
            <p:nvPr/>
          </p:nvGrpSpPr>
          <p:grpSpPr>
            <a:xfrm>
              <a:off x="231775" y="0"/>
              <a:ext cx="4322763" cy="3352800"/>
              <a:chOff x="0" y="0"/>
              <a:chExt cx="2723" cy="2112"/>
            </a:xfrm>
          </p:grpSpPr>
          <p:sp>
            <p:nvSpPr>
              <p:cNvPr id="59463" name="Rectangle 71"/>
              <p:cNvSpPr/>
              <p:nvPr/>
            </p:nvSpPr>
            <p:spPr>
              <a:xfrm>
                <a:off x="2136" y="875"/>
                <a:ext cx="507"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CGI/ISAPI</a:t>
                </a:r>
                <a:endParaRPr lang="de-DE" altLang="en-US" sz="2400" dirty="0">
                  <a:latin typeface="Tahoma" panose="020B0604030504040204" pitchFamily="2" charset="0"/>
                  <a:ea typeface="宋体" panose="02010600030101010101" pitchFamily="2" charset="-122"/>
                </a:endParaRPr>
              </a:p>
            </p:txBody>
          </p:sp>
          <p:sp>
            <p:nvSpPr>
              <p:cNvPr id="59464" name="Rectangle 72"/>
              <p:cNvSpPr/>
              <p:nvPr/>
            </p:nvSpPr>
            <p:spPr>
              <a:xfrm>
                <a:off x="2589" y="923"/>
                <a:ext cx="26" cy="184"/>
              </a:xfrm>
              <a:prstGeom prst="rect">
                <a:avLst/>
              </a:prstGeom>
              <a:noFill/>
              <a:ln w="9525">
                <a:noFill/>
              </a:ln>
            </p:spPr>
            <p:txBody>
              <a:bodyPr wrap="square" lIns="0" tIns="0" rIns="0" bIns="0" anchor="t">
                <a:spAutoFit/>
              </a:bodyPr>
              <a:lstStyle/>
              <a:p>
                <a:pPr lvl="0" indent="0"/>
                <a:r>
                  <a:rPr lang="de-DE" altLang="en-US" sz="13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65" name="Rectangle 73"/>
              <p:cNvSpPr/>
              <p:nvPr/>
            </p:nvSpPr>
            <p:spPr>
              <a:xfrm>
                <a:off x="634" y="1496"/>
                <a:ext cx="1939" cy="322"/>
              </a:xfrm>
              <a:prstGeom prst="rect">
                <a:avLst/>
              </a:prstGeom>
              <a:solidFill>
                <a:srgbClr val="FFCC99"/>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66" name="Rectangle 74"/>
              <p:cNvSpPr/>
              <p:nvPr/>
            </p:nvSpPr>
            <p:spPr>
              <a:xfrm>
                <a:off x="634" y="1496"/>
                <a:ext cx="1939" cy="322"/>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67" name="Rectangle 75"/>
              <p:cNvSpPr/>
              <p:nvPr/>
            </p:nvSpPr>
            <p:spPr>
              <a:xfrm>
                <a:off x="1013" y="1592"/>
                <a:ext cx="745"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ODBC/JDBC</a:t>
                </a:r>
                <a:endParaRPr lang="de-DE" altLang="en-US" sz="2400" dirty="0">
                  <a:latin typeface="Tahoma" panose="020B0604030504040204" pitchFamily="2" charset="0"/>
                  <a:ea typeface="宋体" panose="02010600030101010101" pitchFamily="2" charset="-122"/>
                </a:endParaRPr>
              </a:p>
            </p:txBody>
          </p:sp>
          <p:sp>
            <p:nvSpPr>
              <p:cNvPr id="59468" name="Rectangle 76"/>
              <p:cNvSpPr/>
              <p:nvPr/>
            </p:nvSpPr>
            <p:spPr>
              <a:xfrm>
                <a:off x="1779" y="1584"/>
                <a:ext cx="520"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/OLE DB</a:t>
                </a:r>
                <a:endParaRPr lang="de-DE" altLang="en-US" sz="2400" dirty="0">
                  <a:latin typeface="Tahoma" panose="020B0604030504040204" pitchFamily="2" charset="0"/>
                  <a:ea typeface="宋体" panose="02010600030101010101" pitchFamily="2" charset="-122"/>
                </a:endParaRPr>
              </a:p>
            </p:txBody>
          </p:sp>
          <p:sp>
            <p:nvSpPr>
              <p:cNvPr id="59469" name="Rectangle 77"/>
              <p:cNvSpPr/>
              <p:nvPr/>
            </p:nvSpPr>
            <p:spPr>
              <a:xfrm>
                <a:off x="2199" y="1592"/>
                <a:ext cx="31"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70" name="Rectangle 78"/>
              <p:cNvSpPr/>
              <p:nvPr/>
            </p:nvSpPr>
            <p:spPr>
              <a:xfrm>
                <a:off x="915" y="1296"/>
                <a:ext cx="858" cy="184"/>
              </a:xfrm>
              <a:prstGeom prst="rect">
                <a:avLst/>
              </a:prstGeom>
              <a:noFill/>
              <a:ln w="9525">
                <a:noFill/>
              </a:ln>
            </p:spPr>
            <p:txBody>
              <a:bodyPr wrap="square" lIns="0" tIns="0" rIns="0" bIns="0" anchor="t">
                <a:spAutoFit/>
              </a:bodyPr>
              <a:lstStyle/>
              <a:p>
                <a:pPr lvl="0">
                  <a:buNone/>
                </a:pPr>
                <a:r>
                  <a:rPr lang="de-DE" altLang="en-US" sz="1300" dirty="0">
                    <a:solidFill>
                      <a:srgbClr val="000000"/>
                    </a:solidFill>
                    <a:latin typeface="Times New Roman" panose="02020603050405020304" pitchFamily="2" charset="0"/>
                    <a:ea typeface="宋体" panose="02010600030101010101" pitchFamily="2" charset="-122"/>
                  </a:rPr>
                  <a:t>SQL </a:t>
                </a:r>
                <a:r>
                  <a:rPr lang="de-DE" altLang="en-US" sz="1300" dirty="0">
                    <a:solidFill>
                      <a:srgbClr val="000000"/>
                    </a:solidFill>
                    <a:latin typeface="宋体" panose="02010600030101010101" pitchFamily="2" charset="-122"/>
                    <a:ea typeface="宋体" panose="02010600030101010101" pitchFamily="2" charset="-122"/>
                  </a:rPr>
                  <a:t>的嵌入式使用</a:t>
                </a:r>
                <a:endParaRPr lang="de-DE" altLang="en-US" sz="1300" dirty="0">
                  <a:solidFill>
                    <a:srgbClr val="000000"/>
                  </a:solidFill>
                  <a:latin typeface="宋体" panose="02010600030101010101" pitchFamily="2" charset="-122"/>
                  <a:ea typeface="宋体" panose="02010600030101010101" pitchFamily="2" charset="-122"/>
                </a:endParaRPr>
              </a:p>
            </p:txBody>
          </p:sp>
          <p:sp>
            <p:nvSpPr>
              <p:cNvPr id="59471" name="Rectangle 79"/>
              <p:cNvSpPr/>
              <p:nvPr/>
            </p:nvSpPr>
            <p:spPr>
              <a:xfrm>
                <a:off x="392" y="664"/>
                <a:ext cx="1091" cy="402"/>
              </a:xfrm>
              <a:prstGeom prst="rect">
                <a:avLst/>
              </a:prstGeom>
              <a:solidFill>
                <a:srgbClr val="FFCC99"/>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72" name="Rectangle 80"/>
              <p:cNvSpPr/>
              <p:nvPr/>
            </p:nvSpPr>
            <p:spPr>
              <a:xfrm>
                <a:off x="392" y="664"/>
                <a:ext cx="1091" cy="402"/>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73" name="Rectangle 81"/>
              <p:cNvSpPr/>
              <p:nvPr/>
            </p:nvSpPr>
            <p:spPr>
              <a:xfrm>
                <a:off x="400" y="705"/>
                <a:ext cx="370" cy="167"/>
              </a:xfrm>
              <a:prstGeom prst="rect">
                <a:avLst/>
              </a:prstGeom>
              <a:noFill/>
              <a:ln w="9525">
                <a:noFill/>
              </a:ln>
            </p:spPr>
            <p:txBody>
              <a:bodyPr wrap="square" lIns="0" tIns="0" rIns="0" bIns="0" anchor="t">
                <a:spAutoFit/>
              </a:bodyPr>
              <a:lstStyle/>
              <a:p>
                <a:pPr lvl="0" indent="0">
                  <a:lnSpc>
                    <a:spcPct val="100000"/>
                  </a:lnSpc>
                  <a:buNone/>
                </a:pPr>
                <a:r>
                  <a:rPr lang="de-DE" altLang="en-US" sz="1600" dirty="0">
                    <a:solidFill>
                      <a:srgbClr val="000000"/>
                    </a:solidFill>
                    <a:latin typeface="Times New Roman" panose="02020603050405020304" pitchFamily="2" charset="0"/>
                    <a:ea typeface="宋体" panose="02010600030101010101" pitchFamily="2" charset="-122"/>
                  </a:rPr>
                  <a:t>C/C++</a:t>
                </a:r>
                <a:endParaRPr lang="de-DE" altLang="en-US" sz="2400" dirty="0">
                  <a:latin typeface="Tahoma" panose="020B0604030504040204" pitchFamily="2" charset="0"/>
                  <a:ea typeface="宋体" panose="02010600030101010101" pitchFamily="2" charset="-122"/>
                </a:endParaRPr>
              </a:p>
            </p:txBody>
          </p:sp>
          <p:sp>
            <p:nvSpPr>
              <p:cNvPr id="59474" name="Rectangle 82"/>
              <p:cNvSpPr/>
              <p:nvPr/>
            </p:nvSpPr>
            <p:spPr>
              <a:xfrm>
                <a:off x="747" y="697"/>
                <a:ext cx="129" cy="226"/>
              </a:xfrm>
              <a:prstGeom prst="rect">
                <a:avLst/>
              </a:prstGeom>
              <a:noFill/>
              <a:ln w="9525">
                <a:noFill/>
              </a:ln>
            </p:spPr>
            <p:txBody>
              <a:bodyPr wrap="square" lIns="0" tIns="0" rIns="0" bIns="0" anchor="t">
                <a:spAutoFit/>
              </a:bodyPr>
              <a:lstStyle/>
              <a:p>
                <a:pPr lvl="0">
                  <a:buNone/>
                </a:pPr>
                <a:r>
                  <a:rPr lang="de-DE" altLang="en-US" sz="1600" dirty="0">
                    <a:solidFill>
                      <a:srgbClr val="000000"/>
                    </a:solidFill>
                    <a:latin typeface="宋体" panose="02010600030101010101" pitchFamily="2" charset="-122"/>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59475" name="Rectangle 83"/>
              <p:cNvSpPr/>
              <p:nvPr/>
            </p:nvSpPr>
            <p:spPr>
              <a:xfrm>
                <a:off x="836" y="705"/>
                <a:ext cx="165" cy="167"/>
              </a:xfrm>
              <a:prstGeom prst="rect">
                <a:avLst/>
              </a:prstGeom>
              <a:noFill/>
              <a:ln w="9525">
                <a:noFill/>
              </a:ln>
            </p:spPr>
            <p:txBody>
              <a:bodyPr wrap="square" lIns="0" tIns="0" rIns="0" bIns="0" anchor="t">
                <a:spAutoFit/>
              </a:bodyPr>
              <a:lstStyle/>
              <a:p>
                <a:pPr lvl="0" indent="0">
                  <a:lnSpc>
                    <a:spcPct val="100000"/>
                  </a:lnSpc>
                  <a:buNone/>
                </a:pPr>
                <a:r>
                  <a:rPr lang="de-DE" altLang="en-US" sz="1600" dirty="0">
                    <a:solidFill>
                      <a:srgbClr val="000000"/>
                    </a:solidFill>
                    <a:latin typeface="Times New Roman" panose="02020603050405020304" pitchFamily="2" charset="0"/>
                    <a:ea typeface="宋体" panose="02010600030101010101" pitchFamily="2" charset="-122"/>
                  </a:rPr>
                  <a:t>PB</a:t>
                </a:r>
                <a:endParaRPr lang="de-DE" altLang="en-US" sz="2400" dirty="0">
                  <a:latin typeface="Tahoma" panose="020B0604030504040204" pitchFamily="2" charset="0"/>
                  <a:ea typeface="宋体" panose="02010600030101010101" pitchFamily="2" charset="-122"/>
                </a:endParaRPr>
              </a:p>
            </p:txBody>
          </p:sp>
          <p:sp>
            <p:nvSpPr>
              <p:cNvPr id="59476" name="Rectangle 84"/>
              <p:cNvSpPr/>
              <p:nvPr/>
            </p:nvSpPr>
            <p:spPr>
              <a:xfrm>
                <a:off x="989" y="697"/>
                <a:ext cx="129" cy="167"/>
              </a:xfrm>
              <a:prstGeom prst="rect">
                <a:avLst/>
              </a:prstGeom>
              <a:noFill/>
              <a:ln w="9525">
                <a:noFill/>
              </a:ln>
            </p:spPr>
            <p:txBody>
              <a:bodyPr wrap="square" lIns="0" tIns="0" rIns="0" bIns="0" anchor="t">
                <a:spAutoFit/>
              </a:bodyPr>
              <a:lstStyle/>
              <a:p>
                <a:pPr lvl="0">
                  <a:lnSpc>
                    <a:spcPct val="100000"/>
                  </a:lnSpc>
                  <a:buNone/>
                </a:pPr>
                <a:r>
                  <a:rPr lang="de-DE" altLang="en-US" sz="1600" dirty="0">
                    <a:solidFill>
                      <a:srgbClr val="000000"/>
                    </a:solidFill>
                    <a:latin typeface="宋体" panose="02010600030101010101" pitchFamily="2" charset="-122"/>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59477" name="Rectangle 85"/>
              <p:cNvSpPr/>
              <p:nvPr/>
            </p:nvSpPr>
            <p:spPr>
              <a:xfrm>
                <a:off x="1078" y="705"/>
                <a:ext cx="367" cy="167"/>
              </a:xfrm>
              <a:prstGeom prst="rect">
                <a:avLst/>
              </a:prstGeom>
              <a:noFill/>
              <a:ln w="9525">
                <a:noFill/>
              </a:ln>
            </p:spPr>
            <p:txBody>
              <a:bodyPr wrap="square" lIns="0" tIns="0" rIns="0" bIns="0" anchor="t">
                <a:spAutoFit/>
              </a:bodyPr>
              <a:lstStyle/>
              <a:p>
                <a:pPr lvl="0" indent="0">
                  <a:lnSpc>
                    <a:spcPct val="100000"/>
                  </a:lnSpc>
                  <a:buNone/>
                </a:pPr>
                <a:r>
                  <a:rPr lang="de-DE" altLang="en-US" sz="1600" dirty="0">
                    <a:solidFill>
                      <a:srgbClr val="000000"/>
                    </a:solidFill>
                    <a:latin typeface="Times New Roman" panose="02020603050405020304" pitchFamily="2" charset="0"/>
                    <a:ea typeface="宋体" panose="02010600030101010101" pitchFamily="2" charset="-122"/>
                  </a:rPr>
                  <a:t>Delphi</a:t>
                </a:r>
                <a:endParaRPr lang="de-DE" altLang="en-US" sz="2400" dirty="0">
                  <a:latin typeface="Tahoma" panose="020B0604030504040204" pitchFamily="2" charset="0"/>
                  <a:ea typeface="宋体" panose="02010600030101010101" pitchFamily="2" charset="-122"/>
                </a:endParaRPr>
              </a:p>
            </p:txBody>
          </p:sp>
          <p:sp>
            <p:nvSpPr>
              <p:cNvPr id="59478" name="Rectangle 86"/>
              <p:cNvSpPr/>
              <p:nvPr/>
            </p:nvSpPr>
            <p:spPr>
              <a:xfrm>
                <a:off x="1418" y="697"/>
                <a:ext cx="129"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宋体" panose="02010600030101010101" pitchFamily="2" charset="-122"/>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59479" name="Rectangle 87"/>
              <p:cNvSpPr/>
              <p:nvPr/>
            </p:nvSpPr>
            <p:spPr>
              <a:xfrm>
                <a:off x="559" y="890"/>
                <a:ext cx="194" cy="167"/>
              </a:xfrm>
              <a:prstGeom prst="rect">
                <a:avLst/>
              </a:prstGeom>
              <a:noFill/>
              <a:ln w="9525">
                <a:noFill/>
              </a:ln>
            </p:spPr>
            <p:txBody>
              <a:bodyPr wrap="square" lIns="0" tIns="0" rIns="0" bIns="0" anchor="t">
                <a:spAutoFit/>
              </a:bodyPr>
              <a:lstStyle/>
              <a:p>
                <a:pPr lvl="0" indent="0">
                  <a:lnSpc>
                    <a:spcPct val="100000"/>
                  </a:lnSpc>
                  <a:buNone/>
                </a:pPr>
                <a:r>
                  <a:rPr lang="de-DE" altLang="en-US" sz="1600" dirty="0">
                    <a:solidFill>
                      <a:srgbClr val="000000"/>
                    </a:solidFill>
                    <a:latin typeface="Times New Roman" panose="02020603050405020304" pitchFamily="2" charset="0"/>
                    <a:ea typeface="宋体" panose="02010600030101010101" pitchFamily="2" charset="-122"/>
                  </a:rPr>
                  <a:t>Jav</a:t>
                </a:r>
                <a:endParaRPr lang="de-DE" altLang="en-US" sz="2400" dirty="0">
                  <a:latin typeface="Tahoma" panose="020B0604030504040204" pitchFamily="2" charset="0"/>
                  <a:ea typeface="宋体" panose="02010600030101010101" pitchFamily="2" charset="-122"/>
                </a:endParaRPr>
              </a:p>
            </p:txBody>
          </p:sp>
          <p:sp>
            <p:nvSpPr>
              <p:cNvPr id="59480" name="Rectangle 88"/>
              <p:cNvSpPr/>
              <p:nvPr/>
            </p:nvSpPr>
            <p:spPr>
              <a:xfrm>
                <a:off x="742" y="878"/>
                <a:ext cx="64" cy="167"/>
              </a:xfrm>
              <a:prstGeom prst="rect">
                <a:avLst/>
              </a:prstGeom>
              <a:noFill/>
              <a:ln w="9525">
                <a:noFill/>
              </a:ln>
            </p:spPr>
            <p:txBody>
              <a:bodyPr wrap="square" lIns="0" tIns="0" rIns="0" bIns="0" anchor="t">
                <a:spAutoFit/>
              </a:bodyPr>
              <a:lstStyle/>
              <a:p>
                <a:pPr lvl="0">
                  <a:lnSpc>
                    <a:spcPct val="100000"/>
                  </a:lnSpc>
                  <a:buNone/>
                </a:pPr>
                <a:r>
                  <a:rPr lang="de-DE" altLang="en-US" sz="1600" dirty="0">
                    <a:solidFill>
                      <a:srgbClr val="000000"/>
                    </a:solidFill>
                    <a:latin typeface="Times New Roman" panose="02020603050405020304" pitchFamily="2" charset="0"/>
                    <a:ea typeface="宋体" panose="02010600030101010101" pitchFamily="2" charset="-122"/>
                  </a:rPr>
                  <a:t>a</a:t>
                </a:r>
                <a:endParaRPr lang="de-DE" altLang="en-US" sz="2400" dirty="0">
                  <a:latin typeface="Tahoma" panose="020B0604030504040204" pitchFamily="2" charset="0"/>
                  <a:ea typeface="宋体" panose="02010600030101010101" pitchFamily="2" charset="-122"/>
                </a:endParaRPr>
              </a:p>
            </p:txBody>
          </p:sp>
          <p:sp>
            <p:nvSpPr>
              <p:cNvPr id="59481" name="Rectangle 89"/>
              <p:cNvSpPr/>
              <p:nvPr/>
            </p:nvSpPr>
            <p:spPr>
              <a:xfrm>
                <a:off x="831" y="888"/>
                <a:ext cx="587" cy="167"/>
              </a:xfrm>
              <a:prstGeom prst="rect">
                <a:avLst/>
              </a:prstGeom>
              <a:noFill/>
              <a:ln w="9525">
                <a:noFill/>
              </a:ln>
            </p:spPr>
            <p:txBody>
              <a:bodyPr wrap="square" lIns="0" tIns="0" rIns="0" bIns="0" anchor="t">
                <a:spAutoFit/>
              </a:bodyPr>
              <a:lstStyle/>
              <a:p>
                <a:pPr lvl="0" indent="0">
                  <a:lnSpc>
                    <a:spcPct val="100000"/>
                  </a:lnSpc>
                </a:pPr>
                <a:r>
                  <a:rPr lang="de-DE" altLang="en-US" sz="1600" dirty="0">
                    <a:solidFill>
                      <a:srgbClr val="000000"/>
                    </a:solidFill>
                    <a:latin typeface="宋体" panose="02010600030101010101" pitchFamily="2" charset="-122"/>
                    <a:ea typeface="宋体" panose="02010600030101010101" pitchFamily="2" charset="-122"/>
                  </a:rPr>
                  <a:t>应用程序</a:t>
                </a:r>
                <a:endParaRPr lang="de-DE" altLang="en-US" sz="2400" dirty="0">
                  <a:latin typeface="Tahoma" panose="020B0604030504040204" pitchFamily="2" charset="0"/>
                  <a:ea typeface="宋体" panose="02010600030101010101" pitchFamily="2" charset="-122"/>
                </a:endParaRPr>
              </a:p>
            </p:txBody>
          </p:sp>
          <p:sp>
            <p:nvSpPr>
              <p:cNvPr id="59482" name="Rectangle 90"/>
              <p:cNvSpPr/>
              <p:nvPr/>
            </p:nvSpPr>
            <p:spPr>
              <a:xfrm>
                <a:off x="1320" y="920"/>
                <a:ext cx="32"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83" name="Rectangle 91"/>
              <p:cNvSpPr/>
              <p:nvPr/>
            </p:nvSpPr>
            <p:spPr>
              <a:xfrm>
                <a:off x="756" y="0"/>
                <a:ext cx="1093" cy="215"/>
              </a:xfrm>
              <a:prstGeom prst="rect">
                <a:avLst/>
              </a:prstGeom>
              <a:solidFill>
                <a:srgbClr val="FFFF00"/>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84" name="Rectangle 92"/>
              <p:cNvSpPr/>
              <p:nvPr/>
            </p:nvSpPr>
            <p:spPr>
              <a:xfrm>
                <a:off x="876" y="25"/>
                <a:ext cx="912"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数据库应用部分</a:t>
                </a:r>
                <a:endParaRPr lang="de-DE" altLang="en-US" sz="2400" dirty="0">
                  <a:latin typeface="Tahoma" panose="020B0604030504040204" pitchFamily="2" charset="0"/>
                  <a:ea typeface="宋体" panose="02010600030101010101" pitchFamily="2" charset="-122"/>
                </a:endParaRPr>
              </a:p>
            </p:txBody>
          </p:sp>
          <p:sp>
            <p:nvSpPr>
              <p:cNvPr id="59486" name="Rectangle 94"/>
              <p:cNvSpPr/>
              <p:nvPr/>
            </p:nvSpPr>
            <p:spPr>
              <a:xfrm>
                <a:off x="29" y="233"/>
                <a:ext cx="605" cy="323"/>
              </a:xfrm>
              <a:prstGeom prst="rect">
                <a:avLst/>
              </a:prstGeom>
              <a:solidFill>
                <a:srgbClr val="FFCC99"/>
              </a:solidFill>
              <a:ln w="9525" cap="flat" cmpd="sng">
                <a:solidFill>
                  <a:schemeClr val="tx2"/>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487" name="Rectangle 95"/>
              <p:cNvSpPr/>
              <p:nvPr/>
            </p:nvSpPr>
            <p:spPr>
              <a:xfrm>
                <a:off x="211" y="319"/>
                <a:ext cx="261"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用户</a:t>
                </a:r>
                <a:endParaRPr lang="de-DE" altLang="en-US" sz="2400" dirty="0">
                  <a:latin typeface="Tahoma" panose="020B0604030504040204" pitchFamily="2" charset="0"/>
                  <a:ea typeface="宋体" panose="02010600030101010101" pitchFamily="2" charset="-122"/>
                </a:endParaRPr>
              </a:p>
            </p:txBody>
          </p:sp>
          <p:sp>
            <p:nvSpPr>
              <p:cNvPr id="59488" name="Rectangle 96"/>
              <p:cNvSpPr/>
              <p:nvPr/>
            </p:nvSpPr>
            <p:spPr>
              <a:xfrm>
                <a:off x="456" y="327"/>
                <a:ext cx="88" cy="275"/>
              </a:xfrm>
              <a:prstGeom prst="rect">
                <a:avLst/>
              </a:prstGeom>
              <a:noFill/>
              <a:ln w="9525">
                <a:noFill/>
              </a:ln>
            </p:spPr>
            <p:txBody>
              <a:bodyPr wrap="square" lIns="0" tIns="0" rIns="0" bIns="0" anchor="t">
                <a:spAutoFit/>
              </a:bodyPr>
              <a:lstStyle/>
              <a:p>
                <a:pPr lvl="0" indent="0"/>
                <a:endParaRPr lang="de-DE" altLang="en-US" sz="2400" dirty="0">
                  <a:latin typeface="Tahoma" panose="020B0604030504040204" pitchFamily="2" charset="0"/>
                  <a:ea typeface="宋体" panose="02010600030101010101" pitchFamily="2" charset="-122"/>
                </a:endParaRPr>
              </a:p>
            </p:txBody>
          </p:sp>
          <p:sp>
            <p:nvSpPr>
              <p:cNvPr id="59489" name="未知"/>
              <p:cNvSpPr>
                <a:spLocks noEditPoints="1"/>
              </p:cNvSpPr>
              <p:nvPr/>
            </p:nvSpPr>
            <p:spPr>
              <a:xfrm>
                <a:off x="715" y="443"/>
                <a:ext cx="81" cy="221"/>
              </a:xfrm>
              <a:custGeom>
                <a:avLst/>
                <a:gdLst/>
                <a:ahLst/>
                <a:cxnLst>
                  <a:cxn ang="0">
                    <a:pos x="31" y="6"/>
                  </a:cxn>
                  <a:cxn ang="0">
                    <a:pos x="31" y="154"/>
                  </a:cxn>
                  <a:cxn ang="0">
                    <a:pos x="31" y="155"/>
                  </a:cxn>
                  <a:cxn ang="0">
                    <a:pos x="31" y="155"/>
                  </a:cxn>
                  <a:cxn ang="0">
                    <a:pos x="30" y="157"/>
                  </a:cxn>
                  <a:cxn ang="0">
                    <a:pos x="29" y="157"/>
                  </a:cxn>
                  <a:cxn ang="0">
                    <a:pos x="29" y="157"/>
                  </a:cxn>
                  <a:cxn ang="0">
                    <a:pos x="26" y="155"/>
                  </a:cxn>
                  <a:cxn ang="0">
                    <a:pos x="26" y="155"/>
                  </a:cxn>
                  <a:cxn ang="0">
                    <a:pos x="23" y="154"/>
                  </a:cxn>
                  <a:cxn ang="0">
                    <a:pos x="23" y="6"/>
                  </a:cxn>
                  <a:cxn ang="0">
                    <a:pos x="26" y="3"/>
                  </a:cxn>
                  <a:cxn ang="0">
                    <a:pos x="26" y="3"/>
                  </a:cxn>
                  <a:cxn ang="0">
                    <a:pos x="29" y="0"/>
                  </a:cxn>
                  <a:cxn ang="0">
                    <a:pos x="29" y="0"/>
                  </a:cxn>
                  <a:cxn ang="0">
                    <a:pos x="30" y="0"/>
                  </a:cxn>
                  <a:cxn ang="0">
                    <a:pos x="31" y="3"/>
                  </a:cxn>
                  <a:cxn ang="0">
                    <a:pos x="31" y="3"/>
                  </a:cxn>
                  <a:cxn ang="0">
                    <a:pos x="31" y="6"/>
                  </a:cxn>
                  <a:cxn ang="0">
                    <a:pos x="31" y="6"/>
                  </a:cxn>
                  <a:cxn ang="0">
                    <a:pos x="29" y="154"/>
                  </a:cxn>
                  <a:cxn ang="0">
                    <a:pos x="53" y="126"/>
                  </a:cxn>
                  <a:cxn ang="0">
                    <a:pos x="29" y="197"/>
                  </a:cxn>
                  <a:cxn ang="0">
                    <a:pos x="0" y="126"/>
                  </a:cxn>
                  <a:cxn ang="0">
                    <a:pos x="29" y="154"/>
                  </a:cxn>
                </a:cxnLst>
                <a:rect l="0" t="0" r="0" b="0"/>
                <a:pathLst>
                  <a:path w="84" h="223">
                    <a:moveTo>
                      <a:pt x="47" y="6"/>
                    </a:moveTo>
                    <a:lnTo>
                      <a:pt x="47" y="167"/>
                    </a:lnTo>
                    <a:lnTo>
                      <a:pt x="47" y="170"/>
                    </a:lnTo>
                    <a:lnTo>
                      <a:pt x="45" y="173"/>
                    </a:lnTo>
                    <a:lnTo>
                      <a:pt x="42" y="173"/>
                    </a:lnTo>
                    <a:lnTo>
                      <a:pt x="39" y="170"/>
                    </a:lnTo>
                    <a:lnTo>
                      <a:pt x="36" y="167"/>
                    </a:lnTo>
                    <a:lnTo>
                      <a:pt x="36" y="6"/>
                    </a:lnTo>
                    <a:lnTo>
                      <a:pt x="39" y="3"/>
                    </a:lnTo>
                    <a:lnTo>
                      <a:pt x="42" y="0"/>
                    </a:lnTo>
                    <a:lnTo>
                      <a:pt x="45" y="0"/>
                    </a:lnTo>
                    <a:lnTo>
                      <a:pt x="47" y="3"/>
                    </a:lnTo>
                    <a:lnTo>
                      <a:pt x="47" y="6"/>
                    </a:lnTo>
                    <a:close/>
                    <a:moveTo>
                      <a:pt x="42" y="167"/>
                    </a:moveTo>
                    <a:lnTo>
                      <a:pt x="84" y="139"/>
                    </a:lnTo>
                    <a:lnTo>
                      <a:pt x="42" y="223"/>
                    </a:lnTo>
                    <a:lnTo>
                      <a:pt x="0" y="139"/>
                    </a:lnTo>
                    <a:lnTo>
                      <a:pt x="42" y="167"/>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490" name="Line 98"/>
              <p:cNvSpPr/>
              <p:nvPr/>
            </p:nvSpPr>
            <p:spPr>
              <a:xfrm>
                <a:off x="634" y="449"/>
                <a:ext cx="122" cy="1"/>
              </a:xfrm>
              <a:prstGeom prst="line">
                <a:avLst/>
              </a:prstGeom>
              <a:ln w="28575" cap="flat" cmpd="sng">
                <a:solidFill>
                  <a:srgbClr val="000000"/>
                </a:solidFill>
                <a:prstDash val="solid"/>
                <a:round/>
                <a:headEnd type="none" w="med" len="med"/>
                <a:tailEnd type="none" w="med" len="med"/>
              </a:ln>
            </p:spPr>
          </p:sp>
          <p:sp>
            <p:nvSpPr>
              <p:cNvPr id="59491" name="Rectangle 99"/>
              <p:cNvSpPr/>
              <p:nvPr/>
            </p:nvSpPr>
            <p:spPr>
              <a:xfrm>
                <a:off x="3" y="657"/>
                <a:ext cx="210"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SQL</a:t>
                </a:r>
                <a:endParaRPr lang="de-DE" altLang="en-US" sz="2400" dirty="0">
                  <a:latin typeface="Tahoma" panose="020B0604030504040204" pitchFamily="2" charset="0"/>
                  <a:ea typeface="宋体" panose="02010600030101010101" pitchFamily="2" charset="-122"/>
                </a:endParaRPr>
              </a:p>
            </p:txBody>
          </p:sp>
          <p:sp>
            <p:nvSpPr>
              <p:cNvPr id="59492" name="Rectangle 100"/>
              <p:cNvSpPr/>
              <p:nvPr/>
            </p:nvSpPr>
            <p:spPr>
              <a:xfrm>
                <a:off x="3" y="864"/>
                <a:ext cx="105"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的</a:t>
                </a:r>
                <a:endParaRPr lang="de-DE" altLang="en-US" sz="2400" dirty="0">
                  <a:latin typeface="Tahoma" panose="020B0604030504040204" pitchFamily="2" charset="0"/>
                  <a:ea typeface="宋体" panose="02010600030101010101" pitchFamily="2" charset="-122"/>
                </a:endParaRPr>
              </a:p>
            </p:txBody>
          </p:sp>
          <p:sp>
            <p:nvSpPr>
              <p:cNvPr id="59493" name="Rectangle 101"/>
              <p:cNvSpPr/>
              <p:nvPr/>
            </p:nvSpPr>
            <p:spPr>
              <a:xfrm>
                <a:off x="96" y="864"/>
                <a:ext cx="105"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交</a:t>
                </a:r>
                <a:endParaRPr lang="de-DE" altLang="en-US" sz="2400" dirty="0">
                  <a:latin typeface="Tahoma" panose="020B0604030504040204" pitchFamily="2" charset="0"/>
                  <a:ea typeface="宋体" panose="02010600030101010101" pitchFamily="2" charset="-122"/>
                </a:endParaRPr>
              </a:p>
            </p:txBody>
          </p:sp>
          <p:sp>
            <p:nvSpPr>
              <p:cNvPr id="59494" name="Rectangle 102"/>
              <p:cNvSpPr/>
              <p:nvPr/>
            </p:nvSpPr>
            <p:spPr>
              <a:xfrm>
                <a:off x="3" y="1079"/>
                <a:ext cx="210"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互式</a:t>
                </a:r>
                <a:endParaRPr lang="de-DE" altLang="en-US" sz="2400" dirty="0">
                  <a:latin typeface="Tahoma" panose="020B0604030504040204" pitchFamily="2" charset="0"/>
                  <a:ea typeface="宋体" panose="02010600030101010101" pitchFamily="2" charset="-122"/>
                </a:endParaRPr>
              </a:p>
            </p:txBody>
          </p:sp>
          <p:sp>
            <p:nvSpPr>
              <p:cNvPr id="59495" name="Rectangle 103"/>
              <p:cNvSpPr/>
              <p:nvPr/>
            </p:nvSpPr>
            <p:spPr>
              <a:xfrm>
                <a:off x="0" y="1291"/>
                <a:ext cx="210"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使用</a:t>
                </a:r>
                <a:endParaRPr lang="de-DE" altLang="en-US" sz="2400" dirty="0">
                  <a:latin typeface="Tahoma" panose="020B0604030504040204" pitchFamily="2" charset="0"/>
                  <a:ea typeface="宋体" panose="02010600030101010101" pitchFamily="2" charset="-122"/>
                </a:endParaRPr>
              </a:p>
            </p:txBody>
          </p:sp>
          <p:sp>
            <p:nvSpPr>
              <p:cNvPr id="59496" name="Rectangle 104"/>
              <p:cNvSpPr/>
              <p:nvPr/>
            </p:nvSpPr>
            <p:spPr>
              <a:xfrm>
                <a:off x="204" y="1299"/>
                <a:ext cx="25" cy="184"/>
              </a:xfrm>
              <a:prstGeom prst="rect">
                <a:avLst/>
              </a:prstGeom>
              <a:noFill/>
              <a:ln w="9525">
                <a:noFill/>
              </a:ln>
            </p:spPr>
            <p:txBody>
              <a:bodyPr wrap="square" lIns="0" tIns="0" rIns="0" bIns="0" anchor="t">
                <a:spAutoFit/>
              </a:bodyPr>
              <a:lstStyle/>
              <a:p>
                <a:pPr lvl="0" indent="0"/>
                <a:r>
                  <a:rPr lang="de-DE" altLang="en-US" sz="13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497" name="Rectangle 105"/>
              <p:cNvSpPr/>
              <p:nvPr/>
            </p:nvSpPr>
            <p:spPr>
              <a:xfrm>
                <a:off x="1731" y="1872"/>
                <a:ext cx="448" cy="184"/>
              </a:xfrm>
              <a:prstGeom prst="rect">
                <a:avLst/>
              </a:prstGeom>
              <a:noFill/>
              <a:ln w="9525">
                <a:noFill/>
              </a:ln>
            </p:spPr>
            <p:txBody>
              <a:bodyPr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SQL</a:t>
                </a:r>
                <a:r>
                  <a:rPr lang="de-DE" altLang="en-US" sz="1300" dirty="0">
                    <a:solidFill>
                      <a:srgbClr val="000000"/>
                    </a:solidFill>
                    <a:latin typeface="宋体" panose="02010600030101010101" pitchFamily="2" charset="-122"/>
                    <a:ea typeface="宋体" panose="02010600030101010101" pitchFamily="2" charset="-122"/>
                  </a:rPr>
                  <a:t>语句</a:t>
                </a:r>
                <a:r>
                  <a:rPr lang="de-DE" altLang="en-US" sz="1300" dirty="0">
                    <a:solidFill>
                      <a:srgbClr val="000000"/>
                    </a:solidFill>
                    <a:latin typeface="Times New Roman" panose="02020603050405020304" pitchFamily="2" charset="0"/>
                    <a:ea typeface="宋体" panose="02010600030101010101" pitchFamily="2" charset="-122"/>
                  </a:rPr>
                  <a:t> </a:t>
                </a:r>
                <a:endParaRPr lang="de-DE" altLang="en-US" sz="1300" dirty="0">
                  <a:solidFill>
                    <a:srgbClr val="000000"/>
                  </a:solidFill>
                  <a:latin typeface="Times New Roman" panose="02020603050405020304" pitchFamily="2" charset="0"/>
                  <a:ea typeface="宋体" panose="02010600030101010101" pitchFamily="2" charset="-122"/>
                </a:endParaRPr>
              </a:p>
            </p:txBody>
          </p:sp>
          <p:sp>
            <p:nvSpPr>
              <p:cNvPr id="59498" name="Rectangle 106"/>
              <p:cNvSpPr/>
              <p:nvPr/>
            </p:nvSpPr>
            <p:spPr>
              <a:xfrm>
                <a:off x="831" y="500"/>
                <a:ext cx="164"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C/S</a:t>
                </a:r>
                <a:endParaRPr lang="de-DE" altLang="en-US" sz="2400" dirty="0">
                  <a:latin typeface="Tahoma" panose="020B0604030504040204" pitchFamily="2" charset="0"/>
                  <a:ea typeface="宋体" panose="02010600030101010101" pitchFamily="2" charset="-122"/>
                </a:endParaRPr>
              </a:p>
            </p:txBody>
          </p:sp>
          <p:sp>
            <p:nvSpPr>
              <p:cNvPr id="59499" name="Rectangle 107"/>
              <p:cNvSpPr/>
              <p:nvPr/>
            </p:nvSpPr>
            <p:spPr>
              <a:xfrm>
                <a:off x="1009" y="490"/>
                <a:ext cx="210"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模式</a:t>
                </a:r>
                <a:endParaRPr lang="de-DE" altLang="en-US" sz="2400" dirty="0">
                  <a:latin typeface="Tahoma" panose="020B0604030504040204" pitchFamily="2" charset="0"/>
                  <a:ea typeface="宋体" panose="02010600030101010101" pitchFamily="2" charset="-122"/>
                </a:endParaRPr>
              </a:p>
            </p:txBody>
          </p:sp>
          <p:sp>
            <p:nvSpPr>
              <p:cNvPr id="59501" name="Rectangle 109"/>
              <p:cNvSpPr/>
              <p:nvPr/>
            </p:nvSpPr>
            <p:spPr>
              <a:xfrm>
                <a:off x="1868" y="215"/>
                <a:ext cx="605" cy="234"/>
              </a:xfrm>
              <a:prstGeom prst="rect">
                <a:avLst/>
              </a:prstGeom>
              <a:solidFill>
                <a:srgbClr val="FFCC99"/>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502" name="Rectangle 110"/>
              <p:cNvSpPr/>
              <p:nvPr/>
            </p:nvSpPr>
            <p:spPr>
              <a:xfrm>
                <a:off x="1868" y="215"/>
                <a:ext cx="605" cy="234"/>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503" name="Rectangle 111"/>
              <p:cNvSpPr/>
              <p:nvPr/>
            </p:nvSpPr>
            <p:spPr>
              <a:xfrm>
                <a:off x="1986" y="245"/>
                <a:ext cx="391" cy="226"/>
              </a:xfrm>
              <a:prstGeom prst="rect">
                <a:avLst/>
              </a:prstGeom>
              <a:noFill/>
              <a:ln w="9525">
                <a:noFill/>
              </a:ln>
            </p:spPr>
            <p:txBody>
              <a:bodyPr wrap="squar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浏览器</a:t>
                </a:r>
                <a:endParaRPr lang="de-DE" altLang="en-US" sz="2400" dirty="0">
                  <a:latin typeface="Tahoma" panose="020B0604030504040204" pitchFamily="2" charset="0"/>
                  <a:ea typeface="宋体" panose="02010600030101010101" pitchFamily="2" charset="-122"/>
                </a:endParaRPr>
              </a:p>
            </p:txBody>
          </p:sp>
          <p:sp>
            <p:nvSpPr>
              <p:cNvPr id="59504" name="Rectangle 112"/>
              <p:cNvSpPr/>
              <p:nvPr/>
            </p:nvSpPr>
            <p:spPr>
              <a:xfrm>
                <a:off x="2354" y="253"/>
                <a:ext cx="31"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505" name="Rectangle 113"/>
              <p:cNvSpPr/>
              <p:nvPr/>
            </p:nvSpPr>
            <p:spPr>
              <a:xfrm>
                <a:off x="1725" y="664"/>
                <a:ext cx="829" cy="188"/>
              </a:xfrm>
              <a:prstGeom prst="rect">
                <a:avLst/>
              </a:prstGeom>
              <a:solidFill>
                <a:srgbClr val="FFCC99"/>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506" name="Rectangle 114"/>
              <p:cNvSpPr/>
              <p:nvPr/>
            </p:nvSpPr>
            <p:spPr>
              <a:xfrm>
                <a:off x="1725" y="664"/>
                <a:ext cx="829" cy="188"/>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507" name="Rectangle 115"/>
              <p:cNvSpPr/>
              <p:nvPr/>
            </p:nvSpPr>
            <p:spPr>
              <a:xfrm>
                <a:off x="1800" y="705"/>
                <a:ext cx="301" cy="167"/>
              </a:xfrm>
              <a:prstGeom prst="rect">
                <a:avLst/>
              </a:prstGeom>
              <a:noFill/>
              <a:ln w="9525">
                <a:noFill/>
              </a:ln>
            </p:spPr>
            <p:txBody>
              <a:bodyPr wrap="square" lIns="0" tIns="0" rIns="0" bIns="0" anchor="t">
                <a:spAutoFit/>
              </a:bodyPr>
              <a:lstStyle/>
              <a:p>
                <a:pPr lvl="0" indent="0">
                  <a:lnSpc>
                    <a:spcPct val="100000"/>
                  </a:lnSpc>
                  <a:buNone/>
                </a:pPr>
                <a:r>
                  <a:rPr lang="de-DE" altLang="en-US" sz="1600" dirty="0">
                    <a:solidFill>
                      <a:srgbClr val="000000"/>
                    </a:solidFill>
                    <a:latin typeface="Times New Roman" panose="02020603050405020304" pitchFamily="2" charset="0"/>
                    <a:ea typeface="宋体" panose="02010600030101010101" pitchFamily="2" charset="-122"/>
                  </a:rPr>
                  <a:t>WEB</a:t>
                </a:r>
                <a:endParaRPr lang="de-DE" altLang="en-US" sz="2400" dirty="0">
                  <a:latin typeface="Tahoma" panose="020B0604030504040204" pitchFamily="2" charset="0"/>
                  <a:ea typeface="宋体" panose="02010600030101010101" pitchFamily="2" charset="-122"/>
                </a:endParaRPr>
              </a:p>
            </p:txBody>
          </p:sp>
          <p:sp>
            <p:nvSpPr>
              <p:cNvPr id="59508" name="Rectangle 116"/>
              <p:cNvSpPr/>
              <p:nvPr/>
            </p:nvSpPr>
            <p:spPr>
              <a:xfrm>
                <a:off x="2112" y="697"/>
                <a:ext cx="391" cy="167"/>
              </a:xfrm>
              <a:prstGeom prst="rect">
                <a:avLst/>
              </a:prstGeom>
              <a:noFill/>
              <a:ln w="9525">
                <a:noFill/>
              </a:ln>
            </p:spPr>
            <p:txBody>
              <a:bodyPr wrap="square" lIns="0" tIns="0" rIns="0" bIns="0" anchor="t">
                <a:spAutoFit/>
              </a:bodyPr>
              <a:lstStyle/>
              <a:p>
                <a:pPr lvl="0" indent="0">
                  <a:lnSpc>
                    <a:spcPct val="100000"/>
                  </a:lnSpc>
                  <a:buNone/>
                </a:pPr>
                <a:r>
                  <a:rPr lang="de-DE" altLang="en-US" sz="1600" dirty="0">
                    <a:solidFill>
                      <a:srgbClr val="000000"/>
                    </a:solidFill>
                    <a:latin typeface="宋体" panose="02010600030101010101" pitchFamily="2" charset="-122"/>
                    <a:ea typeface="宋体" panose="02010600030101010101" pitchFamily="2" charset="-122"/>
                  </a:rPr>
                  <a:t>服务器</a:t>
                </a:r>
                <a:endParaRPr lang="de-DE" altLang="en-US" sz="2400" dirty="0">
                  <a:latin typeface="Tahoma" panose="020B0604030504040204" pitchFamily="2" charset="0"/>
                  <a:ea typeface="宋体" panose="02010600030101010101" pitchFamily="2" charset="-122"/>
                </a:endParaRPr>
              </a:p>
            </p:txBody>
          </p:sp>
          <p:sp>
            <p:nvSpPr>
              <p:cNvPr id="59509" name="Rectangle 117"/>
              <p:cNvSpPr/>
              <p:nvPr/>
            </p:nvSpPr>
            <p:spPr>
              <a:xfrm>
                <a:off x="2481" y="705"/>
                <a:ext cx="31" cy="226"/>
              </a:xfrm>
              <a:prstGeom prst="rect">
                <a:avLst/>
              </a:prstGeom>
              <a:noFill/>
              <a:ln w="9525">
                <a:noFill/>
              </a:ln>
            </p:spPr>
            <p:txBody>
              <a:bodyPr wrap="squar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510" name="未知"/>
              <p:cNvSpPr>
                <a:spLocks noEditPoints="1"/>
              </p:cNvSpPr>
              <p:nvPr/>
            </p:nvSpPr>
            <p:spPr>
              <a:xfrm>
                <a:off x="629" y="281"/>
                <a:ext cx="1236" cy="82"/>
              </a:xfrm>
              <a:custGeom>
                <a:avLst/>
                <a:gdLst/>
                <a:ahLst/>
                <a:cxnLst>
                  <a:cxn ang="0">
                    <a:pos x="5" y="36"/>
                  </a:cxn>
                  <a:cxn ang="0">
                    <a:pos x="775" y="36"/>
                  </a:cxn>
                  <a:cxn ang="0">
                    <a:pos x="778" y="36"/>
                  </a:cxn>
                  <a:cxn ang="0">
                    <a:pos x="778" y="36"/>
                  </a:cxn>
                  <a:cxn ang="0">
                    <a:pos x="780" y="39"/>
                  </a:cxn>
                  <a:cxn ang="0">
                    <a:pos x="780" y="41"/>
                  </a:cxn>
                  <a:cxn ang="0">
                    <a:pos x="780" y="41"/>
                  </a:cxn>
                  <a:cxn ang="0">
                    <a:pos x="778" y="41"/>
                  </a:cxn>
                  <a:cxn ang="0">
                    <a:pos x="778" y="41"/>
                  </a:cxn>
                  <a:cxn ang="0">
                    <a:pos x="775" y="41"/>
                  </a:cxn>
                  <a:cxn ang="0">
                    <a:pos x="5" y="41"/>
                  </a:cxn>
                  <a:cxn ang="0">
                    <a:pos x="2" y="41"/>
                  </a:cxn>
                  <a:cxn ang="0">
                    <a:pos x="0" y="41"/>
                  </a:cxn>
                  <a:cxn ang="0">
                    <a:pos x="0" y="41"/>
                  </a:cxn>
                  <a:cxn ang="0">
                    <a:pos x="0" y="41"/>
                  </a:cxn>
                  <a:cxn ang="0">
                    <a:pos x="0" y="39"/>
                  </a:cxn>
                  <a:cxn ang="0">
                    <a:pos x="0" y="36"/>
                  </a:cxn>
                  <a:cxn ang="0">
                    <a:pos x="2" y="36"/>
                  </a:cxn>
                  <a:cxn ang="0">
                    <a:pos x="5" y="36"/>
                  </a:cxn>
                  <a:cxn ang="0">
                    <a:pos x="5" y="36"/>
                  </a:cxn>
                  <a:cxn ang="0">
                    <a:pos x="775" y="41"/>
                  </a:cxn>
                  <a:cxn ang="0">
                    <a:pos x="759" y="0"/>
                  </a:cxn>
                  <a:cxn ang="0">
                    <a:pos x="813" y="41"/>
                  </a:cxn>
                  <a:cxn ang="0">
                    <a:pos x="759" y="70"/>
                  </a:cxn>
                  <a:cxn ang="0">
                    <a:pos x="775" y="41"/>
                  </a:cxn>
                </a:cxnLst>
                <a:rect l="0" t="0" r="0" b="0"/>
                <a:pathLst>
                  <a:path w="1280" h="83">
                    <a:moveTo>
                      <a:pt x="5" y="36"/>
                    </a:moveTo>
                    <a:lnTo>
                      <a:pt x="1224" y="36"/>
                    </a:lnTo>
                    <a:lnTo>
                      <a:pt x="1227" y="36"/>
                    </a:lnTo>
                    <a:lnTo>
                      <a:pt x="1230" y="39"/>
                    </a:lnTo>
                    <a:lnTo>
                      <a:pt x="1230" y="42"/>
                    </a:lnTo>
                    <a:lnTo>
                      <a:pt x="1227" y="44"/>
                    </a:lnTo>
                    <a:lnTo>
                      <a:pt x="1224" y="44"/>
                    </a:lnTo>
                    <a:lnTo>
                      <a:pt x="5" y="44"/>
                    </a:lnTo>
                    <a:lnTo>
                      <a:pt x="2" y="44"/>
                    </a:lnTo>
                    <a:lnTo>
                      <a:pt x="0" y="44"/>
                    </a:lnTo>
                    <a:lnTo>
                      <a:pt x="0" y="42"/>
                    </a:lnTo>
                    <a:lnTo>
                      <a:pt x="0" y="39"/>
                    </a:lnTo>
                    <a:lnTo>
                      <a:pt x="0" y="36"/>
                    </a:lnTo>
                    <a:lnTo>
                      <a:pt x="2" y="36"/>
                    </a:lnTo>
                    <a:lnTo>
                      <a:pt x="5" y="36"/>
                    </a:lnTo>
                    <a:close/>
                    <a:moveTo>
                      <a:pt x="1224" y="42"/>
                    </a:moveTo>
                    <a:lnTo>
                      <a:pt x="1196" y="0"/>
                    </a:lnTo>
                    <a:lnTo>
                      <a:pt x="1280" y="42"/>
                    </a:lnTo>
                    <a:lnTo>
                      <a:pt x="1196" y="83"/>
                    </a:lnTo>
                    <a:lnTo>
                      <a:pt x="1224" y="42"/>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511" name="Rectangle 119"/>
              <p:cNvSpPr/>
              <p:nvPr/>
            </p:nvSpPr>
            <p:spPr>
              <a:xfrm>
                <a:off x="1310" y="369"/>
                <a:ext cx="158"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B/S</a:t>
                </a:r>
                <a:endParaRPr lang="de-DE" altLang="en-US" sz="2400" dirty="0">
                  <a:latin typeface="Tahoma" panose="020B0604030504040204" pitchFamily="2" charset="0"/>
                  <a:ea typeface="宋体" panose="02010600030101010101" pitchFamily="2" charset="-122"/>
                </a:endParaRPr>
              </a:p>
            </p:txBody>
          </p:sp>
          <p:sp>
            <p:nvSpPr>
              <p:cNvPr id="59512" name="Rectangle 120"/>
              <p:cNvSpPr/>
              <p:nvPr/>
            </p:nvSpPr>
            <p:spPr>
              <a:xfrm>
                <a:off x="1487" y="358"/>
                <a:ext cx="210"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模式</a:t>
                </a:r>
                <a:endParaRPr lang="de-DE" altLang="en-US" sz="2400" dirty="0">
                  <a:latin typeface="Tahoma" panose="020B0604030504040204" pitchFamily="2" charset="0"/>
                  <a:ea typeface="宋体" panose="02010600030101010101" pitchFamily="2" charset="-122"/>
                </a:endParaRPr>
              </a:p>
            </p:txBody>
          </p:sp>
          <p:sp>
            <p:nvSpPr>
              <p:cNvPr id="59513" name="Rectangle 121"/>
              <p:cNvSpPr/>
              <p:nvPr/>
            </p:nvSpPr>
            <p:spPr>
              <a:xfrm>
                <a:off x="1692" y="369"/>
                <a:ext cx="25" cy="184"/>
              </a:xfrm>
              <a:prstGeom prst="rect">
                <a:avLst/>
              </a:prstGeom>
              <a:noFill/>
              <a:ln w="9525">
                <a:noFill/>
              </a:ln>
            </p:spPr>
            <p:txBody>
              <a:bodyPr wrap="square" lIns="0" tIns="0" rIns="0" bIns="0" anchor="t">
                <a:spAutoFit/>
              </a:bodyPr>
              <a:lstStyle/>
              <a:p>
                <a:pPr lvl="0" indent="0"/>
                <a:r>
                  <a:rPr lang="de-DE" altLang="en-US" sz="13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514" name="Rectangle 122"/>
              <p:cNvSpPr/>
              <p:nvPr/>
            </p:nvSpPr>
            <p:spPr>
              <a:xfrm>
                <a:off x="2148" y="498"/>
                <a:ext cx="286"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HTTP</a:t>
                </a:r>
                <a:endParaRPr lang="de-DE" altLang="en-US" sz="2400" dirty="0">
                  <a:latin typeface="Tahoma" panose="020B0604030504040204" pitchFamily="2" charset="0"/>
                  <a:ea typeface="宋体" panose="02010600030101010101" pitchFamily="2" charset="-122"/>
                </a:endParaRPr>
              </a:p>
            </p:txBody>
          </p:sp>
          <p:sp>
            <p:nvSpPr>
              <p:cNvPr id="59515" name="Rectangle 123"/>
              <p:cNvSpPr/>
              <p:nvPr/>
            </p:nvSpPr>
            <p:spPr>
              <a:xfrm>
                <a:off x="2401" y="498"/>
                <a:ext cx="26"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9516" name="未知"/>
              <p:cNvSpPr>
                <a:spLocks noEditPoints="1"/>
              </p:cNvSpPr>
              <p:nvPr/>
            </p:nvSpPr>
            <p:spPr>
              <a:xfrm>
                <a:off x="2047" y="449"/>
                <a:ext cx="82" cy="215"/>
              </a:xfrm>
              <a:custGeom>
                <a:avLst/>
                <a:gdLst/>
                <a:ahLst/>
                <a:cxnLst>
                  <a:cxn ang="0">
                    <a:pos x="35" y="56"/>
                  </a:cxn>
                  <a:cxn ang="0">
                    <a:pos x="35" y="148"/>
                  </a:cxn>
                  <a:cxn ang="0">
                    <a:pos x="35" y="150"/>
                  </a:cxn>
                  <a:cxn ang="0">
                    <a:pos x="35" y="150"/>
                  </a:cxn>
                  <a:cxn ang="0">
                    <a:pos x="32" y="151"/>
                  </a:cxn>
                  <a:cxn ang="0">
                    <a:pos x="29" y="151"/>
                  </a:cxn>
                  <a:cxn ang="0">
                    <a:pos x="29" y="151"/>
                  </a:cxn>
                  <a:cxn ang="0">
                    <a:pos x="26" y="150"/>
                  </a:cxn>
                  <a:cxn ang="0">
                    <a:pos x="26" y="150"/>
                  </a:cxn>
                  <a:cxn ang="0">
                    <a:pos x="24" y="148"/>
                  </a:cxn>
                  <a:cxn ang="0">
                    <a:pos x="24" y="56"/>
                  </a:cxn>
                  <a:cxn ang="0">
                    <a:pos x="26" y="54"/>
                  </a:cxn>
                  <a:cxn ang="0">
                    <a:pos x="26" y="54"/>
                  </a:cxn>
                  <a:cxn ang="0">
                    <a:pos x="29" y="54"/>
                  </a:cxn>
                  <a:cxn ang="0">
                    <a:pos x="29" y="54"/>
                  </a:cxn>
                  <a:cxn ang="0">
                    <a:pos x="32" y="54"/>
                  </a:cxn>
                  <a:cxn ang="0">
                    <a:pos x="35" y="54"/>
                  </a:cxn>
                  <a:cxn ang="0">
                    <a:pos x="35" y="54"/>
                  </a:cxn>
                  <a:cxn ang="0">
                    <a:pos x="35" y="56"/>
                  </a:cxn>
                  <a:cxn ang="0">
                    <a:pos x="35" y="56"/>
                  </a:cxn>
                  <a:cxn ang="0">
                    <a:pos x="0" y="70"/>
                  </a:cxn>
                  <a:cxn ang="0">
                    <a:pos x="29" y="0"/>
                  </a:cxn>
                  <a:cxn ang="0">
                    <a:pos x="60" y="70"/>
                  </a:cxn>
                  <a:cxn ang="0">
                    <a:pos x="0" y="70"/>
                  </a:cxn>
                  <a:cxn ang="0">
                    <a:pos x="29" y="148"/>
                  </a:cxn>
                  <a:cxn ang="0">
                    <a:pos x="60" y="120"/>
                  </a:cxn>
                  <a:cxn ang="0">
                    <a:pos x="29" y="191"/>
                  </a:cxn>
                  <a:cxn ang="0">
                    <a:pos x="0" y="120"/>
                  </a:cxn>
                  <a:cxn ang="0">
                    <a:pos x="29" y="148"/>
                  </a:cxn>
                </a:cxnLst>
                <a:rect l="0" t="0" r="0" b="0"/>
                <a:pathLst>
                  <a:path w="84" h="217">
                    <a:moveTo>
                      <a:pt x="48" y="69"/>
                    </a:moveTo>
                    <a:lnTo>
                      <a:pt x="48" y="161"/>
                    </a:lnTo>
                    <a:lnTo>
                      <a:pt x="48" y="164"/>
                    </a:lnTo>
                    <a:lnTo>
                      <a:pt x="45" y="167"/>
                    </a:lnTo>
                    <a:lnTo>
                      <a:pt x="42" y="167"/>
                    </a:lnTo>
                    <a:lnTo>
                      <a:pt x="39" y="164"/>
                    </a:lnTo>
                    <a:lnTo>
                      <a:pt x="37" y="161"/>
                    </a:lnTo>
                    <a:lnTo>
                      <a:pt x="37" y="69"/>
                    </a:lnTo>
                    <a:lnTo>
                      <a:pt x="39" y="67"/>
                    </a:lnTo>
                    <a:lnTo>
                      <a:pt x="42" y="64"/>
                    </a:lnTo>
                    <a:lnTo>
                      <a:pt x="45" y="64"/>
                    </a:lnTo>
                    <a:lnTo>
                      <a:pt x="48" y="67"/>
                    </a:lnTo>
                    <a:lnTo>
                      <a:pt x="48" y="69"/>
                    </a:lnTo>
                    <a:close/>
                    <a:moveTo>
                      <a:pt x="0" y="83"/>
                    </a:moveTo>
                    <a:lnTo>
                      <a:pt x="42" y="0"/>
                    </a:lnTo>
                    <a:lnTo>
                      <a:pt x="84" y="83"/>
                    </a:lnTo>
                    <a:lnTo>
                      <a:pt x="0" y="83"/>
                    </a:lnTo>
                    <a:close/>
                    <a:moveTo>
                      <a:pt x="42" y="161"/>
                    </a:moveTo>
                    <a:lnTo>
                      <a:pt x="84" y="133"/>
                    </a:lnTo>
                    <a:lnTo>
                      <a:pt x="42" y="217"/>
                    </a:lnTo>
                    <a:lnTo>
                      <a:pt x="0" y="133"/>
                    </a:lnTo>
                    <a:lnTo>
                      <a:pt x="42" y="161"/>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9517" name="Rectangle 125"/>
              <p:cNvSpPr/>
              <p:nvPr/>
            </p:nvSpPr>
            <p:spPr>
              <a:xfrm>
                <a:off x="339" y="1536"/>
                <a:ext cx="210"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SQL</a:t>
                </a:r>
                <a:endParaRPr lang="de-DE" altLang="en-US" sz="2400" dirty="0">
                  <a:latin typeface="Tahoma" panose="020B0604030504040204" pitchFamily="2" charset="0"/>
                  <a:ea typeface="宋体" panose="02010600030101010101" pitchFamily="2" charset="-122"/>
                </a:endParaRPr>
              </a:p>
            </p:txBody>
          </p:sp>
          <p:sp>
            <p:nvSpPr>
              <p:cNvPr id="59518" name="Rectangle 126"/>
              <p:cNvSpPr/>
              <p:nvPr/>
            </p:nvSpPr>
            <p:spPr>
              <a:xfrm>
                <a:off x="333" y="1742"/>
                <a:ext cx="210" cy="184"/>
              </a:xfrm>
              <a:prstGeom prst="rect">
                <a:avLst/>
              </a:prstGeom>
              <a:noFill/>
              <a:ln w="9525">
                <a:noFill/>
              </a:ln>
            </p:spPr>
            <p:txBody>
              <a:bodyPr wrap="squar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语句</a:t>
                </a:r>
                <a:endParaRPr lang="de-DE" altLang="en-US" sz="2400" dirty="0">
                  <a:latin typeface="Tahoma" panose="020B0604030504040204" pitchFamily="2" charset="0"/>
                  <a:ea typeface="宋体" panose="02010600030101010101" pitchFamily="2" charset="-122"/>
                </a:endParaRPr>
              </a:p>
            </p:txBody>
          </p:sp>
          <p:sp>
            <p:nvSpPr>
              <p:cNvPr id="59519" name="Rectangle 127"/>
              <p:cNvSpPr/>
              <p:nvPr/>
            </p:nvSpPr>
            <p:spPr>
              <a:xfrm>
                <a:off x="1504" y="1066"/>
                <a:ext cx="1212" cy="215"/>
              </a:xfrm>
              <a:prstGeom prst="rect">
                <a:avLst/>
              </a:prstGeom>
              <a:solidFill>
                <a:srgbClr val="FFCC99"/>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520" name="Rectangle 128"/>
              <p:cNvSpPr/>
              <p:nvPr/>
            </p:nvSpPr>
            <p:spPr>
              <a:xfrm>
                <a:off x="1504" y="1066"/>
                <a:ext cx="1212" cy="215"/>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9521" name="Rectangle 129"/>
              <p:cNvSpPr/>
              <p:nvPr/>
            </p:nvSpPr>
            <p:spPr>
              <a:xfrm>
                <a:off x="1539" y="1104"/>
                <a:ext cx="760" cy="167"/>
              </a:xfrm>
              <a:prstGeom prst="rect">
                <a:avLst/>
              </a:prstGeom>
              <a:noFill/>
              <a:ln w="9525">
                <a:noFill/>
              </a:ln>
            </p:spPr>
            <p:txBody>
              <a:bodyPr wrap="square" lIns="0" tIns="0" rIns="0" bIns="0" anchor="t">
                <a:spAutoFit/>
              </a:bodyPr>
              <a:lstStyle/>
              <a:p>
                <a:pPr lvl="0">
                  <a:lnSpc>
                    <a:spcPct val="100000"/>
                  </a:lnSpc>
                  <a:buNone/>
                </a:pPr>
                <a:r>
                  <a:rPr lang="de-DE" altLang="en-US" sz="1600" dirty="0">
                    <a:solidFill>
                      <a:srgbClr val="000000"/>
                    </a:solidFill>
                    <a:latin typeface="Times New Roman" panose="02020603050405020304" pitchFamily="2" charset="0"/>
                    <a:ea typeface="宋体" panose="02010600030101010101" pitchFamily="2" charset="-122"/>
                  </a:rPr>
                  <a:t>CGI/ASP</a:t>
                </a:r>
                <a:endParaRPr lang="de-DE" altLang="en-US" sz="2400" dirty="0">
                  <a:latin typeface="Tahoma" panose="020B0604030504040204" pitchFamily="2" charset="0"/>
                  <a:ea typeface="宋体" panose="02010600030101010101" pitchFamily="2" charset="-122"/>
                </a:endParaRPr>
              </a:p>
            </p:txBody>
          </p:sp>
          <p:sp>
            <p:nvSpPr>
              <p:cNvPr id="59522" name="Rectangle 130"/>
              <p:cNvSpPr/>
              <p:nvPr/>
            </p:nvSpPr>
            <p:spPr>
              <a:xfrm>
                <a:off x="2100" y="1110"/>
                <a:ext cx="249" cy="167"/>
              </a:xfrm>
              <a:prstGeom prst="rect">
                <a:avLst/>
              </a:prstGeom>
              <a:noFill/>
              <a:ln w="9525">
                <a:noFill/>
              </a:ln>
            </p:spPr>
            <p:txBody>
              <a:bodyPr wrap="square" lIns="0" tIns="0" rIns="0" bIns="0" anchor="t">
                <a:spAutoFit/>
              </a:bodyPr>
              <a:lstStyle/>
              <a:p>
                <a:pPr lvl="0">
                  <a:lnSpc>
                    <a:spcPct val="100000"/>
                  </a:lnSpc>
                  <a:buNone/>
                </a:pPr>
                <a:r>
                  <a:rPr lang="de-DE" altLang="en-US" sz="1600" dirty="0">
                    <a:solidFill>
                      <a:srgbClr val="000000"/>
                    </a:solidFill>
                    <a:latin typeface="Times New Roman" panose="02020603050405020304" pitchFamily="2" charset="0"/>
                    <a:ea typeface="宋体" panose="02010600030101010101" pitchFamily="2" charset="-122"/>
                  </a:rPr>
                  <a:t>/JSP</a:t>
                </a:r>
                <a:endParaRPr lang="de-DE" altLang="en-US" sz="2400" dirty="0">
                  <a:latin typeface="Tahoma" panose="020B0604030504040204" pitchFamily="2" charset="0"/>
                  <a:ea typeface="宋体" panose="02010600030101010101" pitchFamily="2" charset="-122"/>
                </a:endParaRPr>
              </a:p>
            </p:txBody>
          </p:sp>
          <p:sp>
            <p:nvSpPr>
              <p:cNvPr id="59523" name="Rectangle 131"/>
              <p:cNvSpPr/>
              <p:nvPr/>
            </p:nvSpPr>
            <p:spPr>
              <a:xfrm>
                <a:off x="2369" y="1104"/>
                <a:ext cx="354" cy="167"/>
              </a:xfrm>
              <a:prstGeom prst="rect">
                <a:avLst/>
              </a:prstGeom>
              <a:noFill/>
              <a:ln w="9525">
                <a:noFill/>
              </a:ln>
            </p:spPr>
            <p:txBody>
              <a:bodyPr wrap="square" lIns="0" tIns="0" rIns="0" bIns="0" anchor="t">
                <a:spAutoFit/>
              </a:bodyPr>
              <a:lstStyle/>
              <a:p>
                <a:pPr lvl="0">
                  <a:lnSpc>
                    <a:spcPct val="100000"/>
                  </a:lnSpc>
                  <a:buNone/>
                </a:pPr>
                <a:r>
                  <a:rPr lang="de-DE" altLang="en-US" sz="1600" dirty="0">
                    <a:solidFill>
                      <a:srgbClr val="000000"/>
                    </a:solidFill>
                    <a:latin typeface="宋体" panose="02010600030101010101" pitchFamily="2" charset="-122"/>
                    <a:ea typeface="宋体" panose="02010600030101010101" pitchFamily="2" charset="-122"/>
                  </a:rPr>
                  <a:t>程序</a:t>
                </a:r>
                <a:endParaRPr lang="de-DE" altLang="en-US" sz="2400" dirty="0">
                  <a:latin typeface="Tahoma" panose="020B0604030504040204" pitchFamily="2" charset="0"/>
                  <a:ea typeface="宋体" panose="02010600030101010101" pitchFamily="2" charset="-122"/>
                </a:endParaRPr>
              </a:p>
            </p:txBody>
          </p:sp>
          <p:sp>
            <p:nvSpPr>
              <p:cNvPr id="59525" name="Line 133"/>
              <p:cNvSpPr/>
              <p:nvPr/>
            </p:nvSpPr>
            <p:spPr>
              <a:xfrm>
                <a:off x="291" y="576"/>
                <a:ext cx="0" cy="1536"/>
              </a:xfrm>
              <a:prstGeom prst="line">
                <a:avLst/>
              </a:prstGeom>
              <a:ln w="25400" cap="flat" cmpd="sng">
                <a:solidFill>
                  <a:srgbClr val="000000"/>
                </a:solidFill>
                <a:prstDash val="solid"/>
                <a:round/>
                <a:headEnd type="triangle" w="med" len="med"/>
                <a:tailEnd type="triangle" w="med" len="med"/>
              </a:ln>
            </p:spPr>
          </p:sp>
          <p:sp>
            <p:nvSpPr>
              <p:cNvPr id="59526" name="Line 134"/>
              <p:cNvSpPr/>
              <p:nvPr/>
            </p:nvSpPr>
            <p:spPr>
              <a:xfrm>
                <a:off x="1635" y="1824"/>
                <a:ext cx="0" cy="288"/>
              </a:xfrm>
              <a:prstGeom prst="line">
                <a:avLst/>
              </a:prstGeom>
              <a:ln w="25400" cap="flat" cmpd="sng">
                <a:solidFill>
                  <a:srgbClr val="000000"/>
                </a:solidFill>
                <a:prstDash val="solid"/>
                <a:round/>
                <a:headEnd type="triangle" w="med" len="med"/>
                <a:tailEnd type="triangle" w="med" len="med"/>
              </a:ln>
            </p:spPr>
          </p:sp>
          <p:sp>
            <p:nvSpPr>
              <p:cNvPr id="59527" name="Line 135"/>
              <p:cNvSpPr/>
              <p:nvPr/>
            </p:nvSpPr>
            <p:spPr>
              <a:xfrm>
                <a:off x="2067" y="864"/>
                <a:ext cx="0" cy="192"/>
              </a:xfrm>
              <a:prstGeom prst="line">
                <a:avLst/>
              </a:prstGeom>
              <a:ln w="25400" cap="flat" cmpd="sng">
                <a:solidFill>
                  <a:srgbClr val="000000"/>
                </a:solidFill>
                <a:prstDash val="solid"/>
                <a:round/>
                <a:headEnd type="triangle" w="med" len="med"/>
                <a:tailEnd type="triangle" w="med" len="med"/>
              </a:ln>
            </p:spPr>
          </p:sp>
          <p:sp>
            <p:nvSpPr>
              <p:cNvPr id="59528" name="Line 136"/>
              <p:cNvSpPr/>
              <p:nvPr/>
            </p:nvSpPr>
            <p:spPr>
              <a:xfrm>
                <a:off x="2067" y="1296"/>
                <a:ext cx="0" cy="192"/>
              </a:xfrm>
              <a:prstGeom prst="line">
                <a:avLst/>
              </a:prstGeom>
              <a:ln w="25400" cap="flat" cmpd="sng">
                <a:solidFill>
                  <a:srgbClr val="000000"/>
                </a:solidFill>
                <a:prstDash val="solid"/>
                <a:round/>
                <a:headEnd type="triangle" w="med" len="med"/>
                <a:tailEnd type="triangle" w="med" len="med"/>
              </a:ln>
            </p:spPr>
          </p:sp>
          <p:sp>
            <p:nvSpPr>
              <p:cNvPr id="59529" name="Line 137"/>
              <p:cNvSpPr/>
              <p:nvPr/>
            </p:nvSpPr>
            <p:spPr>
              <a:xfrm>
                <a:off x="867" y="1104"/>
                <a:ext cx="0" cy="384"/>
              </a:xfrm>
              <a:prstGeom prst="line">
                <a:avLst/>
              </a:prstGeom>
              <a:ln w="25400" cap="flat" cmpd="sng">
                <a:solidFill>
                  <a:srgbClr val="000000"/>
                </a:solidFill>
                <a:prstDash val="solid"/>
                <a:round/>
                <a:headEnd type="triangle" w="med" len="med"/>
                <a:tailEnd type="triangle" w="med" len="med"/>
              </a:ln>
            </p:spPr>
          </p:sp>
        </p:grpSp>
      </p:grpSp>
      <p:sp>
        <p:nvSpPr>
          <p:cNvPr id="59530"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五、数据库系统的总体结构</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圆角矩形标注 138"/>
          <p:cNvSpPr/>
          <p:nvPr/>
        </p:nvSpPr>
        <p:spPr>
          <a:xfrm>
            <a:off x="6126961" y="4199322"/>
            <a:ext cx="2388395" cy="677265"/>
          </a:xfrm>
          <a:prstGeom prst="wedgeRoundRectCallout">
            <a:avLst>
              <a:gd name="adj1" fmla="val -45737"/>
              <a:gd name="adj2" fmla="val -12567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buNone/>
            </a:pPr>
            <a:r>
              <a:rPr lang="zh-CN" altLang="en-US" sz="2400" dirty="0">
                <a:solidFill>
                  <a:srgbClr val="FF0000"/>
                </a:solidFill>
              </a:rPr>
              <a:t>对应第</a:t>
            </a:r>
            <a:r>
              <a:rPr lang="en-US" altLang="zh-CN" sz="2400" dirty="0">
                <a:solidFill>
                  <a:srgbClr val="FF0000"/>
                </a:solidFill>
              </a:rPr>
              <a:t>2</a:t>
            </a:r>
            <a:r>
              <a:rPr lang="zh-CN" altLang="en-US" sz="2400" dirty="0">
                <a:solidFill>
                  <a:srgbClr val="FF0000"/>
                </a:solidFill>
              </a:rPr>
              <a:t>章内容</a:t>
            </a:r>
            <a:endParaRPr lang="zh-CN" altLang="en-US" sz="2400" dirty="0">
              <a:solidFill>
                <a:srgbClr val="FF0000"/>
              </a:solidFill>
            </a:endParaRPr>
          </a:p>
        </p:txBody>
      </p:sp>
      <p:sp>
        <p:nvSpPr>
          <p:cNvPr id="141" name="椭圆 140"/>
          <p:cNvSpPr/>
          <p:nvPr/>
        </p:nvSpPr>
        <p:spPr>
          <a:xfrm>
            <a:off x="4622801" y="1448112"/>
            <a:ext cx="4191000" cy="249905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Rectangle 3"/>
          <p:cNvSpPr/>
          <p:nvPr/>
        </p:nvSpPr>
        <p:spPr>
          <a:xfrm>
            <a:off x="4962525" y="5946111"/>
            <a:ext cx="3584575" cy="432009"/>
          </a:xfrm>
          <a:prstGeom prst="rect">
            <a:avLst/>
          </a:prstGeom>
          <a:solidFill>
            <a:srgbClr val="33CCCC"/>
          </a:solidFill>
          <a:ln w="9525">
            <a:noFill/>
          </a:ln>
        </p:spPr>
        <p:txBody>
          <a:bodyPr anchor="t"/>
          <a:lstStyle/>
          <a:p>
            <a:pPr lvl="0" indent="0">
              <a:lnSpc>
                <a:spcPct val="100000"/>
              </a:lnSpc>
              <a:buNone/>
            </a:pPr>
            <a:r>
              <a:rPr lang="de-DE" altLang="en-US" sz="2400" dirty="0">
                <a:solidFill>
                  <a:srgbClr val="000000"/>
                </a:solidFill>
                <a:latin typeface="宋体" panose="02010600030101010101" pitchFamily="2" charset="-122"/>
                <a:ea typeface="宋体" panose="02010600030101010101" pitchFamily="2" charset="-122"/>
              </a:rPr>
              <a:t>数据库系统总体结构图</a:t>
            </a:r>
            <a:endParaRPr lang="de-DE" altLang="en-US" sz="2400" dirty="0">
              <a:latin typeface="Tahoma" panose="020B0604030504040204" pitchFamily="2" charset="0"/>
              <a:ea typeface="宋体" panose="02010600030101010101" pitchFamily="2" charset="-122"/>
            </a:endParaRPr>
          </a:p>
        </p:txBody>
      </p:sp>
      <p:grpSp>
        <p:nvGrpSpPr>
          <p:cNvPr id="6" name="Group 9"/>
          <p:cNvGrpSpPr/>
          <p:nvPr/>
        </p:nvGrpSpPr>
        <p:grpSpPr>
          <a:xfrm>
            <a:off x="4851400" y="1590015"/>
            <a:ext cx="3602038" cy="3795083"/>
            <a:chOff x="0" y="0"/>
            <a:chExt cx="2269" cy="2530"/>
          </a:xfrm>
        </p:grpSpPr>
        <p:sp>
          <p:nvSpPr>
            <p:cNvPr id="96" name="Rectangle 11"/>
            <p:cNvSpPr/>
            <p:nvPr/>
          </p:nvSpPr>
          <p:spPr>
            <a:xfrm>
              <a:off x="309" y="1065"/>
              <a:ext cx="1758" cy="319"/>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97" name="Rectangle 12"/>
            <p:cNvSpPr/>
            <p:nvPr/>
          </p:nvSpPr>
          <p:spPr>
            <a:xfrm>
              <a:off x="309" y="1065"/>
              <a:ext cx="1758" cy="319"/>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98" name="Rectangle 13"/>
            <p:cNvSpPr/>
            <p:nvPr/>
          </p:nvSpPr>
          <p:spPr>
            <a:xfrm>
              <a:off x="968" y="1145"/>
              <a:ext cx="52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概念模式</a:t>
              </a:r>
              <a:endParaRPr lang="de-DE" altLang="en-US" sz="2400" dirty="0">
                <a:latin typeface="Tahoma" panose="020B0604030504040204" pitchFamily="2" charset="0"/>
                <a:ea typeface="宋体" panose="02010600030101010101" pitchFamily="2" charset="-122"/>
              </a:endParaRPr>
            </a:p>
          </p:txBody>
        </p:sp>
        <p:sp>
          <p:nvSpPr>
            <p:cNvPr id="99" name="Rectangle 14"/>
            <p:cNvSpPr/>
            <p:nvPr/>
          </p:nvSpPr>
          <p:spPr>
            <a:xfrm>
              <a:off x="1412" y="1153"/>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00" name="Rectangle 15"/>
            <p:cNvSpPr/>
            <p:nvPr/>
          </p:nvSpPr>
          <p:spPr>
            <a:xfrm>
              <a:off x="0" y="513"/>
              <a:ext cx="643" cy="321"/>
            </a:xfrm>
            <a:prstGeom prst="rect">
              <a:avLst/>
            </a:prstGeom>
            <a:solidFill>
              <a:srgbClr val="99CCFF"/>
            </a:solidFill>
            <a:ln w="19050" cap="flat" cmpd="sng">
              <a:solidFill>
                <a:schemeClr val="tx2"/>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01" name="Rectangle 16"/>
            <p:cNvSpPr/>
            <p:nvPr/>
          </p:nvSpPr>
          <p:spPr>
            <a:xfrm>
              <a:off x="94" y="596"/>
              <a:ext cx="39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外模式</a:t>
              </a:r>
              <a:endParaRPr lang="de-DE" altLang="en-US" sz="2400" dirty="0">
                <a:latin typeface="Tahoma" panose="020B0604030504040204" pitchFamily="2" charset="0"/>
                <a:ea typeface="宋体" panose="02010600030101010101" pitchFamily="2" charset="-122"/>
              </a:endParaRPr>
            </a:p>
          </p:txBody>
        </p:sp>
        <p:sp>
          <p:nvSpPr>
            <p:cNvPr id="102" name="Rectangle 17"/>
            <p:cNvSpPr/>
            <p:nvPr/>
          </p:nvSpPr>
          <p:spPr>
            <a:xfrm>
              <a:off x="452" y="604"/>
              <a:ext cx="64"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1</a:t>
              </a:r>
              <a:endParaRPr lang="de-DE" altLang="en-US" sz="2400" dirty="0">
                <a:latin typeface="Tahoma" panose="020B0604030504040204" pitchFamily="2" charset="0"/>
                <a:ea typeface="宋体" panose="02010600030101010101" pitchFamily="2" charset="-122"/>
              </a:endParaRPr>
            </a:p>
          </p:txBody>
        </p:sp>
        <p:sp>
          <p:nvSpPr>
            <p:cNvPr id="103" name="Rectangle 18"/>
            <p:cNvSpPr/>
            <p:nvPr/>
          </p:nvSpPr>
          <p:spPr>
            <a:xfrm>
              <a:off x="509" y="604"/>
              <a:ext cx="32" cy="187"/>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04" name="Rectangle 19"/>
            <p:cNvSpPr/>
            <p:nvPr/>
          </p:nvSpPr>
          <p:spPr>
            <a:xfrm>
              <a:off x="1627" y="513"/>
              <a:ext cx="642" cy="321"/>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05" name="Rectangle 20"/>
            <p:cNvSpPr/>
            <p:nvPr/>
          </p:nvSpPr>
          <p:spPr>
            <a:xfrm>
              <a:off x="1627" y="513"/>
              <a:ext cx="642" cy="321"/>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06" name="Rectangle 21"/>
            <p:cNvSpPr/>
            <p:nvPr/>
          </p:nvSpPr>
          <p:spPr>
            <a:xfrm>
              <a:off x="1739" y="596"/>
              <a:ext cx="39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外模式</a:t>
              </a:r>
              <a:endParaRPr lang="de-DE" altLang="en-US" sz="2400" dirty="0">
                <a:latin typeface="Tahoma" panose="020B0604030504040204" pitchFamily="2" charset="0"/>
                <a:ea typeface="宋体" panose="02010600030101010101" pitchFamily="2" charset="-122"/>
              </a:endParaRPr>
            </a:p>
          </p:txBody>
        </p:sp>
        <p:sp>
          <p:nvSpPr>
            <p:cNvPr id="107" name="Rectangle 22"/>
            <p:cNvSpPr/>
            <p:nvPr/>
          </p:nvSpPr>
          <p:spPr>
            <a:xfrm>
              <a:off x="2101" y="604"/>
              <a:ext cx="71"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n</a:t>
              </a:r>
              <a:endParaRPr lang="de-DE" altLang="en-US" sz="2400" dirty="0">
                <a:latin typeface="Tahoma" panose="020B0604030504040204" pitchFamily="2" charset="0"/>
                <a:ea typeface="宋体" panose="02010600030101010101" pitchFamily="2" charset="-122"/>
              </a:endParaRPr>
            </a:p>
          </p:txBody>
        </p:sp>
        <p:sp>
          <p:nvSpPr>
            <p:cNvPr id="108" name="Rectangle 23"/>
            <p:cNvSpPr/>
            <p:nvPr/>
          </p:nvSpPr>
          <p:spPr>
            <a:xfrm>
              <a:off x="2160" y="604"/>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09" name="Rectangle 24"/>
            <p:cNvSpPr/>
            <p:nvPr/>
          </p:nvSpPr>
          <p:spPr>
            <a:xfrm>
              <a:off x="731" y="513"/>
              <a:ext cx="659" cy="321"/>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10" name="Rectangle 25"/>
            <p:cNvSpPr/>
            <p:nvPr/>
          </p:nvSpPr>
          <p:spPr>
            <a:xfrm>
              <a:off x="731" y="513"/>
              <a:ext cx="659" cy="321"/>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11" name="Rectangle 26"/>
            <p:cNvSpPr/>
            <p:nvPr/>
          </p:nvSpPr>
          <p:spPr>
            <a:xfrm>
              <a:off x="854" y="596"/>
              <a:ext cx="39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外模式</a:t>
              </a:r>
              <a:endParaRPr lang="de-DE" altLang="en-US" sz="2400" dirty="0">
                <a:latin typeface="Tahoma" panose="020B0604030504040204" pitchFamily="2" charset="0"/>
                <a:ea typeface="宋体" panose="02010600030101010101" pitchFamily="2" charset="-122"/>
              </a:endParaRPr>
            </a:p>
          </p:txBody>
        </p:sp>
        <p:sp>
          <p:nvSpPr>
            <p:cNvPr id="112" name="Rectangle 27"/>
            <p:cNvSpPr/>
            <p:nvPr/>
          </p:nvSpPr>
          <p:spPr>
            <a:xfrm>
              <a:off x="1213" y="604"/>
              <a:ext cx="64"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2</a:t>
              </a:r>
              <a:endParaRPr lang="de-DE" altLang="en-US" sz="2400" dirty="0">
                <a:latin typeface="Tahoma" panose="020B0604030504040204" pitchFamily="2" charset="0"/>
                <a:ea typeface="宋体" panose="02010600030101010101" pitchFamily="2" charset="-122"/>
              </a:endParaRPr>
            </a:p>
          </p:txBody>
        </p:sp>
        <p:sp>
          <p:nvSpPr>
            <p:cNvPr id="113" name="Rectangle 28"/>
            <p:cNvSpPr/>
            <p:nvPr/>
          </p:nvSpPr>
          <p:spPr>
            <a:xfrm>
              <a:off x="1269" y="604"/>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14" name="Rectangle 29"/>
            <p:cNvSpPr/>
            <p:nvPr/>
          </p:nvSpPr>
          <p:spPr>
            <a:xfrm>
              <a:off x="748" y="0"/>
              <a:ext cx="660" cy="319"/>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15" name="Rectangle 30"/>
            <p:cNvSpPr/>
            <p:nvPr/>
          </p:nvSpPr>
          <p:spPr>
            <a:xfrm>
              <a:off x="748" y="0"/>
              <a:ext cx="660" cy="319"/>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16" name="Rectangle 31"/>
            <p:cNvSpPr/>
            <p:nvPr/>
          </p:nvSpPr>
          <p:spPr>
            <a:xfrm>
              <a:off x="857" y="79"/>
              <a:ext cx="52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现实系统</a:t>
              </a:r>
              <a:endParaRPr lang="de-DE" altLang="en-US" sz="2400" dirty="0">
                <a:latin typeface="Tahoma" panose="020B0604030504040204" pitchFamily="2" charset="0"/>
                <a:ea typeface="宋体" panose="02010600030101010101" pitchFamily="2" charset="-122"/>
              </a:endParaRPr>
            </a:p>
          </p:txBody>
        </p:sp>
        <p:sp>
          <p:nvSpPr>
            <p:cNvPr id="117" name="Rectangle 32"/>
            <p:cNvSpPr/>
            <p:nvPr/>
          </p:nvSpPr>
          <p:spPr>
            <a:xfrm>
              <a:off x="1303" y="87"/>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18" name="未知"/>
            <p:cNvSpPr>
              <a:spLocks noEditPoints="1"/>
            </p:cNvSpPr>
            <p:nvPr/>
          </p:nvSpPr>
          <p:spPr>
            <a:xfrm>
              <a:off x="194" y="828"/>
              <a:ext cx="334" cy="229"/>
            </a:xfrm>
            <a:custGeom>
              <a:avLst/>
              <a:gdLst/>
              <a:ahLst/>
              <a:cxnLst>
                <a:cxn ang="0">
                  <a:pos x="3" y="0"/>
                </a:cxn>
                <a:cxn ang="0">
                  <a:pos x="59" y="152"/>
                </a:cxn>
                <a:cxn ang="0">
                  <a:pos x="59" y="154"/>
                </a:cxn>
                <a:cxn ang="0">
                  <a:pos x="59" y="154"/>
                </a:cxn>
                <a:cxn ang="0">
                  <a:pos x="59" y="156"/>
                </a:cxn>
                <a:cxn ang="0">
                  <a:pos x="59" y="158"/>
                </a:cxn>
                <a:cxn ang="0">
                  <a:pos x="59" y="158"/>
                </a:cxn>
                <a:cxn ang="0">
                  <a:pos x="59" y="158"/>
                </a:cxn>
                <a:cxn ang="0">
                  <a:pos x="58" y="158"/>
                </a:cxn>
                <a:cxn ang="0">
                  <a:pos x="58" y="158"/>
                </a:cxn>
                <a:cxn ang="0">
                  <a:pos x="2" y="8"/>
                </a:cxn>
                <a:cxn ang="0">
                  <a:pos x="2" y="8"/>
                </a:cxn>
                <a:cxn ang="0">
                  <a:pos x="0" y="6"/>
                </a:cxn>
                <a:cxn ang="0">
                  <a:pos x="0" y="3"/>
                </a:cxn>
                <a:cxn ang="0">
                  <a:pos x="2" y="3"/>
                </a:cxn>
                <a:cxn ang="0">
                  <a:pos x="2" y="0"/>
                </a:cxn>
                <a:cxn ang="0">
                  <a:pos x="3" y="0"/>
                </a:cxn>
                <a:cxn ang="0">
                  <a:pos x="3" y="0"/>
                </a:cxn>
                <a:cxn ang="0">
                  <a:pos x="3" y="0"/>
                </a:cxn>
                <a:cxn ang="0">
                  <a:pos x="3" y="0"/>
                </a:cxn>
                <a:cxn ang="0">
                  <a:pos x="58" y="156"/>
                </a:cxn>
                <a:cxn ang="0">
                  <a:pos x="58" y="117"/>
                </a:cxn>
                <a:cxn ang="0">
                  <a:pos x="66" y="177"/>
                </a:cxn>
                <a:cxn ang="0">
                  <a:pos x="51" y="170"/>
                </a:cxn>
                <a:cxn ang="0">
                  <a:pos x="58" y="156"/>
                </a:cxn>
              </a:cxnLst>
              <a:rect l="0" t="0" r="0" b="0"/>
              <a:pathLst>
                <a:path w="382" h="234">
                  <a:moveTo>
                    <a:pt x="8" y="0"/>
                  </a:moveTo>
                  <a:lnTo>
                    <a:pt x="337" y="201"/>
                  </a:lnTo>
                  <a:lnTo>
                    <a:pt x="340" y="203"/>
                  </a:lnTo>
                  <a:lnTo>
                    <a:pt x="340" y="206"/>
                  </a:lnTo>
                  <a:lnTo>
                    <a:pt x="340" y="209"/>
                  </a:lnTo>
                  <a:lnTo>
                    <a:pt x="337" y="209"/>
                  </a:lnTo>
                  <a:lnTo>
                    <a:pt x="334" y="209"/>
                  </a:lnTo>
                  <a:lnTo>
                    <a:pt x="332" y="209"/>
                  </a:lnTo>
                  <a:lnTo>
                    <a:pt x="2" y="8"/>
                  </a:lnTo>
                  <a:lnTo>
                    <a:pt x="0" y="6"/>
                  </a:lnTo>
                  <a:lnTo>
                    <a:pt x="0" y="3"/>
                  </a:lnTo>
                  <a:lnTo>
                    <a:pt x="2" y="3"/>
                  </a:lnTo>
                  <a:lnTo>
                    <a:pt x="2" y="0"/>
                  </a:lnTo>
                  <a:lnTo>
                    <a:pt x="5" y="0"/>
                  </a:lnTo>
                  <a:lnTo>
                    <a:pt x="8" y="0"/>
                  </a:lnTo>
                  <a:close/>
                  <a:moveTo>
                    <a:pt x="334" y="206"/>
                  </a:moveTo>
                  <a:lnTo>
                    <a:pt x="334" y="156"/>
                  </a:lnTo>
                  <a:lnTo>
                    <a:pt x="382" y="234"/>
                  </a:lnTo>
                  <a:lnTo>
                    <a:pt x="290" y="226"/>
                  </a:lnTo>
                  <a:lnTo>
                    <a:pt x="334" y="206"/>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119" name="未知"/>
            <p:cNvSpPr>
              <a:spLocks noEditPoints="1"/>
            </p:cNvSpPr>
            <p:nvPr/>
          </p:nvSpPr>
          <p:spPr>
            <a:xfrm>
              <a:off x="1737" y="828"/>
              <a:ext cx="225" cy="229"/>
            </a:xfrm>
            <a:custGeom>
              <a:avLst/>
              <a:gdLst/>
              <a:ahLst/>
              <a:cxnLst>
                <a:cxn ang="0">
                  <a:pos x="46" y="8"/>
                </a:cxn>
                <a:cxn ang="0">
                  <a:pos x="9" y="152"/>
                </a:cxn>
                <a:cxn ang="0">
                  <a:pos x="9" y="152"/>
                </a:cxn>
                <a:cxn ang="0">
                  <a:pos x="8" y="152"/>
                </a:cxn>
                <a:cxn ang="0">
                  <a:pos x="8" y="152"/>
                </a:cxn>
                <a:cxn ang="0">
                  <a:pos x="8" y="152"/>
                </a:cxn>
                <a:cxn ang="0">
                  <a:pos x="7" y="150"/>
                </a:cxn>
                <a:cxn ang="0">
                  <a:pos x="7" y="148"/>
                </a:cxn>
                <a:cxn ang="0">
                  <a:pos x="7" y="148"/>
                </a:cxn>
                <a:cxn ang="0">
                  <a:pos x="8" y="145"/>
                </a:cxn>
                <a:cxn ang="0">
                  <a:pos x="44" y="0"/>
                </a:cxn>
                <a:cxn ang="0">
                  <a:pos x="46" y="0"/>
                </a:cxn>
                <a:cxn ang="0">
                  <a:pos x="46" y="0"/>
                </a:cxn>
                <a:cxn ang="0">
                  <a:pos x="46" y="0"/>
                </a:cxn>
                <a:cxn ang="0">
                  <a:pos x="46" y="0"/>
                </a:cxn>
                <a:cxn ang="0">
                  <a:pos x="46" y="3"/>
                </a:cxn>
                <a:cxn ang="0">
                  <a:pos x="46" y="6"/>
                </a:cxn>
                <a:cxn ang="0">
                  <a:pos x="46" y="6"/>
                </a:cxn>
                <a:cxn ang="0">
                  <a:pos x="46" y="8"/>
                </a:cxn>
                <a:cxn ang="0">
                  <a:pos x="46" y="8"/>
                </a:cxn>
                <a:cxn ang="0">
                  <a:pos x="8" y="150"/>
                </a:cxn>
                <a:cxn ang="0">
                  <a:pos x="17" y="158"/>
                </a:cxn>
                <a:cxn ang="0">
                  <a:pos x="0" y="177"/>
                </a:cxn>
                <a:cxn ang="0">
                  <a:pos x="7" y="111"/>
                </a:cxn>
                <a:cxn ang="0">
                  <a:pos x="8" y="150"/>
                </a:cxn>
              </a:cxnLst>
              <a:rect l="0" t="0" r="0" b="0"/>
              <a:pathLst>
                <a:path w="257" h="234">
                  <a:moveTo>
                    <a:pt x="257" y="8"/>
                  </a:moveTo>
                  <a:lnTo>
                    <a:pt x="45" y="201"/>
                  </a:lnTo>
                  <a:lnTo>
                    <a:pt x="42" y="201"/>
                  </a:lnTo>
                  <a:lnTo>
                    <a:pt x="39" y="201"/>
                  </a:lnTo>
                  <a:lnTo>
                    <a:pt x="37" y="198"/>
                  </a:lnTo>
                  <a:lnTo>
                    <a:pt x="37" y="195"/>
                  </a:lnTo>
                  <a:lnTo>
                    <a:pt x="39" y="192"/>
                  </a:lnTo>
                  <a:lnTo>
                    <a:pt x="248" y="0"/>
                  </a:lnTo>
                  <a:lnTo>
                    <a:pt x="251" y="0"/>
                  </a:lnTo>
                  <a:lnTo>
                    <a:pt x="254" y="0"/>
                  </a:lnTo>
                  <a:lnTo>
                    <a:pt x="257" y="0"/>
                  </a:lnTo>
                  <a:lnTo>
                    <a:pt x="257" y="3"/>
                  </a:lnTo>
                  <a:lnTo>
                    <a:pt x="257" y="6"/>
                  </a:lnTo>
                  <a:lnTo>
                    <a:pt x="257" y="8"/>
                  </a:lnTo>
                  <a:close/>
                  <a:moveTo>
                    <a:pt x="42" y="198"/>
                  </a:moveTo>
                  <a:lnTo>
                    <a:pt x="92" y="209"/>
                  </a:lnTo>
                  <a:lnTo>
                    <a:pt x="0" y="234"/>
                  </a:lnTo>
                  <a:lnTo>
                    <a:pt x="34" y="148"/>
                  </a:lnTo>
                  <a:lnTo>
                    <a:pt x="42" y="198"/>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120" name="未知"/>
            <p:cNvSpPr>
              <a:spLocks noEditPoints="1"/>
            </p:cNvSpPr>
            <p:nvPr/>
          </p:nvSpPr>
          <p:spPr>
            <a:xfrm>
              <a:off x="1041" y="836"/>
              <a:ext cx="73" cy="221"/>
            </a:xfrm>
            <a:custGeom>
              <a:avLst/>
              <a:gdLst/>
              <a:ahLst/>
              <a:cxnLst>
                <a:cxn ang="0">
                  <a:pos x="8" y="6"/>
                </a:cxn>
                <a:cxn ang="0">
                  <a:pos x="8" y="128"/>
                </a:cxn>
                <a:cxn ang="0">
                  <a:pos x="8" y="130"/>
                </a:cxn>
                <a:cxn ang="0">
                  <a:pos x="8" y="130"/>
                </a:cxn>
                <a:cxn ang="0">
                  <a:pos x="8" y="132"/>
                </a:cxn>
                <a:cxn ang="0">
                  <a:pos x="7" y="132"/>
                </a:cxn>
                <a:cxn ang="0">
                  <a:pos x="7" y="132"/>
                </a:cxn>
                <a:cxn ang="0">
                  <a:pos x="7" y="130"/>
                </a:cxn>
                <a:cxn ang="0">
                  <a:pos x="7" y="130"/>
                </a:cxn>
                <a:cxn ang="0">
                  <a:pos x="6" y="128"/>
                </a:cxn>
                <a:cxn ang="0">
                  <a:pos x="6" y="6"/>
                </a:cxn>
                <a:cxn ang="0">
                  <a:pos x="7" y="6"/>
                </a:cxn>
                <a:cxn ang="0">
                  <a:pos x="7" y="3"/>
                </a:cxn>
                <a:cxn ang="0">
                  <a:pos x="7" y="3"/>
                </a:cxn>
                <a:cxn ang="0">
                  <a:pos x="7" y="0"/>
                </a:cxn>
                <a:cxn ang="0">
                  <a:pos x="8" y="3"/>
                </a:cxn>
                <a:cxn ang="0">
                  <a:pos x="8" y="3"/>
                </a:cxn>
                <a:cxn ang="0">
                  <a:pos x="8" y="6"/>
                </a:cxn>
                <a:cxn ang="0">
                  <a:pos x="8" y="6"/>
                </a:cxn>
                <a:cxn ang="0">
                  <a:pos x="8" y="6"/>
                </a:cxn>
                <a:cxn ang="0">
                  <a:pos x="7" y="128"/>
                </a:cxn>
                <a:cxn ang="0">
                  <a:pos x="14" y="106"/>
                </a:cxn>
                <a:cxn ang="0">
                  <a:pos x="7" y="169"/>
                </a:cxn>
                <a:cxn ang="0">
                  <a:pos x="0" y="106"/>
                </a:cxn>
                <a:cxn ang="0">
                  <a:pos x="7" y="128"/>
                </a:cxn>
              </a:cxnLst>
              <a:rect l="0" t="0" r="0" b="0"/>
              <a:pathLst>
                <a:path w="84" h="226">
                  <a:moveTo>
                    <a:pt x="48" y="6"/>
                  </a:moveTo>
                  <a:lnTo>
                    <a:pt x="48" y="170"/>
                  </a:lnTo>
                  <a:lnTo>
                    <a:pt x="48" y="173"/>
                  </a:lnTo>
                  <a:lnTo>
                    <a:pt x="45" y="176"/>
                  </a:lnTo>
                  <a:lnTo>
                    <a:pt x="42" y="176"/>
                  </a:lnTo>
                  <a:lnTo>
                    <a:pt x="39" y="173"/>
                  </a:lnTo>
                  <a:lnTo>
                    <a:pt x="37" y="170"/>
                  </a:lnTo>
                  <a:lnTo>
                    <a:pt x="37" y="6"/>
                  </a:lnTo>
                  <a:lnTo>
                    <a:pt x="39" y="6"/>
                  </a:lnTo>
                  <a:lnTo>
                    <a:pt x="39" y="3"/>
                  </a:lnTo>
                  <a:lnTo>
                    <a:pt x="42" y="3"/>
                  </a:lnTo>
                  <a:lnTo>
                    <a:pt x="42" y="0"/>
                  </a:lnTo>
                  <a:lnTo>
                    <a:pt x="45" y="3"/>
                  </a:lnTo>
                  <a:lnTo>
                    <a:pt x="48" y="3"/>
                  </a:lnTo>
                  <a:lnTo>
                    <a:pt x="48" y="6"/>
                  </a:lnTo>
                  <a:close/>
                  <a:moveTo>
                    <a:pt x="42" y="170"/>
                  </a:moveTo>
                  <a:lnTo>
                    <a:pt x="84" y="142"/>
                  </a:lnTo>
                  <a:lnTo>
                    <a:pt x="42" y="226"/>
                  </a:lnTo>
                  <a:lnTo>
                    <a:pt x="0" y="142"/>
                  </a:lnTo>
                  <a:lnTo>
                    <a:pt x="42" y="170"/>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121" name="Rectangle 36"/>
            <p:cNvSpPr/>
            <p:nvPr/>
          </p:nvSpPr>
          <p:spPr>
            <a:xfrm>
              <a:off x="1464" y="584"/>
              <a:ext cx="153" cy="221"/>
            </a:xfrm>
            <a:prstGeom prst="rect">
              <a:avLst/>
            </a:prstGeom>
            <a:noFill/>
            <a:ln w="9525">
              <a:noFill/>
            </a:ln>
          </p:spPr>
          <p:txBody>
            <a:bodyPr wrap="none" lIns="0" tIns="0" rIns="0" bIns="0" anchor="t">
              <a:spAutoFit/>
            </a:bodyPr>
            <a:lstStyle/>
            <a:p>
              <a:pPr lvl="0" indent="0">
                <a:buNone/>
              </a:pPr>
              <a:r>
                <a:rPr lang="de-DE" altLang="en-US" sz="1900" dirty="0">
                  <a:solidFill>
                    <a:srgbClr val="000000"/>
                  </a:solidFill>
                  <a:latin typeface="Arial" panose="020B0604020202020204" pitchFamily="34" charset="0"/>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122" name="Rectangle 37"/>
            <p:cNvSpPr/>
            <p:nvPr/>
          </p:nvSpPr>
          <p:spPr>
            <a:xfrm>
              <a:off x="1594" y="584"/>
              <a:ext cx="88" cy="275"/>
            </a:xfrm>
            <a:prstGeom prst="rect">
              <a:avLst/>
            </a:prstGeom>
            <a:noFill/>
            <a:ln w="9525">
              <a:noFill/>
            </a:ln>
          </p:spPr>
          <p:txBody>
            <a:bodyPr wrap="none" lIns="0" tIns="0" rIns="0" bIns="0" anchor="t">
              <a:spAutoFit/>
            </a:bodyPr>
            <a:lstStyle/>
            <a:p>
              <a:pPr lvl="0" indent="0"/>
              <a:endParaRPr lang="de-DE" altLang="en-US" sz="2400" dirty="0">
                <a:latin typeface="Tahoma" panose="020B0604030504040204" pitchFamily="2" charset="0"/>
                <a:ea typeface="宋体" panose="02010600030101010101" pitchFamily="2" charset="-122"/>
              </a:endParaRPr>
            </a:p>
          </p:txBody>
        </p:sp>
        <p:sp>
          <p:nvSpPr>
            <p:cNvPr id="124" name="Rectangle 39"/>
            <p:cNvSpPr/>
            <p:nvPr/>
          </p:nvSpPr>
          <p:spPr>
            <a:xfrm rot="5400000">
              <a:off x="2059" y="2437"/>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25" name="未知"/>
            <p:cNvSpPr>
              <a:spLocks noEditPoints="1"/>
            </p:cNvSpPr>
            <p:nvPr/>
          </p:nvSpPr>
          <p:spPr>
            <a:xfrm>
              <a:off x="1041" y="313"/>
              <a:ext cx="73" cy="200"/>
            </a:xfrm>
            <a:custGeom>
              <a:avLst/>
              <a:gdLst/>
              <a:ahLst/>
              <a:cxnLst>
                <a:cxn ang="0">
                  <a:pos x="8" y="6"/>
                </a:cxn>
                <a:cxn ang="0">
                  <a:pos x="8" y="115"/>
                </a:cxn>
                <a:cxn ang="0">
                  <a:pos x="8" y="115"/>
                </a:cxn>
                <a:cxn ang="0">
                  <a:pos x="8" y="117"/>
                </a:cxn>
                <a:cxn ang="0">
                  <a:pos x="8" y="117"/>
                </a:cxn>
                <a:cxn ang="0">
                  <a:pos x="7" y="117"/>
                </a:cxn>
                <a:cxn ang="0">
                  <a:pos x="7" y="117"/>
                </a:cxn>
                <a:cxn ang="0">
                  <a:pos x="7" y="117"/>
                </a:cxn>
                <a:cxn ang="0">
                  <a:pos x="7" y="115"/>
                </a:cxn>
                <a:cxn ang="0">
                  <a:pos x="6" y="115"/>
                </a:cxn>
                <a:cxn ang="0">
                  <a:pos x="6" y="6"/>
                </a:cxn>
                <a:cxn ang="0">
                  <a:pos x="7" y="3"/>
                </a:cxn>
                <a:cxn ang="0">
                  <a:pos x="7" y="3"/>
                </a:cxn>
                <a:cxn ang="0">
                  <a:pos x="7" y="0"/>
                </a:cxn>
                <a:cxn ang="0">
                  <a:pos x="7" y="0"/>
                </a:cxn>
                <a:cxn ang="0">
                  <a:pos x="8" y="0"/>
                </a:cxn>
                <a:cxn ang="0">
                  <a:pos x="8" y="3"/>
                </a:cxn>
                <a:cxn ang="0">
                  <a:pos x="8" y="3"/>
                </a:cxn>
                <a:cxn ang="0">
                  <a:pos x="8" y="6"/>
                </a:cxn>
                <a:cxn ang="0">
                  <a:pos x="8" y="6"/>
                </a:cxn>
                <a:cxn ang="0">
                  <a:pos x="7" y="115"/>
                </a:cxn>
                <a:cxn ang="0">
                  <a:pos x="14" y="94"/>
                </a:cxn>
                <a:cxn ang="0">
                  <a:pos x="7" y="158"/>
                </a:cxn>
                <a:cxn ang="0">
                  <a:pos x="0" y="94"/>
                </a:cxn>
                <a:cxn ang="0">
                  <a:pos x="7" y="115"/>
                </a:cxn>
              </a:cxnLst>
              <a:rect l="0" t="0" r="0" b="0"/>
              <a:pathLst>
                <a:path w="84" h="204">
                  <a:moveTo>
                    <a:pt x="48" y="6"/>
                  </a:moveTo>
                  <a:lnTo>
                    <a:pt x="48" y="148"/>
                  </a:lnTo>
                  <a:lnTo>
                    <a:pt x="48" y="151"/>
                  </a:lnTo>
                  <a:lnTo>
                    <a:pt x="45" y="151"/>
                  </a:lnTo>
                  <a:lnTo>
                    <a:pt x="42" y="151"/>
                  </a:lnTo>
                  <a:lnTo>
                    <a:pt x="39" y="151"/>
                  </a:lnTo>
                  <a:lnTo>
                    <a:pt x="39" y="148"/>
                  </a:lnTo>
                  <a:lnTo>
                    <a:pt x="37" y="148"/>
                  </a:lnTo>
                  <a:lnTo>
                    <a:pt x="37" y="6"/>
                  </a:lnTo>
                  <a:lnTo>
                    <a:pt x="39" y="3"/>
                  </a:lnTo>
                  <a:lnTo>
                    <a:pt x="42" y="0"/>
                  </a:lnTo>
                  <a:lnTo>
                    <a:pt x="45" y="0"/>
                  </a:lnTo>
                  <a:lnTo>
                    <a:pt x="48" y="3"/>
                  </a:lnTo>
                  <a:lnTo>
                    <a:pt x="48" y="6"/>
                  </a:lnTo>
                  <a:close/>
                  <a:moveTo>
                    <a:pt x="42" y="148"/>
                  </a:moveTo>
                  <a:lnTo>
                    <a:pt x="84" y="120"/>
                  </a:lnTo>
                  <a:lnTo>
                    <a:pt x="42" y="204"/>
                  </a:lnTo>
                  <a:lnTo>
                    <a:pt x="0" y="120"/>
                  </a:lnTo>
                  <a:lnTo>
                    <a:pt x="42" y="148"/>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126" name="未知"/>
            <p:cNvSpPr>
              <a:spLocks noEditPoints="1"/>
            </p:cNvSpPr>
            <p:nvPr/>
          </p:nvSpPr>
          <p:spPr>
            <a:xfrm>
              <a:off x="309" y="313"/>
              <a:ext cx="554" cy="213"/>
            </a:xfrm>
            <a:custGeom>
              <a:avLst/>
              <a:gdLst/>
              <a:ahLst/>
              <a:cxnLst>
                <a:cxn ang="0">
                  <a:pos x="111" y="11"/>
                </a:cxn>
                <a:cxn ang="0">
                  <a:pos x="10" y="150"/>
                </a:cxn>
                <a:cxn ang="0">
                  <a:pos x="10" y="150"/>
                </a:cxn>
                <a:cxn ang="0">
                  <a:pos x="10" y="150"/>
                </a:cxn>
                <a:cxn ang="0">
                  <a:pos x="10" y="150"/>
                </a:cxn>
                <a:cxn ang="0">
                  <a:pos x="10" y="148"/>
                </a:cxn>
                <a:cxn ang="0">
                  <a:pos x="10" y="145"/>
                </a:cxn>
                <a:cxn ang="0">
                  <a:pos x="10" y="145"/>
                </a:cxn>
                <a:cxn ang="0">
                  <a:pos x="10" y="142"/>
                </a:cxn>
                <a:cxn ang="0">
                  <a:pos x="10" y="142"/>
                </a:cxn>
                <a:cxn ang="0">
                  <a:pos x="110" y="0"/>
                </a:cxn>
                <a:cxn ang="0">
                  <a:pos x="110" y="0"/>
                </a:cxn>
                <a:cxn ang="0">
                  <a:pos x="111" y="0"/>
                </a:cxn>
                <a:cxn ang="0">
                  <a:pos x="112" y="3"/>
                </a:cxn>
                <a:cxn ang="0">
                  <a:pos x="112" y="3"/>
                </a:cxn>
                <a:cxn ang="0">
                  <a:pos x="112" y="6"/>
                </a:cxn>
                <a:cxn ang="0">
                  <a:pos x="112" y="9"/>
                </a:cxn>
                <a:cxn ang="0">
                  <a:pos x="112" y="9"/>
                </a:cxn>
                <a:cxn ang="0">
                  <a:pos x="111" y="11"/>
                </a:cxn>
                <a:cxn ang="0">
                  <a:pos x="111" y="11"/>
                </a:cxn>
                <a:cxn ang="0">
                  <a:pos x="10" y="148"/>
                </a:cxn>
                <a:cxn ang="0">
                  <a:pos x="17" y="171"/>
                </a:cxn>
                <a:cxn ang="0">
                  <a:pos x="0" y="161"/>
                </a:cxn>
                <a:cxn ang="0">
                  <a:pos x="12" y="110"/>
                </a:cxn>
                <a:cxn ang="0">
                  <a:pos x="10" y="148"/>
                </a:cxn>
              </a:cxnLst>
              <a:rect l="0" t="0" r="0" b="0"/>
              <a:pathLst>
                <a:path w="633" h="217">
                  <a:moveTo>
                    <a:pt x="630" y="11"/>
                  </a:moveTo>
                  <a:lnTo>
                    <a:pt x="56" y="190"/>
                  </a:lnTo>
                  <a:lnTo>
                    <a:pt x="53" y="190"/>
                  </a:lnTo>
                  <a:lnTo>
                    <a:pt x="50" y="190"/>
                  </a:lnTo>
                  <a:lnTo>
                    <a:pt x="50" y="187"/>
                  </a:lnTo>
                  <a:lnTo>
                    <a:pt x="50" y="184"/>
                  </a:lnTo>
                  <a:lnTo>
                    <a:pt x="50" y="181"/>
                  </a:lnTo>
                  <a:lnTo>
                    <a:pt x="53" y="181"/>
                  </a:lnTo>
                  <a:lnTo>
                    <a:pt x="627" y="0"/>
                  </a:lnTo>
                  <a:lnTo>
                    <a:pt x="630" y="0"/>
                  </a:lnTo>
                  <a:lnTo>
                    <a:pt x="633" y="3"/>
                  </a:lnTo>
                  <a:lnTo>
                    <a:pt x="633" y="6"/>
                  </a:lnTo>
                  <a:lnTo>
                    <a:pt x="633" y="9"/>
                  </a:lnTo>
                  <a:lnTo>
                    <a:pt x="630" y="11"/>
                  </a:lnTo>
                  <a:close/>
                  <a:moveTo>
                    <a:pt x="53" y="187"/>
                  </a:moveTo>
                  <a:lnTo>
                    <a:pt x="92" y="217"/>
                  </a:lnTo>
                  <a:lnTo>
                    <a:pt x="0" y="204"/>
                  </a:lnTo>
                  <a:lnTo>
                    <a:pt x="67" y="137"/>
                  </a:lnTo>
                  <a:lnTo>
                    <a:pt x="53" y="187"/>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127" name="未知"/>
            <p:cNvSpPr>
              <a:spLocks noEditPoints="1"/>
            </p:cNvSpPr>
            <p:nvPr/>
          </p:nvSpPr>
          <p:spPr>
            <a:xfrm>
              <a:off x="1312" y="313"/>
              <a:ext cx="644" cy="216"/>
            </a:xfrm>
            <a:custGeom>
              <a:avLst/>
              <a:gdLst/>
              <a:ahLst/>
              <a:cxnLst>
                <a:cxn ang="0">
                  <a:pos x="4" y="0"/>
                </a:cxn>
                <a:cxn ang="0">
                  <a:pos x="121" y="145"/>
                </a:cxn>
                <a:cxn ang="0">
                  <a:pos x="121" y="145"/>
                </a:cxn>
                <a:cxn ang="0">
                  <a:pos x="121" y="148"/>
                </a:cxn>
                <a:cxn ang="0">
                  <a:pos x="121" y="151"/>
                </a:cxn>
                <a:cxn ang="0">
                  <a:pos x="121" y="153"/>
                </a:cxn>
                <a:cxn ang="0">
                  <a:pos x="121" y="153"/>
                </a:cxn>
                <a:cxn ang="0">
                  <a:pos x="121" y="153"/>
                </a:cxn>
                <a:cxn ang="0">
                  <a:pos x="121" y="153"/>
                </a:cxn>
                <a:cxn ang="0">
                  <a:pos x="3" y="11"/>
                </a:cxn>
                <a:cxn ang="0">
                  <a:pos x="3" y="11"/>
                </a:cxn>
                <a:cxn ang="0">
                  <a:pos x="0" y="9"/>
                </a:cxn>
                <a:cxn ang="0">
                  <a:pos x="0" y="6"/>
                </a:cxn>
                <a:cxn ang="0">
                  <a:pos x="0" y="6"/>
                </a:cxn>
                <a:cxn ang="0">
                  <a:pos x="0" y="3"/>
                </a:cxn>
                <a:cxn ang="0">
                  <a:pos x="3" y="0"/>
                </a:cxn>
                <a:cxn ang="0">
                  <a:pos x="4" y="0"/>
                </a:cxn>
                <a:cxn ang="0">
                  <a:pos x="4" y="0"/>
                </a:cxn>
                <a:cxn ang="0">
                  <a:pos x="4" y="0"/>
                </a:cxn>
                <a:cxn ang="0">
                  <a:pos x="121" y="148"/>
                </a:cxn>
                <a:cxn ang="0">
                  <a:pos x="117" y="112"/>
                </a:cxn>
                <a:cxn ang="0">
                  <a:pos x="130" y="162"/>
                </a:cxn>
                <a:cxn ang="0">
                  <a:pos x="114" y="174"/>
                </a:cxn>
                <a:cxn ang="0">
                  <a:pos x="121" y="148"/>
                </a:cxn>
              </a:cxnLst>
              <a:rect l="0" t="0" r="0" b="0"/>
              <a:pathLst>
                <a:path w="736" h="220">
                  <a:moveTo>
                    <a:pt x="6" y="0"/>
                  </a:moveTo>
                  <a:lnTo>
                    <a:pt x="683" y="184"/>
                  </a:lnTo>
                  <a:lnTo>
                    <a:pt x="689" y="184"/>
                  </a:lnTo>
                  <a:lnTo>
                    <a:pt x="689" y="187"/>
                  </a:lnTo>
                  <a:lnTo>
                    <a:pt x="689" y="190"/>
                  </a:lnTo>
                  <a:lnTo>
                    <a:pt x="686" y="192"/>
                  </a:lnTo>
                  <a:lnTo>
                    <a:pt x="683" y="192"/>
                  </a:lnTo>
                  <a:lnTo>
                    <a:pt x="3" y="11"/>
                  </a:lnTo>
                  <a:lnTo>
                    <a:pt x="0" y="9"/>
                  </a:lnTo>
                  <a:lnTo>
                    <a:pt x="0" y="6"/>
                  </a:lnTo>
                  <a:lnTo>
                    <a:pt x="0" y="3"/>
                  </a:lnTo>
                  <a:lnTo>
                    <a:pt x="3" y="0"/>
                  </a:lnTo>
                  <a:lnTo>
                    <a:pt x="6" y="0"/>
                  </a:lnTo>
                  <a:close/>
                  <a:moveTo>
                    <a:pt x="683" y="187"/>
                  </a:moveTo>
                  <a:lnTo>
                    <a:pt x="667" y="139"/>
                  </a:lnTo>
                  <a:lnTo>
                    <a:pt x="736" y="204"/>
                  </a:lnTo>
                  <a:lnTo>
                    <a:pt x="644" y="220"/>
                  </a:lnTo>
                  <a:lnTo>
                    <a:pt x="683" y="187"/>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132" name="Rectangle 47"/>
            <p:cNvSpPr/>
            <p:nvPr/>
          </p:nvSpPr>
          <p:spPr>
            <a:xfrm>
              <a:off x="1349" y="1663"/>
              <a:ext cx="68" cy="291"/>
            </a:xfrm>
            <a:prstGeom prst="rect">
              <a:avLst/>
            </a:prstGeom>
            <a:noFill/>
            <a:ln w="9525">
              <a:noFill/>
            </a:ln>
          </p:spPr>
          <p:txBody>
            <a:bodyPr wrap="none" lIns="0" tIns="0" rIns="0" bIns="0" anchor="t">
              <a:spAutoFit/>
            </a:bodyPr>
            <a:lstStyle/>
            <a:p>
              <a:pPr lvl="0" indent="0"/>
              <a:endParaRPr lang="de-DE" altLang="en-US" sz="2400" dirty="0">
                <a:latin typeface="Tahoma" panose="020B0604030504040204" pitchFamily="2" charset="0"/>
                <a:ea typeface="宋体" panose="02010600030101010101" pitchFamily="2" charset="-122"/>
              </a:endParaRPr>
            </a:p>
          </p:txBody>
        </p:sp>
        <p:sp>
          <p:nvSpPr>
            <p:cNvPr id="134" name="Line 49"/>
            <p:cNvSpPr/>
            <p:nvPr/>
          </p:nvSpPr>
          <p:spPr>
            <a:xfrm>
              <a:off x="1152" y="2049"/>
              <a:ext cx="0" cy="0"/>
            </a:xfrm>
            <a:prstGeom prst="line">
              <a:avLst/>
            </a:prstGeom>
            <a:ln w="9525" cap="flat" cmpd="sng">
              <a:solidFill>
                <a:schemeClr val="tx1"/>
              </a:solidFill>
              <a:prstDash val="solid"/>
              <a:round/>
              <a:headEnd type="none" w="med" len="med"/>
              <a:tailEnd type="none" w="med" len="med"/>
            </a:ln>
          </p:spPr>
        </p:sp>
      </p:grpSp>
      <p:grpSp>
        <p:nvGrpSpPr>
          <p:cNvPr id="7" name="Group 50"/>
          <p:cNvGrpSpPr/>
          <p:nvPr/>
        </p:nvGrpSpPr>
        <p:grpSpPr>
          <a:xfrm>
            <a:off x="654051" y="3706072"/>
            <a:ext cx="4154488" cy="2362551"/>
            <a:chOff x="1" y="-1"/>
            <a:chExt cx="2617" cy="1575"/>
          </a:xfrm>
        </p:grpSpPr>
        <p:sp>
          <p:nvSpPr>
            <p:cNvPr id="76" name="Rectangle 51"/>
            <p:cNvSpPr/>
            <p:nvPr/>
          </p:nvSpPr>
          <p:spPr>
            <a:xfrm>
              <a:off x="293" y="293"/>
              <a:ext cx="2325" cy="275"/>
            </a:xfrm>
            <a:prstGeom prst="rect">
              <a:avLst/>
            </a:prstGeom>
            <a:solidFill>
              <a:srgbClr val="CCFFCC"/>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2000" dirty="0">
                  <a:solidFill>
                    <a:srgbClr val="000000"/>
                  </a:solidFill>
                  <a:latin typeface="宋体" panose="02010600030101010101" pitchFamily="2" charset="-122"/>
                  <a:ea typeface="宋体" panose="02010600030101010101" pitchFamily="2" charset="-122"/>
                </a:rPr>
                <a:t>关系数据库管理系统RDBMS</a:t>
              </a:r>
              <a:endParaRPr lang="de-DE" altLang="en-US" sz="2000" dirty="0">
                <a:latin typeface="宋体" panose="02010600030101010101" pitchFamily="2" charset="-122"/>
                <a:ea typeface="宋体" panose="02010600030101010101" pitchFamily="2" charset="-122"/>
              </a:endParaRPr>
            </a:p>
          </p:txBody>
        </p:sp>
        <p:sp>
          <p:nvSpPr>
            <p:cNvPr id="77" name="Rectangle 52"/>
            <p:cNvSpPr/>
            <p:nvPr/>
          </p:nvSpPr>
          <p:spPr>
            <a:xfrm>
              <a:off x="2309" y="330"/>
              <a:ext cx="31" cy="153"/>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78" name="Rectangle 53"/>
            <p:cNvSpPr/>
            <p:nvPr/>
          </p:nvSpPr>
          <p:spPr>
            <a:xfrm rot="5400000">
              <a:off x="-678" y="678"/>
              <a:ext cx="1575" cy="218"/>
            </a:xfrm>
            <a:prstGeom prst="rect">
              <a:avLst/>
            </a:prstGeom>
            <a:solidFill>
              <a:srgbClr val="FFFF66"/>
            </a:solidFill>
            <a:ln w="9525">
              <a:noFill/>
            </a:ln>
          </p:spPr>
          <p:txBody>
            <a:bodyPr lIns="0" tIns="0" rIns="0" bIns="0" anchor="t">
              <a:spAutoFit/>
            </a:bodyPr>
            <a:lstStyle/>
            <a:p>
              <a:pPr lvl="0" indent="0">
                <a:buNone/>
              </a:pPr>
              <a:r>
                <a:rPr lang="zh-CN" altLang="en-US" sz="1600" dirty="0">
                  <a:solidFill>
                    <a:srgbClr val="000000"/>
                  </a:solidFill>
                  <a:latin typeface="宋体" panose="02010600030101010101" pitchFamily="2" charset="-122"/>
                  <a:ea typeface="宋体" panose="02010600030101010101" pitchFamily="2" charset="-122"/>
                </a:rPr>
                <a:t>数据库实现（原理）部分</a:t>
              </a:r>
              <a:endParaRPr lang="zh-CN" altLang="en-US" sz="2400" dirty="0">
                <a:latin typeface="Tahoma" panose="020B0604030504040204" pitchFamily="2" charset="0"/>
                <a:ea typeface="宋体" panose="02010600030101010101" pitchFamily="2" charset="-122"/>
              </a:endParaRPr>
            </a:p>
          </p:txBody>
        </p:sp>
        <p:sp>
          <p:nvSpPr>
            <p:cNvPr id="79" name="未知"/>
            <p:cNvSpPr/>
            <p:nvPr/>
          </p:nvSpPr>
          <p:spPr>
            <a:xfrm>
              <a:off x="1749" y="779"/>
              <a:ext cx="849" cy="537"/>
            </a:xfrm>
            <a:custGeom>
              <a:avLst/>
              <a:gdLst/>
              <a:ahLst/>
              <a:cxnLst>
                <a:cxn ang="0">
                  <a:pos x="251" y="0"/>
                </a:cxn>
                <a:cxn ang="0">
                  <a:pos x="197" y="3"/>
                </a:cxn>
                <a:cxn ang="0">
                  <a:pos x="148" y="11"/>
                </a:cxn>
                <a:cxn ang="0">
                  <a:pos x="103" y="20"/>
                </a:cxn>
                <a:cxn ang="0">
                  <a:pos x="83" y="25"/>
                </a:cxn>
                <a:cxn ang="0">
                  <a:pos x="65" y="31"/>
                </a:cxn>
                <a:cxn ang="0">
                  <a:pos x="49" y="39"/>
                </a:cxn>
                <a:cxn ang="0">
                  <a:pos x="35" y="45"/>
                </a:cxn>
                <a:cxn ang="0">
                  <a:pos x="23" y="45"/>
                </a:cxn>
                <a:cxn ang="0">
                  <a:pos x="14" y="48"/>
                </a:cxn>
                <a:cxn ang="0">
                  <a:pos x="9" y="54"/>
                </a:cxn>
                <a:cxn ang="0">
                  <a:pos x="3" y="65"/>
                </a:cxn>
                <a:cxn ang="0">
                  <a:pos x="0" y="73"/>
                </a:cxn>
                <a:cxn ang="0">
                  <a:pos x="0" y="399"/>
                </a:cxn>
                <a:cxn ang="0">
                  <a:pos x="6" y="406"/>
                </a:cxn>
                <a:cxn ang="0">
                  <a:pos x="14" y="414"/>
                </a:cxn>
                <a:cxn ang="0">
                  <a:pos x="15" y="423"/>
                </a:cxn>
                <a:cxn ang="0">
                  <a:pos x="31" y="431"/>
                </a:cxn>
                <a:cxn ang="0">
                  <a:pos x="40" y="436"/>
                </a:cxn>
                <a:cxn ang="0">
                  <a:pos x="57" y="442"/>
                </a:cxn>
                <a:cxn ang="0">
                  <a:pos x="72" y="447"/>
                </a:cxn>
                <a:cxn ang="0">
                  <a:pos x="93" y="452"/>
                </a:cxn>
                <a:cxn ang="0">
                  <a:pos x="124" y="458"/>
                </a:cxn>
                <a:cxn ang="0">
                  <a:pos x="171" y="466"/>
                </a:cxn>
                <a:cxn ang="0">
                  <a:pos x="225" y="468"/>
                </a:cxn>
                <a:cxn ang="0">
                  <a:pos x="280" y="470"/>
                </a:cxn>
                <a:cxn ang="0">
                  <a:pos x="338" y="468"/>
                </a:cxn>
                <a:cxn ang="0">
                  <a:pos x="389" y="466"/>
                </a:cxn>
                <a:cxn ang="0">
                  <a:pos x="437" y="458"/>
                </a:cxn>
                <a:cxn ang="0">
                  <a:pos x="470" y="452"/>
                </a:cxn>
                <a:cxn ang="0">
                  <a:pos x="487" y="447"/>
                </a:cxn>
                <a:cxn ang="0">
                  <a:pos x="505" y="442"/>
                </a:cxn>
                <a:cxn ang="0">
                  <a:pos x="519" y="436"/>
                </a:cxn>
                <a:cxn ang="0">
                  <a:pos x="532" y="431"/>
                </a:cxn>
                <a:cxn ang="0">
                  <a:pos x="544" y="423"/>
                </a:cxn>
                <a:cxn ang="0">
                  <a:pos x="550" y="414"/>
                </a:cxn>
                <a:cxn ang="0">
                  <a:pos x="555" y="406"/>
                </a:cxn>
                <a:cxn ang="0">
                  <a:pos x="560" y="399"/>
                </a:cxn>
                <a:cxn ang="0">
                  <a:pos x="560" y="73"/>
                </a:cxn>
                <a:cxn ang="0">
                  <a:pos x="558" y="65"/>
                </a:cxn>
                <a:cxn ang="0">
                  <a:pos x="553" y="54"/>
                </a:cxn>
                <a:cxn ang="0">
                  <a:pos x="548" y="48"/>
                </a:cxn>
                <a:cxn ang="0">
                  <a:pos x="538" y="45"/>
                </a:cxn>
                <a:cxn ang="0">
                  <a:pos x="526" y="45"/>
                </a:cxn>
                <a:cxn ang="0">
                  <a:pos x="511" y="39"/>
                </a:cxn>
                <a:cxn ang="0">
                  <a:pos x="495" y="31"/>
                </a:cxn>
                <a:cxn ang="0">
                  <a:pos x="477" y="25"/>
                </a:cxn>
                <a:cxn ang="0">
                  <a:pos x="458" y="20"/>
                </a:cxn>
                <a:cxn ang="0">
                  <a:pos x="414" y="11"/>
                </a:cxn>
                <a:cxn ang="0">
                  <a:pos x="364" y="3"/>
                </a:cxn>
                <a:cxn ang="0">
                  <a:pos x="310" y="0"/>
                </a:cxn>
                <a:cxn ang="0">
                  <a:pos x="280" y="0"/>
                </a:cxn>
              </a:cxnLst>
              <a:rect l="0" t="0" r="0" b="0"/>
              <a:pathLst>
                <a:path w="879" h="543">
                  <a:moveTo>
                    <a:pt x="441" y="0"/>
                  </a:moveTo>
                  <a:lnTo>
                    <a:pt x="396" y="0"/>
                  </a:lnTo>
                  <a:lnTo>
                    <a:pt x="352" y="3"/>
                  </a:lnTo>
                  <a:lnTo>
                    <a:pt x="310" y="3"/>
                  </a:lnTo>
                  <a:lnTo>
                    <a:pt x="268" y="6"/>
                  </a:lnTo>
                  <a:lnTo>
                    <a:pt x="232" y="11"/>
                  </a:lnTo>
                  <a:lnTo>
                    <a:pt x="195" y="14"/>
                  </a:lnTo>
                  <a:lnTo>
                    <a:pt x="162" y="20"/>
                  </a:lnTo>
                  <a:lnTo>
                    <a:pt x="145" y="22"/>
                  </a:lnTo>
                  <a:lnTo>
                    <a:pt x="129" y="25"/>
                  </a:lnTo>
                  <a:lnTo>
                    <a:pt x="115" y="28"/>
                  </a:lnTo>
                  <a:lnTo>
                    <a:pt x="101" y="31"/>
                  </a:lnTo>
                  <a:lnTo>
                    <a:pt x="89" y="33"/>
                  </a:lnTo>
                  <a:lnTo>
                    <a:pt x="76" y="39"/>
                  </a:lnTo>
                  <a:lnTo>
                    <a:pt x="64" y="42"/>
                  </a:lnTo>
                  <a:lnTo>
                    <a:pt x="53" y="45"/>
                  </a:lnTo>
                  <a:lnTo>
                    <a:pt x="45" y="47"/>
                  </a:lnTo>
                  <a:lnTo>
                    <a:pt x="36" y="53"/>
                  </a:lnTo>
                  <a:lnTo>
                    <a:pt x="28" y="56"/>
                  </a:lnTo>
                  <a:lnTo>
                    <a:pt x="20" y="61"/>
                  </a:lnTo>
                  <a:lnTo>
                    <a:pt x="14" y="64"/>
                  </a:lnTo>
                  <a:lnTo>
                    <a:pt x="9" y="67"/>
                  </a:lnTo>
                  <a:lnTo>
                    <a:pt x="6" y="72"/>
                  </a:lnTo>
                  <a:lnTo>
                    <a:pt x="3" y="78"/>
                  </a:lnTo>
                  <a:lnTo>
                    <a:pt x="0" y="81"/>
                  </a:lnTo>
                  <a:lnTo>
                    <a:pt x="0" y="86"/>
                  </a:lnTo>
                  <a:lnTo>
                    <a:pt x="0" y="457"/>
                  </a:lnTo>
                  <a:lnTo>
                    <a:pt x="0" y="463"/>
                  </a:lnTo>
                  <a:lnTo>
                    <a:pt x="3" y="468"/>
                  </a:lnTo>
                  <a:lnTo>
                    <a:pt x="6" y="471"/>
                  </a:lnTo>
                  <a:lnTo>
                    <a:pt x="9" y="476"/>
                  </a:lnTo>
                  <a:lnTo>
                    <a:pt x="14" y="479"/>
                  </a:lnTo>
                  <a:lnTo>
                    <a:pt x="20" y="485"/>
                  </a:lnTo>
                  <a:lnTo>
                    <a:pt x="28" y="488"/>
                  </a:lnTo>
                  <a:lnTo>
                    <a:pt x="36" y="490"/>
                  </a:lnTo>
                  <a:lnTo>
                    <a:pt x="45" y="496"/>
                  </a:lnTo>
                  <a:lnTo>
                    <a:pt x="53" y="499"/>
                  </a:lnTo>
                  <a:lnTo>
                    <a:pt x="64" y="502"/>
                  </a:lnTo>
                  <a:lnTo>
                    <a:pt x="76" y="507"/>
                  </a:lnTo>
                  <a:lnTo>
                    <a:pt x="89" y="510"/>
                  </a:lnTo>
                  <a:lnTo>
                    <a:pt x="101" y="513"/>
                  </a:lnTo>
                  <a:lnTo>
                    <a:pt x="115" y="515"/>
                  </a:lnTo>
                  <a:lnTo>
                    <a:pt x="129" y="518"/>
                  </a:lnTo>
                  <a:lnTo>
                    <a:pt x="145" y="521"/>
                  </a:lnTo>
                  <a:lnTo>
                    <a:pt x="162" y="524"/>
                  </a:lnTo>
                  <a:lnTo>
                    <a:pt x="195" y="529"/>
                  </a:lnTo>
                  <a:lnTo>
                    <a:pt x="232" y="532"/>
                  </a:lnTo>
                  <a:lnTo>
                    <a:pt x="268" y="538"/>
                  </a:lnTo>
                  <a:lnTo>
                    <a:pt x="310" y="541"/>
                  </a:lnTo>
                  <a:lnTo>
                    <a:pt x="352" y="541"/>
                  </a:lnTo>
                  <a:lnTo>
                    <a:pt x="396" y="543"/>
                  </a:lnTo>
                  <a:lnTo>
                    <a:pt x="441" y="543"/>
                  </a:lnTo>
                  <a:lnTo>
                    <a:pt x="486" y="543"/>
                  </a:lnTo>
                  <a:lnTo>
                    <a:pt x="530" y="541"/>
                  </a:lnTo>
                  <a:lnTo>
                    <a:pt x="572" y="541"/>
                  </a:lnTo>
                  <a:lnTo>
                    <a:pt x="611" y="538"/>
                  </a:lnTo>
                  <a:lnTo>
                    <a:pt x="650" y="532"/>
                  </a:lnTo>
                  <a:lnTo>
                    <a:pt x="686" y="529"/>
                  </a:lnTo>
                  <a:lnTo>
                    <a:pt x="720" y="524"/>
                  </a:lnTo>
                  <a:lnTo>
                    <a:pt x="737" y="521"/>
                  </a:lnTo>
                  <a:lnTo>
                    <a:pt x="750" y="518"/>
                  </a:lnTo>
                  <a:lnTo>
                    <a:pt x="764" y="515"/>
                  </a:lnTo>
                  <a:lnTo>
                    <a:pt x="778" y="513"/>
                  </a:lnTo>
                  <a:lnTo>
                    <a:pt x="792" y="510"/>
                  </a:lnTo>
                  <a:lnTo>
                    <a:pt x="803" y="507"/>
                  </a:lnTo>
                  <a:lnTo>
                    <a:pt x="815" y="502"/>
                  </a:lnTo>
                  <a:lnTo>
                    <a:pt x="826" y="499"/>
                  </a:lnTo>
                  <a:lnTo>
                    <a:pt x="837" y="496"/>
                  </a:lnTo>
                  <a:lnTo>
                    <a:pt x="845" y="490"/>
                  </a:lnTo>
                  <a:lnTo>
                    <a:pt x="854" y="488"/>
                  </a:lnTo>
                  <a:lnTo>
                    <a:pt x="859" y="485"/>
                  </a:lnTo>
                  <a:lnTo>
                    <a:pt x="865" y="479"/>
                  </a:lnTo>
                  <a:lnTo>
                    <a:pt x="870" y="476"/>
                  </a:lnTo>
                  <a:lnTo>
                    <a:pt x="873" y="471"/>
                  </a:lnTo>
                  <a:lnTo>
                    <a:pt x="876" y="468"/>
                  </a:lnTo>
                  <a:lnTo>
                    <a:pt x="879" y="463"/>
                  </a:lnTo>
                  <a:lnTo>
                    <a:pt x="879" y="457"/>
                  </a:lnTo>
                  <a:lnTo>
                    <a:pt x="879" y="86"/>
                  </a:lnTo>
                  <a:lnTo>
                    <a:pt x="879" y="81"/>
                  </a:lnTo>
                  <a:lnTo>
                    <a:pt x="876" y="78"/>
                  </a:lnTo>
                  <a:lnTo>
                    <a:pt x="873" y="72"/>
                  </a:lnTo>
                  <a:lnTo>
                    <a:pt x="870" y="67"/>
                  </a:lnTo>
                  <a:lnTo>
                    <a:pt x="865" y="64"/>
                  </a:lnTo>
                  <a:lnTo>
                    <a:pt x="859" y="61"/>
                  </a:lnTo>
                  <a:lnTo>
                    <a:pt x="854" y="56"/>
                  </a:lnTo>
                  <a:lnTo>
                    <a:pt x="845" y="53"/>
                  </a:lnTo>
                  <a:lnTo>
                    <a:pt x="837" y="47"/>
                  </a:lnTo>
                  <a:lnTo>
                    <a:pt x="826" y="45"/>
                  </a:lnTo>
                  <a:lnTo>
                    <a:pt x="815" y="42"/>
                  </a:lnTo>
                  <a:lnTo>
                    <a:pt x="803" y="39"/>
                  </a:lnTo>
                  <a:lnTo>
                    <a:pt x="792" y="33"/>
                  </a:lnTo>
                  <a:lnTo>
                    <a:pt x="778" y="31"/>
                  </a:lnTo>
                  <a:lnTo>
                    <a:pt x="764" y="28"/>
                  </a:lnTo>
                  <a:lnTo>
                    <a:pt x="750" y="25"/>
                  </a:lnTo>
                  <a:lnTo>
                    <a:pt x="737" y="22"/>
                  </a:lnTo>
                  <a:lnTo>
                    <a:pt x="720" y="20"/>
                  </a:lnTo>
                  <a:lnTo>
                    <a:pt x="686" y="14"/>
                  </a:lnTo>
                  <a:lnTo>
                    <a:pt x="650" y="11"/>
                  </a:lnTo>
                  <a:lnTo>
                    <a:pt x="611" y="6"/>
                  </a:lnTo>
                  <a:lnTo>
                    <a:pt x="572" y="3"/>
                  </a:lnTo>
                  <a:lnTo>
                    <a:pt x="530" y="3"/>
                  </a:lnTo>
                  <a:lnTo>
                    <a:pt x="486" y="0"/>
                  </a:lnTo>
                  <a:lnTo>
                    <a:pt x="441" y="0"/>
                  </a:lnTo>
                  <a:close/>
                </a:path>
              </a:pathLst>
            </a:custGeom>
            <a:solidFill>
              <a:srgbClr val="CCFFCC"/>
            </a:solidFill>
            <a:ln w="9525">
              <a:noFill/>
            </a:ln>
          </p:spPr>
          <p:txBody>
            <a:bodyPr/>
            <a:lstStyle/>
            <a:p>
              <a:endParaRPr lang="zh-CN" altLang="en-US"/>
            </a:p>
          </p:txBody>
        </p:sp>
        <p:sp>
          <p:nvSpPr>
            <p:cNvPr id="80" name="未知"/>
            <p:cNvSpPr/>
            <p:nvPr/>
          </p:nvSpPr>
          <p:spPr>
            <a:xfrm>
              <a:off x="1749" y="779"/>
              <a:ext cx="849" cy="537"/>
            </a:xfrm>
            <a:custGeom>
              <a:avLst/>
              <a:gdLst/>
              <a:ahLst/>
              <a:cxnLst>
                <a:cxn ang="0">
                  <a:pos x="251" y="0"/>
                </a:cxn>
                <a:cxn ang="0">
                  <a:pos x="197" y="3"/>
                </a:cxn>
                <a:cxn ang="0">
                  <a:pos x="148" y="11"/>
                </a:cxn>
                <a:cxn ang="0">
                  <a:pos x="103" y="20"/>
                </a:cxn>
                <a:cxn ang="0">
                  <a:pos x="83" y="25"/>
                </a:cxn>
                <a:cxn ang="0">
                  <a:pos x="65" y="31"/>
                </a:cxn>
                <a:cxn ang="0">
                  <a:pos x="49" y="39"/>
                </a:cxn>
                <a:cxn ang="0">
                  <a:pos x="35" y="45"/>
                </a:cxn>
                <a:cxn ang="0">
                  <a:pos x="23" y="45"/>
                </a:cxn>
                <a:cxn ang="0">
                  <a:pos x="14" y="48"/>
                </a:cxn>
                <a:cxn ang="0">
                  <a:pos x="9" y="54"/>
                </a:cxn>
                <a:cxn ang="0">
                  <a:pos x="3" y="65"/>
                </a:cxn>
                <a:cxn ang="0">
                  <a:pos x="0" y="73"/>
                </a:cxn>
                <a:cxn ang="0">
                  <a:pos x="0" y="399"/>
                </a:cxn>
                <a:cxn ang="0">
                  <a:pos x="6" y="406"/>
                </a:cxn>
                <a:cxn ang="0">
                  <a:pos x="14" y="414"/>
                </a:cxn>
                <a:cxn ang="0">
                  <a:pos x="15" y="423"/>
                </a:cxn>
                <a:cxn ang="0">
                  <a:pos x="31" y="431"/>
                </a:cxn>
                <a:cxn ang="0">
                  <a:pos x="40" y="436"/>
                </a:cxn>
                <a:cxn ang="0">
                  <a:pos x="57" y="442"/>
                </a:cxn>
                <a:cxn ang="0">
                  <a:pos x="72" y="447"/>
                </a:cxn>
                <a:cxn ang="0">
                  <a:pos x="93" y="452"/>
                </a:cxn>
                <a:cxn ang="0">
                  <a:pos x="124" y="458"/>
                </a:cxn>
                <a:cxn ang="0">
                  <a:pos x="171" y="466"/>
                </a:cxn>
                <a:cxn ang="0">
                  <a:pos x="225" y="468"/>
                </a:cxn>
                <a:cxn ang="0">
                  <a:pos x="280" y="470"/>
                </a:cxn>
                <a:cxn ang="0">
                  <a:pos x="338" y="468"/>
                </a:cxn>
                <a:cxn ang="0">
                  <a:pos x="389" y="466"/>
                </a:cxn>
                <a:cxn ang="0">
                  <a:pos x="437" y="458"/>
                </a:cxn>
                <a:cxn ang="0">
                  <a:pos x="470" y="452"/>
                </a:cxn>
                <a:cxn ang="0">
                  <a:pos x="487" y="447"/>
                </a:cxn>
                <a:cxn ang="0">
                  <a:pos x="505" y="442"/>
                </a:cxn>
                <a:cxn ang="0">
                  <a:pos x="519" y="436"/>
                </a:cxn>
                <a:cxn ang="0">
                  <a:pos x="532" y="431"/>
                </a:cxn>
                <a:cxn ang="0">
                  <a:pos x="544" y="423"/>
                </a:cxn>
                <a:cxn ang="0">
                  <a:pos x="550" y="414"/>
                </a:cxn>
                <a:cxn ang="0">
                  <a:pos x="555" y="406"/>
                </a:cxn>
                <a:cxn ang="0">
                  <a:pos x="560" y="399"/>
                </a:cxn>
                <a:cxn ang="0">
                  <a:pos x="560" y="73"/>
                </a:cxn>
                <a:cxn ang="0">
                  <a:pos x="558" y="65"/>
                </a:cxn>
                <a:cxn ang="0">
                  <a:pos x="553" y="54"/>
                </a:cxn>
                <a:cxn ang="0">
                  <a:pos x="548" y="48"/>
                </a:cxn>
                <a:cxn ang="0">
                  <a:pos x="538" y="45"/>
                </a:cxn>
                <a:cxn ang="0">
                  <a:pos x="526" y="45"/>
                </a:cxn>
                <a:cxn ang="0">
                  <a:pos x="511" y="39"/>
                </a:cxn>
                <a:cxn ang="0">
                  <a:pos x="495" y="31"/>
                </a:cxn>
                <a:cxn ang="0">
                  <a:pos x="477" y="25"/>
                </a:cxn>
                <a:cxn ang="0">
                  <a:pos x="458" y="20"/>
                </a:cxn>
                <a:cxn ang="0">
                  <a:pos x="414" y="11"/>
                </a:cxn>
                <a:cxn ang="0">
                  <a:pos x="364" y="3"/>
                </a:cxn>
                <a:cxn ang="0">
                  <a:pos x="310" y="0"/>
                </a:cxn>
                <a:cxn ang="0">
                  <a:pos x="280" y="0"/>
                </a:cxn>
              </a:cxnLst>
              <a:rect l="0" t="0" r="0" b="0"/>
              <a:pathLst>
                <a:path w="879" h="543">
                  <a:moveTo>
                    <a:pt x="441" y="0"/>
                  </a:moveTo>
                  <a:lnTo>
                    <a:pt x="396" y="0"/>
                  </a:lnTo>
                  <a:lnTo>
                    <a:pt x="352" y="3"/>
                  </a:lnTo>
                  <a:lnTo>
                    <a:pt x="310" y="3"/>
                  </a:lnTo>
                  <a:lnTo>
                    <a:pt x="268" y="6"/>
                  </a:lnTo>
                  <a:lnTo>
                    <a:pt x="232" y="11"/>
                  </a:lnTo>
                  <a:lnTo>
                    <a:pt x="195" y="14"/>
                  </a:lnTo>
                  <a:lnTo>
                    <a:pt x="162" y="20"/>
                  </a:lnTo>
                  <a:lnTo>
                    <a:pt x="145" y="22"/>
                  </a:lnTo>
                  <a:lnTo>
                    <a:pt x="129" y="25"/>
                  </a:lnTo>
                  <a:lnTo>
                    <a:pt x="115" y="28"/>
                  </a:lnTo>
                  <a:lnTo>
                    <a:pt x="101" y="31"/>
                  </a:lnTo>
                  <a:lnTo>
                    <a:pt x="89" y="33"/>
                  </a:lnTo>
                  <a:lnTo>
                    <a:pt x="76" y="39"/>
                  </a:lnTo>
                  <a:lnTo>
                    <a:pt x="64" y="42"/>
                  </a:lnTo>
                  <a:lnTo>
                    <a:pt x="53" y="45"/>
                  </a:lnTo>
                  <a:lnTo>
                    <a:pt x="45" y="47"/>
                  </a:lnTo>
                  <a:lnTo>
                    <a:pt x="36" y="53"/>
                  </a:lnTo>
                  <a:lnTo>
                    <a:pt x="28" y="56"/>
                  </a:lnTo>
                  <a:lnTo>
                    <a:pt x="20" y="61"/>
                  </a:lnTo>
                  <a:lnTo>
                    <a:pt x="14" y="64"/>
                  </a:lnTo>
                  <a:lnTo>
                    <a:pt x="9" y="67"/>
                  </a:lnTo>
                  <a:lnTo>
                    <a:pt x="6" y="72"/>
                  </a:lnTo>
                  <a:lnTo>
                    <a:pt x="3" y="78"/>
                  </a:lnTo>
                  <a:lnTo>
                    <a:pt x="0" y="81"/>
                  </a:lnTo>
                  <a:lnTo>
                    <a:pt x="0" y="86"/>
                  </a:lnTo>
                  <a:lnTo>
                    <a:pt x="0" y="457"/>
                  </a:lnTo>
                  <a:lnTo>
                    <a:pt x="0" y="463"/>
                  </a:lnTo>
                  <a:lnTo>
                    <a:pt x="3" y="468"/>
                  </a:lnTo>
                  <a:lnTo>
                    <a:pt x="6" y="471"/>
                  </a:lnTo>
                  <a:lnTo>
                    <a:pt x="9" y="476"/>
                  </a:lnTo>
                  <a:lnTo>
                    <a:pt x="14" y="479"/>
                  </a:lnTo>
                  <a:lnTo>
                    <a:pt x="20" y="485"/>
                  </a:lnTo>
                  <a:lnTo>
                    <a:pt x="28" y="488"/>
                  </a:lnTo>
                  <a:lnTo>
                    <a:pt x="36" y="490"/>
                  </a:lnTo>
                  <a:lnTo>
                    <a:pt x="45" y="496"/>
                  </a:lnTo>
                  <a:lnTo>
                    <a:pt x="53" y="499"/>
                  </a:lnTo>
                  <a:lnTo>
                    <a:pt x="64" y="502"/>
                  </a:lnTo>
                  <a:lnTo>
                    <a:pt x="76" y="507"/>
                  </a:lnTo>
                  <a:lnTo>
                    <a:pt x="89" y="510"/>
                  </a:lnTo>
                  <a:lnTo>
                    <a:pt x="101" y="513"/>
                  </a:lnTo>
                  <a:lnTo>
                    <a:pt x="115" y="515"/>
                  </a:lnTo>
                  <a:lnTo>
                    <a:pt x="129" y="518"/>
                  </a:lnTo>
                  <a:lnTo>
                    <a:pt x="145" y="521"/>
                  </a:lnTo>
                  <a:lnTo>
                    <a:pt x="162" y="524"/>
                  </a:lnTo>
                  <a:lnTo>
                    <a:pt x="195" y="529"/>
                  </a:lnTo>
                  <a:lnTo>
                    <a:pt x="232" y="532"/>
                  </a:lnTo>
                  <a:lnTo>
                    <a:pt x="268" y="538"/>
                  </a:lnTo>
                  <a:lnTo>
                    <a:pt x="310" y="541"/>
                  </a:lnTo>
                  <a:lnTo>
                    <a:pt x="352" y="541"/>
                  </a:lnTo>
                  <a:lnTo>
                    <a:pt x="396" y="543"/>
                  </a:lnTo>
                  <a:lnTo>
                    <a:pt x="441" y="543"/>
                  </a:lnTo>
                  <a:lnTo>
                    <a:pt x="486" y="543"/>
                  </a:lnTo>
                  <a:lnTo>
                    <a:pt x="530" y="541"/>
                  </a:lnTo>
                  <a:lnTo>
                    <a:pt x="572" y="541"/>
                  </a:lnTo>
                  <a:lnTo>
                    <a:pt x="611" y="538"/>
                  </a:lnTo>
                  <a:lnTo>
                    <a:pt x="650" y="532"/>
                  </a:lnTo>
                  <a:lnTo>
                    <a:pt x="686" y="529"/>
                  </a:lnTo>
                  <a:lnTo>
                    <a:pt x="720" y="524"/>
                  </a:lnTo>
                  <a:lnTo>
                    <a:pt x="737" y="521"/>
                  </a:lnTo>
                  <a:lnTo>
                    <a:pt x="750" y="518"/>
                  </a:lnTo>
                  <a:lnTo>
                    <a:pt x="764" y="515"/>
                  </a:lnTo>
                  <a:lnTo>
                    <a:pt x="778" y="513"/>
                  </a:lnTo>
                  <a:lnTo>
                    <a:pt x="792" y="510"/>
                  </a:lnTo>
                  <a:lnTo>
                    <a:pt x="803" y="507"/>
                  </a:lnTo>
                  <a:lnTo>
                    <a:pt x="815" y="502"/>
                  </a:lnTo>
                  <a:lnTo>
                    <a:pt x="826" y="499"/>
                  </a:lnTo>
                  <a:lnTo>
                    <a:pt x="837" y="496"/>
                  </a:lnTo>
                  <a:lnTo>
                    <a:pt x="845" y="490"/>
                  </a:lnTo>
                  <a:lnTo>
                    <a:pt x="854" y="488"/>
                  </a:lnTo>
                  <a:lnTo>
                    <a:pt x="859" y="485"/>
                  </a:lnTo>
                  <a:lnTo>
                    <a:pt x="865" y="479"/>
                  </a:lnTo>
                  <a:lnTo>
                    <a:pt x="870" y="476"/>
                  </a:lnTo>
                  <a:lnTo>
                    <a:pt x="873" y="471"/>
                  </a:lnTo>
                  <a:lnTo>
                    <a:pt x="876" y="468"/>
                  </a:lnTo>
                  <a:lnTo>
                    <a:pt x="879" y="463"/>
                  </a:lnTo>
                  <a:lnTo>
                    <a:pt x="879" y="457"/>
                  </a:lnTo>
                  <a:lnTo>
                    <a:pt x="879" y="86"/>
                  </a:lnTo>
                  <a:lnTo>
                    <a:pt x="879" y="81"/>
                  </a:lnTo>
                  <a:lnTo>
                    <a:pt x="876" y="78"/>
                  </a:lnTo>
                  <a:lnTo>
                    <a:pt x="873" y="72"/>
                  </a:lnTo>
                  <a:lnTo>
                    <a:pt x="870" y="67"/>
                  </a:lnTo>
                  <a:lnTo>
                    <a:pt x="865" y="64"/>
                  </a:lnTo>
                  <a:lnTo>
                    <a:pt x="859" y="61"/>
                  </a:lnTo>
                  <a:lnTo>
                    <a:pt x="854" y="56"/>
                  </a:lnTo>
                  <a:lnTo>
                    <a:pt x="845" y="53"/>
                  </a:lnTo>
                  <a:lnTo>
                    <a:pt x="837" y="47"/>
                  </a:lnTo>
                  <a:lnTo>
                    <a:pt x="826" y="45"/>
                  </a:lnTo>
                  <a:lnTo>
                    <a:pt x="815" y="42"/>
                  </a:lnTo>
                  <a:lnTo>
                    <a:pt x="803" y="39"/>
                  </a:lnTo>
                  <a:lnTo>
                    <a:pt x="792" y="33"/>
                  </a:lnTo>
                  <a:lnTo>
                    <a:pt x="778" y="31"/>
                  </a:lnTo>
                  <a:lnTo>
                    <a:pt x="764" y="28"/>
                  </a:lnTo>
                  <a:lnTo>
                    <a:pt x="750" y="25"/>
                  </a:lnTo>
                  <a:lnTo>
                    <a:pt x="737" y="22"/>
                  </a:lnTo>
                  <a:lnTo>
                    <a:pt x="720" y="20"/>
                  </a:lnTo>
                  <a:lnTo>
                    <a:pt x="686" y="14"/>
                  </a:lnTo>
                  <a:lnTo>
                    <a:pt x="650" y="11"/>
                  </a:lnTo>
                  <a:lnTo>
                    <a:pt x="611" y="6"/>
                  </a:lnTo>
                  <a:lnTo>
                    <a:pt x="572" y="3"/>
                  </a:lnTo>
                  <a:lnTo>
                    <a:pt x="530" y="3"/>
                  </a:lnTo>
                  <a:lnTo>
                    <a:pt x="486" y="0"/>
                  </a:lnTo>
                  <a:lnTo>
                    <a:pt x="441"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81" name="未知"/>
            <p:cNvSpPr/>
            <p:nvPr/>
          </p:nvSpPr>
          <p:spPr>
            <a:xfrm>
              <a:off x="1749" y="864"/>
              <a:ext cx="849" cy="83"/>
            </a:xfrm>
            <a:custGeom>
              <a:avLst/>
              <a:gdLst/>
              <a:ahLst/>
              <a:cxnLst>
                <a:cxn ang="0">
                  <a:pos x="0" y="0"/>
                </a:cxn>
                <a:cxn ang="0">
                  <a:pos x="0" y="3"/>
                </a:cxn>
                <a:cxn ang="0">
                  <a:pos x="3" y="9"/>
                </a:cxn>
                <a:cxn ang="0">
                  <a:pos x="6" y="12"/>
                </a:cxn>
                <a:cxn ang="0">
                  <a:pos x="9" y="17"/>
                </a:cxn>
                <a:cxn ang="0">
                  <a:pos x="14" y="20"/>
                </a:cxn>
                <a:cxn ang="0">
                  <a:pos x="14" y="25"/>
                </a:cxn>
                <a:cxn ang="0">
                  <a:pos x="15" y="28"/>
                </a:cxn>
                <a:cxn ang="0">
                  <a:pos x="23" y="34"/>
                </a:cxn>
                <a:cxn ang="0">
                  <a:pos x="31" y="37"/>
                </a:cxn>
                <a:cxn ang="0">
                  <a:pos x="35" y="39"/>
                </a:cxn>
                <a:cxn ang="0">
                  <a:pos x="40" y="42"/>
                </a:cxn>
                <a:cxn ang="0">
                  <a:pos x="49" y="42"/>
                </a:cxn>
                <a:cxn ang="0">
                  <a:pos x="57" y="42"/>
                </a:cxn>
                <a:cxn ang="0">
                  <a:pos x="65" y="42"/>
                </a:cxn>
                <a:cxn ang="0">
                  <a:pos x="72" y="43"/>
                </a:cxn>
                <a:cxn ang="0">
                  <a:pos x="83" y="46"/>
                </a:cxn>
                <a:cxn ang="0">
                  <a:pos x="93" y="49"/>
                </a:cxn>
                <a:cxn ang="0">
                  <a:pos x="103" y="51"/>
                </a:cxn>
                <a:cxn ang="0">
                  <a:pos x="124" y="57"/>
                </a:cxn>
                <a:cxn ang="0">
                  <a:pos x="148" y="63"/>
                </a:cxn>
                <a:cxn ang="0">
                  <a:pos x="171" y="65"/>
                </a:cxn>
                <a:cxn ang="0">
                  <a:pos x="197" y="68"/>
                </a:cxn>
                <a:cxn ang="0">
                  <a:pos x="225" y="71"/>
                </a:cxn>
                <a:cxn ang="0">
                  <a:pos x="251" y="71"/>
                </a:cxn>
                <a:cxn ang="0">
                  <a:pos x="280" y="71"/>
                </a:cxn>
                <a:cxn ang="0">
                  <a:pos x="310" y="71"/>
                </a:cxn>
                <a:cxn ang="0">
                  <a:pos x="338" y="71"/>
                </a:cxn>
                <a:cxn ang="0">
                  <a:pos x="364" y="68"/>
                </a:cxn>
                <a:cxn ang="0">
                  <a:pos x="389" y="65"/>
                </a:cxn>
                <a:cxn ang="0">
                  <a:pos x="414" y="63"/>
                </a:cxn>
                <a:cxn ang="0">
                  <a:pos x="437" y="57"/>
                </a:cxn>
                <a:cxn ang="0">
                  <a:pos x="458" y="51"/>
                </a:cxn>
                <a:cxn ang="0">
                  <a:pos x="470" y="49"/>
                </a:cxn>
                <a:cxn ang="0">
                  <a:pos x="477" y="46"/>
                </a:cxn>
                <a:cxn ang="0">
                  <a:pos x="487" y="43"/>
                </a:cxn>
                <a:cxn ang="0">
                  <a:pos x="495" y="42"/>
                </a:cxn>
                <a:cxn ang="0">
                  <a:pos x="505" y="42"/>
                </a:cxn>
                <a:cxn ang="0">
                  <a:pos x="511" y="42"/>
                </a:cxn>
                <a:cxn ang="0">
                  <a:pos x="519" y="42"/>
                </a:cxn>
                <a:cxn ang="0">
                  <a:pos x="526" y="39"/>
                </a:cxn>
                <a:cxn ang="0">
                  <a:pos x="532" y="37"/>
                </a:cxn>
                <a:cxn ang="0">
                  <a:pos x="538" y="34"/>
                </a:cxn>
                <a:cxn ang="0">
                  <a:pos x="544" y="28"/>
                </a:cxn>
                <a:cxn ang="0">
                  <a:pos x="548" y="25"/>
                </a:cxn>
                <a:cxn ang="0">
                  <a:pos x="550" y="20"/>
                </a:cxn>
                <a:cxn ang="0">
                  <a:pos x="553" y="17"/>
                </a:cxn>
                <a:cxn ang="0">
                  <a:pos x="555" y="12"/>
                </a:cxn>
                <a:cxn ang="0">
                  <a:pos x="558" y="9"/>
                </a:cxn>
                <a:cxn ang="0">
                  <a:pos x="560" y="3"/>
                </a:cxn>
                <a:cxn ang="0">
                  <a:pos x="560" y="0"/>
                </a:cxn>
              </a:cxnLst>
              <a:rect l="0" t="0" r="0" b="0"/>
              <a:pathLst>
                <a:path w="879" h="84">
                  <a:moveTo>
                    <a:pt x="0" y="0"/>
                  </a:moveTo>
                  <a:lnTo>
                    <a:pt x="0" y="3"/>
                  </a:lnTo>
                  <a:lnTo>
                    <a:pt x="3" y="9"/>
                  </a:lnTo>
                  <a:lnTo>
                    <a:pt x="6" y="12"/>
                  </a:lnTo>
                  <a:lnTo>
                    <a:pt x="9" y="17"/>
                  </a:lnTo>
                  <a:lnTo>
                    <a:pt x="14" y="20"/>
                  </a:lnTo>
                  <a:lnTo>
                    <a:pt x="20" y="25"/>
                  </a:lnTo>
                  <a:lnTo>
                    <a:pt x="28" y="28"/>
                  </a:lnTo>
                  <a:lnTo>
                    <a:pt x="36" y="34"/>
                  </a:lnTo>
                  <a:lnTo>
                    <a:pt x="45" y="37"/>
                  </a:lnTo>
                  <a:lnTo>
                    <a:pt x="53" y="39"/>
                  </a:lnTo>
                  <a:lnTo>
                    <a:pt x="64" y="45"/>
                  </a:lnTo>
                  <a:lnTo>
                    <a:pt x="76" y="48"/>
                  </a:lnTo>
                  <a:lnTo>
                    <a:pt x="89" y="51"/>
                  </a:lnTo>
                  <a:lnTo>
                    <a:pt x="101" y="53"/>
                  </a:lnTo>
                  <a:lnTo>
                    <a:pt x="115" y="56"/>
                  </a:lnTo>
                  <a:lnTo>
                    <a:pt x="129" y="59"/>
                  </a:lnTo>
                  <a:lnTo>
                    <a:pt x="145" y="62"/>
                  </a:lnTo>
                  <a:lnTo>
                    <a:pt x="162" y="64"/>
                  </a:lnTo>
                  <a:lnTo>
                    <a:pt x="195" y="70"/>
                  </a:lnTo>
                  <a:lnTo>
                    <a:pt x="232" y="76"/>
                  </a:lnTo>
                  <a:lnTo>
                    <a:pt x="268" y="78"/>
                  </a:lnTo>
                  <a:lnTo>
                    <a:pt x="310" y="81"/>
                  </a:lnTo>
                  <a:lnTo>
                    <a:pt x="352" y="84"/>
                  </a:lnTo>
                  <a:lnTo>
                    <a:pt x="396" y="84"/>
                  </a:lnTo>
                  <a:lnTo>
                    <a:pt x="441" y="84"/>
                  </a:lnTo>
                  <a:lnTo>
                    <a:pt x="486" y="84"/>
                  </a:lnTo>
                  <a:lnTo>
                    <a:pt x="530" y="84"/>
                  </a:lnTo>
                  <a:lnTo>
                    <a:pt x="572" y="81"/>
                  </a:lnTo>
                  <a:lnTo>
                    <a:pt x="611" y="78"/>
                  </a:lnTo>
                  <a:lnTo>
                    <a:pt x="650" y="76"/>
                  </a:lnTo>
                  <a:lnTo>
                    <a:pt x="686" y="70"/>
                  </a:lnTo>
                  <a:lnTo>
                    <a:pt x="720" y="64"/>
                  </a:lnTo>
                  <a:lnTo>
                    <a:pt x="737" y="62"/>
                  </a:lnTo>
                  <a:lnTo>
                    <a:pt x="750" y="59"/>
                  </a:lnTo>
                  <a:lnTo>
                    <a:pt x="764" y="56"/>
                  </a:lnTo>
                  <a:lnTo>
                    <a:pt x="778" y="53"/>
                  </a:lnTo>
                  <a:lnTo>
                    <a:pt x="792" y="51"/>
                  </a:lnTo>
                  <a:lnTo>
                    <a:pt x="803" y="48"/>
                  </a:lnTo>
                  <a:lnTo>
                    <a:pt x="815" y="45"/>
                  </a:lnTo>
                  <a:lnTo>
                    <a:pt x="826" y="39"/>
                  </a:lnTo>
                  <a:lnTo>
                    <a:pt x="837" y="37"/>
                  </a:lnTo>
                  <a:lnTo>
                    <a:pt x="845" y="34"/>
                  </a:lnTo>
                  <a:lnTo>
                    <a:pt x="854" y="28"/>
                  </a:lnTo>
                  <a:lnTo>
                    <a:pt x="859" y="25"/>
                  </a:lnTo>
                  <a:lnTo>
                    <a:pt x="865" y="20"/>
                  </a:lnTo>
                  <a:lnTo>
                    <a:pt x="870" y="17"/>
                  </a:lnTo>
                  <a:lnTo>
                    <a:pt x="873" y="12"/>
                  </a:lnTo>
                  <a:lnTo>
                    <a:pt x="876" y="9"/>
                  </a:lnTo>
                  <a:lnTo>
                    <a:pt x="879" y="3"/>
                  </a:lnTo>
                  <a:lnTo>
                    <a:pt x="879"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82" name="Rectangle 57"/>
            <p:cNvSpPr/>
            <p:nvPr/>
          </p:nvSpPr>
          <p:spPr>
            <a:xfrm>
              <a:off x="2082" y="1039"/>
              <a:ext cx="179" cy="187"/>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DB</a:t>
              </a:r>
              <a:endParaRPr lang="de-DE" altLang="en-US" sz="2400" dirty="0">
                <a:latin typeface="Tahoma" panose="020B0604030504040204" pitchFamily="2" charset="0"/>
                <a:ea typeface="宋体" panose="02010600030101010101" pitchFamily="2" charset="-122"/>
              </a:endParaRPr>
            </a:p>
          </p:txBody>
        </p:sp>
        <p:sp>
          <p:nvSpPr>
            <p:cNvPr id="83" name="Rectangle 58"/>
            <p:cNvSpPr/>
            <p:nvPr/>
          </p:nvSpPr>
          <p:spPr>
            <a:xfrm>
              <a:off x="2258" y="1085"/>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84" name="Rectangle 59"/>
            <p:cNvSpPr/>
            <p:nvPr/>
          </p:nvSpPr>
          <p:spPr>
            <a:xfrm>
              <a:off x="417" y="779"/>
              <a:ext cx="1090" cy="753"/>
            </a:xfrm>
            <a:prstGeom prst="rect">
              <a:avLst/>
            </a:prstGeom>
            <a:solidFill>
              <a:srgbClr val="CCFFCC"/>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85" name="Rectangle 60"/>
            <p:cNvSpPr/>
            <p:nvPr/>
          </p:nvSpPr>
          <p:spPr>
            <a:xfrm rot="5400000">
              <a:off x="961" y="1072"/>
              <a:ext cx="65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数据库安全</a:t>
              </a:r>
              <a:endParaRPr lang="de-DE" altLang="en-US" sz="2400" dirty="0">
                <a:latin typeface="Tahoma" panose="020B0604030504040204" pitchFamily="2" charset="0"/>
                <a:ea typeface="宋体" panose="02010600030101010101" pitchFamily="2" charset="-122"/>
              </a:endParaRPr>
            </a:p>
          </p:txBody>
        </p:sp>
        <p:sp>
          <p:nvSpPr>
            <p:cNvPr id="86" name="Rectangle 61"/>
            <p:cNvSpPr/>
            <p:nvPr/>
          </p:nvSpPr>
          <p:spPr>
            <a:xfrm rot="5400000">
              <a:off x="1282" y="1398"/>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87" name="Rectangle 62"/>
            <p:cNvSpPr/>
            <p:nvPr/>
          </p:nvSpPr>
          <p:spPr>
            <a:xfrm rot="5400000">
              <a:off x="816" y="997"/>
              <a:ext cx="52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并发控制</a:t>
              </a:r>
              <a:endParaRPr lang="de-DE" altLang="en-US" sz="2400" dirty="0">
                <a:latin typeface="Tahoma" panose="020B0604030504040204" pitchFamily="2" charset="0"/>
                <a:ea typeface="宋体" panose="02010600030101010101" pitchFamily="2" charset="-122"/>
              </a:endParaRPr>
            </a:p>
          </p:txBody>
        </p:sp>
        <p:sp>
          <p:nvSpPr>
            <p:cNvPr id="88" name="Rectangle 63"/>
            <p:cNvSpPr/>
            <p:nvPr/>
          </p:nvSpPr>
          <p:spPr>
            <a:xfrm rot="5400000">
              <a:off x="1071" y="1264"/>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89" name="Rectangle 64"/>
            <p:cNvSpPr/>
            <p:nvPr/>
          </p:nvSpPr>
          <p:spPr>
            <a:xfrm rot="5400000">
              <a:off x="592" y="997"/>
              <a:ext cx="52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故障恢复</a:t>
              </a:r>
              <a:endParaRPr lang="de-DE" altLang="en-US" sz="2400" dirty="0">
                <a:latin typeface="Tahoma" panose="020B0604030504040204" pitchFamily="2" charset="0"/>
                <a:ea typeface="宋体" panose="02010600030101010101" pitchFamily="2" charset="-122"/>
              </a:endParaRPr>
            </a:p>
          </p:txBody>
        </p:sp>
        <p:sp>
          <p:nvSpPr>
            <p:cNvPr id="90" name="Rectangle 65"/>
            <p:cNvSpPr/>
            <p:nvPr/>
          </p:nvSpPr>
          <p:spPr>
            <a:xfrm rot="5400000">
              <a:off x="848" y="1264"/>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91" name="Rectangle 66"/>
            <p:cNvSpPr/>
            <p:nvPr/>
          </p:nvSpPr>
          <p:spPr>
            <a:xfrm rot="5400000">
              <a:off x="320" y="1072"/>
              <a:ext cx="65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完整性限制</a:t>
              </a:r>
              <a:endParaRPr lang="de-DE" altLang="en-US" sz="2400" dirty="0">
                <a:latin typeface="Tahoma" panose="020B0604030504040204" pitchFamily="2" charset="0"/>
                <a:ea typeface="宋体" panose="02010600030101010101" pitchFamily="2" charset="-122"/>
              </a:endParaRPr>
            </a:p>
          </p:txBody>
        </p:sp>
        <p:sp>
          <p:nvSpPr>
            <p:cNvPr id="92" name="未知"/>
            <p:cNvSpPr/>
            <p:nvPr/>
          </p:nvSpPr>
          <p:spPr>
            <a:xfrm>
              <a:off x="538" y="565"/>
              <a:ext cx="848" cy="214"/>
            </a:xfrm>
            <a:custGeom>
              <a:avLst/>
              <a:gdLst/>
              <a:ahLst/>
              <a:cxnLst>
                <a:cxn ang="0">
                  <a:pos x="551" y="178"/>
                </a:cxn>
                <a:cxn ang="0">
                  <a:pos x="551" y="171"/>
                </a:cxn>
                <a:cxn ang="0">
                  <a:pos x="551" y="164"/>
                </a:cxn>
                <a:cxn ang="0">
                  <a:pos x="546" y="149"/>
                </a:cxn>
                <a:cxn ang="0">
                  <a:pos x="543" y="130"/>
                </a:cxn>
                <a:cxn ang="0">
                  <a:pos x="541" y="121"/>
                </a:cxn>
                <a:cxn ang="0">
                  <a:pos x="540" y="113"/>
                </a:cxn>
                <a:cxn ang="0">
                  <a:pos x="536" y="107"/>
                </a:cxn>
                <a:cxn ang="0">
                  <a:pos x="532" y="105"/>
                </a:cxn>
                <a:cxn ang="0">
                  <a:pos x="527" y="102"/>
                </a:cxn>
                <a:cxn ang="0">
                  <a:pos x="523" y="99"/>
                </a:cxn>
                <a:cxn ang="0">
                  <a:pos x="521" y="98"/>
                </a:cxn>
                <a:cxn ang="0">
                  <a:pos x="514" y="96"/>
                </a:cxn>
                <a:cxn ang="0">
                  <a:pos x="510" y="95"/>
                </a:cxn>
                <a:cxn ang="0">
                  <a:pos x="506" y="95"/>
                </a:cxn>
                <a:cxn ang="0">
                  <a:pos x="321" y="95"/>
                </a:cxn>
                <a:cxn ang="0">
                  <a:pos x="317" y="95"/>
                </a:cxn>
                <a:cxn ang="0">
                  <a:pos x="313" y="93"/>
                </a:cxn>
                <a:cxn ang="0">
                  <a:pos x="308" y="90"/>
                </a:cxn>
                <a:cxn ang="0">
                  <a:pos x="304" y="87"/>
                </a:cxn>
                <a:cxn ang="0">
                  <a:pos x="301" y="81"/>
                </a:cxn>
                <a:cxn ang="0">
                  <a:pos x="296" y="76"/>
                </a:cxn>
                <a:cxn ang="0">
                  <a:pos x="293" y="70"/>
                </a:cxn>
                <a:cxn ang="0">
                  <a:pos x="287" y="65"/>
                </a:cxn>
                <a:cxn ang="0">
                  <a:pos x="287" y="56"/>
                </a:cxn>
                <a:cxn ang="0">
                  <a:pos x="284" y="48"/>
                </a:cxn>
                <a:cxn ang="0">
                  <a:pos x="279" y="36"/>
                </a:cxn>
                <a:cxn ang="0">
                  <a:pos x="277" y="33"/>
                </a:cxn>
                <a:cxn ang="0">
                  <a:pos x="277" y="22"/>
                </a:cxn>
                <a:cxn ang="0">
                  <a:pos x="277" y="11"/>
                </a:cxn>
                <a:cxn ang="0">
                  <a:pos x="277" y="0"/>
                </a:cxn>
                <a:cxn ang="0">
                  <a:pos x="277" y="11"/>
                </a:cxn>
                <a:cxn ang="0">
                  <a:pos x="276" y="22"/>
                </a:cxn>
                <a:cxn ang="0">
                  <a:pos x="273" y="36"/>
                </a:cxn>
                <a:cxn ang="0">
                  <a:pos x="267" y="48"/>
                </a:cxn>
                <a:cxn ang="0">
                  <a:pos x="266" y="56"/>
                </a:cxn>
                <a:cxn ang="0">
                  <a:pos x="263" y="65"/>
                </a:cxn>
                <a:cxn ang="0">
                  <a:pos x="258" y="70"/>
                </a:cxn>
                <a:cxn ang="0">
                  <a:pos x="256" y="76"/>
                </a:cxn>
                <a:cxn ang="0">
                  <a:pos x="252" y="81"/>
                </a:cxn>
                <a:cxn ang="0">
                  <a:pos x="249" y="87"/>
                </a:cxn>
                <a:cxn ang="0">
                  <a:pos x="243" y="90"/>
                </a:cxn>
                <a:cxn ang="0">
                  <a:pos x="240" y="93"/>
                </a:cxn>
                <a:cxn ang="0">
                  <a:pos x="234" y="95"/>
                </a:cxn>
                <a:cxn ang="0">
                  <a:pos x="231" y="95"/>
                </a:cxn>
                <a:cxn ang="0">
                  <a:pos x="48" y="95"/>
                </a:cxn>
                <a:cxn ang="0">
                  <a:pos x="41" y="95"/>
                </a:cxn>
                <a:cxn ang="0">
                  <a:pos x="37" y="96"/>
                </a:cxn>
                <a:cxn ang="0">
                  <a:pos x="34" y="98"/>
                </a:cxn>
                <a:cxn ang="0">
                  <a:pos x="30" y="99"/>
                </a:cxn>
                <a:cxn ang="0">
                  <a:pos x="26" y="102"/>
                </a:cxn>
                <a:cxn ang="0">
                  <a:pos x="21" y="105"/>
                </a:cxn>
                <a:cxn ang="0">
                  <a:pos x="15" y="107"/>
                </a:cxn>
                <a:cxn ang="0">
                  <a:pos x="14" y="113"/>
                </a:cxn>
                <a:cxn ang="0">
                  <a:pos x="14" y="121"/>
                </a:cxn>
                <a:cxn ang="0">
                  <a:pos x="14" y="130"/>
                </a:cxn>
                <a:cxn ang="0">
                  <a:pos x="6" y="149"/>
                </a:cxn>
                <a:cxn ang="0">
                  <a:pos x="3" y="156"/>
                </a:cxn>
                <a:cxn ang="0">
                  <a:pos x="3" y="164"/>
                </a:cxn>
                <a:cxn ang="0">
                  <a:pos x="0" y="171"/>
                </a:cxn>
                <a:cxn ang="0">
                  <a:pos x="0" y="178"/>
                </a:cxn>
              </a:cxnLst>
              <a:rect l="0" t="0" r="0" b="0"/>
              <a:pathLst>
                <a:path w="879" h="217">
                  <a:moveTo>
                    <a:pt x="879" y="217"/>
                  </a:moveTo>
                  <a:lnTo>
                    <a:pt x="879" y="206"/>
                  </a:lnTo>
                  <a:lnTo>
                    <a:pt x="879" y="195"/>
                  </a:lnTo>
                  <a:lnTo>
                    <a:pt x="873" y="175"/>
                  </a:lnTo>
                  <a:lnTo>
                    <a:pt x="868" y="156"/>
                  </a:lnTo>
                  <a:lnTo>
                    <a:pt x="862" y="147"/>
                  </a:lnTo>
                  <a:lnTo>
                    <a:pt x="859" y="139"/>
                  </a:lnTo>
                  <a:lnTo>
                    <a:pt x="854" y="133"/>
                  </a:lnTo>
                  <a:lnTo>
                    <a:pt x="848" y="128"/>
                  </a:lnTo>
                  <a:lnTo>
                    <a:pt x="842" y="122"/>
                  </a:lnTo>
                  <a:lnTo>
                    <a:pt x="834" y="117"/>
                  </a:lnTo>
                  <a:lnTo>
                    <a:pt x="829" y="114"/>
                  </a:lnTo>
                  <a:lnTo>
                    <a:pt x="820" y="111"/>
                  </a:lnTo>
                  <a:lnTo>
                    <a:pt x="815" y="108"/>
                  </a:lnTo>
                  <a:lnTo>
                    <a:pt x="806" y="108"/>
                  </a:lnTo>
                  <a:lnTo>
                    <a:pt x="513" y="108"/>
                  </a:lnTo>
                  <a:lnTo>
                    <a:pt x="505" y="108"/>
                  </a:lnTo>
                  <a:lnTo>
                    <a:pt x="499" y="106"/>
                  </a:lnTo>
                  <a:lnTo>
                    <a:pt x="491" y="103"/>
                  </a:lnTo>
                  <a:lnTo>
                    <a:pt x="485" y="100"/>
                  </a:lnTo>
                  <a:lnTo>
                    <a:pt x="480" y="94"/>
                  </a:lnTo>
                  <a:lnTo>
                    <a:pt x="472" y="89"/>
                  </a:lnTo>
                  <a:lnTo>
                    <a:pt x="466" y="83"/>
                  </a:lnTo>
                  <a:lnTo>
                    <a:pt x="460" y="78"/>
                  </a:lnTo>
                  <a:lnTo>
                    <a:pt x="458" y="69"/>
                  </a:lnTo>
                  <a:lnTo>
                    <a:pt x="452" y="61"/>
                  </a:lnTo>
                  <a:lnTo>
                    <a:pt x="446" y="41"/>
                  </a:lnTo>
                  <a:lnTo>
                    <a:pt x="444" y="33"/>
                  </a:lnTo>
                  <a:lnTo>
                    <a:pt x="441" y="22"/>
                  </a:lnTo>
                  <a:lnTo>
                    <a:pt x="441" y="11"/>
                  </a:lnTo>
                  <a:lnTo>
                    <a:pt x="441" y="0"/>
                  </a:lnTo>
                  <a:lnTo>
                    <a:pt x="441" y="11"/>
                  </a:lnTo>
                  <a:lnTo>
                    <a:pt x="438" y="22"/>
                  </a:lnTo>
                  <a:lnTo>
                    <a:pt x="435" y="41"/>
                  </a:lnTo>
                  <a:lnTo>
                    <a:pt x="427" y="61"/>
                  </a:lnTo>
                  <a:lnTo>
                    <a:pt x="424" y="69"/>
                  </a:lnTo>
                  <a:lnTo>
                    <a:pt x="419" y="78"/>
                  </a:lnTo>
                  <a:lnTo>
                    <a:pt x="413" y="83"/>
                  </a:lnTo>
                  <a:lnTo>
                    <a:pt x="407" y="89"/>
                  </a:lnTo>
                  <a:lnTo>
                    <a:pt x="402" y="94"/>
                  </a:lnTo>
                  <a:lnTo>
                    <a:pt x="396" y="100"/>
                  </a:lnTo>
                  <a:lnTo>
                    <a:pt x="388" y="103"/>
                  </a:lnTo>
                  <a:lnTo>
                    <a:pt x="382" y="106"/>
                  </a:lnTo>
                  <a:lnTo>
                    <a:pt x="374" y="108"/>
                  </a:lnTo>
                  <a:lnTo>
                    <a:pt x="368" y="108"/>
                  </a:lnTo>
                  <a:lnTo>
                    <a:pt x="76" y="108"/>
                  </a:lnTo>
                  <a:lnTo>
                    <a:pt x="67" y="108"/>
                  </a:lnTo>
                  <a:lnTo>
                    <a:pt x="59" y="111"/>
                  </a:lnTo>
                  <a:lnTo>
                    <a:pt x="53" y="114"/>
                  </a:lnTo>
                  <a:lnTo>
                    <a:pt x="45" y="117"/>
                  </a:lnTo>
                  <a:lnTo>
                    <a:pt x="39" y="122"/>
                  </a:lnTo>
                  <a:lnTo>
                    <a:pt x="34" y="128"/>
                  </a:lnTo>
                  <a:lnTo>
                    <a:pt x="28" y="133"/>
                  </a:lnTo>
                  <a:lnTo>
                    <a:pt x="23" y="139"/>
                  </a:lnTo>
                  <a:lnTo>
                    <a:pt x="17" y="147"/>
                  </a:lnTo>
                  <a:lnTo>
                    <a:pt x="14" y="156"/>
                  </a:lnTo>
                  <a:lnTo>
                    <a:pt x="6" y="175"/>
                  </a:lnTo>
                  <a:lnTo>
                    <a:pt x="3" y="184"/>
                  </a:lnTo>
                  <a:lnTo>
                    <a:pt x="3" y="195"/>
                  </a:lnTo>
                  <a:lnTo>
                    <a:pt x="0" y="206"/>
                  </a:lnTo>
                  <a:lnTo>
                    <a:pt x="0" y="217"/>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94" name="Line 69"/>
            <p:cNvSpPr/>
            <p:nvPr/>
          </p:nvSpPr>
          <p:spPr>
            <a:xfrm flipV="1">
              <a:off x="2165" y="581"/>
              <a:ext cx="0" cy="288"/>
            </a:xfrm>
            <a:prstGeom prst="line">
              <a:avLst/>
            </a:prstGeom>
            <a:ln w="25400" cap="flat" cmpd="sng">
              <a:solidFill>
                <a:srgbClr val="000000"/>
              </a:solidFill>
              <a:prstDash val="solid"/>
              <a:round/>
              <a:headEnd type="triangle" w="med" len="med"/>
              <a:tailEnd type="triangle" w="med" len="med"/>
            </a:ln>
          </p:spPr>
        </p:sp>
      </p:grpSp>
      <p:sp>
        <p:nvSpPr>
          <p:cNvPr id="150" name="椭圆 149"/>
          <p:cNvSpPr/>
          <p:nvPr/>
        </p:nvSpPr>
        <p:spPr>
          <a:xfrm>
            <a:off x="79370" y="3186100"/>
            <a:ext cx="5114930" cy="298881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51" name="圆角矩形标注 150"/>
          <p:cNvSpPr/>
          <p:nvPr/>
        </p:nvSpPr>
        <p:spPr>
          <a:xfrm>
            <a:off x="714374" y="2210434"/>
            <a:ext cx="3669507" cy="677265"/>
          </a:xfrm>
          <a:prstGeom prst="wedgeRoundRectCallout">
            <a:avLst>
              <a:gd name="adj1" fmla="val -30465"/>
              <a:gd name="adj2" fmla="val 12373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buNone/>
            </a:pPr>
            <a:r>
              <a:rPr lang="zh-CN" altLang="en-US" sz="2400" dirty="0">
                <a:solidFill>
                  <a:srgbClr val="FF0000"/>
                </a:solidFill>
              </a:rPr>
              <a:t>对应第</a:t>
            </a:r>
            <a:r>
              <a:rPr lang="en-US" altLang="zh-CN" sz="2400" dirty="0">
                <a:solidFill>
                  <a:srgbClr val="FF0000"/>
                </a:solidFill>
              </a:rPr>
              <a:t>3</a:t>
            </a:r>
            <a:r>
              <a:rPr lang="zh-CN" altLang="en-US" sz="2400" dirty="0">
                <a:solidFill>
                  <a:srgbClr val="FF0000"/>
                </a:solidFill>
              </a:rPr>
              <a:t>、</a:t>
            </a:r>
            <a:r>
              <a:rPr lang="en-US" altLang="zh-CN" sz="2400" dirty="0">
                <a:solidFill>
                  <a:srgbClr val="FF0000"/>
                </a:solidFill>
              </a:rPr>
              <a:t>5</a:t>
            </a:r>
            <a:r>
              <a:rPr lang="zh-CN" altLang="en-US" sz="2400" dirty="0">
                <a:solidFill>
                  <a:srgbClr val="FF0000"/>
                </a:solidFill>
              </a:rPr>
              <a:t>、</a:t>
            </a:r>
            <a:r>
              <a:rPr lang="en-US" altLang="zh-CN" sz="2400" dirty="0">
                <a:solidFill>
                  <a:srgbClr val="FF0000"/>
                </a:solidFill>
              </a:rPr>
              <a:t>6</a:t>
            </a:r>
            <a:r>
              <a:rPr lang="zh-CN" altLang="en-US" sz="2400" dirty="0">
                <a:solidFill>
                  <a:srgbClr val="FF0000"/>
                </a:solidFill>
              </a:rPr>
              <a:t>章内容</a:t>
            </a:r>
            <a:endParaRPr lang="zh-CN" altLang="en-US" sz="2400" dirty="0">
              <a:solidFill>
                <a:srgbClr val="FF0000"/>
              </a:solidFill>
            </a:endParaRPr>
          </a:p>
        </p:txBody>
      </p:sp>
      <p:sp>
        <p:nvSpPr>
          <p:cNvPr id="59530"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五、数据库系统的总体结构</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59393" name="Rectangle 2"/>
          <p:cNvSpPr/>
          <p:nvPr/>
        </p:nvSpPr>
        <p:spPr>
          <a:xfrm>
            <a:off x="485775" y="765175"/>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各知识点的章节对应关系</a:t>
            </a:r>
            <a:endParaRPr lang="zh-CN" altLang="en-US"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62525" y="5946111"/>
            <a:ext cx="3584575" cy="432009"/>
          </a:xfrm>
          <a:prstGeom prst="rect">
            <a:avLst/>
          </a:prstGeom>
          <a:solidFill>
            <a:srgbClr val="33CCCC"/>
          </a:solidFill>
          <a:ln w="9525">
            <a:noFill/>
          </a:ln>
        </p:spPr>
        <p:txBody>
          <a:bodyPr anchor="t"/>
          <a:lstStyle/>
          <a:p>
            <a:pPr lvl="0" indent="0">
              <a:lnSpc>
                <a:spcPct val="100000"/>
              </a:lnSpc>
              <a:buNone/>
            </a:pPr>
            <a:r>
              <a:rPr lang="de-DE" altLang="en-US" sz="2400" dirty="0">
                <a:solidFill>
                  <a:srgbClr val="000000"/>
                </a:solidFill>
                <a:latin typeface="宋体" panose="02010600030101010101" pitchFamily="2" charset="-122"/>
                <a:ea typeface="宋体" panose="02010600030101010101" pitchFamily="2" charset="-122"/>
              </a:rPr>
              <a:t>数据库系统总体结构图</a:t>
            </a:r>
            <a:endParaRPr lang="de-DE" altLang="en-US" sz="2400" dirty="0">
              <a:latin typeface="Tahoma" panose="020B0604030504040204" pitchFamily="2" charset="0"/>
              <a:ea typeface="宋体" panose="02010600030101010101" pitchFamily="2" charset="-122"/>
            </a:endParaRPr>
          </a:p>
        </p:txBody>
      </p:sp>
      <p:grpSp>
        <p:nvGrpSpPr>
          <p:cNvPr id="5" name="Group 4"/>
          <p:cNvGrpSpPr/>
          <p:nvPr/>
        </p:nvGrpSpPr>
        <p:grpSpPr>
          <a:xfrm>
            <a:off x="4356100" y="1423511"/>
            <a:ext cx="3124200" cy="4818106"/>
            <a:chOff x="0" y="0"/>
            <a:chExt cx="1968" cy="3212"/>
          </a:xfrm>
        </p:grpSpPr>
        <p:sp>
          <p:nvSpPr>
            <p:cNvPr id="135" name="未知"/>
            <p:cNvSpPr>
              <a:spLocks noEditPoints="1"/>
            </p:cNvSpPr>
            <p:nvPr/>
          </p:nvSpPr>
          <p:spPr>
            <a:xfrm>
              <a:off x="336" y="0"/>
              <a:ext cx="41" cy="3212"/>
            </a:xfrm>
            <a:custGeom>
              <a:avLst/>
              <a:gdLst/>
              <a:ahLst/>
              <a:cxnLst>
                <a:cxn ang="0">
                  <a:pos x="26" y="70"/>
                </a:cxn>
                <a:cxn ang="0">
                  <a:pos x="20" y="0"/>
                </a:cxn>
                <a:cxn ang="0">
                  <a:pos x="26" y="128"/>
                </a:cxn>
                <a:cxn ang="0">
                  <a:pos x="20" y="203"/>
                </a:cxn>
                <a:cxn ang="0">
                  <a:pos x="26" y="128"/>
                </a:cxn>
                <a:cxn ang="0">
                  <a:pos x="26" y="324"/>
                </a:cxn>
                <a:cxn ang="0">
                  <a:pos x="17" y="253"/>
                </a:cxn>
                <a:cxn ang="0">
                  <a:pos x="26" y="381"/>
                </a:cxn>
                <a:cxn ang="0">
                  <a:pos x="17" y="454"/>
                </a:cxn>
                <a:cxn ang="0">
                  <a:pos x="26" y="381"/>
                </a:cxn>
                <a:cxn ang="0">
                  <a:pos x="24" y="578"/>
                </a:cxn>
                <a:cxn ang="0">
                  <a:pos x="17" y="507"/>
                </a:cxn>
                <a:cxn ang="0">
                  <a:pos x="24" y="634"/>
                </a:cxn>
                <a:cxn ang="0">
                  <a:pos x="14" y="706"/>
                </a:cxn>
                <a:cxn ang="0">
                  <a:pos x="24" y="634"/>
                </a:cxn>
                <a:cxn ang="0">
                  <a:pos x="21" y="831"/>
                </a:cxn>
                <a:cxn ang="0">
                  <a:pos x="14" y="758"/>
                </a:cxn>
                <a:cxn ang="0">
                  <a:pos x="21" y="887"/>
                </a:cxn>
                <a:cxn ang="0">
                  <a:pos x="14" y="960"/>
                </a:cxn>
                <a:cxn ang="0">
                  <a:pos x="21" y="887"/>
                </a:cxn>
                <a:cxn ang="0">
                  <a:pos x="21" y="1085"/>
                </a:cxn>
                <a:cxn ang="0">
                  <a:pos x="12" y="1012"/>
                </a:cxn>
                <a:cxn ang="0">
                  <a:pos x="21" y="1140"/>
                </a:cxn>
                <a:cxn ang="0">
                  <a:pos x="12" y="1211"/>
                </a:cxn>
                <a:cxn ang="0">
                  <a:pos x="21" y="1140"/>
                </a:cxn>
                <a:cxn ang="0">
                  <a:pos x="21" y="1338"/>
                </a:cxn>
                <a:cxn ang="0">
                  <a:pos x="12" y="1266"/>
                </a:cxn>
                <a:cxn ang="0">
                  <a:pos x="21" y="1392"/>
                </a:cxn>
                <a:cxn ang="0">
                  <a:pos x="9" y="1465"/>
                </a:cxn>
                <a:cxn ang="0">
                  <a:pos x="21" y="1392"/>
                </a:cxn>
                <a:cxn ang="0">
                  <a:pos x="21" y="1592"/>
                </a:cxn>
                <a:cxn ang="0">
                  <a:pos x="9" y="1519"/>
                </a:cxn>
                <a:cxn ang="0">
                  <a:pos x="21" y="1646"/>
                </a:cxn>
                <a:cxn ang="0">
                  <a:pos x="6" y="1718"/>
                </a:cxn>
                <a:cxn ang="0">
                  <a:pos x="21" y="1646"/>
                </a:cxn>
                <a:cxn ang="0">
                  <a:pos x="21" y="1843"/>
                </a:cxn>
                <a:cxn ang="0">
                  <a:pos x="6" y="1772"/>
                </a:cxn>
                <a:cxn ang="0">
                  <a:pos x="21" y="1898"/>
                </a:cxn>
                <a:cxn ang="0">
                  <a:pos x="6" y="1972"/>
                </a:cxn>
                <a:cxn ang="0">
                  <a:pos x="21" y="1898"/>
                </a:cxn>
                <a:cxn ang="0">
                  <a:pos x="21" y="2097"/>
                </a:cxn>
                <a:cxn ang="0">
                  <a:pos x="6" y="2024"/>
                </a:cxn>
                <a:cxn ang="0">
                  <a:pos x="21" y="2152"/>
                </a:cxn>
                <a:cxn ang="0">
                  <a:pos x="3" y="2225"/>
                </a:cxn>
                <a:cxn ang="0">
                  <a:pos x="21" y="2152"/>
                </a:cxn>
                <a:cxn ang="0">
                  <a:pos x="21" y="2350"/>
                </a:cxn>
                <a:cxn ang="0">
                  <a:pos x="3" y="2277"/>
                </a:cxn>
                <a:cxn ang="0">
                  <a:pos x="21" y="2405"/>
                </a:cxn>
                <a:cxn ang="0">
                  <a:pos x="0" y="2478"/>
                </a:cxn>
                <a:cxn ang="0">
                  <a:pos x="21" y="2405"/>
                </a:cxn>
                <a:cxn ang="0">
                  <a:pos x="21" y="2603"/>
                </a:cxn>
                <a:cxn ang="0">
                  <a:pos x="0" y="2531"/>
                </a:cxn>
                <a:cxn ang="0">
                  <a:pos x="20" y="2659"/>
                </a:cxn>
                <a:cxn ang="0">
                  <a:pos x="0" y="2731"/>
                </a:cxn>
                <a:cxn ang="0">
                  <a:pos x="20" y="2659"/>
                </a:cxn>
                <a:cxn ang="0">
                  <a:pos x="20" y="2810"/>
                </a:cxn>
                <a:cxn ang="0">
                  <a:pos x="0" y="2784"/>
                </a:cxn>
              </a:cxnLst>
              <a:rect l="0" t="0" r="0" b="0"/>
              <a:pathLst>
                <a:path w="42" h="3248">
                  <a:moveTo>
                    <a:pt x="42" y="0"/>
                  </a:moveTo>
                  <a:lnTo>
                    <a:pt x="39" y="83"/>
                  </a:lnTo>
                  <a:lnTo>
                    <a:pt x="20" y="83"/>
                  </a:lnTo>
                  <a:lnTo>
                    <a:pt x="20" y="0"/>
                  </a:lnTo>
                  <a:lnTo>
                    <a:pt x="42" y="0"/>
                  </a:lnTo>
                  <a:close/>
                  <a:moveTo>
                    <a:pt x="39" y="147"/>
                  </a:moveTo>
                  <a:lnTo>
                    <a:pt x="39" y="231"/>
                  </a:lnTo>
                  <a:lnTo>
                    <a:pt x="20" y="231"/>
                  </a:lnTo>
                  <a:lnTo>
                    <a:pt x="20" y="147"/>
                  </a:lnTo>
                  <a:lnTo>
                    <a:pt x="39" y="147"/>
                  </a:lnTo>
                  <a:close/>
                  <a:moveTo>
                    <a:pt x="39" y="292"/>
                  </a:moveTo>
                  <a:lnTo>
                    <a:pt x="39" y="376"/>
                  </a:lnTo>
                  <a:lnTo>
                    <a:pt x="17" y="376"/>
                  </a:lnTo>
                  <a:lnTo>
                    <a:pt x="17" y="292"/>
                  </a:lnTo>
                  <a:lnTo>
                    <a:pt x="39" y="292"/>
                  </a:lnTo>
                  <a:close/>
                  <a:moveTo>
                    <a:pt x="39" y="440"/>
                  </a:moveTo>
                  <a:lnTo>
                    <a:pt x="37" y="524"/>
                  </a:lnTo>
                  <a:lnTo>
                    <a:pt x="17" y="524"/>
                  </a:lnTo>
                  <a:lnTo>
                    <a:pt x="17" y="440"/>
                  </a:lnTo>
                  <a:lnTo>
                    <a:pt x="39" y="440"/>
                  </a:lnTo>
                  <a:close/>
                  <a:moveTo>
                    <a:pt x="37" y="585"/>
                  </a:moveTo>
                  <a:lnTo>
                    <a:pt x="37" y="668"/>
                  </a:lnTo>
                  <a:lnTo>
                    <a:pt x="17" y="668"/>
                  </a:lnTo>
                  <a:lnTo>
                    <a:pt x="17" y="585"/>
                  </a:lnTo>
                  <a:lnTo>
                    <a:pt x="37" y="585"/>
                  </a:lnTo>
                  <a:close/>
                  <a:moveTo>
                    <a:pt x="37" y="733"/>
                  </a:moveTo>
                  <a:lnTo>
                    <a:pt x="37" y="816"/>
                  </a:lnTo>
                  <a:lnTo>
                    <a:pt x="14" y="816"/>
                  </a:lnTo>
                  <a:lnTo>
                    <a:pt x="14" y="733"/>
                  </a:lnTo>
                  <a:lnTo>
                    <a:pt x="37" y="733"/>
                  </a:lnTo>
                  <a:close/>
                  <a:moveTo>
                    <a:pt x="37" y="877"/>
                  </a:moveTo>
                  <a:lnTo>
                    <a:pt x="34" y="961"/>
                  </a:lnTo>
                  <a:lnTo>
                    <a:pt x="14" y="961"/>
                  </a:lnTo>
                  <a:lnTo>
                    <a:pt x="14" y="877"/>
                  </a:lnTo>
                  <a:lnTo>
                    <a:pt x="37" y="877"/>
                  </a:lnTo>
                  <a:close/>
                  <a:moveTo>
                    <a:pt x="34" y="1025"/>
                  </a:moveTo>
                  <a:lnTo>
                    <a:pt x="34" y="1109"/>
                  </a:lnTo>
                  <a:lnTo>
                    <a:pt x="14" y="1109"/>
                  </a:lnTo>
                  <a:lnTo>
                    <a:pt x="14" y="1025"/>
                  </a:lnTo>
                  <a:lnTo>
                    <a:pt x="34" y="1025"/>
                  </a:lnTo>
                  <a:close/>
                  <a:moveTo>
                    <a:pt x="34" y="1170"/>
                  </a:moveTo>
                  <a:lnTo>
                    <a:pt x="34" y="1254"/>
                  </a:lnTo>
                  <a:lnTo>
                    <a:pt x="12" y="1254"/>
                  </a:lnTo>
                  <a:lnTo>
                    <a:pt x="12" y="1170"/>
                  </a:lnTo>
                  <a:lnTo>
                    <a:pt x="34" y="1170"/>
                  </a:lnTo>
                  <a:close/>
                  <a:moveTo>
                    <a:pt x="34" y="1318"/>
                  </a:moveTo>
                  <a:lnTo>
                    <a:pt x="31" y="1401"/>
                  </a:lnTo>
                  <a:lnTo>
                    <a:pt x="12" y="1401"/>
                  </a:lnTo>
                  <a:lnTo>
                    <a:pt x="12" y="1318"/>
                  </a:lnTo>
                  <a:lnTo>
                    <a:pt x="34" y="1318"/>
                  </a:lnTo>
                  <a:close/>
                  <a:moveTo>
                    <a:pt x="31" y="1463"/>
                  </a:moveTo>
                  <a:lnTo>
                    <a:pt x="31" y="1546"/>
                  </a:lnTo>
                  <a:lnTo>
                    <a:pt x="9" y="1546"/>
                  </a:lnTo>
                  <a:lnTo>
                    <a:pt x="12" y="1463"/>
                  </a:lnTo>
                  <a:lnTo>
                    <a:pt x="31" y="1463"/>
                  </a:lnTo>
                  <a:close/>
                  <a:moveTo>
                    <a:pt x="31" y="1610"/>
                  </a:moveTo>
                  <a:lnTo>
                    <a:pt x="31" y="1694"/>
                  </a:lnTo>
                  <a:lnTo>
                    <a:pt x="9" y="1694"/>
                  </a:lnTo>
                  <a:lnTo>
                    <a:pt x="9" y="1610"/>
                  </a:lnTo>
                  <a:lnTo>
                    <a:pt x="31" y="1610"/>
                  </a:lnTo>
                  <a:close/>
                  <a:moveTo>
                    <a:pt x="31" y="1755"/>
                  </a:moveTo>
                  <a:lnTo>
                    <a:pt x="28" y="1839"/>
                  </a:lnTo>
                  <a:lnTo>
                    <a:pt x="9" y="1839"/>
                  </a:lnTo>
                  <a:lnTo>
                    <a:pt x="9" y="1755"/>
                  </a:lnTo>
                  <a:lnTo>
                    <a:pt x="31" y="1755"/>
                  </a:lnTo>
                  <a:close/>
                  <a:moveTo>
                    <a:pt x="28" y="1903"/>
                  </a:moveTo>
                  <a:lnTo>
                    <a:pt x="28" y="1986"/>
                  </a:lnTo>
                  <a:lnTo>
                    <a:pt x="6" y="1986"/>
                  </a:lnTo>
                  <a:lnTo>
                    <a:pt x="9" y="1903"/>
                  </a:lnTo>
                  <a:lnTo>
                    <a:pt x="28" y="1903"/>
                  </a:lnTo>
                  <a:close/>
                  <a:moveTo>
                    <a:pt x="28" y="2048"/>
                  </a:moveTo>
                  <a:lnTo>
                    <a:pt x="28" y="2131"/>
                  </a:lnTo>
                  <a:lnTo>
                    <a:pt x="6" y="2131"/>
                  </a:lnTo>
                  <a:lnTo>
                    <a:pt x="6" y="2048"/>
                  </a:lnTo>
                  <a:lnTo>
                    <a:pt x="28" y="2048"/>
                  </a:lnTo>
                  <a:close/>
                  <a:moveTo>
                    <a:pt x="25" y="2195"/>
                  </a:moveTo>
                  <a:lnTo>
                    <a:pt x="25" y="2279"/>
                  </a:lnTo>
                  <a:lnTo>
                    <a:pt x="6" y="2279"/>
                  </a:lnTo>
                  <a:lnTo>
                    <a:pt x="6" y="2195"/>
                  </a:lnTo>
                  <a:lnTo>
                    <a:pt x="25" y="2195"/>
                  </a:lnTo>
                  <a:close/>
                  <a:moveTo>
                    <a:pt x="25" y="2340"/>
                  </a:moveTo>
                  <a:lnTo>
                    <a:pt x="25" y="2424"/>
                  </a:lnTo>
                  <a:lnTo>
                    <a:pt x="3" y="2424"/>
                  </a:lnTo>
                  <a:lnTo>
                    <a:pt x="6" y="2340"/>
                  </a:lnTo>
                  <a:lnTo>
                    <a:pt x="25" y="2340"/>
                  </a:lnTo>
                  <a:close/>
                  <a:moveTo>
                    <a:pt x="25" y="2488"/>
                  </a:moveTo>
                  <a:lnTo>
                    <a:pt x="25" y="2571"/>
                  </a:lnTo>
                  <a:lnTo>
                    <a:pt x="3" y="2571"/>
                  </a:lnTo>
                  <a:lnTo>
                    <a:pt x="3" y="2488"/>
                  </a:lnTo>
                  <a:lnTo>
                    <a:pt x="25" y="2488"/>
                  </a:lnTo>
                  <a:close/>
                  <a:moveTo>
                    <a:pt x="23" y="2633"/>
                  </a:moveTo>
                  <a:lnTo>
                    <a:pt x="23" y="2716"/>
                  </a:lnTo>
                  <a:lnTo>
                    <a:pt x="3" y="2716"/>
                  </a:lnTo>
                  <a:lnTo>
                    <a:pt x="3" y="2633"/>
                  </a:lnTo>
                  <a:lnTo>
                    <a:pt x="23" y="2633"/>
                  </a:lnTo>
                  <a:close/>
                  <a:moveTo>
                    <a:pt x="23" y="2780"/>
                  </a:moveTo>
                  <a:lnTo>
                    <a:pt x="23" y="2864"/>
                  </a:lnTo>
                  <a:lnTo>
                    <a:pt x="0" y="2864"/>
                  </a:lnTo>
                  <a:lnTo>
                    <a:pt x="3" y="2780"/>
                  </a:lnTo>
                  <a:lnTo>
                    <a:pt x="23" y="2780"/>
                  </a:lnTo>
                  <a:close/>
                  <a:moveTo>
                    <a:pt x="23" y="2925"/>
                  </a:moveTo>
                  <a:lnTo>
                    <a:pt x="23" y="3009"/>
                  </a:lnTo>
                  <a:lnTo>
                    <a:pt x="0" y="3009"/>
                  </a:lnTo>
                  <a:lnTo>
                    <a:pt x="0" y="2925"/>
                  </a:lnTo>
                  <a:lnTo>
                    <a:pt x="23" y="2925"/>
                  </a:lnTo>
                  <a:close/>
                  <a:moveTo>
                    <a:pt x="20" y="3073"/>
                  </a:moveTo>
                  <a:lnTo>
                    <a:pt x="20" y="3157"/>
                  </a:lnTo>
                  <a:lnTo>
                    <a:pt x="0" y="3157"/>
                  </a:lnTo>
                  <a:lnTo>
                    <a:pt x="0" y="3073"/>
                  </a:lnTo>
                  <a:lnTo>
                    <a:pt x="20" y="3073"/>
                  </a:lnTo>
                  <a:close/>
                  <a:moveTo>
                    <a:pt x="20" y="3218"/>
                  </a:moveTo>
                  <a:lnTo>
                    <a:pt x="20" y="3248"/>
                  </a:lnTo>
                  <a:lnTo>
                    <a:pt x="0" y="3248"/>
                  </a:lnTo>
                  <a:lnTo>
                    <a:pt x="0" y="3218"/>
                  </a:lnTo>
                  <a:lnTo>
                    <a:pt x="20" y="3218"/>
                  </a:lnTo>
                  <a:close/>
                </a:path>
              </a:pathLst>
            </a:custGeom>
            <a:solidFill>
              <a:srgbClr val="FF0000"/>
            </a:solidFill>
            <a:ln w="4763" cap="flat" cmpd="sng">
              <a:solidFill>
                <a:srgbClr val="FF0000"/>
              </a:solidFill>
              <a:prstDash val="solid"/>
              <a:miter/>
              <a:headEnd type="none" w="med" len="med"/>
              <a:tailEnd type="none" w="med" len="med"/>
            </a:ln>
          </p:spPr>
          <p:txBody>
            <a:bodyPr/>
            <a:lstStyle/>
            <a:p>
              <a:endParaRPr lang="zh-CN" altLang="en-US"/>
            </a:p>
          </p:txBody>
        </p:sp>
        <p:sp>
          <p:nvSpPr>
            <p:cNvPr id="136" name="未知"/>
            <p:cNvSpPr>
              <a:spLocks noEditPoints="1"/>
            </p:cNvSpPr>
            <p:nvPr/>
          </p:nvSpPr>
          <p:spPr>
            <a:xfrm>
              <a:off x="0" y="2160"/>
              <a:ext cx="1690" cy="48"/>
            </a:xfrm>
            <a:custGeom>
              <a:avLst/>
              <a:gdLst/>
              <a:ahLst/>
              <a:cxnLst>
                <a:cxn ang="0">
                  <a:pos x="1189" y="1"/>
                </a:cxn>
                <a:cxn ang="0">
                  <a:pos x="41" y="1"/>
                </a:cxn>
                <a:cxn ang="0">
                  <a:pos x="39" y="1"/>
                </a:cxn>
                <a:cxn ang="0">
                  <a:pos x="37" y="1"/>
                </a:cxn>
                <a:cxn ang="0">
                  <a:pos x="37" y="1"/>
                </a:cxn>
                <a:cxn ang="0">
                  <a:pos x="37" y="1"/>
                </a:cxn>
                <a:cxn ang="0">
                  <a:pos x="37" y="1"/>
                </a:cxn>
                <a:cxn ang="0">
                  <a:pos x="37" y="1"/>
                </a:cxn>
                <a:cxn ang="0">
                  <a:pos x="39" y="1"/>
                </a:cxn>
                <a:cxn ang="0">
                  <a:pos x="41" y="1"/>
                </a:cxn>
                <a:cxn ang="0">
                  <a:pos x="1189" y="1"/>
                </a:cxn>
                <a:cxn ang="0">
                  <a:pos x="1190" y="1"/>
                </a:cxn>
                <a:cxn ang="0">
                  <a:pos x="1192" y="1"/>
                </a:cxn>
                <a:cxn ang="0">
                  <a:pos x="1192" y="1"/>
                </a:cxn>
                <a:cxn ang="0">
                  <a:pos x="1192" y="1"/>
                </a:cxn>
                <a:cxn ang="0">
                  <a:pos x="1192" y="1"/>
                </a:cxn>
                <a:cxn ang="0">
                  <a:pos x="1192" y="1"/>
                </a:cxn>
                <a:cxn ang="0">
                  <a:pos x="1190" y="1"/>
                </a:cxn>
                <a:cxn ang="0">
                  <a:pos x="1189" y="1"/>
                </a:cxn>
                <a:cxn ang="0">
                  <a:pos x="1189" y="1"/>
                </a:cxn>
                <a:cxn ang="0">
                  <a:pos x="41" y="1"/>
                </a:cxn>
                <a:cxn ang="0">
                  <a:pos x="58" y="1"/>
                </a:cxn>
                <a:cxn ang="0">
                  <a:pos x="0" y="1"/>
                </a:cxn>
                <a:cxn ang="0">
                  <a:pos x="58" y="0"/>
                </a:cxn>
                <a:cxn ang="0">
                  <a:pos x="41" y="1"/>
                </a:cxn>
              </a:cxnLst>
              <a:rect l="0" t="0" r="0" b="0"/>
              <a:pathLst>
                <a:path w="1740" h="83">
                  <a:moveTo>
                    <a:pt x="1735" y="47"/>
                  </a:moveTo>
                  <a:lnTo>
                    <a:pt x="56" y="47"/>
                  </a:lnTo>
                  <a:lnTo>
                    <a:pt x="53" y="47"/>
                  </a:lnTo>
                  <a:lnTo>
                    <a:pt x="50" y="44"/>
                  </a:lnTo>
                  <a:lnTo>
                    <a:pt x="50" y="41"/>
                  </a:lnTo>
                  <a:lnTo>
                    <a:pt x="50" y="39"/>
                  </a:lnTo>
                  <a:lnTo>
                    <a:pt x="53" y="36"/>
                  </a:lnTo>
                  <a:lnTo>
                    <a:pt x="56" y="36"/>
                  </a:lnTo>
                  <a:lnTo>
                    <a:pt x="1735" y="36"/>
                  </a:lnTo>
                  <a:lnTo>
                    <a:pt x="1738" y="36"/>
                  </a:lnTo>
                  <a:lnTo>
                    <a:pt x="1740" y="39"/>
                  </a:lnTo>
                  <a:lnTo>
                    <a:pt x="1740" y="41"/>
                  </a:lnTo>
                  <a:lnTo>
                    <a:pt x="1740" y="44"/>
                  </a:lnTo>
                  <a:lnTo>
                    <a:pt x="1738" y="47"/>
                  </a:lnTo>
                  <a:lnTo>
                    <a:pt x="1735" y="47"/>
                  </a:lnTo>
                  <a:close/>
                  <a:moveTo>
                    <a:pt x="56" y="41"/>
                  </a:moveTo>
                  <a:lnTo>
                    <a:pt x="84" y="83"/>
                  </a:lnTo>
                  <a:lnTo>
                    <a:pt x="0" y="41"/>
                  </a:lnTo>
                  <a:lnTo>
                    <a:pt x="84" y="0"/>
                  </a:lnTo>
                  <a:lnTo>
                    <a:pt x="56" y="41"/>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137" name="Rectangle 7"/>
            <p:cNvSpPr/>
            <p:nvPr/>
          </p:nvSpPr>
          <p:spPr>
            <a:xfrm>
              <a:off x="624" y="2256"/>
              <a:ext cx="1344" cy="392"/>
            </a:xfrm>
            <a:prstGeom prst="rect">
              <a:avLst/>
            </a:prstGeom>
            <a:noFill/>
            <a:ln w="9525">
              <a:noFill/>
            </a:ln>
          </p:spPr>
          <p:txBody>
            <a:bodyPr lIns="0" tIns="0" rIns="0" bIns="0" anchor="t">
              <a:spAutoFit/>
            </a:bodyPr>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利用</a:t>
              </a:r>
              <a:r>
                <a:rPr lang="de-DE" altLang="en-US" sz="1600" dirty="0">
                  <a:solidFill>
                    <a:srgbClr val="000000"/>
                  </a:solidFill>
                  <a:latin typeface="Times New Roman" panose="02020603050405020304" pitchFamily="2" charset="0"/>
                  <a:ea typeface="宋体" panose="02010600030101010101" pitchFamily="2" charset="-122"/>
                </a:rPr>
                <a:t>SQL</a:t>
              </a:r>
              <a:r>
                <a:rPr lang="zh-CN" altLang="en-US" sz="1600" dirty="0">
                  <a:solidFill>
                    <a:srgbClr val="000000"/>
                  </a:solidFill>
                  <a:latin typeface="Times New Roman" panose="02020603050405020304" pitchFamily="2" charset="0"/>
                  <a:ea typeface="宋体" panose="02010600030101010101" pitchFamily="2" charset="-122"/>
                </a:rPr>
                <a:t>中的</a:t>
              </a:r>
              <a:r>
                <a:rPr lang="de-DE" altLang="en-US" sz="1600" dirty="0">
                  <a:solidFill>
                    <a:srgbClr val="000000"/>
                  </a:solidFill>
                  <a:latin typeface="Times New Roman" panose="02020603050405020304" pitchFamily="2" charset="0"/>
                  <a:ea typeface="宋体" panose="02010600030101010101" pitchFamily="2" charset="-122"/>
                </a:rPr>
                <a:t>DDL</a:t>
              </a:r>
              <a:r>
                <a:rPr lang="zh-CN" altLang="en-US" sz="1600" dirty="0">
                  <a:solidFill>
                    <a:srgbClr val="000000"/>
                  </a:solidFill>
                  <a:latin typeface="Times New Roman" panose="02020603050405020304" pitchFamily="2" charset="0"/>
                  <a:ea typeface="宋体" panose="02010600030101010101" pitchFamily="2" charset="-122"/>
                </a:rPr>
                <a:t>将</a:t>
              </a:r>
              <a:r>
                <a:rPr lang="zh-CN" altLang="en-US" sz="1600" dirty="0">
                  <a:solidFill>
                    <a:srgbClr val="000000"/>
                  </a:solidFill>
                  <a:latin typeface="宋体" panose="02010600030101010101" pitchFamily="2" charset="-122"/>
                  <a:ea typeface="宋体" panose="02010600030101010101" pitchFamily="2" charset="-122"/>
                </a:rPr>
                <a:t>关系模式存入数据库</a:t>
              </a:r>
              <a:endParaRPr lang="zh-CN" altLang="en-US" sz="2400" dirty="0">
                <a:latin typeface="Tahoma" panose="020B0604030504040204" pitchFamily="2" charset="0"/>
                <a:ea typeface="宋体" panose="02010600030101010101" pitchFamily="2" charset="-122"/>
              </a:endParaRPr>
            </a:p>
          </p:txBody>
        </p:sp>
        <p:sp>
          <p:nvSpPr>
            <p:cNvPr id="138" name="Rectangle 8"/>
            <p:cNvSpPr/>
            <p:nvPr/>
          </p:nvSpPr>
          <p:spPr>
            <a:xfrm>
              <a:off x="528" y="1968"/>
              <a:ext cx="718" cy="183"/>
            </a:xfrm>
            <a:prstGeom prst="rect">
              <a:avLst/>
            </a:prstGeom>
            <a:noFill/>
            <a:ln w="9525">
              <a:noFill/>
            </a:ln>
          </p:spPr>
          <p:txBody>
            <a:bodyPr wrap="none" lIns="0" tIns="0" rIns="0" bIns="0" anchor="t">
              <a:spAutoFit/>
            </a:bodyPr>
            <a:lstStyle/>
            <a:p>
              <a:pPr lvl="0" indent="0">
                <a:buNone/>
              </a:pPr>
              <a:r>
                <a:rPr lang="zh-CN" altLang="en-US" sz="1600" dirty="0">
                  <a:solidFill>
                    <a:srgbClr val="000000"/>
                  </a:solidFill>
                  <a:latin typeface="宋体" panose="02010600030101010101" pitchFamily="2" charset="-122"/>
                  <a:ea typeface="宋体" panose="02010600030101010101" pitchFamily="2" charset="-122"/>
                </a:rPr>
                <a:t>SQL</a:t>
              </a:r>
              <a:r>
                <a:rPr lang="de-DE" altLang="en-US" sz="1600" dirty="0">
                  <a:solidFill>
                    <a:srgbClr val="000000"/>
                  </a:solidFill>
                  <a:latin typeface="宋体" panose="02010600030101010101" pitchFamily="2" charset="-122"/>
                  <a:ea typeface="宋体" panose="02010600030101010101" pitchFamily="2" charset="-122"/>
                </a:rPr>
                <a:t>定义语句</a:t>
              </a:r>
              <a:endParaRPr lang="de-DE" altLang="en-US" sz="1600" dirty="0">
                <a:latin typeface="Tahoma" panose="020B0604030504040204" pitchFamily="2" charset="0"/>
                <a:ea typeface="宋体" panose="02010600030101010101" pitchFamily="2" charset="-122"/>
              </a:endParaRPr>
            </a:p>
          </p:txBody>
        </p:sp>
      </p:grpSp>
      <p:sp>
        <p:nvSpPr>
          <p:cNvPr id="95" name="未知"/>
          <p:cNvSpPr>
            <a:spLocks noEditPoints="1"/>
          </p:cNvSpPr>
          <p:nvPr/>
        </p:nvSpPr>
        <p:spPr>
          <a:xfrm>
            <a:off x="7021513" y="3646560"/>
            <a:ext cx="115888" cy="298506"/>
          </a:xfrm>
          <a:custGeom>
            <a:avLst/>
            <a:gdLst/>
            <a:ahLst/>
            <a:cxnLst>
              <a:cxn ang="0">
                <a:pos x="8" y="6"/>
              </a:cxn>
              <a:cxn ang="0">
                <a:pos x="8" y="107"/>
              </a:cxn>
              <a:cxn ang="0">
                <a:pos x="8" y="109"/>
              </a:cxn>
              <a:cxn ang="0">
                <a:pos x="8" y="112"/>
              </a:cxn>
              <a:cxn ang="0">
                <a:pos x="8" y="112"/>
              </a:cxn>
              <a:cxn ang="0">
                <a:pos x="7" y="112"/>
              </a:cxn>
              <a:cxn ang="0">
                <a:pos x="7" y="112"/>
              </a:cxn>
              <a:cxn ang="0">
                <a:pos x="7" y="112"/>
              </a:cxn>
              <a:cxn ang="0">
                <a:pos x="7" y="109"/>
              </a:cxn>
              <a:cxn ang="0">
                <a:pos x="6" y="107"/>
              </a:cxn>
              <a:cxn ang="0">
                <a:pos x="6" y="6"/>
              </a:cxn>
              <a:cxn ang="0">
                <a:pos x="7" y="3"/>
              </a:cxn>
              <a:cxn ang="0">
                <a:pos x="7" y="3"/>
              </a:cxn>
              <a:cxn ang="0">
                <a:pos x="7" y="0"/>
              </a:cxn>
              <a:cxn ang="0">
                <a:pos x="7" y="0"/>
              </a:cxn>
              <a:cxn ang="0">
                <a:pos x="8" y="0"/>
              </a:cxn>
              <a:cxn ang="0">
                <a:pos x="8" y="3"/>
              </a:cxn>
              <a:cxn ang="0">
                <a:pos x="8" y="3"/>
              </a:cxn>
              <a:cxn ang="0">
                <a:pos x="8" y="6"/>
              </a:cxn>
              <a:cxn ang="0">
                <a:pos x="8" y="6"/>
              </a:cxn>
              <a:cxn ang="0">
                <a:pos x="7" y="107"/>
              </a:cxn>
              <a:cxn ang="0">
                <a:pos x="14" y="88"/>
              </a:cxn>
              <a:cxn ang="0">
                <a:pos x="7" y="147"/>
              </a:cxn>
              <a:cxn ang="0">
                <a:pos x="0" y="88"/>
              </a:cxn>
              <a:cxn ang="0">
                <a:pos x="7" y="107"/>
              </a:cxn>
            </a:cxnLst>
            <a:rect l="0" t="0" r="0" b="0"/>
            <a:pathLst>
              <a:path w="84" h="204">
                <a:moveTo>
                  <a:pt x="47" y="6"/>
                </a:moveTo>
                <a:lnTo>
                  <a:pt x="47" y="148"/>
                </a:lnTo>
                <a:lnTo>
                  <a:pt x="47" y="151"/>
                </a:lnTo>
                <a:lnTo>
                  <a:pt x="47" y="154"/>
                </a:lnTo>
                <a:lnTo>
                  <a:pt x="45" y="154"/>
                </a:lnTo>
                <a:lnTo>
                  <a:pt x="42" y="154"/>
                </a:lnTo>
                <a:lnTo>
                  <a:pt x="39" y="154"/>
                </a:lnTo>
                <a:lnTo>
                  <a:pt x="39" y="151"/>
                </a:lnTo>
                <a:lnTo>
                  <a:pt x="36" y="148"/>
                </a:lnTo>
                <a:lnTo>
                  <a:pt x="36" y="6"/>
                </a:lnTo>
                <a:lnTo>
                  <a:pt x="39" y="3"/>
                </a:lnTo>
                <a:lnTo>
                  <a:pt x="42" y="0"/>
                </a:lnTo>
                <a:lnTo>
                  <a:pt x="45" y="0"/>
                </a:lnTo>
                <a:lnTo>
                  <a:pt x="47" y="3"/>
                </a:lnTo>
                <a:lnTo>
                  <a:pt x="47" y="6"/>
                </a:lnTo>
                <a:close/>
                <a:moveTo>
                  <a:pt x="42" y="148"/>
                </a:moveTo>
                <a:lnTo>
                  <a:pt x="84" y="120"/>
                </a:lnTo>
                <a:lnTo>
                  <a:pt x="42" y="204"/>
                </a:lnTo>
                <a:lnTo>
                  <a:pt x="0" y="120"/>
                </a:lnTo>
                <a:lnTo>
                  <a:pt x="42" y="148"/>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96" name="Rectangle 11"/>
          <p:cNvSpPr/>
          <p:nvPr/>
        </p:nvSpPr>
        <p:spPr>
          <a:xfrm>
            <a:off x="5684838" y="3187550"/>
            <a:ext cx="2790825" cy="478510"/>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97" name="Rectangle 12"/>
          <p:cNvSpPr/>
          <p:nvPr/>
        </p:nvSpPr>
        <p:spPr>
          <a:xfrm>
            <a:off x="5684838" y="3084048"/>
            <a:ext cx="2790825" cy="582013"/>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98" name="Rectangle 13"/>
          <p:cNvSpPr/>
          <p:nvPr/>
        </p:nvSpPr>
        <p:spPr>
          <a:xfrm>
            <a:off x="6731000" y="3307552"/>
            <a:ext cx="827088" cy="274506"/>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概念模式</a:t>
            </a:r>
            <a:endParaRPr lang="de-DE" altLang="en-US" sz="2400" dirty="0">
              <a:latin typeface="Tahoma" panose="020B0604030504040204" pitchFamily="2" charset="0"/>
              <a:ea typeface="宋体" panose="02010600030101010101" pitchFamily="2" charset="-122"/>
            </a:endParaRPr>
          </a:p>
        </p:txBody>
      </p:sp>
      <p:sp>
        <p:nvSpPr>
          <p:cNvPr id="99" name="Rectangle 14"/>
          <p:cNvSpPr/>
          <p:nvPr/>
        </p:nvSpPr>
        <p:spPr>
          <a:xfrm>
            <a:off x="7435850" y="3319553"/>
            <a:ext cx="50800" cy="231005"/>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23" name="Rectangle 38"/>
          <p:cNvSpPr/>
          <p:nvPr/>
        </p:nvSpPr>
        <p:spPr>
          <a:xfrm>
            <a:off x="8315325" y="3909065"/>
            <a:ext cx="523875" cy="1906542"/>
          </a:xfrm>
          <a:prstGeom prst="rect">
            <a:avLst/>
          </a:prstGeom>
          <a:solidFill>
            <a:srgbClr val="FFFF00"/>
          </a:solidFill>
          <a:ln w="9525">
            <a:noFill/>
          </a:ln>
        </p:spPr>
        <p:txBody>
          <a:bodyPr anchor="t"/>
          <a:lstStyle/>
          <a:p>
            <a:pPr lvl="0" indent="0">
              <a:lnSpc>
                <a:spcPct val="100000"/>
              </a:lnSpc>
              <a:buNone/>
            </a:pPr>
            <a:r>
              <a:rPr lang="zh-CN" altLang="en-US" dirty="0">
                <a:latin typeface="宋体" panose="02010600030101010101" pitchFamily="2" charset="-122"/>
                <a:ea typeface="宋体" panose="02010600030101010101" pitchFamily="2" charset="-122"/>
              </a:rPr>
              <a:t>数据库设计部分</a:t>
            </a:r>
            <a:endParaRPr lang="zh-CN" altLang="en-US" dirty="0">
              <a:latin typeface="宋体" panose="02010600030101010101" pitchFamily="2" charset="-122"/>
              <a:ea typeface="宋体" panose="02010600030101010101" pitchFamily="2" charset="-122"/>
            </a:endParaRPr>
          </a:p>
        </p:txBody>
      </p:sp>
      <p:sp>
        <p:nvSpPr>
          <p:cNvPr id="124" name="Rectangle 39"/>
          <p:cNvSpPr/>
          <p:nvPr/>
        </p:nvSpPr>
        <p:spPr>
          <a:xfrm rot="5400000">
            <a:off x="8464362" y="5238860"/>
            <a:ext cx="48001" cy="244475"/>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28" name="Rectangle 43"/>
          <p:cNvSpPr/>
          <p:nvPr/>
        </p:nvSpPr>
        <p:spPr>
          <a:xfrm>
            <a:off x="6554788" y="3945066"/>
            <a:ext cx="1020763" cy="480010"/>
          </a:xfrm>
          <a:prstGeom prst="rect">
            <a:avLst/>
          </a:prstGeom>
          <a:solidFill>
            <a:srgbClr val="99CCFF"/>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29" name="Rectangle 44"/>
          <p:cNvSpPr/>
          <p:nvPr/>
        </p:nvSpPr>
        <p:spPr>
          <a:xfrm>
            <a:off x="6681788" y="4072066"/>
            <a:ext cx="1020763" cy="480010"/>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30" name="Rectangle 45"/>
          <p:cNvSpPr/>
          <p:nvPr/>
        </p:nvSpPr>
        <p:spPr>
          <a:xfrm>
            <a:off x="6805613" y="4072569"/>
            <a:ext cx="206375" cy="274506"/>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内</a:t>
            </a:r>
            <a:endParaRPr lang="de-DE" altLang="en-US" sz="2400" dirty="0">
              <a:latin typeface="Tahoma" panose="020B0604030504040204" pitchFamily="2" charset="0"/>
              <a:ea typeface="宋体" panose="02010600030101010101" pitchFamily="2" charset="-122"/>
            </a:endParaRPr>
          </a:p>
        </p:txBody>
      </p:sp>
      <p:sp>
        <p:nvSpPr>
          <p:cNvPr id="131" name="Rectangle 46"/>
          <p:cNvSpPr/>
          <p:nvPr/>
        </p:nvSpPr>
        <p:spPr>
          <a:xfrm>
            <a:off x="6978650" y="4072569"/>
            <a:ext cx="414338" cy="274506"/>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模式</a:t>
            </a:r>
            <a:endParaRPr lang="de-DE" altLang="en-US" sz="2400" dirty="0">
              <a:latin typeface="Tahoma" panose="020B0604030504040204" pitchFamily="2" charset="0"/>
              <a:ea typeface="宋体" panose="02010600030101010101" pitchFamily="2" charset="-122"/>
            </a:endParaRPr>
          </a:p>
        </p:txBody>
      </p:sp>
      <p:sp>
        <p:nvSpPr>
          <p:cNvPr id="132" name="Rectangle 47"/>
          <p:cNvSpPr/>
          <p:nvPr/>
        </p:nvSpPr>
        <p:spPr>
          <a:xfrm>
            <a:off x="7335838" y="4084569"/>
            <a:ext cx="50800" cy="231005"/>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33" name="Line 48"/>
          <p:cNvSpPr/>
          <p:nvPr/>
        </p:nvSpPr>
        <p:spPr>
          <a:xfrm>
            <a:off x="7023100" y="4447577"/>
            <a:ext cx="0" cy="288006"/>
          </a:xfrm>
          <a:prstGeom prst="line">
            <a:avLst/>
          </a:prstGeom>
          <a:ln w="25400" cap="flat" cmpd="sng">
            <a:solidFill>
              <a:srgbClr val="080910"/>
            </a:solidFill>
            <a:prstDash val="solid"/>
            <a:round/>
            <a:headEnd type="none" w="med" len="med"/>
            <a:tailEnd type="none" w="med" len="med"/>
          </a:ln>
        </p:spPr>
      </p:sp>
      <p:sp>
        <p:nvSpPr>
          <p:cNvPr id="134" name="Line 49"/>
          <p:cNvSpPr/>
          <p:nvPr/>
        </p:nvSpPr>
        <p:spPr>
          <a:xfrm>
            <a:off x="7023100" y="4663582"/>
            <a:ext cx="0" cy="0"/>
          </a:xfrm>
          <a:prstGeom prst="line">
            <a:avLst/>
          </a:prstGeom>
          <a:ln w="9525" cap="flat" cmpd="sng">
            <a:solidFill>
              <a:schemeClr val="tx1"/>
            </a:solidFill>
            <a:prstDash val="solid"/>
            <a:round/>
            <a:headEnd type="none" w="med" len="med"/>
            <a:tailEnd type="none" w="med" len="med"/>
          </a:ln>
        </p:spPr>
      </p:sp>
      <p:grpSp>
        <p:nvGrpSpPr>
          <p:cNvPr id="8" name="Group 70"/>
          <p:cNvGrpSpPr/>
          <p:nvPr/>
        </p:nvGrpSpPr>
        <p:grpSpPr>
          <a:xfrm>
            <a:off x="465138" y="1423511"/>
            <a:ext cx="4311650" cy="3168070"/>
            <a:chOff x="0" y="0"/>
            <a:chExt cx="2716" cy="2112"/>
          </a:xfrm>
        </p:grpSpPr>
        <p:sp>
          <p:nvSpPr>
            <p:cNvPr id="9" name="Rectangle 71"/>
            <p:cNvSpPr/>
            <p:nvPr/>
          </p:nvSpPr>
          <p:spPr>
            <a:xfrm>
              <a:off x="2136" y="923"/>
              <a:ext cx="507" cy="152"/>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CGI/ISAPI</a:t>
              </a:r>
              <a:endParaRPr lang="de-DE" altLang="en-US" sz="2400" dirty="0">
                <a:latin typeface="Tahoma" panose="020B0604030504040204" pitchFamily="2" charset="0"/>
                <a:ea typeface="宋体" panose="02010600030101010101" pitchFamily="2" charset="-122"/>
              </a:endParaRPr>
            </a:p>
          </p:txBody>
        </p:sp>
        <p:sp>
          <p:nvSpPr>
            <p:cNvPr id="10" name="Rectangle 72"/>
            <p:cNvSpPr/>
            <p:nvPr/>
          </p:nvSpPr>
          <p:spPr>
            <a:xfrm>
              <a:off x="2589" y="923"/>
              <a:ext cx="26" cy="125"/>
            </a:xfrm>
            <a:prstGeom prst="rect">
              <a:avLst/>
            </a:prstGeom>
            <a:noFill/>
            <a:ln w="9525">
              <a:noFill/>
            </a:ln>
          </p:spPr>
          <p:txBody>
            <a:bodyPr wrap="none" lIns="0" tIns="0" rIns="0" bIns="0" anchor="t">
              <a:spAutoFit/>
            </a:bodyPr>
            <a:lstStyle/>
            <a:p>
              <a:pPr lvl="0" indent="0"/>
              <a:r>
                <a:rPr lang="de-DE" altLang="en-US" sz="13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1" name="Rectangle 73"/>
            <p:cNvSpPr/>
            <p:nvPr/>
          </p:nvSpPr>
          <p:spPr>
            <a:xfrm>
              <a:off x="634" y="1496"/>
              <a:ext cx="1939" cy="322"/>
            </a:xfrm>
            <a:prstGeom prst="rect">
              <a:avLst/>
            </a:prstGeom>
            <a:solidFill>
              <a:srgbClr val="FFCC99"/>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2" name="Rectangle 74"/>
            <p:cNvSpPr/>
            <p:nvPr/>
          </p:nvSpPr>
          <p:spPr>
            <a:xfrm>
              <a:off x="634" y="1496"/>
              <a:ext cx="1939" cy="322"/>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3" name="Rectangle 75"/>
            <p:cNvSpPr/>
            <p:nvPr/>
          </p:nvSpPr>
          <p:spPr>
            <a:xfrm>
              <a:off x="1013" y="1592"/>
              <a:ext cx="745" cy="187"/>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ODBC/JDBC</a:t>
              </a:r>
              <a:endParaRPr lang="de-DE" altLang="en-US" sz="2400" dirty="0">
                <a:latin typeface="Tahoma" panose="020B0604030504040204" pitchFamily="2" charset="0"/>
                <a:ea typeface="宋体" panose="02010600030101010101" pitchFamily="2" charset="-122"/>
              </a:endParaRPr>
            </a:p>
          </p:txBody>
        </p:sp>
        <p:sp>
          <p:nvSpPr>
            <p:cNvPr id="14" name="Rectangle 76"/>
            <p:cNvSpPr/>
            <p:nvPr/>
          </p:nvSpPr>
          <p:spPr>
            <a:xfrm>
              <a:off x="1779" y="1584"/>
              <a:ext cx="520" cy="187"/>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/OLE DB</a:t>
              </a:r>
              <a:endParaRPr lang="de-DE" altLang="en-US" sz="2400" dirty="0">
                <a:latin typeface="Tahoma" panose="020B0604030504040204" pitchFamily="2" charset="0"/>
                <a:ea typeface="宋体" panose="02010600030101010101" pitchFamily="2" charset="-122"/>
              </a:endParaRPr>
            </a:p>
          </p:txBody>
        </p:sp>
        <p:sp>
          <p:nvSpPr>
            <p:cNvPr id="15" name="Rectangle 77"/>
            <p:cNvSpPr/>
            <p:nvPr/>
          </p:nvSpPr>
          <p:spPr>
            <a:xfrm>
              <a:off x="2199" y="1592"/>
              <a:ext cx="31" cy="153"/>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16" name="Rectangle 78"/>
            <p:cNvSpPr/>
            <p:nvPr/>
          </p:nvSpPr>
          <p:spPr>
            <a:xfrm>
              <a:off x="915" y="1296"/>
              <a:ext cx="858" cy="125"/>
            </a:xfrm>
            <a:prstGeom prst="rect">
              <a:avLst/>
            </a:prstGeom>
            <a:noFill/>
            <a:ln w="9525">
              <a:noFill/>
            </a:ln>
          </p:spPr>
          <p:txBody>
            <a:bodyPr wrap="none" lIns="0" tIns="0" rIns="0" bIns="0" anchor="t">
              <a:spAutoFit/>
            </a:bodyPr>
            <a:lstStyle/>
            <a:p>
              <a:pPr lvl="0" indent="0"/>
              <a:r>
                <a:rPr lang="de-DE" altLang="en-US" sz="1300" dirty="0">
                  <a:solidFill>
                    <a:srgbClr val="000000"/>
                  </a:solidFill>
                  <a:latin typeface="Times New Roman" panose="02020603050405020304" pitchFamily="2" charset="0"/>
                  <a:ea typeface="宋体" panose="02010600030101010101" pitchFamily="2" charset="-122"/>
                </a:rPr>
                <a:t>SQL </a:t>
              </a:r>
              <a:r>
                <a:rPr lang="de-DE" altLang="en-US" sz="1300" dirty="0">
                  <a:solidFill>
                    <a:srgbClr val="000000"/>
                  </a:solidFill>
                  <a:latin typeface="宋体" panose="02010600030101010101" pitchFamily="2" charset="-122"/>
                  <a:ea typeface="宋体" panose="02010600030101010101" pitchFamily="2" charset="-122"/>
                </a:rPr>
                <a:t>的嵌入式使用</a:t>
              </a:r>
              <a:endParaRPr lang="de-DE" altLang="en-US" sz="1300" dirty="0">
                <a:solidFill>
                  <a:srgbClr val="000000"/>
                </a:solidFill>
                <a:latin typeface="宋体" panose="02010600030101010101" pitchFamily="2" charset="-122"/>
                <a:ea typeface="宋体" panose="02010600030101010101" pitchFamily="2" charset="-122"/>
              </a:endParaRPr>
            </a:p>
          </p:txBody>
        </p:sp>
        <p:sp>
          <p:nvSpPr>
            <p:cNvPr id="17" name="Rectangle 79"/>
            <p:cNvSpPr/>
            <p:nvPr/>
          </p:nvSpPr>
          <p:spPr>
            <a:xfrm>
              <a:off x="392" y="664"/>
              <a:ext cx="1091" cy="402"/>
            </a:xfrm>
            <a:prstGeom prst="rect">
              <a:avLst/>
            </a:prstGeom>
            <a:solidFill>
              <a:srgbClr val="FFCC99"/>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8" name="Rectangle 80"/>
            <p:cNvSpPr/>
            <p:nvPr/>
          </p:nvSpPr>
          <p:spPr>
            <a:xfrm>
              <a:off x="392" y="664"/>
              <a:ext cx="1091" cy="402"/>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19" name="Rectangle 81"/>
            <p:cNvSpPr/>
            <p:nvPr/>
          </p:nvSpPr>
          <p:spPr>
            <a:xfrm>
              <a:off x="400" y="705"/>
              <a:ext cx="370" cy="187"/>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C/C++</a:t>
              </a:r>
              <a:endParaRPr lang="de-DE" altLang="en-US" sz="2400" dirty="0">
                <a:latin typeface="Tahoma" panose="020B0604030504040204" pitchFamily="2" charset="0"/>
                <a:ea typeface="宋体" panose="02010600030101010101" pitchFamily="2" charset="-122"/>
              </a:endParaRPr>
            </a:p>
          </p:txBody>
        </p:sp>
        <p:sp>
          <p:nvSpPr>
            <p:cNvPr id="20" name="Rectangle 82"/>
            <p:cNvSpPr/>
            <p:nvPr/>
          </p:nvSpPr>
          <p:spPr>
            <a:xfrm>
              <a:off x="747" y="697"/>
              <a:ext cx="129"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宋体" panose="02010600030101010101" pitchFamily="2" charset="-122"/>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21" name="Rectangle 83"/>
            <p:cNvSpPr/>
            <p:nvPr/>
          </p:nvSpPr>
          <p:spPr>
            <a:xfrm>
              <a:off x="836" y="705"/>
              <a:ext cx="165" cy="197"/>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PB</a:t>
              </a:r>
              <a:endParaRPr lang="de-DE" altLang="en-US" sz="2400" dirty="0">
                <a:latin typeface="Tahoma" panose="020B0604030504040204" pitchFamily="2" charset="0"/>
                <a:ea typeface="宋体" panose="02010600030101010101" pitchFamily="2" charset="-122"/>
              </a:endParaRPr>
            </a:p>
          </p:txBody>
        </p:sp>
        <p:sp>
          <p:nvSpPr>
            <p:cNvPr id="22" name="Rectangle 84"/>
            <p:cNvSpPr/>
            <p:nvPr/>
          </p:nvSpPr>
          <p:spPr>
            <a:xfrm>
              <a:off x="989" y="697"/>
              <a:ext cx="129"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宋体" panose="02010600030101010101" pitchFamily="2" charset="-122"/>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23" name="Rectangle 85"/>
            <p:cNvSpPr/>
            <p:nvPr/>
          </p:nvSpPr>
          <p:spPr>
            <a:xfrm>
              <a:off x="1078" y="705"/>
              <a:ext cx="367" cy="197"/>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Delphi</a:t>
              </a:r>
              <a:endParaRPr lang="de-DE" altLang="en-US" sz="2400" dirty="0">
                <a:latin typeface="Tahoma" panose="020B0604030504040204" pitchFamily="2" charset="0"/>
                <a:ea typeface="宋体" panose="02010600030101010101" pitchFamily="2" charset="-122"/>
              </a:endParaRPr>
            </a:p>
          </p:txBody>
        </p:sp>
        <p:sp>
          <p:nvSpPr>
            <p:cNvPr id="24" name="Rectangle 86"/>
            <p:cNvSpPr/>
            <p:nvPr/>
          </p:nvSpPr>
          <p:spPr>
            <a:xfrm>
              <a:off x="1418" y="697"/>
              <a:ext cx="129"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宋体" panose="02010600030101010101" pitchFamily="2" charset="-122"/>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25" name="Rectangle 87"/>
            <p:cNvSpPr/>
            <p:nvPr/>
          </p:nvSpPr>
          <p:spPr>
            <a:xfrm>
              <a:off x="559" y="920"/>
              <a:ext cx="194" cy="187"/>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Jav</a:t>
              </a:r>
              <a:endParaRPr lang="de-DE" altLang="en-US" sz="2400" dirty="0">
                <a:latin typeface="Tahoma" panose="020B0604030504040204" pitchFamily="2" charset="0"/>
                <a:ea typeface="宋体" panose="02010600030101010101" pitchFamily="2" charset="-122"/>
              </a:endParaRPr>
            </a:p>
          </p:txBody>
        </p:sp>
        <p:sp>
          <p:nvSpPr>
            <p:cNvPr id="26" name="Rectangle 88"/>
            <p:cNvSpPr/>
            <p:nvPr/>
          </p:nvSpPr>
          <p:spPr>
            <a:xfrm>
              <a:off x="742" y="920"/>
              <a:ext cx="64"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a</a:t>
              </a:r>
              <a:endParaRPr lang="de-DE" altLang="en-US" sz="2400" dirty="0">
                <a:latin typeface="Tahoma" panose="020B0604030504040204" pitchFamily="2" charset="0"/>
                <a:ea typeface="宋体" panose="02010600030101010101" pitchFamily="2" charset="-122"/>
              </a:endParaRPr>
            </a:p>
          </p:txBody>
        </p:sp>
        <p:sp>
          <p:nvSpPr>
            <p:cNvPr id="27" name="Rectangle 89"/>
            <p:cNvSpPr/>
            <p:nvPr/>
          </p:nvSpPr>
          <p:spPr>
            <a:xfrm>
              <a:off x="831" y="912"/>
              <a:ext cx="516"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宋体" panose="02010600030101010101" pitchFamily="2" charset="-122"/>
                  <a:ea typeface="宋体" panose="02010600030101010101" pitchFamily="2" charset="-122"/>
                </a:rPr>
                <a:t>应用程序</a:t>
              </a:r>
              <a:endParaRPr lang="de-DE" altLang="en-US" sz="2400" dirty="0">
                <a:latin typeface="Tahoma" panose="020B0604030504040204" pitchFamily="2" charset="0"/>
                <a:ea typeface="宋体" panose="02010600030101010101" pitchFamily="2" charset="-122"/>
              </a:endParaRPr>
            </a:p>
          </p:txBody>
        </p:sp>
        <p:sp>
          <p:nvSpPr>
            <p:cNvPr id="28" name="Rectangle 90"/>
            <p:cNvSpPr/>
            <p:nvPr/>
          </p:nvSpPr>
          <p:spPr>
            <a:xfrm>
              <a:off x="1320" y="920"/>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29" name="Rectangle 91"/>
            <p:cNvSpPr/>
            <p:nvPr/>
          </p:nvSpPr>
          <p:spPr>
            <a:xfrm>
              <a:off x="756" y="0"/>
              <a:ext cx="1093" cy="215"/>
            </a:xfrm>
            <a:prstGeom prst="rect">
              <a:avLst/>
            </a:prstGeom>
            <a:solidFill>
              <a:srgbClr val="FFFF00"/>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30" name="Rectangle 92"/>
            <p:cNvSpPr/>
            <p:nvPr/>
          </p:nvSpPr>
          <p:spPr>
            <a:xfrm>
              <a:off x="876" y="25"/>
              <a:ext cx="912"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数据库应用部分</a:t>
              </a:r>
              <a:endParaRPr lang="de-DE" altLang="en-US" sz="2400" dirty="0">
                <a:latin typeface="Tahoma" panose="020B0604030504040204" pitchFamily="2" charset="0"/>
                <a:ea typeface="宋体" panose="02010600030101010101" pitchFamily="2" charset="-122"/>
              </a:endParaRPr>
            </a:p>
          </p:txBody>
        </p:sp>
        <p:sp>
          <p:nvSpPr>
            <p:cNvPr id="31" name="Rectangle 93"/>
            <p:cNvSpPr/>
            <p:nvPr/>
          </p:nvSpPr>
          <p:spPr>
            <a:xfrm>
              <a:off x="1730" y="33"/>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32" name="Rectangle 94"/>
            <p:cNvSpPr/>
            <p:nvPr/>
          </p:nvSpPr>
          <p:spPr>
            <a:xfrm>
              <a:off x="29" y="233"/>
              <a:ext cx="605" cy="323"/>
            </a:xfrm>
            <a:prstGeom prst="rect">
              <a:avLst/>
            </a:prstGeom>
            <a:solidFill>
              <a:srgbClr val="FFCC99"/>
            </a:solidFill>
            <a:ln w="9525" cap="flat" cmpd="sng">
              <a:solidFill>
                <a:schemeClr val="tx2"/>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33" name="Rectangle 95"/>
            <p:cNvSpPr/>
            <p:nvPr/>
          </p:nvSpPr>
          <p:spPr>
            <a:xfrm>
              <a:off x="211" y="319"/>
              <a:ext cx="26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用户</a:t>
              </a:r>
              <a:endParaRPr lang="de-DE" altLang="en-US" sz="2400" dirty="0">
                <a:latin typeface="Tahoma" panose="020B0604030504040204" pitchFamily="2" charset="0"/>
                <a:ea typeface="宋体" panose="02010600030101010101" pitchFamily="2" charset="-122"/>
              </a:endParaRPr>
            </a:p>
          </p:txBody>
        </p:sp>
        <p:sp>
          <p:nvSpPr>
            <p:cNvPr id="34" name="Rectangle 96"/>
            <p:cNvSpPr/>
            <p:nvPr/>
          </p:nvSpPr>
          <p:spPr>
            <a:xfrm>
              <a:off x="456" y="327"/>
              <a:ext cx="88" cy="275"/>
            </a:xfrm>
            <a:prstGeom prst="rect">
              <a:avLst/>
            </a:prstGeom>
            <a:noFill/>
            <a:ln w="9525">
              <a:noFill/>
            </a:ln>
          </p:spPr>
          <p:txBody>
            <a:bodyPr wrap="none" lIns="0" tIns="0" rIns="0" bIns="0" anchor="t">
              <a:spAutoFit/>
            </a:bodyPr>
            <a:lstStyle/>
            <a:p>
              <a:pPr lvl="0" indent="0"/>
              <a:endParaRPr lang="de-DE" altLang="en-US" sz="2400" dirty="0">
                <a:latin typeface="Tahoma" panose="020B0604030504040204" pitchFamily="2" charset="0"/>
                <a:ea typeface="宋体" panose="02010600030101010101" pitchFamily="2" charset="-122"/>
              </a:endParaRPr>
            </a:p>
          </p:txBody>
        </p:sp>
        <p:sp>
          <p:nvSpPr>
            <p:cNvPr id="35" name="未知"/>
            <p:cNvSpPr>
              <a:spLocks noEditPoints="1"/>
            </p:cNvSpPr>
            <p:nvPr/>
          </p:nvSpPr>
          <p:spPr>
            <a:xfrm>
              <a:off x="715" y="443"/>
              <a:ext cx="81" cy="221"/>
            </a:xfrm>
            <a:custGeom>
              <a:avLst/>
              <a:gdLst/>
              <a:ahLst/>
              <a:cxnLst>
                <a:cxn ang="0">
                  <a:pos x="31" y="6"/>
                </a:cxn>
                <a:cxn ang="0">
                  <a:pos x="31" y="154"/>
                </a:cxn>
                <a:cxn ang="0">
                  <a:pos x="31" y="155"/>
                </a:cxn>
                <a:cxn ang="0">
                  <a:pos x="31" y="155"/>
                </a:cxn>
                <a:cxn ang="0">
                  <a:pos x="30" y="157"/>
                </a:cxn>
                <a:cxn ang="0">
                  <a:pos x="29" y="157"/>
                </a:cxn>
                <a:cxn ang="0">
                  <a:pos x="29" y="157"/>
                </a:cxn>
                <a:cxn ang="0">
                  <a:pos x="26" y="155"/>
                </a:cxn>
                <a:cxn ang="0">
                  <a:pos x="26" y="155"/>
                </a:cxn>
                <a:cxn ang="0">
                  <a:pos x="23" y="154"/>
                </a:cxn>
                <a:cxn ang="0">
                  <a:pos x="23" y="6"/>
                </a:cxn>
                <a:cxn ang="0">
                  <a:pos x="26" y="3"/>
                </a:cxn>
                <a:cxn ang="0">
                  <a:pos x="26" y="3"/>
                </a:cxn>
                <a:cxn ang="0">
                  <a:pos x="29" y="0"/>
                </a:cxn>
                <a:cxn ang="0">
                  <a:pos x="29" y="0"/>
                </a:cxn>
                <a:cxn ang="0">
                  <a:pos x="30" y="0"/>
                </a:cxn>
                <a:cxn ang="0">
                  <a:pos x="31" y="3"/>
                </a:cxn>
                <a:cxn ang="0">
                  <a:pos x="31" y="3"/>
                </a:cxn>
                <a:cxn ang="0">
                  <a:pos x="31" y="6"/>
                </a:cxn>
                <a:cxn ang="0">
                  <a:pos x="31" y="6"/>
                </a:cxn>
                <a:cxn ang="0">
                  <a:pos x="29" y="154"/>
                </a:cxn>
                <a:cxn ang="0">
                  <a:pos x="53" y="126"/>
                </a:cxn>
                <a:cxn ang="0">
                  <a:pos x="29" y="197"/>
                </a:cxn>
                <a:cxn ang="0">
                  <a:pos x="0" y="126"/>
                </a:cxn>
                <a:cxn ang="0">
                  <a:pos x="29" y="154"/>
                </a:cxn>
              </a:cxnLst>
              <a:rect l="0" t="0" r="0" b="0"/>
              <a:pathLst>
                <a:path w="84" h="223">
                  <a:moveTo>
                    <a:pt x="47" y="6"/>
                  </a:moveTo>
                  <a:lnTo>
                    <a:pt x="47" y="167"/>
                  </a:lnTo>
                  <a:lnTo>
                    <a:pt x="47" y="170"/>
                  </a:lnTo>
                  <a:lnTo>
                    <a:pt x="45" y="173"/>
                  </a:lnTo>
                  <a:lnTo>
                    <a:pt x="42" y="173"/>
                  </a:lnTo>
                  <a:lnTo>
                    <a:pt x="39" y="170"/>
                  </a:lnTo>
                  <a:lnTo>
                    <a:pt x="36" y="167"/>
                  </a:lnTo>
                  <a:lnTo>
                    <a:pt x="36" y="6"/>
                  </a:lnTo>
                  <a:lnTo>
                    <a:pt x="39" y="3"/>
                  </a:lnTo>
                  <a:lnTo>
                    <a:pt x="42" y="0"/>
                  </a:lnTo>
                  <a:lnTo>
                    <a:pt x="45" y="0"/>
                  </a:lnTo>
                  <a:lnTo>
                    <a:pt x="47" y="3"/>
                  </a:lnTo>
                  <a:lnTo>
                    <a:pt x="47" y="6"/>
                  </a:lnTo>
                  <a:close/>
                  <a:moveTo>
                    <a:pt x="42" y="167"/>
                  </a:moveTo>
                  <a:lnTo>
                    <a:pt x="84" y="139"/>
                  </a:lnTo>
                  <a:lnTo>
                    <a:pt x="42" y="223"/>
                  </a:lnTo>
                  <a:lnTo>
                    <a:pt x="0" y="139"/>
                  </a:lnTo>
                  <a:lnTo>
                    <a:pt x="42" y="167"/>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36" name="Line 98"/>
            <p:cNvSpPr/>
            <p:nvPr/>
          </p:nvSpPr>
          <p:spPr>
            <a:xfrm>
              <a:off x="634" y="449"/>
              <a:ext cx="122" cy="1"/>
            </a:xfrm>
            <a:prstGeom prst="line">
              <a:avLst/>
            </a:prstGeom>
            <a:ln w="28575" cap="flat" cmpd="sng">
              <a:solidFill>
                <a:srgbClr val="000000"/>
              </a:solidFill>
              <a:prstDash val="solid"/>
              <a:round/>
              <a:headEnd type="none" w="med" len="med"/>
              <a:tailEnd type="none" w="med" len="med"/>
            </a:ln>
          </p:spPr>
        </p:sp>
        <p:sp>
          <p:nvSpPr>
            <p:cNvPr id="37" name="Rectangle 99"/>
            <p:cNvSpPr/>
            <p:nvPr/>
          </p:nvSpPr>
          <p:spPr>
            <a:xfrm>
              <a:off x="3" y="657"/>
              <a:ext cx="210" cy="152"/>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SQL</a:t>
              </a:r>
              <a:endParaRPr lang="de-DE" altLang="en-US" sz="2400" dirty="0">
                <a:latin typeface="Tahoma" panose="020B0604030504040204" pitchFamily="2" charset="0"/>
                <a:ea typeface="宋体" panose="02010600030101010101" pitchFamily="2" charset="-122"/>
              </a:endParaRPr>
            </a:p>
          </p:txBody>
        </p:sp>
        <p:sp>
          <p:nvSpPr>
            <p:cNvPr id="38" name="Rectangle 100"/>
            <p:cNvSpPr/>
            <p:nvPr/>
          </p:nvSpPr>
          <p:spPr>
            <a:xfrm>
              <a:off x="3" y="864"/>
              <a:ext cx="105" cy="149"/>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的</a:t>
              </a:r>
              <a:endParaRPr lang="de-DE" altLang="en-US" sz="2400" dirty="0">
                <a:latin typeface="Tahoma" panose="020B0604030504040204" pitchFamily="2" charset="0"/>
                <a:ea typeface="宋体" panose="02010600030101010101" pitchFamily="2" charset="-122"/>
              </a:endParaRPr>
            </a:p>
          </p:txBody>
        </p:sp>
        <p:sp>
          <p:nvSpPr>
            <p:cNvPr id="39" name="Rectangle 101"/>
            <p:cNvSpPr/>
            <p:nvPr/>
          </p:nvSpPr>
          <p:spPr>
            <a:xfrm>
              <a:off x="96" y="864"/>
              <a:ext cx="105" cy="149"/>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交</a:t>
              </a:r>
              <a:endParaRPr lang="de-DE" altLang="en-US" sz="2400" dirty="0">
                <a:latin typeface="Tahoma" panose="020B0604030504040204" pitchFamily="2" charset="0"/>
                <a:ea typeface="宋体" panose="02010600030101010101" pitchFamily="2" charset="-122"/>
              </a:endParaRPr>
            </a:p>
          </p:txBody>
        </p:sp>
        <p:sp>
          <p:nvSpPr>
            <p:cNvPr id="40" name="Rectangle 102"/>
            <p:cNvSpPr/>
            <p:nvPr/>
          </p:nvSpPr>
          <p:spPr>
            <a:xfrm>
              <a:off x="3" y="1079"/>
              <a:ext cx="210" cy="149"/>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互式</a:t>
              </a:r>
              <a:endParaRPr lang="de-DE" altLang="en-US" sz="2400" dirty="0">
                <a:latin typeface="Tahoma" panose="020B0604030504040204" pitchFamily="2" charset="0"/>
                <a:ea typeface="宋体" panose="02010600030101010101" pitchFamily="2" charset="-122"/>
              </a:endParaRPr>
            </a:p>
          </p:txBody>
        </p:sp>
        <p:sp>
          <p:nvSpPr>
            <p:cNvPr id="41" name="Rectangle 103"/>
            <p:cNvSpPr/>
            <p:nvPr/>
          </p:nvSpPr>
          <p:spPr>
            <a:xfrm>
              <a:off x="0" y="1291"/>
              <a:ext cx="210" cy="149"/>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使用</a:t>
              </a:r>
              <a:endParaRPr lang="de-DE" altLang="en-US" sz="2400" dirty="0">
                <a:latin typeface="Tahoma" panose="020B0604030504040204" pitchFamily="2" charset="0"/>
                <a:ea typeface="宋体" panose="02010600030101010101" pitchFamily="2" charset="-122"/>
              </a:endParaRPr>
            </a:p>
          </p:txBody>
        </p:sp>
        <p:sp>
          <p:nvSpPr>
            <p:cNvPr id="42" name="Rectangle 104"/>
            <p:cNvSpPr/>
            <p:nvPr/>
          </p:nvSpPr>
          <p:spPr>
            <a:xfrm>
              <a:off x="204" y="1299"/>
              <a:ext cx="25" cy="124"/>
            </a:xfrm>
            <a:prstGeom prst="rect">
              <a:avLst/>
            </a:prstGeom>
            <a:noFill/>
            <a:ln w="9525">
              <a:noFill/>
            </a:ln>
          </p:spPr>
          <p:txBody>
            <a:bodyPr wrap="none" lIns="0" tIns="0" rIns="0" bIns="0" anchor="t">
              <a:spAutoFit/>
            </a:bodyPr>
            <a:lstStyle/>
            <a:p>
              <a:pPr lvl="0" indent="0"/>
              <a:r>
                <a:rPr lang="de-DE" altLang="en-US" sz="13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43" name="Rectangle 105"/>
            <p:cNvSpPr/>
            <p:nvPr/>
          </p:nvSpPr>
          <p:spPr>
            <a:xfrm>
              <a:off x="1731" y="1872"/>
              <a:ext cx="448" cy="151"/>
            </a:xfrm>
            <a:prstGeom prst="rect">
              <a:avLst/>
            </a:prstGeom>
            <a:noFill/>
            <a:ln w="9525">
              <a:noFill/>
            </a:ln>
          </p:spPr>
          <p:txBody>
            <a:bodyPr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SQL</a:t>
              </a:r>
              <a:r>
                <a:rPr lang="de-DE" altLang="en-US" sz="1300" dirty="0">
                  <a:solidFill>
                    <a:srgbClr val="000000"/>
                  </a:solidFill>
                  <a:latin typeface="宋体" panose="02010600030101010101" pitchFamily="2" charset="-122"/>
                  <a:ea typeface="宋体" panose="02010600030101010101" pitchFamily="2" charset="-122"/>
                </a:rPr>
                <a:t>语句</a:t>
              </a:r>
              <a:r>
                <a:rPr lang="de-DE" altLang="en-US" sz="1300" dirty="0">
                  <a:solidFill>
                    <a:srgbClr val="000000"/>
                  </a:solidFill>
                  <a:latin typeface="Times New Roman" panose="02020603050405020304" pitchFamily="2" charset="0"/>
                  <a:ea typeface="宋体" panose="02010600030101010101" pitchFamily="2" charset="-122"/>
                </a:rPr>
                <a:t> </a:t>
              </a:r>
              <a:endParaRPr lang="de-DE" altLang="en-US" sz="1300" dirty="0">
                <a:solidFill>
                  <a:srgbClr val="000000"/>
                </a:solidFill>
                <a:latin typeface="Times New Roman" panose="02020603050405020304" pitchFamily="2" charset="0"/>
                <a:ea typeface="宋体" panose="02010600030101010101" pitchFamily="2" charset="-122"/>
              </a:endParaRPr>
            </a:p>
          </p:txBody>
        </p:sp>
        <p:sp>
          <p:nvSpPr>
            <p:cNvPr id="44" name="Rectangle 106"/>
            <p:cNvSpPr/>
            <p:nvPr/>
          </p:nvSpPr>
          <p:spPr>
            <a:xfrm>
              <a:off x="831" y="500"/>
              <a:ext cx="164" cy="152"/>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C/S</a:t>
              </a:r>
              <a:endParaRPr lang="de-DE" altLang="en-US" sz="2400" dirty="0">
                <a:latin typeface="Tahoma" panose="020B0604030504040204" pitchFamily="2" charset="0"/>
                <a:ea typeface="宋体" panose="02010600030101010101" pitchFamily="2" charset="-122"/>
              </a:endParaRPr>
            </a:p>
          </p:txBody>
        </p:sp>
        <p:sp>
          <p:nvSpPr>
            <p:cNvPr id="45" name="Rectangle 107"/>
            <p:cNvSpPr/>
            <p:nvPr/>
          </p:nvSpPr>
          <p:spPr>
            <a:xfrm>
              <a:off x="1009" y="490"/>
              <a:ext cx="210" cy="149"/>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模式</a:t>
              </a:r>
              <a:endParaRPr lang="de-DE" altLang="en-US" sz="2400" dirty="0">
                <a:latin typeface="Tahoma" panose="020B0604030504040204" pitchFamily="2" charset="0"/>
                <a:ea typeface="宋体" panose="02010600030101010101" pitchFamily="2" charset="-122"/>
              </a:endParaRPr>
            </a:p>
          </p:txBody>
        </p:sp>
        <p:sp>
          <p:nvSpPr>
            <p:cNvPr id="46" name="Rectangle 108"/>
            <p:cNvSpPr/>
            <p:nvPr/>
          </p:nvSpPr>
          <p:spPr>
            <a:xfrm>
              <a:off x="1213" y="500"/>
              <a:ext cx="88" cy="275"/>
            </a:xfrm>
            <a:prstGeom prst="rect">
              <a:avLst/>
            </a:prstGeom>
            <a:noFill/>
            <a:ln w="9525">
              <a:noFill/>
            </a:ln>
          </p:spPr>
          <p:txBody>
            <a:bodyPr wrap="none" lIns="0" tIns="0" rIns="0" bIns="0" anchor="t">
              <a:spAutoFit/>
            </a:bodyPr>
            <a:lstStyle/>
            <a:p>
              <a:pPr lvl="0" indent="0"/>
              <a:endParaRPr lang="de-DE" altLang="en-US" sz="2400" dirty="0">
                <a:latin typeface="Tahoma" panose="020B0604030504040204" pitchFamily="2" charset="0"/>
                <a:ea typeface="宋体" panose="02010600030101010101" pitchFamily="2" charset="-122"/>
              </a:endParaRPr>
            </a:p>
          </p:txBody>
        </p:sp>
        <p:sp>
          <p:nvSpPr>
            <p:cNvPr id="47" name="Rectangle 109"/>
            <p:cNvSpPr/>
            <p:nvPr/>
          </p:nvSpPr>
          <p:spPr>
            <a:xfrm>
              <a:off x="1868" y="215"/>
              <a:ext cx="605" cy="234"/>
            </a:xfrm>
            <a:prstGeom prst="rect">
              <a:avLst/>
            </a:prstGeom>
            <a:solidFill>
              <a:srgbClr val="FFCC99"/>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48" name="Rectangle 110"/>
            <p:cNvSpPr/>
            <p:nvPr/>
          </p:nvSpPr>
          <p:spPr>
            <a:xfrm>
              <a:off x="1868" y="215"/>
              <a:ext cx="605" cy="234"/>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49" name="Rectangle 111"/>
            <p:cNvSpPr/>
            <p:nvPr/>
          </p:nvSpPr>
          <p:spPr>
            <a:xfrm>
              <a:off x="1986" y="245"/>
              <a:ext cx="39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浏览器</a:t>
              </a:r>
              <a:endParaRPr lang="de-DE" altLang="en-US" sz="2400" dirty="0">
                <a:latin typeface="Tahoma" panose="020B0604030504040204" pitchFamily="2" charset="0"/>
                <a:ea typeface="宋体" panose="02010600030101010101" pitchFamily="2" charset="-122"/>
              </a:endParaRPr>
            </a:p>
          </p:txBody>
        </p:sp>
        <p:sp>
          <p:nvSpPr>
            <p:cNvPr id="50" name="Rectangle 112"/>
            <p:cNvSpPr/>
            <p:nvPr/>
          </p:nvSpPr>
          <p:spPr>
            <a:xfrm>
              <a:off x="2354" y="253"/>
              <a:ext cx="31" cy="153"/>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1" name="Rectangle 113"/>
            <p:cNvSpPr/>
            <p:nvPr/>
          </p:nvSpPr>
          <p:spPr>
            <a:xfrm>
              <a:off x="1725" y="664"/>
              <a:ext cx="829" cy="188"/>
            </a:xfrm>
            <a:prstGeom prst="rect">
              <a:avLst/>
            </a:prstGeom>
            <a:solidFill>
              <a:srgbClr val="FFCC99"/>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2" name="Rectangle 114"/>
            <p:cNvSpPr/>
            <p:nvPr/>
          </p:nvSpPr>
          <p:spPr>
            <a:xfrm>
              <a:off x="1725" y="664"/>
              <a:ext cx="829" cy="188"/>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53" name="Rectangle 115"/>
            <p:cNvSpPr/>
            <p:nvPr/>
          </p:nvSpPr>
          <p:spPr>
            <a:xfrm>
              <a:off x="1800" y="705"/>
              <a:ext cx="301" cy="187"/>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WEB</a:t>
              </a:r>
              <a:endParaRPr lang="de-DE" altLang="en-US" sz="2400" dirty="0">
                <a:latin typeface="Tahoma" panose="020B0604030504040204" pitchFamily="2" charset="0"/>
                <a:ea typeface="宋体" panose="02010600030101010101" pitchFamily="2" charset="-122"/>
              </a:endParaRPr>
            </a:p>
          </p:txBody>
        </p:sp>
        <p:sp>
          <p:nvSpPr>
            <p:cNvPr id="54" name="Rectangle 116"/>
            <p:cNvSpPr/>
            <p:nvPr/>
          </p:nvSpPr>
          <p:spPr>
            <a:xfrm>
              <a:off x="2112" y="697"/>
              <a:ext cx="391" cy="18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宋体" panose="02010600030101010101" pitchFamily="2" charset="-122"/>
                  <a:ea typeface="宋体" panose="02010600030101010101" pitchFamily="2" charset="-122"/>
                </a:rPr>
                <a:t>服务器</a:t>
              </a:r>
              <a:endParaRPr lang="de-DE" altLang="en-US" sz="2400" dirty="0">
                <a:latin typeface="Tahoma" panose="020B0604030504040204" pitchFamily="2" charset="0"/>
                <a:ea typeface="宋体" panose="02010600030101010101" pitchFamily="2" charset="-122"/>
              </a:endParaRPr>
            </a:p>
          </p:txBody>
        </p:sp>
        <p:sp>
          <p:nvSpPr>
            <p:cNvPr id="55" name="Rectangle 117"/>
            <p:cNvSpPr/>
            <p:nvPr/>
          </p:nvSpPr>
          <p:spPr>
            <a:xfrm>
              <a:off x="2481" y="705"/>
              <a:ext cx="31" cy="153"/>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56" name="未知"/>
            <p:cNvSpPr>
              <a:spLocks noEditPoints="1"/>
            </p:cNvSpPr>
            <p:nvPr/>
          </p:nvSpPr>
          <p:spPr>
            <a:xfrm>
              <a:off x="629" y="281"/>
              <a:ext cx="1236" cy="82"/>
            </a:xfrm>
            <a:custGeom>
              <a:avLst/>
              <a:gdLst/>
              <a:ahLst/>
              <a:cxnLst>
                <a:cxn ang="0">
                  <a:pos x="5" y="36"/>
                </a:cxn>
                <a:cxn ang="0">
                  <a:pos x="775" y="36"/>
                </a:cxn>
                <a:cxn ang="0">
                  <a:pos x="778" y="36"/>
                </a:cxn>
                <a:cxn ang="0">
                  <a:pos x="778" y="36"/>
                </a:cxn>
                <a:cxn ang="0">
                  <a:pos x="780" y="39"/>
                </a:cxn>
                <a:cxn ang="0">
                  <a:pos x="780" y="41"/>
                </a:cxn>
                <a:cxn ang="0">
                  <a:pos x="780" y="41"/>
                </a:cxn>
                <a:cxn ang="0">
                  <a:pos x="778" y="41"/>
                </a:cxn>
                <a:cxn ang="0">
                  <a:pos x="778" y="41"/>
                </a:cxn>
                <a:cxn ang="0">
                  <a:pos x="775" y="41"/>
                </a:cxn>
                <a:cxn ang="0">
                  <a:pos x="5" y="41"/>
                </a:cxn>
                <a:cxn ang="0">
                  <a:pos x="2" y="41"/>
                </a:cxn>
                <a:cxn ang="0">
                  <a:pos x="0" y="41"/>
                </a:cxn>
                <a:cxn ang="0">
                  <a:pos x="0" y="41"/>
                </a:cxn>
                <a:cxn ang="0">
                  <a:pos x="0" y="41"/>
                </a:cxn>
                <a:cxn ang="0">
                  <a:pos x="0" y="39"/>
                </a:cxn>
                <a:cxn ang="0">
                  <a:pos x="0" y="36"/>
                </a:cxn>
                <a:cxn ang="0">
                  <a:pos x="2" y="36"/>
                </a:cxn>
                <a:cxn ang="0">
                  <a:pos x="5" y="36"/>
                </a:cxn>
                <a:cxn ang="0">
                  <a:pos x="5" y="36"/>
                </a:cxn>
                <a:cxn ang="0">
                  <a:pos x="775" y="41"/>
                </a:cxn>
                <a:cxn ang="0">
                  <a:pos x="759" y="0"/>
                </a:cxn>
                <a:cxn ang="0">
                  <a:pos x="813" y="41"/>
                </a:cxn>
                <a:cxn ang="0">
                  <a:pos x="759" y="70"/>
                </a:cxn>
                <a:cxn ang="0">
                  <a:pos x="775" y="41"/>
                </a:cxn>
              </a:cxnLst>
              <a:rect l="0" t="0" r="0" b="0"/>
              <a:pathLst>
                <a:path w="1280" h="83">
                  <a:moveTo>
                    <a:pt x="5" y="36"/>
                  </a:moveTo>
                  <a:lnTo>
                    <a:pt x="1224" y="36"/>
                  </a:lnTo>
                  <a:lnTo>
                    <a:pt x="1227" y="36"/>
                  </a:lnTo>
                  <a:lnTo>
                    <a:pt x="1230" y="39"/>
                  </a:lnTo>
                  <a:lnTo>
                    <a:pt x="1230" y="42"/>
                  </a:lnTo>
                  <a:lnTo>
                    <a:pt x="1227" y="44"/>
                  </a:lnTo>
                  <a:lnTo>
                    <a:pt x="1224" y="44"/>
                  </a:lnTo>
                  <a:lnTo>
                    <a:pt x="5" y="44"/>
                  </a:lnTo>
                  <a:lnTo>
                    <a:pt x="2" y="44"/>
                  </a:lnTo>
                  <a:lnTo>
                    <a:pt x="0" y="44"/>
                  </a:lnTo>
                  <a:lnTo>
                    <a:pt x="0" y="42"/>
                  </a:lnTo>
                  <a:lnTo>
                    <a:pt x="0" y="39"/>
                  </a:lnTo>
                  <a:lnTo>
                    <a:pt x="0" y="36"/>
                  </a:lnTo>
                  <a:lnTo>
                    <a:pt x="2" y="36"/>
                  </a:lnTo>
                  <a:lnTo>
                    <a:pt x="5" y="36"/>
                  </a:lnTo>
                  <a:close/>
                  <a:moveTo>
                    <a:pt x="1224" y="42"/>
                  </a:moveTo>
                  <a:lnTo>
                    <a:pt x="1196" y="0"/>
                  </a:lnTo>
                  <a:lnTo>
                    <a:pt x="1280" y="42"/>
                  </a:lnTo>
                  <a:lnTo>
                    <a:pt x="1196" y="83"/>
                  </a:lnTo>
                  <a:lnTo>
                    <a:pt x="1224" y="42"/>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57" name="Rectangle 119"/>
            <p:cNvSpPr/>
            <p:nvPr/>
          </p:nvSpPr>
          <p:spPr>
            <a:xfrm>
              <a:off x="1310" y="369"/>
              <a:ext cx="158" cy="152"/>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B/S</a:t>
              </a:r>
              <a:endParaRPr lang="de-DE" altLang="en-US" sz="2400" dirty="0">
                <a:latin typeface="Tahoma" panose="020B0604030504040204" pitchFamily="2" charset="0"/>
                <a:ea typeface="宋体" panose="02010600030101010101" pitchFamily="2" charset="-122"/>
              </a:endParaRPr>
            </a:p>
          </p:txBody>
        </p:sp>
        <p:sp>
          <p:nvSpPr>
            <p:cNvPr id="58" name="Rectangle 120"/>
            <p:cNvSpPr/>
            <p:nvPr/>
          </p:nvSpPr>
          <p:spPr>
            <a:xfrm>
              <a:off x="1487" y="358"/>
              <a:ext cx="210" cy="149"/>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模式</a:t>
              </a:r>
              <a:endParaRPr lang="de-DE" altLang="en-US" sz="2400" dirty="0">
                <a:latin typeface="Tahoma" panose="020B0604030504040204" pitchFamily="2" charset="0"/>
                <a:ea typeface="宋体" panose="02010600030101010101" pitchFamily="2" charset="-122"/>
              </a:endParaRPr>
            </a:p>
          </p:txBody>
        </p:sp>
        <p:sp>
          <p:nvSpPr>
            <p:cNvPr id="59" name="Rectangle 121"/>
            <p:cNvSpPr/>
            <p:nvPr/>
          </p:nvSpPr>
          <p:spPr>
            <a:xfrm>
              <a:off x="1692" y="369"/>
              <a:ext cx="25" cy="124"/>
            </a:xfrm>
            <a:prstGeom prst="rect">
              <a:avLst/>
            </a:prstGeom>
            <a:noFill/>
            <a:ln w="9525">
              <a:noFill/>
            </a:ln>
          </p:spPr>
          <p:txBody>
            <a:bodyPr wrap="none" lIns="0" tIns="0" rIns="0" bIns="0" anchor="t">
              <a:spAutoFit/>
            </a:bodyPr>
            <a:lstStyle/>
            <a:p>
              <a:pPr lvl="0" indent="0"/>
              <a:r>
                <a:rPr lang="de-DE" altLang="en-US" sz="13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60" name="Rectangle 122"/>
            <p:cNvSpPr/>
            <p:nvPr/>
          </p:nvSpPr>
          <p:spPr>
            <a:xfrm>
              <a:off x="2148" y="498"/>
              <a:ext cx="286" cy="152"/>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HTTP</a:t>
              </a:r>
              <a:endParaRPr lang="de-DE" altLang="en-US" sz="2400" dirty="0">
                <a:latin typeface="Tahoma" panose="020B0604030504040204" pitchFamily="2" charset="0"/>
                <a:ea typeface="宋体" panose="02010600030101010101" pitchFamily="2" charset="-122"/>
              </a:endParaRPr>
            </a:p>
          </p:txBody>
        </p:sp>
        <p:sp>
          <p:nvSpPr>
            <p:cNvPr id="61" name="Rectangle 123"/>
            <p:cNvSpPr/>
            <p:nvPr/>
          </p:nvSpPr>
          <p:spPr>
            <a:xfrm>
              <a:off x="2401" y="498"/>
              <a:ext cx="26" cy="152"/>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62" name="未知"/>
            <p:cNvSpPr>
              <a:spLocks noEditPoints="1"/>
            </p:cNvSpPr>
            <p:nvPr/>
          </p:nvSpPr>
          <p:spPr>
            <a:xfrm>
              <a:off x="2047" y="449"/>
              <a:ext cx="82" cy="215"/>
            </a:xfrm>
            <a:custGeom>
              <a:avLst/>
              <a:gdLst/>
              <a:ahLst/>
              <a:cxnLst>
                <a:cxn ang="0">
                  <a:pos x="35" y="56"/>
                </a:cxn>
                <a:cxn ang="0">
                  <a:pos x="35" y="148"/>
                </a:cxn>
                <a:cxn ang="0">
                  <a:pos x="35" y="150"/>
                </a:cxn>
                <a:cxn ang="0">
                  <a:pos x="35" y="150"/>
                </a:cxn>
                <a:cxn ang="0">
                  <a:pos x="32" y="151"/>
                </a:cxn>
                <a:cxn ang="0">
                  <a:pos x="29" y="151"/>
                </a:cxn>
                <a:cxn ang="0">
                  <a:pos x="29" y="151"/>
                </a:cxn>
                <a:cxn ang="0">
                  <a:pos x="26" y="150"/>
                </a:cxn>
                <a:cxn ang="0">
                  <a:pos x="26" y="150"/>
                </a:cxn>
                <a:cxn ang="0">
                  <a:pos x="24" y="148"/>
                </a:cxn>
                <a:cxn ang="0">
                  <a:pos x="24" y="56"/>
                </a:cxn>
                <a:cxn ang="0">
                  <a:pos x="26" y="54"/>
                </a:cxn>
                <a:cxn ang="0">
                  <a:pos x="26" y="54"/>
                </a:cxn>
                <a:cxn ang="0">
                  <a:pos x="29" y="54"/>
                </a:cxn>
                <a:cxn ang="0">
                  <a:pos x="29" y="54"/>
                </a:cxn>
                <a:cxn ang="0">
                  <a:pos x="32" y="54"/>
                </a:cxn>
                <a:cxn ang="0">
                  <a:pos x="35" y="54"/>
                </a:cxn>
                <a:cxn ang="0">
                  <a:pos x="35" y="54"/>
                </a:cxn>
                <a:cxn ang="0">
                  <a:pos x="35" y="56"/>
                </a:cxn>
                <a:cxn ang="0">
                  <a:pos x="35" y="56"/>
                </a:cxn>
                <a:cxn ang="0">
                  <a:pos x="0" y="70"/>
                </a:cxn>
                <a:cxn ang="0">
                  <a:pos x="29" y="0"/>
                </a:cxn>
                <a:cxn ang="0">
                  <a:pos x="60" y="70"/>
                </a:cxn>
                <a:cxn ang="0">
                  <a:pos x="0" y="70"/>
                </a:cxn>
                <a:cxn ang="0">
                  <a:pos x="29" y="148"/>
                </a:cxn>
                <a:cxn ang="0">
                  <a:pos x="60" y="120"/>
                </a:cxn>
                <a:cxn ang="0">
                  <a:pos x="29" y="191"/>
                </a:cxn>
                <a:cxn ang="0">
                  <a:pos x="0" y="120"/>
                </a:cxn>
                <a:cxn ang="0">
                  <a:pos x="29" y="148"/>
                </a:cxn>
              </a:cxnLst>
              <a:rect l="0" t="0" r="0" b="0"/>
              <a:pathLst>
                <a:path w="84" h="217">
                  <a:moveTo>
                    <a:pt x="48" y="69"/>
                  </a:moveTo>
                  <a:lnTo>
                    <a:pt x="48" y="161"/>
                  </a:lnTo>
                  <a:lnTo>
                    <a:pt x="48" y="164"/>
                  </a:lnTo>
                  <a:lnTo>
                    <a:pt x="45" y="167"/>
                  </a:lnTo>
                  <a:lnTo>
                    <a:pt x="42" y="167"/>
                  </a:lnTo>
                  <a:lnTo>
                    <a:pt x="39" y="164"/>
                  </a:lnTo>
                  <a:lnTo>
                    <a:pt x="37" y="161"/>
                  </a:lnTo>
                  <a:lnTo>
                    <a:pt x="37" y="69"/>
                  </a:lnTo>
                  <a:lnTo>
                    <a:pt x="39" y="67"/>
                  </a:lnTo>
                  <a:lnTo>
                    <a:pt x="42" y="64"/>
                  </a:lnTo>
                  <a:lnTo>
                    <a:pt x="45" y="64"/>
                  </a:lnTo>
                  <a:lnTo>
                    <a:pt x="48" y="67"/>
                  </a:lnTo>
                  <a:lnTo>
                    <a:pt x="48" y="69"/>
                  </a:lnTo>
                  <a:close/>
                  <a:moveTo>
                    <a:pt x="0" y="83"/>
                  </a:moveTo>
                  <a:lnTo>
                    <a:pt x="42" y="0"/>
                  </a:lnTo>
                  <a:lnTo>
                    <a:pt x="84" y="83"/>
                  </a:lnTo>
                  <a:lnTo>
                    <a:pt x="0" y="83"/>
                  </a:lnTo>
                  <a:close/>
                  <a:moveTo>
                    <a:pt x="42" y="161"/>
                  </a:moveTo>
                  <a:lnTo>
                    <a:pt x="84" y="133"/>
                  </a:lnTo>
                  <a:lnTo>
                    <a:pt x="42" y="217"/>
                  </a:lnTo>
                  <a:lnTo>
                    <a:pt x="0" y="133"/>
                  </a:lnTo>
                  <a:lnTo>
                    <a:pt x="42" y="161"/>
                  </a:lnTo>
                  <a:close/>
                </a:path>
              </a:pathLst>
            </a:custGeom>
            <a:solidFill>
              <a:srgbClr val="000000"/>
            </a:solidFill>
            <a:ln w="4763" cap="flat" cmpd="sng">
              <a:solidFill>
                <a:srgbClr val="000000"/>
              </a:solidFill>
              <a:prstDash val="solid"/>
              <a:miter/>
              <a:headEnd type="none" w="med" len="med"/>
              <a:tailEnd type="none" w="med" len="med"/>
            </a:ln>
          </p:spPr>
          <p:txBody>
            <a:bodyPr/>
            <a:lstStyle/>
            <a:p>
              <a:endParaRPr lang="zh-CN" altLang="en-US"/>
            </a:p>
          </p:txBody>
        </p:sp>
        <p:sp>
          <p:nvSpPr>
            <p:cNvPr id="63" name="Rectangle 125"/>
            <p:cNvSpPr/>
            <p:nvPr/>
          </p:nvSpPr>
          <p:spPr>
            <a:xfrm>
              <a:off x="339" y="1536"/>
              <a:ext cx="210" cy="152"/>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Times New Roman" panose="02020603050405020304" pitchFamily="2" charset="0"/>
                  <a:ea typeface="宋体" panose="02010600030101010101" pitchFamily="2" charset="-122"/>
                </a:rPr>
                <a:t>SQL</a:t>
              </a:r>
              <a:endParaRPr lang="de-DE" altLang="en-US" sz="2400" dirty="0">
                <a:latin typeface="Tahoma" panose="020B0604030504040204" pitchFamily="2" charset="0"/>
                <a:ea typeface="宋体" panose="02010600030101010101" pitchFamily="2" charset="-122"/>
              </a:endParaRPr>
            </a:p>
          </p:txBody>
        </p:sp>
        <p:sp>
          <p:nvSpPr>
            <p:cNvPr id="64" name="Rectangle 126"/>
            <p:cNvSpPr/>
            <p:nvPr/>
          </p:nvSpPr>
          <p:spPr>
            <a:xfrm>
              <a:off x="333" y="1742"/>
              <a:ext cx="210" cy="149"/>
            </a:xfrm>
            <a:prstGeom prst="rect">
              <a:avLst/>
            </a:prstGeom>
            <a:noFill/>
            <a:ln w="9525">
              <a:noFill/>
            </a:ln>
          </p:spPr>
          <p:txBody>
            <a:bodyPr wrap="none" lIns="0" tIns="0" rIns="0" bIns="0" anchor="t">
              <a:spAutoFit/>
            </a:bodyPr>
            <a:lstStyle/>
            <a:p>
              <a:pPr lvl="0" indent="0">
                <a:buNone/>
              </a:pPr>
              <a:r>
                <a:rPr lang="de-DE" altLang="en-US" sz="1300" dirty="0">
                  <a:solidFill>
                    <a:srgbClr val="000000"/>
                  </a:solidFill>
                  <a:latin typeface="宋体" panose="02010600030101010101" pitchFamily="2" charset="-122"/>
                  <a:ea typeface="宋体" panose="02010600030101010101" pitchFamily="2" charset="-122"/>
                </a:rPr>
                <a:t>语句</a:t>
              </a:r>
              <a:endParaRPr lang="de-DE" altLang="en-US" sz="2400" dirty="0">
                <a:latin typeface="Tahoma" panose="020B0604030504040204" pitchFamily="2" charset="0"/>
                <a:ea typeface="宋体" panose="02010600030101010101" pitchFamily="2" charset="-122"/>
              </a:endParaRPr>
            </a:p>
          </p:txBody>
        </p:sp>
        <p:sp>
          <p:nvSpPr>
            <p:cNvPr id="65" name="Rectangle 127"/>
            <p:cNvSpPr/>
            <p:nvPr/>
          </p:nvSpPr>
          <p:spPr>
            <a:xfrm>
              <a:off x="1504" y="1066"/>
              <a:ext cx="1212" cy="215"/>
            </a:xfrm>
            <a:prstGeom prst="rect">
              <a:avLst/>
            </a:prstGeom>
            <a:solidFill>
              <a:srgbClr val="FFCC99"/>
            </a:solidFill>
            <a:ln w="9525">
              <a:noFill/>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66" name="Rectangle 128"/>
            <p:cNvSpPr/>
            <p:nvPr/>
          </p:nvSpPr>
          <p:spPr>
            <a:xfrm>
              <a:off x="1504" y="1066"/>
              <a:ext cx="1212" cy="215"/>
            </a:xfrm>
            <a:prstGeom prst="rect">
              <a:avLst/>
            </a:prstGeom>
            <a:noFill/>
            <a:ln w="17463" cap="flat" cmpd="sng">
              <a:solidFill>
                <a:srgbClr val="000000"/>
              </a:solidFill>
              <a:prstDash val="solid"/>
              <a:miter/>
              <a:headEnd type="none" w="med" len="med"/>
              <a:tailEnd type="none" w="med" len="med"/>
            </a:ln>
          </p:spPr>
          <p:txBody>
            <a:bodyPr anchor="t"/>
            <a:lstStyle/>
            <a:p>
              <a:pPr lvl="0" indent="0"/>
              <a:endParaRPr lang="zh-CN" altLang="en-US" dirty="0">
                <a:latin typeface="Arial" panose="020B0604020202020204" pitchFamily="34" charset="0"/>
                <a:ea typeface="宋体" panose="02010600030101010101" pitchFamily="2" charset="-122"/>
              </a:endParaRPr>
            </a:p>
          </p:txBody>
        </p:sp>
        <p:sp>
          <p:nvSpPr>
            <p:cNvPr id="67" name="Rectangle 129"/>
            <p:cNvSpPr/>
            <p:nvPr/>
          </p:nvSpPr>
          <p:spPr>
            <a:xfrm>
              <a:off x="1539" y="1104"/>
              <a:ext cx="519"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CGI/ASP</a:t>
              </a:r>
              <a:endParaRPr lang="de-DE" altLang="en-US" sz="2400" dirty="0">
                <a:latin typeface="Tahoma" panose="020B0604030504040204" pitchFamily="2" charset="0"/>
                <a:ea typeface="宋体" panose="02010600030101010101" pitchFamily="2" charset="-122"/>
              </a:endParaRPr>
            </a:p>
          </p:txBody>
        </p:sp>
        <p:sp>
          <p:nvSpPr>
            <p:cNvPr id="68" name="Rectangle 130"/>
            <p:cNvSpPr/>
            <p:nvPr/>
          </p:nvSpPr>
          <p:spPr>
            <a:xfrm>
              <a:off x="2097" y="1110"/>
              <a:ext cx="249"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/JSP</a:t>
              </a:r>
              <a:endParaRPr lang="de-DE" altLang="en-US" sz="2400" dirty="0">
                <a:latin typeface="Tahoma" panose="020B0604030504040204" pitchFamily="2" charset="0"/>
                <a:ea typeface="宋体" panose="02010600030101010101" pitchFamily="2" charset="-122"/>
              </a:endParaRPr>
            </a:p>
          </p:txBody>
        </p:sp>
        <p:sp>
          <p:nvSpPr>
            <p:cNvPr id="69" name="Rectangle 131"/>
            <p:cNvSpPr/>
            <p:nvPr/>
          </p:nvSpPr>
          <p:spPr>
            <a:xfrm>
              <a:off x="2363" y="1102"/>
              <a:ext cx="258"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宋体" panose="02010600030101010101" pitchFamily="2" charset="-122"/>
                  <a:ea typeface="宋体" panose="02010600030101010101" pitchFamily="2" charset="-122"/>
                </a:rPr>
                <a:t>程序</a:t>
              </a:r>
              <a:endParaRPr lang="de-DE" altLang="en-US" sz="2400" dirty="0">
                <a:latin typeface="Tahoma" panose="020B0604030504040204" pitchFamily="2" charset="0"/>
                <a:ea typeface="宋体" panose="02010600030101010101" pitchFamily="2" charset="-122"/>
              </a:endParaRPr>
            </a:p>
          </p:txBody>
        </p:sp>
        <p:sp>
          <p:nvSpPr>
            <p:cNvPr id="70" name="Rectangle 132"/>
            <p:cNvSpPr/>
            <p:nvPr/>
          </p:nvSpPr>
          <p:spPr>
            <a:xfrm>
              <a:off x="2610" y="1110"/>
              <a:ext cx="32" cy="154"/>
            </a:xfrm>
            <a:prstGeom prst="rect">
              <a:avLst/>
            </a:prstGeom>
            <a:noFill/>
            <a:ln w="9525">
              <a:noFill/>
            </a:ln>
          </p:spPr>
          <p:txBody>
            <a:bodyPr wrap="none" lIns="0" tIns="0" rIns="0" bIns="0" anchor="t">
              <a:spAutoFit/>
            </a:bodyPr>
            <a:lstStyle/>
            <a:p>
              <a:pPr lvl="0" indent="0"/>
              <a:r>
                <a:rPr lang="de-DE" altLang="en-US" sz="1600" dirty="0">
                  <a:solidFill>
                    <a:srgbClr val="000000"/>
                  </a:solidFill>
                  <a:latin typeface="Times New Roman" panose="02020603050405020304" pitchFamily="2" charset="0"/>
                  <a:ea typeface="宋体" panose="02010600030101010101" pitchFamily="2" charset="-122"/>
                </a:rPr>
                <a:t> </a:t>
              </a:r>
              <a:endParaRPr lang="de-DE" altLang="en-US" sz="2400" dirty="0">
                <a:latin typeface="Tahoma" panose="020B0604030504040204" pitchFamily="2" charset="0"/>
                <a:ea typeface="宋体" panose="02010600030101010101" pitchFamily="2" charset="-122"/>
              </a:endParaRPr>
            </a:p>
          </p:txBody>
        </p:sp>
        <p:sp>
          <p:nvSpPr>
            <p:cNvPr id="71" name="Line 133"/>
            <p:cNvSpPr/>
            <p:nvPr/>
          </p:nvSpPr>
          <p:spPr>
            <a:xfrm>
              <a:off x="291" y="576"/>
              <a:ext cx="0" cy="1536"/>
            </a:xfrm>
            <a:prstGeom prst="line">
              <a:avLst/>
            </a:prstGeom>
            <a:ln w="25400" cap="flat" cmpd="sng">
              <a:solidFill>
                <a:srgbClr val="000000"/>
              </a:solidFill>
              <a:prstDash val="solid"/>
              <a:round/>
              <a:headEnd type="triangle" w="med" len="med"/>
              <a:tailEnd type="triangle" w="med" len="med"/>
            </a:ln>
          </p:spPr>
        </p:sp>
        <p:sp>
          <p:nvSpPr>
            <p:cNvPr id="72" name="Line 134"/>
            <p:cNvSpPr/>
            <p:nvPr/>
          </p:nvSpPr>
          <p:spPr>
            <a:xfrm>
              <a:off x="1635" y="1824"/>
              <a:ext cx="0" cy="288"/>
            </a:xfrm>
            <a:prstGeom prst="line">
              <a:avLst/>
            </a:prstGeom>
            <a:ln w="25400" cap="flat" cmpd="sng">
              <a:solidFill>
                <a:srgbClr val="000000"/>
              </a:solidFill>
              <a:prstDash val="solid"/>
              <a:round/>
              <a:headEnd type="triangle" w="med" len="med"/>
              <a:tailEnd type="triangle" w="med" len="med"/>
            </a:ln>
          </p:spPr>
        </p:sp>
        <p:sp>
          <p:nvSpPr>
            <p:cNvPr id="73" name="Line 135"/>
            <p:cNvSpPr/>
            <p:nvPr/>
          </p:nvSpPr>
          <p:spPr>
            <a:xfrm>
              <a:off x="2067" y="864"/>
              <a:ext cx="0" cy="192"/>
            </a:xfrm>
            <a:prstGeom prst="line">
              <a:avLst/>
            </a:prstGeom>
            <a:ln w="25400" cap="flat" cmpd="sng">
              <a:solidFill>
                <a:srgbClr val="000000"/>
              </a:solidFill>
              <a:prstDash val="solid"/>
              <a:round/>
              <a:headEnd type="triangle" w="med" len="med"/>
              <a:tailEnd type="triangle" w="med" len="med"/>
            </a:ln>
          </p:spPr>
        </p:sp>
        <p:sp>
          <p:nvSpPr>
            <p:cNvPr id="74" name="Line 136"/>
            <p:cNvSpPr/>
            <p:nvPr/>
          </p:nvSpPr>
          <p:spPr>
            <a:xfrm>
              <a:off x="2067" y="1296"/>
              <a:ext cx="0" cy="192"/>
            </a:xfrm>
            <a:prstGeom prst="line">
              <a:avLst/>
            </a:prstGeom>
            <a:ln w="25400" cap="flat" cmpd="sng">
              <a:solidFill>
                <a:srgbClr val="000000"/>
              </a:solidFill>
              <a:prstDash val="solid"/>
              <a:round/>
              <a:headEnd type="triangle" w="med" len="med"/>
              <a:tailEnd type="triangle" w="med" len="med"/>
            </a:ln>
          </p:spPr>
        </p:sp>
        <p:sp>
          <p:nvSpPr>
            <p:cNvPr id="75" name="Line 137"/>
            <p:cNvSpPr/>
            <p:nvPr/>
          </p:nvSpPr>
          <p:spPr>
            <a:xfrm>
              <a:off x="867" y="1104"/>
              <a:ext cx="0" cy="384"/>
            </a:xfrm>
            <a:prstGeom prst="line">
              <a:avLst/>
            </a:prstGeom>
            <a:ln w="25400" cap="flat" cmpd="sng">
              <a:solidFill>
                <a:srgbClr val="000000"/>
              </a:solidFill>
              <a:prstDash val="solid"/>
              <a:round/>
              <a:headEnd type="triangle" w="med" len="med"/>
              <a:tailEnd type="triangle" w="med" len="med"/>
            </a:ln>
          </p:spPr>
        </p:sp>
      </p:grpSp>
      <p:sp>
        <p:nvSpPr>
          <p:cNvPr id="139" name="Rectangle 51"/>
          <p:cNvSpPr/>
          <p:nvPr/>
        </p:nvSpPr>
        <p:spPr>
          <a:xfrm>
            <a:off x="903288" y="4577332"/>
            <a:ext cx="3690938" cy="412509"/>
          </a:xfrm>
          <a:prstGeom prst="rect">
            <a:avLst/>
          </a:prstGeom>
          <a:solidFill>
            <a:srgbClr val="CCFFCC"/>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2000" dirty="0">
                <a:solidFill>
                  <a:srgbClr val="000000"/>
                </a:solidFill>
                <a:latin typeface="宋体" panose="02010600030101010101" pitchFamily="2" charset="-122"/>
                <a:ea typeface="宋体" panose="02010600030101010101" pitchFamily="2" charset="-122"/>
              </a:rPr>
              <a:t>关系数据库管理系统RDBMS</a:t>
            </a:r>
            <a:endParaRPr lang="de-DE" altLang="en-US" sz="2000" dirty="0">
              <a:latin typeface="宋体" panose="02010600030101010101" pitchFamily="2" charset="-122"/>
              <a:ea typeface="宋体" panose="02010600030101010101" pitchFamily="2" charset="-122"/>
            </a:endParaRPr>
          </a:p>
        </p:txBody>
      </p:sp>
      <p:sp>
        <p:nvSpPr>
          <p:cNvPr id="140" name="圆角矩形标注 139"/>
          <p:cNvSpPr/>
          <p:nvPr/>
        </p:nvSpPr>
        <p:spPr>
          <a:xfrm>
            <a:off x="5058170" y="1473704"/>
            <a:ext cx="2755505" cy="677265"/>
          </a:xfrm>
          <a:prstGeom prst="wedgeRoundRectCallout">
            <a:avLst>
              <a:gd name="adj1" fmla="val -54801"/>
              <a:gd name="adj2" fmla="val 10310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buNone/>
            </a:pPr>
            <a:r>
              <a:rPr lang="zh-CN" altLang="en-US" sz="2400" dirty="0">
                <a:solidFill>
                  <a:srgbClr val="FF0000"/>
                </a:solidFill>
              </a:rPr>
              <a:t>对应第</a:t>
            </a:r>
            <a:r>
              <a:rPr lang="en-US" altLang="zh-CN" sz="2400" dirty="0">
                <a:solidFill>
                  <a:srgbClr val="FF0000"/>
                </a:solidFill>
              </a:rPr>
              <a:t>4</a:t>
            </a:r>
            <a:r>
              <a:rPr lang="zh-CN" altLang="en-US" sz="2400" dirty="0">
                <a:solidFill>
                  <a:srgbClr val="FF0000"/>
                </a:solidFill>
              </a:rPr>
              <a:t>章内容</a:t>
            </a:r>
            <a:endParaRPr lang="zh-CN" altLang="en-US" sz="2400" dirty="0">
              <a:solidFill>
                <a:srgbClr val="FF0000"/>
              </a:solidFill>
            </a:endParaRPr>
          </a:p>
        </p:txBody>
      </p:sp>
      <p:sp>
        <p:nvSpPr>
          <p:cNvPr id="59393" name="Rectangle 2"/>
          <p:cNvSpPr/>
          <p:nvPr/>
        </p:nvSpPr>
        <p:spPr>
          <a:xfrm>
            <a:off x="485775" y="765175"/>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各知识点的章节对应关系</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59530"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五、数据库系统的总体结构</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文本框 3"/>
          <p:cNvSpPr txBox="1"/>
          <p:nvPr/>
        </p:nvSpPr>
        <p:spPr>
          <a:xfrm>
            <a:off x="3857625" y="3838575"/>
            <a:ext cx="5159375" cy="2090738"/>
          </a:xfrm>
          <a:prstGeom prst="rect">
            <a:avLst/>
          </a:prstGeom>
          <a:noFill/>
          <a:ln w="9525">
            <a:noFill/>
          </a:ln>
        </p:spPr>
        <p:txBody>
          <a:bodyPr wrap="square" anchor="t">
            <a:spAutoFit/>
          </a:bodyPr>
          <a:lstStyle/>
          <a:p>
            <a:pPr lvl="0" indent="0">
              <a:lnSpc>
                <a:spcPct val="110000"/>
              </a:lnSpc>
              <a:spcBef>
                <a:spcPts val="300"/>
              </a:spcBef>
              <a:buClr>
                <a:srgbClr val="0000CC"/>
              </a:buClr>
              <a:buSzPct val="80000"/>
              <a:buNone/>
            </a:pPr>
            <a:r>
              <a:rPr lang="en-US" altLang="x-none" i="1" dirty="0">
                <a:latin typeface="Times New Roman" panose="02020603050405020304" pitchFamily="2" charset="0"/>
                <a:ea typeface="Arial Unicode MS" panose="020B0604020202020204" charset="-122"/>
                <a:sym typeface="宋体" panose="02010600030101010101" pitchFamily="2" charset="-122"/>
              </a:rPr>
              <a:t>CREATE TABLE  students</a:t>
            </a:r>
            <a:endParaRPr lang="en-US" altLang="x-none" i="1" dirty="0">
              <a:latin typeface="Times New Roman" panose="02020603050405020304" pitchFamily="2" charset="0"/>
              <a:ea typeface="Arial Unicode MS" panose="020B0604020202020204" charset="-122"/>
            </a:endParaRPr>
          </a:p>
          <a:p>
            <a:pPr lvl="0" indent="0">
              <a:lnSpc>
                <a:spcPct val="110000"/>
              </a:lnSpc>
              <a:spcBef>
                <a:spcPts val="300"/>
              </a:spcBef>
              <a:buClr>
                <a:srgbClr val="0000CC"/>
              </a:buClr>
              <a:buSzPct val="80000"/>
              <a:buNone/>
            </a:pPr>
            <a:r>
              <a:rPr lang="en-US" altLang="x-none" i="1" dirty="0">
                <a:latin typeface="Times New Roman" panose="02020603050405020304" pitchFamily="2" charset="0"/>
                <a:ea typeface="Arial Unicode MS" panose="020B0604020202020204" charset="-122"/>
                <a:sym typeface="宋体" panose="02010600030101010101" pitchFamily="2" charset="-122"/>
              </a:rPr>
              <a:t>     (  </a:t>
            </a:r>
            <a:r>
              <a:rPr lang="en-US" altLang="zh-CN" i="1" dirty="0">
                <a:latin typeface="Times New Roman" panose="02020603050405020304" pitchFamily="2" charset="0"/>
                <a:ea typeface="Arial Unicode MS" panose="020B0604020202020204" charset="-122"/>
                <a:sym typeface="宋体" panose="02010600030101010101" pitchFamily="2" charset="-122"/>
              </a:rPr>
              <a:t>S</a:t>
            </a:r>
            <a:r>
              <a:rPr lang="en-US" altLang="x-none" i="1" dirty="0">
                <a:latin typeface="Times New Roman" panose="02020603050405020304" pitchFamily="2" charset="0"/>
                <a:ea typeface="Arial Unicode MS" panose="020B0604020202020204" charset="-122"/>
                <a:sym typeface="宋体" panose="02010600030101010101" pitchFamily="2" charset="-122"/>
              </a:rPr>
              <a:t>id  char(8)	PRIMARY KEY ,</a:t>
            </a:r>
            <a:endParaRPr lang="en-US" altLang="x-none" i="1" dirty="0">
              <a:latin typeface="Times New Roman" panose="02020603050405020304" pitchFamily="2" charset="0"/>
              <a:ea typeface="Arial Unicode MS" panose="020B0604020202020204" charset="-122"/>
            </a:endParaRPr>
          </a:p>
          <a:p>
            <a:pPr lvl="0" indent="0">
              <a:lnSpc>
                <a:spcPct val="110000"/>
              </a:lnSpc>
              <a:spcBef>
                <a:spcPts val="300"/>
              </a:spcBef>
              <a:buClr>
                <a:srgbClr val="0000CC"/>
              </a:buClr>
              <a:buSzPct val="80000"/>
              <a:buNone/>
            </a:pPr>
            <a:r>
              <a:rPr lang="en-US" altLang="x-none" i="1" dirty="0">
                <a:latin typeface="Times New Roman" panose="02020603050405020304" pitchFamily="2" charset="0"/>
                <a:ea typeface="Arial Unicode MS" panose="020B0604020202020204" charset="-122"/>
                <a:sym typeface="宋体" panose="02010600030101010101" pitchFamily="2" charset="-122"/>
              </a:rPr>
              <a:t>        Sname varchar(20)  NOT NULL,</a:t>
            </a:r>
            <a:endParaRPr lang="en-US" altLang="x-none" i="1" dirty="0">
              <a:latin typeface="Times New Roman" panose="02020603050405020304" pitchFamily="2" charset="0"/>
              <a:ea typeface="Arial Unicode MS" panose="020B0604020202020204" charset="-122"/>
              <a:sym typeface="宋体" panose="02010600030101010101" pitchFamily="2" charset="-122"/>
            </a:endParaRPr>
          </a:p>
          <a:p>
            <a:pPr lvl="0" indent="0">
              <a:lnSpc>
                <a:spcPct val="110000"/>
              </a:lnSpc>
              <a:spcBef>
                <a:spcPts val="300"/>
              </a:spcBef>
              <a:buClr>
                <a:srgbClr val="0000CC"/>
              </a:buClr>
              <a:buSzPct val="80000"/>
              <a:buNone/>
            </a:pPr>
            <a:r>
              <a:rPr lang="en-US" altLang="x-none" i="1" dirty="0">
                <a:latin typeface="Times New Roman" panose="02020603050405020304" pitchFamily="2" charset="0"/>
                <a:ea typeface="Arial Unicode MS" panose="020B0604020202020204" charset="-122"/>
                <a:sym typeface="宋体" panose="02010600030101010101" pitchFamily="2" charset="-122"/>
              </a:rPr>
              <a:t>        gender  char(1) </a:t>
            </a:r>
            <a:r>
              <a:rPr lang="en-US" altLang="x-none" dirty="0">
                <a:latin typeface="Times New Roman" panose="02020603050405020304" pitchFamily="2" charset="0"/>
                <a:ea typeface="宋体" panose="02010600030101010101" pitchFamily="2" charset="-122"/>
                <a:sym typeface="宋体" panose="02010600030101010101" pitchFamily="2" charset="-122"/>
              </a:rPr>
              <a:t>CHECK (gender IN('M','F'))</a:t>
            </a:r>
            <a:r>
              <a:rPr lang="en-US" altLang="x-none" i="1" dirty="0">
                <a:latin typeface="Times New Roman" panose="02020603050405020304" pitchFamily="2" charset="0"/>
                <a:ea typeface="Arial Unicode MS" panose="020B0604020202020204" charset="-122"/>
                <a:sym typeface="宋体" panose="02010600030101010101" pitchFamily="2" charset="-122"/>
              </a:rPr>
              <a:t>,</a:t>
            </a:r>
            <a:endParaRPr lang="en-US" altLang="x-none" i="1" dirty="0">
              <a:latin typeface="Times New Roman" panose="02020603050405020304" pitchFamily="2" charset="0"/>
              <a:ea typeface="Arial Unicode MS" panose="020B0604020202020204" charset="-122"/>
            </a:endParaRPr>
          </a:p>
          <a:p>
            <a:pPr lvl="0" indent="0">
              <a:lnSpc>
                <a:spcPct val="110000"/>
              </a:lnSpc>
              <a:spcBef>
                <a:spcPts val="300"/>
              </a:spcBef>
              <a:buClr>
                <a:srgbClr val="0000CC"/>
              </a:buClr>
              <a:buSzPct val="80000"/>
              <a:buNone/>
            </a:pPr>
            <a:r>
              <a:rPr lang="en-US" altLang="x-none" i="1" dirty="0">
                <a:latin typeface="Times New Roman" panose="02020603050405020304" pitchFamily="2" charset="0"/>
                <a:ea typeface="Arial Unicode MS" panose="020B0604020202020204" charset="-122"/>
                <a:sym typeface="宋体" panose="02010600030101010101" pitchFamily="2" charset="-122"/>
              </a:rPr>
              <a:t>        age smallint NOT NULL,</a:t>
            </a:r>
            <a:endParaRPr lang="en-US" altLang="x-none" i="1" dirty="0">
              <a:latin typeface="Times New Roman" panose="02020603050405020304" pitchFamily="2" charset="0"/>
              <a:ea typeface="Arial Unicode MS" panose="020B0604020202020204" charset="-122"/>
              <a:sym typeface="宋体" panose="02010600030101010101" pitchFamily="2" charset="-122"/>
            </a:endParaRPr>
          </a:p>
          <a:p>
            <a:pPr lvl="0" indent="0">
              <a:lnSpc>
                <a:spcPct val="110000"/>
              </a:lnSpc>
              <a:spcBef>
                <a:spcPts val="300"/>
              </a:spcBef>
              <a:buClr>
                <a:srgbClr val="0000CC"/>
              </a:buClr>
              <a:buSzPct val="80000"/>
              <a:buNone/>
            </a:pPr>
            <a:r>
              <a:rPr lang="en-US" altLang="x-none" i="1" dirty="0">
                <a:latin typeface="Times New Roman" panose="02020603050405020304" pitchFamily="2" charset="0"/>
                <a:ea typeface="Arial Unicode MS" panose="020B0604020202020204" charset="-122"/>
                <a:sym typeface="宋体" panose="02010600030101010101" pitchFamily="2" charset="-122"/>
              </a:rPr>
              <a:t>        adm  varchar(40) )</a:t>
            </a:r>
            <a:endParaRPr lang="zh-CN" altLang="en-US">
              <a:latin typeface="Arial" panose="020B0604020202020204" pitchFamily="34" charset="0"/>
              <a:ea typeface="宋体" panose="02010600030101010101" pitchFamily="2" charset="-122"/>
            </a:endParaRPr>
          </a:p>
        </p:txBody>
      </p:sp>
      <p:sp>
        <p:nvSpPr>
          <p:cNvPr id="5" name="下箭头 4"/>
          <p:cNvSpPr/>
          <p:nvPr/>
        </p:nvSpPr>
        <p:spPr>
          <a:xfrm rot="5400000">
            <a:off x="3517106" y="4639469"/>
            <a:ext cx="485775" cy="6778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aphicFrame>
        <p:nvGraphicFramePr>
          <p:cNvPr id="43" name="表格 42"/>
          <p:cNvGraphicFramePr/>
          <p:nvPr/>
        </p:nvGraphicFramePr>
        <p:xfrm>
          <a:off x="277813" y="4014788"/>
          <a:ext cx="3037205" cy="1538478"/>
        </p:xfrm>
        <a:graphic>
          <a:graphicData uri="http://schemas.openxmlformats.org/drawingml/2006/table">
            <a:tbl>
              <a:tblPr firstRow="1" bandRow="1">
                <a:tableStyleId>{5C22544A-7EE6-4342-B048-85BDC9FD1C3A}</a:tableStyleId>
              </a:tblPr>
              <a:tblGrid>
                <a:gridCol w="725170"/>
                <a:gridCol w="666115"/>
                <a:gridCol w="519430"/>
                <a:gridCol w="496570"/>
                <a:gridCol w="629920"/>
              </a:tblGrid>
              <a:tr h="749300">
                <a:tc>
                  <a:txBody>
                    <a:bodyPr/>
                    <a:lstStyle/>
                    <a:p>
                      <a:pPr>
                        <a:buNone/>
                      </a:pPr>
                      <a:r>
                        <a:rPr lang="zh-CN" altLang="en-US" sz="1600">
                          <a:solidFill>
                            <a:schemeClr val="tx1"/>
                          </a:solidFill>
                        </a:rPr>
                        <a:t>学号</a:t>
                      </a:r>
                      <a:endParaRPr lang="zh-CN" altLang="en-US" sz="1600">
                        <a:solidFill>
                          <a:schemeClr val="tx1"/>
                        </a:solidFill>
                      </a:endParaRPr>
                    </a:p>
                  </a:txBody>
                  <a:tcPr/>
                </a:tc>
                <a:tc>
                  <a:txBody>
                    <a:bodyPr/>
                    <a:lstStyle/>
                    <a:p>
                      <a:pPr algn="l">
                        <a:buNone/>
                      </a:pPr>
                      <a:r>
                        <a:rPr lang="zh-CN" altLang="en-US" sz="1600">
                          <a:solidFill>
                            <a:schemeClr val="tx1"/>
                          </a:solidFill>
                        </a:rPr>
                        <a:t>姓名</a:t>
                      </a:r>
                      <a:endParaRPr lang="zh-CN" altLang="en-US" sz="1600">
                        <a:solidFill>
                          <a:schemeClr val="tx1"/>
                        </a:solidFill>
                      </a:endParaRPr>
                    </a:p>
                  </a:txBody>
                  <a:tcPr/>
                </a:tc>
                <a:tc>
                  <a:txBody>
                    <a:bodyPr/>
                    <a:lstStyle/>
                    <a:p>
                      <a:pPr algn="l">
                        <a:buNone/>
                      </a:pPr>
                      <a:r>
                        <a:rPr lang="zh-CN" altLang="en-US" sz="1600">
                          <a:solidFill>
                            <a:schemeClr val="tx1"/>
                          </a:solidFill>
                        </a:rPr>
                        <a:t>性别</a:t>
                      </a:r>
                      <a:endParaRPr lang="zh-CN" altLang="en-US" sz="1600">
                        <a:solidFill>
                          <a:schemeClr val="tx1"/>
                        </a:solidFill>
                      </a:endParaRPr>
                    </a:p>
                  </a:txBody>
                  <a:tcPr/>
                </a:tc>
                <a:tc>
                  <a:txBody>
                    <a:bodyPr/>
                    <a:lstStyle/>
                    <a:p>
                      <a:pPr>
                        <a:buNone/>
                      </a:pPr>
                      <a:r>
                        <a:rPr lang="zh-CN" altLang="en-US" sz="1600">
                          <a:solidFill>
                            <a:schemeClr val="tx1"/>
                          </a:solidFill>
                        </a:rPr>
                        <a:t>年龄</a:t>
                      </a:r>
                      <a:endParaRPr lang="zh-CN" altLang="en-US" sz="1600">
                        <a:solidFill>
                          <a:schemeClr val="tx1"/>
                        </a:solidFill>
                      </a:endParaRPr>
                    </a:p>
                  </a:txBody>
                  <a:tcPr/>
                </a:tc>
                <a:tc>
                  <a:txBody>
                    <a:bodyPr/>
                    <a:lstStyle/>
                    <a:p>
                      <a:pPr>
                        <a:buNone/>
                      </a:pPr>
                      <a:r>
                        <a:rPr lang="zh-CN" altLang="en-US" sz="1600">
                          <a:solidFill>
                            <a:schemeClr val="tx1"/>
                          </a:solidFill>
                        </a:rPr>
                        <a:t>院系</a:t>
                      </a:r>
                      <a:endParaRPr lang="zh-CN" altLang="en-US" sz="1600">
                        <a:solidFill>
                          <a:schemeClr val="tx1"/>
                        </a:solidFill>
                      </a:endParaRPr>
                    </a:p>
                  </a:txBody>
                  <a:tcPr/>
                </a:tc>
              </a:tr>
              <a:tr h="788670">
                <a:tc>
                  <a:txBody>
                    <a:bodyPr/>
                    <a:lstStyle/>
                    <a:p>
                      <a:pPr>
                        <a:buNone/>
                      </a:pPr>
                      <a:r>
                        <a:rPr lang="en-US" altLang="zh-CN" sz="1600"/>
                        <a:t>20140101</a:t>
                      </a:r>
                      <a:endParaRPr lang="en-US" altLang="zh-CN" sz="1600"/>
                    </a:p>
                  </a:txBody>
                  <a:tcPr/>
                </a:tc>
                <a:tc>
                  <a:txBody>
                    <a:bodyPr/>
                    <a:lstStyle/>
                    <a:p>
                      <a:pPr>
                        <a:buNone/>
                      </a:pPr>
                      <a:r>
                        <a:rPr lang="zh-CN" altLang="en-US" sz="1600"/>
                        <a:t>张小凡</a:t>
                      </a:r>
                      <a:endParaRPr lang="zh-CN" altLang="en-US" sz="1600"/>
                    </a:p>
                  </a:txBody>
                  <a:tcPr/>
                </a:tc>
                <a:tc>
                  <a:txBody>
                    <a:bodyPr/>
                    <a:lstStyle/>
                    <a:p>
                      <a:pPr>
                        <a:buNone/>
                      </a:pPr>
                      <a:r>
                        <a:rPr lang="zh-CN" altLang="en-US" sz="1600"/>
                        <a:t>女</a:t>
                      </a:r>
                      <a:endParaRPr lang="zh-CN" altLang="en-US" sz="1600"/>
                    </a:p>
                  </a:txBody>
                  <a:tcPr/>
                </a:tc>
                <a:tc>
                  <a:txBody>
                    <a:bodyPr/>
                    <a:lstStyle/>
                    <a:p>
                      <a:pPr>
                        <a:buNone/>
                      </a:pPr>
                      <a:r>
                        <a:rPr lang="en-US" altLang="zh-CN" sz="1600"/>
                        <a:t>19</a:t>
                      </a:r>
                      <a:endParaRPr lang="en-US" altLang="zh-CN" sz="1600"/>
                    </a:p>
                  </a:txBody>
                  <a:tcPr/>
                </a:tc>
                <a:tc>
                  <a:txBody>
                    <a:bodyPr/>
                    <a:lstStyle/>
                    <a:p>
                      <a:pPr>
                        <a:buNone/>
                      </a:pPr>
                      <a:r>
                        <a:rPr lang="zh-CN" altLang="en-US" sz="1600"/>
                        <a:t>信息</a:t>
                      </a:r>
                      <a:endParaRPr lang="zh-CN" altLang="en-US" sz="1600"/>
                    </a:p>
                  </a:txBody>
                  <a:tcPr/>
                </a:tc>
              </a:tr>
            </a:tbl>
          </a:graphicData>
        </a:graphic>
      </p:graphicFrame>
      <p:sp>
        <p:nvSpPr>
          <p:cNvPr id="6" name="下箭头 5"/>
          <p:cNvSpPr/>
          <p:nvPr/>
        </p:nvSpPr>
        <p:spPr>
          <a:xfrm>
            <a:off x="1130300" y="5654675"/>
            <a:ext cx="485775" cy="6270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aphicFrame>
        <p:nvGraphicFramePr>
          <p:cNvPr id="61464" name="对象 7"/>
          <p:cNvGraphicFramePr/>
          <p:nvPr/>
        </p:nvGraphicFramePr>
        <p:xfrm>
          <a:off x="1616075" y="5783263"/>
          <a:ext cx="1920875" cy="615950"/>
        </p:xfrm>
        <a:graphic>
          <a:graphicData uri="http://schemas.openxmlformats.org/presentationml/2006/ole">
            <mc:AlternateContent xmlns:mc="http://schemas.openxmlformats.org/markup-compatibility/2006">
              <mc:Choice xmlns:v="urn:schemas-microsoft-com:vml" Requires="v">
                <p:oleObj spid="_x0000_s5219" name="" r:id="rId1" imgW="1495425" imgH="409575" progId="PBrush">
                  <p:embed/>
                </p:oleObj>
              </mc:Choice>
              <mc:Fallback>
                <p:oleObj name="" r:id="rId1" imgW="1495425" imgH="409575" progId="PBrush">
                  <p:embed/>
                  <p:pic>
                    <p:nvPicPr>
                      <p:cNvPr id="0" name="图片 5120" descr="image25"/>
                      <p:cNvPicPr/>
                      <p:nvPr/>
                    </p:nvPicPr>
                    <p:blipFill>
                      <a:blip r:embed="rId2"/>
                      <a:stretch>
                        <a:fillRect/>
                      </a:stretch>
                    </p:blipFill>
                    <p:spPr>
                      <a:xfrm>
                        <a:off x="1616075" y="5783263"/>
                        <a:ext cx="1920875" cy="615950"/>
                      </a:xfrm>
                      <a:prstGeom prst="rect">
                        <a:avLst/>
                      </a:prstGeom>
                      <a:noFill/>
                      <a:ln w="38100">
                        <a:noFill/>
                      </a:ln>
                    </p:spPr>
                  </p:pic>
                </p:oleObj>
              </mc:Fallback>
            </mc:AlternateContent>
          </a:graphicData>
        </a:graphic>
      </p:graphicFrame>
      <p:sp>
        <p:nvSpPr>
          <p:cNvPr id="61465" name="Rectangle 2"/>
          <p:cNvSpPr/>
          <p:nvPr/>
        </p:nvSpPr>
        <p:spPr>
          <a:xfrm>
            <a:off x="485775" y="720725"/>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3. </a:t>
            </a:r>
            <a:r>
              <a:rPr lang="zh-CN" altLang="en-US" sz="2800" dirty="0">
                <a:solidFill>
                  <a:srgbClr val="3333CC"/>
                </a:solidFill>
                <a:latin typeface="Arial" panose="020B0604020202020204" pitchFamily="34" charset="0"/>
                <a:ea typeface="黑体" panose="02010609060101010101" pitchFamily="1" charset="-122"/>
              </a:rPr>
              <a:t>联系示例</a:t>
            </a:r>
            <a:endParaRPr lang="zh-CN" altLang="en-US" sz="2800" dirty="0">
              <a:solidFill>
                <a:srgbClr val="3333CC"/>
              </a:solidFill>
              <a:latin typeface="Arial" panose="020B0604020202020204" pitchFamily="34" charset="0"/>
              <a:ea typeface="黑体" panose="02010609060101010101" pitchFamily="1" charset="-122"/>
            </a:endParaRPr>
          </a:p>
        </p:txBody>
      </p:sp>
      <p:grpSp>
        <p:nvGrpSpPr>
          <p:cNvPr id="14" name="组合 13"/>
          <p:cNvGrpSpPr/>
          <p:nvPr/>
        </p:nvGrpSpPr>
        <p:grpSpPr>
          <a:xfrm>
            <a:off x="1930400" y="1295400"/>
            <a:ext cx="7202488" cy="2544763"/>
            <a:chOff x="3040" y="2039"/>
            <a:chExt cx="11342" cy="4008"/>
          </a:xfrm>
        </p:grpSpPr>
        <p:pic>
          <p:nvPicPr>
            <p:cNvPr id="61468" name="图片 47" descr="QQ图片20150408090450"/>
            <p:cNvPicPr>
              <a:picLocks noChangeAspect="1"/>
            </p:cNvPicPr>
            <p:nvPr/>
          </p:nvPicPr>
          <p:blipFill>
            <a:blip r:embed="rId3" cstate="print"/>
            <a:srcRect l="2446" t="26761" r="-2446" b="8743"/>
            <a:stretch>
              <a:fillRect/>
            </a:stretch>
          </p:blipFill>
          <p:spPr>
            <a:xfrm>
              <a:off x="3200" y="2225"/>
              <a:ext cx="3438" cy="3336"/>
            </a:xfrm>
            <a:prstGeom prst="rect">
              <a:avLst/>
            </a:prstGeom>
            <a:noFill/>
            <a:ln w="9525">
              <a:noFill/>
            </a:ln>
          </p:spPr>
        </p:pic>
        <p:sp>
          <p:nvSpPr>
            <p:cNvPr id="26" name="矩形 25"/>
            <p:cNvSpPr/>
            <p:nvPr/>
          </p:nvSpPr>
          <p:spPr>
            <a:xfrm>
              <a:off x="9177" y="3828"/>
              <a:ext cx="1712" cy="8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en-US" strike="noStrike" noProof="1">
                  <a:solidFill>
                    <a:srgbClr val="FF0000"/>
                  </a:solidFill>
                </a:rPr>
                <a:t>学生</a:t>
              </a:r>
              <a:endParaRPr lang="zh-CN" altLang="en-US" strike="noStrike" noProof="1">
                <a:solidFill>
                  <a:srgbClr val="FF0000"/>
                </a:solidFill>
              </a:endParaRPr>
            </a:p>
          </p:txBody>
        </p:sp>
        <p:sp>
          <p:nvSpPr>
            <p:cNvPr id="27" name="椭圆 26"/>
            <p:cNvSpPr/>
            <p:nvPr/>
          </p:nvSpPr>
          <p:spPr>
            <a:xfrm>
              <a:off x="7507" y="2572"/>
              <a:ext cx="1670" cy="6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zh-CN" u="sng" strike="noStrike" noProof="1">
                  <a:solidFill>
                    <a:schemeClr val="tx1"/>
                  </a:solidFill>
                </a:rPr>
                <a:t>学号</a:t>
              </a:r>
              <a:endParaRPr lang="zh-CN" altLang="zh-CN" u="sng" strike="noStrike" noProof="1">
                <a:solidFill>
                  <a:schemeClr val="tx1"/>
                </a:solidFill>
              </a:endParaRPr>
            </a:p>
          </p:txBody>
        </p:sp>
        <p:sp>
          <p:nvSpPr>
            <p:cNvPr id="28" name="椭圆 27"/>
            <p:cNvSpPr/>
            <p:nvPr/>
          </p:nvSpPr>
          <p:spPr>
            <a:xfrm>
              <a:off x="9448" y="2572"/>
              <a:ext cx="1442" cy="6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zh-CN" strike="noStrike" noProof="1">
                  <a:solidFill>
                    <a:schemeClr val="tx1"/>
                  </a:solidFill>
                </a:rPr>
                <a:t>姓名</a:t>
              </a:r>
              <a:endParaRPr lang="zh-CN" altLang="zh-CN" strike="noStrike" noProof="1">
                <a:solidFill>
                  <a:schemeClr val="tx1"/>
                </a:solidFill>
              </a:endParaRPr>
            </a:p>
          </p:txBody>
        </p:sp>
        <p:sp>
          <p:nvSpPr>
            <p:cNvPr id="29" name="椭圆 28"/>
            <p:cNvSpPr/>
            <p:nvPr/>
          </p:nvSpPr>
          <p:spPr>
            <a:xfrm>
              <a:off x="11413" y="2701"/>
              <a:ext cx="1636" cy="6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zh-CN" strike="noStrike" noProof="1">
                  <a:solidFill>
                    <a:schemeClr val="tx1"/>
                  </a:solidFill>
                </a:rPr>
                <a:t>性别</a:t>
              </a:r>
              <a:endParaRPr lang="zh-CN" altLang="zh-CN" strike="noStrike" noProof="1">
                <a:solidFill>
                  <a:schemeClr val="tx1"/>
                </a:solidFill>
              </a:endParaRPr>
            </a:p>
          </p:txBody>
        </p:sp>
        <p:sp>
          <p:nvSpPr>
            <p:cNvPr id="30" name="椭圆 29"/>
            <p:cNvSpPr/>
            <p:nvPr/>
          </p:nvSpPr>
          <p:spPr>
            <a:xfrm>
              <a:off x="11505" y="3483"/>
              <a:ext cx="1452" cy="6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zh-CN" strike="noStrike" noProof="1">
                  <a:solidFill>
                    <a:schemeClr val="tx1"/>
                  </a:solidFill>
                </a:rPr>
                <a:t>年龄</a:t>
              </a:r>
              <a:endParaRPr lang="zh-CN" altLang="zh-CN" strike="noStrike" noProof="1">
                <a:solidFill>
                  <a:schemeClr val="tx1"/>
                </a:solidFill>
              </a:endParaRPr>
            </a:p>
          </p:txBody>
        </p:sp>
        <p:sp>
          <p:nvSpPr>
            <p:cNvPr id="31" name="椭圆 30"/>
            <p:cNvSpPr/>
            <p:nvPr/>
          </p:nvSpPr>
          <p:spPr>
            <a:xfrm>
              <a:off x="11505" y="4334"/>
              <a:ext cx="2605" cy="6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buNone/>
              </a:pPr>
              <a:r>
                <a:rPr lang="zh-CN" altLang="zh-CN" strike="noStrike" noProof="1">
                  <a:solidFill>
                    <a:schemeClr val="tx1"/>
                  </a:solidFill>
                </a:rPr>
                <a:t>所属院系</a:t>
              </a:r>
              <a:endParaRPr lang="zh-CN" altLang="zh-CN" strike="noStrike" noProof="1">
                <a:solidFill>
                  <a:schemeClr val="tx1"/>
                </a:solidFill>
              </a:endParaRPr>
            </a:p>
          </p:txBody>
        </p:sp>
        <p:cxnSp>
          <p:nvCxnSpPr>
            <p:cNvPr id="32" name="直接连接符 31"/>
            <p:cNvCxnSpPr>
              <a:stCxn id="27" idx="5"/>
            </p:cNvCxnSpPr>
            <p:nvPr/>
          </p:nvCxnSpPr>
          <p:spPr>
            <a:xfrm>
              <a:off x="8933" y="3169"/>
              <a:ext cx="558" cy="6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8" idx="4"/>
            </p:cNvCxnSpPr>
            <p:nvPr/>
          </p:nvCxnSpPr>
          <p:spPr>
            <a:xfrm flipH="1">
              <a:off x="9955" y="3271"/>
              <a:ext cx="213" cy="5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8" idx="4"/>
            </p:cNvCxnSpPr>
            <p:nvPr/>
          </p:nvCxnSpPr>
          <p:spPr>
            <a:xfrm flipH="1">
              <a:off x="10582" y="3244"/>
              <a:ext cx="905" cy="5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30" idx="2"/>
              <a:endCxn id="26" idx="3"/>
            </p:cNvCxnSpPr>
            <p:nvPr/>
          </p:nvCxnSpPr>
          <p:spPr>
            <a:xfrm flipH="1">
              <a:off x="10890" y="3833"/>
              <a:ext cx="616" cy="4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30" idx="2"/>
              <a:endCxn id="26" idx="3"/>
            </p:cNvCxnSpPr>
            <p:nvPr/>
          </p:nvCxnSpPr>
          <p:spPr>
            <a:xfrm flipH="1" flipV="1">
              <a:off x="10890" y="4363"/>
              <a:ext cx="760" cy="2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右箭头 36"/>
            <p:cNvSpPr/>
            <p:nvPr/>
          </p:nvSpPr>
          <p:spPr>
            <a:xfrm>
              <a:off x="6638" y="3988"/>
              <a:ext cx="1898" cy="6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3" name="下箭头 2"/>
            <p:cNvSpPr/>
            <p:nvPr/>
          </p:nvSpPr>
          <p:spPr>
            <a:xfrm>
              <a:off x="9650" y="4907"/>
              <a:ext cx="765" cy="98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 name="矩形 1"/>
            <p:cNvSpPr/>
            <p:nvPr/>
          </p:nvSpPr>
          <p:spPr>
            <a:xfrm>
              <a:off x="3040" y="2039"/>
              <a:ext cx="11159" cy="4009"/>
            </a:xfrm>
            <a:prstGeom prst="rect">
              <a:avLst/>
            </a:prstGeom>
            <a:noFill/>
            <a:ln w="28575" cmpd="sng">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61483" name="文本框 6"/>
            <p:cNvSpPr txBox="1"/>
            <p:nvPr/>
          </p:nvSpPr>
          <p:spPr>
            <a:xfrm>
              <a:off x="13390" y="2039"/>
              <a:ext cx="993" cy="1094"/>
            </a:xfrm>
            <a:prstGeom prst="rect">
              <a:avLst/>
            </a:prstGeom>
            <a:noFill/>
            <a:ln w="9525">
              <a:noFill/>
            </a:ln>
          </p:spPr>
          <p:txBody>
            <a:bodyPr wrap="square" anchor="t">
              <a:spAutoFit/>
            </a:bodyPr>
            <a:lstStyle/>
            <a:p>
              <a:pPr lvl="0" indent="0">
                <a:lnSpc>
                  <a:spcPct val="110000"/>
                </a:lnSpc>
                <a:spcBef>
                  <a:spcPts val="300"/>
                </a:spcBef>
                <a:buClr>
                  <a:srgbClr val="0000CC"/>
                </a:buClr>
                <a:buSzPct val="80000"/>
                <a:buNone/>
              </a:pPr>
              <a:r>
                <a:rPr lang="zh-CN" altLang="en-US">
                  <a:latin typeface="Arial" panose="020B0604020202020204" pitchFamily="34" charset="0"/>
                  <a:ea typeface="宋体" panose="02010600030101010101" pitchFamily="2" charset="-122"/>
                </a:rPr>
                <a:t>设计</a:t>
              </a:r>
              <a:endParaRPr lang="zh-CN" altLang="en-US">
                <a:latin typeface="Arial" panose="020B0604020202020204" pitchFamily="34" charset="0"/>
                <a:ea typeface="宋体" panose="02010600030101010101" pitchFamily="2" charset="-122"/>
              </a:endParaRPr>
            </a:p>
          </p:txBody>
        </p:sp>
      </p:grpSp>
      <p:sp>
        <p:nvSpPr>
          <p:cNvPr id="10" name="矩形 9"/>
          <p:cNvSpPr/>
          <p:nvPr/>
        </p:nvSpPr>
        <p:spPr>
          <a:xfrm>
            <a:off x="115888" y="3852863"/>
            <a:ext cx="8899525" cy="2546350"/>
          </a:xfrm>
          <a:prstGeom prst="rect">
            <a:avLst/>
          </a:prstGeom>
          <a:noFill/>
          <a:ln w="28575" cmpd="sng">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61485" name="文本框 10"/>
          <p:cNvSpPr txBox="1"/>
          <p:nvPr/>
        </p:nvSpPr>
        <p:spPr>
          <a:xfrm>
            <a:off x="8197850" y="6005513"/>
            <a:ext cx="762000" cy="393700"/>
          </a:xfrm>
          <a:prstGeom prst="rect">
            <a:avLst/>
          </a:prstGeom>
          <a:noFill/>
          <a:ln w="9525">
            <a:noFill/>
          </a:ln>
        </p:spPr>
        <p:txBody>
          <a:bodyPr wrap="square" anchor="t">
            <a:spAutoFit/>
          </a:bodyPr>
          <a:lstStyle/>
          <a:p>
            <a:pPr lvl="0" indent="0">
              <a:lnSpc>
                <a:spcPct val="110000"/>
              </a:lnSpc>
              <a:spcBef>
                <a:spcPts val="300"/>
              </a:spcBef>
              <a:buClr>
                <a:srgbClr val="0000CC"/>
              </a:buClr>
              <a:buSzPct val="80000"/>
              <a:buNone/>
            </a:pPr>
            <a:r>
              <a:rPr lang="zh-CN" altLang="en-US">
                <a:latin typeface="Arial" panose="020B0604020202020204" pitchFamily="34" charset="0"/>
                <a:ea typeface="宋体" panose="02010600030101010101" pitchFamily="2" charset="-122"/>
              </a:rPr>
              <a:t>原理</a:t>
            </a:r>
            <a:endParaRPr lang="zh-CN" altLang="en-US">
              <a:latin typeface="Arial" panose="020B0604020202020204" pitchFamily="34" charset="0"/>
              <a:ea typeface="宋体" panose="02010600030101010101" pitchFamily="2" charset="-122"/>
            </a:endParaRPr>
          </a:p>
        </p:txBody>
      </p:sp>
      <p:sp>
        <p:nvSpPr>
          <p:cNvPr id="61486" name="文本框 20"/>
          <p:cNvSpPr txBox="1"/>
          <p:nvPr/>
        </p:nvSpPr>
        <p:spPr>
          <a:xfrm>
            <a:off x="277813" y="5845175"/>
            <a:ext cx="1147762" cy="492125"/>
          </a:xfrm>
          <a:prstGeom prst="rect">
            <a:avLst/>
          </a:prstGeom>
          <a:noFill/>
          <a:ln w="9525">
            <a:noFill/>
          </a:ln>
        </p:spPr>
        <p:txBody>
          <a:bodyPr wrap="square" anchor="t">
            <a:spAutoFit/>
          </a:bodyPr>
          <a:lstStyle/>
          <a:p>
            <a:pPr lvl="0" indent="0">
              <a:lnSpc>
                <a:spcPct val="110000"/>
              </a:lnSpc>
              <a:spcBef>
                <a:spcPts val="300"/>
              </a:spcBef>
              <a:buClr>
                <a:srgbClr val="0000CC"/>
              </a:buClr>
              <a:buSzPct val="80000"/>
              <a:buNone/>
            </a:pPr>
            <a:r>
              <a:rPr lang="en-US" altLang="zh-CN" sz="2400">
                <a:solidFill>
                  <a:srgbClr val="FF0000"/>
                </a:solidFill>
                <a:latin typeface="Arial" panose="020B0604020202020204" pitchFamily="34" charset="0"/>
                <a:ea typeface="宋体" panose="02010600030101010101" pitchFamily="2" charset="-122"/>
              </a:rPr>
              <a:t>DBMS</a:t>
            </a:r>
            <a:endParaRPr lang="en-US" altLang="zh-CN" sz="2400">
              <a:solidFill>
                <a:srgbClr val="FF0000"/>
              </a:solidFill>
              <a:latin typeface="Arial" panose="020B0604020202020204" pitchFamily="34" charset="0"/>
              <a:ea typeface="宋体" panose="02010600030101010101" pitchFamily="2" charset="-122"/>
            </a:endParaRPr>
          </a:p>
        </p:txBody>
      </p:sp>
      <p:sp>
        <p:nvSpPr>
          <p:cNvPr id="22" name="矩形 21"/>
          <p:cNvSpPr/>
          <p:nvPr/>
        </p:nvSpPr>
        <p:spPr>
          <a:xfrm>
            <a:off x="228600" y="3860800"/>
            <a:ext cx="3308350" cy="2546350"/>
          </a:xfrm>
          <a:prstGeom prst="rect">
            <a:avLst/>
          </a:prstGeom>
          <a:noFill/>
          <a:ln w="44450"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61488" name="文本框 22"/>
          <p:cNvSpPr txBox="1"/>
          <p:nvPr/>
        </p:nvSpPr>
        <p:spPr>
          <a:xfrm>
            <a:off x="7812088" y="3860800"/>
            <a:ext cx="1147762" cy="493713"/>
          </a:xfrm>
          <a:prstGeom prst="rect">
            <a:avLst/>
          </a:prstGeom>
          <a:noFill/>
          <a:ln w="9525">
            <a:noFill/>
          </a:ln>
        </p:spPr>
        <p:txBody>
          <a:bodyPr wrap="square" anchor="t">
            <a:spAutoFit/>
          </a:bodyPr>
          <a:lstStyle/>
          <a:p>
            <a:pPr lvl="0" indent="0">
              <a:lnSpc>
                <a:spcPct val="110000"/>
              </a:lnSpc>
              <a:spcBef>
                <a:spcPts val="300"/>
              </a:spcBef>
              <a:buClr>
                <a:srgbClr val="0000CC"/>
              </a:buClr>
              <a:buSzPct val="80000"/>
              <a:buNone/>
            </a:pPr>
            <a:r>
              <a:rPr lang="en-US" altLang="zh-CN" sz="2400">
                <a:solidFill>
                  <a:srgbClr val="FF0000"/>
                </a:solidFill>
                <a:latin typeface="Arial" panose="020B0604020202020204" pitchFamily="34" charset="0"/>
                <a:ea typeface="宋体" panose="02010600030101010101" pitchFamily="2" charset="-122"/>
              </a:rPr>
              <a:t>DDL</a:t>
            </a:r>
            <a:endParaRPr lang="en-US" altLang="zh-CN" sz="2400">
              <a:solidFill>
                <a:srgbClr val="FF0000"/>
              </a:solidFill>
              <a:latin typeface="Arial" panose="020B0604020202020204" pitchFamily="34" charset="0"/>
              <a:ea typeface="宋体" panose="02010600030101010101" pitchFamily="2" charset="-122"/>
            </a:endParaRPr>
          </a:p>
        </p:txBody>
      </p:sp>
      <p:grpSp>
        <p:nvGrpSpPr>
          <p:cNvPr id="41" name="组合 40"/>
          <p:cNvGrpSpPr/>
          <p:nvPr/>
        </p:nvGrpSpPr>
        <p:grpSpPr>
          <a:xfrm>
            <a:off x="312738" y="1255713"/>
            <a:ext cx="7883525" cy="2630487"/>
            <a:chOff x="492" y="1977"/>
            <a:chExt cx="12416" cy="4142"/>
          </a:xfrm>
        </p:grpSpPr>
        <p:grpSp>
          <p:nvGrpSpPr>
            <p:cNvPr id="61490" name="组合 19"/>
            <p:cNvGrpSpPr/>
            <p:nvPr/>
          </p:nvGrpSpPr>
          <p:grpSpPr>
            <a:xfrm>
              <a:off x="5040" y="1977"/>
              <a:ext cx="7869" cy="4020"/>
              <a:chOff x="5040" y="1977"/>
              <a:chExt cx="7869" cy="4020"/>
            </a:xfrm>
          </p:grpSpPr>
          <p:graphicFrame>
            <p:nvGraphicFramePr>
              <p:cNvPr id="61491" name="Object 9"/>
              <p:cNvGraphicFramePr/>
              <p:nvPr/>
            </p:nvGraphicFramePr>
            <p:xfrm>
              <a:off x="6861" y="1977"/>
              <a:ext cx="6049" cy="3401"/>
            </p:xfrm>
            <a:graphic>
              <a:graphicData uri="http://schemas.openxmlformats.org/presentationml/2006/ole">
                <mc:AlternateContent xmlns:mc="http://schemas.openxmlformats.org/markup-compatibility/2006">
                  <mc:Choice xmlns:v="urn:schemas-microsoft-com:vml" Requires="v">
                    <p:oleObj spid="_x0000_s5220" name="" r:id="rId4" imgW="4629150" imgH="2781300" progId="Visio.Drawing.11">
                      <p:embed/>
                    </p:oleObj>
                  </mc:Choice>
                  <mc:Fallback>
                    <p:oleObj name="" r:id="rId4" imgW="4629150" imgH="2781300" progId="Visio.Drawing.11">
                      <p:embed/>
                      <p:pic>
                        <p:nvPicPr>
                          <p:cNvPr id="0" name="图片 5121" descr="image9"/>
                          <p:cNvPicPr/>
                          <p:nvPr/>
                        </p:nvPicPr>
                        <p:blipFill>
                          <a:blip r:embed="rId5"/>
                          <a:srcRect b="4156"/>
                          <a:stretch>
                            <a:fillRect/>
                          </a:stretch>
                        </p:blipFill>
                        <p:spPr>
                          <a:xfrm>
                            <a:off x="6861" y="1977"/>
                            <a:ext cx="6049" cy="3401"/>
                          </a:xfrm>
                          <a:prstGeom prst="rect">
                            <a:avLst/>
                          </a:prstGeom>
                          <a:solidFill>
                            <a:srgbClr val="FFFFFF"/>
                          </a:solidFill>
                          <a:ln w="38100">
                            <a:noFill/>
                          </a:ln>
                        </p:spPr>
                      </p:pic>
                    </p:oleObj>
                  </mc:Fallback>
                </mc:AlternateContent>
              </a:graphicData>
            </a:graphic>
          </p:graphicFrame>
          <p:sp>
            <p:nvSpPr>
              <p:cNvPr id="19" name="下箭头 18"/>
              <p:cNvSpPr/>
              <p:nvPr/>
            </p:nvSpPr>
            <p:spPr>
              <a:xfrm rot="4140000">
                <a:off x="6253" y="4321"/>
                <a:ext cx="463" cy="28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grpSp>
          <p:nvGrpSpPr>
            <p:cNvPr id="61493" name="组合 39"/>
            <p:cNvGrpSpPr/>
            <p:nvPr/>
          </p:nvGrpSpPr>
          <p:grpSpPr>
            <a:xfrm>
              <a:off x="492" y="2039"/>
              <a:ext cx="6146" cy="4041"/>
              <a:chOff x="492" y="2039"/>
              <a:chExt cx="6146" cy="4041"/>
            </a:xfrm>
          </p:grpSpPr>
          <p:grpSp>
            <p:nvGrpSpPr>
              <p:cNvPr id="61494" name="组合 17"/>
              <p:cNvGrpSpPr/>
              <p:nvPr/>
            </p:nvGrpSpPr>
            <p:grpSpPr>
              <a:xfrm>
                <a:off x="492" y="2039"/>
                <a:ext cx="6146" cy="4041"/>
                <a:chOff x="492" y="2039"/>
                <a:chExt cx="6146" cy="4041"/>
              </a:xfrm>
            </p:grpSpPr>
            <p:graphicFrame>
              <p:nvGraphicFramePr>
                <p:cNvPr id="61495" name="对象 14"/>
                <p:cNvGraphicFramePr/>
                <p:nvPr/>
              </p:nvGraphicFramePr>
              <p:xfrm>
                <a:off x="492" y="2039"/>
                <a:ext cx="6146" cy="3345"/>
              </p:xfrm>
              <a:graphic>
                <a:graphicData uri="http://schemas.openxmlformats.org/presentationml/2006/ole">
                  <mc:AlternateContent xmlns:mc="http://schemas.openxmlformats.org/markup-compatibility/2006">
                    <mc:Choice xmlns:v="urn:schemas-microsoft-com:vml" Requires="v">
                      <p:oleObj spid="_x0000_s5221" name="" r:id="rId6" imgW="8324850" imgH="4838700" progId="PBrush">
                        <p:embed/>
                      </p:oleObj>
                    </mc:Choice>
                    <mc:Fallback>
                      <p:oleObj name="" r:id="rId6" imgW="8324850" imgH="4838700" progId="PBrush">
                        <p:embed/>
                        <p:pic>
                          <p:nvPicPr>
                            <p:cNvPr id="0" name="图片 5122" descr="image26"/>
                            <p:cNvPicPr/>
                            <p:nvPr/>
                          </p:nvPicPr>
                          <p:blipFill>
                            <a:blip r:embed="rId7"/>
                            <a:stretch>
                              <a:fillRect/>
                            </a:stretch>
                          </p:blipFill>
                          <p:spPr>
                            <a:xfrm>
                              <a:off x="492" y="2039"/>
                              <a:ext cx="6146" cy="3345"/>
                            </a:xfrm>
                            <a:prstGeom prst="rect">
                              <a:avLst/>
                            </a:prstGeom>
                            <a:noFill/>
                            <a:ln w="38100">
                              <a:noFill/>
                            </a:ln>
                          </p:spPr>
                        </p:pic>
                      </p:oleObj>
                    </mc:Fallback>
                  </mc:AlternateContent>
                </a:graphicData>
              </a:graphic>
            </p:graphicFrame>
            <p:sp>
              <p:nvSpPr>
                <p:cNvPr id="17" name="下箭头 16"/>
                <p:cNvSpPr/>
                <p:nvPr/>
              </p:nvSpPr>
              <p:spPr>
                <a:xfrm>
                  <a:off x="2322" y="5384"/>
                  <a:ext cx="579" cy="69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61497" name="文本框 23"/>
              <p:cNvSpPr txBox="1"/>
              <p:nvPr/>
            </p:nvSpPr>
            <p:spPr>
              <a:xfrm>
                <a:off x="862" y="5267"/>
                <a:ext cx="1530" cy="777"/>
              </a:xfrm>
              <a:prstGeom prst="rect">
                <a:avLst/>
              </a:prstGeom>
              <a:noFill/>
              <a:ln w="9525">
                <a:noFill/>
              </a:ln>
            </p:spPr>
            <p:txBody>
              <a:bodyPr wrap="square" anchor="t">
                <a:spAutoFit/>
              </a:bodyPr>
              <a:lstStyle/>
              <a:p>
                <a:pPr lvl="0" indent="0">
                  <a:lnSpc>
                    <a:spcPct val="110000"/>
                  </a:lnSpc>
                  <a:spcBef>
                    <a:spcPts val="300"/>
                  </a:spcBef>
                  <a:buClr>
                    <a:srgbClr val="0000CC"/>
                  </a:buClr>
                  <a:buSzPct val="80000"/>
                  <a:buNone/>
                </a:pPr>
                <a:r>
                  <a:rPr lang="en-US" altLang="zh-CN" sz="2400">
                    <a:solidFill>
                      <a:srgbClr val="FF0000"/>
                    </a:solidFill>
                    <a:latin typeface="Arial" panose="020B0604020202020204" pitchFamily="34" charset="0"/>
                    <a:ea typeface="宋体" panose="02010600030101010101" pitchFamily="2" charset="-122"/>
                  </a:rPr>
                  <a:t>DML</a:t>
                </a:r>
                <a:endParaRPr lang="en-US" altLang="zh-CN" sz="2400">
                  <a:solidFill>
                    <a:srgbClr val="FF0000"/>
                  </a:solidFill>
                  <a:latin typeface="Arial" panose="020B0604020202020204" pitchFamily="34" charset="0"/>
                  <a:ea typeface="宋体" panose="02010600030101010101" pitchFamily="2" charset="-122"/>
                </a:endParaRPr>
              </a:p>
            </p:txBody>
          </p:sp>
          <p:sp>
            <p:nvSpPr>
              <p:cNvPr id="61498" name="文本框 24"/>
              <p:cNvSpPr txBox="1"/>
              <p:nvPr/>
            </p:nvSpPr>
            <p:spPr>
              <a:xfrm>
                <a:off x="2799" y="3988"/>
                <a:ext cx="2772" cy="777"/>
              </a:xfrm>
              <a:prstGeom prst="rect">
                <a:avLst/>
              </a:prstGeom>
              <a:solidFill>
                <a:schemeClr val="accent1"/>
              </a:solidFill>
              <a:ln w="9525">
                <a:noFill/>
              </a:ln>
            </p:spPr>
            <p:txBody>
              <a:bodyPr wrap="square" anchor="t">
                <a:spAutoFit/>
              </a:bodyPr>
              <a:lstStyle/>
              <a:p>
                <a:pPr lvl="0" indent="0">
                  <a:lnSpc>
                    <a:spcPct val="110000"/>
                  </a:lnSpc>
                  <a:spcBef>
                    <a:spcPts val="300"/>
                  </a:spcBef>
                  <a:buClr>
                    <a:srgbClr val="0000CC"/>
                  </a:buClr>
                  <a:buSzPct val="80000"/>
                  <a:buNone/>
                </a:pPr>
                <a:r>
                  <a:rPr lang="zh-CN" altLang="en-US" sz="2400">
                    <a:solidFill>
                      <a:srgbClr val="FF0000"/>
                    </a:solidFill>
                    <a:latin typeface="Arial" panose="020B0604020202020204" pitchFamily="34" charset="0"/>
                    <a:ea typeface="宋体" panose="02010600030101010101" pitchFamily="2" charset="-122"/>
                  </a:rPr>
                  <a:t>交互式应用</a:t>
                </a:r>
                <a:endParaRPr lang="zh-CN" altLang="en-US" sz="2400">
                  <a:solidFill>
                    <a:srgbClr val="FF0000"/>
                  </a:solidFill>
                  <a:latin typeface="Arial" panose="020B0604020202020204" pitchFamily="34" charset="0"/>
                  <a:ea typeface="宋体" panose="02010600030101010101" pitchFamily="2" charset="-122"/>
                </a:endParaRPr>
              </a:p>
            </p:txBody>
          </p:sp>
        </p:grpSp>
        <p:sp>
          <p:nvSpPr>
            <p:cNvPr id="61499" name="文本框 37"/>
            <p:cNvSpPr txBox="1"/>
            <p:nvPr/>
          </p:nvSpPr>
          <p:spPr>
            <a:xfrm>
              <a:off x="9808" y="3444"/>
              <a:ext cx="2780" cy="777"/>
            </a:xfrm>
            <a:prstGeom prst="rect">
              <a:avLst/>
            </a:prstGeom>
            <a:solidFill>
              <a:schemeClr val="accent1"/>
            </a:solidFill>
            <a:ln w="9525">
              <a:noFill/>
            </a:ln>
          </p:spPr>
          <p:txBody>
            <a:bodyPr wrap="square" anchor="t">
              <a:spAutoFit/>
            </a:bodyPr>
            <a:lstStyle/>
            <a:p>
              <a:pPr lvl="0" indent="0">
                <a:lnSpc>
                  <a:spcPct val="110000"/>
                </a:lnSpc>
                <a:spcBef>
                  <a:spcPts val="300"/>
                </a:spcBef>
                <a:buClr>
                  <a:srgbClr val="0000CC"/>
                </a:buClr>
                <a:buSzPct val="80000"/>
                <a:buNone/>
              </a:pPr>
              <a:r>
                <a:rPr lang="zh-CN" altLang="en-US" sz="2400">
                  <a:solidFill>
                    <a:srgbClr val="FF0000"/>
                  </a:solidFill>
                  <a:latin typeface="Arial" panose="020B0604020202020204" pitchFamily="34" charset="0"/>
                  <a:ea typeface="宋体" panose="02010600030101010101" pitchFamily="2" charset="-122"/>
                </a:rPr>
                <a:t>嵌入式应用</a:t>
              </a:r>
              <a:endParaRPr lang="zh-CN" altLang="en-US" sz="2400">
                <a:solidFill>
                  <a:srgbClr val="FF0000"/>
                </a:solidFill>
                <a:latin typeface="Arial" panose="020B0604020202020204" pitchFamily="34" charset="0"/>
                <a:ea typeface="宋体" panose="02010600030101010101" pitchFamily="2" charset="-122"/>
              </a:endParaRPr>
            </a:p>
          </p:txBody>
        </p:sp>
        <p:sp>
          <p:nvSpPr>
            <p:cNvPr id="61500" name="文本框 38"/>
            <p:cNvSpPr txBox="1"/>
            <p:nvPr/>
          </p:nvSpPr>
          <p:spPr>
            <a:xfrm>
              <a:off x="7126" y="5343"/>
              <a:ext cx="1807" cy="777"/>
            </a:xfrm>
            <a:prstGeom prst="rect">
              <a:avLst/>
            </a:prstGeom>
            <a:noFill/>
            <a:ln w="9525">
              <a:noFill/>
            </a:ln>
          </p:spPr>
          <p:txBody>
            <a:bodyPr wrap="square" anchor="t">
              <a:spAutoFit/>
            </a:bodyPr>
            <a:lstStyle/>
            <a:p>
              <a:pPr lvl="0" indent="0">
                <a:lnSpc>
                  <a:spcPct val="110000"/>
                </a:lnSpc>
                <a:spcBef>
                  <a:spcPts val="300"/>
                </a:spcBef>
                <a:buClr>
                  <a:srgbClr val="0000CC"/>
                </a:buClr>
                <a:buSzPct val="80000"/>
                <a:buNone/>
              </a:pPr>
              <a:r>
                <a:rPr lang="en-US" altLang="zh-CN" sz="2400">
                  <a:solidFill>
                    <a:srgbClr val="FF0000"/>
                  </a:solidFill>
                  <a:latin typeface="Arial" panose="020B0604020202020204" pitchFamily="34" charset="0"/>
                  <a:ea typeface="宋体" panose="02010600030101010101" pitchFamily="2" charset="-122"/>
                </a:rPr>
                <a:t>ODBC</a:t>
              </a:r>
              <a:endParaRPr lang="en-US" altLang="zh-CN" sz="2400">
                <a:solidFill>
                  <a:srgbClr val="FF0000"/>
                </a:solidFill>
                <a:latin typeface="Arial" panose="020B0604020202020204" pitchFamily="34" charset="0"/>
                <a:ea typeface="宋体" panose="02010600030101010101" pitchFamily="2" charset="-122"/>
              </a:endParaRPr>
            </a:p>
          </p:txBody>
        </p:sp>
      </p:grpSp>
      <p:sp>
        <p:nvSpPr>
          <p:cNvPr id="59530"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五、数据库系统的总体结构</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14"/>
                                        </p:tgtEl>
                                        <p:attrNameLst>
                                          <p:attrName>ppt_x</p:attrName>
                                        </p:attrNameLst>
                                      </p:cBhvr>
                                      <p:tavLst>
                                        <p:tav tm="0">
                                          <p:val>
                                            <p:strVal val="ppt_x"/>
                                          </p:val>
                                        </p:tav>
                                        <p:tav tm="100000">
                                          <p:val>
                                            <p:strVal val="ppt_x"/>
                                          </p:val>
                                        </p:tav>
                                      </p:tavLst>
                                    </p:anim>
                                    <p:anim calcmode="lin" valueType="num">
                                      <p:cBhvr additive="base">
                                        <p:cTn id="7" dur="500"/>
                                        <p:tgtEl>
                                          <p:spTgt spid="14"/>
                                        </p:tgtEl>
                                        <p:attrNameLst>
                                          <p:attrName>ppt_y</p:attrName>
                                        </p:attrNameLst>
                                      </p:cBhvr>
                                      <p:tavLst>
                                        <p:tav tm="0">
                                          <p:val>
                                            <p:strVal val="ppt_y"/>
                                          </p:val>
                                        </p:tav>
                                        <p:tav tm="100000">
                                          <p:val>
                                            <p:strVal val="1+ppt_h/2"/>
                                          </p:val>
                                        </p:tav>
                                      </p:tavLst>
                                    </p:anim>
                                    <p:set>
                                      <p:cBhvr>
                                        <p:cTn id="8" dur="1" fill="hold">
                                          <p:stCondLst>
                                            <p:cond delay="499"/>
                                          </p:stCondLst>
                                        </p:cTn>
                                        <p:tgtEl>
                                          <p:spTgt spid="14"/>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
                                        </p:tgtEl>
                                        <p:attrNameLst>
                                          <p:attrName>style.visibility</p:attrName>
                                        </p:attrNameLst>
                                      </p:cBhvr>
                                      <p:to>
                                        <p:strVal val="visible"/>
                                      </p:to>
                                    </p:set>
                                    <p:anim calcmode="lin" valueType="num">
                                      <p:cBhvr additive="base">
                                        <p:cTn id="13" dur="500" fill="hold"/>
                                        <p:tgtEl>
                                          <p:spTgt spid="41"/>
                                        </p:tgtEl>
                                        <p:attrNameLst>
                                          <p:attrName>ppt_x</p:attrName>
                                        </p:attrNameLst>
                                      </p:cBhvr>
                                      <p:tavLst>
                                        <p:tav tm="0">
                                          <p:val>
                                            <p:strVal val="#ppt_x"/>
                                          </p:val>
                                        </p:tav>
                                        <p:tav tm="100000">
                                          <p:val>
                                            <p:strVal val="#ppt_x"/>
                                          </p:val>
                                        </p:tav>
                                      </p:tavLst>
                                    </p:anim>
                                    <p:anim calcmode="lin" valueType="num">
                                      <p:cBhvr additive="base">
                                        <p:cTn id="14"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76072" y="760413"/>
            <a:ext cx="7991856" cy="4484176"/>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FF0000"/>
                </a:solidFill>
                <a:latin typeface="Calibri" panose="020F0502020204030204" pitchFamily="34" charset="0"/>
                <a:cs typeface="Times New Roman" panose="02020603050405020304" pitchFamily="2" charset="0"/>
              </a:rPr>
              <a:t>知识点小测</a:t>
            </a:r>
            <a:r>
              <a:rPr lang="zh-CN" altLang="zh-CN" sz="3200" kern="100" dirty="0" smtClean="0">
                <a:solidFill>
                  <a:srgbClr val="FF0000"/>
                </a:solidFill>
                <a:latin typeface="Calibri" panose="020F0502020204030204" pitchFamily="34" charset="0"/>
                <a:cs typeface="Times New Roman" panose="02020603050405020304" pitchFamily="2" charset="0"/>
              </a:rPr>
              <a:t>：</a:t>
            </a:r>
            <a:endParaRPr lang="en-US" altLang="zh-CN" sz="2400" kern="100" dirty="0" smtClean="0">
              <a:solidFill>
                <a:srgbClr val="0033CC"/>
              </a:solidFill>
              <a:latin typeface="Calibri" panose="020F0502020204030204" pitchFamily="34" charset="0"/>
              <a:cs typeface="Times New Roman" panose="02020603050405020304" pitchFamily="2" charset="0"/>
            </a:endParaRPr>
          </a:p>
          <a:p>
            <a:pPr lvl="0" algn="just">
              <a:lnSpc>
                <a:spcPct val="125000"/>
              </a:lnSpc>
              <a:spcAft>
                <a:spcPts val="0"/>
              </a:spcAft>
              <a:buNone/>
            </a:pPr>
            <a:r>
              <a:rPr lang="en-US" altLang="zh-CN" sz="2400" kern="100" dirty="0" smtClean="0">
                <a:latin typeface="Calibri" panose="020F0502020204030204" pitchFamily="34" charset="0"/>
                <a:cs typeface="Times New Roman" panose="02020603050405020304" pitchFamily="2" charset="0"/>
              </a:rPr>
              <a:t>1</a:t>
            </a:r>
            <a:r>
              <a:rPr lang="zh-CN" altLang="en-US" sz="2400" kern="100" dirty="0" smtClean="0">
                <a:latin typeface="Calibri" panose="020F0502020204030204" pitchFamily="34" charset="0"/>
                <a:cs typeface="Times New Roman" panose="02020603050405020304" pitchFamily="2" charset="0"/>
              </a:rPr>
              <a:t>、</a:t>
            </a:r>
            <a:r>
              <a:rPr lang="zh-CN" altLang="zh-CN" sz="2400" kern="100" dirty="0" smtClean="0">
                <a:latin typeface="Calibri" panose="020F0502020204030204" pitchFamily="34" charset="0"/>
                <a:cs typeface="Times New Roman" panose="02020603050405020304" pitchFamily="2" charset="0"/>
              </a:rPr>
              <a:t>数据库设计完成后如何将数据结构和数据约束“告知”数据库管理系统</a:t>
            </a:r>
            <a:r>
              <a:rPr lang="zh-CN" altLang="en-US" sz="2400" kern="100" dirty="0" smtClean="0">
                <a:latin typeface="Calibri" panose="020F0502020204030204" pitchFamily="34" charset="0"/>
                <a:cs typeface="Times New Roman" panose="02020603050405020304" pitchFamily="2" charset="0"/>
              </a:rPr>
              <a:t>（      ）</a:t>
            </a:r>
            <a:r>
              <a:rPr lang="zh-CN" altLang="zh-CN" sz="2400" kern="100" dirty="0" smtClean="0">
                <a:latin typeface="Calibri" panose="020F0502020204030204" pitchFamily="34" charset="0"/>
                <a:cs typeface="Times New Roman" panose="02020603050405020304" pitchFamily="2" charset="0"/>
              </a:rPr>
              <a:t>？ </a:t>
            </a:r>
            <a:endParaRPr lang="en-US" altLang="zh-CN" sz="2400" kern="100" dirty="0" smtClean="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400" kern="100" dirty="0" smtClean="0">
                <a:latin typeface="Calibri" panose="020F0502020204030204" pitchFamily="34" charset="0"/>
                <a:cs typeface="Times New Roman" panose="02020603050405020304" pitchFamily="2" charset="0"/>
              </a:rPr>
              <a:t>A</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DDL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B</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DML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C </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DCL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D</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UML</a:t>
            </a:r>
            <a:endParaRPr lang="en-US" altLang="zh-CN" sz="2400" kern="100" dirty="0">
              <a:latin typeface="Calibri" panose="020F0502020204030204" pitchFamily="34" charset="0"/>
              <a:cs typeface="Times New Roman" panose="02020603050405020304" pitchFamily="2" charset="0"/>
            </a:endParaRPr>
          </a:p>
          <a:p>
            <a:pPr lvl="0" algn="just">
              <a:lnSpc>
                <a:spcPct val="125000"/>
              </a:lnSpc>
              <a:spcAft>
                <a:spcPts val="0"/>
              </a:spcAft>
              <a:buNone/>
            </a:pP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数据库管理员和最终用户用</a:t>
            </a:r>
            <a:r>
              <a:rPr lang="zh-CN" altLang="en-US" sz="2400" kern="100" dirty="0">
                <a:latin typeface="Calibri" panose="020F0502020204030204" pitchFamily="34" charset="0"/>
                <a:cs typeface="Times New Roman" panose="02020603050405020304" pitchFamily="2" charset="0"/>
              </a:rPr>
              <a:t>（     ）</a:t>
            </a:r>
            <a:r>
              <a:rPr lang="zh-CN" altLang="zh-CN" sz="2400" kern="100" dirty="0">
                <a:latin typeface="Calibri" panose="020F0502020204030204" pitchFamily="34" charset="0"/>
                <a:cs typeface="Times New Roman" panose="02020603050405020304" pitchFamily="2" charset="0"/>
              </a:rPr>
              <a:t>对数据进行操作？</a:t>
            </a:r>
            <a:endParaRPr lang="en-US" altLang="zh-CN" sz="2400" kern="100" dirty="0">
              <a:latin typeface="Calibri" panose="020F0502020204030204" pitchFamily="34" charset="0"/>
              <a:cs typeface="Times New Roman" panose="02020603050405020304" pitchFamily="2" charset="0"/>
            </a:endParaRPr>
          </a:p>
          <a:p>
            <a:pPr lvl="0" algn="just">
              <a:lnSpc>
                <a:spcPct val="125000"/>
              </a:lnSpc>
              <a:spcAft>
                <a:spcPts val="0"/>
              </a:spcAft>
              <a:buNone/>
            </a:pPr>
            <a:r>
              <a:rPr lang="en-US" altLang="zh-CN" sz="2400" kern="100" dirty="0">
                <a:latin typeface="Calibri" panose="020F0502020204030204" pitchFamily="34" charset="0"/>
                <a:cs typeface="Times New Roman" panose="02020603050405020304" pitchFamily="2" charset="0"/>
              </a:rPr>
              <a:t>A</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DDL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B</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DML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C </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DCL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D</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UML</a:t>
            </a:r>
            <a:endParaRPr lang="en-US" altLang="zh-CN" sz="2400" kern="100" dirty="0">
              <a:latin typeface="Calibri" panose="020F0502020204030204" pitchFamily="34" charset="0"/>
              <a:cs typeface="Times New Roman" panose="02020603050405020304" pitchFamily="2" charset="0"/>
            </a:endParaRPr>
          </a:p>
          <a:p>
            <a:pPr lvl="0" algn="just">
              <a:lnSpc>
                <a:spcPct val="125000"/>
              </a:lnSpc>
              <a:spcAft>
                <a:spcPts val="0"/>
              </a:spcAft>
              <a:buNone/>
            </a:pPr>
            <a:r>
              <a:rPr lang="en-US" altLang="zh-CN" sz="2400" kern="100" dirty="0">
                <a:latin typeface="Calibri" panose="020F0502020204030204" pitchFamily="34" charset="0"/>
                <a:cs typeface="Times New Roman" panose="02020603050405020304" pitchFamily="2" charset="0"/>
              </a:rPr>
              <a:t>3</a:t>
            </a:r>
            <a:r>
              <a:rPr lang="zh-CN" altLang="en-US" sz="2400" kern="100" dirty="0">
                <a:latin typeface="Calibri" panose="020F0502020204030204" pitchFamily="34" charset="0"/>
                <a:cs typeface="Times New Roman" panose="02020603050405020304" pitchFamily="2" charset="0"/>
              </a:rPr>
              <a:t>、</a:t>
            </a:r>
            <a:r>
              <a:rPr lang="zh-CN" altLang="zh-CN" sz="2400" dirty="0"/>
              <a:t>对数据库中的数据，最基本的四种操作</a:t>
            </a:r>
            <a:r>
              <a:rPr lang="zh-CN" altLang="en-US" sz="2400" dirty="0"/>
              <a:t>包括</a:t>
            </a:r>
            <a:r>
              <a:rPr lang="zh-CN" altLang="en-US" sz="2400" u="sng" dirty="0"/>
              <a:t>               </a:t>
            </a:r>
            <a:r>
              <a:rPr lang="zh-CN" altLang="en-US" sz="2400" dirty="0"/>
              <a:t>、</a:t>
            </a:r>
            <a:endParaRPr lang="en-US" altLang="zh-CN" sz="2400" dirty="0"/>
          </a:p>
          <a:p>
            <a:pPr lvl="0" algn="just">
              <a:lnSpc>
                <a:spcPct val="125000"/>
              </a:lnSpc>
              <a:spcAft>
                <a:spcPts val="0"/>
              </a:spcAft>
              <a:buNone/>
            </a:pPr>
            <a:r>
              <a:rPr lang="en-US" altLang="zh-CN" sz="2400" u="sng" dirty="0"/>
              <a:t>                 </a:t>
            </a:r>
            <a:r>
              <a:rPr lang="zh-CN" altLang="en-US" sz="2400" dirty="0"/>
              <a:t>、</a:t>
            </a:r>
            <a:r>
              <a:rPr lang="zh-CN" altLang="en-US" sz="2400" u="sng" dirty="0"/>
              <a:t>                  </a:t>
            </a:r>
            <a:r>
              <a:rPr lang="zh-CN" altLang="en-US" sz="2400" dirty="0"/>
              <a:t>和</a:t>
            </a:r>
            <a:r>
              <a:rPr lang="zh-CN" altLang="en-US" sz="2400" u="sng" dirty="0"/>
              <a:t>                     </a:t>
            </a:r>
            <a:r>
              <a:rPr lang="zh-CN" altLang="en-US" sz="2400" dirty="0"/>
              <a:t>。</a:t>
            </a:r>
            <a:endParaRPr lang="en-US" altLang="zh-CN" sz="2400" dirty="0"/>
          </a:p>
          <a:p>
            <a:pPr lvl="0" algn="just">
              <a:lnSpc>
                <a:spcPct val="125000"/>
              </a:lnSpc>
              <a:spcAft>
                <a:spcPts val="0"/>
              </a:spcAft>
              <a:buNone/>
            </a:pPr>
            <a:r>
              <a:rPr lang="en-US" altLang="zh-CN" sz="2400" kern="100" dirty="0">
                <a:latin typeface="Calibri" panose="020F0502020204030204" pitchFamily="34" charset="0"/>
                <a:cs typeface="Times New Roman" panose="02020603050405020304" pitchFamily="2" charset="0"/>
              </a:rPr>
              <a:t>4</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什么是交互式使用？什么是嵌入式使用</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p:txBody>
      </p:sp>
      <p:sp>
        <p:nvSpPr>
          <p:cNvPr id="3"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五、数据库系统的总体结构</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86606" y="1564321"/>
            <a:ext cx="7991856" cy="3970318"/>
          </a:xfrm>
          <a:prstGeom prst="rect">
            <a:avLst/>
          </a:prstGeom>
        </p:spPr>
        <p:txBody>
          <a:bodyPr wrap="square">
            <a:spAutoFit/>
          </a:bodyPr>
          <a:lstStyle/>
          <a:p>
            <a:pPr lvl="0" algn="just">
              <a:lnSpc>
                <a:spcPct val="150000"/>
              </a:lnSpc>
              <a:spcAft>
                <a:spcPts val="0"/>
              </a:spcAft>
              <a:buNone/>
            </a:pPr>
            <a:r>
              <a:rPr lang="en-US" altLang="zh-CN" sz="2400" kern="100" dirty="0">
                <a:latin typeface="Calibri" panose="020F0502020204030204" pitchFamily="34" charset="0"/>
                <a:cs typeface="Times New Roman" panose="02020603050405020304" pitchFamily="2" charset="0"/>
              </a:rPr>
              <a:t>1</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数据库设计完成后如何将数据结构和数据约束“告知”数据库管理系统</a:t>
            </a:r>
            <a:r>
              <a:rPr lang="zh-CN" altLang="en-US" sz="2400" kern="100" dirty="0">
                <a:latin typeface="Calibri" panose="020F0502020204030204" pitchFamily="34" charset="0"/>
                <a:cs typeface="Times New Roman" panose="02020603050405020304" pitchFamily="2" charset="0"/>
              </a:rPr>
              <a:t>（   </a:t>
            </a:r>
            <a:r>
              <a:rPr lang="en-US" altLang="zh-CN" sz="2400" kern="100" dirty="0">
                <a:solidFill>
                  <a:srgbClr val="FF0000"/>
                </a:solidFill>
                <a:latin typeface="Calibri" panose="020F0502020204030204" pitchFamily="34" charset="0"/>
                <a:cs typeface="Times New Roman" panose="02020603050405020304" pitchFamily="2" charset="0"/>
              </a:rPr>
              <a:t>A</a:t>
            </a:r>
            <a:r>
              <a:rPr lang="zh-CN" altLang="en-US" sz="2400" kern="100" dirty="0">
                <a:solidFill>
                  <a:srgbClr val="FF0000"/>
                </a:solidFill>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 ）</a:t>
            </a:r>
            <a:r>
              <a:rPr lang="zh-CN" altLang="zh-CN" sz="2400" kern="100" dirty="0">
                <a:latin typeface="Calibri" panose="020F0502020204030204" pitchFamily="34" charset="0"/>
                <a:cs typeface="Times New Roman" panose="02020603050405020304" pitchFamily="2" charset="0"/>
              </a:rPr>
              <a:t>？ </a:t>
            </a:r>
            <a:endParaRPr lang="en-US" altLang="zh-CN" sz="2400" kern="100" dirty="0">
              <a:latin typeface="Calibri" panose="020F0502020204030204" pitchFamily="34" charset="0"/>
              <a:cs typeface="Times New Roman" panose="02020603050405020304" pitchFamily="2" charset="0"/>
            </a:endParaRPr>
          </a:p>
          <a:p>
            <a:pPr algn="just">
              <a:lnSpc>
                <a:spcPct val="150000"/>
              </a:lnSpc>
              <a:spcAft>
                <a:spcPts val="0"/>
              </a:spcAft>
              <a:buNone/>
            </a:pPr>
            <a:r>
              <a:rPr lang="en-US" altLang="zh-CN" sz="2400" kern="100" dirty="0">
                <a:latin typeface="Calibri" panose="020F0502020204030204" pitchFamily="34" charset="0"/>
                <a:cs typeface="Times New Roman" panose="02020603050405020304" pitchFamily="2" charset="0"/>
              </a:rPr>
              <a:t>A</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DDL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B</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DML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C </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DCL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D</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UML</a:t>
            </a:r>
            <a:endParaRPr lang="en-US" altLang="zh-CN" sz="2400" kern="100" dirty="0">
              <a:latin typeface="Calibri" panose="020F0502020204030204" pitchFamily="34" charset="0"/>
              <a:cs typeface="Times New Roman" panose="02020603050405020304" pitchFamily="2" charset="0"/>
            </a:endParaRPr>
          </a:p>
          <a:p>
            <a:pPr lvl="0" algn="just">
              <a:lnSpc>
                <a:spcPct val="150000"/>
              </a:lnSpc>
              <a:spcAft>
                <a:spcPts val="0"/>
              </a:spcAft>
              <a:buNone/>
            </a:pPr>
            <a:r>
              <a:rPr lang="en-US" altLang="zh-CN" sz="2400" kern="100" dirty="0">
                <a:latin typeface="Calibri" panose="020F0502020204030204" pitchFamily="34" charset="0"/>
                <a:cs typeface="Times New Roman" panose="02020603050405020304" pitchFamily="2" charset="0"/>
              </a:rPr>
              <a:t>2</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数据库管理员和最终用户用</a:t>
            </a:r>
            <a:r>
              <a:rPr lang="zh-CN" altLang="en-US" sz="2400" kern="100" dirty="0">
                <a:latin typeface="Calibri" panose="020F0502020204030204" pitchFamily="34" charset="0"/>
                <a:cs typeface="Times New Roman" panose="02020603050405020304" pitchFamily="2" charset="0"/>
              </a:rPr>
              <a:t>（   </a:t>
            </a:r>
            <a:r>
              <a:rPr lang="en-US" altLang="zh-CN" sz="2400" kern="100" dirty="0">
                <a:solidFill>
                  <a:srgbClr val="FF0000"/>
                </a:solidFill>
                <a:latin typeface="Calibri" panose="020F0502020204030204" pitchFamily="34" charset="0"/>
                <a:cs typeface="Times New Roman" panose="02020603050405020304" pitchFamily="2" charset="0"/>
              </a:rPr>
              <a:t>B</a:t>
            </a:r>
            <a:r>
              <a:rPr lang="zh-CN" altLang="en-US" sz="2400" kern="100" dirty="0">
                <a:solidFill>
                  <a:srgbClr val="FF0000"/>
                </a:solidFill>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对数据进行操作？</a:t>
            </a:r>
            <a:endParaRPr lang="en-US" altLang="zh-CN" sz="2400" kern="100" dirty="0">
              <a:latin typeface="Calibri" panose="020F0502020204030204" pitchFamily="34" charset="0"/>
              <a:cs typeface="Times New Roman" panose="02020603050405020304" pitchFamily="2" charset="0"/>
            </a:endParaRPr>
          </a:p>
          <a:p>
            <a:pPr lvl="0" algn="just">
              <a:lnSpc>
                <a:spcPct val="150000"/>
              </a:lnSpc>
              <a:spcAft>
                <a:spcPts val="0"/>
              </a:spcAft>
              <a:buNone/>
            </a:pPr>
            <a:r>
              <a:rPr lang="en-US" altLang="zh-CN" sz="2400" kern="100" dirty="0">
                <a:latin typeface="Calibri" panose="020F0502020204030204" pitchFamily="34" charset="0"/>
                <a:cs typeface="Times New Roman" panose="02020603050405020304" pitchFamily="2" charset="0"/>
              </a:rPr>
              <a:t>A</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DDL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B</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DML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C </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DCL</a:t>
            </a:r>
            <a:r>
              <a:rPr lang="zh-CN" altLang="en-US" sz="2400" kern="100" dirty="0">
                <a:latin typeface="Calibri" panose="020F0502020204030204" pitchFamily="34" charset="0"/>
                <a:cs typeface="Times New Roman" panose="02020603050405020304" pitchFamily="2" charset="0"/>
              </a:rPr>
              <a:t>语言     </a:t>
            </a:r>
            <a:r>
              <a:rPr lang="en-US" altLang="zh-CN" sz="2400" kern="100" dirty="0">
                <a:latin typeface="Calibri" panose="020F0502020204030204" pitchFamily="34" charset="0"/>
                <a:cs typeface="Times New Roman" panose="02020603050405020304" pitchFamily="2" charset="0"/>
              </a:rPr>
              <a:t>D</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UML</a:t>
            </a:r>
            <a:endParaRPr lang="en-US" altLang="zh-CN" sz="2400" kern="100" dirty="0">
              <a:latin typeface="Calibri" panose="020F0502020204030204" pitchFamily="34" charset="0"/>
              <a:cs typeface="Times New Roman" panose="02020603050405020304" pitchFamily="2" charset="0"/>
            </a:endParaRPr>
          </a:p>
          <a:p>
            <a:pPr lvl="0" algn="just">
              <a:lnSpc>
                <a:spcPct val="150000"/>
              </a:lnSpc>
              <a:spcAft>
                <a:spcPts val="0"/>
              </a:spcAft>
              <a:buNone/>
            </a:pPr>
            <a:r>
              <a:rPr lang="en-US" altLang="zh-CN" sz="2400" kern="100" dirty="0">
                <a:latin typeface="Calibri" panose="020F0502020204030204" pitchFamily="34" charset="0"/>
                <a:cs typeface="Times New Roman" panose="02020603050405020304" pitchFamily="2" charset="0"/>
              </a:rPr>
              <a:t>3</a:t>
            </a:r>
            <a:r>
              <a:rPr lang="zh-CN" altLang="en-US" sz="2400" kern="100" dirty="0">
                <a:latin typeface="Calibri" panose="020F0502020204030204" pitchFamily="34" charset="0"/>
                <a:cs typeface="Times New Roman" panose="02020603050405020304" pitchFamily="2" charset="0"/>
              </a:rPr>
              <a:t>、</a:t>
            </a:r>
            <a:r>
              <a:rPr lang="zh-CN" altLang="zh-CN" sz="2400" dirty="0"/>
              <a:t>对数据库中的数据，最基本的四种操作</a:t>
            </a:r>
            <a:r>
              <a:rPr lang="zh-CN" altLang="en-US" sz="2400" dirty="0"/>
              <a:t>包括</a:t>
            </a:r>
            <a:r>
              <a:rPr lang="zh-CN" altLang="en-US" sz="2400" u="sng" dirty="0"/>
              <a:t>  </a:t>
            </a:r>
            <a:r>
              <a:rPr lang="zh-CN" altLang="en-US" sz="2400" u="sng" dirty="0">
                <a:solidFill>
                  <a:srgbClr val="FF0000"/>
                </a:solidFill>
              </a:rPr>
              <a:t>增加</a:t>
            </a:r>
            <a:r>
              <a:rPr lang="zh-CN" altLang="en-US" sz="2400" u="sng" dirty="0"/>
              <a:t>   </a:t>
            </a:r>
            <a:r>
              <a:rPr lang="zh-CN" altLang="en-US" sz="2400" dirty="0"/>
              <a:t>、</a:t>
            </a:r>
            <a:endParaRPr lang="en-US" altLang="zh-CN" sz="2400" dirty="0"/>
          </a:p>
          <a:p>
            <a:pPr lvl="0" algn="just">
              <a:lnSpc>
                <a:spcPct val="150000"/>
              </a:lnSpc>
              <a:spcAft>
                <a:spcPts val="0"/>
              </a:spcAft>
              <a:buNone/>
            </a:pPr>
            <a:r>
              <a:rPr lang="en-US" altLang="zh-CN" sz="2400" u="sng" dirty="0"/>
              <a:t>     </a:t>
            </a:r>
            <a:r>
              <a:rPr lang="zh-CN" altLang="en-US" sz="2400" u="sng" dirty="0">
                <a:solidFill>
                  <a:srgbClr val="FF0000"/>
                </a:solidFill>
              </a:rPr>
              <a:t>修改</a:t>
            </a:r>
            <a:r>
              <a:rPr lang="en-US" altLang="zh-CN" sz="2400" u="sng" dirty="0"/>
              <a:t>     </a:t>
            </a:r>
            <a:r>
              <a:rPr lang="zh-CN" altLang="en-US" sz="2400" dirty="0"/>
              <a:t>、</a:t>
            </a:r>
            <a:r>
              <a:rPr lang="zh-CN" altLang="en-US" sz="2400" u="sng" dirty="0"/>
              <a:t>  </a:t>
            </a:r>
            <a:r>
              <a:rPr lang="zh-CN" altLang="en-US" sz="2400" u="sng" dirty="0">
                <a:solidFill>
                  <a:srgbClr val="FF0000"/>
                </a:solidFill>
              </a:rPr>
              <a:t>删除</a:t>
            </a:r>
            <a:r>
              <a:rPr lang="zh-CN" altLang="en-US" sz="2400" u="sng" dirty="0"/>
              <a:t>      </a:t>
            </a:r>
            <a:r>
              <a:rPr lang="zh-CN" altLang="en-US" sz="2400" dirty="0"/>
              <a:t>和</a:t>
            </a:r>
            <a:r>
              <a:rPr lang="zh-CN" altLang="en-US" sz="2400" u="sng" dirty="0"/>
              <a:t>     </a:t>
            </a:r>
            <a:r>
              <a:rPr lang="zh-CN" altLang="en-US" sz="2400" u="sng" dirty="0">
                <a:solidFill>
                  <a:srgbClr val="FF0000"/>
                </a:solidFill>
              </a:rPr>
              <a:t>查询 </a:t>
            </a:r>
            <a:r>
              <a:rPr lang="zh-CN" altLang="en-US" sz="2400" u="sng" dirty="0"/>
              <a:t>     </a:t>
            </a:r>
            <a:r>
              <a:rPr lang="zh-CN" altLang="en-US" sz="2400" dirty="0"/>
              <a:t>。</a:t>
            </a:r>
            <a:endParaRPr lang="en-US" altLang="zh-CN" sz="2400" dirty="0"/>
          </a:p>
        </p:txBody>
      </p:sp>
      <p:sp>
        <p:nvSpPr>
          <p:cNvPr id="3" name="矩形 2"/>
          <p:cNvSpPr/>
          <p:nvPr/>
        </p:nvSpPr>
        <p:spPr>
          <a:xfrm>
            <a:off x="558800" y="733001"/>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知识点小测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4"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五、数据库系统的总体结构</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46906" y="1475421"/>
            <a:ext cx="7991856" cy="583108"/>
          </a:xfrm>
          <a:prstGeom prst="rect">
            <a:avLst/>
          </a:prstGeom>
        </p:spPr>
        <p:txBody>
          <a:bodyPr wrap="square">
            <a:spAutoFit/>
          </a:bodyPr>
          <a:lstStyle/>
          <a:p>
            <a:pPr lvl="0" algn="just">
              <a:lnSpc>
                <a:spcPct val="150000"/>
              </a:lnSpc>
              <a:spcAft>
                <a:spcPts val="0"/>
              </a:spcAft>
              <a:buNone/>
            </a:pPr>
            <a:r>
              <a:rPr lang="en-US" altLang="zh-CN" sz="2400" kern="100" dirty="0">
                <a:latin typeface="Calibri" panose="020F0502020204030204" pitchFamily="34" charset="0"/>
                <a:cs typeface="Times New Roman" panose="02020603050405020304" pitchFamily="2" charset="0"/>
              </a:rPr>
              <a:t>4</a:t>
            </a:r>
            <a:r>
              <a:rPr lang="zh-CN" altLang="en-US" sz="2400" kern="100" dirty="0">
                <a:latin typeface="Calibri" panose="020F0502020204030204" pitchFamily="34" charset="0"/>
                <a:cs typeface="Times New Roman" panose="02020603050405020304" pitchFamily="2" charset="0"/>
              </a:rPr>
              <a:t>、</a:t>
            </a:r>
            <a:r>
              <a:rPr lang="zh-CN" altLang="zh-CN" sz="2400" kern="100" dirty="0">
                <a:latin typeface="Calibri" panose="020F0502020204030204" pitchFamily="34" charset="0"/>
                <a:cs typeface="Times New Roman" panose="02020603050405020304" pitchFamily="2" charset="0"/>
              </a:rPr>
              <a:t>什么是交互式使用？什么是嵌入式使用</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p:txBody>
      </p:sp>
      <p:sp>
        <p:nvSpPr>
          <p:cNvPr id="4" name="矩形 3"/>
          <p:cNvSpPr/>
          <p:nvPr/>
        </p:nvSpPr>
        <p:spPr>
          <a:xfrm>
            <a:off x="546906" y="2316388"/>
            <a:ext cx="8127194" cy="2489200"/>
          </a:xfrm>
          <a:prstGeom prst="rect">
            <a:avLst/>
          </a:prstGeom>
        </p:spPr>
        <p:txBody>
          <a:bodyPr wrap="square">
            <a:spAutoFit/>
          </a:bodyPr>
          <a:lstStyle/>
          <a:p>
            <a:pPr lvl="0" algn="just">
              <a:lnSpc>
                <a:spcPct val="130000"/>
              </a:lnSpc>
              <a:spcBef>
                <a:spcPts val="0"/>
              </a:spcBef>
              <a:spcAft>
                <a:spcPts val="0"/>
              </a:spcAft>
              <a:buNone/>
            </a:pP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答：（</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1</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）交互式使用是指用户直接通过</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DML</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语言在</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DBMS</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的操作界面通过命令行的方式来对数据进行操作。</a:t>
            </a:r>
            <a:endPar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a:p>
            <a:pPr lvl="0" algn="just">
              <a:lnSpc>
                <a:spcPct val="130000"/>
              </a:lnSpc>
              <a:spcBef>
                <a:spcPts val="0"/>
              </a:spcBef>
              <a:spcAft>
                <a:spcPts val="0"/>
              </a:spcAft>
              <a:buNone/>
            </a:pP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    </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2</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）嵌入式使用是指应用程序将</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DML</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语言作为应用开发的子语言，将其</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嵌入在应用程序中使用，用户不再操作</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DBMS</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的界面。</a:t>
            </a:r>
            <a:endPar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p:txBody>
      </p:sp>
      <p:sp>
        <p:nvSpPr>
          <p:cNvPr id="5" name="矩形 4"/>
          <p:cNvSpPr/>
          <p:nvPr/>
        </p:nvSpPr>
        <p:spPr>
          <a:xfrm>
            <a:off x="558800" y="733001"/>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知识点小测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五、数据库系统的总体结构</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smtClean="0">
                <a:solidFill>
                  <a:srgbClr val="FF0000"/>
                </a:solidFill>
                <a:latin typeface="Arial" panose="020B0604020202020204" pitchFamily="34" charset="0"/>
                <a:ea typeface="黑体" panose="02010609060101010101" pitchFamily="1" charset="-122"/>
              </a:rPr>
              <a:t>六、</a:t>
            </a:r>
            <a:r>
              <a:rPr lang="zh-CN" altLang="en-US" sz="3200" dirty="0">
                <a:solidFill>
                  <a:srgbClr val="FF0000"/>
                </a:solidFill>
                <a:latin typeface="Arial" panose="020B0604020202020204" pitchFamily="34" charset="0"/>
                <a:ea typeface="黑体" panose="02010609060101010101" pitchFamily="1" charset="-122"/>
              </a:rPr>
              <a:t>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92162" name="矩形 1"/>
          <p:cNvSpPr/>
          <p:nvPr/>
        </p:nvSpPr>
        <p:spPr>
          <a:xfrm>
            <a:off x="595313" y="1579563"/>
            <a:ext cx="8164512" cy="850900"/>
          </a:xfrm>
          <a:prstGeom prst="rect">
            <a:avLst/>
          </a:prstGeom>
          <a:noFill/>
          <a:ln w="9525">
            <a:noFill/>
          </a:ln>
        </p:spPr>
        <p:txBody>
          <a:bodyPr anchor="t">
            <a:spAutoFit/>
          </a:bodyPr>
          <a:lstStyle/>
          <a:p>
            <a:pPr lvl="0" indent="0">
              <a:lnSpc>
                <a:spcPct val="120000"/>
              </a:lnSpc>
              <a:buNone/>
            </a:pPr>
            <a:r>
              <a:rPr lang="zh-CN" altLang="en-US" sz="2200" dirty="0">
                <a:latin typeface="楷体" panose="02010609060101010101" pitchFamily="1" charset="-122"/>
                <a:ea typeface="楷体" panose="02010609060101010101" pitchFamily="1" charset="-122"/>
              </a:rPr>
              <a:t>    </a:t>
            </a:r>
            <a:r>
              <a:rPr lang="zh-CN" altLang="en-US" sz="2200" dirty="0">
                <a:latin typeface="宋体" panose="02010600030101010101" pitchFamily="2" charset="-122"/>
                <a:ea typeface="宋体" panose="02010600030101010101" pitchFamily="2" charset="-122"/>
              </a:rPr>
              <a:t>自从计算机从数值计算向数据管理延伸，信息化管理思想兴起，逐渐向各个领域延伸，信息化的核心</a:t>
            </a:r>
            <a:r>
              <a:rPr lang="en-US" altLang="x-none"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数据库技术不断发展。</a:t>
            </a:r>
            <a:endParaRPr lang="zh-CN" altLang="en-US" sz="2200" dirty="0">
              <a:latin typeface="宋体" panose="02010600030101010101" pitchFamily="2" charset="-122"/>
              <a:ea typeface="宋体" panose="02010600030101010101" pitchFamily="2" charset="-122"/>
            </a:endParaRPr>
          </a:p>
        </p:txBody>
      </p:sp>
      <p:sp>
        <p:nvSpPr>
          <p:cNvPr id="92163" name="Rectangle 4"/>
          <p:cNvSpPr txBox="1"/>
          <p:nvPr/>
        </p:nvSpPr>
        <p:spPr>
          <a:xfrm>
            <a:off x="641350" y="2949575"/>
            <a:ext cx="8077200" cy="595313"/>
          </a:xfrm>
          <a:prstGeom prst="rect">
            <a:avLst/>
          </a:prstGeom>
          <a:noFill/>
          <a:ln w="9525">
            <a:noFill/>
          </a:ln>
        </p:spPr>
        <p:txBody>
          <a:bodyPr anchor="t"/>
          <a:lstStyle/>
          <a:p>
            <a:pPr lvl="0" indent="0">
              <a:lnSpc>
                <a:spcPct val="150000"/>
              </a:lnSpc>
              <a:buClr>
                <a:srgbClr val="0033CC"/>
              </a:buClr>
              <a:buSzPct val="150000"/>
              <a:buFont typeface="Wingdings" panose="05000000000000000000" pitchFamily="2" charset="2"/>
              <a:buChar char="u"/>
            </a:pPr>
            <a:r>
              <a:rPr lang="zh-CN" altLang="en-US" sz="2400" dirty="0">
                <a:latin typeface="Arial" panose="020B0604020202020204" pitchFamily="34" charset="0"/>
                <a:ea typeface="宋体" panose="02010600030101010101" pitchFamily="2" charset="-122"/>
                <a:sym typeface="Wingdings" panose="05000000000000000000" pitchFamily="2" charset="2"/>
              </a:rPr>
              <a:t>数据库技术的发展：</a:t>
            </a:r>
            <a:r>
              <a:rPr lang="zh-CN" altLang="en-US" sz="2400" u="sng" dirty="0">
                <a:solidFill>
                  <a:srgbClr val="FF0000"/>
                </a:solidFill>
                <a:latin typeface="Arial" panose="020B0604020202020204" pitchFamily="34" charset="0"/>
                <a:ea typeface="宋体" panose="02010600030101010101" pitchFamily="2" charset="-122"/>
                <a:sym typeface="Wingdings" panose="05000000000000000000" pitchFamily="2" charset="2"/>
              </a:rPr>
              <a:t>由逻辑数据模型的进步</a:t>
            </a:r>
            <a:r>
              <a:rPr lang="zh-CN" altLang="en-US" sz="2400" dirty="0">
                <a:latin typeface="Arial" panose="020B0604020202020204" pitchFamily="34" charset="0"/>
                <a:ea typeface="宋体" panose="02010600030101010101" pitchFamily="2" charset="-122"/>
                <a:sym typeface="Wingdings" panose="05000000000000000000" pitchFamily="2" charset="2"/>
              </a:rPr>
              <a:t>而主导的</a:t>
            </a:r>
            <a:endParaRPr lang="zh-CN" altLang="en-US" sz="2400" dirty="0">
              <a:latin typeface="Arial" panose="020B0604020202020204" pitchFamily="34" charset="0"/>
              <a:ea typeface="宋体" panose="02010600030101010101" pitchFamily="2" charset="-122"/>
            </a:endParaRPr>
          </a:p>
        </p:txBody>
      </p:sp>
      <p:grpSp>
        <p:nvGrpSpPr>
          <p:cNvPr id="92164" name="组合 21"/>
          <p:cNvGrpSpPr/>
          <p:nvPr/>
        </p:nvGrpSpPr>
        <p:grpSpPr>
          <a:xfrm>
            <a:off x="677863" y="3849688"/>
            <a:ext cx="7823200" cy="2279650"/>
            <a:chOff x="0" y="0"/>
            <a:chExt cx="8677275" cy="2806700"/>
          </a:xfrm>
        </p:grpSpPr>
        <p:sp>
          <p:nvSpPr>
            <p:cNvPr id="92165" name="Line 5"/>
            <p:cNvSpPr/>
            <p:nvPr/>
          </p:nvSpPr>
          <p:spPr>
            <a:xfrm>
              <a:off x="288925" y="1331912"/>
              <a:ext cx="8388350" cy="0"/>
            </a:xfrm>
            <a:prstGeom prst="line">
              <a:avLst/>
            </a:prstGeom>
            <a:ln w="38100" cap="flat" cmpd="sng">
              <a:solidFill>
                <a:srgbClr val="A50021"/>
              </a:solidFill>
              <a:prstDash val="solid"/>
              <a:round/>
              <a:headEnd type="oval" w="med" len="med"/>
              <a:tailEnd type="triangle" w="med" len="med"/>
            </a:ln>
          </p:spPr>
        </p:sp>
        <p:sp>
          <p:nvSpPr>
            <p:cNvPr id="92166" name="Rectangle 6"/>
            <p:cNvSpPr/>
            <p:nvPr/>
          </p:nvSpPr>
          <p:spPr>
            <a:xfrm>
              <a:off x="0" y="144462"/>
              <a:ext cx="1619250" cy="865188"/>
            </a:xfrm>
            <a:prstGeom prst="rect">
              <a:avLst/>
            </a:prstGeom>
            <a:solidFill>
              <a:srgbClr val="F8D2CE"/>
            </a:solidFill>
            <a:ln w="9525" cap="flat" cmpd="sng">
              <a:solidFill>
                <a:schemeClr val="tx1"/>
              </a:solidFill>
              <a:prstDash val="solid"/>
              <a:miter/>
              <a:headEnd type="none" w="med" len="med"/>
              <a:tailEnd type="none" w="med" len="med"/>
            </a:ln>
          </p:spPr>
          <p:txBody>
            <a:bodyPr wrap="none" anchor="ctr"/>
            <a:lstStyle/>
            <a:p>
              <a:pPr lvl="0" indent="0" algn="ctr">
                <a:lnSpc>
                  <a:spcPct val="90000"/>
                </a:lnSpc>
                <a:buSzPct val="150000"/>
                <a:buNone/>
              </a:pPr>
              <a:r>
                <a:rPr lang="zh-CN" altLang="en-US" sz="1600" dirty="0">
                  <a:solidFill>
                    <a:srgbClr val="000000"/>
                  </a:solidFill>
                  <a:latin typeface="宋体" panose="02010600030101010101" pitchFamily="2" charset="-122"/>
                  <a:ea typeface="宋体" panose="02010600030101010101" pitchFamily="2" charset="-122"/>
                  <a:sym typeface="Wingdings" panose="05000000000000000000" pitchFamily="2" charset="2"/>
                </a:rPr>
                <a:t>层次模型</a:t>
              </a:r>
              <a:endParaRPr lang="zh-CN" altLang="en-US" sz="1600" dirty="0">
                <a:solidFill>
                  <a:srgbClr val="000000"/>
                </a:solidFill>
                <a:latin typeface="宋体" panose="02010600030101010101" pitchFamily="2" charset="-122"/>
                <a:ea typeface="宋体" panose="02010600030101010101" pitchFamily="2" charset="-122"/>
                <a:sym typeface="Wingdings" panose="05000000000000000000" pitchFamily="2" charset="2"/>
              </a:endParaRPr>
            </a:p>
            <a:p>
              <a:pPr lvl="0" indent="0" algn="ctr">
                <a:lnSpc>
                  <a:spcPct val="90000"/>
                </a:lnSpc>
                <a:buSzPct val="150000"/>
                <a:buNone/>
              </a:pPr>
              <a:r>
                <a:rPr lang="zh-CN" altLang="en-US" sz="1600" dirty="0">
                  <a:solidFill>
                    <a:srgbClr val="000000"/>
                  </a:solidFill>
                  <a:latin typeface="宋体" panose="02010600030101010101" pitchFamily="2" charset="-122"/>
                  <a:ea typeface="宋体" panose="02010600030101010101" pitchFamily="2" charset="-122"/>
                </a:rPr>
                <a:t>网状模型</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92167" name="Rectangle 7"/>
            <p:cNvSpPr/>
            <p:nvPr/>
          </p:nvSpPr>
          <p:spPr>
            <a:xfrm>
              <a:off x="1944688" y="1511300"/>
              <a:ext cx="1619250" cy="865187"/>
            </a:xfrm>
            <a:prstGeom prst="rect">
              <a:avLst/>
            </a:prstGeom>
            <a:solidFill>
              <a:srgbClr val="F8D2CE"/>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关系模型</a:t>
              </a:r>
              <a:endParaRPr lang="zh-CN" altLang="en-US" sz="1600" dirty="0">
                <a:solidFill>
                  <a:srgbClr val="000000"/>
                </a:solidFill>
                <a:latin typeface="宋体" panose="02010600030101010101" pitchFamily="2" charset="-122"/>
                <a:ea typeface="宋体" panose="02010600030101010101" pitchFamily="2" charset="-122"/>
              </a:endParaRPr>
            </a:p>
            <a:p>
              <a:pPr lvl="0" indent="0" algn="ctr">
                <a:buNone/>
              </a:pPr>
              <a:r>
                <a:rPr lang="zh-CN" altLang="en-US" sz="1600" dirty="0">
                  <a:solidFill>
                    <a:srgbClr val="000000"/>
                  </a:solidFill>
                  <a:latin typeface="宋体" panose="02010600030101010101" pitchFamily="2" charset="-122"/>
                  <a:ea typeface="宋体" panose="02010600030101010101" pitchFamily="2" charset="-122"/>
                </a:rPr>
                <a:t>ER模型</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92168" name="Rectangle 8"/>
            <p:cNvSpPr/>
            <p:nvPr/>
          </p:nvSpPr>
          <p:spPr>
            <a:xfrm>
              <a:off x="3744913" y="144462"/>
              <a:ext cx="1584325" cy="790575"/>
            </a:xfrm>
            <a:prstGeom prst="rect">
              <a:avLst/>
            </a:prstGeom>
            <a:solidFill>
              <a:srgbClr val="F8D2CE"/>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面向对象</a:t>
              </a:r>
              <a:endParaRPr lang="zh-CN" altLang="en-US" sz="1600" dirty="0">
                <a:solidFill>
                  <a:srgbClr val="000000"/>
                </a:solidFill>
                <a:latin typeface="宋体" panose="02010600030101010101" pitchFamily="2" charset="-122"/>
                <a:ea typeface="宋体" panose="02010600030101010101" pitchFamily="2" charset="-122"/>
              </a:endParaRPr>
            </a:p>
            <a:p>
              <a:pPr lvl="0" indent="0" algn="ctr">
                <a:buNone/>
              </a:pPr>
              <a:r>
                <a:rPr lang="zh-CN" altLang="en-US" sz="1600" dirty="0">
                  <a:solidFill>
                    <a:srgbClr val="000000"/>
                  </a:solidFill>
                  <a:latin typeface="宋体" panose="02010600030101010101" pitchFamily="2" charset="-122"/>
                  <a:ea typeface="宋体" panose="02010600030101010101" pitchFamily="2" charset="-122"/>
                </a:rPr>
                <a:t>模型</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92169" name="Oval 9"/>
            <p:cNvSpPr/>
            <p:nvPr/>
          </p:nvSpPr>
          <p:spPr>
            <a:xfrm>
              <a:off x="0" y="1511300"/>
              <a:ext cx="1835150" cy="1079500"/>
            </a:xfrm>
            <a:prstGeom prst="ellipse">
              <a:avLst/>
            </a:prstGeom>
            <a:solidFill>
              <a:srgbClr val="CCFF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latin typeface="宋体" panose="02010600030101010101" pitchFamily="2" charset="-122"/>
                  <a:ea typeface="宋体" panose="02010600030101010101" pitchFamily="2" charset="-122"/>
                </a:rPr>
                <a:t>层次,</a:t>
              </a:r>
              <a:endParaRPr lang="zh-CN" altLang="en-US" sz="1600" dirty="0">
                <a:latin typeface="宋体" panose="02010600030101010101" pitchFamily="2" charset="-122"/>
                <a:ea typeface="宋体" panose="02010600030101010101" pitchFamily="2" charset="-122"/>
              </a:endParaRPr>
            </a:p>
            <a:p>
              <a:pPr lvl="0" indent="0" algn="ctr">
                <a:buNone/>
              </a:pPr>
              <a:r>
                <a:rPr lang="zh-CN" altLang="en-US" sz="1600" dirty="0">
                  <a:latin typeface="宋体" panose="02010600030101010101" pitchFamily="2" charset="-122"/>
                  <a:ea typeface="宋体" panose="02010600030101010101" pitchFamily="2" charset="-122"/>
                </a:rPr>
                <a:t>网状数据库</a:t>
              </a:r>
              <a:endParaRPr lang="zh-CN" altLang="en-US" sz="1600" dirty="0">
                <a:latin typeface="宋体" panose="02010600030101010101" pitchFamily="2" charset="-122"/>
                <a:ea typeface="宋体" panose="02010600030101010101" pitchFamily="2" charset="-122"/>
              </a:endParaRPr>
            </a:p>
          </p:txBody>
        </p:sp>
        <p:sp>
          <p:nvSpPr>
            <p:cNvPr id="92170" name="Line 10"/>
            <p:cNvSpPr/>
            <p:nvPr/>
          </p:nvSpPr>
          <p:spPr>
            <a:xfrm>
              <a:off x="792163" y="1008062"/>
              <a:ext cx="0" cy="503238"/>
            </a:xfrm>
            <a:prstGeom prst="line">
              <a:avLst/>
            </a:prstGeom>
            <a:ln w="38100" cap="flat" cmpd="sng">
              <a:solidFill>
                <a:srgbClr val="CC0000"/>
              </a:solidFill>
              <a:prstDash val="solid"/>
              <a:round/>
              <a:headEnd type="none" w="med" len="med"/>
              <a:tailEnd type="none" w="med" len="med"/>
            </a:ln>
          </p:spPr>
        </p:sp>
        <p:sp>
          <p:nvSpPr>
            <p:cNvPr id="92171" name="Oval 11"/>
            <p:cNvSpPr/>
            <p:nvPr/>
          </p:nvSpPr>
          <p:spPr>
            <a:xfrm>
              <a:off x="1728788" y="0"/>
              <a:ext cx="1835150" cy="1079500"/>
            </a:xfrm>
            <a:prstGeom prst="ellipse">
              <a:avLst/>
            </a:prstGeom>
            <a:solidFill>
              <a:srgbClr val="CCFF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latin typeface="宋体" panose="02010600030101010101" pitchFamily="2" charset="-122"/>
                  <a:ea typeface="宋体" panose="02010600030101010101" pitchFamily="2" charset="-122"/>
                </a:rPr>
                <a:t>关系数据库</a:t>
              </a:r>
              <a:endParaRPr lang="zh-CN" altLang="en-US" sz="1600" dirty="0">
                <a:latin typeface="宋体" panose="02010600030101010101" pitchFamily="2" charset="-122"/>
                <a:ea typeface="宋体" panose="02010600030101010101" pitchFamily="2" charset="-122"/>
              </a:endParaRPr>
            </a:p>
          </p:txBody>
        </p:sp>
        <p:sp>
          <p:nvSpPr>
            <p:cNvPr id="92172" name="Line 12"/>
            <p:cNvSpPr/>
            <p:nvPr/>
          </p:nvSpPr>
          <p:spPr>
            <a:xfrm>
              <a:off x="2736850" y="1079500"/>
              <a:ext cx="0" cy="431800"/>
            </a:xfrm>
            <a:prstGeom prst="line">
              <a:avLst/>
            </a:prstGeom>
            <a:ln w="38100" cap="flat" cmpd="sng">
              <a:solidFill>
                <a:srgbClr val="CC0000"/>
              </a:solidFill>
              <a:prstDash val="solid"/>
              <a:round/>
              <a:headEnd type="none" w="med" len="med"/>
              <a:tailEnd type="none" w="med" len="med"/>
            </a:ln>
          </p:spPr>
        </p:sp>
        <p:sp>
          <p:nvSpPr>
            <p:cNvPr id="92173" name="Oval 13"/>
            <p:cNvSpPr/>
            <p:nvPr/>
          </p:nvSpPr>
          <p:spPr>
            <a:xfrm>
              <a:off x="3673475" y="1727200"/>
              <a:ext cx="1835150" cy="1079500"/>
            </a:xfrm>
            <a:prstGeom prst="ellipse">
              <a:avLst/>
            </a:prstGeom>
            <a:solidFill>
              <a:srgbClr val="CCFF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latin typeface="宋体" panose="02010600030101010101" pitchFamily="2" charset="-122"/>
                  <a:ea typeface="宋体" panose="02010600030101010101" pitchFamily="2" charset="-122"/>
                </a:rPr>
                <a:t>数据库</a:t>
              </a:r>
              <a:endParaRPr lang="zh-CN" altLang="en-US" sz="1600" dirty="0">
                <a:latin typeface="宋体" panose="02010600030101010101" pitchFamily="2" charset="-122"/>
                <a:ea typeface="宋体" panose="02010600030101010101" pitchFamily="2" charset="-122"/>
              </a:endParaRPr>
            </a:p>
          </p:txBody>
        </p:sp>
        <p:sp>
          <p:nvSpPr>
            <p:cNvPr id="92174" name="Line 14"/>
            <p:cNvSpPr/>
            <p:nvPr/>
          </p:nvSpPr>
          <p:spPr>
            <a:xfrm>
              <a:off x="4681538" y="935037"/>
              <a:ext cx="0" cy="792163"/>
            </a:xfrm>
            <a:prstGeom prst="line">
              <a:avLst/>
            </a:prstGeom>
            <a:ln w="38100" cap="flat" cmpd="sng">
              <a:solidFill>
                <a:srgbClr val="CC0000"/>
              </a:solidFill>
              <a:prstDash val="solid"/>
              <a:round/>
              <a:headEnd type="none" w="med" len="med"/>
              <a:tailEnd type="none" w="med" len="med"/>
            </a:ln>
          </p:spPr>
        </p:sp>
        <p:sp>
          <p:nvSpPr>
            <p:cNvPr id="92175" name="Rectangle 15"/>
            <p:cNvSpPr/>
            <p:nvPr/>
          </p:nvSpPr>
          <p:spPr>
            <a:xfrm>
              <a:off x="5257800" y="1584325"/>
              <a:ext cx="1295400" cy="865187"/>
            </a:xfrm>
            <a:prstGeom prst="rect">
              <a:avLst/>
            </a:prstGeom>
            <a:solidFill>
              <a:srgbClr val="F8D2CE"/>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多维</a:t>
              </a:r>
              <a:endParaRPr lang="zh-CN" altLang="en-US" sz="1600" dirty="0">
                <a:solidFill>
                  <a:srgbClr val="000000"/>
                </a:solidFill>
                <a:latin typeface="宋体" panose="02010600030101010101" pitchFamily="2" charset="-122"/>
                <a:ea typeface="宋体" panose="02010600030101010101" pitchFamily="2" charset="-122"/>
              </a:endParaRPr>
            </a:p>
            <a:p>
              <a:pPr lvl="0" indent="0" algn="ctr">
                <a:buNone/>
              </a:pPr>
              <a:r>
                <a:rPr lang="zh-CN" altLang="en-US" sz="1600" dirty="0">
                  <a:solidFill>
                    <a:srgbClr val="000000"/>
                  </a:solidFill>
                  <a:latin typeface="宋体" panose="02010600030101010101" pitchFamily="2" charset="-122"/>
                  <a:ea typeface="宋体" panose="02010600030101010101" pitchFamily="2" charset="-122"/>
                </a:rPr>
                <a:t>模型</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92176" name="Oval 16"/>
            <p:cNvSpPr/>
            <p:nvPr/>
          </p:nvSpPr>
          <p:spPr>
            <a:xfrm>
              <a:off x="5184775" y="71437"/>
              <a:ext cx="1512888" cy="1079500"/>
            </a:xfrm>
            <a:prstGeom prst="ellipse">
              <a:avLst/>
            </a:prstGeom>
            <a:solidFill>
              <a:srgbClr val="CCFF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latin typeface="宋体" panose="02010600030101010101" pitchFamily="2" charset="-122"/>
                  <a:ea typeface="宋体" panose="02010600030101010101" pitchFamily="2" charset="-122"/>
                </a:rPr>
                <a:t>数据仓库</a:t>
              </a:r>
              <a:endParaRPr lang="zh-CN" altLang="en-US" sz="1600" dirty="0">
                <a:latin typeface="宋体" panose="02010600030101010101" pitchFamily="2" charset="-122"/>
                <a:ea typeface="宋体" panose="02010600030101010101" pitchFamily="2" charset="-122"/>
              </a:endParaRPr>
            </a:p>
          </p:txBody>
        </p:sp>
        <p:sp>
          <p:nvSpPr>
            <p:cNvPr id="92177" name="Line 17"/>
            <p:cNvSpPr/>
            <p:nvPr/>
          </p:nvSpPr>
          <p:spPr>
            <a:xfrm>
              <a:off x="7777163" y="935037"/>
              <a:ext cx="0" cy="720725"/>
            </a:xfrm>
            <a:prstGeom prst="line">
              <a:avLst/>
            </a:prstGeom>
            <a:ln w="38100" cap="flat" cmpd="sng">
              <a:solidFill>
                <a:srgbClr val="CC0000"/>
              </a:solidFill>
              <a:prstDash val="solid"/>
              <a:round/>
              <a:headEnd type="none" w="med" len="med"/>
              <a:tailEnd type="none" w="med" len="med"/>
            </a:ln>
          </p:spPr>
        </p:sp>
        <p:sp>
          <p:nvSpPr>
            <p:cNvPr id="92178" name="Rectangle 18"/>
            <p:cNvSpPr/>
            <p:nvPr/>
          </p:nvSpPr>
          <p:spPr>
            <a:xfrm>
              <a:off x="7562396" y="287337"/>
              <a:ext cx="792163" cy="647700"/>
            </a:xfrm>
            <a:prstGeom prst="rect">
              <a:avLst/>
            </a:prstGeom>
            <a:solidFill>
              <a:srgbClr val="F8D2CE"/>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  </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92179" name="Oval 19"/>
            <p:cNvSpPr/>
            <p:nvPr/>
          </p:nvSpPr>
          <p:spPr>
            <a:xfrm>
              <a:off x="7200900" y="1584325"/>
              <a:ext cx="1152525" cy="792162"/>
            </a:xfrm>
            <a:prstGeom prst="ellipse">
              <a:avLst/>
            </a:prstGeom>
            <a:solidFill>
              <a:srgbClr val="CCFFFF"/>
            </a:solidFill>
            <a:ln w="9525" cap="flat" cmpd="sng">
              <a:solidFill>
                <a:schemeClr val="tx1"/>
              </a:solidFill>
              <a:prstDash val="solid"/>
              <a:round/>
              <a:headEnd type="none" w="med" len="med"/>
              <a:tailEnd type="none" w="med" len="med"/>
            </a:ln>
          </p:spPr>
          <p:txBody>
            <a:bodyPr wrap="none" anchor="ctr"/>
            <a:lstStyle/>
            <a:p>
              <a:pPr lvl="0" indent="0" algn="ctr"/>
              <a:endParaRPr lang="zh-CN" altLang="en-US" sz="1600" dirty="0">
                <a:latin typeface="宋体" panose="02010600030101010101" pitchFamily="2" charset="-122"/>
                <a:ea typeface="宋体" panose="02010600030101010101" pitchFamily="2" charset="-122"/>
              </a:endParaRPr>
            </a:p>
          </p:txBody>
        </p:sp>
        <p:sp>
          <p:nvSpPr>
            <p:cNvPr id="92180" name="Text Box 20"/>
            <p:cNvSpPr txBox="1"/>
            <p:nvPr/>
          </p:nvSpPr>
          <p:spPr>
            <a:xfrm>
              <a:off x="6626225" y="1727200"/>
              <a:ext cx="576263" cy="424732"/>
            </a:xfrm>
            <a:prstGeom prst="rect">
              <a:avLst/>
            </a:prstGeom>
            <a:noFill/>
            <a:ln w="9525">
              <a:noFill/>
            </a:ln>
          </p:spPr>
          <p:txBody>
            <a:bodyPr anchor="t">
              <a:spAutoFit/>
            </a:bodyPr>
            <a:lstStyle/>
            <a:p>
              <a:pPr lvl="0" indent="0">
                <a:spcBef>
                  <a:spcPct val="50000"/>
                </a:spcBef>
                <a:buNone/>
              </a:pPr>
              <a:r>
                <a:rPr lang="zh-CN" altLang="en-US" sz="1600" dirty="0">
                  <a:latin typeface="宋体" panose="02010600030101010101" pitchFamily="2" charset="-122"/>
                  <a:ea typeface="宋体" panose="02010600030101010101" pitchFamily="2" charset="-122"/>
                </a:rPr>
                <a:t>…</a:t>
              </a:r>
              <a:endParaRPr lang="zh-CN" altLang="en-US" sz="1600" dirty="0">
                <a:latin typeface="宋体" panose="02010600030101010101" pitchFamily="2" charset="-122"/>
                <a:ea typeface="宋体" panose="02010600030101010101" pitchFamily="2" charset="-122"/>
              </a:endParaRPr>
            </a:p>
          </p:txBody>
        </p:sp>
        <p:sp>
          <p:nvSpPr>
            <p:cNvPr id="92181" name="Text Box 21"/>
            <p:cNvSpPr txBox="1"/>
            <p:nvPr/>
          </p:nvSpPr>
          <p:spPr>
            <a:xfrm>
              <a:off x="6769100" y="215900"/>
              <a:ext cx="576263" cy="424732"/>
            </a:xfrm>
            <a:prstGeom prst="rect">
              <a:avLst/>
            </a:prstGeom>
            <a:noFill/>
            <a:ln w="9525">
              <a:noFill/>
            </a:ln>
          </p:spPr>
          <p:txBody>
            <a:bodyPr anchor="t">
              <a:spAutoFit/>
            </a:bodyPr>
            <a:lstStyle/>
            <a:p>
              <a:pPr lvl="0" indent="0">
                <a:spcBef>
                  <a:spcPct val="50000"/>
                </a:spcBef>
                <a:buNone/>
              </a:pPr>
              <a:r>
                <a:rPr lang="zh-CN" altLang="en-US" sz="1600" dirty="0">
                  <a:latin typeface="宋体" panose="02010600030101010101" pitchFamily="2" charset="-122"/>
                  <a:ea typeface="宋体" panose="02010600030101010101" pitchFamily="2" charset="-122"/>
                </a:rPr>
                <a:t>…</a:t>
              </a:r>
              <a:endParaRPr lang="zh-CN" altLang="en-US" sz="1600" dirty="0">
                <a:latin typeface="宋体" panose="02010600030101010101" pitchFamily="2" charset="-122"/>
                <a:ea typeface="宋体" panose="02010600030101010101" pitchFamily="2" charset="-122"/>
              </a:endParaRPr>
            </a:p>
          </p:txBody>
        </p:sp>
        <p:sp>
          <p:nvSpPr>
            <p:cNvPr id="92182" name="Line 22"/>
            <p:cNvSpPr/>
            <p:nvPr/>
          </p:nvSpPr>
          <p:spPr>
            <a:xfrm>
              <a:off x="5834063" y="1152525"/>
              <a:ext cx="0" cy="431800"/>
            </a:xfrm>
            <a:prstGeom prst="line">
              <a:avLst/>
            </a:prstGeom>
            <a:ln w="38100" cap="flat" cmpd="sng">
              <a:solidFill>
                <a:srgbClr val="CC0000"/>
              </a:solidFill>
              <a:prstDash val="solid"/>
              <a:round/>
              <a:headEnd type="none" w="med" len="med"/>
              <a:tailEnd type="none" w="med" len="med"/>
            </a:ln>
          </p:spPr>
        </p:sp>
      </p:grpSp>
      <p:sp>
        <p:nvSpPr>
          <p:cNvPr id="92183" name="Rectangle 2"/>
          <p:cNvSpPr/>
          <p:nvPr/>
        </p:nvSpPr>
        <p:spPr>
          <a:xfrm>
            <a:off x="541338" y="869950"/>
            <a:ext cx="8229600" cy="692150"/>
          </a:xfrm>
          <a:prstGeom prst="rect">
            <a:avLst/>
          </a:prstGeom>
          <a:noFill/>
          <a:ln w="9525">
            <a:noFill/>
          </a:ln>
        </p:spPr>
        <p:txBody>
          <a:bodyPr anchor="ctr"/>
          <a:lstStyle/>
          <a:p>
            <a:pPr lvl="0" indent="0">
              <a:lnSpc>
                <a:spcPct val="100000"/>
              </a:lnSpc>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 数据管理的发展概述</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92184" name="Rectangle 4"/>
          <p:cNvSpPr txBox="1"/>
          <p:nvPr/>
        </p:nvSpPr>
        <p:spPr>
          <a:xfrm>
            <a:off x="615950" y="2403475"/>
            <a:ext cx="8185150" cy="595313"/>
          </a:xfrm>
          <a:prstGeom prst="rect">
            <a:avLst/>
          </a:prstGeom>
          <a:noFill/>
          <a:ln w="9525">
            <a:noFill/>
          </a:ln>
        </p:spPr>
        <p:txBody>
          <a:bodyPr anchor="t"/>
          <a:lstStyle/>
          <a:p>
            <a:pPr lvl="0" indent="0">
              <a:lnSpc>
                <a:spcPct val="150000"/>
              </a:lnSpc>
              <a:buClr>
                <a:srgbClr val="0033CC"/>
              </a:buClr>
              <a:buSzPct val="150000"/>
              <a:buFont typeface="Wingdings" panose="05000000000000000000" pitchFamily="2" charset="2"/>
              <a:buChar char="u"/>
            </a:pPr>
            <a:r>
              <a:rPr lang="zh-CN" altLang="en-US" sz="2400" dirty="0">
                <a:latin typeface="Arial" panose="020B0604020202020204" pitchFamily="34" charset="0"/>
                <a:ea typeface="宋体" panose="02010600030101010101" pitchFamily="2" charset="-122"/>
              </a:rPr>
              <a:t>数据管理模式：</a:t>
            </a:r>
            <a:r>
              <a:rPr lang="zh-CN" altLang="en-US" sz="2400" u="sng" dirty="0">
                <a:solidFill>
                  <a:srgbClr val="FF0000"/>
                </a:solidFill>
                <a:latin typeface="Arial" panose="020B0604020202020204" pitchFamily="34" charset="0"/>
                <a:ea typeface="宋体" panose="02010600030101010101" pitchFamily="2" charset="-122"/>
              </a:rPr>
              <a:t>人工管理</a:t>
            </a:r>
            <a:r>
              <a:rPr lang="zh-CN" altLang="en-US" sz="2400" dirty="0">
                <a:latin typeface="Arial" panose="020B0604020202020204" pitchFamily="34" charset="0"/>
                <a:ea typeface="宋体" panose="02010600030101010101" pitchFamily="2" charset="-122"/>
              </a:rPr>
              <a:t>      </a:t>
            </a:r>
            <a:r>
              <a:rPr lang="zh-CN" altLang="en-US" sz="2400" u="sng" dirty="0">
                <a:solidFill>
                  <a:srgbClr val="FF0000"/>
                </a:solidFill>
                <a:latin typeface="Arial" panose="020B0604020202020204" pitchFamily="34" charset="0"/>
                <a:ea typeface="宋体" panose="02010600030101010101" pitchFamily="2" charset="-122"/>
              </a:rPr>
              <a:t>文件管理</a:t>
            </a:r>
            <a:r>
              <a:rPr lang="zh-CN" altLang="en-US" sz="2400" dirty="0">
                <a:latin typeface="Arial" panose="020B0604020202020204" pitchFamily="34" charset="0"/>
                <a:ea typeface="宋体" panose="02010600030101010101" pitchFamily="2" charset="-122"/>
              </a:rPr>
              <a:t>      </a:t>
            </a:r>
            <a:r>
              <a:rPr lang="zh-CN" altLang="en-US" sz="2400" u="sng" dirty="0">
                <a:solidFill>
                  <a:srgbClr val="FF0000"/>
                </a:solidFill>
                <a:latin typeface="Arial" panose="020B0604020202020204" pitchFamily="34" charset="0"/>
                <a:ea typeface="宋体" panose="02010600030101010101" pitchFamily="2" charset="-122"/>
              </a:rPr>
              <a:t>数据库管理</a:t>
            </a:r>
            <a:endParaRPr lang="zh-CN" altLang="en-US" sz="2400" u="sng" dirty="0">
              <a:solidFill>
                <a:srgbClr val="FF0000"/>
              </a:solidFill>
              <a:latin typeface="Arial" panose="020B0604020202020204" pitchFamily="34" charset="0"/>
              <a:ea typeface="宋体" panose="02010600030101010101" pitchFamily="2" charset="-122"/>
            </a:endParaRPr>
          </a:p>
        </p:txBody>
      </p:sp>
      <p:cxnSp>
        <p:nvCxnSpPr>
          <p:cNvPr id="92185" name="直接箭头连接符 26"/>
          <p:cNvCxnSpPr/>
          <p:nvPr/>
        </p:nvCxnSpPr>
        <p:spPr>
          <a:xfrm>
            <a:off x="4546600" y="2768600"/>
            <a:ext cx="469900" cy="0"/>
          </a:xfrm>
          <a:prstGeom prst="straightConnector1">
            <a:avLst/>
          </a:prstGeom>
          <a:ln w="19050" cap="flat" cmpd="sng">
            <a:solidFill>
              <a:schemeClr val="accent2">
                <a:alpha val="87000"/>
              </a:schemeClr>
            </a:solidFill>
            <a:prstDash val="solid"/>
            <a:round/>
            <a:headEnd type="none" w="med" len="med"/>
            <a:tailEnd type="arrow" w="med" len="med"/>
          </a:ln>
        </p:spPr>
      </p:cxnSp>
      <p:cxnSp>
        <p:nvCxnSpPr>
          <p:cNvPr id="92186" name="直接箭头连接符 27"/>
          <p:cNvCxnSpPr/>
          <p:nvPr/>
        </p:nvCxnSpPr>
        <p:spPr>
          <a:xfrm>
            <a:off x="6273800" y="2755900"/>
            <a:ext cx="469900" cy="0"/>
          </a:xfrm>
          <a:prstGeom prst="straightConnector1">
            <a:avLst/>
          </a:prstGeom>
          <a:ln w="19050" cap="flat" cmpd="sng">
            <a:solidFill>
              <a:schemeClr val="accent2">
                <a:alpha val="87000"/>
              </a:schemeClr>
            </a:solidFill>
            <a:prstDash val="solid"/>
            <a:round/>
            <a:headEnd type="none" w="med" len="med"/>
            <a:tailEnd type="arrow" w="med" len="med"/>
          </a:ln>
        </p:spPr>
      </p:cxn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3185" name="Object 15"/>
          <p:cNvGraphicFramePr/>
          <p:nvPr/>
        </p:nvGraphicFramePr>
        <p:xfrm>
          <a:off x="2789238" y="1828800"/>
          <a:ext cx="6056312" cy="3995738"/>
        </p:xfrm>
        <a:graphic>
          <a:graphicData uri="http://schemas.openxmlformats.org/presentationml/2006/ole">
            <mc:AlternateContent xmlns:mc="http://schemas.openxmlformats.org/markup-compatibility/2006">
              <mc:Choice xmlns:v="urn:schemas-microsoft-com:vml" Requires="v">
                <p:oleObj spid="_x0000_s7204" name="" r:id="rId1" imgW="10372725" imgH="7105650" progId="Word.Picture.8">
                  <p:embed/>
                </p:oleObj>
              </mc:Choice>
              <mc:Fallback>
                <p:oleObj name="" r:id="rId1" imgW="10372725" imgH="7105650" progId="Word.Picture.8">
                  <p:embed/>
                  <p:pic>
                    <p:nvPicPr>
                      <p:cNvPr id="0" name="图片 7168" descr="image33"/>
                      <p:cNvPicPr/>
                      <p:nvPr/>
                    </p:nvPicPr>
                    <p:blipFill>
                      <a:blip r:embed="rId2"/>
                      <a:stretch>
                        <a:fillRect/>
                      </a:stretch>
                    </p:blipFill>
                    <p:spPr>
                      <a:xfrm>
                        <a:off x="2789238" y="1828800"/>
                        <a:ext cx="6056312" cy="3995738"/>
                      </a:xfrm>
                      <a:prstGeom prst="rect">
                        <a:avLst/>
                      </a:prstGeom>
                      <a:noFill/>
                      <a:ln w="38100">
                        <a:noFill/>
                      </a:ln>
                    </p:spPr>
                  </p:pic>
                </p:oleObj>
              </mc:Fallback>
            </mc:AlternateContent>
          </a:graphicData>
        </a:graphic>
      </p:graphicFrame>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93187" name="Rectangle 2"/>
          <p:cNvSpPr/>
          <p:nvPr/>
        </p:nvSpPr>
        <p:spPr>
          <a:xfrm>
            <a:off x="541655" y="948055"/>
            <a:ext cx="8452485"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1. </a:t>
            </a:r>
            <a:r>
              <a:rPr lang="zh-CN" altLang="en-US" sz="2800" dirty="0">
                <a:solidFill>
                  <a:srgbClr val="3333CC"/>
                </a:solidFill>
                <a:latin typeface="Arial" panose="020B0604020202020204" pitchFamily="34" charset="0"/>
                <a:ea typeface="黑体" panose="02010609060101010101" pitchFamily="1" charset="-122"/>
              </a:rPr>
              <a:t>史前时代</a:t>
            </a:r>
            <a:r>
              <a:rPr lang="en-US" altLang="zh-CN" sz="2500" dirty="0">
                <a:solidFill>
                  <a:srgbClr val="3333CC"/>
                </a:solidFill>
                <a:latin typeface="Arial" panose="020B0604020202020204" pitchFamily="34" charset="0"/>
                <a:ea typeface="黑体" panose="02010609060101010101" pitchFamily="1" charset="-122"/>
              </a:rPr>
              <a:t>—</a:t>
            </a:r>
            <a:r>
              <a:rPr lang="zh-CN" altLang="en-US" sz="2500" dirty="0">
                <a:solidFill>
                  <a:srgbClr val="3333CC"/>
                </a:solidFill>
                <a:latin typeface="Arial" panose="020B0604020202020204" pitchFamily="34" charset="0"/>
                <a:ea typeface="黑体" panose="02010609060101010101" pitchFamily="1" charset="-122"/>
              </a:rPr>
              <a:t>文件系统</a:t>
            </a:r>
            <a:r>
              <a:rPr lang="zh-CN" altLang="en-US" sz="2400" dirty="0">
                <a:solidFill>
                  <a:srgbClr val="FF0000"/>
                </a:solidFill>
                <a:latin typeface="Arial" panose="020B0604020202020204" pitchFamily="34" charset="0"/>
                <a:ea typeface="黑体" panose="02010609060101010101" pitchFamily="1" charset="-122"/>
              </a:rPr>
              <a:t>（</a:t>
            </a:r>
            <a:r>
              <a:rPr lang="en-US" altLang="x-none" sz="2400" dirty="0">
                <a:solidFill>
                  <a:srgbClr val="FF0000"/>
                </a:solidFill>
                <a:latin typeface="Arial" panose="020B0604020202020204" pitchFamily="34" charset="0"/>
                <a:ea typeface="黑体" panose="02010609060101010101" pitchFamily="1" charset="-122"/>
              </a:rPr>
              <a:t>20</a:t>
            </a:r>
            <a:r>
              <a:rPr lang="zh-CN" altLang="en-US" sz="2400" dirty="0">
                <a:solidFill>
                  <a:srgbClr val="FF0000"/>
                </a:solidFill>
                <a:latin typeface="Arial" panose="020B0604020202020204" pitchFamily="34" charset="0"/>
                <a:ea typeface="黑体" panose="02010609060101010101" pitchFamily="1" charset="-122"/>
              </a:rPr>
              <a:t>世纪</a:t>
            </a:r>
            <a:r>
              <a:rPr lang="en-US" altLang="x-none" sz="2400" dirty="0">
                <a:solidFill>
                  <a:srgbClr val="FF0000"/>
                </a:solidFill>
                <a:latin typeface="Arial" panose="020B0604020202020204" pitchFamily="34" charset="0"/>
                <a:ea typeface="黑体" panose="02010609060101010101" pitchFamily="1" charset="-122"/>
              </a:rPr>
              <a:t>50</a:t>
            </a:r>
            <a:r>
              <a:rPr lang="zh-CN" altLang="en-US" sz="2400" dirty="0">
                <a:solidFill>
                  <a:srgbClr val="FF0000"/>
                </a:solidFill>
                <a:latin typeface="Arial" panose="020B0604020202020204" pitchFamily="34" charset="0"/>
                <a:ea typeface="黑体" panose="02010609060101010101" pitchFamily="1" charset="-122"/>
              </a:rPr>
              <a:t>年代中期至</a:t>
            </a:r>
            <a:r>
              <a:rPr lang="en-US" altLang="x-none" sz="2400" dirty="0">
                <a:solidFill>
                  <a:srgbClr val="FF0000"/>
                </a:solidFill>
                <a:latin typeface="Arial" panose="020B0604020202020204" pitchFamily="34" charset="0"/>
                <a:ea typeface="黑体" panose="02010609060101010101" pitchFamily="1" charset="-122"/>
              </a:rPr>
              <a:t>60</a:t>
            </a:r>
            <a:r>
              <a:rPr lang="zh-CN" altLang="en-US" sz="2400" dirty="0">
                <a:solidFill>
                  <a:srgbClr val="FF0000"/>
                </a:solidFill>
                <a:latin typeface="Arial" panose="020B0604020202020204" pitchFamily="34" charset="0"/>
                <a:ea typeface="黑体" panose="02010609060101010101" pitchFamily="1" charset="-122"/>
              </a:rPr>
              <a:t>年代中期）</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93188" name="矩形 1"/>
          <p:cNvSpPr/>
          <p:nvPr/>
        </p:nvSpPr>
        <p:spPr>
          <a:xfrm>
            <a:off x="387350" y="2093913"/>
            <a:ext cx="2244725" cy="3749675"/>
          </a:xfrm>
          <a:prstGeom prst="rect">
            <a:avLst/>
          </a:prstGeom>
          <a:noFill/>
          <a:ln w="9525">
            <a:noFill/>
          </a:ln>
        </p:spPr>
        <p:txBody>
          <a:bodyPr anchor="t">
            <a:spAutoFit/>
          </a:bodyPr>
          <a:lstStyle/>
          <a:p>
            <a:pPr lvl="0" indent="0">
              <a:lnSpc>
                <a:spcPct val="120000"/>
              </a:lnSpc>
              <a:buNone/>
            </a:pPr>
            <a:r>
              <a:rPr lang="zh-CN" altLang="en-US" sz="2200" dirty="0">
                <a:latin typeface="楷体" panose="02010609060101010101" pitchFamily="1" charset="-122"/>
                <a:ea typeface="楷体" panose="02010609060101010101" pitchFamily="1" charset="-122"/>
              </a:rPr>
              <a:t>    </a:t>
            </a:r>
            <a:r>
              <a:rPr lang="zh-CN" altLang="en-US" sz="2200" u="sng" dirty="0">
                <a:solidFill>
                  <a:srgbClr val="FF0000"/>
                </a:solidFill>
                <a:latin typeface="楷体" panose="02010609060101010101" pitchFamily="1" charset="-122"/>
                <a:ea typeface="楷体" panose="02010609060101010101" pitchFamily="1" charset="-122"/>
              </a:rPr>
              <a:t>文件系统提供逻辑文件到物理文件的映射与转换</a:t>
            </a:r>
            <a:r>
              <a:rPr lang="zh-CN" altLang="en-US" sz="2200" dirty="0">
                <a:latin typeface="楷体" panose="02010609060101010101" pitchFamily="1" charset="-122"/>
                <a:ea typeface="楷体" panose="02010609060101010101" pitchFamily="1" charset="-122"/>
              </a:rPr>
              <a:t>，程序员可不再考虑具体的物理存储结构，而直接利用文件系统提供的存取方法编制程序</a:t>
            </a:r>
            <a:r>
              <a:rPr lang="zh-CN" altLang="en-US" sz="2200" dirty="0">
                <a:latin typeface="Arial" panose="020B0604020202020204" pitchFamily="34" charset="0"/>
                <a:ea typeface="宋体" panose="02010600030101010101" pitchFamily="2" charset="-122"/>
              </a:rPr>
              <a:t>。</a:t>
            </a:r>
            <a:endParaRPr lang="zh-CN" altLang="en-US" sz="2200" dirty="0">
              <a:latin typeface="Arial" panose="020B0604020202020204" pitchFamily="34" charset="0"/>
              <a:ea typeface="宋体" panose="02010600030101010101" pitchFamily="2" charset="-122"/>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8066" name="组合 6"/>
          <p:cNvGrpSpPr/>
          <p:nvPr/>
        </p:nvGrpSpPr>
        <p:grpSpPr>
          <a:xfrm>
            <a:off x="536801" y="2324100"/>
            <a:ext cx="8335508" cy="4014334"/>
            <a:chOff x="0" y="0"/>
            <a:chExt cx="8335508" cy="4014334"/>
          </a:xfrm>
        </p:grpSpPr>
        <p:sp>
          <p:nvSpPr>
            <p:cNvPr id="95234" name="Rectangle 3"/>
            <p:cNvSpPr txBox="1"/>
            <p:nvPr/>
          </p:nvSpPr>
          <p:spPr>
            <a:xfrm>
              <a:off x="0" y="0"/>
              <a:ext cx="8137525" cy="3875088"/>
            </a:xfrm>
            <a:prstGeom prst="rect">
              <a:avLst/>
            </a:prstGeom>
            <a:noFill/>
            <a:ln w="9525">
              <a:noFill/>
            </a:ln>
          </p:spPr>
          <p:txBody>
            <a:bodyPr anchor="t"/>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dirty="0">
                  <a:latin typeface="楷体" panose="02010609060101010101" pitchFamily="1" charset="-122"/>
                  <a:ea typeface="楷体" panose="02010609060101010101" pitchFamily="1" charset="-122"/>
                </a:rPr>
                <a:t>1964，美国通用电气公司Bachman et al,</a:t>
              </a:r>
              <a:r>
                <a:rPr lang="zh-CN" altLang="en-US" sz="2200" dirty="0" smtClean="0">
                  <a:latin typeface="楷体" panose="02010609060101010101" pitchFamily="1" charset="-122"/>
                  <a:ea typeface="楷体" panose="02010609060101010101" pitchFamily="1" charset="-122"/>
                </a:rPr>
                <a:t>第一</a:t>
              </a:r>
              <a:r>
                <a:rPr lang="zh-CN" altLang="en-US" sz="2200" dirty="0">
                  <a:latin typeface="楷体" panose="02010609060101010101" pitchFamily="1" charset="-122"/>
                  <a:ea typeface="楷体" panose="02010609060101010101" pitchFamily="1" charset="-122"/>
                </a:rPr>
                <a:t>个数据库</a:t>
              </a:r>
              <a:r>
                <a:rPr lang="zh-CN" altLang="en-US" sz="2200" dirty="0" smtClean="0">
                  <a:latin typeface="楷体" panose="02010609060101010101" pitchFamily="1" charset="-122"/>
                  <a:ea typeface="楷体" panose="02010609060101010101" pitchFamily="1" charset="-122"/>
                </a:rPr>
                <a:t>IDS</a:t>
              </a:r>
              <a:r>
                <a:rPr lang="zh-CN" altLang="en-US" sz="2400" dirty="0" smtClean="0"/>
                <a:t> ，</a:t>
              </a:r>
              <a:r>
                <a:rPr lang="zh-CN" altLang="en-US" sz="2200" dirty="0" smtClean="0">
                  <a:latin typeface="楷体" panose="02010609060101010101" pitchFamily="1" charset="-122"/>
                  <a:ea typeface="楷体" panose="02010609060101010101" pitchFamily="1" charset="-122"/>
                </a:rPr>
                <a:t>网状数据库</a:t>
              </a:r>
              <a:r>
                <a:rPr lang="zh-CN" altLang="en-US" sz="2200" dirty="0">
                  <a:latin typeface="楷体" panose="02010609060101010101" pitchFamily="1" charset="-122"/>
                  <a:ea typeface="楷体" panose="02010609060101010101" pitchFamily="1" charset="-122"/>
                </a:rPr>
                <a:t>，</a:t>
              </a:r>
              <a:r>
                <a:rPr lang="zh-CN" altLang="en-US" sz="2200" dirty="0" smtClean="0">
                  <a:solidFill>
                    <a:srgbClr val="FF0000"/>
                  </a:solidFill>
                  <a:latin typeface="楷体" panose="02010609060101010101" pitchFamily="1" charset="-122"/>
                  <a:ea typeface="楷体" panose="02010609060101010101" pitchFamily="1" charset="-122"/>
                </a:rPr>
                <a:t>——数据库</a:t>
              </a:r>
              <a:r>
                <a:rPr lang="zh-CN" altLang="en-US" sz="2200" dirty="0">
                  <a:solidFill>
                    <a:srgbClr val="FF0000"/>
                  </a:solidFill>
                  <a:latin typeface="楷体" panose="02010609060101010101" pitchFamily="1" charset="-122"/>
                  <a:ea typeface="楷体" panose="02010609060101010101" pitchFamily="1" charset="-122"/>
                </a:rPr>
                <a:t>界第一个图灵奖（1973）。</a:t>
              </a:r>
              <a:endParaRPr lang="zh-CN" altLang="en-US" sz="2200" dirty="0">
                <a:solidFill>
                  <a:srgbClr val="FF0000"/>
                </a:solidFill>
                <a:latin typeface="楷体" panose="02010609060101010101" pitchFamily="1" charset="-122"/>
                <a:ea typeface="楷体" panose="02010609060101010101" pitchFamily="1" charset="-122"/>
              </a:endParaRPr>
            </a:p>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dirty="0">
                  <a:latin typeface="楷体" panose="02010609060101010101" pitchFamily="1" charset="-122"/>
                  <a:ea typeface="楷体" panose="02010609060101010101" pitchFamily="1" charset="-122"/>
                </a:rPr>
                <a:t>1968，IBM, 商品化</a:t>
              </a:r>
              <a:r>
                <a:rPr lang="en-US" altLang="x-none" sz="2200" dirty="0">
                  <a:latin typeface="楷体" panose="02010609060101010101" pitchFamily="1" charset="-122"/>
                  <a:ea typeface="楷体" panose="02010609060101010101" pitchFamily="1" charset="-122"/>
                </a:rPr>
                <a:t>HDBMS</a:t>
              </a:r>
              <a:r>
                <a:rPr lang="zh-CN" altLang="en-US" sz="2200" dirty="0">
                  <a:latin typeface="楷体" panose="02010609060101010101" pitchFamily="1" charset="-122"/>
                  <a:ea typeface="楷体" panose="02010609060101010101" pitchFamily="1" charset="-122"/>
                </a:rPr>
                <a:t>产品</a:t>
              </a:r>
              <a:r>
                <a:rPr lang="en-US" altLang="x-none" sz="2200" dirty="0">
                  <a:solidFill>
                    <a:srgbClr val="FF0000"/>
                  </a:solidFill>
                  <a:latin typeface="楷体" panose="02010609060101010101" pitchFamily="1" charset="-122"/>
                  <a:ea typeface="楷体" panose="02010609060101010101" pitchFamily="1" charset="-122"/>
                </a:rPr>
                <a:t>——</a:t>
              </a:r>
              <a:r>
                <a:rPr lang="zh-CN" altLang="en-US" sz="2200" dirty="0">
                  <a:solidFill>
                    <a:srgbClr val="FF0000"/>
                  </a:solidFill>
                  <a:latin typeface="楷体" panose="02010609060101010101" pitchFamily="1" charset="-122"/>
                  <a:ea typeface="楷体" panose="02010609060101010101" pitchFamily="1" charset="-122"/>
                </a:rPr>
                <a:t>IMS</a:t>
              </a:r>
              <a:r>
                <a:rPr lang="en-US" altLang="x-none" sz="2400" b="0" dirty="0">
                  <a:latin typeface="Arial" panose="020B0604020202020204" pitchFamily="34" charset="0"/>
                  <a:ea typeface="宋体" panose="02010600030101010101" pitchFamily="2" charset="-122"/>
                </a:rPr>
                <a:t> </a:t>
              </a:r>
              <a:r>
                <a:rPr lang="en-US" altLang="x-none" sz="2400" b="0" dirty="0" smtClean="0">
                  <a:latin typeface="Arial" panose="020B0604020202020204" pitchFamily="34" charset="0"/>
                  <a:ea typeface="宋体" panose="02010600030101010101" pitchFamily="2" charset="-122"/>
                </a:rPr>
                <a:t>(Information </a:t>
              </a:r>
              <a:r>
                <a:rPr lang="en-US" altLang="x-none" sz="2400" b="0" dirty="0">
                  <a:latin typeface="Arial" panose="020B0604020202020204" pitchFamily="34" charset="0"/>
                  <a:ea typeface="宋体" panose="02010600030101010101" pitchFamily="2" charset="-122"/>
                </a:rPr>
                <a:t>Management System)</a:t>
              </a:r>
              <a:r>
                <a:rPr lang="zh-CN" altLang="en-US" sz="2200" dirty="0">
                  <a:solidFill>
                    <a:srgbClr val="FF0000"/>
                  </a:solidFill>
                  <a:latin typeface="楷体" panose="02010609060101010101" pitchFamily="1" charset="-122"/>
                  <a:ea typeface="楷体" panose="02010609060101010101" pitchFamily="1" charset="-122"/>
                </a:rPr>
                <a:t>,层次数据</a:t>
              </a:r>
              <a:endParaRPr lang="zh-CN" altLang="en-US" sz="2200" dirty="0">
                <a:solidFill>
                  <a:srgbClr val="FF0000"/>
                </a:solidFill>
                <a:latin typeface="楷体" panose="02010609060101010101" pitchFamily="1" charset="-122"/>
                <a:ea typeface="楷体" panose="02010609060101010101" pitchFamily="1" charset="-122"/>
              </a:endParaRPr>
            </a:p>
            <a:p>
              <a:pPr marL="342900" lvl="0" indent="-342900">
                <a:lnSpc>
                  <a:spcPct val="120000"/>
                </a:lnSpc>
                <a:spcBef>
                  <a:spcPts val="600"/>
                </a:spcBef>
                <a:buClr>
                  <a:srgbClr val="0033CC"/>
                </a:buClr>
                <a:buSzPct val="80000"/>
                <a:buFont typeface="Wingdings" panose="05000000000000000000" pitchFamily="2" charset="2"/>
                <a:buChar char="u"/>
              </a:pPr>
              <a:r>
                <a:rPr lang="zh-CN" altLang="en-US" sz="2200" dirty="0">
                  <a:latin typeface="楷体" panose="02010609060101010101" pitchFamily="1" charset="-122"/>
                  <a:ea typeface="楷体" panose="02010609060101010101" pitchFamily="1" charset="-122"/>
                </a:rPr>
                <a:t>1969，美国数据系统语言协会</a:t>
              </a:r>
              <a:r>
                <a:rPr lang="en-US" altLang="x-none" sz="2200" dirty="0">
                  <a:latin typeface="楷体" panose="02010609060101010101" pitchFamily="1" charset="-122"/>
                  <a:ea typeface="楷体" panose="02010609060101010101" pitchFamily="1" charset="-122"/>
                </a:rPr>
                <a:t>CODASYL</a:t>
              </a:r>
              <a:r>
                <a:rPr lang="zh-CN" altLang="en-US" sz="2200" dirty="0">
                  <a:latin typeface="楷体" panose="02010609060101010101" pitchFamily="1" charset="-122"/>
                  <a:ea typeface="楷体" panose="02010609060101010101" pitchFamily="1" charset="-122"/>
                </a:rPr>
                <a:t>下属</a:t>
              </a:r>
              <a:endParaRPr lang="en-US" altLang="x-none" sz="2200" dirty="0">
                <a:latin typeface="楷体" panose="02010609060101010101" pitchFamily="1" charset="-122"/>
                <a:ea typeface="楷体" panose="02010609060101010101" pitchFamily="1" charset="-122"/>
              </a:endParaRPr>
            </a:p>
            <a:p>
              <a:pPr marL="342900" lvl="0" indent="-342900">
                <a:lnSpc>
                  <a:spcPct val="120000"/>
                </a:lnSpc>
                <a:buClr>
                  <a:srgbClr val="0033CC"/>
                </a:buClr>
                <a:buSzPct val="80000"/>
                <a:buNone/>
              </a:pPr>
              <a:r>
                <a:rPr lang="zh-CN" altLang="en-US" sz="2200" dirty="0">
                  <a:latin typeface="楷体" panose="02010609060101010101" pitchFamily="1" charset="-122"/>
                  <a:ea typeface="楷体" panose="02010609060101010101" pitchFamily="1" charset="-122"/>
                </a:rPr>
                <a:t>   的数据库任务组DBTG</a:t>
              </a:r>
              <a:r>
                <a:rPr lang="de-DE" altLang="en-US"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发表了网状数据模型</a:t>
              </a:r>
              <a:endParaRPr lang="en-US" altLang="x-none" sz="2200" dirty="0">
                <a:latin typeface="楷体" panose="02010609060101010101" pitchFamily="1" charset="-122"/>
                <a:ea typeface="楷体" panose="02010609060101010101" pitchFamily="1" charset="-122"/>
              </a:endParaRPr>
            </a:p>
            <a:p>
              <a:pPr marL="342900" lvl="0" indent="-342900">
                <a:lnSpc>
                  <a:spcPct val="120000"/>
                </a:lnSpc>
                <a:buClr>
                  <a:srgbClr val="0033CC"/>
                </a:buClr>
                <a:buSzPct val="80000"/>
                <a:buNone/>
              </a:pPr>
              <a:r>
                <a:rPr lang="zh-CN" altLang="en-US" sz="2200" dirty="0">
                  <a:latin typeface="楷体" panose="02010609060101010101" pitchFamily="1" charset="-122"/>
                  <a:ea typeface="楷体" panose="02010609060101010101" pitchFamily="1" charset="-122"/>
                </a:rPr>
                <a:t>   的</a:t>
              </a:r>
              <a:r>
                <a:rPr lang="de-DE" altLang="en-US" sz="2200" dirty="0">
                  <a:latin typeface="楷体" panose="02010609060101010101" pitchFamily="1" charset="-122"/>
                  <a:ea typeface="楷体" panose="02010609060101010101" pitchFamily="1" charset="-122"/>
                </a:rPr>
                <a:t>DBTG</a:t>
              </a:r>
              <a:r>
                <a:rPr lang="zh-CN" altLang="en-US" sz="2200" dirty="0">
                  <a:latin typeface="楷体" panose="02010609060101010101" pitchFamily="1" charset="-122"/>
                  <a:ea typeface="楷体" panose="02010609060101010101" pitchFamily="1" charset="-122"/>
                </a:rPr>
                <a:t>报告，确定了网状数据库系统的概</a:t>
              </a:r>
              <a:endParaRPr lang="en-US" altLang="x-none" sz="2200" dirty="0">
                <a:latin typeface="楷体" panose="02010609060101010101" pitchFamily="1" charset="-122"/>
                <a:ea typeface="楷体" panose="02010609060101010101" pitchFamily="1" charset="-122"/>
              </a:endParaRPr>
            </a:p>
            <a:p>
              <a:pPr marL="342900" lvl="0" indent="-342900">
                <a:lnSpc>
                  <a:spcPct val="120000"/>
                </a:lnSpc>
                <a:buClr>
                  <a:srgbClr val="0033CC"/>
                </a:buClr>
                <a:buSzPct val="80000"/>
                <a:buNone/>
              </a:pPr>
              <a:r>
                <a:rPr lang="zh-CN" altLang="en-US" sz="2200" dirty="0">
                  <a:latin typeface="楷体" panose="02010609060101010101" pitchFamily="1" charset="-122"/>
                  <a:ea typeface="楷体" panose="02010609060101010101" pitchFamily="1" charset="-122"/>
                </a:rPr>
                <a:t>   念、方法和技术。</a:t>
              </a:r>
              <a:endParaRPr lang="zh-CN" altLang="en-US" sz="2000" dirty="0">
                <a:latin typeface="Arial" panose="020B0604020202020204" pitchFamily="34" charset="0"/>
                <a:ea typeface="宋体" panose="02010600030101010101" pitchFamily="2" charset="-122"/>
              </a:endParaRPr>
            </a:p>
            <a:p>
              <a:pPr marL="342900" lvl="0" indent="-342900">
                <a:lnSpc>
                  <a:spcPct val="100000"/>
                </a:lnSpc>
                <a:spcBef>
                  <a:spcPct val="20000"/>
                </a:spcBef>
                <a:buClr>
                  <a:srgbClr val="0033CC"/>
                </a:buClr>
                <a:buSzPct val="80000"/>
                <a:buNone/>
              </a:pPr>
              <a:r>
                <a:rPr lang="zh-CN" altLang="en-US" sz="2000" i="1" dirty="0">
                  <a:latin typeface="Arial" panose="020B0604020202020204" pitchFamily="34" charset="0"/>
                  <a:ea typeface="宋体" panose="02010600030101010101" pitchFamily="2" charset="-122"/>
                </a:rPr>
                <a:t>                 Charles W. Bachman</a:t>
              </a:r>
              <a:r>
                <a:rPr lang="zh-CN" altLang="en-US" sz="2000" dirty="0">
                  <a:latin typeface="Arial" panose="020B0604020202020204" pitchFamily="34" charset="0"/>
                  <a:ea typeface="宋体" panose="02010600030101010101" pitchFamily="2" charset="-122"/>
                </a:rPr>
                <a:t> （</a:t>
              </a:r>
              <a:r>
                <a:rPr lang="zh-CN" altLang="en-US" sz="2000" i="1" dirty="0">
                  <a:latin typeface="Arial" panose="020B0604020202020204" pitchFamily="34" charset="0"/>
                  <a:ea typeface="宋体" panose="02010600030101010101" pitchFamily="2" charset="-122"/>
                </a:rPr>
                <a:t>查理士</a:t>
              </a:r>
              <a:r>
                <a:rPr lang="en-US" altLang="x-none" sz="2000" i="1" dirty="0">
                  <a:latin typeface="Arial" panose="020B0604020202020204" pitchFamily="34" charset="0"/>
                  <a:ea typeface="宋体" panose="02010600030101010101" pitchFamily="2" charset="-122"/>
                </a:rPr>
                <a:t>·</a:t>
              </a:r>
              <a:r>
                <a:rPr lang="zh-CN" altLang="en-US" sz="2000" i="1" dirty="0">
                  <a:latin typeface="Arial" panose="020B0604020202020204" pitchFamily="34" charset="0"/>
                  <a:ea typeface="宋体" panose="02010600030101010101" pitchFamily="2" charset="-122"/>
                </a:rPr>
                <a:t>巴赫曼）</a:t>
              </a:r>
              <a:endParaRPr lang="zh-CN" altLang="en-US" sz="2000" i="1" dirty="0">
                <a:latin typeface="Arial" panose="020B0604020202020204" pitchFamily="34" charset="0"/>
                <a:ea typeface="宋体" panose="02010600030101010101" pitchFamily="2" charset="-122"/>
              </a:endParaRPr>
            </a:p>
          </p:txBody>
        </p:sp>
        <p:pic>
          <p:nvPicPr>
            <p:cNvPr id="95235" name="Picture 4" descr="bachman-TuringAward"/>
            <p:cNvPicPr>
              <a:picLocks noChangeAspect="1"/>
            </p:cNvPicPr>
            <p:nvPr/>
          </p:nvPicPr>
          <p:blipFill>
            <a:blip r:embed="rId1" cstate="print"/>
            <a:stretch>
              <a:fillRect/>
            </a:stretch>
          </p:blipFill>
          <p:spPr>
            <a:xfrm>
              <a:off x="6128883" y="1544184"/>
              <a:ext cx="2206625" cy="2470150"/>
            </a:xfrm>
            <a:prstGeom prst="rect">
              <a:avLst/>
            </a:prstGeom>
            <a:noFill/>
            <a:ln w="9525">
              <a:noFill/>
            </a:ln>
          </p:spPr>
        </p:pic>
      </p:grpSp>
      <p:sp>
        <p:nvSpPr>
          <p:cNvPr id="95237" name="Rectangle 2"/>
          <p:cNvSpPr/>
          <p:nvPr/>
        </p:nvSpPr>
        <p:spPr>
          <a:xfrm>
            <a:off x="500063" y="838200"/>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第一代数据库系统</a:t>
            </a:r>
            <a:r>
              <a:rPr lang="zh-CN" altLang="en-US" sz="2400" dirty="0">
                <a:solidFill>
                  <a:srgbClr val="FF0000"/>
                </a:solidFill>
                <a:latin typeface="Arial" panose="020B0604020202020204" pitchFamily="34" charset="0"/>
                <a:ea typeface="黑体" panose="02010609060101010101" pitchFamily="1" charset="-122"/>
              </a:rPr>
              <a:t>（</a:t>
            </a:r>
            <a:r>
              <a:rPr lang="en-US" altLang="x-none" sz="2400" dirty="0">
                <a:solidFill>
                  <a:srgbClr val="FF0000"/>
                </a:solidFill>
                <a:latin typeface="Arial" panose="020B0604020202020204" pitchFamily="34" charset="0"/>
                <a:ea typeface="黑体" panose="02010609060101010101" pitchFamily="1" charset="-122"/>
              </a:rPr>
              <a:t>20</a:t>
            </a:r>
            <a:r>
              <a:rPr lang="zh-CN" altLang="en-US" sz="2400" dirty="0">
                <a:solidFill>
                  <a:srgbClr val="FF0000"/>
                </a:solidFill>
                <a:latin typeface="Arial" panose="020B0604020202020204" pitchFamily="34" charset="0"/>
                <a:ea typeface="黑体" panose="02010609060101010101" pitchFamily="1" charset="-122"/>
              </a:rPr>
              <a:t>世纪</a:t>
            </a:r>
            <a:r>
              <a:rPr lang="en-US" altLang="x-none" sz="2400" dirty="0">
                <a:solidFill>
                  <a:srgbClr val="FF0000"/>
                </a:solidFill>
                <a:latin typeface="Arial" panose="020B0604020202020204" pitchFamily="34" charset="0"/>
                <a:ea typeface="黑体" panose="02010609060101010101" pitchFamily="1" charset="-122"/>
              </a:rPr>
              <a:t>60</a:t>
            </a:r>
            <a:r>
              <a:rPr lang="zh-CN" altLang="en-US" sz="2400" dirty="0">
                <a:solidFill>
                  <a:srgbClr val="FF0000"/>
                </a:solidFill>
                <a:latin typeface="Arial" panose="020B0604020202020204" pitchFamily="34" charset="0"/>
                <a:ea typeface="黑体" panose="02010609060101010101" pitchFamily="1" charset="-122"/>
              </a:rPr>
              <a:t>年代末开始）</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88071" name="矩形 1"/>
          <p:cNvSpPr/>
          <p:nvPr/>
        </p:nvSpPr>
        <p:spPr>
          <a:xfrm>
            <a:off x="544513" y="1479550"/>
            <a:ext cx="8164512" cy="850900"/>
          </a:xfrm>
          <a:prstGeom prst="rect">
            <a:avLst/>
          </a:prstGeom>
          <a:noFill/>
          <a:ln w="9525">
            <a:noFill/>
          </a:ln>
        </p:spPr>
        <p:txBody>
          <a:bodyPr anchor="t">
            <a:spAutoFit/>
          </a:bodyPr>
          <a:lstStyle/>
          <a:p>
            <a:pPr lvl="0" indent="0">
              <a:lnSpc>
                <a:spcPct val="120000"/>
              </a:lnSpc>
              <a:buNone/>
            </a:pPr>
            <a:r>
              <a:rPr lang="zh-CN" altLang="en-US" sz="2200" dirty="0">
                <a:latin typeface="楷体" panose="02010609060101010101" pitchFamily="1" charset="-122"/>
                <a:ea typeface="楷体" panose="02010609060101010101" pitchFamily="1" charset="-122"/>
              </a:rPr>
              <a:t>    </a:t>
            </a:r>
            <a:r>
              <a:rPr lang="zh-CN" altLang="en-US" sz="2200" dirty="0">
                <a:latin typeface="宋体" panose="02010600030101010101" pitchFamily="2" charset="-122"/>
                <a:ea typeface="宋体" panose="02010600030101010101" pitchFamily="2" charset="-122"/>
              </a:rPr>
              <a:t>第一代数据库系统，以层次数据库管理系统（</a:t>
            </a:r>
            <a:r>
              <a:rPr lang="en-US" altLang="x-none" sz="2200" dirty="0">
                <a:latin typeface="宋体" panose="02010600030101010101" pitchFamily="2" charset="-122"/>
                <a:ea typeface="宋体" panose="02010600030101010101" pitchFamily="2" charset="-122"/>
              </a:rPr>
              <a:t>HDBMS</a:t>
            </a:r>
            <a:r>
              <a:rPr lang="zh-CN" altLang="en-US" sz="2200" dirty="0">
                <a:latin typeface="宋体" panose="02010600030101010101" pitchFamily="2" charset="-122"/>
                <a:ea typeface="宋体" panose="02010600030101010101" pitchFamily="2" charset="-122"/>
              </a:rPr>
              <a:t>）和网状数据库管理系统（</a:t>
            </a:r>
            <a:r>
              <a:rPr lang="en-US" altLang="x-none" sz="2200" dirty="0">
                <a:latin typeface="宋体" panose="02010600030101010101" pitchFamily="2" charset="-122"/>
                <a:ea typeface="宋体" panose="02010600030101010101" pitchFamily="2" charset="-122"/>
              </a:rPr>
              <a:t>NDBMS</a:t>
            </a:r>
            <a:r>
              <a:rPr lang="zh-CN" altLang="en-US" sz="2200" dirty="0">
                <a:latin typeface="宋体" panose="02010600030101010101" pitchFamily="2" charset="-122"/>
                <a:ea typeface="宋体" panose="02010600030101010101" pitchFamily="2" charset="-122"/>
              </a:rPr>
              <a:t>）的出现为标志。</a:t>
            </a:r>
            <a:endParaRPr lang="zh-CN" altLang="en-US" sz="2200" dirty="0">
              <a:latin typeface="宋体" panose="02010600030101010101" pitchFamily="2" charset="-122"/>
              <a:ea typeface="宋体" panose="02010600030101010101" pitchFamily="2"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8071">
                                            <p:txEl>
                                              <p:pRg st="0" end="0"/>
                                            </p:txEl>
                                          </p:spTgt>
                                        </p:tgtEl>
                                        <p:attrNameLst>
                                          <p:attrName>style.visibility</p:attrName>
                                        </p:attrNameLst>
                                      </p:cBhvr>
                                      <p:to>
                                        <p:strVal val="visible"/>
                                      </p:to>
                                    </p:set>
                                    <p:animEffect transition="in" filter="wipe(down)">
                                      <p:cBhvr>
                                        <p:cTn id="7" dur="500"/>
                                        <p:tgtEl>
                                          <p:spTgt spid="880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8066"/>
                                        </p:tgtEl>
                                        <p:attrNameLst>
                                          <p:attrName>style.visibility</p:attrName>
                                        </p:attrNameLst>
                                      </p:cBhvr>
                                      <p:to>
                                        <p:strVal val="visible"/>
                                      </p:to>
                                    </p:set>
                                    <p:anim calcmode="lin" valueType="num">
                                      <p:cBhvr additive="base">
                                        <p:cTn id="12" dur="500" fill="hold"/>
                                        <p:tgtEl>
                                          <p:spTgt spid="88066"/>
                                        </p:tgtEl>
                                        <p:attrNameLst>
                                          <p:attrName>ppt_x</p:attrName>
                                        </p:attrNameLst>
                                      </p:cBhvr>
                                      <p:tavLst>
                                        <p:tav tm="0">
                                          <p:val>
                                            <p:strVal val="#ppt_x"/>
                                          </p:val>
                                        </p:tav>
                                        <p:tav tm="100000">
                                          <p:val>
                                            <p:strVal val="#ppt_x"/>
                                          </p:val>
                                        </p:tav>
                                      </p:tavLst>
                                    </p:anim>
                                    <p:anim calcmode="lin" valueType="num">
                                      <p:cBhvr additive="base">
                                        <p:cTn id="13" dur="500" fill="hold"/>
                                        <p:tgtEl>
                                          <p:spTgt spid="880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1" grpId="0" build="allAtOnce"/>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矩形 3"/>
          <p:cNvSpPr/>
          <p:nvPr/>
        </p:nvSpPr>
        <p:spPr>
          <a:xfrm>
            <a:off x="449263" y="1398588"/>
            <a:ext cx="7924800" cy="584835"/>
          </a:xfrm>
          <a:prstGeom prst="rect">
            <a:avLst/>
          </a:prstGeom>
          <a:noFill/>
          <a:ln w="9525">
            <a:noFill/>
          </a:ln>
        </p:spPr>
        <p:txBody>
          <a:bodyPr anchor="t">
            <a:spAutoFit/>
          </a:bodyPr>
          <a:lstStyle/>
          <a:p>
            <a:pPr lvl="0" indent="0">
              <a:buNone/>
            </a:pPr>
            <a:r>
              <a:rPr lang="en-US" altLang="zh-CN" sz="2400" dirty="0">
                <a:solidFill>
                  <a:srgbClr val="FF0000"/>
                </a:solidFill>
                <a:latin typeface="Arial" panose="020B0604020202020204" pitchFamily="34" charset="0"/>
                <a:ea typeface="宋体" panose="02010600030101010101" pitchFamily="2" charset="-122"/>
              </a:rPr>
              <a:t>    </a:t>
            </a:r>
            <a:r>
              <a:rPr lang="zh-CN" altLang="en-US" sz="2400" u="sng" dirty="0">
                <a:solidFill>
                  <a:srgbClr val="FF0000"/>
                </a:solidFill>
                <a:latin typeface="Arial" panose="020B0604020202020204" pitchFamily="34" charset="0"/>
                <a:ea typeface="宋体" panose="02010600030101010101" pitchFamily="2" charset="-122"/>
              </a:rPr>
              <a:t>层次数据模型：</a:t>
            </a:r>
            <a:r>
              <a:rPr lang="zh-CN" altLang="en-US" sz="2000" dirty="0">
                <a:latin typeface="Arial" panose="020B0604020202020204" pitchFamily="34" charset="0"/>
                <a:ea typeface="宋体" panose="02010600030101010101" pitchFamily="2" charset="-122"/>
              </a:rPr>
              <a:t>采用树形结构表示实体和实体之间的联系。</a:t>
            </a:r>
            <a:endParaRPr lang="zh-CN" altLang="en-US" sz="2000" dirty="0">
              <a:latin typeface="Arial" panose="020B0604020202020204" pitchFamily="34" charset="0"/>
              <a:ea typeface="宋体" panose="02010600030101010101" pitchFamily="2" charset="-122"/>
            </a:endParaRPr>
          </a:p>
        </p:txBody>
      </p:sp>
      <p:sp>
        <p:nvSpPr>
          <p:cNvPr id="75781" name="Rectangle 24"/>
          <p:cNvSpPr/>
          <p:nvPr/>
        </p:nvSpPr>
        <p:spPr>
          <a:xfrm>
            <a:off x="500063" y="4206875"/>
            <a:ext cx="8140700" cy="938213"/>
          </a:xfrm>
          <a:prstGeom prst="rect">
            <a:avLst/>
          </a:prstGeom>
          <a:noFill/>
          <a:ln w="9525">
            <a:noFill/>
          </a:ln>
          <a:effectLst>
            <a:prstShdw prst="shdw17" dist="17961" dir="2699999">
              <a:srgbClr val="708688"/>
            </a:prstShdw>
          </a:effectLst>
        </p:spPr>
        <p:txBody>
          <a:bodyPr anchor="ctr">
            <a:spAutoFit/>
          </a:bodyPr>
          <a:lstStyle/>
          <a:p>
            <a:pPr marL="262255" lvl="0" indent="-262255">
              <a:lnSpc>
                <a:spcPct val="125000"/>
              </a:lnSpc>
              <a:buFont typeface="Wingdings" panose="05000000000000000000" pitchFamily="2" charset="2"/>
              <a:buChar char="p"/>
            </a:pPr>
            <a:r>
              <a:rPr lang="zh-CN" altLang="en-US" sz="2400" dirty="0">
                <a:solidFill>
                  <a:srgbClr val="0033CC"/>
                </a:solidFill>
                <a:latin typeface="Arial" panose="020B0604020202020204" pitchFamily="34" charset="0"/>
                <a:ea typeface="宋体" panose="02010600030101010101" pitchFamily="2" charset="-122"/>
              </a:rPr>
              <a:t> </a:t>
            </a:r>
            <a:r>
              <a:rPr lang="zh-CN" altLang="en-US" sz="2400" u="sng" dirty="0">
                <a:solidFill>
                  <a:srgbClr val="0033CC"/>
                </a:solidFill>
                <a:latin typeface="Arial" panose="020B0604020202020204" pitchFamily="34" charset="0"/>
                <a:ea typeface="宋体" panose="02010600030101010101" pitchFamily="2" charset="-122"/>
              </a:rPr>
              <a:t>数据约束：</a:t>
            </a:r>
            <a:r>
              <a:rPr lang="zh-CN" altLang="en-US" sz="2000" dirty="0">
                <a:latin typeface="Arial" panose="020B0604020202020204" pitchFamily="34" charset="0"/>
                <a:ea typeface="宋体" panose="02010600030101010101" pitchFamily="2" charset="-122"/>
              </a:rPr>
              <a:t>有且仅有一个节点无父节点，这个节点即为树的根，其它节点有且仅有一个父节点。</a:t>
            </a:r>
            <a:endParaRPr lang="zh-CN" altLang="en-US" sz="2000" dirty="0">
              <a:latin typeface="Arial" panose="020B0604020202020204" pitchFamily="34" charset="0"/>
              <a:ea typeface="宋体" panose="02010600030101010101" pitchFamily="2" charset="-122"/>
            </a:endParaRPr>
          </a:p>
        </p:txBody>
      </p:sp>
      <p:grpSp>
        <p:nvGrpSpPr>
          <p:cNvPr id="75782" name="组合 26"/>
          <p:cNvGrpSpPr/>
          <p:nvPr/>
        </p:nvGrpSpPr>
        <p:grpSpPr>
          <a:xfrm>
            <a:off x="457200" y="2120900"/>
            <a:ext cx="8497888" cy="1798638"/>
            <a:chOff x="0" y="0"/>
            <a:chExt cx="8497888" cy="1798638"/>
          </a:xfrm>
        </p:grpSpPr>
        <p:grpSp>
          <p:nvGrpSpPr>
            <p:cNvPr id="82950" name="Group 4"/>
            <p:cNvGrpSpPr/>
            <p:nvPr/>
          </p:nvGrpSpPr>
          <p:grpSpPr>
            <a:xfrm>
              <a:off x="3257550" y="0"/>
              <a:ext cx="5240338" cy="1798638"/>
              <a:chOff x="0" y="0"/>
              <a:chExt cx="3803" cy="1318"/>
            </a:xfrm>
          </p:grpSpPr>
          <p:sp>
            <p:nvSpPr>
              <p:cNvPr id="82951" name="Rectangle 6"/>
              <p:cNvSpPr/>
              <p:nvPr/>
            </p:nvSpPr>
            <p:spPr>
              <a:xfrm>
                <a:off x="1906" y="47"/>
                <a:ext cx="652" cy="297"/>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    R1   </a:t>
                </a:r>
                <a:endParaRPr lang="en-US" altLang="x-none" dirty="0">
                  <a:latin typeface="Arial" panose="020B0604020202020204" pitchFamily="34" charset="0"/>
                  <a:ea typeface="宋体" panose="02010600030101010101" pitchFamily="2" charset="-122"/>
                </a:endParaRPr>
              </a:p>
            </p:txBody>
          </p:sp>
          <p:sp>
            <p:nvSpPr>
              <p:cNvPr id="82952" name="Rectangle 7"/>
              <p:cNvSpPr/>
              <p:nvPr/>
            </p:nvSpPr>
            <p:spPr>
              <a:xfrm>
                <a:off x="1202" y="563"/>
                <a:ext cx="666" cy="249"/>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    R11   </a:t>
                </a:r>
                <a:endParaRPr lang="en-US" altLang="x-none" dirty="0">
                  <a:latin typeface="Arial" panose="020B0604020202020204" pitchFamily="34" charset="0"/>
                  <a:ea typeface="宋体" panose="02010600030101010101" pitchFamily="2" charset="-122"/>
                </a:endParaRPr>
              </a:p>
            </p:txBody>
          </p:sp>
          <p:sp>
            <p:nvSpPr>
              <p:cNvPr id="82953" name="Rectangle 8"/>
              <p:cNvSpPr/>
              <p:nvPr/>
            </p:nvSpPr>
            <p:spPr>
              <a:xfrm>
                <a:off x="625" y="1016"/>
                <a:ext cx="607" cy="298"/>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  R21  </a:t>
                </a:r>
                <a:endParaRPr lang="en-US" altLang="x-none" dirty="0">
                  <a:latin typeface="Arial" panose="020B0604020202020204" pitchFamily="34" charset="0"/>
                  <a:ea typeface="宋体" panose="02010600030101010101" pitchFamily="2" charset="-122"/>
                </a:endParaRPr>
              </a:p>
            </p:txBody>
          </p:sp>
          <p:sp>
            <p:nvSpPr>
              <p:cNvPr id="82954" name="Rectangle 9"/>
              <p:cNvSpPr/>
              <p:nvPr/>
            </p:nvSpPr>
            <p:spPr>
              <a:xfrm>
                <a:off x="1244" y="1017"/>
                <a:ext cx="607" cy="298"/>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  R22  </a:t>
                </a:r>
                <a:endParaRPr lang="en-US" altLang="x-none" dirty="0">
                  <a:latin typeface="Arial" panose="020B0604020202020204" pitchFamily="34" charset="0"/>
                  <a:ea typeface="宋体" panose="02010600030101010101" pitchFamily="2" charset="-122"/>
                </a:endParaRPr>
              </a:p>
            </p:txBody>
          </p:sp>
          <p:sp>
            <p:nvSpPr>
              <p:cNvPr id="82955" name="Rectangle 10"/>
              <p:cNvSpPr/>
              <p:nvPr/>
            </p:nvSpPr>
            <p:spPr>
              <a:xfrm>
                <a:off x="1863" y="1020"/>
                <a:ext cx="607" cy="298"/>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  R23  </a:t>
                </a:r>
                <a:endParaRPr lang="en-US" altLang="x-none" dirty="0">
                  <a:latin typeface="Arial" panose="020B0604020202020204" pitchFamily="34" charset="0"/>
                  <a:ea typeface="宋体" panose="02010600030101010101" pitchFamily="2" charset="-122"/>
                </a:endParaRPr>
              </a:p>
            </p:txBody>
          </p:sp>
          <p:sp>
            <p:nvSpPr>
              <p:cNvPr id="82956" name="Line 11"/>
              <p:cNvSpPr/>
              <p:nvPr/>
            </p:nvSpPr>
            <p:spPr>
              <a:xfrm>
                <a:off x="2212" y="350"/>
                <a:ext cx="0" cy="103"/>
              </a:xfrm>
              <a:prstGeom prst="line">
                <a:avLst/>
              </a:prstGeom>
              <a:ln w="9525" cap="flat" cmpd="sng">
                <a:solidFill>
                  <a:schemeClr val="tx1"/>
                </a:solidFill>
                <a:prstDash val="solid"/>
                <a:round/>
                <a:headEnd type="none" w="med" len="med"/>
                <a:tailEnd type="none" w="med" len="med"/>
              </a:ln>
              <a:effectLst>
                <a:prstShdw prst="shdw17" dist="17961" dir="2699999">
                  <a:srgbClr val="000000"/>
                </a:prstShdw>
              </a:effectLst>
            </p:spPr>
          </p:sp>
          <p:sp>
            <p:nvSpPr>
              <p:cNvPr id="82957" name="Line 12"/>
              <p:cNvSpPr/>
              <p:nvPr/>
            </p:nvSpPr>
            <p:spPr>
              <a:xfrm flipH="1">
                <a:off x="1556" y="435"/>
                <a:ext cx="1348" cy="0"/>
              </a:xfrm>
              <a:prstGeom prst="line">
                <a:avLst/>
              </a:prstGeom>
              <a:ln w="9525" cap="flat" cmpd="sng">
                <a:solidFill>
                  <a:schemeClr val="tx1"/>
                </a:solidFill>
                <a:prstDash val="solid"/>
                <a:round/>
                <a:headEnd type="none" w="med" len="med"/>
                <a:tailEnd type="none" w="med" len="med"/>
              </a:ln>
              <a:effectLst>
                <a:prstShdw prst="shdw17" dist="17961" dir="2699999">
                  <a:srgbClr val="000000"/>
                </a:prstShdw>
              </a:effectLst>
            </p:spPr>
          </p:sp>
          <p:sp>
            <p:nvSpPr>
              <p:cNvPr id="82958" name="Line 13"/>
              <p:cNvSpPr/>
              <p:nvPr/>
            </p:nvSpPr>
            <p:spPr>
              <a:xfrm>
                <a:off x="1563" y="452"/>
                <a:ext cx="0" cy="102"/>
              </a:xfrm>
              <a:prstGeom prst="line">
                <a:avLst/>
              </a:prstGeom>
              <a:ln w="9525" cap="flat" cmpd="sng">
                <a:solidFill>
                  <a:schemeClr val="tx1"/>
                </a:solidFill>
                <a:prstDash val="solid"/>
                <a:round/>
                <a:headEnd type="none" w="med" len="med"/>
                <a:tailEnd type="triangle" w="med" len="med"/>
              </a:ln>
              <a:effectLst>
                <a:prstShdw prst="shdw17" dist="17961" dir="2699999">
                  <a:srgbClr val="000000"/>
                </a:prstShdw>
              </a:effectLst>
            </p:spPr>
          </p:sp>
          <p:sp>
            <p:nvSpPr>
              <p:cNvPr id="82959" name="Line 14"/>
              <p:cNvSpPr/>
              <p:nvPr/>
            </p:nvSpPr>
            <p:spPr>
              <a:xfrm>
                <a:off x="2925" y="444"/>
                <a:ext cx="0" cy="102"/>
              </a:xfrm>
              <a:prstGeom prst="line">
                <a:avLst/>
              </a:prstGeom>
              <a:ln w="9525" cap="flat" cmpd="sng">
                <a:solidFill>
                  <a:schemeClr val="tx1"/>
                </a:solidFill>
                <a:prstDash val="solid"/>
                <a:round/>
                <a:headEnd type="none" w="med" len="med"/>
                <a:tailEnd type="triangle" w="med" len="med"/>
              </a:ln>
              <a:effectLst>
                <a:prstShdw prst="shdw17" dist="17961" dir="2699999">
                  <a:srgbClr val="000000"/>
                </a:prstShdw>
              </a:effectLst>
            </p:spPr>
          </p:sp>
          <p:sp>
            <p:nvSpPr>
              <p:cNvPr id="82960" name="Line 15"/>
              <p:cNvSpPr/>
              <p:nvPr/>
            </p:nvSpPr>
            <p:spPr>
              <a:xfrm>
                <a:off x="1535" y="826"/>
                <a:ext cx="0" cy="205"/>
              </a:xfrm>
              <a:prstGeom prst="line">
                <a:avLst/>
              </a:prstGeom>
              <a:ln w="9525" cap="flat" cmpd="sng">
                <a:solidFill>
                  <a:schemeClr val="tx1"/>
                </a:solidFill>
                <a:prstDash val="solid"/>
                <a:round/>
                <a:headEnd type="none" w="med" len="med"/>
                <a:tailEnd type="triangle" w="med" len="med"/>
              </a:ln>
              <a:effectLst>
                <a:prstShdw prst="shdw17" dist="17961" dir="2699999">
                  <a:srgbClr val="000000"/>
                </a:prstShdw>
              </a:effectLst>
            </p:spPr>
          </p:sp>
          <p:sp>
            <p:nvSpPr>
              <p:cNvPr id="82961" name="Line 16"/>
              <p:cNvSpPr/>
              <p:nvPr/>
            </p:nvSpPr>
            <p:spPr>
              <a:xfrm flipH="1">
                <a:off x="837" y="919"/>
                <a:ext cx="1347" cy="0"/>
              </a:xfrm>
              <a:prstGeom prst="line">
                <a:avLst/>
              </a:prstGeom>
              <a:ln w="9525" cap="flat" cmpd="sng">
                <a:solidFill>
                  <a:schemeClr val="tx1"/>
                </a:solidFill>
                <a:prstDash val="solid"/>
                <a:round/>
                <a:headEnd type="none" w="med" len="med"/>
                <a:tailEnd type="none" w="med" len="med"/>
              </a:ln>
              <a:effectLst>
                <a:prstShdw prst="shdw17" dist="17961" dir="2699999">
                  <a:srgbClr val="000000"/>
                </a:prstShdw>
              </a:effectLst>
            </p:spPr>
          </p:sp>
          <p:sp>
            <p:nvSpPr>
              <p:cNvPr id="82962" name="Line 17"/>
              <p:cNvSpPr/>
              <p:nvPr/>
            </p:nvSpPr>
            <p:spPr>
              <a:xfrm>
                <a:off x="825" y="928"/>
                <a:ext cx="0" cy="103"/>
              </a:xfrm>
              <a:prstGeom prst="line">
                <a:avLst/>
              </a:prstGeom>
              <a:ln w="9525" cap="flat" cmpd="sng">
                <a:solidFill>
                  <a:schemeClr val="tx1"/>
                </a:solidFill>
                <a:prstDash val="solid"/>
                <a:round/>
                <a:headEnd type="none" w="med" len="med"/>
                <a:tailEnd type="triangle" w="med" len="med"/>
              </a:ln>
              <a:effectLst>
                <a:prstShdw prst="shdw17" dist="17961" dir="2699999">
                  <a:srgbClr val="000000"/>
                </a:prstShdw>
              </a:effectLst>
            </p:spPr>
          </p:sp>
          <p:sp>
            <p:nvSpPr>
              <p:cNvPr id="82963" name="Line 18"/>
              <p:cNvSpPr/>
              <p:nvPr/>
            </p:nvSpPr>
            <p:spPr>
              <a:xfrm>
                <a:off x="2185" y="920"/>
                <a:ext cx="0" cy="103"/>
              </a:xfrm>
              <a:prstGeom prst="line">
                <a:avLst/>
              </a:prstGeom>
              <a:ln w="9525" cap="flat" cmpd="sng">
                <a:solidFill>
                  <a:schemeClr val="tx1"/>
                </a:solidFill>
                <a:prstDash val="solid"/>
                <a:round/>
                <a:headEnd type="none" w="med" len="med"/>
                <a:tailEnd type="triangle" w="med" len="med"/>
              </a:ln>
              <a:effectLst>
                <a:prstShdw prst="shdw17" dist="17961" dir="2699999">
                  <a:srgbClr val="000000"/>
                </a:prstShdw>
              </a:effectLst>
            </p:spPr>
          </p:sp>
          <p:sp>
            <p:nvSpPr>
              <p:cNvPr id="82964" name="Rectangle 19"/>
              <p:cNvSpPr/>
              <p:nvPr/>
            </p:nvSpPr>
            <p:spPr>
              <a:xfrm>
                <a:off x="2542" y="545"/>
                <a:ext cx="666" cy="249"/>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    R12   </a:t>
                </a:r>
                <a:endParaRPr lang="en-US" altLang="x-none" dirty="0">
                  <a:latin typeface="Arial" panose="020B0604020202020204" pitchFamily="34" charset="0"/>
                  <a:ea typeface="宋体" panose="02010600030101010101" pitchFamily="2" charset="-122"/>
                </a:endParaRPr>
              </a:p>
            </p:txBody>
          </p:sp>
          <p:sp>
            <p:nvSpPr>
              <p:cNvPr id="82965" name="Rectangle 20"/>
              <p:cNvSpPr/>
              <p:nvPr/>
            </p:nvSpPr>
            <p:spPr>
              <a:xfrm>
                <a:off x="0" y="1016"/>
                <a:ext cx="709" cy="292"/>
              </a:xfrm>
              <a:prstGeom prst="rect">
                <a:avLst/>
              </a:prstGeom>
              <a:noFill/>
              <a:ln w="9525">
                <a:noFill/>
              </a:ln>
              <a:effectLst>
                <a:prstShdw prst="shdw17" dist="17961" dir="2699999">
                  <a:srgbClr val="708688"/>
                </a:prstShdw>
              </a:effectLst>
            </p:spPr>
            <p:txBody>
              <a:bodyPr anchor="ctr">
                <a:spAutoFit/>
              </a:bodyPr>
              <a:lstStyle/>
              <a:p>
                <a:pPr marL="262255" lvl="0" indent="-262255" algn="ctr">
                  <a:buFont typeface="Wingdings" panose="05000000000000000000" pitchFamily="2" charset="2"/>
                  <a:buNone/>
                </a:pPr>
                <a:r>
                  <a:rPr lang="zh-CN" altLang="en-US" dirty="0">
                    <a:latin typeface="Arial" panose="020B0604020202020204" pitchFamily="34" charset="0"/>
                    <a:ea typeface="宋体" panose="02010600030101010101" pitchFamily="2" charset="-122"/>
                  </a:rPr>
                  <a:t>子节点</a:t>
                </a:r>
                <a:endParaRPr lang="zh-CN" altLang="en-US" dirty="0">
                  <a:latin typeface="Arial" panose="020B0604020202020204" pitchFamily="34" charset="0"/>
                  <a:ea typeface="宋体" panose="02010600030101010101" pitchFamily="2" charset="-122"/>
                </a:endParaRPr>
              </a:p>
            </p:txBody>
          </p:sp>
          <p:sp>
            <p:nvSpPr>
              <p:cNvPr id="82966" name="Rectangle 21"/>
              <p:cNvSpPr/>
              <p:nvPr/>
            </p:nvSpPr>
            <p:spPr>
              <a:xfrm>
                <a:off x="2502" y="0"/>
                <a:ext cx="792" cy="292"/>
              </a:xfrm>
              <a:prstGeom prst="rect">
                <a:avLst/>
              </a:prstGeom>
              <a:noFill/>
              <a:ln w="9525">
                <a:noFill/>
              </a:ln>
              <a:effectLst>
                <a:prstShdw prst="shdw17" dist="17961" dir="2699999">
                  <a:srgbClr val="708688"/>
                </a:prstShdw>
              </a:effectLst>
            </p:spPr>
            <p:txBody>
              <a:bodyPr anchor="ctr">
                <a:spAutoFit/>
              </a:bodyPr>
              <a:lstStyle/>
              <a:p>
                <a:pPr marL="262255" lvl="0" indent="-262255" algn="ctr">
                  <a:buFont typeface="Wingdings" panose="05000000000000000000" pitchFamily="2" charset="2"/>
                  <a:buNone/>
                </a:pPr>
                <a:r>
                  <a:rPr lang="zh-CN" altLang="en-US" dirty="0">
                    <a:latin typeface="Arial" panose="020B0604020202020204" pitchFamily="34" charset="0"/>
                    <a:ea typeface="宋体" panose="02010600030101010101" pitchFamily="2" charset="-122"/>
                  </a:rPr>
                  <a:t>根节点</a:t>
                </a:r>
                <a:endParaRPr lang="zh-CN" altLang="en-US" dirty="0">
                  <a:latin typeface="Arial" panose="020B0604020202020204" pitchFamily="34" charset="0"/>
                  <a:ea typeface="宋体" panose="02010600030101010101" pitchFamily="2" charset="-122"/>
                </a:endParaRPr>
              </a:p>
            </p:txBody>
          </p:sp>
          <p:sp>
            <p:nvSpPr>
              <p:cNvPr id="82967" name="Rectangle 22"/>
              <p:cNvSpPr/>
              <p:nvPr/>
            </p:nvSpPr>
            <p:spPr>
              <a:xfrm>
                <a:off x="3164" y="483"/>
                <a:ext cx="639" cy="292"/>
              </a:xfrm>
              <a:prstGeom prst="rect">
                <a:avLst/>
              </a:prstGeom>
              <a:noFill/>
              <a:ln w="9525">
                <a:noFill/>
              </a:ln>
              <a:effectLst>
                <a:prstShdw prst="shdw17" dist="17961" dir="2699999">
                  <a:srgbClr val="708688"/>
                </a:prstShdw>
              </a:effectLst>
            </p:spPr>
            <p:txBody>
              <a:bodyPr anchor="ctr">
                <a:spAutoFit/>
              </a:bodyPr>
              <a:lstStyle/>
              <a:p>
                <a:pPr marL="262255" lvl="0" indent="-262255" algn="ctr">
                  <a:buFont typeface="Wingdings" panose="05000000000000000000" pitchFamily="2" charset="2"/>
                  <a:buNone/>
                </a:pPr>
                <a:r>
                  <a:rPr lang="zh-CN" altLang="en-US" dirty="0">
                    <a:latin typeface="Arial" panose="020B0604020202020204" pitchFamily="34" charset="0"/>
                    <a:ea typeface="宋体" panose="02010600030101010101" pitchFamily="2" charset="-122"/>
                  </a:rPr>
                  <a:t>叶节点</a:t>
                </a:r>
                <a:endParaRPr lang="zh-CN" altLang="en-US" dirty="0">
                  <a:latin typeface="Arial" panose="020B0604020202020204" pitchFamily="34" charset="0"/>
                  <a:ea typeface="宋体" panose="02010600030101010101" pitchFamily="2" charset="-122"/>
                </a:endParaRPr>
              </a:p>
            </p:txBody>
          </p:sp>
          <p:sp>
            <p:nvSpPr>
              <p:cNvPr id="82968" name="Rectangle 23"/>
              <p:cNvSpPr/>
              <p:nvPr/>
            </p:nvSpPr>
            <p:spPr>
              <a:xfrm>
                <a:off x="632" y="504"/>
                <a:ext cx="587" cy="292"/>
              </a:xfrm>
              <a:prstGeom prst="rect">
                <a:avLst/>
              </a:prstGeom>
              <a:noFill/>
              <a:ln w="9525">
                <a:noFill/>
              </a:ln>
              <a:effectLst>
                <a:prstShdw prst="shdw17" dist="17961" dir="2699999">
                  <a:srgbClr val="708688"/>
                </a:prstShdw>
              </a:effectLst>
            </p:spPr>
            <p:txBody>
              <a:bodyPr lIns="0" rIns="0" anchor="ctr">
                <a:spAutoFit/>
              </a:bodyPr>
              <a:lstStyle/>
              <a:p>
                <a:pPr marL="262255" lvl="0" indent="-262255" algn="ctr">
                  <a:buFont typeface="Wingdings" panose="05000000000000000000" pitchFamily="2" charset="2"/>
                  <a:buNone/>
                </a:pPr>
                <a:r>
                  <a:rPr lang="zh-CN" altLang="en-US" dirty="0">
                    <a:latin typeface="Arial" panose="020B0604020202020204" pitchFamily="34" charset="0"/>
                    <a:ea typeface="宋体" panose="02010600030101010101" pitchFamily="2" charset="-122"/>
                  </a:rPr>
                  <a:t>父节点</a:t>
                </a:r>
                <a:endParaRPr lang="zh-CN" altLang="en-US" dirty="0">
                  <a:latin typeface="Arial" panose="020B0604020202020204" pitchFamily="34" charset="0"/>
                  <a:ea typeface="宋体" panose="02010600030101010101" pitchFamily="2" charset="-122"/>
                </a:endParaRPr>
              </a:p>
            </p:txBody>
          </p:sp>
        </p:grpSp>
        <p:sp>
          <p:nvSpPr>
            <p:cNvPr id="82969" name="Rectangle 24"/>
            <p:cNvSpPr/>
            <p:nvPr/>
          </p:nvSpPr>
          <p:spPr>
            <a:xfrm>
              <a:off x="0" y="1588"/>
              <a:ext cx="3992563" cy="1708150"/>
            </a:xfrm>
            <a:prstGeom prst="rect">
              <a:avLst/>
            </a:prstGeom>
            <a:noFill/>
            <a:ln w="9525">
              <a:noFill/>
            </a:ln>
            <a:effectLst>
              <a:prstShdw prst="shdw17" dist="17961" dir="2699999">
                <a:srgbClr val="708688"/>
              </a:prstShdw>
            </a:effectLst>
          </p:spPr>
          <p:txBody>
            <a:bodyPr anchor="ctr">
              <a:spAutoFit/>
            </a:bodyPr>
            <a:lstStyle/>
            <a:p>
              <a:pPr marL="262255" lvl="0" indent="-262255">
                <a:lnSpc>
                  <a:spcPct val="125000"/>
                </a:lnSpc>
                <a:buClr>
                  <a:srgbClr val="0033CC"/>
                </a:buClr>
                <a:buSzPct val="109000"/>
                <a:buFont typeface="Wingdings" panose="05000000000000000000" pitchFamily="2" charset="2"/>
                <a:buChar char="p"/>
              </a:pPr>
              <a:r>
                <a:rPr lang="zh-CN" altLang="en-US" sz="2000" dirty="0">
                  <a:latin typeface="Arial" panose="020B0604020202020204" pitchFamily="34" charset="0"/>
                  <a:ea typeface="宋体" panose="02010600030101010101" pitchFamily="2" charset="-122"/>
                </a:rPr>
                <a:t> </a:t>
              </a:r>
              <a:r>
                <a:rPr lang="zh-CN" altLang="en-US" sz="2400" u="sng" dirty="0">
                  <a:solidFill>
                    <a:srgbClr val="0033CC"/>
                  </a:solidFill>
                  <a:latin typeface="Arial" panose="020B0604020202020204" pitchFamily="34" charset="0"/>
                  <a:ea typeface="宋体" panose="02010600030101010101" pitchFamily="2" charset="-122"/>
                </a:rPr>
                <a:t>数据结构：</a:t>
              </a:r>
              <a:r>
                <a:rPr lang="zh-CN" altLang="en-US" sz="2000" dirty="0">
                  <a:latin typeface="Arial" panose="020B0604020202020204" pitchFamily="34" charset="0"/>
                  <a:ea typeface="宋体" panose="02010600030101010101" pitchFamily="2" charset="-122"/>
                </a:rPr>
                <a:t>以记录型为结点的有向树，用树结点表示实体，用结点之间的连线表示实体间的联系。</a:t>
              </a:r>
              <a:endParaRPr lang="zh-CN" altLang="en-US" sz="2000" u="sng" dirty="0">
                <a:solidFill>
                  <a:srgbClr val="0033CC"/>
                </a:solidFill>
                <a:latin typeface="Arial" panose="020B0604020202020204" pitchFamily="34" charset="0"/>
                <a:ea typeface="宋体" panose="02010600030101010101" pitchFamily="2" charset="-122"/>
              </a:endParaRPr>
            </a:p>
          </p:txBody>
        </p:sp>
      </p:grpSp>
      <p:sp>
        <p:nvSpPr>
          <p:cNvPr id="75803" name="矩形 45"/>
          <p:cNvSpPr/>
          <p:nvPr/>
        </p:nvSpPr>
        <p:spPr>
          <a:xfrm>
            <a:off x="655638" y="5164138"/>
            <a:ext cx="7985125" cy="923925"/>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       现实世界中许多实体之间的联系就呈现出一种很自然的层次关系，如：行政机构、家庭关系等。层次模型是以记录型为结点的有向树。</a:t>
            </a:r>
            <a:endParaRPr lang="zh-CN" altLang="en-US" sz="2000" dirty="0">
              <a:latin typeface="Arial" panose="020B0604020202020204" pitchFamily="34" charset="0"/>
              <a:ea typeface="宋体" panose="02010600030101010101" pitchFamily="2" charset="-122"/>
            </a:endParaRPr>
          </a:p>
        </p:txBody>
      </p:sp>
      <p:sp>
        <p:nvSpPr>
          <p:cNvPr id="95237" name="Rectangle 2"/>
          <p:cNvSpPr/>
          <p:nvPr/>
        </p:nvSpPr>
        <p:spPr>
          <a:xfrm>
            <a:off x="500063" y="774700"/>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第一代数据库系统</a:t>
            </a:r>
            <a:r>
              <a:rPr lang="zh-CN" altLang="en-US" sz="2400" dirty="0">
                <a:solidFill>
                  <a:srgbClr val="FF0000"/>
                </a:solidFill>
                <a:latin typeface="Arial" panose="020B0604020202020204" pitchFamily="34" charset="0"/>
                <a:ea typeface="黑体" panose="02010609060101010101" pitchFamily="1" charset="-122"/>
                <a:cs typeface="+mn-ea"/>
              </a:rPr>
              <a:t>--层次数据模型</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5782"/>
                                        </p:tgtEl>
                                        <p:attrNameLst>
                                          <p:attrName>style.visibility</p:attrName>
                                        </p:attrNameLst>
                                      </p:cBhvr>
                                      <p:to>
                                        <p:strVal val="visible"/>
                                      </p:to>
                                    </p:set>
                                    <p:anim calcmode="lin" valueType="num">
                                      <p:cBhvr additive="base">
                                        <p:cTn id="7" dur="500" fill="hold"/>
                                        <p:tgtEl>
                                          <p:spTgt spid="75782"/>
                                        </p:tgtEl>
                                        <p:attrNameLst>
                                          <p:attrName>ppt_x</p:attrName>
                                        </p:attrNameLst>
                                      </p:cBhvr>
                                      <p:tavLst>
                                        <p:tav tm="0">
                                          <p:val>
                                            <p:strVal val="#ppt_x"/>
                                          </p:val>
                                        </p:tav>
                                        <p:tav tm="100000">
                                          <p:val>
                                            <p:strVal val="#ppt_x"/>
                                          </p:val>
                                        </p:tav>
                                      </p:tavLst>
                                    </p:anim>
                                    <p:anim calcmode="lin" valueType="num">
                                      <p:cBhvr additive="base">
                                        <p:cTn id="8" dur="500" fill="hold"/>
                                        <p:tgtEl>
                                          <p:spTgt spid="7578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5781">
                                            <p:txEl>
                                              <p:pRg st="0" end="0"/>
                                            </p:txEl>
                                          </p:spTgt>
                                        </p:tgtEl>
                                        <p:attrNameLst>
                                          <p:attrName>style.visibility</p:attrName>
                                        </p:attrNameLst>
                                      </p:cBhvr>
                                      <p:to>
                                        <p:strVal val="visible"/>
                                      </p:to>
                                    </p:set>
                                    <p:animEffect transition="in" filter="wipe(down)">
                                      <p:cBhvr>
                                        <p:cTn id="13" dur="500"/>
                                        <p:tgtEl>
                                          <p:spTgt spid="7578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5803">
                                            <p:txEl>
                                              <p:pRg st="0" end="0"/>
                                            </p:txEl>
                                          </p:spTgt>
                                        </p:tgtEl>
                                        <p:attrNameLst>
                                          <p:attrName>style.visibility</p:attrName>
                                        </p:attrNameLst>
                                      </p:cBhvr>
                                      <p:to>
                                        <p:strVal val="visible"/>
                                      </p:to>
                                    </p:set>
                                    <p:animEffect transition="in" filter="wipe(down)">
                                      <p:cBhvr>
                                        <p:cTn id="18" dur="500"/>
                                        <p:tgtEl>
                                          <p:spTgt spid="758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1" grpId="0" build="allAtOnce"/>
      <p:bldP spid="75803" grpId="0" build="allAtOnce"/>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24"/>
          <p:cNvSpPr/>
          <p:nvPr/>
        </p:nvSpPr>
        <p:spPr>
          <a:xfrm>
            <a:off x="512763" y="4283075"/>
            <a:ext cx="8140700" cy="1708150"/>
          </a:xfrm>
          <a:prstGeom prst="rect">
            <a:avLst/>
          </a:prstGeom>
          <a:noFill/>
          <a:ln w="9525">
            <a:noFill/>
          </a:ln>
          <a:effectLst>
            <a:prstShdw prst="shdw17" dist="17961" dir="2699999">
              <a:srgbClr val="708688"/>
            </a:prstShdw>
          </a:effectLst>
        </p:spPr>
        <p:txBody>
          <a:bodyPr anchor="ctr">
            <a:spAutoFit/>
          </a:bodyPr>
          <a:lstStyle/>
          <a:p>
            <a:pPr marL="262255" lvl="0" indent="-262255">
              <a:lnSpc>
                <a:spcPct val="125000"/>
              </a:lnSpc>
              <a:buFont typeface="Wingdings" panose="05000000000000000000" pitchFamily="2" charset="2"/>
              <a:buChar char="p"/>
            </a:pPr>
            <a:r>
              <a:rPr lang="zh-CN" altLang="en-US" sz="2400" dirty="0">
                <a:latin typeface="Arial" panose="020B0604020202020204" pitchFamily="34" charset="0"/>
                <a:ea typeface="宋体" panose="02010600030101010101" pitchFamily="2" charset="-122"/>
              </a:rPr>
              <a:t> </a:t>
            </a:r>
            <a:r>
              <a:rPr lang="zh-CN" altLang="en-US" sz="2400" u="sng" dirty="0">
                <a:solidFill>
                  <a:srgbClr val="0033CC"/>
                </a:solidFill>
                <a:latin typeface="Arial" panose="020B0604020202020204" pitchFamily="34" charset="0"/>
                <a:ea typeface="宋体" panose="02010600030101010101" pitchFamily="2" charset="-122"/>
              </a:rPr>
              <a:t>数据操纵：</a:t>
            </a:r>
            <a:r>
              <a:rPr lang="zh-CN" altLang="en-US" sz="2000" dirty="0">
                <a:latin typeface="Arial" panose="020B0604020202020204" pitchFamily="34" charset="0"/>
                <a:ea typeface="宋体" panose="02010600030101010101" pitchFamily="2" charset="-122"/>
              </a:rPr>
              <a:t>对于树结点的插入、删除和修改，可参考数据结构中的相关知识。对于树的查询，一般从树根开始，沿着某条路径进行。并且要将查询路径上的值串联起来，才能得到完整意义的查询结果。基于层次型的数据库语言一般称为导航式语言。</a:t>
            </a:r>
            <a:endParaRPr lang="zh-CN" altLang="en-US" sz="2000" dirty="0">
              <a:latin typeface="Arial" panose="020B0604020202020204" pitchFamily="34" charset="0"/>
              <a:ea typeface="宋体" panose="02010600030101010101" pitchFamily="2" charset="-122"/>
            </a:endParaRPr>
          </a:p>
        </p:txBody>
      </p:sp>
      <p:grpSp>
        <p:nvGrpSpPr>
          <p:cNvPr id="77829" name="组合 7"/>
          <p:cNvGrpSpPr/>
          <p:nvPr/>
        </p:nvGrpSpPr>
        <p:grpSpPr>
          <a:xfrm>
            <a:off x="873125" y="1584325"/>
            <a:ext cx="7297738" cy="2530475"/>
            <a:chOff x="0" y="0"/>
            <a:chExt cx="7297506" cy="2530475"/>
          </a:xfrm>
        </p:grpSpPr>
        <p:sp>
          <p:nvSpPr>
            <p:cNvPr id="84997" name="矩形 3"/>
            <p:cNvSpPr/>
            <p:nvPr/>
          </p:nvSpPr>
          <p:spPr>
            <a:xfrm>
              <a:off x="0" y="0"/>
              <a:ext cx="2713038" cy="1338263"/>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因此，层次数据库系统只能处理一对多的实体关系。 </a:t>
              </a:r>
              <a:endParaRPr lang="zh-CN" altLang="en-US" sz="2000" dirty="0">
                <a:latin typeface="Arial" panose="020B0604020202020204" pitchFamily="34" charset="0"/>
                <a:ea typeface="宋体" panose="02010600030101010101" pitchFamily="2" charset="-122"/>
              </a:endParaRPr>
            </a:p>
          </p:txBody>
        </p:sp>
        <p:pic>
          <p:nvPicPr>
            <p:cNvPr id="84998" name="Picture 7"/>
            <p:cNvPicPr>
              <a:picLocks noChangeAspect="1"/>
            </p:cNvPicPr>
            <p:nvPr/>
          </p:nvPicPr>
          <p:blipFill>
            <a:blip r:embed="rId1"/>
            <a:stretch>
              <a:fillRect/>
            </a:stretch>
          </p:blipFill>
          <p:spPr>
            <a:xfrm>
              <a:off x="2847884" y="1588"/>
              <a:ext cx="4449622" cy="2528887"/>
            </a:xfrm>
            <a:prstGeom prst="rect">
              <a:avLst/>
            </a:prstGeom>
            <a:noFill/>
            <a:ln w="9525">
              <a:noFill/>
            </a:ln>
            <a:effectLst>
              <a:prstShdw prst="shdw17" dist="17961" dir="2699999">
                <a:srgbClr val="708688"/>
              </a:prstShdw>
            </a:effectLst>
          </p:spPr>
        </p:pic>
      </p:grpSp>
      <p:sp>
        <p:nvSpPr>
          <p:cNvPr id="95237" name="Rectangle 2"/>
          <p:cNvSpPr/>
          <p:nvPr/>
        </p:nvSpPr>
        <p:spPr>
          <a:xfrm>
            <a:off x="500063" y="774700"/>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第一代数据库系统</a:t>
            </a:r>
            <a:r>
              <a:rPr lang="zh-CN" altLang="en-US" sz="2400" dirty="0">
                <a:solidFill>
                  <a:srgbClr val="FF0000"/>
                </a:solidFill>
                <a:latin typeface="Arial" panose="020B0604020202020204" pitchFamily="34" charset="0"/>
                <a:ea typeface="黑体" panose="02010609060101010101" pitchFamily="1" charset="-122"/>
                <a:cs typeface="+mn-ea"/>
              </a:rPr>
              <a:t>--层次数据模型</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7829"/>
                                        </p:tgtEl>
                                        <p:attrNameLst>
                                          <p:attrName>style.visibility</p:attrName>
                                        </p:attrNameLst>
                                      </p:cBhvr>
                                      <p:to>
                                        <p:strVal val="visible"/>
                                      </p:to>
                                    </p:set>
                                    <p:anim calcmode="lin" valueType="num">
                                      <p:cBhvr additive="base">
                                        <p:cTn id="7" dur="500" fill="hold"/>
                                        <p:tgtEl>
                                          <p:spTgt spid="77829"/>
                                        </p:tgtEl>
                                        <p:attrNameLst>
                                          <p:attrName>ppt_x</p:attrName>
                                        </p:attrNameLst>
                                      </p:cBhvr>
                                      <p:tavLst>
                                        <p:tav tm="0">
                                          <p:val>
                                            <p:strVal val="#ppt_x"/>
                                          </p:val>
                                        </p:tav>
                                        <p:tav tm="100000">
                                          <p:val>
                                            <p:strVal val="#ppt_x"/>
                                          </p:val>
                                        </p:tav>
                                      </p:tavLst>
                                    </p:anim>
                                    <p:anim calcmode="lin" valueType="num">
                                      <p:cBhvr additive="base">
                                        <p:cTn id="8" dur="500" fill="hold"/>
                                        <p:tgtEl>
                                          <p:spTgt spid="778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7828">
                                            <p:txEl>
                                              <p:pRg st="0" end="0"/>
                                            </p:txEl>
                                          </p:spTgt>
                                        </p:tgtEl>
                                        <p:attrNameLst>
                                          <p:attrName>style.visibility</p:attrName>
                                        </p:attrNameLst>
                                      </p:cBhvr>
                                      <p:to>
                                        <p:strVal val="visible"/>
                                      </p:to>
                                    </p:set>
                                    <p:animEffect transition="in" filter="wipe(down)">
                                      <p:cBhvr>
                                        <p:cTn id="13" dur="500"/>
                                        <p:tgtEl>
                                          <p:spTgt spid="778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8" grpId="0" build="allAtOnce"/>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852" name="表格 78851"/>
          <p:cNvGraphicFramePr/>
          <p:nvPr/>
        </p:nvGraphicFramePr>
        <p:xfrm>
          <a:off x="2409825" y="2760663"/>
          <a:ext cx="3817938" cy="446088"/>
        </p:xfrm>
        <a:graphic>
          <a:graphicData uri="http://schemas.openxmlformats.org/drawingml/2006/table">
            <a:tbl>
              <a:tblPr/>
              <a:tblGrid>
                <a:gridCol w="1273175"/>
                <a:gridCol w="1271588"/>
                <a:gridCol w="1273175"/>
              </a:tblGrid>
              <a:tr h="4460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6600"/>
                          </a:solidFill>
                        </a:rPr>
                        <a:t>院系编号</a:t>
                      </a:r>
                      <a:endParaRPr lang="zh-CN" altLang="en-US" sz="1800">
                        <a:solidFill>
                          <a:srgbClr val="0066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6600"/>
                          </a:solidFill>
                        </a:rPr>
                        <a:t>院系名称</a:t>
                      </a:r>
                      <a:endParaRPr lang="zh-CN" altLang="en-US" sz="1800">
                        <a:solidFill>
                          <a:srgbClr val="0066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6600"/>
                          </a:solidFill>
                        </a:rPr>
                        <a:t>办公地点</a:t>
                      </a:r>
                      <a:endParaRPr lang="zh-CN" altLang="en-US" sz="1800">
                        <a:solidFill>
                          <a:srgbClr val="0066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sp>
        <p:nvSpPr>
          <p:cNvPr id="86029" name="矩形 3"/>
          <p:cNvSpPr/>
          <p:nvPr/>
        </p:nvSpPr>
        <p:spPr>
          <a:xfrm>
            <a:off x="3082925" y="2228850"/>
            <a:ext cx="1968500" cy="508000"/>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教学院系</a:t>
            </a:r>
            <a:endParaRPr lang="zh-CN" altLang="en-US" sz="2000" dirty="0">
              <a:latin typeface="Arial" panose="020B0604020202020204" pitchFamily="34" charset="0"/>
              <a:ea typeface="宋体" panose="02010600030101010101" pitchFamily="2" charset="-122"/>
            </a:endParaRPr>
          </a:p>
        </p:txBody>
      </p:sp>
      <p:cxnSp>
        <p:nvCxnSpPr>
          <p:cNvPr id="86030" name="直接连接符 25"/>
          <p:cNvCxnSpPr/>
          <p:nvPr/>
        </p:nvCxnSpPr>
        <p:spPr>
          <a:xfrm rot="-5400000" flipH="1">
            <a:off x="3890963" y="3338513"/>
            <a:ext cx="260350" cy="0"/>
          </a:xfrm>
          <a:prstGeom prst="line">
            <a:avLst/>
          </a:prstGeom>
          <a:ln w="22225" cap="flat" cmpd="sng">
            <a:solidFill>
              <a:srgbClr val="0033CC"/>
            </a:solidFill>
            <a:prstDash val="solid"/>
            <a:round/>
            <a:headEnd type="none" w="med" len="med"/>
            <a:tailEnd type="none" w="med" len="med"/>
          </a:ln>
        </p:spPr>
      </p:cxnSp>
      <p:cxnSp>
        <p:nvCxnSpPr>
          <p:cNvPr id="86031" name="直接连接符 26"/>
          <p:cNvCxnSpPr/>
          <p:nvPr/>
        </p:nvCxnSpPr>
        <p:spPr>
          <a:xfrm rot="-10800000" flipV="1">
            <a:off x="2801938" y="3490913"/>
            <a:ext cx="3119437" cy="6350"/>
          </a:xfrm>
          <a:prstGeom prst="line">
            <a:avLst/>
          </a:prstGeom>
          <a:ln w="22225" cap="flat" cmpd="sng">
            <a:solidFill>
              <a:srgbClr val="0033CC"/>
            </a:solidFill>
            <a:prstDash val="solid"/>
            <a:round/>
            <a:headEnd type="none" w="med" len="med"/>
            <a:tailEnd type="none" w="med" len="med"/>
          </a:ln>
        </p:spPr>
      </p:cxnSp>
      <p:graphicFrame>
        <p:nvGraphicFramePr>
          <p:cNvPr id="78865" name="表格 78864"/>
          <p:cNvGraphicFramePr/>
          <p:nvPr/>
        </p:nvGraphicFramePr>
        <p:xfrm>
          <a:off x="2119313" y="3787775"/>
          <a:ext cx="2438400" cy="365760"/>
        </p:xfrm>
        <a:graphic>
          <a:graphicData uri="http://schemas.openxmlformats.org/drawingml/2006/table">
            <a:tbl>
              <a:tblPr/>
              <a:tblGrid>
                <a:gridCol w="1333500"/>
                <a:gridCol w="1104900"/>
              </a:tblGrid>
              <a:tr h="3651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33CC"/>
                          </a:solidFill>
                        </a:rPr>
                        <a:t>教研室编号</a:t>
                      </a:r>
                      <a:endParaRPr lang="zh-CN" altLang="en-US" sz="1800">
                        <a:solidFill>
                          <a:srgbClr val="0033CC"/>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33CC"/>
                          </a:solidFill>
                        </a:rPr>
                        <a:t>教研室</a:t>
                      </a:r>
                      <a:endParaRPr lang="zh-CN" altLang="en-US" sz="1800">
                        <a:solidFill>
                          <a:srgbClr val="0033CC"/>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graphicFrame>
        <p:nvGraphicFramePr>
          <p:cNvPr id="78873" name="表格 78872"/>
          <p:cNvGraphicFramePr/>
          <p:nvPr/>
        </p:nvGraphicFramePr>
        <p:xfrm>
          <a:off x="4848225" y="3783013"/>
          <a:ext cx="2060575" cy="366713"/>
        </p:xfrm>
        <a:graphic>
          <a:graphicData uri="http://schemas.openxmlformats.org/drawingml/2006/table">
            <a:tbl>
              <a:tblPr/>
              <a:tblGrid>
                <a:gridCol w="687388"/>
                <a:gridCol w="687387"/>
                <a:gridCol w="685800"/>
              </a:tblGrid>
              <a:tr h="3667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33CC"/>
                          </a:solidFill>
                        </a:rPr>
                        <a:t>学号</a:t>
                      </a:r>
                      <a:endParaRPr lang="zh-CN" altLang="en-US" sz="1800">
                        <a:solidFill>
                          <a:srgbClr val="0033CC"/>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33CC"/>
                          </a:solidFill>
                        </a:rPr>
                        <a:t>姓名</a:t>
                      </a:r>
                      <a:endParaRPr lang="zh-CN" altLang="en-US" sz="1800">
                        <a:solidFill>
                          <a:srgbClr val="0033CC"/>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33CC"/>
                          </a:solidFill>
                        </a:rPr>
                        <a:t>年龄</a:t>
                      </a:r>
                      <a:endParaRPr lang="zh-CN" altLang="en-US" sz="1800">
                        <a:solidFill>
                          <a:srgbClr val="0033CC"/>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cxnSp>
        <p:nvCxnSpPr>
          <p:cNvPr id="86050" name="直接箭头连接符 33"/>
          <p:cNvCxnSpPr/>
          <p:nvPr/>
        </p:nvCxnSpPr>
        <p:spPr>
          <a:xfrm rot="5400000">
            <a:off x="2627313" y="3657600"/>
            <a:ext cx="349250" cy="0"/>
          </a:xfrm>
          <a:prstGeom prst="straightConnector1">
            <a:avLst/>
          </a:prstGeom>
          <a:ln w="22225" cap="flat" cmpd="sng">
            <a:solidFill>
              <a:srgbClr val="0033CC"/>
            </a:solidFill>
            <a:prstDash val="solid"/>
            <a:round/>
            <a:headEnd type="none" w="med" len="med"/>
            <a:tailEnd type="arrow" w="med" len="med"/>
          </a:ln>
        </p:spPr>
      </p:cxnSp>
      <p:cxnSp>
        <p:nvCxnSpPr>
          <p:cNvPr id="86051" name="直接箭头连接符 35"/>
          <p:cNvCxnSpPr/>
          <p:nvPr/>
        </p:nvCxnSpPr>
        <p:spPr>
          <a:xfrm rot="5400000">
            <a:off x="5754688" y="3649663"/>
            <a:ext cx="347662" cy="0"/>
          </a:xfrm>
          <a:prstGeom prst="straightConnector1">
            <a:avLst/>
          </a:prstGeom>
          <a:ln w="22225" cap="flat" cmpd="sng">
            <a:solidFill>
              <a:srgbClr val="0033CC"/>
            </a:solidFill>
            <a:prstDash val="solid"/>
            <a:round/>
            <a:headEnd type="none" w="med" len="med"/>
            <a:tailEnd type="arrow" w="med" len="med"/>
          </a:ln>
        </p:spPr>
      </p:cxnSp>
      <p:cxnSp>
        <p:nvCxnSpPr>
          <p:cNvPr id="86052" name="直接箭头连接符 36"/>
          <p:cNvCxnSpPr/>
          <p:nvPr/>
        </p:nvCxnSpPr>
        <p:spPr>
          <a:xfrm rot="5400000">
            <a:off x="3836988" y="4344988"/>
            <a:ext cx="347662" cy="0"/>
          </a:xfrm>
          <a:prstGeom prst="straightConnector1">
            <a:avLst/>
          </a:prstGeom>
          <a:ln w="22225" cap="flat" cmpd="sng">
            <a:solidFill>
              <a:srgbClr val="0033CC"/>
            </a:solidFill>
            <a:prstDash val="solid"/>
            <a:round/>
            <a:headEnd type="none" w="med" len="med"/>
            <a:tailEnd type="arrow" w="med" len="med"/>
          </a:ln>
        </p:spPr>
      </p:cxnSp>
      <p:graphicFrame>
        <p:nvGraphicFramePr>
          <p:cNvPr id="78886" name="表格 78885"/>
          <p:cNvGraphicFramePr/>
          <p:nvPr/>
        </p:nvGraphicFramePr>
        <p:xfrm>
          <a:off x="2946400" y="4500563"/>
          <a:ext cx="2743200" cy="366713"/>
        </p:xfrm>
        <a:graphic>
          <a:graphicData uri="http://schemas.openxmlformats.org/drawingml/2006/table">
            <a:tbl>
              <a:tblPr/>
              <a:tblGrid>
                <a:gridCol w="1138238"/>
                <a:gridCol w="933450"/>
                <a:gridCol w="671512"/>
              </a:tblGrid>
              <a:tr h="3667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33CC"/>
                          </a:solidFill>
                        </a:rPr>
                        <a:t>职工号</a:t>
                      </a:r>
                      <a:endParaRPr lang="zh-CN" altLang="en-US" sz="1800">
                        <a:solidFill>
                          <a:srgbClr val="0033CC"/>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33CC"/>
                          </a:solidFill>
                        </a:rPr>
                        <a:t>姓名</a:t>
                      </a:r>
                      <a:endParaRPr lang="zh-CN" altLang="en-US" sz="1800">
                        <a:solidFill>
                          <a:srgbClr val="0033CC"/>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solidFill>
                            <a:srgbClr val="0033CC"/>
                          </a:solidFill>
                        </a:rPr>
                        <a:t>专长</a:t>
                      </a:r>
                      <a:endParaRPr lang="zh-CN" altLang="en-US" sz="1800">
                        <a:solidFill>
                          <a:srgbClr val="0033CC"/>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sp>
        <p:nvSpPr>
          <p:cNvPr id="86063" name="矩形 3"/>
          <p:cNvSpPr/>
          <p:nvPr/>
        </p:nvSpPr>
        <p:spPr>
          <a:xfrm>
            <a:off x="1117600" y="3905250"/>
            <a:ext cx="1219200" cy="508000"/>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教研室</a:t>
            </a:r>
            <a:endParaRPr lang="zh-CN" altLang="en-US" sz="2000" dirty="0">
              <a:latin typeface="Arial" panose="020B0604020202020204" pitchFamily="34" charset="0"/>
              <a:ea typeface="宋体" panose="02010600030101010101" pitchFamily="2" charset="-122"/>
            </a:endParaRPr>
          </a:p>
        </p:txBody>
      </p:sp>
      <p:sp>
        <p:nvSpPr>
          <p:cNvPr id="86064" name="矩形 3"/>
          <p:cNvSpPr/>
          <p:nvPr/>
        </p:nvSpPr>
        <p:spPr>
          <a:xfrm>
            <a:off x="6973888" y="3883025"/>
            <a:ext cx="835025" cy="508000"/>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学生</a:t>
            </a:r>
            <a:endParaRPr lang="zh-CN" altLang="en-US" sz="2000" dirty="0">
              <a:latin typeface="Arial" panose="020B0604020202020204" pitchFamily="34" charset="0"/>
              <a:ea typeface="宋体" panose="02010600030101010101" pitchFamily="2" charset="-122"/>
            </a:endParaRPr>
          </a:p>
        </p:txBody>
      </p:sp>
      <p:sp>
        <p:nvSpPr>
          <p:cNvPr id="86065" name="矩形 3"/>
          <p:cNvSpPr/>
          <p:nvPr/>
        </p:nvSpPr>
        <p:spPr>
          <a:xfrm>
            <a:off x="5689600" y="4484688"/>
            <a:ext cx="835025" cy="463550"/>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教师</a:t>
            </a:r>
            <a:endParaRPr lang="zh-CN" altLang="en-US" sz="2000" dirty="0">
              <a:latin typeface="Arial" panose="020B0604020202020204" pitchFamily="34" charset="0"/>
              <a:ea typeface="宋体" panose="02010600030101010101" pitchFamily="2" charset="-122"/>
            </a:endParaRPr>
          </a:p>
        </p:txBody>
      </p:sp>
      <p:sp>
        <p:nvSpPr>
          <p:cNvPr id="86066" name="矩形 3"/>
          <p:cNvSpPr/>
          <p:nvPr/>
        </p:nvSpPr>
        <p:spPr>
          <a:xfrm>
            <a:off x="2851150" y="5160963"/>
            <a:ext cx="3287713" cy="506412"/>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教学院系的层次数据模型</a:t>
            </a:r>
            <a:endParaRPr lang="zh-CN" altLang="en-US" sz="2000" dirty="0">
              <a:latin typeface="Arial" panose="020B0604020202020204" pitchFamily="34" charset="0"/>
              <a:ea typeface="宋体" panose="02010600030101010101" pitchFamily="2" charset="-122"/>
            </a:endParaRPr>
          </a:p>
        </p:txBody>
      </p:sp>
      <p:sp>
        <p:nvSpPr>
          <p:cNvPr id="86067" name="矩形 3"/>
          <p:cNvSpPr/>
          <p:nvPr/>
        </p:nvSpPr>
        <p:spPr>
          <a:xfrm>
            <a:off x="6427788" y="2308225"/>
            <a:ext cx="2586037" cy="508000"/>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根结点</a:t>
            </a:r>
            <a:r>
              <a:rPr lang="en-US" altLang="x-none" sz="2000" dirty="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有</a:t>
            </a:r>
            <a:r>
              <a:rPr lang="en-US" altLang="x-none" sz="2000" dirty="0">
                <a:latin typeface="Arial" panose="020B0604020202020204" pitchFamily="34" charset="0"/>
                <a:ea typeface="宋体" panose="02010600030101010101" pitchFamily="2" charset="-122"/>
              </a:rPr>
              <a:t>3</a:t>
            </a:r>
            <a:r>
              <a:rPr lang="zh-CN" altLang="en-US" sz="2000" dirty="0">
                <a:latin typeface="Arial" panose="020B0604020202020204" pitchFamily="34" charset="0"/>
                <a:ea typeface="宋体" panose="02010600030101010101" pitchFamily="2" charset="-122"/>
              </a:rPr>
              <a:t>个数据项</a:t>
            </a:r>
            <a:endParaRPr lang="zh-CN" altLang="en-US" sz="2000" dirty="0">
              <a:latin typeface="Arial" panose="020B0604020202020204" pitchFamily="34" charset="0"/>
              <a:ea typeface="宋体" panose="02010600030101010101" pitchFamily="2" charset="-122"/>
            </a:endParaRPr>
          </a:p>
        </p:txBody>
      </p:sp>
      <p:sp>
        <p:nvSpPr>
          <p:cNvPr id="78901" name="流程图: 顺序访问存储器 43"/>
          <p:cNvSpPr/>
          <p:nvPr/>
        </p:nvSpPr>
        <p:spPr>
          <a:xfrm flipH="1">
            <a:off x="6197600" y="2220913"/>
            <a:ext cx="2946400" cy="655638"/>
          </a:xfrm>
          <a:prstGeom prst="flowChartMagneticTape">
            <a:avLst/>
          </a:prstGeom>
          <a:no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Blip>
                <a:blip r:embed="rId1"/>
              </a:buBlip>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78902" name="流程图: 顺序访问存储器 44"/>
          <p:cNvSpPr/>
          <p:nvPr/>
        </p:nvSpPr>
        <p:spPr>
          <a:xfrm>
            <a:off x="66675" y="3222625"/>
            <a:ext cx="2336800" cy="655638"/>
          </a:xfrm>
          <a:prstGeom prst="flowChartMagneticTape">
            <a:avLst/>
          </a:prstGeom>
          <a:no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Blip>
                <a:blip r:embed="rId1"/>
              </a:buBlip>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86070" name="矩形 3"/>
          <p:cNvSpPr/>
          <p:nvPr/>
        </p:nvSpPr>
        <p:spPr>
          <a:xfrm>
            <a:off x="1617663" y="2649538"/>
            <a:ext cx="1219200" cy="461962"/>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院系</a:t>
            </a:r>
            <a:endParaRPr lang="zh-CN" altLang="en-US" sz="2000" dirty="0">
              <a:latin typeface="Arial" panose="020B0604020202020204" pitchFamily="34" charset="0"/>
              <a:ea typeface="宋体" panose="02010600030101010101" pitchFamily="2" charset="-122"/>
            </a:endParaRPr>
          </a:p>
        </p:txBody>
      </p:sp>
      <p:sp>
        <p:nvSpPr>
          <p:cNvPr id="86071" name="矩形 3"/>
          <p:cNvSpPr/>
          <p:nvPr/>
        </p:nvSpPr>
        <p:spPr>
          <a:xfrm>
            <a:off x="0" y="3186113"/>
            <a:ext cx="2584450" cy="708025"/>
          </a:xfrm>
          <a:prstGeom prst="rect">
            <a:avLst/>
          </a:prstGeom>
          <a:noFill/>
          <a:ln w="9525">
            <a:noFill/>
          </a:ln>
        </p:spPr>
        <p:txBody>
          <a:bodyPr anchor="t">
            <a:spAutoFit/>
          </a:bodyPr>
          <a:lstStyle/>
          <a:p>
            <a:pPr lvl="0" indent="0" algn="ctr">
              <a:lnSpc>
                <a:spcPct val="100000"/>
              </a:lnSpc>
              <a:buNone/>
            </a:pPr>
            <a:r>
              <a:rPr lang="zh-CN" altLang="en-US" sz="2000" dirty="0">
                <a:latin typeface="Arial" panose="020B0604020202020204" pitchFamily="34" charset="0"/>
                <a:ea typeface="宋体" panose="02010600030101010101" pitchFamily="2" charset="-122"/>
              </a:rPr>
              <a:t>院系的子结点</a:t>
            </a:r>
            <a:r>
              <a:rPr lang="en-US" altLang="x-none" sz="2000" dirty="0">
                <a:latin typeface="Arial" panose="020B0604020202020204" pitchFamily="34" charset="0"/>
                <a:ea typeface="宋体" panose="02010600030101010101" pitchFamily="2" charset="-122"/>
              </a:rPr>
              <a:t>,</a:t>
            </a:r>
            <a:endParaRPr lang="en-US" altLang="x-none" sz="2000" dirty="0">
              <a:latin typeface="Arial" panose="020B0604020202020204" pitchFamily="34" charset="0"/>
              <a:ea typeface="宋体" panose="02010600030101010101" pitchFamily="2" charset="-122"/>
            </a:endParaRPr>
          </a:p>
          <a:p>
            <a:pPr lvl="0" indent="0" algn="ctr">
              <a:lnSpc>
                <a:spcPct val="100000"/>
              </a:lnSpc>
              <a:buNone/>
            </a:pPr>
            <a:r>
              <a:rPr lang="zh-CN" altLang="en-US" sz="2000" dirty="0">
                <a:latin typeface="Arial" panose="020B0604020202020204" pitchFamily="34" charset="0"/>
                <a:ea typeface="宋体" panose="02010600030101010101" pitchFamily="2" charset="-122"/>
              </a:rPr>
              <a:t>有</a:t>
            </a:r>
            <a:r>
              <a:rPr lang="en-US" altLang="x-none" sz="2000" dirty="0">
                <a:latin typeface="Arial" panose="020B0604020202020204" pitchFamily="34" charset="0"/>
                <a:ea typeface="宋体" panose="02010600030101010101" pitchFamily="2" charset="-122"/>
              </a:rPr>
              <a:t>2</a:t>
            </a:r>
            <a:r>
              <a:rPr lang="zh-CN" altLang="en-US" sz="2000" dirty="0">
                <a:latin typeface="Arial" panose="020B0604020202020204" pitchFamily="34" charset="0"/>
                <a:ea typeface="宋体" panose="02010600030101010101" pitchFamily="2" charset="-122"/>
              </a:rPr>
              <a:t>个数据项</a:t>
            </a:r>
            <a:endParaRPr lang="zh-CN" altLang="en-US" sz="2000" dirty="0">
              <a:latin typeface="Arial" panose="020B0604020202020204" pitchFamily="34" charset="0"/>
              <a:ea typeface="宋体" panose="02010600030101010101" pitchFamily="2" charset="-122"/>
            </a:endParaRPr>
          </a:p>
        </p:txBody>
      </p:sp>
      <p:sp>
        <p:nvSpPr>
          <p:cNvPr id="86072" name="矩形 3"/>
          <p:cNvSpPr/>
          <p:nvPr/>
        </p:nvSpPr>
        <p:spPr>
          <a:xfrm>
            <a:off x="211138" y="4630738"/>
            <a:ext cx="2584450" cy="708025"/>
          </a:xfrm>
          <a:prstGeom prst="rect">
            <a:avLst/>
          </a:prstGeom>
          <a:noFill/>
          <a:ln w="9525">
            <a:noFill/>
          </a:ln>
        </p:spPr>
        <p:txBody>
          <a:bodyPr anchor="t">
            <a:spAutoFit/>
          </a:bodyPr>
          <a:lstStyle/>
          <a:p>
            <a:pPr lvl="0" indent="0" algn="ctr">
              <a:lnSpc>
                <a:spcPct val="100000"/>
              </a:lnSpc>
              <a:buNone/>
            </a:pPr>
            <a:r>
              <a:rPr lang="zh-CN" altLang="en-US" sz="2000" dirty="0">
                <a:latin typeface="Arial" panose="020B0604020202020204" pitchFamily="34" charset="0"/>
                <a:ea typeface="宋体" panose="02010600030101010101" pitchFamily="2" charset="-122"/>
              </a:rPr>
              <a:t>教研室的子结点</a:t>
            </a:r>
            <a:r>
              <a:rPr lang="en-US" altLang="x-none" sz="2000" dirty="0">
                <a:latin typeface="Arial" panose="020B0604020202020204" pitchFamily="34" charset="0"/>
                <a:ea typeface="宋体" panose="02010600030101010101" pitchFamily="2" charset="-122"/>
              </a:rPr>
              <a:t>,</a:t>
            </a:r>
            <a:endParaRPr lang="en-US" altLang="x-none" sz="2000" dirty="0">
              <a:latin typeface="Arial" panose="020B0604020202020204" pitchFamily="34" charset="0"/>
              <a:ea typeface="宋体" panose="02010600030101010101" pitchFamily="2" charset="-122"/>
            </a:endParaRPr>
          </a:p>
          <a:p>
            <a:pPr lvl="0" indent="0" algn="ctr">
              <a:lnSpc>
                <a:spcPct val="100000"/>
              </a:lnSpc>
              <a:buNone/>
            </a:pPr>
            <a:r>
              <a:rPr lang="zh-CN" altLang="en-US" sz="2000" dirty="0">
                <a:latin typeface="Arial" panose="020B0604020202020204" pitchFamily="34" charset="0"/>
                <a:ea typeface="宋体" panose="02010600030101010101" pitchFamily="2" charset="-122"/>
              </a:rPr>
              <a:t>有</a:t>
            </a:r>
            <a:r>
              <a:rPr lang="en-US" altLang="x-none" sz="2000" dirty="0">
                <a:latin typeface="Arial" panose="020B0604020202020204" pitchFamily="34" charset="0"/>
                <a:ea typeface="宋体" panose="02010600030101010101" pitchFamily="2" charset="-122"/>
              </a:rPr>
              <a:t>3</a:t>
            </a:r>
            <a:r>
              <a:rPr lang="zh-CN" altLang="en-US" sz="2000" dirty="0">
                <a:latin typeface="Arial" panose="020B0604020202020204" pitchFamily="34" charset="0"/>
                <a:ea typeface="宋体" panose="02010600030101010101" pitchFamily="2" charset="-122"/>
              </a:rPr>
              <a:t>个数据项</a:t>
            </a:r>
            <a:endParaRPr lang="zh-CN" altLang="en-US" sz="2000" dirty="0">
              <a:latin typeface="Arial" panose="020B0604020202020204" pitchFamily="34" charset="0"/>
              <a:ea typeface="宋体" panose="02010600030101010101" pitchFamily="2" charset="-122"/>
            </a:endParaRPr>
          </a:p>
        </p:txBody>
      </p:sp>
      <p:sp>
        <p:nvSpPr>
          <p:cNvPr id="78906" name="流程图: 顺序访问存储器 49"/>
          <p:cNvSpPr/>
          <p:nvPr/>
        </p:nvSpPr>
        <p:spPr>
          <a:xfrm flipH="1">
            <a:off x="6727825" y="3200400"/>
            <a:ext cx="2416175" cy="655638"/>
          </a:xfrm>
          <a:prstGeom prst="flowChartMagneticTape">
            <a:avLst/>
          </a:prstGeom>
          <a:no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Blip>
                <a:blip r:embed="rId1"/>
              </a:buBlip>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86074" name="矩形 3"/>
          <p:cNvSpPr/>
          <p:nvPr/>
        </p:nvSpPr>
        <p:spPr>
          <a:xfrm>
            <a:off x="6559550" y="3222625"/>
            <a:ext cx="2584450" cy="708025"/>
          </a:xfrm>
          <a:prstGeom prst="rect">
            <a:avLst/>
          </a:prstGeom>
          <a:noFill/>
          <a:ln w="9525">
            <a:noFill/>
          </a:ln>
        </p:spPr>
        <p:txBody>
          <a:bodyPr anchor="t">
            <a:spAutoFit/>
          </a:bodyPr>
          <a:lstStyle/>
          <a:p>
            <a:pPr lvl="0" indent="0" algn="ctr">
              <a:lnSpc>
                <a:spcPct val="100000"/>
              </a:lnSpc>
              <a:buNone/>
            </a:pPr>
            <a:r>
              <a:rPr lang="zh-CN" altLang="en-US" sz="2000" dirty="0">
                <a:latin typeface="Arial" panose="020B0604020202020204" pitchFamily="34" charset="0"/>
                <a:ea typeface="宋体" panose="02010600030101010101" pitchFamily="2" charset="-122"/>
              </a:rPr>
              <a:t>院系的子结点</a:t>
            </a:r>
            <a:r>
              <a:rPr lang="en-US" altLang="x-none" sz="2000" dirty="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有</a:t>
            </a:r>
            <a:endParaRPr lang="en-US" altLang="x-none" sz="2000" dirty="0">
              <a:latin typeface="Arial" panose="020B0604020202020204" pitchFamily="34" charset="0"/>
              <a:ea typeface="宋体" panose="02010600030101010101" pitchFamily="2" charset="-122"/>
            </a:endParaRPr>
          </a:p>
          <a:p>
            <a:pPr lvl="0" indent="0" algn="ctr">
              <a:lnSpc>
                <a:spcPct val="100000"/>
              </a:lnSpc>
              <a:buNone/>
            </a:pPr>
            <a:r>
              <a:rPr lang="en-US" altLang="x-none" sz="2000" dirty="0">
                <a:latin typeface="Arial" panose="020B0604020202020204" pitchFamily="34" charset="0"/>
                <a:ea typeface="宋体" panose="02010600030101010101" pitchFamily="2" charset="-122"/>
              </a:rPr>
              <a:t>3</a:t>
            </a:r>
            <a:r>
              <a:rPr lang="zh-CN" altLang="en-US" sz="2000" dirty="0">
                <a:latin typeface="Arial" panose="020B0604020202020204" pitchFamily="34" charset="0"/>
                <a:ea typeface="宋体" panose="02010600030101010101" pitchFamily="2" charset="-122"/>
              </a:rPr>
              <a:t>个数据项</a:t>
            </a:r>
            <a:endParaRPr lang="zh-CN" altLang="en-US" sz="2000" dirty="0">
              <a:latin typeface="Arial" panose="020B0604020202020204" pitchFamily="34" charset="0"/>
              <a:ea typeface="宋体" panose="02010600030101010101" pitchFamily="2" charset="-122"/>
            </a:endParaRPr>
          </a:p>
        </p:txBody>
      </p:sp>
      <p:sp>
        <p:nvSpPr>
          <p:cNvPr id="78908" name="流程图: 顺序访问存储器 52"/>
          <p:cNvSpPr/>
          <p:nvPr/>
        </p:nvSpPr>
        <p:spPr>
          <a:xfrm rot="-10800000" flipH="1">
            <a:off x="231775" y="4589463"/>
            <a:ext cx="2714625" cy="719138"/>
          </a:xfrm>
          <a:prstGeom prst="flowChartMagneticTape">
            <a:avLst/>
          </a:prstGeom>
          <a:no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Blip>
                <a:blip r:embed="rId1"/>
              </a:buBlip>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86076" name="矩形 3"/>
          <p:cNvSpPr/>
          <p:nvPr/>
        </p:nvSpPr>
        <p:spPr>
          <a:xfrm>
            <a:off x="522288" y="1412875"/>
            <a:ext cx="4470400" cy="590550"/>
          </a:xfrm>
          <a:prstGeom prst="rect">
            <a:avLst/>
          </a:prstGeom>
          <a:noFill/>
          <a:ln w="9525">
            <a:noFill/>
          </a:ln>
        </p:spPr>
        <p:txBody>
          <a:bodyPr anchor="t">
            <a:spAutoFit/>
          </a:bodyPr>
          <a:lstStyle/>
          <a:p>
            <a:pPr lvl="0" indent="0">
              <a:buNone/>
            </a:pPr>
            <a:r>
              <a:rPr lang="zh-CN" altLang="en-US" sz="2400" u="sng" dirty="0">
                <a:solidFill>
                  <a:srgbClr val="FF0000"/>
                </a:solidFill>
                <a:latin typeface="Arial" panose="020B0604020202020204" pitchFamily="34" charset="0"/>
                <a:ea typeface="宋体" panose="02010600030101010101" pitchFamily="2" charset="-122"/>
              </a:rPr>
              <a:t>例：一个教学院系的层次模型</a:t>
            </a:r>
            <a:endParaRPr lang="zh-CN" altLang="en-US" sz="2000" dirty="0">
              <a:latin typeface="Arial" panose="020B0604020202020204" pitchFamily="34" charset="0"/>
              <a:ea typeface="宋体" panose="02010600030101010101" pitchFamily="2" charset="-122"/>
            </a:endParaRPr>
          </a:p>
        </p:txBody>
      </p:sp>
      <p:sp>
        <p:nvSpPr>
          <p:cNvPr id="95237" name="Rectangle 2"/>
          <p:cNvSpPr/>
          <p:nvPr/>
        </p:nvSpPr>
        <p:spPr>
          <a:xfrm>
            <a:off x="500063" y="774700"/>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第一代数据库系统</a:t>
            </a:r>
            <a:r>
              <a:rPr lang="zh-CN" altLang="en-US" sz="2400" dirty="0">
                <a:solidFill>
                  <a:srgbClr val="FF0000"/>
                </a:solidFill>
                <a:latin typeface="Arial" panose="020B0604020202020204" pitchFamily="34" charset="0"/>
                <a:ea typeface="黑体" panose="02010609060101010101" pitchFamily="1" charset="-122"/>
                <a:cs typeface="+mn-ea"/>
              </a:rPr>
              <a:t>--层次数据模型</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矩形 3"/>
          <p:cNvSpPr/>
          <p:nvPr/>
        </p:nvSpPr>
        <p:spPr>
          <a:xfrm>
            <a:off x="522288" y="1412875"/>
            <a:ext cx="7083425" cy="590550"/>
          </a:xfrm>
          <a:prstGeom prst="rect">
            <a:avLst/>
          </a:prstGeom>
          <a:noFill/>
          <a:ln w="9525">
            <a:noFill/>
          </a:ln>
        </p:spPr>
        <p:txBody>
          <a:bodyPr anchor="t">
            <a:spAutoFit/>
          </a:bodyPr>
          <a:lstStyle/>
          <a:p>
            <a:pPr lvl="0" indent="0">
              <a:buNone/>
            </a:pPr>
            <a:r>
              <a:rPr lang="zh-CN" altLang="en-US" sz="2400" u="sng" dirty="0">
                <a:solidFill>
                  <a:srgbClr val="FF0000"/>
                </a:solidFill>
                <a:latin typeface="Arial" panose="020B0604020202020204" pitchFamily="34" charset="0"/>
                <a:ea typeface="宋体" panose="02010600030101010101" pitchFamily="2" charset="-122"/>
              </a:rPr>
              <a:t>例：一个教学院系的层次模型对应的一个实例</a:t>
            </a:r>
            <a:endParaRPr lang="zh-CN" altLang="en-US" sz="2000" dirty="0">
              <a:latin typeface="Arial" panose="020B0604020202020204" pitchFamily="34" charset="0"/>
              <a:ea typeface="宋体" panose="02010600030101010101" pitchFamily="2" charset="-122"/>
            </a:endParaRPr>
          </a:p>
        </p:txBody>
      </p:sp>
      <p:graphicFrame>
        <p:nvGraphicFramePr>
          <p:cNvPr id="79877" name="表格 79876"/>
          <p:cNvGraphicFramePr/>
          <p:nvPr/>
        </p:nvGraphicFramePr>
        <p:xfrm>
          <a:off x="2105025" y="2238375"/>
          <a:ext cx="3817938" cy="446088"/>
        </p:xfrm>
        <a:graphic>
          <a:graphicData uri="http://schemas.openxmlformats.org/drawingml/2006/table">
            <a:tbl>
              <a:tblPr/>
              <a:tblGrid>
                <a:gridCol w="885825"/>
                <a:gridCol w="1392238"/>
                <a:gridCol w="1539875"/>
              </a:tblGrid>
              <a:tr h="4460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D10</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计算机系</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9</a:t>
                      </a:r>
                      <a:r>
                        <a:rPr lang="zh-CN" altLang="en-US" sz="1800" dirty="0"/>
                        <a:t>号楼</a:t>
                      </a:r>
                      <a:endParaRPr lang="zh-CN" altLang="en-US"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cxnSp>
        <p:nvCxnSpPr>
          <p:cNvPr id="87054" name="直接连接符 5"/>
          <p:cNvCxnSpPr/>
          <p:nvPr/>
        </p:nvCxnSpPr>
        <p:spPr>
          <a:xfrm rot="-5400000" flipH="1">
            <a:off x="3568700" y="2786063"/>
            <a:ext cx="261938" cy="0"/>
          </a:xfrm>
          <a:prstGeom prst="line">
            <a:avLst/>
          </a:prstGeom>
          <a:ln w="22225" cap="flat" cmpd="sng">
            <a:solidFill>
              <a:srgbClr val="0033CC"/>
            </a:solidFill>
            <a:prstDash val="solid"/>
            <a:round/>
            <a:headEnd type="none" w="med" len="med"/>
            <a:tailEnd type="none" w="med" len="med"/>
          </a:ln>
        </p:spPr>
      </p:cxnSp>
      <p:cxnSp>
        <p:nvCxnSpPr>
          <p:cNvPr id="87055" name="直接连接符 6"/>
          <p:cNvCxnSpPr/>
          <p:nvPr/>
        </p:nvCxnSpPr>
        <p:spPr>
          <a:xfrm rot="-10800000" flipV="1">
            <a:off x="2481263" y="2924175"/>
            <a:ext cx="3121025" cy="7938"/>
          </a:xfrm>
          <a:prstGeom prst="line">
            <a:avLst/>
          </a:prstGeom>
          <a:ln w="22225" cap="flat" cmpd="sng">
            <a:solidFill>
              <a:srgbClr val="0033CC"/>
            </a:solidFill>
            <a:prstDash val="solid"/>
            <a:round/>
            <a:headEnd type="none" w="med" len="med"/>
            <a:tailEnd type="none" w="med" len="med"/>
          </a:ln>
        </p:spPr>
      </p:cxnSp>
      <p:cxnSp>
        <p:nvCxnSpPr>
          <p:cNvPr id="87056" name="直接箭头连接符 7"/>
          <p:cNvCxnSpPr/>
          <p:nvPr/>
        </p:nvCxnSpPr>
        <p:spPr>
          <a:xfrm rot="5400000">
            <a:off x="2308225" y="3105150"/>
            <a:ext cx="346075" cy="0"/>
          </a:xfrm>
          <a:prstGeom prst="straightConnector1">
            <a:avLst/>
          </a:prstGeom>
          <a:ln w="22225" cap="flat" cmpd="sng">
            <a:solidFill>
              <a:srgbClr val="0033CC"/>
            </a:solidFill>
            <a:prstDash val="solid"/>
            <a:round/>
            <a:headEnd type="none" w="med" len="med"/>
            <a:tailEnd type="arrow" w="med" len="med"/>
          </a:ln>
        </p:spPr>
      </p:cxnSp>
      <p:cxnSp>
        <p:nvCxnSpPr>
          <p:cNvPr id="87057" name="直接箭头连接符 8"/>
          <p:cNvCxnSpPr/>
          <p:nvPr/>
        </p:nvCxnSpPr>
        <p:spPr>
          <a:xfrm rot="5400000">
            <a:off x="5435600" y="3098800"/>
            <a:ext cx="349250" cy="0"/>
          </a:xfrm>
          <a:prstGeom prst="straightConnector1">
            <a:avLst/>
          </a:prstGeom>
          <a:ln w="22225" cap="flat" cmpd="sng">
            <a:solidFill>
              <a:srgbClr val="0033CC"/>
            </a:solidFill>
            <a:prstDash val="solid"/>
            <a:round/>
            <a:headEnd type="none" w="med" len="med"/>
            <a:tailEnd type="arrow" w="med" len="med"/>
          </a:ln>
        </p:spPr>
      </p:cxnSp>
      <p:graphicFrame>
        <p:nvGraphicFramePr>
          <p:cNvPr id="79891" name="表格 79890"/>
          <p:cNvGraphicFramePr/>
          <p:nvPr/>
        </p:nvGraphicFramePr>
        <p:xfrm>
          <a:off x="1712913" y="3294063"/>
          <a:ext cx="2192338" cy="366713"/>
        </p:xfrm>
        <a:graphic>
          <a:graphicData uri="http://schemas.openxmlformats.org/drawingml/2006/table">
            <a:tbl>
              <a:tblPr/>
              <a:tblGrid>
                <a:gridCol w="769938"/>
                <a:gridCol w="1422400"/>
              </a:tblGrid>
              <a:tr h="3667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C01</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硬件教研室</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graphicFrame>
        <p:nvGraphicFramePr>
          <p:cNvPr id="79899" name="表格 79898"/>
          <p:cNvGraphicFramePr/>
          <p:nvPr/>
        </p:nvGraphicFramePr>
        <p:xfrm>
          <a:off x="2082800" y="3686175"/>
          <a:ext cx="2192338" cy="365760"/>
        </p:xfrm>
        <a:graphic>
          <a:graphicData uri="http://schemas.openxmlformats.org/drawingml/2006/table">
            <a:tbl>
              <a:tblPr/>
              <a:tblGrid>
                <a:gridCol w="769938"/>
                <a:gridCol w="1422400"/>
              </a:tblGrid>
              <a:tr h="3651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C02</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软件教研室</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cxnSp>
        <p:nvCxnSpPr>
          <p:cNvPr id="87074" name="直接连接符 11"/>
          <p:cNvCxnSpPr/>
          <p:nvPr/>
        </p:nvCxnSpPr>
        <p:spPr>
          <a:xfrm rot="-10800000" flipV="1">
            <a:off x="993775" y="3490913"/>
            <a:ext cx="719138" cy="0"/>
          </a:xfrm>
          <a:prstGeom prst="line">
            <a:avLst/>
          </a:prstGeom>
          <a:ln w="22225" cap="flat" cmpd="sng">
            <a:solidFill>
              <a:srgbClr val="0033CC"/>
            </a:solidFill>
            <a:prstDash val="solid"/>
            <a:round/>
            <a:headEnd type="none" w="med" len="med"/>
            <a:tailEnd type="none" w="med" len="med"/>
          </a:ln>
        </p:spPr>
      </p:cxnSp>
      <p:cxnSp>
        <p:nvCxnSpPr>
          <p:cNvPr id="87075" name="直接箭头连接符 13"/>
          <p:cNvCxnSpPr/>
          <p:nvPr/>
        </p:nvCxnSpPr>
        <p:spPr>
          <a:xfrm rot="5400000">
            <a:off x="382588" y="4076700"/>
            <a:ext cx="1225550" cy="20638"/>
          </a:xfrm>
          <a:prstGeom prst="straightConnector1">
            <a:avLst/>
          </a:prstGeom>
          <a:ln w="22225" cap="flat" cmpd="sng">
            <a:solidFill>
              <a:srgbClr val="0033CC"/>
            </a:solidFill>
            <a:prstDash val="solid"/>
            <a:round/>
            <a:headEnd type="none" w="med" len="med"/>
            <a:tailEnd type="arrow" w="med" len="med"/>
          </a:ln>
        </p:spPr>
      </p:cxnSp>
      <p:graphicFrame>
        <p:nvGraphicFramePr>
          <p:cNvPr id="79909" name="表格 79908"/>
          <p:cNvGraphicFramePr/>
          <p:nvPr/>
        </p:nvGraphicFramePr>
        <p:xfrm>
          <a:off x="406400" y="4660900"/>
          <a:ext cx="2743200" cy="365760"/>
        </p:xfrm>
        <a:graphic>
          <a:graphicData uri="http://schemas.openxmlformats.org/drawingml/2006/table">
            <a:tbl>
              <a:tblPr/>
              <a:tblGrid>
                <a:gridCol w="914400"/>
                <a:gridCol w="769938"/>
                <a:gridCol w="1058862"/>
              </a:tblGrid>
              <a:tr h="3651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92001</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王海</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电器</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graphicFrame>
        <p:nvGraphicFramePr>
          <p:cNvPr id="79919" name="表格 79918"/>
          <p:cNvGraphicFramePr/>
          <p:nvPr/>
        </p:nvGraphicFramePr>
        <p:xfrm>
          <a:off x="601663" y="5118100"/>
          <a:ext cx="2743200" cy="365760"/>
        </p:xfrm>
        <a:graphic>
          <a:graphicData uri="http://schemas.openxmlformats.org/drawingml/2006/table">
            <a:tbl>
              <a:tblPr/>
              <a:tblGrid>
                <a:gridCol w="914400"/>
                <a:gridCol w="769938"/>
                <a:gridCol w="1058862"/>
              </a:tblGrid>
              <a:tr h="3651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92002</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张铮</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自动化</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cxnSp>
        <p:nvCxnSpPr>
          <p:cNvPr id="87096" name="直接箭头连接符 18"/>
          <p:cNvCxnSpPr/>
          <p:nvPr/>
        </p:nvCxnSpPr>
        <p:spPr>
          <a:xfrm rot="5400000">
            <a:off x="3759200" y="4252913"/>
            <a:ext cx="349250" cy="0"/>
          </a:xfrm>
          <a:prstGeom prst="straightConnector1">
            <a:avLst/>
          </a:prstGeom>
          <a:ln w="22225" cap="flat" cmpd="sng">
            <a:solidFill>
              <a:srgbClr val="0033CC"/>
            </a:solidFill>
            <a:prstDash val="solid"/>
            <a:round/>
            <a:headEnd type="none" w="med" len="med"/>
            <a:tailEnd type="arrow" w="med" len="med"/>
          </a:ln>
        </p:spPr>
      </p:cxnSp>
      <p:graphicFrame>
        <p:nvGraphicFramePr>
          <p:cNvPr id="79930" name="表格 79929"/>
          <p:cNvGraphicFramePr/>
          <p:nvPr/>
        </p:nvGraphicFramePr>
        <p:xfrm>
          <a:off x="3751263" y="4435475"/>
          <a:ext cx="2743200" cy="365760"/>
        </p:xfrm>
        <a:graphic>
          <a:graphicData uri="http://schemas.openxmlformats.org/drawingml/2006/table">
            <a:tbl>
              <a:tblPr/>
              <a:tblGrid>
                <a:gridCol w="914400"/>
                <a:gridCol w="769938"/>
                <a:gridCol w="1058862"/>
              </a:tblGrid>
              <a:tr h="3651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92003</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许明</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数据库</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graphicFrame>
        <p:nvGraphicFramePr>
          <p:cNvPr id="79940" name="表格 79939"/>
          <p:cNvGraphicFramePr/>
          <p:nvPr/>
        </p:nvGraphicFramePr>
        <p:xfrm>
          <a:off x="4005263" y="4892675"/>
          <a:ext cx="2917825" cy="365760"/>
        </p:xfrm>
        <a:graphic>
          <a:graphicData uri="http://schemas.openxmlformats.org/drawingml/2006/table">
            <a:tbl>
              <a:tblPr/>
              <a:tblGrid>
                <a:gridCol w="973138"/>
                <a:gridCol w="817562"/>
                <a:gridCol w="1127125"/>
              </a:tblGrid>
              <a:tr h="3651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92004</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陈真</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人工智能</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graphicFrame>
        <p:nvGraphicFramePr>
          <p:cNvPr id="79950" name="表格 79949"/>
          <p:cNvGraphicFramePr/>
          <p:nvPr/>
        </p:nvGraphicFramePr>
        <p:xfrm>
          <a:off x="4244975" y="5364163"/>
          <a:ext cx="2917825" cy="366713"/>
        </p:xfrm>
        <a:graphic>
          <a:graphicData uri="http://schemas.openxmlformats.org/drawingml/2006/table">
            <a:tbl>
              <a:tblPr/>
              <a:tblGrid>
                <a:gridCol w="973138"/>
                <a:gridCol w="817562"/>
                <a:gridCol w="1127125"/>
              </a:tblGrid>
              <a:tr h="3667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92005</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王维</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软家工程</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graphicFrame>
        <p:nvGraphicFramePr>
          <p:cNvPr id="79960" name="表格 79959"/>
          <p:cNvGraphicFramePr/>
          <p:nvPr/>
        </p:nvGraphicFramePr>
        <p:xfrm>
          <a:off x="4949825" y="3259138"/>
          <a:ext cx="2670175" cy="366713"/>
        </p:xfrm>
        <a:graphic>
          <a:graphicData uri="http://schemas.openxmlformats.org/drawingml/2006/table">
            <a:tbl>
              <a:tblPr/>
              <a:tblGrid>
                <a:gridCol w="942975"/>
                <a:gridCol w="885825"/>
                <a:gridCol w="841375"/>
              </a:tblGrid>
              <a:tr h="3667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02001</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张三</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20</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graphicFrame>
        <p:nvGraphicFramePr>
          <p:cNvPr id="79970" name="表格 79969"/>
          <p:cNvGraphicFramePr/>
          <p:nvPr/>
        </p:nvGraphicFramePr>
        <p:xfrm>
          <a:off x="5348288" y="3702050"/>
          <a:ext cx="2670175" cy="365760"/>
        </p:xfrm>
        <a:graphic>
          <a:graphicData uri="http://schemas.openxmlformats.org/drawingml/2006/table">
            <a:tbl>
              <a:tblPr/>
              <a:tblGrid>
                <a:gridCol w="942975"/>
                <a:gridCol w="885825"/>
                <a:gridCol w="841375"/>
              </a:tblGrid>
              <a:tr h="3651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02002</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1800"/>
                        <a:t>李四</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1800" dirty="0"/>
                        <a:t>21</a:t>
                      </a:r>
                      <a:endParaRPr lang="en-US" altLang="x-none" sz="1800" dirty="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sp>
        <p:nvSpPr>
          <p:cNvPr id="95237" name="Rectangle 2"/>
          <p:cNvSpPr/>
          <p:nvPr/>
        </p:nvSpPr>
        <p:spPr>
          <a:xfrm>
            <a:off x="500063" y="774700"/>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第一代数据库系统</a:t>
            </a:r>
            <a:r>
              <a:rPr lang="zh-CN" altLang="en-US" sz="2400" dirty="0">
                <a:solidFill>
                  <a:srgbClr val="FF0000"/>
                </a:solidFill>
                <a:latin typeface="Arial" panose="020B0604020202020204" pitchFamily="34" charset="0"/>
                <a:ea typeface="黑体" panose="02010609060101010101" pitchFamily="1" charset="-122"/>
                <a:cs typeface="+mn-ea"/>
              </a:rPr>
              <a:t>--层次数据模型</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9" name="Rectangle 7"/>
          <p:cNvSpPr/>
          <p:nvPr/>
        </p:nvSpPr>
        <p:spPr>
          <a:xfrm>
            <a:off x="546100" y="1314450"/>
            <a:ext cx="5033963" cy="609600"/>
          </a:xfrm>
          <a:prstGeom prst="rect">
            <a:avLst/>
          </a:prstGeom>
          <a:noFill/>
          <a:ln w="9525">
            <a:noFill/>
          </a:ln>
        </p:spPr>
        <p:txBody>
          <a:bodyPr wrap="none" anchor="ctr"/>
          <a:lstStyle/>
          <a:p>
            <a:pPr lvl="0" indent="0">
              <a:lnSpc>
                <a:spcPct val="100000"/>
              </a:lnSpc>
              <a:spcBef>
                <a:spcPct val="20000"/>
              </a:spcBef>
              <a:buClr>
                <a:schemeClr val="folHlink"/>
              </a:buClr>
              <a:buSzPct val="75000"/>
              <a:buFont typeface="Wingdings" panose="05000000000000000000" pitchFamily="2" charset="2"/>
              <a:buBlip>
                <a:blip r:embed="rId1"/>
              </a:buBlip>
            </a:pPr>
            <a:r>
              <a:rPr lang="zh-CN" altLang="en-US" sz="2800" dirty="0">
                <a:solidFill>
                  <a:srgbClr val="FF3300"/>
                </a:solidFill>
                <a:latin typeface="黑体" panose="02010609060101010101" pitchFamily="1" charset="-122"/>
                <a:ea typeface="黑体" panose="02010609060101010101" pitchFamily="1" charset="-122"/>
                <a:sym typeface="Arial" panose="020B0604020202020204" pitchFamily="34" charset="0"/>
              </a:rPr>
              <a:t> </a:t>
            </a:r>
            <a:r>
              <a:rPr lang="zh-CN" altLang="en-US" sz="2400" dirty="0">
                <a:solidFill>
                  <a:srgbClr val="FF3300"/>
                </a:solidFill>
                <a:latin typeface="黑体" panose="02010609060101010101" pitchFamily="1" charset="-122"/>
                <a:ea typeface="黑体" panose="02010609060101010101" pitchFamily="1" charset="-122"/>
                <a:sym typeface="Arial" panose="020B0604020202020204" pitchFamily="34" charset="0"/>
              </a:rPr>
              <a:t>层次数据模型实例</a:t>
            </a:r>
            <a:r>
              <a:rPr lang="en-US" altLang="x-none" sz="2400" dirty="0">
                <a:solidFill>
                  <a:srgbClr val="FF3300"/>
                </a:solidFill>
                <a:latin typeface="Arial" panose="020B0604020202020204" pitchFamily="34" charset="0"/>
                <a:ea typeface="黑体" panose="02010609060101010101" pitchFamily="1" charset="-122"/>
                <a:sym typeface="Arial" panose="020B0604020202020204" pitchFamily="34" charset="0"/>
              </a:rPr>
              <a:t>—</a:t>
            </a:r>
            <a:r>
              <a:rPr lang="en-US" altLang="x-none" sz="2400" dirty="0">
                <a:solidFill>
                  <a:srgbClr val="FF3300"/>
                </a:solidFill>
                <a:latin typeface="黑体" panose="02010609060101010101" pitchFamily="1" charset="-122"/>
                <a:ea typeface="黑体" panose="02010609060101010101" pitchFamily="1" charset="-122"/>
                <a:sym typeface="Arial" panose="020B0604020202020204" pitchFamily="34" charset="0"/>
              </a:rPr>
              <a:t>AutoCAD</a:t>
            </a:r>
            <a:r>
              <a:rPr lang="zh-CN" altLang="en-US" sz="2400" dirty="0">
                <a:solidFill>
                  <a:srgbClr val="FF3300"/>
                </a:solidFill>
                <a:latin typeface="黑体" panose="02010609060101010101" pitchFamily="1" charset="-122"/>
                <a:ea typeface="黑体" panose="02010609060101010101" pitchFamily="1" charset="-122"/>
                <a:sym typeface="Arial" panose="020B0604020202020204" pitchFamily="34" charset="0"/>
              </a:rPr>
              <a:t>数据库</a:t>
            </a:r>
            <a:endParaRPr lang="en-US" altLang="x-none" sz="2400" dirty="0">
              <a:solidFill>
                <a:srgbClr val="FF3300"/>
              </a:solidFill>
              <a:latin typeface="黑体" panose="02010609060101010101" pitchFamily="1" charset="-122"/>
              <a:ea typeface="黑体" panose="02010609060101010101" pitchFamily="1" charset="-122"/>
              <a:sym typeface="Arial" panose="020B0604020202020204" pitchFamily="34" charset="0"/>
            </a:endParaRPr>
          </a:p>
        </p:txBody>
      </p:sp>
      <p:pic>
        <p:nvPicPr>
          <p:cNvPr id="3" name="Picture 4"/>
          <p:cNvPicPr>
            <a:picLocks noChangeAspect="1"/>
          </p:cNvPicPr>
          <p:nvPr/>
        </p:nvPicPr>
        <p:blipFill>
          <a:blip r:embed="rId2"/>
          <a:stretch>
            <a:fillRect/>
          </a:stretch>
        </p:blipFill>
        <p:spPr>
          <a:xfrm>
            <a:off x="664845" y="1924050"/>
            <a:ext cx="7137400" cy="4486275"/>
          </a:xfrm>
          <a:prstGeom prst="rect">
            <a:avLst/>
          </a:prstGeom>
          <a:noFill/>
          <a:ln w="9525">
            <a:noFill/>
          </a:ln>
        </p:spPr>
      </p:pic>
      <p:grpSp>
        <p:nvGrpSpPr>
          <p:cNvPr id="2" name="组合 1"/>
          <p:cNvGrpSpPr/>
          <p:nvPr/>
        </p:nvGrpSpPr>
        <p:grpSpPr>
          <a:xfrm>
            <a:off x="375285" y="2044700"/>
            <a:ext cx="8786495" cy="4244340"/>
            <a:chOff x="563" y="3140"/>
            <a:chExt cx="13837" cy="6684"/>
          </a:xfrm>
        </p:grpSpPr>
        <p:sp>
          <p:nvSpPr>
            <p:cNvPr id="88067" name="Rectangle 4"/>
            <p:cNvSpPr/>
            <p:nvPr/>
          </p:nvSpPr>
          <p:spPr>
            <a:xfrm>
              <a:off x="678" y="8090"/>
              <a:ext cx="13722" cy="1475"/>
            </a:xfrm>
            <a:prstGeom prst="rect">
              <a:avLst/>
            </a:prstGeom>
            <a:noFill/>
            <a:ln w="9525">
              <a:noFill/>
            </a:ln>
          </p:spPr>
          <p:txBody>
            <a:bodyPr anchor="t"/>
            <a:lstStyle/>
            <a:p>
              <a:pPr marL="342900" lvl="0" indent="-342900">
                <a:lnSpc>
                  <a:spcPct val="110000"/>
                </a:lnSpc>
                <a:buFont typeface="Wingdings" panose="05000000000000000000" pitchFamily="2" charset="2"/>
                <a:buNone/>
              </a:pPr>
              <a:r>
                <a:rPr lang="zh-CN" altLang="en-US" sz="2400" dirty="0">
                  <a:latin typeface="Times New Roman" panose="02020603050405020304" pitchFamily="2" charset="0"/>
                  <a:ea typeface="宋体" panose="02010600030101010101" pitchFamily="2" charset="-122"/>
                </a:rPr>
                <a:t>         </a:t>
              </a:r>
              <a:endParaRPr lang="zh-CN" altLang="en-US" sz="2000" dirty="0">
                <a:latin typeface="Verdana" panose="020B0604030504040204" pitchFamily="2" charset="0"/>
                <a:ea typeface="宋体" panose="02010600030101010101" pitchFamily="2" charset="-122"/>
              </a:endParaRPr>
            </a:p>
          </p:txBody>
        </p:sp>
        <p:pic>
          <p:nvPicPr>
            <p:cNvPr id="88068" name="Picture 6"/>
            <p:cNvPicPr>
              <a:picLocks noChangeAspect="1"/>
            </p:cNvPicPr>
            <p:nvPr/>
          </p:nvPicPr>
          <p:blipFill>
            <a:blip r:embed="rId3"/>
            <a:stretch>
              <a:fillRect/>
            </a:stretch>
          </p:blipFill>
          <p:spPr>
            <a:xfrm>
              <a:off x="2833" y="3140"/>
              <a:ext cx="11025" cy="6685"/>
            </a:xfrm>
            <a:prstGeom prst="rect">
              <a:avLst/>
            </a:prstGeom>
            <a:noFill/>
            <a:ln w="9525">
              <a:noFill/>
            </a:ln>
          </p:spPr>
        </p:pic>
        <p:sp>
          <p:nvSpPr>
            <p:cNvPr id="88070" name="Rectangle 5"/>
            <p:cNvSpPr/>
            <p:nvPr/>
          </p:nvSpPr>
          <p:spPr>
            <a:xfrm>
              <a:off x="563" y="3235"/>
              <a:ext cx="6062" cy="2355"/>
            </a:xfrm>
            <a:prstGeom prst="rect">
              <a:avLst/>
            </a:prstGeom>
            <a:solidFill>
              <a:schemeClr val="accent1"/>
            </a:solidFill>
            <a:ln w="9525">
              <a:noFill/>
            </a:ln>
          </p:spPr>
          <p:txBody>
            <a:bodyPr lIns="18000" rIns="18000" anchor="t">
              <a:spAutoFit/>
            </a:bodyPr>
            <a:lstStyle/>
            <a:p>
              <a:pPr marL="262255" lvl="0" indent="-262255">
                <a:lnSpc>
                  <a:spcPct val="115000"/>
                </a:lnSpc>
                <a:buFont typeface="Wingdings" panose="05000000000000000000" pitchFamily="2" charset="2"/>
                <a:buNone/>
              </a:pPr>
              <a:r>
                <a:rPr lang="zh-CN" altLang="en-US" dirty="0">
                  <a:solidFill>
                    <a:srgbClr val="0033CC"/>
                  </a:solidFill>
                  <a:latin typeface="Arial" panose="020B0604020202020204" pitchFamily="34" charset="0"/>
                  <a:ea typeface="宋体" panose="02010600030101010101" pitchFamily="2" charset="-122"/>
                </a:rPr>
                <a:t>           </a:t>
              </a:r>
              <a:r>
                <a:rPr lang="zh-CN" altLang="en-US" sz="2000" u="sng" dirty="0">
                  <a:latin typeface="Arial" panose="020B0604020202020204" pitchFamily="34" charset="0"/>
                  <a:ea typeface="宋体" panose="02010600030101010101" pitchFamily="2" charset="-122"/>
                </a:rPr>
                <a:t>一组符号表和有名对象词典是</a:t>
              </a:r>
              <a:r>
                <a:rPr lang="en-US" altLang="x-none" sz="2000" u="sng" dirty="0">
                  <a:latin typeface="Arial" panose="020B0604020202020204" pitchFamily="34" charset="0"/>
                  <a:ea typeface="宋体" panose="02010600030101010101" pitchFamily="2" charset="-122"/>
                </a:rPr>
                <a:t>AutoCAD</a:t>
              </a:r>
              <a:r>
                <a:rPr lang="zh-CN" altLang="en-US" sz="2000" u="sng" dirty="0">
                  <a:latin typeface="Arial" panose="020B0604020202020204" pitchFamily="34" charset="0"/>
                  <a:ea typeface="宋体" panose="02010600030101010101" pitchFamily="2" charset="-122"/>
                </a:rPr>
                <a:t>数据库的关键组成部分，由于它们又包含了其他对象，因而称为容器对象。</a:t>
              </a:r>
              <a:endParaRPr lang="zh-CN" altLang="en-US" sz="2000" u="sng" dirty="0">
                <a:latin typeface="Arial" panose="020B0604020202020204" pitchFamily="34" charset="0"/>
                <a:ea typeface="宋体" panose="02010600030101010101" pitchFamily="2" charset="-122"/>
              </a:endParaRPr>
            </a:p>
          </p:txBody>
        </p:sp>
      </p:grpSp>
      <p:sp>
        <p:nvSpPr>
          <p:cNvPr id="95237" name="Rectangle 2"/>
          <p:cNvSpPr/>
          <p:nvPr/>
        </p:nvSpPr>
        <p:spPr>
          <a:xfrm>
            <a:off x="500063" y="774700"/>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第一代数据库系统</a:t>
            </a:r>
            <a:r>
              <a:rPr lang="zh-CN" altLang="en-US" sz="2400" dirty="0">
                <a:solidFill>
                  <a:srgbClr val="FF0000"/>
                </a:solidFill>
                <a:latin typeface="Arial" panose="020B0604020202020204" pitchFamily="34" charset="0"/>
                <a:ea typeface="黑体" panose="02010609060101010101" pitchFamily="1" charset="-122"/>
                <a:cs typeface="+mn-ea"/>
              </a:rPr>
              <a:t>--层次数据模型</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内容占位符 2"/>
          <p:cNvSpPr/>
          <p:nvPr/>
        </p:nvSpPr>
        <p:spPr>
          <a:xfrm>
            <a:off x="301625" y="1423988"/>
            <a:ext cx="8756650" cy="4446587"/>
          </a:xfrm>
          <a:prstGeom prst="rect">
            <a:avLst/>
          </a:prstGeom>
          <a:noFill/>
          <a:ln w="9525">
            <a:noFill/>
          </a:ln>
        </p:spPr>
        <p:txBody>
          <a:bodyPr anchor="t"/>
          <a:lstStyle/>
          <a:p>
            <a:pPr marL="342900" lvl="0" indent="-342900">
              <a:lnSpc>
                <a:spcPct val="120000"/>
              </a:lnSpc>
              <a:spcBef>
                <a:spcPct val="20000"/>
              </a:spcBef>
              <a:spcAft>
                <a:spcPct val="20000"/>
              </a:spcAft>
              <a:buClr>
                <a:srgbClr val="0033CC"/>
              </a:buClr>
              <a:buSzPct val="80000"/>
              <a:buFont typeface="Wingdings" panose="05000000000000000000" pitchFamily="2" charset="2"/>
              <a:buNone/>
            </a:pPr>
            <a:r>
              <a:rPr lang="zh-CN" altLang="en-US" sz="2000" dirty="0">
                <a:latin typeface="Arial" panose="020B0604020202020204" pitchFamily="34" charset="0"/>
                <a:ea typeface="宋体" panose="02010600030101010101" pitchFamily="2" charset="-122"/>
              </a:rPr>
              <a:t>             层次关系模型各个数据记录之间是通过指针等方式连接的，当要定位到某条记录时，需要用户自己按指针的链接方向逐层查找，</a:t>
            </a:r>
            <a:r>
              <a:rPr lang="zh-CN" altLang="en-US" sz="2000" u="sng" dirty="0">
                <a:solidFill>
                  <a:srgbClr val="3366CC"/>
                </a:solidFill>
                <a:latin typeface="Arial" panose="020B0604020202020204" pitchFamily="34" charset="0"/>
                <a:ea typeface="宋体" panose="02010600030101010101" pitchFamily="2" charset="-122"/>
              </a:rPr>
              <a:t>这种查找方式称为用户“导航”。</a:t>
            </a:r>
            <a:r>
              <a:rPr lang="zh-CN" altLang="en-US" sz="2000" dirty="0">
                <a:solidFill>
                  <a:srgbClr val="FF0000"/>
                </a:solidFill>
                <a:latin typeface="Arial" panose="020B0604020202020204" pitchFamily="34" charset="0"/>
                <a:ea typeface="宋体" panose="02010600030101010101" pitchFamily="2" charset="-122"/>
              </a:rPr>
              <a:t>以下为</a:t>
            </a:r>
            <a:r>
              <a:rPr lang="en-US" altLang="x-none" sz="2000" dirty="0">
                <a:solidFill>
                  <a:srgbClr val="FF0000"/>
                </a:solidFill>
                <a:latin typeface="Arial" panose="020B0604020202020204" pitchFamily="34" charset="0"/>
                <a:ea typeface="宋体" panose="02010600030101010101" pitchFamily="2" charset="-122"/>
              </a:rPr>
              <a:t>AutoCAD</a:t>
            </a:r>
            <a:r>
              <a:rPr lang="zh-CN" altLang="en-US" sz="2000" dirty="0">
                <a:solidFill>
                  <a:srgbClr val="FF0000"/>
                </a:solidFill>
                <a:latin typeface="Arial" panose="020B0604020202020204" pitchFamily="34" charset="0"/>
                <a:ea typeface="宋体" panose="02010600030101010101" pitchFamily="2" charset="-122"/>
              </a:rPr>
              <a:t>的</a:t>
            </a:r>
            <a:r>
              <a:rPr lang="en-US" altLang="x-none" sz="2000" dirty="0">
                <a:solidFill>
                  <a:srgbClr val="FF0000"/>
                </a:solidFill>
                <a:latin typeface="Arial" panose="020B0604020202020204" pitchFamily="34" charset="0"/>
                <a:ea typeface="宋体" panose="02010600030101010101" pitchFamily="2" charset="-122"/>
              </a:rPr>
              <a:t>DWG</a:t>
            </a:r>
            <a:r>
              <a:rPr lang="zh-CN" altLang="en-US" sz="2000" dirty="0">
                <a:solidFill>
                  <a:srgbClr val="FF0000"/>
                </a:solidFill>
                <a:latin typeface="Arial" panose="020B0604020202020204" pitchFamily="34" charset="0"/>
                <a:ea typeface="宋体" panose="02010600030101010101" pitchFamily="2" charset="-122"/>
              </a:rPr>
              <a:t>数据库访问：</a:t>
            </a:r>
            <a:endParaRPr lang="zh-CN" altLang="en-US" sz="2000" dirty="0">
              <a:solidFill>
                <a:srgbClr val="FF0000"/>
              </a:solidFill>
              <a:latin typeface="Arial" panose="020B0604020202020204" pitchFamily="34" charset="0"/>
              <a:ea typeface="宋体" panose="02010600030101010101" pitchFamily="2" charset="-122"/>
            </a:endParaRPr>
          </a:p>
        </p:txBody>
      </p:sp>
      <p:sp>
        <p:nvSpPr>
          <p:cNvPr id="81923" name="Rectangle 5"/>
          <p:cNvSpPr/>
          <p:nvPr/>
        </p:nvSpPr>
        <p:spPr>
          <a:xfrm>
            <a:off x="615950" y="2644775"/>
            <a:ext cx="8410575" cy="3590925"/>
          </a:xfrm>
          <a:prstGeom prst="rect">
            <a:avLst/>
          </a:prstGeom>
          <a:noFill/>
          <a:ln w="9525">
            <a:noFill/>
          </a:ln>
        </p:spPr>
        <p:txBody>
          <a:bodyPr>
            <a:spAutoFit/>
          </a:bodyPr>
          <a:lstStyle/>
          <a:p>
            <a:pPr marL="262255" lvl="0" indent="-262255" eaLnBrk="1" fontAlgn="base" hangingPunct="1">
              <a:lnSpc>
                <a:spcPct val="115000"/>
              </a:lnSpc>
              <a:buFont typeface="Wingdings" panose="05000000000000000000" pitchFamily="2" charset="2"/>
              <a:buNone/>
            </a:pP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AcDbDatabase *pDb=new AcDbDatabase;//新建一个数据库</a:t>
            </a:r>
            <a:endPar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a:p>
            <a:pPr marL="262255" lvl="0" indent="-262255" eaLnBrk="1" fontAlgn="base" hangingPunct="1">
              <a:lnSpc>
                <a:spcPct val="115000"/>
              </a:lnSpc>
              <a:buFont typeface="Wingdings" panose="05000000000000000000" pitchFamily="2" charset="2"/>
              <a:buNone/>
            </a:pP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AcDbBlockTable *pBtbl;//定义块表指针</a:t>
            </a:r>
            <a:endPar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a:p>
            <a:pPr marL="262255" lvl="0" indent="-262255" eaLnBrk="1" fontAlgn="base" hangingPunct="1">
              <a:lnSpc>
                <a:spcPct val="115000"/>
              </a:lnSpc>
              <a:buFont typeface="Wingdings" panose="05000000000000000000" pitchFamily="2" charset="2"/>
              <a:buNone/>
            </a:pP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pDb-&gt;getBlockTable(pBtbl,AcDb::kForRead);//获得数据库块表指针</a:t>
            </a:r>
            <a:endPar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a:p>
            <a:pPr marL="262255" lvl="0" indent="-262255" eaLnBrk="1" fontAlgn="base" hangingPunct="1">
              <a:lnSpc>
                <a:spcPct val="115000"/>
              </a:lnSpc>
              <a:buFont typeface="Wingdings" panose="05000000000000000000" pitchFamily="2" charset="2"/>
              <a:buNone/>
            </a:pP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AcDbBlockTableRecord *pBtblRcd;//定义块表记录指针</a:t>
            </a:r>
            <a:endPar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a:p>
            <a:pPr marL="262255" lvl="0" indent="-262255" eaLnBrk="1" fontAlgn="base" hangingPunct="1">
              <a:lnSpc>
                <a:spcPct val="115000"/>
              </a:lnSpc>
              <a:buFont typeface="Wingdings" panose="05000000000000000000" pitchFamily="2" charset="2"/>
              <a:buNone/>
            </a:pP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pBtbl-&gt;getAt(ACDB_MODEL_SPACE,pBtblRcd,AcDb::kForWrite);</a:t>
            </a:r>
            <a:endPar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a:p>
            <a:pPr marL="262255" lvl="0" indent="-262255" eaLnBrk="1" fontAlgn="base" hangingPunct="1">
              <a:lnSpc>
                <a:spcPct val="115000"/>
              </a:lnSpc>
              <a:buFont typeface="Wingdings" panose="05000000000000000000" pitchFamily="2" charset="2"/>
              <a:buNone/>
            </a:pPr>
            <a:r>
              <a:rPr lang="en-US" altLang="x-none"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p</a:t>
            </a: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Btbl-&gt;close();//关闭块表</a:t>
            </a:r>
            <a:endPar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a:p>
            <a:pPr marL="262255" lvl="0" indent="-262255" eaLnBrk="1" fontAlgn="base" hangingPunct="1">
              <a:lnSpc>
                <a:spcPct val="115000"/>
              </a:lnSpc>
              <a:buFont typeface="Wingdings" panose="05000000000000000000" pitchFamily="2" charset="2"/>
              <a:buNone/>
            </a:pP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AcDbLine   *pLine=new AcDbLine(AcGePoint3d(1,1,1),AcGePoint3d(4,4,4));//创建一条直线</a:t>
            </a:r>
            <a:endPar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a:p>
            <a:pPr marL="262255" lvl="0" indent="-262255" eaLnBrk="1" fontAlgn="base" hangingPunct="1">
              <a:lnSpc>
                <a:spcPct val="115000"/>
              </a:lnSpc>
              <a:buFont typeface="Wingdings" panose="05000000000000000000" pitchFamily="2" charset="2"/>
              <a:buNone/>
            </a:pP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pBtblRcd-&gt;appendAcDbEntity(pLine);</a:t>
            </a:r>
            <a:r>
              <a:rPr lang="en-US" altLang="x-none"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   </a:t>
            </a: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pLine-&gt;close();</a:t>
            </a:r>
            <a:endPar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a:p>
            <a:pPr marL="262255" lvl="0" indent="-262255" eaLnBrk="1" fontAlgn="base" hangingPunct="1">
              <a:lnSpc>
                <a:spcPct val="115000"/>
              </a:lnSpc>
              <a:buFont typeface="Wingdings" panose="05000000000000000000" pitchFamily="2" charset="2"/>
              <a:buNone/>
            </a:pP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pBtblRcd-&gt;close();</a:t>
            </a:r>
            <a:r>
              <a:rPr lang="en-US" altLang="x-none"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     </a:t>
            </a: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pDb-&gt;saveAs("test1.dwg");</a:t>
            </a:r>
            <a:r>
              <a:rPr lang="en-US" altLang="x-none"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    </a:t>
            </a:r>
            <a:r>
              <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delete pDb;</a:t>
            </a:r>
            <a:endParaRPr lang="en-US"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95237" name="Rectangle 2"/>
          <p:cNvSpPr/>
          <p:nvPr/>
        </p:nvSpPr>
        <p:spPr>
          <a:xfrm>
            <a:off x="500063" y="774700"/>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第一代数据库系统</a:t>
            </a:r>
            <a:r>
              <a:rPr lang="zh-CN" altLang="en-US" sz="2400" dirty="0">
                <a:solidFill>
                  <a:srgbClr val="FF0000"/>
                </a:solidFill>
                <a:latin typeface="Arial" panose="020B0604020202020204" pitchFamily="34" charset="0"/>
                <a:ea typeface="黑体" panose="02010609060101010101" pitchFamily="1" charset="-122"/>
                <a:cs typeface="+mn-ea"/>
              </a:rPr>
              <a:t>--层次数据模型</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矩形 3"/>
          <p:cNvSpPr/>
          <p:nvPr/>
        </p:nvSpPr>
        <p:spPr>
          <a:xfrm>
            <a:off x="530225" y="1408113"/>
            <a:ext cx="8439150" cy="4714875"/>
          </a:xfrm>
          <a:prstGeom prst="rect">
            <a:avLst/>
          </a:prstGeom>
          <a:noFill/>
          <a:ln w="9525">
            <a:noFill/>
          </a:ln>
        </p:spPr>
        <p:txBody>
          <a:bodyPr anchor="t">
            <a:spAutoFit/>
          </a:bodyPr>
          <a:lstStyle/>
          <a:p>
            <a:pPr lvl="0" indent="0">
              <a:lnSpc>
                <a:spcPct val="120000"/>
              </a:lnSpc>
              <a:buNone/>
            </a:pPr>
            <a:r>
              <a:rPr lang="en-US" altLang="x-none" dirty="0">
                <a:latin typeface="Arial" panose="020B0604020202020204" pitchFamily="34" charset="0"/>
                <a:ea typeface="宋体" panose="02010600030101010101" pitchFamily="2" charset="-122"/>
              </a:rPr>
              <a:t>AcDbDatabase *pDb=new AcDbDatabase</a:t>
            </a:r>
            <a:r>
              <a:rPr lang="en-US" altLang="x-none" dirty="0">
                <a:solidFill>
                  <a:srgbClr val="FF0000"/>
                </a:solidFill>
                <a:latin typeface="Arial" panose="020B0604020202020204" pitchFamily="34" charset="0"/>
                <a:ea typeface="宋体" panose="02010600030101010101" pitchFamily="2" charset="-122"/>
              </a:rPr>
              <a:t>;//</a:t>
            </a:r>
            <a:r>
              <a:rPr lang="zh-CN" altLang="en-US" dirty="0">
                <a:solidFill>
                  <a:srgbClr val="FF0000"/>
                </a:solidFill>
                <a:latin typeface="Arial" panose="020B0604020202020204" pitchFamily="34" charset="0"/>
                <a:ea typeface="宋体" panose="02010600030101010101" pitchFamily="2" charset="-122"/>
              </a:rPr>
              <a:t>定义一个数据库</a:t>
            </a:r>
            <a:endParaRPr lang="en-US" altLang="x-none" dirty="0">
              <a:solidFill>
                <a:srgbClr val="FF0000"/>
              </a:solidFill>
              <a:latin typeface="Arial" panose="020B0604020202020204" pitchFamily="34" charset="0"/>
              <a:ea typeface="宋体" panose="02010600030101010101" pitchFamily="2" charset="-122"/>
            </a:endParaRPr>
          </a:p>
          <a:p>
            <a:pPr lvl="0" indent="0">
              <a:lnSpc>
                <a:spcPct val="120000"/>
              </a:lnSpc>
              <a:buNone/>
            </a:pPr>
            <a:r>
              <a:rPr lang="en-US" altLang="x-none" dirty="0">
                <a:latin typeface="Arial" panose="020B0604020202020204" pitchFamily="34" charset="0"/>
                <a:ea typeface="宋体" panose="02010600030101010101" pitchFamily="2" charset="-122"/>
              </a:rPr>
              <a:t>pDb-&gt;readDwgFile(“test1.dwg”);</a:t>
            </a:r>
            <a:r>
              <a:rPr lang="en-US" altLang="x-none" dirty="0">
                <a:solidFill>
                  <a:srgbClr val="FF0000"/>
                </a:solidFill>
                <a:latin typeface="Arial" panose="020B0604020202020204" pitchFamily="34" charset="0"/>
                <a:ea typeface="宋体" panose="02010600030101010101" pitchFamily="2" charset="-122"/>
              </a:rPr>
              <a:t>//</a:t>
            </a:r>
            <a:r>
              <a:rPr lang="zh-CN" altLang="en-US" dirty="0">
                <a:solidFill>
                  <a:srgbClr val="FF0000"/>
                </a:solidFill>
                <a:latin typeface="Arial" panose="020B0604020202020204" pitchFamily="34" charset="0"/>
                <a:ea typeface="宋体" panose="02010600030101010101" pitchFamily="2" charset="-122"/>
              </a:rPr>
              <a:t>加载 数据库</a:t>
            </a:r>
            <a:r>
              <a:rPr lang="en-US" altLang="x-none" dirty="0">
                <a:solidFill>
                  <a:srgbClr val="FF0000"/>
                </a:solidFill>
                <a:latin typeface="Arial" panose="020B0604020202020204" pitchFamily="34" charset="0"/>
                <a:ea typeface="宋体" panose="02010600030101010101" pitchFamily="2" charset="-122"/>
              </a:rPr>
              <a:t>test1.dwg</a:t>
            </a:r>
            <a:endParaRPr lang="en-US" altLang="x-none" dirty="0">
              <a:solidFill>
                <a:srgbClr val="FF0000"/>
              </a:solidFill>
              <a:latin typeface="Arial" panose="020B0604020202020204" pitchFamily="34" charset="0"/>
              <a:ea typeface="宋体" panose="02010600030101010101" pitchFamily="2" charset="-122"/>
            </a:endParaRPr>
          </a:p>
          <a:p>
            <a:pPr lvl="0" indent="0">
              <a:lnSpc>
                <a:spcPct val="120000"/>
              </a:lnSpc>
              <a:buNone/>
            </a:pPr>
            <a:r>
              <a:rPr lang="en-US" altLang="x-none" dirty="0">
                <a:latin typeface="Arial" panose="020B0604020202020204" pitchFamily="34" charset="0"/>
                <a:ea typeface="宋体" panose="02010600030101010101" pitchFamily="2" charset="-122"/>
              </a:rPr>
              <a:t>AcDbBlockTable *pBlkTbl;</a:t>
            </a:r>
            <a:r>
              <a:rPr lang="zh-CN" altLang="en-US" dirty="0">
                <a:latin typeface="Arial" panose="020B0604020202020204" pitchFamily="34" charset="0"/>
                <a:ea typeface="宋体" panose="02010600030101010101" pitchFamily="2" charset="-122"/>
              </a:rPr>
              <a:t> </a:t>
            </a:r>
            <a:r>
              <a:rPr lang="en-US" altLang="x-none" dirty="0">
                <a:solidFill>
                  <a:srgbClr val="FF0000"/>
                </a:solidFill>
                <a:latin typeface="Arial" panose="020B0604020202020204" pitchFamily="34" charset="0"/>
                <a:ea typeface="宋体" panose="02010600030101010101" pitchFamily="2" charset="-122"/>
              </a:rPr>
              <a:t>//</a:t>
            </a:r>
            <a:r>
              <a:rPr lang="zh-CN" altLang="en-US" dirty="0">
                <a:solidFill>
                  <a:srgbClr val="FF0000"/>
                </a:solidFill>
                <a:latin typeface="Arial" panose="020B0604020202020204" pitchFamily="34" charset="0"/>
                <a:ea typeface="宋体" panose="02010600030101010101" pitchFamily="2" charset="-122"/>
              </a:rPr>
              <a:t>定义块表指针</a:t>
            </a:r>
            <a:endParaRPr lang="en-US" altLang="x-none" dirty="0">
              <a:solidFill>
                <a:srgbClr val="FF0000"/>
              </a:solidFill>
              <a:latin typeface="Arial" panose="020B0604020202020204" pitchFamily="34" charset="0"/>
              <a:ea typeface="宋体" panose="02010600030101010101" pitchFamily="2" charset="-122"/>
            </a:endParaRPr>
          </a:p>
          <a:p>
            <a:pPr lvl="0" indent="0">
              <a:lnSpc>
                <a:spcPct val="120000"/>
              </a:lnSpc>
              <a:buNone/>
            </a:pPr>
            <a:r>
              <a:rPr lang="en-US" altLang="x-none" dirty="0">
                <a:latin typeface="Arial" panose="020B0604020202020204" pitchFamily="34" charset="0"/>
                <a:ea typeface="宋体" panose="02010600030101010101" pitchFamily="2" charset="-122"/>
              </a:rPr>
              <a:t>pDb-&gt;getBlockTable(pBlkTbl,AcDb::kForRead);</a:t>
            </a:r>
            <a:r>
              <a:rPr lang="zh-CN" altLang="en-US" dirty="0">
                <a:latin typeface="Arial" panose="020B0604020202020204" pitchFamily="34" charset="0"/>
                <a:ea typeface="宋体" panose="02010600030101010101" pitchFamily="2" charset="-122"/>
              </a:rPr>
              <a:t> </a:t>
            </a:r>
            <a:r>
              <a:rPr lang="en-US" altLang="x-none" dirty="0">
                <a:solidFill>
                  <a:srgbClr val="FF0000"/>
                </a:solidFill>
                <a:latin typeface="Arial" panose="020B0604020202020204" pitchFamily="34" charset="0"/>
                <a:ea typeface="宋体" panose="02010600030101010101" pitchFamily="2" charset="-122"/>
              </a:rPr>
              <a:t>//</a:t>
            </a:r>
            <a:r>
              <a:rPr lang="zh-CN" altLang="en-US" dirty="0">
                <a:solidFill>
                  <a:srgbClr val="FF0000"/>
                </a:solidFill>
                <a:latin typeface="Arial" panose="020B0604020202020204" pitchFamily="34" charset="0"/>
                <a:ea typeface="宋体" panose="02010600030101010101" pitchFamily="2" charset="-122"/>
              </a:rPr>
              <a:t>以读的方式打开块表</a:t>
            </a:r>
            <a:endParaRPr lang="en-US" altLang="x-none" dirty="0">
              <a:solidFill>
                <a:srgbClr val="FF0000"/>
              </a:solidFill>
              <a:latin typeface="Arial" panose="020B0604020202020204" pitchFamily="34" charset="0"/>
              <a:ea typeface="宋体" panose="02010600030101010101" pitchFamily="2" charset="-122"/>
            </a:endParaRPr>
          </a:p>
          <a:p>
            <a:pPr lvl="0" indent="0">
              <a:lnSpc>
                <a:spcPct val="120000"/>
              </a:lnSpc>
              <a:buNone/>
            </a:pPr>
            <a:r>
              <a:rPr lang="en-US" altLang="x-none" dirty="0">
                <a:latin typeface="Arial" panose="020B0604020202020204" pitchFamily="34" charset="0"/>
                <a:ea typeface="宋体" panose="02010600030101010101" pitchFamily="2" charset="-122"/>
              </a:rPr>
              <a:t>AcDbBlockTableRecord *pBlkTblRcd;</a:t>
            </a:r>
            <a:r>
              <a:rPr lang="zh-CN" altLang="en-US" dirty="0">
                <a:latin typeface="Arial" panose="020B0604020202020204" pitchFamily="34" charset="0"/>
                <a:ea typeface="宋体" panose="02010600030101010101" pitchFamily="2" charset="-122"/>
              </a:rPr>
              <a:t> </a:t>
            </a:r>
            <a:r>
              <a:rPr lang="en-US" altLang="x-none" dirty="0">
                <a:solidFill>
                  <a:srgbClr val="FF0000"/>
                </a:solidFill>
                <a:latin typeface="Arial" panose="020B0604020202020204" pitchFamily="34" charset="0"/>
                <a:ea typeface="宋体" panose="02010600030101010101" pitchFamily="2" charset="-122"/>
              </a:rPr>
              <a:t>//</a:t>
            </a:r>
            <a:r>
              <a:rPr lang="zh-CN" altLang="en-US" dirty="0">
                <a:solidFill>
                  <a:srgbClr val="FF0000"/>
                </a:solidFill>
                <a:latin typeface="Arial" panose="020B0604020202020204" pitchFamily="34" charset="0"/>
                <a:ea typeface="宋体" panose="02010600030101010101" pitchFamily="2" charset="-122"/>
              </a:rPr>
              <a:t>定义模型空间指针</a:t>
            </a:r>
            <a:endParaRPr lang="en-US" altLang="x-none" dirty="0">
              <a:solidFill>
                <a:srgbClr val="FF0000"/>
              </a:solidFill>
              <a:latin typeface="Arial" panose="020B0604020202020204" pitchFamily="34" charset="0"/>
              <a:ea typeface="宋体" panose="02010600030101010101" pitchFamily="2" charset="-122"/>
            </a:endParaRPr>
          </a:p>
          <a:p>
            <a:pPr lvl="0" indent="0">
              <a:lnSpc>
                <a:spcPct val="120000"/>
              </a:lnSpc>
              <a:buNone/>
            </a:pPr>
            <a:r>
              <a:rPr lang="en-US" altLang="x-none" dirty="0">
                <a:latin typeface="Arial" panose="020B0604020202020204" pitchFamily="34" charset="0"/>
                <a:ea typeface="宋体" panose="02010600030101010101" pitchFamily="2" charset="-122"/>
              </a:rPr>
              <a:t>pBlkTbl-&gt;getAt(ACDB_MODEL_SPACE,pBlkTblRcd,AcDb::kForRead);</a:t>
            </a:r>
            <a:endParaRPr lang="en-US" altLang="x-none" dirty="0">
              <a:latin typeface="Arial" panose="020B0604020202020204" pitchFamily="34" charset="0"/>
              <a:ea typeface="宋体" panose="02010600030101010101" pitchFamily="2" charset="-122"/>
            </a:endParaRPr>
          </a:p>
          <a:p>
            <a:pPr lvl="0" indent="0">
              <a:lnSpc>
                <a:spcPct val="120000"/>
              </a:lnSpc>
              <a:buNone/>
            </a:pPr>
            <a:r>
              <a:rPr lang="en-US" altLang="x-none" dirty="0">
                <a:latin typeface="Arial" panose="020B0604020202020204" pitchFamily="34" charset="0"/>
                <a:ea typeface="宋体" panose="02010600030101010101" pitchFamily="2" charset="-122"/>
              </a:rPr>
              <a:t> pBlkTbl-&gt;close();</a:t>
            </a:r>
            <a:endParaRPr lang="en-US" altLang="x-none" dirty="0">
              <a:latin typeface="Arial" panose="020B0604020202020204" pitchFamily="34" charset="0"/>
              <a:ea typeface="宋体" panose="02010600030101010101" pitchFamily="2" charset="-122"/>
            </a:endParaRPr>
          </a:p>
          <a:p>
            <a:pPr lvl="0" indent="0">
              <a:lnSpc>
                <a:spcPct val="120000"/>
              </a:lnSpc>
              <a:buNone/>
            </a:pPr>
            <a:r>
              <a:rPr lang="en-US" altLang="x-none" dirty="0">
                <a:latin typeface="Arial" panose="020B0604020202020204" pitchFamily="34" charset="0"/>
                <a:ea typeface="宋体" panose="02010600030101010101" pitchFamily="2" charset="-122"/>
              </a:rPr>
              <a:t>AcDbBlockTableRecordIterator *pBlkTblRcdItr;  </a:t>
            </a:r>
            <a:r>
              <a:rPr lang="en-US" altLang="x-none" dirty="0">
                <a:solidFill>
                  <a:srgbClr val="FF0000"/>
                </a:solidFill>
                <a:latin typeface="Arial" panose="020B0604020202020204" pitchFamily="34" charset="0"/>
                <a:ea typeface="宋体" panose="02010600030101010101" pitchFamily="2" charset="-122"/>
              </a:rPr>
              <a:t>//</a:t>
            </a:r>
            <a:r>
              <a:rPr lang="zh-CN" altLang="en-US" dirty="0">
                <a:solidFill>
                  <a:srgbClr val="FF0000"/>
                </a:solidFill>
                <a:latin typeface="Arial" panose="020B0604020202020204" pitchFamily="34" charset="0"/>
                <a:ea typeface="宋体" panose="02010600030101010101" pitchFamily="2" charset="-122"/>
              </a:rPr>
              <a:t>定义一个块表浏览器</a:t>
            </a:r>
            <a:endParaRPr lang="en-US" altLang="x-none" dirty="0">
              <a:solidFill>
                <a:srgbClr val="FF0000"/>
              </a:solidFill>
              <a:latin typeface="Arial" panose="020B0604020202020204" pitchFamily="34" charset="0"/>
              <a:ea typeface="宋体" panose="02010600030101010101" pitchFamily="2" charset="-122"/>
            </a:endParaRPr>
          </a:p>
          <a:p>
            <a:pPr lvl="0" indent="0">
              <a:lnSpc>
                <a:spcPct val="120000"/>
              </a:lnSpc>
              <a:buNone/>
            </a:pPr>
            <a:r>
              <a:rPr lang="en-US" altLang="x-none" dirty="0">
                <a:latin typeface="Arial" panose="020B0604020202020204" pitchFamily="34" charset="0"/>
                <a:ea typeface="宋体" panose="02010600030101010101" pitchFamily="2" charset="-122"/>
              </a:rPr>
              <a:t>pBlkTblRcd-&gt;newIterator(pBlkTblRcdItr);</a:t>
            </a:r>
            <a:r>
              <a:rPr lang="zh-CN" altLang="en-US" dirty="0">
                <a:latin typeface="Arial" panose="020B0604020202020204" pitchFamily="34" charset="0"/>
                <a:ea typeface="宋体" panose="02010600030101010101" pitchFamily="2" charset="-122"/>
              </a:rPr>
              <a:t> </a:t>
            </a:r>
            <a:r>
              <a:rPr lang="en-US" altLang="x-none" dirty="0">
                <a:solidFill>
                  <a:srgbClr val="FF0000"/>
                </a:solidFill>
                <a:latin typeface="Arial" panose="020B0604020202020204" pitchFamily="34" charset="0"/>
                <a:ea typeface="宋体" panose="02010600030101010101" pitchFamily="2" charset="-122"/>
              </a:rPr>
              <a:t>//</a:t>
            </a:r>
            <a:r>
              <a:rPr lang="zh-CN" altLang="en-US" dirty="0">
                <a:solidFill>
                  <a:srgbClr val="FF0000"/>
                </a:solidFill>
                <a:latin typeface="Arial" panose="020B0604020202020204" pitchFamily="34" charset="0"/>
                <a:ea typeface="宋体" panose="02010600030101010101" pitchFamily="2" charset="-122"/>
              </a:rPr>
              <a:t>实例化块表浏览器</a:t>
            </a:r>
            <a:endParaRPr lang="en-US" altLang="x-none" dirty="0">
              <a:solidFill>
                <a:srgbClr val="FF0000"/>
              </a:solidFill>
              <a:latin typeface="Arial" panose="020B0604020202020204" pitchFamily="34" charset="0"/>
              <a:ea typeface="宋体" panose="02010600030101010101" pitchFamily="2" charset="-122"/>
            </a:endParaRPr>
          </a:p>
          <a:p>
            <a:pPr lvl="0" indent="0">
              <a:lnSpc>
                <a:spcPct val="120000"/>
              </a:lnSpc>
              <a:buNone/>
            </a:pPr>
            <a:r>
              <a:rPr lang="en-US" altLang="x-none" dirty="0">
                <a:latin typeface="Arial" panose="020B0604020202020204" pitchFamily="34" charset="0"/>
                <a:ea typeface="宋体" panose="02010600030101010101" pitchFamily="2" charset="-122"/>
              </a:rPr>
              <a:t>AcDbEntity *pEnt;</a:t>
            </a:r>
            <a:endParaRPr lang="en-US" altLang="x-none" dirty="0">
              <a:latin typeface="Arial" panose="020B0604020202020204" pitchFamily="34" charset="0"/>
              <a:ea typeface="宋体" panose="02010600030101010101" pitchFamily="2" charset="-122"/>
            </a:endParaRPr>
          </a:p>
          <a:p>
            <a:pPr lvl="0" indent="0">
              <a:lnSpc>
                <a:spcPct val="120000"/>
              </a:lnSpc>
              <a:buNone/>
            </a:pPr>
            <a:r>
              <a:rPr lang="zh-CN" altLang="en-US" dirty="0">
                <a:latin typeface="Arial" panose="020B0604020202020204" pitchFamily="34" charset="0"/>
                <a:ea typeface="宋体" panose="02010600030101010101" pitchFamily="2" charset="-122"/>
              </a:rPr>
              <a:t> </a:t>
            </a:r>
            <a:r>
              <a:rPr lang="en-US" altLang="x-none" dirty="0">
                <a:latin typeface="Arial" panose="020B0604020202020204" pitchFamily="34" charset="0"/>
                <a:ea typeface="宋体" panose="02010600030101010101" pitchFamily="2" charset="-122"/>
              </a:rPr>
              <a:t>for(pBlkTblRcdItr-&gt;start();!pBlkTblRcdItr-&gt;done();pBlkTblRcdItr-&gt;step())</a:t>
            </a:r>
            <a:endParaRPr lang="en-US" altLang="x-none" dirty="0">
              <a:latin typeface="Arial" panose="020B0604020202020204" pitchFamily="34" charset="0"/>
              <a:ea typeface="宋体" panose="02010600030101010101" pitchFamily="2" charset="-122"/>
            </a:endParaRPr>
          </a:p>
          <a:p>
            <a:pPr lvl="0" indent="0">
              <a:lnSpc>
                <a:spcPct val="120000"/>
              </a:lnSpc>
              <a:buNone/>
            </a:pPr>
            <a:r>
              <a:rPr lang="en-US" altLang="x-none" dirty="0">
                <a:latin typeface="Arial" panose="020B0604020202020204" pitchFamily="34" charset="0"/>
                <a:ea typeface="宋体" panose="02010600030101010101" pitchFamily="2" charset="-122"/>
              </a:rPr>
              <a:t>{</a:t>
            </a:r>
            <a:r>
              <a:rPr lang="zh-CN" altLang="en-US" dirty="0">
                <a:latin typeface="Arial" panose="020B0604020202020204" pitchFamily="34" charset="0"/>
                <a:ea typeface="宋体" panose="02010600030101010101" pitchFamily="2" charset="-122"/>
              </a:rPr>
              <a:t>   </a:t>
            </a:r>
            <a:r>
              <a:rPr lang="en-US" altLang="x-none" dirty="0">
                <a:latin typeface="Arial" panose="020B0604020202020204" pitchFamily="34" charset="0"/>
                <a:ea typeface="宋体" panose="02010600030101010101" pitchFamily="2" charset="-122"/>
              </a:rPr>
              <a:t>pBlkTblRcdItr-&gt;getEntity(pEnt,AcDb::kForRead);</a:t>
            </a:r>
            <a:r>
              <a:rPr lang="zh-CN" altLang="en-US" dirty="0">
                <a:latin typeface="Arial" panose="020B0604020202020204" pitchFamily="34" charset="0"/>
                <a:ea typeface="宋体" panose="02010600030101010101" pitchFamily="2" charset="-122"/>
              </a:rPr>
              <a:t> </a:t>
            </a:r>
            <a:r>
              <a:rPr lang="en-US" altLang="x-none" dirty="0">
                <a:solidFill>
                  <a:srgbClr val="FF0000"/>
                </a:solidFill>
                <a:latin typeface="Arial" panose="020B0604020202020204" pitchFamily="34" charset="0"/>
                <a:ea typeface="宋体" panose="02010600030101010101" pitchFamily="2" charset="-122"/>
              </a:rPr>
              <a:t>//</a:t>
            </a:r>
            <a:r>
              <a:rPr lang="zh-CN" altLang="en-US" dirty="0">
                <a:solidFill>
                  <a:srgbClr val="FF0000"/>
                </a:solidFill>
                <a:latin typeface="Arial" panose="020B0604020202020204" pitchFamily="34" charset="0"/>
                <a:ea typeface="宋体" panose="02010600030101010101" pitchFamily="2" charset="-122"/>
              </a:rPr>
              <a:t>通过浏览器查找实体</a:t>
            </a:r>
            <a:endParaRPr lang="en-US" altLang="x-none" dirty="0">
              <a:solidFill>
                <a:srgbClr val="FF0000"/>
              </a:solidFill>
              <a:latin typeface="Arial" panose="020B0604020202020204" pitchFamily="34" charset="0"/>
              <a:ea typeface="宋体" panose="02010600030101010101" pitchFamily="2" charset="-122"/>
            </a:endParaRPr>
          </a:p>
          <a:p>
            <a:pPr lvl="0" indent="0">
              <a:lnSpc>
                <a:spcPct val="120000"/>
              </a:lnSpc>
              <a:buNone/>
            </a:pPr>
            <a:r>
              <a:rPr lang="zh-CN" altLang="en-US" dirty="0">
                <a:latin typeface="Arial" panose="020B0604020202020204" pitchFamily="34" charset="0"/>
                <a:ea typeface="宋体" panose="02010600030101010101" pitchFamily="2" charset="-122"/>
              </a:rPr>
              <a:t>     </a:t>
            </a:r>
            <a:r>
              <a:rPr lang="en-US" altLang="x-none" dirty="0">
                <a:latin typeface="Arial" panose="020B0604020202020204" pitchFamily="34" charset="0"/>
                <a:ea typeface="宋体" panose="02010600030101010101" pitchFamily="2" charset="-122"/>
              </a:rPr>
              <a:t>acutPrintf(“classname:%s\n”,(pEnt-&gt;isA())-&gt;name());</a:t>
            </a:r>
            <a:r>
              <a:rPr lang="zh-CN" altLang="en-US" dirty="0">
                <a:latin typeface="Arial" panose="020B0604020202020204" pitchFamily="34" charset="0"/>
                <a:ea typeface="宋体" panose="02010600030101010101" pitchFamily="2" charset="-122"/>
              </a:rPr>
              <a:t> </a:t>
            </a:r>
            <a:r>
              <a:rPr lang="en-US" altLang="x-none" dirty="0">
                <a:latin typeface="Arial" panose="020B0604020202020204" pitchFamily="34" charset="0"/>
                <a:ea typeface="宋体" panose="02010600030101010101" pitchFamily="2" charset="-122"/>
              </a:rPr>
              <a:t>pEnt-&gt;close();</a:t>
            </a:r>
            <a:r>
              <a:rPr lang="zh-CN" altLang="en-US" dirty="0">
                <a:latin typeface="Arial" panose="020B0604020202020204" pitchFamily="34" charset="0"/>
                <a:ea typeface="宋体" panose="02010600030101010101" pitchFamily="2" charset="-122"/>
              </a:rPr>
              <a:t>    </a:t>
            </a:r>
            <a:r>
              <a:rPr lang="en-US" altLang="x-none" dirty="0">
                <a:latin typeface="Arial" panose="020B0604020202020204" pitchFamily="34" charset="0"/>
                <a:ea typeface="宋体" panose="02010600030101010101" pitchFamily="2" charset="-122"/>
              </a:rPr>
              <a:t>}</a:t>
            </a:r>
            <a:endParaRPr lang="en-US" altLang="x-none" dirty="0">
              <a:latin typeface="Arial" panose="020B0604020202020204" pitchFamily="34" charset="0"/>
              <a:ea typeface="宋体" panose="02010600030101010101" pitchFamily="2" charset="-122"/>
            </a:endParaRPr>
          </a:p>
          <a:p>
            <a:pPr lvl="0" indent="0">
              <a:lnSpc>
                <a:spcPct val="120000"/>
              </a:lnSpc>
              <a:buNone/>
            </a:pPr>
            <a:r>
              <a:rPr lang="zh-CN" altLang="en-US" dirty="0">
                <a:latin typeface="Arial" panose="020B0604020202020204" pitchFamily="34" charset="0"/>
                <a:ea typeface="宋体" panose="02010600030101010101" pitchFamily="2" charset="-122"/>
              </a:rPr>
              <a:t>     </a:t>
            </a:r>
            <a:r>
              <a:rPr lang="en-US" altLang="x-none" dirty="0">
                <a:latin typeface="Arial" panose="020B0604020202020204" pitchFamily="34" charset="0"/>
                <a:ea typeface="宋体" panose="02010600030101010101" pitchFamily="2" charset="-122"/>
              </a:rPr>
              <a:t>pBlkTblRcd-&gt;close();</a:t>
            </a:r>
            <a:r>
              <a:rPr lang="zh-CN" altLang="en-US" dirty="0">
                <a:latin typeface="Arial" panose="020B0604020202020204" pitchFamily="34" charset="0"/>
                <a:ea typeface="宋体" panose="02010600030101010101" pitchFamily="2" charset="-122"/>
              </a:rPr>
              <a:t>   </a:t>
            </a:r>
            <a:r>
              <a:rPr lang="en-US" altLang="x-none" dirty="0">
                <a:latin typeface="Arial" panose="020B0604020202020204" pitchFamily="34" charset="0"/>
                <a:ea typeface="宋体" panose="02010600030101010101" pitchFamily="2" charset="-122"/>
              </a:rPr>
              <a:t>delete pBlkTblRcdItr;</a:t>
            </a:r>
            <a:r>
              <a:rPr lang="zh-CN" altLang="en-US" dirty="0">
                <a:latin typeface="Arial" panose="020B0604020202020204" pitchFamily="34" charset="0"/>
                <a:ea typeface="宋体" panose="02010600030101010101" pitchFamily="2" charset="-122"/>
              </a:rPr>
              <a:t>    </a:t>
            </a:r>
            <a:r>
              <a:rPr lang="en-US" altLang="x-none" dirty="0">
                <a:latin typeface="Arial" panose="020B0604020202020204" pitchFamily="34" charset="0"/>
                <a:ea typeface="宋体" panose="02010600030101010101" pitchFamily="2" charset="-122"/>
              </a:rPr>
              <a:t>delete pDb;</a:t>
            </a:r>
            <a:endParaRPr lang="zh-CN" altLang="en-US" dirty="0">
              <a:latin typeface="Arial" panose="020B0604020202020204" pitchFamily="34" charset="0"/>
              <a:ea typeface="宋体" panose="02010600030101010101" pitchFamily="2" charset="-122"/>
            </a:endParaRPr>
          </a:p>
        </p:txBody>
      </p:sp>
      <p:sp>
        <p:nvSpPr>
          <p:cNvPr id="95237" name="Rectangle 2"/>
          <p:cNvSpPr/>
          <p:nvPr/>
        </p:nvSpPr>
        <p:spPr>
          <a:xfrm>
            <a:off x="500063" y="774700"/>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第一代数据库系统</a:t>
            </a:r>
            <a:r>
              <a:rPr lang="zh-CN" altLang="en-US" sz="2400" dirty="0">
                <a:solidFill>
                  <a:srgbClr val="FF0000"/>
                </a:solidFill>
                <a:latin typeface="Arial" panose="020B0604020202020204" pitchFamily="34" charset="0"/>
                <a:ea typeface="黑体" panose="02010609060101010101" pitchFamily="1" charset="-122"/>
                <a:cs typeface="+mn-ea"/>
              </a:rPr>
              <a:t>--层次数据模型</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矩形 5"/>
          <p:cNvSpPr/>
          <p:nvPr/>
        </p:nvSpPr>
        <p:spPr>
          <a:xfrm>
            <a:off x="547688" y="1452563"/>
            <a:ext cx="3689350" cy="2642235"/>
          </a:xfrm>
          <a:prstGeom prst="rect">
            <a:avLst/>
          </a:prstGeom>
          <a:noFill/>
          <a:ln w="9525">
            <a:noFill/>
          </a:ln>
        </p:spPr>
        <p:txBody>
          <a:bodyPr anchor="t">
            <a:spAutoFit/>
          </a:bodyPr>
          <a:lstStyle/>
          <a:p>
            <a:pPr lvl="0" indent="0">
              <a:buNone/>
            </a:pPr>
            <a:r>
              <a:rPr lang="en-US" altLang="zh-CN" sz="2400" dirty="0">
                <a:solidFill>
                  <a:srgbClr val="FF0000"/>
                </a:solidFill>
                <a:latin typeface="Arial" panose="020B0604020202020204" pitchFamily="34" charset="0"/>
                <a:ea typeface="宋体" panose="02010600030101010101" pitchFamily="2" charset="-122"/>
              </a:rPr>
              <a:t>      </a:t>
            </a:r>
            <a:r>
              <a:rPr lang="zh-CN" altLang="en-US" sz="2400" u="sng" dirty="0">
                <a:solidFill>
                  <a:srgbClr val="FF0000"/>
                </a:solidFill>
                <a:latin typeface="Arial" panose="020B0604020202020204" pitchFamily="34" charset="0"/>
                <a:ea typeface="宋体" panose="02010600030101010101" pitchFamily="2" charset="-122"/>
              </a:rPr>
              <a:t>网状数据模型：</a:t>
            </a:r>
            <a:r>
              <a:rPr lang="zh-CN" altLang="en-US" sz="2000" dirty="0">
                <a:latin typeface="Arial" panose="020B0604020202020204" pitchFamily="34" charset="0"/>
                <a:ea typeface="宋体" panose="02010600030101010101" pitchFamily="2" charset="-122"/>
              </a:rPr>
              <a:t>用图形结构表示实体和实体之间的联系的数据模型就称为网状数据模型，网状数据模型有三个基本概念，即</a:t>
            </a:r>
            <a:r>
              <a:rPr lang="zh-CN" altLang="en-US" sz="2000" u="sng" dirty="0">
                <a:solidFill>
                  <a:srgbClr val="0033CC"/>
                </a:solidFill>
                <a:latin typeface="Arial" panose="020B0604020202020204" pitchFamily="34" charset="0"/>
                <a:ea typeface="宋体" panose="02010600030101010101" pitchFamily="2" charset="-122"/>
              </a:rPr>
              <a:t>记录型</a:t>
            </a:r>
            <a:r>
              <a:rPr lang="zh-CN" altLang="en-US" sz="2000" dirty="0">
                <a:latin typeface="Arial" panose="020B0604020202020204" pitchFamily="34" charset="0"/>
                <a:ea typeface="宋体" panose="02010600030101010101" pitchFamily="2" charset="-122"/>
              </a:rPr>
              <a:t>、</a:t>
            </a:r>
            <a:r>
              <a:rPr lang="zh-CN" altLang="en-US" sz="2000" u="sng" dirty="0">
                <a:solidFill>
                  <a:srgbClr val="0033CC"/>
                </a:solidFill>
                <a:latin typeface="Arial" panose="020B0604020202020204" pitchFamily="34" charset="0"/>
                <a:ea typeface="宋体" panose="02010600030101010101" pitchFamily="2" charset="-122"/>
              </a:rPr>
              <a:t>数据项</a:t>
            </a:r>
            <a:r>
              <a:rPr lang="zh-CN" altLang="en-US" sz="2000" dirty="0">
                <a:latin typeface="Arial" panose="020B0604020202020204" pitchFamily="34" charset="0"/>
                <a:ea typeface="宋体" panose="02010600030101010101" pitchFamily="2" charset="-122"/>
              </a:rPr>
              <a:t>（或字段）以及</a:t>
            </a:r>
            <a:r>
              <a:rPr lang="zh-CN" altLang="en-US" sz="2000" u="sng" dirty="0">
                <a:solidFill>
                  <a:srgbClr val="0033CC"/>
                </a:solidFill>
                <a:latin typeface="Arial" panose="020B0604020202020204" pitchFamily="34" charset="0"/>
                <a:ea typeface="宋体" panose="02010600030101010101" pitchFamily="2" charset="-122"/>
              </a:rPr>
              <a:t>链接</a:t>
            </a:r>
            <a:r>
              <a:rPr lang="zh-CN" altLang="en-US" sz="2000" dirty="0">
                <a:latin typeface="Arial" panose="020B0604020202020204" pitchFamily="34" charset="0"/>
                <a:ea typeface="宋体" panose="02010600030101010101" pitchFamily="2" charset="-122"/>
              </a:rPr>
              <a:t>。</a:t>
            </a:r>
            <a:endParaRPr lang="zh-CN" altLang="en-US" sz="2000" dirty="0">
              <a:latin typeface="Arial" panose="020B0604020202020204" pitchFamily="34" charset="0"/>
              <a:ea typeface="宋体" panose="02010600030101010101" pitchFamily="2" charset="-122"/>
            </a:endParaRPr>
          </a:p>
        </p:txBody>
      </p:sp>
      <p:sp>
        <p:nvSpPr>
          <p:cNvPr id="91140" name="矩形 4"/>
          <p:cNvSpPr/>
          <p:nvPr/>
        </p:nvSpPr>
        <p:spPr>
          <a:xfrm>
            <a:off x="517525" y="4719638"/>
            <a:ext cx="5486400" cy="1338262"/>
          </a:xfrm>
          <a:prstGeom prst="rect">
            <a:avLst/>
          </a:prstGeom>
          <a:noFill/>
          <a:ln w="9525">
            <a:noFill/>
          </a:ln>
        </p:spPr>
        <p:txBody>
          <a:bodyPr anchor="t">
            <a:spAutoFit/>
          </a:bodyPr>
          <a:lstStyle/>
          <a:p>
            <a:pPr lvl="0" indent="0">
              <a:buNone/>
            </a:pPr>
            <a:r>
              <a:rPr lang="zh-CN" altLang="en-US" sz="2000" dirty="0">
                <a:latin typeface="Arial" panose="020B0604020202020204" pitchFamily="34" charset="0"/>
                <a:ea typeface="宋体" panose="02010600030101010101" pitchFamily="2" charset="-122"/>
              </a:rPr>
              <a:t>        网状模型比层次模型更具普遍性。它去掉了层次模型的两个限制，允许结点有多个双亲结点。可比层次模型更直接地描述现实世界。</a:t>
            </a:r>
            <a:endParaRPr lang="zh-CN" altLang="en-US" sz="2000" dirty="0">
              <a:latin typeface="Arial" panose="020B0604020202020204" pitchFamily="34" charset="0"/>
              <a:ea typeface="宋体" panose="02010600030101010101" pitchFamily="2" charset="-122"/>
            </a:endParaRPr>
          </a:p>
        </p:txBody>
      </p:sp>
      <p:graphicFrame>
        <p:nvGraphicFramePr>
          <p:cNvPr id="91141" name="Object 5"/>
          <p:cNvGraphicFramePr>
            <a:graphicFrameLocks noGrp="1" noChangeAspect="1"/>
          </p:cNvGraphicFramePr>
          <p:nvPr/>
        </p:nvGraphicFramePr>
        <p:xfrm>
          <a:off x="5287963" y="3638550"/>
          <a:ext cx="3551237" cy="2797175"/>
        </p:xfrm>
        <a:graphic>
          <a:graphicData uri="http://schemas.openxmlformats.org/presentationml/2006/ole">
            <mc:AlternateContent xmlns:mc="http://schemas.openxmlformats.org/markup-compatibility/2006">
              <mc:Choice xmlns:v="urn:schemas-microsoft-com:vml" Requires="v">
                <p:oleObj spid="_x0000_s8225" name="" r:id="rId1" imgW="9439275" imgH="7448550" progId="Word.Picture.8">
                  <p:embed/>
                </p:oleObj>
              </mc:Choice>
              <mc:Fallback>
                <p:oleObj name="" r:id="rId1" imgW="9439275" imgH="7448550" progId="Word.Picture.8">
                  <p:embed/>
                  <p:pic>
                    <p:nvPicPr>
                      <p:cNvPr id="0" name="图片 3081"/>
                      <p:cNvPicPr/>
                      <p:nvPr/>
                    </p:nvPicPr>
                    <p:blipFill>
                      <a:blip r:embed="rId2"/>
                      <a:stretch>
                        <a:fillRect/>
                      </a:stretch>
                    </p:blipFill>
                    <p:spPr>
                      <a:xfrm>
                        <a:off x="5287963" y="3638550"/>
                        <a:ext cx="3551237" cy="2797175"/>
                      </a:xfrm>
                      <a:prstGeom prst="rect">
                        <a:avLst/>
                      </a:prstGeom>
                      <a:noFill/>
                      <a:ln w="38100">
                        <a:noFill/>
                        <a:miter/>
                      </a:ln>
                    </p:spPr>
                  </p:pic>
                </p:oleObj>
              </mc:Fallback>
            </mc:AlternateContent>
          </a:graphicData>
        </a:graphic>
      </p:graphicFrame>
      <p:pic>
        <p:nvPicPr>
          <p:cNvPr id="91142" name="Picture 7"/>
          <p:cNvPicPr>
            <a:picLocks noChangeAspect="1"/>
          </p:cNvPicPr>
          <p:nvPr/>
        </p:nvPicPr>
        <p:blipFill>
          <a:blip r:embed="rId3"/>
          <a:stretch>
            <a:fillRect/>
          </a:stretch>
        </p:blipFill>
        <p:spPr>
          <a:xfrm>
            <a:off x="4410075" y="1458913"/>
            <a:ext cx="4383088" cy="1846262"/>
          </a:xfrm>
          <a:prstGeom prst="rect">
            <a:avLst/>
          </a:prstGeom>
          <a:noFill/>
          <a:ln w="9525">
            <a:noFill/>
          </a:ln>
        </p:spPr>
      </p:pic>
      <p:sp>
        <p:nvSpPr>
          <p:cNvPr id="2" name="Rectangle 2"/>
          <p:cNvSpPr/>
          <p:nvPr/>
        </p:nvSpPr>
        <p:spPr>
          <a:xfrm>
            <a:off x="500063" y="774700"/>
            <a:ext cx="8229600" cy="692150"/>
          </a:xfrm>
          <a:prstGeom prst="rect">
            <a:avLst/>
          </a:prstGeom>
          <a:noFill/>
          <a:ln w="9525">
            <a:noFill/>
          </a:ln>
        </p:spPr>
        <p:txBody>
          <a:bodyPr anchor="ctr"/>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2. </a:t>
            </a:r>
            <a:r>
              <a:rPr lang="zh-CN" altLang="en-US" sz="2800" dirty="0">
                <a:solidFill>
                  <a:srgbClr val="3333CC"/>
                </a:solidFill>
                <a:latin typeface="Arial" panose="020B0604020202020204" pitchFamily="34" charset="0"/>
                <a:ea typeface="黑体" panose="02010609060101010101" pitchFamily="1" charset="-122"/>
              </a:rPr>
              <a:t>第一代数据库系统</a:t>
            </a:r>
            <a:r>
              <a:rPr lang="zh-CN" altLang="en-US" sz="2400" dirty="0">
                <a:solidFill>
                  <a:srgbClr val="FF0000"/>
                </a:solidFill>
                <a:latin typeface="Arial" panose="020B0604020202020204" pitchFamily="34" charset="0"/>
                <a:ea typeface="黑体" panose="02010609060101010101" pitchFamily="1" charset="-122"/>
                <a:cs typeface="+mn-ea"/>
              </a:rPr>
              <a:t>--网状数据模型</a:t>
            </a:r>
            <a:endParaRPr lang="en-US" altLang="x-none" sz="2400" dirty="0">
              <a:solidFill>
                <a:srgbClr val="FF0000"/>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txBox="1"/>
          <p:nvPr/>
        </p:nvSpPr>
        <p:spPr>
          <a:xfrm>
            <a:off x="522288" y="886143"/>
            <a:ext cx="8621712"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3. </a:t>
            </a:r>
            <a:r>
              <a:rPr lang="zh-CN" altLang="en-US" sz="2800" dirty="0">
                <a:solidFill>
                  <a:srgbClr val="3333CC"/>
                </a:solidFill>
                <a:latin typeface="Arial" panose="020B0604020202020204" pitchFamily="34" charset="0"/>
                <a:ea typeface="黑体" panose="02010609060101010101" pitchFamily="1" charset="-122"/>
              </a:rPr>
              <a:t>第二代数据库系统</a:t>
            </a:r>
            <a:r>
              <a:rPr lang="zh-CN" altLang="en-US" sz="2400" dirty="0">
                <a:solidFill>
                  <a:srgbClr val="FF0000"/>
                </a:solidFill>
                <a:latin typeface="Arial" panose="020B0604020202020204" pitchFamily="34" charset="0"/>
                <a:ea typeface="黑体" panose="02010609060101010101" pitchFamily="1" charset="-122"/>
              </a:rPr>
              <a:t>（</a:t>
            </a:r>
            <a:r>
              <a:rPr lang="en-US" altLang="x-none" sz="2400" dirty="0">
                <a:solidFill>
                  <a:srgbClr val="FF0000"/>
                </a:solidFill>
                <a:latin typeface="Arial" panose="020B0604020202020204" pitchFamily="34" charset="0"/>
                <a:ea typeface="黑体" panose="02010609060101010101" pitchFamily="1" charset="-122"/>
              </a:rPr>
              <a:t>20</a:t>
            </a:r>
            <a:r>
              <a:rPr lang="zh-CN" altLang="en-US" sz="2400" dirty="0">
                <a:solidFill>
                  <a:srgbClr val="FF0000"/>
                </a:solidFill>
                <a:latin typeface="Arial" panose="020B0604020202020204" pitchFamily="34" charset="0"/>
                <a:ea typeface="黑体" panose="02010609060101010101" pitchFamily="1" charset="-122"/>
              </a:rPr>
              <a:t>世纪</a:t>
            </a:r>
            <a:r>
              <a:rPr lang="en-US" altLang="x-none" sz="2400" dirty="0">
                <a:solidFill>
                  <a:srgbClr val="FF0000"/>
                </a:solidFill>
                <a:latin typeface="Arial" panose="020B0604020202020204" pitchFamily="34" charset="0"/>
                <a:ea typeface="黑体" panose="02010609060101010101" pitchFamily="1" charset="-122"/>
              </a:rPr>
              <a:t>70</a:t>
            </a:r>
            <a:r>
              <a:rPr lang="zh-CN" altLang="en-US" sz="2400" dirty="0">
                <a:solidFill>
                  <a:srgbClr val="FF0000"/>
                </a:solidFill>
                <a:latin typeface="Arial" panose="020B0604020202020204" pitchFamily="34" charset="0"/>
                <a:ea typeface="黑体" panose="02010609060101010101" pitchFamily="1" charset="-122"/>
              </a:rPr>
              <a:t>年代初开始）</a:t>
            </a:r>
            <a:endParaRPr lang="zh-CN" altLang="en-US" sz="2400" dirty="0">
              <a:solidFill>
                <a:srgbClr val="FF0000"/>
              </a:solidFill>
              <a:latin typeface="Arial" panose="020B0604020202020204" pitchFamily="34" charset="0"/>
              <a:ea typeface="黑体" panose="02010609060101010101" pitchFamily="1" charset="-122"/>
            </a:endParaRPr>
          </a:p>
        </p:txBody>
      </p:sp>
      <p:grpSp>
        <p:nvGrpSpPr>
          <p:cNvPr id="90115" name="组合 8"/>
          <p:cNvGrpSpPr/>
          <p:nvPr/>
        </p:nvGrpSpPr>
        <p:grpSpPr>
          <a:xfrm>
            <a:off x="505460" y="1953260"/>
            <a:ext cx="8203565" cy="3752850"/>
            <a:chOff x="-66972" y="-154586"/>
            <a:chExt cx="7869852" cy="3920958"/>
          </a:xfrm>
        </p:grpSpPr>
        <p:sp>
          <p:nvSpPr>
            <p:cNvPr id="97283" name="Rectangle 3"/>
            <p:cNvSpPr txBox="1"/>
            <p:nvPr/>
          </p:nvSpPr>
          <p:spPr>
            <a:xfrm>
              <a:off x="-66972" y="-154586"/>
              <a:ext cx="4886143" cy="3920958"/>
            </a:xfrm>
            <a:prstGeom prst="rect">
              <a:avLst/>
            </a:prstGeom>
            <a:noFill/>
            <a:ln w="9525">
              <a:noFill/>
            </a:ln>
          </p:spPr>
          <p:txBody>
            <a:bodyPr anchor="t"/>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1</a:t>
              </a:r>
              <a:r>
                <a:rPr lang="zh-CN" altLang="en-US" sz="2200" dirty="0">
                  <a:latin typeface="华文楷体" panose="02010600040101010101" pitchFamily="2" charset="-122"/>
                  <a:ea typeface="宋体" panose="02010600030101010101" pitchFamily="2" charset="-122"/>
                </a:rPr>
                <a:t>970，</a:t>
              </a:r>
              <a:r>
                <a:rPr lang="de-DE" altLang="en-US" sz="2200" dirty="0">
                  <a:latin typeface="华文楷体" panose="02010600040101010101" pitchFamily="2" charset="-122"/>
                  <a:ea typeface="宋体" panose="02010600030101010101" pitchFamily="2" charset="-122"/>
                </a:rPr>
                <a:t>IBM</a:t>
              </a:r>
              <a:r>
                <a:rPr lang="zh-CN" altLang="en-US" sz="2200" dirty="0">
                  <a:latin typeface="华文楷体" panose="02010600040101010101" pitchFamily="2" charset="-122"/>
                  <a:ea typeface="宋体" panose="02010600030101010101" pitchFamily="2" charset="-122"/>
                </a:rPr>
                <a:t>的高级研究员，</a:t>
              </a:r>
              <a:r>
                <a:rPr lang="zh-CN" altLang="de-DE" sz="2200" dirty="0">
                  <a:latin typeface="华文楷体" panose="02010600040101010101" pitchFamily="2" charset="-122"/>
                  <a:ea typeface="宋体" panose="02010600030101010101" pitchFamily="2" charset="-122"/>
                </a:rPr>
                <a:t>密歇根大学计算机科学专业</a:t>
              </a:r>
              <a:r>
                <a:rPr lang="zh-CN" altLang="en-US" sz="2200" dirty="0">
                  <a:latin typeface="华文楷体" panose="02010600040101010101" pitchFamily="2" charset="-122"/>
                  <a:ea typeface="宋体" panose="02010600030101010101" pitchFamily="2" charset="-122"/>
                </a:rPr>
                <a:t>博士，</a:t>
              </a:r>
              <a:r>
                <a:rPr lang="de-DE" altLang="en-US" sz="2200" dirty="0">
                  <a:latin typeface="华文楷体" panose="02010600040101010101" pitchFamily="2" charset="-122"/>
                  <a:ea typeface="宋体" panose="02010600030101010101" pitchFamily="2" charset="-122"/>
                </a:rPr>
                <a:t>E.F.Codd</a:t>
              </a:r>
              <a:r>
                <a:rPr lang="zh-CN" altLang="en-US" sz="2200" dirty="0">
                  <a:latin typeface="华文楷体" panose="02010600040101010101" pitchFamily="2" charset="-122"/>
                  <a:ea typeface="宋体" panose="02010600030101010101" pitchFamily="2" charset="-122"/>
                </a:rPr>
                <a:t>（挨德加▪科德）</a:t>
              </a:r>
              <a:r>
                <a:rPr lang="zh-CN" altLang="en-US" sz="2200" dirty="0">
                  <a:sym typeface="+mn-ea"/>
                </a:rPr>
                <a:t>在</a:t>
              </a:r>
              <a:r>
                <a:rPr lang="en-US" altLang="zh-CN" sz="2200" dirty="0">
                  <a:sym typeface="+mn-ea"/>
                </a:rPr>
                <a:t>Communications of ACM</a:t>
              </a:r>
              <a:r>
                <a:rPr lang="zh-CN" altLang="en-US" sz="2200" dirty="0">
                  <a:sym typeface="+mn-ea"/>
                </a:rPr>
                <a:t>上发表了</a:t>
              </a:r>
              <a:r>
                <a:rPr lang="en-US" altLang="zh-CN" sz="2200" dirty="0">
                  <a:sym typeface="+mn-ea"/>
                </a:rPr>
                <a:t>“</a:t>
              </a:r>
              <a:r>
                <a:rPr lang="en-US" altLang="zh-CN" sz="2200" dirty="0">
                  <a:solidFill>
                    <a:srgbClr val="0000FF"/>
                  </a:solidFill>
                  <a:sym typeface="+mn-ea"/>
                </a:rPr>
                <a:t>A Relational Model of Data for Large Shared Data Banks</a:t>
              </a:r>
              <a:r>
                <a:rPr lang="en-US" altLang="zh-CN" sz="2200" dirty="0">
                  <a:sym typeface="+mn-ea"/>
                </a:rPr>
                <a:t>” </a:t>
              </a:r>
              <a:r>
                <a:rPr lang="zh-CN" altLang="en-US" sz="2200" dirty="0">
                  <a:sym typeface="+mn-ea"/>
                </a:rPr>
                <a:t>一文，</a:t>
              </a:r>
              <a:r>
                <a:rPr lang="zh-CN" altLang="en-US" sz="2200" dirty="0">
                  <a:latin typeface="华文楷体" panose="02010600040101010101" pitchFamily="2" charset="-122"/>
                  <a:ea typeface="宋体" panose="02010600030101010101" pitchFamily="2" charset="-122"/>
                </a:rPr>
                <a:t>并在后续的研究中提出了关系代数和关系运算，奠定了关系型数据库管理系统的基础</a:t>
              </a:r>
              <a:r>
                <a:rPr lang="zh-CN" altLang="en-US" sz="2200" dirty="0">
                  <a:solidFill>
                    <a:srgbClr val="A50021"/>
                  </a:solidFill>
                  <a:latin typeface="华文楷体" panose="02010600040101010101" pitchFamily="2" charset="-122"/>
                  <a:ea typeface="宋体" panose="02010600030101010101" pitchFamily="2" charset="-122"/>
                </a:rPr>
                <a:t>（关系数据库之父），</a:t>
              </a:r>
              <a:r>
                <a:rPr lang="zh-CN" altLang="en-US" sz="2200" dirty="0">
                  <a:solidFill>
                    <a:srgbClr val="A50021"/>
                  </a:solidFill>
                  <a:latin typeface="华文楷体" panose="02010600040101010101" pitchFamily="2" charset="-122"/>
                  <a:sym typeface="+mn-ea"/>
                </a:rPr>
                <a:t>数据库界第二个图灵奖（</a:t>
              </a:r>
              <a:r>
                <a:rPr lang="de-DE" altLang="en-US" sz="2200" dirty="0">
                  <a:solidFill>
                    <a:srgbClr val="A50021"/>
                  </a:solidFill>
                  <a:latin typeface="华文楷体" panose="02010600040101010101" pitchFamily="2" charset="-122"/>
                  <a:sym typeface="+mn-ea"/>
                </a:rPr>
                <a:t>1981</a:t>
              </a:r>
              <a:r>
                <a:rPr lang="zh-CN" altLang="en-US" sz="2200" dirty="0">
                  <a:solidFill>
                    <a:srgbClr val="A50021"/>
                  </a:solidFill>
                  <a:latin typeface="华文楷体" panose="02010600040101010101" pitchFamily="2" charset="-122"/>
                  <a:sym typeface="+mn-ea"/>
                </a:rPr>
                <a:t>年）</a:t>
              </a:r>
              <a:r>
                <a:rPr lang="de-DE" altLang="en-US" sz="2200" dirty="0">
                  <a:solidFill>
                    <a:srgbClr val="A50021"/>
                  </a:solidFill>
                  <a:latin typeface="华文楷体" panose="02010600040101010101" pitchFamily="2" charset="-122"/>
                  <a:sym typeface="+mn-ea"/>
                </a:rPr>
                <a:t> </a:t>
              </a:r>
              <a:endParaRPr lang="zh-CN" altLang="en-US" sz="2400" dirty="0">
                <a:solidFill>
                  <a:srgbClr val="A50021"/>
                </a:solidFill>
                <a:latin typeface="华文楷体" panose="02010600040101010101" pitchFamily="2" charset="-122"/>
                <a:ea typeface="宋体" panose="02010600030101010101" pitchFamily="2" charset="-122"/>
              </a:endParaRPr>
            </a:p>
          </p:txBody>
        </p:sp>
        <p:pic>
          <p:nvPicPr>
            <p:cNvPr id="97284" name="Picture 4" descr="Codd1969"/>
            <p:cNvPicPr>
              <a:picLocks noChangeAspect="1"/>
            </p:cNvPicPr>
            <p:nvPr/>
          </p:nvPicPr>
          <p:blipFill>
            <a:blip r:embed="rId1"/>
            <a:srcRect l="7222"/>
            <a:stretch>
              <a:fillRect/>
            </a:stretch>
          </p:blipFill>
          <p:spPr>
            <a:xfrm>
              <a:off x="5019040" y="-154586"/>
              <a:ext cx="2783840" cy="2891956"/>
            </a:xfrm>
            <a:prstGeom prst="rect">
              <a:avLst/>
            </a:prstGeom>
            <a:noFill/>
            <a:ln w="9525">
              <a:noFill/>
            </a:ln>
          </p:spPr>
        </p:pic>
        <p:sp>
          <p:nvSpPr>
            <p:cNvPr id="97285" name="Rectangle 5"/>
            <p:cNvSpPr/>
            <p:nvPr/>
          </p:nvSpPr>
          <p:spPr>
            <a:xfrm>
              <a:off x="5497577" y="2575851"/>
              <a:ext cx="2173287" cy="702588"/>
            </a:xfrm>
            <a:prstGeom prst="rect">
              <a:avLst/>
            </a:prstGeom>
            <a:noFill/>
            <a:ln w="9525">
              <a:noFill/>
            </a:ln>
          </p:spPr>
          <p:txBody>
            <a:bodyPr anchor="t">
              <a:spAutoFit/>
            </a:bodyPr>
            <a:lstStyle/>
            <a:p>
              <a:pPr lvl="0" indent="0"/>
              <a:r>
                <a:rPr lang="de-DE" altLang="en-US" sz="2800" i="1" dirty="0">
                  <a:solidFill>
                    <a:srgbClr val="0000CC"/>
                  </a:solidFill>
                  <a:latin typeface="宋体" panose="02010600030101010101" pitchFamily="2" charset="-122"/>
                  <a:ea typeface="宋体" panose="02010600030101010101" pitchFamily="2" charset="-122"/>
                </a:rPr>
                <a:t>E.F.Codd</a:t>
              </a:r>
              <a:endParaRPr lang="zh-CN" altLang="en-US" sz="2800" i="1" dirty="0">
                <a:solidFill>
                  <a:srgbClr val="0000CC"/>
                </a:solidFill>
                <a:latin typeface="宋体" panose="02010600030101010101" pitchFamily="2" charset="-122"/>
                <a:ea typeface="宋体" panose="02010600030101010101" pitchFamily="2" charset="-122"/>
              </a:endParaRPr>
            </a:p>
          </p:txBody>
        </p:sp>
      </p:grpSp>
      <p:sp>
        <p:nvSpPr>
          <p:cNvPr id="97287" name="矩形 1"/>
          <p:cNvSpPr/>
          <p:nvPr/>
        </p:nvSpPr>
        <p:spPr>
          <a:xfrm>
            <a:off x="544513" y="1391285"/>
            <a:ext cx="8164512" cy="476250"/>
          </a:xfrm>
          <a:prstGeom prst="rect">
            <a:avLst/>
          </a:prstGeom>
          <a:noFill/>
          <a:ln w="9525">
            <a:noFill/>
          </a:ln>
        </p:spPr>
        <p:txBody>
          <a:bodyPr anchor="t">
            <a:spAutoFit/>
          </a:bodyPr>
          <a:lstStyle/>
          <a:p>
            <a:pPr lvl="0" indent="0">
              <a:lnSpc>
                <a:spcPct val="120000"/>
              </a:lnSpc>
              <a:buNone/>
            </a:pPr>
            <a:r>
              <a:rPr lang="zh-CN" altLang="en-US" sz="2400" dirty="0">
                <a:latin typeface="宋体" panose="02010600030101010101" pitchFamily="2" charset="-122"/>
                <a:ea typeface="宋体" panose="02010600030101010101" pitchFamily="2" charset="-122"/>
              </a:rPr>
              <a:t>    支持关系模型的关系数据库，即第二代数据库系统。</a:t>
            </a:r>
            <a:endParaRPr lang="zh-CN" altLang="en-US" sz="2400" dirty="0">
              <a:latin typeface="宋体" panose="02010600030101010101" pitchFamily="2" charset="-122"/>
              <a:ea typeface="宋体" panose="02010600030101010101" pitchFamily="2" charset="-122"/>
            </a:endParaRPr>
          </a:p>
        </p:txBody>
      </p:sp>
      <p:sp>
        <p:nvSpPr>
          <p:cNvPr id="3" name="文本框 2"/>
          <p:cNvSpPr txBox="1"/>
          <p:nvPr/>
        </p:nvSpPr>
        <p:spPr>
          <a:xfrm>
            <a:off x="5638165" y="5153660"/>
            <a:ext cx="3505835" cy="922020"/>
          </a:xfrm>
          <a:prstGeom prst="rect">
            <a:avLst/>
          </a:prstGeom>
          <a:solidFill>
            <a:schemeClr val="accent5"/>
          </a:solidFill>
        </p:spPr>
        <p:txBody>
          <a:bodyPr wrap="square" rtlCol="0" anchor="t">
            <a:spAutoFit/>
          </a:bodyPr>
          <a:lstStyle/>
          <a:p>
            <a:pPr>
              <a:lnSpc>
                <a:spcPct val="100000"/>
              </a:lnSpc>
              <a:buFont typeface="Wingdings" panose="05000000000000000000" charset="0"/>
              <a:buChar char=""/>
            </a:pPr>
            <a:r>
              <a:rPr lang="en-US" altLang="zh-CN" dirty="0">
                <a:sym typeface="+mn-ea"/>
              </a:rPr>
              <a:t>ACM</a:t>
            </a:r>
            <a:r>
              <a:rPr lang="zh-CN" altLang="en-US" dirty="0">
                <a:sym typeface="+mn-ea"/>
              </a:rPr>
              <a:t>后来在</a:t>
            </a:r>
            <a:r>
              <a:rPr lang="en-US" altLang="zh-CN" dirty="0">
                <a:sym typeface="+mn-ea"/>
              </a:rPr>
              <a:t>1983</a:t>
            </a:r>
            <a:r>
              <a:rPr lang="zh-CN" altLang="en-US" dirty="0">
                <a:sym typeface="+mn-ea"/>
              </a:rPr>
              <a:t>年把这篇论文列为从</a:t>
            </a:r>
            <a:r>
              <a:rPr lang="en-US" altLang="zh-CN" dirty="0">
                <a:sym typeface="+mn-ea"/>
              </a:rPr>
              <a:t>1958</a:t>
            </a:r>
            <a:r>
              <a:rPr lang="zh-CN" altLang="en-US" dirty="0">
                <a:sym typeface="+mn-ea"/>
              </a:rPr>
              <a:t>年以来的</a:t>
            </a:r>
            <a:r>
              <a:rPr lang="en-US" altLang="zh-CN" dirty="0">
                <a:sym typeface="+mn-ea"/>
              </a:rPr>
              <a:t>25</a:t>
            </a:r>
            <a:r>
              <a:rPr lang="zh-CN" altLang="en-US" dirty="0">
                <a:sym typeface="+mn-ea"/>
              </a:rPr>
              <a:t>年中最具有里程碑意义的</a:t>
            </a:r>
            <a:r>
              <a:rPr lang="en-US" altLang="zh-CN" dirty="0">
                <a:sym typeface="+mn-ea"/>
              </a:rPr>
              <a:t>25</a:t>
            </a:r>
            <a:r>
              <a:rPr lang="zh-CN" altLang="en-US" dirty="0">
                <a:sym typeface="+mn-ea"/>
              </a:rPr>
              <a:t>篇论文之一。</a:t>
            </a:r>
            <a:endParaRPr lang="zh-CN" altLang="en-US"/>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txBox="1"/>
          <p:nvPr/>
        </p:nvSpPr>
        <p:spPr>
          <a:xfrm>
            <a:off x="522288" y="928688"/>
            <a:ext cx="8621712"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3. </a:t>
            </a:r>
            <a:r>
              <a:rPr lang="zh-CN" altLang="en-US" sz="2800" dirty="0">
                <a:solidFill>
                  <a:srgbClr val="3333CC"/>
                </a:solidFill>
                <a:latin typeface="Arial" panose="020B0604020202020204" pitchFamily="34" charset="0"/>
                <a:ea typeface="黑体" panose="02010609060101010101" pitchFamily="1" charset="-122"/>
              </a:rPr>
              <a:t>第二代数据库系统</a:t>
            </a:r>
            <a:r>
              <a:rPr lang="zh-CN" altLang="en-US" sz="2400" dirty="0">
                <a:solidFill>
                  <a:srgbClr val="FF0000"/>
                </a:solidFill>
                <a:latin typeface="Arial" panose="020B0604020202020204" pitchFamily="34" charset="0"/>
                <a:ea typeface="黑体" panose="02010609060101010101" pitchFamily="1" charset="-122"/>
              </a:rPr>
              <a:t>（</a:t>
            </a:r>
            <a:r>
              <a:rPr lang="en-US" altLang="x-none" sz="2400" dirty="0">
                <a:solidFill>
                  <a:srgbClr val="FF0000"/>
                </a:solidFill>
                <a:latin typeface="Arial" panose="020B0604020202020204" pitchFamily="34" charset="0"/>
                <a:ea typeface="黑体" panose="02010609060101010101" pitchFamily="1" charset="-122"/>
              </a:rPr>
              <a:t>20</a:t>
            </a:r>
            <a:r>
              <a:rPr lang="zh-CN" altLang="en-US" sz="2400" dirty="0">
                <a:solidFill>
                  <a:srgbClr val="FF0000"/>
                </a:solidFill>
                <a:latin typeface="Arial" panose="020B0604020202020204" pitchFamily="34" charset="0"/>
                <a:ea typeface="黑体" panose="02010609060101010101" pitchFamily="1" charset="-122"/>
              </a:rPr>
              <a:t>世纪</a:t>
            </a:r>
            <a:r>
              <a:rPr lang="en-US" altLang="x-none" sz="2400" dirty="0">
                <a:solidFill>
                  <a:srgbClr val="FF0000"/>
                </a:solidFill>
                <a:latin typeface="Arial" panose="020B0604020202020204" pitchFamily="34" charset="0"/>
                <a:ea typeface="黑体" panose="02010609060101010101" pitchFamily="1" charset="-122"/>
              </a:rPr>
              <a:t>70</a:t>
            </a:r>
            <a:r>
              <a:rPr lang="zh-CN" altLang="en-US" sz="2400" dirty="0">
                <a:solidFill>
                  <a:srgbClr val="FF0000"/>
                </a:solidFill>
                <a:latin typeface="Arial" panose="020B0604020202020204" pitchFamily="34" charset="0"/>
                <a:ea typeface="黑体" panose="02010609060101010101" pitchFamily="1" charset="-122"/>
              </a:rPr>
              <a:t>年代初开始）</a:t>
            </a:r>
            <a:endParaRPr lang="zh-CN" altLang="en-US" sz="2400" dirty="0">
              <a:solidFill>
                <a:srgbClr val="FF0000"/>
              </a:solidFill>
              <a:latin typeface="Arial" panose="020B0604020202020204" pitchFamily="34" charset="0"/>
              <a:ea typeface="黑体" panose="02010609060101010101" pitchFamily="1" charset="-122"/>
            </a:endParaRPr>
          </a:p>
        </p:txBody>
      </p:sp>
      <p:graphicFrame>
        <p:nvGraphicFramePr>
          <p:cNvPr id="92164" name="表格 92163"/>
          <p:cNvGraphicFramePr/>
          <p:nvPr/>
        </p:nvGraphicFramePr>
        <p:xfrm>
          <a:off x="611505" y="2162175"/>
          <a:ext cx="4836160" cy="1779270"/>
        </p:xfrm>
        <a:graphic>
          <a:graphicData uri="http://schemas.openxmlformats.org/drawingml/2006/table">
            <a:tbl>
              <a:tblPr/>
              <a:tblGrid>
                <a:gridCol w="1208405"/>
                <a:gridCol w="1014730"/>
                <a:gridCol w="1319530"/>
                <a:gridCol w="1293495"/>
              </a:tblGrid>
              <a:tr h="36576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a:t>姓名</a:t>
                      </a:r>
                      <a:endParaRPr lang="zh-CN" altLang="en-US" b="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u="sng">
                          <a:solidFill>
                            <a:srgbClr val="660066"/>
                          </a:solidFill>
                        </a:rPr>
                        <a:t>学号</a:t>
                      </a:r>
                      <a:endParaRPr lang="zh-CN" altLang="en-US" u="sng">
                        <a:solidFill>
                          <a:srgbClr val="660066"/>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D.O.B</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a:solidFill>
                            <a:srgbClr val="660066"/>
                          </a:solidFill>
                        </a:rPr>
                        <a:t>班号</a:t>
                      </a:r>
                      <a:endParaRPr lang="zh-CN" altLang="en-US" b="0">
                        <a:solidFill>
                          <a:srgbClr val="660066"/>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0675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Peter Bach</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2000-101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5-10-1986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计算机</a:t>
                      </a:r>
                      <a:r>
                        <a:rPr lang="de-DE" altLang="en-US" sz="1800" b="0" dirty="0"/>
                        <a:t>200001</a:t>
                      </a:r>
                      <a:endParaRPr lang="de-DE" altLang="en-US"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706755">
                <a:tc>
                  <a:txBody>
                    <a:bodyPr/>
                    <a:lstStyle/>
                    <a:p>
                      <a:pPr marL="0" lvl="0" indent="0" algn="ctr" eaLnBrk="1" hangingPunct="1">
                        <a:lnSpc>
                          <a:spcPct val="100000"/>
                        </a:lnSpc>
                        <a:spcBef>
                          <a:spcPct val="20000"/>
                        </a:spcBef>
                        <a:buClr>
                          <a:srgbClr val="000000"/>
                        </a:buClr>
                        <a:buFont typeface="Arial" panose="020B0604020202020204" pitchFamily="34" charset="0"/>
                        <a:buNone/>
                      </a:pPr>
                      <a:r>
                        <a:rPr lang="en-US" altLang="de-DE" b="0" dirty="0">
                          <a:ea typeface="华文楷体" panose="02010600040101010101" pitchFamily="2" charset="-122"/>
                        </a:rPr>
                        <a:t>Jarry</a:t>
                      </a:r>
                      <a:endParaRPr lang="en-US" altLang="de-DE"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lgn="ctr">
                      <a:solidFill>
                        <a:schemeClr val="tx1"/>
                      </a:solidFill>
                      <a:prstDash val="solid"/>
                      <a:roun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lnSpc>
                          <a:spcPct val="100000"/>
                        </a:lnSpc>
                        <a:spcBef>
                          <a:spcPct val="20000"/>
                        </a:spcBef>
                        <a:buClr>
                          <a:srgbClr val="000000"/>
                        </a:buClr>
                        <a:buFont typeface="Arial" panose="020B0604020202020204" pitchFamily="34" charset="0"/>
                        <a:buNone/>
                      </a:pPr>
                      <a:r>
                        <a:rPr lang="en-US" altLang="de-DE" b="0" dirty="0">
                          <a:ea typeface="华文楷体" panose="02010600040101010101" pitchFamily="2" charset="-122"/>
                        </a:rPr>
                        <a:t>2000-102</a:t>
                      </a:r>
                      <a:endParaRPr lang="en-US" altLang="de-DE"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lgn="ctr">
                      <a:solidFill>
                        <a:schemeClr val="tx1"/>
                      </a:solidFill>
                      <a:prstDash val="solid"/>
                      <a:roun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lnSpc>
                          <a:spcPct val="100000"/>
                        </a:lnSpc>
                        <a:spcBef>
                          <a:spcPct val="20000"/>
                        </a:spcBef>
                        <a:buClr>
                          <a:srgbClr val="000000"/>
                        </a:buClr>
                        <a:buFont typeface="Arial" panose="020B0604020202020204" pitchFamily="34" charset="0"/>
                        <a:buNone/>
                      </a:pPr>
                      <a:r>
                        <a:rPr lang="en-US" altLang="de-DE" b="0" dirty="0">
                          <a:ea typeface="华文楷体" panose="02010600040101010101" pitchFamily="2" charset="-122"/>
                        </a:rPr>
                        <a:t>11-12-1987</a:t>
                      </a:r>
                      <a:endParaRPr lang="en-US" altLang="de-DE"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lgn="ctr">
                      <a:solidFill>
                        <a:schemeClr val="tx1"/>
                      </a:solidFill>
                      <a:prstDash val="solid"/>
                      <a:roun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sym typeface="+mn-ea"/>
                        </a:rPr>
                        <a:t>计算机</a:t>
                      </a:r>
                      <a:r>
                        <a:rPr lang="de-DE" altLang="en-US" sz="1800" b="0" dirty="0">
                          <a:sym typeface="+mn-ea"/>
                        </a:rPr>
                        <a:t>2000</a:t>
                      </a:r>
                      <a:r>
                        <a:rPr lang="en-US" sz="1800" b="0" dirty="0">
                          <a:sym typeface="+mn-ea"/>
                        </a:rPr>
                        <a:t>10</a:t>
                      </a:r>
                      <a:endParaRPr lang="en-US" sz="1800" b="0" dirty="0">
                        <a:sym typeface="+mn-ea"/>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lgn="ctr">
                      <a:solidFill>
                        <a:schemeClr val="tx1"/>
                      </a:solidFill>
                      <a:prstDash val="solid"/>
                      <a:roun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92182" name="Line 22"/>
          <p:cNvSpPr/>
          <p:nvPr/>
        </p:nvSpPr>
        <p:spPr>
          <a:xfrm flipH="1">
            <a:off x="5076825" y="2781300"/>
            <a:ext cx="1655763" cy="1368425"/>
          </a:xfrm>
          <a:prstGeom prst="line">
            <a:avLst/>
          </a:prstGeom>
          <a:ln w="25400" cap="flat" cmpd="sng">
            <a:solidFill>
              <a:srgbClr val="000099"/>
            </a:solidFill>
            <a:prstDash val="solid"/>
            <a:round/>
            <a:headEnd type="none" w="med" len="med"/>
            <a:tailEnd type="triangle" w="med" len="med"/>
          </a:ln>
        </p:spPr>
      </p:sp>
      <p:graphicFrame>
        <p:nvGraphicFramePr>
          <p:cNvPr id="92183" name="表格 92182"/>
          <p:cNvGraphicFramePr/>
          <p:nvPr/>
        </p:nvGraphicFramePr>
        <p:xfrm>
          <a:off x="4284663" y="4076700"/>
          <a:ext cx="3800475" cy="1960563"/>
        </p:xfrm>
        <a:graphic>
          <a:graphicData uri="http://schemas.openxmlformats.org/drawingml/2006/table">
            <a:tbl>
              <a:tblPr/>
              <a:tblGrid>
                <a:gridCol w="1320800"/>
                <a:gridCol w="1057275"/>
                <a:gridCol w="906463"/>
                <a:gridCol w="515937"/>
              </a:tblGrid>
              <a:tr h="5222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2000" u="sng">
                          <a:solidFill>
                            <a:srgbClr val="660066"/>
                          </a:solidFill>
                        </a:rPr>
                        <a:t>班号</a:t>
                      </a:r>
                      <a:endParaRPr lang="zh-CN" altLang="en-US" sz="2000" u="sng">
                        <a:solidFill>
                          <a:srgbClr val="660066"/>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2000" b="0"/>
                        <a:t>班名</a:t>
                      </a:r>
                      <a:endParaRPr lang="zh-CN" altLang="en-US" sz="20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2000" b="0"/>
                        <a:t>人数 </a:t>
                      </a:r>
                      <a:endParaRPr lang="zh-CN" altLang="en-US" sz="20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en-US" altLang="zh-CN" sz="1800" b="0">
                          <a:latin typeface="Times New Roman" panose="02020603050405020304" pitchFamily="2" charset="0"/>
                        </a:rPr>
                        <a:t>…</a:t>
                      </a:r>
                      <a:endParaRPr lang="zh-CN" altLang="en-US"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159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 计算机200001</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计1班</a:t>
                      </a:r>
                      <a:endParaRPr lang="de-DE" altLang="en-US"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50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en-US" altLang="zh-CN" sz="1800" b="0">
                          <a:latin typeface="Times New Roman" panose="02020603050405020304" pitchFamily="2" charset="0"/>
                        </a:rPr>
                        <a:t>…</a:t>
                      </a:r>
                      <a:endParaRPr lang="zh-CN" altLang="en-US"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223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 计算机200010</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计10班</a:t>
                      </a:r>
                      <a:endParaRPr lang="de-DE" altLang="en-US"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1800" b="0" dirty="0"/>
                        <a:t>45</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en-US" altLang="zh-CN" sz="1800" b="0">
                          <a:latin typeface="Times New Roman" panose="02020603050405020304" pitchFamily="2" charset="0"/>
                        </a:rPr>
                        <a:t>…</a:t>
                      </a:r>
                      <a:endParaRPr lang="zh-CN" altLang="en-US"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92206" name="Line 46"/>
          <p:cNvSpPr/>
          <p:nvPr/>
        </p:nvSpPr>
        <p:spPr>
          <a:xfrm flipH="1" flipV="1">
            <a:off x="4211638" y="2306638"/>
            <a:ext cx="2520950" cy="73025"/>
          </a:xfrm>
          <a:prstGeom prst="line">
            <a:avLst/>
          </a:prstGeom>
          <a:ln w="25400" cap="flat" cmpd="sng">
            <a:solidFill>
              <a:srgbClr val="000099"/>
            </a:solidFill>
            <a:prstDash val="solid"/>
            <a:round/>
            <a:headEnd type="none" w="med" len="med"/>
            <a:tailEnd type="triangle" w="med" len="med"/>
          </a:ln>
        </p:spPr>
      </p:sp>
      <p:sp>
        <p:nvSpPr>
          <p:cNvPr id="99374" name="Text Box 47"/>
          <p:cNvSpPr txBox="1"/>
          <p:nvPr/>
        </p:nvSpPr>
        <p:spPr>
          <a:xfrm>
            <a:off x="1281113" y="1495425"/>
            <a:ext cx="2611437" cy="517525"/>
          </a:xfrm>
          <a:prstGeom prst="rect">
            <a:avLst/>
          </a:prstGeom>
          <a:noFill/>
          <a:ln w="9525">
            <a:noFill/>
          </a:ln>
        </p:spPr>
        <p:txBody>
          <a:bodyPr anchor="t">
            <a:spAutoFit/>
          </a:bodyPr>
          <a:lstStyle/>
          <a:p>
            <a:pPr lvl="0" indent="0" algn="ctr">
              <a:spcBef>
                <a:spcPct val="50000"/>
              </a:spcBef>
              <a:buNone/>
            </a:pPr>
            <a:r>
              <a:rPr lang="zh-CN" altLang="en-US" sz="2400" dirty="0">
                <a:solidFill>
                  <a:srgbClr val="0000CC"/>
                </a:solidFill>
                <a:latin typeface="宋体" panose="02010600030101010101" pitchFamily="2" charset="-122"/>
                <a:ea typeface="宋体" panose="02010600030101010101" pitchFamily="2" charset="-122"/>
              </a:rPr>
              <a:t>学生表 （从表）</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99375" name="Text Box 48"/>
          <p:cNvSpPr txBox="1"/>
          <p:nvPr/>
        </p:nvSpPr>
        <p:spPr>
          <a:xfrm>
            <a:off x="5580063" y="3500438"/>
            <a:ext cx="2665412" cy="517525"/>
          </a:xfrm>
          <a:prstGeom prst="rect">
            <a:avLst/>
          </a:prstGeom>
          <a:noFill/>
          <a:ln w="9525">
            <a:noFill/>
          </a:ln>
        </p:spPr>
        <p:txBody>
          <a:bodyPr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班级表（主表）</a:t>
            </a:r>
            <a:endParaRPr lang="zh-CN" altLang="en-US" sz="2400" dirty="0">
              <a:solidFill>
                <a:srgbClr val="0000CC"/>
              </a:solidFill>
              <a:latin typeface="宋体" panose="02010600030101010101" pitchFamily="2" charset="-122"/>
              <a:ea typeface="宋体" panose="02010600030101010101" pitchFamily="2" charset="-122"/>
            </a:endParaRPr>
          </a:p>
        </p:txBody>
      </p:sp>
      <p:grpSp>
        <p:nvGrpSpPr>
          <p:cNvPr id="92209" name="Group 49"/>
          <p:cNvGrpSpPr/>
          <p:nvPr/>
        </p:nvGrpSpPr>
        <p:grpSpPr>
          <a:xfrm>
            <a:off x="5940425" y="1844675"/>
            <a:ext cx="2447925" cy="1222375"/>
            <a:chOff x="0" y="0"/>
            <a:chExt cx="1542" cy="770"/>
          </a:xfrm>
        </p:grpSpPr>
        <p:sp>
          <p:nvSpPr>
            <p:cNvPr id="99377" name="Oval 50"/>
            <p:cNvSpPr/>
            <p:nvPr/>
          </p:nvSpPr>
          <p:spPr>
            <a:xfrm>
              <a:off x="0" y="45"/>
              <a:ext cx="1542" cy="725"/>
            </a:xfrm>
            <a:prstGeom prst="ellipse">
              <a:avLst/>
            </a:prstGeom>
            <a:solidFill>
              <a:srgbClr val="CCFFFF">
                <a:alpha val="37000"/>
              </a:srgbClr>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99378" name="Text Box 51"/>
            <p:cNvSpPr txBox="1"/>
            <p:nvPr/>
          </p:nvSpPr>
          <p:spPr>
            <a:xfrm>
              <a:off x="453" y="0"/>
              <a:ext cx="576" cy="371"/>
            </a:xfrm>
            <a:prstGeom prst="rect">
              <a:avLst/>
            </a:prstGeom>
            <a:noFill/>
            <a:ln w="9525">
              <a:noFill/>
            </a:ln>
          </p:spPr>
          <p:txBody>
            <a:bodyPr anchor="t">
              <a:spAutoFit/>
            </a:bodyPr>
            <a:lstStyle/>
            <a:p>
              <a:pPr lvl="0" indent="0">
                <a:spcBef>
                  <a:spcPct val="50000"/>
                </a:spcBef>
                <a:buNone/>
              </a:pPr>
              <a:r>
                <a:rPr lang="zh-CN" altLang="en-US" sz="2800" dirty="0">
                  <a:solidFill>
                    <a:srgbClr val="CC3300"/>
                  </a:solidFill>
                  <a:latin typeface="宋体" panose="02010600030101010101" pitchFamily="2" charset="-122"/>
                  <a:ea typeface="宋体" panose="02010600030101010101" pitchFamily="2" charset="-122"/>
                </a:rPr>
                <a:t>外键</a:t>
              </a:r>
              <a:endParaRPr lang="zh-CN" altLang="en-US" sz="2800" dirty="0">
                <a:solidFill>
                  <a:srgbClr val="CC3300"/>
                </a:solidFill>
                <a:latin typeface="宋体" panose="02010600030101010101" pitchFamily="2" charset="-122"/>
                <a:ea typeface="宋体" panose="02010600030101010101" pitchFamily="2" charset="-122"/>
              </a:endParaRPr>
            </a:p>
          </p:txBody>
        </p:sp>
        <p:sp>
          <p:nvSpPr>
            <p:cNvPr id="99379" name="Text Box 52"/>
            <p:cNvSpPr txBox="1"/>
            <p:nvPr/>
          </p:nvSpPr>
          <p:spPr>
            <a:xfrm>
              <a:off x="499" y="318"/>
              <a:ext cx="635" cy="371"/>
            </a:xfrm>
            <a:prstGeom prst="rect">
              <a:avLst/>
            </a:prstGeom>
            <a:noFill/>
            <a:ln w="9525">
              <a:noFill/>
            </a:ln>
          </p:spPr>
          <p:txBody>
            <a:bodyPr anchor="t">
              <a:spAutoFit/>
            </a:bodyPr>
            <a:lstStyle/>
            <a:p>
              <a:pPr lvl="0" indent="0">
                <a:spcBef>
                  <a:spcPct val="50000"/>
                </a:spcBef>
                <a:buNone/>
              </a:pPr>
              <a:r>
                <a:rPr lang="zh-CN" altLang="en-US" sz="2800" dirty="0">
                  <a:solidFill>
                    <a:srgbClr val="CC3300"/>
                  </a:solidFill>
                  <a:latin typeface="宋体" panose="02010600030101010101" pitchFamily="2" charset="-122"/>
                  <a:ea typeface="宋体" panose="02010600030101010101" pitchFamily="2" charset="-122"/>
                </a:rPr>
                <a:t>主键</a:t>
              </a:r>
              <a:endParaRPr lang="de-DE" altLang="en-US" sz="2800" dirty="0">
                <a:latin typeface="宋体" panose="02010600030101010101" pitchFamily="2" charset="-122"/>
                <a:ea typeface="宋体" panose="02010600030101010101" pitchFamily="2" charset="-122"/>
              </a:endParaRPr>
            </a:p>
          </p:txBody>
        </p:sp>
      </p:grpSp>
      <p:grpSp>
        <p:nvGrpSpPr>
          <p:cNvPr id="92213" name="Group 53"/>
          <p:cNvGrpSpPr/>
          <p:nvPr/>
        </p:nvGrpSpPr>
        <p:grpSpPr>
          <a:xfrm>
            <a:off x="7681913" y="5010150"/>
            <a:ext cx="1190625" cy="863600"/>
            <a:chOff x="0" y="0"/>
            <a:chExt cx="750" cy="544"/>
          </a:xfrm>
        </p:grpSpPr>
        <p:sp>
          <p:nvSpPr>
            <p:cNvPr id="99381" name="Line 54"/>
            <p:cNvSpPr/>
            <p:nvPr/>
          </p:nvSpPr>
          <p:spPr>
            <a:xfrm flipH="1">
              <a:off x="0" y="227"/>
              <a:ext cx="523" cy="317"/>
            </a:xfrm>
            <a:prstGeom prst="line">
              <a:avLst/>
            </a:prstGeom>
            <a:ln w="38100" cap="flat" cmpd="sng">
              <a:solidFill>
                <a:srgbClr val="C7050E"/>
              </a:solidFill>
              <a:prstDash val="dash"/>
              <a:round/>
              <a:headEnd type="none" w="med" len="med"/>
              <a:tailEnd type="triangle" w="med" len="med"/>
            </a:ln>
          </p:spPr>
        </p:sp>
        <p:sp>
          <p:nvSpPr>
            <p:cNvPr id="99382" name="Rectangle 55"/>
            <p:cNvSpPr/>
            <p:nvPr/>
          </p:nvSpPr>
          <p:spPr>
            <a:xfrm>
              <a:off x="160" y="0"/>
              <a:ext cx="590" cy="227"/>
            </a:xfrm>
            <a:prstGeom prst="rect">
              <a:avLst/>
            </a:prstGeom>
            <a:solidFill>
              <a:srgbClr val="CCFFFF"/>
            </a:solidFill>
            <a:ln w="9525" cap="flat" cmpd="sng">
              <a:solidFill>
                <a:srgbClr val="C7050E"/>
              </a:solidFill>
              <a:prstDash val="solid"/>
              <a:miter/>
              <a:headEnd type="none" w="med" len="med"/>
              <a:tailEnd type="none" w="med" len="med"/>
            </a:ln>
          </p:spPr>
          <p:txBody>
            <a:bodyPr wrap="none" anchor="ctr"/>
            <a:lstStyle/>
            <a:p>
              <a:pPr lvl="0" indent="0" algn="ctr">
                <a:buNone/>
              </a:pPr>
              <a:r>
                <a:rPr lang="zh-CN" altLang="en-US" sz="2400">
                  <a:latin typeface="宋体" panose="02010600030101010101" pitchFamily="2" charset="-122"/>
                  <a:ea typeface="宋体" panose="02010600030101010101" pitchFamily="2" charset="-122"/>
                </a:rPr>
                <a:t>插入</a:t>
              </a:r>
              <a:endParaRPr lang="zh-CN" altLang="en-US" sz="2400">
                <a:latin typeface="宋体" panose="02010600030101010101" pitchFamily="2" charset="-122"/>
                <a:ea typeface="宋体" panose="02010600030101010101" pitchFamily="2" charset="-122"/>
              </a:endParaRPr>
            </a:p>
          </p:txBody>
        </p:sp>
      </p:grpSp>
      <p:grpSp>
        <p:nvGrpSpPr>
          <p:cNvPr id="92216" name="Group 56"/>
          <p:cNvGrpSpPr/>
          <p:nvPr/>
        </p:nvGrpSpPr>
        <p:grpSpPr>
          <a:xfrm>
            <a:off x="2484438" y="5229225"/>
            <a:ext cx="1943100" cy="909638"/>
            <a:chOff x="0" y="0"/>
            <a:chExt cx="1224" cy="573"/>
          </a:xfrm>
        </p:grpSpPr>
        <p:sp>
          <p:nvSpPr>
            <p:cNvPr id="99384" name="Line 57"/>
            <p:cNvSpPr/>
            <p:nvPr/>
          </p:nvSpPr>
          <p:spPr>
            <a:xfrm flipV="1">
              <a:off x="499" y="0"/>
              <a:ext cx="725" cy="363"/>
            </a:xfrm>
            <a:prstGeom prst="line">
              <a:avLst/>
            </a:prstGeom>
            <a:ln w="38100" cap="flat" cmpd="sng">
              <a:solidFill>
                <a:srgbClr val="C7050E"/>
              </a:solidFill>
              <a:prstDash val="dash"/>
              <a:round/>
              <a:headEnd type="none" w="med" len="med"/>
              <a:tailEnd type="triangle" w="med" len="med"/>
            </a:ln>
          </p:spPr>
        </p:sp>
        <p:sp>
          <p:nvSpPr>
            <p:cNvPr id="99385" name="Rectangle 58"/>
            <p:cNvSpPr/>
            <p:nvPr/>
          </p:nvSpPr>
          <p:spPr>
            <a:xfrm>
              <a:off x="0" y="346"/>
              <a:ext cx="590" cy="227"/>
            </a:xfrm>
            <a:prstGeom prst="rect">
              <a:avLst/>
            </a:prstGeom>
            <a:solidFill>
              <a:srgbClr val="CCFFFF"/>
            </a:solidFill>
            <a:ln w="9525" cap="flat" cmpd="sng">
              <a:solidFill>
                <a:srgbClr val="C7050E"/>
              </a:solidFill>
              <a:prstDash val="solid"/>
              <a:miter/>
              <a:headEnd type="none" w="med" len="med"/>
              <a:tailEnd type="none" w="med" len="med"/>
            </a:ln>
          </p:spPr>
          <p:txBody>
            <a:bodyPr wrap="none" anchor="ctr"/>
            <a:lstStyle/>
            <a:p>
              <a:pPr lvl="0" indent="0" algn="ctr">
                <a:buNone/>
              </a:pPr>
              <a:r>
                <a:rPr lang="zh-CN" altLang="en-US" sz="2400">
                  <a:latin typeface="宋体" panose="02010600030101010101" pitchFamily="2" charset="-122"/>
                  <a:ea typeface="宋体" panose="02010600030101010101" pitchFamily="2" charset="-122"/>
                </a:rPr>
                <a:t>删除</a:t>
              </a:r>
              <a:endParaRPr lang="zh-CN" altLang="en-US" sz="2400">
                <a:latin typeface="宋体" panose="02010600030101010101" pitchFamily="2" charset="-122"/>
                <a:ea typeface="宋体" panose="02010600030101010101" pitchFamily="2" charset="-122"/>
              </a:endParaRPr>
            </a:p>
          </p:txBody>
        </p:sp>
      </p:grpSp>
      <p:grpSp>
        <p:nvGrpSpPr>
          <p:cNvPr id="92219" name="Group 59"/>
          <p:cNvGrpSpPr/>
          <p:nvPr/>
        </p:nvGrpSpPr>
        <p:grpSpPr>
          <a:xfrm>
            <a:off x="827088" y="2940050"/>
            <a:ext cx="3600450" cy="2647950"/>
            <a:chOff x="72" y="-262"/>
            <a:chExt cx="2268" cy="1668"/>
          </a:xfrm>
        </p:grpSpPr>
        <p:sp>
          <p:nvSpPr>
            <p:cNvPr id="99387" name="Line 60"/>
            <p:cNvSpPr/>
            <p:nvPr/>
          </p:nvSpPr>
          <p:spPr>
            <a:xfrm flipH="1" flipV="1">
              <a:off x="476" y="-262"/>
              <a:ext cx="884" cy="1668"/>
            </a:xfrm>
            <a:prstGeom prst="line">
              <a:avLst/>
            </a:prstGeom>
            <a:ln w="38100" cap="flat" cmpd="sng">
              <a:solidFill>
                <a:srgbClr val="000099"/>
              </a:solidFill>
              <a:prstDash val="dash"/>
              <a:round/>
              <a:headEnd type="none" w="med" len="med"/>
              <a:tailEnd type="triangle" w="med" len="med"/>
            </a:ln>
          </p:spPr>
        </p:sp>
        <p:sp>
          <p:nvSpPr>
            <p:cNvPr id="99388" name="Line 61"/>
            <p:cNvSpPr/>
            <p:nvPr/>
          </p:nvSpPr>
          <p:spPr>
            <a:xfrm>
              <a:off x="72" y="-182"/>
              <a:ext cx="2268" cy="0"/>
            </a:xfrm>
            <a:prstGeom prst="line">
              <a:avLst/>
            </a:prstGeom>
            <a:ln w="38100" cap="flat" cmpd="sng">
              <a:solidFill>
                <a:srgbClr val="000099"/>
              </a:solidFill>
              <a:prstDash val="dash"/>
              <a:round/>
              <a:headEnd type="none" w="med" len="med"/>
              <a:tailEnd type="none" w="med" len="med"/>
            </a:ln>
          </p:spPr>
        </p:sp>
      </p:grpSp>
      <p:grpSp>
        <p:nvGrpSpPr>
          <p:cNvPr id="92222" name="Group 62"/>
          <p:cNvGrpSpPr/>
          <p:nvPr/>
        </p:nvGrpSpPr>
        <p:grpSpPr>
          <a:xfrm>
            <a:off x="3059113" y="4941888"/>
            <a:ext cx="1441450" cy="360362"/>
            <a:chOff x="0" y="0"/>
            <a:chExt cx="908" cy="227"/>
          </a:xfrm>
        </p:grpSpPr>
        <p:sp>
          <p:nvSpPr>
            <p:cNvPr id="99390" name="Rectangle 63"/>
            <p:cNvSpPr/>
            <p:nvPr/>
          </p:nvSpPr>
          <p:spPr>
            <a:xfrm>
              <a:off x="0" y="0"/>
              <a:ext cx="590" cy="227"/>
            </a:xfrm>
            <a:prstGeom prst="rect">
              <a:avLst/>
            </a:prstGeom>
            <a:solidFill>
              <a:srgbClr val="CCFFFF"/>
            </a:solidFill>
            <a:ln w="9525" cap="flat" cmpd="sng">
              <a:solidFill>
                <a:srgbClr val="C7050E"/>
              </a:solidFill>
              <a:prstDash val="dash"/>
              <a:miter/>
              <a:headEnd type="none" w="med" len="med"/>
              <a:tailEnd type="none" w="med" len="med"/>
            </a:ln>
          </p:spPr>
          <p:txBody>
            <a:bodyPr wrap="none" anchor="ctr"/>
            <a:lstStyle/>
            <a:p>
              <a:pPr lvl="0" indent="0" algn="ctr">
                <a:buNone/>
              </a:pPr>
              <a:r>
                <a:rPr lang="zh-CN" altLang="en-US" sz="2400">
                  <a:latin typeface="宋体" panose="02010600030101010101" pitchFamily="2" charset="-122"/>
                  <a:ea typeface="宋体" panose="02010600030101010101" pitchFamily="2" charset="-122"/>
                </a:rPr>
                <a:t>修改</a:t>
              </a:r>
              <a:endParaRPr lang="zh-CN" altLang="en-US" sz="2400">
                <a:latin typeface="宋体" panose="02010600030101010101" pitchFamily="2" charset="-122"/>
                <a:ea typeface="宋体" panose="02010600030101010101" pitchFamily="2" charset="-122"/>
              </a:endParaRPr>
            </a:p>
          </p:txBody>
        </p:sp>
        <p:sp>
          <p:nvSpPr>
            <p:cNvPr id="99391" name="Line 64"/>
            <p:cNvSpPr/>
            <p:nvPr/>
          </p:nvSpPr>
          <p:spPr>
            <a:xfrm flipV="1">
              <a:off x="590" y="45"/>
              <a:ext cx="318" cy="46"/>
            </a:xfrm>
            <a:prstGeom prst="line">
              <a:avLst/>
            </a:prstGeom>
            <a:ln w="38100" cap="flat" cmpd="sng">
              <a:solidFill>
                <a:srgbClr val="C7050E"/>
              </a:solidFill>
              <a:prstDash val="dash"/>
              <a:round/>
              <a:headEnd type="none" w="med" len="med"/>
              <a:tailEnd type="triangle" w="med" len="med"/>
            </a:ln>
          </p:spPr>
        </p:sp>
      </p:grpSp>
      <p:sp>
        <p:nvSpPr>
          <p:cNvPr id="92225" name="Line 65"/>
          <p:cNvSpPr/>
          <p:nvPr/>
        </p:nvSpPr>
        <p:spPr>
          <a:xfrm flipV="1">
            <a:off x="3492500" y="3067050"/>
            <a:ext cx="792480" cy="1875155"/>
          </a:xfrm>
          <a:prstGeom prst="line">
            <a:avLst/>
          </a:prstGeom>
          <a:ln w="38100" cap="flat" cmpd="sng">
            <a:solidFill>
              <a:srgbClr val="000099"/>
            </a:solidFill>
            <a:prstDash val="dash"/>
            <a:round/>
            <a:headEnd type="none" w="med" len="med"/>
            <a:tailEnd type="triangle" w="med" len="med"/>
          </a:ln>
        </p:spPr>
      </p:sp>
      <p:sp>
        <p:nvSpPr>
          <p:cNvPr id="92226" name="Line 66"/>
          <p:cNvSpPr/>
          <p:nvPr/>
        </p:nvSpPr>
        <p:spPr>
          <a:xfrm>
            <a:off x="4441825" y="5930900"/>
            <a:ext cx="3240088" cy="0"/>
          </a:xfrm>
          <a:prstGeom prst="line">
            <a:avLst/>
          </a:prstGeom>
          <a:ln w="38100" cap="flat" cmpd="sng">
            <a:solidFill>
              <a:srgbClr val="C7050E"/>
            </a:solidFill>
            <a:prstDash val="solid"/>
            <a:round/>
            <a:headEnd type="none" w="med" len="med"/>
            <a:tailEnd type="none" w="med" len="med"/>
          </a:ln>
        </p:spPr>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2209"/>
                                        </p:tgtEl>
                                        <p:attrNameLst>
                                          <p:attrName>style.visibility</p:attrName>
                                        </p:attrNameLst>
                                      </p:cBhvr>
                                      <p:to>
                                        <p:strVal val="visible"/>
                                      </p:to>
                                    </p:set>
                                    <p:animEffect transition="in" filter="wipe(down)">
                                      <p:cBhvr>
                                        <p:cTn id="7" dur="500"/>
                                        <p:tgtEl>
                                          <p:spTgt spid="92209"/>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92182"/>
                                        </p:tgtEl>
                                        <p:attrNameLst>
                                          <p:attrName>style.visibility</p:attrName>
                                        </p:attrNameLst>
                                      </p:cBhvr>
                                      <p:to>
                                        <p:strVal val="visible"/>
                                      </p:to>
                                    </p:set>
                                    <p:anim calcmode="lin" valueType="num">
                                      <p:cBhvr>
                                        <p:cTn id="12" dur="500" fill="hold"/>
                                        <p:tgtEl>
                                          <p:spTgt spid="92182"/>
                                        </p:tgtEl>
                                        <p:attrNameLst>
                                          <p:attrName>ppt_w</p:attrName>
                                        </p:attrNameLst>
                                      </p:cBhvr>
                                      <p:tavLst>
                                        <p:tav tm="0">
                                          <p:val>
                                            <p:fltVal val="0"/>
                                          </p:val>
                                        </p:tav>
                                        <p:tav tm="100000">
                                          <p:val>
                                            <p:strVal val="#ppt_w"/>
                                          </p:val>
                                        </p:tav>
                                      </p:tavLst>
                                    </p:anim>
                                    <p:anim calcmode="lin" valueType="num">
                                      <p:cBhvr>
                                        <p:cTn id="13" dur="500" fill="hold"/>
                                        <p:tgtEl>
                                          <p:spTgt spid="92182"/>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92206"/>
                                        </p:tgtEl>
                                        <p:attrNameLst>
                                          <p:attrName>style.visibility</p:attrName>
                                        </p:attrNameLst>
                                      </p:cBhvr>
                                      <p:to>
                                        <p:strVal val="visible"/>
                                      </p:to>
                                    </p:set>
                                    <p:anim calcmode="lin" valueType="num">
                                      <p:cBhvr>
                                        <p:cTn id="18" dur="500" fill="hold"/>
                                        <p:tgtEl>
                                          <p:spTgt spid="92206"/>
                                        </p:tgtEl>
                                        <p:attrNameLst>
                                          <p:attrName>ppt_w</p:attrName>
                                        </p:attrNameLst>
                                      </p:cBhvr>
                                      <p:tavLst>
                                        <p:tav tm="0">
                                          <p:val>
                                            <p:fltVal val="0"/>
                                          </p:val>
                                        </p:tav>
                                        <p:tav tm="100000">
                                          <p:val>
                                            <p:strVal val="#ppt_w"/>
                                          </p:val>
                                        </p:tav>
                                      </p:tavLst>
                                    </p:anim>
                                    <p:anim calcmode="lin" valueType="num">
                                      <p:cBhvr>
                                        <p:cTn id="19" dur="500" fill="hold"/>
                                        <p:tgtEl>
                                          <p:spTgt spid="92206"/>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92213"/>
                                        </p:tgtEl>
                                        <p:attrNameLst>
                                          <p:attrName>style.visibility</p:attrName>
                                        </p:attrNameLst>
                                      </p:cBhvr>
                                      <p:to>
                                        <p:strVal val="visible"/>
                                      </p:to>
                                    </p:set>
                                    <p:anim calcmode="lin" valueType="num">
                                      <p:cBhvr>
                                        <p:cTn id="24" dur="1000" fill="hold"/>
                                        <p:tgtEl>
                                          <p:spTgt spid="92213"/>
                                        </p:tgtEl>
                                        <p:attrNameLst>
                                          <p:attrName>ppt_w</p:attrName>
                                        </p:attrNameLst>
                                      </p:cBhvr>
                                      <p:tavLst>
                                        <p:tav tm="0">
                                          <p:val>
                                            <p:strVal val="#ppt_w*0.70"/>
                                          </p:val>
                                        </p:tav>
                                        <p:tav tm="100000">
                                          <p:val>
                                            <p:strVal val="#ppt_w"/>
                                          </p:val>
                                        </p:tav>
                                      </p:tavLst>
                                    </p:anim>
                                    <p:anim calcmode="lin" valueType="num">
                                      <p:cBhvr>
                                        <p:cTn id="25" dur="1000" fill="hold"/>
                                        <p:tgtEl>
                                          <p:spTgt spid="92213"/>
                                        </p:tgtEl>
                                        <p:attrNameLst>
                                          <p:attrName>ppt_h</p:attrName>
                                        </p:attrNameLst>
                                      </p:cBhvr>
                                      <p:tavLst>
                                        <p:tav tm="0">
                                          <p:val>
                                            <p:strVal val="#ppt_h"/>
                                          </p:val>
                                        </p:tav>
                                        <p:tav tm="100000">
                                          <p:val>
                                            <p:strVal val="#ppt_h"/>
                                          </p:val>
                                        </p:tav>
                                      </p:tavLst>
                                    </p:anim>
                                    <p:animEffect transition="in" filter="fade">
                                      <p:cBhvr>
                                        <p:cTn id="26" dur="1000"/>
                                        <p:tgtEl>
                                          <p:spTgt spid="92213"/>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2226"/>
                                        </p:tgtEl>
                                        <p:attrNameLst>
                                          <p:attrName>style.visibility</p:attrName>
                                        </p:attrNameLst>
                                      </p:cBhvr>
                                      <p:to>
                                        <p:strVal val="visible"/>
                                      </p:to>
                                    </p:set>
                                    <p:anim calcmode="lin" valueType="num">
                                      <p:cBhvr additive="base">
                                        <p:cTn id="31" dur="500" fill="hold"/>
                                        <p:tgtEl>
                                          <p:spTgt spid="92226"/>
                                        </p:tgtEl>
                                        <p:attrNameLst>
                                          <p:attrName>ppt_x</p:attrName>
                                        </p:attrNameLst>
                                      </p:cBhvr>
                                      <p:tavLst>
                                        <p:tav tm="0">
                                          <p:val>
                                            <p:strVal val="#ppt_x"/>
                                          </p:val>
                                        </p:tav>
                                        <p:tav tm="100000">
                                          <p:val>
                                            <p:strVal val="#ppt_x"/>
                                          </p:val>
                                        </p:tav>
                                      </p:tavLst>
                                    </p:anim>
                                    <p:anim calcmode="lin" valueType="num">
                                      <p:cBhvr additive="base">
                                        <p:cTn id="32" dur="500" fill="hold"/>
                                        <p:tgtEl>
                                          <p:spTgt spid="9222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55" presetClass="entr" presetSubtype="0" fill="hold" nodeType="clickEffect">
                                  <p:stCondLst>
                                    <p:cond delay="0"/>
                                  </p:stCondLst>
                                  <p:childTnLst>
                                    <p:set>
                                      <p:cBhvr>
                                        <p:cTn id="36" dur="1" fill="hold">
                                          <p:stCondLst>
                                            <p:cond delay="0"/>
                                          </p:stCondLst>
                                        </p:cTn>
                                        <p:tgtEl>
                                          <p:spTgt spid="92222"/>
                                        </p:tgtEl>
                                        <p:attrNameLst>
                                          <p:attrName>style.visibility</p:attrName>
                                        </p:attrNameLst>
                                      </p:cBhvr>
                                      <p:to>
                                        <p:strVal val="visible"/>
                                      </p:to>
                                    </p:set>
                                    <p:anim calcmode="lin" valueType="num">
                                      <p:cBhvr>
                                        <p:cTn id="37" dur="1000" fill="hold"/>
                                        <p:tgtEl>
                                          <p:spTgt spid="92222"/>
                                        </p:tgtEl>
                                        <p:attrNameLst>
                                          <p:attrName>ppt_w</p:attrName>
                                        </p:attrNameLst>
                                      </p:cBhvr>
                                      <p:tavLst>
                                        <p:tav tm="0">
                                          <p:val>
                                            <p:strVal val="#ppt_w*0.70"/>
                                          </p:val>
                                        </p:tav>
                                        <p:tav tm="100000">
                                          <p:val>
                                            <p:strVal val="#ppt_w"/>
                                          </p:val>
                                        </p:tav>
                                      </p:tavLst>
                                    </p:anim>
                                    <p:anim calcmode="lin" valueType="num">
                                      <p:cBhvr>
                                        <p:cTn id="38" dur="1000" fill="hold"/>
                                        <p:tgtEl>
                                          <p:spTgt spid="92222"/>
                                        </p:tgtEl>
                                        <p:attrNameLst>
                                          <p:attrName>ppt_h</p:attrName>
                                        </p:attrNameLst>
                                      </p:cBhvr>
                                      <p:tavLst>
                                        <p:tav tm="0">
                                          <p:val>
                                            <p:strVal val="#ppt_h"/>
                                          </p:val>
                                        </p:tav>
                                        <p:tav tm="100000">
                                          <p:val>
                                            <p:strVal val="#ppt_h"/>
                                          </p:val>
                                        </p:tav>
                                      </p:tavLst>
                                    </p:anim>
                                    <p:animEffect transition="in" filter="fade">
                                      <p:cBhvr>
                                        <p:cTn id="39" dur="1000"/>
                                        <p:tgtEl>
                                          <p:spTgt spid="92222"/>
                                        </p:tgtEl>
                                      </p:cBhvr>
                                    </p:animEffect>
                                  </p:childTnLst>
                                </p:cTn>
                              </p:par>
                            </p:childTnLst>
                          </p:cTn>
                        </p:par>
                      </p:childTnLst>
                    </p:cTn>
                  </p:par>
                  <p:par>
                    <p:cTn id="40" fill="hold">
                      <p:stCondLst>
                        <p:cond delay="indefinite"/>
                      </p:stCondLst>
                      <p:childTnLst>
                        <p:par>
                          <p:cTn id="41" fill="hold">
                            <p:stCondLst>
                              <p:cond delay="0"/>
                            </p:stCondLst>
                            <p:childTnLst>
                              <p:par>
                                <p:cTn id="42" presetID="55" presetClass="entr" presetSubtype="0" fill="hold" nodeType="clickEffect">
                                  <p:stCondLst>
                                    <p:cond delay="0"/>
                                  </p:stCondLst>
                                  <p:childTnLst>
                                    <p:set>
                                      <p:cBhvr>
                                        <p:cTn id="43" dur="1" fill="hold">
                                          <p:stCondLst>
                                            <p:cond delay="0"/>
                                          </p:stCondLst>
                                        </p:cTn>
                                        <p:tgtEl>
                                          <p:spTgt spid="92225"/>
                                        </p:tgtEl>
                                        <p:attrNameLst>
                                          <p:attrName>style.visibility</p:attrName>
                                        </p:attrNameLst>
                                      </p:cBhvr>
                                      <p:to>
                                        <p:strVal val="visible"/>
                                      </p:to>
                                    </p:set>
                                    <p:anim calcmode="lin" valueType="num">
                                      <p:cBhvr>
                                        <p:cTn id="44" dur="1000" fill="hold"/>
                                        <p:tgtEl>
                                          <p:spTgt spid="92225"/>
                                        </p:tgtEl>
                                        <p:attrNameLst>
                                          <p:attrName>ppt_w</p:attrName>
                                        </p:attrNameLst>
                                      </p:cBhvr>
                                      <p:tavLst>
                                        <p:tav tm="0">
                                          <p:val>
                                            <p:strVal val="#ppt_w*0.70"/>
                                          </p:val>
                                        </p:tav>
                                        <p:tav tm="100000">
                                          <p:val>
                                            <p:strVal val="#ppt_w"/>
                                          </p:val>
                                        </p:tav>
                                      </p:tavLst>
                                    </p:anim>
                                    <p:anim calcmode="lin" valueType="num">
                                      <p:cBhvr>
                                        <p:cTn id="45" dur="1000" fill="hold"/>
                                        <p:tgtEl>
                                          <p:spTgt spid="92225"/>
                                        </p:tgtEl>
                                        <p:attrNameLst>
                                          <p:attrName>ppt_h</p:attrName>
                                        </p:attrNameLst>
                                      </p:cBhvr>
                                      <p:tavLst>
                                        <p:tav tm="0">
                                          <p:val>
                                            <p:strVal val="#ppt_h"/>
                                          </p:val>
                                        </p:tav>
                                        <p:tav tm="100000">
                                          <p:val>
                                            <p:strVal val="#ppt_h"/>
                                          </p:val>
                                        </p:tav>
                                      </p:tavLst>
                                    </p:anim>
                                    <p:animEffect transition="in" filter="fade">
                                      <p:cBhvr>
                                        <p:cTn id="46" dur="1000"/>
                                        <p:tgtEl>
                                          <p:spTgt spid="92225"/>
                                        </p:tgtEl>
                                      </p:cBhvr>
                                    </p:animEffect>
                                  </p:childTnLst>
                                </p:cTn>
                              </p:par>
                            </p:childTnLst>
                          </p:cTn>
                        </p:par>
                      </p:childTnLst>
                    </p:cTn>
                  </p:par>
                  <p:par>
                    <p:cTn id="47" fill="hold">
                      <p:stCondLst>
                        <p:cond delay="indefinite"/>
                      </p:stCondLst>
                      <p:childTnLst>
                        <p:par>
                          <p:cTn id="48" fill="hold">
                            <p:stCondLst>
                              <p:cond delay="0"/>
                            </p:stCondLst>
                            <p:childTnLst>
                              <p:par>
                                <p:cTn id="49" presetID="17" presetClass="entr" presetSubtype="10" fill="hold" nodeType="clickEffect">
                                  <p:stCondLst>
                                    <p:cond delay="0"/>
                                  </p:stCondLst>
                                  <p:childTnLst>
                                    <p:set>
                                      <p:cBhvr>
                                        <p:cTn id="50" dur="1" fill="hold">
                                          <p:stCondLst>
                                            <p:cond delay="0"/>
                                          </p:stCondLst>
                                        </p:cTn>
                                        <p:tgtEl>
                                          <p:spTgt spid="92216"/>
                                        </p:tgtEl>
                                        <p:attrNameLst>
                                          <p:attrName>style.visibility</p:attrName>
                                        </p:attrNameLst>
                                      </p:cBhvr>
                                      <p:to>
                                        <p:strVal val="visible"/>
                                      </p:to>
                                    </p:set>
                                    <p:anim calcmode="lin" valueType="num">
                                      <p:cBhvr>
                                        <p:cTn id="51" dur="500" fill="hold"/>
                                        <p:tgtEl>
                                          <p:spTgt spid="92216"/>
                                        </p:tgtEl>
                                        <p:attrNameLst>
                                          <p:attrName>ppt_w</p:attrName>
                                        </p:attrNameLst>
                                      </p:cBhvr>
                                      <p:tavLst>
                                        <p:tav tm="0">
                                          <p:val>
                                            <p:fltVal val="0"/>
                                          </p:val>
                                        </p:tav>
                                        <p:tav tm="100000">
                                          <p:val>
                                            <p:strVal val="#ppt_w"/>
                                          </p:val>
                                        </p:tav>
                                      </p:tavLst>
                                    </p:anim>
                                    <p:anim calcmode="lin" valueType="num">
                                      <p:cBhvr>
                                        <p:cTn id="52" dur="500" fill="hold"/>
                                        <p:tgtEl>
                                          <p:spTgt spid="92216"/>
                                        </p:tgtEl>
                                        <p:attrNameLst>
                                          <p:attrName>ppt_h</p:attrName>
                                        </p:attrNameLst>
                                      </p:cBhvr>
                                      <p:tavLst>
                                        <p:tav tm="0">
                                          <p:val>
                                            <p:strVal val="#ppt_h"/>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55" presetClass="entr" presetSubtype="0" fill="hold" nodeType="clickEffect">
                                  <p:stCondLst>
                                    <p:cond delay="0"/>
                                  </p:stCondLst>
                                  <p:childTnLst>
                                    <p:set>
                                      <p:cBhvr>
                                        <p:cTn id="56" dur="1" fill="hold">
                                          <p:stCondLst>
                                            <p:cond delay="0"/>
                                          </p:stCondLst>
                                        </p:cTn>
                                        <p:tgtEl>
                                          <p:spTgt spid="92219"/>
                                        </p:tgtEl>
                                        <p:attrNameLst>
                                          <p:attrName>style.visibility</p:attrName>
                                        </p:attrNameLst>
                                      </p:cBhvr>
                                      <p:to>
                                        <p:strVal val="visible"/>
                                      </p:to>
                                    </p:set>
                                    <p:anim calcmode="lin" valueType="num">
                                      <p:cBhvr>
                                        <p:cTn id="57" dur="1000" fill="hold"/>
                                        <p:tgtEl>
                                          <p:spTgt spid="92219"/>
                                        </p:tgtEl>
                                        <p:attrNameLst>
                                          <p:attrName>ppt_w</p:attrName>
                                        </p:attrNameLst>
                                      </p:cBhvr>
                                      <p:tavLst>
                                        <p:tav tm="0">
                                          <p:val>
                                            <p:strVal val="#ppt_w*0.70"/>
                                          </p:val>
                                        </p:tav>
                                        <p:tav tm="100000">
                                          <p:val>
                                            <p:strVal val="#ppt_w"/>
                                          </p:val>
                                        </p:tav>
                                      </p:tavLst>
                                    </p:anim>
                                    <p:anim calcmode="lin" valueType="num">
                                      <p:cBhvr>
                                        <p:cTn id="58" dur="1000" fill="hold"/>
                                        <p:tgtEl>
                                          <p:spTgt spid="92219"/>
                                        </p:tgtEl>
                                        <p:attrNameLst>
                                          <p:attrName>ppt_h</p:attrName>
                                        </p:attrNameLst>
                                      </p:cBhvr>
                                      <p:tavLst>
                                        <p:tav tm="0">
                                          <p:val>
                                            <p:strVal val="#ppt_h"/>
                                          </p:val>
                                        </p:tav>
                                        <p:tav tm="100000">
                                          <p:val>
                                            <p:strVal val="#ppt_h"/>
                                          </p:val>
                                        </p:tav>
                                      </p:tavLst>
                                    </p:anim>
                                    <p:animEffect transition="in" filter="fade">
                                      <p:cBhvr>
                                        <p:cTn id="59" dur="1000"/>
                                        <p:tgtEl>
                                          <p:spTgt spid="92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p:cNvSpPr txBox="1"/>
          <p:nvPr/>
        </p:nvSpPr>
        <p:spPr>
          <a:xfrm>
            <a:off x="566738" y="1566863"/>
            <a:ext cx="6051550" cy="3144837"/>
          </a:xfrm>
          <a:prstGeom prst="rect">
            <a:avLst/>
          </a:prstGeom>
          <a:noFill/>
          <a:ln w="9525">
            <a:noFill/>
          </a:ln>
        </p:spPr>
        <p:txBody>
          <a:bodyPr anchor="t"/>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dirty="0">
                <a:latin typeface="华文楷体" panose="02010600040101010101" pitchFamily="2" charset="-122"/>
                <a:ea typeface="宋体" panose="02010600030101010101" pitchFamily="2" charset="-122"/>
              </a:rPr>
              <a:t>IBM，“System R”项目成果极大地推动了关系数据库技术的发展，在此基础上推出的DB2 和SQL 等产品成为IBM 的主流产品。System R本身作为原型并未问世，但鉴于其影响，ACM把1988 年的 “软件系统奖”授予了System R开发小组。 </a:t>
            </a:r>
            <a:endParaRPr lang="zh-CN" altLang="en-US" sz="2200" dirty="0">
              <a:latin typeface="华文楷体" panose="02010600040101010101" pitchFamily="2" charset="-122"/>
              <a:ea typeface="宋体" panose="02010600030101010101" pitchFamily="2" charset="-122"/>
            </a:endParaRPr>
          </a:p>
        </p:txBody>
      </p:sp>
      <p:sp>
        <p:nvSpPr>
          <p:cNvPr id="100354" name="Rectangle 2"/>
          <p:cNvSpPr txBox="1"/>
          <p:nvPr/>
        </p:nvSpPr>
        <p:spPr>
          <a:xfrm>
            <a:off x="522288" y="928688"/>
            <a:ext cx="8621712"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3. </a:t>
            </a:r>
            <a:r>
              <a:rPr lang="zh-CN" altLang="en-US" sz="2800" dirty="0">
                <a:solidFill>
                  <a:srgbClr val="3333CC"/>
                </a:solidFill>
                <a:latin typeface="Arial" panose="020B0604020202020204" pitchFamily="34" charset="0"/>
                <a:ea typeface="黑体" panose="02010609060101010101" pitchFamily="1" charset="-122"/>
              </a:rPr>
              <a:t>第二代数据库系统</a:t>
            </a:r>
            <a:r>
              <a:rPr lang="zh-CN" altLang="en-US" sz="2400" dirty="0">
                <a:solidFill>
                  <a:srgbClr val="FF0000"/>
                </a:solidFill>
                <a:latin typeface="Arial" panose="020B0604020202020204" pitchFamily="34" charset="0"/>
                <a:ea typeface="黑体" panose="02010609060101010101" pitchFamily="1" charset="-122"/>
              </a:rPr>
              <a:t>（</a:t>
            </a:r>
            <a:r>
              <a:rPr lang="en-US" altLang="x-none" sz="2400" dirty="0">
                <a:solidFill>
                  <a:srgbClr val="FF0000"/>
                </a:solidFill>
                <a:latin typeface="Arial" panose="020B0604020202020204" pitchFamily="34" charset="0"/>
                <a:ea typeface="黑体" panose="02010609060101010101" pitchFamily="1" charset="-122"/>
              </a:rPr>
              <a:t>20</a:t>
            </a:r>
            <a:r>
              <a:rPr lang="zh-CN" altLang="en-US" sz="2400" dirty="0">
                <a:solidFill>
                  <a:srgbClr val="FF0000"/>
                </a:solidFill>
                <a:latin typeface="Arial" panose="020B0604020202020204" pitchFamily="34" charset="0"/>
                <a:ea typeface="黑体" panose="02010609060101010101" pitchFamily="1" charset="-122"/>
              </a:rPr>
              <a:t>世纪</a:t>
            </a:r>
            <a:r>
              <a:rPr lang="en-US" altLang="x-none" sz="2400" dirty="0">
                <a:solidFill>
                  <a:srgbClr val="FF0000"/>
                </a:solidFill>
                <a:latin typeface="Arial" panose="020B0604020202020204" pitchFamily="34" charset="0"/>
                <a:ea typeface="黑体" panose="02010609060101010101" pitchFamily="1" charset="-122"/>
              </a:rPr>
              <a:t>70</a:t>
            </a:r>
            <a:r>
              <a:rPr lang="zh-CN" altLang="en-US" sz="2400" dirty="0">
                <a:solidFill>
                  <a:srgbClr val="FF0000"/>
                </a:solidFill>
                <a:latin typeface="Arial" panose="020B0604020202020204" pitchFamily="34" charset="0"/>
                <a:ea typeface="黑体" panose="02010609060101010101" pitchFamily="1" charset="-122"/>
              </a:rPr>
              <a:t>年代初开始）</a:t>
            </a:r>
            <a:endParaRPr lang="zh-CN" altLang="en-US" sz="2400" dirty="0">
              <a:solidFill>
                <a:srgbClr val="FF0000"/>
              </a:solidFill>
              <a:latin typeface="Arial" panose="020B0604020202020204" pitchFamily="34" charset="0"/>
              <a:ea typeface="黑体" panose="02010609060101010101" pitchFamily="1" charset="-122"/>
            </a:endParaRPr>
          </a:p>
        </p:txBody>
      </p:sp>
      <p:grpSp>
        <p:nvGrpSpPr>
          <p:cNvPr id="93189" name="组合 7"/>
          <p:cNvGrpSpPr/>
          <p:nvPr/>
        </p:nvGrpSpPr>
        <p:grpSpPr>
          <a:xfrm>
            <a:off x="579438" y="1689100"/>
            <a:ext cx="8255000" cy="4303713"/>
            <a:chOff x="0" y="0"/>
            <a:chExt cx="8255000" cy="4303713"/>
          </a:xfrm>
        </p:grpSpPr>
        <p:pic>
          <p:nvPicPr>
            <p:cNvPr id="100357" name="Picture 4" descr="JamesGray"/>
            <p:cNvPicPr>
              <a:picLocks noChangeAspect="1"/>
            </p:cNvPicPr>
            <p:nvPr/>
          </p:nvPicPr>
          <p:blipFill>
            <a:blip r:embed="rId1"/>
            <a:stretch>
              <a:fillRect/>
            </a:stretch>
          </p:blipFill>
          <p:spPr>
            <a:xfrm>
              <a:off x="6061075" y="0"/>
              <a:ext cx="2125662" cy="3455988"/>
            </a:xfrm>
            <a:prstGeom prst="rect">
              <a:avLst/>
            </a:prstGeom>
            <a:noFill/>
            <a:ln w="9525">
              <a:noFill/>
            </a:ln>
          </p:spPr>
        </p:pic>
        <p:sp>
          <p:nvSpPr>
            <p:cNvPr id="100358" name="Rectangle 5"/>
            <p:cNvSpPr/>
            <p:nvPr/>
          </p:nvSpPr>
          <p:spPr>
            <a:xfrm>
              <a:off x="6094412" y="3714750"/>
              <a:ext cx="2160588" cy="588963"/>
            </a:xfrm>
            <a:prstGeom prst="rect">
              <a:avLst/>
            </a:prstGeom>
            <a:solidFill>
              <a:schemeClr val="accent1"/>
            </a:solidFill>
            <a:ln w="9525">
              <a:noFill/>
            </a:ln>
          </p:spPr>
          <p:txBody>
            <a:bodyPr anchor="t">
              <a:spAutoFit/>
            </a:bodyPr>
            <a:lstStyle/>
            <a:p>
              <a:pPr lvl="0" indent="0">
                <a:buNone/>
              </a:pPr>
              <a:r>
                <a:rPr lang="zh-CN" altLang="en-US" sz="2800" i="1" dirty="0">
                  <a:latin typeface="宋体" panose="02010600030101010101" pitchFamily="2" charset="-122"/>
                  <a:ea typeface="宋体" panose="02010600030101010101" pitchFamily="2" charset="-122"/>
                </a:rPr>
                <a:t>James Gray</a:t>
              </a:r>
              <a:endParaRPr lang="zh-CN" altLang="en-US" sz="2800" i="1" dirty="0">
                <a:latin typeface="宋体" panose="02010600030101010101" pitchFamily="2" charset="-122"/>
                <a:ea typeface="宋体" panose="02010600030101010101" pitchFamily="2" charset="-122"/>
              </a:endParaRPr>
            </a:p>
          </p:txBody>
        </p:sp>
        <p:sp>
          <p:nvSpPr>
            <p:cNvPr id="100359" name="Rectangle 3"/>
            <p:cNvSpPr txBox="1"/>
            <p:nvPr/>
          </p:nvSpPr>
          <p:spPr>
            <a:xfrm>
              <a:off x="0" y="2427288"/>
              <a:ext cx="6051550" cy="1433512"/>
            </a:xfrm>
            <a:prstGeom prst="rect">
              <a:avLst/>
            </a:prstGeom>
            <a:noFill/>
            <a:ln w="9525">
              <a:noFill/>
            </a:ln>
          </p:spPr>
          <p:txBody>
            <a:bodyPr anchor="t"/>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dirty="0">
                  <a:latin typeface="华文楷体" panose="02010600040101010101" pitchFamily="2" charset="-122"/>
                  <a:ea typeface="宋体" panose="02010600030101010101" pitchFamily="2" charset="-122"/>
                </a:rPr>
                <a:t>基于J. Gray （詹姆士</a:t>
              </a: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格雷，加州大学伯克利分校计算机科学系博士）在数据库安全性、事务处理、图形处理、存储方面的杰出贡献，</a:t>
              </a:r>
              <a:r>
                <a:rPr lang="zh-CN" altLang="en-US" sz="2200" dirty="0">
                  <a:solidFill>
                    <a:srgbClr val="A50021"/>
                  </a:solidFill>
                  <a:latin typeface="华文楷体" panose="02010600040101010101" pitchFamily="2" charset="-122"/>
                  <a:ea typeface="宋体" panose="02010600030101010101" pitchFamily="2" charset="-122"/>
                </a:rPr>
                <a:t>他获得了1998年图灵奖。这是数据库界第三个图灵奖。</a:t>
              </a:r>
              <a:endParaRPr lang="zh-CN" altLang="en-US" sz="2200" dirty="0">
                <a:solidFill>
                  <a:srgbClr val="A50021"/>
                </a:solidFill>
                <a:latin typeface="华文楷体" panose="02010600040101010101" pitchFamily="2" charset="-122"/>
                <a:ea typeface="宋体" panose="02010600030101010101" pitchFamily="2" charset="-122"/>
              </a:endParaRPr>
            </a:p>
          </p:txBody>
        </p:sp>
      </p:grpSp>
      <p:sp>
        <p:nvSpPr>
          <p:cNvPr id="2"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3186">
                                            <p:txEl>
                                              <p:pRg st="0" end="0"/>
                                            </p:txEl>
                                          </p:spTgt>
                                        </p:tgtEl>
                                        <p:attrNameLst>
                                          <p:attrName>style.visibility</p:attrName>
                                        </p:attrNameLst>
                                      </p:cBhvr>
                                      <p:to>
                                        <p:strVal val="visible"/>
                                      </p:to>
                                    </p:set>
                                    <p:animEffect transition="in" filter="wipe(down)">
                                      <p:cBhvr>
                                        <p:cTn id="7" dur="500"/>
                                        <p:tgtEl>
                                          <p:spTgt spid="931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3189"/>
                                        </p:tgtEl>
                                        <p:attrNameLst>
                                          <p:attrName>style.visibility</p:attrName>
                                        </p:attrNameLst>
                                      </p:cBhvr>
                                      <p:to>
                                        <p:strVal val="visible"/>
                                      </p:to>
                                    </p:set>
                                    <p:anim calcmode="lin" valueType="num">
                                      <p:cBhvr additive="base">
                                        <p:cTn id="12" dur="500" fill="hold"/>
                                        <p:tgtEl>
                                          <p:spTgt spid="93189"/>
                                        </p:tgtEl>
                                        <p:attrNameLst>
                                          <p:attrName>ppt_x</p:attrName>
                                        </p:attrNameLst>
                                      </p:cBhvr>
                                      <p:tavLst>
                                        <p:tav tm="0">
                                          <p:val>
                                            <p:strVal val="#ppt_x"/>
                                          </p:val>
                                        </p:tav>
                                        <p:tav tm="100000">
                                          <p:val>
                                            <p:strVal val="#ppt_x"/>
                                          </p:val>
                                        </p:tav>
                                      </p:tavLst>
                                    </p:anim>
                                    <p:anim calcmode="lin" valueType="num">
                                      <p:cBhvr additive="base">
                                        <p:cTn id="13" dur="500" fill="hold"/>
                                        <p:tgtEl>
                                          <p:spTgt spid="931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build="allAtOnce"/>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3"/>
          <p:cNvSpPr txBox="1"/>
          <p:nvPr/>
        </p:nvSpPr>
        <p:spPr>
          <a:xfrm>
            <a:off x="647700" y="1974850"/>
            <a:ext cx="7986713" cy="4324350"/>
          </a:xfrm>
          <a:prstGeom prst="rect">
            <a:avLst/>
          </a:prstGeom>
          <a:noFill/>
          <a:ln w="9525">
            <a:noFill/>
          </a:ln>
        </p:spPr>
        <p:txBody>
          <a:bodyPr anchor="t"/>
          <a:lstStyle/>
          <a:p>
            <a:pPr lvl="0" indent="0">
              <a:lnSpc>
                <a:spcPct val="100000"/>
              </a:lnSpc>
              <a:spcBef>
                <a:spcPct val="20000"/>
              </a:spcBef>
              <a:buClr>
                <a:srgbClr val="0033CC"/>
              </a:buClr>
              <a:buSzPct val="80000"/>
              <a:buNone/>
            </a:pPr>
            <a:r>
              <a:rPr lang="zh-CN" altLang="en-US" sz="2400" dirty="0">
                <a:latin typeface="Arial" panose="020B0604020202020204" pitchFamily="34" charset="0"/>
                <a:ea typeface="宋体" panose="02010600030101010101" pitchFamily="2" charset="-122"/>
              </a:rPr>
              <a:t>Gartner Group（位于美国康涅狄克州斯坦福德的IT市场调查公司）基于估计的税收（Revenues）对2007年RDBMS的卖主排序</a:t>
            </a:r>
            <a:endParaRPr lang="zh-CN" altLang="en-US" sz="2400" dirty="0">
              <a:latin typeface="Arial" panose="020B0604020202020204" pitchFamily="34" charset="0"/>
              <a:ea typeface="宋体" panose="02010600030101010101" pitchFamily="2" charset="-122"/>
            </a:endParaRPr>
          </a:p>
          <a:p>
            <a:pPr lvl="0" indent="0">
              <a:lnSpc>
                <a:spcPct val="100000"/>
              </a:lnSpc>
              <a:spcBef>
                <a:spcPct val="20000"/>
              </a:spcBef>
              <a:buClr>
                <a:srgbClr val="0033CC"/>
              </a:buClr>
              <a:buSzPct val="80000"/>
              <a:buNone/>
            </a:pPr>
            <a:r>
              <a:rPr lang="zh-CN" altLang="en-US" sz="2400" dirty="0">
                <a:latin typeface="Arial" panose="020B0604020202020204" pitchFamily="34" charset="0"/>
                <a:ea typeface="宋体" panose="02010600030101010101" pitchFamily="2" charset="-122"/>
              </a:rPr>
              <a:t>Top 5：</a:t>
            </a:r>
            <a:endParaRPr lang="zh-CN" altLang="en-US" sz="2400" dirty="0">
              <a:latin typeface="Arial" panose="020B0604020202020204" pitchFamily="34" charset="0"/>
              <a:ea typeface="宋体" panose="02010600030101010101" pitchFamily="2" charset="-122"/>
            </a:endParaRPr>
          </a:p>
          <a:p>
            <a:pPr lvl="0" indent="0">
              <a:lnSpc>
                <a:spcPct val="100000"/>
              </a:lnSpc>
              <a:spcBef>
                <a:spcPct val="20000"/>
              </a:spcBef>
              <a:buClr>
                <a:schemeClr val="tx2"/>
              </a:buClr>
              <a:buSzPct val="80000"/>
              <a:buFont typeface="Wingdings" panose="05000000000000000000" pitchFamily="2" charset="2"/>
              <a:buChar char="ü"/>
            </a:pPr>
            <a:r>
              <a:rPr lang="zh-CN" altLang="en-US" sz="2400" dirty="0">
                <a:latin typeface="Arial" panose="020B0604020202020204" pitchFamily="34" charset="0"/>
                <a:ea typeface="宋体" panose="02010600030101010101" pitchFamily="2" charset="-122"/>
              </a:rPr>
              <a:t>Oracle: 48.6% </a:t>
            </a:r>
            <a:endParaRPr lang="zh-CN" altLang="en-US" sz="2400" dirty="0">
              <a:latin typeface="Arial" panose="020B0604020202020204" pitchFamily="34" charset="0"/>
              <a:ea typeface="宋体" panose="02010600030101010101" pitchFamily="2" charset="-122"/>
            </a:endParaRPr>
          </a:p>
          <a:p>
            <a:pPr lvl="0" indent="0">
              <a:lnSpc>
                <a:spcPct val="100000"/>
              </a:lnSpc>
              <a:spcBef>
                <a:spcPct val="20000"/>
              </a:spcBef>
              <a:buClr>
                <a:schemeClr val="tx2"/>
              </a:buClr>
              <a:buSzPct val="80000"/>
              <a:buFont typeface="Wingdings" panose="05000000000000000000" pitchFamily="2" charset="2"/>
              <a:buChar char="ü"/>
            </a:pPr>
            <a:r>
              <a:rPr lang="zh-CN" altLang="en-US" sz="2400" dirty="0">
                <a:latin typeface="Arial" panose="020B0604020202020204" pitchFamily="34" charset="0"/>
                <a:ea typeface="宋体" panose="02010600030101010101" pitchFamily="2" charset="-122"/>
              </a:rPr>
              <a:t>IBM: 22.1% </a:t>
            </a:r>
            <a:endParaRPr lang="zh-CN" altLang="en-US" sz="2400" dirty="0">
              <a:latin typeface="Arial" panose="020B0604020202020204" pitchFamily="34" charset="0"/>
              <a:ea typeface="宋体" panose="02010600030101010101" pitchFamily="2" charset="-122"/>
            </a:endParaRPr>
          </a:p>
          <a:p>
            <a:pPr lvl="0" indent="0">
              <a:lnSpc>
                <a:spcPct val="100000"/>
              </a:lnSpc>
              <a:spcBef>
                <a:spcPct val="20000"/>
              </a:spcBef>
              <a:buClr>
                <a:schemeClr val="tx2"/>
              </a:buClr>
              <a:buSzPct val="80000"/>
              <a:buFont typeface="Wingdings" panose="05000000000000000000" pitchFamily="2" charset="2"/>
              <a:buChar char="ü"/>
            </a:pPr>
            <a:r>
              <a:rPr lang="zh-CN" altLang="en-US" sz="2400" dirty="0">
                <a:latin typeface="Arial" panose="020B0604020202020204" pitchFamily="34" charset="0"/>
                <a:ea typeface="宋体" panose="02010600030101010101" pitchFamily="2" charset="-122"/>
              </a:rPr>
              <a:t>Microsoft : 13.5% </a:t>
            </a:r>
            <a:endParaRPr lang="zh-CN" altLang="en-US" sz="2400" dirty="0">
              <a:latin typeface="Arial" panose="020B0604020202020204" pitchFamily="34" charset="0"/>
              <a:ea typeface="宋体" panose="02010600030101010101" pitchFamily="2" charset="-122"/>
            </a:endParaRPr>
          </a:p>
          <a:p>
            <a:pPr lvl="0" indent="0">
              <a:lnSpc>
                <a:spcPct val="100000"/>
              </a:lnSpc>
              <a:spcBef>
                <a:spcPct val="20000"/>
              </a:spcBef>
              <a:buClr>
                <a:schemeClr val="tx2"/>
              </a:buClr>
              <a:buSzPct val="80000"/>
              <a:buFont typeface="Wingdings" panose="05000000000000000000" pitchFamily="2" charset="2"/>
              <a:buChar char="ü"/>
            </a:pPr>
            <a:r>
              <a:rPr lang="zh-CN" altLang="en-US" sz="2400" dirty="0">
                <a:latin typeface="Arial" panose="020B0604020202020204" pitchFamily="34" charset="0"/>
                <a:ea typeface="宋体" panose="02010600030101010101" pitchFamily="2" charset="-122"/>
              </a:rPr>
              <a:t>Teradata: 3.2% </a:t>
            </a:r>
            <a:endParaRPr lang="zh-CN" altLang="en-US" sz="2400" dirty="0">
              <a:latin typeface="Arial" panose="020B0604020202020204" pitchFamily="34" charset="0"/>
              <a:ea typeface="宋体" panose="02010600030101010101" pitchFamily="2" charset="-122"/>
            </a:endParaRPr>
          </a:p>
          <a:p>
            <a:pPr lvl="0" indent="0">
              <a:lnSpc>
                <a:spcPct val="100000"/>
              </a:lnSpc>
              <a:spcBef>
                <a:spcPct val="20000"/>
              </a:spcBef>
              <a:buClr>
                <a:schemeClr val="tx2"/>
              </a:buClr>
              <a:buSzPct val="80000"/>
              <a:buFont typeface="Wingdings" panose="05000000000000000000" pitchFamily="2" charset="2"/>
              <a:buChar char="ü"/>
            </a:pPr>
            <a:r>
              <a:rPr lang="zh-CN" altLang="en-US" sz="2400" dirty="0">
                <a:latin typeface="Arial" panose="020B0604020202020204" pitchFamily="34" charset="0"/>
                <a:ea typeface="宋体" panose="02010600030101010101" pitchFamily="2" charset="-122"/>
              </a:rPr>
              <a:t>Sybase: 3.0% </a:t>
            </a:r>
            <a:endParaRPr lang="zh-CN" altLang="en-US" sz="2400" dirty="0">
              <a:latin typeface="Arial" panose="020B0604020202020204" pitchFamily="34" charset="0"/>
              <a:ea typeface="宋体" panose="02010600030101010101" pitchFamily="2" charset="-122"/>
            </a:endParaRPr>
          </a:p>
          <a:p>
            <a:pPr lvl="0" indent="0">
              <a:lnSpc>
                <a:spcPct val="100000"/>
              </a:lnSpc>
              <a:spcBef>
                <a:spcPct val="20000"/>
              </a:spcBef>
              <a:buClr>
                <a:srgbClr val="0033CC"/>
              </a:buClr>
              <a:buSzPct val="80000"/>
              <a:buNone/>
            </a:pPr>
            <a:endParaRPr lang="zh-CN" altLang="en-US" sz="2400" dirty="0">
              <a:latin typeface="Arial" panose="020B0604020202020204" pitchFamily="34" charset="0"/>
              <a:ea typeface="宋体" panose="02010600030101010101" pitchFamily="2" charset="-122"/>
            </a:endParaRPr>
          </a:p>
        </p:txBody>
      </p:sp>
      <p:pic>
        <p:nvPicPr>
          <p:cNvPr id="102402" name="Picture 4" descr="Oracle-Elison"/>
          <p:cNvPicPr>
            <a:picLocks noChangeAspect="1"/>
          </p:cNvPicPr>
          <p:nvPr/>
        </p:nvPicPr>
        <p:blipFill>
          <a:blip r:embed="rId1"/>
          <a:stretch>
            <a:fillRect/>
          </a:stretch>
        </p:blipFill>
        <p:spPr>
          <a:xfrm>
            <a:off x="5065713" y="2855913"/>
            <a:ext cx="3168650" cy="2481262"/>
          </a:xfrm>
          <a:prstGeom prst="rect">
            <a:avLst/>
          </a:prstGeom>
          <a:noFill/>
          <a:ln w="9525">
            <a:noFill/>
          </a:ln>
        </p:spPr>
      </p:pic>
      <p:sp>
        <p:nvSpPr>
          <p:cNvPr id="102403" name="Rectangle 5"/>
          <p:cNvSpPr/>
          <p:nvPr/>
        </p:nvSpPr>
        <p:spPr>
          <a:xfrm>
            <a:off x="5037138" y="5375275"/>
            <a:ext cx="3209925" cy="719138"/>
          </a:xfrm>
          <a:prstGeom prst="rect">
            <a:avLst/>
          </a:prstGeom>
          <a:solidFill>
            <a:schemeClr val="accent1"/>
          </a:solidFill>
          <a:ln w="9525" cap="flat" cmpd="sng">
            <a:solidFill>
              <a:schemeClr val="bg1"/>
            </a:solidFill>
            <a:prstDash val="solid"/>
            <a:miter/>
            <a:headEnd type="none" w="med" len="med"/>
            <a:tailEnd type="none" w="med" len="med"/>
          </a:ln>
        </p:spPr>
        <p:txBody>
          <a:bodyPr anchor="ctr"/>
          <a:lstStyle/>
          <a:p>
            <a:pPr lvl="0" indent="0" algn="ctr">
              <a:lnSpc>
                <a:spcPct val="120000"/>
              </a:lnSpc>
              <a:buNone/>
            </a:pPr>
            <a:r>
              <a:rPr lang="zh-CN" altLang="en-US" sz="2400" dirty="0">
                <a:solidFill>
                  <a:srgbClr val="000000"/>
                </a:solidFill>
                <a:latin typeface="宋体" panose="02010600030101010101" pitchFamily="2" charset="-122"/>
                <a:ea typeface="宋体" panose="02010600030101010101" pitchFamily="2" charset="-122"/>
              </a:rPr>
              <a:t>Larry Ellison，Oracle CEO</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95237" name="Rectangle 2"/>
          <p:cNvSpPr txBox="1"/>
          <p:nvPr/>
        </p:nvSpPr>
        <p:spPr>
          <a:xfrm>
            <a:off x="522288" y="928688"/>
            <a:ext cx="8621712"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3. </a:t>
            </a:r>
            <a:r>
              <a:rPr lang="zh-CN" altLang="en-US" sz="2800" dirty="0">
                <a:solidFill>
                  <a:srgbClr val="3333CC"/>
                </a:solidFill>
                <a:latin typeface="Arial" panose="020B0604020202020204" pitchFamily="34" charset="0"/>
                <a:ea typeface="黑体" panose="02010609060101010101" pitchFamily="1" charset="-122"/>
              </a:rPr>
              <a:t>第二代数据库系统</a:t>
            </a:r>
            <a:r>
              <a:rPr lang="zh-CN" altLang="en-US" sz="2400" dirty="0">
                <a:solidFill>
                  <a:srgbClr val="FF0000"/>
                </a:solidFill>
                <a:latin typeface="Arial" panose="020B0604020202020204" pitchFamily="34" charset="0"/>
                <a:ea typeface="黑体" panose="02010609060101010101" pitchFamily="1" charset="-122"/>
              </a:rPr>
              <a:t>（</a:t>
            </a:r>
            <a:r>
              <a:rPr lang="en-US" altLang="x-none" sz="2400" dirty="0">
                <a:solidFill>
                  <a:srgbClr val="FF0000"/>
                </a:solidFill>
                <a:latin typeface="Arial" panose="020B0604020202020204" pitchFamily="34" charset="0"/>
                <a:ea typeface="黑体" panose="02010609060101010101" pitchFamily="1" charset="-122"/>
              </a:rPr>
              <a:t>20</a:t>
            </a:r>
            <a:r>
              <a:rPr lang="zh-CN" altLang="en-US" sz="2400" dirty="0">
                <a:solidFill>
                  <a:srgbClr val="FF0000"/>
                </a:solidFill>
                <a:latin typeface="Arial" panose="020B0604020202020204" pitchFamily="34" charset="0"/>
                <a:ea typeface="黑体" panose="02010609060101010101" pitchFamily="1" charset="-122"/>
              </a:rPr>
              <a:t>世纪</a:t>
            </a:r>
            <a:r>
              <a:rPr lang="en-US" altLang="x-none" sz="2400" dirty="0">
                <a:solidFill>
                  <a:srgbClr val="FF0000"/>
                </a:solidFill>
                <a:latin typeface="Arial" panose="020B0604020202020204" pitchFamily="34" charset="0"/>
                <a:ea typeface="黑体" panose="02010609060101010101" pitchFamily="1" charset="-122"/>
              </a:rPr>
              <a:t>70</a:t>
            </a:r>
            <a:r>
              <a:rPr lang="zh-CN" altLang="en-US" sz="2400" dirty="0">
                <a:solidFill>
                  <a:srgbClr val="FF0000"/>
                </a:solidFill>
                <a:latin typeface="Arial" panose="020B0604020202020204" pitchFamily="34" charset="0"/>
                <a:ea typeface="黑体" panose="02010609060101010101" pitchFamily="1" charset="-122"/>
              </a:rPr>
              <a:t>年代初开始）</a:t>
            </a:r>
            <a:endParaRPr lang="zh-CN" altLang="en-US" sz="2400" dirty="0">
              <a:solidFill>
                <a:srgbClr val="FF0000"/>
              </a:solidFill>
              <a:latin typeface="Arial" panose="020B0604020202020204" pitchFamily="34" charset="0"/>
              <a:ea typeface="黑体" panose="02010609060101010101" pitchFamily="1" charset="-122"/>
            </a:endParaRPr>
          </a:p>
        </p:txBody>
      </p:sp>
      <p:sp>
        <p:nvSpPr>
          <p:cNvPr id="102406" name="矩形 8"/>
          <p:cNvSpPr/>
          <p:nvPr/>
        </p:nvSpPr>
        <p:spPr>
          <a:xfrm>
            <a:off x="606425" y="1381125"/>
            <a:ext cx="3851275" cy="606425"/>
          </a:xfrm>
          <a:prstGeom prst="rect">
            <a:avLst/>
          </a:prstGeom>
          <a:noFill/>
          <a:ln w="9525">
            <a:noFill/>
          </a:ln>
        </p:spPr>
        <p:txBody>
          <a:bodyPr wrap="none" anchor="t">
            <a:spAutoFit/>
          </a:bodyPr>
          <a:lstStyle/>
          <a:p>
            <a:pPr lvl="0" indent="0">
              <a:buFont typeface="Wingdings" panose="05000000000000000000" pitchFamily="2" charset="2"/>
              <a:buChar char="p"/>
            </a:pPr>
            <a:r>
              <a:rPr lang="zh-CN" altLang="en-US" sz="2800" dirty="0">
                <a:solidFill>
                  <a:srgbClr val="FF0000"/>
                </a:solidFill>
                <a:latin typeface="Arial" panose="020B0604020202020204" pitchFamily="34" charset="0"/>
                <a:ea typeface="宋体" panose="02010600030101010101" pitchFamily="2" charset="-122"/>
              </a:rPr>
              <a:t> 群雄并起到春秋五霸</a:t>
            </a:r>
            <a:endParaRPr lang="zh-CN" altLang="en-US" sz="2800" dirty="0">
              <a:solidFill>
                <a:srgbClr val="FF0000"/>
              </a:solidFill>
              <a:latin typeface="Arial" panose="020B0604020202020204" pitchFamily="34" charset="0"/>
              <a:ea typeface="宋体" panose="02010600030101010101" pitchFamily="2" charset="-122"/>
            </a:endParaRPr>
          </a:p>
        </p:txBody>
      </p:sp>
      <p:sp>
        <p:nvSpPr>
          <p:cNvPr id="2" name="矩形 1"/>
          <p:cNvSpPr/>
          <p:nvPr/>
        </p:nvSpPr>
        <p:spPr>
          <a:xfrm>
            <a:off x="606425" y="2682875"/>
            <a:ext cx="8080375" cy="34118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110000"/>
              </a:lnSpc>
              <a:buNone/>
            </a:pPr>
            <a:r>
              <a:rPr lang="en-US" altLang="x-none" sz="2200" dirty="0">
                <a:solidFill>
                  <a:schemeClr val="tx1"/>
                </a:solidFill>
                <a:sym typeface="+mn-ea"/>
              </a:rPr>
              <a:t>2017</a:t>
            </a:r>
            <a:r>
              <a:rPr lang="zh-CN" altLang="en-US" sz="2200" dirty="0">
                <a:solidFill>
                  <a:schemeClr val="tx1"/>
                </a:solidFill>
                <a:sym typeface="+mn-ea"/>
              </a:rPr>
              <a:t>年</a:t>
            </a:r>
            <a:r>
              <a:rPr lang="en-US" altLang="x-none" sz="2200" dirty="0">
                <a:solidFill>
                  <a:schemeClr val="tx1"/>
                </a:solidFill>
                <a:sym typeface="+mn-ea"/>
              </a:rPr>
              <a:t>《</a:t>
            </a:r>
            <a:r>
              <a:rPr lang="zh-CN" altLang="en-US" sz="2200" dirty="0">
                <a:solidFill>
                  <a:schemeClr val="tx1"/>
                </a:solidFill>
                <a:sym typeface="+mn-ea"/>
              </a:rPr>
              <a:t>福布斯</a:t>
            </a:r>
            <a:r>
              <a:rPr lang="en-US" altLang="x-none" sz="2200" dirty="0">
                <a:solidFill>
                  <a:schemeClr val="tx1"/>
                </a:solidFill>
                <a:sym typeface="+mn-ea"/>
              </a:rPr>
              <a:t>》</a:t>
            </a:r>
            <a:r>
              <a:rPr lang="zh-CN" altLang="en-US" sz="2200" dirty="0">
                <a:solidFill>
                  <a:schemeClr val="tx1"/>
                </a:solidFill>
                <a:sym typeface="+mn-ea"/>
              </a:rPr>
              <a:t>发布美国富豪</a:t>
            </a:r>
            <a:r>
              <a:rPr lang="en-US" altLang="x-none" sz="2200" dirty="0">
                <a:solidFill>
                  <a:schemeClr val="tx1"/>
                </a:solidFill>
                <a:sym typeface="+mn-ea"/>
              </a:rPr>
              <a:t>400</a:t>
            </a:r>
            <a:r>
              <a:rPr lang="zh-CN" altLang="en-US" sz="2200" dirty="0">
                <a:solidFill>
                  <a:schemeClr val="tx1"/>
                </a:solidFill>
                <a:sym typeface="+mn-ea"/>
              </a:rPr>
              <a:t>强榜单显示，甲骨文公司创始人拉里</a:t>
            </a:r>
            <a:r>
              <a:rPr lang="en-US" altLang="x-none" sz="2200" dirty="0">
                <a:solidFill>
                  <a:schemeClr val="tx1"/>
                </a:solidFill>
                <a:sym typeface="+mn-ea"/>
              </a:rPr>
              <a:t>·</a:t>
            </a:r>
            <a:r>
              <a:rPr lang="zh-CN" altLang="en-US" sz="2200" dirty="0">
                <a:solidFill>
                  <a:schemeClr val="tx1"/>
                </a:solidFill>
                <a:sym typeface="+mn-ea"/>
              </a:rPr>
              <a:t>埃里森，以</a:t>
            </a:r>
            <a:r>
              <a:rPr lang="en-US" altLang="x-none" sz="2200" dirty="0">
                <a:solidFill>
                  <a:schemeClr val="tx1"/>
                </a:solidFill>
                <a:sym typeface="+mn-ea"/>
              </a:rPr>
              <a:t>500</a:t>
            </a:r>
            <a:r>
              <a:rPr lang="zh-CN" altLang="en-US" sz="2200" dirty="0">
                <a:solidFill>
                  <a:schemeClr val="tx1"/>
                </a:solidFill>
                <a:sym typeface="+mn-ea"/>
              </a:rPr>
              <a:t>亿美元排名第</a:t>
            </a:r>
            <a:r>
              <a:rPr lang="en-US" altLang="zh-CN" sz="2200" dirty="0">
                <a:solidFill>
                  <a:schemeClr val="tx1"/>
                </a:solidFill>
                <a:sym typeface="+mn-ea"/>
              </a:rPr>
              <a:t>7</a:t>
            </a:r>
            <a:r>
              <a:rPr lang="zh-CN" altLang="en-US" sz="2200" dirty="0">
                <a:solidFill>
                  <a:schemeClr val="tx1"/>
                </a:solidFill>
                <a:sym typeface="+mn-ea"/>
              </a:rPr>
              <a:t>。</a:t>
            </a:r>
            <a:r>
              <a:rPr lang="zh-CN" altLang="en-US" sz="2200" dirty="0">
                <a:solidFill>
                  <a:schemeClr val="tx1"/>
                </a:solidFill>
                <a:latin typeface="Arial" panose="020B0604020202020204" pitchFamily="34" charset="0"/>
                <a:sym typeface="+mn-ea"/>
              </a:rPr>
              <a:t>惊人之举：</a:t>
            </a:r>
            <a:endParaRPr lang="zh-CN" altLang="en-US" sz="2200" dirty="0">
              <a:solidFill>
                <a:schemeClr val="tx1"/>
              </a:solidFill>
              <a:latin typeface="Arial" panose="020B0604020202020204" pitchFamily="34" charset="0"/>
              <a:sym typeface="+mn-ea"/>
            </a:endParaRPr>
          </a:p>
          <a:p>
            <a:pPr lvl="0">
              <a:lnSpc>
                <a:spcPct val="110000"/>
              </a:lnSpc>
              <a:buNone/>
            </a:pPr>
            <a:r>
              <a:rPr lang="zh-CN" altLang="en-US" sz="2200" dirty="0">
                <a:solidFill>
                  <a:schemeClr val="tx1"/>
                </a:solidFill>
                <a:latin typeface="Arial" panose="020B0604020202020204" pitchFamily="34" charset="0"/>
                <a:sym typeface="+mn-ea"/>
              </a:rPr>
              <a:t>1、他曾经想花2000万美元购买一架俄罗斯米格战斗机，令美国海关手足无措。 </a:t>
            </a:r>
            <a:br>
              <a:rPr lang="zh-CN" altLang="en-US" sz="2200" dirty="0">
                <a:solidFill>
                  <a:schemeClr val="tx1"/>
                </a:solidFill>
                <a:latin typeface="Arial" panose="020B0604020202020204" pitchFamily="34" charset="0"/>
                <a:sym typeface="+mn-ea"/>
              </a:rPr>
            </a:br>
            <a:r>
              <a:rPr lang="zh-CN" altLang="en-US" sz="2200" dirty="0">
                <a:solidFill>
                  <a:schemeClr val="tx1"/>
                </a:solidFill>
                <a:latin typeface="Arial" panose="020B0604020202020204" pitchFamily="34" charset="0"/>
                <a:sym typeface="+mn-ea"/>
              </a:rPr>
              <a:t>2、开着一架意大利产战斗机在太平洋上空和别人进行模拟空战。 </a:t>
            </a:r>
            <a:br>
              <a:rPr lang="zh-CN" altLang="en-US" sz="2200" dirty="0">
                <a:solidFill>
                  <a:schemeClr val="tx1"/>
                </a:solidFill>
                <a:latin typeface="Arial" panose="020B0604020202020204" pitchFamily="34" charset="0"/>
                <a:sym typeface="+mn-ea"/>
              </a:rPr>
            </a:br>
            <a:r>
              <a:rPr lang="zh-CN" altLang="en-US" sz="2200" dirty="0">
                <a:solidFill>
                  <a:schemeClr val="tx1"/>
                </a:solidFill>
                <a:latin typeface="Arial" panose="020B0604020202020204" pitchFamily="34" charset="0"/>
                <a:sym typeface="+mn-ea"/>
              </a:rPr>
              <a:t>3、因冒险玩命多次住进医院：上大学踢球时弄断过鼻梁骨，在夏威夷冲浪时扭伤过颈骨，还有一次因骑车摔断过肘骨。 </a:t>
            </a:r>
            <a:br>
              <a:rPr lang="zh-CN" altLang="en-US" sz="2200" dirty="0">
                <a:solidFill>
                  <a:schemeClr val="tx1"/>
                </a:solidFill>
                <a:latin typeface="Arial" panose="020B0604020202020204" pitchFamily="34" charset="0"/>
                <a:sym typeface="+mn-ea"/>
              </a:rPr>
            </a:br>
            <a:r>
              <a:rPr lang="zh-CN" altLang="en-US" sz="2200" dirty="0">
                <a:solidFill>
                  <a:schemeClr val="tx1"/>
                </a:solidFill>
                <a:latin typeface="Arial" panose="020B0604020202020204" pitchFamily="34" charset="0"/>
                <a:sym typeface="+mn-ea"/>
              </a:rPr>
              <a:t>4、拥有一架拆除武器的意大利产</a:t>
            </a:r>
            <a:r>
              <a:rPr lang="zh-CN" altLang="en-US" sz="2200" dirty="0">
                <a:solidFill>
                  <a:schemeClr val="tx1"/>
                </a:solidFill>
                <a:sym typeface="+mn-ea"/>
              </a:rPr>
              <a:t>‘</a:t>
            </a:r>
            <a:r>
              <a:rPr lang="zh-CN" altLang="en-US" sz="2200" dirty="0">
                <a:solidFill>
                  <a:schemeClr val="tx1"/>
                </a:solidFill>
                <a:latin typeface="Arial" panose="020B0604020202020204" pitchFamily="34" charset="0"/>
                <a:sym typeface="+mn-ea"/>
              </a:rPr>
              <a:t>马尔切蒂S.211</a:t>
            </a:r>
            <a:r>
              <a:rPr lang="zh-CN" altLang="en-US" sz="2200" dirty="0">
                <a:solidFill>
                  <a:schemeClr val="tx1"/>
                </a:solidFill>
                <a:sym typeface="+mn-ea"/>
              </a:rPr>
              <a:t>’</a:t>
            </a:r>
            <a:r>
              <a:rPr lang="zh-CN" altLang="en-US" sz="2200" dirty="0">
                <a:solidFill>
                  <a:schemeClr val="tx1"/>
                </a:solidFill>
                <a:latin typeface="Arial" panose="020B0604020202020204" pitchFamily="34" charset="0"/>
                <a:sym typeface="+mn-ea"/>
              </a:rPr>
              <a:t>型战斗机。</a:t>
            </a:r>
            <a:endParaRPr lang="zh-CN" altLang="en-US" sz="2200" dirty="0">
              <a:solidFill>
                <a:schemeClr val="tx1"/>
              </a:solidFill>
              <a:latin typeface="Arial" panose="020B0604020202020204" pitchFamily="34" charset="0"/>
              <a:sym typeface="+mn-ea"/>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95237"/>
                                        </p:tgtEl>
                                        <p:attrNameLst>
                                          <p:attrName>style.visibility</p:attrName>
                                        </p:attrNameLst>
                                      </p:cBhvr>
                                      <p:to>
                                        <p:strVal val="visible"/>
                                      </p:to>
                                    </p:set>
                                    <p:anim calcmode="lin" valueType="num">
                                      <p:cBhvr additive="base">
                                        <p:cTn id="7" dur="500" fill="hold"/>
                                        <p:tgtEl>
                                          <p:spTgt spid="95237"/>
                                        </p:tgtEl>
                                        <p:attrNameLst>
                                          <p:attrName>ppt_x</p:attrName>
                                        </p:attrNameLst>
                                      </p:cBhvr>
                                      <p:tavLst>
                                        <p:tav tm="0">
                                          <p:val>
                                            <p:strVal val="#ppt_x"/>
                                          </p:val>
                                        </p:tav>
                                        <p:tav tm="100000">
                                          <p:val>
                                            <p:strVal val="#ppt_x"/>
                                          </p:val>
                                        </p:tav>
                                      </p:tavLst>
                                    </p:anim>
                                    <p:anim calcmode="lin" valueType="num">
                                      <p:cBhvr additive="base">
                                        <p:cTn id="8" dur="500" fill="hold"/>
                                        <p:tgtEl>
                                          <p:spTgt spid="9523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7" grpId="0"/>
      <p:bldP spid="2"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3" name="图片 4" descr="1-1分钟看中国大数据-2017.jpg"/>
          <p:cNvPicPr>
            <a:picLocks noChangeAspect="1"/>
          </p:cNvPicPr>
          <p:nvPr/>
        </p:nvPicPr>
        <p:blipFill>
          <a:blip r:embed="rId1"/>
          <a:stretch>
            <a:fillRect/>
          </a:stretch>
        </p:blipFill>
        <p:spPr>
          <a:xfrm>
            <a:off x="688975" y="1433830"/>
            <a:ext cx="4890135" cy="4814570"/>
          </a:xfrm>
          <a:prstGeom prst="rect">
            <a:avLst/>
          </a:prstGeom>
          <a:noFill/>
          <a:ln w="9525">
            <a:noFill/>
          </a:ln>
        </p:spPr>
      </p:pic>
      <p:graphicFrame>
        <p:nvGraphicFramePr>
          <p:cNvPr id="2050" name="Object 6"/>
          <p:cNvGraphicFramePr/>
          <p:nvPr/>
        </p:nvGraphicFramePr>
        <p:xfrm>
          <a:off x="584200" y="1548130"/>
          <a:ext cx="8368030" cy="4586605"/>
        </p:xfrm>
        <a:graphic>
          <a:graphicData uri="http://schemas.openxmlformats.org/presentationml/2006/ole">
            <mc:AlternateContent xmlns:mc="http://schemas.openxmlformats.org/markup-compatibility/2006">
              <mc:Choice xmlns:v="urn:schemas-microsoft-com:vml" Requires="v">
                <p:oleObj spid="_x0000_s9249" name="" r:id="rId2" imgW="7283450" imgH="3870960" progId="Visio.Drawing.11">
                  <p:embed/>
                </p:oleObj>
              </mc:Choice>
              <mc:Fallback>
                <p:oleObj name="" r:id="rId2" imgW="7283450" imgH="3870960" progId="Visio.Drawing.11">
                  <p:embed/>
                  <p:pic>
                    <p:nvPicPr>
                      <p:cNvPr id="0" name="图片 3076"/>
                      <p:cNvPicPr/>
                      <p:nvPr/>
                    </p:nvPicPr>
                    <p:blipFill>
                      <a:blip r:embed="rId3"/>
                      <a:stretch>
                        <a:fillRect/>
                      </a:stretch>
                    </p:blipFill>
                    <p:spPr>
                      <a:xfrm>
                        <a:off x="584200" y="1548130"/>
                        <a:ext cx="8368030" cy="4586605"/>
                      </a:xfrm>
                      <a:prstGeom prst="rect">
                        <a:avLst/>
                      </a:prstGeom>
                      <a:solidFill>
                        <a:schemeClr val="bg1"/>
                      </a:solidFill>
                      <a:ln w="38100">
                        <a:noFill/>
                        <a:miter/>
                      </a:ln>
                    </p:spPr>
                  </p:pic>
                </p:oleObj>
              </mc:Fallback>
            </mc:AlternateContent>
          </a:graphicData>
        </a:graphic>
      </p:graphicFrame>
      <p:sp>
        <p:nvSpPr>
          <p:cNvPr id="108546" name="Rectangle 2"/>
          <p:cNvSpPr txBox="1"/>
          <p:nvPr/>
        </p:nvSpPr>
        <p:spPr>
          <a:xfrm>
            <a:off x="541655" y="911860"/>
            <a:ext cx="8149590"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4. </a:t>
            </a:r>
            <a:r>
              <a:rPr lang="zh-CN" altLang="en-US" sz="2800" dirty="0">
                <a:solidFill>
                  <a:srgbClr val="3333CC"/>
                </a:solidFill>
                <a:latin typeface="Arial" panose="020B0604020202020204" pitchFamily="34" charset="0"/>
                <a:ea typeface="黑体" panose="02010609060101010101" pitchFamily="1" charset="-122"/>
              </a:rPr>
              <a:t>数据仓库、并行</a:t>
            </a:r>
            <a:r>
              <a:rPr lang="en-US" altLang="zh-CN" sz="2800" dirty="0">
                <a:solidFill>
                  <a:srgbClr val="3333CC"/>
                </a:solidFill>
                <a:latin typeface="Arial" panose="020B0604020202020204" pitchFamily="34" charset="0"/>
                <a:ea typeface="黑体" panose="02010609060101010101" pitchFamily="1" charset="-122"/>
              </a:rPr>
              <a:t>/</a:t>
            </a:r>
            <a:r>
              <a:rPr lang="zh-CN" altLang="en-US" sz="2800" dirty="0">
                <a:solidFill>
                  <a:srgbClr val="3333CC"/>
                </a:solidFill>
                <a:latin typeface="Arial" panose="020B0604020202020204" pitchFamily="34" charset="0"/>
                <a:ea typeface="黑体" panose="02010609060101010101" pitchFamily="1" charset="-122"/>
              </a:rPr>
              <a:t>分布式</a:t>
            </a:r>
            <a:r>
              <a:rPr lang="en-US" altLang="zh-CN" sz="2800" dirty="0">
                <a:solidFill>
                  <a:srgbClr val="3333CC"/>
                </a:solidFill>
                <a:latin typeface="Arial" panose="020B0604020202020204" pitchFamily="34" charset="0"/>
                <a:ea typeface="黑体" panose="02010609060101010101" pitchFamily="1" charset="-122"/>
              </a:rPr>
              <a:t>/</a:t>
            </a:r>
            <a:r>
              <a:rPr lang="en-US" altLang="x-none" sz="2800" dirty="0">
                <a:solidFill>
                  <a:srgbClr val="3333CC"/>
                </a:solidFill>
                <a:latin typeface="Arial" panose="020B0604020202020204" pitchFamily="34" charset="0"/>
                <a:ea typeface="黑体" panose="02010609060101010101" pitchFamily="1" charset="-122"/>
              </a:rPr>
              <a:t>Web</a:t>
            </a:r>
            <a:r>
              <a:rPr lang="zh-CN" altLang="en-US" sz="2800" dirty="0">
                <a:solidFill>
                  <a:srgbClr val="3333CC"/>
                </a:solidFill>
                <a:latin typeface="Arial" panose="020B0604020202020204" pitchFamily="34" charset="0"/>
                <a:ea typeface="黑体" panose="02010609060101010101" pitchFamily="1" charset="-122"/>
              </a:rPr>
              <a:t>数据库</a:t>
            </a:r>
            <a:r>
              <a:rPr lang="zh-CN" altLang="x-none" sz="2800" dirty="0">
                <a:solidFill>
                  <a:srgbClr val="3333CC"/>
                </a:solidFill>
                <a:latin typeface="Arial" panose="020B0604020202020204" pitchFamily="34" charset="0"/>
                <a:ea typeface="黑体" panose="02010609060101010101" pitchFamily="1" charset="-122"/>
              </a:rPr>
              <a:t>技术的发展</a:t>
            </a:r>
            <a:endParaRPr lang="zh-CN" altLang="x-none" sz="2800" dirty="0">
              <a:solidFill>
                <a:srgbClr val="3333CC"/>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ppt_x"/>
                                          </p:val>
                                        </p:tav>
                                        <p:tav tm="100000">
                                          <p:val>
                                            <p:strVal val="#ppt_x"/>
                                          </p:val>
                                        </p:tav>
                                      </p:tavLst>
                                    </p:anim>
                                    <p:anim calcmode="lin" valueType="num">
                                      <p:cBhvr additive="base">
                                        <p:cTn id="8"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3"/>
          <p:cNvSpPr txBox="1"/>
          <p:nvPr/>
        </p:nvSpPr>
        <p:spPr>
          <a:xfrm>
            <a:off x="481013" y="1527175"/>
            <a:ext cx="8297862" cy="2562225"/>
          </a:xfrm>
          <a:prstGeom prst="rect">
            <a:avLst/>
          </a:prstGeom>
          <a:noFill/>
          <a:ln w="9525">
            <a:noFill/>
          </a:ln>
        </p:spPr>
        <p:txBody>
          <a:bodyPr anchor="t"/>
          <a:lstStyle/>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1988年，IBM公司的研究者Barry Devlin和Paul Murphy发明了一个新的术语—信息仓库，之后，IT的厂商开始构建实验性的数据仓库。 </a:t>
            </a:r>
            <a:endParaRPr lang="zh-CN" altLang="en-US" sz="2400" dirty="0">
              <a:latin typeface="华文楷体" panose="02010600040101010101" pitchFamily="2" charset="-122"/>
              <a:ea typeface="宋体" panose="02010600030101010101" pitchFamily="2" charset="-122"/>
            </a:endParaRPr>
          </a:p>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1991,W.H. Inmon（比尔</a:t>
            </a:r>
            <a:r>
              <a:rPr lang="en-US" altLang="x-none"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恩门）, 提出了数据仓库(Data Warehouse)的概念.</a:t>
            </a:r>
            <a:endParaRPr lang="zh-CN" altLang="en-US" sz="2400" dirty="0">
              <a:latin typeface="华文楷体" panose="02010600040101010101" pitchFamily="2" charset="-122"/>
              <a:ea typeface="宋体" panose="02010600030101010101" pitchFamily="2" charset="-122"/>
            </a:endParaRPr>
          </a:p>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1993, Codd, 定义了OLAP,推动了数据仓库的建立。</a:t>
            </a:r>
            <a:endParaRPr lang="zh-CN" altLang="en-US" sz="2400" dirty="0">
              <a:latin typeface="华文楷体" panose="02010600040101010101" pitchFamily="2" charset="-122"/>
              <a:ea typeface="宋体" panose="02010600030101010101" pitchFamily="2" charset="-122"/>
            </a:endParaRPr>
          </a:p>
        </p:txBody>
      </p:sp>
      <p:sp>
        <p:nvSpPr>
          <p:cNvPr id="97284" name="Rectangle 3"/>
          <p:cNvSpPr txBox="1"/>
          <p:nvPr/>
        </p:nvSpPr>
        <p:spPr>
          <a:xfrm>
            <a:off x="531813" y="4130675"/>
            <a:ext cx="8297862" cy="1800225"/>
          </a:xfrm>
          <a:prstGeom prst="rect">
            <a:avLst/>
          </a:prstGeom>
          <a:solidFill>
            <a:schemeClr val="accent1"/>
          </a:solidFill>
          <a:ln w="9525" cap="flat" cmpd="sng">
            <a:solidFill>
              <a:schemeClr val="accent2"/>
            </a:solidFill>
            <a:prstDash val="solid"/>
            <a:miter/>
            <a:headEnd type="none" w="med" len="med"/>
            <a:tailEnd type="none" w="med" len="med"/>
          </a:ln>
        </p:spPr>
        <p:txBody>
          <a:bodyPr anchor="t"/>
          <a:lstStyle/>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数据仓库≠数据库</a:t>
            </a:r>
            <a:endParaRPr lang="zh-CN" altLang="en-US" sz="2400" dirty="0">
              <a:latin typeface="华文楷体" panose="02010600040101010101" pitchFamily="2" charset="-122"/>
              <a:ea typeface="宋体" panose="02010600030101010101" pitchFamily="2" charset="-122"/>
            </a:endParaRPr>
          </a:p>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数据库面向商业处理如销售，进货等一单一单的业务处理。</a:t>
            </a:r>
            <a:endParaRPr lang="zh-CN" altLang="en-US" sz="2400" dirty="0">
              <a:latin typeface="华文楷体" panose="02010600040101010101" pitchFamily="2" charset="-122"/>
              <a:ea typeface="宋体" panose="02010600030101010101" pitchFamily="2" charset="-122"/>
            </a:endParaRPr>
          </a:p>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数据仓库支持经营管理中的决策制定过程。它面向运营分析，数据挖掘（Data Mining），决策，商务（政务）智能。</a:t>
            </a:r>
            <a:endParaRPr lang="zh-CN" altLang="en-US" sz="2400" dirty="0">
              <a:latin typeface="华文楷体" panose="02010600040101010101" pitchFamily="2" charset="-122"/>
              <a:ea typeface="宋体" panose="02010600030101010101" pitchFamily="2" charset="-122"/>
            </a:endParaRPr>
          </a:p>
        </p:txBody>
      </p:sp>
      <p:sp>
        <p:nvSpPr>
          <p:cNvPr id="2" name="Rectangle 2"/>
          <p:cNvSpPr txBox="1"/>
          <p:nvPr/>
        </p:nvSpPr>
        <p:spPr>
          <a:xfrm>
            <a:off x="541655" y="911860"/>
            <a:ext cx="8149590"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4. </a:t>
            </a:r>
            <a:r>
              <a:rPr lang="zh-CN" altLang="en-US" sz="2800" dirty="0">
                <a:solidFill>
                  <a:srgbClr val="3333CC"/>
                </a:solidFill>
                <a:latin typeface="Arial" panose="020B0604020202020204" pitchFamily="34" charset="0"/>
                <a:ea typeface="黑体" panose="02010609060101010101" pitchFamily="1" charset="-122"/>
              </a:rPr>
              <a:t>数据仓库、并行</a:t>
            </a:r>
            <a:r>
              <a:rPr lang="en-US" altLang="zh-CN" sz="2800" dirty="0">
                <a:solidFill>
                  <a:srgbClr val="3333CC"/>
                </a:solidFill>
                <a:latin typeface="Arial" panose="020B0604020202020204" pitchFamily="34" charset="0"/>
                <a:ea typeface="黑体" panose="02010609060101010101" pitchFamily="1" charset="-122"/>
              </a:rPr>
              <a:t>/</a:t>
            </a:r>
            <a:r>
              <a:rPr lang="zh-CN" altLang="en-US" sz="2800" dirty="0">
                <a:solidFill>
                  <a:srgbClr val="3333CC"/>
                </a:solidFill>
                <a:latin typeface="Arial" panose="020B0604020202020204" pitchFamily="34" charset="0"/>
                <a:ea typeface="黑体" panose="02010609060101010101" pitchFamily="1" charset="-122"/>
              </a:rPr>
              <a:t>分布式</a:t>
            </a:r>
            <a:r>
              <a:rPr lang="en-US" altLang="zh-CN" sz="2800" dirty="0">
                <a:solidFill>
                  <a:srgbClr val="3333CC"/>
                </a:solidFill>
                <a:latin typeface="Arial" panose="020B0604020202020204" pitchFamily="34" charset="0"/>
                <a:ea typeface="黑体" panose="02010609060101010101" pitchFamily="1" charset="-122"/>
              </a:rPr>
              <a:t>/</a:t>
            </a:r>
            <a:r>
              <a:rPr lang="en-US" altLang="x-none" sz="2800" dirty="0">
                <a:solidFill>
                  <a:srgbClr val="3333CC"/>
                </a:solidFill>
                <a:latin typeface="Arial" panose="020B0604020202020204" pitchFamily="34" charset="0"/>
                <a:ea typeface="黑体" panose="02010609060101010101" pitchFamily="1" charset="-122"/>
              </a:rPr>
              <a:t>Web</a:t>
            </a:r>
            <a:r>
              <a:rPr lang="zh-CN" altLang="en-US" sz="2800" dirty="0">
                <a:solidFill>
                  <a:srgbClr val="3333CC"/>
                </a:solidFill>
                <a:latin typeface="Arial" panose="020B0604020202020204" pitchFamily="34" charset="0"/>
                <a:ea typeface="黑体" panose="02010609060101010101" pitchFamily="1" charset="-122"/>
              </a:rPr>
              <a:t>数据库</a:t>
            </a:r>
            <a:r>
              <a:rPr lang="zh-CN" altLang="x-none" sz="2800" dirty="0">
                <a:solidFill>
                  <a:srgbClr val="3333CC"/>
                </a:solidFill>
                <a:latin typeface="Arial" panose="020B0604020202020204" pitchFamily="34" charset="0"/>
                <a:ea typeface="黑体" panose="02010609060101010101" pitchFamily="1" charset="-122"/>
              </a:rPr>
              <a:t>技术的发展</a:t>
            </a:r>
            <a:endParaRPr lang="zh-CN" altLang="x-none" sz="2800" dirty="0">
              <a:solidFill>
                <a:srgbClr val="3333CC"/>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7282">
                                            <p:txEl>
                                              <p:pRg st="0" end="0"/>
                                            </p:txEl>
                                          </p:spTgt>
                                        </p:tgtEl>
                                        <p:attrNameLst>
                                          <p:attrName>style.visibility</p:attrName>
                                        </p:attrNameLst>
                                      </p:cBhvr>
                                      <p:to>
                                        <p:strVal val="visible"/>
                                      </p:to>
                                    </p:set>
                                    <p:animEffect transition="in" filter="wipe(down)">
                                      <p:cBhvr>
                                        <p:cTn id="7" dur="500"/>
                                        <p:tgtEl>
                                          <p:spTgt spid="97282">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97282">
                                            <p:txEl>
                                              <p:pRg st="1" end="1"/>
                                            </p:txEl>
                                          </p:spTgt>
                                        </p:tgtEl>
                                        <p:attrNameLst>
                                          <p:attrName>style.visibility</p:attrName>
                                        </p:attrNameLst>
                                      </p:cBhvr>
                                      <p:to>
                                        <p:strVal val="visible"/>
                                      </p:to>
                                    </p:set>
                                    <p:animEffect transition="in" filter="wipe(down)">
                                      <p:cBhvr>
                                        <p:cTn id="10" dur="500"/>
                                        <p:tgtEl>
                                          <p:spTgt spid="97282">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97282">
                                            <p:txEl>
                                              <p:pRg st="2" end="2"/>
                                            </p:txEl>
                                          </p:spTgt>
                                        </p:tgtEl>
                                        <p:attrNameLst>
                                          <p:attrName>style.visibility</p:attrName>
                                        </p:attrNameLst>
                                      </p:cBhvr>
                                      <p:to>
                                        <p:strVal val="visible"/>
                                      </p:to>
                                    </p:set>
                                    <p:animEffect transition="in" filter="wipe(down)">
                                      <p:cBhvr>
                                        <p:cTn id="13" dur="500"/>
                                        <p:tgtEl>
                                          <p:spTgt spid="9728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97284">
                                            <p:bg/>
                                          </p:spTgt>
                                        </p:tgtEl>
                                        <p:attrNameLst>
                                          <p:attrName>style.visibility</p:attrName>
                                        </p:attrNameLst>
                                      </p:cBhvr>
                                      <p:to>
                                        <p:strVal val="visible"/>
                                      </p:to>
                                    </p:set>
                                    <p:animEffect transition="in" filter="wipe(down)">
                                      <p:cBhvr>
                                        <p:cTn id="18" dur="500"/>
                                        <p:tgtEl>
                                          <p:spTgt spid="97284">
                                            <p:bg/>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97284">
                                            <p:txEl>
                                              <p:pRg st="0" end="0"/>
                                            </p:txEl>
                                          </p:spTgt>
                                        </p:tgtEl>
                                        <p:attrNameLst>
                                          <p:attrName>style.visibility</p:attrName>
                                        </p:attrNameLst>
                                      </p:cBhvr>
                                      <p:to>
                                        <p:strVal val="visible"/>
                                      </p:to>
                                    </p:set>
                                    <p:animEffect transition="in" filter="wipe(down)">
                                      <p:cBhvr>
                                        <p:cTn id="21" dur="500"/>
                                        <p:tgtEl>
                                          <p:spTgt spid="97284">
                                            <p:txEl>
                                              <p:pRg st="0" end="0"/>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97284">
                                            <p:txEl>
                                              <p:pRg st="1" end="1"/>
                                            </p:txEl>
                                          </p:spTgt>
                                        </p:tgtEl>
                                        <p:attrNameLst>
                                          <p:attrName>style.visibility</p:attrName>
                                        </p:attrNameLst>
                                      </p:cBhvr>
                                      <p:to>
                                        <p:strVal val="visible"/>
                                      </p:to>
                                    </p:set>
                                    <p:animEffect transition="in" filter="wipe(down)">
                                      <p:cBhvr>
                                        <p:cTn id="24" dur="500"/>
                                        <p:tgtEl>
                                          <p:spTgt spid="97284">
                                            <p:txEl>
                                              <p:pRg st="1" end="1"/>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97284">
                                            <p:txEl>
                                              <p:pRg st="2" end="2"/>
                                            </p:txEl>
                                          </p:spTgt>
                                        </p:tgtEl>
                                        <p:attrNameLst>
                                          <p:attrName>style.visibility</p:attrName>
                                        </p:attrNameLst>
                                      </p:cBhvr>
                                      <p:to>
                                        <p:strVal val="visible"/>
                                      </p:to>
                                    </p:set>
                                    <p:animEffect transition="in" filter="wipe(down)">
                                      <p:cBhvr>
                                        <p:cTn id="27" dur="500"/>
                                        <p:tgtEl>
                                          <p:spTgt spid="9728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2" grpId="0" build="allAtOnce"/>
      <p:bldP spid="97284" grpId="0" animBg="1" build="allAtOnce"/>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3" name="Picture 4" descr="Walmart"/>
          <p:cNvPicPr>
            <a:picLocks noChangeAspect="1"/>
          </p:cNvPicPr>
          <p:nvPr/>
        </p:nvPicPr>
        <p:blipFill>
          <a:blip r:embed="rId1" cstate="print"/>
          <a:stretch>
            <a:fillRect/>
          </a:stretch>
        </p:blipFill>
        <p:spPr>
          <a:xfrm>
            <a:off x="838200" y="1831975"/>
            <a:ext cx="3810000" cy="1249363"/>
          </a:xfrm>
          <a:prstGeom prst="rect">
            <a:avLst/>
          </a:prstGeom>
          <a:noFill/>
          <a:ln w="9525">
            <a:noFill/>
          </a:ln>
        </p:spPr>
      </p:pic>
      <p:sp>
        <p:nvSpPr>
          <p:cNvPr id="105474" name="Line 5"/>
          <p:cNvSpPr/>
          <p:nvPr/>
        </p:nvSpPr>
        <p:spPr>
          <a:xfrm flipV="1">
            <a:off x="6096000" y="2344738"/>
            <a:ext cx="609600" cy="304800"/>
          </a:xfrm>
          <a:prstGeom prst="line">
            <a:avLst/>
          </a:prstGeom>
          <a:ln w="38100" cap="flat" cmpd="sng">
            <a:solidFill>
              <a:srgbClr val="2B8222"/>
            </a:solidFill>
            <a:prstDash val="solid"/>
            <a:round/>
            <a:headEnd type="none" w="med" len="med"/>
            <a:tailEnd type="triangle" w="med" len="med"/>
          </a:ln>
        </p:spPr>
      </p:sp>
      <p:grpSp>
        <p:nvGrpSpPr>
          <p:cNvPr id="98308" name="Group 6"/>
          <p:cNvGrpSpPr/>
          <p:nvPr/>
        </p:nvGrpSpPr>
        <p:grpSpPr>
          <a:xfrm>
            <a:off x="6553200" y="4325938"/>
            <a:ext cx="2362200" cy="1676400"/>
            <a:chOff x="0" y="0"/>
            <a:chExt cx="1488" cy="1056"/>
          </a:xfrm>
        </p:grpSpPr>
        <p:sp>
          <p:nvSpPr>
            <p:cNvPr id="105476" name="AutoShape 7"/>
            <p:cNvSpPr/>
            <p:nvPr/>
          </p:nvSpPr>
          <p:spPr>
            <a:xfrm>
              <a:off x="816" y="0"/>
              <a:ext cx="576" cy="720"/>
            </a:xfrm>
            <a:prstGeom prst="flowChartMagneticDisk">
              <a:avLst/>
            </a:prstGeom>
            <a:solidFill>
              <a:srgbClr val="A0DF95"/>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5477" name="AutoShape 8"/>
            <p:cNvSpPr/>
            <p:nvPr/>
          </p:nvSpPr>
          <p:spPr>
            <a:xfrm>
              <a:off x="912" y="288"/>
              <a:ext cx="576" cy="720"/>
            </a:xfrm>
            <a:prstGeom prst="flowChartMagneticDisk">
              <a:avLst/>
            </a:prstGeom>
            <a:solidFill>
              <a:srgbClr val="A0DF95"/>
            </a:solidFill>
            <a:ln w="9525" cap="flat" cmpd="sng">
              <a:solidFill>
                <a:srgbClr val="081606"/>
              </a:solidFill>
              <a:prstDash val="solid"/>
              <a:round/>
              <a:headEnd type="none" w="med" len="med"/>
              <a:tailEnd type="none" w="med" len="med"/>
            </a:ln>
          </p:spPr>
          <p:txBody>
            <a:bodyPr wrap="none" anchor="ctr"/>
            <a:lstStyle/>
            <a:p>
              <a:pPr lvl="0" indent="0" algn="ctr"/>
              <a:r>
                <a:rPr lang="zh-CN" altLang="en-US" sz="2400" dirty="0">
                  <a:solidFill>
                    <a:srgbClr val="E21248"/>
                  </a:solidFill>
                  <a:latin typeface="Times New Roman" panose="02020603050405020304" pitchFamily="2" charset="0"/>
                  <a:ea typeface="宋体" panose="02010600030101010101" pitchFamily="2" charset="-122"/>
                </a:rPr>
                <a:t>数据库</a:t>
              </a:r>
              <a:endParaRPr lang="zh-CN" altLang="en-US" sz="2400" dirty="0">
                <a:solidFill>
                  <a:srgbClr val="E21248"/>
                </a:solidFill>
                <a:latin typeface="Times New Roman" panose="02020603050405020304" pitchFamily="2" charset="0"/>
                <a:ea typeface="宋体" panose="02010600030101010101" pitchFamily="2" charset="-122"/>
              </a:endParaRPr>
            </a:p>
          </p:txBody>
        </p:sp>
        <p:sp>
          <p:nvSpPr>
            <p:cNvPr id="105478" name="AutoShape 9"/>
            <p:cNvSpPr/>
            <p:nvPr/>
          </p:nvSpPr>
          <p:spPr>
            <a:xfrm>
              <a:off x="0" y="144"/>
              <a:ext cx="624" cy="576"/>
            </a:xfrm>
            <a:prstGeom prst="flowChartMultidocument">
              <a:avLst/>
            </a:prstGeom>
            <a:solidFill>
              <a:srgbClr val="A0DF95"/>
            </a:solidFill>
            <a:ln w="9525" cap="flat" cmpd="sng">
              <a:solidFill>
                <a:srgbClr val="081606"/>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5479" name="AutoShape 10"/>
            <p:cNvSpPr/>
            <p:nvPr/>
          </p:nvSpPr>
          <p:spPr>
            <a:xfrm>
              <a:off x="144" y="384"/>
              <a:ext cx="720" cy="672"/>
            </a:xfrm>
            <a:prstGeom prst="flowChartMultidocument">
              <a:avLst/>
            </a:prstGeom>
            <a:solidFill>
              <a:srgbClr val="A0DF95"/>
            </a:solidFill>
            <a:ln w="9525" cap="flat" cmpd="sng">
              <a:solidFill>
                <a:srgbClr val="081606"/>
              </a:solidFill>
              <a:prstDash val="solid"/>
              <a:miter/>
              <a:headEnd type="none" w="med" len="med"/>
              <a:tailEnd type="none" w="med" len="med"/>
            </a:ln>
          </p:spPr>
          <p:txBody>
            <a:bodyPr wrap="none" anchor="ctr"/>
            <a:lstStyle/>
            <a:p>
              <a:pPr lvl="0" indent="0" algn="ctr"/>
              <a:r>
                <a:rPr lang="zh-CN" altLang="en-US" dirty="0">
                  <a:solidFill>
                    <a:srgbClr val="E21248"/>
                  </a:solidFill>
                  <a:latin typeface="Times New Roman" panose="02020603050405020304" pitchFamily="2" charset="0"/>
                  <a:ea typeface="宋体" panose="02010600030101010101" pitchFamily="2" charset="-122"/>
                </a:rPr>
                <a:t>平板文件</a:t>
              </a:r>
              <a:endParaRPr lang="zh-CN" altLang="en-US" dirty="0">
                <a:solidFill>
                  <a:srgbClr val="E21248"/>
                </a:solidFill>
                <a:latin typeface="Times New Roman" panose="02020603050405020304" pitchFamily="2" charset="0"/>
                <a:ea typeface="宋体" panose="02010600030101010101" pitchFamily="2" charset="-122"/>
              </a:endParaRPr>
            </a:p>
          </p:txBody>
        </p:sp>
      </p:grpSp>
      <p:sp>
        <p:nvSpPr>
          <p:cNvPr id="98313" name="AutoShape 11"/>
          <p:cNvSpPr/>
          <p:nvPr/>
        </p:nvSpPr>
        <p:spPr>
          <a:xfrm>
            <a:off x="5867400" y="5087938"/>
            <a:ext cx="609600" cy="457200"/>
          </a:xfrm>
          <a:prstGeom prst="leftArrow">
            <a:avLst>
              <a:gd name="adj1" fmla="val 50000"/>
              <a:gd name="adj2" fmla="val 33283"/>
            </a:avLst>
          </a:prstGeom>
          <a:solidFill>
            <a:srgbClr val="E21248"/>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grpSp>
        <p:nvGrpSpPr>
          <p:cNvPr id="98314" name="Group 12"/>
          <p:cNvGrpSpPr/>
          <p:nvPr/>
        </p:nvGrpSpPr>
        <p:grpSpPr>
          <a:xfrm>
            <a:off x="4191000" y="4478338"/>
            <a:ext cx="1600200" cy="1524000"/>
            <a:chOff x="0" y="0"/>
            <a:chExt cx="1008" cy="960"/>
          </a:xfrm>
        </p:grpSpPr>
        <p:sp>
          <p:nvSpPr>
            <p:cNvPr id="105482" name="AutoShape 13"/>
            <p:cNvSpPr/>
            <p:nvPr/>
          </p:nvSpPr>
          <p:spPr>
            <a:xfrm>
              <a:off x="192" y="192"/>
              <a:ext cx="528" cy="528"/>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5483" name="AutoShape 14"/>
            <p:cNvSpPr/>
            <p:nvPr/>
          </p:nvSpPr>
          <p:spPr>
            <a:xfrm>
              <a:off x="0" y="0"/>
              <a:ext cx="1008" cy="960"/>
            </a:xfrm>
            <a:prstGeom prst="flowChartMagneticDisk">
              <a:avLst/>
            </a:prstGeom>
            <a:noFill/>
            <a:ln w="38100" cap="flat" cmpd="sng">
              <a:solidFill>
                <a:srgbClr val="E21248"/>
              </a:solidFill>
              <a:prstDash val="solid"/>
              <a:round/>
              <a:headEnd type="none" w="med" len="med"/>
              <a:tailEnd type="none" w="med" len="med"/>
            </a:ln>
          </p:spPr>
          <p:txBody>
            <a:bodyPr wrap="none" anchor="ctr"/>
            <a:lstStyle/>
            <a:p>
              <a:pPr lvl="0" indent="0" algn="ctr"/>
              <a:r>
                <a:rPr lang="zh-CN" altLang="en-US" sz="2400" dirty="0">
                  <a:solidFill>
                    <a:srgbClr val="E21248"/>
                  </a:solidFill>
                  <a:latin typeface="Times New Roman" panose="02020603050405020304" pitchFamily="2" charset="0"/>
                  <a:ea typeface="宋体" panose="02010600030101010101" pitchFamily="2" charset="-122"/>
                </a:rPr>
                <a:t>数据仓库</a:t>
              </a:r>
              <a:endParaRPr lang="zh-CN" altLang="en-US" sz="2400" dirty="0">
                <a:solidFill>
                  <a:srgbClr val="E21248"/>
                </a:solidFill>
                <a:latin typeface="Times New Roman" panose="02020603050405020304" pitchFamily="2" charset="0"/>
                <a:ea typeface="宋体" panose="02010600030101010101" pitchFamily="2" charset="-122"/>
              </a:endParaRPr>
            </a:p>
          </p:txBody>
        </p:sp>
      </p:grpSp>
      <p:sp>
        <p:nvSpPr>
          <p:cNvPr id="98317" name="AutoShape 15"/>
          <p:cNvSpPr/>
          <p:nvPr/>
        </p:nvSpPr>
        <p:spPr>
          <a:xfrm>
            <a:off x="3429000" y="5087938"/>
            <a:ext cx="609600" cy="457200"/>
          </a:xfrm>
          <a:prstGeom prst="leftArrow">
            <a:avLst>
              <a:gd name="adj1" fmla="val 50000"/>
              <a:gd name="adj2" fmla="val 33283"/>
            </a:avLst>
          </a:prstGeom>
          <a:solidFill>
            <a:srgbClr val="E21248"/>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98318" name="AutoShape 16"/>
          <p:cNvSpPr/>
          <p:nvPr/>
        </p:nvSpPr>
        <p:spPr>
          <a:xfrm>
            <a:off x="1103313" y="3182938"/>
            <a:ext cx="3621087" cy="990600"/>
          </a:xfrm>
          <a:prstGeom prst="wedgeRoundRectCallout">
            <a:avLst>
              <a:gd name="adj1" fmla="val -32199"/>
              <a:gd name="adj2" fmla="val 124681"/>
              <a:gd name="adj3" fmla="val 16667"/>
            </a:avLst>
          </a:prstGeom>
          <a:solidFill>
            <a:schemeClr val="accent1"/>
          </a:solidFill>
          <a:ln w="9525" cap="flat" cmpd="sng">
            <a:solidFill>
              <a:schemeClr val="tx1"/>
            </a:solidFill>
            <a:prstDash val="solid"/>
            <a:miter/>
            <a:headEnd type="none" w="med" len="med"/>
            <a:tailEnd type="none" w="med" len="med"/>
          </a:ln>
        </p:spPr>
        <p:txBody>
          <a:bodyPr anchor="t"/>
          <a:lstStyle/>
          <a:p>
            <a:pPr lvl="0" indent="0">
              <a:spcBef>
                <a:spcPct val="50000"/>
              </a:spcBef>
              <a:buNone/>
            </a:pPr>
            <a:r>
              <a:rPr lang="zh-CN" altLang="en-US" sz="2000" dirty="0">
                <a:latin typeface="Times New Roman" panose="02020603050405020304" pitchFamily="2" charset="0"/>
                <a:ea typeface="宋体" panose="02010600030101010101" pitchFamily="2" charset="-122"/>
              </a:rPr>
              <a:t>去年的第二季度WalMart的所有分店的洗发水的销售情况?</a:t>
            </a:r>
            <a:endParaRPr lang="zh-CN" altLang="en-US" sz="2400" dirty="0">
              <a:latin typeface="Times New Roman" panose="02020603050405020304" pitchFamily="2" charset="0"/>
              <a:ea typeface="宋体" panose="02010600030101010101" pitchFamily="2" charset="-122"/>
            </a:endParaRPr>
          </a:p>
        </p:txBody>
      </p:sp>
      <p:grpSp>
        <p:nvGrpSpPr>
          <p:cNvPr id="105486" name="Group 17"/>
          <p:cNvGrpSpPr/>
          <p:nvPr/>
        </p:nvGrpSpPr>
        <p:grpSpPr>
          <a:xfrm>
            <a:off x="4600575" y="1597025"/>
            <a:ext cx="1495425" cy="1538288"/>
            <a:chOff x="0" y="0"/>
            <a:chExt cx="942" cy="1102"/>
          </a:xfrm>
        </p:grpSpPr>
        <p:pic>
          <p:nvPicPr>
            <p:cNvPr id="105487" name="Picture 18" descr="Lady"/>
            <p:cNvPicPr>
              <a:picLocks noChangeAspect="1"/>
            </p:cNvPicPr>
            <p:nvPr/>
          </p:nvPicPr>
          <p:blipFill>
            <a:blip r:embed="rId2" cstate="print"/>
            <a:stretch>
              <a:fillRect/>
            </a:stretch>
          </p:blipFill>
          <p:spPr>
            <a:xfrm flipH="1">
              <a:off x="0" y="0"/>
              <a:ext cx="356" cy="1102"/>
            </a:xfrm>
            <a:prstGeom prst="rect">
              <a:avLst/>
            </a:prstGeom>
            <a:noFill/>
            <a:ln w="9525">
              <a:noFill/>
            </a:ln>
          </p:spPr>
        </p:pic>
        <p:sp>
          <p:nvSpPr>
            <p:cNvPr id="105488" name="Text Box 19"/>
            <p:cNvSpPr txBox="1"/>
            <p:nvPr/>
          </p:nvSpPr>
          <p:spPr>
            <a:xfrm>
              <a:off x="318" y="82"/>
              <a:ext cx="624" cy="383"/>
            </a:xfrm>
            <a:prstGeom prst="rect">
              <a:avLst/>
            </a:prstGeom>
            <a:noFill/>
            <a:ln w="9525">
              <a:noFill/>
            </a:ln>
          </p:spPr>
          <p:txBody>
            <a:bodyPr anchor="t">
              <a:spAutoFit/>
            </a:bodyPr>
            <a:lstStyle/>
            <a:p>
              <a:pPr lvl="0" indent="0" algn="ctr">
                <a:spcBef>
                  <a:spcPct val="50000"/>
                </a:spcBef>
                <a:buNone/>
              </a:pPr>
              <a:r>
                <a:rPr lang="zh-CN" altLang="en-US" sz="2400" dirty="0">
                  <a:latin typeface="Times New Roman" panose="02020603050405020304" pitchFamily="2" charset="0"/>
                  <a:ea typeface="宋体" panose="02010600030101010101" pitchFamily="2" charset="-122"/>
                </a:rPr>
                <a:t>顾客</a:t>
              </a:r>
              <a:endParaRPr lang="zh-CN" altLang="en-US" sz="2400" dirty="0">
                <a:latin typeface="Times New Roman" panose="02020603050405020304" pitchFamily="2" charset="0"/>
                <a:ea typeface="宋体" panose="02010600030101010101" pitchFamily="2" charset="-122"/>
              </a:endParaRPr>
            </a:p>
          </p:txBody>
        </p:sp>
      </p:grpSp>
      <p:grpSp>
        <p:nvGrpSpPr>
          <p:cNvPr id="105489" name="Group 20"/>
          <p:cNvGrpSpPr/>
          <p:nvPr/>
        </p:nvGrpSpPr>
        <p:grpSpPr>
          <a:xfrm>
            <a:off x="5054600" y="2119313"/>
            <a:ext cx="1524000" cy="1435100"/>
            <a:chOff x="0" y="0"/>
            <a:chExt cx="960" cy="904"/>
          </a:xfrm>
        </p:grpSpPr>
        <p:pic>
          <p:nvPicPr>
            <p:cNvPr id="105490" name="Picture 21" descr="Casier"/>
            <p:cNvPicPr>
              <a:picLocks noChangeAspect="1"/>
            </p:cNvPicPr>
            <p:nvPr/>
          </p:nvPicPr>
          <p:blipFill>
            <a:blip r:embed="rId3" cstate="print"/>
            <a:stretch>
              <a:fillRect/>
            </a:stretch>
          </p:blipFill>
          <p:spPr>
            <a:xfrm>
              <a:off x="0" y="288"/>
              <a:ext cx="624" cy="616"/>
            </a:xfrm>
            <a:prstGeom prst="rect">
              <a:avLst/>
            </a:prstGeom>
            <a:noFill/>
            <a:ln w="9525">
              <a:noFill/>
            </a:ln>
          </p:spPr>
        </p:pic>
        <p:sp>
          <p:nvSpPr>
            <p:cNvPr id="105491" name="Text Box 22"/>
            <p:cNvSpPr txBox="1"/>
            <p:nvPr/>
          </p:nvSpPr>
          <p:spPr>
            <a:xfrm>
              <a:off x="336" y="0"/>
              <a:ext cx="624" cy="337"/>
            </a:xfrm>
            <a:prstGeom prst="rect">
              <a:avLst/>
            </a:prstGeom>
            <a:noFill/>
            <a:ln w="9525">
              <a:noFill/>
            </a:ln>
          </p:spPr>
          <p:txBody>
            <a:bodyPr anchor="t">
              <a:spAutoFit/>
            </a:bodyPr>
            <a:lstStyle/>
            <a:p>
              <a:pPr lvl="0" indent="0">
                <a:spcBef>
                  <a:spcPct val="50000"/>
                </a:spcBef>
                <a:buNone/>
              </a:pPr>
              <a:r>
                <a:rPr lang="zh-CN" altLang="en-US" sz="2400" dirty="0">
                  <a:latin typeface="Times New Roman" panose="02020603050405020304" pitchFamily="2" charset="0"/>
                  <a:ea typeface="宋体" panose="02010600030101010101" pitchFamily="2" charset="-122"/>
                </a:rPr>
                <a:t>销售</a:t>
              </a:r>
              <a:endParaRPr lang="zh-CN" altLang="en-US" sz="2400" dirty="0">
                <a:latin typeface="Times New Roman" panose="02020603050405020304" pitchFamily="2" charset="0"/>
                <a:ea typeface="宋体" panose="02010600030101010101" pitchFamily="2" charset="-122"/>
              </a:endParaRPr>
            </a:p>
          </p:txBody>
        </p:sp>
      </p:grpSp>
      <p:grpSp>
        <p:nvGrpSpPr>
          <p:cNvPr id="98325" name="Group 23"/>
          <p:cNvGrpSpPr/>
          <p:nvPr/>
        </p:nvGrpSpPr>
        <p:grpSpPr>
          <a:xfrm>
            <a:off x="4495800" y="2878138"/>
            <a:ext cx="4419600" cy="3189287"/>
            <a:chOff x="0" y="0"/>
            <a:chExt cx="2784" cy="2037"/>
          </a:xfrm>
        </p:grpSpPr>
        <p:sp>
          <p:nvSpPr>
            <p:cNvPr id="105493" name="Rectangle 24"/>
            <p:cNvSpPr/>
            <p:nvPr/>
          </p:nvSpPr>
          <p:spPr>
            <a:xfrm>
              <a:off x="2013" y="1484"/>
              <a:ext cx="771" cy="300"/>
            </a:xfrm>
            <a:prstGeom prst="rect">
              <a:avLst/>
            </a:prstGeom>
            <a:solidFill>
              <a:srgbClr val="D9FDF0"/>
            </a:solidFill>
            <a:ln w="9525">
              <a:noFill/>
            </a:ln>
          </p:spPr>
          <p:txBody>
            <a:bodyPr anchor="t"/>
            <a:lstStyle/>
            <a:p>
              <a:pPr lvl="0" indent="0">
                <a:spcBef>
                  <a:spcPct val="20000"/>
                </a:spcBef>
                <a:buNone/>
              </a:pPr>
              <a:r>
                <a:rPr lang="zh-CN" altLang="en-US" dirty="0">
                  <a:latin typeface="华文楷体" panose="02010600040101010101" pitchFamily="2" charset="-122"/>
                  <a:ea typeface="华文楷体" panose="02010600040101010101" pitchFamily="2" charset="-122"/>
                </a:rPr>
                <a:t>…</a:t>
              </a:r>
              <a:endParaRPr lang="zh-CN" altLang="en-US" dirty="0">
                <a:latin typeface="Arial" panose="020B0604020202020204" pitchFamily="34" charset="0"/>
                <a:ea typeface="华文楷体" panose="02010600040101010101" pitchFamily="2" charset="-122"/>
              </a:endParaRPr>
            </a:p>
          </p:txBody>
        </p:sp>
        <p:sp>
          <p:nvSpPr>
            <p:cNvPr id="105494" name="Rectangle 25"/>
            <p:cNvSpPr/>
            <p:nvPr/>
          </p:nvSpPr>
          <p:spPr>
            <a:xfrm>
              <a:off x="1362" y="1484"/>
              <a:ext cx="651" cy="300"/>
            </a:xfrm>
            <a:prstGeom prst="rect">
              <a:avLst/>
            </a:prstGeom>
            <a:solidFill>
              <a:srgbClr val="D9FDF0"/>
            </a:solidFill>
            <a:ln w="9525">
              <a:noFill/>
            </a:ln>
          </p:spPr>
          <p:txBody>
            <a:bodyPr anchor="t"/>
            <a:lstStyle/>
            <a:p>
              <a:pPr lvl="0" indent="0">
                <a:spcBef>
                  <a:spcPct val="20000"/>
                </a:spcBef>
                <a:buNone/>
              </a:pPr>
              <a:r>
                <a:rPr lang="zh-CN" altLang="en-US" dirty="0">
                  <a:latin typeface="华文楷体" panose="02010600040101010101" pitchFamily="2" charset="-122"/>
                  <a:ea typeface="华文楷体" panose="02010600040101010101" pitchFamily="2" charset="-122"/>
                </a:rPr>
                <a:t>…</a:t>
              </a:r>
              <a:endParaRPr lang="zh-CN" altLang="en-US" dirty="0">
                <a:latin typeface="Arial" panose="020B0604020202020204" pitchFamily="34" charset="0"/>
                <a:ea typeface="华文楷体" panose="02010600040101010101" pitchFamily="2" charset="-122"/>
              </a:endParaRPr>
            </a:p>
          </p:txBody>
        </p:sp>
        <p:sp>
          <p:nvSpPr>
            <p:cNvPr id="105495" name="Rectangle 26"/>
            <p:cNvSpPr/>
            <p:nvPr/>
          </p:nvSpPr>
          <p:spPr>
            <a:xfrm>
              <a:off x="771" y="1484"/>
              <a:ext cx="591" cy="300"/>
            </a:xfrm>
            <a:prstGeom prst="rect">
              <a:avLst/>
            </a:prstGeom>
            <a:solidFill>
              <a:srgbClr val="D9FDF0"/>
            </a:solidFill>
            <a:ln w="9525">
              <a:noFill/>
            </a:ln>
          </p:spPr>
          <p:txBody>
            <a:bodyPr anchor="t"/>
            <a:lstStyle/>
            <a:p>
              <a:pPr lvl="0" indent="0">
                <a:spcBef>
                  <a:spcPct val="20000"/>
                </a:spcBef>
                <a:buNone/>
              </a:pPr>
              <a:r>
                <a:rPr lang="zh-CN" altLang="en-US" dirty="0">
                  <a:latin typeface="华文楷体" panose="02010600040101010101" pitchFamily="2" charset="-122"/>
                  <a:ea typeface="华文楷体" panose="02010600040101010101" pitchFamily="2" charset="-122"/>
                </a:rPr>
                <a:t>…</a:t>
              </a:r>
              <a:endParaRPr lang="zh-CN" altLang="en-US" dirty="0">
                <a:latin typeface="Arial" panose="020B0604020202020204" pitchFamily="34" charset="0"/>
                <a:ea typeface="华文楷体" panose="02010600040101010101" pitchFamily="2" charset="-122"/>
              </a:endParaRPr>
            </a:p>
          </p:txBody>
        </p:sp>
        <p:sp>
          <p:nvSpPr>
            <p:cNvPr id="105496" name="Rectangle 27"/>
            <p:cNvSpPr/>
            <p:nvPr/>
          </p:nvSpPr>
          <p:spPr>
            <a:xfrm>
              <a:off x="0" y="1484"/>
              <a:ext cx="771" cy="300"/>
            </a:xfrm>
            <a:prstGeom prst="rect">
              <a:avLst/>
            </a:prstGeom>
            <a:solidFill>
              <a:srgbClr val="D9FDF0"/>
            </a:solidFill>
            <a:ln w="9525">
              <a:noFill/>
            </a:ln>
          </p:spPr>
          <p:txBody>
            <a:bodyPr anchor="t"/>
            <a:lstStyle/>
            <a:p>
              <a:pPr lvl="0" indent="0">
                <a:spcBef>
                  <a:spcPct val="20000"/>
                </a:spcBef>
                <a:buNone/>
              </a:pPr>
              <a:r>
                <a:rPr lang="zh-CN" altLang="en-US" dirty="0">
                  <a:latin typeface="Tahoma" panose="020B0604030504040204" pitchFamily="2" charset="0"/>
                  <a:ea typeface="华文楷体" panose="02010600040101010101" pitchFamily="2" charset="-122"/>
                </a:rPr>
                <a:t>…</a:t>
              </a:r>
              <a:endParaRPr lang="zh-CN" altLang="en-US" dirty="0">
                <a:latin typeface="Arial" panose="020B0604020202020204" pitchFamily="34" charset="0"/>
                <a:ea typeface="华文楷体" panose="02010600040101010101" pitchFamily="2" charset="-122"/>
              </a:endParaRPr>
            </a:p>
          </p:txBody>
        </p:sp>
        <p:sp>
          <p:nvSpPr>
            <p:cNvPr id="105497" name="Rectangle 28"/>
            <p:cNvSpPr/>
            <p:nvPr/>
          </p:nvSpPr>
          <p:spPr>
            <a:xfrm>
              <a:off x="2013" y="1784"/>
              <a:ext cx="771" cy="253"/>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50元</a:t>
              </a:r>
              <a:endParaRPr lang="zh-CN" altLang="en-US" dirty="0">
                <a:latin typeface="Arial" panose="020B0604020202020204" pitchFamily="34" charset="0"/>
                <a:ea typeface="华文楷体" panose="02010600040101010101" pitchFamily="2" charset="-122"/>
              </a:endParaRPr>
            </a:p>
          </p:txBody>
        </p:sp>
        <p:sp>
          <p:nvSpPr>
            <p:cNvPr id="105498" name="Rectangle 29"/>
            <p:cNvSpPr/>
            <p:nvPr/>
          </p:nvSpPr>
          <p:spPr>
            <a:xfrm>
              <a:off x="1362" y="1784"/>
              <a:ext cx="651" cy="253"/>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50kg</a:t>
              </a:r>
              <a:endParaRPr lang="zh-CN" altLang="en-US" dirty="0">
                <a:latin typeface="Arial" panose="020B0604020202020204" pitchFamily="34" charset="0"/>
                <a:ea typeface="华文楷体" panose="02010600040101010101" pitchFamily="2" charset="-122"/>
              </a:endParaRPr>
            </a:p>
          </p:txBody>
        </p:sp>
        <p:sp>
          <p:nvSpPr>
            <p:cNvPr id="105499" name="Rectangle 30"/>
            <p:cNvSpPr/>
            <p:nvPr/>
          </p:nvSpPr>
          <p:spPr>
            <a:xfrm>
              <a:off x="771" y="1784"/>
              <a:ext cx="591" cy="253"/>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1元</a:t>
              </a:r>
              <a:endParaRPr lang="zh-CN" altLang="en-US" dirty="0">
                <a:latin typeface="Arial" panose="020B0604020202020204" pitchFamily="34" charset="0"/>
                <a:ea typeface="华文楷体" panose="02010600040101010101" pitchFamily="2" charset="-122"/>
              </a:endParaRPr>
            </a:p>
          </p:txBody>
        </p:sp>
        <p:sp>
          <p:nvSpPr>
            <p:cNvPr id="105500" name="Rectangle 31"/>
            <p:cNvSpPr/>
            <p:nvPr/>
          </p:nvSpPr>
          <p:spPr>
            <a:xfrm>
              <a:off x="0" y="1784"/>
              <a:ext cx="771" cy="253"/>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苹果</a:t>
              </a:r>
              <a:endParaRPr lang="zh-CN" altLang="en-US" dirty="0">
                <a:latin typeface="Arial" panose="020B0604020202020204" pitchFamily="34" charset="0"/>
                <a:ea typeface="华文楷体" panose="02010600040101010101" pitchFamily="2" charset="-122"/>
              </a:endParaRPr>
            </a:p>
          </p:txBody>
        </p:sp>
        <p:sp>
          <p:nvSpPr>
            <p:cNvPr id="105501" name="Rectangle 32"/>
            <p:cNvSpPr/>
            <p:nvPr/>
          </p:nvSpPr>
          <p:spPr>
            <a:xfrm>
              <a:off x="2013" y="1243"/>
              <a:ext cx="771" cy="241"/>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15元</a:t>
              </a:r>
              <a:endParaRPr lang="zh-CN" altLang="en-US" dirty="0">
                <a:latin typeface="Arial" panose="020B0604020202020204" pitchFamily="34" charset="0"/>
                <a:ea typeface="华文楷体" panose="02010600040101010101" pitchFamily="2" charset="-122"/>
              </a:endParaRPr>
            </a:p>
          </p:txBody>
        </p:sp>
        <p:sp>
          <p:nvSpPr>
            <p:cNvPr id="105502" name="Rectangle 33"/>
            <p:cNvSpPr/>
            <p:nvPr/>
          </p:nvSpPr>
          <p:spPr>
            <a:xfrm>
              <a:off x="1362" y="1243"/>
              <a:ext cx="651" cy="241"/>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10块</a:t>
              </a:r>
              <a:endParaRPr lang="zh-CN" altLang="en-US" dirty="0">
                <a:latin typeface="Arial" panose="020B0604020202020204" pitchFamily="34" charset="0"/>
                <a:ea typeface="华文楷体" panose="02010600040101010101" pitchFamily="2" charset="-122"/>
              </a:endParaRPr>
            </a:p>
          </p:txBody>
        </p:sp>
        <p:sp>
          <p:nvSpPr>
            <p:cNvPr id="105503" name="Rectangle 34"/>
            <p:cNvSpPr/>
            <p:nvPr/>
          </p:nvSpPr>
          <p:spPr>
            <a:xfrm>
              <a:off x="771" y="1243"/>
              <a:ext cx="591" cy="241"/>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1.5元</a:t>
              </a:r>
              <a:endParaRPr lang="zh-CN" altLang="en-US" dirty="0">
                <a:latin typeface="Arial" panose="020B0604020202020204" pitchFamily="34" charset="0"/>
                <a:ea typeface="华文楷体" panose="02010600040101010101" pitchFamily="2" charset="-122"/>
              </a:endParaRPr>
            </a:p>
          </p:txBody>
        </p:sp>
        <p:sp>
          <p:nvSpPr>
            <p:cNvPr id="105504" name="Rectangle 35"/>
            <p:cNvSpPr/>
            <p:nvPr/>
          </p:nvSpPr>
          <p:spPr>
            <a:xfrm>
              <a:off x="0" y="1243"/>
              <a:ext cx="771" cy="241"/>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香皂B</a:t>
              </a:r>
              <a:endParaRPr lang="zh-CN" altLang="en-US" dirty="0">
                <a:latin typeface="Arial" panose="020B0604020202020204" pitchFamily="34" charset="0"/>
                <a:ea typeface="华文楷体" panose="02010600040101010101" pitchFamily="2" charset="-122"/>
              </a:endParaRPr>
            </a:p>
          </p:txBody>
        </p:sp>
        <p:sp>
          <p:nvSpPr>
            <p:cNvPr id="105505" name="Rectangle 36"/>
            <p:cNvSpPr/>
            <p:nvPr/>
          </p:nvSpPr>
          <p:spPr>
            <a:xfrm>
              <a:off x="2013" y="1002"/>
              <a:ext cx="771" cy="241"/>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126元</a:t>
              </a:r>
              <a:endParaRPr lang="zh-CN" altLang="en-US" dirty="0">
                <a:latin typeface="Arial" panose="020B0604020202020204" pitchFamily="34" charset="0"/>
                <a:ea typeface="华文楷体" panose="02010600040101010101" pitchFamily="2" charset="-122"/>
              </a:endParaRPr>
            </a:p>
          </p:txBody>
        </p:sp>
        <p:sp>
          <p:nvSpPr>
            <p:cNvPr id="105506" name="Rectangle 37"/>
            <p:cNvSpPr/>
            <p:nvPr/>
          </p:nvSpPr>
          <p:spPr>
            <a:xfrm>
              <a:off x="1362" y="1002"/>
              <a:ext cx="651" cy="241"/>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20瓶</a:t>
              </a:r>
              <a:endParaRPr lang="zh-CN" altLang="en-US" dirty="0">
                <a:latin typeface="Arial" panose="020B0604020202020204" pitchFamily="34" charset="0"/>
                <a:ea typeface="华文楷体" panose="02010600040101010101" pitchFamily="2" charset="-122"/>
              </a:endParaRPr>
            </a:p>
          </p:txBody>
        </p:sp>
        <p:sp>
          <p:nvSpPr>
            <p:cNvPr id="105507" name="Rectangle 38"/>
            <p:cNvSpPr/>
            <p:nvPr/>
          </p:nvSpPr>
          <p:spPr>
            <a:xfrm>
              <a:off x="771" y="1002"/>
              <a:ext cx="591" cy="241"/>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6.3元</a:t>
              </a:r>
              <a:endParaRPr lang="zh-CN" altLang="en-US" dirty="0">
                <a:latin typeface="Arial" panose="020B0604020202020204" pitchFamily="34" charset="0"/>
                <a:ea typeface="华文楷体" panose="02010600040101010101" pitchFamily="2" charset="-122"/>
              </a:endParaRPr>
            </a:p>
          </p:txBody>
        </p:sp>
        <p:sp>
          <p:nvSpPr>
            <p:cNvPr id="105508" name="Rectangle 39"/>
            <p:cNvSpPr/>
            <p:nvPr/>
          </p:nvSpPr>
          <p:spPr>
            <a:xfrm>
              <a:off x="0" y="1002"/>
              <a:ext cx="771" cy="241"/>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洗发水A</a:t>
              </a:r>
              <a:endParaRPr lang="zh-CN" altLang="en-US" dirty="0">
                <a:latin typeface="Arial" panose="020B0604020202020204" pitchFamily="34" charset="0"/>
                <a:ea typeface="华文楷体" panose="02010600040101010101" pitchFamily="2" charset="-122"/>
              </a:endParaRPr>
            </a:p>
          </p:txBody>
        </p:sp>
        <p:sp>
          <p:nvSpPr>
            <p:cNvPr id="105509" name="Rectangle 40"/>
            <p:cNvSpPr/>
            <p:nvPr/>
          </p:nvSpPr>
          <p:spPr>
            <a:xfrm>
              <a:off x="2013" y="760"/>
              <a:ext cx="771" cy="242"/>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总销售额</a:t>
              </a:r>
              <a:endParaRPr lang="zh-CN" altLang="en-US" dirty="0">
                <a:latin typeface="Arial" panose="020B0604020202020204" pitchFamily="34" charset="0"/>
                <a:ea typeface="华文楷体" panose="02010600040101010101" pitchFamily="2" charset="-122"/>
              </a:endParaRPr>
            </a:p>
          </p:txBody>
        </p:sp>
        <p:sp>
          <p:nvSpPr>
            <p:cNvPr id="105510" name="Rectangle 41"/>
            <p:cNvSpPr/>
            <p:nvPr/>
          </p:nvSpPr>
          <p:spPr>
            <a:xfrm>
              <a:off x="1362" y="760"/>
              <a:ext cx="651" cy="242"/>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销售量</a:t>
              </a:r>
              <a:endParaRPr lang="zh-CN" altLang="en-US" dirty="0">
                <a:latin typeface="Arial" panose="020B0604020202020204" pitchFamily="34" charset="0"/>
                <a:ea typeface="华文楷体" panose="02010600040101010101" pitchFamily="2" charset="-122"/>
              </a:endParaRPr>
            </a:p>
          </p:txBody>
        </p:sp>
        <p:sp>
          <p:nvSpPr>
            <p:cNvPr id="105511" name="Rectangle 42"/>
            <p:cNvSpPr/>
            <p:nvPr/>
          </p:nvSpPr>
          <p:spPr>
            <a:xfrm>
              <a:off x="771" y="760"/>
              <a:ext cx="591" cy="242"/>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单价</a:t>
              </a:r>
              <a:endParaRPr lang="zh-CN" altLang="en-US" dirty="0">
                <a:latin typeface="Arial" panose="020B0604020202020204" pitchFamily="34" charset="0"/>
                <a:ea typeface="华文楷体" panose="02010600040101010101" pitchFamily="2" charset="-122"/>
              </a:endParaRPr>
            </a:p>
          </p:txBody>
        </p:sp>
        <p:sp>
          <p:nvSpPr>
            <p:cNvPr id="105512" name="Rectangle 43"/>
            <p:cNvSpPr/>
            <p:nvPr/>
          </p:nvSpPr>
          <p:spPr>
            <a:xfrm>
              <a:off x="0" y="760"/>
              <a:ext cx="771" cy="242"/>
            </a:xfrm>
            <a:prstGeom prst="rect">
              <a:avLst/>
            </a:prstGeom>
            <a:solidFill>
              <a:srgbClr val="D9FDF0"/>
            </a:solidFill>
            <a:ln w="9525">
              <a:noFill/>
            </a:ln>
          </p:spPr>
          <p:txBody>
            <a:bodyPr anchor="t"/>
            <a:lstStyle/>
            <a:p>
              <a:pPr lvl="0" indent="0">
                <a:spcBef>
                  <a:spcPct val="20000"/>
                </a:spcBef>
                <a:buNone/>
              </a:pPr>
              <a:r>
                <a:rPr lang="zh-CN" altLang="en-US" dirty="0">
                  <a:latin typeface="Arial" panose="020B0604020202020204" pitchFamily="34" charset="0"/>
                  <a:ea typeface="华文楷体" panose="02010600040101010101" pitchFamily="2" charset="-122"/>
                </a:rPr>
                <a:t>货品</a:t>
              </a:r>
              <a:endParaRPr lang="zh-CN" altLang="en-US" dirty="0">
                <a:latin typeface="Arial" panose="020B0604020202020204" pitchFamily="34" charset="0"/>
                <a:ea typeface="华文楷体" panose="02010600040101010101" pitchFamily="2" charset="-122"/>
              </a:endParaRPr>
            </a:p>
          </p:txBody>
        </p:sp>
        <p:sp>
          <p:nvSpPr>
            <p:cNvPr id="105513" name="Line 44"/>
            <p:cNvSpPr/>
            <p:nvPr/>
          </p:nvSpPr>
          <p:spPr>
            <a:xfrm>
              <a:off x="0" y="760"/>
              <a:ext cx="2784" cy="0"/>
            </a:xfrm>
            <a:prstGeom prst="line">
              <a:avLst/>
            </a:prstGeom>
            <a:ln w="28575" cap="sq" cmpd="sng">
              <a:solidFill>
                <a:schemeClr val="tx1"/>
              </a:solidFill>
              <a:prstDash val="solid"/>
              <a:round/>
              <a:headEnd type="none" w="med" len="med"/>
              <a:tailEnd type="none" w="med" len="med"/>
            </a:ln>
          </p:spPr>
        </p:sp>
        <p:sp>
          <p:nvSpPr>
            <p:cNvPr id="105514" name="Line 45"/>
            <p:cNvSpPr/>
            <p:nvPr/>
          </p:nvSpPr>
          <p:spPr>
            <a:xfrm>
              <a:off x="0" y="1002"/>
              <a:ext cx="2784" cy="0"/>
            </a:xfrm>
            <a:prstGeom prst="line">
              <a:avLst/>
            </a:prstGeom>
            <a:ln w="12700" cap="flat" cmpd="sng">
              <a:solidFill>
                <a:schemeClr val="tx1"/>
              </a:solidFill>
              <a:prstDash val="solid"/>
              <a:round/>
              <a:headEnd type="none" w="med" len="med"/>
              <a:tailEnd type="none" w="med" len="med"/>
            </a:ln>
          </p:spPr>
        </p:sp>
        <p:sp>
          <p:nvSpPr>
            <p:cNvPr id="105515" name="Line 46"/>
            <p:cNvSpPr/>
            <p:nvPr/>
          </p:nvSpPr>
          <p:spPr>
            <a:xfrm>
              <a:off x="0" y="1243"/>
              <a:ext cx="2784" cy="0"/>
            </a:xfrm>
            <a:prstGeom prst="line">
              <a:avLst/>
            </a:prstGeom>
            <a:ln w="12700" cap="flat" cmpd="sng">
              <a:solidFill>
                <a:schemeClr val="tx1"/>
              </a:solidFill>
              <a:prstDash val="solid"/>
              <a:round/>
              <a:headEnd type="none" w="med" len="med"/>
              <a:tailEnd type="none" w="med" len="med"/>
            </a:ln>
          </p:spPr>
        </p:sp>
        <p:sp>
          <p:nvSpPr>
            <p:cNvPr id="105516" name="Line 47"/>
            <p:cNvSpPr/>
            <p:nvPr/>
          </p:nvSpPr>
          <p:spPr>
            <a:xfrm>
              <a:off x="0" y="1484"/>
              <a:ext cx="2784" cy="0"/>
            </a:xfrm>
            <a:prstGeom prst="line">
              <a:avLst/>
            </a:prstGeom>
            <a:ln w="12700" cap="flat" cmpd="sng">
              <a:solidFill>
                <a:schemeClr val="tx1"/>
              </a:solidFill>
              <a:prstDash val="solid"/>
              <a:round/>
              <a:headEnd type="none" w="med" len="med"/>
              <a:tailEnd type="none" w="med" len="med"/>
            </a:ln>
          </p:spPr>
        </p:sp>
        <p:sp>
          <p:nvSpPr>
            <p:cNvPr id="105517" name="Line 48"/>
            <p:cNvSpPr/>
            <p:nvPr/>
          </p:nvSpPr>
          <p:spPr>
            <a:xfrm>
              <a:off x="0" y="2037"/>
              <a:ext cx="2784" cy="0"/>
            </a:xfrm>
            <a:prstGeom prst="line">
              <a:avLst/>
            </a:prstGeom>
            <a:ln w="28575" cap="sq" cmpd="sng">
              <a:solidFill>
                <a:schemeClr val="tx1"/>
              </a:solidFill>
              <a:prstDash val="solid"/>
              <a:round/>
              <a:headEnd type="none" w="med" len="med"/>
              <a:tailEnd type="none" w="med" len="med"/>
            </a:ln>
          </p:spPr>
        </p:sp>
        <p:sp>
          <p:nvSpPr>
            <p:cNvPr id="105518" name="Line 49"/>
            <p:cNvSpPr/>
            <p:nvPr/>
          </p:nvSpPr>
          <p:spPr>
            <a:xfrm>
              <a:off x="0" y="760"/>
              <a:ext cx="0" cy="1277"/>
            </a:xfrm>
            <a:prstGeom prst="line">
              <a:avLst/>
            </a:prstGeom>
            <a:ln w="28575" cap="sq" cmpd="sng">
              <a:solidFill>
                <a:schemeClr val="tx1"/>
              </a:solidFill>
              <a:prstDash val="solid"/>
              <a:round/>
              <a:headEnd type="none" w="med" len="med"/>
              <a:tailEnd type="none" w="med" len="med"/>
            </a:ln>
          </p:spPr>
        </p:sp>
        <p:sp>
          <p:nvSpPr>
            <p:cNvPr id="105519" name="Line 50"/>
            <p:cNvSpPr/>
            <p:nvPr/>
          </p:nvSpPr>
          <p:spPr>
            <a:xfrm>
              <a:off x="771" y="760"/>
              <a:ext cx="0" cy="1277"/>
            </a:xfrm>
            <a:prstGeom prst="line">
              <a:avLst/>
            </a:prstGeom>
            <a:ln w="12700" cap="flat" cmpd="sng">
              <a:solidFill>
                <a:schemeClr val="tx1"/>
              </a:solidFill>
              <a:prstDash val="solid"/>
              <a:round/>
              <a:headEnd type="none" w="med" len="med"/>
              <a:tailEnd type="none" w="med" len="med"/>
            </a:ln>
          </p:spPr>
        </p:sp>
        <p:sp>
          <p:nvSpPr>
            <p:cNvPr id="105520" name="Line 51"/>
            <p:cNvSpPr/>
            <p:nvPr/>
          </p:nvSpPr>
          <p:spPr>
            <a:xfrm>
              <a:off x="1362" y="760"/>
              <a:ext cx="0" cy="1277"/>
            </a:xfrm>
            <a:prstGeom prst="line">
              <a:avLst/>
            </a:prstGeom>
            <a:ln w="12700" cap="flat" cmpd="sng">
              <a:solidFill>
                <a:schemeClr val="tx1"/>
              </a:solidFill>
              <a:prstDash val="solid"/>
              <a:round/>
              <a:headEnd type="none" w="med" len="med"/>
              <a:tailEnd type="none" w="med" len="med"/>
            </a:ln>
          </p:spPr>
        </p:sp>
        <p:sp>
          <p:nvSpPr>
            <p:cNvPr id="105521" name="Line 52"/>
            <p:cNvSpPr/>
            <p:nvPr/>
          </p:nvSpPr>
          <p:spPr>
            <a:xfrm>
              <a:off x="2013" y="760"/>
              <a:ext cx="0" cy="1277"/>
            </a:xfrm>
            <a:prstGeom prst="line">
              <a:avLst/>
            </a:prstGeom>
            <a:ln w="12700" cap="flat" cmpd="sng">
              <a:solidFill>
                <a:schemeClr val="tx1"/>
              </a:solidFill>
              <a:prstDash val="solid"/>
              <a:round/>
              <a:headEnd type="none" w="med" len="med"/>
              <a:tailEnd type="none" w="med" len="med"/>
            </a:ln>
          </p:spPr>
        </p:sp>
        <p:sp>
          <p:nvSpPr>
            <p:cNvPr id="105522" name="Line 53"/>
            <p:cNvSpPr/>
            <p:nvPr/>
          </p:nvSpPr>
          <p:spPr>
            <a:xfrm>
              <a:off x="2784" y="760"/>
              <a:ext cx="0" cy="1277"/>
            </a:xfrm>
            <a:prstGeom prst="line">
              <a:avLst/>
            </a:prstGeom>
            <a:ln w="28575" cap="sq" cmpd="sng">
              <a:solidFill>
                <a:schemeClr val="tx1"/>
              </a:solidFill>
              <a:prstDash val="solid"/>
              <a:round/>
              <a:headEnd type="none" w="med" len="med"/>
              <a:tailEnd type="none" w="med" len="med"/>
            </a:ln>
          </p:spPr>
        </p:sp>
        <p:sp>
          <p:nvSpPr>
            <p:cNvPr id="105523" name="Line 54"/>
            <p:cNvSpPr/>
            <p:nvPr/>
          </p:nvSpPr>
          <p:spPr>
            <a:xfrm>
              <a:off x="0" y="1784"/>
              <a:ext cx="2784" cy="0"/>
            </a:xfrm>
            <a:prstGeom prst="line">
              <a:avLst/>
            </a:prstGeom>
            <a:ln w="12700" cap="flat" cmpd="sng">
              <a:solidFill>
                <a:schemeClr val="tx1"/>
              </a:solidFill>
              <a:prstDash val="solid"/>
              <a:round/>
              <a:headEnd type="none" w="med" len="med"/>
              <a:tailEnd type="none" w="med" len="med"/>
            </a:ln>
          </p:spPr>
        </p:sp>
        <p:sp>
          <p:nvSpPr>
            <p:cNvPr id="105524" name="AutoShape 55"/>
            <p:cNvSpPr/>
            <p:nvPr/>
          </p:nvSpPr>
          <p:spPr>
            <a:xfrm rot="1750159" flipH="1">
              <a:off x="1429" y="0"/>
              <a:ext cx="240" cy="745"/>
            </a:xfrm>
            <a:prstGeom prst="downArrow">
              <a:avLst>
                <a:gd name="adj1" fmla="val 50000"/>
                <a:gd name="adj2" fmla="val 77489"/>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5525" name="Text Box 56"/>
            <p:cNvSpPr txBox="1"/>
            <p:nvPr/>
          </p:nvSpPr>
          <p:spPr>
            <a:xfrm>
              <a:off x="184" y="376"/>
              <a:ext cx="1181" cy="446"/>
            </a:xfrm>
            <a:prstGeom prst="rect">
              <a:avLst/>
            </a:prstGeom>
            <a:noFill/>
            <a:ln w="9525">
              <a:noFill/>
            </a:ln>
          </p:spPr>
          <p:txBody>
            <a:bodyPr anchor="t">
              <a:spAutoFit/>
            </a:bodyPr>
            <a:lstStyle/>
            <a:p>
              <a:pPr lvl="0" indent="0" algn="ctr">
                <a:lnSpc>
                  <a:spcPct val="100000"/>
                </a:lnSpc>
                <a:buNone/>
              </a:pPr>
              <a:r>
                <a:rPr lang="zh-CN" altLang="en-US" sz="2000" dirty="0">
                  <a:latin typeface="Times New Roman" panose="02020603050405020304" pitchFamily="2" charset="0"/>
                  <a:ea typeface="宋体" panose="02010600030101010101" pitchFamily="2" charset="-122"/>
                </a:rPr>
                <a:t>记录内容</a:t>
              </a:r>
              <a:endParaRPr lang="zh-CN" altLang="en-US" sz="2000" dirty="0">
                <a:latin typeface="Times New Roman" panose="02020603050405020304" pitchFamily="2" charset="0"/>
                <a:ea typeface="宋体" panose="02010600030101010101" pitchFamily="2" charset="-122"/>
              </a:endParaRPr>
            </a:p>
            <a:p>
              <a:pPr lvl="0" indent="0" algn="ctr">
                <a:lnSpc>
                  <a:spcPct val="100000"/>
                </a:lnSpc>
                <a:buNone/>
              </a:pPr>
              <a:r>
                <a:rPr lang="zh-CN" altLang="en-US" sz="2000" dirty="0">
                  <a:latin typeface="Times New Roman" panose="02020603050405020304" pitchFamily="2" charset="0"/>
                  <a:ea typeface="宋体" panose="02010600030101010101" pitchFamily="2" charset="-122"/>
                </a:rPr>
                <a:t>（</a:t>
              </a:r>
              <a:r>
                <a:rPr lang="de-DE" altLang="en-US" sz="2000" dirty="0">
                  <a:latin typeface="Times New Roman" panose="02020603050405020304" pitchFamily="2" charset="0"/>
                  <a:ea typeface="宋体" panose="02010600030101010101" pitchFamily="2" charset="-122"/>
                </a:rPr>
                <a:t>x</a:t>
              </a:r>
              <a:r>
                <a:rPr lang="zh-CN" altLang="en-US" sz="2000" dirty="0">
                  <a:latin typeface="Times New Roman" panose="02020603050405020304" pitchFamily="2" charset="0"/>
                  <a:ea typeface="宋体" panose="02010600030101010101" pitchFamily="2" charset="-122"/>
                </a:rPr>
                <a:t>年</a:t>
              </a:r>
              <a:r>
                <a:rPr lang="de-DE" altLang="en-US" sz="2000" dirty="0">
                  <a:latin typeface="Times New Roman" panose="02020603050405020304" pitchFamily="2" charset="0"/>
                  <a:ea typeface="宋体" panose="02010600030101010101" pitchFamily="2" charset="-122"/>
                </a:rPr>
                <a:t>x</a:t>
              </a:r>
              <a:r>
                <a:rPr lang="zh-CN" altLang="en-US" sz="2000" dirty="0">
                  <a:latin typeface="Times New Roman" panose="02020603050405020304" pitchFamily="2" charset="0"/>
                  <a:ea typeface="宋体" panose="02010600030101010101" pitchFamily="2" charset="-122"/>
                </a:rPr>
                <a:t>月</a:t>
              </a:r>
              <a:r>
                <a:rPr lang="de-DE" altLang="en-US" sz="2000" dirty="0">
                  <a:latin typeface="Times New Roman" panose="02020603050405020304" pitchFamily="2" charset="0"/>
                  <a:ea typeface="宋体" panose="02010600030101010101" pitchFamily="2" charset="-122"/>
                </a:rPr>
                <a:t>x</a:t>
              </a:r>
              <a:r>
                <a:rPr lang="zh-CN" altLang="en-US" sz="2000" dirty="0">
                  <a:latin typeface="Times New Roman" panose="02020603050405020304" pitchFamily="2" charset="0"/>
                  <a:ea typeface="宋体" panose="02010600030101010101" pitchFamily="2" charset="-122"/>
                </a:rPr>
                <a:t>日）</a:t>
              </a:r>
              <a:endParaRPr lang="de-DE" altLang="en-US" sz="2000" dirty="0">
                <a:latin typeface="Times New Roman" panose="02020603050405020304" pitchFamily="2" charset="0"/>
                <a:ea typeface="宋体" panose="02010600030101010101" pitchFamily="2" charset="-122"/>
              </a:endParaRPr>
            </a:p>
          </p:txBody>
        </p:sp>
      </p:grpSp>
      <p:grpSp>
        <p:nvGrpSpPr>
          <p:cNvPr id="105526" name="Group 57"/>
          <p:cNvGrpSpPr/>
          <p:nvPr/>
        </p:nvGrpSpPr>
        <p:grpSpPr>
          <a:xfrm>
            <a:off x="6858000" y="1298575"/>
            <a:ext cx="2286000" cy="1828800"/>
            <a:chOff x="0" y="0"/>
            <a:chExt cx="1440" cy="1152"/>
          </a:xfrm>
        </p:grpSpPr>
        <p:pic>
          <p:nvPicPr>
            <p:cNvPr id="105527" name="Picture 58" descr="Saleform"/>
            <p:cNvPicPr>
              <a:picLocks noChangeAspect="1"/>
            </p:cNvPicPr>
            <p:nvPr/>
          </p:nvPicPr>
          <p:blipFill>
            <a:blip r:embed="rId4" cstate="print"/>
            <a:stretch>
              <a:fillRect/>
            </a:stretch>
          </p:blipFill>
          <p:spPr>
            <a:xfrm>
              <a:off x="0" y="432"/>
              <a:ext cx="514" cy="672"/>
            </a:xfrm>
            <a:prstGeom prst="rect">
              <a:avLst/>
            </a:prstGeom>
            <a:noFill/>
            <a:ln w="9525">
              <a:noFill/>
            </a:ln>
          </p:spPr>
        </p:pic>
        <p:pic>
          <p:nvPicPr>
            <p:cNvPr id="105528" name="Picture 59" descr="Saleform"/>
            <p:cNvPicPr>
              <a:picLocks noChangeAspect="1"/>
            </p:cNvPicPr>
            <p:nvPr/>
          </p:nvPicPr>
          <p:blipFill>
            <a:blip r:embed="rId4" cstate="print"/>
            <a:stretch>
              <a:fillRect/>
            </a:stretch>
          </p:blipFill>
          <p:spPr>
            <a:xfrm>
              <a:off x="127" y="48"/>
              <a:ext cx="514" cy="672"/>
            </a:xfrm>
            <a:prstGeom prst="rect">
              <a:avLst/>
            </a:prstGeom>
            <a:noFill/>
            <a:ln w="9525">
              <a:noFill/>
            </a:ln>
          </p:spPr>
        </p:pic>
        <p:pic>
          <p:nvPicPr>
            <p:cNvPr id="105529" name="Picture 60" descr="Saleform"/>
            <p:cNvPicPr>
              <a:picLocks noChangeAspect="1"/>
            </p:cNvPicPr>
            <p:nvPr/>
          </p:nvPicPr>
          <p:blipFill>
            <a:blip r:embed="rId4" cstate="print"/>
            <a:stretch>
              <a:fillRect/>
            </a:stretch>
          </p:blipFill>
          <p:spPr>
            <a:xfrm>
              <a:off x="463" y="480"/>
              <a:ext cx="514" cy="672"/>
            </a:xfrm>
            <a:prstGeom prst="rect">
              <a:avLst/>
            </a:prstGeom>
            <a:noFill/>
            <a:ln w="9525">
              <a:noFill/>
            </a:ln>
          </p:spPr>
        </p:pic>
        <p:sp>
          <p:nvSpPr>
            <p:cNvPr id="105530" name="Text Box 61"/>
            <p:cNvSpPr txBox="1"/>
            <p:nvPr/>
          </p:nvSpPr>
          <p:spPr>
            <a:xfrm>
              <a:off x="672" y="0"/>
              <a:ext cx="768" cy="552"/>
            </a:xfrm>
            <a:prstGeom prst="rect">
              <a:avLst/>
            </a:prstGeom>
            <a:noFill/>
            <a:ln w="9525">
              <a:noFill/>
            </a:ln>
          </p:spPr>
          <p:txBody>
            <a:bodyPr anchor="t">
              <a:spAutoFit/>
            </a:bodyPr>
            <a:lstStyle/>
            <a:p>
              <a:pPr lvl="0" indent="0">
                <a:spcBef>
                  <a:spcPct val="50000"/>
                </a:spcBef>
                <a:buNone/>
              </a:pPr>
              <a:r>
                <a:rPr lang="zh-CN" altLang="en-US" sz="2000" dirty="0">
                  <a:latin typeface="Times New Roman" panose="02020603050405020304" pitchFamily="2" charset="0"/>
                  <a:ea typeface="宋体" panose="02010600030101010101" pitchFamily="2" charset="-122"/>
                </a:rPr>
                <a:t>每日的销售记录</a:t>
              </a:r>
              <a:endParaRPr lang="zh-CN" altLang="en-US" sz="2000" dirty="0">
                <a:latin typeface="Times New Roman" panose="02020603050405020304" pitchFamily="2" charset="0"/>
                <a:ea typeface="宋体" panose="02010600030101010101" pitchFamily="2" charset="-122"/>
              </a:endParaRPr>
            </a:p>
          </p:txBody>
        </p:sp>
      </p:grpSp>
      <p:grpSp>
        <p:nvGrpSpPr>
          <p:cNvPr id="98364" name="Group 62"/>
          <p:cNvGrpSpPr/>
          <p:nvPr/>
        </p:nvGrpSpPr>
        <p:grpSpPr>
          <a:xfrm>
            <a:off x="7239000" y="3106738"/>
            <a:ext cx="1447800" cy="1447800"/>
            <a:chOff x="0" y="0"/>
            <a:chExt cx="912" cy="912"/>
          </a:xfrm>
        </p:grpSpPr>
        <p:sp>
          <p:nvSpPr>
            <p:cNvPr id="105532" name="Line 63"/>
            <p:cNvSpPr/>
            <p:nvPr/>
          </p:nvSpPr>
          <p:spPr>
            <a:xfrm>
              <a:off x="432" y="0"/>
              <a:ext cx="288" cy="869"/>
            </a:xfrm>
            <a:prstGeom prst="line">
              <a:avLst/>
            </a:prstGeom>
            <a:ln w="38100" cap="flat" cmpd="sng">
              <a:solidFill>
                <a:srgbClr val="2B8222"/>
              </a:solidFill>
              <a:prstDash val="solid"/>
              <a:round/>
              <a:headEnd type="none" w="med" len="med"/>
              <a:tailEnd type="triangle" w="med" len="med"/>
            </a:ln>
          </p:spPr>
        </p:sp>
        <p:sp>
          <p:nvSpPr>
            <p:cNvPr id="105533" name="Line 64"/>
            <p:cNvSpPr/>
            <p:nvPr/>
          </p:nvSpPr>
          <p:spPr>
            <a:xfrm flipH="1">
              <a:off x="0" y="0"/>
              <a:ext cx="240" cy="912"/>
            </a:xfrm>
            <a:prstGeom prst="line">
              <a:avLst/>
            </a:prstGeom>
            <a:ln w="38100" cap="flat" cmpd="sng">
              <a:solidFill>
                <a:srgbClr val="2B8222"/>
              </a:solidFill>
              <a:prstDash val="solid"/>
              <a:round/>
              <a:headEnd type="none" w="med" len="med"/>
              <a:tailEnd type="triangle" w="med" len="med"/>
            </a:ln>
          </p:spPr>
        </p:sp>
        <p:sp>
          <p:nvSpPr>
            <p:cNvPr id="105534" name="Text Box 65"/>
            <p:cNvSpPr txBox="1"/>
            <p:nvPr/>
          </p:nvSpPr>
          <p:spPr>
            <a:xfrm>
              <a:off x="144" y="96"/>
              <a:ext cx="768" cy="290"/>
            </a:xfrm>
            <a:prstGeom prst="rect">
              <a:avLst/>
            </a:prstGeom>
            <a:noFill/>
            <a:ln w="9525">
              <a:noFill/>
            </a:ln>
          </p:spPr>
          <p:txBody>
            <a:bodyPr anchor="t">
              <a:spAutoFit/>
            </a:bodyPr>
            <a:lstStyle/>
            <a:p>
              <a:pPr lvl="0" indent="0">
                <a:spcBef>
                  <a:spcPct val="50000"/>
                </a:spcBef>
                <a:buNone/>
              </a:pPr>
              <a:r>
                <a:rPr lang="zh-CN" altLang="en-US" sz="2000" dirty="0">
                  <a:latin typeface="Times New Roman" panose="02020603050405020304" pitchFamily="2" charset="0"/>
                  <a:ea typeface="宋体" panose="02010600030101010101" pitchFamily="2" charset="-122"/>
                </a:rPr>
                <a:t>记录存储</a:t>
              </a:r>
              <a:endParaRPr lang="zh-CN" altLang="en-US" sz="2000" dirty="0">
                <a:latin typeface="Times New Roman" panose="02020603050405020304" pitchFamily="2" charset="0"/>
                <a:ea typeface="宋体" panose="02010600030101010101" pitchFamily="2" charset="-122"/>
              </a:endParaRPr>
            </a:p>
          </p:txBody>
        </p:sp>
      </p:grpSp>
      <p:grpSp>
        <p:nvGrpSpPr>
          <p:cNvPr id="98368" name="Group 66"/>
          <p:cNvGrpSpPr/>
          <p:nvPr/>
        </p:nvGrpSpPr>
        <p:grpSpPr>
          <a:xfrm>
            <a:off x="609600" y="4859338"/>
            <a:ext cx="2133600" cy="1528762"/>
            <a:chOff x="0" y="0"/>
            <a:chExt cx="1344" cy="1053"/>
          </a:xfrm>
        </p:grpSpPr>
        <p:pic>
          <p:nvPicPr>
            <p:cNvPr id="105536" name="Picture 67" descr="man"/>
            <p:cNvPicPr>
              <a:picLocks noChangeAspect="1"/>
            </p:cNvPicPr>
            <p:nvPr/>
          </p:nvPicPr>
          <p:blipFill>
            <a:blip r:embed="rId5" cstate="print"/>
            <a:stretch>
              <a:fillRect/>
            </a:stretch>
          </p:blipFill>
          <p:spPr>
            <a:xfrm>
              <a:off x="0" y="0"/>
              <a:ext cx="667" cy="1053"/>
            </a:xfrm>
            <a:prstGeom prst="rect">
              <a:avLst/>
            </a:prstGeom>
            <a:noFill/>
            <a:ln w="9525">
              <a:noFill/>
            </a:ln>
          </p:spPr>
        </p:pic>
        <p:sp>
          <p:nvSpPr>
            <p:cNvPr id="105537" name="Text Box 68"/>
            <p:cNvSpPr txBox="1"/>
            <p:nvPr/>
          </p:nvSpPr>
          <p:spPr>
            <a:xfrm>
              <a:off x="576" y="336"/>
              <a:ext cx="768" cy="250"/>
            </a:xfrm>
            <a:prstGeom prst="rect">
              <a:avLst/>
            </a:prstGeom>
            <a:noFill/>
            <a:ln w="9525">
              <a:noFill/>
            </a:ln>
          </p:spPr>
          <p:txBody>
            <a:bodyPr anchor="t">
              <a:spAutoFit/>
            </a:bodyPr>
            <a:lstStyle/>
            <a:p>
              <a:pPr lvl="0" indent="0">
                <a:spcBef>
                  <a:spcPct val="50000"/>
                </a:spcBef>
              </a:pPr>
              <a:r>
                <a:rPr lang="zh-CN" altLang="en-US" sz="2000" dirty="0">
                  <a:latin typeface="Times New Roman" panose="02020603050405020304" pitchFamily="2" charset="0"/>
                  <a:ea typeface="宋体" panose="02010600030101010101" pitchFamily="2" charset="-122"/>
                </a:rPr>
                <a:t>经理</a:t>
              </a:r>
              <a:endParaRPr lang="zh-CN" altLang="en-US" sz="2000" dirty="0">
                <a:latin typeface="Times New Roman" panose="02020603050405020304" pitchFamily="2" charset="0"/>
                <a:ea typeface="宋体" panose="02010600030101010101" pitchFamily="2" charset="-122"/>
              </a:endParaRPr>
            </a:p>
          </p:txBody>
        </p:sp>
      </p:grpSp>
      <p:sp>
        <p:nvSpPr>
          <p:cNvPr id="108546" name="Rectangle 2"/>
          <p:cNvSpPr txBox="1"/>
          <p:nvPr/>
        </p:nvSpPr>
        <p:spPr>
          <a:xfrm>
            <a:off x="541655" y="911860"/>
            <a:ext cx="8149590"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4. </a:t>
            </a:r>
            <a:r>
              <a:rPr lang="zh-CN" altLang="en-US" sz="2800" dirty="0">
                <a:solidFill>
                  <a:srgbClr val="3333CC"/>
                </a:solidFill>
                <a:latin typeface="Arial" panose="020B0604020202020204" pitchFamily="34" charset="0"/>
                <a:ea typeface="黑体" panose="02010609060101010101" pitchFamily="1" charset="-122"/>
              </a:rPr>
              <a:t>数据仓库、并行</a:t>
            </a:r>
            <a:r>
              <a:rPr lang="en-US" altLang="zh-CN" sz="2800" dirty="0">
                <a:solidFill>
                  <a:srgbClr val="3333CC"/>
                </a:solidFill>
                <a:latin typeface="Arial" panose="020B0604020202020204" pitchFamily="34" charset="0"/>
                <a:ea typeface="黑体" panose="02010609060101010101" pitchFamily="1" charset="-122"/>
              </a:rPr>
              <a:t>/</a:t>
            </a:r>
            <a:r>
              <a:rPr lang="zh-CN" altLang="en-US" sz="2800" dirty="0">
                <a:solidFill>
                  <a:srgbClr val="3333CC"/>
                </a:solidFill>
                <a:latin typeface="Arial" panose="020B0604020202020204" pitchFamily="34" charset="0"/>
                <a:ea typeface="黑体" panose="02010609060101010101" pitchFamily="1" charset="-122"/>
              </a:rPr>
              <a:t>分布式</a:t>
            </a:r>
            <a:r>
              <a:rPr lang="en-US" altLang="zh-CN" sz="2800" dirty="0">
                <a:solidFill>
                  <a:srgbClr val="3333CC"/>
                </a:solidFill>
                <a:latin typeface="Arial" panose="020B0604020202020204" pitchFamily="34" charset="0"/>
                <a:ea typeface="黑体" panose="02010609060101010101" pitchFamily="1" charset="-122"/>
              </a:rPr>
              <a:t>/</a:t>
            </a:r>
            <a:r>
              <a:rPr lang="en-US" altLang="x-none" sz="2800" dirty="0">
                <a:solidFill>
                  <a:srgbClr val="3333CC"/>
                </a:solidFill>
                <a:latin typeface="Arial" panose="020B0604020202020204" pitchFamily="34" charset="0"/>
                <a:ea typeface="黑体" panose="02010609060101010101" pitchFamily="1" charset="-122"/>
              </a:rPr>
              <a:t>Web</a:t>
            </a:r>
            <a:r>
              <a:rPr lang="zh-CN" altLang="en-US" sz="2800" dirty="0">
                <a:solidFill>
                  <a:srgbClr val="3333CC"/>
                </a:solidFill>
                <a:latin typeface="Arial" panose="020B0604020202020204" pitchFamily="34" charset="0"/>
                <a:ea typeface="黑体" panose="02010609060101010101" pitchFamily="1" charset="-122"/>
              </a:rPr>
              <a:t>数据库</a:t>
            </a:r>
            <a:r>
              <a:rPr lang="zh-CN" altLang="x-none" sz="2800" dirty="0">
                <a:solidFill>
                  <a:srgbClr val="3333CC"/>
                </a:solidFill>
                <a:latin typeface="Arial" panose="020B0604020202020204" pitchFamily="34" charset="0"/>
                <a:ea typeface="黑体" panose="02010609060101010101" pitchFamily="1" charset="-122"/>
              </a:rPr>
              <a:t>技术的发展</a:t>
            </a:r>
            <a:endParaRPr lang="zh-CN" altLang="x-none" sz="2800" dirty="0">
              <a:solidFill>
                <a:srgbClr val="3333CC"/>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98325"/>
                                        </p:tgtEl>
                                        <p:attrNameLst>
                                          <p:attrName>style.visibility</p:attrName>
                                        </p:attrNameLst>
                                      </p:cBhvr>
                                      <p:to>
                                        <p:strVal val="visible"/>
                                      </p:to>
                                    </p:set>
                                    <p:anim calcmode="lin" valueType="num">
                                      <p:cBhvr>
                                        <p:cTn id="7" dur="1000" fill="hold"/>
                                        <p:tgtEl>
                                          <p:spTgt spid="98325"/>
                                        </p:tgtEl>
                                        <p:attrNameLst>
                                          <p:attrName>ppt_w</p:attrName>
                                        </p:attrNameLst>
                                      </p:cBhvr>
                                      <p:tavLst>
                                        <p:tav tm="0">
                                          <p:val>
                                            <p:strVal val="#ppt_w*0.70"/>
                                          </p:val>
                                        </p:tav>
                                        <p:tav tm="100000">
                                          <p:val>
                                            <p:strVal val="#ppt_w"/>
                                          </p:val>
                                        </p:tav>
                                      </p:tavLst>
                                    </p:anim>
                                    <p:anim calcmode="lin" valueType="num">
                                      <p:cBhvr>
                                        <p:cTn id="8" dur="1000" fill="hold"/>
                                        <p:tgtEl>
                                          <p:spTgt spid="98325"/>
                                        </p:tgtEl>
                                        <p:attrNameLst>
                                          <p:attrName>ppt_h</p:attrName>
                                        </p:attrNameLst>
                                      </p:cBhvr>
                                      <p:tavLst>
                                        <p:tav tm="0">
                                          <p:val>
                                            <p:strVal val="#ppt_h"/>
                                          </p:val>
                                        </p:tav>
                                        <p:tav tm="100000">
                                          <p:val>
                                            <p:strVal val="#ppt_h"/>
                                          </p:val>
                                        </p:tav>
                                      </p:tavLst>
                                    </p:anim>
                                    <p:animEffect transition="in" filter="fade">
                                      <p:cBhvr>
                                        <p:cTn id="9" dur="1000"/>
                                        <p:tgtEl>
                                          <p:spTgt spid="98325"/>
                                        </p:tgtEl>
                                      </p:cBhvr>
                                    </p:animEffect>
                                  </p:childTnLst>
                                  <p:subTnLst>
                                    <p:set>
                                      <p:cBhvr override="childStyle">
                                        <p:cTn dur="1" fill="hold" display="0" masterRel="nextClick" afterEffect="1"/>
                                        <p:tgtEl>
                                          <p:spTgt spid="98325"/>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23" presetClass="entr" presetSubtype="16" fill="hold" nodeType="clickEffect">
                                  <p:stCondLst>
                                    <p:cond delay="0"/>
                                  </p:stCondLst>
                                  <p:childTnLst>
                                    <p:set>
                                      <p:cBhvr>
                                        <p:cTn id="13" dur="1" fill="hold">
                                          <p:stCondLst>
                                            <p:cond delay="0"/>
                                          </p:stCondLst>
                                        </p:cTn>
                                        <p:tgtEl>
                                          <p:spTgt spid="98364"/>
                                        </p:tgtEl>
                                        <p:attrNameLst>
                                          <p:attrName>style.visibility</p:attrName>
                                        </p:attrNameLst>
                                      </p:cBhvr>
                                      <p:to>
                                        <p:strVal val="visible"/>
                                      </p:to>
                                    </p:set>
                                    <p:anim calcmode="lin" valueType="num">
                                      <p:cBhvr>
                                        <p:cTn id="14" dur="500" fill="hold"/>
                                        <p:tgtEl>
                                          <p:spTgt spid="98364"/>
                                        </p:tgtEl>
                                        <p:attrNameLst>
                                          <p:attrName>ppt_w</p:attrName>
                                        </p:attrNameLst>
                                      </p:cBhvr>
                                      <p:tavLst>
                                        <p:tav tm="0">
                                          <p:val>
                                            <p:fltVal val="0"/>
                                          </p:val>
                                        </p:tav>
                                        <p:tav tm="100000">
                                          <p:val>
                                            <p:strVal val="#ppt_w"/>
                                          </p:val>
                                        </p:tav>
                                      </p:tavLst>
                                    </p:anim>
                                    <p:anim calcmode="lin" valueType="num">
                                      <p:cBhvr>
                                        <p:cTn id="15" dur="500" fill="hold"/>
                                        <p:tgtEl>
                                          <p:spTgt spid="98364"/>
                                        </p:tgtEl>
                                        <p:attrNameLst>
                                          <p:attrName>ppt_h</p:attrName>
                                        </p:attrNameLst>
                                      </p:cBhvr>
                                      <p:tavLst>
                                        <p:tav tm="0">
                                          <p:val>
                                            <p:fltVal val="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98308"/>
                                        </p:tgtEl>
                                        <p:attrNameLst>
                                          <p:attrName>style.visibility</p:attrName>
                                        </p:attrNameLst>
                                      </p:cBhvr>
                                      <p:to>
                                        <p:strVal val="visible"/>
                                      </p:to>
                                    </p:set>
                                    <p:animEffect transition="in" filter="dissolve">
                                      <p:cBhvr>
                                        <p:cTn id="20" dur="500"/>
                                        <p:tgtEl>
                                          <p:spTgt spid="98308"/>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98368"/>
                                        </p:tgtEl>
                                        <p:attrNameLst>
                                          <p:attrName>style.visibility</p:attrName>
                                        </p:attrNameLst>
                                      </p:cBhvr>
                                      <p:to>
                                        <p:strVal val="visible"/>
                                      </p:to>
                                    </p:set>
                                    <p:animEffect transition="in" filter="box(in)">
                                      <p:cBhvr>
                                        <p:cTn id="25" dur="500"/>
                                        <p:tgtEl>
                                          <p:spTgt spid="98368"/>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37" fill="hold" grpId="0" nodeType="clickEffect">
                                  <p:stCondLst>
                                    <p:cond delay="0"/>
                                  </p:stCondLst>
                                  <p:childTnLst>
                                    <p:set>
                                      <p:cBhvr>
                                        <p:cTn id="29" dur="1" fill="hold">
                                          <p:stCondLst>
                                            <p:cond delay="0"/>
                                          </p:stCondLst>
                                        </p:cTn>
                                        <p:tgtEl>
                                          <p:spTgt spid="98318"/>
                                        </p:tgtEl>
                                        <p:attrNameLst>
                                          <p:attrName>style.visibility</p:attrName>
                                        </p:attrNameLst>
                                      </p:cBhvr>
                                      <p:to>
                                        <p:strVal val="visible"/>
                                      </p:to>
                                    </p:set>
                                    <p:animEffect transition="in" filter="barn(outVertical)">
                                      <p:cBhvr>
                                        <p:cTn id="30" dur="500"/>
                                        <p:tgtEl>
                                          <p:spTgt spid="98318"/>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grpId="0" nodeType="clickEffect">
                                  <p:stCondLst>
                                    <p:cond delay="0"/>
                                  </p:stCondLst>
                                  <p:childTnLst>
                                    <p:set>
                                      <p:cBhvr>
                                        <p:cTn id="34" dur="1" fill="hold">
                                          <p:stCondLst>
                                            <p:cond delay="0"/>
                                          </p:stCondLst>
                                        </p:cTn>
                                        <p:tgtEl>
                                          <p:spTgt spid="98313"/>
                                        </p:tgtEl>
                                        <p:attrNameLst>
                                          <p:attrName>style.visibility</p:attrName>
                                        </p:attrNameLst>
                                      </p:cBhvr>
                                      <p:to>
                                        <p:strVal val="visible"/>
                                      </p:to>
                                    </p:set>
                                    <p:anim calcmode="lin" valueType="num">
                                      <p:cBhvr>
                                        <p:cTn id="35" dur="500" fill="hold"/>
                                        <p:tgtEl>
                                          <p:spTgt spid="98313"/>
                                        </p:tgtEl>
                                        <p:attrNameLst>
                                          <p:attrName>ppt_w</p:attrName>
                                        </p:attrNameLst>
                                      </p:cBhvr>
                                      <p:tavLst>
                                        <p:tav tm="0">
                                          <p:val>
                                            <p:fltVal val="0"/>
                                          </p:val>
                                        </p:tav>
                                        <p:tav tm="100000">
                                          <p:val>
                                            <p:strVal val="#ppt_w"/>
                                          </p:val>
                                        </p:tav>
                                      </p:tavLst>
                                    </p:anim>
                                    <p:anim calcmode="lin" valueType="num">
                                      <p:cBhvr>
                                        <p:cTn id="36" dur="500" fill="hold"/>
                                        <p:tgtEl>
                                          <p:spTgt spid="98313"/>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98314"/>
                                        </p:tgtEl>
                                        <p:attrNameLst>
                                          <p:attrName>style.visibility</p:attrName>
                                        </p:attrNameLst>
                                      </p:cBhvr>
                                      <p:to>
                                        <p:strVal val="visible"/>
                                      </p:to>
                                    </p:set>
                                    <p:animEffect transition="in" filter="dissolve">
                                      <p:cBhvr>
                                        <p:cTn id="41" dur="500"/>
                                        <p:tgtEl>
                                          <p:spTgt spid="98314"/>
                                        </p:tgtEl>
                                      </p:cBhvr>
                                    </p:animEffect>
                                  </p:childTnLst>
                                </p:cTn>
                              </p:par>
                            </p:childTnLst>
                          </p:cTn>
                        </p:par>
                      </p:childTnLst>
                    </p:cTn>
                  </p:par>
                  <p:par>
                    <p:cTn id="42" fill="hold">
                      <p:stCondLst>
                        <p:cond delay="indefinite"/>
                      </p:stCondLst>
                      <p:childTnLst>
                        <p:par>
                          <p:cTn id="43" fill="hold">
                            <p:stCondLst>
                              <p:cond delay="0"/>
                            </p:stCondLst>
                            <p:childTnLst>
                              <p:par>
                                <p:cTn id="44" presetID="23" presetClass="entr" presetSubtype="16" fill="hold" grpId="0" nodeType="clickEffect">
                                  <p:stCondLst>
                                    <p:cond delay="0"/>
                                  </p:stCondLst>
                                  <p:childTnLst>
                                    <p:set>
                                      <p:cBhvr>
                                        <p:cTn id="45" dur="1" fill="hold">
                                          <p:stCondLst>
                                            <p:cond delay="0"/>
                                          </p:stCondLst>
                                        </p:cTn>
                                        <p:tgtEl>
                                          <p:spTgt spid="98317"/>
                                        </p:tgtEl>
                                        <p:attrNameLst>
                                          <p:attrName>style.visibility</p:attrName>
                                        </p:attrNameLst>
                                      </p:cBhvr>
                                      <p:to>
                                        <p:strVal val="visible"/>
                                      </p:to>
                                    </p:set>
                                    <p:anim calcmode="lin" valueType="num">
                                      <p:cBhvr>
                                        <p:cTn id="46" dur="500" fill="hold"/>
                                        <p:tgtEl>
                                          <p:spTgt spid="98317"/>
                                        </p:tgtEl>
                                        <p:attrNameLst>
                                          <p:attrName>ppt_w</p:attrName>
                                        </p:attrNameLst>
                                      </p:cBhvr>
                                      <p:tavLst>
                                        <p:tav tm="0">
                                          <p:val>
                                            <p:fltVal val="0"/>
                                          </p:val>
                                        </p:tav>
                                        <p:tav tm="100000">
                                          <p:val>
                                            <p:strVal val="#ppt_w"/>
                                          </p:val>
                                        </p:tav>
                                      </p:tavLst>
                                    </p:anim>
                                    <p:anim calcmode="lin" valueType="num">
                                      <p:cBhvr>
                                        <p:cTn id="47" dur="500" fill="hold"/>
                                        <p:tgtEl>
                                          <p:spTgt spid="9831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13" grpId="0" animBg="1"/>
      <p:bldP spid="98317" grpId="0" animBg="1"/>
      <p:bldP spid="98318"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1" name="Picture 2" descr="PLANABC"/>
          <p:cNvPicPr>
            <a:picLocks noChangeAspect="1"/>
          </p:cNvPicPr>
          <p:nvPr/>
        </p:nvPicPr>
        <p:blipFill>
          <a:blip r:embed="rId1" cstate="print"/>
          <a:stretch>
            <a:fillRect/>
          </a:stretch>
        </p:blipFill>
        <p:spPr>
          <a:xfrm>
            <a:off x="1143000" y="3048000"/>
            <a:ext cx="919163" cy="1143000"/>
          </a:xfrm>
          <a:prstGeom prst="rect">
            <a:avLst/>
          </a:prstGeom>
          <a:noFill/>
          <a:ln w="9525">
            <a:noFill/>
          </a:ln>
        </p:spPr>
      </p:pic>
      <p:pic>
        <p:nvPicPr>
          <p:cNvPr id="107522" name="Picture 4" descr="Walmart"/>
          <p:cNvPicPr>
            <a:picLocks noChangeAspect="1"/>
          </p:cNvPicPr>
          <p:nvPr/>
        </p:nvPicPr>
        <p:blipFill>
          <a:blip r:embed="rId2" cstate="print"/>
          <a:stretch>
            <a:fillRect/>
          </a:stretch>
        </p:blipFill>
        <p:spPr>
          <a:xfrm>
            <a:off x="736600" y="1639888"/>
            <a:ext cx="3810000" cy="1249362"/>
          </a:xfrm>
          <a:prstGeom prst="rect">
            <a:avLst/>
          </a:prstGeom>
          <a:noFill/>
          <a:ln w="9525">
            <a:noFill/>
          </a:ln>
        </p:spPr>
      </p:pic>
      <p:sp>
        <p:nvSpPr>
          <p:cNvPr id="107523" name="Line 5"/>
          <p:cNvSpPr/>
          <p:nvPr/>
        </p:nvSpPr>
        <p:spPr>
          <a:xfrm flipV="1">
            <a:off x="6096000" y="2286000"/>
            <a:ext cx="609600" cy="304800"/>
          </a:xfrm>
          <a:prstGeom prst="line">
            <a:avLst/>
          </a:prstGeom>
          <a:ln w="38100" cap="flat" cmpd="sng">
            <a:solidFill>
              <a:srgbClr val="2B8222"/>
            </a:solidFill>
            <a:prstDash val="solid"/>
            <a:round/>
            <a:headEnd type="none" w="med" len="med"/>
            <a:tailEnd type="triangle" w="med" len="med"/>
          </a:ln>
        </p:spPr>
      </p:sp>
      <p:grpSp>
        <p:nvGrpSpPr>
          <p:cNvPr id="107524" name="Group 6"/>
          <p:cNvGrpSpPr/>
          <p:nvPr/>
        </p:nvGrpSpPr>
        <p:grpSpPr>
          <a:xfrm>
            <a:off x="6553200" y="4267200"/>
            <a:ext cx="2362200" cy="1676400"/>
            <a:chOff x="0" y="0"/>
            <a:chExt cx="1488" cy="1056"/>
          </a:xfrm>
        </p:grpSpPr>
        <p:sp>
          <p:nvSpPr>
            <p:cNvPr id="107525" name="AutoShape 7"/>
            <p:cNvSpPr/>
            <p:nvPr/>
          </p:nvSpPr>
          <p:spPr>
            <a:xfrm>
              <a:off x="816" y="0"/>
              <a:ext cx="576" cy="720"/>
            </a:xfrm>
            <a:prstGeom prst="flowChartMagneticDisk">
              <a:avLst/>
            </a:prstGeom>
            <a:solidFill>
              <a:srgbClr val="A0DF95"/>
            </a:solidFill>
            <a:ln w="9525" cap="flat" cmpd="sng">
              <a:solidFill>
                <a:schemeClr val="tx1"/>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7526" name="AutoShape 8"/>
            <p:cNvSpPr/>
            <p:nvPr/>
          </p:nvSpPr>
          <p:spPr>
            <a:xfrm>
              <a:off x="912" y="288"/>
              <a:ext cx="576" cy="720"/>
            </a:xfrm>
            <a:prstGeom prst="flowChartMagneticDisk">
              <a:avLst/>
            </a:prstGeom>
            <a:solidFill>
              <a:srgbClr val="A0DF95"/>
            </a:solidFill>
            <a:ln w="9525" cap="flat" cmpd="sng">
              <a:solidFill>
                <a:srgbClr val="081606"/>
              </a:solidFill>
              <a:prstDash val="solid"/>
              <a:round/>
              <a:headEnd type="none" w="med" len="med"/>
              <a:tailEnd type="none" w="med" len="med"/>
            </a:ln>
          </p:spPr>
          <p:txBody>
            <a:bodyPr wrap="none" anchor="ctr"/>
            <a:lstStyle/>
            <a:p>
              <a:pPr lvl="0" indent="0" algn="ctr"/>
              <a:r>
                <a:rPr lang="zh-CN" altLang="en-US" sz="2400" dirty="0">
                  <a:solidFill>
                    <a:srgbClr val="E21248"/>
                  </a:solidFill>
                  <a:latin typeface="Times New Roman" panose="02020603050405020304" pitchFamily="2" charset="0"/>
                  <a:ea typeface="宋体" panose="02010600030101010101" pitchFamily="2" charset="-122"/>
                </a:rPr>
                <a:t>数据库</a:t>
              </a:r>
              <a:endParaRPr lang="zh-CN" altLang="en-US" sz="2400" dirty="0">
                <a:solidFill>
                  <a:srgbClr val="E21248"/>
                </a:solidFill>
                <a:latin typeface="Times New Roman" panose="02020603050405020304" pitchFamily="2" charset="0"/>
                <a:ea typeface="宋体" panose="02010600030101010101" pitchFamily="2" charset="-122"/>
              </a:endParaRPr>
            </a:p>
          </p:txBody>
        </p:sp>
        <p:sp>
          <p:nvSpPr>
            <p:cNvPr id="107527" name="AutoShape 9"/>
            <p:cNvSpPr/>
            <p:nvPr/>
          </p:nvSpPr>
          <p:spPr>
            <a:xfrm>
              <a:off x="0" y="144"/>
              <a:ext cx="624" cy="576"/>
            </a:xfrm>
            <a:prstGeom prst="flowChartMultidocument">
              <a:avLst/>
            </a:prstGeom>
            <a:solidFill>
              <a:srgbClr val="A0DF95"/>
            </a:solidFill>
            <a:ln w="9525" cap="flat" cmpd="sng">
              <a:solidFill>
                <a:srgbClr val="081606"/>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7528" name="AutoShape 10"/>
            <p:cNvSpPr/>
            <p:nvPr/>
          </p:nvSpPr>
          <p:spPr>
            <a:xfrm>
              <a:off x="144" y="384"/>
              <a:ext cx="720" cy="672"/>
            </a:xfrm>
            <a:prstGeom prst="flowChartMultidocument">
              <a:avLst/>
            </a:prstGeom>
            <a:solidFill>
              <a:srgbClr val="A0DF95"/>
            </a:solidFill>
            <a:ln w="9525" cap="flat" cmpd="sng">
              <a:solidFill>
                <a:srgbClr val="081606"/>
              </a:solidFill>
              <a:prstDash val="solid"/>
              <a:miter/>
              <a:headEnd type="none" w="med" len="med"/>
              <a:tailEnd type="none" w="med" len="med"/>
            </a:ln>
          </p:spPr>
          <p:txBody>
            <a:bodyPr wrap="none" anchor="ctr"/>
            <a:lstStyle/>
            <a:p>
              <a:pPr lvl="0" indent="0" algn="ctr"/>
              <a:r>
                <a:rPr lang="zh-CN" altLang="en-US" dirty="0">
                  <a:solidFill>
                    <a:srgbClr val="E21248"/>
                  </a:solidFill>
                  <a:latin typeface="Times New Roman" panose="02020603050405020304" pitchFamily="2" charset="0"/>
                  <a:ea typeface="宋体" panose="02010600030101010101" pitchFamily="2" charset="-122"/>
                </a:rPr>
                <a:t>平板文件</a:t>
              </a:r>
              <a:endParaRPr lang="zh-CN" altLang="en-US" dirty="0">
                <a:solidFill>
                  <a:srgbClr val="E21248"/>
                </a:solidFill>
                <a:latin typeface="Times New Roman" panose="02020603050405020304" pitchFamily="2" charset="0"/>
                <a:ea typeface="宋体" panose="02010600030101010101" pitchFamily="2" charset="-122"/>
              </a:endParaRPr>
            </a:p>
          </p:txBody>
        </p:sp>
      </p:grpSp>
      <p:sp>
        <p:nvSpPr>
          <p:cNvPr id="107529" name="AutoShape 11"/>
          <p:cNvSpPr/>
          <p:nvPr/>
        </p:nvSpPr>
        <p:spPr>
          <a:xfrm>
            <a:off x="5867400" y="5029200"/>
            <a:ext cx="609600" cy="457200"/>
          </a:xfrm>
          <a:prstGeom prst="leftArrow">
            <a:avLst>
              <a:gd name="adj1" fmla="val 50000"/>
              <a:gd name="adj2" fmla="val 33283"/>
            </a:avLst>
          </a:prstGeom>
          <a:solidFill>
            <a:srgbClr val="F79F63"/>
          </a:solidFill>
          <a:ln w="9525" cap="flat" cmpd="sng">
            <a:solidFill>
              <a:srgbClr val="081606"/>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7530" name="AutoShape 12"/>
          <p:cNvSpPr/>
          <p:nvPr/>
        </p:nvSpPr>
        <p:spPr>
          <a:xfrm>
            <a:off x="4495800" y="4724400"/>
            <a:ext cx="838200" cy="838200"/>
          </a:xfrm>
          <a:prstGeom prst="cube">
            <a:avLst>
              <a:gd name="adj" fmla="val 25000"/>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7531" name="AutoShape 13"/>
          <p:cNvSpPr/>
          <p:nvPr/>
        </p:nvSpPr>
        <p:spPr>
          <a:xfrm>
            <a:off x="4191000" y="4419600"/>
            <a:ext cx="1600200" cy="1524000"/>
          </a:xfrm>
          <a:prstGeom prst="flowChartMagneticDisk">
            <a:avLst/>
          </a:prstGeom>
          <a:noFill/>
          <a:ln w="38100" cap="flat" cmpd="sng">
            <a:solidFill>
              <a:srgbClr val="9C4408"/>
            </a:solidFill>
            <a:prstDash val="solid"/>
            <a:round/>
            <a:headEnd type="none" w="med" len="med"/>
            <a:tailEnd type="none" w="med" len="med"/>
          </a:ln>
        </p:spPr>
        <p:txBody>
          <a:bodyPr wrap="none" anchor="ctr"/>
          <a:lstStyle/>
          <a:p>
            <a:pPr lvl="0" indent="0" algn="ctr">
              <a:buNone/>
            </a:pPr>
            <a:r>
              <a:rPr lang="zh-CN" altLang="en-US" sz="2400" dirty="0">
                <a:solidFill>
                  <a:srgbClr val="081606"/>
                </a:solidFill>
                <a:latin typeface="Times New Roman" panose="02020603050405020304" pitchFamily="2" charset="0"/>
                <a:ea typeface="宋体" panose="02010600030101010101" pitchFamily="2" charset="-122"/>
              </a:rPr>
              <a:t>数据仓库</a:t>
            </a:r>
            <a:endParaRPr lang="zh-CN" altLang="en-US" sz="2400" dirty="0">
              <a:solidFill>
                <a:srgbClr val="081606"/>
              </a:solidFill>
              <a:latin typeface="Times New Roman" panose="02020603050405020304" pitchFamily="2" charset="0"/>
              <a:ea typeface="宋体" panose="02010600030101010101" pitchFamily="2" charset="-122"/>
            </a:endParaRPr>
          </a:p>
        </p:txBody>
      </p:sp>
      <p:sp>
        <p:nvSpPr>
          <p:cNvPr id="107532" name="AutoShape 14"/>
          <p:cNvSpPr/>
          <p:nvPr/>
        </p:nvSpPr>
        <p:spPr>
          <a:xfrm>
            <a:off x="3429000" y="5029200"/>
            <a:ext cx="609600" cy="457200"/>
          </a:xfrm>
          <a:prstGeom prst="leftArrow">
            <a:avLst>
              <a:gd name="adj1" fmla="val 50000"/>
              <a:gd name="adj2" fmla="val 33283"/>
            </a:avLst>
          </a:prstGeom>
          <a:solidFill>
            <a:srgbClr val="F79F63"/>
          </a:solidFill>
          <a:ln w="9525" cap="flat" cmpd="sng">
            <a:solidFill>
              <a:srgbClr val="081606"/>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grpSp>
        <p:nvGrpSpPr>
          <p:cNvPr id="107533" name="Group 15"/>
          <p:cNvGrpSpPr/>
          <p:nvPr/>
        </p:nvGrpSpPr>
        <p:grpSpPr>
          <a:xfrm>
            <a:off x="4572000" y="1306513"/>
            <a:ext cx="1371600" cy="1433512"/>
            <a:chOff x="0" y="0"/>
            <a:chExt cx="864" cy="1102"/>
          </a:xfrm>
        </p:grpSpPr>
        <p:pic>
          <p:nvPicPr>
            <p:cNvPr id="107534" name="Picture 16" descr="Lady"/>
            <p:cNvPicPr>
              <a:picLocks noChangeAspect="1"/>
            </p:cNvPicPr>
            <p:nvPr/>
          </p:nvPicPr>
          <p:blipFill>
            <a:blip r:embed="rId3" cstate="print"/>
            <a:stretch>
              <a:fillRect/>
            </a:stretch>
          </p:blipFill>
          <p:spPr>
            <a:xfrm flipH="1">
              <a:off x="0" y="0"/>
              <a:ext cx="356" cy="1102"/>
            </a:xfrm>
            <a:prstGeom prst="rect">
              <a:avLst/>
            </a:prstGeom>
            <a:noFill/>
            <a:ln w="9525">
              <a:noFill/>
            </a:ln>
          </p:spPr>
        </p:pic>
        <p:sp>
          <p:nvSpPr>
            <p:cNvPr id="107535" name="Text Box 17"/>
            <p:cNvSpPr txBox="1"/>
            <p:nvPr/>
          </p:nvSpPr>
          <p:spPr>
            <a:xfrm>
              <a:off x="240" y="96"/>
              <a:ext cx="624" cy="337"/>
            </a:xfrm>
            <a:prstGeom prst="rect">
              <a:avLst/>
            </a:prstGeom>
            <a:noFill/>
            <a:ln w="9525">
              <a:noFill/>
            </a:ln>
          </p:spPr>
          <p:txBody>
            <a:bodyPr anchor="t">
              <a:spAutoFit/>
            </a:bodyPr>
            <a:lstStyle/>
            <a:p>
              <a:pPr lvl="0" indent="0">
                <a:spcBef>
                  <a:spcPct val="50000"/>
                </a:spcBef>
                <a:buNone/>
              </a:pPr>
              <a:r>
                <a:rPr lang="zh-CN" altLang="en-US" sz="2400" dirty="0">
                  <a:latin typeface="Times New Roman" panose="02020603050405020304" pitchFamily="2" charset="0"/>
                  <a:ea typeface="宋体" panose="02010600030101010101" pitchFamily="2" charset="-122"/>
                </a:rPr>
                <a:t>顾客</a:t>
              </a:r>
              <a:endParaRPr lang="zh-CN" altLang="en-US" sz="2400" dirty="0">
                <a:latin typeface="Times New Roman" panose="02020603050405020304" pitchFamily="2" charset="0"/>
                <a:ea typeface="宋体" panose="02010600030101010101" pitchFamily="2" charset="-122"/>
              </a:endParaRPr>
            </a:p>
          </p:txBody>
        </p:sp>
      </p:grpSp>
      <p:grpSp>
        <p:nvGrpSpPr>
          <p:cNvPr id="107536" name="Group 18"/>
          <p:cNvGrpSpPr/>
          <p:nvPr/>
        </p:nvGrpSpPr>
        <p:grpSpPr>
          <a:xfrm>
            <a:off x="4953000" y="1800225"/>
            <a:ext cx="1524000" cy="1387475"/>
            <a:chOff x="0" y="0"/>
            <a:chExt cx="960" cy="904"/>
          </a:xfrm>
        </p:grpSpPr>
        <p:pic>
          <p:nvPicPr>
            <p:cNvPr id="107537" name="Picture 19" descr="Casier"/>
            <p:cNvPicPr>
              <a:picLocks noChangeAspect="1"/>
            </p:cNvPicPr>
            <p:nvPr/>
          </p:nvPicPr>
          <p:blipFill>
            <a:blip r:embed="rId4" cstate="print"/>
            <a:stretch>
              <a:fillRect/>
            </a:stretch>
          </p:blipFill>
          <p:spPr>
            <a:xfrm>
              <a:off x="0" y="288"/>
              <a:ext cx="624" cy="616"/>
            </a:xfrm>
            <a:prstGeom prst="rect">
              <a:avLst/>
            </a:prstGeom>
            <a:noFill/>
            <a:ln w="9525">
              <a:noFill/>
            </a:ln>
          </p:spPr>
        </p:pic>
        <p:sp>
          <p:nvSpPr>
            <p:cNvPr id="107538" name="Text Box 20"/>
            <p:cNvSpPr txBox="1"/>
            <p:nvPr/>
          </p:nvSpPr>
          <p:spPr>
            <a:xfrm>
              <a:off x="336" y="0"/>
              <a:ext cx="624" cy="337"/>
            </a:xfrm>
            <a:prstGeom prst="rect">
              <a:avLst/>
            </a:prstGeom>
            <a:noFill/>
            <a:ln w="9525">
              <a:noFill/>
            </a:ln>
          </p:spPr>
          <p:txBody>
            <a:bodyPr anchor="t">
              <a:spAutoFit/>
            </a:bodyPr>
            <a:lstStyle/>
            <a:p>
              <a:pPr lvl="0" indent="0">
                <a:spcBef>
                  <a:spcPct val="50000"/>
                </a:spcBef>
                <a:buNone/>
              </a:pPr>
              <a:r>
                <a:rPr lang="zh-CN" altLang="en-US" sz="2400" dirty="0">
                  <a:latin typeface="Times New Roman" panose="02020603050405020304" pitchFamily="2" charset="0"/>
                  <a:ea typeface="宋体" panose="02010600030101010101" pitchFamily="2" charset="-122"/>
                </a:rPr>
                <a:t>销售</a:t>
              </a:r>
              <a:endParaRPr lang="zh-CN" altLang="en-US" sz="2400" dirty="0">
                <a:latin typeface="Times New Roman" panose="02020603050405020304" pitchFamily="2" charset="0"/>
                <a:ea typeface="宋体" panose="02010600030101010101" pitchFamily="2" charset="-122"/>
              </a:endParaRPr>
            </a:p>
          </p:txBody>
        </p:sp>
      </p:grpSp>
      <p:grpSp>
        <p:nvGrpSpPr>
          <p:cNvPr id="107539" name="Group 21"/>
          <p:cNvGrpSpPr/>
          <p:nvPr/>
        </p:nvGrpSpPr>
        <p:grpSpPr>
          <a:xfrm>
            <a:off x="6858000" y="1393825"/>
            <a:ext cx="2286000" cy="1501775"/>
            <a:chOff x="0" y="0"/>
            <a:chExt cx="1440" cy="1152"/>
          </a:xfrm>
        </p:grpSpPr>
        <p:pic>
          <p:nvPicPr>
            <p:cNvPr id="107540" name="Picture 22" descr="Saleform"/>
            <p:cNvPicPr>
              <a:picLocks noChangeAspect="1"/>
            </p:cNvPicPr>
            <p:nvPr/>
          </p:nvPicPr>
          <p:blipFill>
            <a:blip r:embed="rId5" cstate="print"/>
            <a:stretch>
              <a:fillRect/>
            </a:stretch>
          </p:blipFill>
          <p:spPr>
            <a:xfrm>
              <a:off x="0" y="432"/>
              <a:ext cx="514" cy="672"/>
            </a:xfrm>
            <a:prstGeom prst="rect">
              <a:avLst/>
            </a:prstGeom>
            <a:noFill/>
            <a:ln w="9525">
              <a:noFill/>
            </a:ln>
          </p:spPr>
        </p:pic>
        <p:pic>
          <p:nvPicPr>
            <p:cNvPr id="107541" name="Picture 23" descr="Saleform"/>
            <p:cNvPicPr>
              <a:picLocks noChangeAspect="1"/>
            </p:cNvPicPr>
            <p:nvPr/>
          </p:nvPicPr>
          <p:blipFill>
            <a:blip r:embed="rId5" cstate="print"/>
            <a:stretch>
              <a:fillRect/>
            </a:stretch>
          </p:blipFill>
          <p:spPr>
            <a:xfrm>
              <a:off x="127" y="48"/>
              <a:ext cx="514" cy="672"/>
            </a:xfrm>
            <a:prstGeom prst="rect">
              <a:avLst/>
            </a:prstGeom>
            <a:noFill/>
            <a:ln w="9525">
              <a:noFill/>
            </a:ln>
          </p:spPr>
        </p:pic>
        <p:pic>
          <p:nvPicPr>
            <p:cNvPr id="107542" name="Picture 24" descr="Saleform"/>
            <p:cNvPicPr>
              <a:picLocks noChangeAspect="1"/>
            </p:cNvPicPr>
            <p:nvPr/>
          </p:nvPicPr>
          <p:blipFill>
            <a:blip r:embed="rId5" cstate="print"/>
            <a:stretch>
              <a:fillRect/>
            </a:stretch>
          </p:blipFill>
          <p:spPr>
            <a:xfrm>
              <a:off x="463" y="480"/>
              <a:ext cx="514" cy="672"/>
            </a:xfrm>
            <a:prstGeom prst="rect">
              <a:avLst/>
            </a:prstGeom>
            <a:noFill/>
            <a:ln w="9525">
              <a:noFill/>
            </a:ln>
          </p:spPr>
        </p:pic>
        <p:sp>
          <p:nvSpPr>
            <p:cNvPr id="107543" name="Text Box 25"/>
            <p:cNvSpPr txBox="1"/>
            <p:nvPr/>
          </p:nvSpPr>
          <p:spPr>
            <a:xfrm>
              <a:off x="672" y="0"/>
              <a:ext cx="768" cy="552"/>
            </a:xfrm>
            <a:prstGeom prst="rect">
              <a:avLst/>
            </a:prstGeom>
            <a:noFill/>
            <a:ln w="9525">
              <a:noFill/>
            </a:ln>
          </p:spPr>
          <p:txBody>
            <a:bodyPr anchor="t">
              <a:spAutoFit/>
            </a:bodyPr>
            <a:lstStyle/>
            <a:p>
              <a:pPr lvl="0" indent="0">
                <a:spcBef>
                  <a:spcPct val="50000"/>
                </a:spcBef>
                <a:buNone/>
              </a:pPr>
              <a:r>
                <a:rPr lang="zh-CN" altLang="en-US" sz="2000" dirty="0">
                  <a:latin typeface="Times New Roman" panose="02020603050405020304" pitchFamily="2" charset="0"/>
                  <a:ea typeface="宋体" panose="02010600030101010101" pitchFamily="2" charset="-122"/>
                </a:rPr>
                <a:t>每日的销售记录</a:t>
              </a:r>
              <a:endParaRPr lang="zh-CN" altLang="en-US" sz="2000" dirty="0">
                <a:latin typeface="Times New Roman" panose="02020603050405020304" pitchFamily="2" charset="0"/>
                <a:ea typeface="宋体" panose="02010600030101010101" pitchFamily="2" charset="-122"/>
              </a:endParaRPr>
            </a:p>
          </p:txBody>
        </p:sp>
      </p:grpSp>
      <p:grpSp>
        <p:nvGrpSpPr>
          <p:cNvPr id="107544" name="Group 26"/>
          <p:cNvGrpSpPr/>
          <p:nvPr/>
        </p:nvGrpSpPr>
        <p:grpSpPr>
          <a:xfrm>
            <a:off x="7239000" y="3048000"/>
            <a:ext cx="1447800" cy="1447800"/>
            <a:chOff x="0" y="0"/>
            <a:chExt cx="912" cy="912"/>
          </a:xfrm>
        </p:grpSpPr>
        <p:sp>
          <p:nvSpPr>
            <p:cNvPr id="107545" name="Line 27"/>
            <p:cNvSpPr/>
            <p:nvPr/>
          </p:nvSpPr>
          <p:spPr>
            <a:xfrm>
              <a:off x="432" y="0"/>
              <a:ext cx="288" cy="869"/>
            </a:xfrm>
            <a:prstGeom prst="line">
              <a:avLst/>
            </a:prstGeom>
            <a:ln w="38100" cap="flat" cmpd="sng">
              <a:solidFill>
                <a:srgbClr val="2B8222"/>
              </a:solidFill>
              <a:prstDash val="solid"/>
              <a:round/>
              <a:headEnd type="none" w="med" len="med"/>
              <a:tailEnd type="triangle" w="med" len="med"/>
            </a:ln>
          </p:spPr>
        </p:sp>
        <p:sp>
          <p:nvSpPr>
            <p:cNvPr id="107546" name="Line 28"/>
            <p:cNvSpPr/>
            <p:nvPr/>
          </p:nvSpPr>
          <p:spPr>
            <a:xfrm flipH="1">
              <a:off x="0" y="0"/>
              <a:ext cx="240" cy="912"/>
            </a:xfrm>
            <a:prstGeom prst="line">
              <a:avLst/>
            </a:prstGeom>
            <a:ln w="38100" cap="flat" cmpd="sng">
              <a:solidFill>
                <a:srgbClr val="2B8222"/>
              </a:solidFill>
              <a:prstDash val="solid"/>
              <a:round/>
              <a:headEnd type="none" w="med" len="med"/>
              <a:tailEnd type="triangle" w="med" len="med"/>
            </a:ln>
          </p:spPr>
        </p:sp>
        <p:sp>
          <p:nvSpPr>
            <p:cNvPr id="107547" name="Text Box 29"/>
            <p:cNvSpPr txBox="1"/>
            <p:nvPr/>
          </p:nvSpPr>
          <p:spPr>
            <a:xfrm>
              <a:off x="144" y="96"/>
              <a:ext cx="768" cy="290"/>
            </a:xfrm>
            <a:prstGeom prst="rect">
              <a:avLst/>
            </a:prstGeom>
            <a:noFill/>
            <a:ln w="9525">
              <a:noFill/>
            </a:ln>
          </p:spPr>
          <p:txBody>
            <a:bodyPr anchor="t">
              <a:spAutoFit/>
            </a:bodyPr>
            <a:lstStyle/>
            <a:p>
              <a:pPr lvl="0" indent="0">
                <a:spcBef>
                  <a:spcPct val="50000"/>
                </a:spcBef>
                <a:buNone/>
              </a:pPr>
              <a:r>
                <a:rPr lang="zh-CN" altLang="en-US" sz="2000" dirty="0">
                  <a:latin typeface="Times New Roman" panose="02020603050405020304" pitchFamily="2" charset="0"/>
                  <a:ea typeface="宋体" panose="02010600030101010101" pitchFamily="2" charset="-122"/>
                </a:rPr>
                <a:t>记录存储</a:t>
              </a:r>
              <a:endParaRPr lang="zh-CN" altLang="en-US" sz="2000" dirty="0">
                <a:latin typeface="Times New Roman" panose="02020603050405020304" pitchFamily="2" charset="0"/>
                <a:ea typeface="宋体" panose="02010600030101010101" pitchFamily="2" charset="-122"/>
              </a:endParaRPr>
            </a:p>
          </p:txBody>
        </p:sp>
      </p:grpSp>
      <p:cxnSp>
        <p:nvCxnSpPr>
          <p:cNvPr id="100381" name="AutoShape 30"/>
          <p:cNvCxnSpPr/>
          <p:nvPr/>
        </p:nvCxnSpPr>
        <p:spPr>
          <a:xfrm>
            <a:off x="4419600" y="3200400"/>
            <a:ext cx="2438400" cy="1219200"/>
          </a:xfrm>
          <a:prstGeom prst="curvedConnector3">
            <a:avLst>
              <a:gd name="adj1" fmla="val 110352"/>
            </a:avLst>
          </a:prstGeom>
          <a:ln w="57150" cap="flat" cmpd="sng">
            <a:solidFill>
              <a:srgbClr val="E6023E"/>
            </a:solidFill>
            <a:prstDash val="solid"/>
            <a:round/>
            <a:headEnd type="none" w="med" len="med"/>
            <a:tailEnd type="triangle" w="med" len="med"/>
          </a:ln>
        </p:spPr>
      </p:cxnSp>
      <p:sp>
        <p:nvSpPr>
          <p:cNvPr id="100382" name="Text Box 31"/>
          <p:cNvSpPr txBox="1"/>
          <p:nvPr/>
        </p:nvSpPr>
        <p:spPr>
          <a:xfrm>
            <a:off x="5181600" y="3429000"/>
            <a:ext cx="1676400" cy="612775"/>
          </a:xfrm>
          <a:prstGeom prst="rect">
            <a:avLst/>
          </a:prstGeom>
          <a:noFill/>
          <a:ln w="9525">
            <a:noFill/>
          </a:ln>
        </p:spPr>
        <p:txBody>
          <a:bodyPr anchor="t">
            <a:spAutoFit/>
          </a:bodyPr>
          <a:lstStyle/>
          <a:p>
            <a:pPr lvl="0" indent="0" algn="ctr">
              <a:spcBef>
                <a:spcPct val="50000"/>
              </a:spcBef>
              <a:buNone/>
            </a:pPr>
            <a:r>
              <a:rPr lang="zh-CN" altLang="en-US" sz="2800" dirty="0">
                <a:solidFill>
                  <a:srgbClr val="E6023E"/>
                </a:solidFill>
                <a:latin typeface="Times New Roman" panose="02020603050405020304" pitchFamily="2" charset="0"/>
                <a:ea typeface="宋体" panose="02010600030101010101" pitchFamily="2" charset="-122"/>
              </a:rPr>
              <a:t>OLTP</a:t>
            </a:r>
            <a:endParaRPr lang="zh-CN" altLang="en-US" sz="2800" dirty="0">
              <a:solidFill>
                <a:srgbClr val="E6023E"/>
              </a:solidFill>
              <a:latin typeface="Times New Roman" panose="02020603050405020304" pitchFamily="2" charset="0"/>
              <a:ea typeface="宋体" panose="02010600030101010101" pitchFamily="2" charset="-122"/>
            </a:endParaRPr>
          </a:p>
        </p:txBody>
      </p:sp>
      <p:cxnSp>
        <p:nvCxnSpPr>
          <p:cNvPr id="100383" name="AutoShape 32"/>
          <p:cNvCxnSpPr/>
          <p:nvPr/>
        </p:nvCxnSpPr>
        <p:spPr>
          <a:xfrm rot="10800000">
            <a:off x="2286000" y="2971800"/>
            <a:ext cx="4191000" cy="1447800"/>
          </a:xfrm>
          <a:prstGeom prst="curvedConnector3">
            <a:avLst>
              <a:gd name="adj1" fmla="val 107954"/>
            </a:avLst>
          </a:prstGeom>
          <a:ln w="57150" cap="flat" cmpd="sng">
            <a:solidFill>
              <a:srgbClr val="450D97"/>
            </a:solidFill>
            <a:prstDash val="solid"/>
            <a:round/>
            <a:headEnd type="none" w="med" len="med"/>
            <a:tailEnd type="triangle" w="med" len="med"/>
          </a:ln>
        </p:spPr>
      </p:cxnSp>
      <p:sp>
        <p:nvSpPr>
          <p:cNvPr id="100384" name="Text Box 33"/>
          <p:cNvSpPr txBox="1"/>
          <p:nvPr/>
        </p:nvSpPr>
        <p:spPr>
          <a:xfrm>
            <a:off x="2743200" y="3657600"/>
            <a:ext cx="1676400" cy="612775"/>
          </a:xfrm>
          <a:prstGeom prst="rect">
            <a:avLst/>
          </a:prstGeom>
          <a:noFill/>
          <a:ln w="9525">
            <a:noFill/>
          </a:ln>
        </p:spPr>
        <p:txBody>
          <a:bodyPr anchor="t">
            <a:spAutoFit/>
          </a:bodyPr>
          <a:lstStyle/>
          <a:p>
            <a:pPr lvl="0" indent="0" algn="ctr">
              <a:spcBef>
                <a:spcPct val="50000"/>
              </a:spcBef>
              <a:buNone/>
            </a:pPr>
            <a:r>
              <a:rPr lang="zh-CN" altLang="en-US" sz="2800" dirty="0">
                <a:solidFill>
                  <a:srgbClr val="450D97"/>
                </a:solidFill>
                <a:latin typeface="Times New Roman" panose="02020603050405020304" pitchFamily="2" charset="0"/>
                <a:ea typeface="宋体" panose="02010600030101010101" pitchFamily="2" charset="-122"/>
              </a:rPr>
              <a:t>OLAP</a:t>
            </a:r>
            <a:endParaRPr lang="zh-CN" altLang="en-US" sz="2800" dirty="0">
              <a:solidFill>
                <a:srgbClr val="450D97"/>
              </a:solidFill>
              <a:latin typeface="Times New Roman" panose="02020603050405020304" pitchFamily="2" charset="0"/>
              <a:ea typeface="宋体" panose="02010600030101010101" pitchFamily="2" charset="-122"/>
            </a:endParaRPr>
          </a:p>
        </p:txBody>
      </p:sp>
      <p:sp>
        <p:nvSpPr>
          <p:cNvPr id="107552" name="AutoShape 34"/>
          <p:cNvSpPr/>
          <p:nvPr/>
        </p:nvSpPr>
        <p:spPr>
          <a:xfrm rot="5400000">
            <a:off x="1371600" y="4267200"/>
            <a:ext cx="457200" cy="457200"/>
          </a:xfrm>
          <a:prstGeom prst="leftArrow">
            <a:avLst>
              <a:gd name="adj1" fmla="val 50000"/>
              <a:gd name="adj2" fmla="val 25000"/>
            </a:avLst>
          </a:prstGeom>
          <a:solidFill>
            <a:srgbClr val="F79F63"/>
          </a:solidFill>
          <a:ln w="9525" cap="flat" cmpd="sng">
            <a:solidFill>
              <a:srgbClr val="081606"/>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7553" name="Text Box 35"/>
          <p:cNvSpPr txBox="1"/>
          <p:nvPr/>
        </p:nvSpPr>
        <p:spPr>
          <a:xfrm>
            <a:off x="457200" y="3124200"/>
            <a:ext cx="762000" cy="1285875"/>
          </a:xfrm>
          <a:prstGeom prst="rect">
            <a:avLst/>
          </a:prstGeom>
          <a:noFill/>
          <a:ln w="9525">
            <a:noFill/>
          </a:ln>
        </p:spPr>
        <p:txBody>
          <a:bodyPr anchor="t">
            <a:spAutoFit/>
          </a:bodyPr>
          <a:lstStyle/>
          <a:p>
            <a:pPr lvl="0" indent="0">
              <a:spcBef>
                <a:spcPct val="50000"/>
              </a:spcBef>
              <a:buNone/>
            </a:pPr>
            <a:r>
              <a:rPr lang="zh-CN" altLang="en-US" sz="2000" dirty="0">
                <a:latin typeface="Tahoma" panose="020B0604030504040204" pitchFamily="2" charset="0"/>
                <a:ea typeface="宋体" panose="02010600030101010101" pitchFamily="2" charset="-122"/>
              </a:rPr>
              <a:t>新商业计划</a:t>
            </a:r>
            <a:endParaRPr lang="zh-CN" altLang="en-US" sz="2000" dirty="0">
              <a:latin typeface="Tahoma" panose="020B0604030504040204" pitchFamily="2" charset="0"/>
              <a:ea typeface="宋体" panose="02010600030101010101" pitchFamily="2" charset="-122"/>
            </a:endParaRPr>
          </a:p>
        </p:txBody>
      </p:sp>
      <p:grpSp>
        <p:nvGrpSpPr>
          <p:cNvPr id="107554" name="Group 37"/>
          <p:cNvGrpSpPr/>
          <p:nvPr/>
        </p:nvGrpSpPr>
        <p:grpSpPr>
          <a:xfrm>
            <a:off x="533400" y="4597400"/>
            <a:ext cx="4648200" cy="1831975"/>
            <a:chOff x="0" y="0"/>
            <a:chExt cx="3072" cy="1219"/>
          </a:xfrm>
        </p:grpSpPr>
        <p:sp>
          <p:nvSpPr>
            <p:cNvPr id="107555" name="Text Box 38"/>
            <p:cNvSpPr txBox="1"/>
            <p:nvPr/>
          </p:nvSpPr>
          <p:spPr>
            <a:xfrm>
              <a:off x="1728" y="912"/>
              <a:ext cx="1344" cy="307"/>
            </a:xfrm>
            <a:prstGeom prst="rect">
              <a:avLst/>
            </a:prstGeom>
            <a:noFill/>
            <a:ln w="9525">
              <a:noFill/>
            </a:ln>
          </p:spPr>
          <p:txBody>
            <a:bodyPr anchor="t">
              <a:spAutoFit/>
            </a:bodyPr>
            <a:lstStyle/>
            <a:p>
              <a:pPr lvl="0" indent="0">
                <a:spcBef>
                  <a:spcPct val="50000"/>
                </a:spcBef>
                <a:buNone/>
              </a:pPr>
              <a:r>
                <a:rPr lang="zh-CN" altLang="en-US" sz="2000" dirty="0">
                  <a:latin typeface="Times New Roman" panose="02020603050405020304" pitchFamily="2" charset="0"/>
                  <a:ea typeface="宋体" panose="02010600030101010101" pitchFamily="2" charset="-122"/>
                </a:rPr>
                <a:t>运营分析结果</a:t>
              </a:r>
              <a:endParaRPr lang="zh-CN" altLang="en-US" sz="2000" dirty="0">
                <a:latin typeface="Times New Roman" panose="02020603050405020304" pitchFamily="2" charset="0"/>
                <a:ea typeface="宋体" panose="02010600030101010101" pitchFamily="2" charset="-122"/>
              </a:endParaRPr>
            </a:p>
          </p:txBody>
        </p:sp>
        <p:pic>
          <p:nvPicPr>
            <p:cNvPr id="107556" name="Picture 39" descr="BARCHRT2"/>
            <p:cNvPicPr>
              <a:picLocks noChangeAspect="1"/>
            </p:cNvPicPr>
            <p:nvPr/>
          </p:nvPicPr>
          <p:blipFill>
            <a:blip r:embed="rId6" cstate="print"/>
            <a:stretch>
              <a:fillRect/>
            </a:stretch>
          </p:blipFill>
          <p:spPr>
            <a:xfrm>
              <a:off x="0" y="0"/>
              <a:ext cx="1728" cy="1217"/>
            </a:xfrm>
            <a:prstGeom prst="rect">
              <a:avLst/>
            </a:prstGeom>
            <a:noFill/>
            <a:ln w="9525">
              <a:noFill/>
            </a:ln>
          </p:spPr>
        </p:pic>
      </p:grpSp>
      <p:sp>
        <p:nvSpPr>
          <p:cNvPr id="107557" name="AutoShape 40"/>
          <p:cNvSpPr/>
          <p:nvPr/>
        </p:nvSpPr>
        <p:spPr>
          <a:xfrm rot="7753888">
            <a:off x="1714500" y="2857500"/>
            <a:ext cx="381000" cy="152400"/>
          </a:xfrm>
          <a:prstGeom prst="leftArrow">
            <a:avLst>
              <a:gd name="adj1" fmla="val 50000"/>
              <a:gd name="adj2" fmla="val 62500"/>
            </a:avLst>
          </a:prstGeom>
          <a:solidFill>
            <a:srgbClr val="F79F63"/>
          </a:solidFill>
          <a:ln w="9525" cap="flat" cmpd="sng">
            <a:solidFill>
              <a:srgbClr val="081606"/>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8546" name="Rectangle 2"/>
          <p:cNvSpPr txBox="1"/>
          <p:nvPr/>
        </p:nvSpPr>
        <p:spPr>
          <a:xfrm>
            <a:off x="541655" y="911860"/>
            <a:ext cx="8149590"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4. </a:t>
            </a:r>
            <a:r>
              <a:rPr lang="zh-CN" altLang="en-US" sz="2800" dirty="0">
                <a:solidFill>
                  <a:srgbClr val="3333CC"/>
                </a:solidFill>
                <a:latin typeface="Arial" panose="020B0604020202020204" pitchFamily="34" charset="0"/>
                <a:ea typeface="黑体" panose="02010609060101010101" pitchFamily="1" charset="-122"/>
              </a:rPr>
              <a:t>数据仓库、并行</a:t>
            </a:r>
            <a:r>
              <a:rPr lang="en-US" altLang="zh-CN" sz="2800" dirty="0">
                <a:solidFill>
                  <a:srgbClr val="3333CC"/>
                </a:solidFill>
                <a:latin typeface="Arial" panose="020B0604020202020204" pitchFamily="34" charset="0"/>
                <a:ea typeface="黑体" panose="02010609060101010101" pitchFamily="1" charset="-122"/>
              </a:rPr>
              <a:t>/</a:t>
            </a:r>
            <a:r>
              <a:rPr lang="zh-CN" altLang="en-US" sz="2800" dirty="0">
                <a:solidFill>
                  <a:srgbClr val="3333CC"/>
                </a:solidFill>
                <a:latin typeface="Arial" panose="020B0604020202020204" pitchFamily="34" charset="0"/>
                <a:ea typeface="黑体" panose="02010609060101010101" pitchFamily="1" charset="-122"/>
              </a:rPr>
              <a:t>分布式</a:t>
            </a:r>
            <a:r>
              <a:rPr lang="en-US" altLang="zh-CN" sz="2800" dirty="0">
                <a:solidFill>
                  <a:srgbClr val="3333CC"/>
                </a:solidFill>
                <a:latin typeface="Arial" panose="020B0604020202020204" pitchFamily="34" charset="0"/>
                <a:ea typeface="黑体" panose="02010609060101010101" pitchFamily="1" charset="-122"/>
              </a:rPr>
              <a:t>/</a:t>
            </a:r>
            <a:r>
              <a:rPr lang="en-US" altLang="x-none" sz="2800" dirty="0">
                <a:solidFill>
                  <a:srgbClr val="3333CC"/>
                </a:solidFill>
                <a:latin typeface="Arial" panose="020B0604020202020204" pitchFamily="34" charset="0"/>
                <a:ea typeface="黑体" panose="02010609060101010101" pitchFamily="1" charset="-122"/>
              </a:rPr>
              <a:t>Web</a:t>
            </a:r>
            <a:r>
              <a:rPr lang="zh-CN" altLang="en-US" sz="2800" dirty="0">
                <a:solidFill>
                  <a:srgbClr val="3333CC"/>
                </a:solidFill>
                <a:latin typeface="Arial" panose="020B0604020202020204" pitchFamily="34" charset="0"/>
                <a:ea typeface="黑体" panose="02010609060101010101" pitchFamily="1" charset="-122"/>
              </a:rPr>
              <a:t>数据库</a:t>
            </a:r>
            <a:r>
              <a:rPr lang="zh-CN" altLang="x-none" sz="2800" dirty="0">
                <a:solidFill>
                  <a:srgbClr val="3333CC"/>
                </a:solidFill>
                <a:latin typeface="Arial" panose="020B0604020202020204" pitchFamily="34" charset="0"/>
                <a:ea typeface="黑体" panose="02010609060101010101" pitchFamily="1" charset="-122"/>
              </a:rPr>
              <a:t>技术的发展</a:t>
            </a:r>
            <a:endParaRPr lang="zh-CN" altLang="x-none" sz="2800" dirty="0">
              <a:solidFill>
                <a:srgbClr val="3333CC"/>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00381"/>
                                        </p:tgtEl>
                                        <p:attrNameLst>
                                          <p:attrName>style.visibility</p:attrName>
                                        </p:attrNameLst>
                                      </p:cBhvr>
                                      <p:to>
                                        <p:strVal val="visible"/>
                                      </p:to>
                                    </p:set>
                                    <p:anim calcmode="lin" valueType="num">
                                      <p:cBhvr>
                                        <p:cTn id="7" dur="500" fill="hold"/>
                                        <p:tgtEl>
                                          <p:spTgt spid="100381"/>
                                        </p:tgtEl>
                                        <p:attrNameLst>
                                          <p:attrName>ppt_w</p:attrName>
                                        </p:attrNameLst>
                                      </p:cBhvr>
                                      <p:tavLst>
                                        <p:tav tm="0">
                                          <p:val>
                                            <p:fltVal val="0"/>
                                          </p:val>
                                        </p:tav>
                                        <p:tav tm="100000">
                                          <p:val>
                                            <p:strVal val="#ppt_w"/>
                                          </p:val>
                                        </p:tav>
                                      </p:tavLst>
                                    </p:anim>
                                    <p:anim calcmode="lin" valueType="num">
                                      <p:cBhvr>
                                        <p:cTn id="8" dur="500" fill="hold"/>
                                        <p:tgtEl>
                                          <p:spTgt spid="100381"/>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00382"/>
                                        </p:tgtEl>
                                        <p:attrNameLst>
                                          <p:attrName>style.visibility</p:attrName>
                                        </p:attrNameLst>
                                      </p:cBhvr>
                                      <p:to>
                                        <p:strVal val="visible"/>
                                      </p:to>
                                    </p:set>
                                    <p:animEffect transition="in" filter="dissolve">
                                      <p:cBhvr>
                                        <p:cTn id="13" dur="500"/>
                                        <p:tgtEl>
                                          <p:spTgt spid="100382"/>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100383"/>
                                        </p:tgtEl>
                                        <p:attrNameLst>
                                          <p:attrName>style.visibility</p:attrName>
                                        </p:attrNameLst>
                                      </p:cBhvr>
                                      <p:to>
                                        <p:strVal val="visible"/>
                                      </p:to>
                                    </p:set>
                                    <p:anim calcmode="lin" valueType="num">
                                      <p:cBhvr>
                                        <p:cTn id="18" dur="500" fill="hold"/>
                                        <p:tgtEl>
                                          <p:spTgt spid="100383"/>
                                        </p:tgtEl>
                                        <p:attrNameLst>
                                          <p:attrName>ppt_w</p:attrName>
                                        </p:attrNameLst>
                                      </p:cBhvr>
                                      <p:tavLst>
                                        <p:tav tm="0">
                                          <p:val>
                                            <p:fltVal val="0"/>
                                          </p:val>
                                        </p:tav>
                                        <p:tav tm="100000">
                                          <p:val>
                                            <p:strVal val="#ppt_w"/>
                                          </p:val>
                                        </p:tav>
                                      </p:tavLst>
                                    </p:anim>
                                    <p:anim calcmode="lin" valueType="num">
                                      <p:cBhvr>
                                        <p:cTn id="19" dur="500" fill="hold"/>
                                        <p:tgtEl>
                                          <p:spTgt spid="100383"/>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00384"/>
                                        </p:tgtEl>
                                        <p:attrNameLst>
                                          <p:attrName>style.visibility</p:attrName>
                                        </p:attrNameLst>
                                      </p:cBhvr>
                                      <p:to>
                                        <p:strVal val="visible"/>
                                      </p:to>
                                    </p:set>
                                    <p:animEffect transition="in" filter="dissolve">
                                      <p:cBhvr>
                                        <p:cTn id="24" dur="500"/>
                                        <p:tgtEl>
                                          <p:spTgt spid="100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82" grpId="0"/>
      <p:bldP spid="100384"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0" name="Rectangle 3"/>
          <p:cNvSpPr txBox="1"/>
          <p:nvPr/>
        </p:nvSpPr>
        <p:spPr>
          <a:xfrm>
            <a:off x="541338" y="1566863"/>
            <a:ext cx="8137525" cy="2306637"/>
          </a:xfrm>
          <a:prstGeom prst="rect">
            <a:avLst/>
          </a:prstGeom>
          <a:noFill/>
          <a:ln w="9525">
            <a:noFill/>
          </a:ln>
        </p:spPr>
        <p:txBody>
          <a:bodyPr anchor="t"/>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宋体" panose="02010600030101010101" pitchFamily="2" charset="-122"/>
                <a:ea typeface="宋体" panose="02010600030101010101" pitchFamily="2" charset="-122"/>
              </a:rPr>
              <a:t>并行数据库系统：</a:t>
            </a:r>
            <a:r>
              <a:rPr lang="zh-CN" altLang="en-US" sz="2200" dirty="0">
                <a:latin typeface="楷体" panose="02010609060101010101" pitchFamily="1" charset="-122"/>
                <a:ea typeface="楷体" panose="02010609060101010101" pitchFamily="1" charset="-122"/>
              </a:rPr>
              <a:t>随着</a:t>
            </a:r>
            <a:r>
              <a:rPr lang="en-US" altLang="x-none" sz="2200" dirty="0">
                <a:latin typeface="楷体" panose="02010609060101010101" pitchFamily="1" charset="-122"/>
                <a:ea typeface="楷体" panose="02010609060101010101" pitchFamily="1" charset="-122"/>
              </a:rPr>
              <a:t>OLTP</a:t>
            </a:r>
            <a:r>
              <a:rPr lang="zh-CN" altLang="en-US" sz="2200" dirty="0">
                <a:latin typeface="楷体" panose="02010609060101010101" pitchFamily="1" charset="-122"/>
                <a:ea typeface="楷体" panose="02010609060101010101" pitchFamily="1" charset="-122"/>
              </a:rPr>
              <a:t>系统的长期运行，数据库的数据量越来越大，联机访问的用户也越来越多，提高数据库系统的吞吐量和减少事务的响应时间，成为数据库系统发展的关键问题。</a:t>
            </a:r>
            <a:r>
              <a:rPr lang="zh-CN" altLang="en-US" sz="2400" u="sng" dirty="0">
                <a:solidFill>
                  <a:srgbClr val="0033CC"/>
                </a:solidFill>
                <a:latin typeface="楷体" panose="02010609060101010101" pitchFamily="1" charset="-122"/>
                <a:ea typeface="楷体" panose="02010609060101010101" pitchFamily="1" charset="-122"/>
              </a:rPr>
              <a:t>由多台处理机和多磁盘构成的并行处理系统所支持的数据库系统，称为并行数据库系统。</a:t>
            </a:r>
            <a:endParaRPr lang="en-US" altLang="x-none" sz="2400" u="sng" dirty="0">
              <a:solidFill>
                <a:srgbClr val="0033CC"/>
              </a:solidFill>
              <a:latin typeface="楷体" panose="02010609060101010101" pitchFamily="1" charset="-122"/>
              <a:ea typeface="楷体" panose="02010609060101010101" pitchFamily="1" charset="-122"/>
            </a:endParaRPr>
          </a:p>
          <a:p>
            <a:pPr marL="342900" lvl="0" indent="-342900">
              <a:buNone/>
            </a:pPr>
            <a:endParaRPr lang="zh-CN" altLang="en-US" sz="2000" dirty="0">
              <a:latin typeface="Arial" panose="020B0604020202020204" pitchFamily="34" charset="0"/>
              <a:ea typeface="宋体" panose="02010600030101010101" pitchFamily="2" charset="-122"/>
            </a:endParaRPr>
          </a:p>
        </p:txBody>
      </p:sp>
      <p:sp>
        <p:nvSpPr>
          <p:cNvPr id="101381" name="Rectangle 3"/>
          <p:cNvSpPr txBox="1"/>
          <p:nvPr/>
        </p:nvSpPr>
        <p:spPr>
          <a:xfrm>
            <a:off x="630238" y="3840163"/>
            <a:ext cx="8137525" cy="2166937"/>
          </a:xfrm>
          <a:prstGeom prst="rect">
            <a:avLst/>
          </a:prstGeom>
          <a:noFill/>
          <a:ln w="9525">
            <a:noFill/>
          </a:ln>
        </p:spPr>
        <p:txBody>
          <a:bodyPr anchor="t"/>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宋体" panose="02010600030101010101" pitchFamily="2" charset="-122"/>
                <a:ea typeface="宋体" panose="02010600030101010101" pitchFamily="2" charset="-122"/>
              </a:rPr>
              <a:t>分布式数据库系统：</a:t>
            </a:r>
            <a:r>
              <a:rPr lang="zh-CN" altLang="en-US" sz="2200" dirty="0">
                <a:latin typeface="楷体" panose="02010609060101010101" pitchFamily="1" charset="-122"/>
                <a:ea typeface="楷体" panose="02010609060101010101" pitchFamily="1" charset="-122"/>
              </a:rPr>
              <a:t>随着全球经济一体化进程的加快，越来越多的全球性跨过公司在各地设立分支机构。这些地理上分散的大公司，提出了既能统一处理又能独立操作其分散各地的数据库的需求。</a:t>
            </a:r>
            <a:r>
              <a:rPr lang="zh-CN" altLang="en-US" sz="2400" dirty="0">
                <a:solidFill>
                  <a:srgbClr val="0033CC"/>
                </a:solidFill>
                <a:latin typeface="楷体" panose="02010609060101010101" pitchFamily="1" charset="-122"/>
                <a:ea typeface="楷体" panose="02010609060101010101" pitchFamily="1" charset="-122"/>
              </a:rPr>
              <a:t>数据库被划分为逻辑关联而地理上分散于多个场地的数据子集。</a:t>
            </a:r>
            <a:endParaRPr lang="en-US" altLang="x-none" sz="2400" dirty="0">
              <a:solidFill>
                <a:srgbClr val="0033CC"/>
              </a:solidFill>
              <a:latin typeface="楷体" panose="02010609060101010101" pitchFamily="1" charset="-122"/>
              <a:ea typeface="楷体" panose="02010609060101010101" pitchFamily="1" charset="-122"/>
            </a:endParaRPr>
          </a:p>
          <a:p>
            <a:pPr marL="342900" lvl="0" indent="-342900">
              <a:buNone/>
            </a:pPr>
            <a:endParaRPr lang="zh-CN" altLang="en-US" sz="2000" dirty="0">
              <a:latin typeface="Arial" panose="020B0604020202020204" pitchFamily="34" charset="0"/>
              <a:ea typeface="宋体" panose="02010600030101010101" pitchFamily="2" charset="-122"/>
            </a:endParaRPr>
          </a:p>
        </p:txBody>
      </p:sp>
      <p:sp>
        <p:nvSpPr>
          <p:cNvPr id="2" name="Rectangle 2"/>
          <p:cNvSpPr txBox="1"/>
          <p:nvPr/>
        </p:nvSpPr>
        <p:spPr>
          <a:xfrm>
            <a:off x="541655" y="911860"/>
            <a:ext cx="8149590"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4. </a:t>
            </a:r>
            <a:r>
              <a:rPr lang="zh-CN" altLang="en-US" sz="2800" dirty="0">
                <a:solidFill>
                  <a:srgbClr val="3333CC"/>
                </a:solidFill>
                <a:latin typeface="Arial" panose="020B0604020202020204" pitchFamily="34" charset="0"/>
                <a:ea typeface="黑体" panose="02010609060101010101" pitchFamily="1" charset="-122"/>
              </a:rPr>
              <a:t>数据仓库、并行</a:t>
            </a:r>
            <a:r>
              <a:rPr lang="en-US" altLang="zh-CN" sz="2800" dirty="0">
                <a:solidFill>
                  <a:srgbClr val="3333CC"/>
                </a:solidFill>
                <a:latin typeface="Arial" panose="020B0604020202020204" pitchFamily="34" charset="0"/>
                <a:ea typeface="黑体" panose="02010609060101010101" pitchFamily="1" charset="-122"/>
              </a:rPr>
              <a:t>/</a:t>
            </a:r>
            <a:r>
              <a:rPr lang="zh-CN" altLang="en-US" sz="2800" dirty="0">
                <a:solidFill>
                  <a:srgbClr val="3333CC"/>
                </a:solidFill>
                <a:latin typeface="Arial" panose="020B0604020202020204" pitchFamily="34" charset="0"/>
                <a:ea typeface="黑体" panose="02010609060101010101" pitchFamily="1" charset="-122"/>
              </a:rPr>
              <a:t>分布式</a:t>
            </a:r>
            <a:r>
              <a:rPr lang="en-US" altLang="zh-CN" sz="2800" dirty="0">
                <a:solidFill>
                  <a:srgbClr val="3333CC"/>
                </a:solidFill>
                <a:latin typeface="Arial" panose="020B0604020202020204" pitchFamily="34" charset="0"/>
                <a:ea typeface="黑体" panose="02010609060101010101" pitchFamily="1" charset="-122"/>
              </a:rPr>
              <a:t>/</a:t>
            </a:r>
            <a:r>
              <a:rPr lang="en-US" altLang="x-none" sz="2800" dirty="0">
                <a:solidFill>
                  <a:srgbClr val="3333CC"/>
                </a:solidFill>
                <a:latin typeface="Arial" panose="020B0604020202020204" pitchFamily="34" charset="0"/>
                <a:ea typeface="黑体" panose="02010609060101010101" pitchFamily="1" charset="-122"/>
              </a:rPr>
              <a:t>Web</a:t>
            </a:r>
            <a:r>
              <a:rPr lang="zh-CN" altLang="en-US" sz="2800" dirty="0">
                <a:solidFill>
                  <a:srgbClr val="3333CC"/>
                </a:solidFill>
                <a:latin typeface="Arial" panose="020B0604020202020204" pitchFamily="34" charset="0"/>
                <a:ea typeface="黑体" panose="02010609060101010101" pitchFamily="1" charset="-122"/>
              </a:rPr>
              <a:t>数据库</a:t>
            </a:r>
            <a:r>
              <a:rPr lang="zh-CN" altLang="x-none" sz="2800" dirty="0">
                <a:solidFill>
                  <a:srgbClr val="3333CC"/>
                </a:solidFill>
                <a:latin typeface="Arial" panose="020B0604020202020204" pitchFamily="34" charset="0"/>
                <a:ea typeface="黑体" panose="02010609060101010101" pitchFamily="1" charset="-122"/>
              </a:rPr>
              <a:t>技术的发展</a:t>
            </a:r>
            <a:endParaRPr lang="zh-CN" altLang="x-none" sz="2800" dirty="0">
              <a:solidFill>
                <a:srgbClr val="3333CC"/>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1380">
                                            <p:txEl>
                                              <p:pRg st="0" end="0"/>
                                            </p:txEl>
                                          </p:spTgt>
                                        </p:tgtEl>
                                        <p:attrNameLst>
                                          <p:attrName>style.visibility</p:attrName>
                                        </p:attrNameLst>
                                      </p:cBhvr>
                                      <p:to>
                                        <p:strVal val="visible"/>
                                      </p:to>
                                    </p:set>
                                    <p:animEffect transition="in" filter="wipe(down)">
                                      <p:cBhvr>
                                        <p:cTn id="7" dur="500"/>
                                        <p:tgtEl>
                                          <p:spTgt spid="1013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1381">
                                            <p:txEl>
                                              <p:pRg st="0" end="0"/>
                                            </p:txEl>
                                          </p:spTgt>
                                        </p:tgtEl>
                                        <p:attrNameLst>
                                          <p:attrName>style.visibility</p:attrName>
                                        </p:attrNameLst>
                                      </p:cBhvr>
                                      <p:to>
                                        <p:strVal val="visible"/>
                                      </p:to>
                                    </p:set>
                                    <p:animEffect transition="in" filter="wipe(down)">
                                      <p:cBhvr>
                                        <p:cTn id="12" dur="500"/>
                                        <p:tgtEl>
                                          <p:spTgt spid="10138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0" grpId="0" build="allAtOnce"/>
      <p:bldP spid="101381" grpId="0" build="allAtOnce"/>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p:cNvSpPr txBox="1"/>
          <p:nvPr/>
        </p:nvSpPr>
        <p:spPr>
          <a:xfrm>
            <a:off x="557213" y="1582738"/>
            <a:ext cx="8137525" cy="2366962"/>
          </a:xfrm>
          <a:prstGeom prst="rect">
            <a:avLst/>
          </a:prstGeom>
          <a:noFill/>
          <a:ln w="9525">
            <a:noFill/>
          </a:ln>
        </p:spPr>
        <p:txBody>
          <a:bodyPr anchor="t"/>
          <a:lstStyle/>
          <a:p>
            <a:pPr marL="342900" lvl="0" indent="-342900">
              <a:lnSpc>
                <a:spcPct val="120000"/>
              </a:lnSpc>
              <a:spcBef>
                <a:spcPct val="20000"/>
              </a:spcBef>
              <a:buClr>
                <a:srgbClr val="0033CC"/>
              </a:buClr>
              <a:buSzPct val="80000"/>
              <a:buFont typeface="Wingdings" panose="05000000000000000000" pitchFamily="2" charset="2"/>
              <a:buChar char="u"/>
            </a:pPr>
            <a:r>
              <a:rPr lang="en-US" altLang="x-none" sz="2400" u="sng" dirty="0">
                <a:solidFill>
                  <a:srgbClr val="FF0000"/>
                </a:solidFill>
                <a:latin typeface="宋体" panose="02010600030101010101" pitchFamily="2" charset="-122"/>
                <a:ea typeface="宋体" panose="02010600030101010101" pitchFamily="2" charset="-122"/>
              </a:rPr>
              <a:t>Internet/Web</a:t>
            </a:r>
            <a:r>
              <a:rPr lang="zh-CN" altLang="en-US" sz="2400" u="sng" dirty="0">
                <a:solidFill>
                  <a:srgbClr val="FF0000"/>
                </a:solidFill>
                <a:latin typeface="宋体" panose="02010600030101010101" pitchFamily="2" charset="-122"/>
                <a:ea typeface="宋体" panose="02010600030101010101" pitchFamily="2" charset="-122"/>
              </a:rPr>
              <a:t>数据库：</a:t>
            </a:r>
            <a:r>
              <a:rPr lang="zh-CN" altLang="en-US" sz="2400" dirty="0">
                <a:latin typeface="楷体" panose="02010609060101010101" pitchFamily="1" charset="-122"/>
                <a:ea typeface="楷体" panose="02010609060101010101" pitchFamily="1" charset="-122"/>
                <a:sym typeface="Wingdings" panose="05000000000000000000" pitchFamily="2" charset="2"/>
              </a:rPr>
              <a:t>关系数据库主要处理结构化数据，</a:t>
            </a:r>
            <a:r>
              <a:rPr lang="en-US" altLang="x-none" sz="2400" dirty="0">
                <a:latin typeface="楷体" panose="02010609060101010101" pitchFamily="1" charset="-122"/>
                <a:ea typeface="楷体" panose="02010609060101010101" pitchFamily="1" charset="-122"/>
                <a:sym typeface="Wingdings" panose="05000000000000000000" pitchFamily="2" charset="2"/>
              </a:rPr>
              <a:t>Internet</a:t>
            </a:r>
            <a:r>
              <a:rPr lang="zh-CN" altLang="en-US" sz="2400" dirty="0">
                <a:latin typeface="楷体" panose="02010609060101010101" pitchFamily="1" charset="-122"/>
                <a:ea typeface="楷体" panose="02010609060101010101" pitchFamily="1" charset="-122"/>
                <a:sym typeface="Wingdings" panose="05000000000000000000" pitchFamily="2" charset="2"/>
              </a:rPr>
              <a:t>的发展涌现出大量的非结构化数据及半结构化数据。</a:t>
            </a:r>
            <a:r>
              <a:rPr lang="zh-CN" altLang="en-US" sz="2400" u="sng" dirty="0">
                <a:solidFill>
                  <a:srgbClr val="0033CC"/>
                </a:solidFill>
                <a:latin typeface="楷体" panose="02010609060101010101" pitchFamily="1" charset="-122"/>
                <a:ea typeface="楷体" panose="02010609060101010101" pitchFamily="1" charset="-122"/>
                <a:sym typeface="Wingdings" panose="05000000000000000000" pitchFamily="2" charset="2"/>
              </a:rPr>
              <a:t>所谓</a:t>
            </a:r>
            <a:r>
              <a:rPr lang="en-US" altLang="x-none" sz="2400" u="sng" dirty="0">
                <a:solidFill>
                  <a:srgbClr val="0033CC"/>
                </a:solidFill>
                <a:latin typeface="楷体" panose="02010609060101010101" pitchFamily="1" charset="-122"/>
                <a:ea typeface="楷体" panose="02010609060101010101" pitchFamily="1" charset="-122"/>
                <a:sym typeface="Wingdings" panose="05000000000000000000" pitchFamily="2" charset="2"/>
              </a:rPr>
              <a:t>Internet/Web </a:t>
            </a:r>
            <a:r>
              <a:rPr lang="zh-CN" altLang="en-US" sz="2400" u="sng" dirty="0">
                <a:solidFill>
                  <a:srgbClr val="0033CC"/>
                </a:solidFill>
                <a:latin typeface="楷体" panose="02010609060101010101" pitchFamily="1" charset="-122"/>
                <a:ea typeface="楷体" panose="02010609060101010101" pitchFamily="1" charset="-122"/>
                <a:sym typeface="Wingdings" panose="05000000000000000000" pitchFamily="2" charset="2"/>
              </a:rPr>
              <a:t>数据库的主要特征是采用多维处理、变长存储以及面向对象等新技术，使数据库转为基于</a:t>
            </a:r>
            <a:r>
              <a:rPr lang="en-US" altLang="x-none" sz="2400" u="sng" dirty="0">
                <a:solidFill>
                  <a:srgbClr val="0033CC"/>
                </a:solidFill>
                <a:latin typeface="楷体" panose="02010609060101010101" pitchFamily="1" charset="-122"/>
                <a:ea typeface="楷体" panose="02010609060101010101" pitchFamily="1" charset="-122"/>
                <a:sym typeface="Wingdings" panose="05000000000000000000" pitchFamily="2" charset="2"/>
              </a:rPr>
              <a:t>Internet</a:t>
            </a:r>
            <a:r>
              <a:rPr lang="zh-CN" altLang="en-US" sz="2400" u="sng" dirty="0">
                <a:solidFill>
                  <a:srgbClr val="0033CC"/>
                </a:solidFill>
                <a:latin typeface="楷体" panose="02010609060101010101" pitchFamily="1" charset="-122"/>
                <a:ea typeface="楷体" panose="02010609060101010101" pitchFamily="1" charset="-122"/>
                <a:sym typeface="Wingdings" panose="05000000000000000000" pitchFamily="2" charset="2"/>
              </a:rPr>
              <a:t>的应用。</a:t>
            </a:r>
            <a:endParaRPr lang="en-US" altLang="x-none" sz="2400" u="sng" dirty="0">
              <a:solidFill>
                <a:srgbClr val="0033CC"/>
              </a:solidFill>
              <a:latin typeface="楷体" panose="02010609060101010101" pitchFamily="1" charset="-122"/>
              <a:ea typeface="楷体" panose="02010609060101010101" pitchFamily="1" charset="-122"/>
              <a:sym typeface="Wingdings" panose="05000000000000000000" pitchFamily="2" charset="2"/>
            </a:endParaRPr>
          </a:p>
        </p:txBody>
      </p:sp>
      <p:sp>
        <p:nvSpPr>
          <p:cNvPr id="102405" name="Rectangle 3"/>
          <p:cNvSpPr txBox="1"/>
          <p:nvPr/>
        </p:nvSpPr>
        <p:spPr>
          <a:xfrm>
            <a:off x="582613" y="4030663"/>
            <a:ext cx="8137525" cy="1989137"/>
          </a:xfrm>
          <a:prstGeom prst="rect">
            <a:avLst/>
          </a:prstGeom>
          <a:noFill/>
          <a:ln w="9525">
            <a:noFill/>
          </a:ln>
        </p:spPr>
        <p:txBody>
          <a:bodyPr anchor="t"/>
          <a:lstStyle/>
          <a:p>
            <a:pPr marL="342900" lvl="0" indent="-342900">
              <a:lnSpc>
                <a:spcPct val="120000"/>
              </a:lnSpc>
              <a:spcBef>
                <a:spcPts val="1200"/>
              </a:spcBef>
              <a:buClr>
                <a:srgbClr val="0033CC"/>
              </a:buClr>
              <a:buSzPct val="80000"/>
              <a:buFont typeface="Wingdings" panose="05000000000000000000" pitchFamily="2" charset="2"/>
              <a:buChar char="u"/>
            </a:pPr>
            <a:r>
              <a:rPr lang="zh-CN" altLang="en-US" sz="2400" u="sng" dirty="0">
                <a:solidFill>
                  <a:srgbClr val="FF0000"/>
                </a:solidFill>
                <a:latin typeface="宋体" panose="02010600030101010101" pitchFamily="2" charset="-122"/>
                <a:ea typeface="宋体" panose="02010600030101010101" pitchFamily="2" charset="-122"/>
                <a:sym typeface="Wingdings" panose="05000000000000000000" pitchFamily="2" charset="2"/>
              </a:rPr>
              <a:t>面向对象的数据库系统：</a:t>
            </a:r>
            <a:r>
              <a:rPr lang="zh-CN" altLang="en-US" sz="2400" dirty="0">
                <a:latin typeface="楷体" panose="02010609060101010101" pitchFamily="1" charset="-122"/>
                <a:ea typeface="楷体" panose="02010609060101010101" pitchFamily="1" charset="-122"/>
                <a:sym typeface="Wingdings" panose="05000000000000000000" pitchFamily="2" charset="2"/>
              </a:rPr>
              <a:t>面向对象技术与数据库技术的结合，</a:t>
            </a:r>
            <a:r>
              <a:rPr lang="zh-CN" altLang="en-US" sz="2400" u="sng" dirty="0">
                <a:solidFill>
                  <a:srgbClr val="0033CC"/>
                </a:solidFill>
                <a:latin typeface="楷体" panose="02010609060101010101" pitchFamily="1" charset="-122"/>
                <a:ea typeface="楷体" panose="02010609060101010101" pitchFamily="1" charset="-122"/>
                <a:sym typeface="Wingdings" panose="05000000000000000000" pitchFamily="2" charset="2"/>
              </a:rPr>
              <a:t>利用对象本身的特性（对象、类、对象标识、封装、继承、多态性和类层次）处理关系数据库无法处理的需求，被称为第三代数据库系统。</a:t>
            </a:r>
            <a:endParaRPr lang="zh-CN" altLang="en-US" sz="2400" u="sng" dirty="0">
              <a:solidFill>
                <a:srgbClr val="0033CC"/>
              </a:solidFill>
              <a:latin typeface="楷体" panose="02010609060101010101" pitchFamily="1" charset="-122"/>
              <a:ea typeface="楷体" panose="02010609060101010101" pitchFamily="1" charset="-122"/>
              <a:sym typeface="Wingdings" panose="05000000000000000000" pitchFamily="2" charset="2"/>
            </a:endParaRPr>
          </a:p>
          <a:p>
            <a:pPr marL="342900" lvl="0" indent="-342900">
              <a:lnSpc>
                <a:spcPct val="100000"/>
              </a:lnSpc>
              <a:spcBef>
                <a:spcPct val="20000"/>
              </a:spcBef>
              <a:buClr>
                <a:srgbClr val="0033CC"/>
              </a:buClr>
              <a:buSzPct val="80000"/>
              <a:buFont typeface="Wingdings" panose="05000000000000000000" pitchFamily="2" charset="2"/>
              <a:buChar char="u"/>
            </a:pPr>
            <a:endParaRPr lang="zh-CN" altLang="en-US" sz="2000" dirty="0">
              <a:latin typeface="Arial" panose="020B0604020202020204" pitchFamily="34" charset="0"/>
              <a:ea typeface="宋体" panose="02010600030101010101" pitchFamily="2" charset="-122"/>
            </a:endParaRPr>
          </a:p>
        </p:txBody>
      </p:sp>
      <p:sp>
        <p:nvSpPr>
          <p:cNvPr id="108546" name="Rectangle 2"/>
          <p:cNvSpPr txBox="1"/>
          <p:nvPr/>
        </p:nvSpPr>
        <p:spPr>
          <a:xfrm>
            <a:off x="541655" y="911860"/>
            <a:ext cx="8149590"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4. </a:t>
            </a:r>
            <a:r>
              <a:rPr lang="zh-CN" altLang="en-US" sz="2800" dirty="0">
                <a:solidFill>
                  <a:srgbClr val="3333CC"/>
                </a:solidFill>
                <a:latin typeface="Arial" panose="020B0604020202020204" pitchFamily="34" charset="0"/>
                <a:ea typeface="黑体" panose="02010609060101010101" pitchFamily="1" charset="-122"/>
              </a:rPr>
              <a:t>数据仓库、并行</a:t>
            </a:r>
            <a:r>
              <a:rPr lang="en-US" altLang="zh-CN" sz="2800" dirty="0">
                <a:solidFill>
                  <a:srgbClr val="3333CC"/>
                </a:solidFill>
                <a:latin typeface="Arial" panose="020B0604020202020204" pitchFamily="34" charset="0"/>
                <a:ea typeface="黑体" panose="02010609060101010101" pitchFamily="1" charset="-122"/>
              </a:rPr>
              <a:t>/</a:t>
            </a:r>
            <a:r>
              <a:rPr lang="zh-CN" altLang="en-US" sz="2800" dirty="0">
                <a:solidFill>
                  <a:srgbClr val="3333CC"/>
                </a:solidFill>
                <a:latin typeface="Arial" panose="020B0604020202020204" pitchFamily="34" charset="0"/>
                <a:ea typeface="黑体" panose="02010609060101010101" pitchFamily="1" charset="-122"/>
              </a:rPr>
              <a:t>分布式</a:t>
            </a:r>
            <a:r>
              <a:rPr lang="en-US" altLang="zh-CN" sz="2800" dirty="0">
                <a:solidFill>
                  <a:srgbClr val="3333CC"/>
                </a:solidFill>
                <a:latin typeface="Arial" panose="020B0604020202020204" pitchFamily="34" charset="0"/>
                <a:ea typeface="黑体" panose="02010609060101010101" pitchFamily="1" charset="-122"/>
              </a:rPr>
              <a:t>/</a:t>
            </a:r>
            <a:r>
              <a:rPr lang="en-US" altLang="x-none" sz="2800" dirty="0">
                <a:solidFill>
                  <a:srgbClr val="3333CC"/>
                </a:solidFill>
                <a:latin typeface="Arial" panose="020B0604020202020204" pitchFamily="34" charset="0"/>
                <a:ea typeface="黑体" panose="02010609060101010101" pitchFamily="1" charset="-122"/>
              </a:rPr>
              <a:t>Web</a:t>
            </a:r>
            <a:r>
              <a:rPr lang="zh-CN" altLang="en-US" sz="2800" dirty="0">
                <a:solidFill>
                  <a:srgbClr val="3333CC"/>
                </a:solidFill>
                <a:latin typeface="Arial" panose="020B0604020202020204" pitchFamily="34" charset="0"/>
                <a:ea typeface="黑体" panose="02010609060101010101" pitchFamily="1" charset="-122"/>
              </a:rPr>
              <a:t>数据库</a:t>
            </a:r>
            <a:r>
              <a:rPr lang="zh-CN" altLang="x-none" sz="2800" dirty="0">
                <a:solidFill>
                  <a:srgbClr val="3333CC"/>
                </a:solidFill>
                <a:latin typeface="Arial" panose="020B0604020202020204" pitchFamily="34" charset="0"/>
                <a:ea typeface="黑体" panose="02010609060101010101" pitchFamily="1" charset="-122"/>
              </a:rPr>
              <a:t>技术的发展</a:t>
            </a:r>
            <a:endParaRPr lang="zh-CN" altLang="x-none" sz="2800" dirty="0">
              <a:solidFill>
                <a:srgbClr val="3333CC"/>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2402">
                                            <p:txEl>
                                              <p:pRg st="0" end="0"/>
                                            </p:txEl>
                                          </p:spTgt>
                                        </p:tgtEl>
                                        <p:attrNameLst>
                                          <p:attrName>style.visibility</p:attrName>
                                        </p:attrNameLst>
                                      </p:cBhvr>
                                      <p:to>
                                        <p:strVal val="visible"/>
                                      </p:to>
                                    </p:set>
                                    <p:animEffect transition="in" filter="wipe(down)">
                                      <p:cBhvr>
                                        <p:cTn id="7" dur="500"/>
                                        <p:tgtEl>
                                          <p:spTgt spid="1024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2405">
                                            <p:txEl>
                                              <p:pRg st="0" end="0"/>
                                            </p:txEl>
                                          </p:spTgt>
                                        </p:tgtEl>
                                        <p:attrNameLst>
                                          <p:attrName>style.visibility</p:attrName>
                                        </p:attrNameLst>
                                      </p:cBhvr>
                                      <p:to>
                                        <p:strVal val="visible"/>
                                      </p:to>
                                    </p:set>
                                    <p:animEffect transition="in" filter="wipe(down)">
                                      <p:cBhvr>
                                        <p:cTn id="12" dur="500"/>
                                        <p:tgtEl>
                                          <p:spTgt spid="10240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2" grpId="0" build="allAtOnce"/>
      <p:bldP spid="102405" grpId="0" build="allAtOnce"/>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3"/>
          <p:cNvSpPr>
            <a:spLocks noGrp="1"/>
          </p:cNvSpPr>
          <p:nvPr/>
        </p:nvSpPr>
        <p:spPr>
          <a:xfrm>
            <a:off x="468313" y="1268413"/>
            <a:ext cx="8229600" cy="5029200"/>
          </a:xfrm>
          <a:prstGeom prst="rect">
            <a:avLst/>
          </a:prstGeom>
          <a:noFill/>
          <a:ln w="9525">
            <a:noFill/>
          </a:ln>
        </p:spPr>
        <p:txBody>
          <a:bodyPr vert="horz" wrap="square" lIns="91440" tIns="45720" rIns="91440" bIns="45720" anchor="t"/>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533400" indent="-533400">
              <a:buClr>
                <a:schemeClr val="folHlink"/>
              </a:buClr>
              <a:buFont typeface="Wingdings" panose="05000000000000000000" pitchFamily="2" charset="2"/>
              <a:buNone/>
            </a:pPr>
            <a:endParaRPr lang="zh-CN" altLang="en-US" dirty="0"/>
          </a:p>
          <a:p>
            <a:pPr marL="914400" lvl="1" indent="-457200">
              <a:buClr>
                <a:schemeClr val="folHlink"/>
              </a:buClr>
              <a:buFont typeface="Wingdings" panose="05000000000000000000" pitchFamily="2" charset="2"/>
              <a:buNone/>
            </a:pPr>
            <a:endParaRPr lang="zh-CN" altLang="en-US" dirty="0">
              <a:ea typeface="宋体" panose="02010600030101010101" pitchFamily="2" charset="-122"/>
            </a:endParaRPr>
          </a:p>
        </p:txBody>
      </p:sp>
      <p:graphicFrame>
        <p:nvGraphicFramePr>
          <p:cNvPr id="3074" name="Object 15"/>
          <p:cNvGraphicFramePr>
            <a:graphicFrameLocks noGrp="1"/>
          </p:cNvGraphicFramePr>
          <p:nvPr/>
        </p:nvGraphicFramePr>
        <p:xfrm>
          <a:off x="703580" y="1433830"/>
          <a:ext cx="7983220" cy="3169920"/>
        </p:xfrm>
        <a:graphic>
          <a:graphicData uri="http://schemas.openxmlformats.org/presentationml/2006/ole">
            <mc:AlternateContent xmlns:mc="http://schemas.openxmlformats.org/markup-compatibility/2006">
              <mc:Choice xmlns:v="urn:schemas-microsoft-com:vml" Requires="v">
                <p:oleObj spid="_x0000_s10273" name="" r:id="rId1" imgW="7874000" imgH="3606800" progId="AcroExch.Document.11">
                  <p:embed/>
                </p:oleObj>
              </mc:Choice>
              <mc:Fallback>
                <p:oleObj name="" r:id="rId1" imgW="7874000" imgH="3606800" progId="AcroExch.Document.11">
                  <p:embed/>
                  <p:pic>
                    <p:nvPicPr>
                      <p:cNvPr id="0" name="图片 3077"/>
                      <p:cNvPicPr/>
                      <p:nvPr/>
                    </p:nvPicPr>
                    <p:blipFill>
                      <a:blip r:embed="rId2"/>
                      <a:stretch>
                        <a:fillRect/>
                      </a:stretch>
                    </p:blipFill>
                    <p:spPr>
                      <a:xfrm>
                        <a:off x="703580" y="1433830"/>
                        <a:ext cx="7983220" cy="3169920"/>
                      </a:xfrm>
                      <a:prstGeom prst="rect">
                        <a:avLst/>
                      </a:prstGeom>
                      <a:noFill/>
                      <a:ln w="38100">
                        <a:miter/>
                      </a:ln>
                    </p:spPr>
                  </p:pic>
                </p:oleObj>
              </mc:Fallback>
            </mc:AlternateContent>
          </a:graphicData>
        </a:graphic>
      </p:graphicFrame>
      <p:sp>
        <p:nvSpPr>
          <p:cNvPr id="3077" name="TextBox 4"/>
          <p:cNvSpPr txBox="1">
            <a:spLocks noChangeArrowheads="1"/>
          </p:cNvSpPr>
          <p:nvPr/>
        </p:nvSpPr>
        <p:spPr bwMode="auto">
          <a:xfrm>
            <a:off x="589280" y="4742815"/>
            <a:ext cx="8097520" cy="1476375"/>
          </a:xfrm>
          <a:prstGeom prst="rect">
            <a:avLst/>
          </a:prstGeom>
          <a:noFill/>
          <a:ln w="9525">
            <a:noFill/>
            <a:miter lim="800000"/>
          </a:ln>
        </p:spPr>
        <p:txBody>
          <a:bodyPr wrap="square">
            <a:spAutoFit/>
          </a:bodyPr>
          <a:lstStyle/>
          <a:p>
            <a:pPr marR="0" defTabSz="914400">
              <a:lnSpc>
                <a:spcPct val="100000"/>
              </a:lnSpc>
              <a:buClr>
                <a:srgbClr val="C00000"/>
              </a:buClr>
              <a:buSzPct val="100000"/>
              <a:buFont typeface="Wingdings" panose="05000000000000000000" charset="0"/>
              <a:buChar char="p"/>
              <a:defRPr/>
            </a:pPr>
            <a:r>
              <a:rPr kumimoji="0" lang="en-US" altLang="zh-CN" kern="1200" cap="none" spc="0" normalizeH="0" baseline="0" noProof="0" dirty="0">
                <a:latin typeface="+mn-ea"/>
                <a:ea typeface="+mn-ea"/>
                <a:cs typeface="+mn-cs"/>
              </a:rPr>
              <a:t>MPP</a:t>
            </a:r>
            <a:r>
              <a:rPr kumimoji="0" lang="zh-CN" altLang="en-US" kern="1200" cap="none" spc="0" normalizeH="0" baseline="0" noProof="0" dirty="0">
                <a:latin typeface="+mn-ea"/>
                <a:ea typeface="+mn-ea"/>
                <a:cs typeface="+mn-cs"/>
              </a:rPr>
              <a:t>：</a:t>
            </a:r>
            <a:r>
              <a:rPr kumimoji="0" lang="en-US" altLang="zh-CN" kern="1200" cap="none" spc="0" normalizeH="0" baseline="0" noProof="0" dirty="0">
                <a:latin typeface="+mn-ea"/>
                <a:ea typeface="+mn-ea"/>
                <a:cs typeface="+mn-cs"/>
              </a:rPr>
              <a:t>Massive Parallel Processor</a:t>
            </a:r>
            <a:r>
              <a:rPr kumimoji="0" lang="zh-CN" altLang="en-US" kern="1200" cap="none" spc="0" normalizeH="0" baseline="0" noProof="0" dirty="0">
                <a:latin typeface="+mn-ea"/>
                <a:ea typeface="+mn-ea"/>
                <a:cs typeface="+mn-cs"/>
              </a:rPr>
              <a:t>。</a:t>
            </a:r>
            <a:r>
              <a:rPr lang="zh-CN" altLang="en-US" noProof="0" dirty="0">
                <a:latin typeface="+mn-ea"/>
                <a:ea typeface="+mn-ea"/>
                <a:cs typeface="+mn-cs"/>
                <a:sym typeface="+mn-ea"/>
              </a:rPr>
              <a:t>系统由许多松耦合处理单元组成的，每个单元内的</a:t>
            </a:r>
            <a:r>
              <a:rPr lang="en-US" altLang="zh-CN" noProof="0" dirty="0">
                <a:latin typeface="+mn-ea"/>
                <a:ea typeface="+mn-ea"/>
                <a:cs typeface="+mn-cs"/>
                <a:sym typeface="+mn-ea"/>
              </a:rPr>
              <a:t>CPU</a:t>
            </a:r>
            <a:r>
              <a:rPr lang="zh-CN" altLang="en-US" noProof="0" dirty="0">
                <a:latin typeface="+mn-ea"/>
                <a:ea typeface="+mn-ea"/>
                <a:cs typeface="+mn-cs"/>
                <a:sym typeface="+mn-ea"/>
              </a:rPr>
              <a:t>都私有总线、内存、硬盘等。在每个单元内都有操作系统和管理数据库的实例复本。</a:t>
            </a:r>
            <a:r>
              <a:rPr lang="en-US" altLang="zh-CN" noProof="0" dirty="0">
                <a:latin typeface="+mn-ea"/>
                <a:ea typeface="+mn-ea"/>
                <a:cs typeface="+mn-cs"/>
                <a:sym typeface="+mn-ea"/>
              </a:rPr>
              <a:t>MPP</a:t>
            </a:r>
            <a:r>
              <a:rPr lang="zh-CN" altLang="en-US" noProof="0" dirty="0">
                <a:latin typeface="+mn-ea"/>
                <a:ea typeface="+mn-ea"/>
                <a:cs typeface="+mn-cs"/>
                <a:sym typeface="+mn-ea"/>
              </a:rPr>
              <a:t>的最大的特点在于不共享资源。</a:t>
            </a:r>
            <a:endParaRPr kumimoji="0" lang="en-US" altLang="zh-CN" kern="1200" cap="none" spc="0" normalizeH="0" baseline="0" noProof="0" dirty="0">
              <a:latin typeface="+mn-ea"/>
              <a:ea typeface="+mn-ea"/>
              <a:cs typeface="+mn-cs"/>
            </a:endParaRPr>
          </a:p>
          <a:p>
            <a:pPr marR="0" defTabSz="914400">
              <a:lnSpc>
                <a:spcPct val="100000"/>
              </a:lnSpc>
              <a:buClr>
                <a:srgbClr val="C00000"/>
              </a:buClr>
              <a:buSzPct val="100000"/>
              <a:buFont typeface="Wingdings" panose="05000000000000000000" charset="0"/>
              <a:buChar char="p"/>
              <a:defRPr/>
            </a:pPr>
            <a:r>
              <a:rPr kumimoji="0" lang="en-US" altLang="zh-CN" kern="1200" cap="none" spc="0" normalizeH="0" baseline="0" noProof="0" dirty="0">
                <a:latin typeface="+mn-ea"/>
                <a:ea typeface="+mn-ea"/>
                <a:cs typeface="+mn-cs"/>
              </a:rPr>
              <a:t>SMP</a:t>
            </a:r>
            <a:r>
              <a:rPr kumimoji="0" lang="zh-CN" altLang="en-US" kern="1200" cap="none" spc="0" normalizeH="0" baseline="0" noProof="0" dirty="0">
                <a:latin typeface="+mn-ea"/>
                <a:ea typeface="+mn-ea"/>
                <a:cs typeface="+mn-cs"/>
              </a:rPr>
              <a:t>：</a:t>
            </a:r>
            <a:r>
              <a:rPr kumimoji="0" lang="en-US" altLang="zh-CN" kern="1200" cap="none" spc="0" normalizeH="0" baseline="0" noProof="0" dirty="0">
                <a:latin typeface="+mn-ea"/>
                <a:ea typeface="+mn-ea"/>
                <a:cs typeface="+mn-cs"/>
              </a:rPr>
              <a:t>Symmetric Multi-Processing</a:t>
            </a:r>
            <a:r>
              <a:rPr kumimoji="0" lang="zh-CN" altLang="en-US" kern="1200" cap="none" spc="0" normalizeH="0" baseline="0" noProof="0" dirty="0">
                <a:latin typeface="+mn-ea"/>
                <a:ea typeface="+mn-ea"/>
                <a:cs typeface="+mn-cs"/>
              </a:rPr>
              <a:t>。</a:t>
            </a:r>
            <a:r>
              <a:rPr lang="zh-CN" altLang="en-US" noProof="0" dirty="0">
                <a:latin typeface="+mn-ea"/>
                <a:ea typeface="+mn-ea"/>
                <a:cs typeface="+mn-cs"/>
                <a:sym typeface="+mn-ea"/>
              </a:rPr>
              <a:t>一台计算机上有多个</a:t>
            </a:r>
            <a:r>
              <a:rPr lang="en-US" altLang="zh-CN" noProof="0" dirty="0">
                <a:latin typeface="+mn-ea"/>
                <a:ea typeface="+mn-ea"/>
                <a:cs typeface="+mn-cs"/>
                <a:sym typeface="+mn-ea"/>
              </a:rPr>
              <a:t>CPU</a:t>
            </a:r>
            <a:r>
              <a:rPr lang="zh-CN" altLang="en-US" noProof="0" dirty="0">
                <a:latin typeface="+mn-ea"/>
                <a:ea typeface="+mn-ea"/>
                <a:cs typeface="+mn-cs"/>
                <a:sym typeface="+mn-ea"/>
              </a:rPr>
              <a:t>，共享内存和主机资源。</a:t>
            </a:r>
            <a:endParaRPr kumimoji="0" lang="zh-CN" altLang="en-US" kern="1200" cap="none" spc="0" normalizeH="0" baseline="0" noProof="0" dirty="0">
              <a:latin typeface="+mn-ea"/>
              <a:ea typeface="+mn-ea"/>
              <a:cs typeface="+mn-cs"/>
            </a:endParaRPr>
          </a:p>
        </p:txBody>
      </p:sp>
      <p:sp>
        <p:nvSpPr>
          <p:cNvPr id="3" name="文本框 2"/>
          <p:cNvSpPr txBox="1"/>
          <p:nvPr/>
        </p:nvSpPr>
        <p:spPr>
          <a:xfrm>
            <a:off x="2095500" y="2277110"/>
            <a:ext cx="1444625" cy="922020"/>
          </a:xfrm>
          <a:prstGeom prst="rect">
            <a:avLst/>
          </a:prstGeom>
          <a:noFill/>
        </p:spPr>
        <p:txBody>
          <a:bodyPr wrap="square" rtlCol="0" anchor="t">
            <a:spAutoFit/>
          </a:bodyPr>
          <a:lstStyle/>
          <a:p>
            <a:pPr>
              <a:lnSpc>
                <a:spcPct val="100000"/>
              </a:lnSpc>
              <a:buFont typeface="Wingdings" panose="05000000000000000000" charset="0"/>
              <a:buChar char="p"/>
            </a:pPr>
            <a:r>
              <a:rPr lang="en-US" altLang="zh-CN" noProof="0" dirty="0" err="1">
                <a:solidFill>
                  <a:srgbClr val="FF0000"/>
                </a:solidFill>
                <a:latin typeface="+mn-ea"/>
                <a:ea typeface="+mn-ea"/>
                <a:cs typeface="+mn-cs"/>
                <a:sym typeface="+mn-ea"/>
              </a:rPr>
              <a:t>NewSQL</a:t>
            </a:r>
            <a:r>
              <a:rPr lang="zh-CN" altLang="en-US" noProof="0" dirty="0">
                <a:solidFill>
                  <a:srgbClr val="FF0000"/>
                </a:solidFill>
                <a:latin typeface="+mn-ea"/>
                <a:ea typeface="+mn-ea"/>
                <a:cs typeface="+mn-cs"/>
                <a:sym typeface="+mn-ea"/>
              </a:rPr>
              <a:t>普遍采用了列存储技术</a:t>
            </a:r>
            <a:endParaRPr lang="zh-CN" altLang="en-US" noProof="0" dirty="0">
              <a:solidFill>
                <a:srgbClr val="FF0000"/>
              </a:solidFill>
              <a:latin typeface="+mn-ea"/>
              <a:ea typeface="+mn-ea"/>
              <a:cs typeface="+mn-cs"/>
              <a:sym typeface="+mn-ea"/>
            </a:endParaRPr>
          </a:p>
        </p:txBody>
      </p:sp>
      <p:sp>
        <p:nvSpPr>
          <p:cNvPr id="4" name="文本框 3"/>
          <p:cNvSpPr txBox="1"/>
          <p:nvPr/>
        </p:nvSpPr>
        <p:spPr>
          <a:xfrm>
            <a:off x="4935220" y="2404110"/>
            <a:ext cx="1319530" cy="922020"/>
          </a:xfrm>
          <a:prstGeom prst="rect">
            <a:avLst/>
          </a:prstGeom>
          <a:noFill/>
        </p:spPr>
        <p:txBody>
          <a:bodyPr wrap="square" rtlCol="0" anchor="t">
            <a:spAutoFit/>
          </a:bodyPr>
          <a:lstStyle/>
          <a:p>
            <a:pPr>
              <a:lnSpc>
                <a:spcPct val="100000"/>
              </a:lnSpc>
              <a:buFont typeface="Wingdings" panose="05000000000000000000" charset="0"/>
              <a:buChar char="p"/>
            </a:pPr>
            <a:r>
              <a:rPr lang="en-US" altLang="zh-CN" noProof="0" dirty="0" err="1">
                <a:solidFill>
                  <a:srgbClr val="FF0000"/>
                </a:solidFill>
                <a:latin typeface="+mn-ea"/>
                <a:ea typeface="+mn-ea"/>
                <a:cs typeface="+mn-cs"/>
                <a:sym typeface="+mn-ea"/>
              </a:rPr>
              <a:t>NoSQL</a:t>
            </a:r>
            <a:r>
              <a:rPr lang="zh-CN" altLang="en-US" noProof="0" dirty="0">
                <a:solidFill>
                  <a:srgbClr val="FF0000"/>
                </a:solidFill>
                <a:latin typeface="+mn-ea"/>
                <a:ea typeface="+mn-ea"/>
                <a:cs typeface="+mn-cs"/>
                <a:sym typeface="+mn-ea"/>
              </a:rPr>
              <a:t>普遍采用了</a:t>
            </a:r>
            <a:r>
              <a:rPr lang="en-US" altLang="zh-CN" noProof="0" dirty="0">
                <a:solidFill>
                  <a:srgbClr val="FF0000"/>
                </a:solidFill>
                <a:latin typeface="+mn-ea"/>
                <a:ea typeface="+mn-ea"/>
                <a:cs typeface="+mn-cs"/>
                <a:sym typeface="+mn-ea"/>
              </a:rPr>
              <a:t>Key-Value</a:t>
            </a:r>
            <a:endParaRPr lang="en-US" altLang="zh-CN" noProof="0" dirty="0">
              <a:solidFill>
                <a:srgbClr val="FF0000"/>
              </a:solidFill>
              <a:latin typeface="+mn-ea"/>
              <a:ea typeface="+mn-ea"/>
              <a:cs typeface="+mn-cs"/>
              <a:sym typeface="+mn-ea"/>
            </a:endParaRPr>
          </a:p>
        </p:txBody>
      </p:sp>
      <p:sp>
        <p:nvSpPr>
          <p:cNvPr id="108546" name="Rectangle 2"/>
          <p:cNvSpPr txBox="1"/>
          <p:nvPr/>
        </p:nvSpPr>
        <p:spPr>
          <a:xfrm>
            <a:off x="541655" y="911860"/>
            <a:ext cx="8149590"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4. </a:t>
            </a:r>
            <a:r>
              <a:rPr lang="zh-CN" altLang="en-US" sz="2800" dirty="0">
                <a:solidFill>
                  <a:srgbClr val="3333CC"/>
                </a:solidFill>
                <a:latin typeface="Arial" panose="020B0604020202020204" pitchFamily="34" charset="0"/>
                <a:ea typeface="黑体" panose="02010609060101010101" pitchFamily="1" charset="-122"/>
              </a:rPr>
              <a:t>数据仓库、并行</a:t>
            </a:r>
            <a:r>
              <a:rPr lang="en-US" altLang="zh-CN" sz="2800" dirty="0">
                <a:solidFill>
                  <a:srgbClr val="3333CC"/>
                </a:solidFill>
                <a:latin typeface="Arial" panose="020B0604020202020204" pitchFamily="34" charset="0"/>
                <a:ea typeface="黑体" panose="02010609060101010101" pitchFamily="1" charset="-122"/>
              </a:rPr>
              <a:t>/</a:t>
            </a:r>
            <a:r>
              <a:rPr lang="zh-CN" altLang="en-US" sz="2800" dirty="0">
                <a:solidFill>
                  <a:srgbClr val="3333CC"/>
                </a:solidFill>
                <a:latin typeface="Arial" panose="020B0604020202020204" pitchFamily="34" charset="0"/>
                <a:ea typeface="黑体" panose="02010609060101010101" pitchFamily="1" charset="-122"/>
              </a:rPr>
              <a:t>分布式</a:t>
            </a:r>
            <a:r>
              <a:rPr lang="en-US" altLang="zh-CN" sz="2800" dirty="0">
                <a:solidFill>
                  <a:srgbClr val="3333CC"/>
                </a:solidFill>
                <a:latin typeface="Arial" panose="020B0604020202020204" pitchFamily="34" charset="0"/>
                <a:ea typeface="黑体" panose="02010609060101010101" pitchFamily="1" charset="-122"/>
              </a:rPr>
              <a:t>/</a:t>
            </a:r>
            <a:r>
              <a:rPr lang="en-US" altLang="x-none" sz="2800" dirty="0">
                <a:solidFill>
                  <a:srgbClr val="3333CC"/>
                </a:solidFill>
                <a:latin typeface="Arial" panose="020B0604020202020204" pitchFamily="34" charset="0"/>
                <a:ea typeface="黑体" panose="02010609060101010101" pitchFamily="1" charset="-122"/>
              </a:rPr>
              <a:t>Web</a:t>
            </a:r>
            <a:r>
              <a:rPr lang="zh-CN" altLang="en-US" sz="2800" dirty="0">
                <a:solidFill>
                  <a:srgbClr val="3333CC"/>
                </a:solidFill>
                <a:latin typeface="Arial" panose="020B0604020202020204" pitchFamily="34" charset="0"/>
                <a:ea typeface="黑体" panose="02010609060101010101" pitchFamily="1" charset="-122"/>
              </a:rPr>
              <a:t>数据库</a:t>
            </a:r>
            <a:r>
              <a:rPr lang="zh-CN" altLang="x-none" sz="2800" dirty="0">
                <a:solidFill>
                  <a:srgbClr val="3333CC"/>
                </a:solidFill>
                <a:latin typeface="Arial" panose="020B0604020202020204" pitchFamily="34" charset="0"/>
                <a:ea typeface="黑体" panose="02010609060101010101" pitchFamily="1" charset="-122"/>
              </a:rPr>
              <a:t>技术的发展</a:t>
            </a:r>
            <a:endParaRPr lang="zh-CN" altLang="x-none" sz="2800" dirty="0">
              <a:solidFill>
                <a:srgbClr val="3333CC"/>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40385" y="1463040"/>
            <a:ext cx="5957570" cy="1106805"/>
          </a:xfrm>
          <a:prstGeom prst="rect">
            <a:avLst/>
          </a:prstGeom>
          <a:noFill/>
        </p:spPr>
        <p:txBody>
          <a:bodyPr wrap="square" rtlCol="0" anchor="t">
            <a:spAutoFit/>
          </a:bodyPr>
          <a:lstStyle/>
          <a:p>
            <a:pPr>
              <a:lnSpc>
                <a:spcPct val="100000"/>
              </a:lnSpc>
              <a:buNone/>
            </a:pPr>
            <a:r>
              <a:rPr lang="en-US" altLang="zh-CN" sz="2200"/>
              <a:t>       </a:t>
            </a:r>
            <a:r>
              <a:rPr lang="zh-CN" altLang="en-US" sz="2200"/>
              <a:t>麻省理工学院计算机科学与人工智能实验室的Michael Stonebraker</a:t>
            </a:r>
            <a:r>
              <a:rPr lang="zh-CN" altLang="en-US" sz="2200">
                <a:sym typeface="+mn-ea"/>
              </a:rPr>
              <a:t>（迈克尔·斯通布雷克）</a:t>
            </a:r>
            <a:r>
              <a:rPr lang="zh-CN" altLang="en-US" sz="2200"/>
              <a:t>2014年图灵奖。</a:t>
            </a:r>
            <a:endParaRPr lang="zh-CN" altLang="en-US" sz="2200"/>
          </a:p>
        </p:txBody>
      </p:sp>
      <p:sp>
        <p:nvSpPr>
          <p:cNvPr id="8" name="文本框 7"/>
          <p:cNvSpPr txBox="1"/>
          <p:nvPr/>
        </p:nvSpPr>
        <p:spPr>
          <a:xfrm>
            <a:off x="540385" y="2466975"/>
            <a:ext cx="5534025" cy="1337945"/>
          </a:xfrm>
          <a:prstGeom prst="rect">
            <a:avLst/>
          </a:prstGeom>
          <a:noFill/>
        </p:spPr>
        <p:txBody>
          <a:bodyPr wrap="square" rtlCol="0" anchor="t">
            <a:spAutoFit/>
          </a:bodyPr>
          <a:lstStyle/>
          <a:p>
            <a:pPr>
              <a:buFont typeface="Wingdings" panose="05000000000000000000" charset="0"/>
              <a:buChar char=""/>
            </a:pPr>
            <a:r>
              <a:rPr lang="en-US" altLang="zh-CN" sz="2000"/>
              <a:t>70</a:t>
            </a:r>
            <a:r>
              <a:rPr lang="zh-CN" altLang="en-US" sz="2000"/>
              <a:t>年代开发最早的两个关系数据库之一Ingres，Ingres的基础上后来发展出Sybase和SQL Server两大主流数据库</a:t>
            </a:r>
            <a:endParaRPr lang="zh-CN" altLang="en-US" sz="2000"/>
          </a:p>
        </p:txBody>
      </p:sp>
      <p:sp>
        <p:nvSpPr>
          <p:cNvPr id="9" name="文本框 8"/>
          <p:cNvSpPr txBox="1"/>
          <p:nvPr/>
        </p:nvSpPr>
        <p:spPr>
          <a:xfrm>
            <a:off x="540385" y="3750945"/>
            <a:ext cx="8231505" cy="2334260"/>
          </a:xfrm>
          <a:prstGeom prst="rect">
            <a:avLst/>
          </a:prstGeom>
          <a:noFill/>
        </p:spPr>
        <p:txBody>
          <a:bodyPr wrap="square" rtlCol="0" anchor="t">
            <a:spAutoFit/>
          </a:bodyPr>
          <a:lstStyle/>
          <a:p>
            <a:r>
              <a:rPr lang="zh-CN" altLang="en-US"/>
              <a:t>2002年，流数据库Aurora，以此创办StreamBase公司；</a:t>
            </a:r>
            <a:endParaRPr lang="zh-CN" altLang="en-US"/>
          </a:p>
          <a:p>
            <a:r>
              <a:rPr lang="zh-CN" altLang="en-US"/>
              <a:t>2005年，并行的列式数据仓库系统C-Store，创办Vertica公司。</a:t>
            </a:r>
            <a:endParaRPr lang="zh-CN" altLang="en-US"/>
          </a:p>
          <a:p>
            <a:r>
              <a:rPr lang="zh-CN" altLang="en-US"/>
              <a:t>2006年，数据集成项目Morpheus，并据此创办本地搜索公司Goby。</a:t>
            </a:r>
            <a:endParaRPr lang="zh-CN" altLang="en-US"/>
          </a:p>
          <a:p>
            <a:r>
              <a:rPr lang="zh-CN" altLang="en-US"/>
              <a:t>2007年，分布式内存OLTP系统H-Store，创办VoltDB公司。</a:t>
            </a:r>
            <a:endParaRPr lang="zh-CN" altLang="en-US"/>
          </a:p>
          <a:p>
            <a:r>
              <a:rPr lang="zh-CN" altLang="en-US"/>
              <a:t>2008年，数组数据库SciDB，创办Paradigm4公司。</a:t>
            </a:r>
            <a:endParaRPr lang="zh-CN" altLang="en-US"/>
          </a:p>
          <a:p>
            <a:r>
              <a:rPr lang="zh-CN" altLang="en-US"/>
              <a:t>2013年，70岁的他还与一个卡塔尔的年轻人共同创办企业数据集成公司Tamr。</a:t>
            </a:r>
            <a:endParaRPr lang="zh-CN" altLang="en-US"/>
          </a:p>
        </p:txBody>
      </p:sp>
      <p:graphicFrame>
        <p:nvGraphicFramePr>
          <p:cNvPr id="10" name="对象 9"/>
          <p:cNvGraphicFramePr/>
          <p:nvPr/>
        </p:nvGraphicFramePr>
        <p:xfrm>
          <a:off x="6360795" y="1516380"/>
          <a:ext cx="2326005" cy="2411730"/>
        </p:xfrm>
        <a:graphic>
          <a:graphicData uri="http://schemas.openxmlformats.org/presentationml/2006/ole">
            <mc:AlternateContent xmlns:mc="http://schemas.openxmlformats.org/markup-compatibility/2006">
              <mc:Choice xmlns:v="urn:schemas-microsoft-com:vml" Requires="v">
                <p:oleObj spid="_x0000_s11297" name="" r:id="rId1" imgW="2324100" imgH="2409825" progId="Paint.Picture">
                  <p:embed/>
                </p:oleObj>
              </mc:Choice>
              <mc:Fallback>
                <p:oleObj name="" r:id="rId1" imgW="2324100" imgH="2409825" progId="Paint.Picture">
                  <p:embed/>
                  <p:pic>
                    <p:nvPicPr>
                      <p:cNvPr id="0" name="图片 10"/>
                      <p:cNvPicPr/>
                      <p:nvPr/>
                    </p:nvPicPr>
                    <p:blipFill>
                      <a:blip r:embed="rId2"/>
                      <a:stretch>
                        <a:fillRect/>
                      </a:stretch>
                    </p:blipFill>
                    <p:spPr>
                      <a:xfrm>
                        <a:off x="6360795" y="1516380"/>
                        <a:ext cx="2326005" cy="2411730"/>
                      </a:xfrm>
                      <a:prstGeom prst="rect">
                        <a:avLst/>
                      </a:prstGeom>
                    </p:spPr>
                  </p:pic>
                </p:oleObj>
              </mc:Fallback>
            </mc:AlternateContent>
          </a:graphicData>
        </a:graphic>
      </p:graphicFrame>
      <p:sp>
        <p:nvSpPr>
          <p:cNvPr id="108546" name="Rectangle 2"/>
          <p:cNvSpPr txBox="1"/>
          <p:nvPr/>
        </p:nvSpPr>
        <p:spPr>
          <a:xfrm>
            <a:off x="541655" y="911860"/>
            <a:ext cx="8149590" cy="504825"/>
          </a:xfrm>
          <a:prstGeom prst="rect">
            <a:avLst/>
          </a:prstGeom>
          <a:noFill/>
          <a:ln w="9525">
            <a:noFill/>
          </a:ln>
        </p:spPr>
        <p:txBody>
          <a:bodyPr anchor="t"/>
          <a:lstStyle/>
          <a:p>
            <a:pPr lvl="0" indent="0">
              <a:lnSpc>
                <a:spcPct val="100000"/>
              </a:lnSpc>
              <a:buNone/>
            </a:pPr>
            <a:r>
              <a:rPr lang="en-US" altLang="x-none" sz="2800" dirty="0">
                <a:solidFill>
                  <a:srgbClr val="3333CC"/>
                </a:solidFill>
                <a:latin typeface="Arial" panose="020B0604020202020204" pitchFamily="34" charset="0"/>
                <a:ea typeface="黑体" panose="02010609060101010101" pitchFamily="1" charset="-122"/>
              </a:rPr>
              <a:t>4. </a:t>
            </a:r>
            <a:r>
              <a:rPr lang="zh-CN" altLang="en-US" sz="2800" dirty="0">
                <a:solidFill>
                  <a:srgbClr val="3333CC"/>
                </a:solidFill>
                <a:latin typeface="Arial" panose="020B0604020202020204" pitchFamily="34" charset="0"/>
                <a:ea typeface="黑体" panose="02010609060101010101" pitchFamily="1" charset="-122"/>
              </a:rPr>
              <a:t>数据仓库、并行</a:t>
            </a:r>
            <a:r>
              <a:rPr lang="en-US" altLang="zh-CN" sz="2800" dirty="0">
                <a:solidFill>
                  <a:srgbClr val="3333CC"/>
                </a:solidFill>
                <a:latin typeface="Arial" panose="020B0604020202020204" pitchFamily="34" charset="0"/>
                <a:ea typeface="黑体" panose="02010609060101010101" pitchFamily="1" charset="-122"/>
              </a:rPr>
              <a:t>/</a:t>
            </a:r>
            <a:r>
              <a:rPr lang="zh-CN" altLang="en-US" sz="2800" dirty="0">
                <a:solidFill>
                  <a:srgbClr val="3333CC"/>
                </a:solidFill>
                <a:latin typeface="Arial" panose="020B0604020202020204" pitchFamily="34" charset="0"/>
                <a:ea typeface="黑体" panose="02010609060101010101" pitchFamily="1" charset="-122"/>
              </a:rPr>
              <a:t>分布式</a:t>
            </a:r>
            <a:r>
              <a:rPr lang="en-US" altLang="zh-CN" sz="2800" dirty="0">
                <a:solidFill>
                  <a:srgbClr val="3333CC"/>
                </a:solidFill>
                <a:latin typeface="Arial" panose="020B0604020202020204" pitchFamily="34" charset="0"/>
                <a:ea typeface="黑体" panose="02010609060101010101" pitchFamily="1" charset="-122"/>
              </a:rPr>
              <a:t>/</a:t>
            </a:r>
            <a:r>
              <a:rPr lang="en-US" altLang="x-none" sz="2800" dirty="0">
                <a:solidFill>
                  <a:srgbClr val="3333CC"/>
                </a:solidFill>
                <a:latin typeface="Arial" panose="020B0604020202020204" pitchFamily="34" charset="0"/>
                <a:ea typeface="黑体" panose="02010609060101010101" pitchFamily="1" charset="-122"/>
              </a:rPr>
              <a:t>Web</a:t>
            </a:r>
            <a:r>
              <a:rPr lang="zh-CN" altLang="en-US" sz="2800" dirty="0">
                <a:solidFill>
                  <a:srgbClr val="3333CC"/>
                </a:solidFill>
                <a:latin typeface="Arial" panose="020B0604020202020204" pitchFamily="34" charset="0"/>
                <a:ea typeface="黑体" panose="02010609060101010101" pitchFamily="1" charset="-122"/>
              </a:rPr>
              <a:t>数据库</a:t>
            </a:r>
            <a:r>
              <a:rPr lang="zh-CN" altLang="x-none" sz="2800" dirty="0">
                <a:solidFill>
                  <a:srgbClr val="3333CC"/>
                </a:solidFill>
                <a:latin typeface="Arial" panose="020B0604020202020204" pitchFamily="34" charset="0"/>
                <a:ea typeface="黑体" panose="02010609060101010101" pitchFamily="1" charset="-122"/>
              </a:rPr>
              <a:t>技术的发展</a:t>
            </a:r>
            <a:endParaRPr lang="zh-CN" altLang="x-none" sz="2800" dirty="0">
              <a:solidFill>
                <a:srgbClr val="3333CC"/>
              </a:solidFill>
              <a:latin typeface="Arial" panose="020B0604020202020204" pitchFamily="34" charset="0"/>
              <a:ea typeface="黑体" panose="02010609060101010101" pitchFamily="1" charset="-122"/>
            </a:endParaRPr>
          </a:p>
        </p:txBody>
      </p:sp>
      <p:sp>
        <p:nvSpPr>
          <p:cNvPr id="9318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06650" y="631826"/>
            <a:ext cx="8383114" cy="5632311"/>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FF0000"/>
                </a:solidFill>
                <a:latin typeface="Calibri" panose="020F0502020204030204" pitchFamily="34" charset="0"/>
                <a:cs typeface="Times New Roman" panose="02020603050405020304" pitchFamily="2" charset="0"/>
              </a:rPr>
              <a:t>知识点小测</a:t>
            </a:r>
            <a:r>
              <a:rPr lang="zh-CN" altLang="zh-CN" sz="3200" kern="100" dirty="0" smtClean="0">
                <a:solidFill>
                  <a:srgbClr val="FF0000"/>
                </a:solidFill>
                <a:latin typeface="Calibri" panose="020F0502020204030204" pitchFamily="34" charset="0"/>
                <a:cs typeface="Times New Roman" panose="02020603050405020304" pitchFamily="2" charset="0"/>
              </a:rPr>
              <a:t>：</a:t>
            </a:r>
            <a:endParaRPr lang="en-US" altLang="zh-CN" sz="3200" kern="100" dirty="0" smtClean="0">
              <a:solidFill>
                <a:srgbClr val="FF0000"/>
              </a:solidFill>
              <a:latin typeface="Calibri" panose="020F0502020204030204" pitchFamily="34" charset="0"/>
              <a:cs typeface="Times New Roman" panose="02020603050405020304" pitchFamily="2" charset="0"/>
            </a:endParaRPr>
          </a:p>
          <a:p>
            <a:pPr algn="just">
              <a:lnSpc>
                <a:spcPct val="120000"/>
              </a:lnSpc>
              <a:spcAft>
                <a:spcPts val="0"/>
              </a:spcAft>
              <a:buNone/>
            </a:pPr>
            <a:r>
              <a:rPr lang="en-US" altLang="zh-CN" sz="2400" kern="100" dirty="0" smtClean="0">
                <a:latin typeface="Calibri" panose="020F0502020204030204" pitchFamily="34" charset="0"/>
                <a:cs typeface="Times New Roman" panose="02020603050405020304" pitchFamily="2" charset="0"/>
              </a:rPr>
              <a:t>1</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个</a:t>
            </a:r>
            <a:r>
              <a:rPr lang="zh-CN" altLang="en-US" sz="2400" kern="100" dirty="0">
                <a:latin typeface="Calibri" panose="020F0502020204030204" pitchFamily="34" charset="0"/>
                <a:cs typeface="Times New Roman" panose="02020603050405020304" pitchFamily="2" charset="0"/>
              </a:rPr>
              <a:t>传统的逻辑数据模型包括</a:t>
            </a:r>
            <a:r>
              <a:rPr lang="en-US" altLang="zh-CN" sz="2400" kern="100" dirty="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latin typeface="Calibri" panose="020F0502020204030204" pitchFamily="34" charset="0"/>
                <a:cs typeface="Times New Roman" panose="02020603050405020304" pitchFamily="2" charset="0"/>
              </a:rPr>
              <a:t>    </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和 </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latin typeface="Calibri" panose="020F0502020204030204" pitchFamily="34" charset="0"/>
                <a:cs typeface="Times New Roman" panose="02020603050405020304" pitchFamily="2" charset="0"/>
              </a:rPr>
              <a:t>      </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lvl="0" algn="just">
              <a:lnSpc>
                <a:spcPct val="120000"/>
              </a:lnSpc>
              <a:spcAft>
                <a:spcPts val="0"/>
              </a:spcAft>
              <a:buNone/>
            </a:pPr>
            <a:r>
              <a:rPr lang="en-US" altLang="zh-CN" sz="2400" kern="100" dirty="0" smtClean="0">
                <a:latin typeface="Calibri" panose="020F0502020204030204" pitchFamily="34" charset="0"/>
                <a:cs typeface="Times New Roman" panose="02020603050405020304" pitchFamily="2" charset="0"/>
              </a:rPr>
              <a:t>2</a:t>
            </a:r>
            <a:r>
              <a:rPr lang="zh-CN" altLang="en-US"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列被称为关系数据库之父的是</a:t>
            </a:r>
            <a:r>
              <a:rPr lang="en-US" altLang="zh-CN" sz="2400" kern="100" dirty="0">
                <a:latin typeface="Calibri" panose="020F0502020204030204" pitchFamily="34" charset="0"/>
                <a:cs typeface="Times New Roman" panose="02020603050405020304" pitchFamily="2" charset="0"/>
              </a:rPr>
              <a:t>(     )</a:t>
            </a:r>
            <a:endParaRPr lang="en-US" altLang="zh-CN" sz="2400" kern="100" dirty="0">
              <a:latin typeface="Calibri" panose="020F0502020204030204" pitchFamily="34" charset="0"/>
              <a:cs typeface="Times New Roman" panose="02020603050405020304" pitchFamily="2" charset="0"/>
            </a:endParaRPr>
          </a:p>
          <a:p>
            <a:pPr lvl="0" algn="just">
              <a:lnSpc>
                <a:spcPct val="120000"/>
              </a:lnSpc>
              <a:spcAft>
                <a:spcPts val="0"/>
              </a:spcAft>
              <a:buNone/>
            </a:pPr>
            <a:r>
              <a:rPr lang="en-US" altLang="zh-CN" sz="2400" kern="100" dirty="0">
                <a:latin typeface="Calibri" panose="020F0502020204030204" pitchFamily="34" charset="0"/>
                <a:cs typeface="Times New Roman" panose="02020603050405020304" pitchFamily="2" charset="0"/>
              </a:rPr>
              <a:t>A</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Charles W. Bachman (</a:t>
            </a:r>
            <a:r>
              <a:rPr lang="zh-CN" altLang="en-US" sz="2400" kern="100" dirty="0">
                <a:latin typeface="Calibri" panose="020F0502020204030204" pitchFamily="34" charset="0"/>
                <a:cs typeface="Times New Roman" panose="02020603050405020304" pitchFamily="2" charset="0"/>
              </a:rPr>
              <a:t>查理士</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巴赫曼</a:t>
            </a:r>
            <a:r>
              <a:rPr lang="en-US" altLang="zh-CN"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lvl="0" algn="just">
              <a:lnSpc>
                <a:spcPct val="120000"/>
              </a:lnSpc>
              <a:spcAft>
                <a:spcPts val="0"/>
              </a:spcAft>
              <a:buNone/>
            </a:pPr>
            <a:r>
              <a:rPr lang="en-US" altLang="zh-CN" sz="2400" kern="100" dirty="0" smtClean="0">
                <a:latin typeface="Calibri" panose="020F0502020204030204" pitchFamily="34" charset="0"/>
                <a:cs typeface="Times New Roman" panose="02020603050405020304" pitchFamily="2" charset="0"/>
              </a:rPr>
              <a:t>B</a:t>
            </a:r>
            <a:r>
              <a:rPr lang="zh-CN" altLang="en-US" sz="2400" kern="100" dirty="0">
                <a:latin typeface="Calibri" panose="020F0502020204030204" pitchFamily="34" charset="0"/>
                <a:cs typeface="Times New Roman" panose="02020603050405020304" pitchFamily="2" charset="0"/>
              </a:rPr>
              <a:t>、</a:t>
            </a:r>
            <a:r>
              <a:rPr lang="en-US" altLang="zh-CN" sz="2400" kern="100" dirty="0" err="1">
                <a:latin typeface="Calibri" panose="020F0502020204030204" pitchFamily="34" charset="0"/>
                <a:cs typeface="Times New Roman" panose="02020603050405020304" pitchFamily="2" charset="0"/>
              </a:rPr>
              <a:t>E.F.Codd</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挨德加</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科德</a:t>
            </a:r>
            <a:r>
              <a:rPr lang="en-US" altLang="zh-CN" sz="2400" kern="100" dirty="0">
                <a:latin typeface="Calibri" panose="020F0502020204030204" pitchFamily="34" charset="0"/>
                <a:cs typeface="Times New Roman" panose="02020603050405020304" pitchFamily="2" charset="0"/>
              </a:rPr>
              <a:t>) </a:t>
            </a:r>
            <a:r>
              <a:rPr lang="en-US" altLang="zh-CN" sz="2400" kern="100" dirty="0" smtClean="0">
                <a:latin typeface="Calibri" panose="020F0502020204030204" pitchFamily="34" charset="0"/>
                <a:cs typeface="Times New Roman" panose="02020603050405020304" pitchFamily="2" charset="0"/>
              </a:rPr>
              <a:t>      C </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James Gray(</a:t>
            </a:r>
            <a:r>
              <a:rPr lang="zh-CN" altLang="en-US" sz="2400" kern="100" dirty="0">
                <a:latin typeface="Calibri" panose="020F0502020204030204" pitchFamily="34" charset="0"/>
                <a:cs typeface="Times New Roman" panose="02020603050405020304" pitchFamily="2" charset="0"/>
              </a:rPr>
              <a:t>詹姆士</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格雷</a:t>
            </a:r>
            <a:r>
              <a:rPr lang="en-US" altLang="zh-CN" sz="2400" kern="100" dirty="0" smtClean="0">
                <a:latin typeface="Calibri" panose="020F0502020204030204" pitchFamily="34" charset="0"/>
                <a:cs typeface="Times New Roman" panose="02020603050405020304" pitchFamily="2" charset="0"/>
              </a:rPr>
              <a:t>)</a:t>
            </a:r>
            <a:endParaRPr lang="en-US" altLang="zh-CN" sz="2400" kern="100" dirty="0" smtClean="0">
              <a:latin typeface="Calibri" panose="020F0502020204030204" pitchFamily="34" charset="0"/>
              <a:cs typeface="Times New Roman" panose="02020603050405020304" pitchFamily="2" charset="0"/>
            </a:endParaRPr>
          </a:p>
          <a:p>
            <a:pPr lvl="0" algn="just">
              <a:lnSpc>
                <a:spcPct val="120000"/>
              </a:lnSpc>
              <a:spcAft>
                <a:spcPts val="0"/>
              </a:spcAft>
              <a:buNone/>
            </a:pPr>
            <a:r>
              <a:rPr lang="en-US" altLang="zh-CN" sz="2400" kern="100" dirty="0" smtClean="0">
                <a:latin typeface="Calibri" panose="020F0502020204030204" pitchFamily="34" charset="0"/>
                <a:cs typeface="Times New Roman" panose="02020603050405020304" pitchFamily="2" charset="0"/>
              </a:rPr>
              <a:t>D</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Michael </a:t>
            </a:r>
            <a:r>
              <a:rPr lang="en-US" altLang="zh-CN" sz="2400" kern="100" dirty="0" err="1">
                <a:latin typeface="Calibri" panose="020F0502020204030204" pitchFamily="34" charset="0"/>
                <a:cs typeface="Times New Roman" panose="02020603050405020304" pitchFamily="2" charset="0"/>
              </a:rPr>
              <a:t>Stonebraker</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迈克尔</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斯通布雷克</a:t>
            </a:r>
            <a:r>
              <a:rPr lang="en-US" altLang="zh-CN"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lvl="0" algn="just">
              <a:lnSpc>
                <a:spcPct val="120000"/>
              </a:lnSpc>
              <a:spcAft>
                <a:spcPts val="0"/>
              </a:spcAft>
              <a:buNone/>
            </a:pP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smtClean="0">
                <a:latin typeface="Calibri" panose="020F0502020204030204" pitchFamily="34" charset="0"/>
                <a:cs typeface="Times New Roman" panose="02020603050405020304" pitchFamily="2" charset="0"/>
              </a:rPr>
              <a:t>(  </a:t>
            </a:r>
            <a:r>
              <a:rPr lang="en-US" altLang="zh-CN" sz="2400"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数据模型没有被商用</a:t>
            </a:r>
            <a:r>
              <a:rPr lang="en-US" altLang="zh-CN" sz="2400" kern="100" dirty="0">
                <a:latin typeface="Calibri" panose="020F0502020204030204" pitchFamily="34" charset="0"/>
                <a:cs typeface="Times New Roman" panose="02020603050405020304" pitchFamily="2" charset="0"/>
              </a:rPr>
              <a:t>DBMS</a:t>
            </a:r>
            <a:r>
              <a:rPr lang="zh-CN" altLang="en-US" sz="2400" kern="100" dirty="0">
                <a:latin typeface="Calibri" panose="020F0502020204030204" pitchFamily="34" charset="0"/>
                <a:cs typeface="Times New Roman" panose="02020603050405020304" pitchFamily="2" charset="0"/>
              </a:rPr>
              <a:t>实现</a:t>
            </a:r>
            <a:r>
              <a:rPr lang="zh-CN" altLang="en-US" sz="2400" kern="100" dirty="0" smtClean="0">
                <a:latin typeface="Calibri" panose="020F0502020204030204" pitchFamily="34" charset="0"/>
                <a:cs typeface="Times New Roman" panose="02020603050405020304" pitchFamily="2" charset="0"/>
              </a:rPr>
              <a:t>。</a:t>
            </a:r>
            <a:endParaRPr lang="en-US" altLang="zh-CN" sz="2400" kern="100" dirty="0" smtClean="0">
              <a:latin typeface="Calibri" panose="020F0502020204030204" pitchFamily="34" charset="0"/>
              <a:cs typeface="Times New Roman" panose="02020603050405020304" pitchFamily="2" charset="0"/>
            </a:endParaRPr>
          </a:p>
          <a:p>
            <a:pPr algn="just">
              <a:lnSpc>
                <a:spcPct val="120000"/>
              </a:lnSpc>
              <a:spcAft>
                <a:spcPts val="0"/>
              </a:spcAft>
              <a:buNone/>
            </a:pPr>
            <a:r>
              <a:rPr lang="en-US" altLang="zh-CN" sz="2400" kern="100" dirty="0">
                <a:latin typeface="Calibri" panose="020F0502020204030204" pitchFamily="34" charset="0"/>
                <a:cs typeface="Times New Roman" panose="02020603050405020304" pitchFamily="2" charset="0"/>
              </a:rPr>
              <a:t>A</a:t>
            </a:r>
            <a:r>
              <a:rPr lang="zh-CN" altLang="en-US" sz="2400" kern="100" dirty="0" smtClean="0">
                <a:latin typeface="Calibri" panose="020F0502020204030204" pitchFamily="34" charset="0"/>
                <a:cs typeface="Times New Roman" panose="02020603050405020304" pitchFamily="2" charset="0"/>
              </a:rPr>
              <a:t>、关系模型       </a:t>
            </a:r>
            <a:r>
              <a:rPr lang="en-US" altLang="zh-CN" sz="2400" kern="100" dirty="0" smtClean="0">
                <a:latin typeface="Calibri" panose="020F0502020204030204" pitchFamily="34" charset="0"/>
                <a:cs typeface="Times New Roman" panose="02020603050405020304" pitchFamily="2" charset="0"/>
              </a:rPr>
              <a:t>B</a:t>
            </a:r>
            <a:r>
              <a:rPr lang="zh-CN" altLang="en-US"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层次</a:t>
            </a:r>
            <a:r>
              <a:rPr lang="zh-CN" altLang="en-US" sz="2400" kern="100" dirty="0" smtClean="0">
                <a:latin typeface="Calibri" panose="020F0502020204030204" pitchFamily="34" charset="0"/>
                <a:cs typeface="Times New Roman" panose="02020603050405020304" pitchFamily="2" charset="0"/>
              </a:rPr>
              <a:t>模型       </a:t>
            </a:r>
            <a:r>
              <a:rPr lang="en-US" altLang="zh-CN" sz="2400" kern="100" dirty="0" smtClean="0">
                <a:latin typeface="Calibri" panose="020F0502020204030204" pitchFamily="34" charset="0"/>
                <a:cs typeface="Times New Roman" panose="02020603050405020304" pitchFamily="2" charset="0"/>
              </a:rPr>
              <a:t>C</a:t>
            </a:r>
            <a:r>
              <a:rPr lang="zh-CN" altLang="en-US" sz="2400" kern="100" dirty="0" smtClean="0">
                <a:latin typeface="Calibri" panose="020F0502020204030204" pitchFamily="34" charset="0"/>
                <a:cs typeface="Times New Roman" panose="02020603050405020304" pitchFamily="2" charset="0"/>
              </a:rPr>
              <a:t>、网状模型      </a:t>
            </a:r>
            <a:r>
              <a:rPr lang="en-US" altLang="zh-CN" sz="2400" kern="100" dirty="0" smtClean="0">
                <a:latin typeface="Calibri" panose="020F0502020204030204" pitchFamily="34" charset="0"/>
                <a:cs typeface="Times New Roman" panose="02020603050405020304" pitchFamily="2" charset="0"/>
              </a:rPr>
              <a:t>D</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smtClean="0">
                <a:latin typeface="Calibri" panose="020F0502020204030204" pitchFamily="34" charset="0"/>
                <a:cs typeface="Times New Roman" panose="02020603050405020304" pitchFamily="2" charset="0"/>
              </a:rPr>
              <a:t>E-R</a:t>
            </a:r>
            <a:r>
              <a:rPr lang="zh-CN" altLang="en-US" sz="2400" kern="100" dirty="0" smtClean="0">
                <a:latin typeface="Calibri" panose="020F0502020204030204" pitchFamily="34" charset="0"/>
                <a:cs typeface="Times New Roman" panose="02020603050405020304" pitchFamily="2" charset="0"/>
              </a:rPr>
              <a:t>模型</a:t>
            </a:r>
            <a:endParaRPr lang="en-US" altLang="zh-CN" sz="2400" kern="100" dirty="0" smtClean="0">
              <a:latin typeface="Calibri" panose="020F0502020204030204" pitchFamily="34" charset="0"/>
              <a:cs typeface="Times New Roman" panose="02020603050405020304" pitchFamily="2" charset="0"/>
            </a:endParaRPr>
          </a:p>
          <a:p>
            <a:pPr algn="just">
              <a:lnSpc>
                <a:spcPct val="120000"/>
              </a:lnSpc>
              <a:spcAft>
                <a:spcPts val="0"/>
              </a:spcAft>
              <a:buNone/>
            </a:pPr>
            <a:r>
              <a:rPr lang="en-US" altLang="zh-CN" sz="2400" kern="100" dirty="0" smtClean="0">
                <a:latin typeface="Calibri" panose="020F0502020204030204" pitchFamily="34" charset="0"/>
                <a:cs typeface="Times New Roman" panose="02020603050405020304" pitchFamily="2" charset="0"/>
              </a:rPr>
              <a:t>4</a:t>
            </a:r>
            <a:r>
              <a:rPr lang="zh-CN" altLang="en-US" sz="2400" kern="100" dirty="0" smtClean="0">
                <a:latin typeface="Calibri" panose="020F0502020204030204" pitchFamily="34" charset="0"/>
                <a:cs typeface="Times New Roman" panose="02020603050405020304" pitchFamily="2" charset="0"/>
              </a:rPr>
              <a:t>、划分层次型、网状型和关系型数据库的原则是（         ）</a:t>
            </a:r>
            <a:endParaRPr lang="en-US" altLang="zh-CN" sz="2400" kern="100" dirty="0" smtClean="0">
              <a:latin typeface="Calibri" panose="020F0502020204030204" pitchFamily="34" charset="0"/>
              <a:cs typeface="Times New Roman" panose="02020603050405020304" pitchFamily="2" charset="0"/>
            </a:endParaRPr>
          </a:p>
          <a:p>
            <a:pPr algn="just">
              <a:lnSpc>
                <a:spcPct val="120000"/>
              </a:lnSpc>
              <a:spcAft>
                <a:spcPts val="0"/>
              </a:spcAft>
              <a:buNone/>
            </a:pPr>
            <a:r>
              <a:rPr lang="en-US" altLang="zh-CN" sz="2200" kern="100" dirty="0" smtClean="0">
                <a:latin typeface="Calibri" panose="020F0502020204030204" pitchFamily="34" charset="0"/>
                <a:cs typeface="Times New Roman" panose="02020603050405020304" pitchFamily="2" charset="0"/>
              </a:rPr>
              <a:t>A</a:t>
            </a:r>
            <a:r>
              <a:rPr lang="zh-CN" altLang="en-US" sz="2200" kern="100" dirty="0" smtClean="0">
                <a:latin typeface="Calibri" panose="020F0502020204030204" pitchFamily="34" charset="0"/>
                <a:cs typeface="Times New Roman" panose="02020603050405020304" pitchFamily="2" charset="0"/>
              </a:rPr>
              <a:t>、记录额长度                 </a:t>
            </a:r>
            <a:r>
              <a:rPr lang="en-US" altLang="zh-CN" sz="2200" kern="100" dirty="0" smtClean="0">
                <a:latin typeface="Calibri" panose="020F0502020204030204" pitchFamily="34" charset="0"/>
                <a:cs typeface="Times New Roman" panose="02020603050405020304" pitchFamily="2" charset="0"/>
              </a:rPr>
              <a:t>B</a:t>
            </a:r>
            <a:r>
              <a:rPr lang="zh-CN" altLang="en-US" sz="2200" kern="100" dirty="0" smtClean="0">
                <a:latin typeface="Calibri" panose="020F0502020204030204" pitchFamily="34" charset="0"/>
                <a:cs typeface="Times New Roman" panose="02020603050405020304" pitchFamily="2" charset="0"/>
              </a:rPr>
              <a:t>、文件的大小       </a:t>
            </a:r>
            <a:endParaRPr lang="en-US" altLang="zh-CN" sz="2200" kern="100" dirty="0" smtClean="0">
              <a:latin typeface="Calibri" panose="020F0502020204030204" pitchFamily="34" charset="0"/>
              <a:cs typeface="Times New Roman" panose="02020603050405020304" pitchFamily="2" charset="0"/>
            </a:endParaRPr>
          </a:p>
          <a:p>
            <a:pPr algn="just">
              <a:lnSpc>
                <a:spcPct val="120000"/>
              </a:lnSpc>
              <a:spcAft>
                <a:spcPts val="0"/>
              </a:spcAft>
              <a:buNone/>
            </a:pPr>
            <a:r>
              <a:rPr lang="en-US" altLang="zh-CN" sz="2200" kern="100" dirty="0" smtClean="0">
                <a:latin typeface="Calibri" panose="020F0502020204030204" pitchFamily="34" charset="0"/>
                <a:cs typeface="Times New Roman" panose="02020603050405020304" pitchFamily="2" charset="0"/>
              </a:rPr>
              <a:t>C</a:t>
            </a:r>
            <a:r>
              <a:rPr lang="zh-CN" altLang="en-US" sz="2200" kern="100" dirty="0" smtClean="0">
                <a:latin typeface="Calibri" panose="020F0502020204030204" pitchFamily="34" charset="0"/>
                <a:cs typeface="Times New Roman" panose="02020603050405020304" pitchFamily="2" charset="0"/>
              </a:rPr>
              <a:t>、联系的复杂程度        </a:t>
            </a:r>
            <a:r>
              <a:rPr lang="en-US" altLang="zh-CN" sz="2200" kern="100" dirty="0" smtClean="0">
                <a:latin typeface="Calibri" panose="020F0502020204030204" pitchFamily="34" charset="0"/>
                <a:cs typeface="Times New Roman" panose="02020603050405020304" pitchFamily="2" charset="0"/>
              </a:rPr>
              <a:t>D</a:t>
            </a:r>
            <a:r>
              <a:rPr lang="zh-CN" altLang="en-US" sz="2200" kern="100" dirty="0" smtClean="0">
                <a:latin typeface="Calibri" panose="020F0502020204030204" pitchFamily="34" charset="0"/>
                <a:cs typeface="Times New Roman" panose="02020603050405020304" pitchFamily="2" charset="0"/>
              </a:rPr>
              <a:t>、数据及联系的表示方法</a:t>
            </a:r>
            <a:endParaRPr lang="en-US" altLang="zh-CN" sz="2200" kern="100" dirty="0">
              <a:latin typeface="Calibri" panose="020F0502020204030204" pitchFamily="34" charset="0"/>
              <a:cs typeface="Times New Roman" panose="02020603050405020304" pitchFamily="2" charset="0"/>
            </a:endParaRPr>
          </a:p>
          <a:p>
            <a:pPr lvl="0" algn="just">
              <a:lnSpc>
                <a:spcPct val="120000"/>
              </a:lnSpc>
              <a:spcAft>
                <a:spcPts val="0"/>
              </a:spcAft>
              <a:buNone/>
            </a:pPr>
            <a:r>
              <a:rPr lang="en-US" altLang="zh-CN" sz="2400" kern="100" dirty="0" smtClean="0">
                <a:latin typeface="Calibri" panose="020F0502020204030204" pitchFamily="34" charset="0"/>
                <a:cs typeface="Times New Roman" panose="02020603050405020304" pitchFamily="2" charset="0"/>
              </a:rPr>
              <a:t>5</a:t>
            </a:r>
            <a:r>
              <a:rPr lang="zh-CN" altLang="en-US"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简述</a:t>
            </a:r>
            <a:r>
              <a:rPr lang="en-US" altLang="zh-CN" sz="2400" kern="100" dirty="0">
                <a:latin typeface="Calibri" panose="020F0502020204030204" pitchFamily="34" charset="0"/>
                <a:cs typeface="Times New Roman" panose="02020603050405020304" pitchFamily="2" charset="0"/>
              </a:rPr>
              <a:t>OLTP</a:t>
            </a:r>
            <a:r>
              <a:rPr lang="zh-CN" altLang="en-US" sz="2400" kern="100" dirty="0">
                <a:latin typeface="Calibri" panose="020F0502020204030204" pitchFamily="34" charset="0"/>
                <a:cs typeface="Times New Roman" panose="02020603050405020304" pitchFamily="2" charset="0"/>
              </a:rPr>
              <a:t>与</a:t>
            </a:r>
            <a:r>
              <a:rPr lang="en-US" altLang="zh-CN" sz="2400" kern="100" dirty="0">
                <a:latin typeface="Calibri" panose="020F0502020204030204" pitchFamily="34" charset="0"/>
                <a:cs typeface="Times New Roman" panose="02020603050405020304" pitchFamily="2" charset="0"/>
              </a:rPr>
              <a:t>OLAP</a:t>
            </a:r>
            <a:r>
              <a:rPr lang="zh-CN" altLang="en-US" sz="2400" kern="100" dirty="0">
                <a:latin typeface="Calibri" panose="020F0502020204030204" pitchFamily="34" charset="0"/>
                <a:cs typeface="Times New Roman" panose="02020603050405020304" pitchFamily="2" charset="0"/>
              </a:rPr>
              <a:t>的</a:t>
            </a:r>
            <a:r>
              <a:rPr lang="zh-CN" altLang="en-US" sz="2400" kern="100" dirty="0" smtClean="0">
                <a:latin typeface="Calibri" panose="020F0502020204030204" pitchFamily="34" charset="0"/>
                <a:cs typeface="Times New Roman" panose="02020603050405020304" pitchFamily="2" charset="0"/>
              </a:rPr>
              <a:t>区别。</a:t>
            </a:r>
            <a:endParaRPr lang="en-US" altLang="zh-CN" sz="2400" kern="100" dirty="0">
              <a:latin typeface="Calibri" panose="020F0502020204030204" pitchFamily="34" charset="0"/>
              <a:cs typeface="Times New Roman" panose="02020603050405020304" pitchFamily="2" charset="0"/>
            </a:endParaRPr>
          </a:p>
        </p:txBody>
      </p:sp>
      <p:sp>
        <p:nvSpPr>
          <p:cNvPr id="5"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62982" y="751632"/>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知识点小测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5" name="矩形 4"/>
          <p:cNvSpPr/>
          <p:nvPr/>
        </p:nvSpPr>
        <p:spPr>
          <a:xfrm>
            <a:off x="486915" y="1475421"/>
            <a:ext cx="8383114" cy="1137106"/>
          </a:xfrm>
          <a:prstGeom prst="rect">
            <a:avLst/>
          </a:prstGeom>
        </p:spPr>
        <p:txBody>
          <a:bodyPr wrap="square">
            <a:spAutoFit/>
          </a:bodyPr>
          <a:lstStyle/>
          <a:p>
            <a:pPr algn="just">
              <a:lnSpc>
                <a:spcPct val="150000"/>
              </a:lnSpc>
              <a:spcAft>
                <a:spcPts val="0"/>
              </a:spcAft>
              <a:buNone/>
            </a:pPr>
            <a:r>
              <a:rPr lang="en-US" altLang="zh-CN" sz="2400" kern="100" dirty="0" smtClean="0">
                <a:latin typeface="Calibri" panose="020F0502020204030204" pitchFamily="34" charset="0"/>
                <a:cs typeface="Times New Roman" panose="02020603050405020304" pitchFamily="2" charset="0"/>
              </a:rPr>
              <a:t>1</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个</a:t>
            </a:r>
            <a:r>
              <a:rPr lang="zh-CN" altLang="en-US" sz="2400" kern="100" dirty="0">
                <a:latin typeface="Calibri" panose="020F0502020204030204" pitchFamily="34" charset="0"/>
                <a:cs typeface="Times New Roman" panose="02020603050405020304" pitchFamily="2" charset="0"/>
              </a:rPr>
              <a:t>传统的逻辑数据模型包括</a:t>
            </a:r>
            <a:r>
              <a:rPr lang="en-US" altLang="zh-CN" sz="2400" kern="100" dirty="0" smtClean="0">
                <a:latin typeface="Calibri" panose="020F0502020204030204" pitchFamily="34" charset="0"/>
                <a:cs typeface="Times New Roman" panose="02020603050405020304" pitchFamily="2" charset="0"/>
              </a:rPr>
              <a:t>:</a:t>
            </a:r>
            <a:r>
              <a:rPr lang="en-US" altLang="zh-CN" sz="2400" u="sng" kern="100" dirty="0" smtClean="0">
                <a:latin typeface="Calibri" panose="020F0502020204030204" pitchFamily="34" charset="0"/>
                <a:cs typeface="Times New Roman" panose="02020603050405020304" pitchFamily="2" charset="0"/>
              </a:rPr>
              <a:t>  </a:t>
            </a:r>
            <a:r>
              <a:rPr lang="zh-CN" altLang="en-US" sz="2400" u="sng" kern="100" dirty="0" smtClean="0">
                <a:solidFill>
                  <a:srgbClr val="FF0000"/>
                </a:solidFill>
                <a:latin typeface="Calibri" panose="020F0502020204030204" pitchFamily="34" charset="0"/>
                <a:cs typeface="Times New Roman" panose="02020603050405020304" pitchFamily="2" charset="0"/>
              </a:rPr>
              <a:t>层次数据模型</a:t>
            </a:r>
            <a:r>
              <a:rPr lang="zh-CN" altLang="en-US" sz="2400" u="sng" kern="100" dirty="0" smtClean="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solidFill>
                  <a:srgbClr val="FF0000"/>
                </a:solidFill>
                <a:latin typeface="Calibri" panose="020F0502020204030204" pitchFamily="34" charset="0"/>
                <a:cs typeface="Times New Roman" panose="02020603050405020304" pitchFamily="2" charset="0"/>
              </a:rPr>
              <a:t>网状数据模型</a:t>
            </a:r>
            <a:r>
              <a:rPr lang="zh-CN" altLang="en-US" sz="2400" u="sng" kern="100" dirty="0" smtClean="0">
                <a:latin typeface="Calibri" panose="020F0502020204030204" pitchFamily="34" charset="0"/>
                <a:cs typeface="Times New Roman" panose="02020603050405020304" pitchFamily="2" charset="0"/>
              </a:rPr>
              <a:t> </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和 </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solidFill>
                  <a:srgbClr val="FF0000"/>
                </a:solidFill>
                <a:latin typeface="Calibri" panose="020F0502020204030204" pitchFamily="34" charset="0"/>
                <a:cs typeface="Times New Roman" panose="02020603050405020304" pitchFamily="2" charset="0"/>
              </a:rPr>
              <a:t>关系数据模型</a:t>
            </a:r>
            <a:r>
              <a:rPr lang="zh-CN" altLang="en-US" sz="2400" u="sng" kern="100" dirty="0" smtClean="0">
                <a:latin typeface="Calibri" panose="020F0502020204030204" pitchFamily="34" charset="0"/>
                <a:cs typeface="Times New Roman" panose="02020603050405020304" pitchFamily="2" charset="0"/>
              </a:rPr>
              <a:t> </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p:txBody>
      </p:sp>
      <p:sp>
        <p:nvSpPr>
          <p:cNvPr id="4" name="矩形 3"/>
          <p:cNvSpPr/>
          <p:nvPr/>
        </p:nvSpPr>
        <p:spPr>
          <a:xfrm>
            <a:off x="639315" y="5086819"/>
            <a:ext cx="8383114" cy="1438855"/>
          </a:xfrm>
          <a:prstGeom prst="rect">
            <a:avLst/>
          </a:prstGeom>
        </p:spPr>
        <p:txBody>
          <a:bodyPr wrap="square">
            <a:spAutoFit/>
          </a:bodyPr>
          <a:lstStyle/>
          <a:p>
            <a:pPr lvl="0" algn="just">
              <a:lnSpc>
                <a:spcPct val="125000"/>
              </a:lnSpc>
              <a:spcAft>
                <a:spcPts val="0"/>
              </a:spcAft>
              <a:buNone/>
            </a:pP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smtClean="0">
                <a:latin typeface="Calibri" panose="020F0502020204030204" pitchFamily="34" charset="0"/>
                <a:cs typeface="Times New Roman" panose="02020603050405020304" pitchFamily="2" charset="0"/>
              </a:rPr>
              <a:t>(  </a:t>
            </a:r>
            <a:r>
              <a:rPr lang="en-US" altLang="zh-CN" sz="2400" kern="100" dirty="0">
                <a:latin typeface="Calibri" panose="020F0502020204030204" pitchFamily="34" charset="0"/>
                <a:cs typeface="Times New Roman" panose="02020603050405020304" pitchFamily="2" charset="0"/>
              </a:rPr>
              <a:t> </a:t>
            </a:r>
            <a:r>
              <a:rPr lang="en-US" altLang="zh-CN" sz="2400" kern="100" dirty="0" smtClean="0">
                <a:solidFill>
                  <a:srgbClr val="FF0000"/>
                </a:solidFill>
                <a:latin typeface="Calibri" panose="020F0502020204030204" pitchFamily="34" charset="0"/>
                <a:cs typeface="Times New Roman" panose="02020603050405020304" pitchFamily="2" charset="0"/>
              </a:rPr>
              <a:t>D  </a:t>
            </a:r>
            <a:r>
              <a:rPr lang="en-US" altLang="zh-CN"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数据模型没有被商用</a:t>
            </a:r>
            <a:r>
              <a:rPr lang="en-US" altLang="zh-CN" sz="2400" kern="100" dirty="0">
                <a:latin typeface="Calibri" panose="020F0502020204030204" pitchFamily="34" charset="0"/>
                <a:cs typeface="Times New Roman" panose="02020603050405020304" pitchFamily="2" charset="0"/>
              </a:rPr>
              <a:t>DBMS</a:t>
            </a:r>
            <a:r>
              <a:rPr lang="zh-CN" altLang="en-US" sz="2400" kern="100" dirty="0">
                <a:latin typeface="Calibri" panose="020F0502020204030204" pitchFamily="34" charset="0"/>
                <a:cs typeface="Times New Roman" panose="02020603050405020304" pitchFamily="2" charset="0"/>
              </a:rPr>
              <a:t>实现</a:t>
            </a:r>
            <a:r>
              <a:rPr lang="zh-CN" altLang="en-US" sz="2400" kern="100" dirty="0" smtClean="0">
                <a:latin typeface="Calibri" panose="020F0502020204030204" pitchFamily="34" charset="0"/>
                <a:cs typeface="Times New Roman" panose="02020603050405020304" pitchFamily="2" charset="0"/>
              </a:rPr>
              <a:t>。</a:t>
            </a:r>
            <a:endParaRPr lang="en-US" altLang="zh-CN" sz="2400" kern="100" dirty="0" smtClean="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400" kern="100" dirty="0">
                <a:latin typeface="Calibri" panose="020F0502020204030204" pitchFamily="34" charset="0"/>
                <a:cs typeface="Times New Roman" panose="02020603050405020304" pitchFamily="2" charset="0"/>
              </a:rPr>
              <a:t>A</a:t>
            </a:r>
            <a:r>
              <a:rPr lang="zh-CN" altLang="en-US" sz="2400" kern="100" dirty="0" smtClean="0">
                <a:latin typeface="Calibri" panose="020F0502020204030204" pitchFamily="34" charset="0"/>
                <a:cs typeface="Times New Roman" panose="02020603050405020304" pitchFamily="2" charset="0"/>
              </a:rPr>
              <a:t>、关系模型       </a:t>
            </a:r>
            <a:r>
              <a:rPr lang="en-US" altLang="zh-CN" sz="2400" kern="100" dirty="0" smtClean="0">
                <a:latin typeface="Calibri" panose="020F0502020204030204" pitchFamily="34" charset="0"/>
                <a:cs typeface="Times New Roman" panose="02020603050405020304" pitchFamily="2" charset="0"/>
              </a:rPr>
              <a:t>B</a:t>
            </a:r>
            <a:r>
              <a:rPr lang="zh-CN" altLang="en-US"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层次</a:t>
            </a:r>
            <a:r>
              <a:rPr lang="zh-CN" altLang="en-US" sz="2400" kern="100" dirty="0" smtClean="0">
                <a:latin typeface="Calibri" panose="020F0502020204030204" pitchFamily="34" charset="0"/>
                <a:cs typeface="Times New Roman" panose="02020603050405020304" pitchFamily="2" charset="0"/>
              </a:rPr>
              <a:t>模型       </a:t>
            </a:r>
            <a:r>
              <a:rPr lang="en-US" altLang="zh-CN" sz="2400" kern="100" dirty="0" smtClean="0">
                <a:latin typeface="Calibri" panose="020F0502020204030204" pitchFamily="34" charset="0"/>
                <a:cs typeface="Times New Roman" panose="02020603050405020304" pitchFamily="2" charset="0"/>
              </a:rPr>
              <a:t>C</a:t>
            </a:r>
            <a:r>
              <a:rPr lang="zh-CN" altLang="en-US" sz="2400" kern="100" dirty="0" smtClean="0">
                <a:latin typeface="Calibri" panose="020F0502020204030204" pitchFamily="34" charset="0"/>
                <a:cs typeface="Times New Roman" panose="02020603050405020304" pitchFamily="2" charset="0"/>
              </a:rPr>
              <a:t>、网状模型      </a:t>
            </a:r>
            <a:r>
              <a:rPr lang="en-US" altLang="zh-CN" sz="2400" kern="100" dirty="0" smtClean="0">
                <a:latin typeface="Calibri" panose="020F0502020204030204" pitchFamily="34" charset="0"/>
                <a:cs typeface="Times New Roman" panose="02020603050405020304" pitchFamily="2" charset="0"/>
              </a:rPr>
              <a:t>D</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smtClean="0">
                <a:latin typeface="Calibri" panose="020F0502020204030204" pitchFamily="34" charset="0"/>
                <a:cs typeface="Times New Roman" panose="02020603050405020304" pitchFamily="2" charset="0"/>
              </a:rPr>
              <a:t>E-R</a:t>
            </a:r>
            <a:r>
              <a:rPr lang="zh-CN" altLang="en-US" sz="2400" kern="100" dirty="0" smtClean="0">
                <a:latin typeface="Calibri" panose="020F0502020204030204" pitchFamily="34" charset="0"/>
                <a:cs typeface="Times New Roman" panose="02020603050405020304" pitchFamily="2" charset="0"/>
              </a:rPr>
              <a:t>模型</a:t>
            </a:r>
            <a:endParaRPr lang="en-US" altLang="zh-CN" sz="2400" kern="100" dirty="0" smtClean="0">
              <a:latin typeface="Calibri" panose="020F0502020204030204" pitchFamily="34" charset="0"/>
              <a:cs typeface="Times New Roman" panose="02020603050405020304" pitchFamily="2" charset="0"/>
            </a:endParaRPr>
          </a:p>
          <a:p>
            <a:pPr algn="just">
              <a:lnSpc>
                <a:spcPct val="125000"/>
              </a:lnSpc>
              <a:spcAft>
                <a:spcPts val="0"/>
              </a:spcAft>
              <a:buNone/>
            </a:pPr>
            <a:endParaRPr lang="en-US" altLang="zh-CN" sz="2200" kern="100" dirty="0">
              <a:latin typeface="Calibri" panose="020F0502020204030204" pitchFamily="34" charset="0"/>
              <a:cs typeface="Times New Roman" panose="02020603050405020304" pitchFamily="2" charset="0"/>
            </a:endParaRPr>
          </a:p>
        </p:txBody>
      </p:sp>
      <p:sp>
        <p:nvSpPr>
          <p:cNvPr id="6" name="矩形 5"/>
          <p:cNvSpPr/>
          <p:nvPr/>
        </p:nvSpPr>
        <p:spPr>
          <a:xfrm>
            <a:off x="639315" y="2764927"/>
            <a:ext cx="8383114" cy="2400657"/>
          </a:xfrm>
          <a:prstGeom prst="rect">
            <a:avLst/>
          </a:prstGeom>
        </p:spPr>
        <p:txBody>
          <a:bodyPr wrap="square">
            <a:spAutoFit/>
          </a:bodyPr>
          <a:lstStyle/>
          <a:p>
            <a:pPr lvl="0" algn="just">
              <a:lnSpc>
                <a:spcPct val="125000"/>
              </a:lnSpc>
              <a:spcAft>
                <a:spcPts val="0"/>
              </a:spcAft>
              <a:buNone/>
            </a:pPr>
            <a:r>
              <a:rPr lang="en-US" altLang="zh-CN" sz="2400" kern="100" dirty="0" smtClean="0">
                <a:latin typeface="Calibri" panose="020F0502020204030204" pitchFamily="34" charset="0"/>
                <a:cs typeface="Times New Roman" panose="02020603050405020304" pitchFamily="2" charset="0"/>
              </a:rPr>
              <a:t>2</a:t>
            </a:r>
            <a:r>
              <a:rPr lang="zh-CN" altLang="en-US"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列被称为关系数据库之父的是</a:t>
            </a:r>
            <a:r>
              <a:rPr lang="en-US" altLang="zh-CN" sz="2400" kern="100" dirty="0">
                <a:latin typeface="Calibri" panose="020F0502020204030204" pitchFamily="34" charset="0"/>
                <a:cs typeface="Times New Roman" panose="02020603050405020304" pitchFamily="2" charset="0"/>
              </a:rPr>
              <a:t>(  </a:t>
            </a:r>
            <a:r>
              <a:rPr lang="en-US" altLang="zh-CN" sz="2400" kern="100" dirty="0" smtClean="0">
                <a:solidFill>
                  <a:srgbClr val="FF0000"/>
                </a:solidFill>
                <a:latin typeface="Calibri" panose="020F0502020204030204" pitchFamily="34" charset="0"/>
                <a:cs typeface="Times New Roman" panose="02020603050405020304" pitchFamily="2" charset="0"/>
              </a:rPr>
              <a:t>B </a:t>
            </a:r>
            <a:r>
              <a:rPr lang="en-US" altLang="zh-CN" sz="2400" kern="100" dirty="0" smtClean="0">
                <a:latin typeface="Calibri" panose="020F0502020204030204" pitchFamily="34" charset="0"/>
                <a:cs typeface="Times New Roman" panose="02020603050405020304" pitchFamily="2" charset="0"/>
              </a:rPr>
              <a:t> </a:t>
            </a:r>
            <a:r>
              <a:rPr lang="en-US" altLang="zh-CN" sz="2400" kern="100" dirty="0">
                <a:latin typeface="Calibri" panose="020F0502020204030204" pitchFamily="34" charset="0"/>
                <a:cs typeface="Times New Roman" panose="02020603050405020304" pitchFamily="2" charset="0"/>
              </a:rPr>
              <a:t> )</a:t>
            </a:r>
            <a:endParaRPr lang="en-US" altLang="zh-CN" sz="2400" kern="100" dirty="0">
              <a:latin typeface="Calibri" panose="020F0502020204030204" pitchFamily="34" charset="0"/>
              <a:cs typeface="Times New Roman" panose="02020603050405020304" pitchFamily="2" charset="0"/>
            </a:endParaRPr>
          </a:p>
          <a:p>
            <a:pPr lvl="0" algn="just">
              <a:lnSpc>
                <a:spcPct val="125000"/>
              </a:lnSpc>
              <a:spcAft>
                <a:spcPts val="0"/>
              </a:spcAft>
              <a:buNone/>
            </a:pPr>
            <a:r>
              <a:rPr lang="en-US" altLang="zh-CN" sz="2400" kern="100" dirty="0">
                <a:latin typeface="Calibri" panose="020F0502020204030204" pitchFamily="34" charset="0"/>
                <a:cs typeface="Times New Roman" panose="02020603050405020304" pitchFamily="2" charset="0"/>
              </a:rPr>
              <a:t>A</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Charles W. Bachman (</a:t>
            </a:r>
            <a:r>
              <a:rPr lang="zh-CN" altLang="en-US" sz="2400" kern="100" dirty="0">
                <a:latin typeface="Calibri" panose="020F0502020204030204" pitchFamily="34" charset="0"/>
                <a:cs typeface="Times New Roman" panose="02020603050405020304" pitchFamily="2" charset="0"/>
              </a:rPr>
              <a:t>查理士</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巴赫曼</a:t>
            </a:r>
            <a:r>
              <a:rPr lang="en-US" altLang="zh-CN"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lvl="0" algn="just">
              <a:lnSpc>
                <a:spcPct val="125000"/>
              </a:lnSpc>
              <a:spcAft>
                <a:spcPts val="0"/>
              </a:spcAft>
              <a:buNone/>
            </a:pPr>
            <a:r>
              <a:rPr lang="en-US" altLang="zh-CN" sz="2400" kern="100" dirty="0" smtClean="0">
                <a:latin typeface="Calibri" panose="020F0502020204030204" pitchFamily="34" charset="0"/>
                <a:cs typeface="Times New Roman" panose="02020603050405020304" pitchFamily="2" charset="0"/>
              </a:rPr>
              <a:t>B</a:t>
            </a:r>
            <a:r>
              <a:rPr lang="zh-CN" altLang="en-US" sz="2400" kern="100" dirty="0">
                <a:latin typeface="Calibri" panose="020F0502020204030204" pitchFamily="34" charset="0"/>
                <a:cs typeface="Times New Roman" panose="02020603050405020304" pitchFamily="2" charset="0"/>
              </a:rPr>
              <a:t>、</a:t>
            </a:r>
            <a:r>
              <a:rPr lang="en-US" altLang="zh-CN" sz="2400" kern="100" dirty="0" err="1">
                <a:latin typeface="Calibri" panose="020F0502020204030204" pitchFamily="34" charset="0"/>
                <a:cs typeface="Times New Roman" panose="02020603050405020304" pitchFamily="2" charset="0"/>
              </a:rPr>
              <a:t>E.F.Codd</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挨德加</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科德</a:t>
            </a:r>
            <a:r>
              <a:rPr lang="en-US" altLang="zh-CN" sz="2400" kern="100" dirty="0">
                <a:latin typeface="Calibri" panose="020F0502020204030204" pitchFamily="34" charset="0"/>
                <a:cs typeface="Times New Roman" panose="02020603050405020304" pitchFamily="2" charset="0"/>
              </a:rPr>
              <a:t>) </a:t>
            </a:r>
            <a:r>
              <a:rPr lang="en-US" altLang="zh-CN" sz="2400" kern="100" dirty="0" smtClean="0">
                <a:latin typeface="Calibri" panose="020F0502020204030204" pitchFamily="34" charset="0"/>
                <a:cs typeface="Times New Roman" panose="02020603050405020304" pitchFamily="2" charset="0"/>
              </a:rPr>
              <a:t>     </a:t>
            </a:r>
            <a:endParaRPr lang="en-US" altLang="zh-CN" sz="2400" kern="100" dirty="0" smtClean="0">
              <a:latin typeface="Calibri" panose="020F0502020204030204" pitchFamily="34" charset="0"/>
              <a:cs typeface="Times New Roman" panose="02020603050405020304" pitchFamily="2" charset="0"/>
            </a:endParaRPr>
          </a:p>
          <a:p>
            <a:pPr lvl="0" algn="just">
              <a:lnSpc>
                <a:spcPct val="125000"/>
              </a:lnSpc>
              <a:spcAft>
                <a:spcPts val="0"/>
              </a:spcAft>
              <a:buNone/>
            </a:pPr>
            <a:r>
              <a:rPr lang="en-US" altLang="zh-CN" sz="2400" kern="100" dirty="0" smtClean="0">
                <a:latin typeface="Calibri" panose="020F0502020204030204" pitchFamily="34" charset="0"/>
                <a:cs typeface="Times New Roman" panose="02020603050405020304" pitchFamily="2" charset="0"/>
              </a:rPr>
              <a:t>C </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James Gray(</a:t>
            </a:r>
            <a:r>
              <a:rPr lang="zh-CN" altLang="en-US" sz="2400" kern="100" dirty="0">
                <a:latin typeface="Calibri" panose="020F0502020204030204" pitchFamily="34" charset="0"/>
                <a:cs typeface="Times New Roman" panose="02020603050405020304" pitchFamily="2" charset="0"/>
              </a:rPr>
              <a:t>詹姆士</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格雷</a:t>
            </a:r>
            <a:r>
              <a:rPr lang="en-US" altLang="zh-CN" sz="2400" kern="100" dirty="0" smtClean="0">
                <a:latin typeface="Calibri" panose="020F0502020204030204" pitchFamily="34" charset="0"/>
                <a:cs typeface="Times New Roman" panose="02020603050405020304" pitchFamily="2" charset="0"/>
              </a:rPr>
              <a:t>)</a:t>
            </a:r>
            <a:endParaRPr lang="en-US" altLang="zh-CN" sz="2400" kern="100" dirty="0" smtClean="0">
              <a:latin typeface="Calibri" panose="020F0502020204030204" pitchFamily="34" charset="0"/>
              <a:cs typeface="Times New Roman" panose="02020603050405020304" pitchFamily="2" charset="0"/>
            </a:endParaRPr>
          </a:p>
          <a:p>
            <a:pPr lvl="0" algn="just">
              <a:lnSpc>
                <a:spcPct val="125000"/>
              </a:lnSpc>
              <a:spcAft>
                <a:spcPts val="0"/>
              </a:spcAft>
              <a:buNone/>
            </a:pPr>
            <a:r>
              <a:rPr lang="en-US" altLang="zh-CN" sz="2400" kern="100" dirty="0" smtClean="0">
                <a:latin typeface="Calibri" panose="020F0502020204030204" pitchFamily="34" charset="0"/>
                <a:cs typeface="Times New Roman" panose="02020603050405020304" pitchFamily="2" charset="0"/>
              </a:rPr>
              <a:t>D</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Michael </a:t>
            </a:r>
            <a:r>
              <a:rPr lang="en-US" altLang="zh-CN" sz="2400" kern="100" dirty="0" err="1">
                <a:latin typeface="Calibri" panose="020F0502020204030204" pitchFamily="34" charset="0"/>
                <a:cs typeface="Times New Roman" panose="02020603050405020304" pitchFamily="2" charset="0"/>
              </a:rPr>
              <a:t>Stonebraker</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迈克尔</a:t>
            </a:r>
            <a:r>
              <a:rPr lang="en-US" altLang="zh-CN" sz="2400" kern="100" dirty="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斯通布雷克</a:t>
            </a:r>
            <a:r>
              <a:rPr lang="en-US" altLang="zh-CN" sz="2400" kern="100" dirty="0" smtClean="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p:txBody>
      </p:sp>
      <p:sp>
        <p:nvSpPr>
          <p:cNvPr id="7"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86915" y="3036979"/>
            <a:ext cx="4134337" cy="553998"/>
          </a:xfrm>
          <a:prstGeom prst="rect">
            <a:avLst/>
          </a:prstGeom>
        </p:spPr>
        <p:txBody>
          <a:bodyPr wrap="none">
            <a:spAutoFit/>
          </a:bodyPr>
          <a:lstStyle/>
          <a:p>
            <a:pPr lvl="0" algn="just">
              <a:lnSpc>
                <a:spcPct val="125000"/>
              </a:lnSpc>
              <a:spcAft>
                <a:spcPts val="0"/>
              </a:spcAft>
              <a:buNone/>
            </a:pPr>
            <a:r>
              <a:rPr lang="en-US" altLang="zh-CN" sz="2400" kern="100" dirty="0" smtClean="0">
                <a:latin typeface="Calibri" panose="020F0502020204030204" pitchFamily="34" charset="0"/>
                <a:cs typeface="Times New Roman" panose="02020603050405020304" pitchFamily="2" charset="0"/>
              </a:rPr>
              <a:t>5</a:t>
            </a:r>
            <a:r>
              <a:rPr lang="zh-CN" altLang="en-US"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简述</a:t>
            </a:r>
            <a:r>
              <a:rPr lang="en-US" altLang="zh-CN" sz="2400" kern="100" dirty="0">
                <a:latin typeface="Calibri" panose="020F0502020204030204" pitchFamily="34" charset="0"/>
                <a:cs typeface="Times New Roman" panose="02020603050405020304" pitchFamily="2" charset="0"/>
              </a:rPr>
              <a:t>OLTP</a:t>
            </a:r>
            <a:r>
              <a:rPr lang="zh-CN" altLang="en-US" sz="2400" kern="100" dirty="0">
                <a:latin typeface="Calibri" panose="020F0502020204030204" pitchFamily="34" charset="0"/>
                <a:cs typeface="Times New Roman" panose="02020603050405020304" pitchFamily="2" charset="0"/>
              </a:rPr>
              <a:t>与</a:t>
            </a:r>
            <a:r>
              <a:rPr lang="en-US" altLang="zh-CN" sz="2400" kern="100" dirty="0">
                <a:latin typeface="Calibri" panose="020F0502020204030204" pitchFamily="34" charset="0"/>
                <a:cs typeface="Times New Roman" panose="02020603050405020304" pitchFamily="2" charset="0"/>
              </a:rPr>
              <a:t>OLAP</a:t>
            </a:r>
            <a:r>
              <a:rPr lang="zh-CN" altLang="en-US" sz="2400" kern="100" dirty="0">
                <a:latin typeface="Calibri" panose="020F0502020204030204" pitchFamily="34" charset="0"/>
                <a:cs typeface="Times New Roman" panose="02020603050405020304" pitchFamily="2" charset="0"/>
              </a:rPr>
              <a:t>的区别。</a:t>
            </a:r>
            <a:endParaRPr lang="en-US" altLang="zh-CN" sz="2400" kern="100" dirty="0">
              <a:latin typeface="Calibri" panose="020F0502020204030204" pitchFamily="34" charset="0"/>
              <a:cs typeface="Times New Roman" panose="02020603050405020304" pitchFamily="2" charset="0"/>
            </a:endParaRPr>
          </a:p>
        </p:txBody>
      </p:sp>
      <p:sp>
        <p:nvSpPr>
          <p:cNvPr id="3" name="矩形 2"/>
          <p:cNvSpPr/>
          <p:nvPr/>
        </p:nvSpPr>
        <p:spPr>
          <a:xfrm>
            <a:off x="486915" y="728678"/>
            <a:ext cx="4055919" cy="746743"/>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zh-CN" sz="3200" kern="100" dirty="0">
                <a:solidFill>
                  <a:srgbClr val="0033CC"/>
                </a:solidFill>
                <a:latin typeface="Calibri" panose="020F0502020204030204" pitchFamily="34" charset="0"/>
                <a:cs typeface="Times New Roman" panose="02020603050405020304" pitchFamily="2" charset="0"/>
              </a:rPr>
              <a:t>研讨问题</a:t>
            </a:r>
            <a:r>
              <a:rPr lang="en-US" altLang="zh-CN" sz="3200" kern="100" dirty="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4" name="矩形 3"/>
          <p:cNvSpPr/>
          <p:nvPr/>
        </p:nvSpPr>
        <p:spPr>
          <a:xfrm>
            <a:off x="486915" y="3592701"/>
            <a:ext cx="7882568" cy="2424895"/>
          </a:xfrm>
          <a:prstGeom prst="rect">
            <a:avLst/>
          </a:prstGeom>
        </p:spPr>
        <p:txBody>
          <a:bodyPr wrap="square">
            <a:spAutoFit/>
          </a:bodyPr>
          <a:lstStyle/>
          <a:p>
            <a:pPr algn="just">
              <a:lnSpc>
                <a:spcPct val="130000"/>
              </a:lnSpc>
              <a:spcBef>
                <a:spcPts val="0"/>
              </a:spcBef>
              <a:spcAft>
                <a:spcPts val="0"/>
              </a:spcAft>
              <a:buNone/>
            </a:pP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答：（</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1</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OLTP(Online Transaction Processing,</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联机事务处理</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等同于信息管理系统</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用于日常数据的管理</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面向组织低层</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提升其业务处理速度。</a:t>
            </a:r>
            <a:b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br>
            <a:r>
              <a:rPr lang="zh-CN" altLang="en-US" sz="2400" kern="100" dirty="0" smtClean="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2</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 </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OLAP(Online Analysis Processing,</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联机分析处理</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面向组织高层</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提供多维数据分析</a:t>
            </a:r>
            <a:r>
              <a:rPr lang="en-US" altLang="zh-CN"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a:t>
            </a:r>
            <a:r>
              <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rPr>
              <a:t>辅助决策支持。</a:t>
            </a:r>
            <a:endParaRPr lang="zh-CN" altLang="en-US" sz="2400" kern="100" dirty="0">
              <a:solidFill>
                <a:srgbClr val="0033CC"/>
              </a:solidFill>
              <a:latin typeface="楷体" panose="02010609060101010101" pitchFamily="1" charset="-122"/>
              <a:ea typeface="楷体" panose="02010609060101010101" pitchFamily="1" charset="-122"/>
              <a:cs typeface="Times New Roman" panose="02020603050405020304" pitchFamily="2" charset="0"/>
            </a:endParaRPr>
          </a:p>
        </p:txBody>
      </p:sp>
      <p:sp>
        <p:nvSpPr>
          <p:cNvPr id="5" name="矩形 4"/>
          <p:cNvSpPr/>
          <p:nvPr/>
        </p:nvSpPr>
        <p:spPr>
          <a:xfrm>
            <a:off x="486915" y="1599791"/>
            <a:ext cx="8238444" cy="1437188"/>
          </a:xfrm>
          <a:prstGeom prst="rect">
            <a:avLst/>
          </a:prstGeom>
        </p:spPr>
        <p:txBody>
          <a:bodyPr wrap="square">
            <a:spAutoFit/>
          </a:bodyPr>
          <a:lstStyle/>
          <a:p>
            <a:pPr algn="just">
              <a:lnSpc>
                <a:spcPct val="125000"/>
              </a:lnSpc>
              <a:spcAft>
                <a:spcPts val="0"/>
              </a:spcAft>
              <a:buNone/>
            </a:pPr>
            <a:r>
              <a:rPr lang="en-US" altLang="zh-CN" sz="2400" kern="100" dirty="0">
                <a:latin typeface="Calibri" panose="020F0502020204030204" pitchFamily="34" charset="0"/>
                <a:cs typeface="Times New Roman" panose="02020603050405020304" pitchFamily="2" charset="0"/>
              </a:rPr>
              <a:t>4</a:t>
            </a:r>
            <a:r>
              <a:rPr lang="zh-CN" altLang="en-US" sz="2400" kern="100" dirty="0">
                <a:latin typeface="Calibri" panose="020F0502020204030204" pitchFamily="34" charset="0"/>
                <a:cs typeface="Times New Roman" panose="02020603050405020304" pitchFamily="2" charset="0"/>
              </a:rPr>
              <a:t>、划分层次型、网状型和关系型数据库的原则是</a:t>
            </a:r>
            <a:r>
              <a:rPr lang="zh-CN" altLang="en-US" sz="2400" kern="100" dirty="0" smtClean="0">
                <a:latin typeface="Calibri" panose="020F0502020204030204" pitchFamily="34" charset="0"/>
                <a:cs typeface="Times New Roman" panose="02020603050405020304" pitchFamily="2" charset="0"/>
              </a:rPr>
              <a:t>（  </a:t>
            </a:r>
            <a:r>
              <a:rPr lang="zh-CN" altLang="en-US" sz="2400" kern="100" dirty="0" smtClean="0">
                <a:solidFill>
                  <a:srgbClr val="FF0000"/>
                </a:solidFill>
                <a:latin typeface="Calibri" panose="020F0502020204030204" pitchFamily="34" charset="0"/>
                <a:cs typeface="Times New Roman" panose="02020603050405020304" pitchFamily="2" charset="0"/>
              </a:rPr>
              <a:t> </a:t>
            </a:r>
            <a:r>
              <a:rPr lang="en-US" altLang="zh-CN" sz="2400" kern="100" dirty="0" smtClean="0">
                <a:solidFill>
                  <a:srgbClr val="FF0000"/>
                </a:solidFill>
                <a:latin typeface="Calibri" panose="020F0502020204030204" pitchFamily="34" charset="0"/>
                <a:cs typeface="Times New Roman" panose="02020603050405020304" pitchFamily="2" charset="0"/>
              </a:rPr>
              <a:t>D</a:t>
            </a:r>
            <a:r>
              <a:rPr lang="zh-CN" altLang="en-US" sz="2400" kern="100" dirty="0" smtClean="0">
                <a:solidFill>
                  <a:srgbClr val="FF0000"/>
                </a:solidFill>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200" kern="100" dirty="0">
                <a:latin typeface="Calibri" panose="020F0502020204030204" pitchFamily="34" charset="0"/>
                <a:cs typeface="Times New Roman" panose="02020603050405020304" pitchFamily="2" charset="0"/>
              </a:rPr>
              <a:t>A</a:t>
            </a:r>
            <a:r>
              <a:rPr lang="zh-CN" altLang="en-US" sz="2200" kern="100" dirty="0">
                <a:latin typeface="Calibri" panose="020F0502020204030204" pitchFamily="34" charset="0"/>
                <a:cs typeface="Times New Roman" panose="02020603050405020304" pitchFamily="2" charset="0"/>
              </a:rPr>
              <a:t>、记录额长度                 </a:t>
            </a:r>
            <a:r>
              <a:rPr lang="en-US" altLang="zh-CN" sz="2200" kern="100" dirty="0">
                <a:latin typeface="Calibri" panose="020F0502020204030204" pitchFamily="34" charset="0"/>
                <a:cs typeface="Times New Roman" panose="02020603050405020304" pitchFamily="2" charset="0"/>
              </a:rPr>
              <a:t>B</a:t>
            </a:r>
            <a:r>
              <a:rPr lang="zh-CN" altLang="en-US" sz="2200" kern="100" dirty="0">
                <a:latin typeface="Calibri" panose="020F0502020204030204" pitchFamily="34" charset="0"/>
                <a:cs typeface="Times New Roman" panose="02020603050405020304" pitchFamily="2" charset="0"/>
              </a:rPr>
              <a:t>、文件的大小       </a:t>
            </a:r>
            <a:endParaRPr lang="en-US" altLang="zh-CN" sz="22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200" kern="100" dirty="0">
                <a:latin typeface="Calibri" panose="020F0502020204030204" pitchFamily="34" charset="0"/>
                <a:cs typeface="Times New Roman" panose="02020603050405020304" pitchFamily="2" charset="0"/>
              </a:rPr>
              <a:t>C</a:t>
            </a:r>
            <a:r>
              <a:rPr lang="zh-CN" altLang="en-US" sz="2200" kern="100" dirty="0">
                <a:latin typeface="Calibri" panose="020F0502020204030204" pitchFamily="34" charset="0"/>
                <a:cs typeface="Times New Roman" panose="02020603050405020304" pitchFamily="2" charset="0"/>
              </a:rPr>
              <a:t>、联系的复杂程度        </a:t>
            </a:r>
            <a:r>
              <a:rPr lang="en-US" altLang="zh-CN" sz="2200" kern="100" dirty="0">
                <a:latin typeface="Calibri" panose="020F0502020204030204" pitchFamily="34" charset="0"/>
                <a:cs typeface="Times New Roman" panose="02020603050405020304" pitchFamily="2" charset="0"/>
              </a:rPr>
              <a:t>D</a:t>
            </a:r>
            <a:r>
              <a:rPr lang="zh-CN" altLang="en-US" sz="2200" kern="100" dirty="0">
                <a:latin typeface="Calibri" panose="020F0502020204030204" pitchFamily="34" charset="0"/>
                <a:cs typeface="Times New Roman" panose="02020603050405020304" pitchFamily="2" charset="0"/>
              </a:rPr>
              <a:t>、数据及联系的表示方法</a:t>
            </a:r>
            <a:endParaRPr lang="en-US" altLang="zh-CN" sz="2200" kern="100" dirty="0">
              <a:latin typeface="Calibri" panose="020F0502020204030204" pitchFamily="34" charset="0"/>
              <a:cs typeface="Times New Roman" panose="02020603050405020304" pitchFamily="2" charset="0"/>
            </a:endParaRPr>
          </a:p>
        </p:txBody>
      </p:sp>
      <p:sp>
        <p:nvSpPr>
          <p:cNvPr id="6" name="Rectangle 2"/>
          <p:cNvSpPr/>
          <p:nvPr/>
        </p:nvSpPr>
        <p:spPr>
          <a:xfrm>
            <a:off x="457200" y="68263"/>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六、数据库技术的发展</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3"/>
          <p:cNvSpPr txBox="1"/>
          <p:nvPr/>
        </p:nvSpPr>
        <p:spPr>
          <a:xfrm>
            <a:off x="423863" y="1058863"/>
            <a:ext cx="8458200" cy="5178425"/>
          </a:xfrm>
          <a:prstGeom prst="rect">
            <a:avLst/>
          </a:prstGeom>
          <a:noFill/>
          <a:ln w="9525">
            <a:noFill/>
          </a:ln>
        </p:spPr>
        <p:txBody>
          <a:bodyPr anchor="t"/>
          <a:lstStyle/>
          <a:p>
            <a:pPr marL="342900" lvl="0" indent="-342900">
              <a:lnSpc>
                <a:spcPct val="110000"/>
              </a:lnSpc>
              <a:spcBef>
                <a:spcPts val="600"/>
              </a:spcBef>
              <a:buClr>
                <a:srgbClr val="0033CC"/>
              </a:buClr>
              <a:buSzPct val="80000"/>
              <a:buFont typeface="Wingdings" panose="05000000000000000000" pitchFamily="2" charset="2"/>
              <a:buChar char="ü"/>
            </a:pPr>
            <a:r>
              <a:rPr lang="zh-CN" altLang="en-US" sz="2400" dirty="0">
                <a:latin typeface="楷体_GB2312" pitchFamily="1" charset="-122"/>
                <a:ea typeface="楷体_GB2312" pitchFamily="1" charset="-122"/>
              </a:rPr>
              <a:t>数据的管理: 人工管理</a:t>
            </a:r>
            <a:r>
              <a:rPr lang="zh-CN" altLang="en-US" sz="2400" dirty="0">
                <a:solidFill>
                  <a:srgbClr val="CC0099"/>
                </a:solidFill>
                <a:latin typeface="楷体_GB2312" pitchFamily="1" charset="-122"/>
                <a:ea typeface="楷体_GB2312" pitchFamily="1" charset="-122"/>
                <a:sym typeface="Wingdings" panose="05000000000000000000" pitchFamily="2" charset="2"/>
              </a:rPr>
              <a:t></a:t>
            </a:r>
            <a:r>
              <a:rPr lang="zh-CN" altLang="en-US" sz="2400" dirty="0">
                <a:latin typeface="楷体_GB2312" pitchFamily="1" charset="-122"/>
                <a:ea typeface="楷体_GB2312" pitchFamily="1" charset="-122"/>
              </a:rPr>
              <a:t>文件系统</a:t>
            </a:r>
            <a:r>
              <a:rPr lang="zh-CN" altLang="en-US" sz="2400" dirty="0">
                <a:solidFill>
                  <a:srgbClr val="CC0099"/>
                </a:solidFill>
                <a:latin typeface="楷体_GB2312" pitchFamily="1" charset="-122"/>
                <a:ea typeface="楷体_GB2312" pitchFamily="1" charset="-122"/>
                <a:sym typeface="Wingdings" panose="05000000000000000000" pitchFamily="2" charset="2"/>
              </a:rPr>
              <a:t></a:t>
            </a:r>
            <a:r>
              <a:rPr lang="zh-CN" altLang="en-US" sz="2400" dirty="0">
                <a:latin typeface="楷体_GB2312" pitchFamily="1" charset="-122"/>
                <a:ea typeface="楷体_GB2312" pitchFamily="1" charset="-122"/>
              </a:rPr>
              <a:t>数据库系统</a:t>
            </a:r>
            <a:endParaRPr lang="zh-CN" altLang="en-US" sz="2400" dirty="0">
              <a:latin typeface="楷体_GB2312" pitchFamily="1" charset="-122"/>
              <a:ea typeface="楷体_GB2312" pitchFamily="1" charset="-122"/>
            </a:endParaRPr>
          </a:p>
          <a:p>
            <a:pPr marL="342900" lvl="0" indent="-342900">
              <a:lnSpc>
                <a:spcPct val="110000"/>
              </a:lnSpc>
              <a:spcBef>
                <a:spcPts val="600"/>
              </a:spcBef>
              <a:buClr>
                <a:srgbClr val="0033CC"/>
              </a:buClr>
              <a:buSzPct val="80000"/>
              <a:buFont typeface="Wingdings" panose="05000000000000000000" pitchFamily="2" charset="2"/>
              <a:buChar char="ü"/>
            </a:pPr>
            <a:r>
              <a:rPr lang="zh-CN" altLang="en-US" sz="2400" dirty="0">
                <a:latin typeface="楷体_GB2312" pitchFamily="1" charset="-122"/>
                <a:ea typeface="楷体_GB2312" pitchFamily="1" charset="-122"/>
              </a:rPr>
              <a:t>数据库管理系统基本功能</a:t>
            </a:r>
            <a:endParaRPr lang="zh-CN" altLang="en-US" sz="2400" dirty="0">
              <a:latin typeface="楷体_GB2312" pitchFamily="1" charset="-122"/>
              <a:ea typeface="楷体_GB2312" pitchFamily="1" charset="-122"/>
            </a:endParaRPr>
          </a:p>
          <a:p>
            <a:pPr marL="342900" lvl="0" indent="-342900">
              <a:lnSpc>
                <a:spcPct val="110000"/>
              </a:lnSpc>
              <a:spcBef>
                <a:spcPts val="600"/>
              </a:spcBef>
              <a:buClr>
                <a:srgbClr val="0033CC"/>
              </a:buClr>
              <a:buSzPct val="80000"/>
              <a:buFont typeface="Wingdings" panose="05000000000000000000" pitchFamily="2" charset="2"/>
              <a:buChar char="ü"/>
            </a:pPr>
            <a:r>
              <a:rPr lang="zh-CN" altLang="en-US" sz="2400" dirty="0">
                <a:latin typeface="楷体_GB2312" pitchFamily="1" charset="-122"/>
                <a:ea typeface="楷体_GB2312" pitchFamily="1" charset="-122"/>
              </a:rPr>
              <a:t>DBMS的三级模式体系结构</a:t>
            </a:r>
            <a:endParaRPr lang="zh-CN" altLang="en-US" sz="2400" dirty="0">
              <a:latin typeface="楷体_GB2312" pitchFamily="1" charset="-122"/>
              <a:ea typeface="楷体_GB2312" pitchFamily="1" charset="-122"/>
            </a:endParaRPr>
          </a:p>
          <a:p>
            <a:pPr marL="342900" lvl="0" indent="-342900">
              <a:lnSpc>
                <a:spcPct val="110000"/>
              </a:lnSpc>
              <a:spcBef>
                <a:spcPts val="600"/>
              </a:spcBef>
              <a:buClr>
                <a:srgbClr val="0033CC"/>
              </a:buClr>
              <a:buSzPct val="80000"/>
              <a:buFont typeface="Wingdings" panose="05000000000000000000" pitchFamily="2" charset="2"/>
              <a:buChar char="ü"/>
            </a:pPr>
            <a:r>
              <a:rPr lang="zh-CN" altLang="en-US" sz="2400" dirty="0">
                <a:latin typeface="楷体_GB2312" pitchFamily="1" charset="-122"/>
                <a:ea typeface="楷体_GB2312" pitchFamily="1" charset="-122"/>
              </a:rPr>
              <a:t>数据库系统总体结构，理解数据库原理、应用及设计三部分间的关系</a:t>
            </a:r>
            <a:endParaRPr lang="zh-CN" altLang="en-US" sz="2400" dirty="0">
              <a:latin typeface="楷体_GB2312" pitchFamily="1" charset="-122"/>
              <a:ea typeface="楷体_GB2312" pitchFamily="1" charset="-122"/>
            </a:endParaRPr>
          </a:p>
          <a:p>
            <a:pPr marL="342900" lvl="0" indent="-342900">
              <a:lnSpc>
                <a:spcPct val="110000"/>
              </a:lnSpc>
              <a:spcBef>
                <a:spcPts val="600"/>
              </a:spcBef>
              <a:buClr>
                <a:srgbClr val="0033CC"/>
              </a:buClr>
              <a:buSzPct val="80000"/>
              <a:buFont typeface="Wingdings" panose="05000000000000000000" pitchFamily="2" charset="2"/>
              <a:buChar char="ü"/>
            </a:pPr>
            <a:r>
              <a:rPr lang="zh-CN" altLang="en-US" sz="2400" dirty="0">
                <a:latin typeface="楷体_GB2312" pitchFamily="1" charset="-122"/>
                <a:ea typeface="楷体_GB2312" pitchFamily="1" charset="-122"/>
              </a:rPr>
              <a:t>数据库系统中的用户及语言</a:t>
            </a:r>
            <a:endParaRPr lang="zh-CN" altLang="en-US" sz="2400" dirty="0">
              <a:latin typeface="楷体_GB2312" pitchFamily="1" charset="-122"/>
              <a:ea typeface="楷体_GB2312" pitchFamily="1" charset="-122"/>
            </a:endParaRPr>
          </a:p>
          <a:p>
            <a:pPr marL="342900" lvl="0" indent="-342900">
              <a:lnSpc>
                <a:spcPct val="110000"/>
              </a:lnSpc>
              <a:spcBef>
                <a:spcPts val="600"/>
              </a:spcBef>
              <a:buClr>
                <a:srgbClr val="0033CC"/>
              </a:buClr>
              <a:buSzPct val="80000"/>
              <a:buFont typeface="Wingdings" panose="05000000000000000000" pitchFamily="2" charset="2"/>
              <a:buChar char="ü"/>
            </a:pPr>
            <a:r>
              <a:rPr lang="zh-CN" altLang="en-US" sz="2400" dirty="0">
                <a:latin typeface="楷体_GB2312" pitchFamily="1" charset="-122"/>
                <a:ea typeface="楷体_GB2312" pitchFamily="1" charset="-122"/>
              </a:rPr>
              <a:t>数据库系统中的术语与基本概念</a:t>
            </a:r>
            <a:endParaRPr lang="zh-CN" altLang="en-US" sz="2400" dirty="0">
              <a:latin typeface="楷体_GB2312" pitchFamily="1" charset="-122"/>
              <a:ea typeface="楷体_GB2312" pitchFamily="1" charset="-122"/>
            </a:endParaRPr>
          </a:p>
          <a:p>
            <a:pPr marL="742950" lvl="1" indent="-285750" eaLnBrk="1" hangingPunct="1">
              <a:lnSpc>
                <a:spcPct val="110000"/>
              </a:lnSpc>
              <a:spcBef>
                <a:spcPts val="600"/>
              </a:spcBef>
              <a:buClr>
                <a:schemeClr val="accent2"/>
              </a:buClr>
              <a:buSzPct val="70000"/>
              <a:buFont typeface="Wingdings" panose="05000000000000000000" pitchFamily="2" charset="2"/>
              <a:buChar char="Ø"/>
            </a:pPr>
            <a:r>
              <a:rPr lang="zh-CN" altLang="en-US" sz="2400" dirty="0">
                <a:latin typeface="楷体_GB2312" pitchFamily="1" charset="-122"/>
                <a:ea typeface="楷体_GB2312" pitchFamily="1" charset="-122"/>
              </a:rPr>
              <a:t>数据抽象，模型，模式，视图</a:t>
            </a:r>
            <a:endParaRPr lang="zh-CN" altLang="en-US" sz="2400" dirty="0">
              <a:latin typeface="楷体_GB2312" pitchFamily="1" charset="-122"/>
              <a:ea typeface="楷体_GB2312" pitchFamily="1" charset="-122"/>
            </a:endParaRPr>
          </a:p>
          <a:p>
            <a:pPr marL="742950" lvl="1" indent="-285750" eaLnBrk="1" hangingPunct="1">
              <a:lnSpc>
                <a:spcPct val="110000"/>
              </a:lnSpc>
              <a:spcBef>
                <a:spcPts val="600"/>
              </a:spcBef>
              <a:buClr>
                <a:schemeClr val="accent2"/>
              </a:buClr>
              <a:buSzPct val="70000"/>
              <a:buFont typeface="Wingdings" panose="05000000000000000000" pitchFamily="2" charset="2"/>
              <a:buChar char="Ø"/>
            </a:pPr>
            <a:r>
              <a:rPr lang="zh-CN" altLang="en-US" sz="2400" dirty="0">
                <a:latin typeface="楷体_GB2312" pitchFamily="1" charset="-122"/>
                <a:ea typeface="楷体_GB2312" pitchFamily="1" charset="-122"/>
              </a:rPr>
              <a:t>概念抽象使用概念模型，是语义数据模型。 </a:t>
            </a:r>
            <a:endParaRPr lang="zh-CN" altLang="en-US" sz="2400" dirty="0">
              <a:latin typeface="楷体_GB2312" pitchFamily="1" charset="-122"/>
              <a:ea typeface="楷体_GB2312" pitchFamily="1" charset="-122"/>
            </a:endParaRPr>
          </a:p>
          <a:p>
            <a:pPr marL="342900" lvl="0" indent="-342900">
              <a:lnSpc>
                <a:spcPct val="110000"/>
              </a:lnSpc>
              <a:spcBef>
                <a:spcPts val="600"/>
              </a:spcBef>
              <a:buClr>
                <a:srgbClr val="0033CC"/>
              </a:buClr>
              <a:buSzPct val="80000"/>
              <a:buFont typeface="Wingdings" panose="05000000000000000000" pitchFamily="2" charset="2"/>
              <a:buChar char="ü"/>
            </a:pPr>
            <a:r>
              <a:rPr lang="zh-CN" altLang="en-US" sz="2400" dirty="0">
                <a:latin typeface="楷体_GB2312" pitchFamily="1" charset="-122"/>
                <a:ea typeface="楷体_GB2312" pitchFamily="1" charset="-122"/>
              </a:rPr>
              <a:t>数据库的发展过程(被数据模型的进步所驱使)</a:t>
            </a:r>
            <a:endParaRPr lang="zh-CN" altLang="en-US" sz="2400" dirty="0">
              <a:latin typeface="楷体_GB2312" pitchFamily="1" charset="-122"/>
              <a:ea typeface="楷体_GB2312" pitchFamily="1" charset="-122"/>
            </a:endParaRPr>
          </a:p>
        </p:txBody>
      </p:sp>
      <p:sp>
        <p:nvSpPr>
          <p:cNvPr id="110594" name="Rectangle 4"/>
          <p:cNvSpPr txBox="1"/>
          <p:nvPr/>
        </p:nvSpPr>
        <p:spPr>
          <a:xfrm>
            <a:off x="530225" y="101600"/>
            <a:ext cx="8229600" cy="706438"/>
          </a:xfrm>
          <a:prstGeom prst="rect">
            <a:avLst/>
          </a:prstGeom>
          <a:noFill/>
          <a:ln w="9525">
            <a:noFill/>
          </a:ln>
        </p:spPr>
        <p:txBody>
          <a:bodyPr anchor="t"/>
          <a:lstStyle/>
          <a:p>
            <a:pPr lvl="0" indent="0">
              <a:lnSpc>
                <a:spcPct val="100000"/>
              </a:lnSpc>
              <a:buNone/>
            </a:pPr>
            <a:r>
              <a:rPr lang="zh-CN" altLang="en-US" sz="3200" dirty="0">
                <a:solidFill>
                  <a:srgbClr val="3333CC"/>
                </a:solidFill>
                <a:latin typeface="楷体_GB2312" pitchFamily="1" charset="-122"/>
                <a:ea typeface="楷体_GB2312" pitchFamily="1" charset="-122"/>
              </a:rPr>
              <a:t>本章小结</a:t>
            </a:r>
            <a:endParaRPr lang="de-DE" altLang="en-US" sz="3200" dirty="0">
              <a:solidFill>
                <a:srgbClr val="3333CC"/>
              </a:solidFill>
              <a:latin typeface="楷体_GB2312" pitchFamily="1" charset="-122"/>
              <a:ea typeface="楷体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3426">
                                            <p:txEl>
                                              <p:pRg st="0" end="0"/>
                                            </p:txEl>
                                          </p:spTgt>
                                        </p:tgtEl>
                                        <p:attrNameLst>
                                          <p:attrName>style.visibility</p:attrName>
                                        </p:attrNameLst>
                                      </p:cBhvr>
                                      <p:to>
                                        <p:strVal val="visible"/>
                                      </p:to>
                                    </p:set>
                                    <p:animEffect transition="in" filter="dissolve">
                                      <p:cBhvr>
                                        <p:cTn id="7" dur="500"/>
                                        <p:tgtEl>
                                          <p:spTgt spid="1034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3426">
                                            <p:txEl>
                                              <p:pRg st="1" end="1"/>
                                            </p:txEl>
                                          </p:spTgt>
                                        </p:tgtEl>
                                        <p:attrNameLst>
                                          <p:attrName>style.visibility</p:attrName>
                                        </p:attrNameLst>
                                      </p:cBhvr>
                                      <p:to>
                                        <p:strVal val="visible"/>
                                      </p:to>
                                    </p:set>
                                    <p:animEffect transition="in" filter="dissolve">
                                      <p:cBhvr>
                                        <p:cTn id="12" dur="500"/>
                                        <p:tgtEl>
                                          <p:spTgt spid="1034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3426">
                                            <p:txEl>
                                              <p:pRg st="2" end="2"/>
                                            </p:txEl>
                                          </p:spTgt>
                                        </p:tgtEl>
                                        <p:attrNameLst>
                                          <p:attrName>style.visibility</p:attrName>
                                        </p:attrNameLst>
                                      </p:cBhvr>
                                      <p:to>
                                        <p:strVal val="visible"/>
                                      </p:to>
                                    </p:set>
                                    <p:animEffect transition="in" filter="dissolve">
                                      <p:cBhvr>
                                        <p:cTn id="17" dur="500"/>
                                        <p:tgtEl>
                                          <p:spTgt spid="1034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3426">
                                            <p:txEl>
                                              <p:pRg st="3" end="3"/>
                                            </p:txEl>
                                          </p:spTgt>
                                        </p:tgtEl>
                                        <p:attrNameLst>
                                          <p:attrName>style.visibility</p:attrName>
                                        </p:attrNameLst>
                                      </p:cBhvr>
                                      <p:to>
                                        <p:strVal val="visible"/>
                                      </p:to>
                                    </p:set>
                                    <p:animEffect transition="in" filter="dissolve">
                                      <p:cBhvr>
                                        <p:cTn id="22" dur="500"/>
                                        <p:tgtEl>
                                          <p:spTgt spid="1034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3426">
                                            <p:txEl>
                                              <p:pRg st="4" end="4"/>
                                            </p:txEl>
                                          </p:spTgt>
                                        </p:tgtEl>
                                        <p:attrNameLst>
                                          <p:attrName>style.visibility</p:attrName>
                                        </p:attrNameLst>
                                      </p:cBhvr>
                                      <p:to>
                                        <p:strVal val="visible"/>
                                      </p:to>
                                    </p:set>
                                    <p:animEffect transition="in" filter="dissolve">
                                      <p:cBhvr>
                                        <p:cTn id="27" dur="500"/>
                                        <p:tgtEl>
                                          <p:spTgt spid="10342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3426">
                                            <p:txEl>
                                              <p:pRg st="5" end="5"/>
                                            </p:txEl>
                                          </p:spTgt>
                                        </p:tgtEl>
                                        <p:attrNameLst>
                                          <p:attrName>style.visibility</p:attrName>
                                        </p:attrNameLst>
                                      </p:cBhvr>
                                      <p:to>
                                        <p:strVal val="visible"/>
                                      </p:to>
                                    </p:set>
                                    <p:animEffect transition="in" filter="dissolve">
                                      <p:cBhvr>
                                        <p:cTn id="32" dur="500"/>
                                        <p:tgtEl>
                                          <p:spTgt spid="10342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3426">
                                            <p:txEl>
                                              <p:pRg st="6" end="6"/>
                                            </p:txEl>
                                          </p:spTgt>
                                        </p:tgtEl>
                                        <p:attrNameLst>
                                          <p:attrName>style.visibility</p:attrName>
                                        </p:attrNameLst>
                                      </p:cBhvr>
                                      <p:to>
                                        <p:strVal val="visible"/>
                                      </p:to>
                                    </p:set>
                                    <p:animEffect transition="in" filter="dissolve">
                                      <p:cBhvr>
                                        <p:cTn id="37" dur="500"/>
                                        <p:tgtEl>
                                          <p:spTgt spid="10342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03426">
                                            <p:txEl>
                                              <p:pRg st="7" end="7"/>
                                            </p:txEl>
                                          </p:spTgt>
                                        </p:tgtEl>
                                        <p:attrNameLst>
                                          <p:attrName>style.visibility</p:attrName>
                                        </p:attrNameLst>
                                      </p:cBhvr>
                                      <p:to>
                                        <p:strVal val="visible"/>
                                      </p:to>
                                    </p:set>
                                    <p:animEffect transition="in" filter="dissolve">
                                      <p:cBhvr>
                                        <p:cTn id="42" dur="500"/>
                                        <p:tgtEl>
                                          <p:spTgt spid="10342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03426">
                                            <p:txEl>
                                              <p:pRg st="8" end="8"/>
                                            </p:txEl>
                                          </p:spTgt>
                                        </p:tgtEl>
                                        <p:attrNameLst>
                                          <p:attrName>style.visibility</p:attrName>
                                        </p:attrNameLst>
                                      </p:cBhvr>
                                      <p:to>
                                        <p:strVal val="visible"/>
                                      </p:to>
                                    </p:set>
                                    <p:animEffect transition="in" filter="dissolve">
                                      <p:cBhvr>
                                        <p:cTn id="47" dur="500"/>
                                        <p:tgtEl>
                                          <p:spTgt spid="10342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6" grpId="0" bldLvl="2"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7" name="Picture 3" descr="花草4"/>
          <p:cNvPicPr>
            <a:picLocks noChangeAspect="1"/>
          </p:cNvPicPr>
          <p:nvPr/>
        </p:nvPicPr>
        <p:blipFill>
          <a:blip r:embed="rId1" cstate="print">
            <a:clrChange>
              <a:clrFrom>
                <a:srgbClr val="FEFEFE"/>
              </a:clrFrom>
              <a:clrTo>
                <a:srgbClr val="FEFEFE">
                  <a:alpha val="0"/>
                </a:srgbClr>
              </a:clrTo>
            </a:clrChange>
          </a:blip>
          <a:stretch>
            <a:fillRect/>
          </a:stretch>
        </p:blipFill>
        <p:spPr>
          <a:xfrm>
            <a:off x="5089525" y="3665538"/>
            <a:ext cx="3651250" cy="2738437"/>
          </a:xfrm>
          <a:prstGeom prst="rect">
            <a:avLst/>
          </a:prstGeom>
          <a:noFill/>
          <a:ln w="9525">
            <a:noFill/>
          </a:ln>
        </p:spPr>
      </p:pic>
      <p:sp>
        <p:nvSpPr>
          <p:cNvPr id="111619" name="Rectangle 3"/>
          <p:cNvSpPr txBox="1"/>
          <p:nvPr/>
        </p:nvSpPr>
        <p:spPr>
          <a:xfrm>
            <a:off x="589915" y="1050925"/>
            <a:ext cx="7964170" cy="2118995"/>
          </a:xfrm>
          <a:prstGeom prst="rect">
            <a:avLst/>
          </a:prstGeom>
          <a:noFill/>
          <a:ln w="9525">
            <a:noFill/>
          </a:ln>
        </p:spPr>
        <p:txBody>
          <a:bodyPr anchor="t"/>
          <a:lstStyle/>
          <a:p>
            <a:pPr lvl="0">
              <a:lnSpc>
                <a:spcPct val="100000"/>
              </a:lnSpc>
              <a:spcBef>
                <a:spcPct val="20000"/>
              </a:spcBef>
              <a:buClr>
                <a:srgbClr val="0033CC"/>
              </a:buClr>
              <a:buSzPct val="80000"/>
              <a:buFont typeface="Wingdings" panose="05000000000000000000" pitchFamily="2" charset="2"/>
              <a:buNone/>
            </a:pPr>
            <a:endParaRPr lang="zh-CN" altLang="en-US" sz="2400" dirty="0">
              <a:latin typeface="Arial" panose="020B0604020202020204" pitchFamily="34" charset="0"/>
              <a:ea typeface="宋体" panose="02010600030101010101" pitchFamily="2" charset="-122"/>
            </a:endParaRPr>
          </a:p>
        </p:txBody>
      </p:sp>
      <p:sp>
        <p:nvSpPr>
          <p:cNvPr id="104453" name="Rectangle 2"/>
          <p:cNvSpPr txBox="1"/>
          <p:nvPr/>
        </p:nvSpPr>
        <p:spPr>
          <a:xfrm>
            <a:off x="2536508" y="2258060"/>
            <a:ext cx="4070350" cy="557213"/>
          </a:xfrm>
          <a:prstGeom prst="rect">
            <a:avLst/>
          </a:prstGeom>
          <a:noFill/>
          <a:ln w="9525">
            <a:noFill/>
          </a:ln>
        </p:spPr>
        <p:txBody>
          <a:bodyPr/>
          <a:lstStyle/>
          <a:p>
            <a:pPr marL="342900" lvl="0" indent="-342900" eaLnBrk="1" fontAlgn="base" hangingPunct="1">
              <a:lnSpc>
                <a:spcPct val="100000"/>
              </a:lnSpc>
              <a:spcBef>
                <a:spcPct val="20000"/>
              </a:spcBef>
              <a:buClr>
                <a:srgbClr val="0033CC"/>
              </a:buClr>
              <a:buSzPct val="80000"/>
              <a:buNone/>
            </a:pPr>
            <a:r>
              <a:rPr lang="zh-CN" altLang="en-US" sz="46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Thank you!</a:t>
            </a:r>
            <a:endParaRPr lang="zh-CN" altLang="en-US" sz="46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Tree>
  </p:cSld>
  <p:clrMapOvr>
    <a:masterClrMapping/>
  </p:clrMapOvr>
  <p:transition/>
</p:sld>
</file>

<file path=ppt/tags/tag1.xml><?xml version="1.0" encoding="utf-8"?>
<p:tagLst xmlns:p="http://schemas.openxmlformats.org/presentationml/2006/main">
  <p:tag name="commondata" val="eyJoZGlkIjoiN2MwNGZlODUyOThjOGE4NWQyMjhmMDY2NzI1NjFkNGEifQ=="/>
</p:tagLst>
</file>

<file path=ppt/theme/theme1.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Balance</Template>
  <TotalTime>0</TotalTime>
  <Words>20351</Words>
  <Application>WPS 演示</Application>
  <PresentationFormat>全屏显示(4:3)</PresentationFormat>
  <Paragraphs>1861</Paragraphs>
  <Slides>87</Slides>
  <Notes>31</Notes>
  <HiddenSlides>0</HiddenSlides>
  <MMClips>0</MMClips>
  <ScaleCrop>false</ScaleCrop>
  <HeadingPairs>
    <vt:vector size="8" baseType="variant">
      <vt:variant>
        <vt:lpstr>已用的字体</vt:lpstr>
      </vt:variant>
      <vt:variant>
        <vt:i4>19</vt:i4>
      </vt:variant>
      <vt:variant>
        <vt:lpstr>主题</vt:lpstr>
      </vt:variant>
      <vt:variant>
        <vt:i4>2</vt:i4>
      </vt:variant>
      <vt:variant>
        <vt:lpstr>嵌入 OLE 服务器</vt:lpstr>
      </vt:variant>
      <vt:variant>
        <vt:i4>11</vt:i4>
      </vt:variant>
      <vt:variant>
        <vt:lpstr>幻灯片标题</vt:lpstr>
      </vt:variant>
      <vt:variant>
        <vt:i4>87</vt:i4>
      </vt:variant>
    </vt:vector>
  </HeadingPairs>
  <TitlesOfParts>
    <vt:vector size="119" baseType="lpstr">
      <vt:lpstr>Arial</vt:lpstr>
      <vt:lpstr>宋体</vt:lpstr>
      <vt:lpstr>Wingdings</vt:lpstr>
      <vt:lpstr>楷体_GB2312</vt:lpstr>
      <vt:lpstr>黑体</vt:lpstr>
      <vt:lpstr>Times New Roman</vt:lpstr>
      <vt:lpstr>新宋体</vt:lpstr>
      <vt:lpstr>楷体</vt:lpstr>
      <vt:lpstr>方正舒体</vt:lpstr>
      <vt:lpstr>华文中宋</vt:lpstr>
      <vt:lpstr>Wingdings</vt:lpstr>
      <vt:lpstr>微软雅黑</vt:lpstr>
      <vt:lpstr>Arial Unicode MS</vt:lpstr>
      <vt:lpstr>Calibri</vt:lpstr>
      <vt:lpstr>Tahoma</vt:lpstr>
      <vt:lpstr>华文楷体</vt:lpstr>
      <vt:lpstr>Wingdings 3</vt:lpstr>
      <vt:lpstr>Arial Unicode MS</vt:lpstr>
      <vt:lpstr>Verdana</vt:lpstr>
      <vt:lpstr>1_默认设计模板</vt:lpstr>
      <vt:lpstr>2_默认设计模板</vt:lpstr>
      <vt:lpstr>Word.Picture.8</vt:lpstr>
      <vt:lpstr>AcroExch.Document.11</vt:lpstr>
      <vt:lpstr>Paint.Picture</vt:lpstr>
      <vt:lpstr>Visio.Drawing.11</vt:lpstr>
      <vt:lpstr>Word.Picture.8</vt:lpstr>
      <vt:lpstr>PBrush</vt:lpstr>
      <vt:lpstr>Visio.Drawing.11</vt:lpstr>
      <vt:lpstr>PBrush</vt:lpstr>
      <vt:lpstr>Word.Picture.8</vt:lpstr>
      <vt:lpstr>Word.Picture.8</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王淑营</dc:creator>
  <cp:lastModifiedBy>youzc</cp:lastModifiedBy>
  <cp:revision>2784</cp:revision>
  <dcterms:created xsi:type="dcterms:W3CDTF">2001-06-18T05:13:00Z</dcterms:created>
  <dcterms:modified xsi:type="dcterms:W3CDTF">2026-03-05T06:27:36Z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CF0E193FBB524915A75C6039F5BDFB82_13</vt:lpwstr>
  </property>
</Properties>
</file>